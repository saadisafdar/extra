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36"/>
  </p:notesMasterIdLst>
  <p:sldIdLst>
    <p:sldId id="846" r:id="rId4"/>
    <p:sldId id="789" r:id="rId5"/>
    <p:sldId id="825" r:id="rId6"/>
    <p:sldId id="258" r:id="rId7"/>
    <p:sldId id="259" r:id="rId8"/>
    <p:sldId id="836" r:id="rId9"/>
    <p:sldId id="262" r:id="rId10"/>
    <p:sldId id="837" r:id="rId11"/>
    <p:sldId id="838" r:id="rId12"/>
    <p:sldId id="839" r:id="rId13"/>
    <p:sldId id="265" r:id="rId14"/>
    <p:sldId id="271" r:id="rId15"/>
    <p:sldId id="267" r:id="rId16"/>
    <p:sldId id="270" r:id="rId17"/>
    <p:sldId id="272" r:id="rId18"/>
    <p:sldId id="274" r:id="rId19"/>
    <p:sldId id="273" r:id="rId20"/>
    <p:sldId id="275" r:id="rId21"/>
    <p:sldId id="277" r:id="rId22"/>
    <p:sldId id="278" r:id="rId23"/>
    <p:sldId id="276" r:id="rId24"/>
    <p:sldId id="280" r:id="rId25"/>
    <p:sldId id="281" r:id="rId26"/>
    <p:sldId id="282" r:id="rId27"/>
    <p:sldId id="840" r:id="rId28"/>
    <p:sldId id="847" r:id="rId29"/>
    <p:sldId id="848" r:id="rId30"/>
    <p:sldId id="841" r:id="rId31"/>
    <p:sldId id="843" r:id="rId32"/>
    <p:sldId id="844" r:id="rId33"/>
    <p:sldId id="849" r:id="rId34"/>
    <p:sldId id="845" r:id="rId3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pPr algn="just"/>
          <a:r>
            <a:rPr lang="en-US" b="1" dirty="0"/>
            <a:t>CLO1: </a:t>
          </a:r>
          <a:r>
            <a:rPr lang="en-US" b="0" dirty="0"/>
            <a:t>Discuss the key concepts in the field of artificial intelligence</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EB5ACA34-5E81-4C34-9396-A967E2A2AB76}">
      <dgm:prSet/>
      <dgm:spPr/>
      <dgm:t>
        <a:bodyPr/>
        <a:lstStyle/>
        <a:p>
          <a:pPr algn="just"/>
          <a:r>
            <a:rPr lang="en-US" b="1" dirty="0"/>
            <a:t>CLO 2: Implement </a:t>
          </a:r>
          <a:r>
            <a:rPr lang="en-US" dirty="0"/>
            <a:t>artificial intelligence techniques and case studies</a:t>
          </a:r>
        </a:p>
      </dgm:t>
    </dgm:pt>
    <dgm:pt modelId="{9A070146-3875-47E3-94D7-B2C90F536C89}" type="parTrans" cxnId="{5B24FC3C-4ED4-4834-9B89-88E70A3EE3EC}">
      <dgm:prSet/>
      <dgm:spPr/>
      <dgm:t>
        <a:bodyPr/>
        <a:lstStyle/>
        <a:p>
          <a:endParaRPr lang="en-PK"/>
        </a:p>
      </dgm:t>
    </dgm:pt>
    <dgm:pt modelId="{430978D5-BF76-4915-9FA8-631F66362A49}" type="sibTrans" cxnId="{5B24FC3C-4ED4-4834-9B89-88E70A3EE3EC}">
      <dgm:prSet/>
      <dgm:spPr/>
      <dgm:t>
        <a:bodyPr/>
        <a:lstStyle/>
        <a:p>
          <a:endParaRPr lang="en-PK"/>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5B24FC3C-4ED4-4834-9B89-88E70A3EE3EC}" srcId="{003EBE85-61C3-4A8C-B096-20383EA35C46}" destId="{EB5ACA34-5E81-4C34-9396-A967E2A2AB76}" srcOrd="1" destOrd="0" parTransId="{9A070146-3875-47E3-94D7-B2C90F536C89}" sibTransId="{430978D5-BF76-4915-9FA8-631F66362A49}"/>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7EA4AAC6-84B8-4CD7-8049-447BD7E93EBF}" type="presOf" srcId="{EB5ACA34-5E81-4C34-9396-A967E2A2AB76}"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AFF19-3AEA-4097-8AAE-B0E8391780F7}"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0C1BEE06-F90E-4F09-93B1-D550B806CA6C}">
      <dgm:prSet custT="1"/>
      <dgm:spPr/>
      <dgm:t>
        <a:bodyPr/>
        <a:lstStyle/>
        <a:p>
          <a:r>
            <a:rPr lang="en-GB" sz="2400" b="1" dirty="0"/>
            <a:t>CLO 1:</a:t>
          </a:r>
          <a:endParaRPr lang="en-US" sz="2400" dirty="0"/>
        </a:p>
      </dgm:t>
    </dgm:pt>
    <dgm:pt modelId="{1C6E13D2-05A4-4EA5-B0FB-6A1163A05D3F}" type="parTrans" cxnId="{EDA5AD18-5AD5-44AA-855C-93782C77F351}">
      <dgm:prSet/>
      <dgm:spPr/>
      <dgm:t>
        <a:bodyPr/>
        <a:lstStyle/>
        <a:p>
          <a:endParaRPr lang="en-US"/>
        </a:p>
      </dgm:t>
    </dgm:pt>
    <dgm:pt modelId="{31DBE3B1-489D-4A12-8CA6-D49A4738C6DE}" type="sibTrans" cxnId="{EDA5AD18-5AD5-44AA-855C-93782C77F351}">
      <dgm:prSet/>
      <dgm:spPr/>
      <dgm:t>
        <a:bodyPr/>
        <a:lstStyle/>
        <a:p>
          <a:endParaRPr lang="en-US"/>
        </a:p>
      </dgm:t>
    </dgm:pt>
    <dgm:pt modelId="{2B5DA1EB-E771-49A5-867E-D9665D475071}">
      <dgm:prSet custT="1"/>
      <dgm:spPr/>
      <dgm:t>
        <a:bodyPr/>
        <a:lstStyle/>
        <a:p>
          <a:r>
            <a:rPr lang="en-GB" sz="2400" dirty="0"/>
            <a:t>Introduction to </a:t>
          </a:r>
          <a:r>
            <a:rPr lang="it-IT" sz="2400" dirty="0"/>
            <a:t>Constraint Satisfaction</a:t>
          </a:r>
          <a:endParaRPr lang="en-US" sz="2400" b="0" dirty="0">
            <a:solidFill>
              <a:schemeClr val="tx1"/>
            </a:solidFill>
          </a:endParaRPr>
        </a:p>
      </dgm:t>
    </dgm:pt>
    <dgm:pt modelId="{DD750D13-57AD-4795-8AF1-C66AB423D0AD}" type="parTrans" cxnId="{710F3773-380C-452A-B8E5-ACE531C1737D}">
      <dgm:prSet/>
      <dgm:spPr/>
      <dgm:t>
        <a:bodyPr/>
        <a:lstStyle/>
        <a:p>
          <a:endParaRPr lang="en-US"/>
        </a:p>
      </dgm:t>
    </dgm:pt>
    <dgm:pt modelId="{448BFBFD-9308-4A33-BEA8-5A2FB6BB745D}" type="sibTrans" cxnId="{710F3773-380C-452A-B8E5-ACE531C1737D}">
      <dgm:prSet/>
      <dgm:spPr/>
      <dgm:t>
        <a:bodyPr/>
        <a:lstStyle/>
        <a:p>
          <a:endParaRPr lang="en-US"/>
        </a:p>
      </dgm:t>
    </dgm:pt>
    <dgm:pt modelId="{3F3DFE54-F6B7-43ED-84E5-2138CE660EB6}">
      <dgm:prSet custT="1"/>
      <dgm:spPr/>
      <dgm:t>
        <a:bodyPr/>
        <a:lstStyle/>
        <a:p>
          <a:r>
            <a:rPr lang="en-GB" sz="2400" b="1" dirty="0"/>
            <a:t>CLO 2:</a:t>
          </a:r>
          <a:endParaRPr lang="en-US" sz="2400" dirty="0"/>
        </a:p>
      </dgm:t>
    </dgm:pt>
    <dgm:pt modelId="{35603E27-4986-4093-BA13-540EF067230A}" type="parTrans" cxnId="{EA14688B-076D-4056-931B-F74C89BF1C9E}">
      <dgm:prSet/>
      <dgm:spPr/>
      <dgm:t>
        <a:bodyPr/>
        <a:lstStyle/>
        <a:p>
          <a:endParaRPr lang="en-US"/>
        </a:p>
      </dgm:t>
    </dgm:pt>
    <dgm:pt modelId="{A9A51733-DE1F-469E-8D4B-A6E9376ABC7F}" type="sibTrans" cxnId="{EA14688B-076D-4056-931B-F74C89BF1C9E}">
      <dgm:prSet/>
      <dgm:spPr/>
      <dgm:t>
        <a:bodyPr/>
        <a:lstStyle/>
        <a:p>
          <a:endParaRPr lang="en-US"/>
        </a:p>
      </dgm:t>
    </dgm:pt>
    <dgm:pt modelId="{BC9F2467-8675-4C7B-A23B-F5B8B939445E}">
      <dgm:prSet custT="1"/>
      <dgm:spPr/>
      <dgm:t>
        <a:bodyPr/>
        <a:lstStyle/>
        <a:p>
          <a:r>
            <a:rPr lang="en-GB" sz="2400" dirty="0">
              <a:latin typeface="Arial" panose="020B0604020202020204" pitchFamily="34" charset="0"/>
              <a:cs typeface="Arial" panose="020B0604020202020204" pitchFamily="34" charset="0"/>
            </a:rPr>
            <a:t>Constraint Satisfaction as a search Problem</a:t>
          </a:r>
          <a:endParaRPr lang="en-US" sz="2400" dirty="0"/>
        </a:p>
      </dgm:t>
    </dgm:pt>
    <dgm:pt modelId="{4C54B955-7CC3-4BE7-8D3F-2A5FDB33B454}" type="parTrans" cxnId="{E9A8AFEE-FA31-4B1D-BCC6-EB81265C2F25}">
      <dgm:prSet/>
      <dgm:spPr/>
      <dgm:t>
        <a:bodyPr/>
        <a:lstStyle/>
        <a:p>
          <a:endParaRPr lang="en-US"/>
        </a:p>
      </dgm:t>
    </dgm:pt>
    <dgm:pt modelId="{2D52629A-90C7-4C02-B7FA-11727220C377}" type="sibTrans" cxnId="{E9A8AFEE-FA31-4B1D-BCC6-EB81265C2F25}">
      <dgm:prSet/>
      <dgm:spPr/>
      <dgm:t>
        <a:bodyPr/>
        <a:lstStyle/>
        <a:p>
          <a:endParaRPr lang="en-US"/>
        </a:p>
      </dgm:t>
    </dgm:pt>
    <dgm:pt modelId="{6D838B15-7711-4E79-A61B-E6CE76FE4EFF}">
      <dgm:prSet custT="1"/>
      <dgm:spPr/>
      <dgm:t>
        <a:bodyPr/>
        <a:lstStyle/>
        <a:p>
          <a:r>
            <a:rPr lang="it-IT" sz="2400" dirty="0"/>
            <a:t>Local Search for CSP</a:t>
          </a:r>
          <a:endParaRPr lang="en-US" sz="2400" dirty="0"/>
        </a:p>
      </dgm:t>
    </dgm:pt>
    <dgm:pt modelId="{9E480698-2BA7-4EEA-AFFD-23A934FBB73E}" type="parTrans" cxnId="{C5B8E95E-D05D-46D2-B00B-7CAFB5B38840}">
      <dgm:prSet/>
      <dgm:spPr/>
      <dgm:t>
        <a:bodyPr/>
        <a:lstStyle/>
        <a:p>
          <a:endParaRPr lang="en-PK"/>
        </a:p>
      </dgm:t>
    </dgm:pt>
    <dgm:pt modelId="{D1DDAAE2-E80C-4017-863E-DFDBE9F354A2}" type="sibTrans" cxnId="{C5B8E95E-D05D-46D2-B00B-7CAFB5B38840}">
      <dgm:prSet/>
      <dgm:spPr/>
      <dgm:t>
        <a:bodyPr/>
        <a:lstStyle/>
        <a:p>
          <a:endParaRPr lang="en-PK"/>
        </a:p>
      </dgm:t>
    </dgm:pt>
    <dgm:pt modelId="{D834BA1F-3574-4DD1-BA2B-1AFDA1B9DFB4}" type="pres">
      <dgm:prSet presAssocID="{1ABAFF19-3AEA-4097-8AAE-B0E8391780F7}" presName="linear" presStyleCnt="0">
        <dgm:presLayoutVars>
          <dgm:dir/>
          <dgm:animLvl val="lvl"/>
          <dgm:resizeHandles val="exact"/>
        </dgm:presLayoutVars>
      </dgm:prSet>
      <dgm:spPr/>
    </dgm:pt>
    <dgm:pt modelId="{698E3174-0318-4F94-9674-373830A430B0}" type="pres">
      <dgm:prSet presAssocID="{0C1BEE06-F90E-4F09-93B1-D550B806CA6C}" presName="parentLin" presStyleCnt="0"/>
      <dgm:spPr/>
    </dgm:pt>
    <dgm:pt modelId="{3A3AD406-9F02-4B7C-A576-31CAD64141FB}" type="pres">
      <dgm:prSet presAssocID="{0C1BEE06-F90E-4F09-93B1-D550B806CA6C}" presName="parentLeftMargin" presStyleLbl="node1" presStyleIdx="0" presStyleCnt="2"/>
      <dgm:spPr/>
    </dgm:pt>
    <dgm:pt modelId="{49E13C96-EE4B-48D1-8768-AE8ECE07E331}" type="pres">
      <dgm:prSet presAssocID="{0C1BEE06-F90E-4F09-93B1-D550B806CA6C}" presName="parentText" presStyleLbl="node1" presStyleIdx="0" presStyleCnt="2">
        <dgm:presLayoutVars>
          <dgm:chMax val="0"/>
          <dgm:bulletEnabled val="1"/>
        </dgm:presLayoutVars>
      </dgm:prSet>
      <dgm:spPr/>
    </dgm:pt>
    <dgm:pt modelId="{0A19CEC3-B103-4F3A-9B3C-FE1A70884031}" type="pres">
      <dgm:prSet presAssocID="{0C1BEE06-F90E-4F09-93B1-D550B806CA6C}" presName="negativeSpace" presStyleCnt="0"/>
      <dgm:spPr/>
    </dgm:pt>
    <dgm:pt modelId="{2A8F8C97-D792-4E29-9ADB-A33A1728580F}" type="pres">
      <dgm:prSet presAssocID="{0C1BEE06-F90E-4F09-93B1-D550B806CA6C}" presName="childText" presStyleLbl="conFgAcc1" presStyleIdx="0" presStyleCnt="2" custLinFactNeighborX="-6264" custLinFactNeighborY="-8958">
        <dgm:presLayoutVars>
          <dgm:bulletEnabled val="1"/>
        </dgm:presLayoutVars>
      </dgm:prSet>
      <dgm:spPr/>
    </dgm:pt>
    <dgm:pt modelId="{E9D3FC74-370E-4118-9A41-52FB915D24B6}" type="pres">
      <dgm:prSet presAssocID="{31DBE3B1-489D-4A12-8CA6-D49A4738C6DE}" presName="spaceBetweenRectangles" presStyleCnt="0"/>
      <dgm:spPr/>
    </dgm:pt>
    <dgm:pt modelId="{DDC2F1DC-AC4E-4BD5-8F1F-3AB55F5B9E84}" type="pres">
      <dgm:prSet presAssocID="{3F3DFE54-F6B7-43ED-84E5-2138CE660EB6}" presName="parentLin" presStyleCnt="0"/>
      <dgm:spPr/>
    </dgm:pt>
    <dgm:pt modelId="{F0839E54-C2C9-4E12-8664-B616247CC422}" type="pres">
      <dgm:prSet presAssocID="{3F3DFE54-F6B7-43ED-84E5-2138CE660EB6}" presName="parentLeftMargin" presStyleLbl="node1" presStyleIdx="0" presStyleCnt="2"/>
      <dgm:spPr/>
    </dgm:pt>
    <dgm:pt modelId="{CD8EDF22-9A27-49D7-87DD-3C29CC93D73D}" type="pres">
      <dgm:prSet presAssocID="{3F3DFE54-F6B7-43ED-84E5-2138CE660EB6}" presName="parentText" presStyleLbl="node1" presStyleIdx="1" presStyleCnt="2">
        <dgm:presLayoutVars>
          <dgm:chMax val="0"/>
          <dgm:bulletEnabled val="1"/>
        </dgm:presLayoutVars>
      </dgm:prSet>
      <dgm:spPr/>
    </dgm:pt>
    <dgm:pt modelId="{72D71622-01F6-453A-84C1-5F1DDDB24708}" type="pres">
      <dgm:prSet presAssocID="{3F3DFE54-F6B7-43ED-84E5-2138CE660EB6}" presName="negativeSpace" presStyleCnt="0"/>
      <dgm:spPr/>
    </dgm:pt>
    <dgm:pt modelId="{6EB0EFF8-0C42-4EF9-9C2C-CFC7394E0CEC}" type="pres">
      <dgm:prSet presAssocID="{3F3DFE54-F6B7-43ED-84E5-2138CE660EB6}" presName="childText" presStyleLbl="conFgAcc1" presStyleIdx="1" presStyleCnt="2">
        <dgm:presLayoutVars>
          <dgm:bulletEnabled val="1"/>
        </dgm:presLayoutVars>
      </dgm:prSet>
      <dgm:spPr/>
    </dgm:pt>
  </dgm:ptLst>
  <dgm:cxnLst>
    <dgm:cxn modelId="{EDA5AD18-5AD5-44AA-855C-93782C77F351}" srcId="{1ABAFF19-3AEA-4097-8AAE-B0E8391780F7}" destId="{0C1BEE06-F90E-4F09-93B1-D550B806CA6C}" srcOrd="0" destOrd="0" parTransId="{1C6E13D2-05A4-4EA5-B0FB-6A1163A05D3F}" sibTransId="{31DBE3B1-489D-4A12-8CA6-D49A4738C6DE}"/>
    <dgm:cxn modelId="{51F1EF38-B93F-42C4-8499-9FA3E48A4234}" type="presOf" srcId="{2B5DA1EB-E771-49A5-867E-D9665D475071}" destId="{2A8F8C97-D792-4E29-9ADB-A33A1728580F}" srcOrd="0" destOrd="0" presId="urn:microsoft.com/office/officeart/2005/8/layout/list1"/>
    <dgm:cxn modelId="{575E863E-F1B6-4C6C-9461-02601882A054}" type="presOf" srcId="{6D838B15-7711-4E79-A61B-E6CE76FE4EFF}" destId="{6EB0EFF8-0C42-4EF9-9C2C-CFC7394E0CEC}" srcOrd="0" destOrd="1" presId="urn:microsoft.com/office/officeart/2005/8/layout/list1"/>
    <dgm:cxn modelId="{C5B8E95E-D05D-46D2-B00B-7CAFB5B38840}" srcId="{3F3DFE54-F6B7-43ED-84E5-2138CE660EB6}" destId="{6D838B15-7711-4E79-A61B-E6CE76FE4EFF}" srcOrd="1" destOrd="0" parTransId="{9E480698-2BA7-4EEA-AFFD-23A934FBB73E}" sibTransId="{D1DDAAE2-E80C-4017-863E-DFDBE9F354A2}"/>
    <dgm:cxn modelId="{710F3773-380C-452A-B8E5-ACE531C1737D}" srcId="{0C1BEE06-F90E-4F09-93B1-D550B806CA6C}" destId="{2B5DA1EB-E771-49A5-867E-D9665D475071}" srcOrd="0" destOrd="0" parTransId="{DD750D13-57AD-4795-8AF1-C66AB423D0AD}" sibTransId="{448BFBFD-9308-4A33-BEA8-5A2FB6BB745D}"/>
    <dgm:cxn modelId="{B0A9B776-35AF-48D4-BFF4-277D6353C2FC}" type="presOf" srcId="{0C1BEE06-F90E-4F09-93B1-D550B806CA6C}" destId="{3A3AD406-9F02-4B7C-A576-31CAD64141FB}" srcOrd="0" destOrd="0" presId="urn:microsoft.com/office/officeart/2005/8/layout/list1"/>
    <dgm:cxn modelId="{EA14688B-076D-4056-931B-F74C89BF1C9E}" srcId="{1ABAFF19-3AEA-4097-8AAE-B0E8391780F7}" destId="{3F3DFE54-F6B7-43ED-84E5-2138CE660EB6}" srcOrd="1" destOrd="0" parTransId="{35603E27-4986-4093-BA13-540EF067230A}" sibTransId="{A9A51733-DE1F-469E-8D4B-A6E9376ABC7F}"/>
    <dgm:cxn modelId="{C58C6D8D-0F6A-41DE-BE99-C70A31B35699}" type="presOf" srcId="{1ABAFF19-3AEA-4097-8AAE-B0E8391780F7}" destId="{D834BA1F-3574-4DD1-BA2B-1AFDA1B9DFB4}" srcOrd="0" destOrd="0" presId="urn:microsoft.com/office/officeart/2005/8/layout/list1"/>
    <dgm:cxn modelId="{03A4159A-4EBA-4FA7-8F3E-5BD1C16A34D0}" type="presOf" srcId="{3F3DFE54-F6B7-43ED-84E5-2138CE660EB6}" destId="{CD8EDF22-9A27-49D7-87DD-3C29CC93D73D}" srcOrd="1" destOrd="0" presId="urn:microsoft.com/office/officeart/2005/8/layout/list1"/>
    <dgm:cxn modelId="{CC8A0B9C-4640-40CE-ADE6-DF681DFEEE51}" type="presOf" srcId="{BC9F2467-8675-4C7B-A23B-F5B8B939445E}" destId="{6EB0EFF8-0C42-4EF9-9C2C-CFC7394E0CEC}" srcOrd="0" destOrd="0" presId="urn:microsoft.com/office/officeart/2005/8/layout/list1"/>
    <dgm:cxn modelId="{18CD7FB9-3224-4608-80A8-03227FC84AEF}" type="presOf" srcId="{0C1BEE06-F90E-4F09-93B1-D550B806CA6C}" destId="{49E13C96-EE4B-48D1-8768-AE8ECE07E331}" srcOrd="1" destOrd="0" presId="urn:microsoft.com/office/officeart/2005/8/layout/list1"/>
    <dgm:cxn modelId="{E86429EC-2392-47BA-9AB5-071E4B75E5F1}" type="presOf" srcId="{3F3DFE54-F6B7-43ED-84E5-2138CE660EB6}" destId="{F0839E54-C2C9-4E12-8664-B616247CC422}" srcOrd="0" destOrd="0" presId="urn:microsoft.com/office/officeart/2005/8/layout/list1"/>
    <dgm:cxn modelId="{E9A8AFEE-FA31-4B1D-BCC6-EB81265C2F25}" srcId="{3F3DFE54-F6B7-43ED-84E5-2138CE660EB6}" destId="{BC9F2467-8675-4C7B-A23B-F5B8B939445E}" srcOrd="0" destOrd="0" parTransId="{4C54B955-7CC3-4BE7-8D3F-2A5FDB33B454}" sibTransId="{2D52629A-90C7-4C02-B7FA-11727220C377}"/>
    <dgm:cxn modelId="{D16F14BC-919C-407D-9F91-3E9A927135BB}" type="presParOf" srcId="{D834BA1F-3574-4DD1-BA2B-1AFDA1B9DFB4}" destId="{698E3174-0318-4F94-9674-373830A430B0}" srcOrd="0" destOrd="0" presId="urn:microsoft.com/office/officeart/2005/8/layout/list1"/>
    <dgm:cxn modelId="{B62856A7-083E-400F-9694-9EB44D3B7BC0}" type="presParOf" srcId="{698E3174-0318-4F94-9674-373830A430B0}" destId="{3A3AD406-9F02-4B7C-A576-31CAD64141FB}" srcOrd="0" destOrd="0" presId="urn:microsoft.com/office/officeart/2005/8/layout/list1"/>
    <dgm:cxn modelId="{32A0C464-B9F5-4E90-AC51-22A63AD2C577}" type="presParOf" srcId="{698E3174-0318-4F94-9674-373830A430B0}" destId="{49E13C96-EE4B-48D1-8768-AE8ECE07E331}" srcOrd="1" destOrd="0" presId="urn:microsoft.com/office/officeart/2005/8/layout/list1"/>
    <dgm:cxn modelId="{5E5B1DDA-3810-44FD-8183-E6F7B748D5C5}" type="presParOf" srcId="{D834BA1F-3574-4DD1-BA2B-1AFDA1B9DFB4}" destId="{0A19CEC3-B103-4F3A-9B3C-FE1A70884031}" srcOrd="1" destOrd="0" presId="urn:microsoft.com/office/officeart/2005/8/layout/list1"/>
    <dgm:cxn modelId="{033ED4DB-9E6E-436F-8018-68F8CC396992}" type="presParOf" srcId="{D834BA1F-3574-4DD1-BA2B-1AFDA1B9DFB4}" destId="{2A8F8C97-D792-4E29-9ADB-A33A1728580F}" srcOrd="2" destOrd="0" presId="urn:microsoft.com/office/officeart/2005/8/layout/list1"/>
    <dgm:cxn modelId="{BDA5F5B3-5881-4124-843A-1FD46D6C56C2}" type="presParOf" srcId="{D834BA1F-3574-4DD1-BA2B-1AFDA1B9DFB4}" destId="{E9D3FC74-370E-4118-9A41-52FB915D24B6}" srcOrd="3" destOrd="0" presId="urn:microsoft.com/office/officeart/2005/8/layout/list1"/>
    <dgm:cxn modelId="{1CBDB688-C31F-4B6E-A5D5-E8677DC6B409}" type="presParOf" srcId="{D834BA1F-3574-4DD1-BA2B-1AFDA1B9DFB4}" destId="{DDC2F1DC-AC4E-4BD5-8F1F-3AB55F5B9E84}" srcOrd="4" destOrd="0" presId="urn:microsoft.com/office/officeart/2005/8/layout/list1"/>
    <dgm:cxn modelId="{0F5A7F57-31D3-4E79-835E-111F9624272E}" type="presParOf" srcId="{DDC2F1DC-AC4E-4BD5-8F1F-3AB55F5B9E84}" destId="{F0839E54-C2C9-4E12-8664-B616247CC422}" srcOrd="0" destOrd="0" presId="urn:microsoft.com/office/officeart/2005/8/layout/list1"/>
    <dgm:cxn modelId="{6A11352D-93F5-4A9F-AF17-71DF26BFE7D8}" type="presParOf" srcId="{DDC2F1DC-AC4E-4BD5-8F1F-3AB55F5B9E84}" destId="{CD8EDF22-9A27-49D7-87DD-3C29CC93D73D}" srcOrd="1" destOrd="0" presId="urn:microsoft.com/office/officeart/2005/8/layout/list1"/>
    <dgm:cxn modelId="{D91473F5-4CA9-4BD3-897D-18564E2185B0}" type="presParOf" srcId="{D834BA1F-3574-4DD1-BA2B-1AFDA1B9DFB4}" destId="{72D71622-01F6-453A-84C1-5F1DDDB24708}" srcOrd="5" destOrd="0" presId="urn:microsoft.com/office/officeart/2005/8/layout/list1"/>
    <dgm:cxn modelId="{08E9880D-CAAF-49C4-BBCA-83E123248F03}" type="presParOf" srcId="{D834BA1F-3574-4DD1-BA2B-1AFDA1B9DFB4}" destId="{6EB0EFF8-0C42-4EF9-9C2C-CFC7394E0CE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6583"/>
          <a:ext cx="5918184" cy="23095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This week lecture will cover the following CLO’s:</a:t>
          </a:r>
        </a:p>
      </dsp:txBody>
      <dsp:txXfrm>
        <a:off x="112744" y="139327"/>
        <a:ext cx="5692696" cy="2084091"/>
      </dsp:txXfrm>
    </dsp:sp>
    <dsp:sp modelId="{A025C2BC-3DF5-4B12-A043-E15E948A1F98}">
      <dsp:nvSpPr>
        <dsp:cNvPr id="0" name=""/>
        <dsp:cNvSpPr/>
      </dsp:nvSpPr>
      <dsp:spPr>
        <a:xfrm>
          <a:off x="0" y="2336163"/>
          <a:ext cx="5918184" cy="3042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53340" rIns="298704" bIns="53340" numCol="1" spcCol="1270" anchor="t" anchorCtr="0">
          <a:noAutofit/>
        </a:bodyPr>
        <a:lstStyle/>
        <a:p>
          <a:pPr marL="285750" lvl="1" indent="-285750" algn="just" defTabSz="1466850">
            <a:lnSpc>
              <a:spcPct val="90000"/>
            </a:lnSpc>
            <a:spcBef>
              <a:spcPct val="0"/>
            </a:spcBef>
            <a:spcAft>
              <a:spcPct val="20000"/>
            </a:spcAft>
            <a:buChar char="•"/>
          </a:pPr>
          <a:r>
            <a:rPr lang="en-US" sz="3300" b="1" kern="1200" dirty="0"/>
            <a:t>CLO1: </a:t>
          </a:r>
          <a:r>
            <a:rPr lang="en-US" sz="3300" b="0" kern="1200" dirty="0"/>
            <a:t>Discuss the key concepts in the field of artificial intelligence</a:t>
          </a:r>
          <a:endParaRPr lang="en-US" sz="3300" kern="1200" dirty="0"/>
        </a:p>
        <a:p>
          <a:pPr marL="285750" lvl="1" indent="-285750" algn="just" defTabSz="1466850">
            <a:lnSpc>
              <a:spcPct val="90000"/>
            </a:lnSpc>
            <a:spcBef>
              <a:spcPct val="0"/>
            </a:spcBef>
            <a:spcAft>
              <a:spcPct val="20000"/>
            </a:spcAft>
            <a:buChar char="•"/>
          </a:pPr>
          <a:r>
            <a:rPr lang="en-US" sz="3300" b="1" kern="1200" dirty="0"/>
            <a:t>CLO 2: Implement </a:t>
          </a:r>
          <a:r>
            <a:rPr lang="en-US" sz="3300" kern="1200" dirty="0"/>
            <a:t>artificial intelligence techniques and case studies</a:t>
          </a:r>
        </a:p>
      </dsp:txBody>
      <dsp:txXfrm>
        <a:off x="0" y="2336163"/>
        <a:ext cx="5918184" cy="30429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C97-D792-4E29-9ADB-A33A1728580F}">
      <dsp:nvSpPr>
        <dsp:cNvPr id="0" name=""/>
        <dsp:cNvSpPr/>
      </dsp:nvSpPr>
      <dsp:spPr>
        <a:xfrm>
          <a:off x="0" y="842910"/>
          <a:ext cx="6666833" cy="17655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228852"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Introduction to </a:t>
          </a:r>
          <a:r>
            <a:rPr lang="it-IT" sz="2400" kern="1200" dirty="0"/>
            <a:t>Constraint Satisfaction</a:t>
          </a:r>
          <a:endParaRPr lang="en-US" sz="2400" b="0" kern="1200" dirty="0">
            <a:solidFill>
              <a:schemeClr val="tx1"/>
            </a:solidFill>
          </a:endParaRPr>
        </a:p>
      </dsp:txBody>
      <dsp:txXfrm>
        <a:off x="0" y="842910"/>
        <a:ext cx="6666833" cy="1765575"/>
      </dsp:txXfrm>
    </dsp:sp>
    <dsp:sp modelId="{49E13C96-EE4B-48D1-8768-AE8ECE07E331}">
      <dsp:nvSpPr>
        <dsp:cNvPr id="0" name=""/>
        <dsp:cNvSpPr/>
      </dsp:nvSpPr>
      <dsp:spPr>
        <a:xfrm>
          <a:off x="333341" y="610"/>
          <a:ext cx="4666783" cy="17416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1:</a:t>
          </a:r>
          <a:endParaRPr lang="en-US" sz="2400" kern="1200" dirty="0"/>
        </a:p>
      </dsp:txBody>
      <dsp:txXfrm>
        <a:off x="418363" y="85632"/>
        <a:ext cx="4496739" cy="1571636"/>
      </dsp:txXfrm>
    </dsp:sp>
    <dsp:sp modelId="{6EB0EFF8-0C42-4EF9-9C2C-CFC7394E0CEC}">
      <dsp:nvSpPr>
        <dsp:cNvPr id="0" name=""/>
        <dsp:cNvSpPr/>
      </dsp:nvSpPr>
      <dsp:spPr>
        <a:xfrm>
          <a:off x="0" y="3826465"/>
          <a:ext cx="6666833" cy="2462512"/>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228852"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latin typeface="Arial" panose="020B0604020202020204" pitchFamily="34" charset="0"/>
              <a:cs typeface="Arial" panose="020B0604020202020204" pitchFamily="34" charset="0"/>
            </a:rPr>
            <a:t>Constraint Satisfaction as a search Problem</a:t>
          </a:r>
          <a:endParaRPr lang="en-US" sz="2400" kern="1200" dirty="0"/>
        </a:p>
        <a:p>
          <a:pPr marL="228600" lvl="1" indent="-228600" algn="l" defTabSz="1066800">
            <a:lnSpc>
              <a:spcPct val="90000"/>
            </a:lnSpc>
            <a:spcBef>
              <a:spcPct val="0"/>
            </a:spcBef>
            <a:spcAft>
              <a:spcPct val="15000"/>
            </a:spcAft>
            <a:buChar char="•"/>
          </a:pPr>
          <a:r>
            <a:rPr lang="it-IT" sz="2400" kern="1200" dirty="0"/>
            <a:t>Local Search for CSP</a:t>
          </a:r>
          <a:endParaRPr lang="en-US" sz="2400" kern="1200" dirty="0"/>
        </a:p>
      </dsp:txBody>
      <dsp:txXfrm>
        <a:off x="0" y="3826465"/>
        <a:ext cx="6666833" cy="2462512"/>
      </dsp:txXfrm>
    </dsp:sp>
    <dsp:sp modelId="{CD8EDF22-9A27-49D7-87DD-3C29CC93D73D}">
      <dsp:nvSpPr>
        <dsp:cNvPr id="0" name=""/>
        <dsp:cNvSpPr/>
      </dsp:nvSpPr>
      <dsp:spPr>
        <a:xfrm>
          <a:off x="333341" y="2955625"/>
          <a:ext cx="4666783" cy="174168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2:</a:t>
          </a:r>
          <a:endParaRPr lang="en-US" sz="2400" kern="1200" dirty="0"/>
        </a:p>
      </dsp:txBody>
      <dsp:txXfrm>
        <a:off x="418363" y="3040647"/>
        <a:ext cx="4496739" cy="157163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22099-AF8A-4701-B810-968115DD4CD5}" type="datetimeFigureOut">
              <a:rPr lang="en-PK" smtClean="0"/>
              <a:t>01/15/2026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CE8F-AF87-4DC9-8931-B46FD2A57B7E}" type="slidenum">
              <a:rPr lang="en-PK" smtClean="0"/>
              <a:t>‹#›</a:t>
            </a:fld>
            <a:endParaRPr lang="en-PK"/>
          </a:p>
        </p:txBody>
      </p:sp>
    </p:spTree>
    <p:extLst>
      <p:ext uri="{BB962C8B-B14F-4D97-AF65-F5344CB8AC3E}">
        <p14:creationId xmlns:p14="http://schemas.microsoft.com/office/powerpoint/2010/main" val="37885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3</a:t>
            </a:fld>
            <a:endParaRPr lang="en-PK"/>
          </a:p>
        </p:txBody>
      </p:sp>
    </p:spTree>
    <p:extLst>
      <p:ext uri="{BB962C8B-B14F-4D97-AF65-F5344CB8AC3E}">
        <p14:creationId xmlns:p14="http://schemas.microsoft.com/office/powerpoint/2010/main" val="3833762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LETS+WAVES = LATER</a:t>
            </a:r>
          </a:p>
        </p:txBody>
      </p:sp>
      <p:sp>
        <p:nvSpPr>
          <p:cNvPr id="4" name="Slide Number Placeholder 3"/>
          <p:cNvSpPr>
            <a:spLocks noGrp="1"/>
          </p:cNvSpPr>
          <p:nvPr>
            <p:ph type="sldNum" sz="quarter" idx="5"/>
          </p:nvPr>
        </p:nvSpPr>
        <p:spPr/>
        <p:txBody>
          <a:bodyPr/>
          <a:lstStyle/>
          <a:p>
            <a:fld id="{8A22CE8F-AF87-4DC9-8931-B46FD2A57B7E}" type="slidenum">
              <a:rPr lang="en-PK" smtClean="0"/>
              <a:t>12</a:t>
            </a:fld>
            <a:endParaRPr lang="en-PK"/>
          </a:p>
        </p:txBody>
      </p:sp>
    </p:spTree>
    <p:extLst>
      <p:ext uri="{BB962C8B-B14F-4D97-AF65-F5344CB8AC3E}">
        <p14:creationId xmlns:p14="http://schemas.microsoft.com/office/powerpoint/2010/main" val="3638685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28</a:t>
            </a:fld>
            <a:endParaRPr lang="en-PK"/>
          </a:p>
        </p:txBody>
      </p:sp>
    </p:spTree>
    <p:extLst>
      <p:ext uri="{BB962C8B-B14F-4D97-AF65-F5344CB8AC3E}">
        <p14:creationId xmlns:p14="http://schemas.microsoft.com/office/powerpoint/2010/main" val="168891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F6E-1F1A-43E5-E220-6BDA7505F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80DB783-DEC2-A3C7-C92E-F68DB83AA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0CD0007-2303-FEB7-6AC0-EEB7E75F9ED7}"/>
              </a:ext>
            </a:extLst>
          </p:cNvPr>
          <p:cNvSpPr>
            <a:spLocks noGrp="1"/>
          </p:cNvSpPr>
          <p:nvPr>
            <p:ph type="dt" sz="half" idx="10"/>
          </p:nvPr>
        </p:nvSpPr>
        <p:spPr/>
        <p:txBody>
          <a:bodyPr/>
          <a:lstStyle/>
          <a:p>
            <a:fld id="{88268D2E-9289-42AC-B80C-6990639C6970}" type="datetime8">
              <a:rPr lang="en-PK" smtClean="0"/>
              <a:t>01/15/2026 12:24</a:t>
            </a:fld>
            <a:endParaRPr lang="en-PK"/>
          </a:p>
        </p:txBody>
      </p:sp>
      <p:sp>
        <p:nvSpPr>
          <p:cNvPr id="5" name="Footer Placeholder 4">
            <a:extLst>
              <a:ext uri="{FF2B5EF4-FFF2-40B4-BE49-F238E27FC236}">
                <a16:creationId xmlns:a16="http://schemas.microsoft.com/office/drawing/2014/main" id="{304C1C67-3BAA-4BB7-E952-40087303A03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F3BAB63F-A8D1-625B-851E-0468772D2734}"/>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70867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0F5E-5A4A-48AB-F52F-4B3D819101E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EAED141-6028-3B45-E8E1-D75FBB31D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91B5A7-5E7D-1482-A77F-6C1D9E69A931}"/>
              </a:ext>
            </a:extLst>
          </p:cNvPr>
          <p:cNvSpPr>
            <a:spLocks noGrp="1"/>
          </p:cNvSpPr>
          <p:nvPr>
            <p:ph type="dt" sz="half" idx="10"/>
          </p:nvPr>
        </p:nvSpPr>
        <p:spPr/>
        <p:txBody>
          <a:bodyPr/>
          <a:lstStyle/>
          <a:p>
            <a:fld id="{56A6C460-4D55-46A8-8B39-F8D80668C204}" type="datetime8">
              <a:rPr lang="en-PK" smtClean="0"/>
              <a:t>01/15/2026 12:24</a:t>
            </a:fld>
            <a:endParaRPr lang="en-PK"/>
          </a:p>
        </p:txBody>
      </p:sp>
      <p:sp>
        <p:nvSpPr>
          <p:cNvPr id="5" name="Footer Placeholder 4">
            <a:extLst>
              <a:ext uri="{FF2B5EF4-FFF2-40B4-BE49-F238E27FC236}">
                <a16:creationId xmlns:a16="http://schemas.microsoft.com/office/drawing/2014/main" id="{82FFE02F-9BDB-A3D2-C609-466E907B7CD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E8FBAB45-FD81-4E1C-DA59-7E59E3E602C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404582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F9AF-AFEF-5692-FA74-44D15087C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400C95-EDA4-E6F5-4AF5-4A6CAA785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DCB0D-660C-5E86-7853-04235E37D9C4}"/>
              </a:ext>
            </a:extLst>
          </p:cNvPr>
          <p:cNvSpPr>
            <a:spLocks noGrp="1"/>
          </p:cNvSpPr>
          <p:nvPr>
            <p:ph type="dt" sz="half" idx="10"/>
          </p:nvPr>
        </p:nvSpPr>
        <p:spPr/>
        <p:txBody>
          <a:bodyPr/>
          <a:lstStyle/>
          <a:p>
            <a:fld id="{FA202975-3265-4D6C-885C-67478BE3C7F2}" type="datetime8">
              <a:rPr lang="en-PK" smtClean="0"/>
              <a:t>01/15/2026 12:24</a:t>
            </a:fld>
            <a:endParaRPr lang="en-PK"/>
          </a:p>
        </p:txBody>
      </p:sp>
      <p:sp>
        <p:nvSpPr>
          <p:cNvPr id="5" name="Footer Placeholder 4">
            <a:extLst>
              <a:ext uri="{FF2B5EF4-FFF2-40B4-BE49-F238E27FC236}">
                <a16:creationId xmlns:a16="http://schemas.microsoft.com/office/drawing/2014/main" id="{584171C3-5CDF-9D80-4EBE-656BDE541C1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14E53F3-584B-156B-3CB7-CE2840A107E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6755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848-8B44-647A-1750-A34E7339AB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86DC08F-EC6A-9CC6-A7BE-12D10FD12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12273F5-CE29-B7C3-1DEE-634187AA6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32B0614-7950-A619-551B-ED3E162EFF23}"/>
              </a:ext>
            </a:extLst>
          </p:cNvPr>
          <p:cNvSpPr>
            <a:spLocks noGrp="1"/>
          </p:cNvSpPr>
          <p:nvPr>
            <p:ph type="dt" sz="half" idx="10"/>
          </p:nvPr>
        </p:nvSpPr>
        <p:spPr/>
        <p:txBody>
          <a:bodyPr/>
          <a:lstStyle/>
          <a:p>
            <a:fld id="{07BB4E42-362D-4DFA-8928-76DAAEE00EBB}" type="datetime8">
              <a:rPr lang="en-PK" smtClean="0"/>
              <a:t>01/15/2026 12:24</a:t>
            </a:fld>
            <a:endParaRPr lang="en-PK"/>
          </a:p>
        </p:txBody>
      </p:sp>
      <p:sp>
        <p:nvSpPr>
          <p:cNvPr id="6" name="Footer Placeholder 5">
            <a:extLst>
              <a:ext uri="{FF2B5EF4-FFF2-40B4-BE49-F238E27FC236}">
                <a16:creationId xmlns:a16="http://schemas.microsoft.com/office/drawing/2014/main" id="{CF441B59-C8B5-6D0F-4399-F106AC82F8A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64AFC60-2053-ECFF-5C50-368976D31673}"/>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189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F65F-F935-8509-0750-29F87FE67B4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4D1EDD-2F32-8088-DCA4-940683FC4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957DC-D663-7F27-98CF-5CFD4701F5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6DBE920-D195-F4B1-8A1C-DF099F1A7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AEEDD-4D96-4D6A-F2B6-6E56E8420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CF1D32A-14A7-43A3-04BD-3E5C1D6C5A10}"/>
              </a:ext>
            </a:extLst>
          </p:cNvPr>
          <p:cNvSpPr>
            <a:spLocks noGrp="1"/>
          </p:cNvSpPr>
          <p:nvPr>
            <p:ph type="dt" sz="half" idx="10"/>
          </p:nvPr>
        </p:nvSpPr>
        <p:spPr/>
        <p:txBody>
          <a:bodyPr/>
          <a:lstStyle/>
          <a:p>
            <a:fld id="{79F22A64-5408-49DB-841F-68B670D0A952}" type="datetime8">
              <a:rPr lang="en-PK" smtClean="0"/>
              <a:t>01/15/2026 12:24</a:t>
            </a:fld>
            <a:endParaRPr lang="en-PK"/>
          </a:p>
        </p:txBody>
      </p:sp>
      <p:sp>
        <p:nvSpPr>
          <p:cNvPr id="8" name="Footer Placeholder 7">
            <a:extLst>
              <a:ext uri="{FF2B5EF4-FFF2-40B4-BE49-F238E27FC236}">
                <a16:creationId xmlns:a16="http://schemas.microsoft.com/office/drawing/2014/main" id="{0489F090-39B6-F704-B7FE-D92B0D991FF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8A437A89-9DDA-2071-C1AA-F472229D41AF}"/>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983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B27A3-5102-EE21-A807-3AC83BC7EC7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9994ABC-C15D-FE70-E572-6DC603DD5855}"/>
              </a:ext>
            </a:extLst>
          </p:cNvPr>
          <p:cNvSpPr>
            <a:spLocks noGrp="1"/>
          </p:cNvSpPr>
          <p:nvPr>
            <p:ph type="dt" sz="half" idx="10"/>
          </p:nvPr>
        </p:nvSpPr>
        <p:spPr/>
        <p:txBody>
          <a:bodyPr/>
          <a:lstStyle/>
          <a:p>
            <a:fld id="{65D11D58-974E-4CAF-AC6D-5DBE315773AB}" type="datetime8">
              <a:rPr lang="en-PK" smtClean="0"/>
              <a:t>01/15/2026 12:24</a:t>
            </a:fld>
            <a:endParaRPr lang="en-PK"/>
          </a:p>
        </p:txBody>
      </p:sp>
      <p:sp>
        <p:nvSpPr>
          <p:cNvPr id="4" name="Footer Placeholder 3">
            <a:extLst>
              <a:ext uri="{FF2B5EF4-FFF2-40B4-BE49-F238E27FC236}">
                <a16:creationId xmlns:a16="http://schemas.microsoft.com/office/drawing/2014/main" id="{DB229E67-5D6A-62B9-0F07-7987F2233BF3}"/>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D1FEB484-C332-0992-D1F3-3F2F2D91BE5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10649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F1087-2936-983D-89D2-679197D30A81}"/>
              </a:ext>
            </a:extLst>
          </p:cNvPr>
          <p:cNvSpPr>
            <a:spLocks noGrp="1"/>
          </p:cNvSpPr>
          <p:nvPr>
            <p:ph type="dt" sz="half" idx="10"/>
          </p:nvPr>
        </p:nvSpPr>
        <p:spPr/>
        <p:txBody>
          <a:bodyPr/>
          <a:lstStyle/>
          <a:p>
            <a:fld id="{1A752D9D-C6C1-49F2-AE52-02C80D6EEE70}" type="datetime8">
              <a:rPr lang="en-PK" smtClean="0"/>
              <a:t>01/15/2026 12:24</a:t>
            </a:fld>
            <a:endParaRPr lang="en-PK"/>
          </a:p>
        </p:txBody>
      </p:sp>
      <p:sp>
        <p:nvSpPr>
          <p:cNvPr id="3" name="Footer Placeholder 2">
            <a:extLst>
              <a:ext uri="{FF2B5EF4-FFF2-40B4-BE49-F238E27FC236}">
                <a16:creationId xmlns:a16="http://schemas.microsoft.com/office/drawing/2014/main" id="{5780D7FA-42F7-2E29-B463-91C82A3EA39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C384DD66-06F1-428F-8C28-7722073E4C0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68618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3CE5-E801-D5B4-C053-AF956615D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BC01F3B-C27D-DFCB-EC41-FE54E8B84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3F774E3-55AD-9EDB-210F-21390360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F6D0-CE3D-181B-8D4A-CE6D944B2E5C}"/>
              </a:ext>
            </a:extLst>
          </p:cNvPr>
          <p:cNvSpPr>
            <a:spLocks noGrp="1"/>
          </p:cNvSpPr>
          <p:nvPr>
            <p:ph type="dt" sz="half" idx="10"/>
          </p:nvPr>
        </p:nvSpPr>
        <p:spPr/>
        <p:txBody>
          <a:bodyPr/>
          <a:lstStyle/>
          <a:p>
            <a:fld id="{0AE860EF-E9C5-4154-ABA0-497C98888386}" type="datetime8">
              <a:rPr lang="en-PK" smtClean="0"/>
              <a:t>01/15/2026 12:24</a:t>
            </a:fld>
            <a:endParaRPr lang="en-PK"/>
          </a:p>
        </p:txBody>
      </p:sp>
      <p:sp>
        <p:nvSpPr>
          <p:cNvPr id="6" name="Footer Placeholder 5">
            <a:extLst>
              <a:ext uri="{FF2B5EF4-FFF2-40B4-BE49-F238E27FC236}">
                <a16:creationId xmlns:a16="http://schemas.microsoft.com/office/drawing/2014/main" id="{87E9E0BA-6765-5F28-D792-DFBAF369FB12}"/>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1142F7D-EC17-A880-F4CA-79F8DE7E7D1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80221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6B2-0346-47D8-7C6C-CEB953FA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2FD7669-0EBC-8316-FE6C-4E3AFA75D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630D761-DEC6-4E02-A5A6-68D7DAB6F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01B9B-2FB7-4E9B-93B1-2B1A71C6FCFB}"/>
              </a:ext>
            </a:extLst>
          </p:cNvPr>
          <p:cNvSpPr>
            <a:spLocks noGrp="1"/>
          </p:cNvSpPr>
          <p:nvPr>
            <p:ph type="dt" sz="half" idx="10"/>
          </p:nvPr>
        </p:nvSpPr>
        <p:spPr/>
        <p:txBody>
          <a:bodyPr/>
          <a:lstStyle/>
          <a:p>
            <a:fld id="{CA1A3010-BD20-4C20-A139-F111CFCE4DED}" type="datetime8">
              <a:rPr lang="en-PK" smtClean="0"/>
              <a:t>01/15/2026 12:24</a:t>
            </a:fld>
            <a:endParaRPr lang="en-PK"/>
          </a:p>
        </p:txBody>
      </p:sp>
      <p:sp>
        <p:nvSpPr>
          <p:cNvPr id="6" name="Footer Placeholder 5">
            <a:extLst>
              <a:ext uri="{FF2B5EF4-FFF2-40B4-BE49-F238E27FC236}">
                <a16:creationId xmlns:a16="http://schemas.microsoft.com/office/drawing/2014/main" id="{BBDA871A-2E8C-6DAA-29F7-58F546DA9B3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17073E63-5A89-7F39-0343-31B38AA0A5C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5574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A0C1-36D1-D275-D29D-A5F174F13B2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7EC01DC-96D5-483D-EB66-D069F943BA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E0D86A-33F6-CC08-D069-C2CD2DA22C8E}"/>
              </a:ext>
            </a:extLst>
          </p:cNvPr>
          <p:cNvSpPr>
            <a:spLocks noGrp="1"/>
          </p:cNvSpPr>
          <p:nvPr>
            <p:ph type="dt" sz="half" idx="10"/>
          </p:nvPr>
        </p:nvSpPr>
        <p:spPr/>
        <p:txBody>
          <a:bodyPr/>
          <a:lstStyle/>
          <a:p>
            <a:fld id="{4FCDF583-EA1F-490D-A440-28D5D4D1609B}" type="datetime8">
              <a:rPr lang="en-PK" smtClean="0"/>
              <a:t>01/15/2026 12:24</a:t>
            </a:fld>
            <a:endParaRPr lang="en-PK"/>
          </a:p>
        </p:txBody>
      </p:sp>
      <p:sp>
        <p:nvSpPr>
          <p:cNvPr id="5" name="Footer Placeholder 4">
            <a:extLst>
              <a:ext uri="{FF2B5EF4-FFF2-40B4-BE49-F238E27FC236}">
                <a16:creationId xmlns:a16="http://schemas.microsoft.com/office/drawing/2014/main" id="{18C4C501-4B4E-CD7A-A3CF-AAF9C06DB58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B962088F-8BDE-3163-D288-747BB62CE606}"/>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39818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FE489-8C8D-9284-62BE-5BD44DD32D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BE0687B-E3ED-4012-AF0D-ED0C35C62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72E4B5-4BD5-1EA2-4054-0181794E6F30}"/>
              </a:ext>
            </a:extLst>
          </p:cNvPr>
          <p:cNvSpPr>
            <a:spLocks noGrp="1"/>
          </p:cNvSpPr>
          <p:nvPr>
            <p:ph type="dt" sz="half" idx="10"/>
          </p:nvPr>
        </p:nvSpPr>
        <p:spPr/>
        <p:txBody>
          <a:bodyPr/>
          <a:lstStyle/>
          <a:p>
            <a:fld id="{DCE86CA3-BD67-4FC2-8043-563DA28C6DEF}" type="datetime8">
              <a:rPr lang="en-PK" smtClean="0"/>
              <a:t>01/15/2026 12:24</a:t>
            </a:fld>
            <a:endParaRPr lang="en-PK"/>
          </a:p>
        </p:txBody>
      </p:sp>
      <p:sp>
        <p:nvSpPr>
          <p:cNvPr id="5" name="Footer Placeholder 4">
            <a:extLst>
              <a:ext uri="{FF2B5EF4-FFF2-40B4-BE49-F238E27FC236}">
                <a16:creationId xmlns:a16="http://schemas.microsoft.com/office/drawing/2014/main" id="{5ECB897C-3A1B-5B06-4673-7AD97389028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37320210-5709-B516-739E-CEF3220C1B2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74212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A9A5E6FA-F9B2-43F4-93A1-754EFBD5F0B7}" type="datetime8">
              <a:rPr lang="en-PK" smtClean="0"/>
              <a:t>01/15/2026 12:24</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0595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8A33D06E-F415-4185-80CC-C9C1D8DCF4BF}" type="datetime8">
              <a:rPr lang="en-PK" smtClean="0"/>
              <a:t>01/15/2026 12:24</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6619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C9009A1A-9470-4BA4-A2A2-7BF1CBDD1AE9}" type="datetime8">
              <a:rPr lang="en-PK" smtClean="0"/>
              <a:t>01/15/2026 12:24</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104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EA9879D1-4867-47B4-ABB5-00115205E094}" type="datetime8">
              <a:rPr lang="en-PK" smtClean="0"/>
              <a:t>01/15/2026 12:24</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85536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B0C6ACD6-7DB4-4B0B-80BA-170914EA3395}" type="datetime8">
              <a:rPr lang="en-PK" smtClean="0"/>
              <a:t>01/15/2026 12:24</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78811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05312407-BEAE-4152-B7BA-48543FBFA995}" type="datetime8">
              <a:rPr lang="en-PK" smtClean="0"/>
              <a:t>01/15/2026 12:24</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975648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ADA8559E-9171-4385-8072-B0E593863BB5}" type="datetime8">
              <a:rPr lang="en-PK" smtClean="0"/>
              <a:t>01/15/2026 12:24</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28431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C28870C0-0CCF-4A43-BBA0-BD65E4FC916D}" type="datetime8">
              <a:rPr lang="en-PK" smtClean="0"/>
              <a:t>01/15/2026 12:24</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7252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01EED458-9B45-4ED9-810F-EDF3F113BFE8}" type="datetime8">
              <a:rPr lang="en-PK" smtClean="0"/>
              <a:t>01/15/2026 12:24</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63591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E4F8A886-A279-4E48-9566-005C3CCF0512}" type="datetime8">
              <a:rPr lang="en-PK" smtClean="0"/>
              <a:t>01/15/2026 12:24</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1963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776FA2A8-78F7-44B2-B930-F12580E93FE9}" type="datetime8">
              <a:rPr lang="en-PK" smtClean="0"/>
              <a:t>01/15/2026 12:24</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94199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88939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038899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3811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9580701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4227795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29313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6132160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6386011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016078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44063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122676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8A50D-613C-02AB-581B-1EF8CBBB5B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868A3D-C8EE-C41F-48F9-726C438B2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75493D-4CF2-26D7-B747-6F625DBE2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36D9-B266-4646-B09B-4DC3FF6DEB0E}" type="datetime8">
              <a:rPr lang="en-PK" smtClean="0"/>
              <a:t>01/15/2026 12:24</a:t>
            </a:fld>
            <a:endParaRPr lang="en-PK"/>
          </a:p>
        </p:txBody>
      </p:sp>
      <p:sp>
        <p:nvSpPr>
          <p:cNvPr id="5" name="Footer Placeholder 4">
            <a:extLst>
              <a:ext uri="{FF2B5EF4-FFF2-40B4-BE49-F238E27FC236}">
                <a16:creationId xmlns:a16="http://schemas.microsoft.com/office/drawing/2014/main" id="{6BB9FEE2-49F4-5CCC-6E73-A93A928D6A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6F66B20A-6F5F-92E0-412B-7BC36CDF6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6AE5-FFBF-49E9-8C0A-67AD363D4ACB}" type="slidenum">
              <a:rPr lang="en-PK" smtClean="0"/>
              <a:t>‹#›</a:t>
            </a:fld>
            <a:endParaRPr lang="en-PK"/>
          </a:p>
        </p:txBody>
      </p:sp>
    </p:spTree>
    <p:extLst>
      <p:ext uri="{BB962C8B-B14F-4D97-AF65-F5344CB8AC3E}">
        <p14:creationId xmlns:p14="http://schemas.microsoft.com/office/powerpoint/2010/main" val="284218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A6A64-E084-48DF-BC71-B8BC8F551A5E}" type="datetime8">
              <a:rPr lang="en-PK" smtClean="0"/>
              <a:t>01/15/2026 12:24</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221325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01/15/2026</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796999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Constraint Satisfaction Problem (CSP)</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25819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Week-10 CLO’s</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nvPr>
        </p:nvGraphicFramePr>
        <p:xfrm>
          <a:off x="5431536" y="587829"/>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7852DB-10CB-BAE7-752A-5098AF7A36BA}"/>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CLO’s Mapping </a:t>
            </a:r>
            <a:endParaRPr lang="en-PK" sz="4000">
              <a:solidFill>
                <a:srgbClr val="FFFFFF"/>
              </a:solidFill>
            </a:endParaRPr>
          </a:p>
        </p:txBody>
      </p:sp>
      <p:graphicFrame>
        <p:nvGraphicFramePr>
          <p:cNvPr id="12" name="Content Placeholder 2">
            <a:extLst>
              <a:ext uri="{FF2B5EF4-FFF2-40B4-BE49-F238E27FC236}">
                <a16:creationId xmlns:a16="http://schemas.microsoft.com/office/drawing/2014/main" id="{D1DDC836-2DE9-75FA-5E18-375B488BD769}"/>
              </a:ext>
            </a:extLst>
          </p:cNvPr>
          <p:cNvGraphicFramePr>
            <a:graphicFrameLocks noGrp="1"/>
          </p:cNvGraphicFramePr>
          <p:nvPr>
            <p:ph idx="1"/>
            <p:extLst>
              <p:ext uri="{D42A27DB-BD31-4B8C-83A1-F6EECF244321}">
                <p14:modId xmlns:p14="http://schemas.microsoft.com/office/powerpoint/2010/main" val="2751264742"/>
              </p:ext>
            </p:extLst>
          </p:nvPr>
        </p:nvGraphicFramePr>
        <p:xfrm>
          <a:off x="4905052" y="321275"/>
          <a:ext cx="6666833" cy="6289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340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r"/>
            <a:r>
              <a:rPr lang="en-GB" sz="4000" b="1" dirty="0">
                <a:solidFill>
                  <a:srgbClr val="FFFFFF"/>
                </a:solidFill>
              </a:rPr>
              <a:t>Constraint Satisfaction Problem (CSP)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5384751" cy="5546047"/>
          </a:xfrm>
        </p:spPr>
        <p:txBody>
          <a:bodyPr anchor="ctr">
            <a:normAutofit/>
          </a:bodyPr>
          <a:lstStyle/>
          <a:p>
            <a:pPr algn="just"/>
            <a:r>
              <a:rPr lang="en-GB" sz="3200" dirty="0">
                <a:latin typeface="Arial" panose="020B0604020202020204" pitchFamily="34" charset="0"/>
                <a:cs typeface="Arial" panose="020B0604020202020204" pitchFamily="34" charset="0"/>
              </a:rPr>
              <a:t>Constraint Satisfaction Problem (CSP) is a problem-solving technique in AI that represents problems using variables, domains, and constraints. </a:t>
            </a:r>
          </a:p>
          <a:p>
            <a:pPr algn="just"/>
            <a:r>
              <a:rPr lang="en-GB" sz="3200" dirty="0">
                <a:latin typeface="Arial" panose="020B0604020202020204" pitchFamily="34" charset="0"/>
                <a:cs typeface="Arial" panose="020B0604020202020204" pitchFamily="34" charset="0"/>
              </a:rPr>
              <a:t>It is used in various real-world applications like Sudoku, map colouring, and cryptarithmetic problems.</a:t>
            </a: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6842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5E58B-E429-0D7A-DE21-7D21E716D598}"/>
              </a:ext>
            </a:extLst>
          </p:cNvPr>
          <p:cNvSpPr>
            <a:spLocks noGrp="1"/>
          </p:cNvSpPr>
          <p:nvPr>
            <p:ph type="title"/>
          </p:nvPr>
        </p:nvSpPr>
        <p:spPr>
          <a:xfrm>
            <a:off x="1371599" y="294538"/>
            <a:ext cx="9895951" cy="1033669"/>
          </a:xfrm>
        </p:spPr>
        <p:txBody>
          <a:bodyPr>
            <a:normAutofit/>
          </a:bodyPr>
          <a:lstStyle/>
          <a:p>
            <a:r>
              <a:rPr lang="it-IT" sz="4000" b="1" dirty="0">
                <a:solidFill>
                  <a:srgbClr val="FFFFFF"/>
                </a:solidFill>
              </a:rPr>
              <a:t>Introduction to CSP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D3C617F3-9CAF-E2DF-ED1D-C6DBCD9B799A}"/>
              </a:ext>
            </a:extLst>
          </p:cNvPr>
          <p:cNvSpPr>
            <a:spLocks noGrp="1"/>
          </p:cNvSpPr>
          <p:nvPr>
            <p:ph idx="1"/>
          </p:nvPr>
        </p:nvSpPr>
        <p:spPr>
          <a:xfrm>
            <a:off x="1371599" y="1622746"/>
            <a:ext cx="9724031" cy="4940716"/>
          </a:xfrm>
        </p:spPr>
        <p:txBody>
          <a:bodyPr anchor="ctr">
            <a:normAutofit/>
          </a:bodyPr>
          <a:lstStyle/>
          <a:p>
            <a:pPr marL="0" indent="0" algn="just">
              <a:buNone/>
            </a:pPr>
            <a:r>
              <a:rPr lang="en-GB" b="1" dirty="0"/>
              <a:t>Definition</a:t>
            </a:r>
          </a:p>
          <a:p>
            <a:pPr algn="just"/>
            <a:r>
              <a:rPr lang="en-GB" dirty="0"/>
              <a:t>CSP is a problem-solving framework where solutions satisfy a set of constraints.</a:t>
            </a:r>
          </a:p>
          <a:p>
            <a:pPr marL="0" indent="0" algn="just">
              <a:buNone/>
            </a:pPr>
            <a:r>
              <a:rPr lang="en-GB" b="1" dirty="0"/>
              <a:t>Components of CSP:</a:t>
            </a:r>
          </a:p>
          <a:p>
            <a:pPr algn="just"/>
            <a:r>
              <a:rPr lang="en-GB" b="1" dirty="0"/>
              <a:t>Variables: </a:t>
            </a:r>
            <a:r>
              <a:rPr lang="en-GB" dirty="0"/>
              <a:t>The elements to solve (e.g., countries in map colouring, cells in Sudoku).</a:t>
            </a:r>
          </a:p>
          <a:p>
            <a:pPr algn="just"/>
            <a:r>
              <a:rPr lang="en-GB" b="1" dirty="0"/>
              <a:t>Domains: </a:t>
            </a:r>
            <a:r>
              <a:rPr lang="en-GB" dirty="0"/>
              <a:t>Possible values for the variables (e.g., {red, green, blue} for map colouring).</a:t>
            </a:r>
          </a:p>
          <a:p>
            <a:pPr algn="just"/>
            <a:r>
              <a:rPr lang="en-GB" b="1" dirty="0"/>
              <a:t>Constraints: </a:t>
            </a:r>
            <a:r>
              <a:rPr lang="en-GB" dirty="0"/>
              <a:t>Rules that limit possible combinations of values (e.g., adjacent regions must have different colours).</a:t>
            </a:r>
          </a:p>
        </p:txBody>
      </p:sp>
    </p:spTree>
    <p:extLst>
      <p:ext uri="{BB962C8B-B14F-4D97-AF65-F5344CB8AC3E}">
        <p14:creationId xmlns:p14="http://schemas.microsoft.com/office/powerpoint/2010/main" val="51537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126E78-78F1-927C-870A-D9D61A968E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C244D7-E3D4-CF78-49B1-E5F9D1B9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CFF718-A946-B001-8146-5AF6C9E2BEC1}"/>
              </a:ext>
            </a:extLst>
          </p:cNvPr>
          <p:cNvSpPr>
            <a:spLocks noGrp="1"/>
          </p:cNvSpPr>
          <p:nvPr>
            <p:ph type="title"/>
          </p:nvPr>
        </p:nvSpPr>
        <p:spPr>
          <a:xfrm>
            <a:off x="808638" y="386930"/>
            <a:ext cx="10407230" cy="1188950"/>
          </a:xfrm>
        </p:spPr>
        <p:txBody>
          <a:bodyPr anchor="b">
            <a:normAutofit/>
          </a:bodyPr>
          <a:lstStyle/>
          <a:p>
            <a:r>
              <a:rPr lang="en-GB" sz="5400" b="1" dirty="0"/>
              <a:t>Components of CSP</a:t>
            </a:r>
          </a:p>
        </p:txBody>
      </p:sp>
      <p:grpSp>
        <p:nvGrpSpPr>
          <p:cNvPr id="10" name="Group 9">
            <a:extLst>
              <a:ext uri="{FF2B5EF4-FFF2-40B4-BE49-F238E27FC236}">
                <a16:creationId xmlns:a16="http://schemas.microsoft.com/office/drawing/2014/main" id="{4E605AB6-B292-BFF8-6A6C-5B5342975D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765ED0F-F8DC-8E2F-BE6D-D14F5C6C4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E547330-AD87-E104-9DA8-F392BA644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6329EDDD-F6EA-1FE2-E561-AB94FDBE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53453090-450F-1978-1C1C-8224C67A8F04}"/>
              </a:ext>
            </a:extLst>
          </p:cNvPr>
          <p:cNvSpPr>
            <a:spLocks noGrp="1" noChangeArrowheads="1"/>
          </p:cNvSpPr>
          <p:nvPr>
            <p:ph idx="1"/>
          </p:nvPr>
        </p:nvSpPr>
        <p:spPr bwMode="auto">
          <a:xfrm>
            <a:off x="496919" y="2203079"/>
            <a:ext cx="10810755" cy="3513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r>
              <a:rPr kumimoji="0" lang="en-GB" altLang="en-PK" b="1" i="0" u="none" strike="noStrike" cap="none" normalizeH="0" baseline="0" dirty="0">
                <a:ln>
                  <a:noFill/>
                </a:ln>
                <a:solidFill>
                  <a:schemeClr val="tx1"/>
                </a:solidFill>
                <a:effectLst/>
                <a:latin typeface="Arial" panose="020B0604020202020204" pitchFamily="34" charset="0"/>
              </a:rPr>
              <a:t>CSP </a:t>
            </a:r>
            <a:r>
              <a:rPr kumimoji="0" lang="en-GB" altLang="en-PK" i="0" u="none" strike="noStrike" cap="none" normalizeH="0" baseline="0" dirty="0">
                <a:ln>
                  <a:noFill/>
                </a:ln>
                <a:solidFill>
                  <a:schemeClr val="tx1"/>
                </a:solidFill>
                <a:effectLst/>
                <a:latin typeface="Arial" panose="020B0604020202020204" pitchFamily="34" charset="0"/>
              </a:rPr>
              <a:t>consist of V, D and C where,</a:t>
            </a:r>
            <a:endParaRPr kumimoji="0" lang="en-GB" altLang="en-PK" b="1"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pPr>
            <a:r>
              <a:rPr kumimoji="0" lang="en-GB" altLang="en-PK" sz="2400" b="1" i="0" u="none" strike="noStrike" cap="none" normalizeH="0" baseline="0" dirty="0">
                <a:ln>
                  <a:noFill/>
                </a:ln>
                <a:solidFill>
                  <a:schemeClr val="tx1"/>
                </a:solidFill>
                <a:effectLst/>
                <a:latin typeface="Arial" panose="020B0604020202020204" pitchFamily="34" charset="0"/>
              </a:rPr>
              <a:t>V </a:t>
            </a:r>
            <a:r>
              <a:rPr kumimoji="0" lang="en-GB" altLang="en-PK" sz="2400" i="0" u="none" strike="noStrike" cap="none" normalizeH="0" baseline="0" dirty="0">
                <a:ln>
                  <a:noFill/>
                </a:ln>
                <a:solidFill>
                  <a:schemeClr val="tx1"/>
                </a:solidFill>
                <a:effectLst/>
                <a:latin typeface="Arial" panose="020B0604020202020204" pitchFamily="34" charset="0"/>
              </a:rPr>
              <a:t>is</a:t>
            </a:r>
            <a:r>
              <a:rPr kumimoji="0" lang="en-GB" altLang="en-PK" sz="2400" b="1" i="0" u="none" strike="noStrike" cap="none" normalizeH="0" baseline="0" dirty="0">
                <a:ln>
                  <a:noFill/>
                </a:ln>
                <a:solidFill>
                  <a:schemeClr val="tx1"/>
                </a:solidFill>
                <a:effectLst/>
                <a:latin typeface="Arial" panose="020B0604020202020204" pitchFamily="34" charset="0"/>
              </a:rPr>
              <a:t> </a:t>
            </a:r>
            <a:r>
              <a:rPr kumimoji="0" lang="en-GB" altLang="en-PK" sz="2400" i="0" u="none" strike="noStrike" cap="none" normalizeH="0" baseline="0" dirty="0">
                <a:ln>
                  <a:noFill/>
                </a:ln>
                <a:solidFill>
                  <a:schemeClr val="tx1"/>
                </a:solidFill>
                <a:effectLst/>
                <a:latin typeface="Arial" panose="020B0604020202020204" pitchFamily="34" charset="0"/>
              </a:rPr>
              <a:t>Finite set of Variables e.g. {V</a:t>
            </a:r>
            <a:r>
              <a:rPr kumimoji="0" lang="en-GB" altLang="en-PK" sz="1600" i="0" u="none" strike="noStrike" cap="none" normalizeH="0" baseline="0" dirty="0">
                <a:ln>
                  <a:noFill/>
                </a:ln>
                <a:solidFill>
                  <a:schemeClr val="tx1"/>
                </a:solidFill>
                <a:effectLst/>
                <a:latin typeface="Arial" panose="020B0604020202020204" pitchFamily="34" charset="0"/>
              </a:rPr>
              <a:t>1</a:t>
            </a:r>
            <a:r>
              <a:rPr kumimoji="0" lang="en-GB" altLang="en-PK" sz="2400" i="0" u="none" strike="noStrike" cap="none" normalizeH="0" baseline="0" dirty="0">
                <a:ln>
                  <a:noFill/>
                </a:ln>
                <a:solidFill>
                  <a:schemeClr val="tx1"/>
                </a:solidFill>
                <a:effectLst/>
                <a:latin typeface="Arial" panose="020B0604020202020204" pitchFamily="34" charset="0"/>
              </a:rPr>
              <a:t>, V</a:t>
            </a:r>
            <a:r>
              <a:rPr kumimoji="0" lang="en-GB" altLang="en-PK" sz="1600" i="0" u="none" strike="noStrike" cap="none" normalizeH="0" baseline="0" dirty="0">
                <a:ln>
                  <a:noFill/>
                </a:ln>
                <a:solidFill>
                  <a:schemeClr val="tx1"/>
                </a:solidFill>
                <a:effectLst/>
                <a:latin typeface="Arial" panose="020B0604020202020204" pitchFamily="34" charset="0"/>
              </a:rPr>
              <a:t>2</a:t>
            </a:r>
            <a:r>
              <a:rPr kumimoji="0" lang="en-GB" altLang="en-PK" sz="2400" i="0" u="none" strike="noStrike" cap="none" normalizeH="0" baseline="0" dirty="0">
                <a:ln>
                  <a:noFill/>
                </a:ln>
                <a:solidFill>
                  <a:schemeClr val="tx1"/>
                </a:solidFill>
                <a:effectLst/>
                <a:latin typeface="Arial" panose="020B0604020202020204" pitchFamily="34" charset="0"/>
              </a:rPr>
              <a:t>, V</a:t>
            </a:r>
            <a:r>
              <a:rPr kumimoji="0" lang="en-GB" altLang="en-PK" sz="1600" i="0" u="none" strike="noStrike" cap="none" normalizeH="0" baseline="0" dirty="0">
                <a:ln>
                  <a:noFill/>
                </a:ln>
                <a:solidFill>
                  <a:schemeClr val="tx1"/>
                </a:solidFill>
                <a:effectLst/>
                <a:latin typeface="Arial" panose="020B0604020202020204" pitchFamily="34" charset="0"/>
              </a:rPr>
              <a:t>3</a:t>
            </a:r>
            <a:r>
              <a:rPr kumimoji="0" lang="en-GB" altLang="en-PK" sz="2400" i="0" u="none" strike="noStrike" cap="none" normalizeH="0" baseline="0" dirty="0">
                <a:ln>
                  <a:noFill/>
                </a:ln>
                <a:solidFill>
                  <a:schemeClr val="tx1"/>
                </a:solidFill>
                <a:effectLst/>
                <a:latin typeface="Arial" panose="020B0604020202020204" pitchFamily="34" charset="0"/>
              </a:rPr>
              <a:t>,…….,</a:t>
            </a:r>
            <a:r>
              <a:rPr kumimoji="0" lang="en-GB" altLang="en-PK" sz="2400" i="0" u="none" strike="noStrike" cap="none" normalizeH="0" baseline="0" dirty="0" err="1">
                <a:ln>
                  <a:noFill/>
                </a:ln>
                <a:solidFill>
                  <a:schemeClr val="tx1"/>
                </a:solidFill>
                <a:effectLst/>
                <a:latin typeface="Arial" panose="020B0604020202020204" pitchFamily="34" charset="0"/>
              </a:rPr>
              <a:t>V</a:t>
            </a:r>
            <a:r>
              <a:rPr kumimoji="0" lang="en-GB" altLang="en-PK" sz="1600" i="0" u="none" strike="noStrike" cap="none" normalizeH="0" baseline="0" dirty="0" err="1">
                <a:ln>
                  <a:noFill/>
                </a:ln>
                <a:solidFill>
                  <a:schemeClr val="tx1"/>
                </a:solidFill>
                <a:effectLst/>
                <a:latin typeface="Arial" panose="020B0604020202020204" pitchFamily="34" charset="0"/>
              </a:rPr>
              <a:t>n</a:t>
            </a:r>
            <a:r>
              <a:rPr kumimoji="0" lang="en-GB" altLang="en-PK" sz="2400" i="0" u="none" strike="noStrike" cap="none" normalizeH="0" baseline="0" dirty="0">
                <a:ln>
                  <a:noFill/>
                </a:ln>
                <a:solidFill>
                  <a:schemeClr val="tx1"/>
                </a:solidFill>
                <a:effectLst/>
                <a:latin typeface="Arial" panose="020B0604020202020204" pitchFamily="34" charset="0"/>
              </a:rPr>
              <a:t>}</a:t>
            </a:r>
          </a:p>
          <a:p>
            <a:pPr algn="just" eaLnBrk="0" fontAlgn="base" hangingPunct="0">
              <a:lnSpc>
                <a:spcPct val="100000"/>
              </a:lnSpc>
              <a:spcBef>
                <a:spcPct val="0"/>
              </a:spcBef>
              <a:spcAft>
                <a:spcPct val="0"/>
              </a:spcAft>
            </a:pPr>
            <a:r>
              <a:rPr lang="en-GB" altLang="en-PK" sz="2400" b="1" dirty="0">
                <a:latin typeface="Arial" panose="020B0604020202020204" pitchFamily="34" charset="0"/>
              </a:rPr>
              <a:t>D </a:t>
            </a:r>
            <a:r>
              <a:rPr lang="en-GB" altLang="en-PK" sz="2400" dirty="0">
                <a:latin typeface="Arial" panose="020B0604020202020204" pitchFamily="34" charset="0"/>
              </a:rPr>
              <a:t>is Finite set of Domains. One domain for each variable e.g. {D</a:t>
            </a:r>
            <a:r>
              <a:rPr lang="en-GB" altLang="en-PK" sz="1600" dirty="0">
                <a:latin typeface="Arial" panose="020B0604020202020204" pitchFamily="34" charset="0"/>
              </a:rPr>
              <a:t>1</a:t>
            </a:r>
            <a:r>
              <a:rPr lang="en-GB" altLang="en-PK" sz="2400" dirty="0">
                <a:latin typeface="Arial" panose="020B0604020202020204" pitchFamily="34" charset="0"/>
              </a:rPr>
              <a:t>, D</a:t>
            </a:r>
            <a:r>
              <a:rPr lang="en-GB" altLang="en-PK" sz="1600" dirty="0">
                <a:latin typeface="Arial" panose="020B0604020202020204" pitchFamily="34" charset="0"/>
              </a:rPr>
              <a:t>2</a:t>
            </a:r>
            <a:r>
              <a:rPr lang="en-GB" altLang="en-PK" sz="2400" dirty="0">
                <a:latin typeface="Arial" panose="020B0604020202020204" pitchFamily="34" charset="0"/>
              </a:rPr>
              <a:t>, D</a:t>
            </a:r>
            <a:r>
              <a:rPr lang="en-GB" altLang="en-PK" sz="1600" dirty="0">
                <a:latin typeface="Arial" panose="020B0604020202020204" pitchFamily="34" charset="0"/>
              </a:rPr>
              <a:t>3</a:t>
            </a:r>
            <a:r>
              <a:rPr lang="en-GB" altLang="en-PK" sz="2400" dirty="0">
                <a:latin typeface="Arial" panose="020B0604020202020204" pitchFamily="34" charset="0"/>
              </a:rPr>
              <a:t>,…….,</a:t>
            </a:r>
            <a:r>
              <a:rPr lang="en-GB" altLang="en-PK" sz="2400" dirty="0" err="1">
                <a:latin typeface="Arial" panose="020B0604020202020204" pitchFamily="34" charset="0"/>
              </a:rPr>
              <a:t>D</a:t>
            </a:r>
            <a:r>
              <a:rPr lang="en-GB" altLang="en-PK" sz="1600" dirty="0" err="1">
                <a:latin typeface="Arial" panose="020B0604020202020204" pitchFamily="34" charset="0"/>
              </a:rPr>
              <a:t>n</a:t>
            </a:r>
            <a:r>
              <a:rPr lang="en-GB" altLang="en-PK" sz="2400" dirty="0">
                <a:latin typeface="Arial" panose="020B0604020202020204" pitchFamily="34" charset="0"/>
              </a:rPr>
              <a:t>}</a:t>
            </a:r>
          </a:p>
          <a:p>
            <a:pPr algn="just" eaLnBrk="0" fontAlgn="base" hangingPunct="0">
              <a:lnSpc>
                <a:spcPct val="100000"/>
              </a:lnSpc>
              <a:spcBef>
                <a:spcPct val="0"/>
              </a:spcBef>
              <a:spcAft>
                <a:spcPct val="0"/>
              </a:spcAft>
            </a:pPr>
            <a:r>
              <a:rPr lang="en-GB" sz="2400" b="1" dirty="0">
                <a:latin typeface="Arial" panose="020B0604020202020204" pitchFamily="34" charset="0"/>
              </a:rPr>
              <a:t>C </a:t>
            </a:r>
            <a:r>
              <a:rPr lang="en-GB" sz="2400" dirty="0">
                <a:latin typeface="Arial" panose="020B0604020202020204" pitchFamily="34" charset="0"/>
              </a:rPr>
              <a:t>is Set of constraints that satisfy allowable combination of values. C</a:t>
            </a:r>
            <a:r>
              <a:rPr lang="en-GB" sz="1600" dirty="0">
                <a:latin typeface="Arial" panose="020B0604020202020204" pitchFamily="34" charset="0"/>
              </a:rPr>
              <a:t>i </a:t>
            </a:r>
            <a:r>
              <a:rPr lang="en-GB" sz="2400" dirty="0">
                <a:latin typeface="Arial" panose="020B0604020202020204" pitchFamily="34" charset="0"/>
              </a:rPr>
              <a:t>= {Scope, relation}</a:t>
            </a:r>
            <a:endParaRPr lang="en-GB" altLang="en-PK" sz="2400" b="1" dirty="0">
              <a:latin typeface="Arial" panose="020B0604020202020204" pitchFamily="34" charset="0"/>
            </a:endParaRPr>
          </a:p>
          <a:p>
            <a:pPr lvl="1" algn="just" eaLnBrk="0" fontAlgn="base" hangingPunct="0">
              <a:lnSpc>
                <a:spcPct val="100000"/>
              </a:lnSpc>
              <a:spcBef>
                <a:spcPct val="0"/>
              </a:spcBef>
              <a:spcAft>
                <a:spcPct val="0"/>
              </a:spcAft>
            </a:pPr>
            <a:r>
              <a:rPr lang="en-GB" altLang="en-PK" dirty="0">
                <a:latin typeface="Arial" panose="020B0604020202020204" pitchFamily="34" charset="0"/>
              </a:rPr>
              <a:t>Scope represent set of variables that participate in a constraint</a:t>
            </a:r>
          </a:p>
          <a:p>
            <a:pPr lvl="1" algn="just" eaLnBrk="0" fontAlgn="base" hangingPunct="0">
              <a:lnSpc>
                <a:spcPct val="100000"/>
              </a:lnSpc>
              <a:spcBef>
                <a:spcPct val="0"/>
              </a:spcBef>
              <a:spcAft>
                <a:spcPct val="0"/>
              </a:spcAft>
            </a:pPr>
            <a:r>
              <a:rPr lang="en-GB" altLang="en-PK" dirty="0">
                <a:latin typeface="Arial" panose="020B0604020202020204" pitchFamily="34" charset="0"/>
              </a:rPr>
              <a:t>Relation represent the values that variable can take.</a:t>
            </a:r>
          </a:p>
          <a:p>
            <a:pPr marL="0" indent="0" algn="just" eaLnBrk="0" fontAlgn="base" hangingPunct="0">
              <a:lnSpc>
                <a:spcPct val="150000"/>
              </a:lnSpc>
              <a:spcBef>
                <a:spcPct val="0"/>
              </a:spcBef>
              <a:spcAft>
                <a:spcPct val="0"/>
              </a:spcAft>
              <a:buNone/>
            </a:pPr>
            <a:endParaRPr kumimoji="0" lang="en-PK" altLang="en-PK"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493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8C1D8-EEF4-CFFA-24C7-EC177264BD2C}"/>
              </a:ext>
            </a:extLst>
          </p:cNvPr>
          <p:cNvSpPr>
            <a:spLocks noGrp="1"/>
          </p:cNvSpPr>
          <p:nvPr>
            <p:ph type="title"/>
          </p:nvPr>
        </p:nvSpPr>
        <p:spPr>
          <a:xfrm>
            <a:off x="808638" y="386930"/>
            <a:ext cx="10407230" cy="1188950"/>
          </a:xfrm>
        </p:spPr>
        <p:txBody>
          <a:bodyPr anchor="b">
            <a:normAutofit/>
          </a:bodyPr>
          <a:lstStyle/>
          <a:p>
            <a:r>
              <a:rPr lang="en-GB" sz="5400" b="1" dirty="0"/>
              <a:t>CSP as a Search Problem</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4E338B6D-9205-BFFC-3CC3-6F72BA36BA59}"/>
              </a:ext>
            </a:extLst>
          </p:cNvPr>
          <p:cNvSpPr>
            <a:spLocks noGrp="1" noChangeArrowheads="1"/>
          </p:cNvSpPr>
          <p:nvPr>
            <p:ph idx="1"/>
          </p:nvPr>
        </p:nvSpPr>
        <p:spPr bwMode="auto">
          <a:xfrm>
            <a:off x="405113" y="2033926"/>
            <a:ext cx="10810755" cy="3244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kumimoji="0" lang="en-GB" altLang="en-PK" b="1" i="0" u="none" strike="noStrike" cap="none" normalizeH="0" baseline="0" dirty="0">
                <a:ln>
                  <a:noFill/>
                </a:ln>
                <a:solidFill>
                  <a:schemeClr val="tx1"/>
                </a:solidFill>
                <a:effectLst/>
                <a:latin typeface="Arial" panose="020B0604020202020204" pitchFamily="34" charset="0"/>
              </a:rPr>
              <a:t>Problem Representation as a Search Space:</a:t>
            </a:r>
          </a:p>
          <a:p>
            <a:pPr algn="just" eaLnBrk="0" fontAlgn="base" hangingPunct="0">
              <a:lnSpc>
                <a:spcPct val="150000"/>
              </a:lnSpc>
              <a:spcBef>
                <a:spcPct val="0"/>
              </a:spcBef>
              <a:spcAft>
                <a:spcPct val="0"/>
              </a:spcAft>
            </a:pPr>
            <a:r>
              <a:rPr kumimoji="0" lang="en-GB" altLang="en-PK" b="1" i="0" u="none" strike="noStrike" cap="none" normalizeH="0" baseline="0" dirty="0">
                <a:ln>
                  <a:noFill/>
                </a:ln>
                <a:solidFill>
                  <a:schemeClr val="tx1"/>
                </a:solidFill>
                <a:effectLst/>
                <a:latin typeface="Arial" panose="020B0604020202020204" pitchFamily="34" charset="0"/>
              </a:rPr>
              <a:t>States: </a:t>
            </a:r>
            <a:r>
              <a:rPr kumimoji="0" lang="en-GB" altLang="en-PK" i="0" u="none" strike="noStrike" cap="none" normalizeH="0" baseline="0" dirty="0">
                <a:ln>
                  <a:noFill/>
                </a:ln>
                <a:solidFill>
                  <a:schemeClr val="tx1"/>
                </a:solidFill>
                <a:effectLst/>
                <a:latin typeface="Arial" panose="020B0604020202020204" pitchFamily="34" charset="0"/>
              </a:rPr>
              <a:t>Assignments of values to variables.</a:t>
            </a:r>
          </a:p>
          <a:p>
            <a:pPr algn="just" eaLnBrk="0" fontAlgn="base" hangingPunct="0">
              <a:lnSpc>
                <a:spcPct val="150000"/>
              </a:lnSpc>
              <a:spcBef>
                <a:spcPct val="0"/>
              </a:spcBef>
              <a:spcAft>
                <a:spcPct val="0"/>
              </a:spcAft>
            </a:pPr>
            <a:r>
              <a:rPr kumimoji="0" lang="en-GB" altLang="en-PK" b="1" i="0" u="none" strike="noStrike" cap="none" normalizeH="0" baseline="0" dirty="0">
                <a:ln>
                  <a:noFill/>
                </a:ln>
                <a:solidFill>
                  <a:schemeClr val="tx1"/>
                </a:solidFill>
                <a:effectLst/>
                <a:latin typeface="Arial" panose="020B0604020202020204" pitchFamily="34" charset="0"/>
              </a:rPr>
              <a:t>Initial State: </a:t>
            </a:r>
            <a:r>
              <a:rPr kumimoji="0" lang="en-GB" altLang="en-PK" i="0" u="none" strike="noStrike" cap="none" normalizeH="0" baseline="0" dirty="0">
                <a:ln>
                  <a:noFill/>
                </a:ln>
                <a:solidFill>
                  <a:schemeClr val="tx1"/>
                </a:solidFill>
                <a:effectLst/>
                <a:latin typeface="Arial" panose="020B0604020202020204" pitchFamily="34" charset="0"/>
              </a:rPr>
              <a:t>No variables assigned.</a:t>
            </a:r>
          </a:p>
          <a:p>
            <a:pPr algn="just" eaLnBrk="0" fontAlgn="base" hangingPunct="0">
              <a:lnSpc>
                <a:spcPct val="150000"/>
              </a:lnSpc>
              <a:spcBef>
                <a:spcPct val="0"/>
              </a:spcBef>
              <a:spcAft>
                <a:spcPct val="0"/>
              </a:spcAft>
            </a:pPr>
            <a:r>
              <a:rPr kumimoji="0" lang="en-GB" altLang="en-PK" b="1" i="0" u="none" strike="noStrike" cap="none" normalizeH="0" baseline="0" dirty="0">
                <a:ln>
                  <a:noFill/>
                </a:ln>
                <a:solidFill>
                  <a:schemeClr val="tx1"/>
                </a:solidFill>
                <a:effectLst/>
                <a:latin typeface="Arial" panose="020B0604020202020204" pitchFamily="34" charset="0"/>
              </a:rPr>
              <a:t>Goal State: </a:t>
            </a:r>
            <a:r>
              <a:rPr kumimoji="0" lang="en-GB" altLang="en-PK" i="0" u="none" strike="noStrike" cap="none" normalizeH="0" baseline="0" dirty="0">
                <a:ln>
                  <a:noFill/>
                </a:ln>
                <a:solidFill>
                  <a:schemeClr val="tx1"/>
                </a:solidFill>
                <a:effectLst/>
                <a:latin typeface="Arial" panose="020B0604020202020204" pitchFamily="34" charset="0"/>
              </a:rPr>
              <a:t>All variables assigned values consistent with constraints.</a:t>
            </a:r>
            <a:endParaRPr kumimoji="0" lang="en-PK" altLang="en-PK"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5254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E21269-3107-A371-7B48-310ABCF38DE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E692EA-B38C-32D6-F0BD-6F3001973092}"/>
              </a:ext>
            </a:extLst>
          </p:cNvPr>
          <p:cNvSpPr>
            <a:spLocks noGrp="1"/>
          </p:cNvSpPr>
          <p:nvPr>
            <p:ph type="title"/>
          </p:nvPr>
        </p:nvSpPr>
        <p:spPr>
          <a:xfrm>
            <a:off x="808638" y="386930"/>
            <a:ext cx="9236700" cy="1188950"/>
          </a:xfrm>
        </p:spPr>
        <p:txBody>
          <a:bodyPr anchor="b">
            <a:normAutofit/>
          </a:bodyPr>
          <a:lstStyle/>
          <a:p>
            <a:r>
              <a:rPr lang="en-GB" sz="5400" b="1"/>
              <a:t>Components of CSP: Example</a:t>
            </a:r>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6DD9EF-61C0-C63D-8548-F23C2A692322}"/>
              </a:ext>
            </a:extLst>
          </p:cNvPr>
          <p:cNvSpPr>
            <a:spLocks noGrp="1"/>
          </p:cNvSpPr>
          <p:nvPr>
            <p:ph idx="1"/>
          </p:nvPr>
        </p:nvSpPr>
        <p:spPr>
          <a:xfrm>
            <a:off x="793660" y="2599509"/>
            <a:ext cx="10143668" cy="3435531"/>
          </a:xfrm>
        </p:spPr>
        <p:txBody>
          <a:bodyPr anchor="ctr">
            <a:normAutofit lnSpcReduction="10000"/>
          </a:bodyPr>
          <a:lstStyle/>
          <a:p>
            <a:r>
              <a:rPr lang="en-GB" dirty="0"/>
              <a:t>Let consider we have two variables V1 and V2. The domains of V1 and V2 are A and B respectively.</a:t>
            </a:r>
          </a:p>
          <a:p>
            <a:r>
              <a:rPr lang="en-GB" dirty="0"/>
              <a:t>Now let define a </a:t>
            </a:r>
            <a:r>
              <a:rPr lang="en-GB" b="1" dirty="0"/>
              <a:t>constraint C1 </a:t>
            </a:r>
            <a:r>
              <a:rPr lang="en-GB" dirty="0"/>
              <a:t>= binary variables (means combination of two) and the </a:t>
            </a:r>
            <a:r>
              <a:rPr lang="en-GB" b="1" dirty="0"/>
              <a:t>relation</a:t>
            </a:r>
            <a:r>
              <a:rPr lang="en-GB" dirty="0"/>
              <a:t> is that the two variables cannot be same.</a:t>
            </a:r>
          </a:p>
          <a:p>
            <a:pPr lvl="1"/>
            <a:r>
              <a:rPr lang="en-GB" dirty="0"/>
              <a:t>C1 = [(V1, V2), (V1!= V2)] </a:t>
            </a:r>
          </a:p>
          <a:p>
            <a:pPr lvl="1"/>
            <a:r>
              <a:rPr lang="en-GB" dirty="0"/>
              <a:t>Consider A = (1,2) and B = (2,4) then the constraint </a:t>
            </a:r>
          </a:p>
          <a:p>
            <a:pPr marL="457200" lvl="1" indent="0">
              <a:buNone/>
            </a:pPr>
            <a:r>
              <a:rPr lang="en-GB" dirty="0"/>
              <a:t>C1 = [(V1,V2),(1,2),(1,4),(2,4)]. We cannot take (2,2) as it will not satisfy the relation of the constraint. </a:t>
            </a:r>
          </a:p>
          <a:p>
            <a:endParaRPr lang="en-GB" sz="2400" dirty="0"/>
          </a:p>
          <a:p>
            <a:endParaRPr lang="en-PK" sz="2400" dirty="0"/>
          </a:p>
        </p:txBody>
      </p:sp>
    </p:spTree>
    <p:extLst>
      <p:ext uri="{BB962C8B-B14F-4D97-AF65-F5344CB8AC3E}">
        <p14:creationId xmlns:p14="http://schemas.microsoft.com/office/powerpoint/2010/main" val="2091361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0CC81-49DC-DB75-9861-A45FBE6C861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30781DE-9923-5BDA-82C8-4F26EB68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921FD1-3E02-A76A-4BC8-127A7A06EB13}"/>
              </a:ext>
            </a:extLst>
          </p:cNvPr>
          <p:cNvSpPr>
            <a:spLocks noGrp="1"/>
          </p:cNvSpPr>
          <p:nvPr>
            <p:ph type="title"/>
          </p:nvPr>
        </p:nvSpPr>
        <p:spPr>
          <a:xfrm>
            <a:off x="808638" y="386930"/>
            <a:ext cx="9236700" cy="1188950"/>
          </a:xfrm>
        </p:spPr>
        <p:txBody>
          <a:bodyPr anchor="b">
            <a:normAutofit/>
          </a:bodyPr>
          <a:lstStyle/>
          <a:p>
            <a:r>
              <a:rPr lang="en-GB" sz="5400" b="1" dirty="0"/>
              <a:t>CSP: Example</a:t>
            </a:r>
          </a:p>
        </p:txBody>
      </p:sp>
      <p:grpSp>
        <p:nvGrpSpPr>
          <p:cNvPr id="24" name="Group 23">
            <a:extLst>
              <a:ext uri="{FF2B5EF4-FFF2-40B4-BE49-F238E27FC236}">
                <a16:creationId xmlns:a16="http://schemas.microsoft.com/office/drawing/2014/main" id="{4E7E9511-088B-479A-D97F-8712A264A3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FE2CD6F7-C525-4A90-F39C-B0189BC7A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E9C4EC5-0790-3E16-81D9-6502C76A9B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C3294B8D-A39E-AC58-9892-5D69D549A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F50234-EA4B-DCEF-B42A-F5138A7A8A5C}"/>
              </a:ext>
            </a:extLst>
          </p:cNvPr>
          <p:cNvSpPr>
            <a:spLocks noGrp="1"/>
          </p:cNvSpPr>
          <p:nvPr>
            <p:ph idx="1"/>
          </p:nvPr>
        </p:nvSpPr>
        <p:spPr>
          <a:xfrm>
            <a:off x="793660" y="2599509"/>
            <a:ext cx="10143668" cy="3435531"/>
          </a:xfrm>
        </p:spPr>
        <p:txBody>
          <a:bodyPr anchor="ctr">
            <a:normAutofit/>
          </a:bodyPr>
          <a:lstStyle/>
          <a:p>
            <a:r>
              <a:rPr lang="en-GB" dirty="0"/>
              <a:t>Graph/ Map Colouring</a:t>
            </a:r>
          </a:p>
          <a:p>
            <a:r>
              <a:rPr lang="en-GB" dirty="0"/>
              <a:t>Sudoku Problems</a:t>
            </a:r>
          </a:p>
          <a:p>
            <a:r>
              <a:rPr lang="en-GB" dirty="0"/>
              <a:t>Cryptarithmetic Problems</a:t>
            </a:r>
          </a:p>
          <a:p>
            <a:pPr marL="0" indent="0">
              <a:buNone/>
            </a:pPr>
            <a:endParaRPr lang="en-GB" sz="2400" dirty="0"/>
          </a:p>
          <a:p>
            <a:endParaRPr lang="en-PK" sz="2400" dirty="0"/>
          </a:p>
        </p:txBody>
      </p:sp>
    </p:spTree>
    <p:extLst>
      <p:ext uri="{BB962C8B-B14F-4D97-AF65-F5344CB8AC3E}">
        <p14:creationId xmlns:p14="http://schemas.microsoft.com/office/powerpoint/2010/main" val="260888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6750C7-0EEC-ECFA-2CEC-EBEF62F7076A}"/>
              </a:ext>
            </a:extLst>
          </p:cNvPr>
          <p:cNvSpPr>
            <a:spLocks noGrp="1"/>
          </p:cNvSpPr>
          <p:nvPr>
            <p:ph type="title"/>
          </p:nvPr>
        </p:nvSpPr>
        <p:spPr>
          <a:xfrm>
            <a:off x="1043631" y="809898"/>
            <a:ext cx="9942716" cy="1554480"/>
          </a:xfrm>
        </p:spPr>
        <p:txBody>
          <a:bodyPr anchor="ctr">
            <a:normAutofit/>
          </a:bodyPr>
          <a:lstStyle/>
          <a:p>
            <a:r>
              <a:rPr lang="it-IT" sz="4800" b="1"/>
              <a:t>Cryptarithmetic Problems</a:t>
            </a:r>
            <a:endParaRPr lang="en-PK" sz="4800" b="1"/>
          </a:p>
        </p:txBody>
      </p:sp>
      <p:sp>
        <p:nvSpPr>
          <p:cNvPr id="3" name="Content Placeholder 2">
            <a:extLst>
              <a:ext uri="{FF2B5EF4-FFF2-40B4-BE49-F238E27FC236}">
                <a16:creationId xmlns:a16="http://schemas.microsoft.com/office/drawing/2014/main" id="{A39A6253-9944-012D-141C-3314E63862F5}"/>
              </a:ext>
            </a:extLst>
          </p:cNvPr>
          <p:cNvSpPr>
            <a:spLocks noGrp="1"/>
          </p:cNvSpPr>
          <p:nvPr>
            <p:ph idx="1"/>
          </p:nvPr>
        </p:nvSpPr>
        <p:spPr>
          <a:xfrm>
            <a:off x="640079" y="2801815"/>
            <a:ext cx="10920549" cy="3856893"/>
          </a:xfrm>
        </p:spPr>
        <p:txBody>
          <a:bodyPr anchor="ctr">
            <a:normAutofit lnSpcReduction="10000"/>
          </a:bodyPr>
          <a:lstStyle/>
          <a:p>
            <a:pPr algn="just"/>
            <a:r>
              <a:rPr lang="en-GB" sz="2400" dirty="0">
                <a:latin typeface="Arial" panose="020B0604020202020204" pitchFamily="34" charset="0"/>
                <a:cs typeface="Arial" panose="020B0604020202020204" pitchFamily="34" charset="0"/>
              </a:rPr>
              <a:t>Cryptarithmetic, also known as alphametics or word addition, is a mathematical puzzle where letters or symbols are used to represent the digits of numbers in an equation. The goal is to identify the value of each letter so that the equation is true.</a:t>
            </a:r>
          </a:p>
          <a:p>
            <a:pPr algn="just"/>
            <a:r>
              <a:rPr lang="en-GB" sz="2400" b="1" dirty="0">
                <a:latin typeface="Arial" panose="020B0604020202020204" pitchFamily="34" charset="0"/>
                <a:cs typeface="Arial" panose="020B0604020202020204" pitchFamily="34" charset="0"/>
              </a:rPr>
              <a:t>Cryptarithmetic: </a:t>
            </a:r>
            <a:r>
              <a:rPr lang="en-GB" sz="2400" dirty="0">
                <a:latin typeface="Arial" panose="020B0604020202020204" pitchFamily="34" charset="0"/>
                <a:cs typeface="Arial" panose="020B0604020202020204" pitchFamily="34" charset="0"/>
              </a:rPr>
              <a:t>is a type of constraint satisfaction problem in which each alphabet and symbol is associated with unique digit.</a:t>
            </a:r>
          </a:p>
          <a:p>
            <a:pPr algn="just"/>
            <a:r>
              <a:rPr lang="en-GB" sz="2400" dirty="0">
                <a:latin typeface="Arial" panose="020B0604020202020204" pitchFamily="34" charset="0"/>
                <a:cs typeface="Arial" panose="020B0604020202020204" pitchFamily="34" charset="0"/>
              </a:rPr>
              <a:t>Rules: </a:t>
            </a:r>
          </a:p>
          <a:p>
            <a:pPr lvl="1" algn="just"/>
            <a:r>
              <a:rPr lang="en-GB" sz="2000" dirty="0">
                <a:latin typeface="Arial" panose="020B0604020202020204" pitchFamily="34" charset="0"/>
                <a:cs typeface="Arial" panose="020B0604020202020204" pitchFamily="34" charset="0"/>
              </a:rPr>
              <a:t>Each alphabet has unique digit</a:t>
            </a:r>
          </a:p>
          <a:p>
            <a:pPr lvl="1" algn="just"/>
            <a:r>
              <a:rPr lang="en-GB" sz="2000" dirty="0">
                <a:latin typeface="Arial" panose="020B0604020202020204" pitchFamily="34" charset="0"/>
                <a:cs typeface="Arial" panose="020B0604020202020204" pitchFamily="34" charset="0"/>
              </a:rPr>
              <a:t>Digit ranges from 0- 9</a:t>
            </a:r>
          </a:p>
          <a:p>
            <a:pPr lvl="1" algn="just"/>
            <a:r>
              <a:rPr lang="en-GB" sz="2000" dirty="0">
                <a:latin typeface="Arial" panose="020B0604020202020204" pitchFamily="34" charset="0"/>
                <a:cs typeface="Arial" panose="020B0604020202020204" pitchFamily="34" charset="0"/>
              </a:rPr>
              <a:t>Only one carry should be found</a:t>
            </a:r>
          </a:p>
          <a:p>
            <a:pPr lvl="1" algn="just"/>
            <a:r>
              <a:rPr lang="en-GB" sz="2000" dirty="0">
                <a:latin typeface="Arial" panose="020B0604020202020204" pitchFamily="34" charset="0"/>
                <a:cs typeface="Arial" panose="020B0604020202020204" pitchFamily="34" charset="0"/>
              </a:rPr>
              <a:t>Can be solved from both sides.</a:t>
            </a:r>
          </a:p>
          <a:p>
            <a:pPr algn="just"/>
            <a:endParaRPr lang="en-PK" sz="2400" dirty="0">
              <a:latin typeface="Arial" panose="020B0604020202020204" pitchFamily="34" charset="0"/>
              <a:cs typeface="Arial" panose="020B0604020202020204" pitchFamily="34" charset="0"/>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962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33494-724D-42E3-BF4C-7A3C68365D93}"/>
              </a:ext>
            </a:extLst>
          </p:cNvPr>
          <p:cNvSpPr>
            <a:spLocks noGrp="1"/>
          </p:cNvSpPr>
          <p:nvPr>
            <p:ph type="title"/>
          </p:nvPr>
        </p:nvSpPr>
        <p:spPr/>
        <p:txBody>
          <a:bodyPr/>
          <a:lstStyle/>
          <a:p>
            <a:r>
              <a:rPr lang="en-US" altLang="en-US" dirty="0"/>
              <a:t>Example: Cryptarithmetic</a:t>
            </a:r>
            <a:endParaRPr lang="en-US" dirty="0"/>
          </a:p>
        </p:txBody>
      </p:sp>
      <p:graphicFrame>
        <p:nvGraphicFramePr>
          <p:cNvPr id="5" name="Table 5">
            <a:extLst>
              <a:ext uri="{FF2B5EF4-FFF2-40B4-BE49-F238E27FC236}">
                <a16:creationId xmlns:a16="http://schemas.microsoft.com/office/drawing/2014/main" id="{F515B881-A98B-4A3C-B23C-D9D8B8130492}"/>
              </a:ext>
            </a:extLst>
          </p:cNvPr>
          <p:cNvGraphicFramePr>
            <a:graphicFrameLocks noGrp="1"/>
          </p:cNvGraphicFramePr>
          <p:nvPr>
            <p:ph idx="1"/>
          </p:nvPr>
        </p:nvGraphicFramePr>
        <p:xfrm>
          <a:off x="838200" y="1690688"/>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857856998"/>
                    </a:ext>
                  </a:extLst>
                </a:gridCol>
                <a:gridCol w="648286">
                  <a:extLst>
                    <a:ext uri="{9D8B030D-6E8A-4147-A177-3AD203B41FA5}">
                      <a16:colId xmlns:a16="http://schemas.microsoft.com/office/drawing/2014/main" val="4022649881"/>
                    </a:ext>
                  </a:extLst>
                </a:gridCol>
                <a:gridCol w="648286">
                  <a:extLst>
                    <a:ext uri="{9D8B030D-6E8A-4147-A177-3AD203B41FA5}">
                      <a16:colId xmlns:a16="http://schemas.microsoft.com/office/drawing/2014/main" val="614793524"/>
                    </a:ext>
                  </a:extLst>
                </a:gridCol>
                <a:gridCol w="648286">
                  <a:extLst>
                    <a:ext uri="{9D8B030D-6E8A-4147-A177-3AD203B41FA5}">
                      <a16:colId xmlns:a16="http://schemas.microsoft.com/office/drawing/2014/main" val="2294104055"/>
                    </a:ext>
                  </a:extLst>
                </a:gridCol>
                <a:gridCol w="648286">
                  <a:extLst>
                    <a:ext uri="{9D8B030D-6E8A-4147-A177-3AD203B41FA5}">
                      <a16:colId xmlns:a16="http://schemas.microsoft.com/office/drawing/2014/main" val="2639671560"/>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32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872164168"/>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9046598"/>
                  </a:ext>
                </a:extLst>
              </a:tr>
              <a:tr h="671619">
                <a:tc>
                  <a:txBody>
                    <a:bodyPr/>
                    <a:lstStyle/>
                    <a:p>
                      <a:pPr algn="ctr"/>
                      <a:r>
                        <a:rPr lang="en-US" sz="32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32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32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69931727"/>
                  </a:ext>
                </a:extLst>
              </a:tr>
            </a:tbl>
          </a:graphicData>
        </a:graphic>
      </p:graphicFrame>
      <p:sp>
        <p:nvSpPr>
          <p:cNvPr id="4" name="Slide Number Placeholder 3">
            <a:extLst>
              <a:ext uri="{FF2B5EF4-FFF2-40B4-BE49-F238E27FC236}">
                <a16:creationId xmlns:a16="http://schemas.microsoft.com/office/drawing/2014/main" id="{247B480D-0EC7-402D-ACF1-F6A68895DA41}"/>
              </a:ext>
            </a:extLst>
          </p:cNvPr>
          <p:cNvSpPr>
            <a:spLocks noGrp="1"/>
          </p:cNvSpPr>
          <p:nvPr>
            <p:ph type="sldNum" sz="quarter" idx="12"/>
          </p:nvPr>
        </p:nvSpPr>
        <p:spPr/>
        <p:txBody>
          <a:bodyPr/>
          <a:lstStyle/>
          <a:p>
            <a:fld id="{580F2929-B68B-4190-89D5-A4CAF035ED0C}" type="slidenum">
              <a:rPr lang="en-US" smtClean="0"/>
              <a:t>11</a:t>
            </a:fld>
            <a:endParaRPr lang="en-US"/>
          </a:p>
        </p:txBody>
      </p:sp>
      <p:sp>
        <p:nvSpPr>
          <p:cNvPr id="6" name="TextBox 5">
            <a:extLst>
              <a:ext uri="{FF2B5EF4-FFF2-40B4-BE49-F238E27FC236}">
                <a16:creationId xmlns:a16="http://schemas.microsoft.com/office/drawing/2014/main" id="{189D880D-022D-4FB1-A687-4C1FE35CD38E}"/>
              </a:ext>
            </a:extLst>
          </p:cNvPr>
          <p:cNvSpPr txBox="1"/>
          <p:nvPr/>
        </p:nvSpPr>
        <p:spPr>
          <a:xfrm>
            <a:off x="4922520" y="1690688"/>
            <a:ext cx="5275384"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Constraints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Every letter must have a digit.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Each letter must have different digit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54CE2B-FF4C-46C3-B7DF-107B6B623EDA}"/>
                  </a:ext>
                </a:extLst>
              </p:cNvPr>
              <p:cNvSpPr txBox="1"/>
              <p:nvPr/>
            </p:nvSpPr>
            <p:spPr>
              <a:xfrm>
                <a:off x="838199" y="3901120"/>
                <a:ext cx="8966982" cy="461665"/>
              </a:xfrm>
              <a:prstGeom prst="rect">
                <a:avLst/>
              </a:prstGeom>
              <a:noFill/>
            </p:spPr>
            <p:txBody>
              <a:bodyPr wrap="squar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𝑉𝑎𝑟𝑖𝑎𝑏𝑙𝑒𝑠</m:t>
                        </m:r>
                        <m:r>
                          <a:rPr lang="en-US" sz="2400" b="0" i="1" smtClean="0">
                            <a:latin typeface="Cambria Math" panose="02040503050406030204" pitchFamily="18" charset="0"/>
                          </a:rPr>
                          <m:t>,  </m:t>
                        </m:r>
                        <m:r>
                          <a:rPr lang="en-US" sz="2400" b="0" i="1" smtClean="0">
                            <a:latin typeface="Cambria Math" panose="02040503050406030204" pitchFamily="18" charset="0"/>
                          </a:rPr>
                          <m:t>𝑋</m:t>
                        </m:r>
                        <m:r>
                          <a:rPr lang="en-US" sz="2400" b="0" i="1" smtClean="0">
                            <a:latin typeface="Cambria Math" panose="02040503050406030204" pitchFamily="18" charset="0"/>
                          </a:rPr>
                          <m:t>= </m:t>
                        </m:r>
                      </m:e>
                      <m:sub>
                        <m:r>
                          <a:rPr lang="en-US" sz="2400" b="0" i="1" smtClean="0">
                            <a:solidFill>
                              <a:schemeClr val="bg1"/>
                            </a:solidFill>
                            <a:latin typeface="Cambria Math" panose="02040503050406030204" pitchFamily="18" charset="0"/>
                          </a:rPr>
                          <m:t>0</m:t>
                        </m:r>
                      </m:sub>
                    </m:sSub>
                  </m:oMath>
                </a14:m>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r>
                          <a:rPr lang="en-US" sz="2400" b="0" i="1" smtClean="0">
                            <a:latin typeface="Cambria Math" panose="02040503050406030204" pitchFamily="18" charset="0"/>
                          </a:rPr>
                          <m:t>𝑆</m:t>
                        </m:r>
                        <m:r>
                          <a:rPr lang="en-US" sz="2400" b="0" i="1" smtClean="0">
                            <a:latin typeface="Cambria Math" panose="02040503050406030204" pitchFamily="18" charset="0"/>
                          </a:rPr>
                          <m:t>, </m:t>
                        </m:r>
                        <m:r>
                          <a:rPr lang="en-US" sz="2400" b="0" i="1" smtClean="0">
                            <a:latin typeface="Cambria Math" panose="02040503050406030204" pitchFamily="18" charset="0"/>
                          </a:rPr>
                          <m:t>𝐸</m:t>
                        </m:r>
                        <m:r>
                          <a:rPr lang="en-US" sz="2400" b="0" i="1" smtClean="0">
                            <a:latin typeface="Cambria Math" panose="02040503050406030204" pitchFamily="18" charset="0"/>
                          </a:rPr>
                          <m:t>, </m:t>
                        </m:r>
                        <m:r>
                          <a:rPr lang="en-US" sz="2400" b="0" i="1" smtClean="0">
                            <a:latin typeface="Cambria Math" panose="02040503050406030204" pitchFamily="18" charset="0"/>
                          </a:rPr>
                          <m:t>𝑁</m:t>
                        </m:r>
                        <m:r>
                          <a:rPr lang="en-US" sz="2400" b="0" i="1" smtClean="0">
                            <a:latin typeface="Cambria Math" panose="02040503050406030204" pitchFamily="18" charset="0"/>
                          </a:rPr>
                          <m:t>, </m:t>
                        </m:r>
                        <m:r>
                          <a:rPr lang="en-US" sz="2400" b="0" i="1" smtClean="0">
                            <a:latin typeface="Cambria Math" panose="02040503050406030204" pitchFamily="18" charset="0"/>
                          </a:rPr>
                          <m:t>𝐷</m:t>
                        </m:r>
                        <m:r>
                          <a:rPr lang="en-US" sz="2400" b="0" i="1" smtClean="0">
                            <a:latin typeface="Cambria Math" panose="02040503050406030204" pitchFamily="18" charset="0"/>
                          </a:rPr>
                          <m:t>, </m:t>
                        </m:r>
                        <m:r>
                          <a:rPr lang="en-US" sz="2400" b="0" i="1" smtClean="0">
                            <a:latin typeface="Cambria Math" panose="02040503050406030204" pitchFamily="18" charset="0"/>
                          </a:rPr>
                          <m:t>𝑀</m:t>
                        </m:r>
                        <m:r>
                          <a:rPr lang="en-US" sz="2400" b="0" i="1" smtClean="0">
                            <a:latin typeface="Cambria Math" panose="02040503050406030204" pitchFamily="18" charset="0"/>
                          </a:rPr>
                          <m:t>, </m:t>
                        </m:r>
                        <m:r>
                          <a:rPr lang="en-US" sz="2400" b="0" i="1" smtClean="0">
                            <a:latin typeface="Cambria Math" panose="02040503050406030204" pitchFamily="18" charset="0"/>
                          </a:rPr>
                          <m:t>𝑂</m:t>
                        </m:r>
                        <m:r>
                          <a:rPr lang="en-US" sz="2400" b="0" i="1" smtClean="0">
                            <a:latin typeface="Cambria Math" panose="02040503050406030204" pitchFamily="18" charset="0"/>
                          </a:rPr>
                          <m:t>, </m:t>
                        </m:r>
                        <m:r>
                          <a:rPr lang="en-US" sz="2400" b="0" i="1" smtClean="0">
                            <a:latin typeface="Cambria Math" panose="02040503050406030204" pitchFamily="18" charset="0"/>
                          </a:rPr>
                          <m:t>𝑅</m:t>
                        </m:r>
                        <m:r>
                          <a:rPr lang="en-US" sz="2400" b="0" i="1" smtClean="0">
                            <a:latin typeface="Cambria Math" panose="02040503050406030204" pitchFamily="18" charset="0"/>
                          </a:rPr>
                          <m:t>, </m:t>
                        </m:r>
                        <m:r>
                          <a:rPr lang="en-US" sz="2400" b="0" i="1" smtClean="0">
                            <a:latin typeface="Cambria Math" panose="02040503050406030204" pitchFamily="18" charset="0"/>
                          </a:rPr>
                          <m:t>𝑌</m:t>
                        </m:r>
                      </m:e>
                      <m:sub>
                        <m:r>
                          <a:rPr lang="en-US" sz="2400" b="0" i="1" smtClean="0">
                            <a:solidFill>
                              <a:schemeClr val="bg1"/>
                            </a:solidFill>
                            <a:latin typeface="Cambria Math" panose="02040503050406030204" pitchFamily="18" charset="0"/>
                          </a:rPr>
                          <m:t>0</m:t>
                        </m:r>
                      </m:sub>
                    </m:sSub>
                    <m:r>
                      <a:rPr lang="en-US" sz="2400" b="0" i="1" smtClean="0">
                        <a:latin typeface="Cambria Math" panose="02040503050406030204" pitchFamily="18" charset="0"/>
                      </a:rPr>
                      <m:t>}</m:t>
                    </m:r>
                  </m:oMath>
                </a14:m>
                <a:endParaRPr lang="en-US" sz="2400" dirty="0"/>
              </a:p>
            </p:txBody>
          </p:sp>
        </mc:Choice>
        <mc:Fallback xmlns="">
          <p:sp>
            <p:nvSpPr>
              <p:cNvPr id="7" name="TextBox 6">
                <a:extLst>
                  <a:ext uri="{FF2B5EF4-FFF2-40B4-BE49-F238E27FC236}">
                    <a16:creationId xmlns:a16="http://schemas.microsoft.com/office/drawing/2014/main" id="{EC54CE2B-FF4C-46C3-B7DF-107B6B623EDA}"/>
                  </a:ext>
                </a:extLst>
              </p:cNvPr>
              <p:cNvSpPr txBox="1">
                <a:spLocks noRot="1" noChangeAspect="1" noMove="1" noResize="1" noEditPoints="1" noAdjustHandles="1" noChangeArrowheads="1" noChangeShapeType="1" noTextEdit="1"/>
              </p:cNvSpPr>
              <p:nvPr/>
            </p:nvSpPr>
            <p:spPr>
              <a:xfrm>
                <a:off x="838199" y="3901120"/>
                <a:ext cx="8966982" cy="461665"/>
              </a:xfrm>
              <a:prstGeom prst="rect">
                <a:avLst/>
              </a:prstGeom>
              <a:blipFill>
                <a:blip r:embed="rId2"/>
                <a:stretch>
                  <a:fillRect l="-136"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8E6B207-F92C-4E1D-9323-4102E8CC16CB}"/>
                  </a:ext>
                </a:extLst>
              </p:cNvPr>
              <p:cNvSpPr txBox="1"/>
              <p:nvPr/>
            </p:nvSpPr>
            <p:spPr>
              <a:xfrm>
                <a:off x="838198" y="4467022"/>
                <a:ext cx="8854441" cy="4972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𝐷𝑜𝑚𝑎𝑖𝑛𝑠</m:t>
                          </m:r>
                          <m:r>
                            <a:rPr lang="en-US" sz="2400" b="0" i="1" smtClean="0">
                              <a:latin typeface="Cambria Math" panose="02040503050406030204" pitchFamily="18" charset="0"/>
                            </a:rPr>
                            <m:t>, </m:t>
                          </m:r>
                          <m:r>
                            <a:rPr lang="en-US" sz="2400" b="0" i="1" smtClean="0">
                              <a:latin typeface="Cambria Math" panose="02040503050406030204" pitchFamily="18" charset="0"/>
                            </a:rPr>
                            <m:t>𝐷</m:t>
                          </m:r>
                          <m:r>
                            <a:rPr lang="en-US" sz="2400" b="0" i="1" smtClean="0">
                              <a:latin typeface="Cambria Math" panose="02040503050406030204" pitchFamily="18" charset="0"/>
                            </a:rPr>
                            <m:t> </m:t>
                          </m:r>
                        </m:e>
                        <m:sub>
                          <m:r>
                            <a:rPr lang="en-US" sz="2400" b="0" i="1" smtClean="0">
                              <a:latin typeface="Cambria Math" panose="02040503050406030204" pitchFamily="18" charset="0"/>
                            </a:rPr>
                            <m:t>(</m:t>
                          </m:r>
                          <m:r>
                            <a:rPr lang="en-US" sz="2400" b="0" i="1" smtClean="0">
                              <a:latin typeface="Cambria Math" panose="02040503050406030204" pitchFamily="18" charset="0"/>
                            </a:rPr>
                            <m:t>𝑒𝑥𝑐𝑒𝑝𝑡</m:t>
                          </m:r>
                          <m:r>
                            <a:rPr lang="en-US" sz="2400" b="0" i="1" smtClean="0">
                              <a:latin typeface="Cambria Math" panose="02040503050406030204" pitchFamily="18" charset="0"/>
                            </a:rPr>
                            <m:t> </m:t>
                          </m:r>
                          <m:r>
                            <a:rPr lang="en-US" sz="2400" b="0" i="1" smtClean="0">
                              <a:latin typeface="Cambria Math" panose="02040503050406030204" pitchFamily="18" charset="0"/>
                            </a:rPr>
                            <m:t>𝑆</m:t>
                          </m:r>
                          <m:r>
                            <a:rPr lang="en-US" sz="2400" b="0" i="1" smtClean="0">
                              <a:latin typeface="Cambria Math" panose="02040503050406030204" pitchFamily="18" charset="0"/>
                            </a:rPr>
                            <m:t> &amp; </m:t>
                          </m:r>
                          <m:r>
                            <a:rPr lang="en-US" sz="2400" b="0" i="1" smtClean="0">
                              <a:latin typeface="Cambria Math" panose="02040503050406030204" pitchFamily="18" charset="0"/>
                            </a:rPr>
                            <m:t>𝑀</m:t>
                          </m:r>
                          <m:r>
                            <a:rPr lang="en-US" sz="2400" b="0" i="1" smtClean="0">
                              <a:latin typeface="Cambria Math" panose="02040503050406030204" pitchFamily="18" charset="0"/>
                            </a:rPr>
                            <m:t>)</m:t>
                          </m:r>
                        </m:sub>
                      </m:sSub>
                      <m:r>
                        <a:rPr lang="en-US" sz="2400" b="0" i="1" smtClean="0">
                          <a:latin typeface="Cambria Math" panose="02040503050406030204" pitchFamily="18" charset="0"/>
                        </a:rPr>
                        <m:t>= </m:t>
                      </m:r>
                      <m:r>
                        <a:rPr lang="en-US" sz="2400" b="0" i="0" smtClean="0">
                          <a:latin typeface="Cambria Math" panose="02040503050406030204" pitchFamily="18" charset="0"/>
                        </a:rPr>
                        <m:t>{</m:t>
                      </m:r>
                      <m:r>
                        <a:rPr lang="en-US" sz="2400" b="0" i="1" smtClean="0">
                          <a:latin typeface="Cambria Math" panose="02040503050406030204" pitchFamily="18" charset="0"/>
                        </a:rPr>
                        <m:t>0,1, 2, 3, 4, 5, 6, 7, 8, 9}</m:t>
                      </m:r>
                    </m:oMath>
                  </m:oMathPara>
                </a14:m>
                <a:endParaRPr lang="en-US" sz="2400" dirty="0"/>
              </a:p>
            </p:txBody>
          </p:sp>
        </mc:Choice>
        <mc:Fallback xmlns="">
          <p:sp>
            <p:nvSpPr>
              <p:cNvPr id="8" name="TextBox 7">
                <a:extLst>
                  <a:ext uri="{FF2B5EF4-FFF2-40B4-BE49-F238E27FC236}">
                    <a16:creationId xmlns:a16="http://schemas.microsoft.com/office/drawing/2014/main" id="{28E6B207-F92C-4E1D-9323-4102E8CC16CB}"/>
                  </a:ext>
                </a:extLst>
              </p:cNvPr>
              <p:cNvSpPr txBox="1">
                <a:spLocks noRot="1" noChangeAspect="1" noMove="1" noResize="1" noEditPoints="1" noAdjustHandles="1" noChangeArrowheads="1" noChangeShapeType="1" noTextEdit="1"/>
              </p:cNvSpPr>
              <p:nvPr/>
            </p:nvSpPr>
            <p:spPr>
              <a:xfrm>
                <a:off x="838198" y="4467022"/>
                <a:ext cx="8854441" cy="497252"/>
              </a:xfrm>
              <a:prstGeom prst="rect">
                <a:avLst/>
              </a:prstGeom>
              <a:blipFill>
                <a:blip r:embed="rId3"/>
                <a:stretch>
                  <a:fillRect l="-138" b="-12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17AA62D-E3E4-42C6-BE30-93929BCD1D82}"/>
                  </a:ext>
                </a:extLst>
              </p:cNvPr>
              <p:cNvSpPr txBox="1"/>
              <p:nvPr/>
            </p:nvSpPr>
            <p:spPr>
              <a:xfrm>
                <a:off x="838198" y="5613316"/>
                <a:ext cx="6098344" cy="461665"/>
              </a:xfrm>
              <a:prstGeom prst="rect">
                <a:avLst/>
              </a:prstGeom>
              <a:noFill/>
            </p:spPr>
            <p:txBody>
              <a:bodyPr wrap="squar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𝐶𝑜𝑛𝑠𝑡𝑟𝑎𝑖𝑛𝑡𝑠</m:t>
                        </m:r>
                        <m:r>
                          <a:rPr lang="en-US" sz="2400" b="0" i="1" smtClean="0">
                            <a:latin typeface="Cambria Math" panose="02040503050406030204" pitchFamily="18" charset="0"/>
                          </a:rPr>
                          <m:t>:</m:t>
                        </m:r>
                        <m:r>
                          <a:rPr lang="en-US" sz="2400" b="0" i="1" smtClean="0">
                            <a:latin typeface="Cambria Math" panose="02040503050406030204" pitchFamily="18" charset="0"/>
                          </a:rPr>
                          <m:t>𝐴𝑙𝑙𝑑𝑖𝑓</m:t>
                        </m:r>
                        <m:r>
                          <a:rPr lang="en-US" sz="2400" b="0" i="1" smtClean="0">
                            <a:latin typeface="Cambria Math" panose="02040503050406030204" pitchFamily="18" charset="0"/>
                          </a:rPr>
                          <m:t>(</m:t>
                        </m:r>
                        <m:r>
                          <a:rPr lang="en-US" sz="2400" b="0" i="1" smtClean="0">
                            <a:latin typeface="Cambria Math" panose="02040503050406030204" pitchFamily="18" charset="0"/>
                          </a:rPr>
                          <m:t>𝑆</m:t>
                        </m:r>
                        <m:r>
                          <a:rPr lang="en-US" sz="2400" b="0" i="1" smtClean="0">
                            <a:latin typeface="Cambria Math" panose="02040503050406030204" pitchFamily="18" charset="0"/>
                          </a:rPr>
                          <m:t>, </m:t>
                        </m:r>
                        <m:r>
                          <a:rPr lang="en-US" sz="2400" b="0" i="1" smtClean="0">
                            <a:latin typeface="Cambria Math" panose="02040503050406030204" pitchFamily="18" charset="0"/>
                          </a:rPr>
                          <m:t>𝐸</m:t>
                        </m:r>
                        <m:r>
                          <a:rPr lang="en-US" sz="2400" b="0" i="1" smtClean="0">
                            <a:latin typeface="Cambria Math" panose="02040503050406030204" pitchFamily="18" charset="0"/>
                          </a:rPr>
                          <m:t>, </m:t>
                        </m:r>
                        <m:r>
                          <a:rPr lang="en-US" sz="2400" b="0" i="1" smtClean="0">
                            <a:latin typeface="Cambria Math" panose="02040503050406030204" pitchFamily="18" charset="0"/>
                          </a:rPr>
                          <m:t>𝑁</m:t>
                        </m:r>
                        <m:r>
                          <a:rPr lang="en-US" sz="2400" b="0" i="1" smtClean="0">
                            <a:latin typeface="Cambria Math" panose="02040503050406030204" pitchFamily="18" charset="0"/>
                          </a:rPr>
                          <m:t>, </m:t>
                        </m:r>
                        <m:r>
                          <a:rPr lang="en-US" sz="2400" b="0" i="1" smtClean="0">
                            <a:latin typeface="Cambria Math" panose="02040503050406030204" pitchFamily="18" charset="0"/>
                          </a:rPr>
                          <m:t>𝐷</m:t>
                        </m:r>
                        <m:r>
                          <a:rPr lang="en-US" sz="2400" b="0" i="1" smtClean="0">
                            <a:latin typeface="Cambria Math" panose="02040503050406030204" pitchFamily="18" charset="0"/>
                          </a:rPr>
                          <m:t>, </m:t>
                        </m:r>
                        <m:r>
                          <a:rPr lang="en-US" sz="2400" b="0" i="1" smtClean="0">
                            <a:latin typeface="Cambria Math" panose="02040503050406030204" pitchFamily="18" charset="0"/>
                          </a:rPr>
                          <m:t>𝑀</m:t>
                        </m:r>
                        <m:r>
                          <a:rPr lang="en-US" sz="2400" b="0" i="1" smtClean="0">
                            <a:latin typeface="Cambria Math" panose="02040503050406030204" pitchFamily="18" charset="0"/>
                          </a:rPr>
                          <m:t>, </m:t>
                        </m:r>
                        <m:r>
                          <a:rPr lang="en-US" sz="2400" b="0" i="1" smtClean="0">
                            <a:latin typeface="Cambria Math" panose="02040503050406030204" pitchFamily="18" charset="0"/>
                          </a:rPr>
                          <m:t>𝑂</m:t>
                        </m:r>
                        <m:r>
                          <a:rPr lang="en-US" sz="2400" b="0" i="1" smtClean="0">
                            <a:latin typeface="Cambria Math" panose="02040503050406030204" pitchFamily="18" charset="0"/>
                          </a:rPr>
                          <m:t>, </m:t>
                        </m:r>
                        <m:r>
                          <a:rPr lang="en-US" sz="2400" b="0" i="1" smtClean="0">
                            <a:latin typeface="Cambria Math" panose="02040503050406030204" pitchFamily="18" charset="0"/>
                          </a:rPr>
                          <m:t>𝑅</m:t>
                        </m:r>
                        <m:r>
                          <a:rPr lang="en-US" sz="2400" b="0" i="1" smtClean="0">
                            <a:latin typeface="Cambria Math" panose="02040503050406030204" pitchFamily="18" charset="0"/>
                          </a:rPr>
                          <m:t>, </m:t>
                        </m:r>
                        <m:r>
                          <a:rPr lang="en-US" sz="2400" b="0" i="1" smtClean="0">
                            <a:latin typeface="Cambria Math" panose="02040503050406030204" pitchFamily="18" charset="0"/>
                          </a:rPr>
                          <m:t>𝑌</m:t>
                        </m:r>
                        <m:r>
                          <a:rPr lang="en-US" sz="2400" b="0" i="1" smtClean="0">
                            <a:latin typeface="Cambria Math" panose="02040503050406030204" pitchFamily="18" charset="0"/>
                          </a:rPr>
                          <m:t>)</m:t>
                        </m:r>
                      </m:e>
                      <m:sub>
                        <m:r>
                          <a:rPr lang="en-US" sz="2400" b="0" i="1" smtClean="0">
                            <a:solidFill>
                              <a:schemeClr val="bg1"/>
                            </a:solidFill>
                            <a:latin typeface="Cambria Math" panose="02040503050406030204" pitchFamily="18" charset="0"/>
                          </a:rPr>
                          <m:t>0</m:t>
                        </m:r>
                      </m:sub>
                    </m:sSub>
                  </m:oMath>
                </a14:m>
                <a:r>
                  <a:rPr lang="en-US" sz="2400" dirty="0"/>
                  <a:t> </a:t>
                </a:r>
              </a:p>
            </p:txBody>
          </p:sp>
        </mc:Choice>
        <mc:Fallback xmlns="">
          <p:sp>
            <p:nvSpPr>
              <p:cNvPr id="9" name="TextBox 8">
                <a:extLst>
                  <a:ext uri="{FF2B5EF4-FFF2-40B4-BE49-F238E27FC236}">
                    <a16:creationId xmlns:a16="http://schemas.microsoft.com/office/drawing/2014/main" id="{417AA62D-E3E4-42C6-BE30-93929BCD1D82}"/>
                  </a:ext>
                </a:extLst>
              </p:cNvPr>
              <p:cNvSpPr txBox="1">
                <a:spLocks noRot="1" noChangeAspect="1" noMove="1" noResize="1" noEditPoints="1" noAdjustHandles="1" noChangeArrowheads="1" noChangeShapeType="1" noTextEdit="1"/>
              </p:cNvSpPr>
              <p:nvPr/>
            </p:nvSpPr>
            <p:spPr>
              <a:xfrm>
                <a:off x="838198" y="5613316"/>
                <a:ext cx="6098344" cy="461665"/>
              </a:xfrm>
              <a:prstGeom prst="rect">
                <a:avLst/>
              </a:prstGeom>
              <a:blipFill>
                <a:blip r:embed="rId4"/>
                <a:stretch>
                  <a:fillRect l="-2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B17BE0A-7601-4FAC-B487-421BDA0B26DF}"/>
                  </a:ext>
                </a:extLst>
              </p:cNvPr>
              <p:cNvSpPr txBox="1"/>
              <p:nvPr/>
            </p:nvSpPr>
            <p:spPr>
              <a:xfrm>
                <a:off x="838199" y="5031108"/>
                <a:ext cx="7180386" cy="4972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𝐷𝑜𝑚𝑎𝑖𝑛𝑠</m:t>
                          </m:r>
                          <m:r>
                            <a:rPr lang="en-US" sz="2400" b="0" i="1" smtClean="0">
                              <a:latin typeface="Cambria Math" panose="02040503050406030204" pitchFamily="18" charset="0"/>
                            </a:rPr>
                            <m:t>, </m:t>
                          </m:r>
                          <m:r>
                            <a:rPr lang="en-US" sz="2400" b="0" i="1" smtClean="0">
                              <a:latin typeface="Cambria Math" panose="02040503050406030204" pitchFamily="18" charset="0"/>
                            </a:rPr>
                            <m:t>𝐷</m:t>
                          </m:r>
                          <m:r>
                            <a:rPr lang="en-US" sz="2400" b="0" i="1" smtClean="0">
                              <a:latin typeface="Cambria Math" panose="02040503050406030204" pitchFamily="18" charset="0"/>
                            </a:rPr>
                            <m:t> </m:t>
                          </m:r>
                        </m:e>
                        <m:sub>
                          <m:r>
                            <a:rPr lang="en-US" sz="2400" b="0" i="1" smtClean="0">
                              <a:latin typeface="Cambria Math" panose="02040503050406030204" pitchFamily="18" charset="0"/>
                            </a:rPr>
                            <m:t>(</m:t>
                          </m:r>
                          <m:r>
                            <a:rPr lang="en-US" sz="2400" b="0" i="1" smtClean="0">
                              <a:latin typeface="Cambria Math" panose="02040503050406030204" pitchFamily="18" charset="0"/>
                            </a:rPr>
                            <m:t>𝑆</m:t>
                          </m:r>
                          <m:r>
                            <a:rPr lang="en-US" sz="2400" b="0" i="1" smtClean="0">
                              <a:latin typeface="Cambria Math" panose="02040503050406030204" pitchFamily="18" charset="0"/>
                            </a:rPr>
                            <m:t> &amp; </m:t>
                          </m:r>
                          <m:r>
                            <a:rPr lang="en-US" sz="2400" b="0" i="1" smtClean="0">
                              <a:latin typeface="Cambria Math" panose="02040503050406030204" pitchFamily="18" charset="0"/>
                            </a:rPr>
                            <m:t>𝑀</m:t>
                          </m:r>
                          <m:r>
                            <a:rPr lang="en-US" sz="2400" b="0" i="1" smtClean="0">
                              <a:latin typeface="Cambria Math" panose="02040503050406030204" pitchFamily="18" charset="0"/>
                            </a:rPr>
                            <m:t>)</m:t>
                          </m:r>
                        </m:sub>
                      </m:sSub>
                      <m:r>
                        <a:rPr lang="en-US" sz="2400" b="0" i="1" smtClean="0">
                          <a:latin typeface="Cambria Math" panose="02040503050406030204" pitchFamily="18" charset="0"/>
                        </a:rPr>
                        <m:t>= </m:t>
                      </m:r>
                      <m:r>
                        <a:rPr lang="en-US" sz="2400" b="0" i="0" smtClean="0">
                          <a:latin typeface="Cambria Math" panose="02040503050406030204" pitchFamily="18" charset="0"/>
                        </a:rPr>
                        <m:t>{</m:t>
                      </m:r>
                      <m:r>
                        <a:rPr lang="en-US" sz="2400" b="0" i="1" smtClean="0">
                          <a:latin typeface="Cambria Math" panose="02040503050406030204" pitchFamily="18" charset="0"/>
                        </a:rPr>
                        <m:t>1, 2, 3, 4, 5, 6, 7, 8, 9}</m:t>
                      </m:r>
                    </m:oMath>
                  </m:oMathPara>
                </a14:m>
                <a:endParaRPr lang="en-US" sz="2400" dirty="0"/>
              </a:p>
            </p:txBody>
          </p:sp>
        </mc:Choice>
        <mc:Fallback xmlns="">
          <p:sp>
            <p:nvSpPr>
              <p:cNvPr id="10" name="TextBox 9">
                <a:extLst>
                  <a:ext uri="{FF2B5EF4-FFF2-40B4-BE49-F238E27FC236}">
                    <a16:creationId xmlns:a16="http://schemas.microsoft.com/office/drawing/2014/main" id="{8B17BE0A-7601-4FAC-B487-421BDA0B26DF}"/>
                  </a:ext>
                </a:extLst>
              </p:cNvPr>
              <p:cNvSpPr txBox="1">
                <a:spLocks noRot="1" noChangeAspect="1" noMove="1" noResize="1" noEditPoints="1" noAdjustHandles="1" noChangeArrowheads="1" noChangeShapeType="1" noTextEdit="1"/>
              </p:cNvSpPr>
              <p:nvPr/>
            </p:nvSpPr>
            <p:spPr>
              <a:xfrm>
                <a:off x="838199" y="5031108"/>
                <a:ext cx="7180386" cy="497252"/>
              </a:xfrm>
              <a:prstGeom prst="rect">
                <a:avLst/>
              </a:prstGeom>
              <a:blipFill>
                <a:blip r:embed="rId5"/>
                <a:stretch>
                  <a:fillRect l="-170" b="-10976"/>
                </a:stretch>
              </a:blipFill>
            </p:spPr>
            <p:txBody>
              <a:bodyPr/>
              <a:lstStyle/>
              <a:p>
                <a:r>
                  <a:rPr lang="en-US">
                    <a:noFill/>
                  </a:rPr>
                  <a:t> </a:t>
                </a:r>
              </a:p>
            </p:txBody>
          </p:sp>
        </mc:Fallback>
      </mc:AlternateContent>
    </p:spTree>
    <p:extLst>
      <p:ext uri="{BB962C8B-B14F-4D97-AF65-F5344CB8AC3E}">
        <p14:creationId xmlns:p14="http://schemas.microsoft.com/office/powerpoint/2010/main" val="3996686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0C02-AD34-4862-B65E-3506A8D90384}"/>
              </a:ext>
            </a:extLst>
          </p:cNvPr>
          <p:cNvSpPr>
            <a:spLocks noGrp="1"/>
          </p:cNvSpPr>
          <p:nvPr>
            <p:ph type="title"/>
          </p:nvPr>
        </p:nvSpPr>
        <p:spPr/>
        <p:txBody>
          <a:bodyPr/>
          <a:lstStyle/>
          <a:p>
            <a:r>
              <a:rPr lang="en-US" altLang="en-US" dirty="0"/>
              <a:t>Example: Cryptarithmetic</a:t>
            </a:r>
            <a:endParaRPr lang="en-US" dirty="0"/>
          </a:p>
        </p:txBody>
      </p:sp>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12</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261831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13</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1842461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14</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3241046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15</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1191344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16</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3558723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17</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sp>
        <p:nvSpPr>
          <p:cNvPr id="10" name="Thought Bubble: Cloud 9">
            <a:extLst>
              <a:ext uri="{FF2B5EF4-FFF2-40B4-BE49-F238E27FC236}">
                <a16:creationId xmlns:a16="http://schemas.microsoft.com/office/drawing/2014/main" id="{59E59B7F-BF4D-4368-BD8D-A9BB047EC456}"/>
              </a:ext>
            </a:extLst>
          </p:cNvPr>
          <p:cNvSpPr/>
          <p:nvPr/>
        </p:nvSpPr>
        <p:spPr>
          <a:xfrm>
            <a:off x="1964787" y="456088"/>
            <a:ext cx="1833489" cy="1097280"/>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 + 0 = N</a:t>
            </a:r>
          </a:p>
        </p:txBody>
      </p:sp>
    </p:spTree>
    <p:extLst>
      <p:ext uri="{BB962C8B-B14F-4D97-AF65-F5344CB8AC3E}">
        <p14:creationId xmlns:p14="http://schemas.microsoft.com/office/powerpoint/2010/main" val="1149803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18</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12441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11" name="Arrow: Bent-Up 10">
            <a:extLst>
              <a:ext uri="{FF2B5EF4-FFF2-40B4-BE49-F238E27FC236}">
                <a16:creationId xmlns:a16="http://schemas.microsoft.com/office/drawing/2014/main" id="{F3479D9C-C806-413D-8CC7-8E6AD3C0A66F}"/>
              </a:ext>
            </a:extLst>
          </p:cNvPr>
          <p:cNvSpPr/>
          <p:nvPr/>
        </p:nvSpPr>
        <p:spPr>
          <a:xfrm rot="16200000">
            <a:off x="2697530" y="1287082"/>
            <a:ext cx="632852" cy="302553"/>
          </a:xfrm>
          <a:prstGeom prst="ben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12" name="Table 10">
            <a:extLst>
              <a:ext uri="{FF2B5EF4-FFF2-40B4-BE49-F238E27FC236}">
                <a16:creationId xmlns:a16="http://schemas.microsoft.com/office/drawing/2014/main" id="{2858F89D-71D3-4B71-99A1-FE8AB064B319}"/>
              </a:ext>
            </a:extLst>
          </p:cNvPr>
          <p:cNvGraphicFramePr>
            <a:graphicFrameLocks noGrp="1"/>
          </p:cNvGraphicFramePr>
          <p:nvPr/>
        </p:nvGraphicFramePr>
        <p:xfrm>
          <a:off x="3270642" y="967188"/>
          <a:ext cx="2553383" cy="590844"/>
        </p:xfrm>
        <a:graphic>
          <a:graphicData uri="http://schemas.openxmlformats.org/drawingml/2006/table">
            <a:tbl>
              <a:tblPr firstRow="1" bandRow="1">
                <a:tableStyleId>{2D5ABB26-0587-4C30-8999-92F81FD0307C}</a:tableStyleId>
              </a:tblPr>
              <a:tblGrid>
                <a:gridCol w="2553383">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CARRY FROM HERE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14" name="TextBox 13">
            <a:extLst>
              <a:ext uri="{FF2B5EF4-FFF2-40B4-BE49-F238E27FC236}">
                <a16:creationId xmlns:a16="http://schemas.microsoft.com/office/drawing/2014/main" id="{D1689072-851A-4534-8B77-11C5044C3482}"/>
              </a:ext>
            </a:extLst>
          </p:cNvPr>
          <p:cNvSpPr txBox="1"/>
          <p:nvPr/>
        </p:nvSpPr>
        <p:spPr>
          <a:xfrm>
            <a:off x="838200" y="4420508"/>
            <a:ext cx="6738425"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Expression: E + 1 = N ( N &amp; E differ by 1 )</a:t>
            </a:r>
          </a:p>
        </p:txBody>
      </p:sp>
    </p:spTree>
    <p:extLst>
      <p:ext uri="{BB962C8B-B14F-4D97-AF65-F5344CB8AC3E}">
        <p14:creationId xmlns:p14="http://schemas.microsoft.com/office/powerpoint/2010/main" val="608473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19</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12441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2" name="Oval 1">
            <a:extLst>
              <a:ext uri="{FF2B5EF4-FFF2-40B4-BE49-F238E27FC236}">
                <a16:creationId xmlns:a16="http://schemas.microsoft.com/office/drawing/2014/main" id="{CBC5CAD1-AA23-443C-80E2-BA08757E1B97}"/>
              </a:ext>
            </a:extLst>
          </p:cNvPr>
          <p:cNvSpPr/>
          <p:nvPr/>
        </p:nvSpPr>
        <p:spPr>
          <a:xfrm>
            <a:off x="2665827" y="1049973"/>
            <a:ext cx="984738" cy="3566160"/>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5CE0829E-554E-4214-ACE4-9E148212D7B3}"/>
              </a:ext>
            </a:extLst>
          </p:cNvPr>
          <p:cNvSpPr txBox="1"/>
          <p:nvPr/>
        </p:nvSpPr>
        <p:spPr>
          <a:xfrm>
            <a:off x="710417" y="4848933"/>
            <a:ext cx="10318654"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Expression: </a:t>
            </a:r>
          </a:p>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 E + 1 = N [ N &amp; E differ by 1 ]</a:t>
            </a:r>
          </a:p>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2. N + R (+1) = E + 10 [ (+1) will be considered only if needed ]</a:t>
            </a:r>
          </a:p>
        </p:txBody>
      </p:sp>
    </p:spTree>
    <p:extLst>
      <p:ext uri="{BB962C8B-B14F-4D97-AF65-F5344CB8AC3E}">
        <p14:creationId xmlns:p14="http://schemas.microsoft.com/office/powerpoint/2010/main" val="4178483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20</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12441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2" name="Oval 1">
            <a:extLst>
              <a:ext uri="{FF2B5EF4-FFF2-40B4-BE49-F238E27FC236}">
                <a16:creationId xmlns:a16="http://schemas.microsoft.com/office/drawing/2014/main" id="{CBC5CAD1-AA23-443C-80E2-BA08757E1B97}"/>
              </a:ext>
            </a:extLst>
          </p:cNvPr>
          <p:cNvSpPr/>
          <p:nvPr/>
        </p:nvSpPr>
        <p:spPr>
          <a:xfrm>
            <a:off x="2665827" y="1049973"/>
            <a:ext cx="984738" cy="3566160"/>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5CE0829E-554E-4214-ACE4-9E148212D7B3}"/>
              </a:ext>
            </a:extLst>
          </p:cNvPr>
          <p:cNvSpPr txBox="1"/>
          <p:nvPr/>
        </p:nvSpPr>
        <p:spPr>
          <a:xfrm>
            <a:off x="710417" y="4848933"/>
            <a:ext cx="10318654"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Expression: </a:t>
            </a:r>
          </a:p>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 E + 1 = N [ N &amp; E differ by 1 ]</a:t>
            </a:r>
          </a:p>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2. N + R (+1) = E + 10 [ (+1) will be considered only if needed ]</a:t>
            </a:r>
          </a:p>
        </p:txBody>
      </p:sp>
      <p:sp>
        <p:nvSpPr>
          <p:cNvPr id="15" name="TextBox 14">
            <a:extLst>
              <a:ext uri="{FF2B5EF4-FFF2-40B4-BE49-F238E27FC236}">
                <a16:creationId xmlns:a16="http://schemas.microsoft.com/office/drawing/2014/main" id="{594BD84A-ADF3-419F-BA9F-23E115EDEC70}"/>
              </a:ext>
            </a:extLst>
          </p:cNvPr>
          <p:cNvSpPr txBox="1"/>
          <p:nvPr/>
        </p:nvSpPr>
        <p:spPr>
          <a:xfrm>
            <a:off x="4524714" y="1247238"/>
            <a:ext cx="4085886" cy="267765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Substituting the values: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E + 1 +  R (+1) = E + 10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Hence, R (+1) = 9</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If we do not consider carry then R must be 9 but which is not possible because 9 has already taken, so R might be 8.</a:t>
            </a:r>
          </a:p>
        </p:txBody>
      </p:sp>
    </p:spTree>
    <p:extLst>
      <p:ext uri="{BB962C8B-B14F-4D97-AF65-F5344CB8AC3E}">
        <p14:creationId xmlns:p14="http://schemas.microsoft.com/office/powerpoint/2010/main" val="3354874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21</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082213"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graphicFrame>
        <p:nvGraphicFramePr>
          <p:cNvPr id="16" name="Table 10">
            <a:extLst>
              <a:ext uri="{FF2B5EF4-FFF2-40B4-BE49-F238E27FC236}">
                <a16:creationId xmlns:a16="http://schemas.microsoft.com/office/drawing/2014/main" id="{B919F6CE-5D68-4E14-B86F-DEEFAA9BD2DB}"/>
              </a:ext>
            </a:extLst>
          </p:cNvPr>
          <p:cNvGraphicFramePr>
            <a:graphicFrameLocks noGrp="1"/>
          </p:cNvGraphicFramePr>
          <p:nvPr/>
        </p:nvGraphicFramePr>
        <p:xfrm>
          <a:off x="284167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17" name="Oval 16">
            <a:extLst>
              <a:ext uri="{FF2B5EF4-FFF2-40B4-BE49-F238E27FC236}">
                <a16:creationId xmlns:a16="http://schemas.microsoft.com/office/drawing/2014/main" id="{133DBE2C-618B-4C50-863A-5DBE9F164133}"/>
              </a:ext>
            </a:extLst>
          </p:cNvPr>
          <p:cNvSpPr/>
          <p:nvPr/>
        </p:nvSpPr>
        <p:spPr>
          <a:xfrm>
            <a:off x="3361994" y="1065224"/>
            <a:ext cx="802047" cy="3566160"/>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100A9448-07D4-4BB7-9B62-9BE1273A0257}"/>
              </a:ext>
            </a:extLst>
          </p:cNvPr>
          <p:cNvSpPr txBox="1"/>
          <p:nvPr/>
        </p:nvSpPr>
        <p:spPr>
          <a:xfrm>
            <a:off x="304800" y="4655089"/>
            <a:ext cx="8654755" cy="19389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Now D+E= Y, has to be such that generates carry, D+E should be sum up to more than 11 because Y can not be 0 or 1 as they have already been taken, so to get that, the possibilities are 7+5 or 7+6 and so on.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So, if we take D = 7, E = 5, Hence Y = 2</a:t>
            </a:r>
          </a:p>
        </p:txBody>
      </p:sp>
    </p:spTree>
    <p:extLst>
      <p:ext uri="{BB962C8B-B14F-4D97-AF65-F5344CB8AC3E}">
        <p14:creationId xmlns:p14="http://schemas.microsoft.com/office/powerpoint/2010/main" val="1815200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22</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32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7</a:t>
                      </a: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082213"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graphicFrame>
        <p:nvGraphicFramePr>
          <p:cNvPr id="16" name="Table 10">
            <a:extLst>
              <a:ext uri="{FF2B5EF4-FFF2-40B4-BE49-F238E27FC236}">
                <a16:creationId xmlns:a16="http://schemas.microsoft.com/office/drawing/2014/main" id="{B919F6CE-5D68-4E14-B86F-DEEFAA9BD2DB}"/>
              </a:ext>
            </a:extLst>
          </p:cNvPr>
          <p:cNvGraphicFramePr>
            <a:graphicFrameLocks noGrp="1"/>
          </p:cNvGraphicFramePr>
          <p:nvPr/>
        </p:nvGraphicFramePr>
        <p:xfrm>
          <a:off x="284167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11" name="TextBox 10">
            <a:extLst>
              <a:ext uri="{FF2B5EF4-FFF2-40B4-BE49-F238E27FC236}">
                <a16:creationId xmlns:a16="http://schemas.microsoft.com/office/drawing/2014/main" id="{A41CE829-719F-4CD8-8A15-539D47B0ADEC}"/>
              </a:ext>
            </a:extLst>
          </p:cNvPr>
          <p:cNvSpPr txBox="1"/>
          <p:nvPr/>
        </p:nvSpPr>
        <p:spPr>
          <a:xfrm>
            <a:off x="838200" y="4452817"/>
            <a:ext cx="6098344" cy="83099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Expression: </a:t>
            </a:r>
          </a:p>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 E + 1 = N </a:t>
            </a:r>
          </a:p>
        </p:txBody>
      </p:sp>
    </p:spTree>
    <p:extLst>
      <p:ext uri="{BB962C8B-B14F-4D97-AF65-F5344CB8AC3E}">
        <p14:creationId xmlns:p14="http://schemas.microsoft.com/office/powerpoint/2010/main" val="367771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23</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extLst>
              <p:ext uri="{D42A27DB-BD31-4B8C-83A1-F6EECF244321}">
                <p14:modId xmlns:p14="http://schemas.microsoft.com/office/powerpoint/2010/main" val="4293482464"/>
              </p:ext>
            </p:extLst>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9222545" y="149958"/>
          <a:ext cx="2664655" cy="1097280"/>
        </p:xfrm>
        <a:graphic>
          <a:graphicData uri="http://schemas.openxmlformats.org/drawingml/2006/table">
            <a:tbl>
              <a:tblPr firstRow="1" bandRow="1">
                <a:tableStyleId>{2D5ABB26-0587-4C30-8999-92F81FD0307C}</a:tableStyleId>
              </a:tblPr>
              <a:tblGrid>
                <a:gridCol w="532931">
                  <a:extLst>
                    <a:ext uri="{9D8B030D-6E8A-4147-A177-3AD203B41FA5}">
                      <a16:colId xmlns:a16="http://schemas.microsoft.com/office/drawing/2014/main" val="3372626195"/>
                    </a:ext>
                  </a:extLst>
                </a:gridCol>
                <a:gridCol w="532931">
                  <a:extLst>
                    <a:ext uri="{9D8B030D-6E8A-4147-A177-3AD203B41FA5}">
                      <a16:colId xmlns:a16="http://schemas.microsoft.com/office/drawing/2014/main" val="3315146437"/>
                    </a:ext>
                  </a:extLst>
                </a:gridCol>
                <a:gridCol w="532931">
                  <a:extLst>
                    <a:ext uri="{9D8B030D-6E8A-4147-A177-3AD203B41FA5}">
                      <a16:colId xmlns:a16="http://schemas.microsoft.com/office/drawing/2014/main" val="772382063"/>
                    </a:ext>
                  </a:extLst>
                </a:gridCol>
                <a:gridCol w="532931">
                  <a:extLst>
                    <a:ext uri="{9D8B030D-6E8A-4147-A177-3AD203B41FA5}">
                      <a16:colId xmlns:a16="http://schemas.microsoft.com/office/drawing/2014/main" val="701725877"/>
                    </a:ext>
                  </a:extLst>
                </a:gridCol>
                <a:gridCol w="532931">
                  <a:extLst>
                    <a:ext uri="{9D8B030D-6E8A-4147-A177-3AD203B41FA5}">
                      <a16:colId xmlns:a16="http://schemas.microsoft.com/office/drawing/2014/main" val="1986174259"/>
                    </a:ext>
                  </a:extLst>
                </a:gridCol>
              </a:tblGrid>
              <a:tr h="343584">
                <a:tc rowSpan="2">
                  <a:txBody>
                    <a:bodyPr/>
                    <a:lstStyle/>
                    <a:p>
                      <a:pPr algn="ctr"/>
                      <a:r>
                        <a:rPr lang="en-US" sz="1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343584">
                <a:tc vMerge="1">
                  <a:txBody>
                    <a:bodyPr/>
                    <a:lstStyle/>
                    <a:p>
                      <a:endParaRPr lang="en-US" dirty="0"/>
                    </a:p>
                  </a:txBody>
                  <a:tcPr/>
                </a:tc>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343584">
                <a:tc>
                  <a:txBody>
                    <a:bodyPr/>
                    <a:lstStyle/>
                    <a:p>
                      <a:pPr algn="ctr"/>
                      <a:r>
                        <a:rPr lang="en-US" sz="1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1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9196360" y="1796989"/>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7</a:t>
                      </a: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736477824"/>
                  </a:ext>
                </a:extLst>
              </a:tr>
            </a:tbl>
          </a:graphicData>
        </a:graphic>
      </p:graphicFrame>
      <p:graphicFrame>
        <p:nvGraphicFramePr>
          <p:cNvPr id="10" name="Table 10">
            <a:extLst>
              <a:ext uri="{FF2B5EF4-FFF2-40B4-BE49-F238E27FC236}">
                <a16:creationId xmlns:a16="http://schemas.microsoft.com/office/drawing/2014/main" id="{FBD240E2-0A70-44F3-82DC-45ECFACC039E}"/>
              </a:ext>
            </a:extLst>
          </p:cNvPr>
          <p:cNvGraphicFramePr>
            <a:graphicFrameLocks noGrp="1"/>
          </p:cNvGraphicFramePr>
          <p:nvPr/>
        </p:nvGraphicFramePr>
        <p:xfrm>
          <a:off x="2082213"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graphicFrame>
        <p:nvGraphicFramePr>
          <p:cNvPr id="16" name="Table 10">
            <a:extLst>
              <a:ext uri="{FF2B5EF4-FFF2-40B4-BE49-F238E27FC236}">
                <a16:creationId xmlns:a16="http://schemas.microsoft.com/office/drawing/2014/main" id="{B919F6CE-5D68-4E14-B86F-DEEFAA9BD2DB}"/>
              </a:ext>
            </a:extLst>
          </p:cNvPr>
          <p:cNvGraphicFramePr>
            <a:graphicFrameLocks noGrp="1"/>
          </p:cNvGraphicFramePr>
          <p:nvPr/>
        </p:nvGraphicFramePr>
        <p:xfrm>
          <a:off x="2841677" y="970671"/>
          <a:ext cx="632852" cy="590844"/>
        </p:xfrm>
        <a:graphic>
          <a:graphicData uri="http://schemas.openxmlformats.org/drawingml/2006/table">
            <a:tbl>
              <a:tblPr firstRow="1" bandRow="1">
                <a:tableStyleId>{2D5ABB26-0587-4C30-8999-92F81FD0307C}</a:tableStyleId>
              </a:tblPr>
              <a:tblGrid>
                <a:gridCol w="632852">
                  <a:extLst>
                    <a:ext uri="{9D8B030D-6E8A-4147-A177-3AD203B41FA5}">
                      <a16:colId xmlns:a16="http://schemas.microsoft.com/office/drawing/2014/main" val="96041475"/>
                    </a:ext>
                  </a:extLst>
                </a:gridCol>
              </a:tblGrid>
              <a:tr h="5908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813784"/>
                  </a:ext>
                </a:extLst>
              </a:tr>
            </a:tbl>
          </a:graphicData>
        </a:graphic>
      </p:graphicFrame>
      <p:sp>
        <p:nvSpPr>
          <p:cNvPr id="11" name="TextBox 10">
            <a:extLst>
              <a:ext uri="{FF2B5EF4-FFF2-40B4-BE49-F238E27FC236}">
                <a16:creationId xmlns:a16="http://schemas.microsoft.com/office/drawing/2014/main" id="{2D765702-DC8C-43EC-96BE-DC0E91E35BED}"/>
              </a:ext>
            </a:extLst>
          </p:cNvPr>
          <p:cNvSpPr txBox="1"/>
          <p:nvPr/>
        </p:nvSpPr>
        <p:spPr>
          <a:xfrm>
            <a:off x="838200" y="4452817"/>
            <a:ext cx="6098344" cy="46166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Hence N = 6</a:t>
            </a:r>
          </a:p>
        </p:txBody>
      </p:sp>
    </p:spTree>
    <p:extLst>
      <p:ext uri="{BB962C8B-B14F-4D97-AF65-F5344CB8AC3E}">
        <p14:creationId xmlns:p14="http://schemas.microsoft.com/office/powerpoint/2010/main" val="229797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6C394-53E6-4C7B-9B9D-46FDBE4725CC}"/>
              </a:ext>
            </a:extLst>
          </p:cNvPr>
          <p:cNvSpPr>
            <a:spLocks noGrp="1"/>
          </p:cNvSpPr>
          <p:nvPr>
            <p:ph type="sldNum" sz="quarter" idx="12"/>
          </p:nvPr>
        </p:nvSpPr>
        <p:spPr/>
        <p:txBody>
          <a:bodyPr/>
          <a:lstStyle/>
          <a:p>
            <a:fld id="{580F2929-B68B-4190-89D5-A4CAF035ED0C}" type="slidenum">
              <a:rPr lang="en-US" smtClean="0"/>
              <a:t>24</a:t>
            </a:fld>
            <a:endParaRPr lang="en-US"/>
          </a:p>
        </p:txBody>
      </p:sp>
      <p:graphicFrame>
        <p:nvGraphicFramePr>
          <p:cNvPr id="7" name="Table 6">
            <a:extLst>
              <a:ext uri="{FF2B5EF4-FFF2-40B4-BE49-F238E27FC236}">
                <a16:creationId xmlns:a16="http://schemas.microsoft.com/office/drawing/2014/main" id="{270FBC61-CFB0-4230-B7B8-3CB7956B5413}"/>
              </a:ext>
            </a:extLst>
          </p:cNvPr>
          <p:cNvGraphicFramePr>
            <a:graphicFrameLocks noGrp="1"/>
          </p:cNvGraphicFramePr>
          <p:nvPr>
            <p:extLst>
              <p:ext uri="{D42A27DB-BD31-4B8C-83A1-F6EECF244321}">
                <p14:modId xmlns:p14="http://schemas.microsoft.com/office/powerpoint/2010/main" val="2065570866"/>
              </p:ext>
            </p:extLst>
          </p:nvPr>
        </p:nvGraphicFramePr>
        <p:xfrm>
          <a:off x="838200" y="1825625"/>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2032685064"/>
                    </a:ext>
                  </a:extLst>
                </a:gridCol>
                <a:gridCol w="648286">
                  <a:extLst>
                    <a:ext uri="{9D8B030D-6E8A-4147-A177-3AD203B41FA5}">
                      <a16:colId xmlns:a16="http://schemas.microsoft.com/office/drawing/2014/main" val="3911079801"/>
                    </a:ext>
                  </a:extLst>
                </a:gridCol>
                <a:gridCol w="648286">
                  <a:extLst>
                    <a:ext uri="{9D8B030D-6E8A-4147-A177-3AD203B41FA5}">
                      <a16:colId xmlns:a16="http://schemas.microsoft.com/office/drawing/2014/main" val="3780051473"/>
                    </a:ext>
                  </a:extLst>
                </a:gridCol>
                <a:gridCol w="648286">
                  <a:extLst>
                    <a:ext uri="{9D8B030D-6E8A-4147-A177-3AD203B41FA5}">
                      <a16:colId xmlns:a16="http://schemas.microsoft.com/office/drawing/2014/main" val="4087161858"/>
                    </a:ext>
                  </a:extLst>
                </a:gridCol>
                <a:gridCol w="648286">
                  <a:extLst>
                    <a:ext uri="{9D8B030D-6E8A-4147-A177-3AD203B41FA5}">
                      <a16:colId xmlns:a16="http://schemas.microsoft.com/office/drawing/2014/main" val="4070084524"/>
                    </a:ext>
                  </a:extLst>
                </a:gridCol>
              </a:tblGrid>
              <a:tr h="671619">
                <a:tc rowSpan="2">
                  <a:txBody>
                    <a:bodyPr/>
                    <a:lstStyle/>
                    <a:p>
                      <a:pPr algn="ctr"/>
                      <a:r>
                        <a:rPr lang="en-US" sz="3200" b="1" dirty="0">
                          <a:latin typeface="Times New Roman" panose="02020603050405020304" pitchFamily="18" charset="0"/>
                          <a:cs typeface="Times New Roman" panose="02020603050405020304" pitchFamily="18" charset="0"/>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1285375"/>
                  </a:ext>
                </a:extLst>
              </a:tr>
              <a:tr h="671619">
                <a:tc vMerge="1">
                  <a:txBody>
                    <a:bodyPr/>
                    <a:lstStyle/>
                    <a:p>
                      <a:endParaRPr lang="en-US" dirty="0"/>
                    </a:p>
                  </a:txBody>
                  <a:tcPr/>
                </a:tc>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0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066958"/>
                  </a:ext>
                </a:extLst>
              </a:tr>
              <a:tr h="671619">
                <a:tc>
                  <a:txBody>
                    <a:bodyPr/>
                    <a:lstStyle/>
                    <a:p>
                      <a:pPr algn="ctr"/>
                      <a:r>
                        <a:rPr lang="en-US" sz="3200" b="1" dirty="0">
                          <a:latin typeface="Times New Roman" panose="02020603050405020304" pitchFamily="18" charset="0"/>
                          <a:cs typeface="Times New Roman" panose="02020603050405020304" pitchFamily="18"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3200" b="1" dirty="0">
                          <a:latin typeface="Times New Roman" panose="02020603050405020304" pitchFamily="18" charset="0"/>
                          <a:cs typeface="Times New Roman" panose="02020603050405020304" pitchFamily="18"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21028719"/>
                  </a:ext>
                </a:extLst>
              </a:tr>
            </a:tbl>
          </a:graphicData>
        </a:graphic>
      </p:graphicFrame>
      <p:graphicFrame>
        <p:nvGraphicFramePr>
          <p:cNvPr id="8" name="Table 7">
            <a:extLst>
              <a:ext uri="{FF2B5EF4-FFF2-40B4-BE49-F238E27FC236}">
                <a16:creationId xmlns:a16="http://schemas.microsoft.com/office/drawing/2014/main" id="{A3EE4D6E-339E-43AE-990D-AD992D9996E3}"/>
              </a:ext>
            </a:extLst>
          </p:cNvPr>
          <p:cNvGraphicFramePr>
            <a:graphicFrameLocks noGrp="1"/>
          </p:cNvGraphicFramePr>
          <p:nvPr/>
        </p:nvGraphicFramePr>
        <p:xfrm>
          <a:off x="4870940" y="1825623"/>
          <a:ext cx="3241430" cy="2014857"/>
        </p:xfrm>
        <a:graphic>
          <a:graphicData uri="http://schemas.openxmlformats.org/drawingml/2006/table">
            <a:tbl>
              <a:tblPr firstRow="1" bandRow="1">
                <a:tableStyleId>{2D5ABB26-0587-4C30-8999-92F81FD0307C}</a:tableStyleId>
              </a:tblPr>
              <a:tblGrid>
                <a:gridCol w="648286">
                  <a:extLst>
                    <a:ext uri="{9D8B030D-6E8A-4147-A177-3AD203B41FA5}">
                      <a16:colId xmlns:a16="http://schemas.microsoft.com/office/drawing/2014/main" val="3372626195"/>
                    </a:ext>
                  </a:extLst>
                </a:gridCol>
                <a:gridCol w="648286">
                  <a:extLst>
                    <a:ext uri="{9D8B030D-6E8A-4147-A177-3AD203B41FA5}">
                      <a16:colId xmlns:a16="http://schemas.microsoft.com/office/drawing/2014/main" val="3315146437"/>
                    </a:ext>
                  </a:extLst>
                </a:gridCol>
                <a:gridCol w="648286">
                  <a:extLst>
                    <a:ext uri="{9D8B030D-6E8A-4147-A177-3AD203B41FA5}">
                      <a16:colId xmlns:a16="http://schemas.microsoft.com/office/drawing/2014/main" val="772382063"/>
                    </a:ext>
                  </a:extLst>
                </a:gridCol>
                <a:gridCol w="648286">
                  <a:extLst>
                    <a:ext uri="{9D8B030D-6E8A-4147-A177-3AD203B41FA5}">
                      <a16:colId xmlns:a16="http://schemas.microsoft.com/office/drawing/2014/main" val="701725877"/>
                    </a:ext>
                  </a:extLst>
                </a:gridCol>
                <a:gridCol w="648286">
                  <a:extLst>
                    <a:ext uri="{9D8B030D-6E8A-4147-A177-3AD203B41FA5}">
                      <a16:colId xmlns:a16="http://schemas.microsoft.com/office/drawing/2014/main" val="1986174259"/>
                    </a:ext>
                  </a:extLst>
                </a:gridCol>
              </a:tblGrid>
              <a:tr h="671619">
                <a:tc rowSpan="2">
                  <a:txBody>
                    <a:bodyPr/>
                    <a:lstStyle/>
                    <a:p>
                      <a:pPr algn="ctr"/>
                      <a:r>
                        <a:rPr lang="en-US" sz="2800" b="1" dirty="0">
                          <a:latin typeface="Times New Roman" panose="02020603050405020304" pitchFamily="18" charset="0"/>
                          <a:cs typeface="Times New Roman" panose="02020603050405020304" pitchFamily="18" charset="0"/>
                        </a:rPr>
                        <a:t>+</a:t>
                      </a:r>
                    </a:p>
                  </a:txBody>
                  <a:tcPr anchor="b">
                    <a:lnB w="12700" cap="flat" cmpd="sng" algn="ctr">
                      <a:solidFill>
                        <a:schemeClr val="tx1"/>
                      </a:solidFill>
                      <a:prstDash val="solid"/>
                      <a:round/>
                      <a:headEnd type="none" w="med" len="med"/>
                      <a:tailEnd type="none" w="med" len="med"/>
                    </a:lnB>
                  </a:tcPr>
                </a:tc>
                <a:tc>
                  <a:txBody>
                    <a:bodyPr/>
                    <a:lstStyle/>
                    <a:p>
                      <a:pPr algn="ctr"/>
                      <a:r>
                        <a:rPr lang="en-US" sz="2800" b="1" dirty="0">
                          <a:latin typeface="Times New Roman" panose="02020603050405020304" pitchFamily="18" charset="0"/>
                          <a:cs typeface="Times New Roman" panose="02020603050405020304" pitchFamily="18" charset="0"/>
                        </a:rPr>
                        <a:t>S</a:t>
                      </a:r>
                    </a:p>
                  </a:txBody>
                  <a:tcPr anchor="ctr"/>
                </a:tc>
                <a:tc>
                  <a:txBody>
                    <a:bodyPr/>
                    <a:lstStyle/>
                    <a:p>
                      <a:pPr algn="ctr"/>
                      <a:r>
                        <a:rPr lang="en-US" sz="2800" b="1" dirty="0">
                          <a:latin typeface="Times New Roman" panose="02020603050405020304" pitchFamily="18" charset="0"/>
                          <a:cs typeface="Times New Roman" panose="02020603050405020304" pitchFamily="18" charset="0"/>
                        </a:rPr>
                        <a:t>E</a:t>
                      </a:r>
                    </a:p>
                  </a:txBody>
                  <a:tcPr anchor="ctr"/>
                </a:tc>
                <a:tc>
                  <a:txBody>
                    <a:bodyPr/>
                    <a:lstStyle/>
                    <a:p>
                      <a:pPr algn="ctr"/>
                      <a:r>
                        <a:rPr lang="en-US" sz="2800" b="1" dirty="0">
                          <a:latin typeface="Times New Roman" panose="02020603050405020304" pitchFamily="18" charset="0"/>
                          <a:cs typeface="Times New Roman" panose="02020603050405020304" pitchFamily="18" charset="0"/>
                        </a:rPr>
                        <a:t>N</a:t>
                      </a:r>
                    </a:p>
                  </a:txBody>
                  <a:tcPr anchor="ctr"/>
                </a:tc>
                <a:tc>
                  <a:txBody>
                    <a:bodyPr/>
                    <a:lstStyle/>
                    <a:p>
                      <a:pPr algn="ctr"/>
                      <a:r>
                        <a:rPr lang="en-US" sz="2800" b="1"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3324886350"/>
                  </a:ext>
                </a:extLst>
              </a:tr>
              <a:tr h="671619">
                <a:tc vMerge="1">
                  <a:txBody>
                    <a:bodyPr/>
                    <a:lstStyle/>
                    <a:p>
                      <a:endParaRPr lang="en-US" dirty="0"/>
                    </a:p>
                  </a:txBody>
                  <a:tcPr/>
                </a:tc>
                <a:tc>
                  <a:txBody>
                    <a:bodyPr/>
                    <a:lstStyle/>
                    <a:p>
                      <a:pPr algn="ctr"/>
                      <a:r>
                        <a:rPr lang="en-US" sz="2800" b="1" dirty="0">
                          <a:latin typeface="Times New Roman" panose="02020603050405020304" pitchFamily="18" charset="0"/>
                          <a:cs typeface="Times New Roman" panose="02020603050405020304" pitchFamily="18" charset="0"/>
                        </a:rPr>
                        <a:t>M</a:t>
                      </a:r>
                    </a:p>
                  </a:txBody>
                  <a:tcPr anchor="ctr">
                    <a:lnB w="12700" cap="flat" cmpd="sng" algn="ctr">
                      <a:solidFill>
                        <a:schemeClr val="tx1"/>
                      </a:solidFill>
                      <a:prstDash val="solid"/>
                      <a:round/>
                      <a:headEnd type="none" w="med" len="med"/>
                      <a:tailEnd type="none" w="med" len="med"/>
                    </a:lnB>
                  </a:tcPr>
                </a:tc>
                <a:tc>
                  <a:txBody>
                    <a:bodyPr/>
                    <a:lstStyle/>
                    <a:p>
                      <a:pPr algn="ctr"/>
                      <a:r>
                        <a:rPr lang="en-US" sz="2800" b="1" dirty="0">
                          <a:latin typeface="Times New Roman" panose="02020603050405020304" pitchFamily="18" charset="0"/>
                          <a:cs typeface="Times New Roman" panose="02020603050405020304" pitchFamily="18" charset="0"/>
                        </a:rPr>
                        <a:t>O </a:t>
                      </a:r>
                    </a:p>
                  </a:txBody>
                  <a:tcPr anchor="ctr">
                    <a:lnB w="12700" cap="flat" cmpd="sng" algn="ctr">
                      <a:solidFill>
                        <a:schemeClr val="tx1"/>
                      </a:solidFill>
                      <a:prstDash val="solid"/>
                      <a:round/>
                      <a:headEnd type="none" w="med" len="med"/>
                      <a:tailEnd type="none" w="med" len="med"/>
                    </a:lnB>
                  </a:tcPr>
                </a:tc>
                <a:tc>
                  <a:txBody>
                    <a:bodyPr/>
                    <a:lstStyle/>
                    <a:p>
                      <a:pPr algn="ctr"/>
                      <a:r>
                        <a:rPr lang="en-US" sz="2800" b="1" dirty="0">
                          <a:latin typeface="Times New Roman" panose="02020603050405020304" pitchFamily="18" charset="0"/>
                          <a:cs typeface="Times New Roman" panose="02020603050405020304" pitchFamily="18" charset="0"/>
                        </a:rPr>
                        <a:t>R</a:t>
                      </a:r>
                    </a:p>
                  </a:txBody>
                  <a:tcPr anchor="ctr">
                    <a:lnB w="12700" cap="flat" cmpd="sng" algn="ctr">
                      <a:solidFill>
                        <a:schemeClr val="tx1"/>
                      </a:solidFill>
                      <a:prstDash val="solid"/>
                      <a:round/>
                      <a:headEnd type="none" w="med" len="med"/>
                      <a:tailEnd type="none" w="med" len="med"/>
                    </a:lnB>
                  </a:tcPr>
                </a:tc>
                <a:tc>
                  <a:txBody>
                    <a:bodyPr/>
                    <a:lstStyle/>
                    <a:p>
                      <a:pPr algn="ctr"/>
                      <a:r>
                        <a:rPr lang="en-US" sz="2800" b="1" dirty="0">
                          <a:latin typeface="Times New Roman" panose="02020603050405020304" pitchFamily="18" charset="0"/>
                          <a:cs typeface="Times New Roman" panose="02020603050405020304" pitchFamily="18" charset="0"/>
                        </a:rPr>
                        <a:t>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17791"/>
                  </a:ext>
                </a:extLst>
              </a:tr>
              <a:tr h="671619">
                <a:tc>
                  <a:txBody>
                    <a:bodyPr/>
                    <a:lstStyle/>
                    <a:p>
                      <a:pPr algn="ctr"/>
                      <a:r>
                        <a:rPr lang="en-US" sz="2800" b="1" dirty="0">
                          <a:latin typeface="Times New Roman" panose="02020603050405020304" pitchFamily="18" charset="0"/>
                          <a:cs typeface="Times New Roman" panose="02020603050405020304" pitchFamily="18" charset="0"/>
                        </a:rPr>
                        <a:t>M</a:t>
                      </a:r>
                    </a:p>
                  </a:txBody>
                  <a:tcPr anchor="ctr">
                    <a:lnT w="12700" cap="flat" cmpd="sng" algn="ctr">
                      <a:solidFill>
                        <a:schemeClr val="tx1"/>
                      </a:solidFill>
                      <a:prstDash val="solid"/>
                      <a:round/>
                      <a:headEnd type="none" w="med" len="med"/>
                      <a:tailEnd type="none" w="med" len="med"/>
                    </a:lnT>
                  </a:tcPr>
                </a:tc>
                <a:tc>
                  <a:txBody>
                    <a:bodyPr/>
                    <a:lstStyle/>
                    <a:p>
                      <a:pPr algn="ctr"/>
                      <a:r>
                        <a:rPr lang="en-US" sz="2800" b="1" dirty="0">
                          <a:latin typeface="Times New Roman" panose="02020603050405020304" pitchFamily="18" charset="0"/>
                          <a:cs typeface="Times New Roman" panose="02020603050405020304" pitchFamily="18" charset="0"/>
                        </a:rPr>
                        <a:t>O</a:t>
                      </a:r>
                    </a:p>
                  </a:txBody>
                  <a:tcPr anchor="ctr">
                    <a:lnT w="12700" cap="flat" cmpd="sng" algn="ctr">
                      <a:solidFill>
                        <a:schemeClr val="tx1"/>
                      </a:solidFill>
                      <a:prstDash val="solid"/>
                      <a:round/>
                      <a:headEnd type="none" w="med" len="med"/>
                      <a:tailEnd type="none" w="med" len="med"/>
                    </a:lnT>
                  </a:tcPr>
                </a:tc>
                <a:tc>
                  <a:txBody>
                    <a:bodyPr/>
                    <a:lstStyle/>
                    <a:p>
                      <a:pPr algn="ctr"/>
                      <a:r>
                        <a:rPr lang="en-US" sz="2800" b="1" dirty="0">
                          <a:latin typeface="Times New Roman" panose="02020603050405020304" pitchFamily="18" charset="0"/>
                          <a:cs typeface="Times New Roman" panose="02020603050405020304" pitchFamily="18" charset="0"/>
                        </a:rPr>
                        <a:t>N</a:t>
                      </a:r>
                    </a:p>
                  </a:txBody>
                  <a:tcPr anchor="ctr">
                    <a:lnT w="12700" cap="flat" cmpd="sng" algn="ctr">
                      <a:solidFill>
                        <a:schemeClr val="tx1"/>
                      </a:solidFill>
                      <a:prstDash val="solid"/>
                      <a:round/>
                      <a:headEnd type="none" w="med" len="med"/>
                      <a:tailEnd type="none" w="med" len="med"/>
                    </a:lnT>
                  </a:tcPr>
                </a:tc>
                <a:tc>
                  <a:txBody>
                    <a:bodyPr/>
                    <a:lstStyle/>
                    <a:p>
                      <a:pPr algn="ctr"/>
                      <a:r>
                        <a:rPr lang="en-US" sz="2800" b="1" dirty="0">
                          <a:latin typeface="Times New Roman" panose="02020603050405020304" pitchFamily="18" charset="0"/>
                          <a:cs typeface="Times New Roman" panose="02020603050405020304" pitchFamily="18" charset="0"/>
                        </a:rPr>
                        <a:t>E</a:t>
                      </a:r>
                    </a:p>
                  </a:txBody>
                  <a:tcPr anchor="ctr">
                    <a:lnT w="12700" cap="flat" cmpd="sng" algn="ctr">
                      <a:solidFill>
                        <a:schemeClr val="tx1"/>
                      </a:solidFill>
                      <a:prstDash val="solid"/>
                      <a:round/>
                      <a:headEnd type="none" w="med" len="med"/>
                      <a:tailEnd type="none" w="med" len="med"/>
                    </a:lnT>
                  </a:tcPr>
                </a:tc>
                <a:tc>
                  <a:txBody>
                    <a:bodyPr/>
                    <a:lstStyle/>
                    <a:p>
                      <a:pPr algn="ctr"/>
                      <a:r>
                        <a:rPr lang="en-US" sz="2800" b="1" dirty="0">
                          <a:latin typeface="Times New Roman" panose="02020603050405020304" pitchFamily="18" charset="0"/>
                          <a:cs typeface="Times New Roman" panose="02020603050405020304" pitchFamily="18" charset="0"/>
                        </a:rPr>
                        <a:t>Y</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1781009"/>
                  </a:ext>
                </a:extLst>
              </a:tr>
            </a:tbl>
          </a:graphicData>
        </a:graphic>
      </p:graphicFrame>
      <p:graphicFrame>
        <p:nvGraphicFramePr>
          <p:cNvPr id="9" name="Table 9">
            <a:extLst>
              <a:ext uri="{FF2B5EF4-FFF2-40B4-BE49-F238E27FC236}">
                <a16:creationId xmlns:a16="http://schemas.microsoft.com/office/drawing/2014/main" id="{71EFB4D5-108C-4E95-A416-79220983DA31}"/>
              </a:ext>
            </a:extLst>
          </p:cNvPr>
          <p:cNvGraphicFramePr>
            <a:graphicFrameLocks noGrp="1"/>
          </p:cNvGraphicFramePr>
          <p:nvPr/>
        </p:nvGraphicFramePr>
        <p:xfrm>
          <a:off x="8903680" y="1149875"/>
          <a:ext cx="2690840" cy="3566160"/>
        </p:xfrm>
        <a:graphic>
          <a:graphicData uri="http://schemas.openxmlformats.org/drawingml/2006/table">
            <a:tbl>
              <a:tblPr firstRow="1" bandRow="1">
                <a:tableStyleId>{5C22544A-7EE6-4342-B048-85BDC9FD1C3A}</a:tableStyleId>
              </a:tblPr>
              <a:tblGrid>
                <a:gridCol w="1345420">
                  <a:extLst>
                    <a:ext uri="{9D8B030D-6E8A-4147-A177-3AD203B41FA5}">
                      <a16:colId xmlns:a16="http://schemas.microsoft.com/office/drawing/2014/main" val="2485892968"/>
                    </a:ext>
                  </a:extLst>
                </a:gridCol>
                <a:gridCol w="1345420">
                  <a:extLst>
                    <a:ext uri="{9D8B030D-6E8A-4147-A177-3AD203B41FA5}">
                      <a16:colId xmlns:a16="http://schemas.microsoft.com/office/drawing/2014/main" val="204832523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Character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Code</a:t>
                      </a:r>
                    </a:p>
                  </a:txBody>
                  <a:tcPr anchor="ctr"/>
                </a:tc>
                <a:extLst>
                  <a:ext uri="{0D108BD9-81ED-4DB2-BD59-A6C34878D82A}">
                    <a16:rowId xmlns:a16="http://schemas.microsoft.com/office/drawing/2014/main" val="2835032099"/>
                  </a:ext>
                </a:extLst>
              </a:tr>
              <a:tr h="370840">
                <a:tc>
                  <a:txBody>
                    <a:bodyPr/>
                    <a:lstStyle/>
                    <a:p>
                      <a:pPr algn="ctr"/>
                      <a:r>
                        <a:rPr lang="en-US" sz="2000" dirty="0">
                          <a:latin typeface="Times New Roman" panose="02020603050405020304" pitchFamily="18" charset="0"/>
                          <a:cs typeface="Times New Roman" panose="02020603050405020304" pitchFamily="18" charset="0"/>
                        </a:rPr>
                        <a:t>S</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3895274004"/>
                  </a:ext>
                </a:extLst>
              </a:tr>
              <a:tr h="370840">
                <a:tc>
                  <a:txBody>
                    <a:bodyPr/>
                    <a:lstStyle/>
                    <a:p>
                      <a:pPr algn="ctr"/>
                      <a:r>
                        <a:rPr lang="en-US" sz="2000" dirty="0">
                          <a:latin typeface="Times New Roman" panose="02020603050405020304" pitchFamily="18" charset="0"/>
                          <a:cs typeface="Times New Roman" panose="02020603050405020304" pitchFamily="18" charset="0"/>
                        </a:rPr>
                        <a:t>E</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705182775"/>
                  </a:ext>
                </a:extLst>
              </a:tr>
              <a:tr h="37084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742136637"/>
                  </a:ext>
                </a:extLst>
              </a:tr>
              <a:tr h="37084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7</a:t>
                      </a:r>
                    </a:p>
                  </a:txBody>
                  <a:tcPr anchor="ctr"/>
                </a:tc>
                <a:extLst>
                  <a:ext uri="{0D108BD9-81ED-4DB2-BD59-A6C34878D82A}">
                    <a16:rowId xmlns:a16="http://schemas.microsoft.com/office/drawing/2014/main" val="2205010996"/>
                  </a:ext>
                </a:extLst>
              </a:tr>
              <a:tr h="370840">
                <a:tc>
                  <a:txBody>
                    <a:bodyPr/>
                    <a:lstStyle/>
                    <a:p>
                      <a:pPr algn="ctr"/>
                      <a:r>
                        <a:rPr lang="en-US" sz="2000" dirty="0">
                          <a:latin typeface="Times New Roman" panose="02020603050405020304" pitchFamily="18" charset="0"/>
                          <a:cs typeface="Times New Roman" panose="02020603050405020304" pitchFamily="18" charset="0"/>
                        </a:rPr>
                        <a:t>M</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690476398"/>
                  </a:ext>
                </a:extLst>
              </a:tr>
              <a:tr h="370840">
                <a:tc>
                  <a:txBody>
                    <a:bodyPr/>
                    <a:lstStyle/>
                    <a:p>
                      <a:pPr algn="ctr"/>
                      <a:r>
                        <a:rPr lang="en-US" sz="2000" dirty="0">
                          <a:latin typeface="Times New Roman" panose="02020603050405020304" pitchFamily="18" charset="0"/>
                          <a:cs typeface="Times New Roman" panose="02020603050405020304" pitchFamily="18" charset="0"/>
                        </a:rPr>
                        <a:t>O</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1071088296"/>
                  </a:ext>
                </a:extLst>
              </a:tr>
              <a:tr h="370840">
                <a:tc>
                  <a:txBody>
                    <a:bodyPr/>
                    <a:lstStyle/>
                    <a:p>
                      <a:pPr algn="ctr"/>
                      <a:r>
                        <a:rPr lang="en-US" sz="2000" dirty="0">
                          <a:latin typeface="Times New Roman" panose="02020603050405020304" pitchFamily="18" charset="0"/>
                          <a:cs typeface="Times New Roman" panose="02020603050405020304" pitchFamily="18" charset="0"/>
                        </a:rPr>
                        <a:t>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284433768"/>
                  </a:ext>
                </a:extLst>
              </a:tr>
              <a:tr h="370840">
                <a:tc>
                  <a:txBody>
                    <a:bodyPr/>
                    <a:lstStyle/>
                    <a:p>
                      <a:pPr algn="ctr"/>
                      <a:r>
                        <a:rPr lang="en-US" sz="2000" dirty="0">
                          <a:latin typeface="Times New Roman" panose="02020603050405020304" pitchFamily="18" charset="0"/>
                          <a:cs typeface="Times New Roman" panose="02020603050405020304" pitchFamily="18" charset="0"/>
                        </a:rPr>
                        <a:t>Y</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736477824"/>
                  </a:ext>
                </a:extLst>
              </a:tr>
            </a:tbl>
          </a:graphicData>
        </a:graphic>
      </p:graphicFrame>
    </p:spTree>
    <p:extLst>
      <p:ext uri="{BB962C8B-B14F-4D97-AF65-F5344CB8AC3E}">
        <p14:creationId xmlns:p14="http://schemas.microsoft.com/office/powerpoint/2010/main" val="1477574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6BC83FB-27AA-FE17-FCF4-9D0B25268FAF}"/>
              </a:ext>
            </a:extLst>
          </p:cNvPr>
          <p:cNvSpPr>
            <a:spLocks noGrp="1"/>
          </p:cNvSpPr>
          <p:nvPr>
            <p:ph type="title"/>
          </p:nvPr>
        </p:nvSpPr>
        <p:spPr>
          <a:xfrm>
            <a:off x="838200" y="365125"/>
            <a:ext cx="10515600" cy="1325563"/>
          </a:xfrm>
        </p:spPr>
        <p:txBody>
          <a:bodyPr>
            <a:normAutofit/>
          </a:bodyPr>
          <a:lstStyle/>
          <a:p>
            <a:r>
              <a:rPr lang="it-IT" dirty="0"/>
              <a:t>Local Search in CSP</a:t>
            </a:r>
            <a:endParaRPr lang="en-PK"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54BE435-CC39-37F1-FB35-D61C15C64B0D}"/>
              </a:ext>
            </a:extLst>
          </p:cNvPr>
          <p:cNvSpPr>
            <a:spLocks noGrp="1"/>
          </p:cNvSpPr>
          <p:nvPr>
            <p:ph idx="1"/>
          </p:nvPr>
        </p:nvSpPr>
        <p:spPr>
          <a:xfrm>
            <a:off x="838200" y="1825625"/>
            <a:ext cx="10515600" cy="4351338"/>
          </a:xfrm>
        </p:spPr>
        <p:txBody>
          <a:bodyPr>
            <a:normAutofit/>
          </a:bodyPr>
          <a:lstStyle/>
          <a:p>
            <a:pPr algn="just"/>
            <a:r>
              <a:rPr lang="en-US" dirty="0"/>
              <a:t>A heuristic method used to find a solution by iteratively improving a candidate solution based on a specific evaluation criterion, rather than systematically exploring the entire search space like backtracking algorithms.</a:t>
            </a:r>
            <a:endParaRPr lang="en-PK" dirty="0"/>
          </a:p>
        </p:txBody>
      </p:sp>
    </p:spTree>
    <p:extLst>
      <p:ext uri="{BB962C8B-B14F-4D97-AF65-F5344CB8AC3E}">
        <p14:creationId xmlns:p14="http://schemas.microsoft.com/office/powerpoint/2010/main" val="1512620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98E01-2D1C-60B0-352A-29D83B42FAFE}"/>
              </a:ext>
            </a:extLst>
          </p:cNvPr>
          <p:cNvSpPr>
            <a:spLocks noGrp="1"/>
          </p:cNvSpPr>
          <p:nvPr>
            <p:ph type="title"/>
          </p:nvPr>
        </p:nvSpPr>
        <p:spPr/>
        <p:txBody>
          <a:bodyPr/>
          <a:lstStyle/>
          <a:p>
            <a:r>
              <a:rPr lang="en-US" dirty="0"/>
              <a:t>Constraint Satisfaction Problem (CSP)</a:t>
            </a:r>
          </a:p>
        </p:txBody>
      </p:sp>
      <p:sp>
        <p:nvSpPr>
          <p:cNvPr id="3" name="Content Placeholder 2">
            <a:extLst>
              <a:ext uri="{FF2B5EF4-FFF2-40B4-BE49-F238E27FC236}">
                <a16:creationId xmlns:a16="http://schemas.microsoft.com/office/drawing/2014/main" id="{3B91025E-1A75-F244-5BA2-9C5342D2EC6A}"/>
              </a:ext>
            </a:extLst>
          </p:cNvPr>
          <p:cNvSpPr>
            <a:spLocks noGrp="1"/>
          </p:cNvSpPr>
          <p:nvPr>
            <p:ph idx="1"/>
          </p:nvPr>
        </p:nvSpPr>
        <p:spPr/>
        <p:txBody>
          <a:bodyPr/>
          <a:lstStyle/>
          <a:p>
            <a:pPr>
              <a:buNone/>
            </a:pPr>
            <a:r>
              <a:rPr lang="en-US" dirty="0"/>
              <a:t>A CSP consists of:</a:t>
            </a:r>
          </a:p>
          <a:p>
            <a:pPr>
              <a:buFont typeface="Arial" panose="020B0604020202020204" pitchFamily="34" charset="0"/>
              <a:buChar char="•"/>
            </a:pPr>
            <a:r>
              <a:rPr lang="en-US" b="1" dirty="0"/>
              <a:t>Variables</a:t>
            </a:r>
            <a:r>
              <a:rPr lang="en-US" dirty="0"/>
              <a:t> X={X1,X2,...,</a:t>
            </a:r>
            <a:r>
              <a:rPr lang="en-US" dirty="0" err="1"/>
              <a:t>Xn</a:t>
            </a:r>
            <a:r>
              <a:rPr lang="en-US" dirty="0"/>
              <a:t>} </a:t>
            </a:r>
          </a:p>
          <a:p>
            <a:pPr>
              <a:buFont typeface="Arial" panose="020B0604020202020204" pitchFamily="34" charset="0"/>
              <a:buChar char="•"/>
            </a:pPr>
            <a:r>
              <a:rPr lang="en-US" b="1" dirty="0"/>
              <a:t>Domains</a:t>
            </a:r>
            <a:r>
              <a:rPr lang="en-US" dirty="0"/>
              <a:t> D={D1,D2,...,</a:t>
            </a:r>
            <a:r>
              <a:rPr lang="en-US" dirty="0" err="1"/>
              <a:t>Dn</a:t>
            </a:r>
            <a:r>
              <a:rPr lang="en-US" dirty="0"/>
              <a:t>} </a:t>
            </a:r>
          </a:p>
          <a:p>
            <a:pPr marL="0" indent="0">
              <a:buNone/>
            </a:pPr>
            <a:r>
              <a:rPr lang="en-US" dirty="0"/>
              <a:t>   Each variable Xi​ has a domain Di​ of possible values.</a:t>
            </a:r>
          </a:p>
          <a:p>
            <a:pPr>
              <a:buFont typeface="Arial" panose="020B0604020202020204" pitchFamily="34" charset="0"/>
              <a:buChar char="•"/>
            </a:pPr>
            <a:r>
              <a:rPr lang="en-US" b="1" dirty="0"/>
              <a:t>Constraints</a:t>
            </a:r>
            <a:r>
              <a:rPr lang="en-US" dirty="0"/>
              <a:t>: Rules that specify allowable combinations of values among variables.</a:t>
            </a:r>
          </a:p>
          <a:p>
            <a:r>
              <a:rPr lang="en-US" b="1" dirty="0"/>
              <a:t>Goal: </a:t>
            </a:r>
            <a:r>
              <a:rPr lang="en-US" dirty="0"/>
              <a:t>Assign values to all variables such that all constraints are satisfied.</a:t>
            </a:r>
          </a:p>
          <a:p>
            <a:endParaRPr lang="en-US" dirty="0"/>
          </a:p>
        </p:txBody>
      </p:sp>
    </p:spTree>
    <p:extLst>
      <p:ext uri="{BB962C8B-B14F-4D97-AF65-F5344CB8AC3E}">
        <p14:creationId xmlns:p14="http://schemas.microsoft.com/office/powerpoint/2010/main" val="3529790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1047-39AD-F266-EA52-2B16E11ECFCC}"/>
              </a:ext>
            </a:extLst>
          </p:cNvPr>
          <p:cNvSpPr>
            <a:spLocks noGrp="1"/>
          </p:cNvSpPr>
          <p:nvPr>
            <p:ph type="title"/>
          </p:nvPr>
        </p:nvSpPr>
        <p:spPr/>
        <p:txBody>
          <a:bodyPr/>
          <a:lstStyle/>
          <a:p>
            <a:r>
              <a:rPr lang="en-US" dirty="0"/>
              <a:t>Local search in CSP</a:t>
            </a:r>
          </a:p>
        </p:txBody>
      </p:sp>
      <p:sp>
        <p:nvSpPr>
          <p:cNvPr id="3" name="Content Placeholder 2">
            <a:extLst>
              <a:ext uri="{FF2B5EF4-FFF2-40B4-BE49-F238E27FC236}">
                <a16:creationId xmlns:a16="http://schemas.microsoft.com/office/drawing/2014/main" id="{1C05CD7D-4433-22FF-B5AB-A2803A25BE6D}"/>
              </a:ext>
            </a:extLst>
          </p:cNvPr>
          <p:cNvSpPr>
            <a:spLocks noGrp="1"/>
          </p:cNvSpPr>
          <p:nvPr>
            <p:ph idx="1"/>
          </p:nvPr>
        </p:nvSpPr>
        <p:spPr/>
        <p:txBody>
          <a:bodyPr>
            <a:normAutofit/>
          </a:bodyPr>
          <a:lstStyle/>
          <a:p>
            <a:r>
              <a:rPr lang="en-US" sz="3200" dirty="0"/>
              <a:t>Instead of building solutions from scratch, </a:t>
            </a:r>
            <a:r>
              <a:rPr lang="en-US" sz="3200" b="1" dirty="0"/>
              <a:t>local search starts with a complete but possibly invalid assignment</a:t>
            </a:r>
            <a:r>
              <a:rPr lang="en-US" sz="3200" dirty="0"/>
              <a:t> (i.e., some constraints are violated) and tries to fix it iteratively.</a:t>
            </a:r>
          </a:p>
        </p:txBody>
      </p:sp>
    </p:spTree>
    <p:extLst>
      <p:ext uri="{BB962C8B-B14F-4D97-AF65-F5344CB8AC3E}">
        <p14:creationId xmlns:p14="http://schemas.microsoft.com/office/powerpoint/2010/main" val="1965825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3B7337-EB7F-02AF-EAF9-DF6949C4C23E}"/>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How Local Search Works in CSP</a:t>
            </a:r>
            <a:endParaRPr lang="en-PK" sz="4000">
              <a:solidFill>
                <a:srgbClr val="FFFFFF"/>
              </a:solidFill>
            </a:endParaRPr>
          </a:p>
        </p:txBody>
      </p:sp>
      <p:sp>
        <p:nvSpPr>
          <p:cNvPr id="6" name="Rectangle 1">
            <a:extLst>
              <a:ext uri="{FF2B5EF4-FFF2-40B4-BE49-F238E27FC236}">
                <a16:creationId xmlns:a16="http://schemas.microsoft.com/office/drawing/2014/main" id="{72F82211-4E72-B310-908A-80255E33EE73}"/>
              </a:ext>
            </a:extLst>
          </p:cNvPr>
          <p:cNvSpPr>
            <a:spLocks noGrp="1" noChangeArrowheads="1"/>
          </p:cNvSpPr>
          <p:nvPr>
            <p:ph idx="1"/>
          </p:nvPr>
        </p:nvSpPr>
        <p:spPr bwMode="auto">
          <a:xfrm>
            <a:off x="4170233" y="428173"/>
            <a:ext cx="7736632"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Initial Assignment</a:t>
            </a:r>
            <a:r>
              <a:rPr kumimoji="0" lang="en-US" altLang="en-US" sz="2400" b="0" i="0" u="none" strike="noStrike" cap="none" normalizeH="0" baseline="0" dirty="0">
                <a:ln>
                  <a:noFill/>
                </a:ln>
                <a:solidFill>
                  <a:schemeClr val="tx1"/>
                </a:solidFill>
                <a:effectLst/>
                <a:latin typeface="Arial" panose="020B0604020202020204" pitchFamily="34" charset="0"/>
              </a:rPr>
              <a:t>: Start with a random or heuristically chosen complete assignment (each variable has a value).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Evaluation Function</a:t>
            </a:r>
            <a:r>
              <a:rPr kumimoji="0" lang="en-US" altLang="en-US" sz="2400" b="0" i="0" u="none" strike="noStrike" cap="none" normalizeH="0" baseline="0" dirty="0">
                <a:ln>
                  <a:noFill/>
                </a:ln>
                <a:solidFill>
                  <a:schemeClr val="tx1"/>
                </a:solidFill>
                <a:effectLst/>
                <a:latin typeface="Arial" panose="020B0604020202020204" pitchFamily="34" charset="0"/>
              </a:rPr>
              <a:t>: Measure how "bad" the current assignment is — often by counting the number of constraint violations.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Neighbor Generation</a:t>
            </a:r>
            <a:r>
              <a:rPr kumimoji="0" lang="en-US" altLang="en-US" sz="2400" b="0" i="0" u="none" strike="noStrike" cap="none" normalizeH="0" baseline="0" dirty="0">
                <a:ln>
                  <a:noFill/>
                </a:ln>
                <a:solidFill>
                  <a:schemeClr val="tx1"/>
                </a:solidFill>
                <a:effectLst/>
                <a:latin typeface="Arial" panose="020B0604020202020204" pitchFamily="34" charset="0"/>
              </a:rPr>
              <a:t>: Slightly change the assignment (e.g., change the value of one variable).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Move to a Neighbor</a:t>
            </a:r>
            <a:r>
              <a:rPr kumimoji="0" lang="en-US" altLang="en-US" sz="2400" b="0" i="0" u="none" strike="noStrike" cap="none" normalizeH="0" baseline="0" dirty="0">
                <a:ln>
                  <a:noFill/>
                </a:ln>
                <a:solidFill>
                  <a:schemeClr val="tx1"/>
                </a:solidFill>
                <a:effectLst/>
                <a:latin typeface="Arial" panose="020B0604020202020204" pitchFamily="34" charset="0"/>
              </a:rPr>
              <a:t>: Pick a neighbor with fewer violations (greedy or probabilistic strategy).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Repeat</a:t>
            </a:r>
            <a:r>
              <a:rPr kumimoji="0" lang="en-US" altLang="en-US" sz="2400" b="0" i="0" u="none" strike="noStrike" cap="none" normalizeH="0" baseline="0" dirty="0">
                <a:ln>
                  <a:noFill/>
                </a:ln>
                <a:solidFill>
                  <a:schemeClr val="tx1"/>
                </a:solidFill>
                <a:effectLst/>
                <a:latin typeface="Arial" panose="020B0604020202020204" pitchFamily="34" charset="0"/>
              </a:rPr>
              <a:t> until a solution is found or some stopping condition is met.</a:t>
            </a:r>
          </a:p>
        </p:txBody>
      </p:sp>
    </p:spTree>
    <p:extLst>
      <p:ext uri="{BB962C8B-B14F-4D97-AF65-F5344CB8AC3E}">
        <p14:creationId xmlns:p14="http://schemas.microsoft.com/office/powerpoint/2010/main" val="1285797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1A0BAB-4279-1875-1D65-96F8D54266FB}"/>
              </a:ext>
            </a:extLst>
          </p:cNvPr>
          <p:cNvSpPr>
            <a:spLocks noGrp="1"/>
          </p:cNvSpPr>
          <p:nvPr>
            <p:ph type="title"/>
          </p:nvPr>
        </p:nvSpPr>
        <p:spPr>
          <a:xfrm>
            <a:off x="686834" y="1153572"/>
            <a:ext cx="3200400" cy="4461163"/>
          </a:xfrm>
        </p:spPr>
        <p:txBody>
          <a:bodyPr>
            <a:normAutofit/>
          </a:bodyPr>
          <a:lstStyle/>
          <a:p>
            <a:r>
              <a:rPr lang="en-GB">
                <a:solidFill>
                  <a:srgbClr val="FFFFFF"/>
                </a:solidFill>
              </a:rPr>
              <a:t>Example: Map Colouring Problem (How Local Search Works)</a:t>
            </a:r>
            <a:endParaRPr lang="en-PK">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48ED7DA-390F-7ECD-06B0-D5051D5AA312}"/>
              </a:ext>
            </a:extLst>
          </p:cNvPr>
          <p:cNvSpPr>
            <a:spLocks noGrp="1"/>
          </p:cNvSpPr>
          <p:nvPr>
            <p:ph idx="1"/>
          </p:nvPr>
        </p:nvSpPr>
        <p:spPr>
          <a:xfrm>
            <a:off x="4489718" y="953293"/>
            <a:ext cx="6906491" cy="5585619"/>
          </a:xfrm>
        </p:spPr>
        <p:txBody>
          <a:bodyPr anchor="ctr">
            <a:normAutofit/>
          </a:bodyPr>
          <a:lstStyle/>
          <a:p>
            <a:pPr marL="0" indent="0">
              <a:buNone/>
            </a:pPr>
            <a:r>
              <a:rPr lang="en-GB" b="1" dirty="0"/>
              <a:t>Problem Statement:</a:t>
            </a:r>
          </a:p>
          <a:p>
            <a:r>
              <a:rPr lang="en-GB" dirty="0"/>
              <a:t>Colour 4 regions (A, B, C, D) with 3 colours (Red, Green, Blue), ensuring no two adjacent regions have the same colour.</a:t>
            </a:r>
          </a:p>
          <a:p>
            <a:pPr marL="0" indent="0">
              <a:buNone/>
            </a:pPr>
            <a:r>
              <a:rPr lang="en-GB" b="1" dirty="0"/>
              <a:t>Step 1: Initialization</a:t>
            </a:r>
            <a:endParaRPr lang="en-GB" dirty="0"/>
          </a:p>
          <a:p>
            <a:pPr>
              <a:buFont typeface="Arial" panose="020B0604020202020204" pitchFamily="34" charset="0"/>
              <a:buChar char="•"/>
            </a:pPr>
            <a:r>
              <a:rPr lang="en-GB" dirty="0"/>
              <a:t>Start with a random assignment: A = Red, B = Red, C = Green, D = Blue. (Violations: A and B have the same colour.)</a:t>
            </a:r>
          </a:p>
          <a:p>
            <a:pPr marL="0" indent="0">
              <a:buNone/>
            </a:pPr>
            <a:r>
              <a:rPr lang="en-GB" b="1" dirty="0"/>
              <a:t>Step 2: Define Neighbourhood</a:t>
            </a:r>
            <a:endParaRPr lang="en-GB" dirty="0"/>
          </a:p>
          <a:p>
            <a:pPr>
              <a:buFont typeface="Arial" panose="020B0604020202020204" pitchFamily="34" charset="0"/>
              <a:buChar char="•"/>
            </a:pPr>
            <a:r>
              <a:rPr lang="en-GB" dirty="0"/>
              <a:t>Neighbour = Assign a different colour to one variable.</a:t>
            </a:r>
          </a:p>
          <a:p>
            <a:pPr>
              <a:buFont typeface="Arial" panose="020B0604020202020204" pitchFamily="34" charset="0"/>
              <a:buChar char="•"/>
            </a:pPr>
            <a:r>
              <a:rPr lang="en-GB" dirty="0"/>
              <a:t>Example: Change B = Red → Green.</a:t>
            </a:r>
          </a:p>
          <a:p>
            <a:pPr marL="0" indent="0">
              <a:buNone/>
            </a:pPr>
            <a:endParaRPr lang="en-GB" dirty="0"/>
          </a:p>
          <a:p>
            <a:endParaRPr lang="en-PK" dirty="0"/>
          </a:p>
        </p:txBody>
      </p:sp>
    </p:spTree>
    <p:extLst>
      <p:ext uri="{BB962C8B-B14F-4D97-AF65-F5344CB8AC3E}">
        <p14:creationId xmlns:p14="http://schemas.microsoft.com/office/powerpoint/2010/main" val="2394568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822A53-454B-9067-0206-EBCD7B04B1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CACC62-9CED-8FE7-CA61-FB71C95AC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D2288C8-4BCE-AA1F-CAEF-2337223AE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67AFC5-3FB9-DF5D-0259-1BF5CF467F63}"/>
              </a:ext>
            </a:extLst>
          </p:cNvPr>
          <p:cNvSpPr>
            <a:spLocks noGrp="1"/>
          </p:cNvSpPr>
          <p:nvPr>
            <p:ph type="title"/>
          </p:nvPr>
        </p:nvSpPr>
        <p:spPr>
          <a:xfrm>
            <a:off x="686834" y="1153572"/>
            <a:ext cx="3200400" cy="4461163"/>
          </a:xfrm>
        </p:spPr>
        <p:txBody>
          <a:bodyPr>
            <a:normAutofit/>
          </a:bodyPr>
          <a:lstStyle/>
          <a:p>
            <a:r>
              <a:rPr lang="en-GB">
                <a:solidFill>
                  <a:srgbClr val="FFFFFF"/>
                </a:solidFill>
              </a:rPr>
              <a:t>Example: Map Colouring Problem (How Local Search Works)</a:t>
            </a:r>
            <a:endParaRPr lang="en-PK">
              <a:solidFill>
                <a:srgbClr val="FFFFFF"/>
              </a:solidFill>
            </a:endParaRPr>
          </a:p>
        </p:txBody>
      </p:sp>
      <p:sp>
        <p:nvSpPr>
          <p:cNvPr id="12" name="Arc 11">
            <a:extLst>
              <a:ext uri="{FF2B5EF4-FFF2-40B4-BE49-F238E27FC236}">
                <a16:creationId xmlns:a16="http://schemas.microsoft.com/office/drawing/2014/main" id="{A9600CDB-2959-646D-3DD8-B68D3A817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CD8E31A-17A7-72DF-13E6-E89AA0A18E89}"/>
              </a:ext>
            </a:extLst>
          </p:cNvPr>
          <p:cNvSpPr>
            <a:spLocks noGrp="1"/>
          </p:cNvSpPr>
          <p:nvPr>
            <p:ph idx="1"/>
          </p:nvPr>
        </p:nvSpPr>
        <p:spPr>
          <a:xfrm>
            <a:off x="4489718" y="319089"/>
            <a:ext cx="6906491" cy="6219824"/>
          </a:xfrm>
        </p:spPr>
        <p:txBody>
          <a:bodyPr anchor="ctr">
            <a:normAutofit fontScale="92500"/>
          </a:bodyPr>
          <a:lstStyle/>
          <a:p>
            <a:r>
              <a:rPr lang="en-GB" b="1" dirty="0"/>
              <a:t>Step 3: Objective Function</a:t>
            </a:r>
            <a:endParaRPr lang="en-GB" dirty="0"/>
          </a:p>
          <a:p>
            <a:pPr>
              <a:buFont typeface="Arial" panose="020B0604020202020204" pitchFamily="34" charset="0"/>
              <a:buChar char="•"/>
            </a:pPr>
            <a:r>
              <a:rPr lang="en-GB" dirty="0"/>
              <a:t>Count the number of constraint violations.</a:t>
            </a:r>
          </a:p>
          <a:p>
            <a:pPr marL="742950" lvl="1" indent="-285750">
              <a:buFont typeface="Arial" panose="020B0604020202020204" pitchFamily="34" charset="0"/>
              <a:buChar char="•"/>
            </a:pPr>
            <a:r>
              <a:rPr lang="en-GB" dirty="0"/>
              <a:t>Current state: Violations = 1 (A = Red, B = Red).</a:t>
            </a:r>
          </a:p>
          <a:p>
            <a:r>
              <a:rPr lang="en-GB" b="1" dirty="0"/>
              <a:t>Step 4: Iterative Improvement</a:t>
            </a:r>
            <a:endParaRPr lang="en-GB" dirty="0"/>
          </a:p>
          <a:p>
            <a:pPr>
              <a:buFont typeface="Arial" panose="020B0604020202020204" pitchFamily="34" charset="0"/>
              <a:buChar char="•"/>
            </a:pPr>
            <a:r>
              <a:rPr lang="en-GB" dirty="0"/>
              <a:t>Move to a neighbour with fewer violations:</a:t>
            </a:r>
          </a:p>
          <a:p>
            <a:pPr marL="742950" lvl="1" indent="-285750">
              <a:buFont typeface="Arial" panose="020B0604020202020204" pitchFamily="34" charset="0"/>
              <a:buChar char="•"/>
            </a:pPr>
            <a:r>
              <a:rPr lang="en-GB" dirty="0"/>
              <a:t>New assignment: A = Red, B = Green, C = Green, D = Blue.</a:t>
            </a:r>
          </a:p>
          <a:p>
            <a:pPr marL="742950" lvl="1" indent="-285750">
              <a:buFont typeface="Arial" panose="020B0604020202020204" pitchFamily="34" charset="0"/>
              <a:buChar char="•"/>
            </a:pPr>
            <a:r>
              <a:rPr lang="en-GB" dirty="0"/>
              <a:t>Violations = 1 (B = Green, C = Green).</a:t>
            </a:r>
          </a:p>
          <a:p>
            <a:pPr marL="742950" lvl="1" indent="-285750">
              <a:buFont typeface="Arial" panose="020B0604020202020204" pitchFamily="34" charset="0"/>
              <a:buChar char="•"/>
            </a:pPr>
            <a:r>
              <a:rPr lang="en-GB" dirty="0"/>
              <a:t>Change C = Green → Blue.</a:t>
            </a:r>
          </a:p>
          <a:p>
            <a:pPr marL="742950" lvl="1" indent="-285750">
              <a:buFont typeface="Arial" panose="020B0604020202020204" pitchFamily="34" charset="0"/>
              <a:buChar char="•"/>
            </a:pPr>
            <a:r>
              <a:rPr lang="en-GB" dirty="0"/>
              <a:t>New state: A = Red, B = Green, C = Blue, D = Blue.</a:t>
            </a:r>
          </a:p>
          <a:p>
            <a:pPr marL="0" indent="0">
              <a:buNone/>
            </a:pPr>
            <a:r>
              <a:rPr lang="en-GB" b="1" dirty="0"/>
              <a:t>Step 5: Stop</a:t>
            </a:r>
            <a:endParaRPr lang="en-GB" dirty="0"/>
          </a:p>
          <a:p>
            <a:pPr>
              <a:buFont typeface="Arial" panose="020B0604020202020204" pitchFamily="34" charset="0"/>
              <a:buChar char="•"/>
            </a:pPr>
            <a:r>
              <a:rPr lang="en-GB" dirty="0"/>
              <a:t>Final state: A = Red, B = Green, C = Blue, D = Red.</a:t>
            </a:r>
          </a:p>
          <a:p>
            <a:pPr>
              <a:buFont typeface="Arial" panose="020B0604020202020204" pitchFamily="34" charset="0"/>
              <a:buChar char="•"/>
            </a:pPr>
            <a:r>
              <a:rPr lang="en-GB" dirty="0"/>
              <a:t>All constraints satisfied.</a:t>
            </a:r>
          </a:p>
          <a:p>
            <a:endParaRPr lang="en-PK" dirty="0"/>
          </a:p>
        </p:txBody>
      </p:sp>
    </p:spTree>
    <p:extLst>
      <p:ext uri="{BB962C8B-B14F-4D97-AF65-F5344CB8AC3E}">
        <p14:creationId xmlns:p14="http://schemas.microsoft.com/office/powerpoint/2010/main" val="2044346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3A2B904-6327-FD63-74B3-CB60DAC58C0A}"/>
              </a:ext>
            </a:extLst>
          </p:cNvPr>
          <p:cNvSpPr>
            <a:spLocks noGrp="1"/>
          </p:cNvSpPr>
          <p:nvPr>
            <p:ph type="title"/>
          </p:nvPr>
        </p:nvSpPr>
        <p:spPr>
          <a:xfrm>
            <a:off x="1188069" y="381935"/>
            <a:ext cx="4008583" cy="5974414"/>
          </a:xfrm>
        </p:spPr>
        <p:txBody>
          <a:bodyPr anchor="ctr">
            <a:normAutofit/>
          </a:bodyPr>
          <a:lstStyle/>
          <a:p>
            <a:r>
              <a:rPr lang="en-US" sz="6800">
                <a:solidFill>
                  <a:srgbClr val="FFFFFF"/>
                </a:solidFill>
              </a:rPr>
              <a:t>Common Local Search Algorithms for CSP</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23" name="Content Placeholder 2">
            <a:extLst>
              <a:ext uri="{FF2B5EF4-FFF2-40B4-BE49-F238E27FC236}">
                <a16:creationId xmlns:a16="http://schemas.microsoft.com/office/drawing/2014/main" id="{E0504661-573D-E16C-1077-A5B9EF49045A}"/>
              </a:ext>
            </a:extLst>
          </p:cNvPr>
          <p:cNvSpPr>
            <a:spLocks noGrp="1"/>
          </p:cNvSpPr>
          <p:nvPr>
            <p:ph idx="1"/>
          </p:nvPr>
        </p:nvSpPr>
        <p:spPr>
          <a:xfrm>
            <a:off x="5892337" y="108155"/>
            <a:ext cx="5779910" cy="6626941"/>
          </a:xfrm>
        </p:spPr>
        <p:txBody>
          <a:bodyPr anchor="ctr">
            <a:normAutofit/>
          </a:bodyPr>
          <a:lstStyle/>
          <a:p>
            <a:pPr>
              <a:buFont typeface="+mj-lt"/>
              <a:buAutoNum type="arabicPeriod"/>
            </a:pPr>
            <a:r>
              <a:rPr lang="en-US" sz="2000" b="1" dirty="0">
                <a:solidFill>
                  <a:schemeClr val="tx1">
                    <a:alpha val="80000"/>
                  </a:schemeClr>
                </a:solidFill>
              </a:rPr>
              <a:t>Min-Conflicts Heuristic</a:t>
            </a:r>
            <a:r>
              <a:rPr lang="en-US" sz="2000" dirty="0">
                <a:solidFill>
                  <a:schemeClr val="tx1">
                    <a:alpha val="80000"/>
                  </a:schemeClr>
                </a:solidFill>
              </a:rPr>
              <a:t>:</a:t>
            </a:r>
          </a:p>
          <a:p>
            <a:pPr marL="742950" lvl="1" indent="-285750">
              <a:buFont typeface="+mj-lt"/>
              <a:buAutoNum type="arabicPeriod"/>
            </a:pPr>
            <a:r>
              <a:rPr lang="en-US" sz="2000" dirty="0">
                <a:solidFill>
                  <a:schemeClr val="tx1">
                    <a:alpha val="80000"/>
                  </a:schemeClr>
                </a:solidFill>
              </a:rPr>
              <a:t>Choose a variable that is involved in a conflict.</a:t>
            </a:r>
          </a:p>
          <a:p>
            <a:pPr marL="742950" lvl="1" indent="-285750">
              <a:buFont typeface="+mj-lt"/>
              <a:buAutoNum type="arabicPeriod"/>
            </a:pPr>
            <a:r>
              <a:rPr lang="en-US" sz="2000" dirty="0">
                <a:solidFill>
                  <a:schemeClr val="tx1">
                    <a:alpha val="80000"/>
                  </a:schemeClr>
                </a:solidFill>
              </a:rPr>
              <a:t>Assign it a value that minimizes the number of violated constraints.</a:t>
            </a:r>
          </a:p>
          <a:p>
            <a:pPr marL="742950" lvl="1" indent="-285750">
              <a:buFont typeface="+mj-lt"/>
              <a:buAutoNum type="arabicPeriod"/>
            </a:pPr>
            <a:r>
              <a:rPr lang="en-US" sz="2000" dirty="0">
                <a:solidFill>
                  <a:schemeClr val="tx1">
                    <a:alpha val="80000"/>
                  </a:schemeClr>
                </a:solidFill>
              </a:rPr>
              <a:t>Fast and effective for many problems like the N-Queens problem.</a:t>
            </a:r>
          </a:p>
          <a:p>
            <a:pPr>
              <a:buFont typeface="+mj-lt"/>
              <a:buAutoNum type="arabicPeriod"/>
            </a:pPr>
            <a:r>
              <a:rPr lang="en-US" sz="2000" b="1" dirty="0">
                <a:solidFill>
                  <a:schemeClr val="tx1">
                    <a:alpha val="80000"/>
                  </a:schemeClr>
                </a:solidFill>
              </a:rPr>
              <a:t>Hill Climbing</a:t>
            </a:r>
            <a:r>
              <a:rPr lang="en-US" sz="2000" dirty="0">
                <a:solidFill>
                  <a:schemeClr val="tx1">
                    <a:alpha val="80000"/>
                  </a:schemeClr>
                </a:solidFill>
              </a:rPr>
              <a:t>:</a:t>
            </a:r>
          </a:p>
          <a:p>
            <a:pPr marL="742950" lvl="1" indent="-285750">
              <a:buFont typeface="+mj-lt"/>
              <a:buAutoNum type="arabicPeriod"/>
            </a:pPr>
            <a:r>
              <a:rPr lang="en-US" sz="2000" dirty="0">
                <a:solidFill>
                  <a:schemeClr val="tx1">
                    <a:alpha val="80000"/>
                  </a:schemeClr>
                </a:solidFill>
              </a:rPr>
              <a:t>Moves to the neighbor with the lowest number of conflicts.</a:t>
            </a:r>
          </a:p>
          <a:p>
            <a:pPr marL="742950" lvl="1" indent="-285750">
              <a:buFont typeface="+mj-lt"/>
              <a:buAutoNum type="arabicPeriod"/>
            </a:pPr>
            <a:r>
              <a:rPr lang="en-US" sz="2000" dirty="0">
                <a:solidFill>
                  <a:schemeClr val="tx1">
                    <a:alpha val="80000"/>
                  </a:schemeClr>
                </a:solidFill>
              </a:rPr>
              <a:t>Can get stuck in local minima.</a:t>
            </a:r>
          </a:p>
          <a:p>
            <a:pPr>
              <a:buFont typeface="+mj-lt"/>
              <a:buAutoNum type="arabicPeriod"/>
            </a:pPr>
            <a:r>
              <a:rPr lang="en-US" sz="2000" b="1" dirty="0">
                <a:solidFill>
                  <a:schemeClr val="tx1">
                    <a:alpha val="80000"/>
                  </a:schemeClr>
                </a:solidFill>
              </a:rPr>
              <a:t>Simulated Annealing</a:t>
            </a:r>
            <a:r>
              <a:rPr lang="en-US" sz="2000" dirty="0">
                <a:solidFill>
                  <a:schemeClr val="tx1">
                    <a:alpha val="80000"/>
                  </a:schemeClr>
                </a:solidFill>
              </a:rPr>
              <a:t>:</a:t>
            </a:r>
          </a:p>
          <a:p>
            <a:pPr marL="742950" lvl="1" indent="-285750">
              <a:buFont typeface="+mj-lt"/>
              <a:buAutoNum type="arabicPeriod"/>
            </a:pPr>
            <a:r>
              <a:rPr lang="en-US" sz="2000" dirty="0">
                <a:solidFill>
                  <a:schemeClr val="tx1">
                    <a:alpha val="80000"/>
                  </a:schemeClr>
                </a:solidFill>
              </a:rPr>
              <a:t>Allows uphill moves (worse solutions) occasionally to escape local minima.</a:t>
            </a:r>
          </a:p>
          <a:p>
            <a:pPr marL="742950" lvl="1" indent="-285750">
              <a:buFont typeface="+mj-lt"/>
              <a:buAutoNum type="arabicPeriod"/>
            </a:pPr>
            <a:r>
              <a:rPr lang="en-US" sz="2000" dirty="0">
                <a:solidFill>
                  <a:schemeClr val="tx1">
                    <a:alpha val="80000"/>
                  </a:schemeClr>
                </a:solidFill>
              </a:rPr>
              <a:t>Gradually reduces the chance of making such moves.</a:t>
            </a:r>
          </a:p>
          <a:p>
            <a:pPr>
              <a:buFont typeface="+mj-lt"/>
              <a:buAutoNum type="arabicPeriod"/>
            </a:pPr>
            <a:r>
              <a:rPr lang="en-US" sz="2000" b="1" dirty="0">
                <a:solidFill>
                  <a:schemeClr val="tx1">
                    <a:alpha val="80000"/>
                  </a:schemeClr>
                </a:solidFill>
              </a:rPr>
              <a:t>Genetic Algorithms</a:t>
            </a:r>
            <a:r>
              <a:rPr lang="en-US" sz="2000" dirty="0">
                <a:solidFill>
                  <a:schemeClr val="tx1">
                    <a:alpha val="80000"/>
                  </a:schemeClr>
                </a:solidFill>
              </a:rPr>
              <a:t>:</a:t>
            </a:r>
          </a:p>
          <a:p>
            <a:pPr marL="742950" lvl="1" indent="-285750">
              <a:buFont typeface="+mj-lt"/>
              <a:buAutoNum type="arabicPeriod"/>
            </a:pPr>
            <a:r>
              <a:rPr lang="en-US" sz="2000" dirty="0">
                <a:solidFill>
                  <a:schemeClr val="tx1">
                    <a:alpha val="80000"/>
                  </a:schemeClr>
                </a:solidFill>
              </a:rPr>
              <a:t>Maintain a population of assignments and evolve them using selection, crossover, and mutation.</a:t>
            </a:r>
          </a:p>
          <a:p>
            <a:endParaRPr lang="en-US" sz="17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2693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94F57-8E1F-9321-2E15-81BA17C9E693}"/>
              </a:ext>
            </a:extLst>
          </p:cNvPr>
          <p:cNvSpPr>
            <a:spLocks noGrp="1"/>
          </p:cNvSpPr>
          <p:nvPr>
            <p:ph idx="1"/>
          </p:nvPr>
        </p:nvSpPr>
        <p:spPr>
          <a:xfrm>
            <a:off x="838200" y="410308"/>
            <a:ext cx="10515600" cy="5766655"/>
          </a:xfrm>
        </p:spPr>
        <p:txBody>
          <a:bodyPr/>
          <a:lstStyle/>
          <a:p>
            <a:endParaRPr lang="en-GB" dirty="0"/>
          </a:p>
          <a:p>
            <a:endParaRPr lang="en-GB" dirty="0"/>
          </a:p>
          <a:p>
            <a:endParaRPr lang="en-GB" dirty="0"/>
          </a:p>
          <a:p>
            <a:endParaRPr lang="en-GB" dirty="0"/>
          </a:p>
          <a:p>
            <a:endParaRPr lang="en-GB" dirty="0"/>
          </a:p>
          <a:p>
            <a:pPr marL="0" indent="0" algn="ctr">
              <a:buNone/>
            </a:pPr>
            <a:r>
              <a:rPr lang="en-GB" sz="6600"/>
              <a:t>Questions?</a:t>
            </a:r>
            <a:endParaRPr lang="en-GB" sz="6600" dirty="0"/>
          </a:p>
        </p:txBody>
      </p:sp>
    </p:spTree>
    <p:extLst>
      <p:ext uri="{BB962C8B-B14F-4D97-AF65-F5344CB8AC3E}">
        <p14:creationId xmlns:p14="http://schemas.microsoft.com/office/powerpoint/2010/main" val="135066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598</TotalTime>
  <Words>1961</Words>
  <Application>Microsoft Office PowerPoint</Application>
  <PresentationFormat>Widescreen</PresentationFormat>
  <Paragraphs>645</Paragraphs>
  <Slides>32</Slides>
  <Notes>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32</vt:i4>
      </vt:variant>
    </vt:vector>
  </HeadingPairs>
  <TitlesOfParts>
    <vt:vector size="40" baseType="lpstr">
      <vt:lpstr>Aptos</vt:lpstr>
      <vt:lpstr>Aptos Display</vt:lpstr>
      <vt:lpstr>Arial</vt:lpstr>
      <vt:lpstr>Cambria Math</vt:lpstr>
      <vt:lpstr>Times New Roman</vt:lpstr>
      <vt:lpstr>Office Theme</vt:lpstr>
      <vt:lpstr>1_Office Theme</vt:lpstr>
      <vt:lpstr>2_Office Theme</vt:lpstr>
      <vt:lpstr>Artificial Intelligence CS-202</vt:lpstr>
      <vt:lpstr>Week-10 CLO’s</vt:lpstr>
      <vt:lpstr>CLO’s Mapping </vt:lpstr>
      <vt:lpstr>Constraint Satisfaction Problem (CSP)</vt:lpstr>
      <vt:lpstr>Introduction to CSP</vt:lpstr>
      <vt:lpstr>Components of CSP</vt:lpstr>
      <vt:lpstr>CSP as a Search Problem</vt:lpstr>
      <vt:lpstr>Components of CSP: Example</vt:lpstr>
      <vt:lpstr>CSP: Example</vt:lpstr>
      <vt:lpstr>Cryptarithmetic Problems</vt:lpstr>
      <vt:lpstr>Example: Cryptarithmetic</vt:lpstr>
      <vt:lpstr>Example: Cryptarithmetic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Local Search in CSP</vt:lpstr>
      <vt:lpstr>Constraint Satisfaction Problem (CSP)</vt:lpstr>
      <vt:lpstr>Local search in CSP</vt:lpstr>
      <vt:lpstr>How Local Search Works in CSP</vt:lpstr>
      <vt:lpstr>Example: Map Colouring Problem (How Local Search Works)</vt:lpstr>
      <vt:lpstr>Example: Map Colouring Problem (How Local Search Works)</vt:lpstr>
      <vt:lpstr>Common Local Search Algorithms for CSP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123</cp:revision>
  <dcterms:created xsi:type="dcterms:W3CDTF">2024-12-10T05:09:36Z</dcterms:created>
  <dcterms:modified xsi:type="dcterms:W3CDTF">2026-01-15T07:32:57Z</dcterms:modified>
</cp:coreProperties>
</file>