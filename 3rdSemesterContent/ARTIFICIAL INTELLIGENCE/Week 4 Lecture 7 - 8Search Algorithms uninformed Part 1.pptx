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825" r:id="rId2"/>
    <p:sldId id="789" r:id="rId3"/>
    <p:sldId id="859" r:id="rId4"/>
    <p:sldId id="819" r:id="rId5"/>
    <p:sldId id="829" r:id="rId6"/>
    <p:sldId id="831" r:id="rId7"/>
    <p:sldId id="832" r:id="rId8"/>
    <p:sldId id="838" r:id="rId9"/>
    <p:sldId id="840" r:id="rId10"/>
    <p:sldId id="841" r:id="rId11"/>
    <p:sldId id="830" r:id="rId12"/>
    <p:sldId id="833" r:id="rId13"/>
    <p:sldId id="835" r:id="rId14"/>
    <p:sldId id="836" r:id="rId15"/>
    <p:sldId id="860" r:id="rId16"/>
    <p:sldId id="837" r:id="rId17"/>
    <p:sldId id="844" r:id="rId18"/>
    <p:sldId id="845" r:id="rId19"/>
    <p:sldId id="846" r:id="rId20"/>
    <p:sldId id="847" r:id="rId21"/>
    <p:sldId id="848" r:id="rId22"/>
    <p:sldId id="849" r:id="rId23"/>
    <p:sldId id="850" r:id="rId24"/>
    <p:sldId id="855" r:id="rId25"/>
    <p:sldId id="856" r:id="rId26"/>
    <p:sldId id="858" r:id="rId27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458" autoAdjust="0"/>
  </p:normalViewPr>
  <p:slideViewPr>
    <p:cSldViewPr snapToGrid="0">
      <p:cViewPr varScale="1">
        <p:scale>
          <a:sx n="74" d="100"/>
          <a:sy n="74" d="100"/>
        </p:scale>
        <p:origin x="101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B301F5-07A3-4FE4-976C-CA4952C4C1A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03EBE85-61C3-4A8C-B096-20383EA35C46}">
      <dgm:prSet/>
      <dgm:spPr/>
      <dgm:t>
        <a:bodyPr/>
        <a:lstStyle/>
        <a:p>
          <a:r>
            <a:rPr lang="en-US" dirty="0"/>
            <a:t>This week lecture will cover the following CLO:</a:t>
          </a:r>
        </a:p>
      </dgm:t>
    </dgm:pt>
    <dgm:pt modelId="{CA4AA996-65FD-4B8F-BBE0-A906A9E5220E}" type="parTrans" cxnId="{BCEEB6D3-EFBE-4684-AF7C-3A02210BE3D9}">
      <dgm:prSet/>
      <dgm:spPr/>
      <dgm:t>
        <a:bodyPr/>
        <a:lstStyle/>
        <a:p>
          <a:endParaRPr lang="en-US"/>
        </a:p>
      </dgm:t>
    </dgm:pt>
    <dgm:pt modelId="{793489B5-9C5E-4E77-A6F3-2F6B2B3AEB5A}" type="sibTrans" cxnId="{BCEEB6D3-EFBE-4684-AF7C-3A02210BE3D9}">
      <dgm:prSet/>
      <dgm:spPr/>
      <dgm:t>
        <a:bodyPr/>
        <a:lstStyle/>
        <a:p>
          <a:endParaRPr lang="en-US"/>
        </a:p>
      </dgm:t>
    </dgm:pt>
    <dgm:pt modelId="{0F6BED61-37A6-4265-9765-7643A715CD2C}">
      <dgm:prSet/>
      <dgm:spPr/>
      <dgm:t>
        <a:bodyPr/>
        <a:lstStyle/>
        <a:p>
          <a:r>
            <a:rPr lang="en-US" b="1" dirty="0"/>
            <a:t>CLO 2: </a:t>
          </a:r>
          <a:r>
            <a:rPr lang="en-US" b="0" dirty="0"/>
            <a:t>. Implement artificial intelligence techniques and case studies</a:t>
          </a:r>
          <a:endParaRPr lang="en-US" dirty="0"/>
        </a:p>
      </dgm:t>
    </dgm:pt>
    <dgm:pt modelId="{CE80463D-0B4E-4616-A7D3-FCA563D7C095}" type="parTrans" cxnId="{D4C01C85-8389-4770-954C-640B9194FA32}">
      <dgm:prSet/>
      <dgm:spPr/>
      <dgm:t>
        <a:bodyPr/>
        <a:lstStyle/>
        <a:p>
          <a:endParaRPr lang="en-US"/>
        </a:p>
      </dgm:t>
    </dgm:pt>
    <dgm:pt modelId="{991B6CDF-473C-43F2-B07A-CB69C404667A}" type="sibTrans" cxnId="{D4C01C85-8389-4770-954C-640B9194FA32}">
      <dgm:prSet/>
      <dgm:spPr/>
      <dgm:t>
        <a:bodyPr/>
        <a:lstStyle/>
        <a:p>
          <a:endParaRPr lang="en-US"/>
        </a:p>
      </dgm:t>
    </dgm:pt>
    <dgm:pt modelId="{C59BC262-BD37-4485-B439-3083D6EF372F}">
      <dgm:prSet/>
      <dgm:spPr/>
      <dgm:t>
        <a:bodyPr/>
        <a:lstStyle/>
        <a:p>
          <a:endParaRPr lang="en-US" b="0" dirty="0"/>
        </a:p>
      </dgm:t>
    </dgm:pt>
    <dgm:pt modelId="{DDF82B5B-5580-4D82-A915-A70C1FBA9D9A}" type="parTrans" cxnId="{E8B1282A-40A4-4A22-A67F-9335DC9F17A2}">
      <dgm:prSet/>
      <dgm:spPr/>
      <dgm:t>
        <a:bodyPr/>
        <a:lstStyle/>
        <a:p>
          <a:endParaRPr lang="en-US"/>
        </a:p>
      </dgm:t>
    </dgm:pt>
    <dgm:pt modelId="{10DE0190-54F1-4E62-965E-550AB9DF0C7B}" type="sibTrans" cxnId="{E8B1282A-40A4-4A22-A67F-9335DC9F17A2}">
      <dgm:prSet/>
      <dgm:spPr/>
      <dgm:t>
        <a:bodyPr/>
        <a:lstStyle/>
        <a:p>
          <a:endParaRPr lang="en-US"/>
        </a:p>
      </dgm:t>
    </dgm:pt>
    <dgm:pt modelId="{1E8486E2-0691-4247-B9C3-FCB6AD71DA77}" type="pres">
      <dgm:prSet presAssocID="{87B301F5-07A3-4FE4-976C-CA4952C4C1A1}" presName="linear" presStyleCnt="0">
        <dgm:presLayoutVars>
          <dgm:animLvl val="lvl"/>
          <dgm:resizeHandles val="exact"/>
        </dgm:presLayoutVars>
      </dgm:prSet>
      <dgm:spPr/>
    </dgm:pt>
    <dgm:pt modelId="{CBC7B95D-FC8B-44BC-816F-8FC732EF125D}" type="pres">
      <dgm:prSet presAssocID="{003EBE85-61C3-4A8C-B096-20383EA35C46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A025C2BC-3DF5-4B12-A043-E15E948A1F98}" type="pres">
      <dgm:prSet presAssocID="{003EBE85-61C3-4A8C-B096-20383EA35C46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E8B1282A-40A4-4A22-A67F-9335DC9F17A2}" srcId="{003EBE85-61C3-4A8C-B096-20383EA35C46}" destId="{C59BC262-BD37-4485-B439-3083D6EF372F}" srcOrd="1" destOrd="0" parTransId="{DDF82B5B-5580-4D82-A915-A70C1FBA9D9A}" sibTransId="{10DE0190-54F1-4E62-965E-550AB9DF0C7B}"/>
    <dgm:cxn modelId="{0BF05139-1E12-4DCD-98EF-7B0DABA33B58}" type="presOf" srcId="{87B301F5-07A3-4FE4-976C-CA4952C4C1A1}" destId="{1E8486E2-0691-4247-B9C3-FCB6AD71DA77}" srcOrd="0" destOrd="0" presId="urn:microsoft.com/office/officeart/2005/8/layout/vList2"/>
    <dgm:cxn modelId="{F6F4E43C-9CB5-4911-A20A-B55E9CCF2C4F}" type="presOf" srcId="{003EBE85-61C3-4A8C-B096-20383EA35C46}" destId="{CBC7B95D-FC8B-44BC-816F-8FC732EF125D}" srcOrd="0" destOrd="0" presId="urn:microsoft.com/office/officeart/2005/8/layout/vList2"/>
    <dgm:cxn modelId="{D4C01C85-8389-4770-954C-640B9194FA32}" srcId="{003EBE85-61C3-4A8C-B096-20383EA35C46}" destId="{0F6BED61-37A6-4265-9765-7643A715CD2C}" srcOrd="0" destOrd="0" parTransId="{CE80463D-0B4E-4616-A7D3-FCA563D7C095}" sibTransId="{991B6CDF-473C-43F2-B07A-CB69C404667A}"/>
    <dgm:cxn modelId="{8F12479A-C069-4E0A-BB1E-B76D7E4A0CF5}" type="presOf" srcId="{0F6BED61-37A6-4265-9765-7643A715CD2C}" destId="{A025C2BC-3DF5-4B12-A043-E15E948A1F98}" srcOrd="0" destOrd="0" presId="urn:microsoft.com/office/officeart/2005/8/layout/vList2"/>
    <dgm:cxn modelId="{B4AACACA-FE0B-4E34-9341-DBB0CE059C39}" type="presOf" srcId="{C59BC262-BD37-4485-B439-3083D6EF372F}" destId="{A025C2BC-3DF5-4B12-A043-E15E948A1F98}" srcOrd="0" destOrd="1" presId="urn:microsoft.com/office/officeart/2005/8/layout/vList2"/>
    <dgm:cxn modelId="{BCEEB6D3-EFBE-4684-AF7C-3A02210BE3D9}" srcId="{87B301F5-07A3-4FE4-976C-CA4952C4C1A1}" destId="{003EBE85-61C3-4A8C-B096-20383EA35C46}" srcOrd="0" destOrd="0" parTransId="{CA4AA996-65FD-4B8F-BBE0-A906A9E5220E}" sibTransId="{793489B5-9C5E-4E77-A6F3-2F6B2B3AEB5A}"/>
    <dgm:cxn modelId="{2897C92D-7832-425B-A7AE-4DE3AFB3DBD0}" type="presParOf" srcId="{1E8486E2-0691-4247-B9C3-FCB6AD71DA77}" destId="{CBC7B95D-FC8B-44BC-816F-8FC732EF125D}" srcOrd="0" destOrd="0" presId="urn:microsoft.com/office/officeart/2005/8/layout/vList2"/>
    <dgm:cxn modelId="{C49B8052-8CF3-4FDC-B7CA-CCA691C86E81}" type="presParOf" srcId="{1E8486E2-0691-4247-B9C3-FCB6AD71DA77}" destId="{A025C2BC-3DF5-4B12-A043-E15E948A1F98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562D312-A2D9-4D5F-97E3-9B77557C21E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0A68016-F0E9-4C0D-9A17-3C0AD575F87F}">
      <dgm:prSet/>
      <dgm:spPr/>
      <dgm:t>
        <a:bodyPr/>
        <a:lstStyle/>
        <a:p>
          <a:r>
            <a:rPr lang="en-GB"/>
            <a:t>We are given a graph G and a depth limit 'l'. Depth Limited Search is carried out in the following way:</a:t>
          </a:r>
          <a:endParaRPr lang="en-US"/>
        </a:p>
      </dgm:t>
    </dgm:pt>
    <dgm:pt modelId="{21BBC16F-615F-4E09-8300-10FB3327C48B}" type="parTrans" cxnId="{212A551A-BAB6-4841-8E9C-A552B12580ED}">
      <dgm:prSet/>
      <dgm:spPr/>
      <dgm:t>
        <a:bodyPr/>
        <a:lstStyle/>
        <a:p>
          <a:endParaRPr lang="en-US"/>
        </a:p>
      </dgm:t>
    </dgm:pt>
    <dgm:pt modelId="{C74873CA-DFD2-41B9-8FC6-B5CA5EF7BD3D}" type="sibTrans" cxnId="{212A551A-BAB6-4841-8E9C-A552B12580ED}">
      <dgm:prSet/>
      <dgm:spPr/>
      <dgm:t>
        <a:bodyPr/>
        <a:lstStyle/>
        <a:p>
          <a:endParaRPr lang="en-US"/>
        </a:p>
      </dgm:t>
    </dgm:pt>
    <dgm:pt modelId="{60827A84-D707-4608-89C5-625EC4331FD5}">
      <dgm:prSet/>
      <dgm:spPr/>
      <dgm:t>
        <a:bodyPr/>
        <a:lstStyle/>
        <a:p>
          <a:r>
            <a:rPr lang="en-GB"/>
            <a:t>Set STATUS=1(ready) for each of the given nodes in graph G.</a:t>
          </a:r>
          <a:endParaRPr lang="en-US"/>
        </a:p>
      </dgm:t>
    </dgm:pt>
    <dgm:pt modelId="{07509817-172C-4D90-B28B-B2C7DD798D06}" type="parTrans" cxnId="{5DF3305C-B3F0-4C75-9248-2417D349D544}">
      <dgm:prSet/>
      <dgm:spPr/>
      <dgm:t>
        <a:bodyPr/>
        <a:lstStyle/>
        <a:p>
          <a:endParaRPr lang="en-US"/>
        </a:p>
      </dgm:t>
    </dgm:pt>
    <dgm:pt modelId="{F350D90D-5B70-4ED5-8DC3-68F360A9845D}" type="sibTrans" cxnId="{5DF3305C-B3F0-4C75-9248-2417D349D544}">
      <dgm:prSet/>
      <dgm:spPr/>
      <dgm:t>
        <a:bodyPr/>
        <a:lstStyle/>
        <a:p>
          <a:endParaRPr lang="en-US"/>
        </a:p>
      </dgm:t>
    </dgm:pt>
    <dgm:pt modelId="{5353A99D-8D03-49FC-BB44-41A9CCE89371}">
      <dgm:prSet/>
      <dgm:spPr/>
      <dgm:t>
        <a:bodyPr/>
        <a:lstStyle/>
        <a:p>
          <a:r>
            <a:rPr lang="en-GB"/>
            <a:t>Push the Source node or the Starting node onto the stack and set its STATUS=2(waiting).</a:t>
          </a:r>
          <a:endParaRPr lang="en-US"/>
        </a:p>
      </dgm:t>
    </dgm:pt>
    <dgm:pt modelId="{429FCB0A-E934-47EB-8196-5582731E746C}" type="parTrans" cxnId="{F9378B86-CF90-47DD-82D4-5BB5FFF2BA4B}">
      <dgm:prSet/>
      <dgm:spPr/>
      <dgm:t>
        <a:bodyPr/>
        <a:lstStyle/>
        <a:p>
          <a:endParaRPr lang="en-US"/>
        </a:p>
      </dgm:t>
    </dgm:pt>
    <dgm:pt modelId="{0657FBC7-4AC5-4CAF-9ECE-401DDCAD90AA}" type="sibTrans" cxnId="{F9378B86-CF90-47DD-82D4-5BB5FFF2BA4B}">
      <dgm:prSet/>
      <dgm:spPr/>
      <dgm:t>
        <a:bodyPr/>
        <a:lstStyle/>
        <a:p>
          <a:endParaRPr lang="en-US"/>
        </a:p>
      </dgm:t>
    </dgm:pt>
    <dgm:pt modelId="{51B3A13B-2EDC-43E8-B955-5F390F622FE4}">
      <dgm:prSet/>
      <dgm:spPr/>
      <dgm:t>
        <a:bodyPr/>
        <a:lstStyle/>
        <a:p>
          <a:r>
            <a:rPr lang="en-GB"/>
            <a:t>Repeat steps 4 to 5 until the stack is empty or the goal node has been reached.</a:t>
          </a:r>
          <a:endParaRPr lang="en-US"/>
        </a:p>
      </dgm:t>
    </dgm:pt>
    <dgm:pt modelId="{1E194018-46B5-4D47-A751-3B155DD36F08}" type="parTrans" cxnId="{B4C58D19-146A-41DC-8989-B266049D8C41}">
      <dgm:prSet/>
      <dgm:spPr/>
      <dgm:t>
        <a:bodyPr/>
        <a:lstStyle/>
        <a:p>
          <a:endParaRPr lang="en-US"/>
        </a:p>
      </dgm:t>
    </dgm:pt>
    <dgm:pt modelId="{E02DB432-128A-4CE1-800E-CDE7F0DA7039}" type="sibTrans" cxnId="{B4C58D19-146A-41DC-8989-B266049D8C41}">
      <dgm:prSet/>
      <dgm:spPr/>
      <dgm:t>
        <a:bodyPr/>
        <a:lstStyle/>
        <a:p>
          <a:endParaRPr lang="en-US"/>
        </a:p>
      </dgm:t>
    </dgm:pt>
    <dgm:pt modelId="{B1AFA449-694A-48AF-9E7E-E4423D6AF0E2}">
      <dgm:prSet/>
      <dgm:spPr/>
      <dgm:t>
        <a:bodyPr/>
        <a:lstStyle/>
        <a:p>
          <a:r>
            <a:rPr lang="en-GB"/>
            <a:t>Pop the top node T of the stack and set its STATUS=3(visited).</a:t>
          </a:r>
          <a:endParaRPr lang="en-US"/>
        </a:p>
      </dgm:t>
    </dgm:pt>
    <dgm:pt modelId="{8644D63F-D396-4E51-AFF9-99BB441218D1}" type="parTrans" cxnId="{16F5DF05-7452-48DD-BF0A-AA0C54469B96}">
      <dgm:prSet/>
      <dgm:spPr/>
      <dgm:t>
        <a:bodyPr/>
        <a:lstStyle/>
        <a:p>
          <a:endParaRPr lang="en-US"/>
        </a:p>
      </dgm:t>
    </dgm:pt>
    <dgm:pt modelId="{B72E62A7-9855-4779-9D80-8906E556C2B8}" type="sibTrans" cxnId="{16F5DF05-7452-48DD-BF0A-AA0C54469B96}">
      <dgm:prSet/>
      <dgm:spPr/>
      <dgm:t>
        <a:bodyPr/>
        <a:lstStyle/>
        <a:p>
          <a:endParaRPr lang="en-US"/>
        </a:p>
      </dgm:t>
    </dgm:pt>
    <dgm:pt modelId="{356F9DE7-97AE-4058-B1DD-8A7241A798DF}">
      <dgm:prSet/>
      <dgm:spPr/>
      <dgm:t>
        <a:bodyPr/>
        <a:lstStyle/>
        <a:p>
          <a:r>
            <a:rPr lang="en-GB"/>
            <a:t>Push all the neighbours of node T onto the stack in the ready state (STATUS=1) and with a depth less than or equal to depth limit 'l' and set their STATUS=2(waiting). </a:t>
          </a:r>
          <a:r>
            <a:rPr lang="en-GB" b="1"/>
            <a:t>(END OF LOOP)</a:t>
          </a:r>
          <a:endParaRPr lang="en-US"/>
        </a:p>
      </dgm:t>
    </dgm:pt>
    <dgm:pt modelId="{87D629EA-CA78-4A34-A7A9-19BEEB73EC9F}" type="parTrans" cxnId="{B522CAD9-E862-49E1-B6A4-016248B2B5E2}">
      <dgm:prSet/>
      <dgm:spPr/>
      <dgm:t>
        <a:bodyPr/>
        <a:lstStyle/>
        <a:p>
          <a:endParaRPr lang="en-US"/>
        </a:p>
      </dgm:t>
    </dgm:pt>
    <dgm:pt modelId="{7A4D773F-FE0B-4568-84C8-D3736FE7DA16}" type="sibTrans" cxnId="{B522CAD9-E862-49E1-B6A4-016248B2B5E2}">
      <dgm:prSet/>
      <dgm:spPr/>
      <dgm:t>
        <a:bodyPr/>
        <a:lstStyle/>
        <a:p>
          <a:endParaRPr lang="en-US"/>
        </a:p>
      </dgm:t>
    </dgm:pt>
    <dgm:pt modelId="{CA35456A-7332-4970-9468-49FF6AA9B9AD}">
      <dgm:prSet/>
      <dgm:spPr/>
      <dgm:t>
        <a:bodyPr/>
        <a:lstStyle/>
        <a:p>
          <a:r>
            <a:rPr lang="en-GB"/>
            <a:t>END</a:t>
          </a:r>
          <a:endParaRPr lang="en-US"/>
        </a:p>
      </dgm:t>
    </dgm:pt>
    <dgm:pt modelId="{12CEC250-15D9-485D-8E49-49A5718E18A1}" type="parTrans" cxnId="{BE182224-FEFA-422B-9978-2B136E8E4103}">
      <dgm:prSet/>
      <dgm:spPr/>
      <dgm:t>
        <a:bodyPr/>
        <a:lstStyle/>
        <a:p>
          <a:endParaRPr lang="en-US"/>
        </a:p>
      </dgm:t>
    </dgm:pt>
    <dgm:pt modelId="{F3776F3F-2928-4885-ACF3-F469675C8AC8}" type="sibTrans" cxnId="{BE182224-FEFA-422B-9978-2B136E8E4103}">
      <dgm:prSet/>
      <dgm:spPr/>
      <dgm:t>
        <a:bodyPr/>
        <a:lstStyle/>
        <a:p>
          <a:endParaRPr lang="en-US"/>
        </a:p>
      </dgm:t>
    </dgm:pt>
    <dgm:pt modelId="{1C635A0D-D53A-4EB0-AE29-D385F40071E3}" type="pres">
      <dgm:prSet presAssocID="{9562D312-A2D9-4D5F-97E3-9B77557C21E3}" presName="linear" presStyleCnt="0">
        <dgm:presLayoutVars>
          <dgm:animLvl val="lvl"/>
          <dgm:resizeHandles val="exact"/>
        </dgm:presLayoutVars>
      </dgm:prSet>
      <dgm:spPr/>
    </dgm:pt>
    <dgm:pt modelId="{30D4F8CF-7FBE-424D-AC03-46D42CCC1309}" type="pres">
      <dgm:prSet presAssocID="{E0A68016-F0E9-4C0D-9A17-3C0AD575F87F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B86E922-21FB-4116-822D-6FE714C4C675}" type="pres">
      <dgm:prSet presAssocID="{E0A68016-F0E9-4C0D-9A17-3C0AD575F87F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16F5DF05-7452-48DD-BF0A-AA0C54469B96}" srcId="{E0A68016-F0E9-4C0D-9A17-3C0AD575F87F}" destId="{B1AFA449-694A-48AF-9E7E-E4423D6AF0E2}" srcOrd="3" destOrd="0" parTransId="{8644D63F-D396-4E51-AFF9-99BB441218D1}" sibTransId="{B72E62A7-9855-4779-9D80-8906E556C2B8}"/>
    <dgm:cxn modelId="{47FFCC06-E3D1-4537-AAA9-63D2D04C5E6E}" type="presOf" srcId="{9562D312-A2D9-4D5F-97E3-9B77557C21E3}" destId="{1C635A0D-D53A-4EB0-AE29-D385F40071E3}" srcOrd="0" destOrd="0" presId="urn:microsoft.com/office/officeart/2005/8/layout/vList2"/>
    <dgm:cxn modelId="{B4C58D19-146A-41DC-8989-B266049D8C41}" srcId="{E0A68016-F0E9-4C0D-9A17-3C0AD575F87F}" destId="{51B3A13B-2EDC-43E8-B955-5F390F622FE4}" srcOrd="2" destOrd="0" parTransId="{1E194018-46B5-4D47-A751-3B155DD36F08}" sibTransId="{E02DB432-128A-4CE1-800E-CDE7F0DA7039}"/>
    <dgm:cxn modelId="{212A551A-BAB6-4841-8E9C-A552B12580ED}" srcId="{9562D312-A2D9-4D5F-97E3-9B77557C21E3}" destId="{E0A68016-F0E9-4C0D-9A17-3C0AD575F87F}" srcOrd="0" destOrd="0" parTransId="{21BBC16F-615F-4E09-8300-10FB3327C48B}" sibTransId="{C74873CA-DFD2-41B9-8FC6-B5CA5EF7BD3D}"/>
    <dgm:cxn modelId="{F7EA9120-DD7C-411A-AEC8-81DBB5D6C581}" type="presOf" srcId="{E0A68016-F0E9-4C0D-9A17-3C0AD575F87F}" destId="{30D4F8CF-7FBE-424D-AC03-46D42CCC1309}" srcOrd="0" destOrd="0" presId="urn:microsoft.com/office/officeart/2005/8/layout/vList2"/>
    <dgm:cxn modelId="{BE182224-FEFA-422B-9978-2B136E8E4103}" srcId="{E0A68016-F0E9-4C0D-9A17-3C0AD575F87F}" destId="{CA35456A-7332-4970-9468-49FF6AA9B9AD}" srcOrd="5" destOrd="0" parTransId="{12CEC250-15D9-485D-8E49-49A5718E18A1}" sibTransId="{F3776F3F-2928-4885-ACF3-F469675C8AC8}"/>
    <dgm:cxn modelId="{5DF3305C-B3F0-4C75-9248-2417D349D544}" srcId="{E0A68016-F0E9-4C0D-9A17-3C0AD575F87F}" destId="{60827A84-D707-4608-89C5-625EC4331FD5}" srcOrd="0" destOrd="0" parTransId="{07509817-172C-4D90-B28B-B2C7DD798D06}" sibTransId="{F350D90D-5B70-4ED5-8DC3-68F360A9845D}"/>
    <dgm:cxn modelId="{F9378B86-CF90-47DD-82D4-5BB5FFF2BA4B}" srcId="{E0A68016-F0E9-4C0D-9A17-3C0AD575F87F}" destId="{5353A99D-8D03-49FC-BB44-41A9CCE89371}" srcOrd="1" destOrd="0" parTransId="{429FCB0A-E934-47EB-8196-5582731E746C}" sibTransId="{0657FBC7-4AC5-4CAF-9ECE-401DDCAD90AA}"/>
    <dgm:cxn modelId="{22A8E186-C2C9-4D96-AFAA-2167FF3654E4}" type="presOf" srcId="{B1AFA449-694A-48AF-9E7E-E4423D6AF0E2}" destId="{1B86E922-21FB-4116-822D-6FE714C4C675}" srcOrd="0" destOrd="3" presId="urn:microsoft.com/office/officeart/2005/8/layout/vList2"/>
    <dgm:cxn modelId="{0E4A1992-6200-42F3-8F61-19EFDF030A37}" type="presOf" srcId="{5353A99D-8D03-49FC-BB44-41A9CCE89371}" destId="{1B86E922-21FB-4116-822D-6FE714C4C675}" srcOrd="0" destOrd="1" presId="urn:microsoft.com/office/officeart/2005/8/layout/vList2"/>
    <dgm:cxn modelId="{E98D2A99-CAB9-4C71-B6A9-451654A42D24}" type="presOf" srcId="{356F9DE7-97AE-4058-B1DD-8A7241A798DF}" destId="{1B86E922-21FB-4116-822D-6FE714C4C675}" srcOrd="0" destOrd="4" presId="urn:microsoft.com/office/officeart/2005/8/layout/vList2"/>
    <dgm:cxn modelId="{B522CAD9-E862-49E1-B6A4-016248B2B5E2}" srcId="{E0A68016-F0E9-4C0D-9A17-3C0AD575F87F}" destId="{356F9DE7-97AE-4058-B1DD-8A7241A798DF}" srcOrd="4" destOrd="0" parTransId="{87D629EA-CA78-4A34-A7A9-19BEEB73EC9F}" sibTransId="{7A4D773F-FE0B-4568-84C8-D3736FE7DA16}"/>
    <dgm:cxn modelId="{4C26C0F4-26AF-4770-B861-45A41DA5D44B}" type="presOf" srcId="{CA35456A-7332-4970-9468-49FF6AA9B9AD}" destId="{1B86E922-21FB-4116-822D-6FE714C4C675}" srcOrd="0" destOrd="5" presId="urn:microsoft.com/office/officeart/2005/8/layout/vList2"/>
    <dgm:cxn modelId="{9E91E2F8-D9A4-41EA-A0BE-A496F67D555C}" type="presOf" srcId="{60827A84-D707-4608-89C5-625EC4331FD5}" destId="{1B86E922-21FB-4116-822D-6FE714C4C675}" srcOrd="0" destOrd="0" presId="urn:microsoft.com/office/officeart/2005/8/layout/vList2"/>
    <dgm:cxn modelId="{9D47ABFA-E084-41D7-9C02-D5B29318B866}" type="presOf" srcId="{51B3A13B-2EDC-43E8-B955-5F390F622FE4}" destId="{1B86E922-21FB-4116-822D-6FE714C4C675}" srcOrd="0" destOrd="2" presId="urn:microsoft.com/office/officeart/2005/8/layout/vList2"/>
    <dgm:cxn modelId="{5C5CB99C-B340-412B-968B-0084800CBBD3}" type="presParOf" srcId="{1C635A0D-D53A-4EB0-AE29-D385F40071E3}" destId="{30D4F8CF-7FBE-424D-AC03-46D42CCC1309}" srcOrd="0" destOrd="0" presId="urn:microsoft.com/office/officeart/2005/8/layout/vList2"/>
    <dgm:cxn modelId="{0405D1FA-85E3-4726-8F47-9EBB30322255}" type="presParOf" srcId="{1C635A0D-D53A-4EB0-AE29-D385F40071E3}" destId="{1B86E922-21FB-4116-822D-6FE714C4C67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C7B95D-FC8B-44BC-816F-8FC732EF125D}">
      <dsp:nvSpPr>
        <dsp:cNvPr id="0" name=""/>
        <dsp:cNvSpPr/>
      </dsp:nvSpPr>
      <dsp:spPr>
        <a:xfrm>
          <a:off x="0" y="291592"/>
          <a:ext cx="5918184" cy="230957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This week lecture will cover the following CLO:</a:t>
          </a:r>
        </a:p>
      </dsp:txBody>
      <dsp:txXfrm>
        <a:off x="112744" y="404336"/>
        <a:ext cx="5692696" cy="2084091"/>
      </dsp:txXfrm>
    </dsp:sp>
    <dsp:sp modelId="{A025C2BC-3DF5-4B12-A043-E15E948A1F98}">
      <dsp:nvSpPr>
        <dsp:cNvPr id="0" name=""/>
        <dsp:cNvSpPr/>
      </dsp:nvSpPr>
      <dsp:spPr>
        <a:xfrm>
          <a:off x="0" y="2601172"/>
          <a:ext cx="5918184" cy="2086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902" tIns="53340" rIns="298704" bIns="53340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300" b="1" kern="1200" dirty="0"/>
            <a:t>CLO 2: </a:t>
          </a:r>
          <a:r>
            <a:rPr lang="en-US" sz="3300" b="0" kern="1200" dirty="0"/>
            <a:t>. Implement artificial intelligence techniques and case studies</a:t>
          </a:r>
          <a:endParaRPr lang="en-US" sz="3300" kern="1200" dirty="0"/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3300" b="0" kern="1200" dirty="0"/>
        </a:p>
      </dsp:txBody>
      <dsp:txXfrm>
        <a:off x="0" y="2601172"/>
        <a:ext cx="5918184" cy="20865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D4F8CF-7FBE-424D-AC03-46D42CCC1309}">
      <dsp:nvSpPr>
        <dsp:cNvPr id="0" name=""/>
        <dsp:cNvSpPr/>
      </dsp:nvSpPr>
      <dsp:spPr>
        <a:xfrm>
          <a:off x="0" y="24849"/>
          <a:ext cx="10515600" cy="1113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We are given a graph G and a depth limit 'l'. Depth Limited Search is carried out in the following way:</a:t>
          </a:r>
          <a:endParaRPr lang="en-US" sz="2800" kern="1200"/>
        </a:p>
      </dsp:txBody>
      <dsp:txXfrm>
        <a:off x="54373" y="79222"/>
        <a:ext cx="10406854" cy="1005094"/>
      </dsp:txXfrm>
    </dsp:sp>
    <dsp:sp modelId="{1B86E922-21FB-4116-822D-6FE714C4C675}">
      <dsp:nvSpPr>
        <dsp:cNvPr id="0" name=""/>
        <dsp:cNvSpPr/>
      </dsp:nvSpPr>
      <dsp:spPr>
        <a:xfrm>
          <a:off x="0" y="1138689"/>
          <a:ext cx="10515600" cy="3187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200" kern="1200"/>
            <a:t>Set STATUS=1(ready) for each of the given nodes in graph G.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200" kern="1200"/>
            <a:t>Push the Source node or the Starting node onto the stack and set its STATUS=2(waiting).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200" kern="1200"/>
            <a:t>Repeat steps 4 to 5 until the stack is empty or the goal node has been reached.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200" kern="1200"/>
            <a:t>Pop the top node T of the stack and set its STATUS=3(visited).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200" kern="1200"/>
            <a:t>Push all the neighbours of node T onto the stack in the ready state (STATUS=1) and with a depth less than or equal to depth limit 'l' and set their STATUS=2(waiting). </a:t>
          </a:r>
          <a:r>
            <a:rPr lang="en-GB" sz="2200" b="1" kern="1200"/>
            <a:t>(END OF LOOP)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200" kern="1200"/>
            <a:t>END</a:t>
          </a:r>
          <a:endParaRPr lang="en-US" sz="2200" kern="1200"/>
        </a:p>
      </dsp:txBody>
      <dsp:txXfrm>
        <a:off x="0" y="1138689"/>
        <a:ext cx="10515600" cy="3187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207986-D4E9-4F20-BDDF-A86C85BB79C3}" type="datetimeFigureOut">
              <a:rPr lang="en-PK" smtClean="0"/>
              <a:t>11/19/2025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770C78-D1E4-43B4-9084-D5891F6FAD7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37802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770C78-D1E4-43B4-9084-D5891F6FAD77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86145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770C78-D1E4-43B4-9084-D5891F6FAD77}" type="slidenum">
              <a:rPr lang="en-PK" smtClean="0"/>
              <a:t>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93794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770C78-D1E4-43B4-9084-D5891F6FAD77}" type="slidenum">
              <a:rPr kumimoji="0" lang="en-P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P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6488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770C78-D1E4-43B4-9084-D5891F6FAD77}" type="slidenum">
              <a:rPr kumimoji="0" lang="en-P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P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4632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FF4AC-2F0D-32BA-29E1-C20675F9B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57BDBE-5531-F595-2666-E56A52C974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1EE559-AF99-3EE5-9833-9898729ED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78E07E-B76D-60F5-75FA-5B11AED56D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770C78-D1E4-43B4-9084-D5891F6FAD77}" type="slidenum">
              <a:rPr kumimoji="0" lang="en-P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P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5726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5522E-07C0-0D50-9DDC-90476CDB9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F2ABD1-F549-34C1-97B7-A05A9C686D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8A8E3A-D133-7A4D-ACB4-D559A22D9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9F27C-298F-EC9A-46B8-F0D35A3F95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770C78-D1E4-43B4-9084-D5891F6FAD77}" type="slidenum">
              <a:rPr kumimoji="0" lang="en-P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P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17366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770C78-D1E4-43B4-9084-D5891F6FAD77}" type="slidenum">
              <a:rPr kumimoji="0" lang="en-P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P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11753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770C78-D1E4-43B4-9084-D5891F6FAD77}" type="slidenum">
              <a:rPr kumimoji="0" lang="en-P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P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29206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B95D7-EAAD-4610-C8D0-C4F0E2B38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5BB574-EE7C-3482-680F-F5F89B559F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117062-704A-E2FB-F40B-2B13DDDD9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DB8E4-41C0-DAF6-BFD1-9B126E55A8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770C78-D1E4-43B4-9084-D5891F6FAD77}" type="slidenum">
              <a:rPr kumimoji="0" lang="en-P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P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74163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CB217-DE1D-E0C2-5FD5-D0EF440F6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88954A-8991-269E-0713-8BBB2E0E05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3B8BAE-9B14-3CC3-C79A-FAD7D2D2C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71932-AEB3-5386-1FAE-B16A979267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770C78-D1E4-43B4-9084-D5891F6FAD77}" type="slidenum">
              <a:rPr kumimoji="0" lang="en-P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P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21527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134F6-1BA0-1416-FFE0-A0F4840D0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0C3408-9BD6-BB1B-7208-0EDB39A466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ED54C2-0A19-3122-5587-FDEDF6C458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8F59B-29E6-73F1-3643-D6EF1EA0DC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770C78-D1E4-43B4-9084-D5891F6FAD77}" type="slidenum">
              <a:rPr kumimoji="0" lang="en-P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P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40189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770C78-D1E4-43B4-9084-D5891F6FAD77}" type="slidenum">
              <a:rPr kumimoji="0" lang="en-P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P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5073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53720-3816-381E-EB06-FB553BB258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09A3BF-9B33-DBA2-7E40-BA8D755432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9BF09-C8C7-FEBB-73F7-946D69069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422B-D56B-48A6-BE4D-0AAC7D67A4F0}" type="datetimeFigureOut">
              <a:rPr lang="en-PK" smtClean="0"/>
              <a:t>11/19/2025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52A2D-B611-36A4-1555-70458F8A4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148D1-A7D7-FCDA-0382-278EF7CCC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90105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10FBD-5708-B085-7163-E9B8F55B5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CFDE-AF79-6214-4E80-4629A7157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06B77-41C4-B60D-171B-4127A106D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422B-D56B-48A6-BE4D-0AAC7D67A4F0}" type="datetimeFigureOut">
              <a:rPr lang="en-PK" smtClean="0"/>
              <a:t>11/19/2025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12C56-0D12-81DD-F88C-B3DF7C191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B8C87-E64E-2CF6-F59F-342614509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54302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C20F4-56B4-ED58-3666-E30DB62F5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DD55C-3A71-9766-7BE1-256FF8320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34CCA-0EC2-8307-6A0E-B2DE70E45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422B-D56B-48A6-BE4D-0AAC7D67A4F0}" type="datetimeFigureOut">
              <a:rPr lang="en-PK" smtClean="0"/>
              <a:t>11/19/2025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B5AD0-2406-4741-9B27-130E3F62C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28277-6902-C86D-48CA-4EF489EEF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85360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8B771-A201-CABE-C531-1DEEA3F6C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12095-55BE-312A-0541-980C275F6B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BF5121-B39D-77AE-FDA8-79EB39DCD8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3E837C-E895-AB1D-35B1-D86D86CAD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422B-D56B-48A6-BE4D-0AAC7D67A4F0}" type="datetimeFigureOut">
              <a:rPr lang="en-PK" smtClean="0"/>
              <a:t>11/19/2025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2D6123-FDDB-E74B-B67B-3B7436A58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34099A-D6CD-7317-CE16-5B189A67A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08366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B40B2-2987-4772-A133-4D54679C7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68140-1825-DBB1-561C-E023ED6AE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96F8CF-4A87-97A7-E51E-E57DA829B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DC6A12-68C0-50BD-32DF-9162AAC03A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28C1AD-FE87-70BE-AE5A-60BA867E35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C61F5D-B757-4D74-9774-E02C64EC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422B-D56B-48A6-BE4D-0AAC7D67A4F0}" type="datetimeFigureOut">
              <a:rPr lang="en-PK" smtClean="0"/>
              <a:t>11/19/2025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5577DB-660B-4D6D-1ABD-CD10BED54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59736A-5F3E-FF09-F99B-AD539ED8E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31995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34501-7D1D-32DF-175C-23D723FA3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C3BAA-C826-94A1-99A7-35E780AE0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422B-D56B-48A6-BE4D-0AAC7D67A4F0}" type="datetimeFigureOut">
              <a:rPr lang="en-PK" smtClean="0"/>
              <a:t>11/19/2025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81178B-4DCB-1221-F1E4-F1E1BB12B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4CF76B-5981-48D4-1508-AC4C69CF3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91590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672966-C101-DBA0-31A6-0DEDED54D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422B-D56B-48A6-BE4D-0AAC7D67A4F0}" type="datetimeFigureOut">
              <a:rPr lang="en-PK" smtClean="0"/>
              <a:t>11/19/2025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E2644B-ACC8-BACF-D571-05B35854E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988BF-9305-AA0B-6DC3-C0ABE5ECA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40974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FE64C-50F1-B827-5189-582FAD926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9AB93-9C36-D887-5560-612DD4D03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BB17D3-FD48-BFB0-34D1-FF569AAE2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79BE8-7490-2442-C273-BD66D16FC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422B-D56B-48A6-BE4D-0AAC7D67A4F0}" type="datetimeFigureOut">
              <a:rPr lang="en-PK" smtClean="0"/>
              <a:t>11/19/2025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D5BC4B-BA90-7AD7-16B6-69BDF8769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A8F57-9EAE-C269-11A8-B5A74CDE6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30029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80BEE-A111-9AA1-C4B8-12E07D7C8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4BFE80-195D-9F83-E5BD-060B5AA088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4A238C-BD32-C671-142B-4FE5368F5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4E100-6E96-3ED0-92D2-1900C5852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422B-D56B-48A6-BE4D-0AAC7D67A4F0}" type="datetimeFigureOut">
              <a:rPr lang="en-PK" smtClean="0"/>
              <a:t>11/19/2025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F1DA5-7BB0-0309-3E65-44DDEF314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BCBEC1-69B8-F2EB-CAFA-5A294439A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02028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CBA61-3CE4-676D-E6E6-A0F3A45D8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BE53C3-DEB7-D4D6-59C2-76D2BCA23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C23A6-4DEE-2B0F-F9E8-AF8E0897C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422B-D56B-48A6-BE4D-0AAC7D67A4F0}" type="datetimeFigureOut">
              <a:rPr lang="en-PK" smtClean="0"/>
              <a:t>11/19/2025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BC7B1-D071-396D-DD27-D6F3B7A2F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EEB43-9506-19FD-C9B4-95B5C0754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05068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F5FC5C-5F00-9053-F0A9-CBBC1DB3BC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D03B86-E126-76D5-C128-6EBFBA70C2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410F2-965D-9F7B-B99A-D14566919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422B-D56B-48A6-BE4D-0AAC7D67A4F0}" type="datetimeFigureOut">
              <a:rPr lang="en-PK" smtClean="0"/>
              <a:t>11/19/2025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D7986-9CB8-9DAB-9592-00A9C473E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2B750-7CCD-A09C-870B-641AB4245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28638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E0A0BD-8E0B-039C-FB28-7DE93B8E3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F0ED9-CAC2-E83A-68ED-C5161A9F5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47626-C717-A094-D7ED-9CC80A779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1B422B-D56B-48A6-BE4D-0AAC7D67A4F0}" type="datetimeFigureOut">
              <a:rPr lang="en-PK" smtClean="0"/>
              <a:t>11/19/2025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85EE4-DEFC-CF01-936A-8A735E3CB9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68BF9-1FDB-07EF-4625-0F16BAFA2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01108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9733D3-B539-9FDF-841C-7CA34CBED4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en-GB" sz="48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Artificial Intelligence</a:t>
            </a:r>
            <a:endParaRPr lang="en-PK" sz="48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CA6085-9456-8389-FD83-03FD37673D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Autofit/>
          </a:bodyPr>
          <a:lstStyle/>
          <a:p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Code: CS-202</a:t>
            </a:r>
          </a:p>
          <a:p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Topic: Search Algorithms</a:t>
            </a:r>
          </a:p>
          <a:p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Instructor: Habiba Arshad</a:t>
            </a:r>
            <a:endParaRPr lang="en-PK" sz="16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021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F6BF70-C7D1-4AF9-8DB4-BEEB8A9C3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E0E7B3-C946-4D46-D3F2-E5D4B2808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097280"/>
            <a:ext cx="3796306" cy="4666207"/>
          </a:xfrm>
        </p:spPr>
        <p:txBody>
          <a:bodyPr anchor="ctr">
            <a:normAutofit/>
          </a:bodyPr>
          <a:lstStyle/>
          <a:p>
            <a:r>
              <a:rPr lang="en-GB" sz="4800" b="1" dirty="0">
                <a:latin typeface="Arial" panose="020B0604020202020204" pitchFamily="34" charset="0"/>
                <a:cs typeface="Arial" panose="020B0604020202020204" pitchFamily="34" charset="0"/>
              </a:rPr>
              <a:t>Week-4 </a:t>
            </a:r>
            <a:endParaRPr lang="en-PK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C66A8B6-1F6E-4FCC-93B9-B9986B6F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576" y="5945955"/>
            <a:ext cx="12109423" cy="525780"/>
            <a:chOff x="82576" y="5945955"/>
            <a:chExt cx="12109423" cy="52578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F7C4FD-65AD-4BBE-886A-D2E923F9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103361" y="6131892"/>
              <a:ext cx="524256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BA8278B-6DF7-481F-B1FA-FFE7D6C3C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5998176" y="277912"/>
              <a:ext cx="524256" cy="1186339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1412D1-217C-109E-B1DF-6DFBBBBDB9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8525557"/>
              </p:ext>
            </p:extLst>
          </p:nvPr>
        </p:nvGraphicFramePr>
        <p:xfrm>
          <a:off x="5431536" y="1014153"/>
          <a:ext cx="5918184" cy="4979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069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C50B08-24FA-92E7-D95A-8D1CDB7A5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Uninformed Search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E27F7-5395-CA92-E957-5CDE82186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3200" dirty="0"/>
              <a:t>Blind Search Algorithm and have no additional information about the goal location beyond the problem definition</a:t>
            </a:r>
          </a:p>
        </p:txBody>
      </p:sp>
    </p:spTree>
    <p:extLst>
      <p:ext uri="{BB962C8B-B14F-4D97-AF65-F5344CB8AC3E}">
        <p14:creationId xmlns:p14="http://schemas.microsoft.com/office/powerpoint/2010/main" val="3547588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D0C189-C299-83E6-5A1C-52DA16A5F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5"/>
            <a:ext cx="6798541" cy="937436"/>
          </a:xfrm>
        </p:spPr>
        <p:txBody>
          <a:bodyPr anchor="b">
            <a:normAutofit/>
          </a:bodyPr>
          <a:lstStyle/>
          <a:p>
            <a:r>
              <a:rPr lang="en-GB" sz="4000" dirty="0"/>
              <a:t>Uninformed Search Algorithms</a:t>
            </a:r>
            <a:endParaRPr lang="en-PK" sz="4000" dirty="0"/>
          </a:p>
        </p:txBody>
      </p:sp>
      <p:pic>
        <p:nvPicPr>
          <p:cNvPr id="6" name="Picture 5" descr="Two white strings one below is tangled while the one above is curved">
            <a:extLst>
              <a:ext uri="{FF2B5EF4-FFF2-40B4-BE49-F238E27FC236}">
                <a16:creationId xmlns:a16="http://schemas.microsoft.com/office/drawing/2014/main" id="{85309947-AD94-CD21-6FBE-151450AE91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83" r="31160" b="-1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BBFC2F6-F0D3-E687-BE91-DB365AC66D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53734" y="1760220"/>
            <a:ext cx="7242026" cy="47777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PK" altLang="en-PK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Breadth-First Search (BFS)</a:t>
            </a:r>
            <a:endParaRPr kumimoji="0" lang="en-PK" altLang="en-PK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Explores all nodes at the present depth level before moving on to the next level.</a:t>
            </a:r>
          </a:p>
          <a:p>
            <a:pPr algn="just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Guarantees finding the shortest path solution.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PK" altLang="en-PK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Depth-First Search (DFS)</a:t>
            </a:r>
            <a:endParaRPr kumimoji="0" lang="en-PK" altLang="en-PK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Explores as far as possible along each branch before backtracking.</a:t>
            </a:r>
          </a:p>
          <a:p>
            <a:pPr algn="just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May not find the shortest path and can get stuck in loops.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PK" altLang="en-PK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Uniform Cost Search</a:t>
            </a:r>
            <a:endParaRPr kumimoji="0" lang="en-PK" altLang="en-PK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Expands the node with the lowest cost, ensuring an optimal solution if costs are non-negative.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PK" altLang="en-PK" sz="1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125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279C50-DDE5-43CF-C02B-CF4870057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3DFBE7A-1D8A-866B-3560-76FFB67FD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19C73C-9139-0A6C-5CB9-D15219834B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FB1D0EC-46B2-85EC-7668-6DEC9506F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013D8FA-0C96-DDD5-4815-F23A69BDD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13EDD07-A874-19AA-61D1-68086B31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8736560D-B7B5-A273-FCC0-7FC779775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E55C19-3892-3A43-74E4-9B8778505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kumimoji="0" lang="en-PK" altLang="en-PK" sz="4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Breadth-First Search (BFS)</a:t>
            </a:r>
            <a:endParaRPr lang="en-PK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D56F4-FDE8-DACB-94DF-88FB57701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704014"/>
            <a:ext cx="10907487" cy="3781293"/>
          </a:xfrm>
        </p:spPr>
        <p:txBody>
          <a:bodyPr anchor="ctr">
            <a:normAutofit fontScale="92500" lnSpcReduction="20000"/>
          </a:bodyPr>
          <a:lstStyle/>
          <a:p>
            <a:r>
              <a:rPr lang="en-GB" sz="2600" dirty="0">
                <a:latin typeface="Nunito" pitchFamily="2" charset="0"/>
              </a:rPr>
              <a:t>The algorithm starts from a given source and explores all reachable vertices from the given source. We begin with the given source (in tree, we begin with root) and traverse vertices level by level using a queue data structure.</a:t>
            </a:r>
          </a:p>
          <a:p>
            <a:pPr marL="0" indent="0">
              <a:buNone/>
            </a:pPr>
            <a:r>
              <a:rPr lang="en-GB" sz="2100" b="1" u="sng" dirty="0">
                <a:latin typeface="Nunito" pitchFamily="2" charset="0"/>
              </a:rPr>
              <a:t>Working: </a:t>
            </a:r>
          </a:p>
          <a:p>
            <a:pPr rtl="0" fontAlgn="base"/>
            <a:r>
              <a:rPr lang="en-GB" sz="2100" b="1" dirty="0">
                <a:latin typeface="Nunito" pitchFamily="2" charset="0"/>
              </a:rPr>
              <a:t>Initialization: </a:t>
            </a:r>
            <a:r>
              <a:rPr lang="en-GB" sz="2100" dirty="0">
                <a:latin typeface="Nunito" pitchFamily="2" charset="0"/>
              </a:rPr>
              <a:t>Enqueue the given source vertex into a queue and mark it as visited.</a:t>
            </a:r>
          </a:p>
          <a:p>
            <a:pPr rtl="0" fontAlgn="base"/>
            <a:r>
              <a:rPr lang="en-GB" sz="2100" b="1" dirty="0">
                <a:latin typeface="Nunito" pitchFamily="2" charset="0"/>
              </a:rPr>
              <a:t>Exploration: </a:t>
            </a:r>
            <a:r>
              <a:rPr lang="en-GB" sz="2100" dirty="0">
                <a:latin typeface="Nunito" pitchFamily="2" charset="0"/>
              </a:rPr>
              <a:t>While the queue is not empty:</a:t>
            </a:r>
          </a:p>
          <a:p>
            <a:pPr marL="742950" lvl="1" indent="-285750" fontAlgn="base">
              <a:buFont typeface="+mj-lt"/>
              <a:buAutoNum type="arabicPeriod"/>
            </a:pPr>
            <a:r>
              <a:rPr lang="en-GB" sz="2100" dirty="0">
                <a:latin typeface="Nunito" pitchFamily="2" charset="0"/>
              </a:rPr>
              <a:t>Dequeue a node from the queue and visit it (e.g., print its value).</a:t>
            </a:r>
          </a:p>
          <a:p>
            <a:pPr marL="742950" lvl="1" indent="-285750" fontAlgn="base">
              <a:buFont typeface="+mj-lt"/>
              <a:buAutoNum type="arabicPeriod"/>
            </a:pPr>
            <a:r>
              <a:rPr lang="en-GB" sz="2100" dirty="0">
                <a:latin typeface="Nunito" pitchFamily="2" charset="0"/>
              </a:rPr>
              <a:t>For each unvisited neighbour of the dequeued node:</a:t>
            </a:r>
          </a:p>
          <a:p>
            <a:pPr lvl="2" fontAlgn="base"/>
            <a:r>
              <a:rPr lang="en-GB" sz="2100" dirty="0">
                <a:latin typeface="Nunito" pitchFamily="2" charset="0"/>
              </a:rPr>
              <a:t>Enqueue the neighbours into the queue.</a:t>
            </a:r>
          </a:p>
          <a:p>
            <a:pPr lvl="2" fontAlgn="base"/>
            <a:r>
              <a:rPr lang="en-GB" sz="2100" dirty="0">
                <a:latin typeface="Nunito" pitchFamily="2" charset="0"/>
              </a:rPr>
              <a:t>Mark the neighbour as visited.</a:t>
            </a:r>
          </a:p>
          <a:p>
            <a:pPr marL="0" indent="0" fontAlgn="base">
              <a:buNone/>
            </a:pPr>
            <a:r>
              <a:rPr lang="en-GB" sz="2100" b="1" dirty="0">
                <a:latin typeface="Nunito" pitchFamily="2" charset="0"/>
              </a:rPr>
              <a:t>Termination: </a:t>
            </a:r>
            <a:r>
              <a:rPr lang="en-GB" sz="2100" dirty="0">
                <a:latin typeface="Nunito" pitchFamily="2" charset="0"/>
              </a:rPr>
              <a:t>Repeat step 2 until the queue is empty.</a:t>
            </a:r>
            <a:endParaRPr lang="en-GB" sz="1100" b="1" dirty="0">
              <a:latin typeface="Nunito" pitchFamily="2" charset="0"/>
            </a:endParaRPr>
          </a:p>
          <a:p>
            <a:pPr marL="0" indent="0" fontAlgn="base">
              <a:buNone/>
            </a:pPr>
            <a:r>
              <a:rPr lang="en-GB" sz="1400" b="1" dirty="0">
                <a:latin typeface="Nunito" pitchFamily="2" charset="0"/>
              </a:rPr>
              <a:t>Note: Example solve in</a:t>
            </a:r>
            <a:r>
              <a:rPr lang="en-GB" sz="1600" b="1" dirty="0">
                <a:latin typeface="Nunito" pitchFamily="2" charset="0"/>
              </a:rPr>
              <a:t> class</a:t>
            </a:r>
            <a:endParaRPr lang="en-GB" sz="1400" dirty="0">
              <a:latin typeface="Nunito" pitchFamily="2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8ADC63F-EFEF-50E3-AA3C-74E0F070C6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6953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59CBBF-AA57-E867-7BEC-4E62A0F1C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59352"/>
            <a:ext cx="5984111" cy="22223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B0C6FA-F591-42FD-3C17-F7D02D066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892" y="1759352"/>
            <a:ext cx="5984107" cy="22223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4016E7-CE7A-78E1-0AD7-EAD1BC0890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43737"/>
            <a:ext cx="5984110" cy="22223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B6F154-3B56-91C5-C9E1-2B8FCB21FF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162545"/>
            <a:ext cx="6096000" cy="218472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7318304-345F-96D3-6B7E-1833BF3C81C0}"/>
              </a:ext>
            </a:extLst>
          </p:cNvPr>
          <p:cNvSpPr txBox="1"/>
          <p:nvPr/>
        </p:nvSpPr>
        <p:spPr>
          <a:xfrm>
            <a:off x="0" y="491924"/>
            <a:ext cx="121919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PK" altLang="en-PK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Breadth-First Search (BFS)</a:t>
            </a:r>
            <a:r>
              <a:rPr kumimoji="0" lang="en-GB" altLang="en-PK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Example</a:t>
            </a:r>
            <a:endParaRPr kumimoji="0" lang="en-PK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3600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2650796-E327-F5B1-0DDB-57CED9AAB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1007"/>
            <a:ext cx="5984110" cy="22223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6F020B-9BCF-0C5F-9392-79A7E7E9D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890" y="1551006"/>
            <a:ext cx="5984110" cy="22223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9EC14D-FD59-987D-AAAB-8D300F023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3945" y="4027986"/>
            <a:ext cx="5984110" cy="222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738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9E2627-B0C6-1B2B-FF66-904E423D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537" y="2324659"/>
            <a:ext cx="3408205" cy="1269752"/>
          </a:xfrm>
        </p:spPr>
        <p:txBody>
          <a:bodyPr anchor="t">
            <a:normAutofit/>
          </a:bodyPr>
          <a:lstStyle/>
          <a:p>
            <a:r>
              <a:rPr kumimoji="0" lang="en-PK" altLang="en-PK" sz="4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Breadth-First Search (BFS)</a:t>
            </a:r>
            <a:endParaRPr lang="en-PK" sz="4000" dirty="0">
              <a:solidFill>
                <a:srgbClr val="FFFFFF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7880E8-99E8-6207-4806-1A400B5F78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59050" y="1412489"/>
            <a:ext cx="3951093" cy="4363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Advantages</a:t>
            </a:r>
          </a:p>
          <a:p>
            <a:r>
              <a:rPr lang="it-IT" dirty="0"/>
              <a:t>Completeness</a:t>
            </a:r>
          </a:p>
          <a:p>
            <a:r>
              <a:rPr lang="it-IT" dirty="0"/>
              <a:t>Systematic Exploration</a:t>
            </a:r>
          </a:p>
          <a:p>
            <a:r>
              <a:rPr lang="en-GB" dirty="0"/>
              <a:t>Useful for Finding Closest Solutions</a:t>
            </a:r>
            <a:endParaRPr lang="en-PK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F58D81-DDF4-7F03-5A7F-5AFBE04BD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604" y="1412489"/>
            <a:ext cx="3289290" cy="4363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Disadvantages</a:t>
            </a:r>
          </a:p>
          <a:p>
            <a:r>
              <a:rPr lang="it-IT" dirty="0"/>
              <a:t>Time Complexity</a:t>
            </a:r>
          </a:p>
          <a:p>
            <a:r>
              <a:rPr lang="it-IT" dirty="0"/>
              <a:t>High Memory Usage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667301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AF6A73B-1175-915E-2231-2E8C5CCA4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GB" altLang="en-PK" sz="4800" b="1">
                <a:latin typeface="Arial" panose="020B0604020202020204" pitchFamily="34" charset="0"/>
              </a:rPr>
              <a:t>Dep</a:t>
            </a:r>
            <a:r>
              <a:rPr kumimoji="0" lang="en-PK" altLang="en-PK" sz="4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th-First Search (</a:t>
            </a:r>
            <a:r>
              <a:rPr kumimoji="0" lang="en-GB" altLang="en-PK" sz="4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</a:t>
            </a:r>
            <a:r>
              <a:rPr kumimoji="0" lang="en-PK" altLang="en-PK" sz="4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FS)</a:t>
            </a:r>
            <a:endParaRPr lang="en-PK" sz="48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21D962-FE98-D610-4DF0-0838D5F0E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anchor="t">
            <a:normAutofit/>
          </a:bodyPr>
          <a:lstStyle/>
          <a:p>
            <a:pPr algn="just"/>
            <a:r>
              <a:rPr lang="en-GB" sz="2400" dirty="0"/>
              <a:t>Depth-First Search (DFS) is a search algorithm commonly used in artificial intelligence (AI) and graph traversal. It explores as far down a branch as possible before backtracking to explore other branches.</a:t>
            </a: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3811739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B333D8-9669-D84D-B51F-312AAA433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B" altLang="en-PK" sz="4800" b="1" dirty="0">
                <a:latin typeface="Arial" panose="020B0604020202020204" pitchFamily="34" charset="0"/>
              </a:rPr>
              <a:t>Dep</a:t>
            </a:r>
            <a:r>
              <a:rPr kumimoji="0" lang="en-PK" altLang="en-PK" sz="4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th</a:t>
            </a:r>
            <a:r>
              <a:rPr kumimoji="0" lang="en-PK" altLang="en-PK" sz="4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-First Search (</a:t>
            </a:r>
            <a:r>
              <a:rPr kumimoji="0" lang="en-GB" altLang="en-PK" sz="4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</a:t>
            </a:r>
            <a:r>
              <a:rPr kumimoji="0" lang="en-PK" altLang="en-PK" sz="4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FS)</a:t>
            </a:r>
            <a:r>
              <a:rPr kumimoji="0" lang="en-GB" altLang="en-PK" sz="4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Algorithm</a:t>
            </a:r>
            <a:endParaRPr lang="en-PK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17A5F-0268-1F5B-90ED-19CA5D182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704014"/>
            <a:ext cx="10907487" cy="3781293"/>
          </a:xfrm>
        </p:spPr>
        <p:txBody>
          <a:bodyPr anchor="ctr">
            <a:normAutofit fontScale="92500" lnSpcReduction="20000"/>
          </a:bodyPr>
          <a:lstStyle/>
          <a:p>
            <a:pPr marL="0" indent="0" fontAlgn="base">
              <a:lnSpc>
                <a:spcPct val="100000"/>
              </a:lnSpc>
              <a:buNone/>
            </a:pPr>
            <a:r>
              <a:rPr lang="en-GB" sz="2600" dirty="0">
                <a:latin typeface="Nunito" pitchFamily="2" charset="0"/>
              </a:rPr>
              <a:t>In depth-first search the idea is to travel as deep as possible from neighbour to neighbour before backtracking.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GB" sz="2600" dirty="0">
                <a:latin typeface="Nunito" pitchFamily="2" charset="0"/>
              </a:rPr>
              <a:t>Initialize an empty stack and an empty set for visited vertices.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GB" sz="2600" dirty="0">
                <a:latin typeface="Nunito" pitchFamily="2" charset="0"/>
              </a:rPr>
              <a:t>Push the start vertex onto the stack.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GB" sz="2600" dirty="0">
                <a:latin typeface="Nunito" pitchFamily="2" charset="0"/>
              </a:rPr>
              <a:t>While the stack is not empty:</a:t>
            </a:r>
          </a:p>
          <a:p>
            <a:pPr lvl="1" fontAlgn="base"/>
            <a:r>
              <a:rPr lang="en-GB" sz="2200" dirty="0">
                <a:latin typeface="Nunito" pitchFamily="2" charset="0"/>
              </a:rPr>
              <a:t>Pop the current vertex.</a:t>
            </a:r>
          </a:p>
          <a:p>
            <a:pPr lvl="1" fontAlgn="base"/>
            <a:r>
              <a:rPr lang="en-GB" sz="2200" dirty="0">
                <a:latin typeface="Nunito" pitchFamily="2" charset="0"/>
              </a:rPr>
              <a:t>If it's the goal vertex, return "Path found".</a:t>
            </a:r>
          </a:p>
          <a:p>
            <a:pPr lvl="1" fontAlgn="base"/>
            <a:r>
              <a:rPr lang="en-GB" sz="2200" dirty="0">
                <a:latin typeface="Nunito" pitchFamily="2" charset="0"/>
              </a:rPr>
              <a:t>Add the current vertex to the visited set.</a:t>
            </a:r>
          </a:p>
          <a:p>
            <a:pPr lvl="1" fontAlgn="base"/>
            <a:r>
              <a:rPr lang="en-GB" sz="2200" dirty="0">
                <a:latin typeface="Nunito" pitchFamily="2" charset="0"/>
              </a:rPr>
              <a:t>Get the neighbours of the current vertex.</a:t>
            </a:r>
          </a:p>
          <a:p>
            <a:pPr lvl="1" fontAlgn="base"/>
            <a:r>
              <a:rPr lang="en-GB" sz="2200" dirty="0">
                <a:latin typeface="Nunito" pitchFamily="2" charset="0"/>
              </a:rPr>
              <a:t>For each neighbour not visited, push it onto the stack.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GB" sz="2600" dirty="0">
                <a:latin typeface="Nunito" pitchFamily="2" charset="0"/>
              </a:rPr>
              <a:t>If the loop completes without finding the goal, return "Path not found“.</a:t>
            </a:r>
            <a:endParaRPr lang="en-GB" sz="1200" dirty="0">
              <a:latin typeface="Nunito" pitchFamily="2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3195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F85AC9-70DC-D327-590D-9E177F2D1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en-PK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Dep</a:t>
            </a:r>
            <a:r>
              <a:rPr kumimoji="0" lang="en-US" altLang="en-PK" sz="3200" b="1" i="0" u="none" strike="noStrike" kern="1200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th-First Search (DFS) Example</a:t>
            </a: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BC829A-02FF-FE40-3876-5FE0A05E72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2222935"/>
            <a:ext cx="10905066" cy="329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791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728DC1-D710-4BA3-96CA-C47EFE40A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A74161-A15A-AEBE-21AD-6FA281870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en-PK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Dep</a:t>
            </a:r>
            <a:r>
              <a:rPr kumimoji="0" lang="en-US" altLang="en-PK" sz="3200" b="1" i="0" u="none" strike="noStrike" kern="1200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th-First Search (DFS) Example</a:t>
            </a: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67C7E95-5728-8F55-6DAE-1B13D71D38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3467" y="1629845"/>
            <a:ext cx="10905066" cy="2210635"/>
          </a:xfrm>
          <a:prstGeom prst="rect">
            <a:avLst/>
          </a:prstGeom>
        </p:spPr>
      </p:pic>
      <p:pic>
        <p:nvPicPr>
          <p:cNvPr id="8" name="Content Placeholder 5">
            <a:extLst>
              <a:ext uri="{FF2B5EF4-FFF2-40B4-BE49-F238E27FC236}">
                <a16:creationId xmlns:a16="http://schemas.microsoft.com/office/drawing/2014/main" id="{FFE18CE8-0709-97CB-41F2-B6BC37479D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67" y="3840480"/>
            <a:ext cx="10905066" cy="288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286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9CF167-7672-BD90-E18A-D40C38818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A9BCCD-0B37-FC6C-C8F2-B76474E8F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en-PK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Dep</a:t>
            </a:r>
            <a:r>
              <a:rPr kumimoji="0" lang="en-US" altLang="en-PK" sz="3200" b="1" i="0" u="none" strike="noStrike" kern="1200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th-First Search (DFS) Example</a:t>
            </a: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73C158C-E3CA-0E89-1EEB-9F06685819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3467" y="1396588"/>
            <a:ext cx="10905066" cy="26633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8860E6-743A-E46B-DCC4-47469B741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67" y="4059936"/>
            <a:ext cx="10905066" cy="2663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96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2FFAE2-30F2-2F0A-FEA4-76D922C46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A581B6B-69A7-BFEB-2BAF-9133865B5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01E39C-C80E-5B70-9824-D9BF2873F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en-PK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Dep</a:t>
            </a:r>
            <a:r>
              <a:rPr kumimoji="0" lang="en-US" altLang="en-PK" sz="3200" b="1" i="0" u="none" strike="noStrike" kern="1200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th-First Search (DFS) Example</a:t>
            </a: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D4EF7B-4BA6-AC4B-7787-426E7BA16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40086E-6B81-7EC1-50D4-D7A3C643B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1388303"/>
            <a:ext cx="10515600" cy="26838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7FAD08-F2DF-33D7-0931-C358C232ED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001293"/>
            <a:ext cx="10449606" cy="268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207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EC22A4-1826-36E5-C6F4-638E06689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4657A14-579A-14AE-AA72-C2D4F79B5C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76E23D-3A54-B321-7995-AE5C45AD7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en-PK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Dep</a:t>
            </a:r>
            <a:r>
              <a:rPr kumimoji="0" lang="en-US" altLang="en-PK" sz="3200" b="1" i="0" u="none" strike="noStrike" kern="1200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th-First Search (DFS) Example</a:t>
            </a: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1C6122-FAA6-06B1-2500-0A9BBBFA59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32338" y="1854910"/>
            <a:ext cx="506230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247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CA06CD6-90CA-4C45-856C-6771339E1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0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E958C8-4348-BCD5-377E-0B52107D4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507"/>
            <a:ext cx="3494362" cy="4930986"/>
          </a:xfrm>
        </p:spPr>
        <p:txBody>
          <a:bodyPr>
            <a:normAutofit/>
          </a:bodyPr>
          <a:lstStyle/>
          <a:p>
            <a:pPr algn="r"/>
            <a:r>
              <a:rPr lang="en-US" altLang="en-PK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Dep</a:t>
            </a:r>
            <a:r>
              <a:rPr kumimoji="0" lang="en-US" altLang="en-PK" b="1" i="0" u="none" strike="noStrike" kern="1200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rPr>
              <a:t>th-First Search (DFS)</a:t>
            </a:r>
            <a:endParaRPr lang="en-PK" dirty="0">
              <a:solidFill>
                <a:schemeClr val="accent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021601D-2758-4B15-A31C-FDA184C51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31E2A-2AA4-ED05-F384-C9EC7DA8EA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6030" y="963507"/>
            <a:ext cx="6250940" cy="2304627"/>
          </a:xfrm>
        </p:spPr>
        <p:txBody>
          <a:bodyPr anchor="b">
            <a:normAutofit/>
          </a:bodyPr>
          <a:lstStyle/>
          <a:p>
            <a:pPr marL="0" indent="0">
              <a:buNone/>
            </a:pPr>
            <a:r>
              <a:rPr lang="en-GB" b="1" dirty="0"/>
              <a:t>Advantages</a:t>
            </a:r>
          </a:p>
          <a:p>
            <a:r>
              <a:rPr lang="it-IT" dirty="0"/>
              <a:t>Memory Efficiency</a:t>
            </a:r>
          </a:p>
          <a:p>
            <a:r>
              <a:rPr lang="en-GB" dirty="0"/>
              <a:t>Faster in Finding Feasible Solutions in Deep Trees</a:t>
            </a:r>
            <a:endParaRPr lang="en-P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5BFECD-C9AA-EF2B-C4D2-BBD2FFCC5B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76030" y="3589866"/>
            <a:ext cx="6250940" cy="23046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Disadvantages</a:t>
            </a:r>
          </a:p>
          <a:p>
            <a:r>
              <a:rPr lang="en-GB" dirty="0"/>
              <a:t>No Guarantee of Finding the Optimal Solution</a:t>
            </a:r>
          </a:p>
          <a:p>
            <a:r>
              <a:rPr lang="en-GB" dirty="0"/>
              <a:t>Not Complete in Infinite Search Spaces</a:t>
            </a:r>
          </a:p>
          <a:p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2989149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373473F-4FEB-EF57-E34C-57567408B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FFFFFF"/>
                </a:solidFill>
              </a:rPr>
              <a:t>Depth Limited Search</a:t>
            </a:r>
            <a:endParaRPr lang="en-PK" b="1">
              <a:solidFill>
                <a:srgbClr val="FFFFFF"/>
              </a:solidFill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0222AC-5532-EF6A-97D7-D87C952FE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/>
              <a:t>Depth limited search is an uninformed search algorithm which is similar to Depth First Search(DFS). It can be considered equivalent to DFS with a predetermined depth limit 'l'. Nodes at depth l are considered to be nodes without any successors.</a:t>
            </a:r>
          </a:p>
          <a:p>
            <a:r>
              <a:rPr lang="en-GB"/>
              <a:t>Depth limited search may be thought of as a solution to DFS's infinite path problem; in the Depth limited search algorithm, DFS is run for a finite depth 'l', where 'l' is the depth limit.</a:t>
            </a:r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578912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DF4E4-2E53-C2BC-7B6A-F5D351A71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Depth Limited Search Algorithm</a:t>
            </a:r>
            <a:endParaRPr lang="en-PK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E86A515-D4BB-FF6F-EE91-62A04FB7DC5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98136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14EF4-22E0-0B77-7618-FB659CBAB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Depth Limited Search Example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E207AC-3B83-85C3-A50C-6639F0A8D0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57250" y="2343944"/>
            <a:ext cx="4104189" cy="285167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DC0C1C-33F1-49CF-7EE4-74AA9F4596FE}"/>
              </a:ext>
            </a:extLst>
          </p:cNvPr>
          <p:cNvSpPr txBox="1"/>
          <p:nvPr/>
        </p:nvSpPr>
        <p:spPr>
          <a:xfrm>
            <a:off x="983849" y="2366696"/>
            <a:ext cx="841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Step 1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3F5579-909C-A69C-D27D-668AFAFFDB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5414" y="2343944"/>
            <a:ext cx="771525" cy="2851677"/>
          </a:xfrm>
          <a:prstGeom prst="rect">
            <a:avLst/>
          </a:prstGeom>
        </p:spPr>
      </p:pic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C9F38FAB-468C-05DF-05E6-0F17DE985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914" y="2343944"/>
            <a:ext cx="4104189" cy="28516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5F3A89A-371B-A67A-F516-B764A76C9653}"/>
              </a:ext>
            </a:extLst>
          </p:cNvPr>
          <p:cNvSpPr txBox="1"/>
          <p:nvPr/>
        </p:nvSpPr>
        <p:spPr>
          <a:xfrm>
            <a:off x="5751892" y="2366696"/>
            <a:ext cx="8410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Step 2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F9FAD68-5637-0CE0-CD10-F25D680815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2103" y="2343944"/>
            <a:ext cx="752475" cy="28289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36BBD78-9706-A3C9-1A39-7A434CCBF404}"/>
              </a:ext>
            </a:extLst>
          </p:cNvPr>
          <p:cNvSpPr txBox="1"/>
          <p:nvPr/>
        </p:nvSpPr>
        <p:spPr>
          <a:xfrm>
            <a:off x="850250" y="1535699"/>
            <a:ext cx="97343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3C484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Consider the given graph with Depth Limit(l)=2, Target Node=H and the given source node=A</a:t>
            </a:r>
            <a:endParaRPr kumimoji="0" lang="en-PK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3079F0-B6F5-86FA-A06E-87DFE1AD9F8F}"/>
              </a:ext>
            </a:extLst>
          </p:cNvPr>
          <p:cNvSpPr txBox="1"/>
          <p:nvPr/>
        </p:nvSpPr>
        <p:spPr>
          <a:xfrm>
            <a:off x="5717414" y="5230120"/>
            <a:ext cx="4296508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3C484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 being the top element is now popped from the stack and the neighbouring nodes B and C at depth=1(&lt;l) of A are pushed onto the stack.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1" u="none" strike="noStrike" kern="1200" cap="none" spc="0" normalizeH="0" baseline="0" noProof="0" dirty="0">
                <a:ln>
                  <a:noFill/>
                </a:ln>
                <a:solidFill>
                  <a:srgbClr val="090A0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Traversal: A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62283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3DEC3-4F37-EFC9-3940-3BB5EC01E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6C807-1F5E-9178-E830-4AFC7708D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/>
              <a:t>Depth Limited Search Example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C7FC0C-8EB5-E073-68CE-74B3D2C28C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57250" y="2343944"/>
            <a:ext cx="4104189" cy="279082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2F0A9D-573C-E620-A27B-444281CCB083}"/>
              </a:ext>
            </a:extLst>
          </p:cNvPr>
          <p:cNvSpPr txBox="1"/>
          <p:nvPr/>
        </p:nvSpPr>
        <p:spPr>
          <a:xfrm>
            <a:off x="983849" y="2366696"/>
            <a:ext cx="841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Step 3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7D5E7D92-8BB4-880B-640F-08DEE1CC6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914" y="2343944"/>
            <a:ext cx="4104189" cy="27908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274CFB-7436-2D82-68A4-CA6D1CBB598B}"/>
              </a:ext>
            </a:extLst>
          </p:cNvPr>
          <p:cNvSpPr txBox="1"/>
          <p:nvPr/>
        </p:nvSpPr>
        <p:spPr>
          <a:xfrm>
            <a:off x="5751892" y="2366696"/>
            <a:ext cx="8410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Step 4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B959DA-AA05-9CB9-D9DB-E488EDA09A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1692" y="2343944"/>
            <a:ext cx="769221" cy="27908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C333CF-A9CE-04BA-7FC6-636705B06E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5355" y="2343944"/>
            <a:ext cx="769223" cy="27908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1C51C5D-AC0F-D03A-E3EE-EDA79D7231A1}"/>
              </a:ext>
            </a:extLst>
          </p:cNvPr>
          <p:cNvSpPr txBox="1"/>
          <p:nvPr/>
        </p:nvSpPr>
        <p:spPr>
          <a:xfrm>
            <a:off x="761090" y="6357850"/>
            <a:ext cx="41232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1" u="none" strike="noStrike" kern="1200" cap="none" spc="0" normalizeH="0" baseline="0" noProof="0" dirty="0">
                <a:ln>
                  <a:noFill/>
                </a:ln>
                <a:solidFill>
                  <a:srgbClr val="090A0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Traversal: AC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17439A-780B-CADB-C251-0BAF372BEBEF}"/>
              </a:ext>
            </a:extLst>
          </p:cNvPr>
          <p:cNvSpPr txBox="1"/>
          <p:nvPr/>
        </p:nvSpPr>
        <p:spPr>
          <a:xfrm>
            <a:off x="5638800" y="6400542"/>
            <a:ext cx="41232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1" u="none" strike="noStrike" kern="1200" cap="none" spc="0" normalizeH="0" baseline="0" noProof="0" dirty="0">
                <a:ln>
                  <a:noFill/>
                </a:ln>
                <a:solidFill>
                  <a:srgbClr val="090A0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Traversal: ACF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0850C7-FAA8-4ABD-7748-8FA768002BBA}"/>
              </a:ext>
            </a:extLst>
          </p:cNvPr>
          <p:cNvSpPr txBox="1"/>
          <p:nvPr/>
        </p:nvSpPr>
        <p:spPr>
          <a:xfrm>
            <a:off x="761090" y="5157521"/>
            <a:ext cx="42965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3C484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 being the topmost element is popped from the stack and the neighbouring node F at depth=2(=l) is pushed onto the stack.</a:t>
            </a:r>
            <a:endParaRPr kumimoji="0" lang="en-P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851DAA-79B7-26B3-0F76-82F7DFE977D4}"/>
              </a:ext>
            </a:extLst>
          </p:cNvPr>
          <p:cNvSpPr txBox="1"/>
          <p:nvPr/>
        </p:nvSpPr>
        <p:spPr>
          <a:xfrm>
            <a:off x="5638800" y="5240774"/>
            <a:ext cx="49457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3C484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 being the topmost element is popped from the stack and the neighbouring nodes I and K at depth=3(&gt;l) will not be pushed onto the stack.</a:t>
            </a:r>
            <a:endParaRPr kumimoji="0" lang="en-P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81101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9BB54-BD61-80A2-2D1C-DBA2DB5FB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54D14-5196-6456-B1FD-5270E9FA7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3016"/>
            <a:ext cx="10515600" cy="1325563"/>
          </a:xfrm>
        </p:spPr>
        <p:txBody>
          <a:bodyPr/>
          <a:lstStyle/>
          <a:p>
            <a:r>
              <a:rPr lang="en-GB" b="1" dirty="0"/>
              <a:t>Depth Limited Search Example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8C8822-92BE-1623-80CD-B695DE0C20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57250" y="2343944"/>
            <a:ext cx="4104189" cy="277547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93FB2D-5675-8522-6D68-4010D9C5D2F4}"/>
              </a:ext>
            </a:extLst>
          </p:cNvPr>
          <p:cNvSpPr txBox="1"/>
          <p:nvPr/>
        </p:nvSpPr>
        <p:spPr>
          <a:xfrm>
            <a:off x="983849" y="2366696"/>
            <a:ext cx="841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Step 4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71F861D5-C623-3A8F-23DA-D74DE41F5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914" y="2343944"/>
            <a:ext cx="4104189" cy="27754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97CD052-DE39-1D8F-4978-1444AF426832}"/>
              </a:ext>
            </a:extLst>
          </p:cNvPr>
          <p:cNvSpPr txBox="1"/>
          <p:nvPr/>
        </p:nvSpPr>
        <p:spPr>
          <a:xfrm>
            <a:off x="5751892" y="2366696"/>
            <a:ext cx="8410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Step 6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F91AA1-49AF-672C-EC58-904613964B26}"/>
              </a:ext>
            </a:extLst>
          </p:cNvPr>
          <p:cNvSpPr txBox="1"/>
          <p:nvPr/>
        </p:nvSpPr>
        <p:spPr>
          <a:xfrm>
            <a:off x="838200" y="6488668"/>
            <a:ext cx="41232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1" u="none" strike="noStrike" kern="1200" cap="none" spc="0" normalizeH="0" baseline="0" noProof="0" dirty="0">
                <a:ln>
                  <a:noFill/>
                </a:ln>
                <a:solidFill>
                  <a:srgbClr val="090A0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Traversal: ACFB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026A30-FD63-6282-E3B2-D1DD607CC543}"/>
              </a:ext>
            </a:extLst>
          </p:cNvPr>
          <p:cNvSpPr txBox="1"/>
          <p:nvPr/>
        </p:nvSpPr>
        <p:spPr>
          <a:xfrm>
            <a:off x="5751892" y="6488668"/>
            <a:ext cx="41232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1" u="none" strike="noStrike" kern="1200" cap="none" spc="0" normalizeH="0" baseline="0" noProof="0" dirty="0">
                <a:ln>
                  <a:noFill/>
                </a:ln>
                <a:solidFill>
                  <a:srgbClr val="090A0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Traversal: ACFBE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02581F-B30E-032E-65F9-44E2B750E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439" y="2343944"/>
            <a:ext cx="759475" cy="27754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E127BAC-20F6-65F1-8B10-69A0EC1983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5103" y="2343944"/>
            <a:ext cx="647700" cy="27754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9D719E-CA3F-CD8A-5FCE-C42BA0F6B041}"/>
              </a:ext>
            </a:extLst>
          </p:cNvPr>
          <p:cNvSpPr txBox="1"/>
          <p:nvPr/>
        </p:nvSpPr>
        <p:spPr>
          <a:xfrm>
            <a:off x="838200" y="5119421"/>
            <a:ext cx="42350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3C484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 being the topmost element is popped from the stack and the neighbouring nodes D and E at depth=2(=l) are pushed onto the stack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3C484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CE12BD-2772-8246-879C-C684CDA17FE1}"/>
              </a:ext>
            </a:extLst>
          </p:cNvPr>
          <p:cNvSpPr txBox="1"/>
          <p:nvPr/>
        </p:nvSpPr>
        <p:spPr>
          <a:xfrm>
            <a:off x="5603631" y="5164508"/>
            <a:ext cx="42715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3C484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 being the topmost element is popped from the stack and since E has no neighbouring nodes, no nodes are pushed onto the stack.</a:t>
            </a:r>
            <a:endParaRPr kumimoji="0" lang="en-P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8586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4156C-347C-A43B-CE86-F0E4FFB0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9054B-8EA6-B78E-4837-9D937E4A1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629"/>
            <a:ext cx="10515600" cy="1325563"/>
          </a:xfrm>
        </p:spPr>
        <p:txBody>
          <a:bodyPr/>
          <a:lstStyle/>
          <a:p>
            <a:r>
              <a:rPr lang="en-GB" b="1" dirty="0"/>
              <a:t>Depth Limited Search Example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58A5A5-06C0-81A1-DDD3-A5AB4E0F0E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95438" y="2197320"/>
            <a:ext cx="4104189" cy="275272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F8AE29-53F1-A42C-AE8C-F6DE8077E696}"/>
              </a:ext>
            </a:extLst>
          </p:cNvPr>
          <p:cNvSpPr txBox="1"/>
          <p:nvPr/>
        </p:nvSpPr>
        <p:spPr>
          <a:xfrm>
            <a:off x="2827757" y="2309220"/>
            <a:ext cx="841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Step 7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6D6DB1-9416-65F6-3B42-7927C51A60BA}"/>
              </a:ext>
            </a:extLst>
          </p:cNvPr>
          <p:cNvSpPr txBox="1"/>
          <p:nvPr/>
        </p:nvSpPr>
        <p:spPr>
          <a:xfrm>
            <a:off x="2785780" y="6487700"/>
            <a:ext cx="41232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1" u="none" strike="noStrike" kern="1200" cap="none" spc="0" normalizeH="0" baseline="0" noProof="0" dirty="0">
                <a:ln>
                  <a:noFill/>
                </a:ln>
                <a:solidFill>
                  <a:srgbClr val="090A0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Traversal: ACFBED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B4B217-A956-EAEF-3F58-D658A49C04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9627" y="2197320"/>
            <a:ext cx="657225" cy="27527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28E4F1-F042-63F0-0C55-B49182AB7810}"/>
              </a:ext>
            </a:extLst>
          </p:cNvPr>
          <p:cNvSpPr txBox="1"/>
          <p:nvPr/>
        </p:nvSpPr>
        <p:spPr>
          <a:xfrm>
            <a:off x="2785780" y="5010372"/>
            <a:ext cx="44239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3C484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 being the topmost element is popped from the stack and the neighbouring nodes G and H at depth=3(&gt;l) will not be pushed onto the stack.</a:t>
            </a:r>
            <a:endParaRPr kumimoji="0" lang="en-P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0F320F-EFA4-3D2E-E712-422B40B280C9}"/>
              </a:ext>
            </a:extLst>
          </p:cNvPr>
          <p:cNvSpPr txBox="1"/>
          <p:nvPr/>
        </p:nvSpPr>
        <p:spPr>
          <a:xfrm>
            <a:off x="7939320" y="2967335"/>
            <a:ext cx="38217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90A0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Since the stack is now empty, all nodes within the depth limit have been visited, but the target node H has not been reached.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75949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0D08A3-D560-3534-565F-221BAC054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917EE8-605E-E97F-5386-9FAD0980A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0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18BEB9-36D3-8E3D-E194-2DE21FF57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588" y="963507"/>
            <a:ext cx="3776974" cy="4930986"/>
          </a:xfrm>
        </p:spPr>
        <p:txBody>
          <a:bodyPr>
            <a:normAutofit/>
          </a:bodyPr>
          <a:lstStyle/>
          <a:p>
            <a:pPr algn="r"/>
            <a:r>
              <a:rPr lang="en-US" altLang="en-PK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Dep</a:t>
            </a:r>
            <a:r>
              <a:rPr kumimoji="0" lang="en-US" altLang="en-PK" b="1" i="0" u="none" strike="noStrike" kern="1200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rPr>
              <a:t>th Limited Search (D</a:t>
            </a:r>
            <a:r>
              <a:rPr lang="en-US" altLang="en-PK" b="1" dirty="0">
                <a:solidFill>
                  <a:schemeClr val="accent1"/>
                </a:solidFill>
              </a:rPr>
              <a:t>L</a:t>
            </a:r>
            <a:r>
              <a:rPr kumimoji="0" lang="en-US" altLang="en-PK" b="1" i="0" u="none" strike="noStrike" kern="1200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rPr>
              <a:t>S)</a:t>
            </a:r>
            <a:endParaRPr lang="en-PK" dirty="0">
              <a:solidFill>
                <a:schemeClr val="accent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E9D46C6-B37A-F8DA-55E5-A1E5F4B5F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95582B-D514-216D-0F7C-D48FF1D25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6030" y="963507"/>
            <a:ext cx="6250940" cy="2304627"/>
          </a:xfrm>
        </p:spPr>
        <p:txBody>
          <a:bodyPr anchor="b">
            <a:normAutofit fontScale="92500" lnSpcReduction="20000"/>
          </a:bodyPr>
          <a:lstStyle/>
          <a:p>
            <a:pPr marL="0" indent="0">
              <a:buNone/>
            </a:pPr>
            <a:r>
              <a:rPr lang="en-GB" b="1" dirty="0"/>
              <a:t>Advantages</a:t>
            </a:r>
          </a:p>
          <a:p>
            <a:r>
              <a:rPr lang="it-IT" dirty="0"/>
              <a:t>Memory Efficiency</a:t>
            </a:r>
          </a:p>
          <a:p>
            <a:r>
              <a:rPr lang="en-GB" dirty="0"/>
              <a:t>Useful for Large or Infinite Search Spaces</a:t>
            </a:r>
          </a:p>
          <a:p>
            <a:r>
              <a:rPr lang="en-GB" dirty="0"/>
              <a:t>Controls Depth in Applications with Known Solution Depths</a:t>
            </a:r>
            <a:endParaRPr lang="en-P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EE31C7-FBEA-7524-2B73-144118E59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76030" y="3589866"/>
            <a:ext cx="6250940" cy="230462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b="1" dirty="0"/>
              <a:t>Disadvantages</a:t>
            </a:r>
          </a:p>
          <a:p>
            <a:r>
              <a:rPr lang="it-IT" dirty="0"/>
              <a:t>Incomplete</a:t>
            </a:r>
          </a:p>
          <a:p>
            <a:r>
              <a:rPr lang="en-GB" dirty="0"/>
              <a:t>Requires Prior Knowledge of Solution Depth</a:t>
            </a:r>
          </a:p>
          <a:p>
            <a:r>
              <a:rPr lang="en-GB" dirty="0"/>
              <a:t>Sensitive to Depth Limit Selection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010903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4603FFF-7275-2771-33B4-F462F07D3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Iterative Deeping Depth First Search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F69709-B601-EA62-C4F1-DFFB90C49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algn="just"/>
            <a:r>
              <a:rPr lang="en-GB" b="1" dirty="0"/>
              <a:t>Iterative Deepening Depth-First Search (IDDFS)</a:t>
            </a:r>
            <a:r>
              <a:rPr lang="en-GB" dirty="0"/>
              <a:t> is a hybrid search algorithm that combines the benefits of Depth-First Search (DFS) and Breadth-First Search (BFS). It systematically increases the depth limit of the search in a depth-first manner, ensuring completeness and optimality similar to BFS while using much less memory.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Solved example on board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100656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57A3D1-A399-156C-E1CE-1120677C7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GB" sz="4000" dirty="0"/>
              <a:t>Iterative Deeping Depth First Search Algorithm</a:t>
            </a:r>
            <a:endParaRPr lang="en-PK" sz="4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614A4-072F-C8D7-0C14-6D69C8368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433753"/>
            <a:ext cx="6359266" cy="5779477"/>
          </a:xfrm>
        </p:spPr>
        <p:txBody>
          <a:bodyPr anchor="ctr">
            <a:normAutofit lnSpcReduction="1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GB" dirty="0"/>
              <a:t>The Algorithm performs a series of depth-limited DFS searches, starting from a depth limit of 0 and increasing the limit incrementally until the goal is found.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GB" dirty="0"/>
              <a:t>For each depth limit L:</a:t>
            </a:r>
          </a:p>
          <a:p>
            <a:pPr lvl="1" algn="just"/>
            <a:r>
              <a:rPr lang="en-GB" sz="2800" dirty="0"/>
              <a:t>Perform a DFS, but only expand nodes up to depth 𝐿.</a:t>
            </a:r>
          </a:p>
          <a:p>
            <a:pPr lvl="1" algn="just"/>
            <a:r>
              <a:rPr lang="en-GB" sz="2800" dirty="0"/>
              <a:t>If the goal is found within this depth, the search stops.</a:t>
            </a:r>
          </a:p>
          <a:p>
            <a:pPr lvl="1" algn="just"/>
            <a:r>
              <a:rPr lang="en-GB" sz="2800" dirty="0"/>
              <a:t>Otherwise, increase the depth limit by 1 and repeat.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GB" dirty="0"/>
              <a:t>Continue until the goal is found or all nodes are explored.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9697671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22CF49-643D-06B6-41C0-972D2179D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77466-6C9F-D306-6B60-15A5C2CFC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0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E9C25A-454C-B048-496E-0E46AE03A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64" y="963507"/>
            <a:ext cx="4010998" cy="4930986"/>
          </a:xfrm>
        </p:spPr>
        <p:txBody>
          <a:bodyPr>
            <a:normAutofit/>
          </a:bodyPr>
          <a:lstStyle/>
          <a:p>
            <a:pPr algn="r"/>
            <a:r>
              <a:rPr lang="en-GB" sz="4400" dirty="0"/>
              <a:t>Iterative Deeping Depth First Search Algorithm</a:t>
            </a:r>
            <a:br>
              <a:rPr lang="en-GB" sz="4400" dirty="0"/>
            </a:br>
            <a:r>
              <a:rPr lang="en-GB" sz="4400" dirty="0"/>
              <a:t>(IDDFS)</a:t>
            </a:r>
            <a:endParaRPr lang="en-PK" dirty="0">
              <a:solidFill>
                <a:schemeClr val="accent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8957106-B19E-271B-FFD2-5DBE3CA3E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EF8830-B5D0-F656-C8FE-D11B28E577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6030" y="963507"/>
            <a:ext cx="6250940" cy="2304627"/>
          </a:xfrm>
        </p:spPr>
        <p:txBody>
          <a:bodyPr anchor="b">
            <a:normAutofit fontScale="92500"/>
          </a:bodyPr>
          <a:lstStyle/>
          <a:p>
            <a:pPr marL="0" indent="0">
              <a:buNone/>
            </a:pPr>
            <a:r>
              <a:rPr lang="en-GB" b="1" dirty="0"/>
              <a:t>Advantages</a:t>
            </a:r>
          </a:p>
          <a:p>
            <a:r>
              <a:rPr lang="it-IT" dirty="0"/>
              <a:t>Memory Efficiency</a:t>
            </a:r>
          </a:p>
          <a:p>
            <a:r>
              <a:rPr lang="it-IT" dirty="0"/>
              <a:t>Optimal Solution</a:t>
            </a:r>
          </a:p>
          <a:p>
            <a:r>
              <a:rPr lang="en-GB" dirty="0"/>
              <a:t>IDDFS uses the low memory of DFS and the optimal, complete nature of BFS</a:t>
            </a:r>
            <a:endParaRPr lang="en-P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02E97AB-83C0-9E87-74D0-CC8CC16CCF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76030" y="3589866"/>
            <a:ext cx="6250940" cy="230462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b="1" dirty="0"/>
              <a:t>Disadvantages</a:t>
            </a:r>
          </a:p>
          <a:p>
            <a:r>
              <a:rPr lang="it-IT" dirty="0"/>
              <a:t>Repetitive Exploration</a:t>
            </a:r>
          </a:p>
          <a:p>
            <a:r>
              <a:rPr lang="en-GB" dirty="0"/>
              <a:t>Not Suitable for All Problems where the branching factor is very high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329059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1166</TotalTime>
  <Words>1271</Words>
  <Application>Microsoft Office PowerPoint</Application>
  <PresentationFormat>Widescreen</PresentationFormat>
  <Paragraphs>140</Paragraphs>
  <Slides>26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Nunito</vt:lpstr>
      <vt:lpstr>Office Theme</vt:lpstr>
      <vt:lpstr>Artificial Intelligence</vt:lpstr>
      <vt:lpstr>Week-4 </vt:lpstr>
      <vt:lpstr>Uninformed Search Algorithm</vt:lpstr>
      <vt:lpstr>Uninformed Search Algorithms</vt:lpstr>
      <vt:lpstr>Breadth-First Search (BFS)</vt:lpstr>
      <vt:lpstr>PowerPoint Presentation</vt:lpstr>
      <vt:lpstr>PowerPoint Presentation</vt:lpstr>
      <vt:lpstr>Breadth-First Search (BFS)</vt:lpstr>
      <vt:lpstr>Depth-First Search (DFS)</vt:lpstr>
      <vt:lpstr>Depth-First Search (DFS) Algorithm</vt:lpstr>
      <vt:lpstr>Depth-First Search (DFS) Example</vt:lpstr>
      <vt:lpstr>Depth-First Search (DFS) Example</vt:lpstr>
      <vt:lpstr>Depth-First Search (DFS) Example</vt:lpstr>
      <vt:lpstr>Depth-First Search (DFS) Example</vt:lpstr>
      <vt:lpstr>Depth-First Search (DFS) Example</vt:lpstr>
      <vt:lpstr>Depth-First Search (DFS)</vt:lpstr>
      <vt:lpstr>Depth Limited Search</vt:lpstr>
      <vt:lpstr>Depth Limited Search Algorithm</vt:lpstr>
      <vt:lpstr>Depth Limited Search Example</vt:lpstr>
      <vt:lpstr>Depth Limited Search Example</vt:lpstr>
      <vt:lpstr>Depth Limited Search Example</vt:lpstr>
      <vt:lpstr>Depth Limited Search Example</vt:lpstr>
      <vt:lpstr>Depth Limited Search (DLS)</vt:lpstr>
      <vt:lpstr>Iterative Deeping Depth First Search</vt:lpstr>
      <vt:lpstr>Iterative Deeping Depth First Search Algorithm</vt:lpstr>
      <vt:lpstr>Iterative Deeping Depth First Search Algorithm (IDDFS)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Mansoor Iqbal</dc:creator>
  <cp:lastModifiedBy>Habiba Arshad</cp:lastModifiedBy>
  <cp:revision>106</cp:revision>
  <dcterms:created xsi:type="dcterms:W3CDTF">2024-10-08T06:28:51Z</dcterms:created>
  <dcterms:modified xsi:type="dcterms:W3CDTF">2025-11-19T04:27:21Z</dcterms:modified>
</cp:coreProperties>
</file>