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45"/>
  </p:notesMasterIdLst>
  <p:sldIdLst>
    <p:sldId id="271" r:id="rId4"/>
    <p:sldId id="789" r:id="rId5"/>
    <p:sldId id="825" r:id="rId6"/>
    <p:sldId id="257" r:id="rId7"/>
    <p:sldId id="258" r:id="rId8"/>
    <p:sldId id="259" r:id="rId9"/>
    <p:sldId id="262" r:id="rId10"/>
    <p:sldId id="260" r:id="rId11"/>
    <p:sldId id="261" r:id="rId12"/>
    <p:sldId id="263" r:id="rId13"/>
    <p:sldId id="264" r:id="rId14"/>
    <p:sldId id="831" r:id="rId15"/>
    <p:sldId id="265" r:id="rId16"/>
    <p:sldId id="826" r:id="rId17"/>
    <p:sldId id="853" r:id="rId18"/>
    <p:sldId id="854" r:id="rId19"/>
    <p:sldId id="827" r:id="rId20"/>
    <p:sldId id="828" r:id="rId21"/>
    <p:sldId id="830" r:id="rId22"/>
    <p:sldId id="832" r:id="rId23"/>
    <p:sldId id="833" r:id="rId24"/>
    <p:sldId id="834" r:id="rId25"/>
    <p:sldId id="835" r:id="rId26"/>
    <p:sldId id="836" r:id="rId27"/>
    <p:sldId id="837" r:id="rId28"/>
    <p:sldId id="838" r:id="rId29"/>
    <p:sldId id="841" r:id="rId30"/>
    <p:sldId id="840" r:id="rId31"/>
    <p:sldId id="855" r:id="rId32"/>
    <p:sldId id="839" r:id="rId33"/>
    <p:sldId id="842" r:id="rId34"/>
    <p:sldId id="843" r:id="rId35"/>
    <p:sldId id="844" r:id="rId36"/>
    <p:sldId id="845" r:id="rId37"/>
    <p:sldId id="846" r:id="rId38"/>
    <p:sldId id="847" r:id="rId39"/>
    <p:sldId id="848" r:id="rId40"/>
    <p:sldId id="849" r:id="rId41"/>
    <p:sldId id="850" r:id="rId42"/>
    <p:sldId id="851" r:id="rId43"/>
    <p:sldId id="852" r:id="rId44"/>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40" autoAdjust="0"/>
    <p:restoredTop sz="84967" autoAdjust="0"/>
  </p:normalViewPr>
  <p:slideViewPr>
    <p:cSldViewPr snapToGrid="0">
      <p:cViewPr varScale="1">
        <p:scale>
          <a:sx n="70" d="100"/>
          <a:sy n="70" d="100"/>
        </p:scale>
        <p:origin x="93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diagrams/_rels/data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B301F5-07A3-4FE4-976C-CA4952C4C1A1}"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003EBE85-61C3-4A8C-B096-20383EA35C46}">
      <dgm:prSet/>
      <dgm:spPr/>
      <dgm:t>
        <a:bodyPr/>
        <a:lstStyle/>
        <a:p>
          <a:r>
            <a:rPr lang="en-US" dirty="0"/>
            <a:t>This week lecture will cover the following CLO’s:</a:t>
          </a:r>
        </a:p>
      </dgm:t>
    </dgm:pt>
    <dgm:pt modelId="{CA4AA996-65FD-4B8F-BBE0-A906A9E5220E}" type="parTrans" cxnId="{BCEEB6D3-EFBE-4684-AF7C-3A02210BE3D9}">
      <dgm:prSet/>
      <dgm:spPr/>
      <dgm:t>
        <a:bodyPr/>
        <a:lstStyle/>
        <a:p>
          <a:endParaRPr lang="en-US"/>
        </a:p>
      </dgm:t>
    </dgm:pt>
    <dgm:pt modelId="{793489B5-9C5E-4E77-A6F3-2F6B2B3AEB5A}" type="sibTrans" cxnId="{BCEEB6D3-EFBE-4684-AF7C-3A02210BE3D9}">
      <dgm:prSet/>
      <dgm:spPr/>
      <dgm:t>
        <a:bodyPr/>
        <a:lstStyle/>
        <a:p>
          <a:endParaRPr lang="en-US"/>
        </a:p>
      </dgm:t>
    </dgm:pt>
    <dgm:pt modelId="{0F6BED61-37A6-4265-9765-7643A715CD2C}">
      <dgm:prSet/>
      <dgm:spPr/>
      <dgm:t>
        <a:bodyPr/>
        <a:lstStyle/>
        <a:p>
          <a:pPr algn="just"/>
          <a:r>
            <a:rPr lang="en-US" b="1" dirty="0"/>
            <a:t>CLO1: </a:t>
          </a:r>
          <a:r>
            <a:rPr lang="en-US" b="0" dirty="0"/>
            <a:t>Discuss the key concepts in the field of artificial intelligence</a:t>
          </a:r>
          <a:endParaRPr lang="en-US" dirty="0"/>
        </a:p>
      </dgm:t>
    </dgm:pt>
    <dgm:pt modelId="{CE80463D-0B4E-4616-A7D3-FCA563D7C095}" type="parTrans" cxnId="{D4C01C85-8389-4770-954C-640B9194FA32}">
      <dgm:prSet/>
      <dgm:spPr/>
      <dgm:t>
        <a:bodyPr/>
        <a:lstStyle/>
        <a:p>
          <a:endParaRPr lang="en-US"/>
        </a:p>
      </dgm:t>
    </dgm:pt>
    <dgm:pt modelId="{991B6CDF-473C-43F2-B07A-CB69C404667A}" type="sibTrans" cxnId="{D4C01C85-8389-4770-954C-640B9194FA32}">
      <dgm:prSet/>
      <dgm:spPr/>
      <dgm:t>
        <a:bodyPr/>
        <a:lstStyle/>
        <a:p>
          <a:endParaRPr lang="en-US"/>
        </a:p>
      </dgm:t>
    </dgm:pt>
    <dgm:pt modelId="{EB5ACA34-5E81-4C34-9396-A967E2A2AB76}">
      <dgm:prSet/>
      <dgm:spPr/>
      <dgm:t>
        <a:bodyPr/>
        <a:lstStyle/>
        <a:p>
          <a:pPr algn="just"/>
          <a:r>
            <a:rPr lang="en-US" b="1" dirty="0"/>
            <a:t>CLO 2: Implement </a:t>
          </a:r>
          <a:r>
            <a:rPr lang="en-US" dirty="0"/>
            <a:t>artificial intelligence techniques and case studies</a:t>
          </a:r>
        </a:p>
      </dgm:t>
    </dgm:pt>
    <dgm:pt modelId="{9A070146-3875-47E3-94D7-B2C90F536C89}" type="parTrans" cxnId="{5B24FC3C-4ED4-4834-9B89-88E70A3EE3EC}">
      <dgm:prSet/>
      <dgm:spPr/>
      <dgm:t>
        <a:bodyPr/>
        <a:lstStyle/>
        <a:p>
          <a:endParaRPr lang="en-PK"/>
        </a:p>
      </dgm:t>
    </dgm:pt>
    <dgm:pt modelId="{430978D5-BF76-4915-9FA8-631F66362A49}" type="sibTrans" cxnId="{5B24FC3C-4ED4-4834-9B89-88E70A3EE3EC}">
      <dgm:prSet/>
      <dgm:spPr/>
      <dgm:t>
        <a:bodyPr/>
        <a:lstStyle/>
        <a:p>
          <a:endParaRPr lang="en-PK"/>
        </a:p>
      </dgm:t>
    </dgm:pt>
    <dgm:pt modelId="{1E8486E2-0691-4247-B9C3-FCB6AD71DA77}" type="pres">
      <dgm:prSet presAssocID="{87B301F5-07A3-4FE4-976C-CA4952C4C1A1}" presName="linear" presStyleCnt="0">
        <dgm:presLayoutVars>
          <dgm:animLvl val="lvl"/>
          <dgm:resizeHandles val="exact"/>
        </dgm:presLayoutVars>
      </dgm:prSet>
      <dgm:spPr/>
    </dgm:pt>
    <dgm:pt modelId="{CBC7B95D-FC8B-44BC-816F-8FC732EF125D}" type="pres">
      <dgm:prSet presAssocID="{003EBE85-61C3-4A8C-B096-20383EA35C46}" presName="parentText" presStyleLbl="node1" presStyleIdx="0" presStyleCnt="1">
        <dgm:presLayoutVars>
          <dgm:chMax val="0"/>
          <dgm:bulletEnabled val="1"/>
        </dgm:presLayoutVars>
      </dgm:prSet>
      <dgm:spPr/>
    </dgm:pt>
    <dgm:pt modelId="{A025C2BC-3DF5-4B12-A043-E15E948A1F98}" type="pres">
      <dgm:prSet presAssocID="{003EBE85-61C3-4A8C-B096-20383EA35C46}" presName="childText" presStyleLbl="revTx" presStyleIdx="0" presStyleCnt="1">
        <dgm:presLayoutVars>
          <dgm:bulletEnabled val="1"/>
        </dgm:presLayoutVars>
      </dgm:prSet>
      <dgm:spPr/>
    </dgm:pt>
  </dgm:ptLst>
  <dgm:cxnLst>
    <dgm:cxn modelId="{0BF05139-1E12-4DCD-98EF-7B0DABA33B58}" type="presOf" srcId="{87B301F5-07A3-4FE4-976C-CA4952C4C1A1}" destId="{1E8486E2-0691-4247-B9C3-FCB6AD71DA77}" srcOrd="0" destOrd="0" presId="urn:microsoft.com/office/officeart/2005/8/layout/vList2"/>
    <dgm:cxn modelId="{F6F4E43C-9CB5-4911-A20A-B55E9CCF2C4F}" type="presOf" srcId="{003EBE85-61C3-4A8C-B096-20383EA35C46}" destId="{CBC7B95D-FC8B-44BC-816F-8FC732EF125D}" srcOrd="0" destOrd="0" presId="urn:microsoft.com/office/officeart/2005/8/layout/vList2"/>
    <dgm:cxn modelId="{5B24FC3C-4ED4-4834-9B89-88E70A3EE3EC}" srcId="{003EBE85-61C3-4A8C-B096-20383EA35C46}" destId="{EB5ACA34-5E81-4C34-9396-A967E2A2AB76}" srcOrd="1" destOrd="0" parTransId="{9A070146-3875-47E3-94D7-B2C90F536C89}" sibTransId="{430978D5-BF76-4915-9FA8-631F66362A49}"/>
    <dgm:cxn modelId="{D4C01C85-8389-4770-954C-640B9194FA32}" srcId="{003EBE85-61C3-4A8C-B096-20383EA35C46}" destId="{0F6BED61-37A6-4265-9765-7643A715CD2C}" srcOrd="0" destOrd="0" parTransId="{CE80463D-0B4E-4616-A7D3-FCA563D7C095}" sibTransId="{991B6CDF-473C-43F2-B07A-CB69C404667A}"/>
    <dgm:cxn modelId="{8F12479A-C069-4E0A-BB1E-B76D7E4A0CF5}" type="presOf" srcId="{0F6BED61-37A6-4265-9765-7643A715CD2C}" destId="{A025C2BC-3DF5-4B12-A043-E15E948A1F98}" srcOrd="0" destOrd="0" presId="urn:microsoft.com/office/officeart/2005/8/layout/vList2"/>
    <dgm:cxn modelId="{7EA4AAC6-84B8-4CD7-8049-447BD7E93EBF}" type="presOf" srcId="{EB5ACA34-5E81-4C34-9396-A967E2A2AB76}" destId="{A025C2BC-3DF5-4B12-A043-E15E948A1F98}" srcOrd="0" destOrd="1" presId="urn:microsoft.com/office/officeart/2005/8/layout/vList2"/>
    <dgm:cxn modelId="{BCEEB6D3-EFBE-4684-AF7C-3A02210BE3D9}" srcId="{87B301F5-07A3-4FE4-976C-CA4952C4C1A1}" destId="{003EBE85-61C3-4A8C-B096-20383EA35C46}" srcOrd="0" destOrd="0" parTransId="{CA4AA996-65FD-4B8F-BBE0-A906A9E5220E}" sibTransId="{793489B5-9C5E-4E77-A6F3-2F6B2B3AEB5A}"/>
    <dgm:cxn modelId="{2897C92D-7832-425B-A7AE-4DE3AFB3DBD0}" type="presParOf" srcId="{1E8486E2-0691-4247-B9C3-FCB6AD71DA77}" destId="{CBC7B95D-FC8B-44BC-816F-8FC732EF125D}" srcOrd="0" destOrd="0" presId="urn:microsoft.com/office/officeart/2005/8/layout/vList2"/>
    <dgm:cxn modelId="{C49B8052-8CF3-4FDC-B7CA-CCA691C86E81}" type="presParOf" srcId="{1E8486E2-0691-4247-B9C3-FCB6AD71DA77}" destId="{A025C2BC-3DF5-4B12-A043-E15E948A1F98}"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BAFF19-3AEA-4097-8AAE-B0E8391780F7}"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en-US"/>
        </a:p>
      </dgm:t>
    </dgm:pt>
    <dgm:pt modelId="{0C1BEE06-F90E-4F09-93B1-D550B806CA6C}">
      <dgm:prSet custT="1"/>
      <dgm:spPr/>
      <dgm:t>
        <a:bodyPr/>
        <a:lstStyle/>
        <a:p>
          <a:r>
            <a:rPr lang="en-GB" sz="2400" b="1" dirty="0"/>
            <a:t>CLO 1:</a:t>
          </a:r>
          <a:endParaRPr lang="en-US" sz="2400" dirty="0"/>
        </a:p>
      </dgm:t>
    </dgm:pt>
    <dgm:pt modelId="{1C6E13D2-05A4-4EA5-B0FB-6A1163A05D3F}" type="parTrans" cxnId="{EDA5AD18-5AD5-44AA-855C-93782C77F351}">
      <dgm:prSet/>
      <dgm:spPr/>
      <dgm:t>
        <a:bodyPr/>
        <a:lstStyle/>
        <a:p>
          <a:endParaRPr lang="en-US"/>
        </a:p>
      </dgm:t>
    </dgm:pt>
    <dgm:pt modelId="{31DBE3B1-489D-4A12-8CA6-D49A4738C6DE}" type="sibTrans" cxnId="{EDA5AD18-5AD5-44AA-855C-93782C77F351}">
      <dgm:prSet/>
      <dgm:spPr/>
      <dgm:t>
        <a:bodyPr/>
        <a:lstStyle/>
        <a:p>
          <a:endParaRPr lang="en-US"/>
        </a:p>
      </dgm:t>
    </dgm:pt>
    <dgm:pt modelId="{2B5DA1EB-E771-49A5-867E-D9665D475071}">
      <dgm:prSet custT="1"/>
      <dgm:spPr/>
      <dgm:t>
        <a:bodyPr/>
        <a:lstStyle/>
        <a:p>
          <a:r>
            <a:rPr lang="en-GB" sz="2400" dirty="0"/>
            <a:t>Introduction to </a:t>
          </a:r>
          <a:r>
            <a:rPr lang="en-US" sz="2400" b="0" dirty="0">
              <a:solidFill>
                <a:schemeClr val="tx1"/>
              </a:solidFill>
              <a:latin typeface="+mj-lt"/>
              <a:ea typeface="+mj-ea"/>
              <a:cs typeface="+mj-cs"/>
            </a:rPr>
            <a:t>Representation, Reasoning, and Logic</a:t>
          </a:r>
          <a:r>
            <a:rPr lang="en-GB" sz="2400" b="0" dirty="0">
              <a:solidFill>
                <a:schemeClr val="tx1"/>
              </a:solidFill>
            </a:rPr>
            <a:t> </a:t>
          </a:r>
          <a:endParaRPr lang="en-US" sz="2400" b="0" dirty="0">
            <a:solidFill>
              <a:schemeClr val="tx1"/>
            </a:solidFill>
          </a:endParaRPr>
        </a:p>
      </dgm:t>
    </dgm:pt>
    <dgm:pt modelId="{DD750D13-57AD-4795-8AF1-C66AB423D0AD}" type="parTrans" cxnId="{710F3773-380C-452A-B8E5-ACE531C1737D}">
      <dgm:prSet/>
      <dgm:spPr/>
      <dgm:t>
        <a:bodyPr/>
        <a:lstStyle/>
        <a:p>
          <a:endParaRPr lang="en-US"/>
        </a:p>
      </dgm:t>
    </dgm:pt>
    <dgm:pt modelId="{448BFBFD-9308-4A33-BEA8-5A2FB6BB745D}" type="sibTrans" cxnId="{710F3773-380C-452A-B8E5-ACE531C1737D}">
      <dgm:prSet/>
      <dgm:spPr/>
      <dgm:t>
        <a:bodyPr/>
        <a:lstStyle/>
        <a:p>
          <a:endParaRPr lang="en-US"/>
        </a:p>
      </dgm:t>
    </dgm:pt>
    <dgm:pt modelId="{3F3DFE54-F6B7-43ED-84E5-2138CE660EB6}">
      <dgm:prSet custT="1"/>
      <dgm:spPr/>
      <dgm:t>
        <a:bodyPr/>
        <a:lstStyle/>
        <a:p>
          <a:r>
            <a:rPr lang="en-GB" sz="2400" b="1" dirty="0"/>
            <a:t>CLO 2:</a:t>
          </a:r>
          <a:endParaRPr lang="en-US" sz="2400" dirty="0"/>
        </a:p>
      </dgm:t>
    </dgm:pt>
    <dgm:pt modelId="{35603E27-4986-4093-BA13-540EF067230A}" type="parTrans" cxnId="{EA14688B-076D-4056-931B-F74C89BF1C9E}">
      <dgm:prSet/>
      <dgm:spPr/>
      <dgm:t>
        <a:bodyPr/>
        <a:lstStyle/>
        <a:p>
          <a:endParaRPr lang="en-US"/>
        </a:p>
      </dgm:t>
    </dgm:pt>
    <dgm:pt modelId="{A9A51733-DE1F-469E-8D4B-A6E9376ABC7F}" type="sibTrans" cxnId="{EA14688B-076D-4056-931B-F74C89BF1C9E}">
      <dgm:prSet/>
      <dgm:spPr/>
      <dgm:t>
        <a:bodyPr/>
        <a:lstStyle/>
        <a:p>
          <a:endParaRPr lang="en-US"/>
        </a:p>
      </dgm:t>
    </dgm:pt>
    <dgm:pt modelId="{BC9F2467-8675-4C7B-A23B-F5B8B939445E}">
      <dgm:prSet custT="1"/>
      <dgm:spPr/>
      <dgm:t>
        <a:bodyPr/>
        <a:lstStyle/>
        <a:p>
          <a:r>
            <a:rPr lang="en-US" sz="2400" dirty="0"/>
            <a:t>Logic-based Systems (Eliza, Student)</a:t>
          </a:r>
        </a:p>
      </dgm:t>
    </dgm:pt>
    <dgm:pt modelId="{4C54B955-7CC3-4BE7-8D3F-2A5FDB33B454}" type="parTrans" cxnId="{E9A8AFEE-FA31-4B1D-BCC6-EB81265C2F25}">
      <dgm:prSet/>
      <dgm:spPr/>
      <dgm:t>
        <a:bodyPr/>
        <a:lstStyle/>
        <a:p>
          <a:endParaRPr lang="en-US"/>
        </a:p>
      </dgm:t>
    </dgm:pt>
    <dgm:pt modelId="{2D52629A-90C7-4C02-B7FA-11727220C377}" type="sibTrans" cxnId="{E9A8AFEE-FA31-4B1D-BCC6-EB81265C2F25}">
      <dgm:prSet/>
      <dgm:spPr/>
      <dgm:t>
        <a:bodyPr/>
        <a:lstStyle/>
        <a:p>
          <a:endParaRPr lang="en-US"/>
        </a:p>
      </dgm:t>
    </dgm:pt>
    <dgm:pt modelId="{D834BA1F-3574-4DD1-BA2B-1AFDA1B9DFB4}" type="pres">
      <dgm:prSet presAssocID="{1ABAFF19-3AEA-4097-8AAE-B0E8391780F7}" presName="linear" presStyleCnt="0">
        <dgm:presLayoutVars>
          <dgm:dir/>
          <dgm:animLvl val="lvl"/>
          <dgm:resizeHandles val="exact"/>
        </dgm:presLayoutVars>
      </dgm:prSet>
      <dgm:spPr/>
    </dgm:pt>
    <dgm:pt modelId="{698E3174-0318-4F94-9674-373830A430B0}" type="pres">
      <dgm:prSet presAssocID="{0C1BEE06-F90E-4F09-93B1-D550B806CA6C}" presName="parentLin" presStyleCnt="0"/>
      <dgm:spPr/>
    </dgm:pt>
    <dgm:pt modelId="{3A3AD406-9F02-4B7C-A576-31CAD64141FB}" type="pres">
      <dgm:prSet presAssocID="{0C1BEE06-F90E-4F09-93B1-D550B806CA6C}" presName="parentLeftMargin" presStyleLbl="node1" presStyleIdx="0" presStyleCnt="2"/>
      <dgm:spPr/>
    </dgm:pt>
    <dgm:pt modelId="{49E13C96-EE4B-48D1-8768-AE8ECE07E331}" type="pres">
      <dgm:prSet presAssocID="{0C1BEE06-F90E-4F09-93B1-D550B806CA6C}" presName="parentText" presStyleLbl="node1" presStyleIdx="0" presStyleCnt="2">
        <dgm:presLayoutVars>
          <dgm:chMax val="0"/>
          <dgm:bulletEnabled val="1"/>
        </dgm:presLayoutVars>
      </dgm:prSet>
      <dgm:spPr/>
    </dgm:pt>
    <dgm:pt modelId="{0A19CEC3-B103-4F3A-9B3C-FE1A70884031}" type="pres">
      <dgm:prSet presAssocID="{0C1BEE06-F90E-4F09-93B1-D550B806CA6C}" presName="negativeSpace" presStyleCnt="0"/>
      <dgm:spPr/>
    </dgm:pt>
    <dgm:pt modelId="{2A8F8C97-D792-4E29-9ADB-A33A1728580F}" type="pres">
      <dgm:prSet presAssocID="{0C1BEE06-F90E-4F09-93B1-D550B806CA6C}" presName="childText" presStyleLbl="conFgAcc1" presStyleIdx="0" presStyleCnt="2">
        <dgm:presLayoutVars>
          <dgm:bulletEnabled val="1"/>
        </dgm:presLayoutVars>
      </dgm:prSet>
      <dgm:spPr/>
    </dgm:pt>
    <dgm:pt modelId="{E9D3FC74-370E-4118-9A41-52FB915D24B6}" type="pres">
      <dgm:prSet presAssocID="{31DBE3B1-489D-4A12-8CA6-D49A4738C6DE}" presName="spaceBetweenRectangles" presStyleCnt="0"/>
      <dgm:spPr/>
    </dgm:pt>
    <dgm:pt modelId="{DDC2F1DC-AC4E-4BD5-8F1F-3AB55F5B9E84}" type="pres">
      <dgm:prSet presAssocID="{3F3DFE54-F6B7-43ED-84E5-2138CE660EB6}" presName="parentLin" presStyleCnt="0"/>
      <dgm:spPr/>
    </dgm:pt>
    <dgm:pt modelId="{F0839E54-C2C9-4E12-8664-B616247CC422}" type="pres">
      <dgm:prSet presAssocID="{3F3DFE54-F6B7-43ED-84E5-2138CE660EB6}" presName="parentLeftMargin" presStyleLbl="node1" presStyleIdx="0" presStyleCnt="2"/>
      <dgm:spPr/>
    </dgm:pt>
    <dgm:pt modelId="{CD8EDF22-9A27-49D7-87DD-3C29CC93D73D}" type="pres">
      <dgm:prSet presAssocID="{3F3DFE54-F6B7-43ED-84E5-2138CE660EB6}" presName="parentText" presStyleLbl="node1" presStyleIdx="1" presStyleCnt="2">
        <dgm:presLayoutVars>
          <dgm:chMax val="0"/>
          <dgm:bulletEnabled val="1"/>
        </dgm:presLayoutVars>
      </dgm:prSet>
      <dgm:spPr/>
    </dgm:pt>
    <dgm:pt modelId="{72D71622-01F6-453A-84C1-5F1DDDB24708}" type="pres">
      <dgm:prSet presAssocID="{3F3DFE54-F6B7-43ED-84E5-2138CE660EB6}" presName="negativeSpace" presStyleCnt="0"/>
      <dgm:spPr/>
    </dgm:pt>
    <dgm:pt modelId="{6EB0EFF8-0C42-4EF9-9C2C-CFC7394E0CEC}" type="pres">
      <dgm:prSet presAssocID="{3F3DFE54-F6B7-43ED-84E5-2138CE660EB6}" presName="childText" presStyleLbl="conFgAcc1" presStyleIdx="1" presStyleCnt="2">
        <dgm:presLayoutVars>
          <dgm:bulletEnabled val="1"/>
        </dgm:presLayoutVars>
      </dgm:prSet>
      <dgm:spPr/>
    </dgm:pt>
  </dgm:ptLst>
  <dgm:cxnLst>
    <dgm:cxn modelId="{EDA5AD18-5AD5-44AA-855C-93782C77F351}" srcId="{1ABAFF19-3AEA-4097-8AAE-B0E8391780F7}" destId="{0C1BEE06-F90E-4F09-93B1-D550B806CA6C}" srcOrd="0" destOrd="0" parTransId="{1C6E13D2-05A4-4EA5-B0FB-6A1163A05D3F}" sibTransId="{31DBE3B1-489D-4A12-8CA6-D49A4738C6DE}"/>
    <dgm:cxn modelId="{51F1EF38-B93F-42C4-8499-9FA3E48A4234}" type="presOf" srcId="{2B5DA1EB-E771-49A5-867E-D9665D475071}" destId="{2A8F8C97-D792-4E29-9ADB-A33A1728580F}" srcOrd="0" destOrd="0" presId="urn:microsoft.com/office/officeart/2005/8/layout/list1"/>
    <dgm:cxn modelId="{710F3773-380C-452A-B8E5-ACE531C1737D}" srcId="{0C1BEE06-F90E-4F09-93B1-D550B806CA6C}" destId="{2B5DA1EB-E771-49A5-867E-D9665D475071}" srcOrd="0" destOrd="0" parTransId="{DD750D13-57AD-4795-8AF1-C66AB423D0AD}" sibTransId="{448BFBFD-9308-4A33-BEA8-5A2FB6BB745D}"/>
    <dgm:cxn modelId="{B0A9B776-35AF-48D4-BFF4-277D6353C2FC}" type="presOf" srcId="{0C1BEE06-F90E-4F09-93B1-D550B806CA6C}" destId="{3A3AD406-9F02-4B7C-A576-31CAD64141FB}" srcOrd="0" destOrd="0" presId="urn:microsoft.com/office/officeart/2005/8/layout/list1"/>
    <dgm:cxn modelId="{EA14688B-076D-4056-931B-F74C89BF1C9E}" srcId="{1ABAFF19-3AEA-4097-8AAE-B0E8391780F7}" destId="{3F3DFE54-F6B7-43ED-84E5-2138CE660EB6}" srcOrd="1" destOrd="0" parTransId="{35603E27-4986-4093-BA13-540EF067230A}" sibTransId="{A9A51733-DE1F-469E-8D4B-A6E9376ABC7F}"/>
    <dgm:cxn modelId="{C58C6D8D-0F6A-41DE-BE99-C70A31B35699}" type="presOf" srcId="{1ABAFF19-3AEA-4097-8AAE-B0E8391780F7}" destId="{D834BA1F-3574-4DD1-BA2B-1AFDA1B9DFB4}" srcOrd="0" destOrd="0" presId="urn:microsoft.com/office/officeart/2005/8/layout/list1"/>
    <dgm:cxn modelId="{03A4159A-4EBA-4FA7-8F3E-5BD1C16A34D0}" type="presOf" srcId="{3F3DFE54-F6B7-43ED-84E5-2138CE660EB6}" destId="{CD8EDF22-9A27-49D7-87DD-3C29CC93D73D}" srcOrd="1" destOrd="0" presId="urn:microsoft.com/office/officeart/2005/8/layout/list1"/>
    <dgm:cxn modelId="{CC8A0B9C-4640-40CE-ADE6-DF681DFEEE51}" type="presOf" srcId="{BC9F2467-8675-4C7B-A23B-F5B8B939445E}" destId="{6EB0EFF8-0C42-4EF9-9C2C-CFC7394E0CEC}" srcOrd="0" destOrd="0" presId="urn:microsoft.com/office/officeart/2005/8/layout/list1"/>
    <dgm:cxn modelId="{18CD7FB9-3224-4608-80A8-03227FC84AEF}" type="presOf" srcId="{0C1BEE06-F90E-4F09-93B1-D550B806CA6C}" destId="{49E13C96-EE4B-48D1-8768-AE8ECE07E331}" srcOrd="1" destOrd="0" presId="urn:microsoft.com/office/officeart/2005/8/layout/list1"/>
    <dgm:cxn modelId="{E86429EC-2392-47BA-9AB5-071E4B75E5F1}" type="presOf" srcId="{3F3DFE54-F6B7-43ED-84E5-2138CE660EB6}" destId="{F0839E54-C2C9-4E12-8664-B616247CC422}" srcOrd="0" destOrd="0" presId="urn:microsoft.com/office/officeart/2005/8/layout/list1"/>
    <dgm:cxn modelId="{E9A8AFEE-FA31-4B1D-BCC6-EB81265C2F25}" srcId="{3F3DFE54-F6B7-43ED-84E5-2138CE660EB6}" destId="{BC9F2467-8675-4C7B-A23B-F5B8B939445E}" srcOrd="0" destOrd="0" parTransId="{4C54B955-7CC3-4BE7-8D3F-2A5FDB33B454}" sibTransId="{2D52629A-90C7-4C02-B7FA-11727220C377}"/>
    <dgm:cxn modelId="{D16F14BC-919C-407D-9F91-3E9A927135BB}" type="presParOf" srcId="{D834BA1F-3574-4DD1-BA2B-1AFDA1B9DFB4}" destId="{698E3174-0318-4F94-9674-373830A430B0}" srcOrd="0" destOrd="0" presId="urn:microsoft.com/office/officeart/2005/8/layout/list1"/>
    <dgm:cxn modelId="{B62856A7-083E-400F-9694-9EB44D3B7BC0}" type="presParOf" srcId="{698E3174-0318-4F94-9674-373830A430B0}" destId="{3A3AD406-9F02-4B7C-A576-31CAD64141FB}" srcOrd="0" destOrd="0" presId="urn:microsoft.com/office/officeart/2005/8/layout/list1"/>
    <dgm:cxn modelId="{32A0C464-B9F5-4E90-AC51-22A63AD2C577}" type="presParOf" srcId="{698E3174-0318-4F94-9674-373830A430B0}" destId="{49E13C96-EE4B-48D1-8768-AE8ECE07E331}" srcOrd="1" destOrd="0" presId="urn:microsoft.com/office/officeart/2005/8/layout/list1"/>
    <dgm:cxn modelId="{5E5B1DDA-3810-44FD-8183-E6F7B748D5C5}" type="presParOf" srcId="{D834BA1F-3574-4DD1-BA2B-1AFDA1B9DFB4}" destId="{0A19CEC3-B103-4F3A-9B3C-FE1A70884031}" srcOrd="1" destOrd="0" presId="urn:microsoft.com/office/officeart/2005/8/layout/list1"/>
    <dgm:cxn modelId="{033ED4DB-9E6E-436F-8018-68F8CC396992}" type="presParOf" srcId="{D834BA1F-3574-4DD1-BA2B-1AFDA1B9DFB4}" destId="{2A8F8C97-D792-4E29-9ADB-A33A1728580F}" srcOrd="2" destOrd="0" presId="urn:microsoft.com/office/officeart/2005/8/layout/list1"/>
    <dgm:cxn modelId="{BDA5F5B3-5881-4124-843A-1FD46D6C56C2}" type="presParOf" srcId="{D834BA1F-3574-4DD1-BA2B-1AFDA1B9DFB4}" destId="{E9D3FC74-370E-4118-9A41-52FB915D24B6}" srcOrd="3" destOrd="0" presId="urn:microsoft.com/office/officeart/2005/8/layout/list1"/>
    <dgm:cxn modelId="{1CBDB688-C31F-4B6E-A5D5-E8677DC6B409}" type="presParOf" srcId="{D834BA1F-3574-4DD1-BA2B-1AFDA1B9DFB4}" destId="{DDC2F1DC-AC4E-4BD5-8F1F-3AB55F5B9E84}" srcOrd="4" destOrd="0" presId="urn:microsoft.com/office/officeart/2005/8/layout/list1"/>
    <dgm:cxn modelId="{0F5A7F57-31D3-4E79-835E-111F9624272E}" type="presParOf" srcId="{DDC2F1DC-AC4E-4BD5-8F1F-3AB55F5B9E84}" destId="{F0839E54-C2C9-4E12-8664-B616247CC422}" srcOrd="0" destOrd="0" presId="urn:microsoft.com/office/officeart/2005/8/layout/list1"/>
    <dgm:cxn modelId="{6A11352D-93F5-4A9F-AF17-71DF26BFE7D8}" type="presParOf" srcId="{DDC2F1DC-AC4E-4BD5-8F1F-3AB55F5B9E84}" destId="{CD8EDF22-9A27-49D7-87DD-3C29CC93D73D}" srcOrd="1" destOrd="0" presId="urn:microsoft.com/office/officeart/2005/8/layout/list1"/>
    <dgm:cxn modelId="{D91473F5-4CA9-4BD3-897D-18564E2185B0}" type="presParOf" srcId="{D834BA1F-3574-4DD1-BA2B-1AFDA1B9DFB4}" destId="{72D71622-01F6-453A-84C1-5F1DDDB24708}" srcOrd="5" destOrd="0" presId="urn:microsoft.com/office/officeart/2005/8/layout/list1"/>
    <dgm:cxn modelId="{08E9880D-CAAF-49C4-BBCA-83E123248F03}" type="presParOf" srcId="{D834BA1F-3574-4DD1-BA2B-1AFDA1B9DFB4}" destId="{6EB0EFF8-0C42-4EF9-9C2C-CFC7394E0CEC}"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3825B7F-76EA-4247-A37C-D71BBC5B234F}"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2A368E46-C8CC-44DD-8F19-C86263456431}">
      <dgm:prSet custT="1"/>
      <dgm:spPr/>
      <dgm:t>
        <a:bodyPr/>
        <a:lstStyle/>
        <a:p>
          <a:r>
            <a:rPr lang="en-GB" sz="2800" dirty="0"/>
            <a:t>Diagnosing problems in systems (e.g., medical diagnostics).</a:t>
          </a:r>
          <a:endParaRPr lang="en-US" sz="2800" dirty="0"/>
        </a:p>
      </dgm:t>
    </dgm:pt>
    <dgm:pt modelId="{0395EF35-31CD-4ADA-B91B-1CF701FE1FBC}" type="parTrans" cxnId="{644387A4-B053-40F5-9261-7408EE658057}">
      <dgm:prSet/>
      <dgm:spPr/>
      <dgm:t>
        <a:bodyPr/>
        <a:lstStyle/>
        <a:p>
          <a:endParaRPr lang="en-US"/>
        </a:p>
      </dgm:t>
    </dgm:pt>
    <dgm:pt modelId="{CF003E41-D897-4767-86F3-C9E451A75AAD}" type="sibTrans" cxnId="{644387A4-B053-40F5-9261-7408EE658057}">
      <dgm:prSet/>
      <dgm:spPr/>
      <dgm:t>
        <a:bodyPr/>
        <a:lstStyle/>
        <a:p>
          <a:endParaRPr lang="en-US"/>
        </a:p>
      </dgm:t>
    </dgm:pt>
    <dgm:pt modelId="{56A42C0E-9AD8-4846-AA0D-273346120762}">
      <dgm:prSet custT="1"/>
      <dgm:spPr/>
      <dgm:t>
        <a:bodyPr/>
        <a:lstStyle/>
        <a:p>
          <a:r>
            <a:rPr lang="en-GB" sz="2800" dirty="0"/>
            <a:t>Predicting outcomes in various domains (e.g., weather forecasts).</a:t>
          </a:r>
          <a:endParaRPr lang="en-US" sz="2800" dirty="0"/>
        </a:p>
      </dgm:t>
    </dgm:pt>
    <dgm:pt modelId="{492BAA64-C38E-4565-9CAA-967E7BEEE857}" type="parTrans" cxnId="{EE26AEFF-BA5C-4BA7-BAC1-AE214B6BC573}">
      <dgm:prSet/>
      <dgm:spPr/>
      <dgm:t>
        <a:bodyPr/>
        <a:lstStyle/>
        <a:p>
          <a:endParaRPr lang="en-US"/>
        </a:p>
      </dgm:t>
    </dgm:pt>
    <dgm:pt modelId="{67088E77-1558-4898-9B9F-47FA35E40E78}" type="sibTrans" cxnId="{EE26AEFF-BA5C-4BA7-BAC1-AE214B6BC573}">
      <dgm:prSet/>
      <dgm:spPr/>
      <dgm:t>
        <a:bodyPr/>
        <a:lstStyle/>
        <a:p>
          <a:endParaRPr lang="en-US"/>
        </a:p>
      </dgm:t>
    </dgm:pt>
    <dgm:pt modelId="{9D791316-D4A7-49D8-8886-0C57EDADDC3F}" type="pres">
      <dgm:prSet presAssocID="{E3825B7F-76EA-4247-A37C-D71BBC5B234F}" presName="root" presStyleCnt="0">
        <dgm:presLayoutVars>
          <dgm:dir/>
          <dgm:resizeHandles val="exact"/>
        </dgm:presLayoutVars>
      </dgm:prSet>
      <dgm:spPr/>
    </dgm:pt>
    <dgm:pt modelId="{08FEC9E9-BFEE-4731-9010-91A131E630C2}" type="pres">
      <dgm:prSet presAssocID="{2A368E46-C8CC-44DD-8F19-C86263456431}" presName="compNode" presStyleCnt="0"/>
      <dgm:spPr/>
    </dgm:pt>
    <dgm:pt modelId="{884F8EEB-DB84-4A2E-BE18-1EEA64EAF329}" type="pres">
      <dgm:prSet presAssocID="{2A368E46-C8CC-44DD-8F19-C86263456431}"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ospital"/>
        </a:ext>
      </dgm:extLst>
    </dgm:pt>
    <dgm:pt modelId="{B80450AC-D6A4-434B-AE35-B119CD712C15}" type="pres">
      <dgm:prSet presAssocID="{2A368E46-C8CC-44DD-8F19-C86263456431}" presName="spaceRect" presStyleCnt="0"/>
      <dgm:spPr/>
    </dgm:pt>
    <dgm:pt modelId="{05BECA00-1C49-48F7-97CE-36445330B826}" type="pres">
      <dgm:prSet presAssocID="{2A368E46-C8CC-44DD-8F19-C86263456431}" presName="textRect" presStyleLbl="revTx" presStyleIdx="0" presStyleCnt="2" custScaleX="115041">
        <dgm:presLayoutVars>
          <dgm:chMax val="1"/>
          <dgm:chPref val="1"/>
        </dgm:presLayoutVars>
      </dgm:prSet>
      <dgm:spPr/>
    </dgm:pt>
    <dgm:pt modelId="{459114BB-6BD7-4CA6-A065-26E586DA7770}" type="pres">
      <dgm:prSet presAssocID="{CF003E41-D897-4767-86F3-C9E451A75AAD}" presName="sibTrans" presStyleCnt="0"/>
      <dgm:spPr/>
    </dgm:pt>
    <dgm:pt modelId="{9105E6EE-F001-4A21-A053-80AD9142780D}" type="pres">
      <dgm:prSet presAssocID="{56A42C0E-9AD8-4846-AA0D-273346120762}" presName="compNode" presStyleCnt="0"/>
      <dgm:spPr/>
    </dgm:pt>
    <dgm:pt modelId="{08E3388F-0A64-4C09-9388-E7C3D8A25D64}" type="pres">
      <dgm:prSet presAssocID="{56A42C0E-9AD8-4846-AA0D-27334612076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ightning"/>
        </a:ext>
      </dgm:extLst>
    </dgm:pt>
    <dgm:pt modelId="{FA48DFAA-DC56-4ED4-B12D-0F0090FAF737}" type="pres">
      <dgm:prSet presAssocID="{56A42C0E-9AD8-4846-AA0D-273346120762}" presName="spaceRect" presStyleCnt="0"/>
      <dgm:spPr/>
    </dgm:pt>
    <dgm:pt modelId="{F457E3D7-4839-4402-BA03-D36639571F4A}" type="pres">
      <dgm:prSet presAssocID="{56A42C0E-9AD8-4846-AA0D-273346120762}" presName="textRect" presStyleLbl="revTx" presStyleIdx="1" presStyleCnt="2" custScaleX="108872">
        <dgm:presLayoutVars>
          <dgm:chMax val="1"/>
          <dgm:chPref val="1"/>
        </dgm:presLayoutVars>
      </dgm:prSet>
      <dgm:spPr/>
    </dgm:pt>
  </dgm:ptLst>
  <dgm:cxnLst>
    <dgm:cxn modelId="{DF57760A-7A72-43E3-B6A3-162BDBD8422D}" type="presOf" srcId="{E3825B7F-76EA-4247-A37C-D71BBC5B234F}" destId="{9D791316-D4A7-49D8-8886-0C57EDADDC3F}" srcOrd="0" destOrd="0" presId="urn:microsoft.com/office/officeart/2018/2/layout/IconLabelList"/>
    <dgm:cxn modelId="{644387A4-B053-40F5-9261-7408EE658057}" srcId="{E3825B7F-76EA-4247-A37C-D71BBC5B234F}" destId="{2A368E46-C8CC-44DD-8F19-C86263456431}" srcOrd="0" destOrd="0" parTransId="{0395EF35-31CD-4ADA-B91B-1CF701FE1FBC}" sibTransId="{CF003E41-D897-4767-86F3-C9E451A75AAD}"/>
    <dgm:cxn modelId="{41D86CF4-E1B6-4F46-B7BC-BF043221E356}" type="presOf" srcId="{56A42C0E-9AD8-4846-AA0D-273346120762}" destId="{F457E3D7-4839-4402-BA03-D36639571F4A}" srcOrd="0" destOrd="0" presId="urn:microsoft.com/office/officeart/2018/2/layout/IconLabelList"/>
    <dgm:cxn modelId="{85F8FCF4-7263-4693-BA81-F3856D076388}" type="presOf" srcId="{2A368E46-C8CC-44DD-8F19-C86263456431}" destId="{05BECA00-1C49-48F7-97CE-36445330B826}" srcOrd="0" destOrd="0" presId="urn:microsoft.com/office/officeart/2018/2/layout/IconLabelList"/>
    <dgm:cxn modelId="{EE26AEFF-BA5C-4BA7-BAC1-AE214B6BC573}" srcId="{E3825B7F-76EA-4247-A37C-D71BBC5B234F}" destId="{56A42C0E-9AD8-4846-AA0D-273346120762}" srcOrd="1" destOrd="0" parTransId="{492BAA64-C38E-4565-9CAA-967E7BEEE857}" sibTransId="{67088E77-1558-4898-9B9F-47FA35E40E78}"/>
    <dgm:cxn modelId="{7B31C9BB-EAAA-4291-BE98-D5C315F3CC5A}" type="presParOf" srcId="{9D791316-D4A7-49D8-8886-0C57EDADDC3F}" destId="{08FEC9E9-BFEE-4731-9010-91A131E630C2}" srcOrd="0" destOrd="0" presId="urn:microsoft.com/office/officeart/2018/2/layout/IconLabelList"/>
    <dgm:cxn modelId="{47CEC728-15E4-4D1D-B403-A5C7FE6EEC1C}" type="presParOf" srcId="{08FEC9E9-BFEE-4731-9010-91A131E630C2}" destId="{884F8EEB-DB84-4A2E-BE18-1EEA64EAF329}" srcOrd="0" destOrd="0" presId="urn:microsoft.com/office/officeart/2018/2/layout/IconLabelList"/>
    <dgm:cxn modelId="{85687562-1250-49F6-9B96-A6CF97313D6C}" type="presParOf" srcId="{08FEC9E9-BFEE-4731-9010-91A131E630C2}" destId="{B80450AC-D6A4-434B-AE35-B119CD712C15}" srcOrd="1" destOrd="0" presId="urn:microsoft.com/office/officeart/2018/2/layout/IconLabelList"/>
    <dgm:cxn modelId="{FFCDF42D-1591-4056-B7EB-8FB86D756F45}" type="presParOf" srcId="{08FEC9E9-BFEE-4731-9010-91A131E630C2}" destId="{05BECA00-1C49-48F7-97CE-36445330B826}" srcOrd="2" destOrd="0" presId="urn:microsoft.com/office/officeart/2018/2/layout/IconLabelList"/>
    <dgm:cxn modelId="{57E483BB-AD83-4411-9327-171F929B6FD1}" type="presParOf" srcId="{9D791316-D4A7-49D8-8886-0C57EDADDC3F}" destId="{459114BB-6BD7-4CA6-A065-26E586DA7770}" srcOrd="1" destOrd="0" presId="urn:microsoft.com/office/officeart/2018/2/layout/IconLabelList"/>
    <dgm:cxn modelId="{9D52698A-B136-49A1-8DF2-62910A0D1F2F}" type="presParOf" srcId="{9D791316-D4A7-49D8-8886-0C57EDADDC3F}" destId="{9105E6EE-F001-4A21-A053-80AD9142780D}" srcOrd="2" destOrd="0" presId="urn:microsoft.com/office/officeart/2018/2/layout/IconLabelList"/>
    <dgm:cxn modelId="{255134B9-F102-4470-92F8-4E6514F9874F}" type="presParOf" srcId="{9105E6EE-F001-4A21-A053-80AD9142780D}" destId="{08E3388F-0A64-4C09-9388-E7C3D8A25D64}" srcOrd="0" destOrd="0" presId="urn:microsoft.com/office/officeart/2018/2/layout/IconLabelList"/>
    <dgm:cxn modelId="{C5E82590-F6D1-4CF2-86B8-6C912658502F}" type="presParOf" srcId="{9105E6EE-F001-4A21-A053-80AD9142780D}" destId="{FA48DFAA-DC56-4ED4-B12D-0F0090FAF737}" srcOrd="1" destOrd="0" presId="urn:microsoft.com/office/officeart/2018/2/layout/IconLabelList"/>
    <dgm:cxn modelId="{3EE4B060-47D8-46D6-A3A5-EA8D653FA240}" type="presParOf" srcId="{9105E6EE-F001-4A21-A053-80AD9142780D}" destId="{F457E3D7-4839-4402-BA03-D36639571F4A}"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C7B95D-FC8B-44BC-816F-8FC732EF125D}">
      <dsp:nvSpPr>
        <dsp:cNvPr id="0" name=""/>
        <dsp:cNvSpPr/>
      </dsp:nvSpPr>
      <dsp:spPr>
        <a:xfrm>
          <a:off x="0" y="26583"/>
          <a:ext cx="5918184" cy="2309579"/>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kern="1200" dirty="0"/>
            <a:t>This week lecture will cover the following CLO’s:</a:t>
          </a:r>
        </a:p>
      </dsp:txBody>
      <dsp:txXfrm>
        <a:off x="112744" y="139327"/>
        <a:ext cx="5692696" cy="2084091"/>
      </dsp:txXfrm>
    </dsp:sp>
    <dsp:sp modelId="{A025C2BC-3DF5-4B12-A043-E15E948A1F98}">
      <dsp:nvSpPr>
        <dsp:cNvPr id="0" name=""/>
        <dsp:cNvSpPr/>
      </dsp:nvSpPr>
      <dsp:spPr>
        <a:xfrm>
          <a:off x="0" y="2336163"/>
          <a:ext cx="5918184" cy="3042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7902" tIns="53340" rIns="298704" bIns="53340" numCol="1" spcCol="1270" anchor="t" anchorCtr="0">
          <a:noAutofit/>
        </a:bodyPr>
        <a:lstStyle/>
        <a:p>
          <a:pPr marL="285750" lvl="1" indent="-285750" algn="just" defTabSz="1466850">
            <a:lnSpc>
              <a:spcPct val="90000"/>
            </a:lnSpc>
            <a:spcBef>
              <a:spcPct val="0"/>
            </a:spcBef>
            <a:spcAft>
              <a:spcPct val="20000"/>
            </a:spcAft>
            <a:buChar char="•"/>
          </a:pPr>
          <a:r>
            <a:rPr lang="en-US" sz="3300" b="1" kern="1200" dirty="0"/>
            <a:t>CLO1: </a:t>
          </a:r>
          <a:r>
            <a:rPr lang="en-US" sz="3300" b="0" kern="1200" dirty="0"/>
            <a:t>Discuss the key concepts in the field of artificial intelligence</a:t>
          </a:r>
          <a:endParaRPr lang="en-US" sz="3300" kern="1200" dirty="0"/>
        </a:p>
        <a:p>
          <a:pPr marL="285750" lvl="1" indent="-285750" algn="just" defTabSz="1466850">
            <a:lnSpc>
              <a:spcPct val="90000"/>
            </a:lnSpc>
            <a:spcBef>
              <a:spcPct val="0"/>
            </a:spcBef>
            <a:spcAft>
              <a:spcPct val="20000"/>
            </a:spcAft>
            <a:buChar char="•"/>
          </a:pPr>
          <a:r>
            <a:rPr lang="en-US" sz="3300" b="1" kern="1200" dirty="0"/>
            <a:t>CLO 2: Implement </a:t>
          </a:r>
          <a:r>
            <a:rPr lang="en-US" sz="3300" kern="1200" dirty="0"/>
            <a:t>artificial intelligence techniques and case studies</a:t>
          </a:r>
        </a:p>
      </dsp:txBody>
      <dsp:txXfrm>
        <a:off x="0" y="2336163"/>
        <a:ext cx="5918184" cy="30429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8F8C97-D792-4E29-9ADB-A33A1728580F}">
      <dsp:nvSpPr>
        <dsp:cNvPr id="0" name=""/>
        <dsp:cNvSpPr/>
      </dsp:nvSpPr>
      <dsp:spPr>
        <a:xfrm>
          <a:off x="0" y="965388"/>
          <a:ext cx="6666833" cy="218295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1312164" rIns="517420" bIns="170688" numCol="1" spcCol="1270" anchor="t" anchorCtr="0">
          <a:noAutofit/>
        </a:bodyPr>
        <a:lstStyle/>
        <a:p>
          <a:pPr marL="228600" lvl="1" indent="-228600" algn="l" defTabSz="1066800">
            <a:lnSpc>
              <a:spcPct val="90000"/>
            </a:lnSpc>
            <a:spcBef>
              <a:spcPct val="0"/>
            </a:spcBef>
            <a:spcAft>
              <a:spcPct val="15000"/>
            </a:spcAft>
            <a:buChar char="•"/>
          </a:pPr>
          <a:r>
            <a:rPr lang="en-GB" sz="2400" kern="1200" dirty="0"/>
            <a:t>Introduction to </a:t>
          </a:r>
          <a:r>
            <a:rPr lang="en-US" sz="2400" b="0" kern="1200" dirty="0">
              <a:solidFill>
                <a:schemeClr val="tx1"/>
              </a:solidFill>
              <a:latin typeface="+mj-lt"/>
              <a:ea typeface="+mj-ea"/>
              <a:cs typeface="+mj-cs"/>
            </a:rPr>
            <a:t>Representation, Reasoning, and Logic</a:t>
          </a:r>
          <a:r>
            <a:rPr lang="en-GB" sz="2400" b="0" kern="1200" dirty="0">
              <a:solidFill>
                <a:schemeClr val="tx1"/>
              </a:solidFill>
            </a:rPr>
            <a:t> </a:t>
          </a:r>
          <a:endParaRPr lang="en-US" sz="2400" b="0" kern="1200" dirty="0">
            <a:solidFill>
              <a:schemeClr val="tx1"/>
            </a:solidFill>
          </a:endParaRPr>
        </a:p>
      </dsp:txBody>
      <dsp:txXfrm>
        <a:off x="0" y="965388"/>
        <a:ext cx="6666833" cy="2182950"/>
      </dsp:txXfrm>
    </dsp:sp>
    <dsp:sp modelId="{49E13C96-EE4B-48D1-8768-AE8ECE07E331}">
      <dsp:nvSpPr>
        <dsp:cNvPr id="0" name=""/>
        <dsp:cNvSpPr/>
      </dsp:nvSpPr>
      <dsp:spPr>
        <a:xfrm>
          <a:off x="333341" y="35508"/>
          <a:ext cx="4666783" cy="185976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66800">
            <a:lnSpc>
              <a:spcPct val="90000"/>
            </a:lnSpc>
            <a:spcBef>
              <a:spcPct val="0"/>
            </a:spcBef>
            <a:spcAft>
              <a:spcPct val="35000"/>
            </a:spcAft>
            <a:buNone/>
          </a:pPr>
          <a:r>
            <a:rPr lang="en-GB" sz="2400" b="1" kern="1200" dirty="0"/>
            <a:t>CLO 1:</a:t>
          </a:r>
          <a:endParaRPr lang="en-US" sz="2400" kern="1200" dirty="0"/>
        </a:p>
      </dsp:txBody>
      <dsp:txXfrm>
        <a:off x="424127" y="126294"/>
        <a:ext cx="4485211" cy="1678188"/>
      </dsp:txXfrm>
    </dsp:sp>
    <dsp:sp modelId="{6EB0EFF8-0C42-4EF9-9C2C-CFC7394E0CEC}">
      <dsp:nvSpPr>
        <dsp:cNvPr id="0" name=""/>
        <dsp:cNvSpPr/>
      </dsp:nvSpPr>
      <dsp:spPr>
        <a:xfrm>
          <a:off x="0" y="4418418"/>
          <a:ext cx="6666833" cy="1835662"/>
        </a:xfrm>
        <a:prstGeom prst="rect">
          <a:avLst/>
        </a:prstGeom>
        <a:solidFill>
          <a:schemeClr val="lt1">
            <a:alpha val="90000"/>
            <a:hueOff val="0"/>
            <a:satOff val="0"/>
            <a:lumOff val="0"/>
            <a:alphaOff val="0"/>
          </a:schemeClr>
        </a:solid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1312164" rIns="517420"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Logic-based Systems (Eliza, Student)</a:t>
          </a:r>
        </a:p>
      </dsp:txBody>
      <dsp:txXfrm>
        <a:off x="0" y="4418418"/>
        <a:ext cx="6666833" cy="1835662"/>
      </dsp:txXfrm>
    </dsp:sp>
    <dsp:sp modelId="{CD8EDF22-9A27-49D7-87DD-3C29CC93D73D}">
      <dsp:nvSpPr>
        <dsp:cNvPr id="0" name=""/>
        <dsp:cNvSpPr/>
      </dsp:nvSpPr>
      <dsp:spPr>
        <a:xfrm>
          <a:off x="333341" y="3488538"/>
          <a:ext cx="4666783" cy="185976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66800">
            <a:lnSpc>
              <a:spcPct val="90000"/>
            </a:lnSpc>
            <a:spcBef>
              <a:spcPct val="0"/>
            </a:spcBef>
            <a:spcAft>
              <a:spcPct val="35000"/>
            </a:spcAft>
            <a:buNone/>
          </a:pPr>
          <a:r>
            <a:rPr lang="en-GB" sz="2400" b="1" kern="1200" dirty="0"/>
            <a:t>CLO 2:</a:t>
          </a:r>
          <a:endParaRPr lang="en-US" sz="2400" kern="1200" dirty="0"/>
        </a:p>
      </dsp:txBody>
      <dsp:txXfrm>
        <a:off x="424127" y="3579324"/>
        <a:ext cx="4485211" cy="167818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4F8EEB-DB84-4A2E-BE18-1EEA64EAF329}">
      <dsp:nvSpPr>
        <dsp:cNvPr id="0" name=""/>
        <dsp:cNvSpPr/>
      </dsp:nvSpPr>
      <dsp:spPr>
        <a:xfrm>
          <a:off x="1829757" y="467254"/>
          <a:ext cx="1908562" cy="19085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BECA00-1C49-48F7-97CE-36445330B826}">
      <dsp:nvSpPr>
        <dsp:cNvPr id="0" name=""/>
        <dsp:cNvSpPr/>
      </dsp:nvSpPr>
      <dsp:spPr>
        <a:xfrm>
          <a:off x="344450" y="2864704"/>
          <a:ext cx="4879176" cy="8608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90000"/>
            </a:lnSpc>
            <a:spcBef>
              <a:spcPct val="0"/>
            </a:spcBef>
            <a:spcAft>
              <a:spcPct val="35000"/>
            </a:spcAft>
            <a:buNone/>
          </a:pPr>
          <a:r>
            <a:rPr lang="en-GB" sz="2800" kern="1200" dirty="0"/>
            <a:t>Diagnosing problems in systems (e.g., medical diagnostics).</a:t>
          </a:r>
          <a:endParaRPr lang="en-US" sz="2800" kern="1200" dirty="0"/>
        </a:p>
      </dsp:txBody>
      <dsp:txXfrm>
        <a:off x="344450" y="2864704"/>
        <a:ext cx="4879176" cy="860846"/>
      </dsp:txXfrm>
    </dsp:sp>
    <dsp:sp modelId="{08E3388F-0A64-4C09-9388-E7C3D8A25D64}">
      <dsp:nvSpPr>
        <dsp:cNvPr id="0" name=""/>
        <dsp:cNvSpPr/>
      </dsp:nvSpPr>
      <dsp:spPr>
        <a:xfrm>
          <a:off x="7320330" y="467254"/>
          <a:ext cx="1908562" cy="19085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57E3D7-4839-4402-BA03-D36639571F4A}">
      <dsp:nvSpPr>
        <dsp:cNvPr id="0" name=""/>
        <dsp:cNvSpPr/>
      </dsp:nvSpPr>
      <dsp:spPr>
        <a:xfrm>
          <a:off x="5965845" y="2864704"/>
          <a:ext cx="4617533" cy="8608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90000"/>
            </a:lnSpc>
            <a:spcBef>
              <a:spcPct val="0"/>
            </a:spcBef>
            <a:spcAft>
              <a:spcPct val="35000"/>
            </a:spcAft>
            <a:buNone/>
          </a:pPr>
          <a:r>
            <a:rPr lang="en-GB" sz="2800" kern="1200" dirty="0"/>
            <a:t>Predicting outcomes in various domains (e.g., weather forecasts).</a:t>
          </a:r>
          <a:endParaRPr lang="en-US" sz="2800" kern="1200" dirty="0"/>
        </a:p>
      </dsp:txBody>
      <dsp:txXfrm>
        <a:off x="5965845" y="2864704"/>
        <a:ext cx="4617533" cy="86084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D22099-AF8A-4701-B810-968115DD4CD5}" type="datetimeFigureOut">
              <a:rPr lang="en-PK" smtClean="0"/>
              <a:t>01/07/2026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22CE8F-AF87-4DC9-8931-B46FD2A57B7E}" type="slidenum">
              <a:rPr lang="en-PK" smtClean="0"/>
              <a:t>‹#›</a:t>
            </a:fld>
            <a:endParaRPr lang="en-PK"/>
          </a:p>
        </p:txBody>
      </p:sp>
    </p:spTree>
    <p:extLst>
      <p:ext uri="{BB962C8B-B14F-4D97-AF65-F5344CB8AC3E}">
        <p14:creationId xmlns:p14="http://schemas.microsoft.com/office/powerpoint/2010/main" val="3788524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770C78-D1E4-43B4-9084-D5891F6FAD77}" type="slidenum">
              <a:rPr kumimoji="0" lang="en-P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P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86145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1D35"/>
                </a:solidFill>
                <a:effectLst/>
                <a:latin typeface="Google Sans"/>
              </a:rPr>
              <a:t>Predicate logic, also known as first-order logic (FOL), is a foundational tool in Artificial Intelligence (AI) for representing knowledge and performing reasoning. It extends propositional logic by allowing us to express relationships between objects and their properties, making it suitable for modeling complex real-world scenarios. </a:t>
            </a:r>
            <a:endParaRPr lang="en-US" dirty="0"/>
          </a:p>
        </p:txBody>
      </p:sp>
      <p:sp>
        <p:nvSpPr>
          <p:cNvPr id="4" name="Slide Number Placeholder 3"/>
          <p:cNvSpPr>
            <a:spLocks noGrp="1"/>
          </p:cNvSpPr>
          <p:nvPr>
            <p:ph type="sldNum" sz="quarter" idx="5"/>
          </p:nvPr>
        </p:nvSpPr>
        <p:spPr/>
        <p:txBody>
          <a:bodyPr/>
          <a:lstStyle/>
          <a:p>
            <a:fld id="{8A22CE8F-AF87-4DC9-8931-B46FD2A57B7E}" type="slidenum">
              <a:rPr lang="en-PK" smtClean="0"/>
              <a:t>10</a:t>
            </a:fld>
            <a:endParaRPr lang="en-PK"/>
          </a:p>
        </p:txBody>
      </p:sp>
    </p:spTree>
    <p:extLst>
      <p:ext uri="{BB962C8B-B14F-4D97-AF65-F5344CB8AC3E}">
        <p14:creationId xmlns:p14="http://schemas.microsoft.com/office/powerpoint/2010/main" val="259786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8A22CE8F-AF87-4DC9-8931-B46FD2A57B7E}" type="slidenum">
              <a:rPr lang="en-PK" smtClean="0"/>
              <a:t>14</a:t>
            </a:fld>
            <a:endParaRPr lang="en-PK"/>
          </a:p>
        </p:txBody>
      </p:sp>
    </p:spTree>
    <p:extLst>
      <p:ext uri="{BB962C8B-B14F-4D97-AF65-F5344CB8AC3E}">
        <p14:creationId xmlns:p14="http://schemas.microsoft.com/office/powerpoint/2010/main" val="20723012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Socrates: Greek philosopher </a:t>
            </a:r>
          </a:p>
          <a:p>
            <a:r>
              <a:rPr lang="en-US" dirty="0"/>
              <a:t>If x is a human, then x is mortal</a:t>
            </a:r>
          </a:p>
          <a:p>
            <a:endParaRPr lang="en-US" dirty="0"/>
          </a:p>
          <a:p>
            <a:pPr>
              <a:buNone/>
            </a:pPr>
            <a:r>
              <a:rPr lang="en-US" dirty="0"/>
              <a:t>∃x = "There exists an x" (at least one x)</a:t>
            </a:r>
          </a:p>
          <a:p>
            <a:r>
              <a:rPr lang="en-US" dirty="0"/>
              <a:t>Cat(x)∧Black(x) = "x is a cat and x is black“</a:t>
            </a:r>
          </a:p>
          <a:p>
            <a:endParaRPr lang="en-US" dirty="0"/>
          </a:p>
          <a:p>
            <a:r>
              <a:rPr lang="en-US" dirty="0"/>
              <a:t>There is at least one black cat.</a:t>
            </a:r>
          </a:p>
          <a:p>
            <a:endParaRPr lang="en-US" dirty="0"/>
          </a:p>
        </p:txBody>
      </p:sp>
      <p:sp>
        <p:nvSpPr>
          <p:cNvPr id="4" name="Slide Number Placeholder 3"/>
          <p:cNvSpPr>
            <a:spLocks noGrp="1"/>
          </p:cNvSpPr>
          <p:nvPr>
            <p:ph type="sldNum" sz="quarter" idx="5"/>
          </p:nvPr>
        </p:nvSpPr>
        <p:spPr/>
        <p:txBody>
          <a:bodyPr/>
          <a:lstStyle/>
          <a:p>
            <a:fld id="{8A22CE8F-AF87-4DC9-8931-B46FD2A57B7E}" type="slidenum">
              <a:rPr lang="en-PK" smtClean="0"/>
              <a:t>21</a:t>
            </a:fld>
            <a:endParaRPr lang="en-PK"/>
          </a:p>
        </p:txBody>
      </p:sp>
    </p:spTree>
    <p:extLst>
      <p:ext uri="{BB962C8B-B14F-4D97-AF65-F5344CB8AC3E}">
        <p14:creationId xmlns:p14="http://schemas.microsoft.com/office/powerpoint/2010/main" val="468192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b="1" dirty="0"/>
              <a:t>If X is true now, then Y will eventually be true in the future.</a:t>
            </a:r>
            <a:r>
              <a:rPr lang="en-US" dirty="0"/>
              <a:t>“</a:t>
            </a:r>
          </a:p>
          <a:p>
            <a:endParaRPr lang="en-US" dirty="0"/>
          </a:p>
          <a:p>
            <a:pPr>
              <a:buNone/>
            </a:pPr>
            <a:r>
              <a:rPr lang="en-US" dirty="0"/>
              <a:t>X = "It starts raining."</a:t>
            </a:r>
          </a:p>
          <a:p>
            <a:pPr>
              <a:buNone/>
            </a:pPr>
            <a:r>
              <a:rPr lang="en-US" dirty="0"/>
              <a:t>Y = "The streets get wet."</a:t>
            </a:r>
          </a:p>
          <a:p>
            <a:r>
              <a:rPr lang="en-US" dirty="0"/>
              <a:t>Then:</a:t>
            </a:r>
            <a:br>
              <a:rPr lang="en-US" dirty="0"/>
            </a:br>
            <a:r>
              <a:rPr lang="en-US" dirty="0"/>
              <a:t>"</a:t>
            </a:r>
            <a:r>
              <a:rPr lang="en-US" b="1" dirty="0"/>
              <a:t>If it starts raining, eventually the streets will get wet.</a:t>
            </a:r>
            <a:r>
              <a:rPr lang="en-US" dirty="0"/>
              <a:t>"</a:t>
            </a:r>
          </a:p>
          <a:p>
            <a:endParaRPr lang="en-US" dirty="0"/>
          </a:p>
        </p:txBody>
      </p:sp>
      <p:sp>
        <p:nvSpPr>
          <p:cNvPr id="4" name="Slide Number Placeholder 3"/>
          <p:cNvSpPr>
            <a:spLocks noGrp="1"/>
          </p:cNvSpPr>
          <p:nvPr>
            <p:ph type="sldNum" sz="quarter" idx="5"/>
          </p:nvPr>
        </p:nvSpPr>
        <p:spPr/>
        <p:txBody>
          <a:bodyPr/>
          <a:lstStyle/>
          <a:p>
            <a:fld id="{8A22CE8F-AF87-4DC9-8931-B46FD2A57B7E}" type="slidenum">
              <a:rPr lang="en-PK" smtClean="0"/>
              <a:t>23</a:t>
            </a:fld>
            <a:endParaRPr lang="en-PK"/>
          </a:p>
        </p:txBody>
      </p:sp>
    </p:spTree>
    <p:extLst>
      <p:ext uri="{BB962C8B-B14F-4D97-AF65-F5344CB8AC3E}">
        <p14:creationId xmlns:p14="http://schemas.microsoft.com/office/powerpoint/2010/main" val="1239938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∀x(Fever(x)∧</a:t>
            </a:r>
            <a:r>
              <a:rPr lang="en-US" dirty="0" err="1"/>
              <a:t>SoreThroat</a:t>
            </a:r>
            <a:r>
              <a:rPr lang="en-US" dirty="0"/>
              <a:t>(x)→Cold(x))</a:t>
            </a:r>
            <a:br>
              <a:rPr lang="en-US" dirty="0"/>
            </a:br>
            <a:r>
              <a:rPr lang="en-US" i="1" dirty="0"/>
              <a:t>Translation:</a:t>
            </a:r>
            <a:r>
              <a:rPr lang="en-US" dirty="0"/>
              <a:t> "For all x, if x has a fever and a sore throat, then x has a cold."</a:t>
            </a:r>
          </a:p>
        </p:txBody>
      </p:sp>
      <p:sp>
        <p:nvSpPr>
          <p:cNvPr id="4" name="Slide Number Placeholder 3"/>
          <p:cNvSpPr>
            <a:spLocks noGrp="1"/>
          </p:cNvSpPr>
          <p:nvPr>
            <p:ph type="sldNum" sz="quarter" idx="5"/>
          </p:nvPr>
        </p:nvSpPr>
        <p:spPr/>
        <p:txBody>
          <a:bodyPr/>
          <a:lstStyle/>
          <a:p>
            <a:fld id="{8A22CE8F-AF87-4DC9-8931-B46FD2A57B7E}" type="slidenum">
              <a:rPr lang="en-PK" smtClean="0"/>
              <a:t>26</a:t>
            </a:fld>
            <a:endParaRPr lang="en-PK"/>
          </a:p>
        </p:txBody>
      </p:sp>
    </p:spTree>
    <p:extLst>
      <p:ext uri="{BB962C8B-B14F-4D97-AF65-F5344CB8AC3E}">
        <p14:creationId xmlns:p14="http://schemas.microsoft.com/office/powerpoint/2010/main" val="3428990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Apply modus ponens (a rule of inference):</a:t>
            </a:r>
            <a:br>
              <a:rPr lang="en-US" dirty="0"/>
            </a:br>
            <a:r>
              <a:rPr lang="en-US" dirty="0"/>
              <a:t>If P1∧P2→P3 and P1∧ are true, then P3 must be true.</a:t>
            </a:r>
          </a:p>
          <a:p>
            <a:pPr>
              <a:buFont typeface="Arial" panose="020B0604020202020204" pitchFamily="34" charset="0"/>
              <a:buChar char="•"/>
            </a:pPr>
            <a:r>
              <a:rPr lang="en-US" dirty="0"/>
              <a:t>Here, P1 is Fever(A) ∧ </a:t>
            </a:r>
            <a:r>
              <a:rPr lang="en-US" dirty="0" err="1"/>
              <a:t>SoreThroat</a:t>
            </a:r>
            <a:r>
              <a:rPr lang="en-US" dirty="0"/>
              <a:t>(A), and the rule says this implies Cold(A).</a:t>
            </a:r>
          </a:p>
          <a:p>
            <a:endParaRPr lang="en-US" dirty="0"/>
          </a:p>
        </p:txBody>
      </p:sp>
      <p:sp>
        <p:nvSpPr>
          <p:cNvPr id="4" name="Slide Number Placeholder 3"/>
          <p:cNvSpPr>
            <a:spLocks noGrp="1"/>
          </p:cNvSpPr>
          <p:nvPr>
            <p:ph type="sldNum" sz="quarter" idx="5"/>
          </p:nvPr>
        </p:nvSpPr>
        <p:spPr/>
        <p:txBody>
          <a:bodyPr/>
          <a:lstStyle/>
          <a:p>
            <a:fld id="{8A22CE8F-AF87-4DC9-8931-B46FD2A57B7E}" type="slidenum">
              <a:rPr lang="en-PK" smtClean="0"/>
              <a:t>27</a:t>
            </a:fld>
            <a:endParaRPr lang="en-PK"/>
          </a:p>
        </p:txBody>
      </p:sp>
    </p:spTree>
    <p:extLst>
      <p:ext uri="{BB962C8B-B14F-4D97-AF65-F5344CB8AC3E}">
        <p14:creationId xmlns:p14="http://schemas.microsoft.com/office/powerpoint/2010/main" val="5293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process of thinking</a:t>
            </a:r>
          </a:p>
          <a:p>
            <a:endParaRPr lang="en-US" dirty="0"/>
          </a:p>
          <a:p>
            <a:r>
              <a:rPr lang="en-US" dirty="0"/>
              <a:t>Inference: the conclusion drawn </a:t>
            </a:r>
          </a:p>
          <a:p>
            <a:r>
              <a:rPr lang="en-US" dirty="0"/>
              <a:t>Specific conclusion, that is derived as a result of reasoning</a:t>
            </a:r>
          </a:p>
        </p:txBody>
      </p:sp>
      <p:sp>
        <p:nvSpPr>
          <p:cNvPr id="4" name="Slide Number Placeholder 3"/>
          <p:cNvSpPr>
            <a:spLocks noGrp="1"/>
          </p:cNvSpPr>
          <p:nvPr>
            <p:ph type="sldNum" sz="quarter" idx="5"/>
          </p:nvPr>
        </p:nvSpPr>
        <p:spPr/>
        <p:txBody>
          <a:bodyPr/>
          <a:lstStyle/>
          <a:p>
            <a:fld id="{8A22CE8F-AF87-4DC9-8931-B46FD2A57B7E}" type="slidenum">
              <a:rPr lang="en-PK" smtClean="0"/>
              <a:t>30</a:t>
            </a:fld>
            <a:endParaRPr lang="en-PK"/>
          </a:p>
        </p:txBody>
      </p:sp>
    </p:spTree>
    <p:extLst>
      <p:ext uri="{BB962C8B-B14F-4D97-AF65-F5344CB8AC3E}">
        <p14:creationId xmlns:p14="http://schemas.microsoft.com/office/powerpoint/2010/main" val="4132330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DBF6E-1F1A-43E5-E220-6BDA7505F1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480DB783-DEC2-A3C7-C92E-F68DB83AA3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90CD0007-2303-FEB7-6AC0-EEB7E75F9ED7}"/>
              </a:ext>
            </a:extLst>
          </p:cNvPr>
          <p:cNvSpPr>
            <a:spLocks noGrp="1"/>
          </p:cNvSpPr>
          <p:nvPr>
            <p:ph type="dt" sz="half" idx="10"/>
          </p:nvPr>
        </p:nvSpPr>
        <p:spPr/>
        <p:txBody>
          <a:bodyPr/>
          <a:lstStyle/>
          <a:p>
            <a:fld id="{88268D2E-9289-42AC-B80C-6990639C6970}" type="datetime8">
              <a:rPr lang="en-PK" smtClean="0"/>
              <a:t>01/07/2026 09:03</a:t>
            </a:fld>
            <a:endParaRPr lang="en-PK"/>
          </a:p>
        </p:txBody>
      </p:sp>
      <p:sp>
        <p:nvSpPr>
          <p:cNvPr id="5" name="Footer Placeholder 4">
            <a:extLst>
              <a:ext uri="{FF2B5EF4-FFF2-40B4-BE49-F238E27FC236}">
                <a16:creationId xmlns:a16="http://schemas.microsoft.com/office/drawing/2014/main" id="{304C1C67-3BAA-4BB7-E952-40087303A03A}"/>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F3BAB63F-A8D1-625B-851E-0468772D2734}"/>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37086739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40F5E-5A4A-48AB-F52F-4B3D819101EC}"/>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EAED141-6028-3B45-E8E1-D75FBB31D1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F91B5A7-5E7D-1482-A77F-6C1D9E69A931}"/>
              </a:ext>
            </a:extLst>
          </p:cNvPr>
          <p:cNvSpPr>
            <a:spLocks noGrp="1"/>
          </p:cNvSpPr>
          <p:nvPr>
            <p:ph type="dt" sz="half" idx="10"/>
          </p:nvPr>
        </p:nvSpPr>
        <p:spPr/>
        <p:txBody>
          <a:bodyPr/>
          <a:lstStyle/>
          <a:p>
            <a:fld id="{56A6C460-4D55-46A8-8B39-F8D80668C204}" type="datetime8">
              <a:rPr lang="en-PK" smtClean="0"/>
              <a:t>01/07/2026 09:03</a:t>
            </a:fld>
            <a:endParaRPr lang="en-PK"/>
          </a:p>
        </p:txBody>
      </p:sp>
      <p:sp>
        <p:nvSpPr>
          <p:cNvPr id="5" name="Footer Placeholder 4">
            <a:extLst>
              <a:ext uri="{FF2B5EF4-FFF2-40B4-BE49-F238E27FC236}">
                <a16:creationId xmlns:a16="http://schemas.microsoft.com/office/drawing/2014/main" id="{82FFE02F-9BDB-A3D2-C609-466E907B7CD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E8FBAB45-FD81-4E1C-DA59-7E59E3E602C2}"/>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4045829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0F9AF-AFEF-5692-FA74-44D15087C3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72400C95-EDA4-E6F5-4AF5-4A6CAA7854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3DCB0D-660C-5E86-7853-04235E37D9C4}"/>
              </a:ext>
            </a:extLst>
          </p:cNvPr>
          <p:cNvSpPr>
            <a:spLocks noGrp="1"/>
          </p:cNvSpPr>
          <p:nvPr>
            <p:ph type="dt" sz="half" idx="10"/>
          </p:nvPr>
        </p:nvSpPr>
        <p:spPr/>
        <p:txBody>
          <a:bodyPr/>
          <a:lstStyle/>
          <a:p>
            <a:fld id="{FA202975-3265-4D6C-885C-67478BE3C7F2}" type="datetime8">
              <a:rPr lang="en-PK" smtClean="0"/>
              <a:t>01/07/2026 09:03</a:t>
            </a:fld>
            <a:endParaRPr lang="en-PK"/>
          </a:p>
        </p:txBody>
      </p:sp>
      <p:sp>
        <p:nvSpPr>
          <p:cNvPr id="5" name="Footer Placeholder 4">
            <a:extLst>
              <a:ext uri="{FF2B5EF4-FFF2-40B4-BE49-F238E27FC236}">
                <a16:creationId xmlns:a16="http://schemas.microsoft.com/office/drawing/2014/main" id="{584171C3-5CDF-9D80-4EBE-656BDE541C1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C14E53F3-584B-156B-3CB7-CE2840A107E9}"/>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675586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65848-8B44-647A-1750-A34E7339AB2A}"/>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F86DC08F-EC6A-9CC6-A7BE-12D10FD125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012273F5-CE29-B7C3-1DEE-634187AA6B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032B0614-7950-A619-551B-ED3E162EFF23}"/>
              </a:ext>
            </a:extLst>
          </p:cNvPr>
          <p:cNvSpPr>
            <a:spLocks noGrp="1"/>
          </p:cNvSpPr>
          <p:nvPr>
            <p:ph type="dt" sz="half" idx="10"/>
          </p:nvPr>
        </p:nvSpPr>
        <p:spPr/>
        <p:txBody>
          <a:bodyPr/>
          <a:lstStyle/>
          <a:p>
            <a:fld id="{07BB4E42-362D-4DFA-8928-76DAAEE00EBB}" type="datetime8">
              <a:rPr lang="en-PK" smtClean="0"/>
              <a:t>01/07/2026 09:03</a:t>
            </a:fld>
            <a:endParaRPr lang="en-PK"/>
          </a:p>
        </p:txBody>
      </p:sp>
      <p:sp>
        <p:nvSpPr>
          <p:cNvPr id="6" name="Footer Placeholder 5">
            <a:extLst>
              <a:ext uri="{FF2B5EF4-FFF2-40B4-BE49-F238E27FC236}">
                <a16:creationId xmlns:a16="http://schemas.microsoft.com/office/drawing/2014/main" id="{CF441B59-C8B5-6D0F-4399-F106AC82F8AD}"/>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A64AFC60-2053-ECFF-5C50-368976D31673}"/>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201893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AF65F-F935-8509-0750-29F87FE67B41}"/>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E44D1EDD-2F32-8088-DCA4-940683FC44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F957DC-D663-7F27-98CF-5CFD4701F5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56DBE920-D195-F4B1-8A1C-DF099F1A71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8AEEDD-4D96-4D6A-F2B6-6E56E84203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ACF1D32A-14A7-43A3-04BD-3E5C1D6C5A10}"/>
              </a:ext>
            </a:extLst>
          </p:cNvPr>
          <p:cNvSpPr>
            <a:spLocks noGrp="1"/>
          </p:cNvSpPr>
          <p:nvPr>
            <p:ph type="dt" sz="half" idx="10"/>
          </p:nvPr>
        </p:nvSpPr>
        <p:spPr/>
        <p:txBody>
          <a:bodyPr/>
          <a:lstStyle/>
          <a:p>
            <a:fld id="{79F22A64-5408-49DB-841F-68B670D0A952}" type="datetime8">
              <a:rPr lang="en-PK" smtClean="0"/>
              <a:t>01/07/2026 09:03</a:t>
            </a:fld>
            <a:endParaRPr lang="en-PK"/>
          </a:p>
        </p:txBody>
      </p:sp>
      <p:sp>
        <p:nvSpPr>
          <p:cNvPr id="8" name="Footer Placeholder 7">
            <a:extLst>
              <a:ext uri="{FF2B5EF4-FFF2-40B4-BE49-F238E27FC236}">
                <a16:creationId xmlns:a16="http://schemas.microsoft.com/office/drawing/2014/main" id="{0489F090-39B6-F704-B7FE-D92B0D991FFD}"/>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9" name="Slide Number Placeholder 8">
            <a:extLst>
              <a:ext uri="{FF2B5EF4-FFF2-40B4-BE49-F238E27FC236}">
                <a16:creationId xmlns:a16="http://schemas.microsoft.com/office/drawing/2014/main" id="{8A437A89-9DDA-2071-C1AA-F472229D41AF}"/>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2098387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B27A3-5102-EE21-A807-3AC83BC7EC70}"/>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E9994ABC-C15D-FE70-E572-6DC603DD5855}"/>
              </a:ext>
            </a:extLst>
          </p:cNvPr>
          <p:cNvSpPr>
            <a:spLocks noGrp="1"/>
          </p:cNvSpPr>
          <p:nvPr>
            <p:ph type="dt" sz="half" idx="10"/>
          </p:nvPr>
        </p:nvSpPr>
        <p:spPr/>
        <p:txBody>
          <a:bodyPr/>
          <a:lstStyle/>
          <a:p>
            <a:fld id="{65D11D58-974E-4CAF-AC6D-5DBE315773AB}" type="datetime8">
              <a:rPr lang="en-PK" smtClean="0"/>
              <a:t>01/07/2026 09:03</a:t>
            </a:fld>
            <a:endParaRPr lang="en-PK"/>
          </a:p>
        </p:txBody>
      </p:sp>
      <p:sp>
        <p:nvSpPr>
          <p:cNvPr id="4" name="Footer Placeholder 3">
            <a:extLst>
              <a:ext uri="{FF2B5EF4-FFF2-40B4-BE49-F238E27FC236}">
                <a16:creationId xmlns:a16="http://schemas.microsoft.com/office/drawing/2014/main" id="{DB229E67-5D6A-62B9-0F07-7987F2233BF3}"/>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5" name="Slide Number Placeholder 4">
            <a:extLst>
              <a:ext uri="{FF2B5EF4-FFF2-40B4-BE49-F238E27FC236}">
                <a16:creationId xmlns:a16="http://schemas.microsoft.com/office/drawing/2014/main" id="{D1FEB484-C332-0992-D1F3-3F2F2D91BE59}"/>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1106497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1F1087-2936-983D-89D2-679197D30A81}"/>
              </a:ext>
            </a:extLst>
          </p:cNvPr>
          <p:cNvSpPr>
            <a:spLocks noGrp="1"/>
          </p:cNvSpPr>
          <p:nvPr>
            <p:ph type="dt" sz="half" idx="10"/>
          </p:nvPr>
        </p:nvSpPr>
        <p:spPr/>
        <p:txBody>
          <a:bodyPr/>
          <a:lstStyle/>
          <a:p>
            <a:fld id="{1A752D9D-C6C1-49F2-AE52-02C80D6EEE70}" type="datetime8">
              <a:rPr lang="en-PK" smtClean="0"/>
              <a:t>01/07/2026 09:03</a:t>
            </a:fld>
            <a:endParaRPr lang="en-PK"/>
          </a:p>
        </p:txBody>
      </p:sp>
      <p:sp>
        <p:nvSpPr>
          <p:cNvPr id="3" name="Footer Placeholder 2">
            <a:extLst>
              <a:ext uri="{FF2B5EF4-FFF2-40B4-BE49-F238E27FC236}">
                <a16:creationId xmlns:a16="http://schemas.microsoft.com/office/drawing/2014/main" id="{5780D7FA-42F7-2E29-B463-91C82A3EA396}"/>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4" name="Slide Number Placeholder 3">
            <a:extLst>
              <a:ext uri="{FF2B5EF4-FFF2-40B4-BE49-F238E27FC236}">
                <a16:creationId xmlns:a16="http://schemas.microsoft.com/office/drawing/2014/main" id="{C384DD66-06F1-428F-8C28-7722073E4C02}"/>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3686186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23CE5-E801-D5B4-C053-AF956615D1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ABC01F3B-C27D-DFCB-EC41-FE54E8B845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E3F774E3-55AD-9EDB-210F-21390360F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16F6D0-CE3D-181B-8D4A-CE6D944B2E5C}"/>
              </a:ext>
            </a:extLst>
          </p:cNvPr>
          <p:cNvSpPr>
            <a:spLocks noGrp="1"/>
          </p:cNvSpPr>
          <p:nvPr>
            <p:ph type="dt" sz="half" idx="10"/>
          </p:nvPr>
        </p:nvSpPr>
        <p:spPr/>
        <p:txBody>
          <a:bodyPr/>
          <a:lstStyle/>
          <a:p>
            <a:fld id="{0AE860EF-E9C5-4154-ABA0-497C98888386}" type="datetime8">
              <a:rPr lang="en-PK" smtClean="0"/>
              <a:t>01/07/2026 09:03</a:t>
            </a:fld>
            <a:endParaRPr lang="en-PK"/>
          </a:p>
        </p:txBody>
      </p:sp>
      <p:sp>
        <p:nvSpPr>
          <p:cNvPr id="6" name="Footer Placeholder 5">
            <a:extLst>
              <a:ext uri="{FF2B5EF4-FFF2-40B4-BE49-F238E27FC236}">
                <a16:creationId xmlns:a16="http://schemas.microsoft.com/office/drawing/2014/main" id="{87E9E0BA-6765-5F28-D792-DFBAF369FB12}"/>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31142F7D-EC17-A880-F4CA-79F8DE7E7D1B}"/>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3802219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CA6B2-0346-47D8-7C6C-CEB953FA44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2FD7669-0EBC-8316-FE6C-4E3AFA75DB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B630D761-DEC6-4E02-A5A6-68D7DAB6FE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101B9B-2FB7-4E9B-93B1-2B1A71C6FCFB}"/>
              </a:ext>
            </a:extLst>
          </p:cNvPr>
          <p:cNvSpPr>
            <a:spLocks noGrp="1"/>
          </p:cNvSpPr>
          <p:nvPr>
            <p:ph type="dt" sz="half" idx="10"/>
          </p:nvPr>
        </p:nvSpPr>
        <p:spPr/>
        <p:txBody>
          <a:bodyPr/>
          <a:lstStyle/>
          <a:p>
            <a:fld id="{CA1A3010-BD20-4C20-A139-F111CFCE4DED}" type="datetime8">
              <a:rPr lang="en-PK" smtClean="0"/>
              <a:t>01/07/2026 09:03</a:t>
            </a:fld>
            <a:endParaRPr lang="en-PK"/>
          </a:p>
        </p:txBody>
      </p:sp>
      <p:sp>
        <p:nvSpPr>
          <p:cNvPr id="6" name="Footer Placeholder 5">
            <a:extLst>
              <a:ext uri="{FF2B5EF4-FFF2-40B4-BE49-F238E27FC236}">
                <a16:creationId xmlns:a16="http://schemas.microsoft.com/office/drawing/2014/main" id="{BBDA871A-2E8C-6DAA-29F7-58F546DA9B3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17073E63-5A89-7F39-0343-31B38AA0A5CB}"/>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1557457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4A0C1-36D1-D275-D29D-A5F174F13B25}"/>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27EC01DC-96D5-483D-EB66-D069F943BA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4CE0D86A-33F6-CC08-D069-C2CD2DA22C8E}"/>
              </a:ext>
            </a:extLst>
          </p:cNvPr>
          <p:cNvSpPr>
            <a:spLocks noGrp="1"/>
          </p:cNvSpPr>
          <p:nvPr>
            <p:ph type="dt" sz="half" idx="10"/>
          </p:nvPr>
        </p:nvSpPr>
        <p:spPr/>
        <p:txBody>
          <a:bodyPr/>
          <a:lstStyle/>
          <a:p>
            <a:fld id="{4FCDF583-EA1F-490D-A440-28D5D4D1609B}" type="datetime8">
              <a:rPr lang="en-PK" smtClean="0"/>
              <a:t>01/07/2026 09:03</a:t>
            </a:fld>
            <a:endParaRPr lang="en-PK"/>
          </a:p>
        </p:txBody>
      </p:sp>
      <p:sp>
        <p:nvSpPr>
          <p:cNvPr id="5" name="Footer Placeholder 4">
            <a:extLst>
              <a:ext uri="{FF2B5EF4-FFF2-40B4-BE49-F238E27FC236}">
                <a16:creationId xmlns:a16="http://schemas.microsoft.com/office/drawing/2014/main" id="{18C4C501-4B4E-CD7A-A3CF-AAF9C06DB586}"/>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B962088F-8BDE-3163-D288-747BB62CE606}"/>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1398185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FFE489-8C8D-9284-62BE-5BD44DD32D4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0BE0687B-E3ED-4012-AF0D-ED0C35C62C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872E4B5-4BD5-1EA2-4054-0181794E6F30}"/>
              </a:ext>
            </a:extLst>
          </p:cNvPr>
          <p:cNvSpPr>
            <a:spLocks noGrp="1"/>
          </p:cNvSpPr>
          <p:nvPr>
            <p:ph type="dt" sz="half" idx="10"/>
          </p:nvPr>
        </p:nvSpPr>
        <p:spPr/>
        <p:txBody>
          <a:bodyPr/>
          <a:lstStyle/>
          <a:p>
            <a:fld id="{DCE86CA3-BD67-4FC2-8043-563DA28C6DEF}" type="datetime8">
              <a:rPr lang="en-PK" smtClean="0"/>
              <a:t>01/07/2026 09:03</a:t>
            </a:fld>
            <a:endParaRPr lang="en-PK"/>
          </a:p>
        </p:txBody>
      </p:sp>
      <p:sp>
        <p:nvSpPr>
          <p:cNvPr id="5" name="Footer Placeholder 4">
            <a:extLst>
              <a:ext uri="{FF2B5EF4-FFF2-40B4-BE49-F238E27FC236}">
                <a16:creationId xmlns:a16="http://schemas.microsoft.com/office/drawing/2014/main" id="{5ECB897C-3A1B-5B06-4673-7AD973890289}"/>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37320210-5709-B516-739E-CEF3220C1B29}"/>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27421232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53720-3816-381E-EB06-FB553BB258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D509A3BF-9B33-DBA2-7E40-BA8D755432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CEF9BF09-C8C7-FEBB-73F7-946D690698BA}"/>
              </a:ext>
            </a:extLst>
          </p:cNvPr>
          <p:cNvSpPr>
            <a:spLocks noGrp="1"/>
          </p:cNvSpPr>
          <p:nvPr>
            <p:ph type="dt" sz="half" idx="10"/>
          </p:nvPr>
        </p:nvSpPr>
        <p:spPr/>
        <p:txBody>
          <a:bodyPr/>
          <a:lstStyle/>
          <a:p>
            <a:fld id="{A9A5E6FA-F9B2-43F4-93A1-754EFBD5F0B7}" type="datetime8">
              <a:rPr lang="en-PK" smtClean="0"/>
              <a:t>01/07/2026 09:03</a:t>
            </a:fld>
            <a:endParaRPr lang="en-PK"/>
          </a:p>
        </p:txBody>
      </p:sp>
      <p:sp>
        <p:nvSpPr>
          <p:cNvPr id="5" name="Footer Placeholder 4">
            <a:extLst>
              <a:ext uri="{FF2B5EF4-FFF2-40B4-BE49-F238E27FC236}">
                <a16:creationId xmlns:a16="http://schemas.microsoft.com/office/drawing/2014/main" id="{ED452A2D-B611-36A4-1555-70458F8A449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D2B148D1-A7D7-FCDA-0382-278EF7CCC62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5205953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10FBD-5708-B085-7163-E9B8F55B5ED3}"/>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CC8CFDE-AF79-6214-4E80-4629A71570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5506B77-41C4-B60D-171B-4127A106DACC}"/>
              </a:ext>
            </a:extLst>
          </p:cNvPr>
          <p:cNvSpPr>
            <a:spLocks noGrp="1"/>
          </p:cNvSpPr>
          <p:nvPr>
            <p:ph type="dt" sz="half" idx="10"/>
          </p:nvPr>
        </p:nvSpPr>
        <p:spPr/>
        <p:txBody>
          <a:bodyPr/>
          <a:lstStyle/>
          <a:p>
            <a:fld id="{8A33D06E-F415-4185-80CC-C9C1D8DCF4BF}" type="datetime8">
              <a:rPr lang="en-PK" smtClean="0"/>
              <a:t>01/07/2026 09:03</a:t>
            </a:fld>
            <a:endParaRPr lang="en-PK"/>
          </a:p>
        </p:txBody>
      </p:sp>
      <p:sp>
        <p:nvSpPr>
          <p:cNvPr id="5" name="Footer Placeholder 4">
            <a:extLst>
              <a:ext uri="{FF2B5EF4-FFF2-40B4-BE49-F238E27FC236}">
                <a16:creationId xmlns:a16="http://schemas.microsoft.com/office/drawing/2014/main" id="{34C12C56-0D12-81DD-F88C-B3DF7C19188F}"/>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C32B8C87-E64E-2CF6-F59F-34261450950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2661903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C20F4-56B4-ED58-3666-E30DB62F54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299DD55C-3A71-9766-7BE1-256FF83201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C34CCA-0EC2-8307-6A0E-B2DE70E458B8}"/>
              </a:ext>
            </a:extLst>
          </p:cNvPr>
          <p:cNvSpPr>
            <a:spLocks noGrp="1"/>
          </p:cNvSpPr>
          <p:nvPr>
            <p:ph type="dt" sz="half" idx="10"/>
          </p:nvPr>
        </p:nvSpPr>
        <p:spPr/>
        <p:txBody>
          <a:bodyPr/>
          <a:lstStyle/>
          <a:p>
            <a:fld id="{C9009A1A-9470-4BA4-A2A2-7BF1CBDD1AE9}" type="datetime8">
              <a:rPr lang="en-PK" smtClean="0"/>
              <a:t>01/07/2026 09:03</a:t>
            </a:fld>
            <a:endParaRPr lang="en-PK"/>
          </a:p>
        </p:txBody>
      </p:sp>
      <p:sp>
        <p:nvSpPr>
          <p:cNvPr id="5" name="Footer Placeholder 4">
            <a:extLst>
              <a:ext uri="{FF2B5EF4-FFF2-40B4-BE49-F238E27FC236}">
                <a16:creationId xmlns:a16="http://schemas.microsoft.com/office/drawing/2014/main" id="{FC8B5AD0-2406-4741-9B27-130E3F62CD57}"/>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0CE28277-6902-C86D-48CA-4EF489EEFD10}"/>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42010432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8B771-A201-CABE-C531-1DEEA3F6CDED}"/>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1D12095-55BE-312A-0541-980C275F6B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A2BF5121-B39D-77AE-FDA8-79EB39DCD8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883E837C-E895-AB1D-35B1-D86D86CAD54F}"/>
              </a:ext>
            </a:extLst>
          </p:cNvPr>
          <p:cNvSpPr>
            <a:spLocks noGrp="1"/>
          </p:cNvSpPr>
          <p:nvPr>
            <p:ph type="dt" sz="half" idx="10"/>
          </p:nvPr>
        </p:nvSpPr>
        <p:spPr/>
        <p:txBody>
          <a:bodyPr/>
          <a:lstStyle/>
          <a:p>
            <a:fld id="{EA9879D1-4867-47B4-ABB5-00115205E094}" type="datetime8">
              <a:rPr lang="en-PK" smtClean="0"/>
              <a:t>01/07/2026 09:03</a:t>
            </a:fld>
            <a:endParaRPr lang="en-PK"/>
          </a:p>
        </p:txBody>
      </p:sp>
      <p:sp>
        <p:nvSpPr>
          <p:cNvPr id="6" name="Footer Placeholder 5">
            <a:extLst>
              <a:ext uri="{FF2B5EF4-FFF2-40B4-BE49-F238E27FC236}">
                <a16:creationId xmlns:a16="http://schemas.microsoft.com/office/drawing/2014/main" id="{4B2D6123-FDDB-E74B-B67B-3B7436A58D59}"/>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A834099A-D6CD-7317-CE16-5B189A67A82D}"/>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7855367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B40B2-2987-4772-A133-4D54679C7316}"/>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E4968140-1825-DBB1-561C-E023ED6AE9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96F8CF-4A87-97A7-E51E-E57DA829BD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3CDC6A12-68C0-50BD-32DF-9162AAC03A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28C1AD-FE87-70BE-AE5A-60BA867E35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38C61F5D-B757-4D74-9774-E02C64ECBB79}"/>
              </a:ext>
            </a:extLst>
          </p:cNvPr>
          <p:cNvSpPr>
            <a:spLocks noGrp="1"/>
          </p:cNvSpPr>
          <p:nvPr>
            <p:ph type="dt" sz="half" idx="10"/>
          </p:nvPr>
        </p:nvSpPr>
        <p:spPr/>
        <p:txBody>
          <a:bodyPr/>
          <a:lstStyle/>
          <a:p>
            <a:fld id="{B0C6ACD6-7DB4-4B0B-80BA-170914EA3395}" type="datetime8">
              <a:rPr lang="en-PK" smtClean="0"/>
              <a:t>01/07/2026 09:03</a:t>
            </a:fld>
            <a:endParaRPr lang="en-PK"/>
          </a:p>
        </p:txBody>
      </p:sp>
      <p:sp>
        <p:nvSpPr>
          <p:cNvPr id="8" name="Footer Placeholder 7">
            <a:extLst>
              <a:ext uri="{FF2B5EF4-FFF2-40B4-BE49-F238E27FC236}">
                <a16:creationId xmlns:a16="http://schemas.microsoft.com/office/drawing/2014/main" id="{5E5577DB-660B-4D6D-1ABD-CD10BED5411A}"/>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9" name="Slide Number Placeholder 8">
            <a:extLst>
              <a:ext uri="{FF2B5EF4-FFF2-40B4-BE49-F238E27FC236}">
                <a16:creationId xmlns:a16="http://schemas.microsoft.com/office/drawing/2014/main" id="{0D59736A-5F3E-FF09-F99B-AD539ED8EB8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7881116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34501-7D1D-32DF-175C-23D723FA31D1}"/>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EE3C3BAA-C826-94A1-99A7-35E780AE0B19}"/>
              </a:ext>
            </a:extLst>
          </p:cNvPr>
          <p:cNvSpPr>
            <a:spLocks noGrp="1"/>
          </p:cNvSpPr>
          <p:nvPr>
            <p:ph type="dt" sz="half" idx="10"/>
          </p:nvPr>
        </p:nvSpPr>
        <p:spPr/>
        <p:txBody>
          <a:bodyPr/>
          <a:lstStyle/>
          <a:p>
            <a:fld id="{05312407-BEAE-4152-B7BA-48543FBFA995}" type="datetime8">
              <a:rPr lang="en-PK" smtClean="0"/>
              <a:t>01/07/2026 09:03</a:t>
            </a:fld>
            <a:endParaRPr lang="en-PK"/>
          </a:p>
        </p:txBody>
      </p:sp>
      <p:sp>
        <p:nvSpPr>
          <p:cNvPr id="4" name="Footer Placeholder 3">
            <a:extLst>
              <a:ext uri="{FF2B5EF4-FFF2-40B4-BE49-F238E27FC236}">
                <a16:creationId xmlns:a16="http://schemas.microsoft.com/office/drawing/2014/main" id="{6081178B-4DCB-1221-F1E4-F1E1BB12B6B4}"/>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5" name="Slide Number Placeholder 4">
            <a:extLst>
              <a:ext uri="{FF2B5EF4-FFF2-40B4-BE49-F238E27FC236}">
                <a16:creationId xmlns:a16="http://schemas.microsoft.com/office/drawing/2014/main" id="{A44CF76B-5981-48D4-1508-AC4C69CF3D1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9756485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672966-C101-DBA0-31A6-0DEDED54D6F8}"/>
              </a:ext>
            </a:extLst>
          </p:cNvPr>
          <p:cNvSpPr>
            <a:spLocks noGrp="1"/>
          </p:cNvSpPr>
          <p:nvPr>
            <p:ph type="dt" sz="half" idx="10"/>
          </p:nvPr>
        </p:nvSpPr>
        <p:spPr/>
        <p:txBody>
          <a:bodyPr/>
          <a:lstStyle/>
          <a:p>
            <a:fld id="{ADA8559E-9171-4385-8072-B0E593863BB5}" type="datetime8">
              <a:rPr lang="en-PK" smtClean="0"/>
              <a:t>01/07/2026 09:03</a:t>
            </a:fld>
            <a:endParaRPr lang="en-PK"/>
          </a:p>
        </p:txBody>
      </p:sp>
      <p:sp>
        <p:nvSpPr>
          <p:cNvPr id="3" name="Footer Placeholder 2">
            <a:extLst>
              <a:ext uri="{FF2B5EF4-FFF2-40B4-BE49-F238E27FC236}">
                <a16:creationId xmlns:a16="http://schemas.microsoft.com/office/drawing/2014/main" id="{9EE2644B-ACC8-BACF-D571-05B35854EF3C}"/>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4" name="Slide Number Placeholder 3">
            <a:extLst>
              <a:ext uri="{FF2B5EF4-FFF2-40B4-BE49-F238E27FC236}">
                <a16:creationId xmlns:a16="http://schemas.microsoft.com/office/drawing/2014/main" id="{E6A988BF-9305-AA0B-6DC3-C0ABE5ECAB22}"/>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2284312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FE64C-50F1-B827-5189-582FAD9267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4D9AB93-9C36-D887-5560-612DD4D039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E6BB17D3-FD48-BFB0-34D1-FF569AAE27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179BE8-7490-2442-C273-BD66D16FCAF9}"/>
              </a:ext>
            </a:extLst>
          </p:cNvPr>
          <p:cNvSpPr>
            <a:spLocks noGrp="1"/>
          </p:cNvSpPr>
          <p:nvPr>
            <p:ph type="dt" sz="half" idx="10"/>
          </p:nvPr>
        </p:nvSpPr>
        <p:spPr/>
        <p:txBody>
          <a:bodyPr/>
          <a:lstStyle/>
          <a:p>
            <a:fld id="{C28870C0-0CCF-4A43-BBA0-BD65E4FC916D}" type="datetime8">
              <a:rPr lang="en-PK" smtClean="0"/>
              <a:t>01/07/2026 09:03</a:t>
            </a:fld>
            <a:endParaRPr lang="en-PK"/>
          </a:p>
        </p:txBody>
      </p:sp>
      <p:sp>
        <p:nvSpPr>
          <p:cNvPr id="6" name="Footer Placeholder 5">
            <a:extLst>
              <a:ext uri="{FF2B5EF4-FFF2-40B4-BE49-F238E27FC236}">
                <a16:creationId xmlns:a16="http://schemas.microsoft.com/office/drawing/2014/main" id="{0FD5BC4B-BA90-7AD7-16B6-69BDF876969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362A8F57-9EAE-C269-11A8-B5A74CDE64B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9725276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80BEE-A111-9AA1-C4B8-12E07D7C80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84BFE80-195D-9F83-E5BD-060B5AA088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754A238C-BD32-C671-142B-4FE5368F5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04E100-6E96-3ED0-92D2-1900C5852E80}"/>
              </a:ext>
            </a:extLst>
          </p:cNvPr>
          <p:cNvSpPr>
            <a:spLocks noGrp="1"/>
          </p:cNvSpPr>
          <p:nvPr>
            <p:ph type="dt" sz="half" idx="10"/>
          </p:nvPr>
        </p:nvSpPr>
        <p:spPr/>
        <p:txBody>
          <a:bodyPr/>
          <a:lstStyle/>
          <a:p>
            <a:fld id="{01EED458-9B45-4ED9-810F-EDF3F113BFE8}" type="datetime8">
              <a:rPr lang="en-PK" smtClean="0"/>
              <a:t>01/07/2026 09:03</a:t>
            </a:fld>
            <a:endParaRPr lang="en-PK"/>
          </a:p>
        </p:txBody>
      </p:sp>
      <p:sp>
        <p:nvSpPr>
          <p:cNvPr id="6" name="Footer Placeholder 5">
            <a:extLst>
              <a:ext uri="{FF2B5EF4-FFF2-40B4-BE49-F238E27FC236}">
                <a16:creationId xmlns:a16="http://schemas.microsoft.com/office/drawing/2014/main" id="{2D5F1DA5-7BB0-0309-3E65-44DDEF3141C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8BBCBEC1-69B8-F2EB-CAFA-5A294439A174}"/>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0635910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CBA61-3CE4-676D-E6E6-A0F3A45D85C7}"/>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58BE53C3-DEB7-D4D6-59C2-76D2BCA233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1EEC23A6-4DEE-2B0F-F9E8-AF8E0897C7BA}"/>
              </a:ext>
            </a:extLst>
          </p:cNvPr>
          <p:cNvSpPr>
            <a:spLocks noGrp="1"/>
          </p:cNvSpPr>
          <p:nvPr>
            <p:ph type="dt" sz="half" idx="10"/>
          </p:nvPr>
        </p:nvSpPr>
        <p:spPr/>
        <p:txBody>
          <a:bodyPr/>
          <a:lstStyle/>
          <a:p>
            <a:fld id="{E4F8A886-A279-4E48-9566-005C3CCF0512}" type="datetime8">
              <a:rPr lang="en-PK" smtClean="0"/>
              <a:t>01/07/2026 09:03</a:t>
            </a:fld>
            <a:endParaRPr lang="en-PK"/>
          </a:p>
        </p:txBody>
      </p:sp>
      <p:sp>
        <p:nvSpPr>
          <p:cNvPr id="5" name="Footer Placeholder 4">
            <a:extLst>
              <a:ext uri="{FF2B5EF4-FFF2-40B4-BE49-F238E27FC236}">
                <a16:creationId xmlns:a16="http://schemas.microsoft.com/office/drawing/2014/main" id="{033BC7B1-D071-396D-DD27-D6F3B7A2FD30}"/>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D03EEB43-9506-19FD-C9B4-95B5C0754F0F}"/>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119630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F5FC5C-5F00-9053-F0A9-CBBC1DB3BC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9D03B86-E126-76D5-C128-6EBFBA70C2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2B410F2-965D-9F7B-B99A-D14566919EDD}"/>
              </a:ext>
            </a:extLst>
          </p:cNvPr>
          <p:cNvSpPr>
            <a:spLocks noGrp="1"/>
          </p:cNvSpPr>
          <p:nvPr>
            <p:ph type="dt" sz="half" idx="10"/>
          </p:nvPr>
        </p:nvSpPr>
        <p:spPr/>
        <p:txBody>
          <a:bodyPr/>
          <a:lstStyle/>
          <a:p>
            <a:fld id="{776FA2A8-78F7-44B2-B930-F12580E93FE9}" type="datetime8">
              <a:rPr lang="en-PK" smtClean="0"/>
              <a:t>01/07/2026 09:03</a:t>
            </a:fld>
            <a:endParaRPr lang="en-PK"/>
          </a:p>
        </p:txBody>
      </p:sp>
      <p:sp>
        <p:nvSpPr>
          <p:cNvPr id="5" name="Footer Placeholder 4">
            <a:extLst>
              <a:ext uri="{FF2B5EF4-FFF2-40B4-BE49-F238E27FC236}">
                <a16:creationId xmlns:a16="http://schemas.microsoft.com/office/drawing/2014/main" id="{B06D7986-9CB8-9DAB-9592-00A9C473E261}"/>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0E32B750-7CCD-A09C-870B-641AB424505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42941998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53720-3816-381E-EB06-FB553BB258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D509A3BF-9B33-DBA2-7E40-BA8D755432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CEF9BF09-C8C7-FEBB-73F7-946D690698BA}"/>
              </a:ext>
            </a:extLst>
          </p:cNvPr>
          <p:cNvSpPr>
            <a:spLocks noGrp="1"/>
          </p:cNvSpPr>
          <p:nvPr>
            <p:ph type="dt" sz="half" idx="10"/>
          </p:nvPr>
        </p:nvSpPr>
        <p:spPr/>
        <p:txBody>
          <a:bodyPr/>
          <a:lstStyle/>
          <a:p>
            <a:fld id="{4B1B422B-D56B-48A6-BE4D-0AAC7D67A4F0}" type="datetimeFigureOut">
              <a:rPr lang="en-PK" smtClean="0"/>
              <a:t>01/07/2026</a:t>
            </a:fld>
            <a:endParaRPr lang="en-PK"/>
          </a:p>
        </p:txBody>
      </p:sp>
      <p:sp>
        <p:nvSpPr>
          <p:cNvPr id="5" name="Footer Placeholder 4">
            <a:extLst>
              <a:ext uri="{FF2B5EF4-FFF2-40B4-BE49-F238E27FC236}">
                <a16:creationId xmlns:a16="http://schemas.microsoft.com/office/drawing/2014/main" id="{ED452A2D-B611-36A4-1555-70458F8A449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2B148D1-A7D7-FCDA-0382-278EF7CCC62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7275287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10FBD-5708-B085-7163-E9B8F55B5ED3}"/>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CC8CFDE-AF79-6214-4E80-4629A71570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5506B77-41C4-B60D-171B-4127A106DACC}"/>
              </a:ext>
            </a:extLst>
          </p:cNvPr>
          <p:cNvSpPr>
            <a:spLocks noGrp="1"/>
          </p:cNvSpPr>
          <p:nvPr>
            <p:ph type="dt" sz="half" idx="10"/>
          </p:nvPr>
        </p:nvSpPr>
        <p:spPr/>
        <p:txBody>
          <a:bodyPr/>
          <a:lstStyle/>
          <a:p>
            <a:fld id="{4B1B422B-D56B-48A6-BE4D-0AAC7D67A4F0}" type="datetimeFigureOut">
              <a:rPr lang="en-PK" smtClean="0"/>
              <a:t>01/07/2026</a:t>
            </a:fld>
            <a:endParaRPr lang="en-PK"/>
          </a:p>
        </p:txBody>
      </p:sp>
      <p:sp>
        <p:nvSpPr>
          <p:cNvPr id="5" name="Footer Placeholder 4">
            <a:extLst>
              <a:ext uri="{FF2B5EF4-FFF2-40B4-BE49-F238E27FC236}">
                <a16:creationId xmlns:a16="http://schemas.microsoft.com/office/drawing/2014/main" id="{34C12C56-0D12-81DD-F88C-B3DF7C19188F}"/>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32B8C87-E64E-2CF6-F59F-34261450950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6097575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C20F4-56B4-ED58-3666-E30DB62F54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299DD55C-3A71-9766-7BE1-256FF83201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C34CCA-0EC2-8307-6A0E-B2DE70E458B8}"/>
              </a:ext>
            </a:extLst>
          </p:cNvPr>
          <p:cNvSpPr>
            <a:spLocks noGrp="1"/>
          </p:cNvSpPr>
          <p:nvPr>
            <p:ph type="dt" sz="half" idx="10"/>
          </p:nvPr>
        </p:nvSpPr>
        <p:spPr/>
        <p:txBody>
          <a:bodyPr/>
          <a:lstStyle/>
          <a:p>
            <a:fld id="{4B1B422B-D56B-48A6-BE4D-0AAC7D67A4F0}" type="datetimeFigureOut">
              <a:rPr lang="en-PK" smtClean="0"/>
              <a:t>01/07/2026</a:t>
            </a:fld>
            <a:endParaRPr lang="en-PK"/>
          </a:p>
        </p:txBody>
      </p:sp>
      <p:sp>
        <p:nvSpPr>
          <p:cNvPr id="5" name="Footer Placeholder 4">
            <a:extLst>
              <a:ext uri="{FF2B5EF4-FFF2-40B4-BE49-F238E27FC236}">
                <a16:creationId xmlns:a16="http://schemas.microsoft.com/office/drawing/2014/main" id="{FC8B5AD0-2406-4741-9B27-130E3F62CD57}"/>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CE28277-6902-C86D-48CA-4EF489EEFD10}"/>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6460679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8B771-A201-CABE-C531-1DEEA3F6CDED}"/>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1D12095-55BE-312A-0541-980C275F6B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A2BF5121-B39D-77AE-FDA8-79EB39DCD8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883E837C-E895-AB1D-35B1-D86D86CAD54F}"/>
              </a:ext>
            </a:extLst>
          </p:cNvPr>
          <p:cNvSpPr>
            <a:spLocks noGrp="1"/>
          </p:cNvSpPr>
          <p:nvPr>
            <p:ph type="dt" sz="half" idx="10"/>
          </p:nvPr>
        </p:nvSpPr>
        <p:spPr/>
        <p:txBody>
          <a:bodyPr/>
          <a:lstStyle/>
          <a:p>
            <a:fld id="{4B1B422B-D56B-48A6-BE4D-0AAC7D67A4F0}" type="datetimeFigureOut">
              <a:rPr lang="en-PK" smtClean="0"/>
              <a:t>01/07/2026</a:t>
            </a:fld>
            <a:endParaRPr lang="en-PK"/>
          </a:p>
        </p:txBody>
      </p:sp>
      <p:sp>
        <p:nvSpPr>
          <p:cNvPr id="6" name="Footer Placeholder 5">
            <a:extLst>
              <a:ext uri="{FF2B5EF4-FFF2-40B4-BE49-F238E27FC236}">
                <a16:creationId xmlns:a16="http://schemas.microsoft.com/office/drawing/2014/main" id="{4B2D6123-FDDB-E74B-B67B-3B7436A58D59}"/>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A834099A-D6CD-7317-CE16-5B189A67A82D}"/>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33141262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B40B2-2987-4772-A133-4D54679C7316}"/>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E4968140-1825-DBB1-561C-E023ED6AE9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96F8CF-4A87-97A7-E51E-E57DA829BD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3CDC6A12-68C0-50BD-32DF-9162AAC03A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28C1AD-FE87-70BE-AE5A-60BA867E35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38C61F5D-B757-4D74-9774-E02C64ECBB79}"/>
              </a:ext>
            </a:extLst>
          </p:cNvPr>
          <p:cNvSpPr>
            <a:spLocks noGrp="1"/>
          </p:cNvSpPr>
          <p:nvPr>
            <p:ph type="dt" sz="half" idx="10"/>
          </p:nvPr>
        </p:nvSpPr>
        <p:spPr/>
        <p:txBody>
          <a:bodyPr/>
          <a:lstStyle/>
          <a:p>
            <a:fld id="{4B1B422B-D56B-48A6-BE4D-0AAC7D67A4F0}" type="datetimeFigureOut">
              <a:rPr lang="en-PK" smtClean="0"/>
              <a:t>01/07/2026</a:t>
            </a:fld>
            <a:endParaRPr lang="en-PK"/>
          </a:p>
        </p:txBody>
      </p:sp>
      <p:sp>
        <p:nvSpPr>
          <p:cNvPr id="8" name="Footer Placeholder 7">
            <a:extLst>
              <a:ext uri="{FF2B5EF4-FFF2-40B4-BE49-F238E27FC236}">
                <a16:creationId xmlns:a16="http://schemas.microsoft.com/office/drawing/2014/main" id="{5E5577DB-660B-4D6D-1ABD-CD10BED5411A}"/>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0D59736A-5F3E-FF09-F99B-AD539ED8EB8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3744080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34501-7D1D-32DF-175C-23D723FA31D1}"/>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EE3C3BAA-C826-94A1-99A7-35E780AE0B19}"/>
              </a:ext>
            </a:extLst>
          </p:cNvPr>
          <p:cNvSpPr>
            <a:spLocks noGrp="1"/>
          </p:cNvSpPr>
          <p:nvPr>
            <p:ph type="dt" sz="half" idx="10"/>
          </p:nvPr>
        </p:nvSpPr>
        <p:spPr/>
        <p:txBody>
          <a:bodyPr/>
          <a:lstStyle/>
          <a:p>
            <a:fld id="{4B1B422B-D56B-48A6-BE4D-0AAC7D67A4F0}" type="datetimeFigureOut">
              <a:rPr lang="en-PK" smtClean="0"/>
              <a:t>01/07/2026</a:t>
            </a:fld>
            <a:endParaRPr lang="en-PK"/>
          </a:p>
        </p:txBody>
      </p:sp>
      <p:sp>
        <p:nvSpPr>
          <p:cNvPr id="4" name="Footer Placeholder 3">
            <a:extLst>
              <a:ext uri="{FF2B5EF4-FFF2-40B4-BE49-F238E27FC236}">
                <a16:creationId xmlns:a16="http://schemas.microsoft.com/office/drawing/2014/main" id="{6081178B-4DCB-1221-F1E4-F1E1BB12B6B4}"/>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A44CF76B-5981-48D4-1508-AC4C69CF3D1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5213124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672966-C101-DBA0-31A6-0DEDED54D6F8}"/>
              </a:ext>
            </a:extLst>
          </p:cNvPr>
          <p:cNvSpPr>
            <a:spLocks noGrp="1"/>
          </p:cNvSpPr>
          <p:nvPr>
            <p:ph type="dt" sz="half" idx="10"/>
          </p:nvPr>
        </p:nvSpPr>
        <p:spPr/>
        <p:txBody>
          <a:bodyPr/>
          <a:lstStyle/>
          <a:p>
            <a:fld id="{4B1B422B-D56B-48A6-BE4D-0AAC7D67A4F0}" type="datetimeFigureOut">
              <a:rPr lang="en-PK" smtClean="0"/>
              <a:t>01/07/2026</a:t>
            </a:fld>
            <a:endParaRPr lang="en-PK"/>
          </a:p>
        </p:txBody>
      </p:sp>
      <p:sp>
        <p:nvSpPr>
          <p:cNvPr id="3" name="Footer Placeholder 2">
            <a:extLst>
              <a:ext uri="{FF2B5EF4-FFF2-40B4-BE49-F238E27FC236}">
                <a16:creationId xmlns:a16="http://schemas.microsoft.com/office/drawing/2014/main" id="{9EE2644B-ACC8-BACF-D571-05B35854EF3C}"/>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E6A988BF-9305-AA0B-6DC3-C0ABE5ECAB22}"/>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4946122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FE64C-50F1-B827-5189-582FAD9267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4D9AB93-9C36-D887-5560-612DD4D039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E6BB17D3-FD48-BFB0-34D1-FF569AAE27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179BE8-7490-2442-C273-BD66D16FCAF9}"/>
              </a:ext>
            </a:extLst>
          </p:cNvPr>
          <p:cNvSpPr>
            <a:spLocks noGrp="1"/>
          </p:cNvSpPr>
          <p:nvPr>
            <p:ph type="dt" sz="half" idx="10"/>
          </p:nvPr>
        </p:nvSpPr>
        <p:spPr/>
        <p:txBody>
          <a:bodyPr/>
          <a:lstStyle/>
          <a:p>
            <a:fld id="{4B1B422B-D56B-48A6-BE4D-0AAC7D67A4F0}" type="datetimeFigureOut">
              <a:rPr lang="en-PK" smtClean="0"/>
              <a:t>01/07/2026</a:t>
            </a:fld>
            <a:endParaRPr lang="en-PK"/>
          </a:p>
        </p:txBody>
      </p:sp>
      <p:sp>
        <p:nvSpPr>
          <p:cNvPr id="6" name="Footer Placeholder 5">
            <a:extLst>
              <a:ext uri="{FF2B5EF4-FFF2-40B4-BE49-F238E27FC236}">
                <a16:creationId xmlns:a16="http://schemas.microsoft.com/office/drawing/2014/main" id="{0FD5BC4B-BA90-7AD7-16B6-69BDF876969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362A8F57-9EAE-C269-11A8-B5A74CDE64B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9697771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80BEE-A111-9AA1-C4B8-12E07D7C80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84BFE80-195D-9F83-E5BD-060B5AA088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754A238C-BD32-C671-142B-4FE5368F5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04E100-6E96-3ED0-92D2-1900C5852E80}"/>
              </a:ext>
            </a:extLst>
          </p:cNvPr>
          <p:cNvSpPr>
            <a:spLocks noGrp="1"/>
          </p:cNvSpPr>
          <p:nvPr>
            <p:ph type="dt" sz="half" idx="10"/>
          </p:nvPr>
        </p:nvSpPr>
        <p:spPr/>
        <p:txBody>
          <a:bodyPr/>
          <a:lstStyle/>
          <a:p>
            <a:fld id="{4B1B422B-D56B-48A6-BE4D-0AAC7D67A4F0}" type="datetimeFigureOut">
              <a:rPr lang="en-PK" smtClean="0"/>
              <a:t>01/07/2026</a:t>
            </a:fld>
            <a:endParaRPr lang="en-PK"/>
          </a:p>
        </p:txBody>
      </p:sp>
      <p:sp>
        <p:nvSpPr>
          <p:cNvPr id="6" name="Footer Placeholder 5">
            <a:extLst>
              <a:ext uri="{FF2B5EF4-FFF2-40B4-BE49-F238E27FC236}">
                <a16:creationId xmlns:a16="http://schemas.microsoft.com/office/drawing/2014/main" id="{2D5F1DA5-7BB0-0309-3E65-44DDEF3141C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BBCBEC1-69B8-F2EB-CAFA-5A294439A174}"/>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617350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CBA61-3CE4-676D-E6E6-A0F3A45D85C7}"/>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58BE53C3-DEB7-D4D6-59C2-76D2BCA233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1EEC23A6-4DEE-2B0F-F9E8-AF8E0897C7BA}"/>
              </a:ext>
            </a:extLst>
          </p:cNvPr>
          <p:cNvSpPr>
            <a:spLocks noGrp="1"/>
          </p:cNvSpPr>
          <p:nvPr>
            <p:ph type="dt" sz="half" idx="10"/>
          </p:nvPr>
        </p:nvSpPr>
        <p:spPr/>
        <p:txBody>
          <a:bodyPr/>
          <a:lstStyle/>
          <a:p>
            <a:fld id="{4B1B422B-D56B-48A6-BE4D-0AAC7D67A4F0}" type="datetimeFigureOut">
              <a:rPr lang="en-PK" smtClean="0"/>
              <a:t>01/07/2026</a:t>
            </a:fld>
            <a:endParaRPr lang="en-PK"/>
          </a:p>
        </p:txBody>
      </p:sp>
      <p:sp>
        <p:nvSpPr>
          <p:cNvPr id="5" name="Footer Placeholder 4">
            <a:extLst>
              <a:ext uri="{FF2B5EF4-FFF2-40B4-BE49-F238E27FC236}">
                <a16:creationId xmlns:a16="http://schemas.microsoft.com/office/drawing/2014/main" id="{033BC7B1-D071-396D-DD27-D6F3B7A2FD30}"/>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03EEB43-9506-19FD-C9B4-95B5C0754F0F}"/>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3577600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F5FC5C-5F00-9053-F0A9-CBBC1DB3BC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9D03B86-E126-76D5-C128-6EBFBA70C2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2B410F2-965D-9F7B-B99A-D14566919EDD}"/>
              </a:ext>
            </a:extLst>
          </p:cNvPr>
          <p:cNvSpPr>
            <a:spLocks noGrp="1"/>
          </p:cNvSpPr>
          <p:nvPr>
            <p:ph type="dt" sz="half" idx="10"/>
          </p:nvPr>
        </p:nvSpPr>
        <p:spPr/>
        <p:txBody>
          <a:bodyPr/>
          <a:lstStyle/>
          <a:p>
            <a:fld id="{4B1B422B-D56B-48A6-BE4D-0AAC7D67A4F0}" type="datetimeFigureOut">
              <a:rPr lang="en-PK" smtClean="0"/>
              <a:t>01/07/2026</a:t>
            </a:fld>
            <a:endParaRPr lang="en-PK"/>
          </a:p>
        </p:txBody>
      </p:sp>
      <p:sp>
        <p:nvSpPr>
          <p:cNvPr id="5" name="Footer Placeholder 4">
            <a:extLst>
              <a:ext uri="{FF2B5EF4-FFF2-40B4-BE49-F238E27FC236}">
                <a16:creationId xmlns:a16="http://schemas.microsoft.com/office/drawing/2014/main" id="{B06D7986-9CB8-9DAB-9592-00A9C473E261}"/>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E32B750-7CCD-A09C-870B-641AB424505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445808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48A50D-613C-02AB-581B-1EF8CBBB5B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A6868A3D-C8EE-C41F-48F9-726C438B28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7D75493D-4CF2-26D7-B747-6F625DBE2E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D636D9-B266-4646-B09B-4DC3FF6DEB0E}" type="datetime8">
              <a:rPr lang="en-PK" smtClean="0"/>
              <a:t>01/07/2026 09:03</a:t>
            </a:fld>
            <a:endParaRPr lang="en-PK"/>
          </a:p>
        </p:txBody>
      </p:sp>
      <p:sp>
        <p:nvSpPr>
          <p:cNvPr id="5" name="Footer Placeholder 4">
            <a:extLst>
              <a:ext uri="{FF2B5EF4-FFF2-40B4-BE49-F238E27FC236}">
                <a16:creationId xmlns:a16="http://schemas.microsoft.com/office/drawing/2014/main" id="{6BB9FEE2-49F4-5CCC-6E73-A93A928D6A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6F66B20A-6F5F-92E0-412B-7BC36CDF6F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3F6AE5-FFBF-49E9-8C0A-67AD363D4ACB}" type="slidenum">
              <a:rPr lang="en-PK" smtClean="0"/>
              <a:t>‹#›</a:t>
            </a:fld>
            <a:endParaRPr lang="en-PK"/>
          </a:p>
        </p:txBody>
      </p:sp>
    </p:spTree>
    <p:extLst>
      <p:ext uri="{BB962C8B-B14F-4D97-AF65-F5344CB8AC3E}">
        <p14:creationId xmlns:p14="http://schemas.microsoft.com/office/powerpoint/2010/main" val="28421863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E0A0BD-8E0B-039C-FB28-7DE93B8E33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5CF0ED9-CAC2-E83A-68ED-C5161A9F58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7547626-C717-A094-D7ED-9CC80A7797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F2A6A64-E084-48DF-BC71-B8BC8F551A5E}" type="datetime8">
              <a:rPr lang="en-PK" smtClean="0"/>
              <a:t>01/07/2026 09:03</a:t>
            </a:fld>
            <a:endParaRPr lang="en-PK"/>
          </a:p>
        </p:txBody>
      </p:sp>
      <p:sp>
        <p:nvSpPr>
          <p:cNvPr id="5" name="Footer Placeholder 4">
            <a:extLst>
              <a:ext uri="{FF2B5EF4-FFF2-40B4-BE49-F238E27FC236}">
                <a16:creationId xmlns:a16="http://schemas.microsoft.com/office/drawing/2014/main" id="{27285EE4-DEFC-CF01-936A-8A735E3CB9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7D368BF9-1FDB-07EF-4625-0F16BAFA2D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98E9BB-3426-4537-94B3-5BEC3C8DC2C6}" type="slidenum">
              <a:rPr lang="en-PK" smtClean="0"/>
              <a:t>‹#›</a:t>
            </a:fld>
            <a:endParaRPr lang="en-PK"/>
          </a:p>
        </p:txBody>
      </p:sp>
    </p:spTree>
    <p:extLst>
      <p:ext uri="{BB962C8B-B14F-4D97-AF65-F5344CB8AC3E}">
        <p14:creationId xmlns:p14="http://schemas.microsoft.com/office/powerpoint/2010/main" val="42213255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E0A0BD-8E0B-039C-FB28-7DE93B8E33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5CF0ED9-CAC2-E83A-68ED-C5161A9F58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7547626-C717-A094-D7ED-9CC80A7797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1B422B-D56B-48A6-BE4D-0AAC7D67A4F0}" type="datetimeFigureOut">
              <a:rPr lang="en-PK" smtClean="0"/>
              <a:t>01/07/2026</a:t>
            </a:fld>
            <a:endParaRPr lang="en-PK"/>
          </a:p>
        </p:txBody>
      </p:sp>
      <p:sp>
        <p:nvSpPr>
          <p:cNvPr id="5" name="Footer Placeholder 4">
            <a:extLst>
              <a:ext uri="{FF2B5EF4-FFF2-40B4-BE49-F238E27FC236}">
                <a16:creationId xmlns:a16="http://schemas.microsoft.com/office/drawing/2014/main" id="{27285EE4-DEFC-CF01-936A-8A735E3CB9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7D368BF9-1FDB-07EF-4625-0F16BAFA2D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98E9BB-3426-4537-94B3-5BEC3C8DC2C6}" type="slidenum">
              <a:rPr lang="en-PK" smtClean="0"/>
              <a:t>‹#›</a:t>
            </a:fld>
            <a:endParaRPr lang="en-PK"/>
          </a:p>
        </p:txBody>
      </p:sp>
    </p:spTree>
    <p:extLst>
      <p:ext uri="{BB962C8B-B14F-4D97-AF65-F5344CB8AC3E}">
        <p14:creationId xmlns:p14="http://schemas.microsoft.com/office/powerpoint/2010/main" val="78967112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8" name="Rectangle 77">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0" name="Rectangle 79">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2" name="Rectangle 81">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4" name="Rectangle 83">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6" name="Rectangle 85">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8" name="Freeform: Shape 87">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49733D3-B539-9FDF-841C-7CA34CBED49E}"/>
              </a:ext>
            </a:extLst>
          </p:cNvPr>
          <p:cNvSpPr>
            <a:spLocks noGrp="1"/>
          </p:cNvSpPr>
          <p:nvPr>
            <p:ph type="ctrTitle"/>
          </p:nvPr>
        </p:nvSpPr>
        <p:spPr>
          <a:xfrm>
            <a:off x="2026693" y="1030406"/>
            <a:ext cx="8147713" cy="3081242"/>
          </a:xfrm>
        </p:spPr>
        <p:txBody>
          <a:bodyPr anchor="ctr">
            <a:normAutofit/>
          </a:bodyPr>
          <a:lstStyle/>
          <a:p>
            <a:r>
              <a:rPr lang="en-GB" sz="4800" dirty="0">
                <a:solidFill>
                  <a:srgbClr val="FFFFFF"/>
                </a:solidFill>
                <a:latin typeface="Arial" panose="020B0604020202020204" pitchFamily="34" charset="0"/>
                <a:cs typeface="Arial" panose="020B0604020202020204" pitchFamily="34" charset="0"/>
              </a:rPr>
              <a:t>Artificial Intelligence</a:t>
            </a:r>
            <a:br>
              <a:rPr lang="en-GB" sz="4800" dirty="0">
                <a:solidFill>
                  <a:srgbClr val="FFFFFF"/>
                </a:solidFill>
                <a:latin typeface="Arial" panose="020B0604020202020204" pitchFamily="34" charset="0"/>
                <a:cs typeface="Arial" panose="020B0604020202020204" pitchFamily="34" charset="0"/>
              </a:rPr>
            </a:br>
            <a:r>
              <a:rPr lang="en-GB" sz="4800" dirty="0">
                <a:solidFill>
                  <a:srgbClr val="FFFFFF"/>
                </a:solidFill>
                <a:latin typeface="Arial" panose="020B0604020202020204" pitchFamily="34" charset="0"/>
                <a:cs typeface="Arial" panose="020B0604020202020204" pitchFamily="34" charset="0"/>
              </a:rPr>
              <a:t>CS-202</a:t>
            </a:r>
            <a:endParaRPr lang="en-PK" sz="4800" dirty="0">
              <a:solidFill>
                <a:srgbClr val="FFFFFF"/>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40CA6085-9456-8389-FD83-03FD37673D7F}"/>
              </a:ext>
            </a:extLst>
          </p:cNvPr>
          <p:cNvSpPr>
            <a:spLocks noGrp="1"/>
          </p:cNvSpPr>
          <p:nvPr>
            <p:ph type="subTitle" idx="1"/>
          </p:nvPr>
        </p:nvSpPr>
        <p:spPr>
          <a:xfrm>
            <a:off x="1559943" y="4316361"/>
            <a:ext cx="9078628" cy="1715352"/>
          </a:xfrm>
        </p:spPr>
        <p:txBody>
          <a:bodyPr anchor="ctr">
            <a:noAutofit/>
          </a:bodyPr>
          <a:lstStyle/>
          <a:p>
            <a:r>
              <a:rPr lang="en-GB" dirty="0">
                <a:solidFill>
                  <a:srgbClr val="FFFFFF"/>
                </a:solidFill>
                <a:latin typeface="Arial" panose="020B0604020202020204" pitchFamily="34" charset="0"/>
                <a:cs typeface="Arial" panose="020B0604020202020204" pitchFamily="34" charset="0"/>
              </a:rPr>
              <a:t>Topic: Logic and Reasoning</a:t>
            </a:r>
          </a:p>
          <a:p>
            <a:r>
              <a:rPr lang="en-GB" sz="1800" dirty="0">
                <a:solidFill>
                  <a:srgbClr val="FFFFFF"/>
                </a:solidFill>
                <a:latin typeface="Arial" panose="020B0604020202020204" pitchFamily="34" charset="0"/>
                <a:cs typeface="Arial" panose="020B0604020202020204" pitchFamily="34" charset="0"/>
              </a:rPr>
              <a:t>Habiba Arshad</a:t>
            </a:r>
          </a:p>
          <a:p>
            <a:r>
              <a:rPr lang="en-GB" sz="1800" dirty="0">
                <a:solidFill>
                  <a:srgbClr val="FFFFFF"/>
                </a:solidFill>
                <a:latin typeface="Arial" panose="020B0604020202020204" pitchFamily="34" charset="0"/>
                <a:cs typeface="Arial" panose="020B0604020202020204" pitchFamily="34" charset="0"/>
              </a:rPr>
              <a:t>Department of Computer Science</a:t>
            </a:r>
          </a:p>
          <a:p>
            <a:r>
              <a:rPr lang="en-GB" sz="1800" dirty="0">
                <a:solidFill>
                  <a:srgbClr val="FFFFFF"/>
                </a:solidFill>
                <a:latin typeface="Arial" panose="020B0604020202020204" pitchFamily="34" charset="0"/>
                <a:cs typeface="Arial" panose="020B0604020202020204" pitchFamily="34" charset="0"/>
              </a:rPr>
              <a:t>University of Wah</a:t>
            </a:r>
          </a:p>
        </p:txBody>
      </p:sp>
    </p:spTree>
    <p:extLst>
      <p:ext uri="{BB962C8B-B14F-4D97-AF65-F5344CB8AC3E}">
        <p14:creationId xmlns:p14="http://schemas.microsoft.com/office/powerpoint/2010/main" val="2581959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2000"/>
                                  </p:stCondLst>
                                  <p:iterate type="lt">
                                    <p:tmPct val="10000"/>
                                  </p:iterate>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4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1F6BF70-C7D1-4AF9-8DB4-BEEB8A9C35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1DE0E7B3-C946-4D46-D3F2-E5D4B280843F}"/>
              </a:ext>
            </a:extLst>
          </p:cNvPr>
          <p:cNvSpPr>
            <a:spLocks noGrp="1"/>
          </p:cNvSpPr>
          <p:nvPr>
            <p:ph type="title"/>
          </p:nvPr>
        </p:nvSpPr>
        <p:spPr>
          <a:xfrm>
            <a:off x="645065" y="1097280"/>
            <a:ext cx="3796306" cy="4666207"/>
          </a:xfrm>
        </p:spPr>
        <p:txBody>
          <a:bodyPr anchor="ctr">
            <a:normAutofit/>
          </a:bodyPr>
          <a:lstStyle/>
          <a:p>
            <a:r>
              <a:rPr lang="en-GB" sz="4800" b="1" dirty="0">
                <a:latin typeface="Arial" panose="020B0604020202020204" pitchFamily="34" charset="0"/>
                <a:cs typeface="Arial" panose="020B0604020202020204" pitchFamily="34" charset="0"/>
              </a:rPr>
              <a:t>Week-11 CLO</a:t>
            </a:r>
            <a:endParaRPr lang="en-PK" sz="4800" b="1" dirty="0">
              <a:latin typeface="Arial" panose="020B0604020202020204" pitchFamily="34" charset="0"/>
              <a:cs typeface="Arial" panose="020B0604020202020204" pitchFamily="34" charset="0"/>
            </a:endParaRPr>
          </a:p>
        </p:txBody>
      </p:sp>
      <p:grpSp>
        <p:nvGrpSpPr>
          <p:cNvPr id="11" name="Group 10">
            <a:extLst>
              <a:ext uri="{FF2B5EF4-FFF2-40B4-BE49-F238E27FC236}">
                <a16:creationId xmlns:a16="http://schemas.microsoft.com/office/drawing/2014/main" id="{0C66A8B6-1F6E-4FCC-93B9-B9986B6FD1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576" y="5945955"/>
            <a:ext cx="12109423" cy="525780"/>
            <a:chOff x="82576" y="5945955"/>
            <a:chExt cx="12109423" cy="525780"/>
          </a:xfrm>
        </p:grpSpPr>
        <p:sp>
          <p:nvSpPr>
            <p:cNvPr id="12" name="Rectangle 11">
              <a:extLst>
                <a:ext uri="{FF2B5EF4-FFF2-40B4-BE49-F238E27FC236}">
                  <a16:creationId xmlns:a16="http://schemas.microsoft.com/office/drawing/2014/main" id="{CAF7C4FD-65AD-4BBE-886A-D2E923F94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1BA8278B-6DF7-481F-B1FA-FFE7D6C3C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5" name="Rectangle 14">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aphicFrame>
        <p:nvGraphicFramePr>
          <p:cNvPr id="5" name="Content Placeholder 2">
            <a:extLst>
              <a:ext uri="{FF2B5EF4-FFF2-40B4-BE49-F238E27FC236}">
                <a16:creationId xmlns:a16="http://schemas.microsoft.com/office/drawing/2014/main" id="{951412D1-217C-109E-B1DF-6DFBBBBDB9B7}"/>
              </a:ext>
            </a:extLst>
          </p:cNvPr>
          <p:cNvGraphicFramePr>
            <a:graphicFrameLocks noGrp="1"/>
          </p:cNvGraphicFramePr>
          <p:nvPr>
            <p:ph idx="1"/>
          </p:nvPr>
        </p:nvGraphicFramePr>
        <p:xfrm>
          <a:off x="5431536" y="587829"/>
          <a:ext cx="5918184" cy="54056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069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77852DB-10CB-BAE7-752A-5098AF7A36BA}"/>
              </a:ext>
            </a:extLst>
          </p:cNvPr>
          <p:cNvSpPr>
            <a:spLocks noGrp="1"/>
          </p:cNvSpPr>
          <p:nvPr>
            <p:ph type="title"/>
          </p:nvPr>
        </p:nvSpPr>
        <p:spPr>
          <a:xfrm>
            <a:off x="586478" y="1683756"/>
            <a:ext cx="3115265" cy="2396359"/>
          </a:xfrm>
        </p:spPr>
        <p:txBody>
          <a:bodyPr anchor="b">
            <a:normAutofit/>
          </a:bodyPr>
          <a:lstStyle/>
          <a:p>
            <a:pPr algn="r"/>
            <a:r>
              <a:rPr lang="en-GB" sz="4000">
                <a:solidFill>
                  <a:srgbClr val="FFFFFF"/>
                </a:solidFill>
              </a:rPr>
              <a:t>CLO’s Mapping </a:t>
            </a:r>
            <a:endParaRPr lang="en-PK" sz="4000">
              <a:solidFill>
                <a:srgbClr val="FFFFFF"/>
              </a:solidFill>
            </a:endParaRPr>
          </a:p>
        </p:txBody>
      </p:sp>
      <p:graphicFrame>
        <p:nvGraphicFramePr>
          <p:cNvPr id="12" name="Content Placeholder 2">
            <a:extLst>
              <a:ext uri="{FF2B5EF4-FFF2-40B4-BE49-F238E27FC236}">
                <a16:creationId xmlns:a16="http://schemas.microsoft.com/office/drawing/2014/main" id="{D1DDC836-2DE9-75FA-5E18-375B488BD769}"/>
              </a:ext>
            </a:extLst>
          </p:cNvPr>
          <p:cNvGraphicFramePr>
            <a:graphicFrameLocks noGrp="1"/>
          </p:cNvGraphicFramePr>
          <p:nvPr>
            <p:ph idx="1"/>
            <p:extLst>
              <p:ext uri="{D42A27DB-BD31-4B8C-83A1-F6EECF244321}">
                <p14:modId xmlns:p14="http://schemas.microsoft.com/office/powerpoint/2010/main" val="4207527803"/>
              </p:ext>
            </p:extLst>
          </p:nvPr>
        </p:nvGraphicFramePr>
        <p:xfrm>
          <a:off x="4905052" y="321275"/>
          <a:ext cx="6666833" cy="62895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3401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extBox 4">
            <a:extLst>
              <a:ext uri="{FF2B5EF4-FFF2-40B4-BE49-F238E27FC236}">
                <a16:creationId xmlns:a16="http://schemas.microsoft.com/office/drawing/2014/main" id="{49ECAFBC-B9EE-1127-2756-4F24E01916A6}"/>
              </a:ext>
            </a:extLst>
          </p:cNvPr>
          <p:cNvSpPr txBox="1"/>
          <p:nvPr/>
        </p:nvSpPr>
        <p:spPr>
          <a:xfrm>
            <a:off x="2020905" y="1651847"/>
            <a:ext cx="8147713" cy="3081242"/>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6600" b="1" kern="1200" dirty="0">
                <a:solidFill>
                  <a:srgbClr val="FFFFFF"/>
                </a:solidFill>
                <a:latin typeface="+mj-lt"/>
                <a:ea typeface="+mj-ea"/>
                <a:cs typeface="+mj-cs"/>
              </a:rPr>
              <a:t>Representation, Reasoning, and Logic</a:t>
            </a:r>
            <a:endParaRPr lang="en-US" sz="6600" kern="1200" dirty="0">
              <a:solidFill>
                <a:srgbClr val="FFFFFF"/>
              </a:solidFill>
              <a:latin typeface="+mj-lt"/>
              <a:ea typeface="+mj-ea"/>
              <a:cs typeface="+mj-cs"/>
            </a:endParaRPr>
          </a:p>
        </p:txBody>
      </p:sp>
    </p:spTree>
    <p:extLst>
      <p:ext uri="{BB962C8B-B14F-4D97-AF65-F5344CB8AC3E}">
        <p14:creationId xmlns:p14="http://schemas.microsoft.com/office/powerpoint/2010/main" val="366955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6DBC10D-E0E3-2095-5984-52FF4A0BFE6C}"/>
              </a:ext>
            </a:extLst>
          </p:cNvPr>
          <p:cNvSpPr>
            <a:spLocks noGrp="1"/>
          </p:cNvSpPr>
          <p:nvPr>
            <p:ph type="title"/>
          </p:nvPr>
        </p:nvSpPr>
        <p:spPr>
          <a:xfrm>
            <a:off x="826396" y="586855"/>
            <a:ext cx="4230100" cy="3387497"/>
          </a:xfrm>
        </p:spPr>
        <p:txBody>
          <a:bodyPr anchor="b">
            <a:normAutofit/>
          </a:bodyPr>
          <a:lstStyle/>
          <a:p>
            <a:pPr algn="ctr"/>
            <a:r>
              <a:rPr lang="en-GB" sz="4000" b="1" dirty="0">
                <a:solidFill>
                  <a:srgbClr val="FFFFFF"/>
                </a:solidFill>
              </a:rPr>
              <a:t>What is Representation in AI?</a:t>
            </a:r>
            <a:endParaRPr lang="en-PK" sz="4000" b="1" dirty="0">
              <a:solidFill>
                <a:srgbClr val="FFFFFF"/>
              </a:solidFill>
            </a:endParaRPr>
          </a:p>
        </p:txBody>
      </p:sp>
      <p:sp>
        <p:nvSpPr>
          <p:cNvPr id="3" name="Content Placeholder 2">
            <a:extLst>
              <a:ext uri="{FF2B5EF4-FFF2-40B4-BE49-F238E27FC236}">
                <a16:creationId xmlns:a16="http://schemas.microsoft.com/office/drawing/2014/main" id="{A0832CF4-80BD-83B8-FD98-A2C95A3B4303}"/>
              </a:ext>
            </a:extLst>
          </p:cNvPr>
          <p:cNvSpPr>
            <a:spLocks noGrp="1"/>
          </p:cNvSpPr>
          <p:nvPr>
            <p:ph idx="1"/>
          </p:nvPr>
        </p:nvSpPr>
        <p:spPr>
          <a:xfrm>
            <a:off x="5787341" y="649480"/>
            <a:ext cx="6146157" cy="5546047"/>
          </a:xfrm>
        </p:spPr>
        <p:txBody>
          <a:bodyPr anchor="ctr">
            <a:normAutofit/>
          </a:bodyPr>
          <a:lstStyle/>
          <a:p>
            <a:pPr algn="just"/>
            <a:r>
              <a:rPr lang="en-GB" sz="3200" dirty="0">
                <a:latin typeface="Arial" panose="020B0604020202020204" pitchFamily="34" charset="0"/>
                <a:cs typeface="Arial" panose="020B0604020202020204" pitchFamily="34" charset="0"/>
              </a:rPr>
              <a:t>Representation in AI refers to how knowledge is structured and encoded in a way that can be understood, processed, and used by AI systems to make decisions or draw inferences.</a:t>
            </a:r>
          </a:p>
          <a:p>
            <a:endParaRPr lang="en-GB"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16842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E5E58B-E429-0D7A-DE21-7D21E716D598}"/>
              </a:ext>
            </a:extLst>
          </p:cNvPr>
          <p:cNvSpPr>
            <a:spLocks noGrp="1"/>
          </p:cNvSpPr>
          <p:nvPr>
            <p:ph type="title"/>
          </p:nvPr>
        </p:nvSpPr>
        <p:spPr>
          <a:xfrm>
            <a:off x="1371599" y="294538"/>
            <a:ext cx="9895951" cy="1033669"/>
          </a:xfrm>
        </p:spPr>
        <p:txBody>
          <a:bodyPr>
            <a:normAutofit/>
          </a:bodyPr>
          <a:lstStyle/>
          <a:p>
            <a:r>
              <a:rPr lang="it-IT" sz="4000" b="1" dirty="0">
                <a:solidFill>
                  <a:srgbClr val="FFFFFF"/>
                </a:solidFill>
              </a:rPr>
              <a:t>Key Aspects of Representation</a:t>
            </a:r>
            <a:endParaRPr lang="en-PK" sz="4000" b="1" dirty="0">
              <a:solidFill>
                <a:srgbClr val="FFFFFF"/>
              </a:solidFill>
            </a:endParaRPr>
          </a:p>
        </p:txBody>
      </p:sp>
      <p:sp>
        <p:nvSpPr>
          <p:cNvPr id="3" name="Content Placeholder 2">
            <a:extLst>
              <a:ext uri="{FF2B5EF4-FFF2-40B4-BE49-F238E27FC236}">
                <a16:creationId xmlns:a16="http://schemas.microsoft.com/office/drawing/2014/main" id="{D3C617F3-9CAF-E2DF-ED1D-C6DBCD9B799A}"/>
              </a:ext>
            </a:extLst>
          </p:cNvPr>
          <p:cNvSpPr>
            <a:spLocks noGrp="1"/>
          </p:cNvSpPr>
          <p:nvPr>
            <p:ph idx="1"/>
          </p:nvPr>
        </p:nvSpPr>
        <p:spPr>
          <a:xfrm>
            <a:off x="1371599" y="1885278"/>
            <a:ext cx="9724031" cy="4678183"/>
          </a:xfrm>
        </p:spPr>
        <p:txBody>
          <a:bodyPr anchor="ctr">
            <a:normAutofit/>
          </a:bodyPr>
          <a:lstStyle/>
          <a:p>
            <a:pPr marL="0" indent="0">
              <a:buNone/>
            </a:pPr>
            <a:r>
              <a:rPr lang="en-GB" b="1" dirty="0">
                <a:latin typeface="Arial" panose="020B0604020202020204" pitchFamily="34" charset="0"/>
                <a:cs typeface="Arial" panose="020B0604020202020204" pitchFamily="34" charset="0"/>
              </a:rPr>
              <a:t>Knowledge Encoding</a:t>
            </a:r>
          </a:p>
          <a:p>
            <a:r>
              <a:rPr lang="en-GB" dirty="0">
                <a:latin typeface="Arial" panose="020B0604020202020204" pitchFamily="34" charset="0"/>
                <a:cs typeface="Arial" panose="020B0604020202020204" pitchFamily="34" charset="0"/>
              </a:rPr>
              <a:t>Converting real-world facts into a structured format.</a:t>
            </a:r>
          </a:p>
          <a:p>
            <a:pPr marL="457200" lvl="1" indent="0">
              <a:buNone/>
            </a:pPr>
            <a:r>
              <a:rPr lang="en-GB" b="1" dirty="0">
                <a:latin typeface="Arial" panose="020B0604020202020204" pitchFamily="34" charset="0"/>
                <a:cs typeface="Arial" panose="020B0604020202020204" pitchFamily="34" charset="0"/>
              </a:rPr>
              <a:t>Types of Knowledge Represented</a:t>
            </a:r>
          </a:p>
          <a:p>
            <a:pPr lvl="1"/>
            <a:r>
              <a:rPr lang="en-GB" dirty="0">
                <a:latin typeface="Arial" panose="020B0604020202020204" pitchFamily="34" charset="0"/>
                <a:cs typeface="Arial" panose="020B0604020202020204" pitchFamily="34" charset="0"/>
              </a:rPr>
              <a:t>Declarative (facts, rules).</a:t>
            </a:r>
          </a:p>
          <a:p>
            <a:pPr lvl="1"/>
            <a:r>
              <a:rPr lang="en-GB" dirty="0">
                <a:latin typeface="Arial" panose="020B0604020202020204" pitchFamily="34" charset="0"/>
                <a:cs typeface="Arial" panose="020B0604020202020204" pitchFamily="34" charset="0"/>
              </a:rPr>
              <a:t>Procedural (how-to).</a:t>
            </a:r>
          </a:p>
          <a:p>
            <a:pPr marL="0" indent="0">
              <a:buNone/>
            </a:pPr>
            <a:r>
              <a:rPr lang="en-GB" b="1" dirty="0">
                <a:latin typeface="Arial" panose="020B0604020202020204" pitchFamily="34" charset="0"/>
                <a:cs typeface="Arial" panose="020B0604020202020204" pitchFamily="34" charset="0"/>
              </a:rPr>
              <a:t>Inference</a:t>
            </a:r>
          </a:p>
          <a:p>
            <a:r>
              <a:rPr lang="en-GB" dirty="0">
                <a:latin typeface="Arial" panose="020B0604020202020204" pitchFamily="34" charset="0"/>
                <a:cs typeface="Arial" panose="020B0604020202020204" pitchFamily="34" charset="0"/>
              </a:rPr>
              <a:t>Allows logical reasoning to derive new facts.</a:t>
            </a:r>
          </a:p>
          <a:p>
            <a:pPr marL="0" indent="0">
              <a:buNone/>
            </a:pPr>
            <a:r>
              <a:rPr lang="en-GB" b="1" dirty="0">
                <a:latin typeface="Arial" panose="020B0604020202020204" pitchFamily="34" charset="0"/>
                <a:cs typeface="Arial" panose="020B0604020202020204" pitchFamily="34" charset="0"/>
              </a:rPr>
              <a:t>Communication</a:t>
            </a:r>
          </a:p>
          <a:p>
            <a:r>
              <a:rPr lang="en-GB" dirty="0">
                <a:latin typeface="Arial" panose="020B0604020202020204" pitchFamily="34" charset="0"/>
                <a:cs typeface="Arial" panose="020B0604020202020204" pitchFamily="34" charset="0"/>
              </a:rPr>
              <a:t>Interaction between systems or with humans.</a:t>
            </a:r>
            <a:endParaRPr lang="en-PK"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5379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38C1D8-EEF4-CFFA-24C7-EC177264BD2C}"/>
              </a:ext>
            </a:extLst>
          </p:cNvPr>
          <p:cNvSpPr>
            <a:spLocks noGrp="1"/>
          </p:cNvSpPr>
          <p:nvPr>
            <p:ph type="title"/>
          </p:nvPr>
        </p:nvSpPr>
        <p:spPr>
          <a:xfrm>
            <a:off x="808638" y="386930"/>
            <a:ext cx="9236700" cy="1188950"/>
          </a:xfrm>
        </p:spPr>
        <p:txBody>
          <a:bodyPr anchor="b">
            <a:normAutofit/>
          </a:bodyPr>
          <a:lstStyle/>
          <a:p>
            <a:r>
              <a:rPr lang="it-IT" sz="5400" b="1"/>
              <a:t>Forms of Representation</a:t>
            </a:r>
            <a:endParaRPr lang="en-PK" sz="5400" b="1"/>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E8ABD4A-A8D3-D8D2-69E1-C850E63CBD79}"/>
              </a:ext>
            </a:extLst>
          </p:cNvPr>
          <p:cNvSpPr>
            <a:spLocks noGrp="1"/>
          </p:cNvSpPr>
          <p:nvPr>
            <p:ph idx="1"/>
          </p:nvPr>
        </p:nvSpPr>
        <p:spPr>
          <a:xfrm>
            <a:off x="793660" y="2599509"/>
            <a:ext cx="10143668" cy="3435531"/>
          </a:xfrm>
        </p:spPr>
        <p:txBody>
          <a:bodyPr anchor="ctr">
            <a:normAutofit lnSpcReduction="10000"/>
          </a:bodyPr>
          <a:lstStyle/>
          <a:p>
            <a:pPr marL="0" indent="0">
              <a:buNone/>
            </a:pPr>
            <a:r>
              <a:rPr lang="it-IT" sz="2400" b="1" dirty="0"/>
              <a:t>Semantic Networks</a:t>
            </a:r>
          </a:p>
          <a:p>
            <a:r>
              <a:rPr lang="it-IT" sz="2400" dirty="0"/>
              <a:t>Concepts linked in a network (e.g., "Cats → Mammals").</a:t>
            </a:r>
          </a:p>
          <a:p>
            <a:pPr marL="0" indent="0">
              <a:buNone/>
            </a:pPr>
            <a:r>
              <a:rPr lang="it-IT" sz="2400" b="1" dirty="0"/>
              <a:t>Frames</a:t>
            </a:r>
          </a:p>
          <a:p>
            <a:r>
              <a:rPr lang="it-IT" sz="2400" dirty="0"/>
              <a:t>Data structures for common situations (e.g., restaurant visit).</a:t>
            </a:r>
          </a:p>
          <a:p>
            <a:pPr marL="0" indent="0">
              <a:buNone/>
            </a:pPr>
            <a:r>
              <a:rPr lang="it-IT" sz="2400" b="1" dirty="0"/>
              <a:t>Logical Propositions</a:t>
            </a:r>
          </a:p>
          <a:p>
            <a:r>
              <a:rPr lang="it-IT" sz="2400" dirty="0"/>
              <a:t>Statements that follow logic rules.</a:t>
            </a:r>
          </a:p>
          <a:p>
            <a:pPr marL="0" indent="0">
              <a:buNone/>
            </a:pPr>
            <a:r>
              <a:rPr lang="it-IT" sz="2400" b="1" dirty="0"/>
              <a:t>Graphs and Trees</a:t>
            </a:r>
          </a:p>
          <a:p>
            <a:r>
              <a:rPr lang="it-IT" sz="2400" dirty="0"/>
              <a:t>Hierarchical or relational representations (e.g., decision trees).</a:t>
            </a:r>
            <a:endParaRPr lang="en-PK" sz="2400" dirty="0"/>
          </a:p>
        </p:txBody>
      </p:sp>
    </p:spTree>
    <p:extLst>
      <p:ext uri="{BB962C8B-B14F-4D97-AF65-F5344CB8AC3E}">
        <p14:creationId xmlns:p14="http://schemas.microsoft.com/office/powerpoint/2010/main" val="4095254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5AE8C8-1C2F-2487-E2A5-D1843434D710}"/>
              </a:ext>
            </a:extLst>
          </p:cNvPr>
          <p:cNvSpPr>
            <a:spLocks noGrp="1"/>
          </p:cNvSpPr>
          <p:nvPr>
            <p:ph type="title"/>
          </p:nvPr>
        </p:nvSpPr>
        <p:spPr>
          <a:xfrm>
            <a:off x="795528" y="386930"/>
            <a:ext cx="10141799" cy="1300554"/>
          </a:xfrm>
        </p:spPr>
        <p:txBody>
          <a:bodyPr anchor="b">
            <a:normAutofit/>
          </a:bodyPr>
          <a:lstStyle/>
          <a:p>
            <a:pPr marL="0" indent="0" algn="just">
              <a:buNone/>
            </a:pPr>
            <a:r>
              <a:rPr lang="en-GB" sz="4800" b="1" dirty="0"/>
              <a:t>Semantic Networks</a:t>
            </a:r>
          </a:p>
        </p:txBody>
      </p:sp>
      <p:sp>
        <p:nvSpPr>
          <p:cNvPr id="12" name="Rectangle 11">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f a cat&#10;&#10;Description automatically generated">
            <a:extLst>
              <a:ext uri="{FF2B5EF4-FFF2-40B4-BE49-F238E27FC236}">
                <a16:creationId xmlns:a16="http://schemas.microsoft.com/office/drawing/2014/main" id="{06981937-3E48-9CE4-320F-D4FFD13536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295" y="3000166"/>
            <a:ext cx="5434803" cy="2916000"/>
          </a:xfrm>
          <a:prstGeom prst="rect">
            <a:avLst/>
          </a:prstGeom>
        </p:spPr>
      </p:pic>
      <p:sp>
        <p:nvSpPr>
          <p:cNvPr id="3" name="Content Placeholder 2">
            <a:extLst>
              <a:ext uri="{FF2B5EF4-FFF2-40B4-BE49-F238E27FC236}">
                <a16:creationId xmlns:a16="http://schemas.microsoft.com/office/drawing/2014/main" id="{DAC0751E-E6BC-73B2-8037-F90279A1484A}"/>
              </a:ext>
            </a:extLst>
          </p:cNvPr>
          <p:cNvSpPr>
            <a:spLocks noGrp="1"/>
          </p:cNvSpPr>
          <p:nvPr>
            <p:ph idx="1"/>
          </p:nvPr>
        </p:nvSpPr>
        <p:spPr>
          <a:xfrm>
            <a:off x="6406428" y="2599509"/>
            <a:ext cx="4809439" cy="3639450"/>
          </a:xfrm>
        </p:spPr>
        <p:txBody>
          <a:bodyPr anchor="ctr">
            <a:normAutofit/>
          </a:bodyPr>
          <a:lstStyle/>
          <a:p>
            <a:pPr marL="0" indent="0" algn="just">
              <a:buNone/>
            </a:pPr>
            <a:r>
              <a:rPr lang="en-GB" sz="2400" b="1" dirty="0"/>
              <a:t>Semantic Networks</a:t>
            </a:r>
          </a:p>
          <a:p>
            <a:pPr algn="just"/>
            <a:r>
              <a:rPr lang="en-GB" sz="2400" b="1" dirty="0"/>
              <a:t>Definition: </a:t>
            </a:r>
            <a:r>
              <a:rPr lang="en-GB" sz="2400" dirty="0"/>
              <a:t>A semantic network is a graphical representation of knowledge that uses nodes (concepts or entities) and edges (relationships or associations) to form a network.</a:t>
            </a:r>
          </a:p>
          <a:p>
            <a:endParaRPr lang="en-PK" sz="2000" dirty="0"/>
          </a:p>
        </p:txBody>
      </p:sp>
      <p:sp>
        <p:nvSpPr>
          <p:cNvPr id="16" name="Rectangle 15">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65908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E5118B-2A1A-F046-2852-7CAABF9BDF0C}"/>
              </a:ext>
            </a:extLst>
          </p:cNvPr>
          <p:cNvSpPr>
            <a:spLocks noGrp="1"/>
          </p:cNvSpPr>
          <p:nvPr>
            <p:ph type="title"/>
          </p:nvPr>
        </p:nvSpPr>
        <p:spPr>
          <a:xfrm>
            <a:off x="1371599" y="294538"/>
            <a:ext cx="9895951" cy="1033669"/>
          </a:xfrm>
        </p:spPr>
        <p:txBody>
          <a:bodyPr>
            <a:normAutofit/>
          </a:bodyPr>
          <a:lstStyle/>
          <a:p>
            <a:r>
              <a:rPr lang="en-GB" sz="4000" b="1">
                <a:solidFill>
                  <a:srgbClr val="FFFFFF"/>
                </a:solidFill>
              </a:rPr>
              <a:t>Frames</a:t>
            </a:r>
            <a:endParaRPr lang="en-PK" sz="4000">
              <a:solidFill>
                <a:srgbClr val="FFFFFF"/>
              </a:solidFill>
            </a:endParaRPr>
          </a:p>
        </p:txBody>
      </p:sp>
      <p:sp>
        <p:nvSpPr>
          <p:cNvPr id="3" name="Content Placeholder 2">
            <a:extLst>
              <a:ext uri="{FF2B5EF4-FFF2-40B4-BE49-F238E27FC236}">
                <a16:creationId xmlns:a16="http://schemas.microsoft.com/office/drawing/2014/main" id="{F0132387-F758-AAC0-F507-4A5BCAF8FB68}"/>
              </a:ext>
            </a:extLst>
          </p:cNvPr>
          <p:cNvSpPr>
            <a:spLocks noGrp="1"/>
          </p:cNvSpPr>
          <p:nvPr>
            <p:ph idx="1"/>
          </p:nvPr>
        </p:nvSpPr>
        <p:spPr>
          <a:xfrm>
            <a:off x="1371599" y="1891970"/>
            <a:ext cx="9724031" cy="4671492"/>
          </a:xfrm>
        </p:spPr>
        <p:txBody>
          <a:bodyPr anchor="ctr">
            <a:normAutofit/>
          </a:bodyPr>
          <a:lstStyle/>
          <a:p>
            <a:pPr marL="0" indent="0" algn="just">
              <a:buNone/>
            </a:pPr>
            <a:r>
              <a:rPr lang="en-GB" b="1" dirty="0"/>
              <a:t>Definition</a:t>
            </a:r>
            <a:r>
              <a:rPr lang="en-GB" dirty="0"/>
              <a:t>: Frames are data structures used to represent stereotypical knowledge about situations or objects. They consist of slots (attributes or properties) and fillers (values or specific instances for those attributes).</a:t>
            </a:r>
          </a:p>
          <a:p>
            <a:pPr marL="0" indent="0">
              <a:buNone/>
            </a:pPr>
            <a:r>
              <a:rPr lang="en-GB" b="1" dirty="0"/>
              <a:t>Frame Example</a:t>
            </a:r>
          </a:p>
          <a:p>
            <a:pPr marL="0" indent="0">
              <a:buNone/>
            </a:pPr>
            <a:r>
              <a:rPr lang="en-GB" dirty="0"/>
              <a:t>Restaurant Visit - Location: [City, Street] - Activity: [Order, Eat, Pay] - Participants: [Customer, Waiter]</a:t>
            </a:r>
          </a:p>
          <a:p>
            <a:pPr marL="0" indent="0" algn="just">
              <a:buNone/>
            </a:pPr>
            <a:r>
              <a:rPr lang="en-GB" b="1" dirty="0"/>
              <a:t>Uses</a:t>
            </a:r>
            <a:r>
              <a:rPr lang="en-GB" dirty="0"/>
              <a:t>: Frames are useful for modelling common events and situations where certain expectations (default values) are assumed, and variations can be filled as needed.</a:t>
            </a:r>
            <a:endParaRPr lang="en-PK" dirty="0"/>
          </a:p>
        </p:txBody>
      </p:sp>
    </p:spTree>
    <p:extLst>
      <p:ext uri="{BB962C8B-B14F-4D97-AF65-F5344CB8AC3E}">
        <p14:creationId xmlns:p14="http://schemas.microsoft.com/office/powerpoint/2010/main" val="389747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455576-59DA-5E02-2C28-57230A587C1E}"/>
              </a:ext>
            </a:extLst>
          </p:cNvPr>
          <p:cNvSpPr>
            <a:spLocks noGrp="1"/>
          </p:cNvSpPr>
          <p:nvPr>
            <p:ph type="title"/>
          </p:nvPr>
        </p:nvSpPr>
        <p:spPr>
          <a:xfrm>
            <a:off x="1371599" y="294538"/>
            <a:ext cx="9895951" cy="1033669"/>
          </a:xfrm>
        </p:spPr>
        <p:txBody>
          <a:bodyPr>
            <a:normAutofit/>
          </a:bodyPr>
          <a:lstStyle/>
          <a:p>
            <a:r>
              <a:rPr lang="it-IT" sz="4000" b="1">
                <a:solidFill>
                  <a:srgbClr val="FFFFFF"/>
                </a:solidFill>
              </a:rPr>
              <a:t>Logical Propositions</a:t>
            </a:r>
            <a:endParaRPr lang="en-PK" sz="4000" b="1">
              <a:solidFill>
                <a:srgbClr val="FFFFFF"/>
              </a:solidFill>
            </a:endParaRPr>
          </a:p>
        </p:txBody>
      </p:sp>
      <p:sp>
        <p:nvSpPr>
          <p:cNvPr id="3" name="Content Placeholder 2">
            <a:extLst>
              <a:ext uri="{FF2B5EF4-FFF2-40B4-BE49-F238E27FC236}">
                <a16:creationId xmlns:a16="http://schemas.microsoft.com/office/drawing/2014/main" id="{17A0C6DB-85E3-4A78-3B42-E266AF4408E6}"/>
              </a:ext>
            </a:extLst>
          </p:cNvPr>
          <p:cNvSpPr>
            <a:spLocks noGrp="1"/>
          </p:cNvSpPr>
          <p:nvPr>
            <p:ph idx="1"/>
          </p:nvPr>
        </p:nvSpPr>
        <p:spPr>
          <a:xfrm>
            <a:off x="459350" y="1622745"/>
            <a:ext cx="11506508" cy="5023861"/>
          </a:xfrm>
        </p:spPr>
        <p:txBody>
          <a:bodyPr anchor="ctr">
            <a:normAutofit fontScale="92500" lnSpcReduction="10000"/>
          </a:bodyPr>
          <a:lstStyle/>
          <a:p>
            <a:pPr marL="0" indent="0" algn="just">
              <a:buNone/>
            </a:pPr>
            <a:r>
              <a:rPr lang="en-GB" b="1" dirty="0"/>
              <a:t>Definition: </a:t>
            </a:r>
            <a:r>
              <a:rPr lang="en-GB" dirty="0"/>
              <a:t>Logical propositions are formal statements constructed using the syntax of logical systems (like propositional or predicate logic) and allow reasoning through inference rules. </a:t>
            </a:r>
            <a:r>
              <a:rPr lang="en-US" dirty="0"/>
              <a:t>They help us </a:t>
            </a:r>
            <a:r>
              <a:rPr lang="en-US" b="1" dirty="0"/>
              <a:t>describe facts or relationships</a:t>
            </a:r>
            <a:r>
              <a:rPr lang="en-US" dirty="0"/>
              <a:t> in a precise way and </a:t>
            </a:r>
            <a:r>
              <a:rPr lang="en-US" b="1" dirty="0"/>
              <a:t>reason</a:t>
            </a:r>
            <a:r>
              <a:rPr lang="en-US" dirty="0"/>
              <a:t> about them correctly.</a:t>
            </a:r>
          </a:p>
          <a:p>
            <a:pPr marL="0" indent="0">
              <a:buNone/>
            </a:pPr>
            <a:r>
              <a:rPr lang="en-GB" b="1" dirty="0"/>
              <a:t>Example</a:t>
            </a:r>
          </a:p>
          <a:p>
            <a:pPr marL="0" indent="0">
              <a:buNone/>
            </a:pPr>
            <a:r>
              <a:rPr lang="en-GB" b="1" dirty="0">
                <a:solidFill>
                  <a:srgbClr val="FF0000"/>
                </a:solidFill>
              </a:rPr>
              <a:t>Proposition:</a:t>
            </a:r>
            <a:r>
              <a:rPr lang="en-GB" b="1" dirty="0"/>
              <a:t> </a:t>
            </a:r>
            <a:r>
              <a:rPr lang="en-US" dirty="0"/>
              <a:t>each proposition is simple, like "It is raining" (P) or "The ground is wet" (Q). You can connect these </a:t>
            </a:r>
            <a:r>
              <a:rPr lang="en-US" b="1" dirty="0"/>
              <a:t>using logical symbols</a:t>
            </a:r>
            <a:r>
              <a:rPr lang="en-US" dirty="0"/>
              <a:t>:</a:t>
            </a:r>
            <a:r>
              <a:rPr lang="en-GB" dirty="0"/>
              <a:t>P→Q (If P, then Q) </a:t>
            </a:r>
            <a:r>
              <a:rPr lang="en-US" dirty="0"/>
              <a:t>means "If it is raining, then the ground is wet."</a:t>
            </a:r>
            <a:endParaRPr lang="en-GB" dirty="0"/>
          </a:p>
          <a:p>
            <a:pPr marL="0" indent="0">
              <a:buNone/>
            </a:pPr>
            <a:r>
              <a:rPr lang="it-IT" b="1" dirty="0">
                <a:solidFill>
                  <a:srgbClr val="FF0000"/>
                </a:solidFill>
              </a:rPr>
              <a:t>Predicate Logic: </a:t>
            </a:r>
            <a:r>
              <a:rPr lang="en-US" dirty="0"/>
              <a:t>propositions are more detailed and </a:t>
            </a:r>
            <a:r>
              <a:rPr lang="en-US" b="1" dirty="0"/>
              <a:t>can involve variables and properties</a:t>
            </a:r>
            <a:r>
              <a:rPr lang="en-US" dirty="0"/>
              <a:t>. </a:t>
            </a:r>
            <a:r>
              <a:rPr lang="it-IT" dirty="0"/>
              <a:t>Mammal(𝑥) ∧ Cat(𝑥) → HasFur (𝑥)</a:t>
            </a:r>
          </a:p>
          <a:p>
            <a:pPr marL="0" indent="0">
              <a:buNone/>
            </a:pPr>
            <a:r>
              <a:rPr lang="en-US" dirty="0"/>
              <a:t>This says, "If </a:t>
            </a:r>
            <a:r>
              <a:rPr lang="it-IT" dirty="0"/>
              <a:t>𝑥</a:t>
            </a:r>
            <a:r>
              <a:rPr lang="en-US" dirty="0"/>
              <a:t> is a mammal and </a:t>
            </a:r>
            <a:r>
              <a:rPr lang="it-IT" dirty="0"/>
              <a:t>𝑥</a:t>
            </a:r>
            <a:r>
              <a:rPr lang="en-US" dirty="0"/>
              <a:t> is a cat, then </a:t>
            </a:r>
            <a:r>
              <a:rPr lang="it-IT" dirty="0"/>
              <a:t>𝑥</a:t>
            </a:r>
            <a:r>
              <a:rPr lang="en-US" dirty="0"/>
              <a:t> has fur."</a:t>
            </a:r>
            <a:endParaRPr lang="it-IT" dirty="0"/>
          </a:p>
          <a:p>
            <a:pPr marL="0" indent="0" algn="just">
              <a:buNone/>
            </a:pPr>
            <a:r>
              <a:rPr lang="en-GB" b="1" dirty="0"/>
              <a:t>Uses</a:t>
            </a:r>
            <a:r>
              <a:rPr lang="en-GB" dirty="0"/>
              <a:t>: Logical propositions are widely used in reasoning systems to derive new facts from known facts using deduction.</a:t>
            </a:r>
            <a:endParaRPr lang="en-PK" dirty="0"/>
          </a:p>
        </p:txBody>
      </p:sp>
    </p:spTree>
    <p:extLst>
      <p:ext uri="{BB962C8B-B14F-4D97-AF65-F5344CB8AC3E}">
        <p14:creationId xmlns:p14="http://schemas.microsoft.com/office/powerpoint/2010/main" val="4284074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ACC516-C732-D8C2-4141-D41A1CC16243}"/>
              </a:ext>
            </a:extLst>
          </p:cNvPr>
          <p:cNvSpPr>
            <a:spLocks noGrp="1"/>
          </p:cNvSpPr>
          <p:nvPr>
            <p:ph type="title"/>
          </p:nvPr>
        </p:nvSpPr>
        <p:spPr>
          <a:xfrm>
            <a:off x="1371599" y="294538"/>
            <a:ext cx="9895951" cy="1033669"/>
          </a:xfrm>
        </p:spPr>
        <p:txBody>
          <a:bodyPr>
            <a:normAutofit/>
          </a:bodyPr>
          <a:lstStyle/>
          <a:p>
            <a:r>
              <a:rPr lang="it-IT" sz="4000" b="1">
                <a:solidFill>
                  <a:srgbClr val="FFFFFF"/>
                </a:solidFill>
              </a:rPr>
              <a:t>Graphs and Trees</a:t>
            </a:r>
            <a:endParaRPr lang="en-PK" sz="4000" b="1">
              <a:solidFill>
                <a:srgbClr val="FFFFFF"/>
              </a:solidFill>
            </a:endParaRPr>
          </a:p>
        </p:txBody>
      </p:sp>
      <p:sp>
        <p:nvSpPr>
          <p:cNvPr id="3" name="Content Placeholder 2">
            <a:extLst>
              <a:ext uri="{FF2B5EF4-FFF2-40B4-BE49-F238E27FC236}">
                <a16:creationId xmlns:a16="http://schemas.microsoft.com/office/drawing/2014/main" id="{782B0F47-52CC-8805-28DB-1F6E087FABBF}"/>
              </a:ext>
            </a:extLst>
          </p:cNvPr>
          <p:cNvSpPr>
            <a:spLocks noGrp="1"/>
          </p:cNvSpPr>
          <p:nvPr>
            <p:ph idx="1"/>
          </p:nvPr>
        </p:nvSpPr>
        <p:spPr>
          <a:xfrm>
            <a:off x="1371599" y="2318197"/>
            <a:ext cx="9724031" cy="3683358"/>
          </a:xfrm>
        </p:spPr>
        <p:txBody>
          <a:bodyPr anchor="ctr">
            <a:normAutofit/>
          </a:bodyPr>
          <a:lstStyle/>
          <a:p>
            <a:pPr algn="just"/>
            <a:r>
              <a:rPr lang="en-GB" b="1" dirty="0"/>
              <a:t>Definition</a:t>
            </a:r>
            <a:r>
              <a:rPr lang="en-GB" dirty="0"/>
              <a:t>: Graphs and trees are structures that represent relationships or hierarchies. A tree is a specific type of graph with a hierarchical structure and no cycles.</a:t>
            </a:r>
          </a:p>
          <a:p>
            <a:pPr algn="just"/>
            <a:r>
              <a:rPr lang="en-GB" b="1" dirty="0"/>
              <a:t>Uses</a:t>
            </a:r>
            <a:r>
              <a:rPr lang="en-GB" dirty="0"/>
              <a:t>: These structures are used in various domains such as decision-making, data structures, and modelling relationships.</a:t>
            </a:r>
            <a:endParaRPr lang="en-PK" dirty="0"/>
          </a:p>
        </p:txBody>
      </p:sp>
    </p:spTree>
    <p:extLst>
      <p:ext uri="{BB962C8B-B14F-4D97-AF65-F5344CB8AC3E}">
        <p14:creationId xmlns:p14="http://schemas.microsoft.com/office/powerpoint/2010/main" val="3127298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9077D-51A6-5F9D-2F44-923FA68E7D98}"/>
              </a:ext>
            </a:extLst>
          </p:cNvPr>
          <p:cNvSpPr>
            <a:spLocks noGrp="1"/>
          </p:cNvSpPr>
          <p:nvPr>
            <p:ph type="title"/>
          </p:nvPr>
        </p:nvSpPr>
        <p:spPr/>
        <p:txBody>
          <a:bodyPr/>
          <a:lstStyle/>
          <a:p>
            <a:r>
              <a:rPr lang="it-IT" b="1" dirty="0"/>
              <a:t>Importance of Representation</a:t>
            </a:r>
            <a:endParaRPr lang="en-PK" b="1" dirty="0"/>
          </a:p>
        </p:txBody>
      </p:sp>
      <p:sp>
        <p:nvSpPr>
          <p:cNvPr id="3" name="Content Placeholder 2">
            <a:extLst>
              <a:ext uri="{FF2B5EF4-FFF2-40B4-BE49-F238E27FC236}">
                <a16:creationId xmlns:a16="http://schemas.microsoft.com/office/drawing/2014/main" id="{21FEA105-89B8-2E71-6E56-B8C94BEF6D37}"/>
              </a:ext>
            </a:extLst>
          </p:cNvPr>
          <p:cNvSpPr>
            <a:spLocks noGrp="1"/>
          </p:cNvSpPr>
          <p:nvPr>
            <p:ph idx="1"/>
          </p:nvPr>
        </p:nvSpPr>
        <p:spPr/>
        <p:txBody>
          <a:bodyPr/>
          <a:lstStyle/>
          <a:p>
            <a:pPr marL="0" indent="0">
              <a:buNone/>
            </a:pPr>
            <a:r>
              <a:rPr lang="en-GB" b="1" dirty="0"/>
              <a:t>Compactness</a:t>
            </a:r>
          </a:p>
          <a:p>
            <a:r>
              <a:rPr lang="en-GB" dirty="0"/>
              <a:t>Summarizing vast knowledge in understandable structures.</a:t>
            </a:r>
          </a:p>
          <a:p>
            <a:pPr marL="0" indent="0">
              <a:buNone/>
            </a:pPr>
            <a:r>
              <a:rPr lang="en-GB" b="1" dirty="0"/>
              <a:t>Inference</a:t>
            </a:r>
          </a:p>
          <a:p>
            <a:r>
              <a:rPr lang="en-GB" dirty="0"/>
              <a:t>Enabling logical deductions based on the encoded knowledge.</a:t>
            </a:r>
          </a:p>
          <a:p>
            <a:pPr marL="0" indent="0">
              <a:buNone/>
            </a:pPr>
            <a:r>
              <a:rPr lang="en-GB" b="1" dirty="0"/>
              <a:t>Communication</a:t>
            </a:r>
          </a:p>
          <a:p>
            <a:r>
              <a:rPr lang="en-GB" dirty="0"/>
              <a:t>Allowing interaction with other systems or users.</a:t>
            </a:r>
            <a:endParaRPr lang="en-PK" dirty="0"/>
          </a:p>
        </p:txBody>
      </p:sp>
    </p:spTree>
    <p:extLst>
      <p:ext uri="{BB962C8B-B14F-4D97-AF65-F5344CB8AC3E}">
        <p14:creationId xmlns:p14="http://schemas.microsoft.com/office/powerpoint/2010/main" val="3061607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0E9475B-9E7C-AADC-DCF8-09F7B94D3036}"/>
              </a:ext>
            </a:extLst>
          </p:cNvPr>
          <p:cNvSpPr>
            <a:spLocks noGrp="1"/>
          </p:cNvSpPr>
          <p:nvPr>
            <p:ph type="title"/>
          </p:nvPr>
        </p:nvSpPr>
        <p:spPr>
          <a:xfrm>
            <a:off x="826396" y="586855"/>
            <a:ext cx="4230100" cy="3387497"/>
          </a:xfrm>
        </p:spPr>
        <p:txBody>
          <a:bodyPr anchor="b">
            <a:normAutofit/>
          </a:bodyPr>
          <a:lstStyle/>
          <a:p>
            <a:pPr algn="ctr"/>
            <a:r>
              <a:rPr lang="en-GB" sz="4800" b="1" dirty="0">
                <a:solidFill>
                  <a:srgbClr val="FFFFFF"/>
                </a:solidFill>
              </a:rPr>
              <a:t>What is Logic in AI?</a:t>
            </a:r>
            <a:endParaRPr lang="en-PK" sz="4800" b="1" dirty="0">
              <a:solidFill>
                <a:srgbClr val="FFFFFF"/>
              </a:solidFill>
            </a:endParaRPr>
          </a:p>
        </p:txBody>
      </p:sp>
      <p:sp>
        <p:nvSpPr>
          <p:cNvPr id="3" name="Content Placeholder 2">
            <a:extLst>
              <a:ext uri="{FF2B5EF4-FFF2-40B4-BE49-F238E27FC236}">
                <a16:creationId xmlns:a16="http://schemas.microsoft.com/office/drawing/2014/main" id="{1D6AB77C-AC2C-2287-4DFB-B314E91EA2CB}"/>
              </a:ext>
            </a:extLst>
          </p:cNvPr>
          <p:cNvSpPr>
            <a:spLocks noGrp="1"/>
          </p:cNvSpPr>
          <p:nvPr>
            <p:ph idx="1"/>
          </p:nvPr>
        </p:nvSpPr>
        <p:spPr>
          <a:xfrm>
            <a:off x="5926619" y="649480"/>
            <a:ext cx="6021541" cy="5546047"/>
          </a:xfrm>
        </p:spPr>
        <p:txBody>
          <a:bodyPr anchor="ctr">
            <a:normAutofit/>
          </a:bodyPr>
          <a:lstStyle/>
          <a:p>
            <a:pPr marL="0" indent="0" algn="just">
              <a:buNone/>
            </a:pPr>
            <a:r>
              <a:rPr lang="en-GB" b="1" dirty="0">
                <a:latin typeface="Arial" panose="020B0604020202020204" pitchFamily="34" charset="0"/>
                <a:cs typeface="Arial" panose="020B0604020202020204" pitchFamily="34" charset="0"/>
              </a:rPr>
              <a:t>Definition: </a:t>
            </a:r>
            <a:r>
              <a:rPr lang="en-GB" dirty="0">
                <a:latin typeface="Arial" panose="020B0604020202020204" pitchFamily="34" charset="0"/>
                <a:cs typeface="Arial" panose="020B0604020202020204" pitchFamily="34" charset="0"/>
              </a:rPr>
              <a:t>Logic is a formal system of reasoning that allows us to </a:t>
            </a:r>
            <a:r>
              <a:rPr lang="en-GB" dirty="0">
                <a:solidFill>
                  <a:srgbClr val="FF0000"/>
                </a:solidFill>
                <a:latin typeface="Arial" panose="020B0604020202020204" pitchFamily="34" charset="0"/>
                <a:cs typeface="Arial" panose="020B0604020202020204" pitchFamily="34" charset="0"/>
              </a:rPr>
              <a:t>derive conclusions</a:t>
            </a:r>
            <a:r>
              <a:rPr lang="en-GB" dirty="0">
                <a:latin typeface="Arial" panose="020B0604020202020204" pitchFamily="34" charset="0"/>
                <a:cs typeface="Arial" panose="020B0604020202020204" pitchFamily="34" charset="0"/>
              </a:rPr>
              <a:t> from </a:t>
            </a:r>
            <a:r>
              <a:rPr lang="en-GB" dirty="0">
                <a:solidFill>
                  <a:srgbClr val="FF0000"/>
                </a:solidFill>
                <a:latin typeface="Arial" panose="020B0604020202020204" pitchFamily="34" charset="0"/>
                <a:cs typeface="Arial" panose="020B0604020202020204" pitchFamily="34" charset="0"/>
              </a:rPr>
              <a:t>known facts </a:t>
            </a:r>
            <a:r>
              <a:rPr lang="en-GB" dirty="0">
                <a:latin typeface="Arial" panose="020B0604020202020204" pitchFamily="34" charset="0"/>
                <a:cs typeface="Arial" panose="020B0604020202020204" pitchFamily="34" charset="0"/>
              </a:rPr>
              <a:t>or </a:t>
            </a:r>
            <a:r>
              <a:rPr lang="en-GB" dirty="0">
                <a:solidFill>
                  <a:srgbClr val="FF0000"/>
                </a:solidFill>
                <a:latin typeface="Arial" panose="020B0604020202020204" pitchFamily="34" charset="0"/>
                <a:cs typeface="Arial" panose="020B0604020202020204" pitchFamily="34" charset="0"/>
              </a:rPr>
              <a:t>premises (information).</a:t>
            </a:r>
          </a:p>
          <a:p>
            <a:pPr marL="0" indent="0" algn="just">
              <a:buNone/>
            </a:pPr>
            <a:r>
              <a:rPr lang="en-GB" b="1" dirty="0">
                <a:solidFill>
                  <a:schemeClr val="accent3">
                    <a:lumMod val="60000"/>
                    <a:lumOff val="40000"/>
                  </a:schemeClr>
                </a:solidFill>
                <a:latin typeface="Arial" panose="020B0604020202020204" pitchFamily="34" charset="0"/>
                <a:cs typeface="Arial" panose="020B0604020202020204" pitchFamily="34" charset="0"/>
              </a:rPr>
              <a:t>Key Aspects of Logic in AI:</a:t>
            </a:r>
            <a:endParaRPr lang="en-GB" dirty="0">
              <a:solidFill>
                <a:schemeClr val="accent3">
                  <a:lumMod val="60000"/>
                  <a:lumOff val="40000"/>
                </a:schemeClr>
              </a:solidFill>
              <a:latin typeface="Arial" panose="020B0604020202020204" pitchFamily="34" charset="0"/>
              <a:cs typeface="Arial" panose="020B0604020202020204" pitchFamily="34" charset="0"/>
            </a:endParaRPr>
          </a:p>
          <a:p>
            <a:pPr>
              <a:buFont typeface="+mj-lt"/>
              <a:buAutoNum type="arabicPeriod"/>
            </a:pPr>
            <a:r>
              <a:rPr lang="en-GB" b="1" dirty="0">
                <a:latin typeface="Arial" panose="020B0604020202020204" pitchFamily="34" charset="0"/>
                <a:cs typeface="Arial" panose="020B0604020202020204" pitchFamily="34" charset="0"/>
              </a:rPr>
              <a:t>Knowledge Representation:</a:t>
            </a:r>
            <a:r>
              <a:rPr lang="en-GB" dirty="0">
                <a:latin typeface="Arial" panose="020B0604020202020204" pitchFamily="34" charset="0"/>
                <a:cs typeface="Arial" panose="020B0604020202020204" pitchFamily="34" charset="0"/>
              </a:rPr>
              <a:t> Expressing facts about the world.</a:t>
            </a:r>
          </a:p>
          <a:p>
            <a:pPr algn="just">
              <a:buFont typeface="+mj-lt"/>
              <a:buAutoNum type="arabicPeriod"/>
            </a:pPr>
            <a:r>
              <a:rPr lang="en-GB" b="1" dirty="0">
                <a:latin typeface="Arial" panose="020B0604020202020204" pitchFamily="34" charset="0"/>
                <a:cs typeface="Arial" panose="020B0604020202020204" pitchFamily="34" charset="0"/>
              </a:rPr>
              <a:t>Inference:</a:t>
            </a:r>
            <a:r>
              <a:rPr lang="en-GB" dirty="0">
                <a:latin typeface="Arial" panose="020B0604020202020204" pitchFamily="34" charset="0"/>
                <a:cs typeface="Arial" panose="020B0604020202020204" pitchFamily="34" charset="0"/>
              </a:rPr>
              <a:t> Drawing conclusions using logical rules.</a:t>
            </a:r>
          </a:p>
          <a:p>
            <a:pPr algn="just">
              <a:buFont typeface="+mj-lt"/>
              <a:buAutoNum type="arabicPeriod"/>
            </a:pPr>
            <a:r>
              <a:rPr lang="en-GB" b="1" dirty="0">
                <a:latin typeface="Arial" panose="020B0604020202020204" pitchFamily="34" charset="0"/>
                <a:cs typeface="Arial" panose="020B0604020202020204" pitchFamily="34" charset="0"/>
              </a:rPr>
              <a:t>Decision Making:</a:t>
            </a:r>
            <a:r>
              <a:rPr lang="en-GB" dirty="0">
                <a:latin typeface="Arial" panose="020B0604020202020204" pitchFamily="34" charset="0"/>
                <a:cs typeface="Arial" panose="020B0604020202020204" pitchFamily="34" charset="0"/>
              </a:rPr>
              <a:t> Determining actions based on logical reasoning.</a:t>
            </a:r>
          </a:p>
          <a:p>
            <a:endParaRPr lang="en-PK" sz="2000" dirty="0"/>
          </a:p>
        </p:txBody>
      </p:sp>
    </p:spTree>
    <p:extLst>
      <p:ext uri="{BB962C8B-B14F-4D97-AF65-F5344CB8AC3E}">
        <p14:creationId xmlns:p14="http://schemas.microsoft.com/office/powerpoint/2010/main" val="703879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ED52A0-4B87-A0F6-D468-C3FF8F260BE5}"/>
              </a:ext>
            </a:extLst>
          </p:cNvPr>
          <p:cNvSpPr>
            <a:spLocks noGrp="1"/>
          </p:cNvSpPr>
          <p:nvPr>
            <p:ph type="title"/>
          </p:nvPr>
        </p:nvSpPr>
        <p:spPr>
          <a:xfrm>
            <a:off x="466722" y="586855"/>
            <a:ext cx="3201366" cy="3387497"/>
          </a:xfrm>
        </p:spPr>
        <p:txBody>
          <a:bodyPr anchor="b">
            <a:normAutofit/>
          </a:bodyPr>
          <a:lstStyle/>
          <a:p>
            <a:pPr algn="ctr"/>
            <a:r>
              <a:rPr lang="en-GB" sz="4000" b="1" dirty="0">
                <a:solidFill>
                  <a:srgbClr val="FFFFFF"/>
                </a:solidFill>
              </a:rPr>
              <a:t>Inference - Drawing Conclusions Using Logical Rules</a:t>
            </a:r>
            <a:endParaRPr lang="en-PK" sz="4000" b="1" dirty="0">
              <a:solidFill>
                <a:srgbClr val="FFFFFF"/>
              </a:solidFill>
            </a:endParaRPr>
          </a:p>
        </p:txBody>
      </p:sp>
      <p:sp>
        <p:nvSpPr>
          <p:cNvPr id="24" name="Content Placeholder 2">
            <a:extLst>
              <a:ext uri="{FF2B5EF4-FFF2-40B4-BE49-F238E27FC236}">
                <a16:creationId xmlns:a16="http://schemas.microsoft.com/office/drawing/2014/main" id="{D5CE5AED-8D73-A220-6075-37623ED7EE9B}"/>
              </a:ext>
            </a:extLst>
          </p:cNvPr>
          <p:cNvSpPr>
            <a:spLocks noGrp="1"/>
          </p:cNvSpPr>
          <p:nvPr>
            <p:ph idx="1"/>
          </p:nvPr>
        </p:nvSpPr>
        <p:spPr>
          <a:xfrm>
            <a:off x="4367695" y="377952"/>
            <a:ext cx="7543889" cy="6217920"/>
          </a:xfrm>
        </p:spPr>
        <p:txBody>
          <a:bodyPr anchor="ctr">
            <a:normAutofit fontScale="77500" lnSpcReduction="20000"/>
          </a:bodyPr>
          <a:lstStyle/>
          <a:p>
            <a:pPr algn="just"/>
            <a:r>
              <a:rPr lang="en-GB" sz="3300" b="1" dirty="0">
                <a:latin typeface="Arial" panose="020B0604020202020204" pitchFamily="34" charset="0"/>
                <a:cs typeface="Arial" panose="020B0604020202020204" pitchFamily="34" charset="0"/>
              </a:rPr>
              <a:t>Definition: </a:t>
            </a:r>
            <a:r>
              <a:rPr lang="en-GB" sz="3300" dirty="0">
                <a:latin typeface="Arial" panose="020B0604020202020204" pitchFamily="34" charset="0"/>
                <a:cs typeface="Arial" panose="020B0604020202020204" pitchFamily="34" charset="0"/>
              </a:rPr>
              <a:t>Inference is the process of </a:t>
            </a:r>
            <a:r>
              <a:rPr lang="en-GB" sz="3300" dirty="0">
                <a:solidFill>
                  <a:srgbClr val="FF0000"/>
                </a:solidFill>
                <a:latin typeface="Arial" panose="020B0604020202020204" pitchFamily="34" charset="0"/>
                <a:cs typeface="Arial" panose="020B0604020202020204" pitchFamily="34" charset="0"/>
              </a:rPr>
              <a:t>deriving new information or conclusions</a:t>
            </a:r>
            <a:r>
              <a:rPr lang="en-GB" sz="3300" dirty="0">
                <a:latin typeface="Arial" panose="020B0604020202020204" pitchFamily="34" charset="0"/>
                <a:cs typeface="Arial" panose="020B0604020202020204" pitchFamily="34" charset="0"/>
              </a:rPr>
              <a:t> from known facts or data using logical reasoning.</a:t>
            </a:r>
          </a:p>
          <a:p>
            <a:pPr algn="just"/>
            <a:r>
              <a:rPr lang="en-GB" sz="3300" b="1" dirty="0">
                <a:latin typeface="Arial" panose="020B0604020202020204" pitchFamily="34" charset="0"/>
                <a:cs typeface="Arial" panose="020B0604020202020204" pitchFamily="34" charset="0"/>
              </a:rPr>
              <a:t>Key Concepts:</a:t>
            </a:r>
            <a:endParaRPr lang="en-GB" sz="3300" dirty="0">
              <a:latin typeface="Arial" panose="020B0604020202020204" pitchFamily="34" charset="0"/>
              <a:cs typeface="Arial" panose="020B0604020202020204" pitchFamily="34" charset="0"/>
            </a:endParaRPr>
          </a:p>
          <a:p>
            <a:pPr algn="just">
              <a:buFont typeface="+mj-lt"/>
              <a:buAutoNum type="arabicPeriod"/>
            </a:pPr>
            <a:r>
              <a:rPr lang="en-GB" sz="3300" b="1" dirty="0">
                <a:latin typeface="Arial" panose="020B0604020202020204" pitchFamily="34" charset="0"/>
                <a:cs typeface="Arial" panose="020B0604020202020204" pitchFamily="34" charset="0"/>
              </a:rPr>
              <a:t>Logical Rules:</a:t>
            </a:r>
            <a:endParaRPr lang="en-GB" sz="3300" dirty="0">
              <a:latin typeface="Arial" panose="020B0604020202020204" pitchFamily="34" charset="0"/>
              <a:cs typeface="Arial" panose="020B0604020202020204" pitchFamily="34" charset="0"/>
            </a:endParaRPr>
          </a:p>
          <a:p>
            <a:pPr marL="742950" lvl="1" indent="-285750" algn="just">
              <a:buFont typeface="+mj-lt"/>
              <a:buAutoNum type="arabicPeriod"/>
            </a:pPr>
            <a:r>
              <a:rPr lang="en-GB" sz="3300" dirty="0">
                <a:latin typeface="Arial" panose="020B0604020202020204" pitchFamily="34" charset="0"/>
                <a:cs typeface="Arial" panose="020B0604020202020204" pitchFamily="34" charset="0"/>
              </a:rPr>
              <a:t>Uses rules like "if-then" statements (e.g., </a:t>
            </a:r>
            <a:r>
              <a:rPr lang="en-GB" sz="3300" i="1" dirty="0">
                <a:latin typeface="Arial" panose="020B0604020202020204" pitchFamily="34" charset="0"/>
                <a:cs typeface="Arial" panose="020B0604020202020204" pitchFamily="34" charset="0"/>
              </a:rPr>
              <a:t>If A is true, then B must follow</a:t>
            </a:r>
            <a:r>
              <a:rPr lang="en-GB" sz="3300" dirty="0">
                <a:latin typeface="Arial" panose="020B0604020202020204" pitchFamily="34" charset="0"/>
                <a:cs typeface="Arial" panose="020B0604020202020204" pitchFamily="34" charset="0"/>
              </a:rPr>
              <a:t>).</a:t>
            </a:r>
          </a:p>
          <a:p>
            <a:pPr algn="just">
              <a:buFont typeface="+mj-lt"/>
              <a:buAutoNum type="arabicPeriod"/>
            </a:pPr>
            <a:r>
              <a:rPr lang="en-GB" sz="3300" b="1" dirty="0">
                <a:latin typeface="Arial" panose="020B0604020202020204" pitchFamily="34" charset="0"/>
                <a:cs typeface="Arial" panose="020B0604020202020204" pitchFamily="34" charset="0"/>
              </a:rPr>
              <a:t>Types of Inference:</a:t>
            </a:r>
            <a:endParaRPr lang="en-GB" sz="3300" dirty="0">
              <a:latin typeface="Arial" panose="020B0604020202020204" pitchFamily="34" charset="0"/>
              <a:cs typeface="Arial" panose="020B0604020202020204" pitchFamily="34" charset="0"/>
            </a:endParaRPr>
          </a:p>
          <a:p>
            <a:pPr marL="742950" lvl="1" indent="-285750" algn="just">
              <a:buFont typeface="+mj-lt"/>
              <a:buAutoNum type="arabicPeriod"/>
            </a:pPr>
            <a:r>
              <a:rPr lang="en-GB" sz="3300" b="1" dirty="0">
                <a:solidFill>
                  <a:srgbClr val="FF0000"/>
                </a:solidFill>
                <a:latin typeface="Arial" panose="020B0604020202020204" pitchFamily="34" charset="0"/>
                <a:cs typeface="Arial" panose="020B0604020202020204" pitchFamily="34" charset="0"/>
              </a:rPr>
              <a:t>Deductive Inference:</a:t>
            </a:r>
            <a:r>
              <a:rPr lang="en-GB" sz="3300" dirty="0">
                <a:solidFill>
                  <a:srgbClr val="FF0000"/>
                </a:solidFill>
                <a:latin typeface="Arial" panose="020B0604020202020204" pitchFamily="34" charset="0"/>
                <a:cs typeface="Arial" panose="020B0604020202020204" pitchFamily="34" charset="0"/>
              </a:rPr>
              <a:t> </a:t>
            </a:r>
            <a:r>
              <a:rPr lang="en-GB" sz="3300" dirty="0">
                <a:latin typeface="Arial" panose="020B0604020202020204" pitchFamily="34" charset="0"/>
                <a:cs typeface="Arial" panose="020B0604020202020204" pitchFamily="34" charset="0"/>
              </a:rPr>
              <a:t>From general rules to specific conclusions.</a:t>
            </a:r>
          </a:p>
          <a:p>
            <a:pPr marL="742950" lvl="1" indent="-285750">
              <a:buFont typeface="+mj-lt"/>
              <a:buAutoNum type="arabicPeriod"/>
            </a:pPr>
            <a:r>
              <a:rPr lang="en-GB" sz="3300" b="1" dirty="0">
                <a:solidFill>
                  <a:srgbClr val="FF0000"/>
                </a:solidFill>
                <a:latin typeface="Arial" panose="020B0604020202020204" pitchFamily="34" charset="0"/>
                <a:cs typeface="Arial" panose="020B0604020202020204" pitchFamily="34" charset="0"/>
              </a:rPr>
              <a:t>Inductive Inference:</a:t>
            </a:r>
            <a:r>
              <a:rPr lang="en-GB" sz="3300" dirty="0">
                <a:solidFill>
                  <a:srgbClr val="FF0000"/>
                </a:solidFill>
                <a:latin typeface="Arial" panose="020B0604020202020204" pitchFamily="34" charset="0"/>
                <a:cs typeface="Arial" panose="020B0604020202020204" pitchFamily="34" charset="0"/>
              </a:rPr>
              <a:t> </a:t>
            </a:r>
            <a:r>
              <a:rPr lang="en-GB" sz="3300" dirty="0">
                <a:latin typeface="Arial" panose="020B0604020202020204" pitchFamily="34" charset="0"/>
                <a:cs typeface="Arial" panose="020B0604020202020204" pitchFamily="34" charset="0"/>
              </a:rPr>
              <a:t>From specific instances to general rules.</a:t>
            </a:r>
          </a:p>
          <a:p>
            <a:pPr marL="742950" lvl="1" indent="-285750" algn="just">
              <a:buFont typeface="+mj-lt"/>
              <a:buAutoNum type="arabicPeriod"/>
            </a:pPr>
            <a:r>
              <a:rPr lang="en-GB" sz="3300" b="1" dirty="0">
                <a:solidFill>
                  <a:srgbClr val="FF0000"/>
                </a:solidFill>
                <a:latin typeface="Arial" panose="020B0604020202020204" pitchFamily="34" charset="0"/>
                <a:cs typeface="Arial" panose="020B0604020202020204" pitchFamily="34" charset="0"/>
              </a:rPr>
              <a:t>Abductive Inference:</a:t>
            </a:r>
            <a:r>
              <a:rPr lang="en-GB" sz="3300" dirty="0">
                <a:solidFill>
                  <a:srgbClr val="FF0000"/>
                </a:solidFill>
                <a:latin typeface="Arial" panose="020B0604020202020204" pitchFamily="34" charset="0"/>
                <a:cs typeface="Arial" panose="020B0604020202020204" pitchFamily="34" charset="0"/>
              </a:rPr>
              <a:t> </a:t>
            </a:r>
            <a:r>
              <a:rPr lang="en-GB" sz="3300" dirty="0">
                <a:latin typeface="Arial" panose="020B0604020202020204" pitchFamily="34" charset="0"/>
                <a:cs typeface="Arial" panose="020B0604020202020204" pitchFamily="34" charset="0"/>
              </a:rPr>
              <a:t>Best explanation for observed data.</a:t>
            </a:r>
          </a:p>
          <a:p>
            <a:pPr algn="just">
              <a:buFont typeface="+mj-lt"/>
              <a:buAutoNum type="arabicPeriod"/>
            </a:pPr>
            <a:r>
              <a:rPr lang="en-GB" sz="3300" b="1" dirty="0">
                <a:latin typeface="Arial" panose="020B0604020202020204" pitchFamily="34" charset="0"/>
                <a:cs typeface="Arial" panose="020B0604020202020204" pitchFamily="34" charset="0"/>
              </a:rPr>
              <a:t>Example:</a:t>
            </a:r>
            <a:endParaRPr lang="en-GB" sz="3300" dirty="0">
              <a:latin typeface="Arial" panose="020B0604020202020204" pitchFamily="34" charset="0"/>
              <a:cs typeface="Arial" panose="020B0604020202020204" pitchFamily="34" charset="0"/>
            </a:endParaRPr>
          </a:p>
          <a:p>
            <a:pPr marL="742950" lvl="1" indent="-285750" algn="just">
              <a:buFont typeface="+mj-lt"/>
              <a:buAutoNum type="arabicPeriod"/>
            </a:pPr>
            <a:r>
              <a:rPr lang="en-GB" sz="3300" dirty="0">
                <a:latin typeface="Arial" panose="020B0604020202020204" pitchFamily="34" charset="0"/>
                <a:cs typeface="Arial" panose="020B0604020202020204" pitchFamily="34" charset="0"/>
              </a:rPr>
              <a:t>Fact: All humans are mortal.</a:t>
            </a:r>
          </a:p>
          <a:p>
            <a:pPr marL="742950" lvl="1" indent="-285750" algn="just">
              <a:buFont typeface="+mj-lt"/>
              <a:buAutoNum type="arabicPeriod"/>
            </a:pPr>
            <a:r>
              <a:rPr lang="en-GB" sz="3300" dirty="0">
                <a:latin typeface="Arial" panose="020B0604020202020204" pitchFamily="34" charset="0"/>
                <a:cs typeface="Arial" panose="020B0604020202020204" pitchFamily="34" charset="0"/>
              </a:rPr>
              <a:t>Fact: Socrates is a human.</a:t>
            </a:r>
          </a:p>
          <a:p>
            <a:pPr marL="742950" lvl="1" indent="-285750" algn="just">
              <a:buFont typeface="+mj-lt"/>
              <a:buAutoNum type="arabicPeriod"/>
            </a:pPr>
            <a:r>
              <a:rPr lang="en-GB" sz="3300" dirty="0">
                <a:latin typeface="Arial" panose="020B0604020202020204" pitchFamily="34" charset="0"/>
                <a:cs typeface="Arial" panose="020B0604020202020204" pitchFamily="34" charset="0"/>
              </a:rPr>
              <a:t>Conclusion: Socrates is mortal.</a:t>
            </a:r>
          </a:p>
          <a:p>
            <a:endParaRPr lang="en-PK" sz="1700" dirty="0"/>
          </a:p>
        </p:txBody>
      </p:sp>
    </p:spTree>
    <p:extLst>
      <p:ext uri="{BB962C8B-B14F-4D97-AF65-F5344CB8AC3E}">
        <p14:creationId xmlns:p14="http://schemas.microsoft.com/office/powerpoint/2010/main" val="2438510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46E1-54C2-77B6-FC08-B302A80A36AC}"/>
              </a:ext>
            </a:extLst>
          </p:cNvPr>
          <p:cNvSpPr>
            <a:spLocks noGrp="1"/>
          </p:cNvSpPr>
          <p:nvPr>
            <p:ph type="title"/>
          </p:nvPr>
        </p:nvSpPr>
        <p:spPr/>
        <p:txBody>
          <a:bodyPr/>
          <a:lstStyle/>
          <a:p>
            <a:r>
              <a:rPr lang="en-US" dirty="0"/>
              <a:t>Rules of Inference in Logic</a:t>
            </a:r>
          </a:p>
        </p:txBody>
      </p:sp>
      <p:sp>
        <p:nvSpPr>
          <p:cNvPr id="3" name="Content Placeholder 2">
            <a:extLst>
              <a:ext uri="{FF2B5EF4-FFF2-40B4-BE49-F238E27FC236}">
                <a16:creationId xmlns:a16="http://schemas.microsoft.com/office/drawing/2014/main" id="{BFBAAC17-9CFA-2FC6-9F23-2680FA3AFC3C}"/>
              </a:ext>
            </a:extLst>
          </p:cNvPr>
          <p:cNvSpPr>
            <a:spLocks noGrp="1"/>
          </p:cNvSpPr>
          <p:nvPr>
            <p:ph idx="1"/>
          </p:nvPr>
        </p:nvSpPr>
        <p:spPr>
          <a:xfrm>
            <a:off x="838200" y="1825625"/>
            <a:ext cx="10515600" cy="4667250"/>
          </a:xfrm>
        </p:spPr>
        <p:txBody>
          <a:bodyPr>
            <a:normAutofit fontScale="85000" lnSpcReduction="20000"/>
          </a:bodyPr>
          <a:lstStyle/>
          <a:p>
            <a:pPr marL="0" indent="0">
              <a:buNone/>
            </a:pPr>
            <a:r>
              <a:rPr lang="en-US" b="1" dirty="0"/>
              <a:t>1. Modus Ponens</a:t>
            </a:r>
            <a:r>
              <a:rPr lang="en-US" dirty="0"/>
              <a:t> (Affirming the Antecedent):</a:t>
            </a:r>
          </a:p>
          <a:p>
            <a:r>
              <a:rPr lang="en-US" dirty="0"/>
              <a:t>If we know that </a:t>
            </a:r>
            <a:r>
              <a:rPr lang="en-US" b="1" dirty="0"/>
              <a:t>"If P, then Q"</a:t>
            </a:r>
            <a:r>
              <a:rPr lang="en-US" dirty="0"/>
              <a:t> is true and we also know </a:t>
            </a:r>
            <a:r>
              <a:rPr lang="en-US" b="1" dirty="0"/>
              <a:t>P</a:t>
            </a:r>
            <a:r>
              <a:rPr lang="en-US" dirty="0"/>
              <a:t> is true, then we can conclude </a:t>
            </a:r>
            <a:r>
              <a:rPr lang="en-US" b="1" dirty="0"/>
              <a:t>Q</a:t>
            </a:r>
            <a:r>
              <a:rPr lang="en-US" dirty="0"/>
              <a:t> is true.</a:t>
            </a:r>
          </a:p>
          <a:p>
            <a:pPr marL="0" indent="0" algn="ctr">
              <a:buNone/>
            </a:pPr>
            <a:r>
              <a:rPr lang="en-US" u="sng" dirty="0"/>
              <a:t>P→Q,P​ </a:t>
            </a:r>
          </a:p>
          <a:p>
            <a:pPr marL="0" indent="0" algn="ctr">
              <a:buNone/>
            </a:pPr>
            <a:r>
              <a:rPr lang="en-US" dirty="0"/>
              <a:t>Q</a:t>
            </a:r>
          </a:p>
          <a:p>
            <a:pPr>
              <a:buNone/>
            </a:pPr>
            <a:r>
              <a:rPr lang="en-US" b="1" dirty="0"/>
              <a:t>Example (Modus Ponens):</a:t>
            </a:r>
          </a:p>
          <a:p>
            <a:pPr>
              <a:buFont typeface="Arial" panose="020B0604020202020204" pitchFamily="34" charset="0"/>
              <a:buChar char="•"/>
            </a:pPr>
            <a:r>
              <a:rPr lang="en-US" dirty="0"/>
              <a:t>If it rains, the ground will be wet.</a:t>
            </a:r>
            <a:br>
              <a:rPr lang="en-US" dirty="0"/>
            </a:br>
            <a:r>
              <a:rPr lang="en-US" dirty="0"/>
              <a:t>P→Q (If it rains, then the ground will be wet).</a:t>
            </a:r>
          </a:p>
          <a:p>
            <a:pPr>
              <a:buFont typeface="Arial" panose="020B0604020202020204" pitchFamily="34" charset="0"/>
              <a:buChar char="•"/>
            </a:pPr>
            <a:r>
              <a:rPr lang="en-US" dirty="0"/>
              <a:t>It is raining.</a:t>
            </a:r>
            <a:br>
              <a:rPr lang="en-US" dirty="0"/>
            </a:br>
            <a:r>
              <a:rPr lang="en-US" dirty="0"/>
              <a:t>P (It is raining).</a:t>
            </a:r>
          </a:p>
          <a:p>
            <a:pPr>
              <a:buNone/>
            </a:pPr>
            <a:r>
              <a:rPr lang="en-US" b="1" dirty="0"/>
              <a:t>Conclusion:</a:t>
            </a:r>
            <a:endParaRPr lang="en-US" dirty="0"/>
          </a:p>
          <a:p>
            <a:pPr>
              <a:buFont typeface="Arial" panose="020B0604020202020204" pitchFamily="34" charset="0"/>
              <a:buChar char="•"/>
            </a:pPr>
            <a:r>
              <a:rPr lang="en-US" dirty="0"/>
              <a:t>The ground will be wet.</a:t>
            </a:r>
            <a:br>
              <a:rPr lang="en-US" dirty="0"/>
            </a:br>
            <a:r>
              <a:rPr lang="en-US" dirty="0"/>
              <a:t>Q (The ground is wet).</a:t>
            </a:r>
          </a:p>
          <a:p>
            <a:endParaRPr lang="en-US" dirty="0"/>
          </a:p>
          <a:p>
            <a:pPr marL="0" indent="0">
              <a:buNone/>
            </a:pPr>
            <a:endParaRPr lang="en-US" dirty="0"/>
          </a:p>
        </p:txBody>
      </p:sp>
    </p:spTree>
    <p:extLst>
      <p:ext uri="{BB962C8B-B14F-4D97-AF65-F5344CB8AC3E}">
        <p14:creationId xmlns:p14="http://schemas.microsoft.com/office/powerpoint/2010/main" val="2941121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BB619-5539-78C4-2B5D-4D1C1F0B0C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3841A6-502B-8D82-B434-85447110E7A2}"/>
              </a:ext>
            </a:extLst>
          </p:cNvPr>
          <p:cNvSpPr>
            <a:spLocks noGrp="1"/>
          </p:cNvSpPr>
          <p:nvPr>
            <p:ph type="title"/>
          </p:nvPr>
        </p:nvSpPr>
        <p:spPr/>
        <p:txBody>
          <a:bodyPr/>
          <a:lstStyle/>
          <a:p>
            <a:r>
              <a:rPr lang="en-US" dirty="0"/>
              <a:t>Rules of Inference in Logic</a:t>
            </a:r>
          </a:p>
        </p:txBody>
      </p:sp>
      <p:sp>
        <p:nvSpPr>
          <p:cNvPr id="3" name="Content Placeholder 2">
            <a:extLst>
              <a:ext uri="{FF2B5EF4-FFF2-40B4-BE49-F238E27FC236}">
                <a16:creationId xmlns:a16="http://schemas.microsoft.com/office/drawing/2014/main" id="{39B1EE64-4383-6253-D265-252C5E2D20A1}"/>
              </a:ext>
            </a:extLst>
          </p:cNvPr>
          <p:cNvSpPr>
            <a:spLocks noGrp="1"/>
          </p:cNvSpPr>
          <p:nvPr>
            <p:ph idx="1"/>
          </p:nvPr>
        </p:nvSpPr>
        <p:spPr>
          <a:xfrm>
            <a:off x="838200" y="1825625"/>
            <a:ext cx="10515600" cy="4667250"/>
          </a:xfrm>
        </p:spPr>
        <p:txBody>
          <a:bodyPr>
            <a:normAutofit fontScale="92500" lnSpcReduction="20000"/>
          </a:bodyPr>
          <a:lstStyle/>
          <a:p>
            <a:pPr marL="0" indent="0">
              <a:buNone/>
            </a:pPr>
            <a:r>
              <a:rPr lang="en-US" b="1" dirty="0"/>
              <a:t>2. Modus Tollens</a:t>
            </a:r>
            <a:r>
              <a:rPr lang="en-US" dirty="0"/>
              <a:t> (Denying the Consequent)</a:t>
            </a:r>
          </a:p>
          <a:p>
            <a:r>
              <a:rPr lang="en-US" dirty="0"/>
              <a:t>If we know that </a:t>
            </a:r>
            <a:r>
              <a:rPr lang="en-US" b="1" dirty="0"/>
              <a:t>"If P, then Q"</a:t>
            </a:r>
            <a:r>
              <a:rPr lang="en-US" dirty="0"/>
              <a:t> is true, and we also know that </a:t>
            </a:r>
            <a:r>
              <a:rPr lang="en-US" b="1" dirty="0"/>
              <a:t>Q</a:t>
            </a:r>
            <a:r>
              <a:rPr lang="en-US" dirty="0"/>
              <a:t> is false, then </a:t>
            </a:r>
            <a:r>
              <a:rPr lang="en-US" b="1" dirty="0"/>
              <a:t>P</a:t>
            </a:r>
            <a:r>
              <a:rPr lang="en-US" dirty="0"/>
              <a:t> must also be false.</a:t>
            </a:r>
          </a:p>
          <a:p>
            <a:pPr>
              <a:buNone/>
            </a:pPr>
            <a:endParaRPr lang="en-US" b="1" dirty="0"/>
          </a:p>
          <a:p>
            <a:pPr>
              <a:buNone/>
            </a:pPr>
            <a:r>
              <a:rPr lang="en-US" b="1" dirty="0"/>
              <a:t>Example (Modus Tollens):</a:t>
            </a:r>
          </a:p>
          <a:p>
            <a:pPr>
              <a:buFont typeface="Arial" panose="020B0604020202020204" pitchFamily="34" charset="0"/>
              <a:buChar char="•"/>
            </a:pPr>
            <a:r>
              <a:rPr lang="en-US" dirty="0"/>
              <a:t>If the car is out of gas, it won’t start.</a:t>
            </a:r>
            <a:br>
              <a:rPr lang="en-US" dirty="0"/>
            </a:br>
            <a:r>
              <a:rPr lang="en-US" dirty="0"/>
              <a:t>P→Q (If no gas, then the car won't start).</a:t>
            </a:r>
          </a:p>
          <a:p>
            <a:pPr>
              <a:buFont typeface="Arial" panose="020B0604020202020204" pitchFamily="34" charset="0"/>
              <a:buChar char="•"/>
            </a:pPr>
            <a:r>
              <a:rPr lang="en-US" dirty="0"/>
              <a:t>The car started.</a:t>
            </a:r>
            <a:br>
              <a:rPr lang="en-US" dirty="0"/>
            </a:br>
            <a:r>
              <a:rPr lang="en-US" dirty="0"/>
              <a:t>¬Q (It did not fail to start).</a:t>
            </a:r>
          </a:p>
          <a:p>
            <a:pPr>
              <a:buNone/>
            </a:pPr>
            <a:r>
              <a:rPr lang="en-US" b="1" dirty="0"/>
              <a:t>Conclusion:</a:t>
            </a:r>
            <a:endParaRPr lang="en-US" dirty="0"/>
          </a:p>
          <a:p>
            <a:pPr>
              <a:buFont typeface="Arial" panose="020B0604020202020204" pitchFamily="34" charset="0"/>
              <a:buChar char="•"/>
            </a:pPr>
            <a:r>
              <a:rPr lang="en-US" dirty="0"/>
              <a:t>The car is not out of gas.</a:t>
            </a:r>
            <a:br>
              <a:rPr lang="en-US" dirty="0"/>
            </a:br>
            <a:r>
              <a:rPr lang="en-US" dirty="0"/>
              <a:t>¬P (The car has gas).</a:t>
            </a:r>
          </a:p>
          <a:p>
            <a:endParaRPr lang="en-US" dirty="0"/>
          </a:p>
          <a:p>
            <a:pPr marL="0" indent="0">
              <a:buNone/>
            </a:pPr>
            <a:endParaRPr lang="en-US" dirty="0"/>
          </a:p>
        </p:txBody>
      </p:sp>
      <p:pic>
        <p:nvPicPr>
          <p:cNvPr id="5" name="Picture 4">
            <a:extLst>
              <a:ext uri="{FF2B5EF4-FFF2-40B4-BE49-F238E27FC236}">
                <a16:creationId xmlns:a16="http://schemas.microsoft.com/office/drawing/2014/main" id="{0588C7AB-9D2B-2B14-C70E-AFD75FFA2264}"/>
              </a:ext>
            </a:extLst>
          </p:cNvPr>
          <p:cNvPicPr>
            <a:picLocks noChangeAspect="1"/>
          </p:cNvPicPr>
          <p:nvPr/>
        </p:nvPicPr>
        <p:blipFill>
          <a:blip r:embed="rId2"/>
          <a:stretch>
            <a:fillRect/>
          </a:stretch>
        </p:blipFill>
        <p:spPr>
          <a:xfrm>
            <a:off x="5414867" y="2682240"/>
            <a:ext cx="2251526" cy="1070655"/>
          </a:xfrm>
          <a:prstGeom prst="rect">
            <a:avLst/>
          </a:prstGeom>
        </p:spPr>
      </p:pic>
    </p:spTree>
    <p:extLst>
      <p:ext uri="{BB962C8B-B14F-4D97-AF65-F5344CB8AC3E}">
        <p14:creationId xmlns:p14="http://schemas.microsoft.com/office/powerpoint/2010/main" val="8544039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ECD3383-377F-CCD3-1B08-63EB17980E57}"/>
              </a:ext>
            </a:extLst>
          </p:cNvPr>
          <p:cNvSpPr>
            <a:spLocks noGrp="1"/>
          </p:cNvSpPr>
          <p:nvPr>
            <p:ph type="title"/>
          </p:nvPr>
        </p:nvSpPr>
        <p:spPr>
          <a:xfrm>
            <a:off x="1371597" y="348865"/>
            <a:ext cx="10044023" cy="877729"/>
          </a:xfrm>
        </p:spPr>
        <p:txBody>
          <a:bodyPr anchor="ctr">
            <a:normAutofit/>
          </a:bodyPr>
          <a:lstStyle/>
          <a:p>
            <a:r>
              <a:rPr lang="en-GB" sz="4000" b="1">
                <a:solidFill>
                  <a:srgbClr val="FFFFFF"/>
                </a:solidFill>
              </a:rPr>
              <a:t>Applications</a:t>
            </a:r>
            <a:endParaRPr lang="en-PK" sz="4000">
              <a:solidFill>
                <a:srgbClr val="FFFFFF"/>
              </a:solidFill>
            </a:endParaRPr>
          </a:p>
        </p:txBody>
      </p:sp>
      <p:graphicFrame>
        <p:nvGraphicFramePr>
          <p:cNvPr id="5" name="Content Placeholder 2">
            <a:extLst>
              <a:ext uri="{FF2B5EF4-FFF2-40B4-BE49-F238E27FC236}">
                <a16:creationId xmlns:a16="http://schemas.microsoft.com/office/drawing/2014/main" id="{A962694E-691C-5F7E-A7F1-2598AD5D6437}"/>
              </a:ext>
            </a:extLst>
          </p:cNvPr>
          <p:cNvGraphicFramePr>
            <a:graphicFrameLocks noGrp="1"/>
          </p:cNvGraphicFramePr>
          <p:nvPr>
            <p:ph idx="1"/>
            <p:extLst>
              <p:ext uri="{D42A27DB-BD31-4B8C-83A1-F6EECF244321}">
                <p14:modId xmlns:p14="http://schemas.microsoft.com/office/powerpoint/2010/main" val="1765938962"/>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95194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D750CC-CB9C-8523-38EA-36A1F1BE7810}"/>
              </a:ext>
            </a:extLst>
          </p:cNvPr>
          <p:cNvSpPr>
            <a:spLocks noGrp="1"/>
          </p:cNvSpPr>
          <p:nvPr>
            <p:ph type="title"/>
          </p:nvPr>
        </p:nvSpPr>
        <p:spPr>
          <a:xfrm>
            <a:off x="1371599" y="294538"/>
            <a:ext cx="9895951" cy="1033669"/>
          </a:xfrm>
        </p:spPr>
        <p:txBody>
          <a:bodyPr>
            <a:normAutofit/>
          </a:bodyPr>
          <a:lstStyle/>
          <a:p>
            <a:r>
              <a:rPr lang="en-GB" sz="3400" b="1">
                <a:solidFill>
                  <a:srgbClr val="FFFFFF"/>
                </a:solidFill>
              </a:rPr>
              <a:t>Decision Making - Determining Actions Based on Logical Reasoning</a:t>
            </a:r>
            <a:endParaRPr lang="en-PK" sz="3400" b="1">
              <a:solidFill>
                <a:srgbClr val="FFFFFF"/>
              </a:solidFill>
            </a:endParaRPr>
          </a:p>
        </p:txBody>
      </p:sp>
      <p:sp>
        <p:nvSpPr>
          <p:cNvPr id="3" name="Content Placeholder 2">
            <a:extLst>
              <a:ext uri="{FF2B5EF4-FFF2-40B4-BE49-F238E27FC236}">
                <a16:creationId xmlns:a16="http://schemas.microsoft.com/office/drawing/2014/main" id="{04E87E40-1FA9-D204-0CF1-6329819F26A2}"/>
              </a:ext>
            </a:extLst>
          </p:cNvPr>
          <p:cNvSpPr>
            <a:spLocks noGrp="1"/>
          </p:cNvSpPr>
          <p:nvPr>
            <p:ph idx="1"/>
          </p:nvPr>
        </p:nvSpPr>
        <p:spPr>
          <a:xfrm>
            <a:off x="459350" y="1979270"/>
            <a:ext cx="11277379" cy="4722471"/>
          </a:xfrm>
        </p:spPr>
        <p:txBody>
          <a:bodyPr anchor="ctr">
            <a:normAutofit fontScale="92500" lnSpcReduction="10000"/>
          </a:bodyPr>
          <a:lstStyle/>
          <a:p>
            <a:pPr algn="just"/>
            <a:r>
              <a:rPr lang="en-GB" b="1" dirty="0"/>
              <a:t>Definition: </a:t>
            </a:r>
            <a:r>
              <a:rPr lang="en-GB" dirty="0"/>
              <a:t>Decision making involves choosing an optimal course of action from available alternatives based on logical reasoning and available data.</a:t>
            </a:r>
          </a:p>
          <a:p>
            <a:pPr algn="just"/>
            <a:r>
              <a:rPr lang="en-GB" b="1" dirty="0"/>
              <a:t>Key Components:</a:t>
            </a:r>
            <a:endParaRPr lang="en-GB" dirty="0"/>
          </a:p>
          <a:p>
            <a:pPr algn="just">
              <a:buFont typeface="+mj-lt"/>
              <a:buAutoNum type="arabicPeriod"/>
            </a:pPr>
            <a:r>
              <a:rPr lang="en-GB" b="1" dirty="0"/>
              <a:t>Input:</a:t>
            </a:r>
            <a:r>
              <a:rPr lang="en-GB" dirty="0"/>
              <a:t> Data and knowledge (e.g., environment state).</a:t>
            </a:r>
          </a:p>
          <a:p>
            <a:pPr algn="just">
              <a:buFont typeface="+mj-lt"/>
              <a:buAutoNum type="arabicPeriod"/>
            </a:pPr>
            <a:r>
              <a:rPr lang="en-GB" b="1" dirty="0"/>
              <a:t>Reasoning:</a:t>
            </a:r>
            <a:r>
              <a:rPr lang="en-GB" dirty="0"/>
              <a:t> Logical evaluation of potential outcomes.</a:t>
            </a:r>
          </a:p>
          <a:p>
            <a:pPr algn="just">
              <a:buFont typeface="+mj-lt"/>
              <a:buAutoNum type="arabicPeriod"/>
            </a:pPr>
            <a:r>
              <a:rPr lang="en-GB" b="1" dirty="0"/>
              <a:t>Output:</a:t>
            </a:r>
            <a:r>
              <a:rPr lang="en-GB" dirty="0"/>
              <a:t> Selection of the best action to achieve a goal.</a:t>
            </a:r>
          </a:p>
          <a:p>
            <a:pPr marL="0" indent="0">
              <a:buNone/>
            </a:pPr>
            <a:r>
              <a:rPr lang="en-GB" b="1" dirty="0"/>
              <a:t>Example:</a:t>
            </a:r>
            <a:endParaRPr lang="en-GB" dirty="0"/>
          </a:p>
          <a:p>
            <a:pPr>
              <a:buFont typeface="Arial" panose="020B0604020202020204" pitchFamily="34" charset="0"/>
              <a:buChar char="•"/>
            </a:pPr>
            <a:r>
              <a:rPr lang="en-GB" dirty="0"/>
              <a:t>Scenario: A robot navigating a maze.</a:t>
            </a:r>
          </a:p>
          <a:p>
            <a:pPr>
              <a:buFont typeface="Arial" panose="020B0604020202020204" pitchFamily="34" charset="0"/>
              <a:buChar char="•"/>
            </a:pPr>
            <a:r>
              <a:rPr lang="en-GB" dirty="0"/>
              <a:t>Input: The robot senses a wall ahead.</a:t>
            </a:r>
          </a:p>
          <a:p>
            <a:pPr>
              <a:buFont typeface="Arial" panose="020B0604020202020204" pitchFamily="34" charset="0"/>
              <a:buChar char="•"/>
            </a:pPr>
            <a:r>
              <a:rPr lang="en-GB" dirty="0"/>
              <a:t>Reasoning: </a:t>
            </a:r>
            <a:r>
              <a:rPr lang="en-GB" i="1" dirty="0"/>
              <a:t>If there is a wall, turn left.</a:t>
            </a:r>
            <a:endParaRPr lang="en-GB" dirty="0"/>
          </a:p>
          <a:p>
            <a:pPr>
              <a:buFont typeface="Arial" panose="020B0604020202020204" pitchFamily="34" charset="0"/>
              <a:buChar char="•"/>
            </a:pPr>
            <a:r>
              <a:rPr lang="en-GB" dirty="0"/>
              <a:t>Decision: Turn left to continue navigating.</a:t>
            </a:r>
          </a:p>
          <a:p>
            <a:endParaRPr lang="en-PK" sz="2000" dirty="0"/>
          </a:p>
        </p:txBody>
      </p:sp>
    </p:spTree>
    <p:extLst>
      <p:ext uri="{BB962C8B-B14F-4D97-AF65-F5344CB8AC3E}">
        <p14:creationId xmlns:p14="http://schemas.microsoft.com/office/powerpoint/2010/main" val="2079268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701A7-356F-146C-F412-D2D6B429AAFA}"/>
              </a:ext>
            </a:extLst>
          </p:cNvPr>
          <p:cNvSpPr>
            <a:spLocks noGrp="1"/>
          </p:cNvSpPr>
          <p:nvPr>
            <p:ph type="title"/>
          </p:nvPr>
        </p:nvSpPr>
        <p:spPr/>
        <p:txBody>
          <a:bodyPr/>
          <a:lstStyle/>
          <a:p>
            <a:r>
              <a:rPr lang="en-GB" b="1" dirty="0"/>
              <a:t>Types of Logic in AI</a:t>
            </a:r>
            <a:endParaRPr lang="en-PK" b="1" dirty="0"/>
          </a:p>
        </p:txBody>
      </p:sp>
      <p:sp>
        <p:nvSpPr>
          <p:cNvPr id="3" name="Content Placeholder 2">
            <a:extLst>
              <a:ext uri="{FF2B5EF4-FFF2-40B4-BE49-F238E27FC236}">
                <a16:creationId xmlns:a16="http://schemas.microsoft.com/office/drawing/2014/main" id="{A9E54B49-924A-D803-B69B-16F5BFB8CE1B}"/>
              </a:ext>
            </a:extLst>
          </p:cNvPr>
          <p:cNvSpPr>
            <a:spLocks noGrp="1"/>
          </p:cNvSpPr>
          <p:nvPr>
            <p:ph idx="1"/>
          </p:nvPr>
        </p:nvSpPr>
        <p:spPr/>
        <p:txBody>
          <a:bodyPr>
            <a:normAutofit/>
          </a:bodyPr>
          <a:lstStyle/>
          <a:p>
            <a:pPr marL="0" indent="0">
              <a:buNone/>
            </a:pPr>
            <a:r>
              <a:rPr lang="en-GB" sz="2400" b="1" dirty="0">
                <a:latin typeface="Arial" panose="020B0604020202020204" pitchFamily="34" charset="0"/>
                <a:cs typeface="Arial" panose="020B0604020202020204" pitchFamily="34" charset="0"/>
              </a:rPr>
              <a:t>Logic is a formal system that allows reasoning and decision-making in AI.</a:t>
            </a:r>
          </a:p>
          <a:p>
            <a:pPr marL="0" indent="0">
              <a:buNone/>
            </a:pPr>
            <a:r>
              <a:rPr lang="en-GB" sz="2400" b="1" dirty="0">
                <a:solidFill>
                  <a:srgbClr val="FF0000"/>
                </a:solidFill>
                <a:latin typeface="Arial" panose="020B0604020202020204" pitchFamily="34" charset="0"/>
                <a:cs typeface="Arial" panose="020B0604020202020204" pitchFamily="34" charset="0"/>
              </a:rPr>
              <a:t>Main Types of Logic</a:t>
            </a:r>
          </a:p>
          <a:p>
            <a:r>
              <a:rPr lang="en-GB" dirty="0">
                <a:latin typeface="Arial" panose="020B0604020202020204" pitchFamily="34" charset="0"/>
                <a:cs typeface="Arial" panose="020B0604020202020204" pitchFamily="34" charset="0"/>
              </a:rPr>
              <a:t>Propositional Logic</a:t>
            </a:r>
          </a:p>
          <a:p>
            <a:r>
              <a:rPr lang="en-GB" dirty="0">
                <a:latin typeface="Arial" panose="020B0604020202020204" pitchFamily="34" charset="0"/>
                <a:cs typeface="Arial" panose="020B0604020202020204" pitchFamily="34" charset="0"/>
              </a:rPr>
              <a:t>First-Order Logic (FOL)</a:t>
            </a:r>
          </a:p>
          <a:p>
            <a:r>
              <a:rPr lang="en-GB" dirty="0">
                <a:latin typeface="Arial" panose="020B0604020202020204" pitchFamily="34" charset="0"/>
                <a:cs typeface="Arial" panose="020B0604020202020204" pitchFamily="34" charset="0"/>
              </a:rPr>
              <a:t>Temporal Logic</a:t>
            </a:r>
          </a:p>
          <a:p>
            <a:pPr marL="0" indent="0">
              <a:buNone/>
            </a:pPr>
            <a:r>
              <a:rPr lang="en-GB" sz="2400" b="1" dirty="0">
                <a:latin typeface="Arial" panose="020B0604020202020204" pitchFamily="34" charset="0"/>
                <a:cs typeface="Arial" panose="020B0604020202020204" pitchFamily="34" charset="0"/>
              </a:rPr>
              <a:t>Why Logic in AI?</a:t>
            </a:r>
          </a:p>
          <a:p>
            <a:r>
              <a:rPr lang="en-GB" sz="2400" dirty="0">
                <a:latin typeface="Arial" panose="020B0604020202020204" pitchFamily="34" charset="0"/>
                <a:cs typeface="Arial" panose="020B0604020202020204" pitchFamily="34" charset="0"/>
              </a:rPr>
              <a:t>Provides a structured way to represent knowledge.</a:t>
            </a:r>
          </a:p>
          <a:p>
            <a:r>
              <a:rPr lang="en-GB" sz="2400" dirty="0">
                <a:latin typeface="Arial" panose="020B0604020202020204" pitchFamily="34" charset="0"/>
                <a:cs typeface="Arial" panose="020B0604020202020204" pitchFamily="34" charset="0"/>
              </a:rPr>
              <a:t>Enables machines to perform inference and decision-making.</a:t>
            </a:r>
            <a:endParaRPr lang="en-PK"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78655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8A069-1993-24A1-B73A-5868C0E5A51E}"/>
              </a:ext>
            </a:extLst>
          </p:cNvPr>
          <p:cNvSpPr>
            <a:spLocks noGrp="1"/>
          </p:cNvSpPr>
          <p:nvPr>
            <p:ph type="title"/>
          </p:nvPr>
        </p:nvSpPr>
        <p:spPr>
          <a:xfrm>
            <a:off x="838200" y="365126"/>
            <a:ext cx="10515600" cy="736844"/>
          </a:xfrm>
        </p:spPr>
        <p:txBody>
          <a:bodyPr/>
          <a:lstStyle/>
          <a:p>
            <a:r>
              <a:rPr lang="it-IT" b="1" dirty="0"/>
              <a:t>Propositional Logic</a:t>
            </a:r>
            <a:endParaRPr lang="en-PK" b="1" dirty="0"/>
          </a:p>
        </p:txBody>
      </p:sp>
      <p:sp>
        <p:nvSpPr>
          <p:cNvPr id="3" name="Content Placeholder 2">
            <a:extLst>
              <a:ext uri="{FF2B5EF4-FFF2-40B4-BE49-F238E27FC236}">
                <a16:creationId xmlns:a16="http://schemas.microsoft.com/office/drawing/2014/main" id="{91DCC698-AA41-DE23-DC2A-44F44E428233}"/>
              </a:ext>
            </a:extLst>
          </p:cNvPr>
          <p:cNvSpPr>
            <a:spLocks noGrp="1"/>
          </p:cNvSpPr>
          <p:nvPr>
            <p:ph idx="1"/>
          </p:nvPr>
        </p:nvSpPr>
        <p:spPr>
          <a:xfrm>
            <a:off x="838200" y="984738"/>
            <a:ext cx="10515600" cy="5192225"/>
          </a:xfrm>
        </p:spPr>
        <p:txBody>
          <a:bodyPr>
            <a:normAutofit fontScale="92500" lnSpcReduction="20000"/>
          </a:bodyPr>
          <a:lstStyle/>
          <a:p>
            <a:pPr marL="0" indent="0">
              <a:buNone/>
            </a:pPr>
            <a:r>
              <a:rPr lang="en-GB" b="1" dirty="0"/>
              <a:t>Definition</a:t>
            </a:r>
          </a:p>
          <a:p>
            <a:r>
              <a:rPr lang="en-GB" dirty="0"/>
              <a:t>Deals with simple statements that can be true or false.</a:t>
            </a:r>
          </a:p>
          <a:p>
            <a:r>
              <a:rPr lang="en-GB" dirty="0"/>
              <a:t>Statements are represented by propositions (P, Q, R, etc.).</a:t>
            </a:r>
          </a:p>
          <a:p>
            <a:pPr marL="0" indent="0">
              <a:buNone/>
            </a:pPr>
            <a:r>
              <a:rPr lang="en-GB" b="1" dirty="0"/>
              <a:t>Logical Connectives</a:t>
            </a:r>
          </a:p>
          <a:p>
            <a:r>
              <a:rPr lang="en-GB" dirty="0"/>
              <a:t>AND ( ∧ ): True if both statements are true.</a:t>
            </a:r>
          </a:p>
          <a:p>
            <a:r>
              <a:rPr lang="en-GB" dirty="0"/>
              <a:t>OR ( ∨ ): True if at least one statement is true.</a:t>
            </a:r>
          </a:p>
          <a:p>
            <a:r>
              <a:rPr lang="en-GB" dirty="0"/>
              <a:t>NOT ( ¬ ): Reverses the truth value.</a:t>
            </a:r>
          </a:p>
          <a:p>
            <a:r>
              <a:rPr lang="en-GB" dirty="0"/>
              <a:t>IMPLIES ( → ): If P, then Q.</a:t>
            </a:r>
          </a:p>
          <a:p>
            <a:pPr marL="0" indent="0">
              <a:buNone/>
            </a:pPr>
            <a:r>
              <a:rPr lang="en-GB" b="1" dirty="0"/>
              <a:t>Example</a:t>
            </a:r>
          </a:p>
          <a:p>
            <a:r>
              <a:rPr lang="en-GB" dirty="0"/>
              <a:t>P: "It is raining.“ </a:t>
            </a:r>
          </a:p>
          <a:p>
            <a:r>
              <a:rPr lang="en-GB" dirty="0"/>
              <a:t>Q: "The ground is wet.“ </a:t>
            </a:r>
          </a:p>
          <a:p>
            <a:r>
              <a:rPr lang="en-GB" dirty="0"/>
              <a:t>Logical Statement: P → Q (If it rains, then the ground is wet.)</a:t>
            </a:r>
          </a:p>
          <a:p>
            <a:pPr marL="0" indent="0">
              <a:buNone/>
            </a:pPr>
            <a:endParaRPr lang="en-PK" dirty="0"/>
          </a:p>
        </p:txBody>
      </p:sp>
    </p:spTree>
    <p:extLst>
      <p:ext uri="{BB962C8B-B14F-4D97-AF65-F5344CB8AC3E}">
        <p14:creationId xmlns:p14="http://schemas.microsoft.com/office/powerpoint/2010/main" val="39916107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9355B-67E8-1FBE-723F-8FF16409BDA8}"/>
              </a:ext>
            </a:extLst>
          </p:cNvPr>
          <p:cNvSpPr>
            <a:spLocks noGrp="1"/>
          </p:cNvSpPr>
          <p:nvPr>
            <p:ph type="title"/>
          </p:nvPr>
        </p:nvSpPr>
        <p:spPr>
          <a:xfrm>
            <a:off x="838200" y="365125"/>
            <a:ext cx="10515600" cy="678229"/>
          </a:xfrm>
        </p:spPr>
        <p:txBody>
          <a:bodyPr>
            <a:normAutofit fontScale="90000"/>
          </a:bodyPr>
          <a:lstStyle/>
          <a:p>
            <a:r>
              <a:rPr lang="it-IT" b="1" dirty="0"/>
              <a:t>First-Order Logic (FOL)</a:t>
            </a:r>
            <a:endParaRPr lang="en-PK" b="1" dirty="0"/>
          </a:p>
        </p:txBody>
      </p:sp>
      <p:sp>
        <p:nvSpPr>
          <p:cNvPr id="3" name="Content Placeholder 2">
            <a:extLst>
              <a:ext uri="{FF2B5EF4-FFF2-40B4-BE49-F238E27FC236}">
                <a16:creationId xmlns:a16="http://schemas.microsoft.com/office/drawing/2014/main" id="{2F3B43F5-88F9-B1FD-07C1-D988706C7166}"/>
              </a:ext>
            </a:extLst>
          </p:cNvPr>
          <p:cNvSpPr>
            <a:spLocks noGrp="1"/>
          </p:cNvSpPr>
          <p:nvPr>
            <p:ph idx="1"/>
          </p:nvPr>
        </p:nvSpPr>
        <p:spPr>
          <a:xfrm>
            <a:off x="838200" y="1043354"/>
            <a:ext cx="10515600" cy="5449521"/>
          </a:xfrm>
        </p:spPr>
        <p:txBody>
          <a:bodyPr>
            <a:normAutofit lnSpcReduction="10000"/>
          </a:bodyPr>
          <a:lstStyle/>
          <a:p>
            <a:pPr marL="0" indent="0">
              <a:buNone/>
            </a:pPr>
            <a:r>
              <a:rPr lang="en-GB" b="1" dirty="0"/>
              <a:t>Definition</a:t>
            </a:r>
            <a:endParaRPr lang="en-GB" dirty="0"/>
          </a:p>
          <a:p>
            <a:r>
              <a:rPr lang="en-GB" dirty="0"/>
              <a:t>A collection of objects, their attributes, and relations among them to represent knowledge.</a:t>
            </a:r>
          </a:p>
          <a:p>
            <a:r>
              <a:rPr lang="en-GB" dirty="0"/>
              <a:t>Extends propositional logic by including: </a:t>
            </a:r>
          </a:p>
          <a:p>
            <a:pPr lvl="1"/>
            <a:r>
              <a:rPr lang="en-GB" b="1" dirty="0"/>
              <a:t>Objects</a:t>
            </a:r>
            <a:r>
              <a:rPr lang="en-GB" dirty="0"/>
              <a:t> (entities like Socrates, Earth).</a:t>
            </a:r>
          </a:p>
          <a:p>
            <a:pPr lvl="1"/>
            <a:r>
              <a:rPr lang="en-GB" b="1" dirty="0"/>
              <a:t>Properties</a:t>
            </a:r>
            <a:r>
              <a:rPr lang="en-GB" dirty="0"/>
              <a:t> (attributes of objects, e.g., Human, Mortal).</a:t>
            </a:r>
          </a:p>
          <a:p>
            <a:pPr lvl="1"/>
            <a:r>
              <a:rPr lang="en-GB" b="1" dirty="0"/>
              <a:t>Relations</a:t>
            </a:r>
            <a:r>
              <a:rPr lang="en-GB" dirty="0"/>
              <a:t> (connections between objects).</a:t>
            </a:r>
          </a:p>
          <a:p>
            <a:pPr marL="0" indent="0">
              <a:buNone/>
            </a:pPr>
            <a:r>
              <a:rPr lang="en-GB" b="1" dirty="0"/>
              <a:t>Quantifiers</a:t>
            </a:r>
          </a:p>
          <a:p>
            <a:r>
              <a:rPr lang="en-GB" b="1" dirty="0"/>
              <a:t>Universal Quantifier ( ∀ )</a:t>
            </a:r>
            <a:r>
              <a:rPr lang="en-GB" dirty="0"/>
              <a:t>: Applies to all objects. Example: ∀x (Human(x) → Mortal(x)). For all x, </a:t>
            </a:r>
            <a:r>
              <a:rPr lang="en-US" dirty="0"/>
              <a:t>If x is a human, then x is mortal</a:t>
            </a:r>
          </a:p>
          <a:p>
            <a:pPr>
              <a:buFont typeface="Arial" panose="020B0604020202020204" pitchFamily="34" charset="0"/>
              <a:buChar char="•"/>
            </a:pPr>
            <a:r>
              <a:rPr lang="en-GB" b="1" dirty="0"/>
              <a:t>Existential Quantifier ( ∃ )</a:t>
            </a:r>
            <a:r>
              <a:rPr lang="en-GB" dirty="0"/>
              <a:t>: States that at least one object satisfies a property. Example: ∃x (Cat(x) ∧ Black(x)). </a:t>
            </a:r>
            <a:r>
              <a:rPr lang="en-US" dirty="0"/>
              <a:t>There exists an x, x is a cat and x is black</a:t>
            </a:r>
            <a:endParaRPr lang="en-GB" dirty="0"/>
          </a:p>
          <a:p>
            <a:endParaRPr lang="en-GB" dirty="0"/>
          </a:p>
          <a:p>
            <a:pPr lvl="1"/>
            <a:endParaRPr lang="en-GB" dirty="0"/>
          </a:p>
          <a:p>
            <a:pPr marL="457200" lvl="1" indent="0">
              <a:buNone/>
            </a:pPr>
            <a:endParaRPr lang="en-GB" dirty="0"/>
          </a:p>
          <a:p>
            <a:endParaRPr lang="en-PK" dirty="0"/>
          </a:p>
        </p:txBody>
      </p:sp>
    </p:spTree>
    <p:extLst>
      <p:ext uri="{BB962C8B-B14F-4D97-AF65-F5344CB8AC3E}">
        <p14:creationId xmlns:p14="http://schemas.microsoft.com/office/powerpoint/2010/main" val="13575024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5C030-AFEC-B86A-877C-53BA9ECE2DF1}"/>
              </a:ext>
            </a:extLst>
          </p:cNvPr>
          <p:cNvSpPr>
            <a:spLocks noGrp="1"/>
          </p:cNvSpPr>
          <p:nvPr>
            <p:ph type="title"/>
          </p:nvPr>
        </p:nvSpPr>
        <p:spPr/>
        <p:txBody>
          <a:bodyPr/>
          <a:lstStyle/>
          <a:p>
            <a:r>
              <a:rPr lang="en-GB" b="1" dirty="0"/>
              <a:t>FOL Continued….</a:t>
            </a:r>
            <a:endParaRPr lang="en-PK" b="1" dirty="0"/>
          </a:p>
        </p:txBody>
      </p:sp>
      <p:sp>
        <p:nvSpPr>
          <p:cNvPr id="3" name="Content Placeholder 2">
            <a:extLst>
              <a:ext uri="{FF2B5EF4-FFF2-40B4-BE49-F238E27FC236}">
                <a16:creationId xmlns:a16="http://schemas.microsoft.com/office/drawing/2014/main" id="{8F02B281-DE09-0CD2-B69E-1D04BF58C303}"/>
              </a:ext>
            </a:extLst>
          </p:cNvPr>
          <p:cNvSpPr>
            <a:spLocks noGrp="1"/>
          </p:cNvSpPr>
          <p:nvPr>
            <p:ph idx="1"/>
          </p:nvPr>
        </p:nvSpPr>
        <p:spPr>
          <a:xfrm>
            <a:off x="160421" y="1825625"/>
            <a:ext cx="12031579" cy="4351338"/>
          </a:xfrm>
        </p:spPr>
        <p:txBody>
          <a:bodyPr>
            <a:normAutofit/>
          </a:bodyPr>
          <a:lstStyle/>
          <a:p>
            <a:pPr marL="0" indent="0">
              <a:buNone/>
            </a:pPr>
            <a:r>
              <a:rPr lang="en-GB" sz="3200" b="1" dirty="0"/>
              <a:t>Example: </a:t>
            </a:r>
            <a:r>
              <a:rPr lang="en-US" sz="3200" dirty="0"/>
              <a:t>applying logical reasoning (deductive inference):</a:t>
            </a:r>
            <a:endParaRPr lang="en-GB" sz="3200" dirty="0"/>
          </a:p>
          <a:p>
            <a:pPr marL="742950" lvl="1" indent="-285750">
              <a:buFont typeface="Arial" panose="020B0604020202020204" pitchFamily="34" charset="0"/>
              <a:buChar char="•"/>
            </a:pPr>
            <a:r>
              <a:rPr lang="en-GB" sz="2800" dirty="0"/>
              <a:t>Fact 1 (General Rule): All humans are mortal → ∀x (Human(x) → Mortal(x)).</a:t>
            </a:r>
          </a:p>
          <a:p>
            <a:pPr marL="457200" lvl="1" indent="0">
              <a:buNone/>
            </a:pPr>
            <a:r>
              <a:rPr lang="en-GB" sz="2800" dirty="0"/>
              <a:t>                                                        </a:t>
            </a:r>
            <a:r>
              <a:rPr lang="en-US" sz="2800" dirty="0"/>
              <a:t>"For all x, if x is a human, then x is mortal."</a:t>
            </a:r>
            <a:endParaRPr lang="en-GB" sz="2800" dirty="0"/>
          </a:p>
          <a:p>
            <a:pPr marL="742950" lvl="1" indent="-285750">
              <a:buFont typeface="Arial" panose="020B0604020202020204" pitchFamily="34" charset="0"/>
              <a:buChar char="•"/>
            </a:pPr>
            <a:r>
              <a:rPr lang="en-GB" sz="2800" dirty="0"/>
              <a:t>Fact 2 (specific case): Socrates is a human → Human(Socrates).</a:t>
            </a:r>
          </a:p>
          <a:p>
            <a:pPr marL="742950" lvl="1" indent="-285750">
              <a:buFont typeface="Arial" panose="020B0604020202020204" pitchFamily="34" charset="0"/>
              <a:buChar char="•"/>
            </a:pPr>
            <a:r>
              <a:rPr lang="en-GB" sz="2800" dirty="0"/>
              <a:t>Conclusion: Socrates is mortal → Mortal(Socrates).</a:t>
            </a:r>
          </a:p>
          <a:p>
            <a:pPr marL="0" indent="0">
              <a:buNone/>
            </a:pPr>
            <a:r>
              <a:rPr lang="en-GB" sz="3200" b="1" dirty="0"/>
              <a:t>Benefits of FOL</a:t>
            </a:r>
            <a:endParaRPr lang="en-GB" sz="3200" dirty="0"/>
          </a:p>
          <a:p>
            <a:pPr>
              <a:buFont typeface="Arial" panose="020B0604020202020204" pitchFamily="34" charset="0"/>
              <a:buChar char="•"/>
            </a:pPr>
            <a:r>
              <a:rPr lang="en-GB" sz="3200" dirty="0"/>
              <a:t>More expressive than propositional logic.</a:t>
            </a:r>
          </a:p>
          <a:p>
            <a:pPr>
              <a:buFont typeface="Arial" panose="020B0604020202020204" pitchFamily="34" charset="0"/>
              <a:buChar char="•"/>
            </a:pPr>
            <a:r>
              <a:rPr lang="en-GB" sz="3200" dirty="0"/>
              <a:t>Enables complex reasoning involving relationships.</a:t>
            </a:r>
          </a:p>
          <a:p>
            <a:endParaRPr lang="en-PK" dirty="0"/>
          </a:p>
        </p:txBody>
      </p:sp>
    </p:spTree>
    <p:extLst>
      <p:ext uri="{BB962C8B-B14F-4D97-AF65-F5344CB8AC3E}">
        <p14:creationId xmlns:p14="http://schemas.microsoft.com/office/powerpoint/2010/main" val="12478636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DF30C-FA9A-D1DE-C427-94116012D94D}"/>
              </a:ext>
            </a:extLst>
          </p:cNvPr>
          <p:cNvSpPr>
            <a:spLocks noGrp="1"/>
          </p:cNvSpPr>
          <p:nvPr>
            <p:ph type="title"/>
          </p:nvPr>
        </p:nvSpPr>
        <p:spPr>
          <a:xfrm>
            <a:off x="838200" y="365126"/>
            <a:ext cx="10515600" cy="947860"/>
          </a:xfrm>
        </p:spPr>
        <p:txBody>
          <a:bodyPr>
            <a:normAutofit/>
          </a:bodyPr>
          <a:lstStyle/>
          <a:p>
            <a:r>
              <a:rPr lang="en-GB" b="1" dirty="0"/>
              <a:t>Temporal Logic</a:t>
            </a:r>
            <a:endParaRPr lang="en-PK" dirty="0"/>
          </a:p>
        </p:txBody>
      </p:sp>
      <p:sp>
        <p:nvSpPr>
          <p:cNvPr id="3" name="Content Placeholder 2">
            <a:extLst>
              <a:ext uri="{FF2B5EF4-FFF2-40B4-BE49-F238E27FC236}">
                <a16:creationId xmlns:a16="http://schemas.microsoft.com/office/drawing/2014/main" id="{FD47E4C8-6C4D-8240-2D92-60F55C6B7B37}"/>
              </a:ext>
            </a:extLst>
          </p:cNvPr>
          <p:cNvSpPr>
            <a:spLocks noGrp="1"/>
          </p:cNvSpPr>
          <p:nvPr>
            <p:ph idx="1"/>
          </p:nvPr>
        </p:nvSpPr>
        <p:spPr>
          <a:xfrm>
            <a:off x="838200" y="1312986"/>
            <a:ext cx="10515600" cy="5179888"/>
          </a:xfrm>
        </p:spPr>
        <p:txBody>
          <a:bodyPr>
            <a:normAutofit fontScale="85000" lnSpcReduction="20000"/>
          </a:bodyPr>
          <a:lstStyle/>
          <a:p>
            <a:pPr marL="0" indent="0">
              <a:buNone/>
            </a:pPr>
            <a:r>
              <a:rPr lang="en-GB" b="1" dirty="0"/>
              <a:t>Definition:</a:t>
            </a:r>
            <a:r>
              <a:rPr lang="en-GB" dirty="0"/>
              <a:t> Deals with reasoning about events over time.</a:t>
            </a:r>
          </a:p>
          <a:p>
            <a:pPr>
              <a:buFont typeface="Arial" panose="020B0604020202020204" pitchFamily="34" charset="0"/>
              <a:buChar char="•"/>
            </a:pPr>
            <a:r>
              <a:rPr lang="en-GB" dirty="0"/>
              <a:t>Useful for systems where actions and changes occur sequentially.</a:t>
            </a:r>
          </a:p>
          <a:p>
            <a:pPr marL="0" indent="0">
              <a:buNone/>
            </a:pPr>
            <a:r>
              <a:rPr lang="en-GB" b="1" dirty="0"/>
              <a:t>Core Concepts:</a:t>
            </a:r>
            <a:endParaRPr lang="en-GB" dirty="0"/>
          </a:p>
          <a:p>
            <a:pPr marL="742950" lvl="1" indent="-285750">
              <a:buFont typeface="Arial" panose="020B0604020202020204" pitchFamily="34" charset="0"/>
              <a:buChar char="•"/>
            </a:pPr>
            <a:r>
              <a:rPr lang="en-GB" sz="3300" b="1" dirty="0"/>
              <a:t>Time-Based Operators</a:t>
            </a:r>
            <a:r>
              <a:rPr lang="en-GB" sz="3300" dirty="0"/>
              <a:t>:</a:t>
            </a:r>
          </a:p>
          <a:p>
            <a:pPr marL="1143000" lvl="2" indent="-228600">
              <a:buFont typeface="Arial" panose="020B0604020202020204" pitchFamily="34" charset="0"/>
              <a:buChar char="•"/>
            </a:pPr>
            <a:r>
              <a:rPr lang="en-GB" sz="2400" b="1" dirty="0"/>
              <a:t>G (Globally)</a:t>
            </a:r>
            <a:r>
              <a:rPr lang="en-GB" sz="2400" dirty="0"/>
              <a:t>: True at all times.</a:t>
            </a:r>
          </a:p>
          <a:p>
            <a:pPr marL="1143000" lvl="2" indent="-228600">
              <a:buFont typeface="Arial" panose="020B0604020202020204" pitchFamily="34" charset="0"/>
              <a:buChar char="•"/>
            </a:pPr>
            <a:r>
              <a:rPr lang="en-GB" sz="2400" b="1" dirty="0"/>
              <a:t>F (Future)</a:t>
            </a:r>
            <a:r>
              <a:rPr lang="en-GB" sz="2400" dirty="0"/>
              <a:t>: True at some point in the future.</a:t>
            </a:r>
          </a:p>
          <a:p>
            <a:pPr marL="1143000" lvl="2" indent="-228600">
              <a:buFont typeface="Arial" panose="020B0604020202020204" pitchFamily="34" charset="0"/>
              <a:buChar char="•"/>
            </a:pPr>
            <a:r>
              <a:rPr lang="en-GB" sz="2400" b="1" dirty="0"/>
              <a:t>X (Next)</a:t>
            </a:r>
            <a:r>
              <a:rPr lang="en-GB" sz="2400" dirty="0"/>
              <a:t>: True in the next state or time.</a:t>
            </a:r>
          </a:p>
          <a:p>
            <a:pPr marL="1143000" lvl="2" indent="-228600">
              <a:buFont typeface="Arial" panose="020B0604020202020204" pitchFamily="34" charset="0"/>
              <a:buChar char="•"/>
            </a:pPr>
            <a:r>
              <a:rPr lang="en-GB" sz="2400" b="1" dirty="0"/>
              <a:t>U (Until)</a:t>
            </a:r>
            <a:r>
              <a:rPr lang="en-GB" sz="2400" dirty="0"/>
              <a:t>: True until another event happens.</a:t>
            </a:r>
          </a:p>
          <a:p>
            <a:pPr marL="0" indent="0">
              <a:buNone/>
            </a:pPr>
            <a:r>
              <a:rPr lang="en-GB" b="1" dirty="0"/>
              <a:t>Example:</a:t>
            </a:r>
            <a:endParaRPr lang="en-GB" dirty="0"/>
          </a:p>
          <a:p>
            <a:pPr marL="742950" lvl="1" indent="-285750">
              <a:buFont typeface="Arial" panose="020B0604020202020204" pitchFamily="34" charset="0"/>
              <a:buChar char="•"/>
            </a:pPr>
            <a:r>
              <a:rPr lang="en-GB" sz="3300" i="1" dirty="0"/>
              <a:t>"If X happens now, Y will occur later."</a:t>
            </a:r>
            <a:endParaRPr lang="en-GB" sz="3300" dirty="0"/>
          </a:p>
          <a:p>
            <a:pPr marL="742950" lvl="1" indent="-285750">
              <a:buFont typeface="Arial" panose="020B0604020202020204" pitchFamily="34" charset="0"/>
              <a:buChar char="•"/>
            </a:pPr>
            <a:r>
              <a:rPr lang="en-GB" sz="3300" dirty="0"/>
              <a:t>Formula: X → F(Y).</a:t>
            </a:r>
          </a:p>
          <a:p>
            <a:pPr marL="0" indent="0">
              <a:buNone/>
            </a:pPr>
            <a:r>
              <a:rPr lang="en-GB" b="1" dirty="0"/>
              <a:t>Applications:</a:t>
            </a:r>
            <a:endParaRPr lang="en-GB" dirty="0"/>
          </a:p>
          <a:p>
            <a:pPr>
              <a:buFont typeface="Arial" panose="020B0604020202020204" pitchFamily="34" charset="0"/>
              <a:buChar char="•"/>
            </a:pPr>
            <a:r>
              <a:rPr lang="en-GB" dirty="0"/>
              <a:t>Scheduling systems.</a:t>
            </a:r>
          </a:p>
          <a:p>
            <a:pPr>
              <a:buFont typeface="Arial" panose="020B0604020202020204" pitchFamily="34" charset="0"/>
              <a:buChar char="•"/>
            </a:pPr>
            <a:r>
              <a:rPr lang="en-GB" dirty="0"/>
              <a:t>Verification of time-dependent systems like traffic lights, robotics, and safety protocols.</a:t>
            </a:r>
          </a:p>
        </p:txBody>
      </p:sp>
    </p:spTree>
    <p:extLst>
      <p:ext uri="{BB962C8B-B14F-4D97-AF65-F5344CB8AC3E}">
        <p14:creationId xmlns:p14="http://schemas.microsoft.com/office/powerpoint/2010/main" val="33520612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FF61B-AC45-D124-840D-AC81F4198C4B}"/>
              </a:ext>
            </a:extLst>
          </p:cNvPr>
          <p:cNvSpPr>
            <a:spLocks noGrp="1"/>
          </p:cNvSpPr>
          <p:nvPr>
            <p:ph type="title"/>
          </p:nvPr>
        </p:nvSpPr>
        <p:spPr/>
        <p:txBody>
          <a:bodyPr/>
          <a:lstStyle/>
          <a:p>
            <a:r>
              <a:rPr lang="it-IT" b="1" dirty="0"/>
              <a:t>Summary</a:t>
            </a:r>
            <a:endParaRPr lang="en-PK" b="1" dirty="0"/>
          </a:p>
        </p:txBody>
      </p:sp>
      <p:graphicFrame>
        <p:nvGraphicFramePr>
          <p:cNvPr id="4" name="Content Placeholder 3">
            <a:extLst>
              <a:ext uri="{FF2B5EF4-FFF2-40B4-BE49-F238E27FC236}">
                <a16:creationId xmlns:a16="http://schemas.microsoft.com/office/drawing/2014/main" id="{5CA90B03-1CD1-8A85-6A5F-B2682E993168}"/>
              </a:ext>
            </a:extLst>
          </p:cNvPr>
          <p:cNvGraphicFramePr>
            <a:graphicFrameLocks noGrp="1"/>
          </p:cNvGraphicFramePr>
          <p:nvPr>
            <p:ph idx="1"/>
            <p:extLst>
              <p:ext uri="{D42A27DB-BD31-4B8C-83A1-F6EECF244321}">
                <p14:modId xmlns:p14="http://schemas.microsoft.com/office/powerpoint/2010/main" val="728359207"/>
              </p:ext>
            </p:extLst>
          </p:nvPr>
        </p:nvGraphicFramePr>
        <p:xfrm>
          <a:off x="838200" y="1690688"/>
          <a:ext cx="10515600" cy="2926080"/>
        </p:xfrm>
        <a:graphic>
          <a:graphicData uri="http://schemas.openxmlformats.org/drawingml/2006/table">
            <a:tbl>
              <a:tblPr/>
              <a:tblGrid>
                <a:gridCol w="3505200">
                  <a:extLst>
                    <a:ext uri="{9D8B030D-6E8A-4147-A177-3AD203B41FA5}">
                      <a16:colId xmlns:a16="http://schemas.microsoft.com/office/drawing/2014/main" val="817025224"/>
                    </a:ext>
                  </a:extLst>
                </a:gridCol>
                <a:gridCol w="3505200">
                  <a:extLst>
                    <a:ext uri="{9D8B030D-6E8A-4147-A177-3AD203B41FA5}">
                      <a16:colId xmlns:a16="http://schemas.microsoft.com/office/drawing/2014/main" val="2312637690"/>
                    </a:ext>
                  </a:extLst>
                </a:gridCol>
                <a:gridCol w="3505200">
                  <a:extLst>
                    <a:ext uri="{9D8B030D-6E8A-4147-A177-3AD203B41FA5}">
                      <a16:colId xmlns:a16="http://schemas.microsoft.com/office/drawing/2014/main" val="1512022857"/>
                    </a:ext>
                  </a:extLst>
                </a:gridCol>
              </a:tblGrid>
              <a:tr h="0">
                <a:tc>
                  <a:txBody>
                    <a:bodyPr/>
                    <a:lstStyle/>
                    <a:p>
                      <a:r>
                        <a:rPr lang="it-IT" sz="2400" b="1"/>
                        <a:t>Logic Type</a:t>
                      </a:r>
                      <a:endParaRPr lang="it-IT" sz="2400"/>
                    </a:p>
                  </a:txBody>
                  <a:tcPr anchor="ctr">
                    <a:lnL>
                      <a:noFill/>
                    </a:lnL>
                    <a:lnR>
                      <a:noFill/>
                    </a:lnR>
                    <a:lnT>
                      <a:noFill/>
                    </a:lnT>
                    <a:lnB>
                      <a:noFill/>
                    </a:lnB>
                    <a:noFill/>
                  </a:tcPr>
                </a:tc>
                <a:tc>
                  <a:txBody>
                    <a:bodyPr/>
                    <a:lstStyle/>
                    <a:p>
                      <a:r>
                        <a:rPr lang="it-IT" sz="2400" b="1"/>
                        <a:t>Definition</a:t>
                      </a:r>
                      <a:endParaRPr lang="it-IT" sz="2400"/>
                    </a:p>
                  </a:txBody>
                  <a:tcPr anchor="ctr">
                    <a:lnL>
                      <a:noFill/>
                    </a:lnL>
                    <a:lnR>
                      <a:noFill/>
                    </a:lnR>
                    <a:lnT>
                      <a:noFill/>
                    </a:lnT>
                    <a:lnB>
                      <a:noFill/>
                    </a:lnB>
                    <a:noFill/>
                  </a:tcPr>
                </a:tc>
                <a:tc>
                  <a:txBody>
                    <a:bodyPr/>
                    <a:lstStyle/>
                    <a:p>
                      <a:r>
                        <a:rPr lang="it-IT" sz="2400" b="1"/>
                        <a:t>Example</a:t>
                      </a:r>
                      <a:endParaRPr lang="it-IT" sz="2400"/>
                    </a:p>
                  </a:txBody>
                  <a:tcPr anchor="ctr">
                    <a:lnL>
                      <a:noFill/>
                    </a:lnL>
                    <a:lnR>
                      <a:noFill/>
                    </a:lnR>
                    <a:lnT>
                      <a:noFill/>
                    </a:lnT>
                    <a:lnB>
                      <a:noFill/>
                    </a:lnB>
                    <a:noFill/>
                  </a:tcPr>
                </a:tc>
                <a:extLst>
                  <a:ext uri="{0D108BD9-81ED-4DB2-BD59-A6C34878D82A}">
                    <a16:rowId xmlns:a16="http://schemas.microsoft.com/office/drawing/2014/main" val="2093382980"/>
                  </a:ext>
                </a:extLst>
              </a:tr>
              <a:tr h="0">
                <a:tc>
                  <a:txBody>
                    <a:bodyPr/>
                    <a:lstStyle/>
                    <a:p>
                      <a:r>
                        <a:rPr lang="it-IT" sz="2400" b="1"/>
                        <a:t>Propositional Logic</a:t>
                      </a:r>
                      <a:endParaRPr lang="it-IT" sz="2400"/>
                    </a:p>
                  </a:txBody>
                  <a:tcPr anchor="ctr">
                    <a:lnL>
                      <a:noFill/>
                    </a:lnL>
                    <a:lnR>
                      <a:noFill/>
                    </a:lnR>
                    <a:lnT>
                      <a:noFill/>
                    </a:lnT>
                    <a:lnB>
                      <a:noFill/>
                    </a:lnB>
                    <a:noFill/>
                  </a:tcPr>
                </a:tc>
                <a:tc>
                  <a:txBody>
                    <a:bodyPr/>
                    <a:lstStyle/>
                    <a:p>
                      <a:r>
                        <a:rPr lang="it-IT" sz="2400"/>
                        <a:t>Deals with simple statements.</a:t>
                      </a:r>
                    </a:p>
                  </a:txBody>
                  <a:tcPr anchor="ctr">
                    <a:lnL>
                      <a:noFill/>
                    </a:lnL>
                    <a:lnR>
                      <a:noFill/>
                    </a:lnR>
                    <a:lnT>
                      <a:noFill/>
                    </a:lnT>
                    <a:lnB>
                      <a:noFill/>
                    </a:lnB>
                    <a:noFill/>
                  </a:tcPr>
                </a:tc>
                <a:tc>
                  <a:txBody>
                    <a:bodyPr/>
                    <a:lstStyle/>
                    <a:p>
                      <a:r>
                        <a:rPr lang="en-GB" sz="2400"/>
                        <a:t>P → Q (If it rains, the ground is wet).</a:t>
                      </a:r>
                    </a:p>
                  </a:txBody>
                  <a:tcPr anchor="ctr">
                    <a:lnL>
                      <a:noFill/>
                    </a:lnL>
                    <a:lnR>
                      <a:noFill/>
                    </a:lnR>
                    <a:lnT>
                      <a:noFill/>
                    </a:lnT>
                    <a:lnB>
                      <a:noFill/>
                    </a:lnB>
                    <a:noFill/>
                  </a:tcPr>
                </a:tc>
                <a:extLst>
                  <a:ext uri="{0D108BD9-81ED-4DB2-BD59-A6C34878D82A}">
                    <a16:rowId xmlns:a16="http://schemas.microsoft.com/office/drawing/2014/main" val="233869942"/>
                  </a:ext>
                </a:extLst>
              </a:tr>
              <a:tr h="0">
                <a:tc>
                  <a:txBody>
                    <a:bodyPr/>
                    <a:lstStyle/>
                    <a:p>
                      <a:r>
                        <a:rPr lang="it-IT" sz="2400" b="1"/>
                        <a:t>First-Order Logic</a:t>
                      </a:r>
                      <a:endParaRPr lang="it-IT" sz="2400"/>
                    </a:p>
                  </a:txBody>
                  <a:tcPr anchor="ctr">
                    <a:lnL>
                      <a:noFill/>
                    </a:lnL>
                    <a:lnR>
                      <a:noFill/>
                    </a:lnR>
                    <a:lnT>
                      <a:noFill/>
                    </a:lnT>
                    <a:lnB>
                      <a:noFill/>
                    </a:lnB>
                    <a:noFill/>
                  </a:tcPr>
                </a:tc>
                <a:tc>
                  <a:txBody>
                    <a:bodyPr/>
                    <a:lstStyle/>
                    <a:p>
                      <a:r>
                        <a:rPr lang="it-IT" sz="2400"/>
                        <a:t>Includes objects, properties, relations.</a:t>
                      </a:r>
                    </a:p>
                  </a:txBody>
                  <a:tcPr anchor="ctr">
                    <a:lnL>
                      <a:noFill/>
                    </a:lnL>
                    <a:lnR>
                      <a:noFill/>
                    </a:lnR>
                    <a:lnT>
                      <a:noFill/>
                    </a:lnT>
                    <a:lnB>
                      <a:noFill/>
                    </a:lnB>
                    <a:noFill/>
                  </a:tcPr>
                </a:tc>
                <a:tc>
                  <a:txBody>
                    <a:bodyPr/>
                    <a:lstStyle/>
                    <a:p>
                      <a:r>
                        <a:rPr lang="en-GB" sz="2400" dirty="0"/>
                        <a:t>∀x (Human(x) → Mortal(x)).</a:t>
                      </a:r>
                    </a:p>
                  </a:txBody>
                  <a:tcPr anchor="ctr">
                    <a:lnL>
                      <a:noFill/>
                    </a:lnL>
                    <a:lnR>
                      <a:noFill/>
                    </a:lnR>
                    <a:lnT>
                      <a:noFill/>
                    </a:lnT>
                    <a:lnB>
                      <a:noFill/>
                    </a:lnB>
                    <a:noFill/>
                  </a:tcPr>
                </a:tc>
                <a:extLst>
                  <a:ext uri="{0D108BD9-81ED-4DB2-BD59-A6C34878D82A}">
                    <a16:rowId xmlns:a16="http://schemas.microsoft.com/office/drawing/2014/main" val="1449983612"/>
                  </a:ext>
                </a:extLst>
              </a:tr>
              <a:tr h="0">
                <a:tc>
                  <a:txBody>
                    <a:bodyPr/>
                    <a:lstStyle/>
                    <a:p>
                      <a:r>
                        <a:rPr lang="it-IT" sz="2400" b="1"/>
                        <a:t>Temporal Logic</a:t>
                      </a:r>
                      <a:endParaRPr lang="it-IT" sz="2400"/>
                    </a:p>
                  </a:txBody>
                  <a:tcPr anchor="ctr">
                    <a:lnL>
                      <a:noFill/>
                    </a:lnL>
                    <a:lnR>
                      <a:noFill/>
                    </a:lnR>
                    <a:lnT>
                      <a:noFill/>
                    </a:lnT>
                    <a:lnB>
                      <a:noFill/>
                    </a:lnB>
                    <a:noFill/>
                  </a:tcPr>
                </a:tc>
                <a:tc>
                  <a:txBody>
                    <a:bodyPr/>
                    <a:lstStyle/>
                    <a:p>
                      <a:r>
                        <a:rPr lang="it-IT" sz="2400" dirty="0"/>
                        <a:t>Reasoning over time.</a:t>
                      </a:r>
                    </a:p>
                  </a:txBody>
                  <a:tcPr anchor="ctr">
                    <a:lnL>
                      <a:noFill/>
                    </a:lnL>
                    <a:lnR>
                      <a:noFill/>
                    </a:lnR>
                    <a:lnT>
                      <a:noFill/>
                    </a:lnT>
                    <a:lnB>
                      <a:noFill/>
                    </a:lnB>
                    <a:noFill/>
                  </a:tcPr>
                </a:tc>
                <a:tc>
                  <a:txBody>
                    <a:bodyPr/>
                    <a:lstStyle/>
                    <a:p>
                      <a:r>
                        <a:rPr lang="en-GB" sz="2400" dirty="0"/>
                        <a:t>X → F(Y) (If X happens, Y will occur later).</a:t>
                      </a:r>
                    </a:p>
                  </a:txBody>
                  <a:tcPr anchor="ctr">
                    <a:lnL>
                      <a:noFill/>
                    </a:lnL>
                    <a:lnR>
                      <a:noFill/>
                    </a:lnR>
                    <a:lnT>
                      <a:noFill/>
                    </a:lnT>
                    <a:lnB>
                      <a:noFill/>
                    </a:lnB>
                    <a:noFill/>
                  </a:tcPr>
                </a:tc>
                <a:extLst>
                  <a:ext uri="{0D108BD9-81ED-4DB2-BD59-A6C34878D82A}">
                    <a16:rowId xmlns:a16="http://schemas.microsoft.com/office/drawing/2014/main" val="3998285285"/>
                  </a:ext>
                </a:extLst>
              </a:tr>
            </a:tbl>
          </a:graphicData>
        </a:graphic>
      </p:graphicFrame>
      <p:sp>
        <p:nvSpPr>
          <p:cNvPr id="6" name="TextBox 5">
            <a:extLst>
              <a:ext uri="{FF2B5EF4-FFF2-40B4-BE49-F238E27FC236}">
                <a16:creationId xmlns:a16="http://schemas.microsoft.com/office/drawing/2014/main" id="{9B60B64D-600F-8B04-1667-B518179EBFE0}"/>
              </a:ext>
            </a:extLst>
          </p:cNvPr>
          <p:cNvSpPr txBox="1"/>
          <p:nvPr/>
        </p:nvSpPr>
        <p:spPr>
          <a:xfrm>
            <a:off x="838200" y="4705647"/>
            <a:ext cx="10515599" cy="1569660"/>
          </a:xfrm>
          <a:prstGeom prst="rect">
            <a:avLst/>
          </a:prstGeom>
          <a:noFill/>
        </p:spPr>
        <p:txBody>
          <a:bodyPr wrap="square">
            <a:spAutoFit/>
          </a:bodyPr>
          <a:lstStyle/>
          <a:p>
            <a:pPr algn="just"/>
            <a:r>
              <a:rPr lang="en-GB" sz="2400" b="1" dirty="0"/>
              <a:t>Conclusion </a:t>
            </a:r>
          </a:p>
          <a:p>
            <a:pPr marL="342900" indent="-342900" algn="just">
              <a:buFont typeface="Arial" panose="020B0604020202020204" pitchFamily="34" charset="0"/>
              <a:buChar char="•"/>
            </a:pPr>
            <a:r>
              <a:rPr lang="en-GB" sz="2400" dirty="0"/>
              <a:t>Logic in AI provides the foundation for knowledge representation, reasoning, and decision-making, enabling machines to think logically and solve problems.</a:t>
            </a:r>
            <a:endParaRPr lang="en-PK" sz="2400" dirty="0"/>
          </a:p>
        </p:txBody>
      </p:sp>
    </p:spTree>
    <p:extLst>
      <p:ext uri="{BB962C8B-B14F-4D97-AF65-F5344CB8AC3E}">
        <p14:creationId xmlns:p14="http://schemas.microsoft.com/office/powerpoint/2010/main" val="24728780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7700F-C0E4-5C84-2E0A-75B145621E43}"/>
              </a:ext>
            </a:extLst>
          </p:cNvPr>
          <p:cNvSpPr>
            <a:spLocks noGrp="1"/>
          </p:cNvSpPr>
          <p:nvPr>
            <p:ph type="title"/>
          </p:nvPr>
        </p:nvSpPr>
        <p:spPr>
          <a:xfrm>
            <a:off x="838200" y="365125"/>
            <a:ext cx="10515600" cy="783737"/>
          </a:xfrm>
        </p:spPr>
        <p:txBody>
          <a:bodyPr/>
          <a:lstStyle/>
          <a:p>
            <a:r>
              <a:rPr lang="en-GB" b="1" dirty="0"/>
              <a:t>Example of Logic in AI</a:t>
            </a:r>
            <a:endParaRPr lang="en-PK" b="1" dirty="0"/>
          </a:p>
        </p:txBody>
      </p:sp>
      <p:sp>
        <p:nvSpPr>
          <p:cNvPr id="3" name="Content Placeholder 2">
            <a:extLst>
              <a:ext uri="{FF2B5EF4-FFF2-40B4-BE49-F238E27FC236}">
                <a16:creationId xmlns:a16="http://schemas.microsoft.com/office/drawing/2014/main" id="{8D8EBF2A-7EAB-22BF-3C3D-440498592B4D}"/>
              </a:ext>
            </a:extLst>
          </p:cNvPr>
          <p:cNvSpPr>
            <a:spLocks noGrp="1"/>
          </p:cNvSpPr>
          <p:nvPr>
            <p:ph idx="1"/>
          </p:nvPr>
        </p:nvSpPr>
        <p:spPr>
          <a:xfrm>
            <a:off x="838200" y="1148862"/>
            <a:ext cx="10515600" cy="5540696"/>
          </a:xfrm>
        </p:spPr>
        <p:txBody>
          <a:bodyPr>
            <a:normAutofit lnSpcReduction="10000"/>
          </a:bodyPr>
          <a:lstStyle/>
          <a:p>
            <a:pPr marL="0" indent="0">
              <a:buNone/>
            </a:pPr>
            <a:r>
              <a:rPr lang="en-GB" b="1" dirty="0"/>
              <a:t>Scenario: Detecting Illness in a Person</a:t>
            </a:r>
          </a:p>
          <a:p>
            <a:r>
              <a:rPr lang="en-GB" dirty="0"/>
              <a:t>We will use </a:t>
            </a:r>
            <a:r>
              <a:rPr lang="en-GB" b="1" dirty="0"/>
              <a:t>Propositional Logic</a:t>
            </a:r>
            <a:r>
              <a:rPr lang="en-GB" dirty="0"/>
              <a:t> and </a:t>
            </a:r>
            <a:r>
              <a:rPr lang="en-GB" b="1" dirty="0"/>
              <a:t>First-Order Logic</a:t>
            </a:r>
            <a:r>
              <a:rPr lang="en-GB" dirty="0"/>
              <a:t> to reason about whether a person has a cold based on given facts and rules.</a:t>
            </a:r>
          </a:p>
          <a:p>
            <a:pPr marL="0" indent="0">
              <a:buNone/>
            </a:pPr>
            <a:r>
              <a:rPr lang="en-GB" b="1" dirty="0">
                <a:solidFill>
                  <a:srgbClr val="FF0000"/>
                </a:solidFill>
              </a:rPr>
              <a:t>Step 1: Knowledge Representation</a:t>
            </a:r>
          </a:p>
          <a:p>
            <a:r>
              <a:rPr lang="en-GB" b="1" dirty="0"/>
              <a:t>Given Facts (Propositional Logic):</a:t>
            </a:r>
          </a:p>
          <a:p>
            <a:pPr marL="0" indent="0">
              <a:buNone/>
            </a:pPr>
            <a:r>
              <a:rPr lang="en-GB" dirty="0"/>
              <a:t>Fact 1: If a person has a fever </a:t>
            </a:r>
            <a:r>
              <a:rPr lang="en-GB" b="1" dirty="0"/>
              <a:t>(P1)</a:t>
            </a:r>
            <a:r>
              <a:rPr lang="en-GB" dirty="0"/>
              <a:t> and a sore throat </a:t>
            </a:r>
            <a:r>
              <a:rPr lang="en-GB" b="1" dirty="0"/>
              <a:t>(P2)</a:t>
            </a:r>
            <a:r>
              <a:rPr lang="en-GB" dirty="0"/>
              <a:t>, then the person has a cold </a:t>
            </a:r>
            <a:r>
              <a:rPr lang="en-GB" b="1" dirty="0"/>
              <a:t>(P3)</a:t>
            </a:r>
            <a:r>
              <a:rPr lang="en-GB" dirty="0"/>
              <a:t>.</a:t>
            </a:r>
          </a:p>
          <a:p>
            <a:pPr lvl="1">
              <a:buFont typeface="Courier New" panose="02070309020205020404" pitchFamily="49" charset="0"/>
              <a:buChar char="o"/>
            </a:pPr>
            <a:r>
              <a:rPr lang="en-GB" dirty="0"/>
              <a:t>Represented as: P1 ∧ P2 → P3. </a:t>
            </a:r>
            <a:r>
              <a:rPr lang="en-US" dirty="0"/>
              <a:t>"If P1 (fever) and P2 (sore throat) are true, then P3 (cold) will be true."</a:t>
            </a:r>
            <a:endParaRPr lang="en-GB" dirty="0"/>
          </a:p>
          <a:p>
            <a:pPr marL="0" indent="0">
              <a:buNone/>
            </a:pPr>
            <a:r>
              <a:rPr lang="en-GB" dirty="0"/>
              <a:t>Fact 2: Person A has a fever.</a:t>
            </a:r>
          </a:p>
          <a:p>
            <a:pPr lvl="1">
              <a:buFont typeface="Courier New" panose="02070309020205020404" pitchFamily="49" charset="0"/>
              <a:buChar char="o"/>
            </a:pPr>
            <a:r>
              <a:rPr lang="en-GB" dirty="0"/>
              <a:t>Represented as: P1.</a:t>
            </a:r>
          </a:p>
          <a:p>
            <a:pPr marL="0" indent="0">
              <a:buNone/>
            </a:pPr>
            <a:r>
              <a:rPr lang="en-GB" dirty="0"/>
              <a:t>Fact 3: Person A has a sore throat.</a:t>
            </a:r>
          </a:p>
          <a:p>
            <a:pPr lvl="1">
              <a:buFont typeface="Courier New" panose="02070309020205020404" pitchFamily="49" charset="0"/>
              <a:buChar char="o"/>
            </a:pPr>
            <a:r>
              <a:rPr lang="en-GB" dirty="0"/>
              <a:t>Represented as: P2.</a:t>
            </a:r>
          </a:p>
          <a:p>
            <a:endParaRPr lang="en-PK" dirty="0"/>
          </a:p>
        </p:txBody>
      </p:sp>
    </p:spTree>
    <p:extLst>
      <p:ext uri="{BB962C8B-B14F-4D97-AF65-F5344CB8AC3E}">
        <p14:creationId xmlns:p14="http://schemas.microsoft.com/office/powerpoint/2010/main" val="33440694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9AE8C-A67E-225A-8FCF-6ACD7396A692}"/>
              </a:ext>
            </a:extLst>
          </p:cNvPr>
          <p:cNvSpPr>
            <a:spLocks noGrp="1"/>
          </p:cNvSpPr>
          <p:nvPr>
            <p:ph type="title"/>
          </p:nvPr>
        </p:nvSpPr>
        <p:spPr>
          <a:xfrm>
            <a:off x="838200" y="365126"/>
            <a:ext cx="10515600" cy="889244"/>
          </a:xfrm>
        </p:spPr>
        <p:txBody>
          <a:bodyPr/>
          <a:lstStyle/>
          <a:p>
            <a:r>
              <a:rPr lang="en-GB" dirty="0"/>
              <a:t>Example Continue……</a:t>
            </a:r>
            <a:endParaRPr lang="en-PK" dirty="0"/>
          </a:p>
        </p:txBody>
      </p:sp>
      <p:sp>
        <p:nvSpPr>
          <p:cNvPr id="3" name="Content Placeholder 2">
            <a:extLst>
              <a:ext uri="{FF2B5EF4-FFF2-40B4-BE49-F238E27FC236}">
                <a16:creationId xmlns:a16="http://schemas.microsoft.com/office/drawing/2014/main" id="{95252911-3042-940A-843C-AA64BE4D4841}"/>
              </a:ext>
            </a:extLst>
          </p:cNvPr>
          <p:cNvSpPr>
            <a:spLocks noGrp="1"/>
          </p:cNvSpPr>
          <p:nvPr>
            <p:ph idx="1"/>
          </p:nvPr>
        </p:nvSpPr>
        <p:spPr>
          <a:xfrm>
            <a:off x="838200" y="1254370"/>
            <a:ext cx="10713720" cy="5481710"/>
          </a:xfrm>
        </p:spPr>
        <p:txBody>
          <a:bodyPr>
            <a:normAutofit lnSpcReduction="10000"/>
          </a:bodyPr>
          <a:lstStyle/>
          <a:p>
            <a:pPr marL="0" indent="0">
              <a:buNone/>
            </a:pPr>
            <a:r>
              <a:rPr lang="en-GB" b="1" dirty="0">
                <a:solidFill>
                  <a:srgbClr val="FF0000"/>
                </a:solidFill>
              </a:rPr>
              <a:t>Step 2: Representation in First-Order Logic (FOL)</a:t>
            </a:r>
          </a:p>
          <a:p>
            <a:r>
              <a:rPr lang="en-GB" dirty="0"/>
              <a:t>We now extend the problem using </a:t>
            </a:r>
            <a:r>
              <a:rPr lang="en-GB" b="1" dirty="0"/>
              <a:t>First-Order Logic</a:t>
            </a:r>
            <a:r>
              <a:rPr lang="en-GB" dirty="0"/>
              <a:t> </a:t>
            </a:r>
            <a:r>
              <a:rPr lang="en-US" dirty="0"/>
              <a:t>which allows us to express relationships with objects (persons) and properties (fever, sore throat, cold).</a:t>
            </a:r>
            <a:endParaRPr lang="en-GB" dirty="0"/>
          </a:p>
          <a:p>
            <a:pPr>
              <a:buFont typeface="Arial" panose="020B0604020202020204" pitchFamily="34" charset="0"/>
              <a:buChar char="•"/>
            </a:pPr>
            <a:r>
              <a:rPr lang="en-GB" b="1" dirty="0"/>
              <a:t>Objects</a:t>
            </a:r>
            <a:r>
              <a:rPr lang="en-GB" dirty="0"/>
              <a:t>: Persons (e.g., Person A).</a:t>
            </a:r>
          </a:p>
          <a:p>
            <a:pPr>
              <a:buFont typeface="Arial" panose="020B0604020202020204" pitchFamily="34" charset="0"/>
              <a:buChar char="•"/>
            </a:pPr>
            <a:r>
              <a:rPr lang="en-GB" b="1" dirty="0"/>
              <a:t>Properties</a:t>
            </a:r>
            <a:r>
              <a:rPr lang="en-GB" dirty="0"/>
              <a:t>: Fever(x), SoreThroat(x), Cold(x). </a:t>
            </a:r>
            <a:r>
              <a:rPr lang="en-US" dirty="0"/>
              <a:t>these describe the conditions or states of the object x.</a:t>
            </a:r>
            <a:endParaRPr lang="en-GB" dirty="0"/>
          </a:p>
          <a:p>
            <a:r>
              <a:rPr lang="en-GB" b="1" dirty="0"/>
              <a:t>FOL Representation of the Knowledge Base:</a:t>
            </a:r>
          </a:p>
          <a:p>
            <a:pPr marL="0" indent="0">
              <a:buNone/>
            </a:pPr>
            <a:r>
              <a:rPr lang="en-GB" dirty="0"/>
              <a:t>Fact 1: If a person has a fever and sore throat, they have a cold: ∀x (Fever(x)∧SoreThroat(x)→Cold(x)). </a:t>
            </a:r>
            <a:r>
              <a:rPr lang="en-US" dirty="0"/>
              <a:t>"For all x, if x has a fever and a sore throat, then x has a cold."</a:t>
            </a:r>
            <a:r>
              <a:rPr lang="en-GB" dirty="0"/>
              <a:t> </a:t>
            </a:r>
          </a:p>
          <a:p>
            <a:pPr marL="0" indent="0">
              <a:buNone/>
            </a:pPr>
            <a:r>
              <a:rPr lang="en-GB" dirty="0"/>
              <a:t>Fact 2: Person A has a fever: Fever(A). </a:t>
            </a:r>
          </a:p>
          <a:p>
            <a:pPr marL="0" indent="0">
              <a:buNone/>
            </a:pPr>
            <a:r>
              <a:rPr lang="en-GB" dirty="0"/>
              <a:t>Fact 3: Person A has a sore throat: SoreThroat(A).</a:t>
            </a:r>
          </a:p>
        </p:txBody>
      </p:sp>
    </p:spTree>
    <p:extLst>
      <p:ext uri="{BB962C8B-B14F-4D97-AF65-F5344CB8AC3E}">
        <p14:creationId xmlns:p14="http://schemas.microsoft.com/office/powerpoint/2010/main" val="31914624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09009-A0B3-2443-6A9C-5EBBF6E4A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ED9AD6-CB13-E5D7-5B12-2D2E75094425}"/>
              </a:ext>
            </a:extLst>
          </p:cNvPr>
          <p:cNvSpPr>
            <a:spLocks noGrp="1"/>
          </p:cNvSpPr>
          <p:nvPr>
            <p:ph type="title"/>
          </p:nvPr>
        </p:nvSpPr>
        <p:spPr>
          <a:xfrm>
            <a:off x="838200" y="247897"/>
            <a:ext cx="10515600" cy="666505"/>
          </a:xfrm>
        </p:spPr>
        <p:txBody>
          <a:bodyPr>
            <a:normAutofit fontScale="90000"/>
          </a:bodyPr>
          <a:lstStyle/>
          <a:p>
            <a:r>
              <a:rPr lang="en-GB" b="1" dirty="0"/>
              <a:t>Example Continue……</a:t>
            </a:r>
            <a:endParaRPr lang="en-PK" b="1" dirty="0"/>
          </a:p>
        </p:txBody>
      </p:sp>
      <p:sp>
        <p:nvSpPr>
          <p:cNvPr id="3" name="Content Placeholder 2">
            <a:extLst>
              <a:ext uri="{FF2B5EF4-FFF2-40B4-BE49-F238E27FC236}">
                <a16:creationId xmlns:a16="http://schemas.microsoft.com/office/drawing/2014/main" id="{E0CBC336-2CCD-31CA-A561-E3553C2EAFA7}"/>
              </a:ext>
            </a:extLst>
          </p:cNvPr>
          <p:cNvSpPr>
            <a:spLocks noGrp="1"/>
          </p:cNvSpPr>
          <p:nvPr>
            <p:ph idx="1"/>
          </p:nvPr>
        </p:nvSpPr>
        <p:spPr>
          <a:xfrm>
            <a:off x="838200" y="914402"/>
            <a:ext cx="10515600" cy="5578472"/>
          </a:xfrm>
        </p:spPr>
        <p:txBody>
          <a:bodyPr>
            <a:normAutofit fontScale="85000" lnSpcReduction="20000"/>
          </a:bodyPr>
          <a:lstStyle/>
          <a:p>
            <a:pPr marL="0" indent="0">
              <a:buNone/>
            </a:pPr>
            <a:r>
              <a:rPr lang="it-IT" b="1" dirty="0">
                <a:solidFill>
                  <a:srgbClr val="FF0000"/>
                </a:solidFill>
              </a:rPr>
              <a:t>Step 3: Inference (Drawing Conclusions)</a:t>
            </a:r>
          </a:p>
          <a:p>
            <a:r>
              <a:rPr lang="it-IT" dirty="0"/>
              <a:t>Using logical </a:t>
            </a:r>
            <a:r>
              <a:rPr lang="it-IT" b="1" dirty="0"/>
              <a:t>inference rules</a:t>
            </a:r>
            <a:r>
              <a:rPr lang="it-IT" dirty="0"/>
              <a:t> (like </a:t>
            </a:r>
            <a:r>
              <a:rPr lang="it-IT" b="1" dirty="0"/>
              <a:t>modus ponens</a:t>
            </a:r>
            <a:r>
              <a:rPr lang="it-IT" dirty="0"/>
              <a:t>) and </a:t>
            </a:r>
            <a:r>
              <a:rPr lang="it-IT" b="1" dirty="0"/>
              <a:t>substitution</a:t>
            </a:r>
            <a:r>
              <a:rPr lang="it-IT" dirty="0"/>
              <a:t>, we can determine if Person A has a cold.</a:t>
            </a:r>
          </a:p>
          <a:p>
            <a:r>
              <a:rPr lang="it-IT" b="1" dirty="0"/>
              <a:t>From the general rule (from Step 2):</a:t>
            </a:r>
          </a:p>
          <a:p>
            <a:pPr lvl="1"/>
            <a:r>
              <a:rPr lang="it-IT" sz="2800" dirty="0"/>
              <a:t>∀x (Fever(x) ∧ SoreThroat(x) → Cold(x)). </a:t>
            </a:r>
          </a:p>
          <a:p>
            <a:pPr lvl="1"/>
            <a:r>
              <a:rPr lang="it-IT" sz="2800" dirty="0"/>
              <a:t>Substitute x = A (Person A):</a:t>
            </a:r>
          </a:p>
          <a:p>
            <a:pPr lvl="1"/>
            <a:r>
              <a:rPr lang="it-IT" sz="2800" dirty="0"/>
              <a:t>Fever(A) ∧ SoreThroat(A) → Cold(A).</a:t>
            </a:r>
          </a:p>
          <a:p>
            <a:r>
              <a:rPr lang="it-IT" b="1" dirty="0"/>
              <a:t>From the given facts (from step 1:</a:t>
            </a:r>
          </a:p>
          <a:p>
            <a:pPr lvl="1"/>
            <a:r>
              <a:rPr lang="it-IT" sz="2800" dirty="0"/>
              <a:t>Fever(A) (Person A has a fever).</a:t>
            </a:r>
          </a:p>
          <a:p>
            <a:pPr lvl="1"/>
            <a:r>
              <a:rPr lang="it-IT" sz="2800" dirty="0"/>
              <a:t>SoreThroat(A) (Person A has a sore throat).</a:t>
            </a:r>
          </a:p>
          <a:p>
            <a:r>
              <a:rPr lang="it-IT" b="1" dirty="0"/>
              <a:t>Combine the facts:</a:t>
            </a:r>
          </a:p>
          <a:p>
            <a:pPr lvl="1"/>
            <a:r>
              <a:rPr lang="it-IT" sz="2800" dirty="0"/>
              <a:t>Fever(A) ∧ SoreThroat(A).</a:t>
            </a:r>
          </a:p>
          <a:p>
            <a:pPr marL="0" indent="0">
              <a:buNone/>
            </a:pPr>
            <a:r>
              <a:rPr lang="it-IT" b="1" dirty="0"/>
              <a:t>Apply modus ponens (a rule of inference):</a:t>
            </a:r>
          </a:p>
          <a:p>
            <a:pPr lvl="1"/>
            <a:r>
              <a:rPr lang="it-IT" sz="2800" dirty="0"/>
              <a:t>If P1 ∧ P2 → P3 and P1 ∧ P2 are true, then P3 is true.</a:t>
            </a:r>
          </a:p>
          <a:p>
            <a:pPr marL="0" indent="0">
              <a:buNone/>
            </a:pPr>
            <a:r>
              <a:rPr lang="it-IT" dirty="0"/>
              <a:t>Therefore:</a:t>
            </a:r>
          </a:p>
          <a:p>
            <a:pPr lvl="1"/>
            <a:r>
              <a:rPr lang="it-IT" sz="2800" dirty="0"/>
              <a:t>Cold(A).</a:t>
            </a:r>
          </a:p>
          <a:p>
            <a:pPr marL="0" indent="0">
              <a:buNone/>
            </a:pPr>
            <a:endParaRPr lang="en-PK" dirty="0"/>
          </a:p>
        </p:txBody>
      </p:sp>
      <p:sp>
        <p:nvSpPr>
          <p:cNvPr id="5" name="Footer Placeholder 4">
            <a:extLst>
              <a:ext uri="{FF2B5EF4-FFF2-40B4-BE49-F238E27FC236}">
                <a16:creationId xmlns:a16="http://schemas.microsoft.com/office/drawing/2014/main" id="{8E2C13D0-F2A5-F7CD-59AD-2A05BB548ED5}"/>
              </a:ext>
            </a:extLst>
          </p:cNvPr>
          <p:cNvSpPr>
            <a:spLocks noGrp="1"/>
          </p:cNvSpPr>
          <p:nvPr>
            <p:ph type="ftr" sz="quarter" idx="11"/>
          </p:nvPr>
        </p:nvSpPr>
        <p:spPr>
          <a:xfrm>
            <a:off x="838200" y="6427540"/>
            <a:ext cx="10515599" cy="365125"/>
          </a:xfrm>
        </p:spPr>
        <p:txBody>
          <a:bodyPr/>
          <a:lstStyle/>
          <a:p>
            <a:pPr algn="just"/>
            <a:r>
              <a:rPr lang="en-GB" sz="1600" b="1" dirty="0">
                <a:solidFill>
                  <a:schemeClr val="tx1"/>
                </a:solidFill>
              </a:rPr>
              <a:t>Note: Modus ponens allows one to eliminate a conditional statement from a logical proof or argument (the antecedents) and thereby not carry these antecedents forward in an ever-lengthening string of symbols.</a:t>
            </a:r>
            <a:endParaRPr lang="en-PK" sz="1600" b="1" dirty="0">
              <a:solidFill>
                <a:schemeClr val="tx1"/>
              </a:solidFill>
            </a:endParaRPr>
          </a:p>
        </p:txBody>
      </p:sp>
    </p:spTree>
    <p:extLst>
      <p:ext uri="{BB962C8B-B14F-4D97-AF65-F5344CB8AC3E}">
        <p14:creationId xmlns:p14="http://schemas.microsoft.com/office/powerpoint/2010/main" val="15375820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E0FA2-1A4C-333C-FCF3-A562A8FF58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C534F6-0451-3926-B9C2-6FC121E14429}"/>
              </a:ext>
            </a:extLst>
          </p:cNvPr>
          <p:cNvSpPr>
            <a:spLocks noGrp="1"/>
          </p:cNvSpPr>
          <p:nvPr>
            <p:ph type="title"/>
          </p:nvPr>
        </p:nvSpPr>
        <p:spPr>
          <a:xfrm>
            <a:off x="838200" y="365126"/>
            <a:ext cx="10515600" cy="889244"/>
          </a:xfrm>
        </p:spPr>
        <p:txBody>
          <a:bodyPr/>
          <a:lstStyle/>
          <a:p>
            <a:r>
              <a:rPr lang="en-GB" dirty="0"/>
              <a:t>Example Continue……</a:t>
            </a:r>
            <a:endParaRPr lang="en-PK" dirty="0"/>
          </a:p>
        </p:txBody>
      </p:sp>
      <p:sp>
        <p:nvSpPr>
          <p:cNvPr id="3" name="Content Placeholder 2">
            <a:extLst>
              <a:ext uri="{FF2B5EF4-FFF2-40B4-BE49-F238E27FC236}">
                <a16:creationId xmlns:a16="http://schemas.microsoft.com/office/drawing/2014/main" id="{F8F9B97B-2A12-9C06-BA31-45736354C3CB}"/>
              </a:ext>
            </a:extLst>
          </p:cNvPr>
          <p:cNvSpPr>
            <a:spLocks noGrp="1"/>
          </p:cNvSpPr>
          <p:nvPr>
            <p:ph idx="1"/>
          </p:nvPr>
        </p:nvSpPr>
        <p:spPr>
          <a:xfrm>
            <a:off x="838200" y="1254370"/>
            <a:ext cx="10515600" cy="4922593"/>
          </a:xfrm>
        </p:spPr>
        <p:txBody>
          <a:bodyPr/>
          <a:lstStyle/>
          <a:p>
            <a:pPr marL="0" indent="0">
              <a:buNone/>
            </a:pPr>
            <a:r>
              <a:rPr lang="en-GB" sz="3600" b="1" dirty="0"/>
              <a:t>Step 4: Conclusion</a:t>
            </a:r>
          </a:p>
          <a:p>
            <a:r>
              <a:rPr lang="en-GB" sz="3600" dirty="0"/>
              <a:t>By applying logic, we conclude:</a:t>
            </a:r>
            <a:br>
              <a:rPr lang="en-GB" sz="3600" dirty="0"/>
            </a:br>
            <a:r>
              <a:rPr lang="en-GB" sz="3600" b="1" dirty="0"/>
              <a:t>“Person A has a cold”.</a:t>
            </a:r>
            <a:endParaRPr lang="en-GB" sz="3600" dirty="0"/>
          </a:p>
          <a:p>
            <a:endParaRPr lang="en-PK" dirty="0"/>
          </a:p>
        </p:txBody>
      </p:sp>
    </p:spTree>
    <p:extLst>
      <p:ext uri="{BB962C8B-B14F-4D97-AF65-F5344CB8AC3E}">
        <p14:creationId xmlns:p14="http://schemas.microsoft.com/office/powerpoint/2010/main" val="33169878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033DD-7D69-74D4-F1FC-F04E21B5506F}"/>
              </a:ext>
            </a:extLst>
          </p:cNvPr>
          <p:cNvSpPr>
            <a:spLocks noGrp="1"/>
          </p:cNvSpPr>
          <p:nvPr>
            <p:ph type="title"/>
          </p:nvPr>
        </p:nvSpPr>
        <p:spPr/>
        <p:txBody>
          <a:bodyPr/>
          <a:lstStyle/>
          <a:p>
            <a:r>
              <a:rPr lang="en-US" dirty="0"/>
              <a:t>Task</a:t>
            </a:r>
          </a:p>
        </p:txBody>
      </p:sp>
      <p:sp>
        <p:nvSpPr>
          <p:cNvPr id="3" name="Content Placeholder 2">
            <a:extLst>
              <a:ext uri="{FF2B5EF4-FFF2-40B4-BE49-F238E27FC236}">
                <a16:creationId xmlns:a16="http://schemas.microsoft.com/office/drawing/2014/main" id="{2B60C89D-596C-8C0A-F79D-C86E6026BB50}"/>
              </a:ext>
            </a:extLst>
          </p:cNvPr>
          <p:cNvSpPr>
            <a:spLocks noGrp="1"/>
          </p:cNvSpPr>
          <p:nvPr>
            <p:ph idx="1"/>
          </p:nvPr>
        </p:nvSpPr>
        <p:spPr/>
        <p:txBody>
          <a:bodyPr/>
          <a:lstStyle/>
          <a:p>
            <a:pPr marL="0" marR="0">
              <a:lnSpc>
                <a:spcPct val="115000"/>
              </a:lnSpc>
              <a:spcAft>
                <a:spcPts val="800"/>
              </a:spcAft>
              <a:buNone/>
            </a:pPr>
            <a:r>
              <a:rPr lang="en-US" sz="2400" b="1" kern="100" dirty="0">
                <a:effectLst/>
                <a:latin typeface="Aptos" panose="020B0004020202020204" pitchFamily="34" charset="0"/>
                <a:ea typeface="Aptos" panose="020B0004020202020204" pitchFamily="34" charset="0"/>
                <a:cs typeface="Times New Roman" panose="02020603050405020304" pitchFamily="18" charset="0"/>
              </a:rPr>
              <a:t>Scenario: Weather Prediction</a:t>
            </a:r>
            <a:br>
              <a:rPr lang="en-US" sz="2400" kern="100" dirty="0">
                <a:effectLst/>
                <a:latin typeface="Aptos" panose="020B0004020202020204" pitchFamily="34" charset="0"/>
                <a:ea typeface="Aptos" panose="020B0004020202020204" pitchFamily="34" charset="0"/>
                <a:cs typeface="Times New Roman" panose="02020603050405020304" pitchFamily="18" charset="0"/>
              </a:rPr>
            </a:br>
            <a:r>
              <a:rPr lang="en-US" sz="2400" kern="100" dirty="0">
                <a:effectLst/>
                <a:latin typeface="Aptos" panose="020B0004020202020204" pitchFamily="34" charset="0"/>
                <a:ea typeface="Aptos" panose="020B0004020202020204" pitchFamily="34" charset="0"/>
                <a:cs typeface="Times New Roman" panose="02020603050405020304" pitchFamily="18" charset="0"/>
              </a:rPr>
              <a:t>You are given the following facts:</a:t>
            </a:r>
          </a:p>
          <a:p>
            <a:pPr marL="342900" marR="0" lvl="0" indent="-342900">
              <a:lnSpc>
                <a:spcPct val="115000"/>
              </a:lnSpc>
              <a:spcAft>
                <a:spcPts val="800"/>
              </a:spcAft>
              <a:buFont typeface="+mj-lt"/>
              <a:buAutoNum type="arabicPeriod"/>
              <a:tabLst>
                <a:tab pos="457200" algn="l"/>
              </a:tabLst>
            </a:pPr>
            <a:r>
              <a:rPr lang="en-US" sz="2400" b="1" kern="100" dirty="0">
                <a:effectLst/>
                <a:latin typeface="Aptos" panose="020B0004020202020204" pitchFamily="34" charset="0"/>
                <a:ea typeface="Aptos" panose="020B0004020202020204" pitchFamily="34" charset="0"/>
                <a:cs typeface="Times New Roman" panose="02020603050405020304" pitchFamily="18" charset="0"/>
              </a:rPr>
              <a:t>If it is cloudy, it will rain.</a:t>
            </a:r>
            <a:br>
              <a:rPr lang="en-US" sz="2400" kern="100" dirty="0">
                <a:effectLst/>
                <a:latin typeface="Aptos" panose="020B0004020202020204" pitchFamily="34" charset="0"/>
                <a:ea typeface="Aptos" panose="020B0004020202020204" pitchFamily="34" charset="0"/>
                <a:cs typeface="Times New Roman" panose="02020603050405020304" pitchFamily="18" charset="0"/>
              </a:rPr>
            </a:br>
            <a:r>
              <a:rPr lang="en-US" sz="2400" kern="100" dirty="0">
                <a:effectLst/>
                <a:latin typeface="Aptos" panose="020B0004020202020204" pitchFamily="34" charset="0"/>
                <a:ea typeface="Aptos" panose="020B0004020202020204" pitchFamily="34" charset="0"/>
                <a:cs typeface="Times New Roman" panose="02020603050405020304" pitchFamily="18" charset="0"/>
              </a:rPr>
              <a:t>C→R</a:t>
            </a:r>
          </a:p>
          <a:p>
            <a:pPr marL="342900" marR="0" lvl="0" indent="-342900">
              <a:lnSpc>
                <a:spcPct val="115000"/>
              </a:lnSpc>
              <a:spcAft>
                <a:spcPts val="800"/>
              </a:spcAft>
              <a:buFont typeface="+mj-lt"/>
              <a:buAutoNum type="arabicPeriod"/>
              <a:tabLst>
                <a:tab pos="457200" algn="l"/>
              </a:tabLst>
            </a:pPr>
            <a:r>
              <a:rPr lang="en-US" sz="2400" b="1" kern="100" dirty="0">
                <a:effectLst/>
                <a:latin typeface="Aptos" panose="020B0004020202020204" pitchFamily="34" charset="0"/>
                <a:ea typeface="Aptos" panose="020B0004020202020204" pitchFamily="34" charset="0"/>
                <a:cs typeface="Times New Roman" panose="02020603050405020304" pitchFamily="18" charset="0"/>
              </a:rPr>
              <a:t>It is cloudy today.</a:t>
            </a:r>
            <a:br>
              <a:rPr lang="en-US" sz="2400" kern="100" dirty="0">
                <a:effectLst/>
                <a:latin typeface="Aptos" panose="020B0004020202020204" pitchFamily="34" charset="0"/>
                <a:ea typeface="Aptos" panose="020B0004020202020204" pitchFamily="34" charset="0"/>
                <a:cs typeface="Times New Roman" panose="02020603050405020304" pitchFamily="18" charset="0"/>
              </a:rPr>
            </a:br>
            <a:r>
              <a:rPr lang="en-US" sz="2400" kern="100" dirty="0">
                <a:effectLst/>
                <a:latin typeface="Aptos" panose="020B0004020202020204" pitchFamily="34" charset="0"/>
                <a:ea typeface="Aptos" panose="020B0004020202020204" pitchFamily="34" charset="0"/>
                <a:cs typeface="Times New Roman" panose="02020603050405020304" pitchFamily="18" charset="0"/>
              </a:rPr>
              <a:t>C</a:t>
            </a:r>
          </a:p>
          <a:p>
            <a:pPr marL="0" marR="0">
              <a:lnSpc>
                <a:spcPct val="115000"/>
              </a:lnSpc>
              <a:spcAft>
                <a:spcPts val="800"/>
              </a:spcAft>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Using logical reasoning, </a:t>
            </a:r>
            <a:r>
              <a:rPr lang="en-US" sz="2400" b="1" kern="100" dirty="0">
                <a:effectLst/>
                <a:latin typeface="Aptos" panose="020B0004020202020204" pitchFamily="34" charset="0"/>
                <a:ea typeface="Aptos" panose="020B0004020202020204" pitchFamily="34" charset="0"/>
                <a:cs typeface="Times New Roman" panose="02020603050405020304" pitchFamily="18" charset="0"/>
              </a:rPr>
              <a:t>will it rain today?</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 </a:t>
            </a:r>
            <a:endParaRPr lang="en-US" dirty="0"/>
          </a:p>
        </p:txBody>
      </p:sp>
    </p:spTree>
    <p:extLst>
      <p:ext uri="{BB962C8B-B14F-4D97-AF65-F5344CB8AC3E}">
        <p14:creationId xmlns:p14="http://schemas.microsoft.com/office/powerpoint/2010/main" val="13638847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9BDF1F-21E3-3861-2B76-22626A7E92E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C3467B-5C8D-9AA0-3575-249D83DA466C}"/>
              </a:ext>
            </a:extLst>
          </p:cNvPr>
          <p:cNvSpPr>
            <a:spLocks noGrp="1"/>
          </p:cNvSpPr>
          <p:nvPr>
            <p:ph type="title"/>
          </p:nvPr>
        </p:nvSpPr>
        <p:spPr>
          <a:xfrm>
            <a:off x="466722" y="586855"/>
            <a:ext cx="3201366" cy="3387497"/>
          </a:xfrm>
        </p:spPr>
        <p:txBody>
          <a:bodyPr anchor="b">
            <a:normAutofit/>
          </a:bodyPr>
          <a:lstStyle/>
          <a:p>
            <a:pPr algn="ctr"/>
            <a:r>
              <a:rPr lang="it-IT" sz="4000" b="1" dirty="0">
                <a:solidFill>
                  <a:srgbClr val="FFFFFF"/>
                </a:solidFill>
              </a:rPr>
              <a:t>Reasoning in AI</a:t>
            </a:r>
            <a:endParaRPr lang="en-PK" sz="4000" b="1" dirty="0">
              <a:solidFill>
                <a:srgbClr val="FFFFFF"/>
              </a:solidFill>
            </a:endParaRPr>
          </a:p>
        </p:txBody>
      </p:sp>
      <p:sp>
        <p:nvSpPr>
          <p:cNvPr id="3" name="Content Placeholder 2">
            <a:extLst>
              <a:ext uri="{FF2B5EF4-FFF2-40B4-BE49-F238E27FC236}">
                <a16:creationId xmlns:a16="http://schemas.microsoft.com/office/drawing/2014/main" id="{CF228E42-15B2-5D4A-CF16-657AF085D14A}"/>
              </a:ext>
            </a:extLst>
          </p:cNvPr>
          <p:cNvSpPr>
            <a:spLocks noGrp="1"/>
          </p:cNvSpPr>
          <p:nvPr>
            <p:ph idx="1"/>
          </p:nvPr>
        </p:nvSpPr>
        <p:spPr>
          <a:xfrm>
            <a:off x="4367695" y="217714"/>
            <a:ext cx="6997911" cy="5977813"/>
          </a:xfrm>
        </p:spPr>
        <p:txBody>
          <a:bodyPr anchor="ctr">
            <a:normAutofit fontScale="92500"/>
          </a:bodyPr>
          <a:lstStyle/>
          <a:p>
            <a:pPr marL="0" indent="0">
              <a:buNone/>
            </a:pPr>
            <a:r>
              <a:rPr lang="en-GB" sz="2600" b="1" dirty="0"/>
              <a:t>Definition:</a:t>
            </a:r>
            <a:endParaRPr lang="en-GB" sz="2600" dirty="0"/>
          </a:p>
          <a:p>
            <a:pPr marL="285750" indent="-285750"/>
            <a:r>
              <a:rPr lang="en-GB" sz="2600" dirty="0"/>
              <a:t>Reasoning is the process of deriving conclusions, making decisions, and solving problems based on available information, knowledge, and rules.</a:t>
            </a:r>
          </a:p>
          <a:p>
            <a:pPr marL="0" indent="0">
              <a:buNone/>
            </a:pPr>
            <a:r>
              <a:rPr lang="en-GB" sz="2600" b="1" dirty="0"/>
              <a:t>Importance:</a:t>
            </a:r>
            <a:endParaRPr lang="en-GB" sz="2600" dirty="0"/>
          </a:p>
          <a:p>
            <a:pPr marL="285750" indent="-285750"/>
            <a:r>
              <a:rPr lang="en-GB" sz="2600" dirty="0"/>
              <a:t>Enables AI systems to make logical deductions, analyse data, and adapt to new situations.</a:t>
            </a:r>
          </a:p>
          <a:p>
            <a:pPr marL="0" indent="0">
              <a:buNone/>
            </a:pPr>
            <a:r>
              <a:rPr lang="en-GB" sz="2600" b="1" dirty="0"/>
              <a:t>Key Types of Reasoning:</a:t>
            </a:r>
            <a:endParaRPr lang="en-GB" sz="2600" dirty="0"/>
          </a:p>
          <a:p>
            <a:pPr marL="285750" indent="-285750"/>
            <a:r>
              <a:rPr lang="en-GB" sz="2600" dirty="0"/>
              <a:t>Deductive Reasoning</a:t>
            </a:r>
          </a:p>
          <a:p>
            <a:pPr marL="285750" indent="-285750"/>
            <a:r>
              <a:rPr lang="en-GB" sz="2600" dirty="0"/>
              <a:t>Inductive Reasoning</a:t>
            </a:r>
          </a:p>
          <a:p>
            <a:pPr marL="285750" indent="-285750"/>
            <a:r>
              <a:rPr lang="en-GB" sz="2600" dirty="0"/>
              <a:t>Abductive Reasoning</a:t>
            </a:r>
          </a:p>
          <a:p>
            <a:pPr marL="285750" indent="-285750"/>
            <a:r>
              <a:rPr lang="en-GB" sz="2600" dirty="0"/>
              <a:t>Non-monotonic Reasoning</a:t>
            </a:r>
          </a:p>
          <a:p>
            <a:pPr marL="285750" indent="-285750"/>
            <a:r>
              <a:rPr lang="en-GB" sz="2600" dirty="0"/>
              <a:t>Probabilistic Reasoning</a:t>
            </a:r>
          </a:p>
          <a:p>
            <a:endParaRPr lang="en-PK" sz="2000" dirty="0"/>
          </a:p>
        </p:txBody>
      </p:sp>
    </p:spTree>
    <p:extLst>
      <p:ext uri="{BB962C8B-B14F-4D97-AF65-F5344CB8AC3E}">
        <p14:creationId xmlns:p14="http://schemas.microsoft.com/office/powerpoint/2010/main" val="28223799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80473-E607-40F6-519B-B25D9FC9426B}"/>
              </a:ext>
            </a:extLst>
          </p:cNvPr>
          <p:cNvSpPr>
            <a:spLocks noGrp="1"/>
          </p:cNvSpPr>
          <p:nvPr>
            <p:ph type="title"/>
          </p:nvPr>
        </p:nvSpPr>
        <p:spPr/>
        <p:txBody>
          <a:bodyPr/>
          <a:lstStyle/>
          <a:p>
            <a:r>
              <a:rPr lang="en-GB" b="1" dirty="0"/>
              <a:t>Deductive Reasoning</a:t>
            </a:r>
            <a:endParaRPr lang="en-PK" dirty="0"/>
          </a:p>
        </p:txBody>
      </p:sp>
      <p:sp>
        <p:nvSpPr>
          <p:cNvPr id="3" name="Content Placeholder 2">
            <a:extLst>
              <a:ext uri="{FF2B5EF4-FFF2-40B4-BE49-F238E27FC236}">
                <a16:creationId xmlns:a16="http://schemas.microsoft.com/office/drawing/2014/main" id="{E76CACD4-FDBA-4553-D1FA-57341DF8C1EF}"/>
              </a:ext>
            </a:extLst>
          </p:cNvPr>
          <p:cNvSpPr>
            <a:spLocks noGrp="1"/>
          </p:cNvSpPr>
          <p:nvPr>
            <p:ph idx="1"/>
          </p:nvPr>
        </p:nvSpPr>
        <p:spPr/>
        <p:txBody>
          <a:bodyPr/>
          <a:lstStyle/>
          <a:p>
            <a:pPr marL="0" indent="0">
              <a:buNone/>
            </a:pPr>
            <a:r>
              <a:rPr lang="en-GB" b="1" dirty="0"/>
              <a:t>Definition</a:t>
            </a:r>
          </a:p>
          <a:p>
            <a:r>
              <a:rPr lang="en-GB" dirty="0"/>
              <a:t>Derives specific conclusions from general rules or premises.</a:t>
            </a:r>
          </a:p>
          <a:p>
            <a:pPr marL="0" indent="0">
              <a:buNone/>
            </a:pPr>
            <a:r>
              <a:rPr lang="en-GB" b="1" dirty="0"/>
              <a:t>Example</a:t>
            </a:r>
            <a:endParaRPr lang="en-GB" dirty="0"/>
          </a:p>
          <a:p>
            <a:pPr marL="285750" indent="-285750"/>
            <a:r>
              <a:rPr lang="en-GB" dirty="0"/>
              <a:t>Fact: All humans are mortal.</a:t>
            </a:r>
          </a:p>
          <a:p>
            <a:pPr marL="285750" indent="-285750"/>
            <a:r>
              <a:rPr lang="en-GB" dirty="0"/>
              <a:t>Fact: Socrates is a human.</a:t>
            </a:r>
          </a:p>
          <a:p>
            <a:pPr marL="285750" indent="-285750"/>
            <a:r>
              <a:rPr lang="en-GB" b="1" dirty="0"/>
              <a:t>Conclusion:</a:t>
            </a:r>
            <a:r>
              <a:rPr lang="en-GB" dirty="0"/>
              <a:t> Socrates is mortal.</a:t>
            </a:r>
          </a:p>
          <a:p>
            <a:pPr marL="0" indent="0">
              <a:buNone/>
            </a:pPr>
            <a:r>
              <a:rPr lang="en-GB" b="1" dirty="0"/>
              <a:t>Application</a:t>
            </a:r>
          </a:p>
          <a:p>
            <a:r>
              <a:rPr lang="en-GB" dirty="0"/>
              <a:t>Rule-based expert systems.</a:t>
            </a:r>
          </a:p>
          <a:p>
            <a:pPr marL="0" indent="0">
              <a:buNone/>
            </a:pPr>
            <a:endParaRPr lang="en-PK" dirty="0"/>
          </a:p>
        </p:txBody>
      </p:sp>
    </p:spTree>
    <p:extLst>
      <p:ext uri="{BB962C8B-B14F-4D97-AF65-F5344CB8AC3E}">
        <p14:creationId xmlns:p14="http://schemas.microsoft.com/office/powerpoint/2010/main" val="38953838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51692-007B-91BE-DEEC-6BD09CFD7BBC}"/>
              </a:ext>
            </a:extLst>
          </p:cNvPr>
          <p:cNvSpPr>
            <a:spLocks noGrp="1"/>
          </p:cNvSpPr>
          <p:nvPr>
            <p:ph type="title"/>
          </p:nvPr>
        </p:nvSpPr>
        <p:spPr/>
        <p:txBody>
          <a:bodyPr/>
          <a:lstStyle/>
          <a:p>
            <a:r>
              <a:rPr lang="en-GB" b="1" dirty="0"/>
              <a:t>Inductive Reasoning</a:t>
            </a:r>
            <a:endParaRPr lang="en-PK" dirty="0"/>
          </a:p>
        </p:txBody>
      </p:sp>
      <p:sp>
        <p:nvSpPr>
          <p:cNvPr id="3" name="Content Placeholder 2">
            <a:extLst>
              <a:ext uri="{FF2B5EF4-FFF2-40B4-BE49-F238E27FC236}">
                <a16:creationId xmlns:a16="http://schemas.microsoft.com/office/drawing/2014/main" id="{D5275543-3E1F-3F66-778E-B31C93BE0BE1}"/>
              </a:ext>
            </a:extLst>
          </p:cNvPr>
          <p:cNvSpPr>
            <a:spLocks noGrp="1"/>
          </p:cNvSpPr>
          <p:nvPr>
            <p:ph idx="1"/>
          </p:nvPr>
        </p:nvSpPr>
        <p:spPr/>
        <p:txBody>
          <a:bodyPr/>
          <a:lstStyle/>
          <a:p>
            <a:pPr marL="0" indent="0" algn="just">
              <a:buNone/>
            </a:pPr>
            <a:r>
              <a:rPr lang="en-GB" b="1" dirty="0"/>
              <a:t>Definition</a:t>
            </a:r>
            <a:endParaRPr lang="en-GB" dirty="0"/>
          </a:p>
          <a:p>
            <a:pPr algn="just">
              <a:buFont typeface="Arial" panose="020B0604020202020204" pitchFamily="34" charset="0"/>
              <a:buChar char="•"/>
            </a:pPr>
            <a:r>
              <a:rPr lang="en-GB" dirty="0"/>
              <a:t>Generalizes from specific examples to form broader conclusions.</a:t>
            </a:r>
          </a:p>
          <a:p>
            <a:pPr marL="0" indent="0" algn="just">
              <a:buNone/>
            </a:pPr>
            <a:r>
              <a:rPr lang="en-GB" b="1" dirty="0"/>
              <a:t>Example:</a:t>
            </a:r>
            <a:endParaRPr lang="en-GB" dirty="0"/>
          </a:p>
          <a:p>
            <a:pPr marL="285750" indent="-285750" algn="just"/>
            <a:r>
              <a:rPr lang="en-GB" dirty="0"/>
              <a:t>Observation: All observed swans are white.</a:t>
            </a:r>
          </a:p>
          <a:p>
            <a:pPr marL="285750" indent="-285750" algn="just"/>
            <a:r>
              <a:rPr lang="en-GB" b="1" dirty="0"/>
              <a:t>Conclusion:</a:t>
            </a:r>
            <a:r>
              <a:rPr lang="en-GB" dirty="0"/>
              <a:t> All swans are white.</a:t>
            </a:r>
          </a:p>
          <a:p>
            <a:pPr marL="0" indent="0" algn="just">
              <a:buNone/>
            </a:pPr>
            <a:r>
              <a:rPr lang="en-GB" b="1" dirty="0"/>
              <a:t>Application</a:t>
            </a:r>
            <a:endParaRPr lang="en-GB" dirty="0"/>
          </a:p>
          <a:p>
            <a:pPr algn="just">
              <a:buFont typeface="Arial" panose="020B0604020202020204" pitchFamily="34" charset="0"/>
              <a:buChar char="•"/>
            </a:pPr>
            <a:r>
              <a:rPr lang="en-GB" dirty="0"/>
              <a:t>Machine learning and pattern recognition.</a:t>
            </a:r>
          </a:p>
          <a:p>
            <a:endParaRPr lang="en-PK" dirty="0"/>
          </a:p>
        </p:txBody>
      </p:sp>
    </p:spTree>
    <p:extLst>
      <p:ext uri="{BB962C8B-B14F-4D97-AF65-F5344CB8AC3E}">
        <p14:creationId xmlns:p14="http://schemas.microsoft.com/office/powerpoint/2010/main" val="9607767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7EFB3-B19D-5177-9AE9-26934922C800}"/>
              </a:ext>
            </a:extLst>
          </p:cNvPr>
          <p:cNvSpPr>
            <a:spLocks noGrp="1"/>
          </p:cNvSpPr>
          <p:nvPr>
            <p:ph type="title"/>
          </p:nvPr>
        </p:nvSpPr>
        <p:spPr/>
        <p:txBody>
          <a:bodyPr/>
          <a:lstStyle/>
          <a:p>
            <a:r>
              <a:rPr lang="en-GB" b="1" dirty="0"/>
              <a:t>Abductive Reasoning</a:t>
            </a:r>
            <a:endParaRPr lang="en-PK" dirty="0"/>
          </a:p>
        </p:txBody>
      </p:sp>
      <p:sp>
        <p:nvSpPr>
          <p:cNvPr id="3" name="Content Placeholder 2">
            <a:extLst>
              <a:ext uri="{FF2B5EF4-FFF2-40B4-BE49-F238E27FC236}">
                <a16:creationId xmlns:a16="http://schemas.microsoft.com/office/drawing/2014/main" id="{2C8DD801-2705-858D-75B9-65EC3C5D48FA}"/>
              </a:ext>
            </a:extLst>
          </p:cNvPr>
          <p:cNvSpPr>
            <a:spLocks noGrp="1"/>
          </p:cNvSpPr>
          <p:nvPr>
            <p:ph idx="1"/>
          </p:nvPr>
        </p:nvSpPr>
        <p:spPr/>
        <p:txBody>
          <a:bodyPr/>
          <a:lstStyle/>
          <a:p>
            <a:pPr marL="0" indent="0">
              <a:buNone/>
            </a:pPr>
            <a:r>
              <a:rPr lang="en-GB" b="1" dirty="0"/>
              <a:t>Definition</a:t>
            </a:r>
            <a:endParaRPr lang="en-GB" dirty="0"/>
          </a:p>
          <a:p>
            <a:pPr>
              <a:buFont typeface="Arial" panose="020B0604020202020204" pitchFamily="34" charset="0"/>
              <a:buChar char="•"/>
            </a:pPr>
            <a:r>
              <a:rPr lang="en-GB" dirty="0"/>
              <a:t>Infers the most likely explanation from observations.</a:t>
            </a:r>
          </a:p>
          <a:p>
            <a:pPr marL="0" indent="0">
              <a:buNone/>
            </a:pPr>
            <a:r>
              <a:rPr lang="en-GB" b="1" dirty="0"/>
              <a:t>Example:</a:t>
            </a:r>
            <a:endParaRPr lang="en-GB" dirty="0"/>
          </a:p>
          <a:p>
            <a:pPr marL="285750" indent="-285750"/>
            <a:r>
              <a:rPr lang="en-GB" dirty="0"/>
              <a:t>Symptom: The ground is wet.</a:t>
            </a:r>
          </a:p>
          <a:p>
            <a:pPr marL="285750" indent="-285750"/>
            <a:r>
              <a:rPr lang="en-GB" dirty="0"/>
              <a:t>Likely Explanation: It rained.</a:t>
            </a:r>
          </a:p>
          <a:p>
            <a:pPr marL="0" indent="0">
              <a:buNone/>
            </a:pPr>
            <a:r>
              <a:rPr lang="en-GB" b="1" dirty="0"/>
              <a:t>Application</a:t>
            </a:r>
          </a:p>
          <a:p>
            <a:r>
              <a:rPr lang="en-GB" dirty="0"/>
              <a:t>Diagnosis systems, like in medical AI.</a:t>
            </a:r>
          </a:p>
          <a:p>
            <a:endParaRPr lang="en-PK" dirty="0"/>
          </a:p>
        </p:txBody>
      </p:sp>
    </p:spTree>
    <p:extLst>
      <p:ext uri="{BB962C8B-B14F-4D97-AF65-F5344CB8AC3E}">
        <p14:creationId xmlns:p14="http://schemas.microsoft.com/office/powerpoint/2010/main" val="22954859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D1FA6-9166-D36A-36F8-94655ED2C17D}"/>
              </a:ext>
            </a:extLst>
          </p:cNvPr>
          <p:cNvSpPr>
            <a:spLocks noGrp="1"/>
          </p:cNvSpPr>
          <p:nvPr>
            <p:ph type="title"/>
          </p:nvPr>
        </p:nvSpPr>
        <p:spPr/>
        <p:txBody>
          <a:bodyPr/>
          <a:lstStyle/>
          <a:p>
            <a:r>
              <a:rPr lang="en-GB" b="1" dirty="0"/>
              <a:t>Non-monotonic Reasoning</a:t>
            </a:r>
            <a:endParaRPr lang="en-PK" dirty="0"/>
          </a:p>
        </p:txBody>
      </p:sp>
      <p:sp>
        <p:nvSpPr>
          <p:cNvPr id="3" name="Content Placeholder 2">
            <a:extLst>
              <a:ext uri="{FF2B5EF4-FFF2-40B4-BE49-F238E27FC236}">
                <a16:creationId xmlns:a16="http://schemas.microsoft.com/office/drawing/2014/main" id="{48362DA6-33D0-031A-43CF-ABD220D9D36F}"/>
              </a:ext>
            </a:extLst>
          </p:cNvPr>
          <p:cNvSpPr>
            <a:spLocks noGrp="1"/>
          </p:cNvSpPr>
          <p:nvPr>
            <p:ph idx="1"/>
          </p:nvPr>
        </p:nvSpPr>
        <p:spPr/>
        <p:txBody>
          <a:bodyPr/>
          <a:lstStyle/>
          <a:p>
            <a:pPr marL="0" indent="0">
              <a:buNone/>
            </a:pPr>
            <a:r>
              <a:rPr lang="en-GB" b="1" dirty="0"/>
              <a:t>Definition:</a:t>
            </a:r>
          </a:p>
          <a:p>
            <a:r>
              <a:rPr lang="en-GB" dirty="0"/>
              <a:t>Allows for conclusions to change as new information becomes available.</a:t>
            </a:r>
          </a:p>
          <a:p>
            <a:pPr marL="0" indent="0">
              <a:buNone/>
            </a:pPr>
            <a:r>
              <a:rPr lang="en-GB" b="1" dirty="0"/>
              <a:t>Example:</a:t>
            </a:r>
            <a:endParaRPr lang="en-GB" dirty="0"/>
          </a:p>
          <a:p>
            <a:pPr marL="285750" indent="-285750"/>
            <a:r>
              <a:rPr lang="en-GB" dirty="0"/>
              <a:t>Initially: Birds can fly.</a:t>
            </a:r>
          </a:p>
          <a:p>
            <a:pPr marL="285750" indent="-285750"/>
            <a:r>
              <a:rPr lang="en-GB" dirty="0"/>
              <a:t>New Fact: Penguins are birds but cannot fly.</a:t>
            </a:r>
          </a:p>
          <a:p>
            <a:pPr marL="0" indent="0">
              <a:buNone/>
            </a:pPr>
            <a:r>
              <a:rPr lang="en-GB" b="1" dirty="0"/>
              <a:t>Application</a:t>
            </a:r>
            <a:endParaRPr lang="en-GB" dirty="0"/>
          </a:p>
          <a:p>
            <a:pPr>
              <a:buFont typeface="Arial" panose="020B0604020202020204" pitchFamily="34" charset="0"/>
              <a:buChar char="•"/>
            </a:pPr>
            <a:r>
              <a:rPr lang="en-GB" dirty="0"/>
              <a:t>Handling incomplete or changing knowledge</a:t>
            </a:r>
          </a:p>
          <a:p>
            <a:endParaRPr lang="en-PK" dirty="0"/>
          </a:p>
        </p:txBody>
      </p:sp>
    </p:spTree>
    <p:extLst>
      <p:ext uri="{BB962C8B-B14F-4D97-AF65-F5344CB8AC3E}">
        <p14:creationId xmlns:p14="http://schemas.microsoft.com/office/powerpoint/2010/main" val="978277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F0BD6-757B-9BC1-4552-55A22CF0B243}"/>
              </a:ext>
            </a:extLst>
          </p:cNvPr>
          <p:cNvSpPr>
            <a:spLocks noGrp="1"/>
          </p:cNvSpPr>
          <p:nvPr>
            <p:ph type="title"/>
          </p:nvPr>
        </p:nvSpPr>
        <p:spPr/>
        <p:txBody>
          <a:bodyPr/>
          <a:lstStyle/>
          <a:p>
            <a:r>
              <a:rPr lang="en-GB" b="1" dirty="0"/>
              <a:t>Probabilistic Reasoning</a:t>
            </a:r>
            <a:endParaRPr lang="en-PK" dirty="0"/>
          </a:p>
        </p:txBody>
      </p:sp>
      <p:sp>
        <p:nvSpPr>
          <p:cNvPr id="3" name="Content Placeholder 2">
            <a:extLst>
              <a:ext uri="{FF2B5EF4-FFF2-40B4-BE49-F238E27FC236}">
                <a16:creationId xmlns:a16="http://schemas.microsoft.com/office/drawing/2014/main" id="{78242A11-388C-24BE-A39E-F007ABB8C9E6}"/>
              </a:ext>
            </a:extLst>
          </p:cNvPr>
          <p:cNvSpPr>
            <a:spLocks noGrp="1"/>
          </p:cNvSpPr>
          <p:nvPr>
            <p:ph idx="1"/>
          </p:nvPr>
        </p:nvSpPr>
        <p:spPr/>
        <p:txBody>
          <a:bodyPr/>
          <a:lstStyle/>
          <a:p>
            <a:pPr marL="0" indent="0">
              <a:buNone/>
            </a:pPr>
            <a:r>
              <a:rPr lang="en-GB" b="1" dirty="0"/>
              <a:t>Definition</a:t>
            </a:r>
            <a:endParaRPr lang="en-GB" dirty="0"/>
          </a:p>
          <a:p>
            <a:pPr>
              <a:buFont typeface="Arial" panose="020B0604020202020204" pitchFamily="34" charset="0"/>
              <a:buChar char="•"/>
            </a:pPr>
            <a:r>
              <a:rPr lang="en-GB" dirty="0"/>
              <a:t>Uses probability to deal with uncertainty in conclusions.</a:t>
            </a:r>
          </a:p>
          <a:p>
            <a:pPr marL="0" indent="0">
              <a:buNone/>
            </a:pPr>
            <a:r>
              <a:rPr lang="en-GB" b="1" dirty="0"/>
              <a:t>Example:</a:t>
            </a:r>
            <a:endParaRPr lang="en-GB" dirty="0"/>
          </a:p>
          <a:p>
            <a:pPr marL="285750" indent="-285750"/>
            <a:r>
              <a:rPr lang="en-GB" dirty="0"/>
              <a:t>Symptom: Fever and sore throat.</a:t>
            </a:r>
          </a:p>
          <a:p>
            <a:pPr marL="285750" indent="-285750"/>
            <a:r>
              <a:rPr lang="en-GB" b="1" dirty="0"/>
              <a:t>Conclusion:</a:t>
            </a:r>
            <a:r>
              <a:rPr lang="en-GB" dirty="0"/>
              <a:t> Probability of cold = 80%.</a:t>
            </a:r>
          </a:p>
          <a:p>
            <a:pPr marL="0" indent="0">
              <a:buNone/>
            </a:pPr>
            <a:r>
              <a:rPr lang="en-GB" b="1" dirty="0"/>
              <a:t>Application</a:t>
            </a:r>
          </a:p>
          <a:p>
            <a:pPr>
              <a:buFont typeface="Arial" panose="020B0604020202020204" pitchFamily="34" charset="0"/>
              <a:buChar char="•"/>
            </a:pPr>
            <a:r>
              <a:rPr lang="en-GB" dirty="0"/>
              <a:t>Bayesian networks, decision-making under uncertainty</a:t>
            </a:r>
          </a:p>
          <a:p>
            <a:endParaRPr lang="en-PK" dirty="0"/>
          </a:p>
        </p:txBody>
      </p:sp>
    </p:spTree>
    <p:extLst>
      <p:ext uri="{BB962C8B-B14F-4D97-AF65-F5344CB8AC3E}">
        <p14:creationId xmlns:p14="http://schemas.microsoft.com/office/powerpoint/2010/main" val="7151429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0E166-D57C-38AA-D35C-032F304377E1}"/>
              </a:ext>
            </a:extLst>
          </p:cNvPr>
          <p:cNvSpPr>
            <a:spLocks noGrp="1"/>
          </p:cNvSpPr>
          <p:nvPr>
            <p:ph type="title"/>
          </p:nvPr>
        </p:nvSpPr>
        <p:spPr/>
        <p:txBody>
          <a:bodyPr/>
          <a:lstStyle/>
          <a:p>
            <a:r>
              <a:rPr lang="en-GB" b="1" dirty="0"/>
              <a:t>Commonsense Reasoning</a:t>
            </a:r>
            <a:endParaRPr lang="en-PK" dirty="0"/>
          </a:p>
        </p:txBody>
      </p:sp>
      <p:sp>
        <p:nvSpPr>
          <p:cNvPr id="3" name="Content Placeholder 2">
            <a:extLst>
              <a:ext uri="{FF2B5EF4-FFF2-40B4-BE49-F238E27FC236}">
                <a16:creationId xmlns:a16="http://schemas.microsoft.com/office/drawing/2014/main" id="{447359EF-7664-B8E9-42B0-F69ED7CDEBF9}"/>
              </a:ext>
            </a:extLst>
          </p:cNvPr>
          <p:cNvSpPr>
            <a:spLocks noGrp="1"/>
          </p:cNvSpPr>
          <p:nvPr>
            <p:ph idx="1"/>
          </p:nvPr>
        </p:nvSpPr>
        <p:spPr/>
        <p:txBody>
          <a:bodyPr/>
          <a:lstStyle/>
          <a:p>
            <a:pPr marL="0" indent="0">
              <a:buNone/>
            </a:pPr>
            <a:r>
              <a:rPr lang="en-GB" b="1" dirty="0"/>
              <a:t>Definition</a:t>
            </a:r>
            <a:endParaRPr lang="en-GB" dirty="0"/>
          </a:p>
          <a:p>
            <a:pPr>
              <a:buFont typeface="Arial" panose="020B0604020202020204" pitchFamily="34" charset="0"/>
              <a:buChar char="•"/>
            </a:pPr>
            <a:r>
              <a:rPr lang="en-GB" dirty="0"/>
              <a:t>Mimics human reasoning to infer obvious conclusions.</a:t>
            </a:r>
          </a:p>
          <a:p>
            <a:pPr marL="0" indent="0">
              <a:buNone/>
            </a:pPr>
            <a:r>
              <a:rPr lang="en-GB" b="1" dirty="0"/>
              <a:t>Example</a:t>
            </a:r>
            <a:endParaRPr lang="en-GB" dirty="0"/>
          </a:p>
          <a:p>
            <a:pPr marL="285750" indent="-285750"/>
            <a:r>
              <a:rPr lang="en-GB" dirty="0"/>
              <a:t>If a glass falls, it is likely to break.</a:t>
            </a:r>
          </a:p>
          <a:p>
            <a:pPr marL="0" indent="0">
              <a:buNone/>
            </a:pPr>
            <a:r>
              <a:rPr lang="en-GB" b="1" dirty="0"/>
              <a:t>Application</a:t>
            </a:r>
          </a:p>
          <a:p>
            <a:r>
              <a:rPr lang="en-GB" dirty="0"/>
              <a:t>NLP, Robotics.</a:t>
            </a:r>
          </a:p>
          <a:p>
            <a:endParaRPr lang="en-PK" dirty="0"/>
          </a:p>
        </p:txBody>
      </p:sp>
    </p:spTree>
    <p:extLst>
      <p:ext uri="{BB962C8B-B14F-4D97-AF65-F5344CB8AC3E}">
        <p14:creationId xmlns:p14="http://schemas.microsoft.com/office/powerpoint/2010/main" val="36806185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485C3-0DFA-48D6-25C0-EAEE712D1BAB}"/>
              </a:ext>
            </a:extLst>
          </p:cNvPr>
          <p:cNvSpPr>
            <a:spLocks noGrp="1"/>
          </p:cNvSpPr>
          <p:nvPr>
            <p:ph type="title"/>
          </p:nvPr>
        </p:nvSpPr>
        <p:spPr>
          <a:xfrm>
            <a:off x="838200" y="365126"/>
            <a:ext cx="10515600" cy="689952"/>
          </a:xfrm>
        </p:spPr>
        <p:txBody>
          <a:bodyPr>
            <a:normAutofit/>
          </a:bodyPr>
          <a:lstStyle/>
          <a:p>
            <a:r>
              <a:rPr lang="en-GB" sz="4000" b="1" dirty="0"/>
              <a:t>Reasoning in AI – Case Study: Expert System</a:t>
            </a:r>
            <a:endParaRPr lang="en-PK" sz="4000" b="1" dirty="0"/>
          </a:p>
        </p:txBody>
      </p:sp>
      <p:sp>
        <p:nvSpPr>
          <p:cNvPr id="3" name="Content Placeholder 2">
            <a:extLst>
              <a:ext uri="{FF2B5EF4-FFF2-40B4-BE49-F238E27FC236}">
                <a16:creationId xmlns:a16="http://schemas.microsoft.com/office/drawing/2014/main" id="{FB7617F9-1B55-A266-5B75-58499D9EAA45}"/>
              </a:ext>
            </a:extLst>
          </p:cNvPr>
          <p:cNvSpPr>
            <a:spLocks noGrp="1"/>
          </p:cNvSpPr>
          <p:nvPr>
            <p:ph idx="1"/>
          </p:nvPr>
        </p:nvSpPr>
        <p:spPr>
          <a:xfrm>
            <a:off x="838200" y="1336430"/>
            <a:ext cx="10515600" cy="5156443"/>
          </a:xfrm>
        </p:spPr>
        <p:txBody>
          <a:bodyPr>
            <a:normAutofit lnSpcReduction="10000"/>
          </a:bodyPr>
          <a:lstStyle/>
          <a:p>
            <a:pPr marL="0" indent="0">
              <a:buNone/>
            </a:pPr>
            <a:r>
              <a:rPr lang="it-IT" b="1" dirty="0"/>
              <a:t>Scenario</a:t>
            </a:r>
          </a:p>
          <a:p>
            <a:r>
              <a:rPr lang="it-IT" dirty="0"/>
              <a:t>Medical Diagnosis System Process</a:t>
            </a:r>
          </a:p>
          <a:p>
            <a:pPr marL="0" indent="0">
              <a:buNone/>
            </a:pPr>
            <a:r>
              <a:rPr lang="it-IT" b="1" dirty="0"/>
              <a:t>Input</a:t>
            </a:r>
          </a:p>
          <a:p>
            <a:r>
              <a:rPr lang="it-IT" dirty="0"/>
              <a:t>Symptoms like fever, cough, and sore throat.</a:t>
            </a:r>
          </a:p>
          <a:p>
            <a:pPr marL="0" indent="0">
              <a:buNone/>
            </a:pPr>
            <a:r>
              <a:rPr lang="it-IT" b="1" dirty="0"/>
              <a:t>Knowledge Base: </a:t>
            </a:r>
          </a:p>
          <a:p>
            <a:r>
              <a:rPr lang="it-IT" dirty="0"/>
              <a:t>Rules such as: Fever ∧ Cough → Flu</a:t>
            </a:r>
          </a:p>
          <a:p>
            <a:r>
              <a:rPr lang="it-IT" dirty="0"/>
              <a:t>Fact: SoreThroat ∧ Fever → Cold</a:t>
            </a:r>
          </a:p>
          <a:p>
            <a:pPr marL="0" indent="0">
              <a:buNone/>
            </a:pPr>
            <a:r>
              <a:rPr lang="it-IT" b="1" dirty="0"/>
              <a:t>Inference</a:t>
            </a:r>
          </a:p>
          <a:p>
            <a:r>
              <a:rPr lang="it-IT" dirty="0"/>
              <a:t>If patient has "Fever and SoreThroat," infer Cold.</a:t>
            </a:r>
          </a:p>
          <a:p>
            <a:pPr marL="0" indent="0">
              <a:buNone/>
            </a:pPr>
            <a:r>
              <a:rPr lang="it-IT" b="1" dirty="0"/>
              <a:t>Type of Reasoning</a:t>
            </a:r>
          </a:p>
          <a:p>
            <a:r>
              <a:rPr lang="it-IT" dirty="0"/>
              <a:t>Deductive and Probabilistic reasoning combined.</a:t>
            </a:r>
            <a:endParaRPr lang="en-PK" dirty="0"/>
          </a:p>
        </p:txBody>
      </p:sp>
    </p:spTree>
    <p:extLst>
      <p:ext uri="{BB962C8B-B14F-4D97-AF65-F5344CB8AC3E}">
        <p14:creationId xmlns:p14="http://schemas.microsoft.com/office/powerpoint/2010/main" val="35620007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A1761-BB13-DDD0-E743-EA92FAA1C796}"/>
              </a:ext>
            </a:extLst>
          </p:cNvPr>
          <p:cNvSpPr>
            <a:spLocks noGrp="1"/>
          </p:cNvSpPr>
          <p:nvPr>
            <p:ph type="title"/>
          </p:nvPr>
        </p:nvSpPr>
        <p:spPr>
          <a:xfrm>
            <a:off x="838200" y="365126"/>
            <a:ext cx="10515600" cy="889244"/>
          </a:xfrm>
        </p:spPr>
        <p:txBody>
          <a:bodyPr/>
          <a:lstStyle/>
          <a:p>
            <a:r>
              <a:rPr lang="en-GB" b="1" dirty="0"/>
              <a:t>Reasoning in AI – Real-World Applications</a:t>
            </a:r>
            <a:endParaRPr lang="en-PK" b="1" dirty="0"/>
          </a:p>
        </p:txBody>
      </p:sp>
      <p:sp>
        <p:nvSpPr>
          <p:cNvPr id="3" name="Content Placeholder 2">
            <a:extLst>
              <a:ext uri="{FF2B5EF4-FFF2-40B4-BE49-F238E27FC236}">
                <a16:creationId xmlns:a16="http://schemas.microsoft.com/office/drawing/2014/main" id="{23299F40-F631-5C6A-E36D-D95156A93D9C}"/>
              </a:ext>
            </a:extLst>
          </p:cNvPr>
          <p:cNvSpPr>
            <a:spLocks noGrp="1"/>
          </p:cNvSpPr>
          <p:nvPr>
            <p:ph idx="1"/>
          </p:nvPr>
        </p:nvSpPr>
        <p:spPr>
          <a:xfrm>
            <a:off x="838200" y="1383324"/>
            <a:ext cx="10515600" cy="5109550"/>
          </a:xfrm>
        </p:spPr>
        <p:txBody>
          <a:bodyPr>
            <a:normAutofit fontScale="92500" lnSpcReduction="20000"/>
          </a:bodyPr>
          <a:lstStyle/>
          <a:p>
            <a:pPr marL="0" indent="0">
              <a:buNone/>
            </a:pPr>
            <a:r>
              <a:rPr lang="en-GB" b="1" dirty="0"/>
              <a:t>Rule-Based Systems:</a:t>
            </a:r>
            <a:endParaRPr lang="en-GB" dirty="0"/>
          </a:p>
          <a:p>
            <a:pPr marL="285750" indent="-285750"/>
            <a:r>
              <a:rPr lang="en-GB" dirty="0"/>
              <a:t>Use logical rules for reasoning.</a:t>
            </a:r>
          </a:p>
          <a:p>
            <a:pPr marL="285750" indent="-285750"/>
            <a:r>
              <a:rPr lang="en-GB" dirty="0"/>
              <a:t>Examples: Expert systems, automated chatbots.</a:t>
            </a:r>
          </a:p>
          <a:p>
            <a:pPr marL="0" indent="0">
              <a:buNone/>
            </a:pPr>
            <a:r>
              <a:rPr lang="en-GB" b="1" dirty="0"/>
              <a:t>Probabilistic Systems:</a:t>
            </a:r>
            <a:endParaRPr lang="en-GB" dirty="0"/>
          </a:p>
          <a:p>
            <a:pPr marL="285750" indent="-285750"/>
            <a:r>
              <a:rPr lang="en-GB" dirty="0"/>
              <a:t>Handle uncertain data using probability.</a:t>
            </a:r>
          </a:p>
          <a:p>
            <a:pPr marL="285750" indent="-285750"/>
            <a:r>
              <a:rPr lang="en-GB" dirty="0"/>
              <a:t>Examples: Self-driving cars, weather forecasting.</a:t>
            </a:r>
          </a:p>
          <a:p>
            <a:pPr marL="0" indent="0">
              <a:buNone/>
            </a:pPr>
            <a:r>
              <a:rPr lang="en-GB" b="1" dirty="0"/>
              <a:t>Machine Learning:</a:t>
            </a:r>
            <a:endParaRPr lang="en-GB" dirty="0"/>
          </a:p>
          <a:p>
            <a:pPr marL="285750" indent="-285750"/>
            <a:r>
              <a:rPr lang="en-GB" dirty="0"/>
              <a:t>Use inductive reasoning to identify patterns.</a:t>
            </a:r>
          </a:p>
          <a:p>
            <a:pPr marL="285750" indent="-285750"/>
            <a:r>
              <a:rPr lang="en-GB" dirty="0"/>
              <a:t>Examples: Image recognition, fraud detection.</a:t>
            </a:r>
          </a:p>
          <a:p>
            <a:pPr marL="0" indent="0">
              <a:buNone/>
            </a:pPr>
            <a:r>
              <a:rPr lang="en-GB" b="1" dirty="0"/>
              <a:t>Commonsense Reasoning:</a:t>
            </a:r>
            <a:endParaRPr lang="en-GB" dirty="0"/>
          </a:p>
          <a:p>
            <a:pPr marL="285750" indent="-285750"/>
            <a:r>
              <a:rPr lang="en-GB" dirty="0"/>
              <a:t>Enhances NLP systems and robotics.</a:t>
            </a:r>
          </a:p>
          <a:p>
            <a:pPr marL="285750" indent="-285750"/>
            <a:r>
              <a:rPr lang="en-GB" dirty="0"/>
              <a:t>Examples: Virtual assistants like Siri, Alexa.</a:t>
            </a:r>
          </a:p>
        </p:txBody>
      </p:sp>
    </p:spTree>
    <p:extLst>
      <p:ext uri="{BB962C8B-B14F-4D97-AF65-F5344CB8AC3E}">
        <p14:creationId xmlns:p14="http://schemas.microsoft.com/office/powerpoint/2010/main" val="30481136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0B816-5554-0BCF-39BE-FD98FA944B64}"/>
              </a:ext>
            </a:extLst>
          </p:cNvPr>
          <p:cNvSpPr>
            <a:spLocks noGrp="1"/>
          </p:cNvSpPr>
          <p:nvPr>
            <p:ph type="title"/>
          </p:nvPr>
        </p:nvSpPr>
        <p:spPr/>
        <p:txBody>
          <a:bodyPr/>
          <a:lstStyle/>
          <a:p>
            <a:r>
              <a:rPr lang="en-GB" b="1" dirty="0"/>
              <a:t>Summary of Reasoning in AI</a:t>
            </a:r>
            <a:endParaRPr lang="en-PK" b="1" dirty="0"/>
          </a:p>
        </p:txBody>
      </p:sp>
      <p:sp>
        <p:nvSpPr>
          <p:cNvPr id="3" name="Content Placeholder 2">
            <a:extLst>
              <a:ext uri="{FF2B5EF4-FFF2-40B4-BE49-F238E27FC236}">
                <a16:creationId xmlns:a16="http://schemas.microsoft.com/office/drawing/2014/main" id="{6DBB5D34-E260-29B8-80B1-3EE3EBA156DC}"/>
              </a:ext>
            </a:extLst>
          </p:cNvPr>
          <p:cNvSpPr>
            <a:spLocks noGrp="1"/>
          </p:cNvSpPr>
          <p:nvPr>
            <p:ph idx="1"/>
          </p:nvPr>
        </p:nvSpPr>
        <p:spPr/>
        <p:txBody>
          <a:bodyPr/>
          <a:lstStyle/>
          <a:p>
            <a:pPr algn="just"/>
            <a:r>
              <a:rPr lang="en-GB" dirty="0"/>
              <a:t>Reasoning enables AI to process knowledge, solve problems, and make decisions.</a:t>
            </a:r>
          </a:p>
          <a:p>
            <a:pPr algn="just"/>
            <a:r>
              <a:rPr lang="en-GB" dirty="0"/>
              <a:t>Different types of reasoning handle various types of data and uncertainty.</a:t>
            </a:r>
          </a:p>
          <a:p>
            <a:pPr algn="just"/>
            <a:r>
              <a:rPr lang="en-GB" dirty="0"/>
              <a:t>Real-world AI applications use a combination of deductive, inductive, and probabilistic reasoning.</a:t>
            </a:r>
            <a:endParaRPr lang="en-PK" dirty="0"/>
          </a:p>
        </p:txBody>
      </p:sp>
    </p:spTree>
    <p:extLst>
      <p:ext uri="{BB962C8B-B14F-4D97-AF65-F5344CB8AC3E}">
        <p14:creationId xmlns:p14="http://schemas.microsoft.com/office/powerpoint/2010/main" val="35219094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83A8928B-36D4-2DC2-0F68-0CC2897F0BDD}"/>
              </a:ext>
            </a:extLst>
          </p:cNvPr>
          <p:cNvSpPr>
            <a:spLocks noChangeArrowheads="1"/>
          </p:cNvSpPr>
          <p:nvPr/>
        </p:nvSpPr>
        <p:spPr bwMode="auto">
          <a:xfrm>
            <a:off x="1072662" y="42432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794EBB57-10E5-1962-6593-700FD5EF137B}"/>
              </a:ext>
            </a:extLst>
          </p:cNvPr>
          <p:cNvSpPr txBox="1"/>
          <p:nvPr/>
        </p:nvSpPr>
        <p:spPr>
          <a:xfrm>
            <a:off x="750277" y="1811830"/>
            <a:ext cx="10691445" cy="2677656"/>
          </a:xfrm>
          <a:prstGeom prst="rect">
            <a:avLst/>
          </a:prstGeom>
          <a:noFill/>
        </p:spPr>
        <p:txBody>
          <a:bodyPr wrap="square">
            <a:spAutoFit/>
          </a:bodyPr>
          <a:lstStyle/>
          <a:p>
            <a:pPr algn="ctr"/>
            <a:r>
              <a:rPr lang="it-IT" sz="4000" b="1" i="1" dirty="0"/>
              <a:t>Example Scenario: AI-based Animal Classification</a:t>
            </a:r>
            <a:endParaRPr lang="en-GB" sz="4000" b="1" i="1" dirty="0"/>
          </a:p>
          <a:p>
            <a:pPr algn="ctr"/>
            <a:r>
              <a:rPr lang="en-GB" sz="3200" b="1" u="sng" dirty="0"/>
              <a:t>Goal:</a:t>
            </a:r>
            <a:br>
              <a:rPr lang="en-GB" sz="2400" dirty="0"/>
            </a:br>
            <a:r>
              <a:rPr lang="en-GB" sz="2800" dirty="0"/>
              <a:t>An AI system is designed to classify animals based on input attributes like "has feathers," "can fly," and "lays eggs.“</a:t>
            </a:r>
            <a:endParaRPr lang="en-GB" sz="2400" dirty="0"/>
          </a:p>
        </p:txBody>
      </p:sp>
    </p:spTree>
    <p:extLst>
      <p:ext uri="{BB962C8B-B14F-4D97-AF65-F5344CB8AC3E}">
        <p14:creationId xmlns:p14="http://schemas.microsoft.com/office/powerpoint/2010/main" val="32770016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7759C-AFCE-993A-1F87-87DADD88DE2D}"/>
              </a:ext>
            </a:extLst>
          </p:cNvPr>
          <p:cNvSpPr>
            <a:spLocks noGrp="1"/>
          </p:cNvSpPr>
          <p:nvPr>
            <p:ph type="title"/>
          </p:nvPr>
        </p:nvSpPr>
        <p:spPr/>
        <p:txBody>
          <a:bodyPr/>
          <a:lstStyle/>
          <a:p>
            <a:r>
              <a:rPr lang="en-GB" b="1" dirty="0"/>
              <a:t>Step 1: Representation of Data</a:t>
            </a:r>
            <a:endParaRPr lang="en-PK" dirty="0"/>
          </a:p>
        </p:txBody>
      </p:sp>
      <p:sp>
        <p:nvSpPr>
          <p:cNvPr id="3" name="Content Placeholder 2">
            <a:extLst>
              <a:ext uri="{FF2B5EF4-FFF2-40B4-BE49-F238E27FC236}">
                <a16:creationId xmlns:a16="http://schemas.microsoft.com/office/drawing/2014/main" id="{4BDEE912-F96A-0662-F938-0FD37F00CA58}"/>
              </a:ext>
            </a:extLst>
          </p:cNvPr>
          <p:cNvSpPr>
            <a:spLocks noGrp="1"/>
          </p:cNvSpPr>
          <p:nvPr>
            <p:ph idx="1"/>
          </p:nvPr>
        </p:nvSpPr>
        <p:spPr/>
        <p:txBody>
          <a:bodyPr/>
          <a:lstStyle/>
          <a:p>
            <a:r>
              <a:rPr lang="en-GB" b="1" dirty="0"/>
              <a:t>Representation</a:t>
            </a:r>
            <a:r>
              <a:rPr lang="en-GB" dirty="0"/>
              <a:t> involves encoding information in a structured way that the AI system can understand.</a:t>
            </a:r>
          </a:p>
          <a:p>
            <a:endParaRPr lang="en-PK" dirty="0"/>
          </a:p>
        </p:txBody>
      </p:sp>
      <p:graphicFrame>
        <p:nvGraphicFramePr>
          <p:cNvPr id="6" name="Table 5">
            <a:extLst>
              <a:ext uri="{FF2B5EF4-FFF2-40B4-BE49-F238E27FC236}">
                <a16:creationId xmlns:a16="http://schemas.microsoft.com/office/drawing/2014/main" id="{3415722F-85C6-EEFD-3CA4-6E1B2622B93A}"/>
              </a:ext>
            </a:extLst>
          </p:cNvPr>
          <p:cNvGraphicFramePr>
            <a:graphicFrameLocks noGrp="1"/>
          </p:cNvGraphicFramePr>
          <p:nvPr>
            <p:extLst>
              <p:ext uri="{D42A27DB-BD31-4B8C-83A1-F6EECF244321}">
                <p14:modId xmlns:p14="http://schemas.microsoft.com/office/powerpoint/2010/main" val="1226597291"/>
              </p:ext>
            </p:extLst>
          </p:nvPr>
        </p:nvGraphicFramePr>
        <p:xfrm>
          <a:off x="838200" y="2812573"/>
          <a:ext cx="10515600" cy="1828800"/>
        </p:xfrm>
        <a:graphic>
          <a:graphicData uri="http://schemas.openxmlformats.org/drawingml/2006/table">
            <a:tbl>
              <a:tblPr/>
              <a:tblGrid>
                <a:gridCol w="2103120">
                  <a:extLst>
                    <a:ext uri="{9D8B030D-6E8A-4147-A177-3AD203B41FA5}">
                      <a16:colId xmlns:a16="http://schemas.microsoft.com/office/drawing/2014/main" val="157351645"/>
                    </a:ext>
                  </a:extLst>
                </a:gridCol>
                <a:gridCol w="2103120">
                  <a:extLst>
                    <a:ext uri="{9D8B030D-6E8A-4147-A177-3AD203B41FA5}">
                      <a16:colId xmlns:a16="http://schemas.microsoft.com/office/drawing/2014/main" val="4166579672"/>
                    </a:ext>
                  </a:extLst>
                </a:gridCol>
                <a:gridCol w="2103120">
                  <a:extLst>
                    <a:ext uri="{9D8B030D-6E8A-4147-A177-3AD203B41FA5}">
                      <a16:colId xmlns:a16="http://schemas.microsoft.com/office/drawing/2014/main" val="3355114973"/>
                    </a:ext>
                  </a:extLst>
                </a:gridCol>
                <a:gridCol w="2103120">
                  <a:extLst>
                    <a:ext uri="{9D8B030D-6E8A-4147-A177-3AD203B41FA5}">
                      <a16:colId xmlns:a16="http://schemas.microsoft.com/office/drawing/2014/main" val="2058364748"/>
                    </a:ext>
                  </a:extLst>
                </a:gridCol>
                <a:gridCol w="2103120">
                  <a:extLst>
                    <a:ext uri="{9D8B030D-6E8A-4147-A177-3AD203B41FA5}">
                      <a16:colId xmlns:a16="http://schemas.microsoft.com/office/drawing/2014/main" val="1688833662"/>
                    </a:ext>
                  </a:extLst>
                </a:gridCol>
              </a:tblGrid>
              <a:tr h="0">
                <a:tc>
                  <a:txBody>
                    <a:bodyPr/>
                    <a:lstStyle/>
                    <a:p>
                      <a:r>
                        <a:rPr lang="it-IT" sz="2400" b="1" dirty="0"/>
                        <a:t>Animal</a:t>
                      </a:r>
                    </a:p>
                  </a:txBody>
                  <a:tcPr anchor="ctr">
                    <a:lnL>
                      <a:noFill/>
                    </a:lnL>
                    <a:lnR>
                      <a:noFill/>
                    </a:lnR>
                    <a:lnT>
                      <a:noFill/>
                    </a:lnT>
                    <a:lnB>
                      <a:noFill/>
                    </a:lnB>
                    <a:noFill/>
                  </a:tcPr>
                </a:tc>
                <a:tc>
                  <a:txBody>
                    <a:bodyPr/>
                    <a:lstStyle/>
                    <a:p>
                      <a:r>
                        <a:rPr lang="it-IT" sz="2400" b="1" dirty="0"/>
                        <a:t>Has Feathers</a:t>
                      </a:r>
                    </a:p>
                  </a:txBody>
                  <a:tcPr anchor="ctr">
                    <a:lnL>
                      <a:noFill/>
                    </a:lnL>
                    <a:lnR>
                      <a:noFill/>
                    </a:lnR>
                    <a:lnT>
                      <a:noFill/>
                    </a:lnT>
                    <a:lnB>
                      <a:noFill/>
                    </a:lnB>
                    <a:noFill/>
                  </a:tcPr>
                </a:tc>
                <a:tc>
                  <a:txBody>
                    <a:bodyPr/>
                    <a:lstStyle/>
                    <a:p>
                      <a:r>
                        <a:rPr lang="it-IT" sz="2400" b="1" dirty="0"/>
                        <a:t>Can Fly</a:t>
                      </a:r>
                    </a:p>
                  </a:txBody>
                  <a:tcPr anchor="ctr">
                    <a:lnL>
                      <a:noFill/>
                    </a:lnL>
                    <a:lnR>
                      <a:noFill/>
                    </a:lnR>
                    <a:lnT>
                      <a:noFill/>
                    </a:lnT>
                    <a:lnB>
                      <a:noFill/>
                    </a:lnB>
                    <a:noFill/>
                  </a:tcPr>
                </a:tc>
                <a:tc>
                  <a:txBody>
                    <a:bodyPr/>
                    <a:lstStyle/>
                    <a:p>
                      <a:r>
                        <a:rPr lang="it-IT" sz="2400" b="1" dirty="0"/>
                        <a:t>Lays Eggs</a:t>
                      </a:r>
                    </a:p>
                  </a:txBody>
                  <a:tcPr anchor="ctr">
                    <a:lnL>
                      <a:noFill/>
                    </a:lnL>
                    <a:lnR>
                      <a:noFill/>
                    </a:lnR>
                    <a:lnT>
                      <a:noFill/>
                    </a:lnT>
                    <a:lnB>
                      <a:noFill/>
                    </a:lnB>
                    <a:noFill/>
                  </a:tcPr>
                </a:tc>
                <a:tc>
                  <a:txBody>
                    <a:bodyPr/>
                    <a:lstStyle/>
                    <a:p>
                      <a:r>
                        <a:rPr lang="it-IT" sz="2400" b="1" dirty="0"/>
                        <a:t>Animal Type</a:t>
                      </a:r>
                    </a:p>
                  </a:txBody>
                  <a:tcPr anchor="ctr">
                    <a:lnL>
                      <a:noFill/>
                    </a:lnL>
                    <a:lnR>
                      <a:noFill/>
                    </a:lnR>
                    <a:lnT>
                      <a:noFill/>
                    </a:lnT>
                    <a:lnB>
                      <a:noFill/>
                    </a:lnB>
                    <a:noFill/>
                  </a:tcPr>
                </a:tc>
                <a:extLst>
                  <a:ext uri="{0D108BD9-81ED-4DB2-BD59-A6C34878D82A}">
                    <a16:rowId xmlns:a16="http://schemas.microsoft.com/office/drawing/2014/main" val="1003326261"/>
                  </a:ext>
                </a:extLst>
              </a:tr>
              <a:tr h="0">
                <a:tc>
                  <a:txBody>
                    <a:bodyPr/>
                    <a:lstStyle/>
                    <a:p>
                      <a:r>
                        <a:rPr lang="it-IT" sz="2400" b="1" dirty="0"/>
                        <a:t>Penguin</a:t>
                      </a:r>
                    </a:p>
                  </a:txBody>
                  <a:tcPr anchor="ctr">
                    <a:lnL>
                      <a:noFill/>
                    </a:lnL>
                    <a:lnR>
                      <a:noFill/>
                    </a:lnR>
                    <a:lnT>
                      <a:noFill/>
                    </a:lnT>
                    <a:lnB>
                      <a:noFill/>
                    </a:lnB>
                    <a:noFill/>
                  </a:tcPr>
                </a:tc>
                <a:tc>
                  <a:txBody>
                    <a:bodyPr/>
                    <a:lstStyle/>
                    <a:p>
                      <a:r>
                        <a:rPr lang="it-IT" sz="2400" dirty="0"/>
                        <a:t>Yes</a:t>
                      </a:r>
                    </a:p>
                  </a:txBody>
                  <a:tcPr anchor="ctr">
                    <a:lnL>
                      <a:noFill/>
                    </a:lnL>
                    <a:lnR>
                      <a:noFill/>
                    </a:lnR>
                    <a:lnT>
                      <a:noFill/>
                    </a:lnT>
                    <a:lnB>
                      <a:noFill/>
                    </a:lnB>
                    <a:noFill/>
                  </a:tcPr>
                </a:tc>
                <a:tc>
                  <a:txBody>
                    <a:bodyPr/>
                    <a:lstStyle/>
                    <a:p>
                      <a:r>
                        <a:rPr lang="it-IT" sz="2400" dirty="0"/>
                        <a:t>No</a:t>
                      </a:r>
                    </a:p>
                  </a:txBody>
                  <a:tcPr anchor="ctr">
                    <a:lnL>
                      <a:noFill/>
                    </a:lnL>
                    <a:lnR>
                      <a:noFill/>
                    </a:lnR>
                    <a:lnT>
                      <a:noFill/>
                    </a:lnT>
                    <a:lnB>
                      <a:noFill/>
                    </a:lnB>
                    <a:noFill/>
                  </a:tcPr>
                </a:tc>
                <a:tc>
                  <a:txBody>
                    <a:bodyPr/>
                    <a:lstStyle/>
                    <a:p>
                      <a:r>
                        <a:rPr lang="it-IT" sz="2400"/>
                        <a:t>Yes</a:t>
                      </a:r>
                    </a:p>
                  </a:txBody>
                  <a:tcPr anchor="ctr">
                    <a:lnL>
                      <a:noFill/>
                    </a:lnL>
                    <a:lnR>
                      <a:noFill/>
                    </a:lnR>
                    <a:lnT>
                      <a:noFill/>
                    </a:lnT>
                    <a:lnB>
                      <a:noFill/>
                    </a:lnB>
                    <a:noFill/>
                  </a:tcPr>
                </a:tc>
                <a:tc>
                  <a:txBody>
                    <a:bodyPr/>
                    <a:lstStyle/>
                    <a:p>
                      <a:r>
                        <a:rPr lang="en-PK" sz="2400"/>
                        <a:t>?</a:t>
                      </a:r>
                    </a:p>
                  </a:txBody>
                  <a:tcPr anchor="ctr">
                    <a:lnL>
                      <a:noFill/>
                    </a:lnL>
                    <a:lnR>
                      <a:noFill/>
                    </a:lnR>
                    <a:lnT>
                      <a:noFill/>
                    </a:lnT>
                    <a:lnB>
                      <a:noFill/>
                    </a:lnB>
                    <a:noFill/>
                  </a:tcPr>
                </a:tc>
                <a:extLst>
                  <a:ext uri="{0D108BD9-81ED-4DB2-BD59-A6C34878D82A}">
                    <a16:rowId xmlns:a16="http://schemas.microsoft.com/office/drawing/2014/main" val="1472437474"/>
                  </a:ext>
                </a:extLst>
              </a:tr>
              <a:tr h="0">
                <a:tc>
                  <a:txBody>
                    <a:bodyPr/>
                    <a:lstStyle/>
                    <a:p>
                      <a:r>
                        <a:rPr lang="it-IT" sz="2400" b="1"/>
                        <a:t>Parrot</a:t>
                      </a:r>
                    </a:p>
                  </a:txBody>
                  <a:tcPr anchor="ctr">
                    <a:lnL>
                      <a:noFill/>
                    </a:lnL>
                    <a:lnR>
                      <a:noFill/>
                    </a:lnR>
                    <a:lnT>
                      <a:noFill/>
                    </a:lnT>
                    <a:lnB>
                      <a:noFill/>
                    </a:lnB>
                    <a:noFill/>
                  </a:tcPr>
                </a:tc>
                <a:tc>
                  <a:txBody>
                    <a:bodyPr/>
                    <a:lstStyle/>
                    <a:p>
                      <a:r>
                        <a:rPr lang="it-IT" sz="2400"/>
                        <a:t>Yes</a:t>
                      </a:r>
                    </a:p>
                  </a:txBody>
                  <a:tcPr anchor="ctr">
                    <a:lnL>
                      <a:noFill/>
                    </a:lnL>
                    <a:lnR>
                      <a:noFill/>
                    </a:lnR>
                    <a:lnT>
                      <a:noFill/>
                    </a:lnT>
                    <a:lnB>
                      <a:noFill/>
                    </a:lnB>
                    <a:noFill/>
                  </a:tcPr>
                </a:tc>
                <a:tc>
                  <a:txBody>
                    <a:bodyPr/>
                    <a:lstStyle/>
                    <a:p>
                      <a:r>
                        <a:rPr lang="it-IT" sz="2400"/>
                        <a:t>Yes</a:t>
                      </a:r>
                    </a:p>
                  </a:txBody>
                  <a:tcPr anchor="ctr">
                    <a:lnL>
                      <a:noFill/>
                    </a:lnL>
                    <a:lnR>
                      <a:noFill/>
                    </a:lnR>
                    <a:lnT>
                      <a:noFill/>
                    </a:lnT>
                    <a:lnB>
                      <a:noFill/>
                    </a:lnB>
                    <a:noFill/>
                  </a:tcPr>
                </a:tc>
                <a:tc>
                  <a:txBody>
                    <a:bodyPr/>
                    <a:lstStyle/>
                    <a:p>
                      <a:r>
                        <a:rPr lang="it-IT" sz="2400" dirty="0"/>
                        <a:t>Yes</a:t>
                      </a:r>
                    </a:p>
                  </a:txBody>
                  <a:tcPr anchor="ctr">
                    <a:lnL>
                      <a:noFill/>
                    </a:lnL>
                    <a:lnR>
                      <a:noFill/>
                    </a:lnR>
                    <a:lnT>
                      <a:noFill/>
                    </a:lnT>
                    <a:lnB>
                      <a:noFill/>
                    </a:lnB>
                    <a:noFill/>
                  </a:tcPr>
                </a:tc>
                <a:tc>
                  <a:txBody>
                    <a:bodyPr/>
                    <a:lstStyle/>
                    <a:p>
                      <a:r>
                        <a:rPr lang="en-PK" sz="2400" dirty="0"/>
                        <a:t>?</a:t>
                      </a:r>
                    </a:p>
                  </a:txBody>
                  <a:tcPr anchor="ctr">
                    <a:lnL>
                      <a:noFill/>
                    </a:lnL>
                    <a:lnR>
                      <a:noFill/>
                    </a:lnR>
                    <a:lnT>
                      <a:noFill/>
                    </a:lnT>
                    <a:lnB>
                      <a:noFill/>
                    </a:lnB>
                    <a:noFill/>
                  </a:tcPr>
                </a:tc>
                <a:extLst>
                  <a:ext uri="{0D108BD9-81ED-4DB2-BD59-A6C34878D82A}">
                    <a16:rowId xmlns:a16="http://schemas.microsoft.com/office/drawing/2014/main" val="2232164751"/>
                  </a:ext>
                </a:extLst>
              </a:tr>
              <a:tr h="0">
                <a:tc>
                  <a:txBody>
                    <a:bodyPr/>
                    <a:lstStyle/>
                    <a:p>
                      <a:r>
                        <a:rPr lang="it-IT" sz="2400" b="1" dirty="0"/>
                        <a:t>Dog</a:t>
                      </a:r>
                    </a:p>
                  </a:txBody>
                  <a:tcPr anchor="ctr">
                    <a:lnL>
                      <a:noFill/>
                    </a:lnL>
                    <a:lnR>
                      <a:noFill/>
                    </a:lnR>
                    <a:lnT>
                      <a:noFill/>
                    </a:lnT>
                    <a:lnB>
                      <a:noFill/>
                    </a:lnB>
                    <a:noFill/>
                  </a:tcPr>
                </a:tc>
                <a:tc>
                  <a:txBody>
                    <a:bodyPr/>
                    <a:lstStyle/>
                    <a:p>
                      <a:r>
                        <a:rPr lang="it-IT" sz="2400" dirty="0"/>
                        <a:t>No</a:t>
                      </a:r>
                    </a:p>
                  </a:txBody>
                  <a:tcPr anchor="ctr">
                    <a:lnL>
                      <a:noFill/>
                    </a:lnL>
                    <a:lnR>
                      <a:noFill/>
                    </a:lnR>
                    <a:lnT>
                      <a:noFill/>
                    </a:lnT>
                    <a:lnB>
                      <a:noFill/>
                    </a:lnB>
                    <a:noFill/>
                  </a:tcPr>
                </a:tc>
                <a:tc>
                  <a:txBody>
                    <a:bodyPr/>
                    <a:lstStyle/>
                    <a:p>
                      <a:r>
                        <a:rPr lang="it-IT" sz="2400"/>
                        <a:t>No</a:t>
                      </a:r>
                    </a:p>
                  </a:txBody>
                  <a:tcPr anchor="ctr">
                    <a:lnL>
                      <a:noFill/>
                    </a:lnL>
                    <a:lnR>
                      <a:noFill/>
                    </a:lnR>
                    <a:lnT>
                      <a:noFill/>
                    </a:lnT>
                    <a:lnB>
                      <a:noFill/>
                    </a:lnB>
                    <a:noFill/>
                  </a:tcPr>
                </a:tc>
                <a:tc>
                  <a:txBody>
                    <a:bodyPr/>
                    <a:lstStyle/>
                    <a:p>
                      <a:r>
                        <a:rPr lang="it-IT" sz="2400"/>
                        <a:t>No</a:t>
                      </a:r>
                    </a:p>
                  </a:txBody>
                  <a:tcPr anchor="ctr">
                    <a:lnL>
                      <a:noFill/>
                    </a:lnL>
                    <a:lnR>
                      <a:noFill/>
                    </a:lnR>
                    <a:lnT>
                      <a:noFill/>
                    </a:lnT>
                    <a:lnB>
                      <a:noFill/>
                    </a:lnB>
                    <a:noFill/>
                  </a:tcPr>
                </a:tc>
                <a:tc>
                  <a:txBody>
                    <a:bodyPr/>
                    <a:lstStyle/>
                    <a:p>
                      <a:r>
                        <a:rPr lang="en-PK" sz="2400" dirty="0"/>
                        <a:t>?</a:t>
                      </a:r>
                    </a:p>
                  </a:txBody>
                  <a:tcPr anchor="ctr">
                    <a:lnL>
                      <a:noFill/>
                    </a:lnL>
                    <a:lnR>
                      <a:noFill/>
                    </a:lnR>
                    <a:lnT>
                      <a:noFill/>
                    </a:lnT>
                    <a:lnB>
                      <a:noFill/>
                    </a:lnB>
                    <a:noFill/>
                  </a:tcPr>
                </a:tc>
                <a:extLst>
                  <a:ext uri="{0D108BD9-81ED-4DB2-BD59-A6C34878D82A}">
                    <a16:rowId xmlns:a16="http://schemas.microsoft.com/office/drawing/2014/main" val="2662251217"/>
                  </a:ext>
                </a:extLst>
              </a:tr>
            </a:tbl>
          </a:graphicData>
        </a:graphic>
      </p:graphicFrame>
      <p:sp>
        <p:nvSpPr>
          <p:cNvPr id="5" name="TextBox 4">
            <a:extLst>
              <a:ext uri="{FF2B5EF4-FFF2-40B4-BE49-F238E27FC236}">
                <a16:creationId xmlns:a16="http://schemas.microsoft.com/office/drawing/2014/main" id="{EEBF461C-60F3-FE0F-552C-DFF60CFD9F11}"/>
              </a:ext>
            </a:extLst>
          </p:cNvPr>
          <p:cNvSpPr txBox="1"/>
          <p:nvPr/>
        </p:nvSpPr>
        <p:spPr>
          <a:xfrm>
            <a:off x="838201" y="4876199"/>
            <a:ext cx="10515599" cy="1569660"/>
          </a:xfrm>
          <a:prstGeom prst="rect">
            <a:avLst/>
          </a:prstGeom>
          <a:noFill/>
        </p:spPr>
        <p:txBody>
          <a:bodyPr wrap="square">
            <a:spAutoFit/>
          </a:bodyPr>
          <a:lstStyle/>
          <a:p>
            <a:r>
              <a:rPr lang="en-GB" sz="2400" b="1" dirty="0"/>
              <a:t>Data Representation</a:t>
            </a:r>
          </a:p>
          <a:p>
            <a:pPr marL="342900" indent="-342900">
              <a:buFont typeface="Arial" panose="020B0604020202020204" pitchFamily="34" charset="0"/>
              <a:buChar char="•"/>
            </a:pPr>
            <a:r>
              <a:rPr lang="en-GB" sz="2400" dirty="0"/>
              <a:t>Each row represents a data point (an animal).</a:t>
            </a:r>
          </a:p>
          <a:p>
            <a:pPr marL="342900" indent="-342900">
              <a:buFont typeface="Arial" panose="020B0604020202020204" pitchFamily="34" charset="0"/>
              <a:buChar char="•"/>
            </a:pPr>
            <a:r>
              <a:rPr lang="en-GB" sz="2400" dirty="0"/>
              <a:t>Attributes are represented as binary values (Yes/No).</a:t>
            </a:r>
          </a:p>
          <a:p>
            <a:pPr marL="342900" indent="-342900">
              <a:buFont typeface="Arial" panose="020B0604020202020204" pitchFamily="34" charset="0"/>
              <a:buChar char="•"/>
            </a:pPr>
            <a:r>
              <a:rPr lang="en-GB" sz="2400" dirty="0"/>
              <a:t>The AI will use logic and reasoning to classify the </a:t>
            </a:r>
            <a:r>
              <a:rPr lang="en-GB" sz="2400" b="1" dirty="0"/>
              <a:t>Animal Type</a:t>
            </a:r>
            <a:r>
              <a:rPr lang="en-GB" sz="2400" dirty="0"/>
              <a:t>.</a:t>
            </a:r>
          </a:p>
        </p:txBody>
      </p:sp>
    </p:spTree>
    <p:extLst>
      <p:ext uri="{BB962C8B-B14F-4D97-AF65-F5344CB8AC3E}">
        <p14:creationId xmlns:p14="http://schemas.microsoft.com/office/powerpoint/2010/main" val="32295030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818</TotalTime>
  <Words>3141</Words>
  <Application>Microsoft Office PowerPoint</Application>
  <PresentationFormat>Widescreen</PresentationFormat>
  <Paragraphs>375</Paragraphs>
  <Slides>41</Slides>
  <Notes>8</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41</vt:i4>
      </vt:variant>
    </vt:vector>
  </HeadingPairs>
  <TitlesOfParts>
    <vt:vector size="49" baseType="lpstr">
      <vt:lpstr>Aptos</vt:lpstr>
      <vt:lpstr>Aptos Display</vt:lpstr>
      <vt:lpstr>Arial</vt:lpstr>
      <vt:lpstr>Courier New</vt:lpstr>
      <vt:lpstr>Google Sans</vt:lpstr>
      <vt:lpstr>Office Theme</vt:lpstr>
      <vt:lpstr>1_Office Theme</vt:lpstr>
      <vt:lpstr>2_Office Theme</vt:lpstr>
      <vt:lpstr>Artificial Intelligence CS-202</vt:lpstr>
      <vt:lpstr>Week-11 CLO</vt:lpstr>
      <vt:lpstr>CLO’s Mapping </vt:lpstr>
      <vt:lpstr>PowerPoint Presentation</vt:lpstr>
      <vt:lpstr>What is Representation in AI?</vt:lpstr>
      <vt:lpstr>Key Aspects of Representation</vt:lpstr>
      <vt:lpstr>Forms of Representation</vt:lpstr>
      <vt:lpstr>Semantic Networks</vt:lpstr>
      <vt:lpstr>Frames</vt:lpstr>
      <vt:lpstr>Logical Propositions</vt:lpstr>
      <vt:lpstr>Graphs and Trees</vt:lpstr>
      <vt:lpstr>Importance of Representation</vt:lpstr>
      <vt:lpstr>What is Logic in AI?</vt:lpstr>
      <vt:lpstr>Inference - Drawing Conclusions Using Logical Rules</vt:lpstr>
      <vt:lpstr>Rules of Inference in Logic</vt:lpstr>
      <vt:lpstr>Rules of Inference in Logic</vt:lpstr>
      <vt:lpstr>Applications</vt:lpstr>
      <vt:lpstr>Decision Making - Determining Actions Based on Logical Reasoning</vt:lpstr>
      <vt:lpstr>Types of Logic in AI</vt:lpstr>
      <vt:lpstr>Propositional Logic</vt:lpstr>
      <vt:lpstr>First-Order Logic (FOL)</vt:lpstr>
      <vt:lpstr>FOL Continued….</vt:lpstr>
      <vt:lpstr>Temporal Logic</vt:lpstr>
      <vt:lpstr>Summary</vt:lpstr>
      <vt:lpstr>Example of Logic in AI</vt:lpstr>
      <vt:lpstr>Example Continue……</vt:lpstr>
      <vt:lpstr>Example Continue……</vt:lpstr>
      <vt:lpstr>Example Continue……</vt:lpstr>
      <vt:lpstr>Task</vt:lpstr>
      <vt:lpstr>Reasoning in AI</vt:lpstr>
      <vt:lpstr>Deductive Reasoning</vt:lpstr>
      <vt:lpstr>Inductive Reasoning</vt:lpstr>
      <vt:lpstr>Abductive Reasoning</vt:lpstr>
      <vt:lpstr>Non-monotonic Reasoning</vt:lpstr>
      <vt:lpstr>Probabilistic Reasoning</vt:lpstr>
      <vt:lpstr>Commonsense Reasoning</vt:lpstr>
      <vt:lpstr>Reasoning in AI – Case Study: Expert System</vt:lpstr>
      <vt:lpstr>Reasoning in AI – Real-World Applications</vt:lpstr>
      <vt:lpstr>Summary of Reasoning in AI</vt:lpstr>
      <vt:lpstr>PowerPoint Presentation</vt:lpstr>
      <vt:lpstr>Step 1: Representation of 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Mansoor Iqbal</dc:creator>
  <cp:lastModifiedBy>Habiba Arshad</cp:lastModifiedBy>
  <cp:revision>82</cp:revision>
  <dcterms:created xsi:type="dcterms:W3CDTF">2024-12-10T05:09:36Z</dcterms:created>
  <dcterms:modified xsi:type="dcterms:W3CDTF">2026-01-07T05:00:41Z</dcterms:modified>
</cp:coreProperties>
</file>