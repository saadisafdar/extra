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825" r:id="rId2"/>
    <p:sldId id="789" r:id="rId3"/>
    <p:sldId id="828" r:id="rId4"/>
    <p:sldId id="839" r:id="rId5"/>
    <p:sldId id="860" r:id="rId6"/>
    <p:sldId id="859" r:id="rId7"/>
    <p:sldId id="861" r:id="rId8"/>
    <p:sldId id="842" r:id="rId9"/>
    <p:sldId id="843" r:id="rId10"/>
    <p:sldId id="851" r:id="rId11"/>
    <p:sldId id="862" r:id="rId12"/>
    <p:sldId id="852" r:id="rId13"/>
    <p:sldId id="853" r:id="rId14"/>
    <p:sldId id="854" r:id="rId15"/>
    <p:sldId id="820" r:id="rId16"/>
    <p:sldId id="821" r:id="rId17"/>
    <p:sldId id="822" r:id="rId18"/>
    <p:sldId id="823" r:id="rId19"/>
    <p:sldId id="824" r:id="rId2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458" autoAdjust="0"/>
  </p:normalViewPr>
  <p:slideViewPr>
    <p:cSldViewPr snapToGrid="0">
      <p:cViewPr varScale="1">
        <p:scale>
          <a:sx n="74" d="100"/>
          <a:sy n="74" d="100"/>
        </p:scale>
        <p:origin x="101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B301F5-07A3-4FE4-976C-CA4952C4C1A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03EBE85-61C3-4A8C-B096-20383EA35C46}">
      <dgm:prSet/>
      <dgm:spPr/>
      <dgm:t>
        <a:bodyPr/>
        <a:lstStyle/>
        <a:p>
          <a:r>
            <a:rPr lang="en-US" dirty="0"/>
            <a:t>This week lecture will cover the following CLO:</a:t>
          </a:r>
        </a:p>
      </dgm:t>
    </dgm:pt>
    <dgm:pt modelId="{CA4AA996-65FD-4B8F-BBE0-A906A9E5220E}" type="parTrans" cxnId="{BCEEB6D3-EFBE-4684-AF7C-3A02210BE3D9}">
      <dgm:prSet/>
      <dgm:spPr/>
      <dgm:t>
        <a:bodyPr/>
        <a:lstStyle/>
        <a:p>
          <a:endParaRPr lang="en-US"/>
        </a:p>
      </dgm:t>
    </dgm:pt>
    <dgm:pt modelId="{793489B5-9C5E-4E77-A6F3-2F6B2B3AEB5A}" type="sibTrans" cxnId="{BCEEB6D3-EFBE-4684-AF7C-3A02210BE3D9}">
      <dgm:prSet/>
      <dgm:spPr/>
      <dgm:t>
        <a:bodyPr/>
        <a:lstStyle/>
        <a:p>
          <a:endParaRPr lang="en-US"/>
        </a:p>
      </dgm:t>
    </dgm:pt>
    <dgm:pt modelId="{0F6BED61-37A6-4265-9765-7643A715CD2C}">
      <dgm:prSet/>
      <dgm:spPr/>
      <dgm:t>
        <a:bodyPr/>
        <a:lstStyle/>
        <a:p>
          <a:r>
            <a:rPr lang="en-US" b="1" dirty="0"/>
            <a:t>CLO 2: </a:t>
          </a:r>
          <a:r>
            <a:rPr lang="en-US" b="0" dirty="0"/>
            <a:t>. Implement artificial intelligence techniques and case studies</a:t>
          </a:r>
          <a:endParaRPr lang="en-US" dirty="0"/>
        </a:p>
      </dgm:t>
    </dgm:pt>
    <dgm:pt modelId="{CE80463D-0B4E-4616-A7D3-FCA563D7C095}" type="parTrans" cxnId="{D4C01C85-8389-4770-954C-640B9194FA32}">
      <dgm:prSet/>
      <dgm:spPr/>
      <dgm:t>
        <a:bodyPr/>
        <a:lstStyle/>
        <a:p>
          <a:endParaRPr lang="en-US"/>
        </a:p>
      </dgm:t>
    </dgm:pt>
    <dgm:pt modelId="{991B6CDF-473C-43F2-B07A-CB69C404667A}" type="sibTrans" cxnId="{D4C01C85-8389-4770-954C-640B9194FA32}">
      <dgm:prSet/>
      <dgm:spPr/>
      <dgm:t>
        <a:bodyPr/>
        <a:lstStyle/>
        <a:p>
          <a:endParaRPr lang="en-US"/>
        </a:p>
      </dgm:t>
    </dgm:pt>
    <dgm:pt modelId="{C59BC262-BD37-4485-B439-3083D6EF372F}">
      <dgm:prSet/>
      <dgm:spPr/>
      <dgm:t>
        <a:bodyPr/>
        <a:lstStyle/>
        <a:p>
          <a:endParaRPr lang="en-US" b="0" dirty="0"/>
        </a:p>
      </dgm:t>
    </dgm:pt>
    <dgm:pt modelId="{DDF82B5B-5580-4D82-A915-A70C1FBA9D9A}" type="parTrans" cxnId="{E8B1282A-40A4-4A22-A67F-9335DC9F17A2}">
      <dgm:prSet/>
      <dgm:spPr/>
      <dgm:t>
        <a:bodyPr/>
        <a:lstStyle/>
        <a:p>
          <a:endParaRPr lang="en-US"/>
        </a:p>
      </dgm:t>
    </dgm:pt>
    <dgm:pt modelId="{10DE0190-54F1-4E62-965E-550AB9DF0C7B}" type="sibTrans" cxnId="{E8B1282A-40A4-4A22-A67F-9335DC9F17A2}">
      <dgm:prSet/>
      <dgm:spPr/>
      <dgm:t>
        <a:bodyPr/>
        <a:lstStyle/>
        <a:p>
          <a:endParaRPr lang="en-US"/>
        </a:p>
      </dgm:t>
    </dgm:pt>
    <dgm:pt modelId="{1E8486E2-0691-4247-B9C3-FCB6AD71DA77}" type="pres">
      <dgm:prSet presAssocID="{87B301F5-07A3-4FE4-976C-CA4952C4C1A1}" presName="linear" presStyleCnt="0">
        <dgm:presLayoutVars>
          <dgm:animLvl val="lvl"/>
          <dgm:resizeHandles val="exact"/>
        </dgm:presLayoutVars>
      </dgm:prSet>
      <dgm:spPr/>
    </dgm:pt>
    <dgm:pt modelId="{CBC7B95D-FC8B-44BC-816F-8FC732EF125D}" type="pres">
      <dgm:prSet presAssocID="{003EBE85-61C3-4A8C-B096-20383EA35C46}" presName="parentText" presStyleLbl="node1" presStyleIdx="0" presStyleCnt="1">
        <dgm:presLayoutVars>
          <dgm:chMax val="0"/>
          <dgm:bulletEnabled val="1"/>
        </dgm:presLayoutVars>
      </dgm:prSet>
      <dgm:spPr/>
    </dgm:pt>
    <dgm:pt modelId="{A025C2BC-3DF5-4B12-A043-E15E948A1F98}" type="pres">
      <dgm:prSet presAssocID="{003EBE85-61C3-4A8C-B096-20383EA35C46}" presName="childText" presStyleLbl="revTx" presStyleIdx="0" presStyleCnt="1">
        <dgm:presLayoutVars>
          <dgm:bulletEnabled val="1"/>
        </dgm:presLayoutVars>
      </dgm:prSet>
      <dgm:spPr/>
    </dgm:pt>
  </dgm:ptLst>
  <dgm:cxnLst>
    <dgm:cxn modelId="{E8B1282A-40A4-4A22-A67F-9335DC9F17A2}" srcId="{003EBE85-61C3-4A8C-B096-20383EA35C46}" destId="{C59BC262-BD37-4485-B439-3083D6EF372F}" srcOrd="1" destOrd="0" parTransId="{DDF82B5B-5580-4D82-A915-A70C1FBA9D9A}" sibTransId="{10DE0190-54F1-4E62-965E-550AB9DF0C7B}"/>
    <dgm:cxn modelId="{0BF05139-1E12-4DCD-98EF-7B0DABA33B58}" type="presOf" srcId="{87B301F5-07A3-4FE4-976C-CA4952C4C1A1}" destId="{1E8486E2-0691-4247-B9C3-FCB6AD71DA77}" srcOrd="0" destOrd="0" presId="urn:microsoft.com/office/officeart/2005/8/layout/vList2"/>
    <dgm:cxn modelId="{F6F4E43C-9CB5-4911-A20A-B55E9CCF2C4F}" type="presOf" srcId="{003EBE85-61C3-4A8C-B096-20383EA35C46}" destId="{CBC7B95D-FC8B-44BC-816F-8FC732EF125D}" srcOrd="0" destOrd="0" presId="urn:microsoft.com/office/officeart/2005/8/layout/vList2"/>
    <dgm:cxn modelId="{D4C01C85-8389-4770-954C-640B9194FA32}" srcId="{003EBE85-61C3-4A8C-B096-20383EA35C46}" destId="{0F6BED61-37A6-4265-9765-7643A715CD2C}" srcOrd="0" destOrd="0" parTransId="{CE80463D-0B4E-4616-A7D3-FCA563D7C095}" sibTransId="{991B6CDF-473C-43F2-B07A-CB69C404667A}"/>
    <dgm:cxn modelId="{8F12479A-C069-4E0A-BB1E-B76D7E4A0CF5}" type="presOf" srcId="{0F6BED61-37A6-4265-9765-7643A715CD2C}" destId="{A025C2BC-3DF5-4B12-A043-E15E948A1F98}" srcOrd="0" destOrd="0" presId="urn:microsoft.com/office/officeart/2005/8/layout/vList2"/>
    <dgm:cxn modelId="{B4AACACA-FE0B-4E34-9341-DBB0CE059C39}" type="presOf" srcId="{C59BC262-BD37-4485-B439-3083D6EF372F}" destId="{A025C2BC-3DF5-4B12-A043-E15E948A1F98}" srcOrd="0" destOrd="1" presId="urn:microsoft.com/office/officeart/2005/8/layout/vList2"/>
    <dgm:cxn modelId="{BCEEB6D3-EFBE-4684-AF7C-3A02210BE3D9}" srcId="{87B301F5-07A3-4FE4-976C-CA4952C4C1A1}" destId="{003EBE85-61C3-4A8C-B096-20383EA35C46}" srcOrd="0" destOrd="0" parTransId="{CA4AA996-65FD-4B8F-BBE0-A906A9E5220E}" sibTransId="{793489B5-9C5E-4E77-A6F3-2F6B2B3AEB5A}"/>
    <dgm:cxn modelId="{2897C92D-7832-425B-A7AE-4DE3AFB3DBD0}" type="presParOf" srcId="{1E8486E2-0691-4247-B9C3-FCB6AD71DA77}" destId="{CBC7B95D-FC8B-44BC-816F-8FC732EF125D}" srcOrd="0" destOrd="0" presId="urn:microsoft.com/office/officeart/2005/8/layout/vList2"/>
    <dgm:cxn modelId="{C49B8052-8CF3-4FDC-B7CA-CCA691C86E81}" type="presParOf" srcId="{1E8486E2-0691-4247-B9C3-FCB6AD71DA77}" destId="{A025C2BC-3DF5-4B12-A043-E15E948A1F9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25028B-C4EB-4CF5-8B82-FA34BD81566B}"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4359E99C-D0B7-4F88-93F2-A5B4BA51738B}">
      <dgm:prSet/>
      <dgm:spPr/>
      <dgm:t>
        <a:bodyPr/>
        <a:lstStyle/>
        <a:p>
          <a:r>
            <a:rPr lang="en-PK" b="0" i="0" baseline="0"/>
            <a:t>Problem-solving agents use search techniques to find solutions.</a:t>
          </a:r>
          <a:endParaRPr lang="en-US"/>
        </a:p>
      </dgm:t>
    </dgm:pt>
    <dgm:pt modelId="{7EF81B18-9726-433D-A989-861EB751AAB1}" type="parTrans" cxnId="{ADFC9F6A-AE3D-4DBF-AEBE-8755A00FBD7B}">
      <dgm:prSet/>
      <dgm:spPr/>
      <dgm:t>
        <a:bodyPr/>
        <a:lstStyle/>
        <a:p>
          <a:endParaRPr lang="en-US"/>
        </a:p>
      </dgm:t>
    </dgm:pt>
    <dgm:pt modelId="{2E788BD0-AFDB-40D0-986E-6F22D4CA9E44}" type="sibTrans" cxnId="{ADFC9F6A-AE3D-4DBF-AEBE-8755A00FBD7B}">
      <dgm:prSet/>
      <dgm:spPr/>
      <dgm:t>
        <a:bodyPr/>
        <a:lstStyle/>
        <a:p>
          <a:endParaRPr lang="en-US"/>
        </a:p>
      </dgm:t>
    </dgm:pt>
    <dgm:pt modelId="{3F4A2C90-3690-46EF-80FF-8553634A8B82}">
      <dgm:prSet/>
      <dgm:spPr/>
      <dgm:t>
        <a:bodyPr/>
        <a:lstStyle/>
        <a:p>
          <a:r>
            <a:rPr lang="en-PK" b="0" i="0" baseline="0" dirty="0"/>
            <a:t>Uninformed search explores the search space without extra information.</a:t>
          </a:r>
          <a:endParaRPr lang="en-US" dirty="0"/>
        </a:p>
      </dgm:t>
    </dgm:pt>
    <dgm:pt modelId="{CDE7AA87-3B51-457D-BD91-BDA9CCA72AEB}" type="parTrans" cxnId="{FF7C2250-D527-440B-817C-2A97C73F176E}">
      <dgm:prSet/>
      <dgm:spPr/>
      <dgm:t>
        <a:bodyPr/>
        <a:lstStyle/>
        <a:p>
          <a:endParaRPr lang="en-US"/>
        </a:p>
      </dgm:t>
    </dgm:pt>
    <dgm:pt modelId="{0D3926AB-D3BF-409C-B040-E9BA33A4B709}" type="sibTrans" cxnId="{FF7C2250-D527-440B-817C-2A97C73F176E}">
      <dgm:prSet/>
      <dgm:spPr/>
      <dgm:t>
        <a:bodyPr/>
        <a:lstStyle/>
        <a:p>
          <a:endParaRPr lang="en-US"/>
        </a:p>
      </dgm:t>
    </dgm:pt>
    <dgm:pt modelId="{E6874441-DDE0-429C-A083-D207F0D8BA1C}">
      <dgm:prSet/>
      <dgm:spPr/>
      <dgm:t>
        <a:bodyPr/>
        <a:lstStyle/>
        <a:p>
          <a:r>
            <a:rPr lang="en-PK" b="0" i="0" baseline="0" dirty="0"/>
            <a:t>Informed search uses heuristics to guide the search process.</a:t>
          </a:r>
          <a:endParaRPr lang="en-US" dirty="0"/>
        </a:p>
      </dgm:t>
    </dgm:pt>
    <dgm:pt modelId="{267392A0-1476-4E74-B889-2D35D9F67254}" type="parTrans" cxnId="{0727E9A6-70F5-4525-B135-6DCEB0AA480B}">
      <dgm:prSet/>
      <dgm:spPr/>
      <dgm:t>
        <a:bodyPr/>
        <a:lstStyle/>
        <a:p>
          <a:endParaRPr lang="en-US"/>
        </a:p>
      </dgm:t>
    </dgm:pt>
    <dgm:pt modelId="{2A182BFA-DC64-4385-ADCA-3DBC6F543EB7}" type="sibTrans" cxnId="{0727E9A6-70F5-4525-B135-6DCEB0AA480B}">
      <dgm:prSet/>
      <dgm:spPr/>
      <dgm:t>
        <a:bodyPr/>
        <a:lstStyle/>
        <a:p>
          <a:endParaRPr lang="en-US"/>
        </a:p>
      </dgm:t>
    </dgm:pt>
    <dgm:pt modelId="{93C96297-8315-45B9-9A0B-EF1F2589ED8A}">
      <dgm:prSet custT="1"/>
      <dgm:spPr/>
      <dgm:t>
        <a:bodyPr/>
        <a:lstStyle/>
        <a:p>
          <a:r>
            <a:rPr lang="en-PK" sz="2800" b="0" i="0" baseline="0" dirty="0"/>
            <a:t>A* is a powerful informed search algorithm combining cost and heuristic estimates. </a:t>
          </a:r>
          <a:endParaRPr lang="en-US" sz="2800" dirty="0"/>
        </a:p>
      </dgm:t>
    </dgm:pt>
    <dgm:pt modelId="{2ADF6AE8-6C0F-40F5-8D20-766A0C177FFE}" type="parTrans" cxnId="{38CC20D9-FA25-4756-BE4B-54124FB6367D}">
      <dgm:prSet/>
      <dgm:spPr/>
      <dgm:t>
        <a:bodyPr/>
        <a:lstStyle/>
        <a:p>
          <a:endParaRPr lang="en-US"/>
        </a:p>
      </dgm:t>
    </dgm:pt>
    <dgm:pt modelId="{143B8B07-93A5-41B3-83CC-6F5C09471715}" type="sibTrans" cxnId="{38CC20D9-FA25-4756-BE4B-54124FB6367D}">
      <dgm:prSet/>
      <dgm:spPr/>
      <dgm:t>
        <a:bodyPr/>
        <a:lstStyle/>
        <a:p>
          <a:endParaRPr lang="en-US"/>
        </a:p>
      </dgm:t>
    </dgm:pt>
    <dgm:pt modelId="{0BFA662B-C3BF-4909-AAD1-11BFAEB3FCB7}" type="pres">
      <dgm:prSet presAssocID="{2325028B-C4EB-4CF5-8B82-FA34BD81566B}" presName="vert0" presStyleCnt="0">
        <dgm:presLayoutVars>
          <dgm:dir/>
          <dgm:animOne val="branch"/>
          <dgm:animLvl val="lvl"/>
        </dgm:presLayoutVars>
      </dgm:prSet>
      <dgm:spPr/>
    </dgm:pt>
    <dgm:pt modelId="{3DF7D8EB-E188-4388-AE69-EBD651A7C6F6}" type="pres">
      <dgm:prSet presAssocID="{4359E99C-D0B7-4F88-93F2-A5B4BA51738B}" presName="thickLine" presStyleLbl="alignNode1" presStyleIdx="0" presStyleCnt="4"/>
      <dgm:spPr/>
    </dgm:pt>
    <dgm:pt modelId="{D1C7ACA0-EF41-4A87-A8F5-40E2538F946C}" type="pres">
      <dgm:prSet presAssocID="{4359E99C-D0B7-4F88-93F2-A5B4BA51738B}" presName="horz1" presStyleCnt="0"/>
      <dgm:spPr/>
    </dgm:pt>
    <dgm:pt modelId="{DA76A266-E766-4739-B76E-920A3DEA74E6}" type="pres">
      <dgm:prSet presAssocID="{4359E99C-D0B7-4F88-93F2-A5B4BA51738B}" presName="tx1" presStyleLbl="revTx" presStyleIdx="0" presStyleCnt="4"/>
      <dgm:spPr/>
    </dgm:pt>
    <dgm:pt modelId="{B0F0E424-D044-4638-BFFE-B1CF176D0A6F}" type="pres">
      <dgm:prSet presAssocID="{4359E99C-D0B7-4F88-93F2-A5B4BA51738B}" presName="vert1" presStyleCnt="0"/>
      <dgm:spPr/>
    </dgm:pt>
    <dgm:pt modelId="{28EED886-8354-4407-B49D-C165F037220A}" type="pres">
      <dgm:prSet presAssocID="{3F4A2C90-3690-46EF-80FF-8553634A8B82}" presName="thickLine" presStyleLbl="alignNode1" presStyleIdx="1" presStyleCnt="4"/>
      <dgm:spPr/>
    </dgm:pt>
    <dgm:pt modelId="{173F800C-50D2-4131-8C71-FC1F3B05BE48}" type="pres">
      <dgm:prSet presAssocID="{3F4A2C90-3690-46EF-80FF-8553634A8B82}" presName="horz1" presStyleCnt="0"/>
      <dgm:spPr/>
    </dgm:pt>
    <dgm:pt modelId="{A5536824-6194-4F0D-96E8-B1DD8A9294D7}" type="pres">
      <dgm:prSet presAssocID="{3F4A2C90-3690-46EF-80FF-8553634A8B82}" presName="tx1" presStyleLbl="revTx" presStyleIdx="1" presStyleCnt="4"/>
      <dgm:spPr/>
    </dgm:pt>
    <dgm:pt modelId="{1E99BE2D-14ED-4618-A705-02F5E1A436CC}" type="pres">
      <dgm:prSet presAssocID="{3F4A2C90-3690-46EF-80FF-8553634A8B82}" presName="vert1" presStyleCnt="0"/>
      <dgm:spPr/>
    </dgm:pt>
    <dgm:pt modelId="{D7085D72-7629-4E0B-9EB3-4293E874E1EF}" type="pres">
      <dgm:prSet presAssocID="{E6874441-DDE0-429C-A083-D207F0D8BA1C}" presName="thickLine" presStyleLbl="alignNode1" presStyleIdx="2" presStyleCnt="4"/>
      <dgm:spPr/>
    </dgm:pt>
    <dgm:pt modelId="{B554DA3A-022B-41D6-BD15-DE1C28497855}" type="pres">
      <dgm:prSet presAssocID="{E6874441-DDE0-429C-A083-D207F0D8BA1C}" presName="horz1" presStyleCnt="0"/>
      <dgm:spPr/>
    </dgm:pt>
    <dgm:pt modelId="{DD910942-8C3D-432A-A686-0B1B61162E38}" type="pres">
      <dgm:prSet presAssocID="{E6874441-DDE0-429C-A083-D207F0D8BA1C}" presName="tx1" presStyleLbl="revTx" presStyleIdx="2" presStyleCnt="4"/>
      <dgm:spPr/>
    </dgm:pt>
    <dgm:pt modelId="{03E9A035-0E0F-4048-A4D7-63A5FB6EA4EC}" type="pres">
      <dgm:prSet presAssocID="{E6874441-DDE0-429C-A083-D207F0D8BA1C}" presName="vert1" presStyleCnt="0"/>
      <dgm:spPr/>
    </dgm:pt>
    <dgm:pt modelId="{40AA1991-48B6-417A-909C-E4C5FF72A1F5}" type="pres">
      <dgm:prSet presAssocID="{93C96297-8315-45B9-9A0B-EF1F2589ED8A}" presName="thickLine" presStyleLbl="alignNode1" presStyleIdx="3" presStyleCnt="4"/>
      <dgm:spPr/>
    </dgm:pt>
    <dgm:pt modelId="{EA2A955C-8312-447D-8804-E1B13EC173E0}" type="pres">
      <dgm:prSet presAssocID="{93C96297-8315-45B9-9A0B-EF1F2589ED8A}" presName="horz1" presStyleCnt="0"/>
      <dgm:spPr/>
    </dgm:pt>
    <dgm:pt modelId="{189151B3-38A2-475F-8A3E-053D3742C34F}" type="pres">
      <dgm:prSet presAssocID="{93C96297-8315-45B9-9A0B-EF1F2589ED8A}" presName="tx1" presStyleLbl="revTx" presStyleIdx="3" presStyleCnt="4"/>
      <dgm:spPr/>
    </dgm:pt>
    <dgm:pt modelId="{F662067A-9A77-4239-8FC5-62D6D873FC4F}" type="pres">
      <dgm:prSet presAssocID="{93C96297-8315-45B9-9A0B-EF1F2589ED8A}" presName="vert1" presStyleCnt="0"/>
      <dgm:spPr/>
    </dgm:pt>
  </dgm:ptLst>
  <dgm:cxnLst>
    <dgm:cxn modelId="{3C247A3D-297E-48AD-B456-9FB0274FC68D}" type="presOf" srcId="{E6874441-DDE0-429C-A083-D207F0D8BA1C}" destId="{DD910942-8C3D-432A-A686-0B1B61162E38}" srcOrd="0" destOrd="0" presId="urn:microsoft.com/office/officeart/2008/layout/LinedList"/>
    <dgm:cxn modelId="{ADFC9F6A-AE3D-4DBF-AEBE-8755A00FBD7B}" srcId="{2325028B-C4EB-4CF5-8B82-FA34BD81566B}" destId="{4359E99C-D0B7-4F88-93F2-A5B4BA51738B}" srcOrd="0" destOrd="0" parTransId="{7EF81B18-9726-433D-A989-861EB751AAB1}" sibTransId="{2E788BD0-AFDB-40D0-986E-6F22D4CA9E44}"/>
    <dgm:cxn modelId="{FF7C2250-D527-440B-817C-2A97C73F176E}" srcId="{2325028B-C4EB-4CF5-8B82-FA34BD81566B}" destId="{3F4A2C90-3690-46EF-80FF-8553634A8B82}" srcOrd="1" destOrd="0" parTransId="{CDE7AA87-3B51-457D-BD91-BDA9CCA72AEB}" sibTransId="{0D3926AB-D3BF-409C-B040-E9BA33A4B709}"/>
    <dgm:cxn modelId="{A7056753-6ABA-4E24-8477-BABBC0811A08}" type="presOf" srcId="{3F4A2C90-3690-46EF-80FF-8553634A8B82}" destId="{A5536824-6194-4F0D-96E8-B1DD8A9294D7}" srcOrd="0" destOrd="0" presId="urn:microsoft.com/office/officeart/2008/layout/LinedList"/>
    <dgm:cxn modelId="{352DE955-F686-4A87-B818-6F02477946A3}" type="presOf" srcId="{93C96297-8315-45B9-9A0B-EF1F2589ED8A}" destId="{189151B3-38A2-475F-8A3E-053D3742C34F}" srcOrd="0" destOrd="0" presId="urn:microsoft.com/office/officeart/2008/layout/LinedList"/>
    <dgm:cxn modelId="{0727E9A6-70F5-4525-B135-6DCEB0AA480B}" srcId="{2325028B-C4EB-4CF5-8B82-FA34BD81566B}" destId="{E6874441-DDE0-429C-A083-D207F0D8BA1C}" srcOrd="2" destOrd="0" parTransId="{267392A0-1476-4E74-B889-2D35D9F67254}" sibTransId="{2A182BFA-DC64-4385-ADCA-3DBC6F543EB7}"/>
    <dgm:cxn modelId="{EA4C15B8-7559-4D12-8354-F45281B14C28}" type="presOf" srcId="{2325028B-C4EB-4CF5-8B82-FA34BD81566B}" destId="{0BFA662B-C3BF-4909-AAD1-11BFAEB3FCB7}" srcOrd="0" destOrd="0" presId="urn:microsoft.com/office/officeart/2008/layout/LinedList"/>
    <dgm:cxn modelId="{38CC20D9-FA25-4756-BE4B-54124FB6367D}" srcId="{2325028B-C4EB-4CF5-8B82-FA34BD81566B}" destId="{93C96297-8315-45B9-9A0B-EF1F2589ED8A}" srcOrd="3" destOrd="0" parTransId="{2ADF6AE8-6C0F-40F5-8D20-766A0C177FFE}" sibTransId="{143B8B07-93A5-41B3-83CC-6F5C09471715}"/>
    <dgm:cxn modelId="{8CED11DB-1A1D-4224-B1BF-302DFEE5B4D0}" type="presOf" srcId="{4359E99C-D0B7-4F88-93F2-A5B4BA51738B}" destId="{DA76A266-E766-4739-B76E-920A3DEA74E6}" srcOrd="0" destOrd="0" presId="urn:microsoft.com/office/officeart/2008/layout/LinedList"/>
    <dgm:cxn modelId="{644CDBA6-5C65-4A60-8C35-4FD788D87217}" type="presParOf" srcId="{0BFA662B-C3BF-4909-AAD1-11BFAEB3FCB7}" destId="{3DF7D8EB-E188-4388-AE69-EBD651A7C6F6}" srcOrd="0" destOrd="0" presId="urn:microsoft.com/office/officeart/2008/layout/LinedList"/>
    <dgm:cxn modelId="{E9AD23B9-380D-4C88-B661-5C117FAB6351}" type="presParOf" srcId="{0BFA662B-C3BF-4909-AAD1-11BFAEB3FCB7}" destId="{D1C7ACA0-EF41-4A87-A8F5-40E2538F946C}" srcOrd="1" destOrd="0" presId="urn:microsoft.com/office/officeart/2008/layout/LinedList"/>
    <dgm:cxn modelId="{B4769AF5-96A4-4BFC-BFE7-46456F0AC5EE}" type="presParOf" srcId="{D1C7ACA0-EF41-4A87-A8F5-40E2538F946C}" destId="{DA76A266-E766-4739-B76E-920A3DEA74E6}" srcOrd="0" destOrd="0" presId="urn:microsoft.com/office/officeart/2008/layout/LinedList"/>
    <dgm:cxn modelId="{EAE787C6-318E-48E4-8BFF-DD4D126BED4E}" type="presParOf" srcId="{D1C7ACA0-EF41-4A87-A8F5-40E2538F946C}" destId="{B0F0E424-D044-4638-BFFE-B1CF176D0A6F}" srcOrd="1" destOrd="0" presId="urn:microsoft.com/office/officeart/2008/layout/LinedList"/>
    <dgm:cxn modelId="{75B90DA4-94FC-45CE-AC43-8E47843B07D4}" type="presParOf" srcId="{0BFA662B-C3BF-4909-AAD1-11BFAEB3FCB7}" destId="{28EED886-8354-4407-B49D-C165F037220A}" srcOrd="2" destOrd="0" presId="urn:microsoft.com/office/officeart/2008/layout/LinedList"/>
    <dgm:cxn modelId="{04D48CA7-4364-4426-ACF6-71E116C7D098}" type="presParOf" srcId="{0BFA662B-C3BF-4909-AAD1-11BFAEB3FCB7}" destId="{173F800C-50D2-4131-8C71-FC1F3B05BE48}" srcOrd="3" destOrd="0" presId="urn:microsoft.com/office/officeart/2008/layout/LinedList"/>
    <dgm:cxn modelId="{A8E2D3C9-9DC8-4646-86DA-84C8700C93F8}" type="presParOf" srcId="{173F800C-50D2-4131-8C71-FC1F3B05BE48}" destId="{A5536824-6194-4F0D-96E8-B1DD8A9294D7}" srcOrd="0" destOrd="0" presId="urn:microsoft.com/office/officeart/2008/layout/LinedList"/>
    <dgm:cxn modelId="{87151E14-B0E9-46AD-9504-5A0295B721EE}" type="presParOf" srcId="{173F800C-50D2-4131-8C71-FC1F3B05BE48}" destId="{1E99BE2D-14ED-4618-A705-02F5E1A436CC}" srcOrd="1" destOrd="0" presId="urn:microsoft.com/office/officeart/2008/layout/LinedList"/>
    <dgm:cxn modelId="{64E58045-01F7-46B0-85C2-428371C25891}" type="presParOf" srcId="{0BFA662B-C3BF-4909-AAD1-11BFAEB3FCB7}" destId="{D7085D72-7629-4E0B-9EB3-4293E874E1EF}" srcOrd="4" destOrd="0" presId="urn:microsoft.com/office/officeart/2008/layout/LinedList"/>
    <dgm:cxn modelId="{B76E8757-1FFD-4ABF-BEDA-22BB126985E8}" type="presParOf" srcId="{0BFA662B-C3BF-4909-AAD1-11BFAEB3FCB7}" destId="{B554DA3A-022B-41D6-BD15-DE1C28497855}" srcOrd="5" destOrd="0" presId="urn:microsoft.com/office/officeart/2008/layout/LinedList"/>
    <dgm:cxn modelId="{2DD606A0-D537-4377-B16C-B7149F68D64B}" type="presParOf" srcId="{B554DA3A-022B-41D6-BD15-DE1C28497855}" destId="{DD910942-8C3D-432A-A686-0B1B61162E38}" srcOrd="0" destOrd="0" presId="urn:microsoft.com/office/officeart/2008/layout/LinedList"/>
    <dgm:cxn modelId="{49522326-7A60-4586-B6EB-392574280229}" type="presParOf" srcId="{B554DA3A-022B-41D6-BD15-DE1C28497855}" destId="{03E9A035-0E0F-4048-A4D7-63A5FB6EA4EC}" srcOrd="1" destOrd="0" presId="urn:microsoft.com/office/officeart/2008/layout/LinedList"/>
    <dgm:cxn modelId="{29016C39-9795-4C29-AA20-F91F4379A469}" type="presParOf" srcId="{0BFA662B-C3BF-4909-AAD1-11BFAEB3FCB7}" destId="{40AA1991-48B6-417A-909C-E4C5FF72A1F5}" srcOrd="6" destOrd="0" presId="urn:microsoft.com/office/officeart/2008/layout/LinedList"/>
    <dgm:cxn modelId="{E5F97D6C-7848-47F4-BF5B-64947729ECA6}" type="presParOf" srcId="{0BFA662B-C3BF-4909-AAD1-11BFAEB3FCB7}" destId="{EA2A955C-8312-447D-8804-E1B13EC173E0}" srcOrd="7" destOrd="0" presId="urn:microsoft.com/office/officeart/2008/layout/LinedList"/>
    <dgm:cxn modelId="{827E9926-AAC4-4368-AA83-962C8CE61D31}" type="presParOf" srcId="{EA2A955C-8312-447D-8804-E1B13EC173E0}" destId="{189151B3-38A2-475F-8A3E-053D3742C34F}" srcOrd="0" destOrd="0" presId="urn:microsoft.com/office/officeart/2008/layout/LinedList"/>
    <dgm:cxn modelId="{664B82EB-1418-4149-ABAF-BF8EB592AD25}" type="presParOf" srcId="{EA2A955C-8312-447D-8804-E1B13EC173E0}" destId="{F662067A-9A77-4239-8FC5-62D6D873FC4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C7B95D-FC8B-44BC-816F-8FC732EF125D}">
      <dsp:nvSpPr>
        <dsp:cNvPr id="0" name=""/>
        <dsp:cNvSpPr/>
      </dsp:nvSpPr>
      <dsp:spPr>
        <a:xfrm>
          <a:off x="0" y="291592"/>
          <a:ext cx="5918184" cy="230957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This week lecture will cover the following CLO:</a:t>
          </a:r>
        </a:p>
      </dsp:txBody>
      <dsp:txXfrm>
        <a:off x="112744" y="404336"/>
        <a:ext cx="5692696" cy="2084091"/>
      </dsp:txXfrm>
    </dsp:sp>
    <dsp:sp modelId="{A025C2BC-3DF5-4B12-A043-E15E948A1F98}">
      <dsp:nvSpPr>
        <dsp:cNvPr id="0" name=""/>
        <dsp:cNvSpPr/>
      </dsp:nvSpPr>
      <dsp:spPr>
        <a:xfrm>
          <a:off x="0" y="2601172"/>
          <a:ext cx="5918184" cy="2086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902" tIns="53340" rIns="298704" bIns="53340" numCol="1" spcCol="1270" anchor="t" anchorCtr="0">
          <a:noAutofit/>
        </a:bodyPr>
        <a:lstStyle/>
        <a:p>
          <a:pPr marL="285750" lvl="1" indent="-285750" algn="l" defTabSz="1466850">
            <a:lnSpc>
              <a:spcPct val="90000"/>
            </a:lnSpc>
            <a:spcBef>
              <a:spcPct val="0"/>
            </a:spcBef>
            <a:spcAft>
              <a:spcPct val="20000"/>
            </a:spcAft>
            <a:buChar char="•"/>
          </a:pPr>
          <a:r>
            <a:rPr lang="en-US" sz="3300" b="1" kern="1200" dirty="0"/>
            <a:t>CLO 2: </a:t>
          </a:r>
          <a:r>
            <a:rPr lang="en-US" sz="3300" b="0" kern="1200" dirty="0"/>
            <a:t>. Implement artificial intelligence techniques and case studies</a:t>
          </a:r>
          <a:endParaRPr lang="en-US" sz="3300" kern="1200" dirty="0"/>
        </a:p>
        <a:p>
          <a:pPr marL="285750" lvl="1" indent="-285750" algn="l" defTabSz="1466850">
            <a:lnSpc>
              <a:spcPct val="90000"/>
            </a:lnSpc>
            <a:spcBef>
              <a:spcPct val="0"/>
            </a:spcBef>
            <a:spcAft>
              <a:spcPct val="20000"/>
            </a:spcAft>
            <a:buChar char="•"/>
          </a:pPr>
          <a:endParaRPr lang="en-US" sz="3300" b="0" kern="1200" dirty="0"/>
        </a:p>
      </dsp:txBody>
      <dsp:txXfrm>
        <a:off x="0" y="2601172"/>
        <a:ext cx="5918184" cy="2086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F7D8EB-E188-4388-AE69-EBD651A7C6F6}">
      <dsp:nvSpPr>
        <dsp:cNvPr id="0" name=""/>
        <dsp:cNvSpPr/>
      </dsp:nvSpPr>
      <dsp:spPr>
        <a:xfrm>
          <a:off x="0" y="0"/>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76A266-E766-4739-B76E-920A3DEA74E6}">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PK" sz="3100" b="0" i="0" kern="1200" baseline="0"/>
            <a:t>Problem-solving agents use search techniques to find solutions.</a:t>
          </a:r>
          <a:endParaRPr lang="en-US" sz="3100" kern="1200"/>
        </a:p>
      </dsp:txBody>
      <dsp:txXfrm>
        <a:off x="0" y="0"/>
        <a:ext cx="6900512" cy="1384035"/>
      </dsp:txXfrm>
    </dsp:sp>
    <dsp:sp modelId="{28EED886-8354-4407-B49D-C165F037220A}">
      <dsp:nvSpPr>
        <dsp:cNvPr id="0" name=""/>
        <dsp:cNvSpPr/>
      </dsp:nvSpPr>
      <dsp:spPr>
        <a:xfrm>
          <a:off x="0" y="1384035"/>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536824-6194-4F0D-96E8-B1DD8A9294D7}">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PK" sz="3100" b="0" i="0" kern="1200" baseline="0" dirty="0"/>
            <a:t>Uninformed search explores the search space without extra information.</a:t>
          </a:r>
          <a:endParaRPr lang="en-US" sz="3100" kern="1200" dirty="0"/>
        </a:p>
      </dsp:txBody>
      <dsp:txXfrm>
        <a:off x="0" y="1384035"/>
        <a:ext cx="6900512" cy="1384035"/>
      </dsp:txXfrm>
    </dsp:sp>
    <dsp:sp modelId="{D7085D72-7629-4E0B-9EB3-4293E874E1EF}">
      <dsp:nvSpPr>
        <dsp:cNvPr id="0" name=""/>
        <dsp:cNvSpPr/>
      </dsp:nvSpPr>
      <dsp:spPr>
        <a:xfrm>
          <a:off x="0" y="2768070"/>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910942-8C3D-432A-A686-0B1B61162E38}">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PK" sz="3100" b="0" i="0" kern="1200" baseline="0" dirty="0"/>
            <a:t>Informed search uses heuristics to guide the search process.</a:t>
          </a:r>
          <a:endParaRPr lang="en-US" sz="3100" kern="1200" dirty="0"/>
        </a:p>
      </dsp:txBody>
      <dsp:txXfrm>
        <a:off x="0" y="2768070"/>
        <a:ext cx="6900512" cy="1384035"/>
      </dsp:txXfrm>
    </dsp:sp>
    <dsp:sp modelId="{40AA1991-48B6-417A-909C-E4C5FF72A1F5}">
      <dsp:nvSpPr>
        <dsp:cNvPr id="0" name=""/>
        <dsp:cNvSpPr/>
      </dsp:nvSpPr>
      <dsp:spPr>
        <a:xfrm>
          <a:off x="0" y="4152105"/>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9151B3-38A2-475F-8A3E-053D3742C34F}">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PK" sz="2800" b="0" i="0" kern="1200" baseline="0" dirty="0"/>
            <a:t>A* is a powerful informed search algorithm combining cost and heuristic estimates. </a:t>
          </a:r>
          <a:endParaRPr lang="en-US" sz="2800" kern="1200" dirty="0"/>
        </a:p>
      </dsp:txBody>
      <dsp:txXfrm>
        <a:off x="0" y="4152105"/>
        <a:ext cx="6900512" cy="13840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07986-D4E9-4F20-BDDF-A86C85BB79C3}" type="datetimeFigureOut">
              <a:rPr lang="en-PK" smtClean="0"/>
              <a:t>12/03/2025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70C78-D1E4-43B4-9084-D5891F6FAD77}" type="slidenum">
              <a:rPr lang="en-PK" smtClean="0"/>
              <a:t>‹#›</a:t>
            </a:fld>
            <a:endParaRPr lang="en-PK"/>
          </a:p>
        </p:txBody>
      </p:sp>
    </p:spTree>
    <p:extLst>
      <p:ext uri="{BB962C8B-B14F-4D97-AF65-F5344CB8AC3E}">
        <p14:creationId xmlns:p14="http://schemas.microsoft.com/office/powerpoint/2010/main" val="1537802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7770C78-D1E4-43B4-9084-D5891F6FAD77}" type="slidenum">
              <a:rPr lang="en-PK" smtClean="0"/>
              <a:t>1</a:t>
            </a:fld>
            <a:endParaRPr lang="en-PK"/>
          </a:p>
        </p:txBody>
      </p:sp>
    </p:spTree>
    <p:extLst>
      <p:ext uri="{BB962C8B-B14F-4D97-AF65-F5344CB8AC3E}">
        <p14:creationId xmlns:p14="http://schemas.microsoft.com/office/powerpoint/2010/main" val="8861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770C78-D1E4-43B4-9084-D5891F6FAD77}"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41672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770C78-D1E4-43B4-9084-D5891F6FAD77}"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7068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4B1B422B-D56B-48A6-BE4D-0AAC7D67A4F0}" type="datetimeFigureOut">
              <a:rPr lang="en-PK" smtClean="0"/>
              <a:t>12/03/2025</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390105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4B1B422B-D56B-48A6-BE4D-0AAC7D67A4F0}" type="datetimeFigureOut">
              <a:rPr lang="en-PK" smtClean="0"/>
              <a:t>12/03/2025</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254302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4B1B422B-D56B-48A6-BE4D-0AAC7D67A4F0}" type="datetimeFigureOut">
              <a:rPr lang="en-PK" smtClean="0"/>
              <a:t>12/03/2025</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085360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4B1B422B-D56B-48A6-BE4D-0AAC7D67A4F0}" type="datetimeFigureOut">
              <a:rPr lang="en-PK" smtClean="0"/>
              <a:t>12/03/2025</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08366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4B1B422B-D56B-48A6-BE4D-0AAC7D67A4F0}" type="datetimeFigureOut">
              <a:rPr lang="en-PK" smtClean="0"/>
              <a:t>12/03/2025</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31995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4B1B422B-D56B-48A6-BE4D-0AAC7D67A4F0}" type="datetimeFigureOut">
              <a:rPr lang="en-PK" smtClean="0"/>
              <a:t>12/03/2025</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891590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4B1B422B-D56B-48A6-BE4D-0AAC7D67A4F0}" type="datetimeFigureOut">
              <a:rPr lang="en-PK" smtClean="0"/>
              <a:t>12/03/2025</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140974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4B1B422B-D56B-48A6-BE4D-0AAC7D67A4F0}" type="datetimeFigureOut">
              <a:rPr lang="en-PK" smtClean="0"/>
              <a:t>12/03/2025</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230029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4B1B422B-D56B-48A6-BE4D-0AAC7D67A4F0}" type="datetimeFigureOut">
              <a:rPr lang="en-PK" smtClean="0"/>
              <a:t>12/03/2025</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02028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4B1B422B-D56B-48A6-BE4D-0AAC7D67A4F0}" type="datetimeFigureOut">
              <a:rPr lang="en-PK" smtClean="0"/>
              <a:t>12/03/2025</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50506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4B1B422B-D56B-48A6-BE4D-0AAC7D67A4F0}" type="datetimeFigureOut">
              <a:rPr lang="en-PK" smtClean="0"/>
              <a:t>12/03/2025</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228638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B422B-D56B-48A6-BE4D-0AAC7D67A4F0}" type="datetimeFigureOut">
              <a:rPr lang="en-PK" smtClean="0"/>
              <a:t>12/03/2025</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2001108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49733D3-B539-9FDF-841C-7CA34CBED49E}"/>
              </a:ext>
            </a:extLst>
          </p:cNvPr>
          <p:cNvSpPr>
            <a:spLocks noGrp="1"/>
          </p:cNvSpPr>
          <p:nvPr>
            <p:ph type="ctrTitle"/>
          </p:nvPr>
        </p:nvSpPr>
        <p:spPr>
          <a:xfrm>
            <a:off x="2026693" y="1030406"/>
            <a:ext cx="8147713" cy="3081242"/>
          </a:xfrm>
        </p:spPr>
        <p:txBody>
          <a:bodyPr anchor="ctr">
            <a:normAutofit/>
          </a:bodyPr>
          <a:lstStyle/>
          <a:p>
            <a:r>
              <a:rPr lang="en-GB" sz="4800">
                <a:solidFill>
                  <a:srgbClr val="FFFFFF"/>
                </a:solidFill>
                <a:latin typeface="Arial" panose="020B0604020202020204" pitchFamily="34" charset="0"/>
                <a:cs typeface="Arial" panose="020B0604020202020204" pitchFamily="34" charset="0"/>
              </a:rPr>
              <a:t>Artificial Intelligence</a:t>
            </a:r>
            <a:endParaRPr lang="en-PK" sz="4800">
              <a:solidFill>
                <a:srgbClr val="FFFFF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0CA6085-9456-8389-FD83-03FD37673D7F}"/>
              </a:ext>
            </a:extLst>
          </p:cNvPr>
          <p:cNvSpPr>
            <a:spLocks noGrp="1"/>
          </p:cNvSpPr>
          <p:nvPr>
            <p:ph type="subTitle" idx="1"/>
          </p:nvPr>
        </p:nvSpPr>
        <p:spPr>
          <a:xfrm>
            <a:off x="1559943" y="5171093"/>
            <a:ext cx="9078628" cy="860620"/>
          </a:xfrm>
        </p:spPr>
        <p:txBody>
          <a:bodyPr anchor="ctr">
            <a:noAutofit/>
          </a:bodyPr>
          <a:lstStyle/>
          <a:p>
            <a:r>
              <a:rPr lang="en-US" sz="1600" dirty="0">
                <a:solidFill>
                  <a:srgbClr val="FFFFFF"/>
                </a:solidFill>
                <a:latin typeface="Arial" panose="020B0604020202020204" pitchFamily="34" charset="0"/>
                <a:cs typeface="Arial" panose="020B0604020202020204" pitchFamily="34" charset="0"/>
              </a:rPr>
              <a:t>Course Code: CS-202</a:t>
            </a:r>
          </a:p>
          <a:p>
            <a:r>
              <a:rPr lang="en-US" sz="1600" dirty="0">
                <a:solidFill>
                  <a:srgbClr val="FFFFFF"/>
                </a:solidFill>
                <a:latin typeface="Arial" panose="020B0604020202020204" pitchFamily="34" charset="0"/>
                <a:cs typeface="Arial" panose="020B0604020202020204" pitchFamily="34" charset="0"/>
              </a:rPr>
              <a:t>Topic: Uninformed Search Algorithms</a:t>
            </a:r>
          </a:p>
          <a:p>
            <a:r>
              <a:rPr lang="en-US" sz="1600" dirty="0">
                <a:solidFill>
                  <a:srgbClr val="FFFFFF"/>
                </a:solidFill>
                <a:latin typeface="Arial" panose="020B0604020202020204" pitchFamily="34" charset="0"/>
                <a:cs typeface="Arial" panose="020B0604020202020204" pitchFamily="34" charset="0"/>
              </a:rPr>
              <a:t>Instructor: Habiba Arshad</a:t>
            </a:r>
            <a:endParaRPr lang="en-PK" sz="1600"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702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E0E7B3-C946-4D46-D3F2-E5D4B280843F}"/>
              </a:ext>
            </a:extLst>
          </p:cNvPr>
          <p:cNvSpPr>
            <a:spLocks noGrp="1"/>
          </p:cNvSpPr>
          <p:nvPr>
            <p:ph type="title"/>
          </p:nvPr>
        </p:nvSpPr>
        <p:spPr>
          <a:xfrm>
            <a:off x="645065" y="1097280"/>
            <a:ext cx="3796306" cy="4666207"/>
          </a:xfrm>
        </p:spPr>
        <p:txBody>
          <a:bodyPr anchor="ctr">
            <a:normAutofit/>
          </a:bodyPr>
          <a:lstStyle/>
          <a:p>
            <a:r>
              <a:rPr lang="en-GB" sz="4800" b="1" dirty="0">
                <a:latin typeface="Arial" panose="020B0604020202020204" pitchFamily="34" charset="0"/>
                <a:cs typeface="Arial" panose="020B0604020202020204" pitchFamily="34" charset="0"/>
              </a:rPr>
              <a:t>Week-5 </a:t>
            </a:r>
            <a:endParaRPr lang="en-PK" sz="4800" b="1" dirty="0">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12" name="Rectangle 11">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51412D1-217C-109E-B1DF-6DFBBBBDB9B7}"/>
              </a:ext>
            </a:extLst>
          </p:cNvPr>
          <p:cNvGraphicFramePr>
            <a:graphicFrameLocks noGrp="1"/>
          </p:cNvGraphicFramePr>
          <p:nvPr>
            <p:ph idx="1"/>
            <p:extLst>
              <p:ext uri="{D42A27DB-BD31-4B8C-83A1-F6EECF244321}">
                <p14:modId xmlns:p14="http://schemas.microsoft.com/office/powerpoint/2010/main" val="4158525557"/>
              </p:ext>
            </p:extLst>
          </p:nvPr>
        </p:nvGraphicFramePr>
        <p:xfrm>
          <a:off x="5431536" y="1014153"/>
          <a:ext cx="5918184" cy="4979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069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BC27BB5-6016-7BED-24C9-F96BB127027C}"/>
              </a:ext>
            </a:extLst>
          </p:cNvPr>
          <p:cNvSpPr>
            <a:spLocks noGrp="1"/>
          </p:cNvSpPr>
          <p:nvPr>
            <p:ph type="title"/>
          </p:nvPr>
        </p:nvSpPr>
        <p:spPr>
          <a:xfrm>
            <a:off x="808638" y="386930"/>
            <a:ext cx="9236700" cy="1188950"/>
          </a:xfrm>
        </p:spPr>
        <p:txBody>
          <a:bodyPr anchor="b">
            <a:normAutofit/>
          </a:bodyPr>
          <a:lstStyle/>
          <a:p>
            <a:r>
              <a:rPr kumimoji="0" lang="en-PK" altLang="en-PK" sz="5400" b="1" i="0" u="none" strike="noStrike" cap="none" normalizeH="0" baseline="0" dirty="0">
                <a:ln>
                  <a:noFill/>
                </a:ln>
                <a:effectLst/>
                <a:latin typeface="Arial" panose="020B0604020202020204" pitchFamily="34" charset="0"/>
              </a:rPr>
              <a:t>Uniform Cost Search</a:t>
            </a:r>
            <a:endParaRPr lang="en-PK" sz="5400" dirty="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AB7E1D40-48CF-8AFF-ABB7-D3B6251CD798}"/>
              </a:ext>
            </a:extLst>
          </p:cNvPr>
          <p:cNvSpPr>
            <a:spLocks noGrp="1"/>
          </p:cNvSpPr>
          <p:nvPr>
            <p:ph idx="1"/>
          </p:nvPr>
        </p:nvSpPr>
        <p:spPr>
          <a:xfrm>
            <a:off x="793660" y="2203079"/>
            <a:ext cx="10252121" cy="4147845"/>
          </a:xfrm>
        </p:spPr>
        <p:txBody>
          <a:bodyPr anchor="ctr">
            <a:normAutofit/>
          </a:bodyPr>
          <a:lstStyle/>
          <a:p>
            <a:pPr algn="just"/>
            <a:r>
              <a:rPr lang="en-GB" dirty="0">
                <a:latin typeface="Nunito" pitchFamily="2" charset="0"/>
              </a:rPr>
              <a:t>Uniform Cost Search (UCS) is a popular search algorithm used in artificial intelligence (AI) for finding the least cost path in a graph. </a:t>
            </a:r>
          </a:p>
          <a:p>
            <a:pPr algn="just"/>
            <a:r>
              <a:rPr lang="en-GB" dirty="0">
                <a:latin typeface="Nunito" pitchFamily="2" charset="0"/>
              </a:rPr>
              <a:t>It is a variant of Dijkstra's algorithm and is particularly useful when all edges of the graph have different weights, and the goal is to find the path with the minimum total cost from a start node to a goal node.</a:t>
            </a:r>
          </a:p>
        </p:txBody>
      </p:sp>
    </p:spTree>
    <p:extLst>
      <p:ext uri="{BB962C8B-B14F-4D97-AF65-F5344CB8AC3E}">
        <p14:creationId xmlns:p14="http://schemas.microsoft.com/office/powerpoint/2010/main" val="1511499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6" name="Rectangle 2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8" name="Rectangle 2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0" name="Rectangle 2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0D07B3D-83E4-7561-C780-C59468909330}"/>
              </a:ext>
            </a:extLst>
          </p:cNvPr>
          <p:cNvSpPr>
            <a:spLocks noGrp="1"/>
          </p:cNvSpPr>
          <p:nvPr>
            <p:ph type="title"/>
          </p:nvPr>
        </p:nvSpPr>
        <p:spPr>
          <a:xfrm>
            <a:off x="1043631" y="809898"/>
            <a:ext cx="9942716" cy="1554480"/>
          </a:xfrm>
        </p:spPr>
        <p:txBody>
          <a:bodyPr anchor="ctr">
            <a:normAutofit/>
          </a:bodyPr>
          <a:lstStyle/>
          <a:p>
            <a:r>
              <a:rPr lang="en-GB" sz="4800" dirty="0"/>
              <a:t>Uniform Cost Algorithm</a:t>
            </a:r>
            <a:endParaRPr lang="en-PK" sz="4800" dirty="0"/>
          </a:p>
        </p:txBody>
      </p:sp>
      <p:sp>
        <p:nvSpPr>
          <p:cNvPr id="7" name="Content Placeholder 6">
            <a:extLst>
              <a:ext uri="{FF2B5EF4-FFF2-40B4-BE49-F238E27FC236}">
                <a16:creationId xmlns:a16="http://schemas.microsoft.com/office/drawing/2014/main" id="{AC443F69-F7B1-BC61-07E4-9970E203046C}"/>
              </a:ext>
            </a:extLst>
          </p:cNvPr>
          <p:cNvSpPr>
            <a:spLocks noGrp="1"/>
          </p:cNvSpPr>
          <p:nvPr>
            <p:ph idx="1"/>
          </p:nvPr>
        </p:nvSpPr>
        <p:spPr>
          <a:xfrm>
            <a:off x="1045028" y="2704014"/>
            <a:ext cx="9941319" cy="3438166"/>
          </a:xfrm>
        </p:spPr>
        <p:txBody>
          <a:bodyPr anchor="ctr">
            <a:normAutofit fontScale="92500"/>
          </a:bodyPr>
          <a:lstStyle/>
          <a:p>
            <a:pPr marL="514350" indent="-514350">
              <a:buFont typeface="+mj-lt"/>
              <a:buAutoNum type="arabicPeriod"/>
            </a:pPr>
            <a:r>
              <a:rPr lang="en-GB" sz="2400" dirty="0"/>
              <a:t>Insert the root into the queue</a:t>
            </a:r>
          </a:p>
          <a:p>
            <a:pPr marL="514350" indent="-514350">
              <a:buFont typeface="+mj-lt"/>
              <a:buAutoNum type="arabicPeriod"/>
            </a:pPr>
            <a:r>
              <a:rPr lang="en-GB" sz="2400" dirty="0"/>
              <a:t>While the queue is not empty</a:t>
            </a:r>
          </a:p>
          <a:p>
            <a:pPr lvl="1"/>
            <a:r>
              <a:rPr lang="en-GB" dirty="0"/>
              <a:t>      Dequeue the maximum priority (minimum cost)element from the queue</a:t>
            </a:r>
          </a:p>
          <a:p>
            <a:pPr lvl="1"/>
            <a:r>
              <a:rPr lang="en-GB" dirty="0"/>
              <a:t>      (If priorities are same, alphabetically smaller path is chosen)</a:t>
            </a:r>
          </a:p>
          <a:p>
            <a:pPr lvl="1"/>
            <a:r>
              <a:rPr lang="en-GB" dirty="0"/>
              <a:t>      If the path is ending in the goal state, print the path and exit</a:t>
            </a:r>
          </a:p>
          <a:p>
            <a:pPr lvl="1"/>
            <a:r>
              <a:rPr lang="en-GB" dirty="0"/>
              <a:t>      Else</a:t>
            </a:r>
          </a:p>
          <a:p>
            <a:pPr lvl="1"/>
            <a:r>
              <a:rPr lang="en-GB" dirty="0"/>
              <a:t>            Insert all the children of the dequeued element, with the cumulative costs as priority</a:t>
            </a:r>
          </a:p>
          <a:p>
            <a:pPr marL="0" indent="0">
              <a:buNone/>
            </a:pPr>
            <a:r>
              <a:rPr lang="en-GB" sz="1900" b="1" dirty="0">
                <a:latin typeface="Nunito" pitchFamily="2" charset="0"/>
              </a:rPr>
              <a:t>Note: Example solved in class</a:t>
            </a:r>
            <a:endParaRPr lang="en-PK" sz="1900" dirty="0"/>
          </a:p>
        </p:txBody>
      </p:sp>
      <p:cxnSp>
        <p:nvCxnSpPr>
          <p:cNvPr id="32" name="Straight Connector 3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117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21C3C-7587-D670-DA5A-8155A3B80CEA}"/>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A74A52DC-0A47-AD21-CBD4-E577B339C382}"/>
              </a:ext>
            </a:extLst>
          </p:cNvPr>
          <p:cNvSpPr>
            <a:spLocks noGrp="1"/>
          </p:cNvSpPr>
          <p:nvPr>
            <p:ph idx="1"/>
          </p:nvPr>
        </p:nvSpPr>
        <p:spPr/>
        <p:txBody>
          <a:bodyPr/>
          <a:lstStyle/>
          <a:p>
            <a:r>
              <a:rPr lang="en-US" dirty="0"/>
              <a:t>Imagine you are in a city and want to travel from your home (Node A) to a friend's house (Node G). The city map is represented as a graph where nodes are locations and edges are roads with associated travel costs (e.g., distance, time, or fuel).</a:t>
            </a:r>
          </a:p>
        </p:txBody>
      </p:sp>
    </p:spTree>
    <p:extLst>
      <p:ext uri="{BB962C8B-B14F-4D97-AF65-F5344CB8AC3E}">
        <p14:creationId xmlns:p14="http://schemas.microsoft.com/office/powerpoint/2010/main" val="389823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719119-94C6-3626-7EF8-E889C775683C}"/>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A67C820-8977-3314-380B-C4C361E98BAE}"/>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a:t>Uniform Cost Example</a:t>
            </a:r>
          </a:p>
        </p:txBody>
      </p:sp>
      <p:sp>
        <p:nvSpPr>
          <p:cNvPr id="39"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6" name="Picture 5">
            <a:extLst>
              <a:ext uri="{FF2B5EF4-FFF2-40B4-BE49-F238E27FC236}">
                <a16:creationId xmlns:a16="http://schemas.microsoft.com/office/drawing/2014/main" id="{A223412D-C98D-8CF8-C7B8-1AF5C07F04B1}"/>
              </a:ext>
            </a:extLst>
          </p:cNvPr>
          <p:cNvPicPr>
            <a:picLocks noChangeAspect="1"/>
          </p:cNvPicPr>
          <p:nvPr/>
        </p:nvPicPr>
        <p:blipFill>
          <a:blip r:embed="rId3"/>
          <a:stretch>
            <a:fillRect/>
          </a:stretch>
        </p:blipFill>
        <p:spPr>
          <a:xfrm>
            <a:off x="377952" y="1868971"/>
            <a:ext cx="5384305" cy="4989029"/>
          </a:xfrm>
          <a:prstGeom prst="rect">
            <a:avLst/>
          </a:prstGeom>
        </p:spPr>
      </p:pic>
      <p:pic>
        <p:nvPicPr>
          <p:cNvPr id="4" name="Content Placeholder 3">
            <a:extLst>
              <a:ext uri="{FF2B5EF4-FFF2-40B4-BE49-F238E27FC236}">
                <a16:creationId xmlns:a16="http://schemas.microsoft.com/office/drawing/2014/main" id="{C19FC505-38D5-0793-939B-B79E743E87E1}"/>
              </a:ext>
            </a:extLst>
          </p:cNvPr>
          <p:cNvPicPr>
            <a:picLocks noGrp="1" noChangeAspect="1"/>
          </p:cNvPicPr>
          <p:nvPr>
            <p:ph idx="1"/>
          </p:nvPr>
        </p:nvPicPr>
        <p:blipFill>
          <a:blip r:embed="rId4"/>
          <a:stretch>
            <a:fillRect/>
          </a:stretch>
        </p:blipFill>
        <p:spPr>
          <a:xfrm>
            <a:off x="6429744" y="2444496"/>
            <a:ext cx="5263919" cy="3956304"/>
          </a:xfrm>
          <a:prstGeom prst="rect">
            <a:avLst/>
          </a:prstGeom>
        </p:spPr>
      </p:pic>
    </p:spTree>
    <p:extLst>
      <p:ext uri="{BB962C8B-B14F-4D97-AF65-F5344CB8AC3E}">
        <p14:creationId xmlns:p14="http://schemas.microsoft.com/office/powerpoint/2010/main" val="483783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58C63A26-7351-A890-90A4-ADCB984B5FCA}"/>
              </a:ext>
            </a:extLst>
          </p:cNvPr>
          <p:cNvGraphicFramePr>
            <a:graphicFrameLocks noGrp="1"/>
          </p:cNvGraphicFramePr>
          <p:nvPr>
            <p:ph idx="1"/>
            <p:extLst>
              <p:ext uri="{D42A27DB-BD31-4B8C-83A1-F6EECF244321}">
                <p14:modId xmlns:p14="http://schemas.microsoft.com/office/powerpoint/2010/main" val="2536089416"/>
              </p:ext>
            </p:extLst>
          </p:nvPr>
        </p:nvGraphicFramePr>
        <p:xfrm>
          <a:off x="643467" y="1435847"/>
          <a:ext cx="10905069" cy="3986310"/>
        </p:xfrm>
        <a:graphic>
          <a:graphicData uri="http://schemas.openxmlformats.org/drawingml/2006/table">
            <a:tbl>
              <a:tblPr firstRow="1" bandRow="1"/>
              <a:tblGrid>
                <a:gridCol w="1467990">
                  <a:extLst>
                    <a:ext uri="{9D8B030D-6E8A-4147-A177-3AD203B41FA5}">
                      <a16:colId xmlns:a16="http://schemas.microsoft.com/office/drawing/2014/main" val="1175324177"/>
                    </a:ext>
                  </a:extLst>
                </a:gridCol>
                <a:gridCol w="2263566">
                  <a:extLst>
                    <a:ext uri="{9D8B030D-6E8A-4147-A177-3AD203B41FA5}">
                      <a16:colId xmlns:a16="http://schemas.microsoft.com/office/drawing/2014/main" val="2683235408"/>
                    </a:ext>
                  </a:extLst>
                </a:gridCol>
                <a:gridCol w="2395122">
                  <a:extLst>
                    <a:ext uri="{9D8B030D-6E8A-4147-A177-3AD203B41FA5}">
                      <a16:colId xmlns:a16="http://schemas.microsoft.com/office/drawing/2014/main" val="2506345475"/>
                    </a:ext>
                  </a:extLst>
                </a:gridCol>
                <a:gridCol w="2383269">
                  <a:extLst>
                    <a:ext uri="{9D8B030D-6E8A-4147-A177-3AD203B41FA5}">
                      <a16:colId xmlns:a16="http://schemas.microsoft.com/office/drawing/2014/main" val="1092922504"/>
                    </a:ext>
                  </a:extLst>
                </a:gridCol>
                <a:gridCol w="2395122">
                  <a:extLst>
                    <a:ext uri="{9D8B030D-6E8A-4147-A177-3AD203B41FA5}">
                      <a16:colId xmlns:a16="http://schemas.microsoft.com/office/drawing/2014/main" val="2742000508"/>
                    </a:ext>
                  </a:extLst>
                </a:gridCol>
              </a:tblGrid>
              <a:tr h="586947">
                <a:tc>
                  <a:txBody>
                    <a:bodyPr/>
                    <a:lstStyle/>
                    <a:p>
                      <a:r>
                        <a:rPr lang="en-US" sz="1600" b="1"/>
                        <a:t>Step</a:t>
                      </a:r>
                      <a:endParaRPr lang="en-US" sz="1600"/>
                    </a:p>
                  </a:txBody>
                  <a:tcPr marL="76274" marR="76274" marT="38138" marB="38138" anchor="ctr">
                    <a:lnL>
                      <a:noFill/>
                    </a:lnL>
                    <a:lnR>
                      <a:noFill/>
                    </a:lnR>
                    <a:lnT>
                      <a:noFill/>
                    </a:lnT>
                    <a:lnB>
                      <a:noFill/>
                    </a:lnB>
                    <a:noFill/>
                  </a:tcPr>
                </a:tc>
                <a:tc>
                  <a:txBody>
                    <a:bodyPr/>
                    <a:lstStyle/>
                    <a:p>
                      <a:r>
                        <a:rPr lang="en-US" sz="1600" b="1"/>
                        <a:t>Expanded Node</a:t>
                      </a:r>
                      <a:endParaRPr lang="en-US" sz="1600"/>
                    </a:p>
                  </a:txBody>
                  <a:tcPr marL="76274" marR="76274" marT="38138" marB="38138" anchor="ctr">
                    <a:lnL>
                      <a:noFill/>
                    </a:lnL>
                    <a:lnR>
                      <a:noFill/>
                    </a:lnR>
                    <a:lnT>
                      <a:noFill/>
                    </a:lnT>
                    <a:lnB>
                      <a:noFill/>
                    </a:lnB>
                    <a:noFill/>
                  </a:tcPr>
                </a:tc>
                <a:tc>
                  <a:txBody>
                    <a:bodyPr/>
                    <a:lstStyle/>
                    <a:p>
                      <a:r>
                        <a:rPr lang="en-US" sz="1600" b="1"/>
                        <a:t>Queue Before Expansion (Cost, Node)</a:t>
                      </a:r>
                      <a:endParaRPr lang="en-US" sz="1600"/>
                    </a:p>
                  </a:txBody>
                  <a:tcPr marL="76274" marR="76274" marT="38138" marB="38138" anchor="ctr">
                    <a:lnL>
                      <a:noFill/>
                    </a:lnL>
                    <a:lnR>
                      <a:noFill/>
                    </a:lnR>
                    <a:lnT>
                      <a:noFill/>
                    </a:lnT>
                    <a:lnB>
                      <a:noFill/>
                    </a:lnB>
                    <a:noFill/>
                  </a:tcPr>
                </a:tc>
                <a:tc>
                  <a:txBody>
                    <a:bodyPr/>
                    <a:lstStyle/>
                    <a:p>
                      <a:r>
                        <a:rPr lang="en-US" sz="1600" b="1"/>
                        <a:t>Neighbors Added / Updated</a:t>
                      </a:r>
                      <a:endParaRPr lang="en-US" sz="1600"/>
                    </a:p>
                  </a:txBody>
                  <a:tcPr marL="76274" marR="76274" marT="38138" marB="38138" anchor="ctr">
                    <a:lnL>
                      <a:noFill/>
                    </a:lnL>
                    <a:lnR>
                      <a:noFill/>
                    </a:lnR>
                    <a:lnT>
                      <a:noFill/>
                    </a:lnT>
                    <a:lnB>
                      <a:noFill/>
                    </a:lnB>
                    <a:noFill/>
                  </a:tcPr>
                </a:tc>
                <a:tc>
                  <a:txBody>
                    <a:bodyPr/>
                    <a:lstStyle/>
                    <a:p>
                      <a:r>
                        <a:rPr lang="en-US" sz="1600" b="1"/>
                        <a:t>Queue After Expansion (Cost, Node)</a:t>
                      </a:r>
                      <a:endParaRPr lang="en-US" sz="1600"/>
                    </a:p>
                  </a:txBody>
                  <a:tcPr marL="76274" marR="76274" marT="38138" marB="38138" anchor="ctr">
                    <a:lnL>
                      <a:noFill/>
                    </a:lnL>
                    <a:lnR>
                      <a:noFill/>
                    </a:lnR>
                    <a:lnT>
                      <a:noFill/>
                    </a:lnT>
                    <a:lnB>
                      <a:noFill/>
                    </a:lnB>
                    <a:noFill/>
                  </a:tcPr>
                </a:tc>
                <a:extLst>
                  <a:ext uri="{0D108BD9-81ED-4DB2-BD59-A6C34878D82A}">
                    <a16:rowId xmlns:a16="http://schemas.microsoft.com/office/drawing/2014/main" val="1498929536"/>
                  </a:ext>
                </a:extLst>
              </a:tr>
              <a:tr h="350525">
                <a:tc>
                  <a:txBody>
                    <a:bodyPr/>
                    <a:lstStyle/>
                    <a:p>
                      <a:r>
                        <a:rPr lang="en-US" sz="1600" b="1"/>
                        <a:t>1</a:t>
                      </a:r>
                      <a:endParaRPr lang="en-US" sz="1600"/>
                    </a:p>
                  </a:txBody>
                  <a:tcPr marL="76274" marR="76274" marT="38138" marB="38138" anchor="ctr">
                    <a:lnL>
                      <a:noFill/>
                    </a:lnL>
                    <a:lnR>
                      <a:noFill/>
                    </a:lnR>
                    <a:lnT>
                      <a:noFill/>
                    </a:lnT>
                    <a:lnB>
                      <a:noFill/>
                    </a:lnB>
                    <a:noFill/>
                  </a:tcPr>
                </a:tc>
                <a:tc>
                  <a:txBody>
                    <a:bodyPr/>
                    <a:lstStyle/>
                    <a:p>
                      <a:r>
                        <a:rPr lang="en-US" sz="1600"/>
                        <a:t>Start at </a:t>
                      </a:r>
                      <a:r>
                        <a:rPr lang="en-US" sz="1600" b="1"/>
                        <a:t>A (0)</a:t>
                      </a:r>
                      <a:endParaRPr lang="en-US" sz="1600"/>
                    </a:p>
                  </a:txBody>
                  <a:tcPr marL="76274" marR="76274" marT="38138" marB="38138" anchor="ctr">
                    <a:lnL>
                      <a:noFill/>
                    </a:lnL>
                    <a:lnR>
                      <a:noFill/>
                    </a:lnR>
                    <a:lnT>
                      <a:noFill/>
                    </a:lnT>
                    <a:lnB>
                      <a:noFill/>
                    </a:lnB>
                    <a:noFill/>
                  </a:tcPr>
                </a:tc>
                <a:tc>
                  <a:txBody>
                    <a:bodyPr/>
                    <a:lstStyle/>
                    <a:p>
                      <a:r>
                        <a:rPr lang="en-US" sz="1600"/>
                        <a:t>[]</a:t>
                      </a:r>
                    </a:p>
                  </a:txBody>
                  <a:tcPr marL="76274" marR="76274" marT="38138" marB="38138" anchor="ctr">
                    <a:lnL>
                      <a:noFill/>
                    </a:lnL>
                    <a:lnR>
                      <a:noFill/>
                    </a:lnR>
                    <a:lnT>
                      <a:noFill/>
                    </a:lnT>
                    <a:lnB>
                      <a:noFill/>
                    </a:lnB>
                    <a:noFill/>
                  </a:tcPr>
                </a:tc>
                <a:tc>
                  <a:txBody>
                    <a:bodyPr/>
                    <a:lstStyle/>
                    <a:p>
                      <a:r>
                        <a:rPr lang="en-US" sz="1600"/>
                        <a:t>Expand A → B (5), D (3)</a:t>
                      </a:r>
                    </a:p>
                  </a:txBody>
                  <a:tcPr marL="76274" marR="76274" marT="38138" marB="38138" anchor="ctr">
                    <a:lnL>
                      <a:noFill/>
                    </a:lnL>
                    <a:lnR>
                      <a:noFill/>
                    </a:lnR>
                    <a:lnT>
                      <a:noFill/>
                    </a:lnT>
                    <a:lnB>
                      <a:noFill/>
                    </a:lnB>
                    <a:noFill/>
                  </a:tcPr>
                </a:tc>
                <a:tc>
                  <a:txBody>
                    <a:bodyPr/>
                    <a:lstStyle/>
                    <a:p>
                      <a:r>
                        <a:rPr lang="en-US" sz="1600"/>
                        <a:t>[(3, D), (5, B)]</a:t>
                      </a:r>
                    </a:p>
                  </a:txBody>
                  <a:tcPr marL="76274" marR="76274" marT="38138" marB="38138" anchor="ctr">
                    <a:lnL>
                      <a:noFill/>
                    </a:lnL>
                    <a:lnR>
                      <a:noFill/>
                    </a:lnR>
                    <a:lnT>
                      <a:noFill/>
                    </a:lnT>
                    <a:lnB>
                      <a:noFill/>
                    </a:lnB>
                    <a:noFill/>
                  </a:tcPr>
                </a:tc>
                <a:extLst>
                  <a:ext uri="{0D108BD9-81ED-4DB2-BD59-A6C34878D82A}">
                    <a16:rowId xmlns:a16="http://schemas.microsoft.com/office/drawing/2014/main" val="590796468"/>
                  </a:ext>
                </a:extLst>
              </a:tr>
              <a:tr h="350525">
                <a:tc>
                  <a:txBody>
                    <a:bodyPr/>
                    <a:lstStyle/>
                    <a:p>
                      <a:r>
                        <a:rPr lang="en-US" sz="1600" b="1"/>
                        <a:t>2</a:t>
                      </a:r>
                      <a:endParaRPr lang="en-US" sz="1600"/>
                    </a:p>
                  </a:txBody>
                  <a:tcPr marL="76274" marR="76274" marT="38138" marB="38138" anchor="ctr">
                    <a:lnL>
                      <a:noFill/>
                    </a:lnL>
                    <a:lnR>
                      <a:noFill/>
                    </a:lnR>
                    <a:lnT>
                      <a:noFill/>
                    </a:lnT>
                    <a:lnB>
                      <a:noFill/>
                    </a:lnB>
                    <a:noFill/>
                  </a:tcPr>
                </a:tc>
                <a:tc>
                  <a:txBody>
                    <a:bodyPr/>
                    <a:lstStyle/>
                    <a:p>
                      <a:r>
                        <a:rPr lang="en-US" sz="1600" b="1"/>
                        <a:t>D (3)</a:t>
                      </a:r>
                      <a:endParaRPr lang="en-US" sz="1600"/>
                    </a:p>
                  </a:txBody>
                  <a:tcPr marL="76274" marR="76274" marT="38138" marB="38138" anchor="ctr">
                    <a:lnL>
                      <a:noFill/>
                    </a:lnL>
                    <a:lnR>
                      <a:noFill/>
                    </a:lnR>
                    <a:lnT>
                      <a:noFill/>
                    </a:lnT>
                    <a:lnB>
                      <a:noFill/>
                    </a:lnB>
                    <a:noFill/>
                  </a:tcPr>
                </a:tc>
                <a:tc>
                  <a:txBody>
                    <a:bodyPr/>
                    <a:lstStyle/>
                    <a:p>
                      <a:r>
                        <a:rPr lang="en-US" sz="1600"/>
                        <a:t>[(3, D), (5, B)]</a:t>
                      </a:r>
                    </a:p>
                  </a:txBody>
                  <a:tcPr marL="76274" marR="76274" marT="38138" marB="38138" anchor="ctr">
                    <a:lnL>
                      <a:noFill/>
                    </a:lnL>
                    <a:lnR>
                      <a:noFill/>
                    </a:lnR>
                    <a:lnT>
                      <a:noFill/>
                    </a:lnT>
                    <a:lnB>
                      <a:noFill/>
                    </a:lnB>
                    <a:noFill/>
                  </a:tcPr>
                </a:tc>
                <a:tc>
                  <a:txBody>
                    <a:bodyPr/>
                    <a:lstStyle/>
                    <a:p>
                      <a:r>
                        <a:rPr lang="pt-BR" sz="1600"/>
                        <a:t>Expand D → E (5), F (5)</a:t>
                      </a:r>
                    </a:p>
                  </a:txBody>
                  <a:tcPr marL="76274" marR="76274" marT="38138" marB="38138" anchor="ctr">
                    <a:lnL>
                      <a:noFill/>
                    </a:lnL>
                    <a:lnR>
                      <a:noFill/>
                    </a:lnR>
                    <a:lnT>
                      <a:noFill/>
                    </a:lnT>
                    <a:lnB>
                      <a:noFill/>
                    </a:lnB>
                    <a:noFill/>
                  </a:tcPr>
                </a:tc>
                <a:tc>
                  <a:txBody>
                    <a:bodyPr/>
                    <a:lstStyle/>
                    <a:p>
                      <a:r>
                        <a:rPr lang="en-US" sz="1600"/>
                        <a:t>[(5, B), (5, E), (5, F)]</a:t>
                      </a:r>
                    </a:p>
                  </a:txBody>
                  <a:tcPr marL="76274" marR="76274" marT="38138" marB="38138" anchor="ctr">
                    <a:lnL>
                      <a:noFill/>
                    </a:lnL>
                    <a:lnR>
                      <a:noFill/>
                    </a:lnR>
                    <a:lnT>
                      <a:noFill/>
                    </a:lnT>
                    <a:lnB>
                      <a:noFill/>
                    </a:lnB>
                    <a:noFill/>
                  </a:tcPr>
                </a:tc>
                <a:extLst>
                  <a:ext uri="{0D108BD9-81ED-4DB2-BD59-A6C34878D82A}">
                    <a16:rowId xmlns:a16="http://schemas.microsoft.com/office/drawing/2014/main" val="599782928"/>
                  </a:ext>
                </a:extLst>
              </a:tr>
              <a:tr h="586947">
                <a:tc>
                  <a:txBody>
                    <a:bodyPr/>
                    <a:lstStyle/>
                    <a:p>
                      <a:r>
                        <a:rPr lang="en-US" sz="1600" b="1"/>
                        <a:t>3</a:t>
                      </a:r>
                      <a:endParaRPr lang="en-US" sz="1600"/>
                    </a:p>
                  </a:txBody>
                  <a:tcPr marL="76274" marR="76274" marT="38138" marB="38138" anchor="ctr">
                    <a:lnL>
                      <a:noFill/>
                    </a:lnL>
                    <a:lnR>
                      <a:noFill/>
                    </a:lnR>
                    <a:lnT>
                      <a:noFill/>
                    </a:lnT>
                    <a:lnB>
                      <a:noFill/>
                    </a:lnB>
                    <a:noFill/>
                  </a:tcPr>
                </a:tc>
                <a:tc>
                  <a:txBody>
                    <a:bodyPr/>
                    <a:lstStyle/>
                    <a:p>
                      <a:r>
                        <a:rPr lang="en-US" sz="1600" b="1"/>
                        <a:t>B (5)</a:t>
                      </a:r>
                      <a:endParaRPr lang="en-US" sz="1600"/>
                    </a:p>
                  </a:txBody>
                  <a:tcPr marL="76274" marR="76274" marT="38138" marB="38138" anchor="ctr">
                    <a:lnL>
                      <a:noFill/>
                    </a:lnL>
                    <a:lnR>
                      <a:noFill/>
                    </a:lnR>
                    <a:lnT>
                      <a:noFill/>
                    </a:lnT>
                    <a:lnB>
                      <a:noFill/>
                    </a:lnB>
                    <a:noFill/>
                  </a:tcPr>
                </a:tc>
                <a:tc>
                  <a:txBody>
                    <a:bodyPr/>
                    <a:lstStyle/>
                    <a:p>
                      <a:r>
                        <a:rPr lang="en-US" sz="1600"/>
                        <a:t>[(5, B), (5, E), (5, F)]</a:t>
                      </a:r>
                    </a:p>
                  </a:txBody>
                  <a:tcPr marL="76274" marR="76274" marT="38138" marB="38138" anchor="ctr">
                    <a:lnL>
                      <a:noFill/>
                    </a:lnL>
                    <a:lnR>
                      <a:noFill/>
                    </a:lnR>
                    <a:lnT>
                      <a:noFill/>
                    </a:lnT>
                    <a:lnB>
                      <a:noFill/>
                    </a:lnB>
                    <a:noFill/>
                  </a:tcPr>
                </a:tc>
                <a:tc>
                  <a:txBody>
                    <a:bodyPr/>
                    <a:lstStyle/>
                    <a:p>
                      <a:r>
                        <a:rPr lang="en-US" sz="1600"/>
                        <a:t>Expand B → C (6), E (9) (but E already has 5)</a:t>
                      </a:r>
                    </a:p>
                  </a:txBody>
                  <a:tcPr marL="76274" marR="76274" marT="38138" marB="38138" anchor="ctr">
                    <a:lnL>
                      <a:noFill/>
                    </a:lnL>
                    <a:lnR>
                      <a:noFill/>
                    </a:lnR>
                    <a:lnT>
                      <a:noFill/>
                    </a:lnT>
                    <a:lnB>
                      <a:noFill/>
                    </a:lnB>
                    <a:noFill/>
                  </a:tcPr>
                </a:tc>
                <a:tc>
                  <a:txBody>
                    <a:bodyPr/>
                    <a:lstStyle/>
                    <a:p>
                      <a:r>
                        <a:rPr lang="en-US" sz="1600"/>
                        <a:t>[(5, E), (5, F), (6, C)]</a:t>
                      </a:r>
                    </a:p>
                  </a:txBody>
                  <a:tcPr marL="76274" marR="76274" marT="38138" marB="38138" anchor="ctr">
                    <a:lnL>
                      <a:noFill/>
                    </a:lnL>
                    <a:lnR>
                      <a:noFill/>
                    </a:lnR>
                    <a:lnT>
                      <a:noFill/>
                    </a:lnT>
                    <a:lnB>
                      <a:noFill/>
                    </a:lnB>
                    <a:noFill/>
                  </a:tcPr>
                </a:tc>
                <a:extLst>
                  <a:ext uri="{0D108BD9-81ED-4DB2-BD59-A6C34878D82A}">
                    <a16:rowId xmlns:a16="http://schemas.microsoft.com/office/drawing/2014/main" val="419930177"/>
                  </a:ext>
                </a:extLst>
              </a:tr>
              <a:tr h="586947">
                <a:tc>
                  <a:txBody>
                    <a:bodyPr/>
                    <a:lstStyle/>
                    <a:p>
                      <a:r>
                        <a:rPr lang="en-US" sz="1600" b="1"/>
                        <a:t>4</a:t>
                      </a:r>
                      <a:endParaRPr lang="en-US" sz="1600"/>
                    </a:p>
                  </a:txBody>
                  <a:tcPr marL="76274" marR="76274" marT="38138" marB="38138" anchor="ctr">
                    <a:lnL>
                      <a:noFill/>
                    </a:lnL>
                    <a:lnR>
                      <a:noFill/>
                    </a:lnR>
                    <a:lnT>
                      <a:noFill/>
                    </a:lnT>
                    <a:lnB>
                      <a:noFill/>
                    </a:lnB>
                    <a:noFill/>
                  </a:tcPr>
                </a:tc>
                <a:tc>
                  <a:txBody>
                    <a:bodyPr/>
                    <a:lstStyle/>
                    <a:p>
                      <a:r>
                        <a:rPr lang="en-US" sz="1600" b="1"/>
                        <a:t>E (5)</a:t>
                      </a:r>
                      <a:endParaRPr lang="en-US" sz="1600"/>
                    </a:p>
                  </a:txBody>
                  <a:tcPr marL="76274" marR="76274" marT="38138" marB="38138" anchor="ctr">
                    <a:lnL>
                      <a:noFill/>
                    </a:lnL>
                    <a:lnR>
                      <a:noFill/>
                    </a:lnR>
                    <a:lnT>
                      <a:noFill/>
                    </a:lnT>
                    <a:lnB>
                      <a:noFill/>
                    </a:lnB>
                    <a:noFill/>
                  </a:tcPr>
                </a:tc>
                <a:tc>
                  <a:txBody>
                    <a:bodyPr/>
                    <a:lstStyle/>
                    <a:p>
                      <a:r>
                        <a:rPr lang="en-US" sz="1600"/>
                        <a:t>[(5, E), (5, F), (6, C)]</a:t>
                      </a:r>
                    </a:p>
                  </a:txBody>
                  <a:tcPr marL="76274" marR="76274" marT="38138" marB="38138" anchor="ctr">
                    <a:lnL>
                      <a:noFill/>
                    </a:lnL>
                    <a:lnR>
                      <a:noFill/>
                    </a:lnR>
                    <a:lnT>
                      <a:noFill/>
                    </a:lnT>
                    <a:lnB>
                      <a:noFill/>
                    </a:lnB>
                    <a:noFill/>
                  </a:tcPr>
                </a:tc>
                <a:tc>
                  <a:txBody>
                    <a:bodyPr/>
                    <a:lstStyle/>
                    <a:p>
                      <a:r>
                        <a:rPr lang="pt-BR" sz="1600"/>
                        <a:t>Expand E → C (11), G (9)</a:t>
                      </a:r>
                    </a:p>
                  </a:txBody>
                  <a:tcPr marL="76274" marR="76274" marT="38138" marB="38138" anchor="ctr">
                    <a:lnL>
                      <a:noFill/>
                    </a:lnL>
                    <a:lnR>
                      <a:noFill/>
                    </a:lnR>
                    <a:lnT>
                      <a:noFill/>
                    </a:lnT>
                    <a:lnB>
                      <a:noFill/>
                    </a:lnB>
                    <a:noFill/>
                  </a:tcPr>
                </a:tc>
                <a:tc>
                  <a:txBody>
                    <a:bodyPr/>
                    <a:lstStyle/>
                    <a:p>
                      <a:r>
                        <a:rPr lang="en-US" sz="1600"/>
                        <a:t>[(5, F), (6, C), (9, G)]</a:t>
                      </a:r>
                    </a:p>
                  </a:txBody>
                  <a:tcPr marL="76274" marR="76274" marT="38138" marB="38138" anchor="ctr">
                    <a:lnL>
                      <a:noFill/>
                    </a:lnL>
                    <a:lnR>
                      <a:noFill/>
                    </a:lnR>
                    <a:lnT>
                      <a:noFill/>
                    </a:lnT>
                    <a:lnB>
                      <a:noFill/>
                    </a:lnB>
                    <a:noFill/>
                  </a:tcPr>
                </a:tc>
                <a:extLst>
                  <a:ext uri="{0D108BD9-81ED-4DB2-BD59-A6C34878D82A}">
                    <a16:rowId xmlns:a16="http://schemas.microsoft.com/office/drawing/2014/main" val="2867318395"/>
                  </a:ext>
                </a:extLst>
              </a:tr>
              <a:tr h="586947">
                <a:tc>
                  <a:txBody>
                    <a:bodyPr/>
                    <a:lstStyle/>
                    <a:p>
                      <a:r>
                        <a:rPr lang="en-US" sz="1600" b="1"/>
                        <a:t>5</a:t>
                      </a:r>
                      <a:endParaRPr lang="en-US" sz="1600"/>
                    </a:p>
                  </a:txBody>
                  <a:tcPr marL="76274" marR="76274" marT="38138" marB="38138" anchor="ctr">
                    <a:lnL>
                      <a:noFill/>
                    </a:lnL>
                    <a:lnR>
                      <a:noFill/>
                    </a:lnR>
                    <a:lnT>
                      <a:noFill/>
                    </a:lnT>
                    <a:lnB>
                      <a:noFill/>
                    </a:lnB>
                    <a:noFill/>
                  </a:tcPr>
                </a:tc>
                <a:tc>
                  <a:txBody>
                    <a:bodyPr/>
                    <a:lstStyle/>
                    <a:p>
                      <a:r>
                        <a:rPr lang="en-US" sz="1600" b="1"/>
                        <a:t>F (5)</a:t>
                      </a:r>
                      <a:endParaRPr lang="en-US" sz="1600"/>
                    </a:p>
                  </a:txBody>
                  <a:tcPr marL="76274" marR="76274" marT="38138" marB="38138" anchor="ctr">
                    <a:lnL>
                      <a:noFill/>
                    </a:lnL>
                    <a:lnR>
                      <a:noFill/>
                    </a:lnR>
                    <a:lnT>
                      <a:noFill/>
                    </a:lnT>
                    <a:lnB>
                      <a:noFill/>
                    </a:lnB>
                    <a:noFill/>
                  </a:tcPr>
                </a:tc>
                <a:tc>
                  <a:txBody>
                    <a:bodyPr/>
                    <a:lstStyle/>
                    <a:p>
                      <a:r>
                        <a:rPr lang="en-US" sz="1600"/>
                        <a:t>[(5, F), (6, C), (9, G)]</a:t>
                      </a:r>
                    </a:p>
                  </a:txBody>
                  <a:tcPr marL="76274" marR="76274" marT="38138" marB="38138" anchor="ctr">
                    <a:lnL>
                      <a:noFill/>
                    </a:lnL>
                    <a:lnR>
                      <a:noFill/>
                    </a:lnR>
                    <a:lnT>
                      <a:noFill/>
                    </a:lnT>
                    <a:lnB>
                      <a:noFill/>
                    </a:lnB>
                    <a:noFill/>
                  </a:tcPr>
                </a:tc>
                <a:tc>
                  <a:txBody>
                    <a:bodyPr/>
                    <a:lstStyle/>
                    <a:p>
                      <a:r>
                        <a:rPr lang="en-US" sz="1600"/>
                        <a:t>Expand F → G (8) → update G (9 → 8)</a:t>
                      </a:r>
                    </a:p>
                  </a:txBody>
                  <a:tcPr marL="76274" marR="76274" marT="38138" marB="38138" anchor="ctr">
                    <a:lnL>
                      <a:noFill/>
                    </a:lnL>
                    <a:lnR>
                      <a:noFill/>
                    </a:lnR>
                    <a:lnT>
                      <a:noFill/>
                    </a:lnT>
                    <a:lnB>
                      <a:noFill/>
                    </a:lnB>
                    <a:noFill/>
                  </a:tcPr>
                </a:tc>
                <a:tc>
                  <a:txBody>
                    <a:bodyPr/>
                    <a:lstStyle/>
                    <a:p>
                      <a:r>
                        <a:rPr lang="en-US" sz="1600"/>
                        <a:t>[(6, C), (8, G)]</a:t>
                      </a:r>
                    </a:p>
                  </a:txBody>
                  <a:tcPr marL="76274" marR="76274" marT="38138" marB="38138" anchor="ctr">
                    <a:lnL>
                      <a:noFill/>
                    </a:lnL>
                    <a:lnR>
                      <a:noFill/>
                    </a:lnR>
                    <a:lnT>
                      <a:noFill/>
                    </a:lnT>
                    <a:lnB>
                      <a:noFill/>
                    </a:lnB>
                    <a:noFill/>
                  </a:tcPr>
                </a:tc>
                <a:extLst>
                  <a:ext uri="{0D108BD9-81ED-4DB2-BD59-A6C34878D82A}">
                    <a16:rowId xmlns:a16="http://schemas.microsoft.com/office/drawing/2014/main" val="1868399028"/>
                  </a:ext>
                </a:extLst>
              </a:tr>
              <a:tr h="586947">
                <a:tc>
                  <a:txBody>
                    <a:bodyPr/>
                    <a:lstStyle/>
                    <a:p>
                      <a:r>
                        <a:rPr lang="en-US" sz="1600" b="1"/>
                        <a:t>6</a:t>
                      </a:r>
                      <a:endParaRPr lang="en-US" sz="1600"/>
                    </a:p>
                  </a:txBody>
                  <a:tcPr marL="76274" marR="76274" marT="38138" marB="38138" anchor="ctr">
                    <a:lnL>
                      <a:noFill/>
                    </a:lnL>
                    <a:lnR>
                      <a:noFill/>
                    </a:lnR>
                    <a:lnT>
                      <a:noFill/>
                    </a:lnT>
                    <a:lnB>
                      <a:noFill/>
                    </a:lnB>
                    <a:noFill/>
                  </a:tcPr>
                </a:tc>
                <a:tc>
                  <a:txBody>
                    <a:bodyPr/>
                    <a:lstStyle/>
                    <a:p>
                      <a:r>
                        <a:rPr lang="en-US" sz="1600" b="1"/>
                        <a:t>C (6)</a:t>
                      </a:r>
                      <a:endParaRPr lang="en-US" sz="1600"/>
                    </a:p>
                  </a:txBody>
                  <a:tcPr marL="76274" marR="76274" marT="38138" marB="38138" anchor="ctr">
                    <a:lnL>
                      <a:noFill/>
                    </a:lnL>
                    <a:lnR>
                      <a:noFill/>
                    </a:lnR>
                    <a:lnT>
                      <a:noFill/>
                    </a:lnT>
                    <a:lnB>
                      <a:noFill/>
                    </a:lnB>
                    <a:noFill/>
                  </a:tcPr>
                </a:tc>
                <a:tc>
                  <a:txBody>
                    <a:bodyPr/>
                    <a:lstStyle/>
                    <a:p>
                      <a:r>
                        <a:rPr lang="en-US" sz="1600"/>
                        <a:t>[(6, C), (8, G)]</a:t>
                      </a:r>
                    </a:p>
                  </a:txBody>
                  <a:tcPr marL="76274" marR="76274" marT="38138" marB="38138" anchor="ctr">
                    <a:lnL>
                      <a:noFill/>
                    </a:lnL>
                    <a:lnR>
                      <a:noFill/>
                    </a:lnR>
                    <a:lnT>
                      <a:noFill/>
                    </a:lnT>
                    <a:lnB>
                      <a:noFill/>
                    </a:lnB>
                    <a:noFill/>
                  </a:tcPr>
                </a:tc>
                <a:tc>
                  <a:txBody>
                    <a:bodyPr/>
                    <a:lstStyle/>
                    <a:p>
                      <a:r>
                        <a:rPr lang="en-US" sz="1600"/>
                        <a:t>Expand C → G (14), but G already has 8</a:t>
                      </a:r>
                    </a:p>
                  </a:txBody>
                  <a:tcPr marL="76274" marR="76274" marT="38138" marB="38138" anchor="ctr">
                    <a:lnL>
                      <a:noFill/>
                    </a:lnL>
                    <a:lnR>
                      <a:noFill/>
                    </a:lnR>
                    <a:lnT>
                      <a:noFill/>
                    </a:lnT>
                    <a:lnB>
                      <a:noFill/>
                    </a:lnB>
                    <a:noFill/>
                  </a:tcPr>
                </a:tc>
                <a:tc>
                  <a:txBody>
                    <a:bodyPr/>
                    <a:lstStyle/>
                    <a:p>
                      <a:r>
                        <a:rPr lang="en-US" sz="1600"/>
                        <a:t>[(8, G)]</a:t>
                      </a:r>
                    </a:p>
                  </a:txBody>
                  <a:tcPr marL="76274" marR="76274" marT="38138" marB="38138" anchor="ctr">
                    <a:lnL>
                      <a:noFill/>
                    </a:lnL>
                    <a:lnR>
                      <a:noFill/>
                    </a:lnR>
                    <a:lnT>
                      <a:noFill/>
                    </a:lnT>
                    <a:lnB>
                      <a:noFill/>
                    </a:lnB>
                    <a:noFill/>
                  </a:tcPr>
                </a:tc>
                <a:extLst>
                  <a:ext uri="{0D108BD9-81ED-4DB2-BD59-A6C34878D82A}">
                    <a16:rowId xmlns:a16="http://schemas.microsoft.com/office/drawing/2014/main" val="1748019400"/>
                  </a:ext>
                </a:extLst>
              </a:tr>
              <a:tr h="350525">
                <a:tc>
                  <a:txBody>
                    <a:bodyPr/>
                    <a:lstStyle/>
                    <a:p>
                      <a:r>
                        <a:rPr lang="en-US" sz="1600" b="1"/>
                        <a:t>7</a:t>
                      </a:r>
                      <a:endParaRPr lang="en-US" sz="1600"/>
                    </a:p>
                  </a:txBody>
                  <a:tcPr marL="76274" marR="76274" marT="38138" marB="38138" anchor="ctr">
                    <a:lnL>
                      <a:noFill/>
                    </a:lnL>
                    <a:lnR>
                      <a:noFill/>
                    </a:lnR>
                    <a:lnT>
                      <a:noFill/>
                    </a:lnT>
                    <a:lnB>
                      <a:noFill/>
                    </a:lnB>
                    <a:noFill/>
                  </a:tcPr>
                </a:tc>
                <a:tc>
                  <a:txBody>
                    <a:bodyPr/>
                    <a:lstStyle/>
                    <a:p>
                      <a:r>
                        <a:rPr lang="en-US" sz="1600" b="1"/>
                        <a:t>G (8)</a:t>
                      </a:r>
                      <a:endParaRPr lang="en-US" sz="1600"/>
                    </a:p>
                  </a:txBody>
                  <a:tcPr marL="76274" marR="76274" marT="38138" marB="38138" anchor="ctr">
                    <a:lnL>
                      <a:noFill/>
                    </a:lnL>
                    <a:lnR>
                      <a:noFill/>
                    </a:lnR>
                    <a:lnT>
                      <a:noFill/>
                    </a:lnT>
                    <a:lnB>
                      <a:noFill/>
                    </a:lnB>
                    <a:noFill/>
                  </a:tcPr>
                </a:tc>
                <a:tc>
                  <a:txBody>
                    <a:bodyPr/>
                    <a:lstStyle/>
                    <a:p>
                      <a:r>
                        <a:rPr lang="en-US" sz="1600"/>
                        <a:t>[(8, G)]</a:t>
                      </a:r>
                    </a:p>
                  </a:txBody>
                  <a:tcPr marL="76274" marR="76274" marT="38138" marB="38138" anchor="ctr">
                    <a:lnL>
                      <a:noFill/>
                    </a:lnL>
                    <a:lnR>
                      <a:noFill/>
                    </a:lnR>
                    <a:lnT>
                      <a:noFill/>
                    </a:lnT>
                    <a:lnB>
                      <a:noFill/>
                    </a:lnB>
                    <a:noFill/>
                  </a:tcPr>
                </a:tc>
                <a:tc>
                  <a:txBody>
                    <a:bodyPr/>
                    <a:lstStyle/>
                    <a:p>
                      <a:r>
                        <a:rPr lang="en-US" sz="1600" dirty="0"/>
                        <a:t>Goal reached </a:t>
                      </a:r>
                    </a:p>
                  </a:txBody>
                  <a:tcPr marL="76274" marR="76274" marT="38138" marB="38138" anchor="ctr">
                    <a:lnL>
                      <a:noFill/>
                    </a:lnL>
                    <a:lnR>
                      <a:noFill/>
                    </a:lnR>
                    <a:lnT>
                      <a:noFill/>
                    </a:lnT>
                    <a:lnB>
                      <a:noFill/>
                    </a:lnB>
                    <a:noFill/>
                  </a:tcPr>
                </a:tc>
                <a:tc>
                  <a:txBody>
                    <a:bodyPr/>
                    <a:lstStyle/>
                    <a:p>
                      <a:r>
                        <a:rPr lang="en-US" sz="1600" dirty="0"/>
                        <a:t>Finished</a:t>
                      </a:r>
                    </a:p>
                  </a:txBody>
                  <a:tcPr marL="76274" marR="76274" marT="38138" marB="38138" anchor="ctr">
                    <a:lnL>
                      <a:noFill/>
                    </a:lnL>
                    <a:lnR>
                      <a:noFill/>
                    </a:lnR>
                    <a:lnT>
                      <a:noFill/>
                    </a:lnT>
                    <a:lnB>
                      <a:noFill/>
                    </a:lnB>
                    <a:noFill/>
                  </a:tcPr>
                </a:tc>
                <a:extLst>
                  <a:ext uri="{0D108BD9-81ED-4DB2-BD59-A6C34878D82A}">
                    <a16:rowId xmlns:a16="http://schemas.microsoft.com/office/drawing/2014/main" val="1238772310"/>
                  </a:ext>
                </a:extLst>
              </a:tr>
            </a:tbl>
          </a:graphicData>
        </a:graphic>
      </p:graphicFrame>
    </p:spTree>
    <p:extLst>
      <p:ext uri="{BB962C8B-B14F-4D97-AF65-F5344CB8AC3E}">
        <p14:creationId xmlns:p14="http://schemas.microsoft.com/office/powerpoint/2010/main" val="1248433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F24D38-B79E-44B4-830E-043F45D9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0A6115F-5357-877F-FF1B-A6EFB68B4A21}"/>
              </a:ext>
            </a:extLst>
          </p:cNvPr>
          <p:cNvSpPr>
            <a:spLocks noGrp="1"/>
          </p:cNvSpPr>
          <p:nvPr>
            <p:ph type="title"/>
          </p:nvPr>
        </p:nvSpPr>
        <p:spPr>
          <a:xfrm>
            <a:off x="838200" y="620742"/>
            <a:ext cx="10515600" cy="1325563"/>
          </a:xfrm>
        </p:spPr>
        <p:txBody>
          <a:bodyPr>
            <a:normAutofit/>
          </a:bodyPr>
          <a:lstStyle/>
          <a:p>
            <a:r>
              <a:rPr kumimoji="0" lang="en-PK" altLang="en-PK" b="1" i="0" u="none" strike="noStrike" cap="none" normalizeH="0" baseline="0" dirty="0">
                <a:ln>
                  <a:noFill/>
                </a:ln>
                <a:solidFill>
                  <a:srgbClr val="FFFFFF"/>
                </a:solidFill>
                <a:effectLst/>
                <a:latin typeface="Arial" panose="020B0604020202020204" pitchFamily="34" charset="0"/>
              </a:rPr>
              <a:t>Uniform Cost Search</a:t>
            </a:r>
            <a:endParaRPr lang="en-PK" dirty="0">
              <a:solidFill>
                <a:srgbClr val="FFFFFF"/>
              </a:solidFill>
            </a:endParaRPr>
          </a:p>
        </p:txBody>
      </p:sp>
      <p:cxnSp>
        <p:nvCxnSpPr>
          <p:cNvPr id="11" name="Straight Connector 10">
            <a:extLst>
              <a:ext uri="{FF2B5EF4-FFF2-40B4-BE49-F238E27FC236}">
                <a16:creationId xmlns:a16="http://schemas.microsoft.com/office/drawing/2014/main" id="{FC469874-256B-45B3-A79C-7591B4BA1E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EED31C3-E27E-7A87-E271-D9E155BE58AB}"/>
              </a:ext>
            </a:extLst>
          </p:cNvPr>
          <p:cNvSpPr>
            <a:spLocks noGrp="1"/>
          </p:cNvSpPr>
          <p:nvPr>
            <p:ph sz="half" idx="1"/>
          </p:nvPr>
        </p:nvSpPr>
        <p:spPr>
          <a:xfrm>
            <a:off x="838200" y="2266345"/>
            <a:ext cx="5097780" cy="3910617"/>
          </a:xfrm>
        </p:spPr>
        <p:txBody>
          <a:bodyPr>
            <a:normAutofit lnSpcReduction="10000"/>
          </a:bodyPr>
          <a:lstStyle/>
          <a:p>
            <a:pPr marL="0" indent="0">
              <a:buNone/>
            </a:pPr>
            <a:r>
              <a:rPr lang="en-GB" b="1" dirty="0">
                <a:solidFill>
                  <a:srgbClr val="FFFFFF"/>
                </a:solidFill>
              </a:rPr>
              <a:t>Advantages</a:t>
            </a:r>
          </a:p>
          <a:p>
            <a:r>
              <a:rPr lang="en-GB" dirty="0">
                <a:solidFill>
                  <a:srgbClr val="FFFFFF"/>
                </a:solidFill>
              </a:rPr>
              <a:t>Guarantees optimality and completeness.</a:t>
            </a:r>
          </a:p>
          <a:p>
            <a:r>
              <a:rPr lang="en-GB" dirty="0">
                <a:solidFill>
                  <a:srgbClr val="FFFFFF"/>
                </a:solidFill>
              </a:rPr>
              <a:t>Works with weighted graphs.</a:t>
            </a:r>
            <a:endParaRPr lang="en-PK" dirty="0">
              <a:solidFill>
                <a:srgbClr val="FFFFFF"/>
              </a:solidFill>
            </a:endParaRPr>
          </a:p>
        </p:txBody>
      </p:sp>
      <p:sp>
        <p:nvSpPr>
          <p:cNvPr id="4" name="Content Placeholder 3">
            <a:extLst>
              <a:ext uri="{FF2B5EF4-FFF2-40B4-BE49-F238E27FC236}">
                <a16:creationId xmlns:a16="http://schemas.microsoft.com/office/drawing/2014/main" id="{2229BD2B-F5B0-BAA5-AA46-5B5E9449925E}"/>
              </a:ext>
            </a:extLst>
          </p:cNvPr>
          <p:cNvSpPr>
            <a:spLocks noGrp="1"/>
          </p:cNvSpPr>
          <p:nvPr>
            <p:ph sz="half" idx="2"/>
          </p:nvPr>
        </p:nvSpPr>
        <p:spPr>
          <a:xfrm>
            <a:off x="6256020" y="2266345"/>
            <a:ext cx="5097780" cy="3910618"/>
          </a:xfrm>
        </p:spPr>
        <p:txBody>
          <a:bodyPr>
            <a:normAutofit lnSpcReduction="10000"/>
          </a:bodyPr>
          <a:lstStyle/>
          <a:p>
            <a:pPr marL="0" indent="0">
              <a:buNone/>
            </a:pPr>
            <a:r>
              <a:rPr lang="en-GB" b="1" dirty="0">
                <a:solidFill>
                  <a:srgbClr val="FFFFFF"/>
                </a:solidFill>
              </a:rPr>
              <a:t>Disadvantages</a:t>
            </a:r>
          </a:p>
          <a:p>
            <a:r>
              <a:rPr lang="en-GB" dirty="0">
                <a:solidFill>
                  <a:srgbClr val="FFFFFF"/>
                </a:solidFill>
              </a:rPr>
              <a:t>High time and space complexity.</a:t>
            </a:r>
          </a:p>
          <a:p>
            <a:r>
              <a:rPr lang="en-GB" dirty="0">
                <a:solidFill>
                  <a:srgbClr val="FFFFFF"/>
                </a:solidFill>
              </a:rPr>
              <a:t>Inapplicable to negative edge costs.</a:t>
            </a:r>
          </a:p>
          <a:p>
            <a:r>
              <a:rPr lang="en-GB" dirty="0">
                <a:solidFill>
                  <a:srgbClr val="FFFFFF"/>
                </a:solidFill>
              </a:rPr>
              <a:t>No heuristic guidance, making it less efficient.</a:t>
            </a:r>
          </a:p>
          <a:p>
            <a:r>
              <a:rPr lang="en-GB" dirty="0">
                <a:solidFill>
                  <a:srgbClr val="FFFFFF"/>
                </a:solidFill>
              </a:rPr>
              <a:t>Not suitable for real-time or time-sensitive applications.</a:t>
            </a:r>
            <a:endParaRPr lang="en-PK" dirty="0">
              <a:solidFill>
                <a:srgbClr val="FFFFFF"/>
              </a:solidFill>
            </a:endParaRPr>
          </a:p>
        </p:txBody>
      </p:sp>
    </p:spTree>
    <p:extLst>
      <p:ext uri="{BB962C8B-B14F-4D97-AF65-F5344CB8AC3E}">
        <p14:creationId xmlns:p14="http://schemas.microsoft.com/office/powerpoint/2010/main" val="1381431289"/>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itle 4">
            <a:extLst>
              <a:ext uri="{FF2B5EF4-FFF2-40B4-BE49-F238E27FC236}">
                <a16:creationId xmlns:a16="http://schemas.microsoft.com/office/drawing/2014/main" id="{3E77C022-334D-08D5-E5E9-EE00A31F2C7B}"/>
              </a:ext>
            </a:extLst>
          </p:cNvPr>
          <p:cNvSpPr>
            <a:spLocks noGrp="1"/>
          </p:cNvSpPr>
          <p:nvPr>
            <p:ph type="title"/>
          </p:nvPr>
        </p:nvSpPr>
        <p:spPr>
          <a:xfrm>
            <a:off x="808638" y="386930"/>
            <a:ext cx="9236700" cy="1188950"/>
          </a:xfrm>
        </p:spPr>
        <p:txBody>
          <a:bodyPr anchor="b">
            <a:normAutofit/>
          </a:bodyPr>
          <a:lstStyle/>
          <a:p>
            <a:r>
              <a:rPr lang="en-GB" sz="5400" dirty="0"/>
              <a:t>Bidirectional Search</a:t>
            </a:r>
            <a:endParaRPr lang="en-PK" sz="5400" dirty="0"/>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Content Placeholder 5">
            <a:extLst>
              <a:ext uri="{FF2B5EF4-FFF2-40B4-BE49-F238E27FC236}">
                <a16:creationId xmlns:a16="http://schemas.microsoft.com/office/drawing/2014/main" id="{2A8DE110-E80B-AA00-A9CF-98648C31DA44}"/>
              </a:ext>
            </a:extLst>
          </p:cNvPr>
          <p:cNvSpPr>
            <a:spLocks noGrp="1"/>
          </p:cNvSpPr>
          <p:nvPr>
            <p:ph idx="1"/>
          </p:nvPr>
        </p:nvSpPr>
        <p:spPr>
          <a:xfrm>
            <a:off x="793660" y="2599509"/>
            <a:ext cx="10143668" cy="3435531"/>
          </a:xfrm>
        </p:spPr>
        <p:txBody>
          <a:bodyPr anchor="ctr">
            <a:normAutofit/>
          </a:bodyPr>
          <a:lstStyle/>
          <a:p>
            <a:pPr algn="just"/>
            <a:r>
              <a:rPr lang="en-GB" sz="2400" i="0" dirty="0">
                <a:effectLst/>
                <a:latin typeface="Arial" panose="020B0604020202020204" pitchFamily="34" charset="0"/>
              </a:rPr>
              <a:t>Bidirectional Search is </a:t>
            </a:r>
            <a:r>
              <a:rPr lang="en-GB" sz="2400" i="0" u="none" strike="noStrike" dirty="0">
                <a:effectLst/>
                <a:latin typeface="Arial" panose="020B0604020202020204" pitchFamily="34" charset="0"/>
              </a:rPr>
              <a:t>Graph Search Algorithm</a:t>
            </a:r>
            <a:r>
              <a:rPr lang="en-GB" sz="2400" i="0" dirty="0">
                <a:effectLst/>
                <a:latin typeface="Arial" panose="020B0604020202020204" pitchFamily="34" charset="0"/>
              </a:rPr>
              <a:t> where two graph traversals (BFS) take place at the same time and is used to find the shortest distance between a fixed start vertex and end vertex. </a:t>
            </a:r>
          </a:p>
          <a:p>
            <a:pPr algn="just"/>
            <a:r>
              <a:rPr lang="en-GB" sz="2400" i="0" dirty="0">
                <a:effectLst/>
                <a:latin typeface="Arial" panose="020B0604020202020204" pitchFamily="34" charset="0"/>
              </a:rPr>
              <a:t>It significantly reduces the amount of exploration done. It is implemented using the Breadth First Search (BFS) Algorithm. </a:t>
            </a:r>
          </a:p>
          <a:p>
            <a:pPr algn="just"/>
            <a:r>
              <a:rPr lang="en-GB" sz="2400" i="0" dirty="0">
                <a:effectLst/>
                <a:latin typeface="Arial" panose="020B0604020202020204" pitchFamily="34" charset="0"/>
              </a:rPr>
              <a:t>BFS is run simultaneously on two vertices - the start and the end vertex. One single BFS tree is now replaced by two sub trees, and the search is terminated when the two trees intersect.</a:t>
            </a:r>
            <a:endParaRPr lang="en-PK" sz="2400" dirty="0"/>
          </a:p>
        </p:txBody>
      </p:sp>
    </p:spTree>
    <p:extLst>
      <p:ext uri="{BB962C8B-B14F-4D97-AF65-F5344CB8AC3E}">
        <p14:creationId xmlns:p14="http://schemas.microsoft.com/office/powerpoint/2010/main" val="3681763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97D87-D006-9B82-490A-053FB02F87B1}"/>
              </a:ext>
            </a:extLst>
          </p:cNvPr>
          <p:cNvSpPr>
            <a:spLocks noGrp="1"/>
          </p:cNvSpPr>
          <p:nvPr>
            <p:ph type="title"/>
          </p:nvPr>
        </p:nvSpPr>
        <p:spPr/>
        <p:txBody>
          <a:bodyPr/>
          <a:lstStyle/>
          <a:p>
            <a:r>
              <a:rPr lang="en-GB" sz="4400" b="1" dirty="0"/>
              <a:t>Bidirectional Search Algorithm</a:t>
            </a:r>
            <a:endParaRPr lang="en-PK" b="1" dirty="0"/>
          </a:p>
        </p:txBody>
      </p:sp>
      <p:sp>
        <p:nvSpPr>
          <p:cNvPr id="3" name="Content Placeholder 2">
            <a:extLst>
              <a:ext uri="{FF2B5EF4-FFF2-40B4-BE49-F238E27FC236}">
                <a16:creationId xmlns:a16="http://schemas.microsoft.com/office/drawing/2014/main" id="{ADC510FC-E87E-EAE6-FBCC-03ED28D2114E}"/>
              </a:ext>
            </a:extLst>
          </p:cNvPr>
          <p:cNvSpPr>
            <a:spLocks noGrp="1"/>
          </p:cNvSpPr>
          <p:nvPr>
            <p:ph idx="1"/>
          </p:nvPr>
        </p:nvSpPr>
        <p:spPr>
          <a:xfrm>
            <a:off x="838200" y="1825625"/>
            <a:ext cx="11014276" cy="4351338"/>
          </a:xfrm>
        </p:spPr>
        <p:txBody>
          <a:bodyPr>
            <a:normAutofit fontScale="92500" lnSpcReduction="20000"/>
          </a:bodyPr>
          <a:lstStyle/>
          <a:p>
            <a:r>
              <a:rPr lang="en-GB" dirty="0"/>
              <a:t>Start(Q) = Queue for BFS from start node</a:t>
            </a:r>
          </a:p>
          <a:p>
            <a:r>
              <a:rPr lang="en-GB" dirty="0"/>
              <a:t>End(Q) = Queue for BFS from end node</a:t>
            </a:r>
          </a:p>
          <a:p>
            <a:r>
              <a:rPr lang="en-GB" dirty="0"/>
              <a:t>parent= Array where </a:t>
            </a:r>
            <a:r>
              <a:rPr lang="en-GB" dirty="0" err="1"/>
              <a:t>startparent</a:t>
            </a:r>
            <a:r>
              <a:rPr lang="en-GB" dirty="0"/>
              <a:t>[</a:t>
            </a:r>
            <a:r>
              <a:rPr lang="en-GB" dirty="0" err="1"/>
              <a:t>i</a:t>
            </a:r>
            <a:r>
              <a:rPr lang="en-GB" dirty="0"/>
              <a:t>] is parent of node </a:t>
            </a:r>
            <a:r>
              <a:rPr lang="en-GB" dirty="0" err="1"/>
              <a:t>i</a:t>
            </a:r>
            <a:endParaRPr lang="en-GB" dirty="0"/>
          </a:p>
          <a:p>
            <a:r>
              <a:rPr lang="en-GB" dirty="0"/>
              <a:t>visited= Array where visited[</a:t>
            </a:r>
            <a:r>
              <a:rPr lang="en-GB" dirty="0" err="1"/>
              <a:t>i</a:t>
            </a:r>
            <a:r>
              <a:rPr lang="en-GB" dirty="0"/>
              <a:t>]=True if node </a:t>
            </a:r>
            <a:r>
              <a:rPr lang="en-GB" dirty="0" err="1"/>
              <a:t>i</a:t>
            </a:r>
            <a:r>
              <a:rPr lang="en-GB" dirty="0"/>
              <a:t> has been encountered</a:t>
            </a:r>
          </a:p>
          <a:p>
            <a:pPr lvl="1"/>
            <a:r>
              <a:rPr lang="en-GB" dirty="0"/>
              <a:t>while start(Q) is not empty and end(Q) is not empty</a:t>
            </a:r>
          </a:p>
          <a:p>
            <a:pPr lvl="1"/>
            <a:r>
              <a:rPr lang="en-GB" dirty="0"/>
              <a:t>perform next iteration of BFS for start(Q) (also save the parent of children in parent array)</a:t>
            </a:r>
          </a:p>
          <a:p>
            <a:pPr lvl="1"/>
            <a:r>
              <a:rPr lang="en-GB" dirty="0"/>
              <a:t>    perform next iteration of BFS for end(Q)</a:t>
            </a:r>
          </a:p>
          <a:p>
            <a:pPr lvl="1"/>
            <a:r>
              <a:rPr lang="en-GB" dirty="0"/>
              <a:t>    if we have encountered the intersection node</a:t>
            </a:r>
          </a:p>
          <a:p>
            <a:pPr lvl="2"/>
            <a:r>
              <a:rPr lang="en-GB" dirty="0"/>
              <a:t>        save the intersection node</a:t>
            </a:r>
          </a:p>
          <a:p>
            <a:pPr lvl="2"/>
            <a:r>
              <a:rPr lang="en-GB" dirty="0"/>
              <a:t>        break</a:t>
            </a:r>
          </a:p>
          <a:p>
            <a:r>
              <a:rPr lang="en-GB" dirty="0"/>
              <a:t>using intersection node, find the path using parent array</a:t>
            </a:r>
            <a:endParaRPr lang="en-PK" dirty="0"/>
          </a:p>
        </p:txBody>
      </p:sp>
    </p:spTree>
    <p:extLst>
      <p:ext uri="{BB962C8B-B14F-4D97-AF65-F5344CB8AC3E}">
        <p14:creationId xmlns:p14="http://schemas.microsoft.com/office/powerpoint/2010/main" val="2936230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search&#10;&#10;AI-generated content may be incorrect.">
            <a:extLst>
              <a:ext uri="{FF2B5EF4-FFF2-40B4-BE49-F238E27FC236}">
                <a16:creationId xmlns:a16="http://schemas.microsoft.com/office/drawing/2014/main" id="{7DB354E4-55E5-F39B-6356-95617862449F}"/>
              </a:ext>
            </a:extLst>
          </p:cNvPr>
          <p:cNvPicPr>
            <a:picLocks noGrp="1" noChangeAspect="1"/>
          </p:cNvPicPr>
          <p:nvPr>
            <p:ph idx="1"/>
          </p:nvPr>
        </p:nvPicPr>
        <p:blipFill>
          <a:blip r:embed="rId2"/>
          <a:srcRect t="11849" b="19051"/>
          <a:stretch/>
        </p:blipFill>
        <p:spPr>
          <a:xfrm>
            <a:off x="838200" y="754148"/>
            <a:ext cx="10515600" cy="4995575"/>
          </a:xfrm>
          <a:prstGeom prst="rect">
            <a:avLst/>
          </a:prstGeom>
        </p:spPr>
      </p:pic>
      <p:cxnSp>
        <p:nvCxnSpPr>
          <p:cNvPr id="16" name="Straight Connector 15">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781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E941E-6E42-A32A-6E03-216916CC933D}"/>
              </a:ext>
            </a:extLst>
          </p:cNvPr>
          <p:cNvSpPr>
            <a:spLocks noGrp="1"/>
          </p:cNvSpPr>
          <p:nvPr>
            <p:ph type="title"/>
          </p:nvPr>
        </p:nvSpPr>
        <p:spPr>
          <a:xfrm>
            <a:off x="838200" y="104965"/>
            <a:ext cx="10515600" cy="670539"/>
          </a:xfrm>
        </p:spPr>
        <p:txBody>
          <a:bodyPr>
            <a:normAutofit fontScale="90000"/>
          </a:bodyPr>
          <a:lstStyle/>
          <a:p>
            <a:r>
              <a:rPr lang="en-GB" sz="4400" b="1" dirty="0"/>
              <a:t>Bidirectional Search Example</a:t>
            </a:r>
            <a:endParaRPr lang="en-PK" dirty="0"/>
          </a:p>
        </p:txBody>
      </p:sp>
      <p:pic>
        <p:nvPicPr>
          <p:cNvPr id="5" name="Content Placeholder 4">
            <a:extLst>
              <a:ext uri="{FF2B5EF4-FFF2-40B4-BE49-F238E27FC236}">
                <a16:creationId xmlns:a16="http://schemas.microsoft.com/office/drawing/2014/main" id="{990D47A1-E5FC-18A9-7E63-B4C39065D8A3}"/>
              </a:ext>
            </a:extLst>
          </p:cNvPr>
          <p:cNvPicPr>
            <a:picLocks noGrp="1" noChangeAspect="1"/>
          </p:cNvPicPr>
          <p:nvPr>
            <p:ph idx="1"/>
          </p:nvPr>
        </p:nvPicPr>
        <p:blipFill>
          <a:blip r:embed="rId2"/>
          <a:stretch>
            <a:fillRect/>
          </a:stretch>
        </p:blipFill>
        <p:spPr>
          <a:xfrm>
            <a:off x="266218" y="1147476"/>
            <a:ext cx="5011838" cy="2606424"/>
          </a:xfrm>
        </p:spPr>
      </p:pic>
      <p:sp>
        <p:nvSpPr>
          <p:cNvPr id="7" name="TextBox 6">
            <a:extLst>
              <a:ext uri="{FF2B5EF4-FFF2-40B4-BE49-F238E27FC236}">
                <a16:creationId xmlns:a16="http://schemas.microsoft.com/office/drawing/2014/main" id="{FBA030CF-937C-0974-8577-5543C0081025}"/>
              </a:ext>
            </a:extLst>
          </p:cNvPr>
          <p:cNvSpPr txBox="1"/>
          <p:nvPr/>
        </p:nvSpPr>
        <p:spPr>
          <a:xfrm>
            <a:off x="266218" y="4125872"/>
            <a:ext cx="5347504" cy="1754326"/>
          </a:xfrm>
          <a:prstGeom prst="rect">
            <a:avLst/>
          </a:prstGeom>
          <a:noFill/>
        </p:spPr>
        <p:txBody>
          <a:bodyPr wrap="square">
            <a:spAutoFit/>
          </a:bodyPr>
          <a:lstStyle/>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Arial" panose="020B0604020202020204" pitchFamily="34" charset="0"/>
              </a:rPr>
              <a:t>The start node is 5 and the end node is 4.</a:t>
            </a:r>
            <a:br>
              <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Arial" panose="020B0604020202020204" pitchFamily="34" charset="0"/>
              </a:rPr>
            </a:br>
            <a:r>
              <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Arial" panose="020B0604020202020204" pitchFamily="34" charset="0"/>
              </a:rPr>
              <a:t>Aim: To find the shortest path from 5 to 4 using bidirectional search.</a:t>
            </a: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Arial" panose="020B0604020202020204" pitchFamily="34" charset="0"/>
              </a:rPr>
              <a:t>Do BFS from both directions.</a:t>
            </a:r>
          </a:p>
          <a:p>
            <a:pPr marL="285750" marR="0" lvl="0"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Arial" panose="020B0604020202020204" pitchFamily="34" charset="0"/>
              </a:rPr>
              <a:t>Start moving forward from start node (Green) and backwards from end node (Orange).</a:t>
            </a:r>
          </a:p>
        </p:txBody>
      </p:sp>
      <p:pic>
        <p:nvPicPr>
          <p:cNvPr id="9" name="Picture 8">
            <a:extLst>
              <a:ext uri="{FF2B5EF4-FFF2-40B4-BE49-F238E27FC236}">
                <a16:creationId xmlns:a16="http://schemas.microsoft.com/office/drawing/2014/main" id="{8699B328-6FD7-614A-1C91-BF3880144DE1}"/>
              </a:ext>
            </a:extLst>
          </p:cNvPr>
          <p:cNvPicPr>
            <a:picLocks noChangeAspect="1"/>
          </p:cNvPicPr>
          <p:nvPr/>
        </p:nvPicPr>
        <p:blipFill>
          <a:blip r:embed="rId3"/>
          <a:stretch>
            <a:fillRect/>
          </a:stretch>
        </p:blipFill>
        <p:spPr>
          <a:xfrm>
            <a:off x="5918522" y="1147476"/>
            <a:ext cx="5347505" cy="2606424"/>
          </a:xfrm>
          <a:prstGeom prst="rect">
            <a:avLst/>
          </a:prstGeom>
        </p:spPr>
      </p:pic>
      <p:sp>
        <p:nvSpPr>
          <p:cNvPr id="11" name="TextBox 10">
            <a:extLst>
              <a:ext uri="{FF2B5EF4-FFF2-40B4-BE49-F238E27FC236}">
                <a16:creationId xmlns:a16="http://schemas.microsoft.com/office/drawing/2014/main" id="{F7C33C12-AD03-B44D-9BA5-784B32902C39}"/>
              </a:ext>
            </a:extLst>
          </p:cNvPr>
          <p:cNvSpPr txBox="1"/>
          <p:nvPr/>
        </p:nvSpPr>
        <p:spPr>
          <a:xfrm>
            <a:off x="5829782" y="3929451"/>
            <a:ext cx="6096000"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mn-cs"/>
              </a:rPr>
              <a:t>Similar to BFS, at every point explore the next level of nodes till you find an intersecting node.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0459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D196A-325B-E9F8-829E-5BB27330F919}"/>
              </a:ext>
            </a:extLst>
          </p:cNvPr>
          <p:cNvSpPr>
            <a:spLocks noGrp="1"/>
          </p:cNvSpPr>
          <p:nvPr>
            <p:ph type="title"/>
          </p:nvPr>
        </p:nvSpPr>
        <p:spPr/>
        <p:txBody>
          <a:bodyPr/>
          <a:lstStyle/>
          <a:p>
            <a:r>
              <a:rPr lang="en-GB" sz="4400" b="1" dirty="0"/>
              <a:t>Bidirectional Search Example</a:t>
            </a:r>
            <a:endParaRPr lang="en-PK" dirty="0"/>
          </a:p>
        </p:txBody>
      </p:sp>
      <p:pic>
        <p:nvPicPr>
          <p:cNvPr id="5" name="Content Placeholder 4">
            <a:extLst>
              <a:ext uri="{FF2B5EF4-FFF2-40B4-BE49-F238E27FC236}">
                <a16:creationId xmlns:a16="http://schemas.microsoft.com/office/drawing/2014/main" id="{A226857D-38E9-E394-7C0D-DF061717D692}"/>
              </a:ext>
            </a:extLst>
          </p:cNvPr>
          <p:cNvPicPr>
            <a:picLocks noGrp="1" noChangeAspect="1"/>
          </p:cNvPicPr>
          <p:nvPr>
            <p:ph idx="1"/>
          </p:nvPr>
        </p:nvPicPr>
        <p:blipFill>
          <a:blip r:embed="rId2"/>
          <a:stretch>
            <a:fillRect/>
          </a:stretch>
        </p:blipFill>
        <p:spPr>
          <a:xfrm>
            <a:off x="737425" y="1593152"/>
            <a:ext cx="6791325" cy="4027359"/>
          </a:xfrm>
        </p:spPr>
      </p:pic>
      <p:sp>
        <p:nvSpPr>
          <p:cNvPr id="7" name="TextBox 6">
            <a:extLst>
              <a:ext uri="{FF2B5EF4-FFF2-40B4-BE49-F238E27FC236}">
                <a16:creationId xmlns:a16="http://schemas.microsoft.com/office/drawing/2014/main" id="{142C3D5D-8AFE-2B29-6480-A6DB0EE9AE12}"/>
              </a:ext>
            </a:extLst>
          </p:cNvPr>
          <p:cNvSpPr txBox="1"/>
          <p:nvPr/>
        </p:nvSpPr>
        <p:spPr>
          <a:xfrm>
            <a:off x="7528750" y="1777397"/>
            <a:ext cx="4070431"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mn-cs"/>
              </a:rPr>
              <a:t>Stop on finding the intersecting node.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mn-cs"/>
              </a:rPr>
              <a:t>Trace back to find the path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3C484E"/>
                </a:solidFill>
                <a:effectLst/>
                <a:uLnTx/>
                <a:uFillTx/>
                <a:latin typeface="Arial" panose="020B0604020202020204" pitchFamily="34" charset="0"/>
                <a:ea typeface="+mn-ea"/>
                <a:cs typeface="+mn-cs"/>
              </a:rPr>
              <a:t>Path: 5 – 0 – 1 – 3 – 4</a:t>
            </a:r>
            <a:endParaRPr kumimoji="0" lang="en-PK"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49481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1C05B5D-07A0-E5A9-F6EA-7C7092CC138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26C000A-429A-E15D-06FA-BE60EF7A9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A634293-B752-1277-8E12-45698A9F469F}"/>
              </a:ext>
            </a:extLst>
          </p:cNvPr>
          <p:cNvSpPr>
            <a:spLocks noGrp="1"/>
          </p:cNvSpPr>
          <p:nvPr>
            <p:ph type="title"/>
          </p:nvPr>
        </p:nvSpPr>
        <p:spPr>
          <a:xfrm>
            <a:off x="838200" y="620742"/>
            <a:ext cx="10515600" cy="1325563"/>
          </a:xfrm>
        </p:spPr>
        <p:txBody>
          <a:bodyPr>
            <a:normAutofit/>
          </a:bodyPr>
          <a:lstStyle/>
          <a:p>
            <a:r>
              <a:rPr lang="en-GB" altLang="en-PK" b="1" dirty="0">
                <a:solidFill>
                  <a:srgbClr val="FFFFFF"/>
                </a:solidFill>
                <a:latin typeface="Arial" panose="020B0604020202020204" pitchFamily="34" charset="0"/>
              </a:rPr>
              <a:t>Bidirectional</a:t>
            </a:r>
            <a:r>
              <a:rPr kumimoji="0" lang="en-PK" altLang="en-PK" b="1" i="0" u="none" strike="noStrike" cap="none" normalizeH="0" baseline="0" dirty="0">
                <a:ln>
                  <a:noFill/>
                </a:ln>
                <a:solidFill>
                  <a:srgbClr val="FFFFFF"/>
                </a:solidFill>
                <a:effectLst/>
                <a:latin typeface="Arial" panose="020B0604020202020204" pitchFamily="34" charset="0"/>
              </a:rPr>
              <a:t> Search</a:t>
            </a:r>
            <a:endParaRPr lang="en-PK" dirty="0">
              <a:solidFill>
                <a:srgbClr val="FFFFFF"/>
              </a:solidFill>
            </a:endParaRPr>
          </a:p>
        </p:txBody>
      </p:sp>
      <p:cxnSp>
        <p:nvCxnSpPr>
          <p:cNvPr id="11" name="Straight Connector 10">
            <a:extLst>
              <a:ext uri="{FF2B5EF4-FFF2-40B4-BE49-F238E27FC236}">
                <a16:creationId xmlns:a16="http://schemas.microsoft.com/office/drawing/2014/main" id="{275331C5-F2BB-B49D-0BC9-1669B67A1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796AC0A-5C43-7D56-555C-80953075C122}"/>
              </a:ext>
            </a:extLst>
          </p:cNvPr>
          <p:cNvSpPr>
            <a:spLocks noGrp="1"/>
          </p:cNvSpPr>
          <p:nvPr>
            <p:ph sz="half" idx="1"/>
          </p:nvPr>
        </p:nvSpPr>
        <p:spPr>
          <a:xfrm>
            <a:off x="838200" y="2266345"/>
            <a:ext cx="5097780" cy="3910617"/>
          </a:xfrm>
        </p:spPr>
        <p:txBody>
          <a:bodyPr>
            <a:normAutofit/>
          </a:bodyPr>
          <a:lstStyle/>
          <a:p>
            <a:pPr marL="0" indent="0">
              <a:buNone/>
            </a:pPr>
            <a:r>
              <a:rPr lang="en-GB" b="1" dirty="0">
                <a:solidFill>
                  <a:srgbClr val="FFFFFF"/>
                </a:solidFill>
              </a:rPr>
              <a:t>Advantages</a:t>
            </a:r>
          </a:p>
          <a:p>
            <a:r>
              <a:rPr lang="it-IT" dirty="0"/>
              <a:t>Reduced Search Space</a:t>
            </a:r>
          </a:p>
          <a:p>
            <a:r>
              <a:rPr lang="it-IT" dirty="0"/>
              <a:t>Lower Time Complexity</a:t>
            </a:r>
            <a:r>
              <a:rPr lang="en-GB" dirty="0">
                <a:solidFill>
                  <a:srgbClr val="FFFFFF"/>
                </a:solidFill>
              </a:rPr>
              <a:t> </a:t>
            </a:r>
            <a:r>
              <a:rPr lang="it-IT" dirty="0"/>
              <a:t>O(b</a:t>
            </a:r>
            <a:r>
              <a:rPr lang="it-IT" baseline="30000" dirty="0"/>
              <a:t>d/2</a:t>
            </a:r>
            <a:r>
              <a:rPr lang="it-IT" dirty="0"/>
              <a:t>)</a:t>
            </a:r>
          </a:p>
          <a:p>
            <a:r>
              <a:rPr lang="it-IT" dirty="0"/>
              <a:t>Memory Efficiency</a:t>
            </a:r>
          </a:p>
          <a:p>
            <a:r>
              <a:rPr lang="it-IT" dirty="0"/>
              <a:t>Optimal Solution</a:t>
            </a:r>
            <a:endParaRPr lang="en-GB" dirty="0">
              <a:solidFill>
                <a:srgbClr val="FFFFFF"/>
              </a:solidFill>
            </a:endParaRPr>
          </a:p>
        </p:txBody>
      </p:sp>
      <p:sp>
        <p:nvSpPr>
          <p:cNvPr id="4" name="Content Placeholder 3">
            <a:extLst>
              <a:ext uri="{FF2B5EF4-FFF2-40B4-BE49-F238E27FC236}">
                <a16:creationId xmlns:a16="http://schemas.microsoft.com/office/drawing/2014/main" id="{77CA3337-752B-1AAC-C902-0185308BE956}"/>
              </a:ext>
            </a:extLst>
          </p:cNvPr>
          <p:cNvSpPr>
            <a:spLocks noGrp="1"/>
          </p:cNvSpPr>
          <p:nvPr>
            <p:ph sz="half" idx="2"/>
          </p:nvPr>
        </p:nvSpPr>
        <p:spPr>
          <a:xfrm>
            <a:off x="6256020" y="2266345"/>
            <a:ext cx="5097780" cy="3910618"/>
          </a:xfrm>
        </p:spPr>
        <p:txBody>
          <a:bodyPr>
            <a:normAutofit/>
          </a:bodyPr>
          <a:lstStyle/>
          <a:p>
            <a:pPr marL="0" indent="0">
              <a:buNone/>
            </a:pPr>
            <a:r>
              <a:rPr lang="en-GB" b="1" dirty="0">
                <a:solidFill>
                  <a:srgbClr val="FFFFFF"/>
                </a:solidFill>
              </a:rPr>
              <a:t>Disadvantages</a:t>
            </a:r>
          </a:p>
          <a:p>
            <a:r>
              <a:rPr lang="en-GB" dirty="0"/>
              <a:t>Requires Goal State to Be Known</a:t>
            </a:r>
            <a:endParaRPr lang="en-GB" dirty="0">
              <a:solidFill>
                <a:srgbClr val="FFFFFF"/>
              </a:solidFill>
            </a:endParaRPr>
          </a:p>
          <a:p>
            <a:r>
              <a:rPr lang="it-IT" dirty="0"/>
              <a:t>Complex Implementation</a:t>
            </a:r>
            <a:endParaRPr lang="en-GB" dirty="0">
              <a:solidFill>
                <a:srgbClr val="FFFFFF"/>
              </a:solidFill>
            </a:endParaRPr>
          </a:p>
          <a:p>
            <a:r>
              <a:rPr lang="en-GB" dirty="0"/>
              <a:t>Not Suitable for All Problem Types</a:t>
            </a:r>
            <a:endParaRPr lang="en-PK" dirty="0">
              <a:solidFill>
                <a:srgbClr val="FFFFFF"/>
              </a:solidFill>
            </a:endParaRPr>
          </a:p>
        </p:txBody>
      </p:sp>
    </p:spTree>
    <p:extLst>
      <p:ext uri="{BB962C8B-B14F-4D97-AF65-F5344CB8AC3E}">
        <p14:creationId xmlns:p14="http://schemas.microsoft.com/office/powerpoint/2010/main" val="476826607"/>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ADE40C-C45D-4DD8-CA2C-91E06700128C}"/>
              </a:ext>
            </a:extLst>
          </p:cNvPr>
          <p:cNvSpPr>
            <a:spLocks noGrp="1"/>
          </p:cNvSpPr>
          <p:nvPr>
            <p:ph type="title"/>
          </p:nvPr>
        </p:nvSpPr>
        <p:spPr>
          <a:xfrm>
            <a:off x="761803" y="350196"/>
            <a:ext cx="4646904" cy="1624520"/>
          </a:xfrm>
        </p:spPr>
        <p:txBody>
          <a:bodyPr anchor="ctr">
            <a:normAutofit/>
          </a:bodyPr>
          <a:lstStyle/>
          <a:p>
            <a:r>
              <a:rPr lang="en-GB" sz="4000" b="1">
                <a:latin typeface="Arial" panose="020B0604020202020204" pitchFamily="34" charset="0"/>
                <a:cs typeface="Arial" panose="020B0604020202020204" pitchFamily="34" charset="0"/>
              </a:rPr>
              <a:t>Importance of Search in AI</a:t>
            </a:r>
            <a:endParaRPr lang="en-PK" sz="4000" b="1">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86A43285-316E-0456-13D4-A33EF8E1BAB1}"/>
              </a:ext>
            </a:extLst>
          </p:cNvPr>
          <p:cNvSpPr>
            <a:spLocks noGrp="1" noChangeArrowheads="1"/>
          </p:cNvSpPr>
          <p:nvPr>
            <p:ph idx="1"/>
          </p:nvPr>
        </p:nvSpPr>
        <p:spPr bwMode="auto">
          <a:xfrm>
            <a:off x="194310" y="2636196"/>
            <a:ext cx="5737860" cy="372015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PK" altLang="en-PK" sz="2000" b="0" i="0" u="none" strike="noStrike" cap="none" normalizeH="0" baseline="0" dirty="0">
              <a:ln>
                <a:noFill/>
              </a:ln>
              <a:effectLst/>
              <a:latin typeface="Arial" panose="020B0604020202020204" pitchFamily="34" charset="0"/>
            </a:endParaRPr>
          </a:p>
          <a:p>
            <a:pPr algn="just" eaLnBrk="0" fontAlgn="base" hangingPunct="0">
              <a:spcBef>
                <a:spcPct val="0"/>
              </a:spcBef>
              <a:spcAft>
                <a:spcPts val="600"/>
              </a:spcAft>
            </a:pPr>
            <a:r>
              <a:rPr kumimoji="0" lang="en-PK" altLang="en-PK" sz="2400" b="0" i="0" u="none" strike="noStrike" cap="none" normalizeH="0" baseline="0" dirty="0">
                <a:ln>
                  <a:noFill/>
                </a:ln>
                <a:effectLst/>
                <a:latin typeface="Arial" panose="020B0604020202020204" pitchFamily="34" charset="0"/>
              </a:rPr>
              <a:t>Provides a systematic way to explore complex problem spaces.</a:t>
            </a:r>
          </a:p>
          <a:p>
            <a:pPr algn="just" eaLnBrk="0" fontAlgn="base" hangingPunct="0">
              <a:spcBef>
                <a:spcPct val="0"/>
              </a:spcBef>
              <a:spcAft>
                <a:spcPts val="600"/>
              </a:spcAft>
            </a:pPr>
            <a:r>
              <a:rPr kumimoji="0" lang="en-PK" altLang="en-PK" sz="2400" b="0" i="0" u="none" strike="noStrike" cap="none" normalizeH="0" baseline="0" dirty="0">
                <a:ln>
                  <a:noFill/>
                </a:ln>
                <a:effectLst/>
                <a:latin typeface="Arial" panose="020B0604020202020204" pitchFamily="34" charset="0"/>
              </a:rPr>
              <a:t>Enables AI to solve a wide variety of problems (e.g., pathfinding, scheduling, game playing).</a:t>
            </a:r>
          </a:p>
          <a:p>
            <a:pPr algn="just" eaLnBrk="0" fontAlgn="base" hangingPunct="0">
              <a:spcBef>
                <a:spcPct val="0"/>
              </a:spcBef>
              <a:spcAft>
                <a:spcPts val="600"/>
              </a:spcAft>
            </a:pPr>
            <a:r>
              <a:rPr kumimoji="0" lang="en-PK" altLang="en-PK" sz="2400" b="0" i="0" u="none" strike="noStrike" cap="none" normalizeH="0" baseline="0" dirty="0">
                <a:ln>
                  <a:noFill/>
                </a:ln>
                <a:effectLst/>
                <a:latin typeface="Arial" panose="020B0604020202020204" pitchFamily="34" charset="0"/>
              </a:rPr>
              <a:t>Forms the backbone of more advanced techniques like machine learning and planning. </a:t>
            </a:r>
          </a:p>
        </p:txBody>
      </p:sp>
      <p:pic>
        <p:nvPicPr>
          <p:cNvPr id="6" name="Picture 5" descr="Top view of cubes connected with black lines">
            <a:extLst>
              <a:ext uri="{FF2B5EF4-FFF2-40B4-BE49-F238E27FC236}">
                <a16:creationId xmlns:a16="http://schemas.microsoft.com/office/drawing/2014/main" id="{366851CA-D87A-6E89-8921-3EC95190690D}"/>
              </a:ext>
            </a:extLst>
          </p:cNvPr>
          <p:cNvPicPr>
            <a:picLocks noChangeAspect="1"/>
          </p:cNvPicPr>
          <p:nvPr/>
        </p:nvPicPr>
        <p:blipFill>
          <a:blip r:embed="rId2"/>
          <a:srcRect l="21590" r="11668"/>
          <a:stretch/>
        </p:blipFill>
        <p:spPr>
          <a:xfrm>
            <a:off x="6096000" y="1"/>
            <a:ext cx="6102825" cy="6858000"/>
          </a:xfrm>
          <a:prstGeom prst="rect">
            <a:avLst/>
          </a:prstGeom>
        </p:spPr>
      </p:pic>
    </p:spTree>
    <p:extLst>
      <p:ext uri="{BB962C8B-B14F-4D97-AF65-F5344CB8AC3E}">
        <p14:creationId xmlns:p14="http://schemas.microsoft.com/office/powerpoint/2010/main" val="1548763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4C5C16-4C1E-6C21-0FB4-782AD385653D}"/>
              </a:ext>
            </a:extLst>
          </p:cNvPr>
          <p:cNvSpPr>
            <a:spLocks noGrp="1"/>
          </p:cNvSpPr>
          <p:nvPr>
            <p:ph type="title"/>
          </p:nvPr>
        </p:nvSpPr>
        <p:spPr>
          <a:xfrm>
            <a:off x="5297762" y="329184"/>
            <a:ext cx="6251110" cy="1783080"/>
          </a:xfrm>
        </p:spPr>
        <p:txBody>
          <a:bodyPr anchor="b">
            <a:normAutofit/>
          </a:bodyPr>
          <a:lstStyle/>
          <a:p>
            <a:r>
              <a:rPr lang="it-IT" b="1" dirty="0">
                <a:latin typeface="Arial" panose="020B0604020202020204" pitchFamily="34" charset="0"/>
                <a:cs typeface="Arial" panose="020B0604020202020204" pitchFamily="34" charset="0"/>
              </a:rPr>
              <a:t>Common Searching Algorithms</a:t>
            </a:r>
            <a:endParaRPr lang="en-PK" b="1" dirty="0">
              <a:latin typeface="Arial" panose="020B0604020202020204" pitchFamily="34" charset="0"/>
              <a:cs typeface="Arial" panose="020B0604020202020204" pitchFamily="34" charset="0"/>
            </a:endParaRPr>
          </a:p>
        </p:txBody>
      </p:sp>
      <p:pic>
        <p:nvPicPr>
          <p:cNvPr id="6" name="Picture 5" descr="Magnifying glass on clear background">
            <a:extLst>
              <a:ext uri="{FF2B5EF4-FFF2-40B4-BE49-F238E27FC236}">
                <a16:creationId xmlns:a16="http://schemas.microsoft.com/office/drawing/2014/main" id="{4DD3E43F-A981-3668-9D1A-70CEEBE6F8D4}"/>
              </a:ext>
            </a:extLst>
          </p:cNvPr>
          <p:cNvPicPr>
            <a:picLocks noChangeAspect="1"/>
          </p:cNvPicPr>
          <p:nvPr/>
        </p:nvPicPr>
        <p:blipFill>
          <a:blip r:embed="rId2"/>
          <a:srcRect l="40474" r="14194"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C11DF5F4-AAC0-7348-7079-6FA60A4A3F5A}"/>
              </a:ext>
            </a:extLst>
          </p:cNvPr>
          <p:cNvSpPr>
            <a:spLocks noGrp="1" noChangeArrowheads="1"/>
          </p:cNvSpPr>
          <p:nvPr>
            <p:ph idx="1"/>
          </p:nvPr>
        </p:nvSpPr>
        <p:spPr bwMode="auto">
          <a:xfrm>
            <a:off x="5297762" y="2706624"/>
            <a:ext cx="6251110" cy="34838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algn="just" eaLnBrk="0" fontAlgn="base" hangingPunct="0">
              <a:spcBef>
                <a:spcPct val="0"/>
              </a:spcBef>
              <a:spcAft>
                <a:spcPts val="600"/>
              </a:spcAft>
            </a:pPr>
            <a:r>
              <a:rPr kumimoji="0" lang="en-PK" altLang="en-PK" sz="2200" b="1" i="0" u="none" strike="noStrike" cap="none" normalizeH="0" baseline="0" dirty="0">
                <a:ln>
                  <a:noFill/>
                </a:ln>
                <a:effectLst/>
                <a:latin typeface="Arial" panose="020B0604020202020204" pitchFamily="34" charset="0"/>
              </a:rPr>
              <a:t>Uninformed Algorithms</a:t>
            </a:r>
            <a:r>
              <a:rPr kumimoji="0" lang="en-PK" altLang="en-PK" sz="2200" b="0" i="0" u="none" strike="noStrike" cap="none" normalizeH="0" baseline="0" dirty="0">
                <a:ln>
                  <a:noFill/>
                </a:ln>
                <a:effectLst/>
                <a:latin typeface="Arial" panose="020B0604020202020204" pitchFamily="34" charset="0"/>
              </a:rPr>
              <a:t>: BFS, DFS, Uniform Cost Search.</a:t>
            </a:r>
          </a:p>
          <a:p>
            <a:pPr algn="just" eaLnBrk="0" fontAlgn="base" hangingPunct="0">
              <a:spcBef>
                <a:spcPct val="0"/>
              </a:spcBef>
              <a:spcAft>
                <a:spcPts val="600"/>
              </a:spcAft>
            </a:pPr>
            <a:r>
              <a:rPr kumimoji="0" lang="en-PK" altLang="en-PK" sz="2200" b="1" i="0" u="none" strike="noStrike" cap="none" normalizeH="0" baseline="0" dirty="0">
                <a:ln>
                  <a:noFill/>
                </a:ln>
                <a:effectLst/>
                <a:latin typeface="Arial" panose="020B0604020202020204" pitchFamily="34" charset="0"/>
              </a:rPr>
              <a:t>Informed Algorithms</a:t>
            </a:r>
            <a:r>
              <a:rPr kumimoji="0" lang="en-PK" altLang="en-PK" sz="2200" b="0" i="0" u="none" strike="noStrike" cap="none" normalizeH="0" baseline="0" dirty="0">
                <a:ln>
                  <a:noFill/>
                </a:ln>
                <a:effectLst/>
                <a:latin typeface="Arial" panose="020B0604020202020204" pitchFamily="34" charset="0"/>
              </a:rPr>
              <a:t>: Greedy Best-First, A* Search.</a:t>
            </a:r>
          </a:p>
          <a:p>
            <a:pPr algn="just" eaLnBrk="0" fontAlgn="base" hangingPunct="0">
              <a:spcBef>
                <a:spcPct val="0"/>
              </a:spcBef>
              <a:spcAft>
                <a:spcPts val="600"/>
              </a:spcAft>
            </a:pPr>
            <a:r>
              <a:rPr kumimoji="0" lang="en-PK" altLang="en-PK" sz="2200" b="1" i="0" u="none" strike="noStrike" cap="none" normalizeH="0" baseline="0" dirty="0">
                <a:ln>
                  <a:noFill/>
                </a:ln>
                <a:effectLst/>
                <a:latin typeface="Arial" panose="020B0604020202020204" pitchFamily="34" charset="0"/>
              </a:rPr>
              <a:t>Other Techniques</a:t>
            </a:r>
            <a:r>
              <a:rPr kumimoji="0" lang="en-PK" altLang="en-PK" sz="2200" b="0" i="0" u="none" strike="noStrike" cap="none" normalizeH="0" baseline="0" dirty="0">
                <a:ln>
                  <a:noFill/>
                </a:ln>
                <a:effectLst/>
                <a:latin typeface="Arial" panose="020B0604020202020204" pitchFamily="34" charset="0"/>
              </a:rPr>
              <a:t>:</a:t>
            </a:r>
          </a:p>
          <a:p>
            <a:pPr algn="just" eaLnBrk="0" fontAlgn="base" hangingPunct="0">
              <a:spcBef>
                <a:spcPct val="0"/>
              </a:spcBef>
              <a:spcAft>
                <a:spcPts val="600"/>
              </a:spcAft>
            </a:pPr>
            <a:r>
              <a:rPr kumimoji="0" lang="en-PK" altLang="en-PK" sz="2200" b="0" i="0" u="none" strike="noStrike" cap="none" normalizeH="0" baseline="0" dirty="0">
                <a:ln>
                  <a:noFill/>
                </a:ln>
                <a:effectLst/>
                <a:latin typeface="Arial" panose="020B0604020202020204" pitchFamily="34" charset="0"/>
              </a:rPr>
              <a:t>Iterative Deepening (combines depth-limited search with DFS).</a:t>
            </a:r>
          </a:p>
          <a:p>
            <a:pPr algn="just" eaLnBrk="0" fontAlgn="base" hangingPunct="0">
              <a:spcBef>
                <a:spcPct val="0"/>
              </a:spcBef>
              <a:spcAft>
                <a:spcPts val="600"/>
              </a:spcAft>
            </a:pPr>
            <a:r>
              <a:rPr kumimoji="0" lang="en-PK" altLang="en-PK" sz="2200" b="0" i="0" u="none" strike="noStrike" cap="none" normalizeH="0" baseline="0" dirty="0">
                <a:ln>
                  <a:noFill/>
                </a:ln>
                <a:effectLst/>
                <a:latin typeface="Arial" panose="020B0604020202020204" pitchFamily="34" charset="0"/>
              </a:rPr>
              <a:t>Bidirectional Search (searches from both start and goal).</a:t>
            </a:r>
          </a:p>
          <a:p>
            <a:pPr marL="0" marR="0" lvl="0" indent="0" defTabSz="914400" rtl="0" eaLnBrk="0" fontAlgn="base" latinLnBrk="0" hangingPunct="0">
              <a:spcBef>
                <a:spcPct val="0"/>
              </a:spcBef>
              <a:spcAft>
                <a:spcPts val="600"/>
              </a:spcAft>
              <a:buClrTx/>
              <a:buSzTx/>
              <a:buFontTx/>
              <a:buNone/>
              <a:tabLst/>
            </a:pPr>
            <a:endParaRPr kumimoji="0" lang="en-PK" altLang="en-PK" sz="22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603507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2809C7-96BF-CD74-1135-2800444878E2}"/>
              </a:ext>
            </a:extLst>
          </p:cNvPr>
          <p:cNvSpPr>
            <a:spLocks noGrp="1"/>
          </p:cNvSpPr>
          <p:nvPr>
            <p:ph type="title"/>
          </p:nvPr>
        </p:nvSpPr>
        <p:spPr>
          <a:xfrm>
            <a:off x="5297762" y="329184"/>
            <a:ext cx="6251110" cy="1783080"/>
          </a:xfrm>
        </p:spPr>
        <p:txBody>
          <a:bodyPr anchor="b">
            <a:normAutofit/>
          </a:bodyPr>
          <a:lstStyle/>
          <a:p>
            <a:r>
              <a:rPr lang="it-IT" sz="5400"/>
              <a:t>Heuristics in Informed Search</a:t>
            </a:r>
            <a:endParaRPr lang="en-PK" sz="5400"/>
          </a:p>
        </p:txBody>
      </p:sp>
      <p:pic>
        <p:nvPicPr>
          <p:cNvPr id="6" name="Picture 5" descr="White arrows going to the red target">
            <a:extLst>
              <a:ext uri="{FF2B5EF4-FFF2-40B4-BE49-F238E27FC236}">
                <a16:creationId xmlns:a16="http://schemas.microsoft.com/office/drawing/2014/main" id="{6302998F-13A5-0A4A-D4FB-791019AAD6E9}"/>
              </a:ext>
            </a:extLst>
          </p:cNvPr>
          <p:cNvPicPr>
            <a:picLocks noChangeAspect="1"/>
          </p:cNvPicPr>
          <p:nvPr/>
        </p:nvPicPr>
        <p:blipFill>
          <a:blip r:embed="rId2"/>
          <a:srcRect l="45092" r="9577"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EB86DA4A-FB0A-7A64-7298-3FC7E2C8A054}"/>
              </a:ext>
            </a:extLst>
          </p:cNvPr>
          <p:cNvSpPr>
            <a:spLocks noGrp="1" noChangeArrowheads="1"/>
          </p:cNvSpPr>
          <p:nvPr>
            <p:ph idx="1"/>
          </p:nvPr>
        </p:nvSpPr>
        <p:spPr bwMode="auto">
          <a:xfrm>
            <a:off x="5297762" y="2706624"/>
            <a:ext cx="6251110" cy="34838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algn="just" eaLnBrk="0" fontAlgn="base" hangingPunct="0">
              <a:spcBef>
                <a:spcPct val="0"/>
              </a:spcBef>
              <a:spcAft>
                <a:spcPts val="600"/>
              </a:spcAft>
            </a:pPr>
            <a:r>
              <a:rPr kumimoji="0" lang="en-PK" altLang="en-PK" sz="2400" b="0" i="0" u="none" strike="noStrike" cap="none" normalizeH="0" baseline="0" dirty="0">
                <a:ln>
                  <a:noFill/>
                </a:ln>
                <a:effectLst/>
                <a:latin typeface="Arial" panose="020B0604020202020204" pitchFamily="34" charset="0"/>
              </a:rPr>
              <a:t>A heuristic is a problem-specific estimate that helps guide the search towards the goal.</a:t>
            </a:r>
          </a:p>
          <a:p>
            <a:pPr algn="just" eaLnBrk="0" fontAlgn="base" hangingPunct="0">
              <a:spcBef>
                <a:spcPct val="0"/>
              </a:spcBef>
              <a:spcAft>
                <a:spcPts val="600"/>
              </a:spcAft>
            </a:pPr>
            <a:r>
              <a:rPr kumimoji="0" lang="en-PK" altLang="en-PK" sz="2400" b="0" i="0" u="none" strike="noStrike" cap="none" normalizeH="0" baseline="0" dirty="0">
                <a:ln>
                  <a:noFill/>
                </a:ln>
                <a:effectLst/>
                <a:latin typeface="Arial" panose="020B0604020202020204" pitchFamily="34" charset="0"/>
              </a:rPr>
              <a:t>Good heuristics can significantly reduce search time.</a:t>
            </a:r>
          </a:p>
          <a:p>
            <a:pPr algn="just" eaLnBrk="0" fontAlgn="base" hangingPunct="0">
              <a:spcBef>
                <a:spcPct val="0"/>
              </a:spcBef>
              <a:spcAft>
                <a:spcPts val="600"/>
              </a:spcAft>
            </a:pPr>
            <a:r>
              <a:rPr kumimoji="0" lang="en-PK" altLang="en-PK" sz="2400" b="0" i="0" u="none" strike="noStrike" cap="none" normalizeH="0" baseline="0" dirty="0">
                <a:ln>
                  <a:noFill/>
                </a:ln>
                <a:effectLst/>
                <a:latin typeface="Arial" panose="020B0604020202020204" pitchFamily="34" charset="0"/>
              </a:rPr>
              <a:t>Examples: Manhattan distance in grid-based pathfinding, straight-line distance in navigation. </a:t>
            </a:r>
          </a:p>
        </p:txBody>
      </p:sp>
    </p:spTree>
    <p:extLst>
      <p:ext uri="{BB962C8B-B14F-4D97-AF65-F5344CB8AC3E}">
        <p14:creationId xmlns:p14="http://schemas.microsoft.com/office/powerpoint/2010/main" val="2900539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4"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C7811A-EAA2-9DF1-4B16-D3D4C18E7405}"/>
              </a:ext>
            </a:extLst>
          </p:cNvPr>
          <p:cNvSpPr>
            <a:spLocks noGrp="1"/>
          </p:cNvSpPr>
          <p:nvPr>
            <p:ph type="title"/>
          </p:nvPr>
        </p:nvSpPr>
        <p:spPr>
          <a:xfrm>
            <a:off x="761800" y="762001"/>
            <a:ext cx="5334197" cy="1708242"/>
          </a:xfrm>
        </p:spPr>
        <p:txBody>
          <a:bodyPr anchor="ctr">
            <a:normAutofit/>
          </a:bodyPr>
          <a:lstStyle/>
          <a:p>
            <a:r>
              <a:rPr lang="it-IT" sz="4000" b="1" dirty="0">
                <a:latin typeface="Arial" panose="020B0604020202020204" pitchFamily="34" charset="0"/>
                <a:cs typeface="Arial" panose="020B0604020202020204" pitchFamily="34" charset="0"/>
              </a:rPr>
              <a:t>Comparison of Search Techniques</a:t>
            </a:r>
            <a:endParaRPr lang="en-PK" sz="4000" b="1" dirty="0">
              <a:latin typeface="Arial" panose="020B0604020202020204" pitchFamily="34" charset="0"/>
              <a:cs typeface="Arial" panose="020B0604020202020204" pitchFamily="34" charset="0"/>
            </a:endParaRPr>
          </a:p>
        </p:txBody>
      </p:sp>
      <p:sp>
        <p:nvSpPr>
          <p:cNvPr id="25" name="Rectangle 1">
            <a:extLst>
              <a:ext uri="{FF2B5EF4-FFF2-40B4-BE49-F238E27FC236}">
                <a16:creationId xmlns:a16="http://schemas.microsoft.com/office/drawing/2014/main" id="{AA9258BD-47D5-E104-8FF7-641E11047ED2}"/>
              </a:ext>
            </a:extLst>
          </p:cNvPr>
          <p:cNvSpPr>
            <a:spLocks noGrp="1" noChangeArrowheads="1"/>
          </p:cNvSpPr>
          <p:nvPr>
            <p:ph idx="1"/>
          </p:nvPr>
        </p:nvSpPr>
        <p:spPr bwMode="auto">
          <a:xfrm>
            <a:off x="761801" y="2470245"/>
            <a:ext cx="4850330" cy="253609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PK" altLang="en-PK" sz="20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r>
              <a:rPr kumimoji="0" lang="en-PK" altLang="en-PK" sz="2400" b="0" i="0" u="none" strike="noStrike" cap="none" normalizeH="0" baseline="0" dirty="0">
                <a:ln>
                  <a:noFill/>
                </a:ln>
                <a:effectLst/>
                <a:latin typeface="Arial" panose="020B0604020202020204" pitchFamily="34" charset="0"/>
              </a:rPr>
              <a:t>Efficiency, optimality, and completeness of each algorithm.</a:t>
            </a:r>
          </a:p>
          <a:p>
            <a:pPr eaLnBrk="0" fontAlgn="base" hangingPunct="0">
              <a:spcBef>
                <a:spcPct val="0"/>
              </a:spcBef>
              <a:spcAft>
                <a:spcPts val="600"/>
              </a:spcAft>
            </a:pPr>
            <a:r>
              <a:rPr kumimoji="0" lang="en-PK" altLang="en-PK" sz="2400" b="0" i="0" u="none" strike="noStrike" cap="none" normalizeH="0" baseline="0" dirty="0">
                <a:ln>
                  <a:noFill/>
                </a:ln>
                <a:effectLst/>
                <a:latin typeface="Arial" panose="020B0604020202020204" pitchFamily="34" charset="0"/>
              </a:rPr>
              <a:t>When to use uninformed vs. informed search. </a:t>
            </a:r>
          </a:p>
        </p:txBody>
      </p:sp>
      <p:pic>
        <p:nvPicPr>
          <p:cNvPr id="26" name="Picture 25" descr="Pins and thread forming a heptagon">
            <a:extLst>
              <a:ext uri="{FF2B5EF4-FFF2-40B4-BE49-F238E27FC236}">
                <a16:creationId xmlns:a16="http://schemas.microsoft.com/office/drawing/2014/main" id="{4B0BDA5B-3428-34E0-4C60-174F31F903AF}"/>
              </a:ext>
            </a:extLst>
          </p:cNvPr>
          <p:cNvPicPr>
            <a:picLocks noChangeAspect="1"/>
          </p:cNvPicPr>
          <p:nvPr/>
        </p:nvPicPr>
        <p:blipFill>
          <a:blip r:embed="rId2"/>
          <a:srcRect l="20766" r="27397"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728419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3D2E27-DDAD-DD29-ED34-4E6848B01D25}"/>
              </a:ext>
            </a:extLst>
          </p:cNvPr>
          <p:cNvSpPr>
            <a:spLocks noGrp="1"/>
          </p:cNvSpPr>
          <p:nvPr>
            <p:ph type="title"/>
          </p:nvPr>
        </p:nvSpPr>
        <p:spPr>
          <a:xfrm>
            <a:off x="635000" y="640823"/>
            <a:ext cx="3418659" cy="5583148"/>
          </a:xfrm>
        </p:spPr>
        <p:txBody>
          <a:bodyPr anchor="ctr">
            <a:normAutofit/>
          </a:bodyPr>
          <a:lstStyle/>
          <a:p>
            <a:r>
              <a:rPr lang="it-IT" sz="5400" dirty="0">
                <a:latin typeface="Arial" panose="020B0604020202020204" pitchFamily="34" charset="0"/>
                <a:cs typeface="Arial" panose="020B0604020202020204" pitchFamily="34" charset="0"/>
              </a:rPr>
              <a:t>Summary</a:t>
            </a:r>
            <a:endParaRPr lang="en-PK" sz="5400" dirty="0">
              <a:latin typeface="Arial" panose="020B0604020202020204" pitchFamily="34" charset="0"/>
              <a:cs typeface="Arial" panose="020B0604020202020204" pitchFamily="34" charset="0"/>
            </a:endParaRPr>
          </a:p>
        </p:txBody>
      </p:sp>
      <p:sp>
        <p:nvSpPr>
          <p:cNvPr id="19"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Rectangle 1">
            <a:extLst>
              <a:ext uri="{FF2B5EF4-FFF2-40B4-BE49-F238E27FC236}">
                <a16:creationId xmlns:a16="http://schemas.microsoft.com/office/drawing/2014/main" id="{328A18BF-A566-FFDD-0059-9D94B4A5105E}"/>
              </a:ext>
            </a:extLst>
          </p:cNvPr>
          <p:cNvGraphicFramePr>
            <a:graphicFrameLocks noGrp="1"/>
          </p:cNvGraphicFramePr>
          <p:nvPr>
            <p:ph idx="1"/>
            <p:extLst>
              <p:ext uri="{D42A27DB-BD31-4B8C-83A1-F6EECF244321}">
                <p14:modId xmlns:p14="http://schemas.microsoft.com/office/powerpoint/2010/main" val="1465571408"/>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4815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1246</TotalTime>
  <Words>1143</Words>
  <Application>Microsoft Office PowerPoint</Application>
  <PresentationFormat>Widescreen</PresentationFormat>
  <Paragraphs>135</Paragraphs>
  <Slides>19</Slides>
  <Notes>3</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Nunito</vt:lpstr>
      <vt:lpstr>Office Theme</vt:lpstr>
      <vt:lpstr>Artificial Intelligence</vt:lpstr>
      <vt:lpstr>Week-5 </vt:lpstr>
      <vt:lpstr>Uniform Cost Search</vt:lpstr>
      <vt:lpstr>Uniform Cost Algorithm</vt:lpstr>
      <vt:lpstr>Problem Statement</vt:lpstr>
      <vt:lpstr>Uniform Cost Example</vt:lpstr>
      <vt:lpstr>PowerPoint Presentation</vt:lpstr>
      <vt:lpstr>Uniform Cost Search</vt:lpstr>
      <vt:lpstr>Bidirectional Search</vt:lpstr>
      <vt:lpstr>Bidirectional Search Algorithm</vt:lpstr>
      <vt:lpstr>PowerPoint Presentation</vt:lpstr>
      <vt:lpstr>Bidirectional Search Example</vt:lpstr>
      <vt:lpstr>Bidirectional Search Example</vt:lpstr>
      <vt:lpstr>Bidirectional Search</vt:lpstr>
      <vt:lpstr>Importance of Search in AI</vt:lpstr>
      <vt:lpstr>Common Searching Algorithms</vt:lpstr>
      <vt:lpstr>Heuristics in Informed Search</vt:lpstr>
      <vt:lpstr>Comparison of Search Techniques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Mansoor Iqbal</dc:creator>
  <cp:lastModifiedBy>Habiba Arshad</cp:lastModifiedBy>
  <cp:revision>110</cp:revision>
  <dcterms:created xsi:type="dcterms:W3CDTF">2024-10-08T06:28:51Z</dcterms:created>
  <dcterms:modified xsi:type="dcterms:W3CDTF">2025-12-03T03:52:55Z</dcterms:modified>
</cp:coreProperties>
</file>