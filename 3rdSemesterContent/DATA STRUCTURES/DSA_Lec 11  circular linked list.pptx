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323" r:id="rId2"/>
    <p:sldId id="324" r:id="rId3"/>
    <p:sldId id="536" r:id="rId4"/>
    <p:sldId id="532" r:id="rId5"/>
    <p:sldId id="534" r:id="rId6"/>
    <p:sldId id="474" r:id="rId7"/>
    <p:sldId id="475" r:id="rId8"/>
    <p:sldId id="535" r:id="rId9"/>
    <p:sldId id="478" r:id="rId10"/>
    <p:sldId id="479" r:id="rId11"/>
    <p:sldId id="480" r:id="rId12"/>
    <p:sldId id="481" r:id="rId13"/>
    <p:sldId id="537" r:id="rId14"/>
    <p:sldId id="538" r:id="rId15"/>
    <p:sldId id="35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 autoAdjust="0"/>
    <p:restoredTop sz="95542" autoAdjust="0"/>
  </p:normalViewPr>
  <p:slideViewPr>
    <p:cSldViewPr snapToGrid="0">
      <p:cViewPr varScale="1">
        <p:scale>
          <a:sx n="78" d="100"/>
          <a:sy n="78" d="100"/>
        </p:scale>
        <p:origin x="12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53704-8F7B-4B4B-BE29-75D966E9861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5BC35-CC53-4906-A78D-BD872B7423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79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Set PTR=LINK[START]</a:t>
            </a:r>
          </a:p>
          <a:p>
            <a:pPr marL="228600" indent="-228600">
              <a:buAutoNum type="arabicPeriod"/>
            </a:pPr>
            <a:r>
              <a:rPr lang="en-US" dirty="0"/>
              <a:t>Repeat Steps 3 and 4 while PTR != START</a:t>
            </a:r>
          </a:p>
          <a:p>
            <a:pPr marL="228600" indent="-228600">
              <a:buAutoNum type="arabicPeriod"/>
            </a:pPr>
            <a:r>
              <a:rPr lang="en-US" dirty="0"/>
              <a:t>Apply PROCESS to INFO[PTR]</a:t>
            </a:r>
          </a:p>
          <a:p>
            <a:pPr marL="228600" indent="-228600">
              <a:buAutoNum type="arabicPeriod"/>
            </a:pPr>
            <a:r>
              <a:rPr lang="en-US" dirty="0"/>
              <a:t>Set PTR=LINK[PTR] // end of step 2 loop.</a:t>
            </a:r>
          </a:p>
          <a:p>
            <a:pPr marL="228600" indent="-228600">
              <a:buAutoNum type="arabicPeriod"/>
            </a:pPr>
            <a:r>
              <a:rPr lang="en-US" dirty="0"/>
              <a:t>Exit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5BC35-CC53-4906-A78D-BD872B74237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88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35BC35-CC53-4906-A78D-BD872B74237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58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793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8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629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22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68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11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48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02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62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05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78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0DC88A9-39F9-4A23-830D-9B4DEF91EFA2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EF38FCE-6F12-482A-B170-11DE37B6CF2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5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D567419-CD58-5328-C2F1-E597579DF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200"/>
            <a:ext cx="8915400" cy="1830388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dirty="0"/>
              <a:t>Data Structure</a:t>
            </a:r>
          </a:p>
        </p:txBody>
      </p:sp>
      <p:sp>
        <p:nvSpPr>
          <p:cNvPr id="9219" name="Subtitle 4">
            <a:extLst>
              <a:ext uri="{FF2B5EF4-FFF2-40B4-BE49-F238E27FC236}">
                <a16:creationId xmlns:a16="http://schemas.microsoft.com/office/drawing/2014/main" id="{A8EB6202-F0CB-E961-842F-255AEA9CE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045" y="4591278"/>
            <a:ext cx="7772400" cy="1200150"/>
          </a:xfrm>
        </p:spPr>
        <p:txBody>
          <a:bodyPr>
            <a:normAutofit fontScale="92500" lnSpcReduction="20000"/>
          </a:bodyPr>
          <a:lstStyle/>
          <a:p>
            <a:r>
              <a:rPr lang="en-GB" altLang="en-US" dirty="0"/>
              <a:t>Course Code: CS-201 </a:t>
            </a:r>
          </a:p>
          <a:p>
            <a:r>
              <a:rPr lang="en-GB" altLang="en-US" dirty="0"/>
              <a:t>Topic: Circular link list</a:t>
            </a:r>
          </a:p>
          <a:p>
            <a:r>
              <a:rPr lang="en-GB" altLang="en-US" dirty="0"/>
              <a:t>Instructor: Habiba </a:t>
            </a:r>
            <a:r>
              <a:rPr lang="en-GB" altLang="en-US" dirty="0" err="1"/>
              <a:t>arshad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1">
            <a:extLst>
              <a:ext uri="{FF2B5EF4-FFF2-40B4-BE49-F238E27FC236}">
                <a16:creationId xmlns:a16="http://schemas.microsoft.com/office/drawing/2014/main" id="{A4C76B8E-B573-F5FE-9938-A1E666390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50098"/>
            <a:ext cx="8305800" cy="4057002"/>
          </a:xfrm>
        </p:spPr>
        <p:txBody>
          <a:bodyPr/>
          <a:lstStyle/>
          <a:p>
            <a:r>
              <a:rPr lang="en-GB" altLang="en-US" dirty="0"/>
              <a:t>To study:</a:t>
            </a:r>
          </a:p>
          <a:p>
            <a:pPr>
              <a:buFont typeface="Wingdings 3" panose="05040102010807070707" pitchFamily="18" charset="2"/>
              <a:buNone/>
            </a:pPr>
            <a:endParaRPr lang="en-GB" altLang="en-US" dirty="0"/>
          </a:p>
          <a:p>
            <a:pPr lvl="1"/>
            <a:r>
              <a:rPr lang="en-US" altLang="en-US" sz="2400" dirty="0"/>
              <a:t>Circular Linked list</a:t>
            </a:r>
          </a:p>
          <a:p>
            <a:pPr lvl="2"/>
            <a:endParaRPr lang="en-US" altLang="en-US" sz="20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EFC342-F429-4528-95FF-841C830E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Goals for today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BA32-E7CE-C254-EBFC-BA979E40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 Covered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7489C-5F1A-3B21-EBE2-76EC0DC6D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CLO2: Apply and design various data structures methods for specified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421879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8FA28-F87E-DFB3-20FF-70928D0E8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/>
              <a:t>Other variation of Linked List 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3F2576D3-BA65-9243-BE62-2C72ADC83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B7F9796-857F-AAFD-9D8A-C6D8BED93A16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886200"/>
            <a:ext cx="7164388" cy="1220788"/>
            <a:chOff x="914400" y="3962400"/>
            <a:chExt cx="7163594" cy="1220788"/>
          </a:xfrm>
        </p:grpSpPr>
        <p:grpSp>
          <p:nvGrpSpPr>
            <p:cNvPr id="13317" name="Group 51">
              <a:extLst>
                <a:ext uri="{FF2B5EF4-FFF2-40B4-BE49-F238E27FC236}">
                  <a16:creationId xmlns:a16="http://schemas.microsoft.com/office/drawing/2014/main" id="{87DA0C50-CDF2-BAF5-8502-BF98724E92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4400" y="3962400"/>
              <a:ext cx="7163594" cy="1220788"/>
              <a:chOff x="914400" y="3962400"/>
              <a:chExt cx="7163594" cy="1220788"/>
            </a:xfrm>
          </p:grpSpPr>
          <p:grpSp>
            <p:nvGrpSpPr>
              <p:cNvPr id="13319" name="Group 3">
                <a:extLst>
                  <a:ext uri="{FF2B5EF4-FFF2-40B4-BE49-F238E27FC236}">
                    <a16:creationId xmlns:a16="http://schemas.microsoft.com/office/drawing/2014/main" id="{AB219092-0537-3A9E-E04D-DFEED2AFFD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4400" y="3962400"/>
                <a:ext cx="6708775" cy="384175"/>
                <a:chOff x="762000" y="3505200"/>
                <a:chExt cx="6708775" cy="384175"/>
              </a:xfrm>
            </p:grpSpPr>
            <p:grpSp>
              <p:nvGrpSpPr>
                <p:cNvPr id="13323" name="Group 6">
                  <a:extLst>
                    <a:ext uri="{FF2B5EF4-FFF2-40B4-BE49-F238E27FC236}">
                      <a16:creationId xmlns:a16="http://schemas.microsoft.com/office/drawing/2014/main" id="{38FA2C49-0A8E-7571-7E60-692614B742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4000" y="3505200"/>
                  <a:ext cx="765175" cy="384175"/>
                  <a:chOff x="2667000" y="3124200"/>
                  <a:chExt cx="765175" cy="384175"/>
                </a:xfrm>
              </p:grpSpPr>
              <p:sp>
                <p:nvSpPr>
                  <p:cNvPr id="13342" name="Rectangle 17">
                    <a:extLst>
                      <a:ext uri="{FF2B5EF4-FFF2-40B4-BE49-F238E27FC236}">
                        <a16:creationId xmlns:a16="http://schemas.microsoft.com/office/drawing/2014/main" id="{B63F7C7B-A4C7-0101-F1C1-964FD013A5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48000" y="3124200"/>
                    <a:ext cx="384175" cy="3841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43" name="Rectangle 18">
                    <a:extLst>
                      <a:ext uri="{FF2B5EF4-FFF2-40B4-BE49-F238E27FC236}">
                        <a16:creationId xmlns:a16="http://schemas.microsoft.com/office/drawing/2014/main" id="{EAE27ED1-1FA2-D0C8-5A41-2B19F364E9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7000" y="3124200"/>
                    <a:ext cx="381000" cy="38100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3324" name="Group 9">
                  <a:extLst>
                    <a:ext uri="{FF2B5EF4-FFF2-40B4-BE49-F238E27FC236}">
                      <a16:creationId xmlns:a16="http://schemas.microsoft.com/office/drawing/2014/main" id="{42DCCE4B-52C3-5A74-8B2E-789B0CFD7F2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819400" y="3505200"/>
                  <a:ext cx="765175" cy="384175"/>
                  <a:chOff x="2667000" y="3124200"/>
                  <a:chExt cx="765175" cy="384175"/>
                </a:xfrm>
              </p:grpSpPr>
              <p:sp>
                <p:nvSpPr>
                  <p:cNvPr id="13340" name="Rectangle 17">
                    <a:extLst>
                      <a:ext uri="{FF2B5EF4-FFF2-40B4-BE49-F238E27FC236}">
                        <a16:creationId xmlns:a16="http://schemas.microsoft.com/office/drawing/2014/main" id="{7A94D4F4-9CA1-852B-D87C-F9020FC115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48000" y="3124200"/>
                    <a:ext cx="384175" cy="3841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41" name="Rectangle 18">
                    <a:extLst>
                      <a:ext uri="{FF2B5EF4-FFF2-40B4-BE49-F238E27FC236}">
                        <a16:creationId xmlns:a16="http://schemas.microsoft.com/office/drawing/2014/main" id="{D6B4A712-FAAD-D730-042E-851B920D864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7000" y="3124200"/>
                    <a:ext cx="381000" cy="38100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3325" name="Rectangle 18">
                  <a:extLst>
                    <a:ext uri="{FF2B5EF4-FFF2-40B4-BE49-F238E27FC236}">
                      <a16:creationId xmlns:a16="http://schemas.microsoft.com/office/drawing/2014/main" id="{8AA9FBFC-45B8-C621-6EB7-752A45E0D9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62000" y="3505200"/>
                  <a:ext cx="152400" cy="381000"/>
                </a:xfrm>
                <a:prstGeom prst="rect">
                  <a:avLst/>
                </a:prstGeom>
                <a:solidFill>
                  <a:srgbClr val="00B050"/>
                </a:solidFill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ts val="400"/>
                    </a:spcBef>
                    <a:buClr>
                      <a:schemeClr val="accent1"/>
                    </a:buClr>
                    <a:buSzPct val="68000"/>
                    <a:buFont typeface="Wingdings 3" panose="05040102010807070707" pitchFamily="18" charset="2"/>
                    <a:buChar char=""/>
                    <a:defRPr sz="27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spcBef>
                      <a:spcPts val="325"/>
                    </a:spcBef>
                    <a:buClr>
                      <a:schemeClr val="accent1"/>
                    </a:buClr>
                    <a:buFont typeface="Verdana" panose="020B0604030504040204" pitchFamily="34" charset="0"/>
                    <a:buChar char="◦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ts val="350"/>
                    </a:spcBef>
                    <a:buClr>
                      <a:schemeClr val="accent2"/>
                    </a:buClr>
                    <a:buSzPct val="100000"/>
                    <a:buFont typeface="Wingdings 2" panose="05020102010507070707" pitchFamily="18" charset="2"/>
                    <a:buChar char=""/>
                    <a:defRPr sz="21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19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ts val="350"/>
                    </a:spcBef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ts val="35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 2" panose="05020102010507070707" pitchFamily="18" charset="2"/>
                    <a:buChar char="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13326" name="Group 18">
                  <a:extLst>
                    <a:ext uri="{FF2B5EF4-FFF2-40B4-BE49-F238E27FC236}">
                      <a16:creationId xmlns:a16="http://schemas.microsoft.com/office/drawing/2014/main" id="{CD1CA58B-2A26-2D23-FC6B-86E196A048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05600" y="3505200"/>
                  <a:ext cx="765175" cy="384175"/>
                  <a:chOff x="2667000" y="3124200"/>
                  <a:chExt cx="765175" cy="384175"/>
                </a:xfrm>
              </p:grpSpPr>
              <p:sp>
                <p:nvSpPr>
                  <p:cNvPr id="13338" name="Rectangle 17">
                    <a:extLst>
                      <a:ext uri="{FF2B5EF4-FFF2-40B4-BE49-F238E27FC236}">
                        <a16:creationId xmlns:a16="http://schemas.microsoft.com/office/drawing/2014/main" id="{6E5A69AF-9AB6-929E-66F9-26A966D700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48000" y="3124200"/>
                    <a:ext cx="384175" cy="3841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39" name="Rectangle 18">
                    <a:extLst>
                      <a:ext uri="{FF2B5EF4-FFF2-40B4-BE49-F238E27FC236}">
                        <a16:creationId xmlns:a16="http://schemas.microsoft.com/office/drawing/2014/main" id="{F65F4260-A82F-D52A-C4DD-61200A0D11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7000" y="3124200"/>
                    <a:ext cx="381000" cy="38100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3327" name="Group 21">
                  <a:extLst>
                    <a:ext uri="{FF2B5EF4-FFF2-40B4-BE49-F238E27FC236}">
                      <a16:creationId xmlns:a16="http://schemas.microsoft.com/office/drawing/2014/main" id="{1E3D252C-921A-DA2C-BC84-56A88EAA61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114800" y="3505200"/>
                  <a:ext cx="765175" cy="384175"/>
                  <a:chOff x="2667000" y="3124200"/>
                  <a:chExt cx="765175" cy="384175"/>
                </a:xfrm>
              </p:grpSpPr>
              <p:sp>
                <p:nvSpPr>
                  <p:cNvPr id="13336" name="Rectangle 26">
                    <a:extLst>
                      <a:ext uri="{FF2B5EF4-FFF2-40B4-BE49-F238E27FC236}">
                        <a16:creationId xmlns:a16="http://schemas.microsoft.com/office/drawing/2014/main" id="{03678214-5DE9-0D71-6D48-FCCAE251DF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48000" y="3124200"/>
                    <a:ext cx="384175" cy="3841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37" name="Rectangle 27">
                    <a:extLst>
                      <a:ext uri="{FF2B5EF4-FFF2-40B4-BE49-F238E27FC236}">
                        <a16:creationId xmlns:a16="http://schemas.microsoft.com/office/drawing/2014/main" id="{DFA9784C-6B97-76CD-E77F-6262EDA8D1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7000" y="3124200"/>
                    <a:ext cx="381000" cy="38100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13328" name="Group 24">
                  <a:extLst>
                    <a:ext uri="{FF2B5EF4-FFF2-40B4-BE49-F238E27FC236}">
                      <a16:creationId xmlns:a16="http://schemas.microsoft.com/office/drawing/2014/main" id="{C2597B01-48B6-0BC7-3643-EB75F93F9C1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10200" y="3505200"/>
                  <a:ext cx="765175" cy="384175"/>
                  <a:chOff x="2667000" y="3124200"/>
                  <a:chExt cx="765175" cy="384175"/>
                </a:xfrm>
              </p:grpSpPr>
              <p:sp>
                <p:nvSpPr>
                  <p:cNvPr id="13334" name="Rectangle 17">
                    <a:extLst>
                      <a:ext uri="{FF2B5EF4-FFF2-40B4-BE49-F238E27FC236}">
                        <a16:creationId xmlns:a16="http://schemas.microsoft.com/office/drawing/2014/main" id="{6DB7EB6A-19F9-F5C5-849D-D31F8E21B3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48000" y="3124200"/>
                    <a:ext cx="384175" cy="38417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335" name="Rectangle 18">
                    <a:extLst>
                      <a:ext uri="{FF2B5EF4-FFF2-40B4-BE49-F238E27FC236}">
                        <a16:creationId xmlns:a16="http://schemas.microsoft.com/office/drawing/2014/main" id="{CBF09948-5418-D0C5-F5A4-FEDD6AF383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667000" y="3124200"/>
                    <a:ext cx="381000" cy="38100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3329" name="Line 25">
                  <a:extLst>
                    <a:ext uri="{FF2B5EF4-FFF2-40B4-BE49-F238E27FC236}">
                      <a16:creationId xmlns:a16="http://schemas.microsoft.com/office/drawing/2014/main" id="{CB8483CC-FCAF-48F3-58EC-AF6A0AAB70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40000" flipV="1">
                  <a:off x="838959" y="3681464"/>
                  <a:ext cx="685800" cy="4571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330" name="Line 25">
                  <a:extLst>
                    <a:ext uri="{FF2B5EF4-FFF2-40B4-BE49-F238E27FC236}">
                      <a16:creationId xmlns:a16="http://schemas.microsoft.com/office/drawing/2014/main" id="{B10E7048-8F06-AC2E-D407-EC4025C3A0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40000" flipV="1">
                  <a:off x="3429759" y="3681463"/>
                  <a:ext cx="685800" cy="4571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331" name="Line 25">
                  <a:extLst>
                    <a:ext uri="{FF2B5EF4-FFF2-40B4-BE49-F238E27FC236}">
                      <a16:creationId xmlns:a16="http://schemas.microsoft.com/office/drawing/2014/main" id="{813232AB-2AEE-C96F-A770-67937932E4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40000" flipV="1">
                  <a:off x="2134359" y="3681463"/>
                  <a:ext cx="685800" cy="4571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332" name="Line 25">
                  <a:extLst>
                    <a:ext uri="{FF2B5EF4-FFF2-40B4-BE49-F238E27FC236}">
                      <a16:creationId xmlns:a16="http://schemas.microsoft.com/office/drawing/2014/main" id="{EDB40002-7A75-E4CA-E0BB-3A305B4BC6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40000" flipV="1">
                  <a:off x="6020559" y="3681464"/>
                  <a:ext cx="685800" cy="4571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3333" name="Line 25">
                  <a:extLst>
                    <a:ext uri="{FF2B5EF4-FFF2-40B4-BE49-F238E27FC236}">
                      <a16:creationId xmlns:a16="http://schemas.microsoft.com/office/drawing/2014/main" id="{19D3954B-D5E9-FAC1-9BB5-5B5907A6DF5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240000" flipV="1">
                  <a:off x="4725159" y="3681464"/>
                  <a:ext cx="685800" cy="4571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oval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634D208-5F06-2A1E-3DD2-D7235C80F0A9}"/>
                  </a:ext>
                </a:extLst>
              </p:cNvPr>
              <p:cNvCxnSpPr/>
              <p:nvPr/>
            </p:nvCxnSpPr>
            <p:spPr>
              <a:xfrm>
                <a:off x="1371549" y="5181600"/>
                <a:ext cx="6704857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8518FBA-EB86-6D9C-A43D-61ABACC94D2D}"/>
                  </a:ext>
                </a:extLst>
              </p:cNvPr>
              <p:cNvCxnSpPr/>
              <p:nvPr/>
            </p:nvCxnSpPr>
            <p:spPr>
              <a:xfrm>
                <a:off x="7390682" y="4191000"/>
                <a:ext cx="685724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  <a:head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D65879E-6CBA-9191-B7E5-7F27119445CF}"/>
                  </a:ext>
                </a:extLst>
              </p:cNvPr>
              <p:cNvCxnSpPr/>
              <p:nvPr/>
            </p:nvCxnSpPr>
            <p:spPr>
              <a:xfrm rot="5400000">
                <a:off x="7582694" y="4686300"/>
                <a:ext cx="989012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680B799-1CB7-D828-7D54-DD6553350FFD}"/>
                </a:ext>
              </a:extLst>
            </p:cNvPr>
            <p:cNvCxnSpPr/>
            <p:nvPr/>
          </p:nvCxnSpPr>
          <p:spPr>
            <a:xfrm rot="5400000">
              <a:off x="876249" y="4686300"/>
              <a:ext cx="9906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997817A-0387-689F-0A03-EA5FA89F2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Circular Linked Lists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FFDA561-DBA9-FD91-8360-E96F2B258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1672" y="1915302"/>
            <a:ext cx="10141184" cy="4281361"/>
          </a:xfrm>
        </p:spPr>
        <p:txBody>
          <a:bodyPr>
            <a:normAutofit lnSpcReduction="10000"/>
          </a:bodyPr>
          <a:lstStyle/>
          <a:p>
            <a:pPr lvl="1"/>
            <a:r>
              <a:rPr lang="en-US" altLang="en-US" sz="2400" dirty="0"/>
              <a:t>A linked list whose last node points back to the first node instead of containing a NULL pointer called a </a:t>
            </a:r>
            <a:r>
              <a:rPr lang="en-US" altLang="en-US" sz="2400" b="1" dirty="0">
                <a:solidFill>
                  <a:srgbClr val="FF0000"/>
                </a:solidFill>
              </a:rPr>
              <a:t>circular list</a:t>
            </a:r>
          </a:p>
          <a:p>
            <a:pPr lvl="1"/>
            <a:endParaRPr lang="en-US" altLang="zh-CN" sz="2400" dirty="0">
              <a:ea typeface="SimSun" panose="02010600030101010101" pitchFamily="2" charset="-122"/>
            </a:endParaRPr>
          </a:p>
          <a:p>
            <a:pPr lvl="1"/>
            <a:endParaRPr lang="en-US" altLang="zh-CN" sz="2400" dirty="0">
              <a:ea typeface="SimSun" panose="02010600030101010101" pitchFamily="2" charset="-122"/>
            </a:endParaRPr>
          </a:p>
          <a:p>
            <a:pPr lvl="1"/>
            <a:endParaRPr lang="en-US" altLang="zh-CN" sz="2400" dirty="0">
              <a:ea typeface="SimSun" panose="02010600030101010101" pitchFamily="2" charset="-122"/>
            </a:endParaRPr>
          </a:p>
          <a:p>
            <a:pPr lvl="1"/>
            <a:endParaRPr lang="en-US" altLang="zh-CN" sz="2400" dirty="0">
              <a:ea typeface="SimSun" panose="02010600030101010101" pitchFamily="2" charset="-122"/>
            </a:endParaRPr>
          </a:p>
          <a:p>
            <a:pPr lvl="1"/>
            <a:endParaRPr lang="en-US" altLang="zh-CN" sz="2400" dirty="0">
              <a:ea typeface="SimSun" panose="02010600030101010101" pitchFamily="2" charset="-122"/>
            </a:endParaRPr>
          </a:p>
          <a:p>
            <a:pPr lvl="1"/>
            <a:endParaRPr lang="en-US" altLang="zh-CN" sz="2400" dirty="0">
              <a:ea typeface="SimSun" panose="02010600030101010101" pitchFamily="2" charset="-122"/>
            </a:endParaRPr>
          </a:p>
          <a:p>
            <a:pPr lvl="1"/>
            <a:endParaRPr lang="en-US" altLang="zh-CN" sz="2400" dirty="0">
              <a:ea typeface="SimSun" panose="02010600030101010101" pitchFamily="2" charset="-122"/>
            </a:endParaRPr>
          </a:p>
          <a:p>
            <a:pPr lvl="1"/>
            <a:r>
              <a:rPr lang="en-US" altLang="zh-CN" sz="2400" dirty="0">
                <a:ea typeface="SimSun" panose="02010600030101010101" pitchFamily="2" charset="-122"/>
              </a:rPr>
              <a:t>How do we know when we have finished traversing the list? (Tip: check if the pointer of the current node is equal to the head.)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E0E55F-B3CD-2161-E691-F4D207089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247" y="3579318"/>
            <a:ext cx="6340390" cy="1664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A30F-10AC-5BC1-096B-D4E1BAA09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82624"/>
            <a:ext cx="82296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Header 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FDF3D-5BF0-6F54-2C00-1FDF28967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311" y="2015412"/>
            <a:ext cx="10262679" cy="2835989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A </a:t>
            </a:r>
            <a:r>
              <a:rPr lang="en-US" altLang="en-US" sz="2400" b="1" dirty="0">
                <a:solidFill>
                  <a:srgbClr val="00B050"/>
                </a:solidFill>
              </a:rPr>
              <a:t>header linked </a:t>
            </a:r>
            <a:r>
              <a:rPr lang="en-US" altLang="en-US" sz="2400" dirty="0"/>
              <a:t>list is a linked list which always contains a </a:t>
            </a:r>
            <a:r>
              <a:rPr lang="en-US" altLang="en-US" sz="2400" b="1" dirty="0">
                <a:solidFill>
                  <a:srgbClr val="00B050"/>
                </a:solidFill>
              </a:rPr>
              <a:t>special node </a:t>
            </a:r>
            <a:r>
              <a:rPr lang="en-US" altLang="en-US" sz="2400" dirty="0"/>
              <a:t>called </a:t>
            </a:r>
            <a:r>
              <a:rPr lang="en-US" altLang="en-US" sz="2400" b="1" dirty="0">
                <a:solidFill>
                  <a:srgbClr val="FF0000"/>
                </a:solidFill>
              </a:rPr>
              <a:t>header node </a:t>
            </a:r>
            <a:r>
              <a:rPr lang="en-US" altLang="en-US" sz="2400" dirty="0">
                <a:solidFill>
                  <a:schemeClr val="tx1"/>
                </a:solidFill>
              </a:rPr>
              <a:t>at the beginning of the list.</a:t>
            </a:r>
          </a:p>
          <a:p>
            <a:pPr>
              <a:buFont typeface="Wingdings 2" panose="05020102010507070707" pitchFamily="18" charset="2"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Types of header list:</a:t>
            </a:r>
          </a:p>
          <a:p>
            <a:pPr marL="515938" lvl="1" indent="-182563">
              <a:buFont typeface="Wingdings" panose="05000000000000000000" pitchFamily="2" charset="2"/>
              <a:buChar char="§"/>
            </a:pPr>
            <a:r>
              <a:rPr lang="en-US" altLang="en-US" sz="2800" b="1" dirty="0">
                <a:solidFill>
                  <a:schemeClr val="tx2">
                    <a:lumMod val="75000"/>
                  </a:schemeClr>
                </a:solidFill>
              </a:rPr>
              <a:t>Grounded header list</a:t>
            </a:r>
          </a:p>
          <a:p>
            <a:pPr marL="515938" lvl="1" indent="-182563">
              <a:buFont typeface="Wingdings" panose="05000000000000000000" pitchFamily="2" charset="2"/>
              <a:buChar char="§"/>
            </a:pPr>
            <a:r>
              <a:rPr lang="en-US" altLang="en-US" sz="2800" b="1" dirty="0">
                <a:solidFill>
                  <a:schemeClr val="tx2">
                    <a:lumMod val="75000"/>
                  </a:schemeClr>
                </a:solidFill>
              </a:rPr>
              <a:t>Circular header list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93807-AEC0-3CBC-B10E-96298C605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951" y="679185"/>
            <a:ext cx="8229600" cy="6858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Types Header Linked Lists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0523FEC-A129-AEA6-D7B9-BBDA22C86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319" y="1889760"/>
            <a:ext cx="10048672" cy="4236404"/>
          </a:xfrm>
        </p:spPr>
        <p:txBody>
          <a:bodyPr/>
          <a:lstStyle/>
          <a:p>
            <a:pPr>
              <a:buNone/>
            </a:pPr>
            <a:r>
              <a:rPr lang="en-US" altLang="en-US" sz="2800" b="1" dirty="0">
                <a:solidFill>
                  <a:srgbClr val="FF0000"/>
                </a:solidFill>
              </a:rPr>
              <a:t>Grounded Header List: </a:t>
            </a:r>
            <a:r>
              <a:rPr lang="en-US" altLang="en-US" sz="2800" dirty="0"/>
              <a:t>A header list where the last node contains the NULL pointer. </a:t>
            </a:r>
            <a:endParaRPr lang="en-US" altLang="en-US" sz="2800" dirty="0">
              <a:solidFill>
                <a:srgbClr val="FF0000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en-US" b="1" dirty="0">
              <a:solidFill>
                <a:srgbClr val="FF0000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en-US" b="1" dirty="0">
              <a:solidFill>
                <a:srgbClr val="FF0000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en-US" b="1" dirty="0">
              <a:solidFill>
                <a:srgbClr val="FF0000"/>
              </a:solidFill>
            </a:endParaRPr>
          </a:p>
          <a:p>
            <a:r>
              <a:rPr lang="en-US" altLang="en-US" sz="2400" b="1" dirty="0">
                <a:solidFill>
                  <a:srgbClr val="FF0000"/>
                </a:solidFill>
              </a:rPr>
              <a:t>Circular Header List: </a:t>
            </a:r>
            <a:r>
              <a:rPr lang="en-US" altLang="en-US" sz="2400" dirty="0"/>
              <a:t>A header list where the </a:t>
            </a:r>
            <a:r>
              <a:rPr lang="en-US" altLang="en-US" sz="2400" b="1" dirty="0">
                <a:solidFill>
                  <a:srgbClr val="00B050"/>
                </a:solidFill>
              </a:rPr>
              <a:t>last node </a:t>
            </a:r>
            <a:r>
              <a:rPr lang="en-US" altLang="en-US" sz="2400" dirty="0"/>
              <a:t>points back to the </a:t>
            </a:r>
            <a:r>
              <a:rPr lang="en-US" altLang="en-US" sz="2400" b="1" dirty="0">
                <a:solidFill>
                  <a:srgbClr val="00B050"/>
                </a:solidFill>
              </a:rPr>
              <a:t>header node</a:t>
            </a:r>
            <a:r>
              <a:rPr lang="en-US" altLang="en-US" sz="2400" dirty="0"/>
              <a:t>. </a:t>
            </a:r>
            <a:endParaRPr lang="en-US" altLang="en-US" sz="2400" dirty="0">
              <a:solidFill>
                <a:srgbClr val="FF0000"/>
              </a:solidFill>
            </a:endParaRPr>
          </a:p>
        </p:txBody>
      </p:sp>
      <p:grpSp>
        <p:nvGrpSpPr>
          <p:cNvPr id="3" name="Group 53">
            <a:extLst>
              <a:ext uri="{FF2B5EF4-FFF2-40B4-BE49-F238E27FC236}">
                <a16:creationId xmlns:a16="http://schemas.microsoft.com/office/drawing/2014/main" id="{A32CD16D-33C7-BE54-270C-042BD244CD5F}"/>
              </a:ext>
            </a:extLst>
          </p:cNvPr>
          <p:cNvGrpSpPr>
            <a:grpSpLocks/>
          </p:cNvGrpSpPr>
          <p:nvPr/>
        </p:nvGrpSpPr>
        <p:grpSpPr bwMode="auto">
          <a:xfrm>
            <a:off x="2360579" y="5061626"/>
            <a:ext cx="7164388" cy="1220788"/>
            <a:chOff x="914400" y="3962400"/>
            <a:chExt cx="7163594" cy="1220788"/>
          </a:xfrm>
        </p:grpSpPr>
        <p:grpSp>
          <p:nvGrpSpPr>
            <p:cNvPr id="17413" name="Group 52">
              <a:extLst>
                <a:ext uri="{FF2B5EF4-FFF2-40B4-BE49-F238E27FC236}">
                  <a16:creationId xmlns:a16="http://schemas.microsoft.com/office/drawing/2014/main" id="{B81FE22E-7D10-EC1A-C70C-60AAB1AB17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4400" y="3962400"/>
              <a:ext cx="7163594" cy="1220788"/>
              <a:chOff x="914400" y="3962400"/>
              <a:chExt cx="7163594" cy="1220788"/>
            </a:xfrm>
          </p:grpSpPr>
          <p:sp>
            <p:nvSpPr>
              <p:cNvPr id="17415" name="TextBox 32">
                <a:extLst>
                  <a:ext uri="{FF2B5EF4-FFF2-40B4-BE49-F238E27FC236}">
                    <a16:creationId xmlns:a16="http://schemas.microsoft.com/office/drawing/2014/main" id="{CCCC99E9-9382-6D9C-7690-8AF2511DF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0600" y="4572000"/>
                <a:ext cx="2590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800">
                    <a:latin typeface="Times New Roman" panose="02020603050405020304" pitchFamily="18" charset="0"/>
                  </a:rPr>
                  <a:t>Header Node </a:t>
                </a:r>
              </a:p>
            </p:txBody>
          </p:sp>
          <p:grpSp>
            <p:nvGrpSpPr>
              <p:cNvPr id="17416" name="Group 51">
                <a:extLst>
                  <a:ext uri="{FF2B5EF4-FFF2-40B4-BE49-F238E27FC236}">
                    <a16:creationId xmlns:a16="http://schemas.microsoft.com/office/drawing/2014/main" id="{1EE0AB51-0A5A-A999-52D3-0A382BE4562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4400" y="3962400"/>
                <a:ext cx="7163594" cy="1220788"/>
                <a:chOff x="914400" y="3962400"/>
                <a:chExt cx="7163594" cy="1220788"/>
              </a:xfrm>
            </p:grpSpPr>
            <p:grpSp>
              <p:nvGrpSpPr>
                <p:cNvPr id="17417" name="Group 3">
                  <a:extLst>
                    <a:ext uri="{FF2B5EF4-FFF2-40B4-BE49-F238E27FC236}">
                      <a16:creationId xmlns:a16="http://schemas.microsoft.com/office/drawing/2014/main" id="{5DE0771D-AC8A-D70E-D5AF-5A16CD60A0A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4400" y="3962400"/>
                  <a:ext cx="6708775" cy="384175"/>
                  <a:chOff x="762000" y="3505200"/>
                  <a:chExt cx="6708775" cy="384175"/>
                </a:xfrm>
              </p:grpSpPr>
              <p:grpSp>
                <p:nvGrpSpPr>
                  <p:cNvPr id="17421" name="Group 6">
                    <a:extLst>
                      <a:ext uri="{FF2B5EF4-FFF2-40B4-BE49-F238E27FC236}">
                        <a16:creationId xmlns:a16="http://schemas.microsoft.com/office/drawing/2014/main" id="{7769A060-9504-B989-856A-AE3F4771777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4000" y="3505200"/>
                    <a:ext cx="765175" cy="384175"/>
                    <a:chOff x="2667000" y="3124200"/>
                    <a:chExt cx="765175" cy="384175"/>
                  </a:xfrm>
                </p:grpSpPr>
                <p:sp>
                  <p:nvSpPr>
                    <p:cNvPr id="17440" name="Rectangle 17">
                      <a:extLst>
                        <a:ext uri="{FF2B5EF4-FFF2-40B4-BE49-F238E27FC236}">
                          <a16:creationId xmlns:a16="http://schemas.microsoft.com/office/drawing/2014/main" id="{DE600D4A-6507-FC08-2996-86EFEBB4480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48000" y="3124200"/>
                      <a:ext cx="384175" cy="384175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441" name="Rectangle 18">
                      <a:extLst>
                        <a:ext uri="{FF2B5EF4-FFF2-40B4-BE49-F238E27FC236}">
                          <a16:creationId xmlns:a16="http://schemas.microsoft.com/office/drawing/2014/main" id="{5AB34A80-08B9-1711-BBBE-F446EFF54A3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67000" y="3124200"/>
                      <a:ext cx="381000" cy="381000"/>
                    </a:xfrm>
                    <a:prstGeom prst="rect">
                      <a:avLst/>
                    </a:prstGeom>
                    <a:solidFill>
                      <a:schemeClr val="folHlink"/>
                    </a:solidFill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17422" name="Group 9">
                    <a:extLst>
                      <a:ext uri="{FF2B5EF4-FFF2-40B4-BE49-F238E27FC236}">
                        <a16:creationId xmlns:a16="http://schemas.microsoft.com/office/drawing/2014/main" id="{A17C39D3-0DBE-5812-7C84-1EB7A447F8D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19400" y="3505200"/>
                    <a:ext cx="765175" cy="384175"/>
                    <a:chOff x="2667000" y="3124200"/>
                    <a:chExt cx="765175" cy="384175"/>
                  </a:xfrm>
                </p:grpSpPr>
                <p:sp>
                  <p:nvSpPr>
                    <p:cNvPr id="17438" name="Rectangle 17">
                      <a:extLst>
                        <a:ext uri="{FF2B5EF4-FFF2-40B4-BE49-F238E27FC236}">
                          <a16:creationId xmlns:a16="http://schemas.microsoft.com/office/drawing/2014/main" id="{716A056B-DF27-09CE-7BD6-6A50A317040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48000" y="3124200"/>
                      <a:ext cx="384175" cy="384175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439" name="Rectangle 18">
                      <a:extLst>
                        <a:ext uri="{FF2B5EF4-FFF2-40B4-BE49-F238E27FC236}">
                          <a16:creationId xmlns:a16="http://schemas.microsoft.com/office/drawing/2014/main" id="{8E406396-737D-A32B-6718-0A75A35A237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67000" y="3124200"/>
                      <a:ext cx="381000" cy="381000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7423" name="Rectangle 18">
                    <a:extLst>
                      <a:ext uri="{FF2B5EF4-FFF2-40B4-BE49-F238E27FC236}">
                        <a16:creationId xmlns:a16="http://schemas.microsoft.com/office/drawing/2014/main" id="{6D304656-9DEC-8678-BF17-006B1BA8A6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2000" y="3505200"/>
                    <a:ext cx="152400" cy="381000"/>
                  </a:xfrm>
                  <a:prstGeom prst="rect">
                    <a:avLst/>
                  </a:prstGeom>
                  <a:solidFill>
                    <a:srgbClr val="00B050"/>
                  </a:solidFill>
                  <a:ln w="2857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ts val="400"/>
                      </a:spcBef>
                      <a:buClr>
                        <a:schemeClr val="accent1"/>
                      </a:buClr>
                      <a:buSzPct val="68000"/>
                      <a:buFont typeface="Wingdings 3" panose="05040102010807070707" pitchFamily="18" charset="2"/>
                      <a:buChar char=""/>
                      <a:defRPr sz="27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spcBef>
                        <a:spcPts val="325"/>
                      </a:spcBef>
                      <a:buClr>
                        <a:schemeClr val="accent1"/>
                      </a:buClr>
                      <a:buFont typeface="Verdana" panose="020B0604030504040204" pitchFamily="34" charset="0"/>
                      <a:buChar char="◦"/>
                      <a:defRPr sz="23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SzPct val="100000"/>
                      <a:buFont typeface="Wingdings 2" panose="05020102010507070707" pitchFamily="18" charset="2"/>
                      <a:buChar char=""/>
                      <a:defRPr sz="21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19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ts val="350"/>
                      </a:spcBef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ts val="35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Font typeface="Wingdings 2" panose="05020102010507070707" pitchFamily="18" charset="2"/>
                      <a:buChar char="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7424" name="Group 18">
                    <a:extLst>
                      <a:ext uri="{FF2B5EF4-FFF2-40B4-BE49-F238E27FC236}">
                        <a16:creationId xmlns:a16="http://schemas.microsoft.com/office/drawing/2014/main" id="{9BC84ABF-F30E-71C4-35B3-F1D689B27C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05600" y="3505200"/>
                    <a:ext cx="765175" cy="384175"/>
                    <a:chOff x="2667000" y="3124200"/>
                    <a:chExt cx="765175" cy="384175"/>
                  </a:xfrm>
                </p:grpSpPr>
                <p:sp>
                  <p:nvSpPr>
                    <p:cNvPr id="17436" name="Rectangle 17">
                      <a:extLst>
                        <a:ext uri="{FF2B5EF4-FFF2-40B4-BE49-F238E27FC236}">
                          <a16:creationId xmlns:a16="http://schemas.microsoft.com/office/drawing/2014/main" id="{C25B5B46-64F4-3976-46B6-CDFE438A46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48000" y="3124200"/>
                      <a:ext cx="384175" cy="384175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437" name="Rectangle 18">
                      <a:extLst>
                        <a:ext uri="{FF2B5EF4-FFF2-40B4-BE49-F238E27FC236}">
                          <a16:creationId xmlns:a16="http://schemas.microsoft.com/office/drawing/2014/main" id="{0300BBE6-B655-495D-849B-46C0A9CBEE9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67000" y="3124200"/>
                      <a:ext cx="381000" cy="381000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17425" name="Group 21">
                    <a:extLst>
                      <a:ext uri="{FF2B5EF4-FFF2-40B4-BE49-F238E27FC236}">
                        <a16:creationId xmlns:a16="http://schemas.microsoft.com/office/drawing/2014/main" id="{7E122E4B-C453-75FB-B565-81A5F09504B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114800" y="3505200"/>
                    <a:ext cx="765175" cy="384175"/>
                    <a:chOff x="2667000" y="3124200"/>
                    <a:chExt cx="765175" cy="384175"/>
                  </a:xfrm>
                </p:grpSpPr>
                <p:sp>
                  <p:nvSpPr>
                    <p:cNvPr id="17434" name="Rectangle 17">
                      <a:extLst>
                        <a:ext uri="{FF2B5EF4-FFF2-40B4-BE49-F238E27FC236}">
                          <a16:creationId xmlns:a16="http://schemas.microsoft.com/office/drawing/2014/main" id="{18AEF61E-2647-F8B2-3F0F-4F1BBBDC2CF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48000" y="3124200"/>
                      <a:ext cx="384175" cy="384175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435" name="Rectangle 18">
                      <a:extLst>
                        <a:ext uri="{FF2B5EF4-FFF2-40B4-BE49-F238E27FC236}">
                          <a16:creationId xmlns:a16="http://schemas.microsoft.com/office/drawing/2014/main" id="{64AF6B98-D70E-A9E5-E5C6-F48AF75676A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67000" y="3124200"/>
                      <a:ext cx="381000" cy="381000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grpSp>
                <p:nvGrpSpPr>
                  <p:cNvPr id="17426" name="Group 24">
                    <a:extLst>
                      <a:ext uri="{FF2B5EF4-FFF2-40B4-BE49-F238E27FC236}">
                        <a16:creationId xmlns:a16="http://schemas.microsoft.com/office/drawing/2014/main" id="{D2CD569C-2D6B-0F27-61E4-E1C2F4BA399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410200" y="3505200"/>
                    <a:ext cx="765175" cy="384175"/>
                    <a:chOff x="2667000" y="3124200"/>
                    <a:chExt cx="765175" cy="384175"/>
                  </a:xfrm>
                </p:grpSpPr>
                <p:sp>
                  <p:nvSpPr>
                    <p:cNvPr id="17432" name="Rectangle 17">
                      <a:extLst>
                        <a:ext uri="{FF2B5EF4-FFF2-40B4-BE49-F238E27FC236}">
                          <a16:creationId xmlns:a16="http://schemas.microsoft.com/office/drawing/2014/main" id="{CAADF33E-1E01-67B4-22EF-23A3F38EA2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048000" y="3124200"/>
                      <a:ext cx="384175" cy="384175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433" name="Rectangle 18">
                      <a:extLst>
                        <a:ext uri="{FF2B5EF4-FFF2-40B4-BE49-F238E27FC236}">
                          <a16:creationId xmlns:a16="http://schemas.microsoft.com/office/drawing/2014/main" id="{5F18D3F0-CF8D-3AD6-124B-D104E914477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67000" y="3124200"/>
                      <a:ext cx="381000" cy="381000"/>
                    </a:xfrm>
                    <a:prstGeom prst="rect">
                      <a:avLst/>
                    </a:prstGeom>
                    <a:noFill/>
                    <a:ln w="2857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ts val="400"/>
                        </a:spcBef>
                        <a:buClr>
                          <a:schemeClr val="accent1"/>
                        </a:buClr>
                        <a:buSzPct val="68000"/>
                        <a:buFont typeface="Wingdings 3" panose="05040102010807070707" pitchFamily="18" charset="2"/>
                        <a:buChar char=""/>
                        <a:defRPr sz="27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ts val="325"/>
                        </a:spcBef>
                        <a:buClr>
                          <a:schemeClr val="accent1"/>
                        </a:buClr>
                        <a:buFont typeface="Verdana" panose="020B0604030504040204" pitchFamily="34" charset="0"/>
                        <a:buChar char="◦"/>
                        <a:defRPr sz="23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SzPct val="100000"/>
                        <a:buFont typeface="Wingdings 2" panose="05020102010507070707" pitchFamily="18" charset="2"/>
                        <a:buChar char="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19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ts val="350"/>
                        </a:spcBef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Wingdings 2" panose="05020102010507070707" pitchFamily="18" charset="2"/>
                        <a:buChar char="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endParaRPr lang="en-US" altLang="en-US" sz="24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  <p:sp>
                <p:nvSpPr>
                  <p:cNvPr id="17427" name="Line 25">
                    <a:extLst>
                      <a:ext uri="{FF2B5EF4-FFF2-40B4-BE49-F238E27FC236}">
                        <a16:creationId xmlns:a16="http://schemas.microsoft.com/office/drawing/2014/main" id="{87C87E5B-E2AD-2537-A7AC-DDDC936F84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240000" flipV="1">
                    <a:off x="838959" y="3681464"/>
                    <a:ext cx="685800" cy="4571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17428" name="Line 25">
                    <a:extLst>
                      <a:ext uri="{FF2B5EF4-FFF2-40B4-BE49-F238E27FC236}">
                        <a16:creationId xmlns:a16="http://schemas.microsoft.com/office/drawing/2014/main" id="{EF96B1E0-6FAA-9AE4-9383-C05CE64BE9F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240000" flipV="1">
                    <a:off x="3429759" y="3681463"/>
                    <a:ext cx="685800" cy="4571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17429" name="Line 25">
                    <a:extLst>
                      <a:ext uri="{FF2B5EF4-FFF2-40B4-BE49-F238E27FC236}">
                        <a16:creationId xmlns:a16="http://schemas.microsoft.com/office/drawing/2014/main" id="{F77D404D-7392-E6BA-C7FB-1857A53C25A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240000" flipV="1">
                    <a:off x="2134359" y="3681463"/>
                    <a:ext cx="685800" cy="4571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17430" name="Line 25">
                    <a:extLst>
                      <a:ext uri="{FF2B5EF4-FFF2-40B4-BE49-F238E27FC236}">
                        <a16:creationId xmlns:a16="http://schemas.microsoft.com/office/drawing/2014/main" id="{C78FF1D6-0C59-3482-2D7F-AC25CA1E56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240000" flipV="1">
                    <a:off x="6020559" y="3681464"/>
                    <a:ext cx="685800" cy="4571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17431" name="Line 25">
                    <a:extLst>
                      <a:ext uri="{FF2B5EF4-FFF2-40B4-BE49-F238E27FC236}">
                        <a16:creationId xmlns:a16="http://schemas.microsoft.com/office/drawing/2014/main" id="{7E80D955-B9AB-4771-84C3-4DCC7724C26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240000" flipV="1">
                    <a:off x="4725159" y="3681464"/>
                    <a:ext cx="685800" cy="45719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oval" w="med" len="med"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</p:grp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D5AB867B-3750-E883-B876-105BD495F674}"/>
                    </a:ext>
                  </a:extLst>
                </p:cNvPr>
                <p:cNvCxnSpPr/>
                <p:nvPr/>
              </p:nvCxnSpPr>
              <p:spPr>
                <a:xfrm>
                  <a:off x="1371549" y="5181600"/>
                  <a:ext cx="6704857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9C5E8692-4C17-8D77-0136-7BA48D94BB2E}"/>
                    </a:ext>
                  </a:extLst>
                </p:cNvPr>
                <p:cNvCxnSpPr/>
                <p:nvPr/>
              </p:nvCxnSpPr>
              <p:spPr>
                <a:xfrm>
                  <a:off x="7390682" y="4191000"/>
                  <a:ext cx="685724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head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534E64B-11DF-1A64-6AEF-3559E6C537AE}"/>
                    </a:ext>
                  </a:extLst>
                </p:cNvPr>
                <p:cNvCxnSpPr/>
                <p:nvPr/>
              </p:nvCxnSpPr>
              <p:spPr>
                <a:xfrm rot="5400000">
                  <a:off x="7582694" y="4686300"/>
                  <a:ext cx="989012" cy="1588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1753B2D-5A67-6E59-1476-AC73482E5859}"/>
                </a:ext>
              </a:extLst>
            </p:cNvPr>
            <p:cNvCxnSpPr/>
            <p:nvPr/>
          </p:nvCxnSpPr>
          <p:spPr>
            <a:xfrm rot="5400000">
              <a:off x="876249" y="4686300"/>
              <a:ext cx="990600" cy="0"/>
            </a:xfrm>
            <a:prstGeom prst="line">
              <a:avLst/>
            </a:prstGeom>
            <a:ln w="25400">
              <a:solidFill>
                <a:schemeClr val="tx1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3816A88-3BDF-8FF5-885E-A5467C4AD71C}"/>
              </a:ext>
            </a:extLst>
          </p:cNvPr>
          <p:cNvGrpSpPr>
            <a:grpSpLocks/>
          </p:cNvGrpSpPr>
          <p:nvPr/>
        </p:nvGrpSpPr>
        <p:grpSpPr bwMode="auto">
          <a:xfrm>
            <a:off x="2512996" y="3044825"/>
            <a:ext cx="6708775" cy="384175"/>
            <a:chOff x="762000" y="3505200"/>
            <a:chExt cx="6708775" cy="384175"/>
          </a:xfrm>
        </p:grpSpPr>
        <p:grpSp>
          <p:nvGrpSpPr>
            <p:cNvPr id="5" name="Group 6">
              <a:extLst>
                <a:ext uri="{FF2B5EF4-FFF2-40B4-BE49-F238E27FC236}">
                  <a16:creationId xmlns:a16="http://schemas.microsoft.com/office/drawing/2014/main" id="{7E16CE60-47FA-F202-13E9-13F7959C75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000" y="3505200"/>
              <a:ext cx="765175" cy="384175"/>
              <a:chOff x="2667000" y="3124200"/>
              <a:chExt cx="765175" cy="384175"/>
            </a:xfrm>
          </p:grpSpPr>
          <p:sp>
            <p:nvSpPr>
              <p:cNvPr id="24" name="Rectangle 17">
                <a:extLst>
                  <a:ext uri="{FF2B5EF4-FFF2-40B4-BE49-F238E27FC236}">
                    <a16:creationId xmlns:a16="http://schemas.microsoft.com/office/drawing/2014/main" id="{EE4604BF-D8BF-C277-5330-153C3632A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0" y="3124200"/>
                <a:ext cx="384175" cy="384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" name="Rectangle 18">
                <a:extLst>
                  <a:ext uri="{FF2B5EF4-FFF2-40B4-BE49-F238E27FC236}">
                    <a16:creationId xmlns:a16="http://schemas.microsoft.com/office/drawing/2014/main" id="{3499DF0C-E291-957F-FE09-DF91156B8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0" y="3124200"/>
                <a:ext cx="381000" cy="381000"/>
              </a:xfrm>
              <a:prstGeom prst="rect">
                <a:avLst/>
              </a:prstGeom>
              <a:solidFill>
                <a:schemeClr val="folHlink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9">
              <a:extLst>
                <a:ext uri="{FF2B5EF4-FFF2-40B4-BE49-F238E27FC236}">
                  <a16:creationId xmlns:a16="http://schemas.microsoft.com/office/drawing/2014/main" id="{7424F9CC-A06E-B705-B8F7-70135D52C3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400" y="3505200"/>
              <a:ext cx="765175" cy="384175"/>
              <a:chOff x="2667000" y="3124200"/>
              <a:chExt cx="765175" cy="384175"/>
            </a:xfrm>
          </p:grpSpPr>
          <p:sp>
            <p:nvSpPr>
              <p:cNvPr id="22" name="Rectangle 17">
                <a:extLst>
                  <a:ext uri="{FF2B5EF4-FFF2-40B4-BE49-F238E27FC236}">
                    <a16:creationId xmlns:a16="http://schemas.microsoft.com/office/drawing/2014/main" id="{8CE5F1D1-DB1A-20D5-285F-ADBAF4189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0" y="3124200"/>
                <a:ext cx="384175" cy="384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Rectangle 18">
                <a:extLst>
                  <a:ext uri="{FF2B5EF4-FFF2-40B4-BE49-F238E27FC236}">
                    <a16:creationId xmlns:a16="http://schemas.microsoft.com/office/drawing/2014/main" id="{6044571A-1BE3-D484-1DA9-21E7C15BBF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0" y="3124200"/>
                <a:ext cx="3810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" name="Rectangle 18">
              <a:extLst>
                <a:ext uri="{FF2B5EF4-FFF2-40B4-BE49-F238E27FC236}">
                  <a16:creationId xmlns:a16="http://schemas.microsoft.com/office/drawing/2014/main" id="{33C6933A-0CAF-05A6-3FAC-0DA6BDBB9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000" y="3505200"/>
              <a:ext cx="152400" cy="381000"/>
            </a:xfrm>
            <a:prstGeom prst="rect">
              <a:avLst/>
            </a:prstGeom>
            <a:solidFill>
              <a:srgbClr val="00B05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400"/>
                </a:spcBef>
                <a:buClr>
                  <a:schemeClr val="accent1"/>
                </a:buClr>
                <a:buSzPct val="68000"/>
                <a:buFont typeface="Wingdings 3" panose="05040102010807070707" pitchFamily="18" charset="2"/>
                <a:buChar char=""/>
                <a:defRPr sz="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325"/>
                </a:spcBef>
                <a:buClr>
                  <a:schemeClr val="accent1"/>
                </a:buClr>
                <a:buFont typeface="Verdana" panose="020B0604030504040204" pitchFamily="34" charset="0"/>
                <a:buChar char="◦"/>
                <a:defRPr sz="23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350"/>
                </a:spcBef>
                <a:buClr>
                  <a:schemeClr val="accent2"/>
                </a:buClr>
                <a:buSzPct val="100000"/>
                <a:buFont typeface="Wingdings 2" panose="05020102010507070707" pitchFamily="18" charset="2"/>
                <a:buChar char=""/>
                <a:defRPr sz="2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19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350"/>
                </a:spcBef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350"/>
                </a:spcBef>
                <a:spcAft>
                  <a:spcPct val="0"/>
                </a:spcAft>
                <a:buClr>
                  <a:schemeClr val="accent2"/>
                </a:buClr>
                <a:buFont typeface="Wingdings 2" panose="05020102010507070707" pitchFamily="18" charset="2"/>
                <a:buChar char="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8" name="Group 18">
              <a:extLst>
                <a:ext uri="{FF2B5EF4-FFF2-40B4-BE49-F238E27FC236}">
                  <a16:creationId xmlns:a16="http://schemas.microsoft.com/office/drawing/2014/main" id="{BB31061C-D4BC-F5F4-1420-A9B4C4E6CE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05600" y="3505200"/>
              <a:ext cx="765175" cy="384175"/>
              <a:chOff x="2667000" y="3124200"/>
              <a:chExt cx="765175" cy="384175"/>
            </a:xfrm>
          </p:grpSpPr>
          <p:sp>
            <p:nvSpPr>
              <p:cNvPr id="20" name="Rectangle 17">
                <a:extLst>
                  <a:ext uri="{FF2B5EF4-FFF2-40B4-BE49-F238E27FC236}">
                    <a16:creationId xmlns:a16="http://schemas.microsoft.com/office/drawing/2014/main" id="{E376D140-13CD-CBE2-062B-65DBF5817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0" y="3124200"/>
                <a:ext cx="384175" cy="384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" name="Rectangle 18">
                <a:extLst>
                  <a:ext uri="{FF2B5EF4-FFF2-40B4-BE49-F238E27FC236}">
                    <a16:creationId xmlns:a16="http://schemas.microsoft.com/office/drawing/2014/main" id="{482538AC-72E3-1D28-46D8-0C454FA65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0" y="3124200"/>
                <a:ext cx="3810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" name="Group 21">
              <a:extLst>
                <a:ext uri="{FF2B5EF4-FFF2-40B4-BE49-F238E27FC236}">
                  <a16:creationId xmlns:a16="http://schemas.microsoft.com/office/drawing/2014/main" id="{EC084B2F-EF32-7098-8259-086CE40FC7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14800" y="3505200"/>
              <a:ext cx="765175" cy="384175"/>
              <a:chOff x="2667000" y="3124200"/>
              <a:chExt cx="765175" cy="38417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370817D-C238-2C26-83EA-98D12D82F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0" y="3124200"/>
                <a:ext cx="384175" cy="384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A6BAE5E-499B-86FD-750B-4A44EBFA5A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0" y="3124200"/>
                <a:ext cx="3810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3614D41E-31F5-F553-B42E-94E0DD9F5C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3505200"/>
              <a:ext cx="765175" cy="384175"/>
              <a:chOff x="2667000" y="3124200"/>
              <a:chExt cx="765175" cy="384175"/>
            </a:xfrm>
          </p:grpSpPr>
          <p:sp>
            <p:nvSpPr>
              <p:cNvPr id="16" name="Rectangle 17">
                <a:extLst>
                  <a:ext uri="{FF2B5EF4-FFF2-40B4-BE49-F238E27FC236}">
                    <a16:creationId xmlns:a16="http://schemas.microsoft.com/office/drawing/2014/main" id="{16579E82-D271-15AC-05A9-24A7C174E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8000" y="3124200"/>
                <a:ext cx="384175" cy="384175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8">
                <a:extLst>
                  <a:ext uri="{FF2B5EF4-FFF2-40B4-BE49-F238E27FC236}">
                    <a16:creationId xmlns:a16="http://schemas.microsoft.com/office/drawing/2014/main" id="{BA5727E2-601D-4356-E798-04D4932239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000" y="3124200"/>
                <a:ext cx="381000" cy="38100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400"/>
                  </a:spcBef>
                  <a:buClr>
                    <a:schemeClr val="accent1"/>
                  </a:buClr>
                  <a:buSzPct val="68000"/>
                  <a:buFont typeface="Wingdings 3" panose="05040102010807070707" pitchFamily="18" charset="2"/>
                  <a:buChar char=""/>
                  <a:defRPr sz="2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ts val="325"/>
                  </a:spcBef>
                  <a:buClr>
                    <a:schemeClr val="accent1"/>
                  </a:buClr>
                  <a:buFont typeface="Verdana" panose="020B0604030504040204" pitchFamily="34" charset="0"/>
                  <a:buChar char="◦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 panose="05020102010507070707" pitchFamily="18" charset="2"/>
                  <a:buChar char=""/>
                  <a:defRPr sz="21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19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ts val="350"/>
                  </a:spcBef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ts val="35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 2" panose="05020102010507070707" pitchFamily="18" charset="2"/>
                  <a:buChar char="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1" name="Line 25">
              <a:extLst>
                <a:ext uri="{FF2B5EF4-FFF2-40B4-BE49-F238E27FC236}">
                  <a16:creationId xmlns:a16="http://schemas.microsoft.com/office/drawing/2014/main" id="{A2B748CB-9F11-8F46-6CED-18E90921A3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V="1">
              <a:off x="838959" y="3681464"/>
              <a:ext cx="685800" cy="457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2" name="Line 25">
              <a:extLst>
                <a:ext uri="{FF2B5EF4-FFF2-40B4-BE49-F238E27FC236}">
                  <a16:creationId xmlns:a16="http://schemas.microsoft.com/office/drawing/2014/main" id="{5651CF0A-0873-B2B7-5C59-6139CC99114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V="1">
              <a:off x="3429759" y="3681463"/>
              <a:ext cx="685800" cy="457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" name="Line 25">
              <a:extLst>
                <a:ext uri="{FF2B5EF4-FFF2-40B4-BE49-F238E27FC236}">
                  <a16:creationId xmlns:a16="http://schemas.microsoft.com/office/drawing/2014/main" id="{A068F134-03AA-51D4-BBCE-94564692D5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V="1">
              <a:off x="2134359" y="3681463"/>
              <a:ext cx="685800" cy="457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4" name="Line 25">
              <a:extLst>
                <a:ext uri="{FF2B5EF4-FFF2-40B4-BE49-F238E27FC236}">
                  <a16:creationId xmlns:a16="http://schemas.microsoft.com/office/drawing/2014/main" id="{D30CB996-58D1-1568-10BC-FF74F88C05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V="1">
              <a:off x="6020559" y="3681464"/>
              <a:ext cx="685800" cy="457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" name="Line 25">
              <a:extLst>
                <a:ext uri="{FF2B5EF4-FFF2-40B4-BE49-F238E27FC236}">
                  <a16:creationId xmlns:a16="http://schemas.microsoft.com/office/drawing/2014/main" id="{610258B2-8CE3-D59E-F991-FC109A1211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40000" flipV="1">
              <a:off x="4725159" y="3681464"/>
              <a:ext cx="685800" cy="4571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B30ED25-378F-FBF7-BF48-60BF40EE8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395" y="3578225"/>
            <a:ext cx="2590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</a:rPr>
              <a:t>Header Node 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4BA75DF-C573-6BB9-D94F-824313880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7077" y="3188047"/>
            <a:ext cx="310923" cy="3901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7127-F039-AB88-1AFC-07B0685F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Application/ uses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9DEB449-1898-82B8-B201-0BC2753A650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96963" y="1846263"/>
            <a:ext cx="10058400" cy="38030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6739" marR="906780" indent="-457200">
              <a:lnSpc>
                <a:spcPts val="3560"/>
              </a:lnSpc>
              <a:spcBef>
                <a:spcPts val="181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Circular </a:t>
            </a:r>
            <a:r>
              <a:rPr sz="2800" spc="-5" dirty="0">
                <a:latin typeface="Times New Roman"/>
                <a:cs typeface="Times New Roman"/>
              </a:rPr>
              <a:t>lists </a:t>
            </a:r>
            <a:r>
              <a:rPr sz="2800" dirty="0">
                <a:latin typeface="Times New Roman"/>
                <a:cs typeface="Times New Roman"/>
              </a:rPr>
              <a:t>are used </a:t>
            </a:r>
            <a:r>
              <a:rPr sz="2800" spc="-5" dirty="0">
                <a:latin typeface="Times New Roman"/>
                <a:cs typeface="Times New Roman"/>
              </a:rPr>
              <a:t>in applications where the  entire list is </a:t>
            </a:r>
            <a:r>
              <a:rPr sz="2800" dirty="0">
                <a:latin typeface="Times New Roman"/>
                <a:cs typeface="Times New Roman"/>
              </a:rPr>
              <a:t>accessed one-by-one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loop.</a:t>
            </a:r>
            <a:endParaRPr lang="en-US" sz="2800" dirty="0">
              <a:latin typeface="Times New Roman"/>
              <a:cs typeface="Times New Roman"/>
            </a:endParaRPr>
          </a:p>
          <a:p>
            <a:pPr marL="129539" marR="906780">
              <a:lnSpc>
                <a:spcPts val="3560"/>
              </a:lnSpc>
              <a:spcBef>
                <a:spcPts val="181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586739" indent="-457200">
              <a:lnSpc>
                <a:spcPts val="3365"/>
              </a:lnSpc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Example: Operating </a:t>
            </a:r>
            <a:r>
              <a:rPr sz="2800" spc="-5" dirty="0">
                <a:latin typeface="Times New Roman"/>
                <a:cs typeface="Times New Roman"/>
              </a:rPr>
              <a:t>systems </a:t>
            </a:r>
            <a:r>
              <a:rPr sz="2800" dirty="0">
                <a:latin typeface="Times New Roman"/>
                <a:cs typeface="Times New Roman"/>
              </a:rPr>
              <a:t>may use </a:t>
            </a:r>
            <a:r>
              <a:rPr sz="2800" spc="-5" dirty="0">
                <a:latin typeface="Times New Roman"/>
                <a:cs typeface="Times New Roman"/>
              </a:rPr>
              <a:t>it to</a:t>
            </a:r>
            <a:r>
              <a:rPr sz="2800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imes New Roman"/>
                <a:cs typeface="Times New Roman"/>
              </a:rPr>
              <a:t>switch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between </a:t>
            </a:r>
            <a:r>
              <a:rPr sz="2800" spc="-5" dirty="0">
                <a:latin typeface="Times New Roman"/>
                <a:cs typeface="Times New Roman"/>
              </a:rPr>
              <a:t>various </a:t>
            </a:r>
            <a:r>
              <a:rPr sz="2800" dirty="0">
                <a:latin typeface="Times New Roman"/>
                <a:cs typeface="Times New Roman"/>
              </a:rPr>
              <a:t>running applications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a circular  loop.</a:t>
            </a:r>
          </a:p>
          <a:p>
            <a:pPr marL="586739" marR="5080" indent="-457200">
              <a:lnSpc>
                <a:spcPts val="3570"/>
              </a:lnSpc>
              <a:spcBef>
                <a:spcPts val="1415"/>
              </a:spcBef>
              <a:buFont typeface="Arial" panose="020B0604020202020204" pitchFamily="34" charset="0"/>
              <a:buChar char="•"/>
            </a:pPr>
            <a:r>
              <a:rPr sz="2800" spc="-5" dirty="0">
                <a:latin typeface="Times New Roman"/>
                <a:cs typeface="Times New Roman"/>
              </a:rPr>
              <a:t>Multiplayer </a:t>
            </a:r>
            <a:r>
              <a:rPr sz="2800" dirty="0">
                <a:latin typeface="Times New Roman"/>
                <a:cs typeface="Times New Roman"/>
              </a:rPr>
              <a:t>games uses </a:t>
            </a:r>
            <a:r>
              <a:rPr sz="2800" spc="-5" dirty="0">
                <a:latin typeface="Times New Roman"/>
                <a:cs typeface="Times New Roman"/>
              </a:rPr>
              <a:t>circular list to </a:t>
            </a:r>
            <a:r>
              <a:rPr sz="2800" dirty="0">
                <a:latin typeface="Times New Roman"/>
                <a:cs typeface="Times New Roman"/>
              </a:rPr>
              <a:t>swap between  players </a:t>
            </a:r>
            <a:r>
              <a:rPr sz="2800" spc="-5" dirty="0">
                <a:latin typeface="Times New Roman"/>
                <a:cs typeface="Times New Roman"/>
              </a:rPr>
              <a:t>in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loop.</a:t>
            </a:r>
          </a:p>
        </p:txBody>
      </p:sp>
    </p:spTree>
    <p:extLst>
      <p:ext uri="{BB962C8B-B14F-4D97-AF65-F5344CB8AC3E}">
        <p14:creationId xmlns:p14="http://schemas.microsoft.com/office/powerpoint/2010/main" val="3318336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4FDC-04EF-D63F-941F-CBEC0661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Traversing a Circular Header List 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D8A2AAC-2986-EB69-FD2D-3D0F8B895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sz="2800" dirty="0"/>
              <a:t>Let </a:t>
            </a:r>
            <a:r>
              <a:rPr lang="en-US" altLang="en-US" sz="2800" b="1" dirty="0">
                <a:solidFill>
                  <a:srgbClr val="FF0000"/>
                </a:solidFill>
              </a:rPr>
              <a:t>Head</a:t>
            </a:r>
            <a:r>
              <a:rPr lang="en-US" altLang="en-US" sz="2800" dirty="0"/>
              <a:t> be a circular header list in memory. Write an algorithm to </a:t>
            </a:r>
            <a:r>
              <a:rPr lang="en-US" altLang="en-US" sz="2800" b="1" dirty="0">
                <a:solidFill>
                  <a:srgbClr val="FF0000"/>
                </a:solidFill>
              </a:rPr>
              <a:t>print Data </a:t>
            </a:r>
            <a:r>
              <a:rPr lang="en-US" altLang="en-US" sz="2800" dirty="0"/>
              <a:t>in each node in the list. 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04E0-E601-5F29-64B4-10D288A98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31836"/>
            <a:ext cx="8229600" cy="685800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dirty="0"/>
              <a:t>Algorithm for Traversing a Circular Header List 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94EF8784-478F-E869-49F9-78F630BE2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2316480"/>
            <a:ext cx="8229600" cy="3809684"/>
          </a:xfrm>
        </p:spPr>
        <p:txBody>
          <a:bodyPr/>
          <a:lstStyle/>
          <a:p>
            <a:pPr marL="514350" indent="-514350">
              <a:buNone/>
            </a:pPr>
            <a:r>
              <a:rPr lang="en-US" altLang="en-US" sz="3200" dirty="0" err="1"/>
              <a:t>i</a:t>
            </a:r>
            <a:r>
              <a:rPr lang="en-US" altLang="en-US" sz="3200" dirty="0"/>
              <a:t> = head;</a:t>
            </a:r>
          </a:p>
          <a:p>
            <a:pPr marL="514350" indent="-514350">
              <a:buNone/>
            </a:pPr>
            <a:r>
              <a:rPr lang="en-US" altLang="en-US" sz="3200" dirty="0"/>
              <a:t>do {</a:t>
            </a:r>
          </a:p>
          <a:p>
            <a:pPr marL="514350" indent="-514350">
              <a:buNone/>
            </a:pPr>
            <a:r>
              <a:rPr lang="en-US" altLang="en-US" sz="3200" dirty="0"/>
              <a:t>    print </a:t>
            </a:r>
            <a:r>
              <a:rPr lang="en-US" altLang="en-US" sz="3200" dirty="0" err="1"/>
              <a:t>i</a:t>
            </a:r>
            <a:r>
              <a:rPr lang="en-US" altLang="en-US" sz="3200" dirty="0"/>
              <a:t>-&gt;data;</a:t>
            </a:r>
          </a:p>
          <a:p>
            <a:pPr marL="514350" indent="-514350">
              <a:buNone/>
            </a:pPr>
            <a:r>
              <a:rPr lang="en-US" altLang="en-US" sz="3200" dirty="0"/>
              <a:t>    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= </a:t>
            </a:r>
            <a:r>
              <a:rPr lang="en-US" altLang="en-US" sz="3200" dirty="0" err="1"/>
              <a:t>i</a:t>
            </a:r>
            <a:r>
              <a:rPr lang="en-US" altLang="en-US" sz="3200" dirty="0"/>
              <a:t>-&gt;link;</a:t>
            </a:r>
          </a:p>
          <a:p>
            <a:pPr marL="514350" indent="-514350">
              <a:buNone/>
            </a:pPr>
            <a:r>
              <a:rPr lang="en-US" altLang="en-US" sz="3200" dirty="0"/>
              <a:t>} while (</a:t>
            </a:r>
            <a:r>
              <a:rPr lang="en-US" altLang="en-US" sz="3200" dirty="0" err="1"/>
              <a:t>i</a:t>
            </a:r>
            <a:r>
              <a:rPr lang="en-US" altLang="en-US" sz="3200" dirty="0"/>
              <a:t> != head);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82912-A3AE-66CC-9326-11EFC76C1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Locating an ITEM 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986BED32-22D1-9702-298A-C2B4BDE78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sz="2400" dirty="0"/>
              <a:t>Let </a:t>
            </a:r>
            <a:r>
              <a:rPr lang="en-US" altLang="en-US" sz="2400" b="1" dirty="0">
                <a:solidFill>
                  <a:srgbClr val="FF0000"/>
                </a:solidFill>
              </a:rPr>
              <a:t>Head</a:t>
            </a:r>
            <a:r>
              <a:rPr lang="en-US" altLang="en-US" sz="2400" dirty="0"/>
              <a:t> be a circular header list in memory. </a:t>
            </a:r>
          </a:p>
          <a:p>
            <a:endParaRPr lang="en-US" altLang="en-US" sz="2400" dirty="0"/>
          </a:p>
          <a:p>
            <a:r>
              <a:rPr lang="en-US" altLang="en-US" sz="2400" dirty="0"/>
              <a:t>Write an algorithm to find the location LOC of the first node in Head which contains ITEM or return LOC = NULL when the item is not present</a:t>
            </a:r>
            <a:r>
              <a:rPr lang="en-US" altLang="en-US" dirty="0"/>
              <a:t>. </a:t>
            </a:r>
          </a:p>
          <a:p>
            <a:endParaRPr lang="en-US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6CF71-FF72-8300-3DB4-1B408A5E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762000"/>
          </a:xfrm>
        </p:spPr>
        <p:txBody>
          <a:bodyPr/>
          <a:lstStyle/>
          <a:p>
            <a:pPr>
              <a:defRPr/>
            </a:pPr>
            <a:r>
              <a:rPr lang="en-US" dirty="0"/>
              <a:t>Algorithm for Locating an ITEM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5F473-BCB3-19AA-2B91-3B838C47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559" y="1716833"/>
            <a:ext cx="9608725" cy="4531567"/>
          </a:xfrm>
        </p:spPr>
        <p:txBody>
          <a:bodyPr>
            <a:normAutofit fontScale="77500" lnSpcReduction="20000"/>
          </a:bodyPr>
          <a:lstStyle/>
          <a:p>
            <a:pPr marL="769938" lvl="1" indent="-514350">
              <a:buNone/>
              <a:defRPr/>
            </a:pPr>
            <a:r>
              <a:rPr lang="en-US" sz="3800" dirty="0" err="1"/>
              <a:t>i</a:t>
            </a:r>
            <a:r>
              <a:rPr lang="en-US" sz="3800" dirty="0"/>
              <a:t> = head;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do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{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    if (</a:t>
            </a:r>
            <a:r>
              <a:rPr lang="en-US" sz="3800" dirty="0" err="1"/>
              <a:t>i</a:t>
            </a:r>
            <a:r>
              <a:rPr lang="en-US" sz="3800" dirty="0"/>
              <a:t>-&gt;data == Item)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    {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        loc = </a:t>
            </a:r>
            <a:r>
              <a:rPr lang="en-US" sz="3800" dirty="0" err="1"/>
              <a:t>i</a:t>
            </a:r>
            <a:r>
              <a:rPr lang="en-US" sz="3800" dirty="0"/>
              <a:t>;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        print </a:t>
            </a:r>
            <a:r>
              <a:rPr lang="en-US" sz="3800" dirty="0" err="1"/>
              <a:t>i</a:t>
            </a:r>
            <a:r>
              <a:rPr lang="en-US" sz="3800" dirty="0"/>
              <a:t>-&gt;data;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        break;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    }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    </a:t>
            </a:r>
            <a:r>
              <a:rPr lang="en-US" sz="3800" dirty="0" err="1"/>
              <a:t>i</a:t>
            </a:r>
            <a:r>
              <a:rPr lang="en-US" sz="3800" dirty="0"/>
              <a:t> = </a:t>
            </a:r>
            <a:r>
              <a:rPr lang="en-US" sz="3800" dirty="0" err="1"/>
              <a:t>i</a:t>
            </a:r>
            <a:r>
              <a:rPr lang="en-US" sz="3800" dirty="0"/>
              <a:t>-&gt;link;</a:t>
            </a:r>
          </a:p>
          <a:p>
            <a:pPr marL="769938" lvl="1" indent="-514350">
              <a:buNone/>
              <a:defRPr/>
            </a:pPr>
            <a:r>
              <a:rPr lang="en-US" sz="3800" dirty="0"/>
              <a:t>} while (</a:t>
            </a:r>
            <a:r>
              <a:rPr lang="en-US" sz="3800" dirty="0" err="1"/>
              <a:t>i</a:t>
            </a:r>
            <a:r>
              <a:rPr lang="en-US" sz="3800" dirty="0"/>
              <a:t> != head);</a:t>
            </a:r>
            <a:r>
              <a:rPr lang="en-US" dirty="0"/>
              <a:t>		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2AC2-DB26-2BB1-22DF-0746C161C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1BE51-2977-40B0-6DC3-7EA3BCF11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Create an order management system for a restaurant using a doubly linked list. Each node represents a customer order with the attributes/data as (</a:t>
            </a:r>
            <a:r>
              <a:rPr lang="en-US" sz="3200" dirty="0" err="1"/>
              <a:t>orderID</a:t>
            </a:r>
            <a:r>
              <a:rPr lang="en-US" sz="3200" dirty="0"/>
              <a:t>, </a:t>
            </a:r>
            <a:r>
              <a:rPr lang="en-US" sz="3200" dirty="0" err="1"/>
              <a:t>customername</a:t>
            </a:r>
            <a:r>
              <a:rPr lang="en-US" sz="3200" dirty="0"/>
              <a:t>, </a:t>
            </a:r>
            <a:r>
              <a:rPr lang="en-US" sz="3200" dirty="0" err="1"/>
              <a:t>orderDetails</a:t>
            </a:r>
            <a:r>
              <a:rPr lang="en-US" sz="3200" dirty="0"/>
              <a:t>, next, and prev. </a:t>
            </a:r>
          </a:p>
          <a:p>
            <a:r>
              <a:rPr lang="en-US" sz="3200" dirty="0"/>
              <a:t>Write an algorithm to add a new order at the end of the list. If there are no orders, the new order should be the first node. Also write procedure to create structure for node.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04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5832A1-E0C0-9D94-6802-640AFEFE2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1445" y="167148"/>
            <a:ext cx="5533594" cy="5701946"/>
          </a:xfrm>
        </p:spPr>
        <p:txBody>
          <a:bodyPr>
            <a:normAutofit fontScale="25000" lnSpcReduction="20000"/>
          </a:bodyPr>
          <a:lstStyle/>
          <a:p>
            <a:r>
              <a:rPr lang="en-US" sz="8000" dirty="0"/>
              <a:t>struct Node {    int </a:t>
            </a:r>
            <a:r>
              <a:rPr lang="en-US" sz="8000" dirty="0" err="1"/>
              <a:t>orderID</a:t>
            </a:r>
            <a:r>
              <a:rPr lang="en-US" sz="8000" dirty="0"/>
              <a:t>;    </a:t>
            </a:r>
          </a:p>
          <a:p>
            <a:r>
              <a:rPr lang="en-US" sz="8000" dirty="0"/>
              <a:t>string </a:t>
            </a:r>
            <a:r>
              <a:rPr lang="en-US" sz="8000" dirty="0" err="1"/>
              <a:t>customerName</a:t>
            </a:r>
            <a:r>
              <a:rPr lang="en-US" sz="8000" dirty="0"/>
              <a:t>;    </a:t>
            </a:r>
          </a:p>
          <a:p>
            <a:r>
              <a:rPr lang="en-US" sz="8000" dirty="0"/>
              <a:t>string </a:t>
            </a:r>
            <a:r>
              <a:rPr lang="en-US" sz="8000" dirty="0" err="1"/>
              <a:t>orderDetails</a:t>
            </a:r>
            <a:r>
              <a:rPr lang="en-US" sz="8000" dirty="0"/>
              <a:t>;    </a:t>
            </a:r>
          </a:p>
          <a:p>
            <a:r>
              <a:rPr lang="en-US" sz="8000" dirty="0"/>
              <a:t>Node* next;    </a:t>
            </a:r>
          </a:p>
          <a:p>
            <a:r>
              <a:rPr lang="en-US" sz="8000" dirty="0"/>
              <a:t>Node* </a:t>
            </a:r>
            <a:r>
              <a:rPr lang="en-US" sz="8000" dirty="0" err="1"/>
              <a:t>prev</a:t>
            </a:r>
            <a:r>
              <a:rPr lang="en-US" sz="8000" dirty="0"/>
              <a:t>; };</a:t>
            </a:r>
          </a:p>
          <a:p>
            <a:r>
              <a:rPr lang="en-US" sz="8000" dirty="0"/>
              <a:t>Node *head = </a:t>
            </a:r>
            <a:r>
              <a:rPr lang="en-US" sz="8000" dirty="0" err="1"/>
              <a:t>nullptr</a:t>
            </a:r>
            <a:r>
              <a:rPr lang="en-US" sz="8000" dirty="0"/>
              <a:t>; </a:t>
            </a:r>
          </a:p>
          <a:p>
            <a:r>
              <a:rPr lang="en-US" sz="8000" dirty="0"/>
              <a:t>Node *tail = </a:t>
            </a:r>
            <a:r>
              <a:rPr lang="en-US" sz="8000" dirty="0" err="1"/>
              <a:t>nullptr</a:t>
            </a:r>
            <a:r>
              <a:rPr lang="en-US" sz="8000" dirty="0"/>
              <a:t>;</a:t>
            </a:r>
          </a:p>
          <a:p>
            <a:r>
              <a:rPr lang="en-US" sz="8000" b="1" dirty="0"/>
              <a:t>Create first node</a:t>
            </a:r>
          </a:p>
          <a:p>
            <a:r>
              <a:rPr lang="en-US" sz="8000" b="1" dirty="0"/>
              <a:t>if(head==NULL)</a:t>
            </a:r>
          </a:p>
          <a:p>
            <a:r>
              <a:rPr lang="en-US" sz="8000" dirty="0"/>
              <a:t>Node* </a:t>
            </a:r>
            <a:r>
              <a:rPr lang="en-US" sz="8000" dirty="0" err="1"/>
              <a:t>newNode</a:t>
            </a:r>
            <a:r>
              <a:rPr lang="en-US" sz="8000" dirty="0"/>
              <a:t> = new struct Node;    </a:t>
            </a:r>
          </a:p>
          <a:p>
            <a:r>
              <a:rPr lang="en-US" sz="8000" dirty="0" err="1"/>
              <a:t>newNode</a:t>
            </a:r>
            <a:r>
              <a:rPr lang="en-US" sz="8000" dirty="0"/>
              <a:t>-&gt;</a:t>
            </a:r>
            <a:r>
              <a:rPr lang="en-US" sz="8000" dirty="0" err="1"/>
              <a:t>orderID</a:t>
            </a:r>
            <a:r>
              <a:rPr lang="en-US" sz="8000" dirty="0"/>
              <a:t> = </a:t>
            </a:r>
            <a:r>
              <a:rPr lang="en-US" sz="8000" dirty="0" err="1"/>
              <a:t>orderID</a:t>
            </a:r>
            <a:r>
              <a:rPr lang="en-US" sz="8000" dirty="0"/>
              <a:t>;    </a:t>
            </a:r>
          </a:p>
          <a:p>
            <a:r>
              <a:rPr lang="en-US" sz="8000" dirty="0" err="1"/>
              <a:t>newNode</a:t>
            </a:r>
            <a:r>
              <a:rPr lang="en-US" sz="8000" dirty="0"/>
              <a:t>-&gt;</a:t>
            </a:r>
            <a:r>
              <a:rPr lang="en-US" sz="8000" dirty="0" err="1"/>
              <a:t>customerName</a:t>
            </a:r>
            <a:r>
              <a:rPr lang="en-US" sz="8000" dirty="0"/>
              <a:t> = </a:t>
            </a:r>
            <a:r>
              <a:rPr lang="en-US" sz="8000" dirty="0" err="1"/>
              <a:t>customerName</a:t>
            </a:r>
            <a:r>
              <a:rPr lang="en-US" sz="8000" dirty="0"/>
              <a:t>;    </a:t>
            </a:r>
          </a:p>
          <a:p>
            <a:r>
              <a:rPr lang="en-US" sz="8000" dirty="0" err="1"/>
              <a:t>newNode</a:t>
            </a:r>
            <a:r>
              <a:rPr lang="en-US" sz="8000" dirty="0"/>
              <a:t>-&gt;</a:t>
            </a:r>
            <a:r>
              <a:rPr lang="en-US" sz="8000" dirty="0" err="1"/>
              <a:t>orderDetails</a:t>
            </a:r>
            <a:r>
              <a:rPr lang="en-US" sz="8000" dirty="0"/>
              <a:t> = </a:t>
            </a:r>
            <a:r>
              <a:rPr lang="en-US" sz="8000" dirty="0" err="1"/>
              <a:t>orderDetails</a:t>
            </a:r>
            <a:r>
              <a:rPr lang="en-US" sz="8000" dirty="0"/>
              <a:t>;    </a:t>
            </a:r>
          </a:p>
          <a:p>
            <a:r>
              <a:rPr lang="en-US" sz="8000" dirty="0" err="1"/>
              <a:t>newNode</a:t>
            </a:r>
            <a:r>
              <a:rPr lang="en-US" sz="8000" dirty="0"/>
              <a:t>-&gt;next = </a:t>
            </a:r>
            <a:r>
              <a:rPr lang="en-US" sz="8000" dirty="0" err="1"/>
              <a:t>nullptr</a:t>
            </a:r>
            <a:r>
              <a:rPr lang="en-US" sz="8000" dirty="0"/>
              <a:t>;    </a:t>
            </a:r>
          </a:p>
          <a:p>
            <a:r>
              <a:rPr lang="en-US" sz="8000" dirty="0" err="1"/>
              <a:t>newNode</a:t>
            </a:r>
            <a:r>
              <a:rPr lang="en-US" sz="8000" dirty="0"/>
              <a:t>-&gt;</a:t>
            </a:r>
            <a:r>
              <a:rPr lang="en-US" sz="8000" dirty="0" err="1"/>
              <a:t>prev</a:t>
            </a:r>
            <a:r>
              <a:rPr lang="en-US" sz="8000" dirty="0"/>
              <a:t> = </a:t>
            </a:r>
            <a:r>
              <a:rPr lang="en-US" sz="8000" dirty="0" err="1"/>
              <a:t>nullptr</a:t>
            </a:r>
            <a:r>
              <a:rPr lang="en-US" sz="8000" dirty="0"/>
              <a:t>;</a:t>
            </a:r>
          </a:p>
          <a:p>
            <a:r>
              <a:rPr lang="en-US" sz="8000" dirty="0"/>
              <a:t>head = </a:t>
            </a:r>
            <a:r>
              <a:rPr lang="en-US" sz="8000" dirty="0" err="1"/>
              <a:t>newNode</a:t>
            </a:r>
            <a:r>
              <a:rPr lang="en-US" sz="8000" dirty="0"/>
              <a:t>;</a:t>
            </a:r>
          </a:p>
          <a:p>
            <a:r>
              <a:rPr lang="en-US" sz="8000" dirty="0"/>
              <a:t>tail = </a:t>
            </a:r>
            <a:r>
              <a:rPr lang="en-US" sz="8000" dirty="0" err="1"/>
              <a:t>newNode</a:t>
            </a:r>
            <a:r>
              <a:rPr lang="en-US" sz="8000" dirty="0"/>
              <a:t>;</a:t>
            </a:r>
          </a:p>
          <a:p>
            <a:endParaRPr lang="en-US" sz="4800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02D492-23DC-D2C0-9A0E-0DB727624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74891" y="245806"/>
            <a:ext cx="6176622" cy="5623289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Create node at the end</a:t>
            </a:r>
          </a:p>
          <a:p>
            <a:r>
              <a:rPr lang="en-US" sz="6400" b="1" dirty="0"/>
              <a:t>else</a:t>
            </a:r>
          </a:p>
          <a:p>
            <a:r>
              <a:rPr lang="en-US" sz="6400" dirty="0"/>
              <a:t>Node *</a:t>
            </a:r>
            <a:r>
              <a:rPr lang="en-US" sz="6400" dirty="0" err="1"/>
              <a:t>newNode</a:t>
            </a:r>
            <a:r>
              <a:rPr lang="en-US" sz="6400" dirty="0"/>
              <a:t>, *p</a:t>
            </a:r>
          </a:p>
          <a:p>
            <a:r>
              <a:rPr lang="en-US" sz="6400" dirty="0" err="1"/>
              <a:t>newNode</a:t>
            </a:r>
            <a:r>
              <a:rPr lang="en-US" sz="6400" dirty="0"/>
              <a:t> = new Node;</a:t>
            </a:r>
          </a:p>
          <a:p>
            <a:r>
              <a:rPr lang="en-US" sz="6400" dirty="0" err="1"/>
              <a:t>newNode</a:t>
            </a:r>
            <a:r>
              <a:rPr lang="en-US" sz="6400" dirty="0"/>
              <a:t>-&gt;</a:t>
            </a:r>
            <a:r>
              <a:rPr lang="en-US" sz="6400" dirty="0" err="1"/>
              <a:t>orderID</a:t>
            </a:r>
            <a:r>
              <a:rPr lang="en-US" sz="6400" dirty="0"/>
              <a:t> = </a:t>
            </a:r>
            <a:r>
              <a:rPr lang="en-US" sz="6400" dirty="0" err="1"/>
              <a:t>orderID</a:t>
            </a:r>
            <a:r>
              <a:rPr lang="en-US" sz="6400" dirty="0"/>
              <a:t>;    </a:t>
            </a:r>
          </a:p>
          <a:p>
            <a:r>
              <a:rPr lang="en-US" sz="6400" dirty="0" err="1"/>
              <a:t>newNode</a:t>
            </a:r>
            <a:r>
              <a:rPr lang="en-US" sz="6400" dirty="0"/>
              <a:t>-&gt;</a:t>
            </a:r>
            <a:r>
              <a:rPr lang="en-US" sz="6400" dirty="0" err="1"/>
              <a:t>customerName</a:t>
            </a:r>
            <a:r>
              <a:rPr lang="en-US" sz="6400" dirty="0"/>
              <a:t> = </a:t>
            </a:r>
            <a:r>
              <a:rPr lang="en-US" sz="6400" dirty="0" err="1"/>
              <a:t>customerName</a:t>
            </a:r>
            <a:r>
              <a:rPr lang="en-US" sz="6400" dirty="0"/>
              <a:t>;    </a:t>
            </a:r>
          </a:p>
          <a:p>
            <a:r>
              <a:rPr lang="en-US" sz="6400" dirty="0" err="1"/>
              <a:t>newNode</a:t>
            </a:r>
            <a:r>
              <a:rPr lang="en-US" sz="6400" dirty="0"/>
              <a:t>-&gt;</a:t>
            </a:r>
            <a:r>
              <a:rPr lang="en-US" sz="6400" dirty="0" err="1"/>
              <a:t>orderDetails</a:t>
            </a:r>
            <a:r>
              <a:rPr lang="en-US" sz="6400" dirty="0"/>
              <a:t> = </a:t>
            </a:r>
            <a:r>
              <a:rPr lang="en-US" sz="6400" dirty="0" err="1"/>
              <a:t>orderDetails</a:t>
            </a:r>
            <a:r>
              <a:rPr lang="en-US" sz="6400" dirty="0"/>
              <a:t>;    </a:t>
            </a:r>
          </a:p>
          <a:p>
            <a:r>
              <a:rPr lang="en-US" sz="6400" dirty="0"/>
              <a:t>if(head == </a:t>
            </a:r>
            <a:r>
              <a:rPr lang="en-US" sz="6400" dirty="0" err="1"/>
              <a:t>nullptr</a:t>
            </a:r>
            <a:r>
              <a:rPr lang="en-US" sz="6400" dirty="0"/>
              <a:t>){</a:t>
            </a:r>
          </a:p>
          <a:p>
            <a:r>
              <a:rPr lang="en-US" sz="6400" dirty="0"/>
              <a:t>	create first node</a:t>
            </a:r>
          </a:p>
          <a:p>
            <a:r>
              <a:rPr lang="en-US" sz="6400" dirty="0"/>
              <a:t>}</a:t>
            </a:r>
          </a:p>
          <a:p>
            <a:r>
              <a:rPr lang="en-US" sz="6400" dirty="0"/>
              <a:t>p=head</a:t>
            </a:r>
          </a:p>
          <a:p>
            <a:r>
              <a:rPr lang="en-US" sz="6400" dirty="0"/>
              <a:t>While(p-&gt;next !=Null){</a:t>
            </a:r>
          </a:p>
          <a:p>
            <a:r>
              <a:rPr lang="en-US" sz="6400" dirty="0"/>
              <a:t>	p=p-&gt;next</a:t>
            </a:r>
          </a:p>
          <a:p>
            <a:r>
              <a:rPr lang="en-US" sz="6400" dirty="0"/>
              <a:t>}</a:t>
            </a:r>
          </a:p>
          <a:p>
            <a:r>
              <a:rPr lang="en-US" sz="6400" dirty="0"/>
              <a:t>P-&gt;next = </a:t>
            </a:r>
            <a:r>
              <a:rPr lang="en-US" sz="6400" dirty="0" err="1"/>
              <a:t>newNode</a:t>
            </a:r>
            <a:endParaRPr lang="en-US" sz="6400" dirty="0"/>
          </a:p>
          <a:p>
            <a:r>
              <a:rPr lang="en-US" sz="6400" dirty="0" err="1"/>
              <a:t>newNode</a:t>
            </a:r>
            <a:r>
              <a:rPr lang="en-US" sz="6400" dirty="0"/>
              <a:t>-&gt;next=Null</a:t>
            </a:r>
          </a:p>
          <a:p>
            <a:r>
              <a:rPr lang="en-US" sz="6400" dirty="0" err="1"/>
              <a:t>newNode</a:t>
            </a:r>
            <a:r>
              <a:rPr lang="en-US" sz="6400" dirty="0"/>
              <a:t>-&gt;</a:t>
            </a:r>
            <a:r>
              <a:rPr lang="en-US" sz="6400" dirty="0" err="1"/>
              <a:t>prev</a:t>
            </a:r>
            <a:r>
              <a:rPr lang="en-US" sz="6400" dirty="0"/>
              <a:t>=p</a:t>
            </a:r>
          </a:p>
          <a:p>
            <a:r>
              <a:rPr lang="en-US" sz="6400" dirty="0"/>
              <a:t>Tail = </a:t>
            </a:r>
            <a:r>
              <a:rPr lang="en-US" sz="6400" dirty="0" err="1"/>
              <a:t>newNode</a:t>
            </a:r>
            <a:endParaRPr lang="en-US" sz="6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618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8BEB13ED-7F96-15A5-B79F-71534D5E9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914400"/>
            <a:ext cx="73152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" eaLnBrk="1" hangingPunct="1"/>
            <a:br>
              <a:rPr lang="en-US" altLang="en-US">
                <a:solidFill>
                  <a:schemeClr val="tx2"/>
                </a:solidFill>
                <a:latin typeface="Lucida Sans Unicode" panose="020B0602030504020204" pitchFamily="34" charset="0"/>
              </a:rPr>
            </a:br>
            <a:endParaRPr lang="en-US" altLang="en-US">
              <a:solidFill>
                <a:schemeClr val="tx2"/>
              </a:solidFill>
              <a:latin typeface="Lucida Sans Unicode" panose="020B0602030504020204" pitchFamily="34" charset="0"/>
            </a:endParaRPr>
          </a:p>
        </p:txBody>
      </p:sp>
      <p:sp>
        <p:nvSpPr>
          <p:cNvPr id="27651" name="Title 1">
            <a:extLst>
              <a:ext uri="{FF2B5EF4-FFF2-40B4-BE49-F238E27FC236}">
                <a16:creationId xmlns:a16="http://schemas.microsoft.com/office/drawing/2014/main" id="{BFA4080A-6E02-9EF2-476A-DA7368671529}"/>
              </a:ext>
            </a:extLst>
          </p:cNvPr>
          <p:cNvSpPr txBox="1">
            <a:spLocks/>
          </p:cNvSpPr>
          <p:nvPr/>
        </p:nvSpPr>
        <p:spPr bwMode="auto">
          <a:xfrm>
            <a:off x="2209800" y="2438400"/>
            <a:ext cx="7391400" cy="94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4400">
                <a:latin typeface="Calibri" panose="020F0502020204030204" pitchFamily="34" charset="0"/>
              </a:rPr>
              <a:t>Questions?</a:t>
            </a:r>
          </a:p>
        </p:txBody>
      </p:sp>
      <p:sp>
        <p:nvSpPr>
          <p:cNvPr id="27652" name="Slide Number Placeholder 2">
            <a:extLst>
              <a:ext uri="{FF2B5EF4-FFF2-40B4-BE49-F238E27FC236}">
                <a16:creationId xmlns:a16="http://schemas.microsoft.com/office/drawing/2014/main" id="{883F55D9-4D49-F291-EB0B-A31F812C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12974638" y="8534400"/>
            <a:ext cx="312737" cy="2571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fld id="{78960E66-50F5-42A5-8E36-53F07C5C91BB}" type="slidenum">
              <a:rPr lang="en-US" altLang="en-US" sz="1400">
                <a:solidFill>
                  <a:schemeClr val="bg1"/>
                </a:solidFill>
                <a:latin typeface="Arial" panose="020B0604020202020204" pitchFamily="34" charset="0"/>
                <a:ea typeface="ヒラギノ角ゴ ProN W3"/>
                <a:cs typeface="ヒラギノ角ゴ ProN W3"/>
                <a:sym typeface="Arial" panose="020B0604020202020204" pitchFamily="34" charset="0"/>
              </a:rPr>
              <a:pPr algn="l" eaLnBrk="1" hangingPunct="1"/>
              <a:t>15</a:t>
            </a:fld>
            <a:endParaRPr lang="en-US" altLang="en-US" sz="1400">
              <a:solidFill>
                <a:schemeClr val="bg1"/>
              </a:solidFill>
              <a:latin typeface="Arial" panose="020B0604020202020204" pitchFamily="34" charset="0"/>
              <a:ea typeface="ヒラギノ角ゴ ProN W3"/>
              <a:cs typeface="ヒラギノ角ゴ ProN W3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479</TotalTime>
  <Words>679</Words>
  <Application>Microsoft Office PowerPoint</Application>
  <PresentationFormat>Widescreen</PresentationFormat>
  <Paragraphs>117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SimSun</vt:lpstr>
      <vt:lpstr>SimSun</vt:lpstr>
      <vt:lpstr>Aptos</vt:lpstr>
      <vt:lpstr>Arial</vt:lpstr>
      <vt:lpstr>Calibri</vt:lpstr>
      <vt:lpstr>Calibri Light</vt:lpstr>
      <vt:lpstr>Lucida Sans Unicode</vt:lpstr>
      <vt:lpstr>Times New Roman</vt:lpstr>
      <vt:lpstr>Wingdings</vt:lpstr>
      <vt:lpstr>Wingdings 2</vt:lpstr>
      <vt:lpstr>Wingdings 3</vt:lpstr>
      <vt:lpstr>Retrospect</vt:lpstr>
      <vt:lpstr>Data Structure</vt:lpstr>
      <vt:lpstr>Goals for today</vt:lpstr>
      <vt:lpstr>CLO Covered</vt:lpstr>
      <vt:lpstr>Other variation of Linked List </vt:lpstr>
      <vt:lpstr>Circular Linked Lists</vt:lpstr>
      <vt:lpstr>Header Linked Lists</vt:lpstr>
      <vt:lpstr>Types Header Linked Lists</vt:lpstr>
      <vt:lpstr>Application/ uses</vt:lpstr>
      <vt:lpstr>Traversing a Circular Header List </vt:lpstr>
      <vt:lpstr>Algorithm for Traversing a Circular Header List </vt:lpstr>
      <vt:lpstr>Locating an ITEM </vt:lpstr>
      <vt:lpstr>Algorithm for Locating an ITEM </vt:lpstr>
      <vt:lpstr>Your turn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 and Algorithm</dc:title>
  <dc:creator>Habiba Arshad</dc:creator>
  <cp:lastModifiedBy>Habiba Arshad</cp:lastModifiedBy>
  <cp:revision>41</cp:revision>
  <dcterms:created xsi:type="dcterms:W3CDTF">2022-11-02T06:26:08Z</dcterms:created>
  <dcterms:modified xsi:type="dcterms:W3CDTF">2025-11-21T06:10:30Z</dcterms:modified>
</cp:coreProperties>
</file>