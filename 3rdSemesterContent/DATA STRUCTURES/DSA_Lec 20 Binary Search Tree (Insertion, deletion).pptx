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473" r:id="rId3"/>
    <p:sldId id="480" r:id="rId4"/>
    <p:sldId id="474" r:id="rId5"/>
    <p:sldId id="357" r:id="rId6"/>
    <p:sldId id="358" r:id="rId7"/>
    <p:sldId id="359" r:id="rId8"/>
    <p:sldId id="476" r:id="rId9"/>
    <p:sldId id="477" r:id="rId10"/>
    <p:sldId id="360" r:id="rId11"/>
    <p:sldId id="361" r:id="rId12"/>
    <p:sldId id="353" r:id="rId13"/>
    <p:sldId id="354" r:id="rId14"/>
    <p:sldId id="355" r:id="rId15"/>
    <p:sldId id="362" r:id="rId16"/>
    <p:sldId id="356" r:id="rId17"/>
    <p:sldId id="363" r:id="rId18"/>
    <p:sldId id="478" r:id="rId19"/>
    <p:sldId id="479" r:id="rId20"/>
    <p:sldId id="454" r:id="rId21"/>
    <p:sldId id="4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D9D5B-FF27-4B6B-85EB-07AF9C07F856}" type="datetimeFigureOut">
              <a:rPr lang="en-US" smtClean="0"/>
              <a:t>12/26/2024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EA683-90C8-451F-BC4A-13383BD37F21}" type="slidenum">
              <a:rPr lang="en-US" smtClean="0"/>
              <a:t>‹#›</a:t>
            </a:fld>
            <a:endParaRPr lang="en-US"/>
          </a:p>
        </p:txBody>
      </p:sp>
    </p:spTree>
    <p:extLst>
      <p:ext uri="{BB962C8B-B14F-4D97-AF65-F5344CB8AC3E}">
        <p14:creationId xmlns:p14="http://schemas.microsoft.com/office/powerpoint/2010/main" val="287846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5</a:t>
            </a:fld>
            <a:endParaRPr lang="en-US"/>
          </a:p>
        </p:txBody>
      </p:sp>
    </p:spTree>
    <p:extLst>
      <p:ext uri="{BB962C8B-B14F-4D97-AF65-F5344CB8AC3E}">
        <p14:creationId xmlns:p14="http://schemas.microsoft.com/office/powerpoint/2010/main" val="830410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6</a:t>
            </a:fld>
            <a:endParaRPr lang="en-US"/>
          </a:p>
        </p:txBody>
      </p:sp>
    </p:spTree>
    <p:extLst>
      <p:ext uri="{BB962C8B-B14F-4D97-AF65-F5344CB8AC3E}">
        <p14:creationId xmlns:p14="http://schemas.microsoft.com/office/powerpoint/2010/main" val="3485544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7</a:t>
            </a:fld>
            <a:endParaRPr lang="en-US"/>
          </a:p>
        </p:txBody>
      </p:sp>
    </p:spTree>
    <p:extLst>
      <p:ext uri="{BB962C8B-B14F-4D97-AF65-F5344CB8AC3E}">
        <p14:creationId xmlns:p14="http://schemas.microsoft.com/office/powerpoint/2010/main" val="403976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10</a:t>
            </a:fld>
            <a:endParaRPr lang="en-US"/>
          </a:p>
        </p:txBody>
      </p:sp>
    </p:spTree>
    <p:extLst>
      <p:ext uri="{BB962C8B-B14F-4D97-AF65-F5344CB8AC3E}">
        <p14:creationId xmlns:p14="http://schemas.microsoft.com/office/powerpoint/2010/main" val="2967551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11</a:t>
            </a:fld>
            <a:endParaRPr lang="en-US"/>
          </a:p>
        </p:txBody>
      </p:sp>
    </p:spTree>
    <p:extLst>
      <p:ext uri="{BB962C8B-B14F-4D97-AF65-F5344CB8AC3E}">
        <p14:creationId xmlns:p14="http://schemas.microsoft.com/office/powerpoint/2010/main" val="3770927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12</a:t>
            </a:fld>
            <a:endParaRPr lang="en-US"/>
          </a:p>
        </p:txBody>
      </p:sp>
    </p:spTree>
    <p:extLst>
      <p:ext uri="{BB962C8B-B14F-4D97-AF65-F5344CB8AC3E}">
        <p14:creationId xmlns:p14="http://schemas.microsoft.com/office/powerpoint/2010/main" val="2212950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13</a:t>
            </a:fld>
            <a:endParaRPr lang="en-US"/>
          </a:p>
        </p:txBody>
      </p:sp>
    </p:spTree>
    <p:extLst>
      <p:ext uri="{BB962C8B-B14F-4D97-AF65-F5344CB8AC3E}">
        <p14:creationId xmlns:p14="http://schemas.microsoft.com/office/powerpoint/2010/main" val="3038409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14</a:t>
            </a:fld>
            <a:endParaRPr lang="en-US"/>
          </a:p>
        </p:txBody>
      </p:sp>
    </p:spTree>
    <p:extLst>
      <p:ext uri="{BB962C8B-B14F-4D97-AF65-F5344CB8AC3E}">
        <p14:creationId xmlns:p14="http://schemas.microsoft.com/office/powerpoint/2010/main" val="4061318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15</a:t>
            </a:fld>
            <a:endParaRPr lang="en-US"/>
          </a:p>
        </p:txBody>
      </p:sp>
    </p:spTree>
    <p:extLst>
      <p:ext uri="{BB962C8B-B14F-4D97-AF65-F5344CB8AC3E}">
        <p14:creationId xmlns:p14="http://schemas.microsoft.com/office/powerpoint/2010/main" val="2864466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16</a:t>
            </a:fld>
            <a:endParaRPr lang="en-US"/>
          </a:p>
        </p:txBody>
      </p:sp>
    </p:spTree>
    <p:extLst>
      <p:ext uri="{BB962C8B-B14F-4D97-AF65-F5344CB8AC3E}">
        <p14:creationId xmlns:p14="http://schemas.microsoft.com/office/powerpoint/2010/main" val="3494074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17</a:t>
            </a:fld>
            <a:endParaRPr lang="en-US"/>
          </a:p>
        </p:txBody>
      </p:sp>
    </p:spTree>
    <p:extLst>
      <p:ext uri="{BB962C8B-B14F-4D97-AF65-F5344CB8AC3E}">
        <p14:creationId xmlns:p14="http://schemas.microsoft.com/office/powerpoint/2010/main" val="1668186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5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7028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1488-2866-41B3-B7DC-859AEE043E50}"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96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B01488-2866-41B3-B7DC-859AEE043E50}"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94448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B01488-2866-41B3-B7DC-859AEE043E50}" type="datetimeFigureOut">
              <a:rPr lang="en-US" smtClean="0"/>
              <a:t>12/26/2024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8908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B01488-2866-41B3-B7DC-859AEE043E50}" type="datetimeFigureOut">
              <a:rPr lang="en-US" smtClean="0"/>
              <a:t>12/26/2024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157292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DB01488-2866-41B3-B7DC-859AEE043E50}" type="datetimeFigureOut">
              <a:rPr lang="en-US" smtClean="0"/>
              <a:t>12/26/2024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75225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DB01488-2866-41B3-B7DC-859AEE043E50}" type="datetimeFigureOut">
              <a:rPr lang="en-US" smtClean="0"/>
              <a:t>12/26/2024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9E1F02-D963-4A85-BE2D-1321C23C253F}" type="slidenum">
              <a:rPr lang="en-US" smtClean="0"/>
              <a:t>‹#›</a:t>
            </a:fld>
            <a:endParaRPr lang="en-US"/>
          </a:p>
        </p:txBody>
      </p:sp>
    </p:spTree>
    <p:extLst>
      <p:ext uri="{BB962C8B-B14F-4D97-AF65-F5344CB8AC3E}">
        <p14:creationId xmlns:p14="http://schemas.microsoft.com/office/powerpoint/2010/main" val="1816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1488-2866-41B3-B7DC-859AEE043E50}"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001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3079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28869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DB01488-2866-41B3-B7DC-859AEE043E50}" type="datetimeFigureOut">
              <a:rPr lang="en-US" smtClean="0"/>
              <a:t>12/26/2024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9E1F02-D963-4A85-BE2D-1321C23C253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185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youtu.be/hL9RUD33nYs" TargetMode="External"/><Relationship Id="rId2" Type="http://schemas.openxmlformats.org/officeDocument/2006/relationships/hyperlink" Target="https://youtu.be/sXABdGalF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Structure</a:t>
            </a:r>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fontScale="85000" lnSpcReduction="20000"/>
          </a:bodyPr>
          <a:lstStyle/>
          <a:p>
            <a:r>
              <a:rPr lang="en-US" dirty="0"/>
              <a:t>Course code: cs-201</a:t>
            </a:r>
          </a:p>
          <a:p>
            <a:r>
              <a:rPr lang="en-US" dirty="0"/>
              <a:t>Topic: Trees in data structure</a:t>
            </a:r>
          </a:p>
          <a:p>
            <a:r>
              <a:rPr lang="en-US" dirty="0"/>
              <a:t>Instructor: habiba arshad</a:t>
            </a:r>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AED9D-327C-B742-2275-1AEB3EE9F196}"/>
              </a:ext>
            </a:extLst>
          </p:cNvPr>
          <p:cNvSpPr>
            <a:spLocks noGrp="1"/>
          </p:cNvSpPr>
          <p:nvPr>
            <p:ph type="ctrTitle"/>
          </p:nvPr>
        </p:nvSpPr>
        <p:spPr/>
        <p:txBody>
          <a:bodyPr/>
          <a:lstStyle/>
          <a:p>
            <a:r>
              <a:rPr lang="en-US" dirty="0"/>
              <a:t>Binary Search Tree (BST)</a:t>
            </a:r>
          </a:p>
        </p:txBody>
      </p:sp>
      <p:sp>
        <p:nvSpPr>
          <p:cNvPr id="3" name="Subtitle 2">
            <a:extLst>
              <a:ext uri="{FF2B5EF4-FFF2-40B4-BE49-F238E27FC236}">
                <a16:creationId xmlns:a16="http://schemas.microsoft.com/office/drawing/2014/main" id="{4FF61340-A3B8-1631-6D1E-569C2F48B96C}"/>
              </a:ext>
            </a:extLst>
          </p:cNvPr>
          <p:cNvSpPr>
            <a:spLocks noGrp="1"/>
          </p:cNvSpPr>
          <p:nvPr>
            <p:ph type="subTitle" idx="1"/>
          </p:nvPr>
        </p:nvSpPr>
        <p:spPr>
          <a:xfrm>
            <a:off x="1100051" y="4455620"/>
            <a:ext cx="10058400" cy="1721444"/>
          </a:xfrm>
        </p:spPr>
        <p:txBody>
          <a:bodyPr>
            <a:normAutofit/>
          </a:bodyPr>
          <a:lstStyle/>
          <a:p>
            <a:pPr marL="342900" indent="-342900">
              <a:buFont typeface="Wingdings" panose="05000000000000000000" pitchFamily="2" charset="2"/>
              <a:buChar char="Ø"/>
            </a:pPr>
            <a:r>
              <a:rPr lang="en-US" b="1" dirty="0">
                <a:solidFill>
                  <a:schemeClr val="tx1"/>
                </a:solidFill>
              </a:rPr>
              <a:t>Insertion</a:t>
            </a:r>
          </a:p>
          <a:p>
            <a:pPr marL="342900" indent="-342900">
              <a:buFont typeface="Wingdings" panose="05000000000000000000" pitchFamily="2" charset="2"/>
              <a:buChar char="Ø"/>
            </a:pPr>
            <a:r>
              <a:rPr lang="en-US" b="1" dirty="0">
                <a:solidFill>
                  <a:schemeClr val="tx1"/>
                </a:solidFill>
              </a:rPr>
              <a:t>deletion</a:t>
            </a:r>
          </a:p>
        </p:txBody>
      </p:sp>
    </p:spTree>
    <p:extLst>
      <p:ext uri="{BB962C8B-B14F-4D97-AF65-F5344CB8AC3E}">
        <p14:creationId xmlns:p14="http://schemas.microsoft.com/office/powerpoint/2010/main" val="200456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55AF8-AEC5-7CED-F76F-BA3AEDFF9A41}"/>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96012AEF-F86A-C1DE-F01A-E0DDA7116E47}"/>
              </a:ext>
            </a:extLst>
          </p:cNvPr>
          <p:cNvSpPr>
            <a:spLocks noGrp="1"/>
          </p:cNvSpPr>
          <p:nvPr>
            <p:ph idx="1"/>
          </p:nvPr>
        </p:nvSpPr>
        <p:spPr/>
        <p:txBody>
          <a:bodyPr/>
          <a:lstStyle/>
          <a:p>
            <a:r>
              <a:rPr lang="en-US" dirty="0"/>
              <a:t>CLO1: Explain the fundamentals of data structure as well as algorithms that operate on them GA2, BT C2</a:t>
            </a:r>
          </a:p>
          <a:p>
            <a:r>
              <a:rPr lang="en-US" dirty="0"/>
              <a:t>CLO2: Apply and design various data structures methods for specified applications. GA4, C3</a:t>
            </a:r>
          </a:p>
          <a:p>
            <a:r>
              <a:rPr lang="en-US" dirty="0"/>
              <a:t>CLO3: Analyze empirically the behavior of algorithms in terms of time and memory used. GA3, C4</a:t>
            </a:r>
          </a:p>
        </p:txBody>
      </p:sp>
    </p:spTree>
    <p:extLst>
      <p:ext uri="{BB962C8B-B14F-4D97-AF65-F5344CB8AC3E}">
        <p14:creationId xmlns:p14="http://schemas.microsoft.com/office/powerpoint/2010/main" val="2752678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7511-1D8B-225A-E4C1-2F94E4754F10}"/>
              </a:ext>
            </a:extLst>
          </p:cNvPr>
          <p:cNvSpPr>
            <a:spLocks noGrp="1"/>
          </p:cNvSpPr>
          <p:nvPr>
            <p:ph type="title"/>
          </p:nvPr>
        </p:nvSpPr>
        <p:spPr/>
        <p:txBody>
          <a:bodyPr/>
          <a:lstStyle/>
          <a:p>
            <a:r>
              <a:rPr lang="en-US" dirty="0"/>
              <a:t>Algorithm for Searching in BST</a:t>
            </a:r>
          </a:p>
        </p:txBody>
      </p:sp>
      <p:sp>
        <p:nvSpPr>
          <p:cNvPr id="3" name="Content Placeholder 2">
            <a:extLst>
              <a:ext uri="{FF2B5EF4-FFF2-40B4-BE49-F238E27FC236}">
                <a16:creationId xmlns:a16="http://schemas.microsoft.com/office/drawing/2014/main" id="{73041E54-DEDE-2F99-8051-A9C56F44D057}"/>
              </a:ext>
            </a:extLst>
          </p:cNvPr>
          <p:cNvSpPr>
            <a:spLocks noGrp="1"/>
          </p:cNvSpPr>
          <p:nvPr>
            <p:ph idx="1"/>
          </p:nvPr>
        </p:nvSpPr>
        <p:spPr/>
        <p:txBody>
          <a:bodyPr/>
          <a:lstStyle/>
          <a:p>
            <a:pPr marL="0" indent="0" algn="just">
              <a:buNone/>
            </a:pPr>
            <a:r>
              <a:rPr lang="en-US" b="0" i="0" dirty="0">
                <a:solidFill>
                  <a:srgbClr val="000000"/>
                </a:solidFill>
                <a:effectLst/>
                <a:latin typeface="inter-regular"/>
              </a:rPr>
              <a:t>Search (root, item)  </a:t>
            </a:r>
          </a:p>
          <a:p>
            <a:pPr marL="0" indent="0" algn="just">
              <a:buNone/>
            </a:pPr>
            <a:r>
              <a:rPr lang="en-US" b="0" i="0" dirty="0">
                <a:solidFill>
                  <a:srgbClr val="000000"/>
                </a:solidFill>
                <a:effectLst/>
                <a:latin typeface="inter-regular"/>
              </a:rPr>
              <a:t>Step 1 - if (</a:t>
            </a:r>
            <a:r>
              <a:rPr lang="en-US" b="0" i="0" dirty="0">
                <a:solidFill>
                  <a:srgbClr val="FF0000"/>
                </a:solidFill>
                <a:effectLst/>
                <a:latin typeface="inter-regular"/>
              </a:rPr>
              <a:t>item</a:t>
            </a:r>
            <a:r>
              <a:rPr lang="en-US" b="0" i="0" dirty="0">
                <a:solidFill>
                  <a:srgbClr val="000000"/>
                </a:solidFill>
                <a:effectLst/>
                <a:latin typeface="inter-regular"/>
              </a:rPr>
              <a:t> = </a:t>
            </a:r>
            <a:r>
              <a:rPr lang="en-US" b="0" i="0" dirty="0">
                <a:solidFill>
                  <a:srgbClr val="0000FF"/>
                </a:solidFill>
                <a:effectLst/>
                <a:latin typeface="inter-regular"/>
              </a:rPr>
              <a:t>root</a:t>
            </a:r>
            <a:r>
              <a:rPr lang="en-US" b="0" i="0" dirty="0">
                <a:solidFill>
                  <a:srgbClr val="000000"/>
                </a:solidFill>
                <a:effectLst/>
                <a:latin typeface="inter-regular"/>
              </a:rPr>
              <a:t> → data) or (</a:t>
            </a:r>
            <a:r>
              <a:rPr lang="en-US" b="0" i="0" dirty="0">
                <a:solidFill>
                  <a:srgbClr val="FF0000"/>
                </a:solidFill>
                <a:effectLst/>
                <a:latin typeface="inter-regular"/>
              </a:rPr>
              <a:t>root</a:t>
            </a:r>
            <a:r>
              <a:rPr lang="en-US" b="0" i="0" dirty="0">
                <a:solidFill>
                  <a:srgbClr val="000000"/>
                </a:solidFill>
                <a:effectLst/>
                <a:latin typeface="inter-regular"/>
              </a:rPr>
              <a:t> = </a:t>
            </a:r>
            <a:r>
              <a:rPr lang="en-US" b="0" i="0" dirty="0">
                <a:solidFill>
                  <a:srgbClr val="0000FF"/>
                </a:solidFill>
                <a:effectLst/>
                <a:latin typeface="inter-regular"/>
              </a:rPr>
              <a:t>NULL</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return root  </a:t>
            </a:r>
          </a:p>
          <a:p>
            <a:pPr marL="0" indent="0" algn="just">
              <a:buNone/>
            </a:pPr>
            <a:r>
              <a:rPr lang="en-US" b="0" i="0" dirty="0">
                <a:solidFill>
                  <a:srgbClr val="000000"/>
                </a:solidFill>
                <a:effectLst/>
                <a:latin typeface="inter-regular"/>
              </a:rPr>
              <a:t>else if (item </a:t>
            </a:r>
            <a:r>
              <a:rPr lang="en-US" b="1" i="0" dirty="0">
                <a:solidFill>
                  <a:srgbClr val="006699"/>
                </a:solidFill>
                <a:effectLst/>
                <a:latin typeface="inter-regular"/>
              </a:rPr>
              <a:t>&lt;</a:t>
            </a:r>
            <a:r>
              <a:rPr lang="en-US" b="0" i="0" dirty="0">
                <a:solidFill>
                  <a:srgbClr val="000000"/>
                </a:solidFill>
                <a:effectLst/>
                <a:latin typeface="inter-regular"/>
              </a:rPr>
              <a:t> </a:t>
            </a:r>
            <a:r>
              <a:rPr lang="en-US" b="1" i="0" dirty="0">
                <a:solidFill>
                  <a:srgbClr val="006699"/>
                </a:solidFill>
                <a:effectLst/>
                <a:latin typeface="inter-regular"/>
              </a:rPr>
              <a:t>root</a:t>
            </a:r>
            <a:r>
              <a:rPr lang="en-US" b="0" i="0" dirty="0">
                <a:solidFill>
                  <a:srgbClr val="000000"/>
                </a:solidFill>
                <a:effectLst/>
                <a:latin typeface="inter-regular"/>
              </a:rPr>
              <a:t> → data)  </a:t>
            </a:r>
          </a:p>
          <a:p>
            <a:pPr marL="0" indent="0" algn="just">
              <a:buNone/>
            </a:pPr>
            <a:r>
              <a:rPr lang="en-US" b="0" i="0" dirty="0">
                <a:solidFill>
                  <a:srgbClr val="000000"/>
                </a:solidFill>
                <a:effectLst/>
                <a:latin typeface="inter-regular"/>
              </a:rPr>
              <a:t>        return Search(root → left, item)  </a:t>
            </a:r>
          </a:p>
          <a:p>
            <a:pPr marL="0" indent="0" algn="just">
              <a:buNone/>
            </a:pPr>
            <a:r>
              <a:rPr lang="en-US" b="0" i="0" dirty="0">
                <a:solidFill>
                  <a:srgbClr val="000000"/>
                </a:solidFill>
                <a:effectLst/>
                <a:latin typeface="inter-regular"/>
              </a:rPr>
              <a:t>else  </a:t>
            </a:r>
          </a:p>
          <a:p>
            <a:pPr marL="0" indent="0" algn="just">
              <a:buNone/>
            </a:pPr>
            <a:r>
              <a:rPr lang="en-US" b="0" i="0" dirty="0">
                <a:solidFill>
                  <a:srgbClr val="000000"/>
                </a:solidFill>
                <a:effectLst/>
                <a:latin typeface="inter-regular"/>
              </a:rPr>
              <a:t>       return Search(root → right, item)  </a:t>
            </a:r>
          </a:p>
          <a:p>
            <a:pPr marL="0" indent="0" algn="just">
              <a:buNone/>
            </a:pPr>
            <a:r>
              <a:rPr lang="en-US" b="0" i="0" dirty="0">
                <a:solidFill>
                  <a:srgbClr val="000000"/>
                </a:solidFill>
                <a:effectLst/>
                <a:latin typeface="inter-regular"/>
              </a:rPr>
              <a:t>END if  </a:t>
            </a:r>
          </a:p>
          <a:p>
            <a:pPr marL="0" indent="0" algn="just">
              <a:buNone/>
            </a:pPr>
            <a:r>
              <a:rPr lang="en-US" b="0" i="0" dirty="0">
                <a:solidFill>
                  <a:srgbClr val="000000"/>
                </a:solidFill>
                <a:effectLst/>
                <a:latin typeface="inter-regular"/>
              </a:rPr>
              <a:t>Step 2 - END  </a:t>
            </a:r>
          </a:p>
          <a:p>
            <a:endParaRPr lang="en-US" dirty="0"/>
          </a:p>
        </p:txBody>
      </p:sp>
    </p:spTree>
    <p:extLst>
      <p:ext uri="{BB962C8B-B14F-4D97-AF65-F5344CB8AC3E}">
        <p14:creationId xmlns:p14="http://schemas.microsoft.com/office/powerpoint/2010/main" val="3417258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Insertion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313A3E32-F0ED-4569-AF80-B3485BA2F390}"/>
              </a:ext>
            </a:extLst>
          </p:cNvPr>
          <p:cNvSpPr txBox="1"/>
          <p:nvPr/>
        </p:nvSpPr>
        <p:spPr>
          <a:xfrm>
            <a:off x="765110" y="1922106"/>
            <a:ext cx="10746192" cy="4401205"/>
          </a:xfrm>
          <a:prstGeom prst="rect">
            <a:avLst/>
          </a:prstGeom>
          <a:noFill/>
        </p:spPr>
        <p:txBody>
          <a:bodyPr wrap="square">
            <a:spAutoFit/>
          </a:bodyPr>
          <a:lstStyle/>
          <a:p>
            <a:pPr marL="342900" indent="-342900">
              <a:buFont typeface="Arial" panose="020B0604020202020204" pitchFamily="34" charset="0"/>
              <a:buChar char="•"/>
            </a:pPr>
            <a:r>
              <a:rPr lang="en-US" sz="2800" b="0" i="0" dirty="0">
                <a:solidFill>
                  <a:srgbClr val="333333"/>
                </a:solidFill>
                <a:effectLst/>
              </a:rPr>
              <a:t>A </a:t>
            </a:r>
            <a:r>
              <a:rPr lang="en-US" sz="2800" b="0" i="0" dirty="0">
                <a:solidFill>
                  <a:srgbClr val="FF0000"/>
                </a:solidFill>
                <a:effectLst/>
              </a:rPr>
              <a:t>new key in BST is always inserted at the leaf. </a:t>
            </a:r>
          </a:p>
          <a:p>
            <a:pPr marL="342900" indent="-342900">
              <a:buFont typeface="Arial" panose="020B0604020202020204" pitchFamily="34" charset="0"/>
              <a:buChar char="•"/>
            </a:pPr>
            <a:r>
              <a:rPr lang="en-US" sz="2800" b="0" i="0" dirty="0">
                <a:solidFill>
                  <a:srgbClr val="333333"/>
                </a:solidFill>
                <a:effectLst/>
              </a:rPr>
              <a:t>To insert an element in BST, we have to start searching from the root node</a:t>
            </a:r>
            <a:r>
              <a:rPr lang="en-US" sz="2800" dirty="0">
                <a:solidFill>
                  <a:srgbClr val="333333"/>
                </a:solidFill>
              </a:rPr>
              <a:t>.</a:t>
            </a:r>
            <a:endParaRPr lang="en-US" sz="2800" b="0" i="0" dirty="0">
              <a:solidFill>
                <a:srgbClr val="333333"/>
              </a:solidFill>
              <a:effectLst/>
            </a:endParaRPr>
          </a:p>
          <a:p>
            <a:pPr marL="342900" indent="-342900">
              <a:buFont typeface="Arial" panose="020B0604020202020204" pitchFamily="34" charset="0"/>
              <a:buChar char="•"/>
            </a:pPr>
            <a:r>
              <a:rPr lang="en-US" sz="2800" dirty="0">
                <a:solidFill>
                  <a:srgbClr val="333333"/>
                </a:solidFill>
              </a:rPr>
              <a:t>I</a:t>
            </a:r>
            <a:r>
              <a:rPr lang="en-US" sz="2800" b="0" i="0" dirty="0">
                <a:solidFill>
                  <a:srgbClr val="333333"/>
                </a:solidFill>
                <a:effectLst/>
              </a:rPr>
              <a:t>f the node to be inserted is less than the root node, then search for an empty location in the left subtree. </a:t>
            </a:r>
          </a:p>
          <a:p>
            <a:pPr marL="342900" indent="-342900">
              <a:buFont typeface="Arial" panose="020B0604020202020204" pitchFamily="34" charset="0"/>
              <a:buChar char="•"/>
            </a:pPr>
            <a:r>
              <a:rPr lang="en-US" sz="2800" b="0" i="0" dirty="0">
                <a:solidFill>
                  <a:srgbClr val="333333"/>
                </a:solidFill>
                <a:effectLst/>
              </a:rPr>
              <a:t>Else, search for the empty location in the right subtree and insert the data.</a:t>
            </a:r>
          </a:p>
          <a:p>
            <a:pPr marL="342900" indent="-342900">
              <a:buFont typeface="Arial" panose="020B0604020202020204" pitchFamily="34" charset="0"/>
              <a:buChar char="•"/>
            </a:pPr>
            <a:r>
              <a:rPr lang="en-US" sz="2800" b="0" i="0" dirty="0">
                <a:solidFill>
                  <a:srgbClr val="333333"/>
                </a:solidFill>
                <a:effectLst/>
              </a:rPr>
              <a:t>Insert in BST is similar to searching, as we always have to maintain the rule that the left subtree is smaller than the root, and right subtree is larger than the root.</a:t>
            </a:r>
            <a:endParaRPr lang="en-US" sz="2800" dirty="0"/>
          </a:p>
        </p:txBody>
      </p:sp>
    </p:spTree>
    <p:extLst>
      <p:ext uri="{BB962C8B-B14F-4D97-AF65-F5344CB8AC3E}">
        <p14:creationId xmlns:p14="http://schemas.microsoft.com/office/powerpoint/2010/main" val="2524686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Insertion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pic>
        <p:nvPicPr>
          <p:cNvPr id="3" name="Picture 2">
            <a:extLst>
              <a:ext uri="{FF2B5EF4-FFF2-40B4-BE49-F238E27FC236}">
                <a16:creationId xmlns:a16="http://schemas.microsoft.com/office/drawing/2014/main" id="{D2CDB60C-025E-4830-A6DB-FD5D9234E0A6}"/>
              </a:ext>
            </a:extLst>
          </p:cNvPr>
          <p:cNvPicPr>
            <a:picLocks noChangeAspect="1"/>
          </p:cNvPicPr>
          <p:nvPr/>
        </p:nvPicPr>
        <p:blipFill>
          <a:blip r:embed="rId3"/>
          <a:stretch>
            <a:fillRect/>
          </a:stretch>
        </p:blipFill>
        <p:spPr>
          <a:xfrm>
            <a:off x="1283090" y="2375859"/>
            <a:ext cx="10246500" cy="3846425"/>
          </a:xfrm>
          <a:prstGeom prst="rect">
            <a:avLst/>
          </a:prstGeom>
        </p:spPr>
      </p:pic>
      <p:sp>
        <p:nvSpPr>
          <p:cNvPr id="4" name="TextBox 3">
            <a:extLst>
              <a:ext uri="{FF2B5EF4-FFF2-40B4-BE49-F238E27FC236}">
                <a16:creationId xmlns:a16="http://schemas.microsoft.com/office/drawing/2014/main" id="{71719CB7-A4D1-7B66-DADE-7CB3AD2B7A93}"/>
              </a:ext>
            </a:extLst>
          </p:cNvPr>
          <p:cNvSpPr txBox="1"/>
          <p:nvPr/>
        </p:nvSpPr>
        <p:spPr>
          <a:xfrm>
            <a:off x="976600" y="1850010"/>
            <a:ext cx="6096000" cy="461665"/>
          </a:xfrm>
          <a:prstGeom prst="rect">
            <a:avLst/>
          </a:prstGeom>
          <a:noFill/>
        </p:spPr>
        <p:txBody>
          <a:bodyPr wrap="square">
            <a:spAutoFit/>
          </a:bodyPr>
          <a:lstStyle/>
          <a:p>
            <a:r>
              <a:rPr lang="en-US" sz="2400" b="1" dirty="0"/>
              <a:t>Insert 65:</a:t>
            </a:r>
          </a:p>
        </p:txBody>
      </p:sp>
    </p:spTree>
    <p:extLst>
      <p:ext uri="{BB962C8B-B14F-4D97-AF65-F5344CB8AC3E}">
        <p14:creationId xmlns:p14="http://schemas.microsoft.com/office/powerpoint/2010/main" val="2866557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Insertion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pic>
        <p:nvPicPr>
          <p:cNvPr id="4" name="Picture 3">
            <a:extLst>
              <a:ext uri="{FF2B5EF4-FFF2-40B4-BE49-F238E27FC236}">
                <a16:creationId xmlns:a16="http://schemas.microsoft.com/office/drawing/2014/main" id="{EAA4E4F6-1771-4B03-836B-CE9E942DB3C0}"/>
              </a:ext>
            </a:extLst>
          </p:cNvPr>
          <p:cNvPicPr>
            <a:picLocks noChangeAspect="1"/>
          </p:cNvPicPr>
          <p:nvPr/>
        </p:nvPicPr>
        <p:blipFill>
          <a:blip r:embed="rId3"/>
          <a:stretch>
            <a:fillRect/>
          </a:stretch>
        </p:blipFill>
        <p:spPr>
          <a:xfrm>
            <a:off x="1546182" y="2482570"/>
            <a:ext cx="9829800" cy="4247171"/>
          </a:xfrm>
          <a:prstGeom prst="rect">
            <a:avLst/>
          </a:prstGeom>
        </p:spPr>
      </p:pic>
    </p:spTree>
    <p:extLst>
      <p:ext uri="{BB962C8B-B14F-4D97-AF65-F5344CB8AC3E}">
        <p14:creationId xmlns:p14="http://schemas.microsoft.com/office/powerpoint/2010/main" val="37801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1981200" y="457200"/>
            <a:ext cx="8458200" cy="5943600"/>
          </a:xfrm>
        </p:spPr>
        <p:txBody>
          <a:bodyPr/>
          <a:lstStyle/>
          <a:p>
            <a:pPr>
              <a:buFont typeface="Wingdings 2" panose="05020102010507070707" pitchFamily="18" charset="2"/>
              <a:buNone/>
            </a:pPr>
            <a:r>
              <a:rPr lang="en-US" altLang="en-US"/>
              <a:t>Insert 40, 60, 50, 33, 55, 11 into an empty BST </a:t>
            </a:r>
          </a:p>
        </p:txBody>
      </p:sp>
      <p:grpSp>
        <p:nvGrpSpPr>
          <p:cNvPr id="17411" name="Group 5"/>
          <p:cNvGrpSpPr>
            <a:grpSpLocks/>
          </p:cNvGrpSpPr>
          <p:nvPr/>
        </p:nvGrpSpPr>
        <p:grpSpPr bwMode="auto">
          <a:xfrm>
            <a:off x="2133600" y="2057400"/>
            <a:ext cx="609600" cy="533400"/>
            <a:chOff x="2133600" y="1905000"/>
            <a:chExt cx="609600" cy="533400"/>
          </a:xfrm>
        </p:grpSpPr>
        <p:sp>
          <p:nvSpPr>
            <p:cNvPr id="4" name="Oval 3"/>
            <p:cNvSpPr/>
            <p:nvPr/>
          </p:nvSpPr>
          <p:spPr>
            <a:xfrm>
              <a:off x="2133600" y="1905000"/>
              <a:ext cx="533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63" name="TextBox 4"/>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40</a:t>
              </a:r>
            </a:p>
          </p:txBody>
        </p:sp>
      </p:grpSp>
      <p:sp>
        <p:nvSpPr>
          <p:cNvPr id="40" name="Rectangle 39"/>
          <p:cNvSpPr/>
          <p:nvPr/>
        </p:nvSpPr>
        <p:spPr>
          <a:xfrm>
            <a:off x="1981200" y="1905000"/>
            <a:ext cx="12954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413" name="TextBox 74"/>
          <p:cNvSpPr txBox="1">
            <a:spLocks noChangeArrowheads="1"/>
          </p:cNvSpPr>
          <p:nvPr/>
        </p:nvSpPr>
        <p:spPr bwMode="auto">
          <a:xfrm>
            <a:off x="1524000" y="3581401"/>
            <a:ext cx="205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1</a:t>
            </a:r>
            <a:r>
              <a:rPr lang="en-US" altLang="en-US"/>
              <a:t>. </a:t>
            </a:r>
            <a:r>
              <a:rPr lang="en-US" altLang="en-US" sz="2400"/>
              <a:t>ITEM = 40</a:t>
            </a:r>
          </a:p>
        </p:txBody>
      </p:sp>
      <p:grpSp>
        <p:nvGrpSpPr>
          <p:cNvPr id="3" name="Group 92"/>
          <p:cNvGrpSpPr>
            <a:grpSpLocks/>
          </p:cNvGrpSpPr>
          <p:nvPr/>
        </p:nvGrpSpPr>
        <p:grpSpPr bwMode="auto">
          <a:xfrm>
            <a:off x="3429000" y="1828801"/>
            <a:ext cx="2057400" cy="2290763"/>
            <a:chOff x="1905000" y="1828800"/>
            <a:chExt cx="2057400" cy="2290465"/>
          </a:xfrm>
        </p:grpSpPr>
        <p:grpSp>
          <p:nvGrpSpPr>
            <p:cNvPr id="17452" name="Group 13"/>
            <p:cNvGrpSpPr>
              <a:grpSpLocks/>
            </p:cNvGrpSpPr>
            <p:nvPr/>
          </p:nvGrpSpPr>
          <p:grpSpPr bwMode="auto">
            <a:xfrm>
              <a:off x="2286000" y="2133600"/>
              <a:ext cx="1447800" cy="1295400"/>
              <a:chOff x="2286000" y="2133600"/>
              <a:chExt cx="1447800" cy="1295400"/>
            </a:xfrm>
          </p:grpSpPr>
          <p:grpSp>
            <p:nvGrpSpPr>
              <p:cNvPr id="17456" name="Group 7"/>
              <p:cNvGrpSpPr>
                <a:grpSpLocks/>
              </p:cNvGrpSpPr>
              <p:nvPr/>
            </p:nvGrpSpPr>
            <p:grpSpPr bwMode="auto">
              <a:xfrm>
                <a:off x="2286000" y="2133600"/>
                <a:ext cx="609600" cy="533400"/>
                <a:chOff x="2133600" y="1905000"/>
                <a:chExt cx="609600" cy="533400"/>
              </a:xfrm>
            </p:grpSpPr>
            <p:sp>
              <p:nvSpPr>
                <p:cNvPr id="9" name="Oval 8"/>
                <p:cNvSpPr/>
                <p:nvPr/>
              </p:nvSpPr>
              <p:spPr>
                <a:xfrm>
                  <a:off x="2133600" y="1904960"/>
                  <a:ext cx="533400" cy="5333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61" name="TextBox 9"/>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40</a:t>
                  </a:r>
                </a:p>
              </p:txBody>
            </p:sp>
          </p:grpSp>
          <p:grpSp>
            <p:nvGrpSpPr>
              <p:cNvPr id="17457" name="Group 10"/>
              <p:cNvGrpSpPr>
                <a:grpSpLocks/>
              </p:cNvGrpSpPr>
              <p:nvPr/>
            </p:nvGrpSpPr>
            <p:grpSpPr bwMode="auto">
              <a:xfrm>
                <a:off x="3124200" y="2895600"/>
                <a:ext cx="609600" cy="533400"/>
                <a:chOff x="2133600" y="1905000"/>
                <a:chExt cx="609600" cy="533400"/>
              </a:xfrm>
            </p:grpSpPr>
            <p:sp>
              <p:nvSpPr>
                <p:cNvPr id="12" name="Oval 11"/>
                <p:cNvSpPr/>
                <p:nvPr/>
              </p:nvSpPr>
              <p:spPr>
                <a:xfrm>
                  <a:off x="2133600" y="1904861"/>
                  <a:ext cx="533400" cy="5333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59" name="TextBox 12"/>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60</a:t>
                  </a:r>
                </a:p>
              </p:txBody>
            </p:sp>
          </p:grpSp>
        </p:grpSp>
        <p:sp>
          <p:nvSpPr>
            <p:cNvPr id="41" name="Rectangle 40"/>
            <p:cNvSpPr/>
            <p:nvPr/>
          </p:nvSpPr>
          <p:spPr>
            <a:xfrm>
              <a:off x="2057400" y="1828800"/>
              <a:ext cx="1828800" cy="1752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454" name="TextBox 75"/>
            <p:cNvSpPr txBox="1">
              <a:spLocks noChangeArrowheads="1"/>
            </p:cNvSpPr>
            <p:nvPr/>
          </p:nvSpPr>
          <p:spPr bwMode="auto">
            <a:xfrm>
              <a:off x="1905000" y="3657600"/>
              <a:ext cx="205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2</a:t>
              </a:r>
              <a:r>
                <a:rPr lang="en-US" altLang="en-US"/>
                <a:t>. </a:t>
              </a:r>
              <a:r>
                <a:rPr lang="en-US" altLang="en-US" sz="2400"/>
                <a:t>ITEM = 60</a:t>
              </a:r>
            </a:p>
          </p:txBody>
        </p:sp>
        <p:cxnSp>
          <p:nvCxnSpPr>
            <p:cNvPr id="78" name="Straight Connector 77"/>
            <p:cNvCxnSpPr/>
            <p:nvPr/>
          </p:nvCxnSpPr>
          <p:spPr>
            <a:xfrm rot="16200000" flipH="1">
              <a:off x="2743225" y="2590676"/>
              <a:ext cx="380950" cy="381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 name="Group 93"/>
          <p:cNvGrpSpPr>
            <a:grpSpLocks/>
          </p:cNvGrpSpPr>
          <p:nvPr/>
        </p:nvGrpSpPr>
        <p:grpSpPr bwMode="auto">
          <a:xfrm>
            <a:off x="5638800" y="1752601"/>
            <a:ext cx="2286000" cy="2900363"/>
            <a:chOff x="4114800" y="1752600"/>
            <a:chExt cx="2286000" cy="2900065"/>
          </a:xfrm>
        </p:grpSpPr>
        <p:grpSp>
          <p:nvGrpSpPr>
            <p:cNvPr id="17437" name="Group 24"/>
            <p:cNvGrpSpPr>
              <a:grpSpLocks/>
            </p:cNvGrpSpPr>
            <p:nvPr/>
          </p:nvGrpSpPr>
          <p:grpSpPr bwMode="auto">
            <a:xfrm>
              <a:off x="4648200" y="1905000"/>
              <a:ext cx="1600200" cy="2133600"/>
              <a:chOff x="4724400" y="2057400"/>
              <a:chExt cx="1600200" cy="2133600"/>
            </a:xfrm>
          </p:grpSpPr>
          <p:grpSp>
            <p:nvGrpSpPr>
              <p:cNvPr id="17442" name="Group 14"/>
              <p:cNvGrpSpPr>
                <a:grpSpLocks/>
              </p:cNvGrpSpPr>
              <p:nvPr/>
            </p:nvGrpSpPr>
            <p:grpSpPr bwMode="auto">
              <a:xfrm>
                <a:off x="4876800" y="2057400"/>
                <a:ext cx="1447800" cy="1295400"/>
                <a:chOff x="2286000" y="2133600"/>
                <a:chExt cx="1447800" cy="1295400"/>
              </a:xfrm>
            </p:grpSpPr>
            <p:grpSp>
              <p:nvGrpSpPr>
                <p:cNvPr id="17446" name="Group 7"/>
                <p:cNvGrpSpPr>
                  <a:grpSpLocks/>
                </p:cNvGrpSpPr>
                <p:nvPr/>
              </p:nvGrpSpPr>
              <p:grpSpPr bwMode="auto">
                <a:xfrm>
                  <a:off x="2286000" y="2133600"/>
                  <a:ext cx="609600" cy="533400"/>
                  <a:chOff x="2133600" y="1905000"/>
                  <a:chExt cx="609600" cy="533400"/>
                </a:xfrm>
              </p:grpSpPr>
              <p:sp>
                <p:nvSpPr>
                  <p:cNvPr id="20" name="Oval 19"/>
                  <p:cNvSpPr/>
                  <p:nvPr/>
                </p:nvSpPr>
                <p:spPr>
                  <a:xfrm>
                    <a:off x="2133600" y="1904984"/>
                    <a:ext cx="533400" cy="5333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51" name="TextBox 20"/>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40</a:t>
                    </a:r>
                  </a:p>
                </p:txBody>
              </p:sp>
            </p:grpSp>
            <p:grpSp>
              <p:nvGrpSpPr>
                <p:cNvPr id="17447" name="Group 10"/>
                <p:cNvGrpSpPr>
                  <a:grpSpLocks/>
                </p:cNvGrpSpPr>
                <p:nvPr/>
              </p:nvGrpSpPr>
              <p:grpSpPr bwMode="auto">
                <a:xfrm>
                  <a:off x="3124200" y="2895600"/>
                  <a:ext cx="609600" cy="533400"/>
                  <a:chOff x="2133600" y="1905000"/>
                  <a:chExt cx="609600" cy="533400"/>
                </a:xfrm>
              </p:grpSpPr>
              <p:sp>
                <p:nvSpPr>
                  <p:cNvPr id="18" name="Oval 17"/>
                  <p:cNvSpPr/>
                  <p:nvPr/>
                </p:nvSpPr>
                <p:spPr>
                  <a:xfrm>
                    <a:off x="2133600" y="1904906"/>
                    <a:ext cx="533400" cy="5333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49" name="TextBox 18"/>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60</a:t>
                    </a:r>
                  </a:p>
                </p:txBody>
              </p:sp>
            </p:grpSp>
          </p:grpSp>
          <p:grpSp>
            <p:nvGrpSpPr>
              <p:cNvPr id="17443" name="Group 21"/>
              <p:cNvGrpSpPr>
                <a:grpSpLocks/>
              </p:cNvGrpSpPr>
              <p:nvPr/>
            </p:nvGrpSpPr>
            <p:grpSpPr bwMode="auto">
              <a:xfrm>
                <a:off x="4724400" y="3657600"/>
                <a:ext cx="609600" cy="533400"/>
                <a:chOff x="2133600" y="1905000"/>
                <a:chExt cx="609600" cy="533400"/>
              </a:xfrm>
            </p:grpSpPr>
            <p:sp>
              <p:nvSpPr>
                <p:cNvPr id="23" name="Oval 22"/>
                <p:cNvSpPr/>
                <p:nvPr/>
              </p:nvSpPr>
              <p:spPr>
                <a:xfrm>
                  <a:off x="2133600" y="1904820"/>
                  <a:ext cx="533400" cy="5333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45" name="TextBox 23"/>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50</a:t>
                  </a:r>
                </a:p>
              </p:txBody>
            </p:sp>
          </p:grpSp>
        </p:grpSp>
        <p:sp>
          <p:nvSpPr>
            <p:cNvPr id="42" name="Rectangle 41"/>
            <p:cNvSpPr/>
            <p:nvPr/>
          </p:nvSpPr>
          <p:spPr>
            <a:xfrm>
              <a:off x="4114800" y="1752600"/>
              <a:ext cx="2286000" cy="23619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439" name="TextBox 78"/>
            <p:cNvSpPr txBox="1">
              <a:spLocks noChangeArrowheads="1"/>
            </p:cNvSpPr>
            <p:nvPr/>
          </p:nvSpPr>
          <p:spPr bwMode="auto">
            <a:xfrm>
              <a:off x="4114800" y="4191000"/>
              <a:ext cx="205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3</a:t>
              </a:r>
              <a:r>
                <a:rPr lang="en-US" altLang="en-US"/>
                <a:t>. </a:t>
              </a:r>
              <a:r>
                <a:rPr lang="en-US" altLang="en-US" sz="2400"/>
                <a:t>ITEM = 50</a:t>
              </a:r>
            </a:p>
          </p:txBody>
        </p:sp>
        <p:cxnSp>
          <p:nvCxnSpPr>
            <p:cNvPr id="84" name="Straight Connector 83"/>
            <p:cNvCxnSpPr/>
            <p:nvPr/>
          </p:nvCxnSpPr>
          <p:spPr>
            <a:xfrm>
              <a:off x="5257800" y="2362137"/>
              <a:ext cx="457200" cy="3809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5105400" y="3124059"/>
              <a:ext cx="533400" cy="457153"/>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6" name="Group 94"/>
          <p:cNvGrpSpPr>
            <a:grpSpLocks/>
          </p:cNvGrpSpPr>
          <p:nvPr/>
        </p:nvGrpSpPr>
        <p:grpSpPr bwMode="auto">
          <a:xfrm>
            <a:off x="8077200" y="1752601"/>
            <a:ext cx="2362200" cy="3128963"/>
            <a:chOff x="6553200" y="1752600"/>
            <a:chExt cx="2362200" cy="3128665"/>
          </a:xfrm>
        </p:grpSpPr>
        <p:grpSp>
          <p:nvGrpSpPr>
            <p:cNvPr id="17417" name="Group 54"/>
            <p:cNvGrpSpPr>
              <a:grpSpLocks/>
            </p:cNvGrpSpPr>
            <p:nvPr/>
          </p:nvGrpSpPr>
          <p:grpSpPr bwMode="auto">
            <a:xfrm>
              <a:off x="6629400" y="1981200"/>
              <a:ext cx="1981200" cy="2133600"/>
              <a:chOff x="6629400" y="1981200"/>
              <a:chExt cx="1981200" cy="2133600"/>
            </a:xfrm>
          </p:grpSpPr>
          <p:grpSp>
            <p:nvGrpSpPr>
              <p:cNvPr id="17423" name="Group 25"/>
              <p:cNvGrpSpPr>
                <a:grpSpLocks/>
              </p:cNvGrpSpPr>
              <p:nvPr/>
            </p:nvGrpSpPr>
            <p:grpSpPr bwMode="auto">
              <a:xfrm>
                <a:off x="7010400" y="1981200"/>
                <a:ext cx="1600200" cy="2133600"/>
                <a:chOff x="4724400" y="2057400"/>
                <a:chExt cx="1600200" cy="2133600"/>
              </a:xfrm>
            </p:grpSpPr>
            <p:grpSp>
              <p:nvGrpSpPr>
                <p:cNvPr id="17427" name="Group 14"/>
                <p:cNvGrpSpPr>
                  <a:grpSpLocks/>
                </p:cNvGrpSpPr>
                <p:nvPr/>
              </p:nvGrpSpPr>
              <p:grpSpPr bwMode="auto">
                <a:xfrm>
                  <a:off x="4876800" y="2057400"/>
                  <a:ext cx="1447800" cy="1295400"/>
                  <a:chOff x="2286000" y="2133600"/>
                  <a:chExt cx="1447800" cy="1295400"/>
                </a:xfrm>
              </p:grpSpPr>
              <p:grpSp>
                <p:nvGrpSpPr>
                  <p:cNvPr id="17431" name="Group 7"/>
                  <p:cNvGrpSpPr>
                    <a:grpSpLocks/>
                  </p:cNvGrpSpPr>
                  <p:nvPr/>
                </p:nvGrpSpPr>
                <p:grpSpPr bwMode="auto">
                  <a:xfrm>
                    <a:off x="2286000" y="2133600"/>
                    <a:ext cx="609600" cy="533400"/>
                    <a:chOff x="2133600" y="1905000"/>
                    <a:chExt cx="609600" cy="533400"/>
                  </a:xfrm>
                </p:grpSpPr>
                <p:sp>
                  <p:nvSpPr>
                    <p:cNvPr id="35" name="Oval 34"/>
                    <p:cNvSpPr/>
                    <p:nvPr/>
                  </p:nvSpPr>
                  <p:spPr>
                    <a:xfrm>
                      <a:off x="2133600" y="1904978"/>
                      <a:ext cx="533400" cy="5333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36" name="TextBox 35"/>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40</a:t>
                      </a:r>
                    </a:p>
                  </p:txBody>
                </p:sp>
              </p:grpSp>
              <p:grpSp>
                <p:nvGrpSpPr>
                  <p:cNvPr id="17432" name="Group 10"/>
                  <p:cNvGrpSpPr>
                    <a:grpSpLocks/>
                  </p:cNvGrpSpPr>
                  <p:nvPr/>
                </p:nvGrpSpPr>
                <p:grpSpPr bwMode="auto">
                  <a:xfrm>
                    <a:off x="3124200" y="2895600"/>
                    <a:ext cx="609600" cy="533400"/>
                    <a:chOff x="2133600" y="1905000"/>
                    <a:chExt cx="609600" cy="533400"/>
                  </a:xfrm>
                </p:grpSpPr>
                <p:sp>
                  <p:nvSpPr>
                    <p:cNvPr id="33" name="Oval 32"/>
                    <p:cNvSpPr/>
                    <p:nvPr/>
                  </p:nvSpPr>
                  <p:spPr>
                    <a:xfrm>
                      <a:off x="2133600" y="1904906"/>
                      <a:ext cx="533400" cy="5333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34" name="TextBox 33"/>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60</a:t>
                      </a:r>
                    </a:p>
                  </p:txBody>
                </p:sp>
              </p:grpSp>
            </p:grpSp>
            <p:grpSp>
              <p:nvGrpSpPr>
                <p:cNvPr id="17428" name="Group 21"/>
                <p:cNvGrpSpPr>
                  <a:grpSpLocks/>
                </p:cNvGrpSpPr>
                <p:nvPr/>
              </p:nvGrpSpPr>
              <p:grpSpPr bwMode="auto">
                <a:xfrm>
                  <a:off x="4724400" y="3657600"/>
                  <a:ext cx="609600" cy="533400"/>
                  <a:chOff x="2133600" y="1905000"/>
                  <a:chExt cx="609600" cy="533400"/>
                </a:xfrm>
              </p:grpSpPr>
              <p:sp>
                <p:nvSpPr>
                  <p:cNvPr id="29" name="Oval 28"/>
                  <p:cNvSpPr/>
                  <p:nvPr/>
                </p:nvSpPr>
                <p:spPr>
                  <a:xfrm>
                    <a:off x="2133600" y="1904826"/>
                    <a:ext cx="533400" cy="5333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30" name="TextBox 29"/>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50</a:t>
                    </a:r>
                  </a:p>
                </p:txBody>
              </p:sp>
            </p:grpSp>
          </p:grpSp>
          <p:grpSp>
            <p:nvGrpSpPr>
              <p:cNvPr id="17424" name="Group 36"/>
              <p:cNvGrpSpPr>
                <a:grpSpLocks/>
              </p:cNvGrpSpPr>
              <p:nvPr/>
            </p:nvGrpSpPr>
            <p:grpSpPr bwMode="auto">
              <a:xfrm>
                <a:off x="6629400" y="2819400"/>
                <a:ext cx="609600" cy="533400"/>
                <a:chOff x="2133600" y="1905000"/>
                <a:chExt cx="609600" cy="533400"/>
              </a:xfrm>
            </p:grpSpPr>
            <p:sp>
              <p:nvSpPr>
                <p:cNvPr id="38" name="Oval 37"/>
                <p:cNvSpPr/>
                <p:nvPr/>
              </p:nvSpPr>
              <p:spPr>
                <a:xfrm>
                  <a:off x="2133600" y="1904898"/>
                  <a:ext cx="533400" cy="5333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7426" name="TextBox 38"/>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33</a:t>
                  </a:r>
                </a:p>
              </p:txBody>
            </p:sp>
          </p:grpSp>
        </p:grpSp>
        <p:sp>
          <p:nvSpPr>
            <p:cNvPr id="43" name="Rectangle 42"/>
            <p:cNvSpPr/>
            <p:nvPr/>
          </p:nvSpPr>
          <p:spPr>
            <a:xfrm>
              <a:off x="6553200" y="1752600"/>
              <a:ext cx="2362200" cy="25905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419" name="TextBox 79"/>
            <p:cNvSpPr txBox="1">
              <a:spLocks noChangeArrowheads="1"/>
            </p:cNvSpPr>
            <p:nvPr/>
          </p:nvSpPr>
          <p:spPr bwMode="auto">
            <a:xfrm>
              <a:off x="6629400" y="4419600"/>
              <a:ext cx="205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a:t>
              </a:r>
              <a:r>
                <a:rPr lang="en-US" altLang="en-US"/>
                <a:t>. </a:t>
              </a:r>
              <a:r>
                <a:rPr lang="en-US" altLang="en-US" sz="2400"/>
                <a:t>ITEM = 33</a:t>
              </a:r>
            </a:p>
          </p:txBody>
        </p:sp>
        <p:cxnSp>
          <p:nvCxnSpPr>
            <p:cNvPr id="88" name="Straight Connector 87"/>
            <p:cNvCxnSpPr/>
            <p:nvPr/>
          </p:nvCxnSpPr>
          <p:spPr>
            <a:xfrm rot="16200000" flipH="1">
              <a:off x="7620018" y="2438317"/>
              <a:ext cx="380964" cy="381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7467600" y="3200262"/>
              <a:ext cx="533400" cy="4571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7426" idx="0"/>
              <a:endCxn id="35" idx="3"/>
            </p:cNvCxnSpPr>
            <p:nvPr/>
          </p:nvCxnSpPr>
          <p:spPr>
            <a:xfrm rot="5400000" flipH="1" flipV="1">
              <a:off x="6896118" y="2474830"/>
              <a:ext cx="382551" cy="306388"/>
            </a:xfrm>
            <a:prstGeom prst="line">
              <a:avLst/>
            </a:prstGeom>
            <a:ln w="285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6773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heckerboard(across)">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1981200" y="457200"/>
            <a:ext cx="8458200" cy="5943600"/>
          </a:xfrm>
        </p:spPr>
        <p:txBody>
          <a:bodyPr/>
          <a:lstStyle/>
          <a:p>
            <a:pPr>
              <a:buFont typeface="Wingdings 2" panose="05020102010507070707" pitchFamily="18" charset="2"/>
              <a:buNone/>
            </a:pPr>
            <a:r>
              <a:rPr lang="en-US" altLang="en-US"/>
              <a:t>Insert 40, 60, 50, 33, 55, 11 into an empty BST </a:t>
            </a:r>
          </a:p>
        </p:txBody>
      </p:sp>
      <p:grpSp>
        <p:nvGrpSpPr>
          <p:cNvPr id="18435" name="Group 73"/>
          <p:cNvGrpSpPr>
            <a:grpSpLocks/>
          </p:cNvGrpSpPr>
          <p:nvPr/>
        </p:nvGrpSpPr>
        <p:grpSpPr bwMode="auto">
          <a:xfrm>
            <a:off x="2057400" y="2209800"/>
            <a:ext cx="1981200" cy="2743200"/>
            <a:chOff x="457200" y="4114800"/>
            <a:chExt cx="1981200" cy="2743200"/>
          </a:xfrm>
        </p:grpSpPr>
        <p:grpSp>
          <p:nvGrpSpPr>
            <p:cNvPr id="18473" name="Group 55"/>
            <p:cNvGrpSpPr>
              <a:grpSpLocks/>
            </p:cNvGrpSpPr>
            <p:nvPr/>
          </p:nvGrpSpPr>
          <p:grpSpPr bwMode="auto">
            <a:xfrm>
              <a:off x="457200" y="4114800"/>
              <a:ext cx="1981200" cy="2133600"/>
              <a:chOff x="6629400" y="1981200"/>
              <a:chExt cx="1981200" cy="2133600"/>
            </a:xfrm>
          </p:grpSpPr>
          <p:grpSp>
            <p:nvGrpSpPr>
              <p:cNvPr id="18477" name="Group 25"/>
              <p:cNvGrpSpPr>
                <a:grpSpLocks/>
              </p:cNvGrpSpPr>
              <p:nvPr/>
            </p:nvGrpSpPr>
            <p:grpSpPr bwMode="auto">
              <a:xfrm>
                <a:off x="7010400" y="1981200"/>
                <a:ext cx="1600200" cy="2133600"/>
                <a:chOff x="4724400" y="2057400"/>
                <a:chExt cx="1600200" cy="2133600"/>
              </a:xfrm>
            </p:grpSpPr>
            <p:grpSp>
              <p:nvGrpSpPr>
                <p:cNvPr id="18481" name="Group 14"/>
                <p:cNvGrpSpPr>
                  <a:grpSpLocks/>
                </p:cNvGrpSpPr>
                <p:nvPr/>
              </p:nvGrpSpPr>
              <p:grpSpPr bwMode="auto">
                <a:xfrm>
                  <a:off x="4876800" y="2057400"/>
                  <a:ext cx="1447800" cy="1295400"/>
                  <a:chOff x="2286000" y="2133600"/>
                  <a:chExt cx="1447800" cy="1295400"/>
                </a:xfrm>
              </p:grpSpPr>
              <p:grpSp>
                <p:nvGrpSpPr>
                  <p:cNvPr id="18485" name="Group 7"/>
                  <p:cNvGrpSpPr>
                    <a:grpSpLocks/>
                  </p:cNvGrpSpPr>
                  <p:nvPr/>
                </p:nvGrpSpPr>
                <p:grpSpPr bwMode="auto">
                  <a:xfrm>
                    <a:off x="2286000" y="2133600"/>
                    <a:ext cx="609600" cy="533400"/>
                    <a:chOff x="2133600" y="1905000"/>
                    <a:chExt cx="609600" cy="533400"/>
                  </a:xfrm>
                </p:grpSpPr>
                <p:sp>
                  <p:nvSpPr>
                    <p:cNvPr id="69" name="Oval 68"/>
                    <p:cNvSpPr/>
                    <p:nvPr/>
                  </p:nvSpPr>
                  <p:spPr>
                    <a:xfrm>
                      <a:off x="2133600" y="1905000"/>
                      <a:ext cx="533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90" name="TextBox 69"/>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40</a:t>
                      </a:r>
                    </a:p>
                  </p:txBody>
                </p:sp>
              </p:grpSp>
              <p:grpSp>
                <p:nvGrpSpPr>
                  <p:cNvPr id="18486" name="Group 10"/>
                  <p:cNvGrpSpPr>
                    <a:grpSpLocks/>
                  </p:cNvGrpSpPr>
                  <p:nvPr/>
                </p:nvGrpSpPr>
                <p:grpSpPr bwMode="auto">
                  <a:xfrm>
                    <a:off x="3124200" y="2895600"/>
                    <a:ext cx="609600" cy="533400"/>
                    <a:chOff x="2133600" y="1905000"/>
                    <a:chExt cx="609600" cy="533400"/>
                  </a:xfrm>
                </p:grpSpPr>
                <p:sp>
                  <p:nvSpPr>
                    <p:cNvPr id="67" name="Oval 66"/>
                    <p:cNvSpPr/>
                    <p:nvPr/>
                  </p:nvSpPr>
                  <p:spPr>
                    <a:xfrm>
                      <a:off x="2133600" y="1905000"/>
                      <a:ext cx="533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88" name="TextBox 67"/>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60</a:t>
                      </a:r>
                    </a:p>
                  </p:txBody>
                </p:sp>
              </p:grpSp>
            </p:grpSp>
            <p:grpSp>
              <p:nvGrpSpPr>
                <p:cNvPr id="18482" name="Group 21"/>
                <p:cNvGrpSpPr>
                  <a:grpSpLocks/>
                </p:cNvGrpSpPr>
                <p:nvPr/>
              </p:nvGrpSpPr>
              <p:grpSpPr bwMode="auto">
                <a:xfrm>
                  <a:off x="4724400" y="3657600"/>
                  <a:ext cx="609600" cy="533400"/>
                  <a:chOff x="2133600" y="1905000"/>
                  <a:chExt cx="609600" cy="533400"/>
                </a:xfrm>
              </p:grpSpPr>
              <p:sp>
                <p:nvSpPr>
                  <p:cNvPr id="63" name="Oval 62"/>
                  <p:cNvSpPr/>
                  <p:nvPr/>
                </p:nvSpPr>
                <p:spPr>
                  <a:xfrm>
                    <a:off x="2133600" y="1905000"/>
                    <a:ext cx="533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84" name="TextBox 63"/>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50</a:t>
                    </a:r>
                  </a:p>
                </p:txBody>
              </p:sp>
            </p:grpSp>
          </p:grpSp>
          <p:grpSp>
            <p:nvGrpSpPr>
              <p:cNvPr id="18478" name="Group 36"/>
              <p:cNvGrpSpPr>
                <a:grpSpLocks/>
              </p:cNvGrpSpPr>
              <p:nvPr/>
            </p:nvGrpSpPr>
            <p:grpSpPr bwMode="auto">
              <a:xfrm>
                <a:off x="6629400" y="2819400"/>
                <a:ext cx="609600" cy="533400"/>
                <a:chOff x="2133600" y="1905000"/>
                <a:chExt cx="609600" cy="533400"/>
              </a:xfrm>
            </p:grpSpPr>
            <p:sp>
              <p:nvSpPr>
                <p:cNvPr id="59" name="Oval 58"/>
                <p:cNvSpPr/>
                <p:nvPr/>
              </p:nvSpPr>
              <p:spPr>
                <a:xfrm>
                  <a:off x="2133600" y="1905000"/>
                  <a:ext cx="533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80" name="TextBox 59"/>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33</a:t>
                  </a:r>
                </a:p>
              </p:txBody>
            </p:sp>
          </p:grpSp>
        </p:grpSp>
        <p:grpSp>
          <p:nvGrpSpPr>
            <p:cNvPr id="18474" name="Group 70"/>
            <p:cNvGrpSpPr>
              <a:grpSpLocks/>
            </p:cNvGrpSpPr>
            <p:nvPr/>
          </p:nvGrpSpPr>
          <p:grpSpPr bwMode="auto">
            <a:xfrm>
              <a:off x="1524000" y="6324600"/>
              <a:ext cx="609600" cy="533400"/>
              <a:chOff x="2133600" y="1905000"/>
              <a:chExt cx="609600" cy="533400"/>
            </a:xfrm>
          </p:grpSpPr>
          <p:sp>
            <p:nvSpPr>
              <p:cNvPr id="72" name="Oval 71"/>
              <p:cNvSpPr/>
              <p:nvPr/>
            </p:nvSpPr>
            <p:spPr>
              <a:xfrm>
                <a:off x="2133600" y="1905000"/>
                <a:ext cx="533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76" name="TextBox 72"/>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55</a:t>
                </a:r>
              </a:p>
            </p:txBody>
          </p:sp>
        </p:grpSp>
      </p:grpSp>
      <p:sp>
        <p:nvSpPr>
          <p:cNvPr id="92" name="Rectangle 91"/>
          <p:cNvSpPr/>
          <p:nvPr/>
        </p:nvSpPr>
        <p:spPr>
          <a:xfrm>
            <a:off x="1981200" y="1981200"/>
            <a:ext cx="2971800" cy="3276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95" name="Straight Connector 94"/>
          <p:cNvCxnSpPr>
            <a:stCxn id="69" idx="3"/>
            <a:endCxn id="18480" idx="0"/>
          </p:cNvCxnSpPr>
          <p:nvPr/>
        </p:nvCxnSpPr>
        <p:spPr>
          <a:xfrm rot="5400000">
            <a:off x="2324101" y="2703513"/>
            <a:ext cx="382587" cy="3063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3048000" y="2667000"/>
            <a:ext cx="457200" cy="381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9" name="Straight Connector 98"/>
          <p:cNvCxnSpPr>
            <a:endCxn id="18484" idx="0"/>
          </p:cNvCxnSpPr>
          <p:nvPr/>
        </p:nvCxnSpPr>
        <p:spPr>
          <a:xfrm rot="10800000" flipV="1">
            <a:off x="2743200" y="3429000"/>
            <a:ext cx="685800" cy="381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63" idx="5"/>
          </p:cNvCxnSpPr>
          <p:nvPr/>
        </p:nvCxnSpPr>
        <p:spPr>
          <a:xfrm rot="16200000" flipH="1">
            <a:off x="2894014" y="4265614"/>
            <a:ext cx="230187" cy="23018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441" name="TextBox 111"/>
          <p:cNvSpPr txBox="1">
            <a:spLocks noChangeArrowheads="1"/>
          </p:cNvSpPr>
          <p:nvPr/>
        </p:nvSpPr>
        <p:spPr bwMode="auto">
          <a:xfrm>
            <a:off x="2057400" y="5486401"/>
            <a:ext cx="205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a:t>
            </a:r>
            <a:r>
              <a:rPr lang="en-US" altLang="en-US"/>
              <a:t>. </a:t>
            </a:r>
            <a:r>
              <a:rPr lang="en-US" altLang="en-US" sz="2400"/>
              <a:t>ITEM = 55</a:t>
            </a:r>
          </a:p>
        </p:txBody>
      </p:sp>
      <p:grpSp>
        <p:nvGrpSpPr>
          <p:cNvPr id="11" name="Group 114"/>
          <p:cNvGrpSpPr>
            <a:grpSpLocks/>
          </p:cNvGrpSpPr>
          <p:nvPr/>
        </p:nvGrpSpPr>
        <p:grpSpPr bwMode="auto">
          <a:xfrm>
            <a:off x="5715000" y="1905001"/>
            <a:ext cx="3657600" cy="4271963"/>
            <a:chOff x="4191000" y="1905000"/>
            <a:chExt cx="3657600" cy="4271665"/>
          </a:xfrm>
        </p:grpSpPr>
        <p:sp>
          <p:nvSpPr>
            <p:cNvPr id="93" name="Rectangle 92"/>
            <p:cNvSpPr/>
            <p:nvPr/>
          </p:nvSpPr>
          <p:spPr>
            <a:xfrm>
              <a:off x="4191000" y="1905000"/>
              <a:ext cx="3657600" cy="36573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8444" name="Group 113"/>
            <p:cNvGrpSpPr>
              <a:grpSpLocks/>
            </p:cNvGrpSpPr>
            <p:nvPr/>
          </p:nvGrpSpPr>
          <p:grpSpPr bwMode="auto">
            <a:xfrm>
              <a:off x="4572000" y="2133600"/>
              <a:ext cx="2819400" cy="4043065"/>
              <a:chOff x="4572000" y="2133600"/>
              <a:chExt cx="2819400" cy="4043065"/>
            </a:xfrm>
          </p:grpSpPr>
          <p:grpSp>
            <p:nvGrpSpPr>
              <p:cNvPr id="18445" name="Group 73"/>
              <p:cNvGrpSpPr>
                <a:grpSpLocks/>
              </p:cNvGrpSpPr>
              <p:nvPr/>
            </p:nvGrpSpPr>
            <p:grpSpPr bwMode="auto">
              <a:xfrm>
                <a:off x="5410200" y="2133600"/>
                <a:ext cx="1981200" cy="2743200"/>
                <a:chOff x="457200" y="4114800"/>
                <a:chExt cx="1981200" cy="2743200"/>
              </a:xfrm>
            </p:grpSpPr>
            <p:grpSp>
              <p:nvGrpSpPr>
                <p:cNvPr id="18455" name="Group 55"/>
                <p:cNvGrpSpPr>
                  <a:grpSpLocks/>
                </p:cNvGrpSpPr>
                <p:nvPr/>
              </p:nvGrpSpPr>
              <p:grpSpPr bwMode="auto">
                <a:xfrm>
                  <a:off x="457200" y="4114800"/>
                  <a:ext cx="1981200" cy="2133600"/>
                  <a:chOff x="6629400" y="1981200"/>
                  <a:chExt cx="1981200" cy="2133600"/>
                </a:xfrm>
              </p:grpSpPr>
              <p:grpSp>
                <p:nvGrpSpPr>
                  <p:cNvPr id="18459" name="Group 25"/>
                  <p:cNvGrpSpPr>
                    <a:grpSpLocks/>
                  </p:cNvGrpSpPr>
                  <p:nvPr/>
                </p:nvGrpSpPr>
                <p:grpSpPr bwMode="auto">
                  <a:xfrm>
                    <a:off x="7010400" y="1981200"/>
                    <a:ext cx="1600200" cy="2133600"/>
                    <a:chOff x="4724400" y="2057400"/>
                    <a:chExt cx="1600200" cy="2133600"/>
                  </a:xfrm>
                </p:grpSpPr>
                <p:grpSp>
                  <p:nvGrpSpPr>
                    <p:cNvPr id="18463" name="Group 14"/>
                    <p:cNvGrpSpPr>
                      <a:grpSpLocks/>
                    </p:cNvGrpSpPr>
                    <p:nvPr/>
                  </p:nvGrpSpPr>
                  <p:grpSpPr bwMode="auto">
                    <a:xfrm>
                      <a:off x="4876800" y="2057400"/>
                      <a:ext cx="1447800" cy="1295400"/>
                      <a:chOff x="2286000" y="2133600"/>
                      <a:chExt cx="1447800" cy="1295400"/>
                    </a:xfrm>
                  </p:grpSpPr>
                  <p:grpSp>
                    <p:nvGrpSpPr>
                      <p:cNvPr id="18467" name="Group 7"/>
                      <p:cNvGrpSpPr>
                        <a:grpSpLocks/>
                      </p:cNvGrpSpPr>
                      <p:nvPr/>
                    </p:nvGrpSpPr>
                    <p:grpSpPr bwMode="auto">
                      <a:xfrm>
                        <a:off x="2286000" y="2133600"/>
                        <a:ext cx="609600" cy="533400"/>
                        <a:chOff x="2133600" y="1905000"/>
                        <a:chExt cx="609600" cy="533400"/>
                      </a:xfrm>
                    </p:grpSpPr>
                    <p:sp>
                      <p:nvSpPr>
                        <p:cNvPr id="87" name="Oval 86"/>
                        <p:cNvSpPr/>
                        <p:nvPr/>
                      </p:nvSpPr>
                      <p:spPr>
                        <a:xfrm>
                          <a:off x="2133600" y="1904984"/>
                          <a:ext cx="533400" cy="5333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72" name="TextBox 87"/>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40</a:t>
                          </a:r>
                        </a:p>
                      </p:txBody>
                    </p:sp>
                  </p:grpSp>
                  <p:grpSp>
                    <p:nvGrpSpPr>
                      <p:cNvPr id="18468" name="Group 10"/>
                      <p:cNvGrpSpPr>
                        <a:grpSpLocks/>
                      </p:cNvGrpSpPr>
                      <p:nvPr/>
                    </p:nvGrpSpPr>
                    <p:grpSpPr bwMode="auto">
                      <a:xfrm>
                        <a:off x="3124200" y="2895600"/>
                        <a:ext cx="609600" cy="533400"/>
                        <a:chOff x="2133600" y="1905000"/>
                        <a:chExt cx="609600" cy="533400"/>
                      </a:xfrm>
                    </p:grpSpPr>
                    <p:sp>
                      <p:nvSpPr>
                        <p:cNvPr id="85" name="Oval 84"/>
                        <p:cNvSpPr/>
                        <p:nvPr/>
                      </p:nvSpPr>
                      <p:spPr>
                        <a:xfrm>
                          <a:off x="2133600" y="1904931"/>
                          <a:ext cx="533400" cy="5333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70" name="TextBox 85"/>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60</a:t>
                          </a:r>
                        </a:p>
                      </p:txBody>
                    </p:sp>
                  </p:grpSp>
                </p:grpSp>
                <p:grpSp>
                  <p:nvGrpSpPr>
                    <p:cNvPr id="18464" name="Group 21"/>
                    <p:cNvGrpSpPr>
                      <a:grpSpLocks/>
                    </p:cNvGrpSpPr>
                    <p:nvPr/>
                  </p:nvGrpSpPr>
                  <p:grpSpPr bwMode="auto">
                    <a:xfrm>
                      <a:off x="4724400" y="3657600"/>
                      <a:ext cx="609600" cy="533400"/>
                      <a:chOff x="2133600" y="1905000"/>
                      <a:chExt cx="609600" cy="533400"/>
                    </a:xfrm>
                  </p:grpSpPr>
                  <p:sp>
                    <p:nvSpPr>
                      <p:cNvPr id="81" name="Oval 80"/>
                      <p:cNvSpPr/>
                      <p:nvPr/>
                    </p:nvSpPr>
                    <p:spPr>
                      <a:xfrm>
                        <a:off x="2133600" y="1904872"/>
                        <a:ext cx="533400" cy="5333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66" name="TextBox 81"/>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50</a:t>
                        </a:r>
                      </a:p>
                    </p:txBody>
                  </p:sp>
                </p:grpSp>
              </p:grpSp>
              <p:grpSp>
                <p:nvGrpSpPr>
                  <p:cNvPr id="18460" name="Group 36"/>
                  <p:cNvGrpSpPr>
                    <a:grpSpLocks/>
                  </p:cNvGrpSpPr>
                  <p:nvPr/>
                </p:nvGrpSpPr>
                <p:grpSpPr bwMode="auto">
                  <a:xfrm>
                    <a:off x="6629400" y="2819400"/>
                    <a:ext cx="609600" cy="533400"/>
                    <a:chOff x="2133600" y="1905000"/>
                    <a:chExt cx="609600" cy="533400"/>
                  </a:xfrm>
                </p:grpSpPr>
                <p:sp>
                  <p:nvSpPr>
                    <p:cNvPr id="77" name="Oval 76"/>
                    <p:cNvSpPr/>
                    <p:nvPr/>
                  </p:nvSpPr>
                  <p:spPr>
                    <a:xfrm>
                      <a:off x="2133600" y="1904925"/>
                      <a:ext cx="533400" cy="5333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62" name="TextBox 77"/>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33</a:t>
                      </a:r>
                    </a:p>
                  </p:txBody>
                </p:sp>
              </p:grpSp>
            </p:grpSp>
            <p:grpSp>
              <p:nvGrpSpPr>
                <p:cNvPr id="18456" name="Group 70"/>
                <p:cNvGrpSpPr>
                  <a:grpSpLocks/>
                </p:cNvGrpSpPr>
                <p:nvPr/>
              </p:nvGrpSpPr>
              <p:grpSpPr bwMode="auto">
                <a:xfrm>
                  <a:off x="1524000" y="6324600"/>
                  <a:ext cx="609600" cy="533400"/>
                  <a:chOff x="2133600" y="1905000"/>
                  <a:chExt cx="609600" cy="533400"/>
                </a:xfrm>
              </p:grpSpPr>
              <p:sp>
                <p:nvSpPr>
                  <p:cNvPr id="71" name="Oval 70"/>
                  <p:cNvSpPr/>
                  <p:nvPr/>
                </p:nvSpPr>
                <p:spPr>
                  <a:xfrm>
                    <a:off x="2133600" y="1904830"/>
                    <a:ext cx="533400" cy="5333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58" name="TextBox 73"/>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55</a:t>
                    </a:r>
                  </a:p>
                </p:txBody>
              </p:sp>
            </p:grpSp>
          </p:grpSp>
          <p:grpSp>
            <p:nvGrpSpPr>
              <p:cNvPr id="18446" name="Group 88"/>
              <p:cNvGrpSpPr>
                <a:grpSpLocks/>
              </p:cNvGrpSpPr>
              <p:nvPr/>
            </p:nvGrpSpPr>
            <p:grpSpPr bwMode="auto">
              <a:xfrm>
                <a:off x="4572000" y="3733800"/>
                <a:ext cx="609600" cy="533400"/>
                <a:chOff x="2133600" y="1905000"/>
                <a:chExt cx="609600" cy="533400"/>
              </a:xfrm>
            </p:grpSpPr>
            <p:sp>
              <p:nvSpPr>
                <p:cNvPr id="90" name="Oval 89"/>
                <p:cNvSpPr/>
                <p:nvPr/>
              </p:nvSpPr>
              <p:spPr>
                <a:xfrm>
                  <a:off x="2133600" y="1904872"/>
                  <a:ext cx="533400" cy="5333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dirty="0">
                    <a:solidFill>
                      <a:schemeClr val="tx1"/>
                    </a:solidFill>
                  </a:endParaRPr>
                </a:p>
              </p:txBody>
            </p:sp>
            <p:sp>
              <p:nvSpPr>
                <p:cNvPr id="18454" name="TextBox 90"/>
                <p:cNvSpPr txBox="1">
                  <a:spLocks noChangeArrowheads="1"/>
                </p:cNvSpPr>
                <p:nvPr/>
              </p:nvSpPr>
              <p:spPr bwMode="auto">
                <a:xfrm>
                  <a:off x="2133600" y="19050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11</a:t>
                  </a:r>
                </a:p>
              </p:txBody>
            </p:sp>
          </p:grpSp>
          <p:cxnSp>
            <p:nvCxnSpPr>
              <p:cNvPr id="103" name="Straight Connector 102"/>
              <p:cNvCxnSpPr>
                <a:endCxn id="18462" idx="0"/>
              </p:cNvCxnSpPr>
              <p:nvPr/>
            </p:nvCxnSpPr>
            <p:spPr>
              <a:xfrm rot="5400000">
                <a:off x="5676913" y="2628839"/>
                <a:ext cx="380973" cy="3048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5" name="Straight Connector 104"/>
              <p:cNvCxnSpPr>
                <a:endCxn id="18454" idx="0"/>
              </p:cNvCxnSpPr>
              <p:nvPr/>
            </p:nvCxnSpPr>
            <p:spPr>
              <a:xfrm rot="10800000" flipV="1">
                <a:off x="4876800" y="3352699"/>
                <a:ext cx="533400" cy="38097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rot="16200000" flipH="1">
                <a:off x="6438916" y="2552641"/>
                <a:ext cx="457168" cy="381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rot="10800000" flipV="1">
                <a:off x="6248400" y="3352699"/>
                <a:ext cx="533400" cy="4571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rot="16200000" flipH="1">
                <a:off x="6248411" y="4190830"/>
                <a:ext cx="304779" cy="304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452" name="TextBox 112"/>
              <p:cNvSpPr txBox="1">
                <a:spLocks noChangeArrowheads="1"/>
              </p:cNvSpPr>
              <p:nvPr/>
            </p:nvSpPr>
            <p:spPr bwMode="auto">
              <a:xfrm>
                <a:off x="4800600" y="5715000"/>
                <a:ext cx="205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6</a:t>
                </a:r>
                <a:r>
                  <a:rPr lang="en-US" altLang="en-US"/>
                  <a:t>. </a:t>
                </a:r>
                <a:r>
                  <a:rPr lang="en-US" altLang="en-US" sz="2400"/>
                  <a:t>ITEM = 11</a:t>
                </a:r>
              </a:p>
            </p:txBody>
          </p:sp>
        </p:grpSp>
      </p:grpSp>
    </p:spTree>
    <p:extLst>
      <p:ext uri="{BB962C8B-B14F-4D97-AF65-F5344CB8AC3E}">
        <p14:creationId xmlns:p14="http://schemas.microsoft.com/office/powerpoint/2010/main" val="4021952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407524" y="2413338"/>
            <a:ext cx="9979344" cy="3108543"/>
          </a:xfrm>
          <a:prstGeom prst="rect">
            <a:avLst/>
          </a:prstGeom>
          <a:noFill/>
        </p:spPr>
        <p:txBody>
          <a:bodyPr wrap="square">
            <a:spAutoFit/>
          </a:bodyPr>
          <a:lstStyle/>
          <a:p>
            <a:pPr algn="just"/>
            <a:r>
              <a:rPr lang="en-US" sz="2800" b="0" i="0" dirty="0">
                <a:solidFill>
                  <a:srgbClr val="333333"/>
                </a:solidFill>
                <a:effectLst/>
                <a:latin typeface="inter-regular"/>
              </a:rPr>
              <a:t>In a binary search tree, we must delete a node from the tree by keeping in mind that the property of BST is not violated. </a:t>
            </a:r>
          </a:p>
          <a:p>
            <a:pPr algn="just"/>
            <a:r>
              <a:rPr lang="en-US" sz="2800" b="0" i="0" dirty="0">
                <a:solidFill>
                  <a:srgbClr val="333333"/>
                </a:solidFill>
                <a:effectLst/>
                <a:latin typeface="inter-regular"/>
              </a:rPr>
              <a:t>To delete a node from BST, there are three possible situations occur -</a:t>
            </a:r>
          </a:p>
          <a:p>
            <a:pPr algn="just">
              <a:buFont typeface="Arial" panose="020B0604020202020204" pitchFamily="34" charset="0"/>
              <a:buChar char="•"/>
            </a:pPr>
            <a:r>
              <a:rPr lang="en-US" sz="2800" b="0" i="0" dirty="0">
                <a:solidFill>
                  <a:srgbClr val="000000"/>
                </a:solidFill>
                <a:effectLst/>
                <a:latin typeface="inter-regular"/>
              </a:rPr>
              <a:t> The node to be deleted is the leaf node, or, 0 child</a:t>
            </a:r>
          </a:p>
          <a:p>
            <a:pPr algn="just">
              <a:buFont typeface="Arial" panose="020B0604020202020204" pitchFamily="34" charset="0"/>
              <a:buChar char="•"/>
            </a:pPr>
            <a:r>
              <a:rPr lang="en-US" sz="2800" b="0" i="0" dirty="0">
                <a:solidFill>
                  <a:srgbClr val="000000"/>
                </a:solidFill>
                <a:effectLst/>
                <a:latin typeface="inter-regular"/>
              </a:rPr>
              <a:t> The node to be deleted has only one child, and,</a:t>
            </a:r>
          </a:p>
          <a:p>
            <a:pPr algn="just">
              <a:buFont typeface="Arial" panose="020B0604020202020204" pitchFamily="34" charset="0"/>
              <a:buChar char="•"/>
            </a:pPr>
            <a:r>
              <a:rPr lang="en-US" sz="2800" b="0" i="0" dirty="0">
                <a:solidFill>
                  <a:srgbClr val="000000"/>
                </a:solidFill>
                <a:effectLst/>
                <a:latin typeface="inter-regular"/>
              </a:rPr>
              <a:t> The node to be deleted has two children</a:t>
            </a:r>
            <a:endParaRPr lang="en-US" b="0" i="0" dirty="0">
              <a:solidFill>
                <a:srgbClr val="000000"/>
              </a:solidFill>
              <a:effectLst/>
              <a:latin typeface="inter-regular"/>
            </a:endParaRPr>
          </a:p>
        </p:txBody>
      </p:sp>
    </p:spTree>
    <p:extLst>
      <p:ext uri="{BB962C8B-B14F-4D97-AF65-F5344CB8AC3E}">
        <p14:creationId xmlns:p14="http://schemas.microsoft.com/office/powerpoint/2010/main" val="106828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233596" y="2177170"/>
            <a:ext cx="9979344" cy="2000548"/>
          </a:xfrm>
          <a:prstGeom prst="rect">
            <a:avLst/>
          </a:prstGeom>
          <a:noFill/>
        </p:spPr>
        <p:txBody>
          <a:bodyPr wrap="square">
            <a:spAutoFit/>
          </a:bodyPr>
          <a:lstStyle/>
          <a:p>
            <a:pPr algn="just"/>
            <a:r>
              <a:rPr lang="en-US" sz="2800" b="1" i="0" dirty="0">
                <a:solidFill>
                  <a:srgbClr val="333333"/>
                </a:solidFill>
                <a:effectLst/>
                <a:latin typeface="inter-bold"/>
              </a:rPr>
              <a:t>When the node to be deleted is the leaf node</a:t>
            </a:r>
          </a:p>
          <a:p>
            <a:pPr marL="342900" indent="-342900" algn="just">
              <a:buFont typeface="Arial" panose="020B0604020202020204" pitchFamily="34" charset="0"/>
              <a:buChar char="•"/>
            </a:pPr>
            <a:r>
              <a:rPr lang="en-US" sz="2400" dirty="0">
                <a:solidFill>
                  <a:srgbClr val="333333"/>
                </a:solidFill>
                <a:latin typeface="inter-regular"/>
              </a:rPr>
              <a:t>R</a:t>
            </a:r>
            <a:r>
              <a:rPr lang="en-US" sz="2400" b="0" i="0" dirty="0">
                <a:solidFill>
                  <a:srgbClr val="333333"/>
                </a:solidFill>
                <a:effectLst/>
                <a:latin typeface="inter-regular"/>
              </a:rPr>
              <a:t>eplace the leaf node with NULL and simply free the allocated space.</a:t>
            </a:r>
            <a:endParaRPr lang="en-US" sz="3600" dirty="0">
              <a:solidFill>
                <a:srgbClr val="333333"/>
              </a:solidFill>
              <a:latin typeface="inter-bold"/>
            </a:endParaRPr>
          </a:p>
          <a:p>
            <a:pPr marL="342900" indent="-342900" algn="just">
              <a:buFont typeface="Arial" panose="020B0604020202020204" pitchFamily="34" charset="0"/>
              <a:buChar char="•"/>
            </a:pPr>
            <a:r>
              <a:rPr lang="en-US" sz="2400" b="0" i="0" dirty="0">
                <a:solidFill>
                  <a:srgbClr val="333333"/>
                </a:solidFill>
                <a:effectLst/>
                <a:latin typeface="inter-regular"/>
              </a:rPr>
              <a:t>For Example, suppose we have to delete node 90, as the node to be deleted is a leaf node, so it will be replaced with NULL, and the allocated space will free.</a:t>
            </a:r>
            <a:endParaRPr lang="en-US" sz="2400" i="0" dirty="0">
              <a:solidFill>
                <a:srgbClr val="000000"/>
              </a:solidFill>
              <a:effectLst/>
              <a:latin typeface="inter-regular"/>
            </a:endParaRPr>
          </a:p>
        </p:txBody>
      </p:sp>
      <p:pic>
        <p:nvPicPr>
          <p:cNvPr id="3" name="Picture 2">
            <a:extLst>
              <a:ext uri="{FF2B5EF4-FFF2-40B4-BE49-F238E27FC236}">
                <a16:creationId xmlns:a16="http://schemas.microsoft.com/office/drawing/2014/main" id="{1F9C9542-01F5-4413-B61B-E222DC34985C}"/>
              </a:ext>
            </a:extLst>
          </p:cNvPr>
          <p:cNvPicPr>
            <a:picLocks noChangeAspect="1"/>
          </p:cNvPicPr>
          <p:nvPr/>
        </p:nvPicPr>
        <p:blipFill>
          <a:blip r:embed="rId3"/>
          <a:stretch>
            <a:fillRect/>
          </a:stretch>
        </p:blipFill>
        <p:spPr>
          <a:xfrm>
            <a:off x="1981200" y="4191000"/>
            <a:ext cx="8382000" cy="2557133"/>
          </a:xfrm>
          <a:prstGeom prst="rect">
            <a:avLst/>
          </a:prstGeom>
        </p:spPr>
      </p:pic>
    </p:spTree>
    <p:extLst>
      <p:ext uri="{BB962C8B-B14F-4D97-AF65-F5344CB8AC3E}">
        <p14:creationId xmlns:p14="http://schemas.microsoft.com/office/powerpoint/2010/main" val="751574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233596" y="2177170"/>
            <a:ext cx="9979344" cy="3108543"/>
          </a:xfrm>
          <a:prstGeom prst="rect">
            <a:avLst/>
          </a:prstGeom>
          <a:noFill/>
        </p:spPr>
        <p:txBody>
          <a:bodyPr wrap="square">
            <a:spAutoFit/>
          </a:bodyPr>
          <a:lstStyle/>
          <a:p>
            <a:pPr algn="just"/>
            <a:r>
              <a:rPr lang="en-US" sz="2800" b="1" i="0" dirty="0">
                <a:solidFill>
                  <a:srgbClr val="333333"/>
                </a:solidFill>
                <a:effectLst/>
                <a:latin typeface="inter-bold"/>
              </a:rPr>
              <a:t>When the node to be deleted has only one child</a:t>
            </a:r>
          </a:p>
          <a:p>
            <a:pPr algn="just"/>
            <a:r>
              <a:rPr lang="en-US" sz="2400" b="0" i="0" dirty="0">
                <a:solidFill>
                  <a:srgbClr val="333333"/>
                </a:solidFill>
                <a:effectLst/>
                <a:latin typeface="inter-regular"/>
              </a:rPr>
              <a:t>In this case, we have to replace the target node with its child, and then delete the child node. </a:t>
            </a:r>
          </a:p>
          <a:p>
            <a:pPr algn="just"/>
            <a:r>
              <a:rPr lang="en-US" sz="2400" b="0" i="0" dirty="0">
                <a:solidFill>
                  <a:srgbClr val="333333"/>
                </a:solidFill>
                <a:effectLst/>
                <a:latin typeface="inter-regular"/>
              </a:rPr>
              <a:t>It means that after replacing the target node with its child node, the child node will now contain the value to be deleted. </a:t>
            </a:r>
          </a:p>
          <a:p>
            <a:pPr algn="just"/>
            <a:r>
              <a:rPr lang="en-US" sz="2400" b="0" i="0" dirty="0">
                <a:solidFill>
                  <a:srgbClr val="333333"/>
                </a:solidFill>
                <a:effectLst/>
                <a:latin typeface="inter-regular"/>
              </a:rPr>
              <a:t>So, we simply have to replace the child node with NULL and free up the allocated space.</a:t>
            </a:r>
          </a:p>
          <a:p>
            <a:pPr algn="just"/>
            <a:endParaRPr lang="en-US" sz="2400" b="0" i="0" dirty="0">
              <a:solidFill>
                <a:srgbClr val="333333"/>
              </a:solidFill>
              <a:effectLst/>
              <a:latin typeface="inter-regular"/>
            </a:endParaRPr>
          </a:p>
        </p:txBody>
      </p:sp>
    </p:spTree>
    <p:extLst>
      <p:ext uri="{BB962C8B-B14F-4D97-AF65-F5344CB8AC3E}">
        <p14:creationId xmlns:p14="http://schemas.microsoft.com/office/powerpoint/2010/main" val="3092222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101182" y="1895068"/>
            <a:ext cx="9979344" cy="1631216"/>
          </a:xfrm>
          <a:prstGeom prst="rect">
            <a:avLst/>
          </a:prstGeom>
          <a:noFill/>
        </p:spPr>
        <p:txBody>
          <a:bodyPr wrap="square">
            <a:spAutoFit/>
          </a:bodyPr>
          <a:lstStyle/>
          <a:p>
            <a:pPr algn="just"/>
            <a:r>
              <a:rPr lang="en-US" sz="2800" b="1" i="0" dirty="0">
                <a:solidFill>
                  <a:srgbClr val="333333"/>
                </a:solidFill>
                <a:effectLst/>
                <a:latin typeface="inter-bold"/>
              </a:rPr>
              <a:t>When the node to be deleted has only one child</a:t>
            </a:r>
          </a:p>
          <a:p>
            <a:pPr algn="just"/>
            <a:r>
              <a:rPr lang="en-US" sz="2400" b="0" i="0" dirty="0">
                <a:solidFill>
                  <a:srgbClr val="333333"/>
                </a:solidFill>
                <a:effectLst/>
                <a:latin typeface="inter-regular"/>
              </a:rPr>
              <a:t>For example, suppose we have to delete the node 79, as the node to be deleted has only one child, so it will be replaced with its child 55.</a:t>
            </a:r>
          </a:p>
          <a:p>
            <a:pPr algn="just"/>
            <a:r>
              <a:rPr lang="en-US" sz="2400" b="0" i="0" dirty="0">
                <a:solidFill>
                  <a:srgbClr val="333333"/>
                </a:solidFill>
                <a:effectLst/>
                <a:latin typeface="inter-regular"/>
              </a:rPr>
              <a:t>So, the replaced node 79 will now be a leaf node that can be easily deleted.</a:t>
            </a:r>
          </a:p>
        </p:txBody>
      </p:sp>
      <p:pic>
        <p:nvPicPr>
          <p:cNvPr id="3" name="Picture 2">
            <a:extLst>
              <a:ext uri="{FF2B5EF4-FFF2-40B4-BE49-F238E27FC236}">
                <a16:creationId xmlns:a16="http://schemas.microsoft.com/office/drawing/2014/main" id="{1E2242A1-754C-4E1F-9018-32BDEB059621}"/>
              </a:ext>
            </a:extLst>
          </p:cNvPr>
          <p:cNvPicPr>
            <a:picLocks noChangeAspect="1"/>
          </p:cNvPicPr>
          <p:nvPr/>
        </p:nvPicPr>
        <p:blipFill>
          <a:blip r:embed="rId3"/>
          <a:stretch>
            <a:fillRect/>
          </a:stretch>
        </p:blipFill>
        <p:spPr>
          <a:xfrm>
            <a:off x="2176395" y="3526284"/>
            <a:ext cx="8153400" cy="2704980"/>
          </a:xfrm>
          <a:prstGeom prst="rect">
            <a:avLst/>
          </a:prstGeom>
        </p:spPr>
      </p:pic>
    </p:spTree>
    <p:extLst>
      <p:ext uri="{BB962C8B-B14F-4D97-AF65-F5344CB8AC3E}">
        <p14:creationId xmlns:p14="http://schemas.microsoft.com/office/powerpoint/2010/main" val="808910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968797" y="1841069"/>
            <a:ext cx="9979344" cy="4216539"/>
          </a:xfrm>
          <a:prstGeom prst="rect">
            <a:avLst/>
          </a:prstGeom>
          <a:noFill/>
        </p:spPr>
        <p:txBody>
          <a:bodyPr wrap="square">
            <a:spAutoFit/>
          </a:bodyPr>
          <a:lstStyle/>
          <a:p>
            <a:pPr algn="just"/>
            <a:r>
              <a:rPr lang="en-US" sz="2800" b="1" i="0" dirty="0">
                <a:solidFill>
                  <a:srgbClr val="333333"/>
                </a:solidFill>
                <a:effectLst/>
                <a:latin typeface="inter-bold"/>
              </a:rPr>
              <a:t>When the node to be deleted has two children</a:t>
            </a:r>
          </a:p>
          <a:p>
            <a:pPr algn="just"/>
            <a:r>
              <a:rPr lang="en-US" sz="2400" b="0" i="0" dirty="0">
                <a:solidFill>
                  <a:srgbClr val="333333"/>
                </a:solidFill>
                <a:effectLst/>
                <a:latin typeface="inter-regular"/>
              </a:rPr>
              <a:t>This case of deleting a node in BST is a bit complex among other two cases. As, we have to decide what value will be on root node. </a:t>
            </a:r>
          </a:p>
          <a:p>
            <a:pPr algn="just"/>
            <a:r>
              <a:rPr lang="en-US" sz="2400" b="0" i="0" dirty="0">
                <a:solidFill>
                  <a:srgbClr val="333333"/>
                </a:solidFill>
                <a:effectLst/>
                <a:latin typeface="inter-regular"/>
              </a:rPr>
              <a:t>To replace the root node two situations would be followed</a:t>
            </a:r>
          </a:p>
          <a:p>
            <a:pPr algn="just"/>
            <a:r>
              <a:rPr lang="en-US" sz="2400" dirty="0">
                <a:solidFill>
                  <a:srgbClr val="333333"/>
                </a:solidFill>
                <a:latin typeface="inter-regular"/>
              </a:rPr>
              <a:t>Replace the deleted node with;</a:t>
            </a:r>
          </a:p>
          <a:p>
            <a:pPr marL="342900" indent="-342900" algn="just">
              <a:buFont typeface="Arial" panose="020B0604020202020204" pitchFamily="34" charset="0"/>
              <a:buChar char="•"/>
            </a:pPr>
            <a:r>
              <a:rPr lang="en-US" sz="2400" b="0" i="0" dirty="0" err="1">
                <a:solidFill>
                  <a:srgbClr val="333333"/>
                </a:solidFill>
                <a:effectLst/>
                <a:latin typeface="inter-regular"/>
              </a:rPr>
              <a:t>Inorder</a:t>
            </a:r>
            <a:r>
              <a:rPr lang="en-US" sz="2400" b="0" i="0" dirty="0">
                <a:solidFill>
                  <a:srgbClr val="333333"/>
                </a:solidFill>
                <a:effectLst/>
                <a:latin typeface="inter-regular"/>
              </a:rPr>
              <a:t> predecessor</a:t>
            </a:r>
          </a:p>
          <a:p>
            <a:pPr marL="342900" indent="-342900" algn="just">
              <a:buFont typeface="Arial" panose="020B0604020202020204" pitchFamily="34" charset="0"/>
              <a:buChar char="•"/>
            </a:pPr>
            <a:r>
              <a:rPr lang="en-US" sz="2400" dirty="0" err="1">
                <a:solidFill>
                  <a:srgbClr val="333333"/>
                </a:solidFill>
                <a:latin typeface="inter-regular"/>
              </a:rPr>
              <a:t>Inorder</a:t>
            </a:r>
            <a:r>
              <a:rPr lang="en-US" sz="2400" dirty="0">
                <a:solidFill>
                  <a:srgbClr val="333333"/>
                </a:solidFill>
                <a:latin typeface="inter-regular"/>
              </a:rPr>
              <a:t> successor</a:t>
            </a:r>
          </a:p>
          <a:p>
            <a:pPr marL="342900" indent="-342900" algn="just">
              <a:buFont typeface="Arial" panose="020B0604020202020204" pitchFamily="34" charset="0"/>
              <a:buChar char="•"/>
            </a:pPr>
            <a:endParaRPr lang="en-US" sz="2400" b="0" i="0" dirty="0">
              <a:solidFill>
                <a:srgbClr val="333333"/>
              </a:solidFill>
              <a:effectLst/>
              <a:latin typeface="inter-regular"/>
            </a:endParaRPr>
          </a:p>
          <a:p>
            <a:pPr algn="just"/>
            <a:r>
              <a:rPr lang="en-US" sz="2400" dirty="0">
                <a:solidFill>
                  <a:srgbClr val="333333"/>
                </a:solidFill>
                <a:latin typeface="inter-regular"/>
              </a:rPr>
              <a:t>This would result in two BST’s</a:t>
            </a:r>
            <a:endParaRPr lang="en-US" sz="2400" b="0" i="0" dirty="0">
              <a:solidFill>
                <a:srgbClr val="333333"/>
              </a:solidFill>
              <a:effectLst/>
              <a:latin typeface="inter-regular"/>
            </a:endParaRPr>
          </a:p>
          <a:p>
            <a:pPr algn="just"/>
            <a:endParaRPr lang="en-US" sz="2400" b="0" i="0" dirty="0">
              <a:solidFill>
                <a:srgbClr val="333333"/>
              </a:solidFill>
              <a:effectLst/>
              <a:latin typeface="inter-regular"/>
            </a:endParaRPr>
          </a:p>
          <a:p>
            <a:pPr algn="just"/>
            <a:endParaRPr lang="en-US" sz="2400" b="0" i="0" dirty="0">
              <a:solidFill>
                <a:srgbClr val="333333"/>
              </a:solidFill>
              <a:effectLst/>
              <a:latin typeface="inter-regular"/>
            </a:endParaRPr>
          </a:p>
        </p:txBody>
      </p:sp>
      <p:pic>
        <p:nvPicPr>
          <p:cNvPr id="3" name="Picture 2">
            <a:extLst>
              <a:ext uri="{FF2B5EF4-FFF2-40B4-BE49-F238E27FC236}">
                <a16:creationId xmlns:a16="http://schemas.microsoft.com/office/drawing/2014/main" id="{30E76D05-66F5-318A-6A3D-79C48DAAE3D7}"/>
              </a:ext>
            </a:extLst>
          </p:cNvPr>
          <p:cNvPicPr>
            <a:picLocks noChangeAspect="1"/>
          </p:cNvPicPr>
          <p:nvPr/>
        </p:nvPicPr>
        <p:blipFill rotWithShape="1">
          <a:blip r:embed="rId3"/>
          <a:srcRect t="35860" r="16740"/>
          <a:stretch/>
        </p:blipFill>
        <p:spPr>
          <a:xfrm>
            <a:off x="7156502" y="4159044"/>
            <a:ext cx="4750364" cy="2040501"/>
          </a:xfrm>
          <a:prstGeom prst="rect">
            <a:avLst/>
          </a:prstGeom>
        </p:spPr>
      </p:pic>
    </p:spTree>
    <p:extLst>
      <p:ext uri="{BB962C8B-B14F-4D97-AF65-F5344CB8AC3E}">
        <p14:creationId xmlns:p14="http://schemas.microsoft.com/office/powerpoint/2010/main" val="1021326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101182" y="1874721"/>
            <a:ext cx="9979344" cy="4216539"/>
          </a:xfrm>
          <a:prstGeom prst="rect">
            <a:avLst/>
          </a:prstGeom>
          <a:noFill/>
        </p:spPr>
        <p:txBody>
          <a:bodyPr wrap="square">
            <a:spAutoFit/>
          </a:bodyPr>
          <a:lstStyle/>
          <a:p>
            <a:pPr algn="just"/>
            <a:r>
              <a:rPr lang="en-US" sz="2800" b="1" i="0" dirty="0" err="1">
                <a:solidFill>
                  <a:srgbClr val="333333"/>
                </a:solidFill>
                <a:effectLst/>
                <a:latin typeface="inter-bold"/>
              </a:rPr>
              <a:t>Inorder</a:t>
            </a:r>
            <a:r>
              <a:rPr lang="en-US" sz="2800" b="1" i="0" dirty="0">
                <a:solidFill>
                  <a:srgbClr val="333333"/>
                </a:solidFill>
                <a:effectLst/>
                <a:latin typeface="inter-bold"/>
              </a:rPr>
              <a:t> Successor: </a:t>
            </a:r>
            <a:r>
              <a:rPr lang="en-US" sz="2400" b="0" i="0" dirty="0">
                <a:solidFill>
                  <a:srgbClr val="333333"/>
                </a:solidFill>
                <a:effectLst/>
                <a:latin typeface="inter-regular"/>
              </a:rPr>
              <a:t>In such a case, the steps to be followed are as follows -</a:t>
            </a:r>
          </a:p>
          <a:p>
            <a:pPr algn="just"/>
            <a:endParaRPr lang="en-US" sz="2400" b="0" i="0" dirty="0">
              <a:solidFill>
                <a:srgbClr val="333333"/>
              </a:solidFill>
              <a:effectLst/>
              <a:latin typeface="inter-regular"/>
            </a:endParaRPr>
          </a:p>
          <a:p>
            <a:pPr marL="342900" indent="-342900" algn="just">
              <a:buFont typeface="Arial" panose="020B0604020202020204" pitchFamily="34" charset="0"/>
              <a:buChar char="•"/>
            </a:pPr>
            <a:r>
              <a:rPr lang="en-US" sz="2400" b="0" i="0" dirty="0">
                <a:solidFill>
                  <a:srgbClr val="333333"/>
                </a:solidFill>
                <a:effectLst/>
                <a:latin typeface="inter-regular"/>
              </a:rPr>
              <a:t>First, find the </a:t>
            </a:r>
            <a:r>
              <a:rPr lang="en-US" sz="2400" b="0" i="0" dirty="0" err="1">
                <a:solidFill>
                  <a:srgbClr val="333333"/>
                </a:solidFill>
                <a:effectLst/>
                <a:latin typeface="inter-regular"/>
              </a:rPr>
              <a:t>inorder</a:t>
            </a:r>
            <a:r>
              <a:rPr lang="en-US" sz="2400" b="0" i="0" dirty="0">
                <a:solidFill>
                  <a:srgbClr val="333333"/>
                </a:solidFill>
                <a:effectLst/>
                <a:latin typeface="inter-regular"/>
              </a:rPr>
              <a:t> successor of the node to be deleted from the right subtree.</a:t>
            </a:r>
          </a:p>
          <a:p>
            <a:pPr marL="342900" indent="-342900" algn="just">
              <a:buFont typeface="Arial" panose="020B0604020202020204" pitchFamily="34" charset="0"/>
              <a:buChar char="•"/>
            </a:pPr>
            <a:r>
              <a:rPr lang="en-US" sz="2400" b="0" i="0" dirty="0">
                <a:solidFill>
                  <a:srgbClr val="333333"/>
                </a:solidFill>
                <a:effectLst/>
                <a:latin typeface="inter-regular"/>
              </a:rPr>
              <a:t>After that, replace that node with the </a:t>
            </a:r>
            <a:r>
              <a:rPr lang="en-US" sz="2400" b="0" i="0" dirty="0" err="1">
                <a:solidFill>
                  <a:srgbClr val="333333"/>
                </a:solidFill>
                <a:effectLst/>
                <a:latin typeface="inter-regular"/>
              </a:rPr>
              <a:t>inorder</a:t>
            </a:r>
            <a:r>
              <a:rPr lang="en-US" sz="2400" b="0" i="0" dirty="0">
                <a:solidFill>
                  <a:srgbClr val="333333"/>
                </a:solidFill>
                <a:effectLst/>
                <a:latin typeface="inter-regular"/>
              </a:rPr>
              <a:t> successor until the target node is placed at the leaf of tree.</a:t>
            </a:r>
          </a:p>
          <a:p>
            <a:pPr marL="342900" indent="-342900" algn="just">
              <a:buFont typeface="Arial" panose="020B0604020202020204" pitchFamily="34" charset="0"/>
              <a:buChar char="•"/>
            </a:pPr>
            <a:r>
              <a:rPr lang="en-US" sz="2400" b="0" i="0" dirty="0">
                <a:solidFill>
                  <a:srgbClr val="333333"/>
                </a:solidFill>
                <a:effectLst/>
                <a:latin typeface="inter-regular"/>
              </a:rPr>
              <a:t>And at last, replace the node with NULL and free up the allocated space.</a:t>
            </a: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The </a:t>
            </a:r>
            <a:r>
              <a:rPr lang="en-US" sz="2400" b="0" i="0" dirty="0" err="1">
                <a:solidFill>
                  <a:srgbClr val="333333"/>
                </a:solidFill>
                <a:effectLst/>
                <a:latin typeface="inter-regular"/>
              </a:rPr>
              <a:t>inorder</a:t>
            </a:r>
            <a:r>
              <a:rPr lang="en-US" sz="2400" b="0" i="0" dirty="0">
                <a:solidFill>
                  <a:srgbClr val="333333"/>
                </a:solidFill>
                <a:effectLst/>
                <a:latin typeface="inter-regular"/>
              </a:rPr>
              <a:t> successor is required when the right child of the node is not empty. </a:t>
            </a:r>
          </a:p>
          <a:p>
            <a:pPr algn="just"/>
            <a:endParaRPr lang="en-US" sz="2400" b="0" i="0" dirty="0">
              <a:solidFill>
                <a:srgbClr val="333333"/>
              </a:solidFill>
              <a:effectLst/>
              <a:latin typeface="inter-regular"/>
            </a:endParaRPr>
          </a:p>
        </p:txBody>
      </p:sp>
    </p:spTree>
    <p:extLst>
      <p:ext uri="{BB962C8B-B14F-4D97-AF65-F5344CB8AC3E}">
        <p14:creationId xmlns:p14="http://schemas.microsoft.com/office/powerpoint/2010/main" val="1684942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106328" y="1924251"/>
            <a:ext cx="9979344" cy="2000548"/>
          </a:xfrm>
          <a:prstGeom prst="rect">
            <a:avLst/>
          </a:prstGeom>
          <a:noFill/>
        </p:spPr>
        <p:txBody>
          <a:bodyPr wrap="square">
            <a:spAutoFit/>
          </a:bodyPr>
          <a:lstStyle/>
          <a:p>
            <a:pPr algn="just"/>
            <a:r>
              <a:rPr lang="en-US" sz="2800" b="1" i="0" dirty="0">
                <a:solidFill>
                  <a:srgbClr val="333333"/>
                </a:solidFill>
                <a:effectLst/>
                <a:latin typeface="inter-bold"/>
              </a:rPr>
              <a:t>When the node to be deleted has two children</a:t>
            </a:r>
          </a:p>
          <a:p>
            <a:pPr algn="just"/>
            <a:r>
              <a:rPr lang="en-US" sz="2400" b="0" i="0" dirty="0">
                <a:solidFill>
                  <a:srgbClr val="333333"/>
                </a:solidFill>
                <a:effectLst/>
                <a:latin typeface="inter-regular"/>
              </a:rPr>
              <a:t>For </a:t>
            </a:r>
            <a:r>
              <a:rPr lang="en-US" sz="2400" dirty="0">
                <a:solidFill>
                  <a:srgbClr val="333333"/>
                </a:solidFill>
                <a:latin typeface="inter-regular"/>
              </a:rPr>
              <a:t>example, </a:t>
            </a:r>
            <a:r>
              <a:rPr lang="en-US" sz="2400" b="0" i="0" dirty="0">
                <a:solidFill>
                  <a:srgbClr val="333333"/>
                </a:solidFill>
                <a:effectLst/>
                <a:latin typeface="inter-regular"/>
              </a:rPr>
              <a:t>suppose we </a:t>
            </a:r>
            <a:r>
              <a:rPr lang="en-US" sz="2400" dirty="0">
                <a:solidFill>
                  <a:srgbClr val="333333"/>
                </a:solidFill>
                <a:latin typeface="inter-regular"/>
              </a:rPr>
              <a:t>want</a:t>
            </a:r>
            <a:r>
              <a:rPr lang="en-US" sz="2400" b="0" i="0" dirty="0">
                <a:solidFill>
                  <a:srgbClr val="333333"/>
                </a:solidFill>
                <a:effectLst/>
                <a:latin typeface="inter-regular"/>
              </a:rPr>
              <a:t> to delete node 45 that is the root node, as the node to be deleted has two children, so it will be replaced with its </a:t>
            </a:r>
            <a:r>
              <a:rPr lang="en-US" sz="2400" b="0" i="0" dirty="0" err="1">
                <a:solidFill>
                  <a:srgbClr val="333333"/>
                </a:solidFill>
                <a:effectLst/>
                <a:latin typeface="inter-regular"/>
              </a:rPr>
              <a:t>inorder</a:t>
            </a:r>
            <a:r>
              <a:rPr lang="en-US" sz="2400" b="0" i="0" dirty="0">
                <a:solidFill>
                  <a:srgbClr val="333333"/>
                </a:solidFill>
                <a:effectLst/>
                <a:latin typeface="inter-regular"/>
              </a:rPr>
              <a:t> successor. Now, node 45 will be at the leaf of the tree so that it can be deleted easily.</a:t>
            </a:r>
          </a:p>
        </p:txBody>
      </p:sp>
      <p:pic>
        <p:nvPicPr>
          <p:cNvPr id="3" name="Picture 2">
            <a:extLst>
              <a:ext uri="{FF2B5EF4-FFF2-40B4-BE49-F238E27FC236}">
                <a16:creationId xmlns:a16="http://schemas.microsoft.com/office/drawing/2014/main" id="{162959EB-26C2-4C38-8F28-F3B01597FEA5}"/>
              </a:ext>
            </a:extLst>
          </p:cNvPr>
          <p:cNvPicPr>
            <a:picLocks noChangeAspect="1"/>
          </p:cNvPicPr>
          <p:nvPr/>
        </p:nvPicPr>
        <p:blipFill>
          <a:blip r:embed="rId3"/>
          <a:stretch>
            <a:fillRect/>
          </a:stretch>
        </p:blipFill>
        <p:spPr>
          <a:xfrm>
            <a:off x="1935310" y="3763450"/>
            <a:ext cx="8635569" cy="2570415"/>
          </a:xfrm>
          <a:prstGeom prst="rect">
            <a:avLst/>
          </a:prstGeom>
        </p:spPr>
      </p:pic>
    </p:spTree>
    <p:extLst>
      <p:ext uri="{BB962C8B-B14F-4D97-AF65-F5344CB8AC3E}">
        <p14:creationId xmlns:p14="http://schemas.microsoft.com/office/powerpoint/2010/main" val="11432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Deletion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TextBox 13">
            <a:extLst>
              <a:ext uri="{FF2B5EF4-FFF2-40B4-BE49-F238E27FC236}">
                <a16:creationId xmlns:a16="http://schemas.microsoft.com/office/drawing/2014/main" id="{2D0F6FF2-74C2-4B04-9B98-8C251CEC60AA}"/>
              </a:ext>
            </a:extLst>
          </p:cNvPr>
          <p:cNvSpPr txBox="1"/>
          <p:nvPr/>
        </p:nvSpPr>
        <p:spPr>
          <a:xfrm>
            <a:off x="1243756" y="1923360"/>
            <a:ext cx="9979344" cy="4585871"/>
          </a:xfrm>
          <a:prstGeom prst="rect">
            <a:avLst/>
          </a:prstGeom>
          <a:noFill/>
        </p:spPr>
        <p:txBody>
          <a:bodyPr wrap="square">
            <a:spAutoFit/>
          </a:bodyPr>
          <a:lstStyle/>
          <a:p>
            <a:pPr algn="just"/>
            <a:r>
              <a:rPr lang="en-US" sz="2800" b="1" i="0" dirty="0" err="1">
                <a:solidFill>
                  <a:srgbClr val="333333"/>
                </a:solidFill>
                <a:effectLst/>
                <a:latin typeface="inter-bold"/>
              </a:rPr>
              <a:t>Inorder</a:t>
            </a:r>
            <a:r>
              <a:rPr lang="en-US" sz="2800" b="1" i="0" dirty="0">
                <a:solidFill>
                  <a:srgbClr val="333333"/>
                </a:solidFill>
                <a:effectLst/>
                <a:latin typeface="inter-bold"/>
              </a:rPr>
              <a:t> Predecessor: </a:t>
            </a:r>
            <a:r>
              <a:rPr lang="en-US" sz="2400" b="0" i="0" dirty="0">
                <a:solidFill>
                  <a:srgbClr val="333333"/>
                </a:solidFill>
                <a:effectLst/>
                <a:latin typeface="inter-regular"/>
              </a:rPr>
              <a:t>In such a case, the steps to be followed are as follows:</a:t>
            </a:r>
          </a:p>
          <a:p>
            <a:pPr algn="just"/>
            <a:endParaRPr lang="en-US" sz="2400" b="0" i="0" dirty="0">
              <a:solidFill>
                <a:srgbClr val="333333"/>
              </a:solidFill>
              <a:effectLst/>
              <a:latin typeface="inter-regular"/>
            </a:endParaRPr>
          </a:p>
          <a:p>
            <a:pPr marL="342900" indent="-342900" algn="just">
              <a:buFont typeface="Arial" panose="020B0604020202020204" pitchFamily="34" charset="0"/>
              <a:buChar char="•"/>
            </a:pPr>
            <a:r>
              <a:rPr lang="en-US" sz="2400" b="0" i="0" dirty="0">
                <a:solidFill>
                  <a:srgbClr val="333333"/>
                </a:solidFill>
                <a:effectLst/>
                <a:latin typeface="inter-regular"/>
              </a:rPr>
              <a:t>First, find the </a:t>
            </a:r>
            <a:r>
              <a:rPr lang="en-US" sz="2400" b="0" i="0" dirty="0" err="1">
                <a:solidFill>
                  <a:srgbClr val="333333"/>
                </a:solidFill>
                <a:effectLst/>
                <a:latin typeface="inter-regular"/>
              </a:rPr>
              <a:t>inorder</a:t>
            </a:r>
            <a:r>
              <a:rPr lang="en-US" sz="2400" b="0" i="0" dirty="0">
                <a:solidFill>
                  <a:srgbClr val="333333"/>
                </a:solidFill>
                <a:effectLst/>
                <a:latin typeface="inter-regular"/>
              </a:rPr>
              <a:t> predecessor of the node to be deleted from the left sub tree.</a:t>
            </a:r>
          </a:p>
          <a:p>
            <a:pPr marL="342900" indent="-342900" algn="just">
              <a:buFont typeface="Arial" panose="020B0604020202020204" pitchFamily="34" charset="0"/>
              <a:buChar char="•"/>
            </a:pPr>
            <a:r>
              <a:rPr lang="en-US" sz="2400" b="0" i="0" dirty="0">
                <a:solidFill>
                  <a:srgbClr val="333333"/>
                </a:solidFill>
                <a:effectLst/>
                <a:latin typeface="inter-regular"/>
              </a:rPr>
              <a:t>After that, replace that node with the </a:t>
            </a:r>
            <a:r>
              <a:rPr lang="en-US" sz="2400" b="0" i="0" dirty="0" err="1">
                <a:solidFill>
                  <a:srgbClr val="333333"/>
                </a:solidFill>
                <a:effectLst/>
                <a:latin typeface="inter-regular"/>
              </a:rPr>
              <a:t>inorder</a:t>
            </a:r>
            <a:r>
              <a:rPr lang="en-US" sz="2400" b="0" i="0" dirty="0">
                <a:solidFill>
                  <a:srgbClr val="333333"/>
                </a:solidFill>
                <a:effectLst/>
                <a:latin typeface="inter-regular"/>
              </a:rPr>
              <a:t> predecessor until the target node is placed at the leaf of tree.</a:t>
            </a:r>
          </a:p>
          <a:p>
            <a:pPr marL="342900" indent="-342900" algn="just">
              <a:buFont typeface="Arial" panose="020B0604020202020204" pitchFamily="34" charset="0"/>
              <a:buChar char="•"/>
            </a:pPr>
            <a:r>
              <a:rPr lang="en-US" sz="2400" b="0" i="0" dirty="0">
                <a:solidFill>
                  <a:srgbClr val="333333"/>
                </a:solidFill>
                <a:effectLst/>
                <a:latin typeface="inter-regular"/>
              </a:rPr>
              <a:t>And at last, replace the node with NULL and free up the allocated space.</a:t>
            </a: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The </a:t>
            </a:r>
            <a:r>
              <a:rPr lang="en-US" sz="2400" b="0" i="0" dirty="0" err="1">
                <a:solidFill>
                  <a:srgbClr val="333333"/>
                </a:solidFill>
                <a:effectLst/>
                <a:latin typeface="inter-regular"/>
              </a:rPr>
              <a:t>inorder</a:t>
            </a:r>
            <a:r>
              <a:rPr lang="en-US" sz="2400" b="0" i="0" dirty="0">
                <a:solidFill>
                  <a:srgbClr val="333333"/>
                </a:solidFill>
                <a:effectLst/>
                <a:latin typeface="inter-regular"/>
              </a:rPr>
              <a:t> predecessor is required when the left child of the node is not empty. </a:t>
            </a:r>
          </a:p>
          <a:p>
            <a:pPr algn="just"/>
            <a:endParaRPr lang="en-US" sz="2400" b="0" i="0" dirty="0">
              <a:solidFill>
                <a:srgbClr val="333333"/>
              </a:solidFill>
              <a:effectLst/>
              <a:latin typeface="inter-regular"/>
            </a:endParaRPr>
          </a:p>
        </p:txBody>
      </p:sp>
    </p:spTree>
    <p:extLst>
      <p:ext uri="{BB962C8B-B14F-4D97-AF65-F5344CB8AC3E}">
        <p14:creationId xmlns:p14="http://schemas.microsoft.com/office/powerpoint/2010/main" val="4150788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Complexity of various operations of BST</a:t>
            </a:r>
          </a:p>
        </p:txBody>
      </p:sp>
      <p:pic>
        <p:nvPicPr>
          <p:cNvPr id="4" name="Content Placeholder 3"/>
          <p:cNvPicPr>
            <a:picLocks noGrp="1" noChangeAspect="1"/>
          </p:cNvPicPr>
          <p:nvPr>
            <p:ph idx="1"/>
          </p:nvPr>
        </p:nvPicPr>
        <p:blipFill>
          <a:blip r:embed="rId2"/>
          <a:stretch>
            <a:fillRect/>
          </a:stretch>
        </p:blipFill>
        <p:spPr>
          <a:xfrm>
            <a:off x="1124840" y="2600150"/>
            <a:ext cx="10002646" cy="2514951"/>
          </a:xfrm>
          <a:prstGeom prst="rect">
            <a:avLst/>
          </a:prstGeom>
        </p:spPr>
      </p:pic>
    </p:spTree>
    <p:extLst>
      <p:ext uri="{BB962C8B-B14F-4D97-AF65-F5344CB8AC3E}">
        <p14:creationId xmlns:p14="http://schemas.microsoft.com/office/powerpoint/2010/main" val="659642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Space Complexity of various operations of BST</a:t>
            </a:r>
          </a:p>
        </p:txBody>
      </p:sp>
      <p:pic>
        <p:nvPicPr>
          <p:cNvPr id="4" name="Content Placeholder 3"/>
          <p:cNvPicPr>
            <a:picLocks noGrp="1" noChangeAspect="1"/>
          </p:cNvPicPr>
          <p:nvPr>
            <p:ph idx="1"/>
          </p:nvPr>
        </p:nvPicPr>
        <p:blipFill>
          <a:blip r:embed="rId2"/>
          <a:stretch>
            <a:fillRect/>
          </a:stretch>
        </p:blipFill>
        <p:spPr>
          <a:xfrm>
            <a:off x="1124840" y="2771624"/>
            <a:ext cx="10002646" cy="2172003"/>
          </a:xfrm>
          <a:prstGeom prst="rect">
            <a:avLst/>
          </a:prstGeom>
        </p:spPr>
      </p:pic>
    </p:spTree>
    <p:extLst>
      <p:ext uri="{BB962C8B-B14F-4D97-AF65-F5344CB8AC3E}">
        <p14:creationId xmlns:p14="http://schemas.microsoft.com/office/powerpoint/2010/main" val="350778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1A4AFD-EE50-7DCE-CDBB-7426756A07CC}"/>
              </a:ext>
            </a:extLst>
          </p:cNvPr>
          <p:cNvSpPr>
            <a:spLocks noGrp="1"/>
          </p:cNvSpPr>
          <p:nvPr>
            <p:ph idx="1"/>
          </p:nvPr>
        </p:nvSpPr>
        <p:spPr/>
        <p:txBody>
          <a:bodyPr/>
          <a:lstStyle/>
          <a:p>
            <a:pPr>
              <a:defRPr/>
            </a:pPr>
            <a:r>
              <a:rPr lang="en-US" dirty="0"/>
              <a:t>Perform deletion in the following tree:</a:t>
            </a:r>
          </a:p>
          <a:p>
            <a:pPr>
              <a:defRPr/>
            </a:pPr>
            <a:endParaRPr lang="en-US" dirty="0"/>
          </a:p>
          <a:p>
            <a:pPr>
              <a:defRPr/>
            </a:pPr>
            <a:endParaRPr lang="en-US" dirty="0"/>
          </a:p>
          <a:p>
            <a:pPr>
              <a:defRPr/>
            </a:pPr>
            <a:endParaRPr lang="en-US" dirty="0"/>
          </a:p>
          <a:p>
            <a:pPr marL="131444" indent="0">
              <a:buNone/>
              <a:defRPr/>
            </a:pPr>
            <a:endParaRPr lang="en-US" dirty="0"/>
          </a:p>
          <a:p>
            <a:pPr>
              <a:defRPr/>
            </a:pPr>
            <a:r>
              <a:rPr lang="en-US" dirty="0"/>
              <a:t>Delete 30</a:t>
            </a:r>
          </a:p>
          <a:p>
            <a:pPr>
              <a:defRPr/>
            </a:pPr>
            <a:r>
              <a:rPr lang="en-US" dirty="0"/>
              <a:t>Delete 50</a:t>
            </a:r>
          </a:p>
          <a:p>
            <a:pPr>
              <a:defRPr/>
            </a:pPr>
            <a:r>
              <a:rPr lang="en-US" dirty="0"/>
              <a:t>Delete 60</a:t>
            </a:r>
          </a:p>
          <a:p>
            <a:pPr>
              <a:defRPr/>
            </a:pPr>
            <a:endParaRPr lang="en-US" dirty="0"/>
          </a:p>
        </p:txBody>
      </p:sp>
      <p:sp>
        <p:nvSpPr>
          <p:cNvPr id="3" name="Title 2">
            <a:extLst>
              <a:ext uri="{FF2B5EF4-FFF2-40B4-BE49-F238E27FC236}">
                <a16:creationId xmlns:a16="http://schemas.microsoft.com/office/drawing/2014/main" id="{CAE06193-53EC-7A40-AA7E-A197A552972A}"/>
              </a:ext>
            </a:extLst>
          </p:cNvPr>
          <p:cNvSpPr>
            <a:spLocks noGrp="1"/>
          </p:cNvSpPr>
          <p:nvPr>
            <p:ph type="title"/>
          </p:nvPr>
        </p:nvSpPr>
        <p:spPr/>
        <p:txBody>
          <a:bodyPr/>
          <a:lstStyle/>
          <a:p>
            <a:pPr>
              <a:defRPr/>
            </a:pPr>
            <a:r>
              <a:rPr lang="en-US" dirty="0"/>
              <a:t>Task (Deletion)</a:t>
            </a:r>
          </a:p>
        </p:txBody>
      </p:sp>
      <p:sp>
        <p:nvSpPr>
          <p:cNvPr id="78852" name="Slide Number Placeholder 5">
            <a:extLst>
              <a:ext uri="{FF2B5EF4-FFF2-40B4-BE49-F238E27FC236}">
                <a16:creationId xmlns:a16="http://schemas.microsoft.com/office/drawing/2014/main" id="{E8818C79-BC06-24B1-CFF4-DBD69670B6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80">
                <a:solidFill>
                  <a:schemeClr val="tx1"/>
                </a:solidFill>
                <a:latin typeface="Times New Roman" panose="02020603050405020304" pitchFamily="18" charset="0"/>
              </a:defRPr>
            </a:lvl1pPr>
            <a:lvl2pPr marL="891540" indent="-342900">
              <a:defRPr sz="2880">
                <a:solidFill>
                  <a:schemeClr val="tx1"/>
                </a:solidFill>
                <a:latin typeface="Times New Roman" panose="02020603050405020304" pitchFamily="18" charset="0"/>
              </a:defRPr>
            </a:lvl2pPr>
            <a:lvl3pPr marL="1371600" indent="-274320">
              <a:defRPr sz="2880">
                <a:solidFill>
                  <a:schemeClr val="tx1"/>
                </a:solidFill>
                <a:latin typeface="Times New Roman" panose="02020603050405020304" pitchFamily="18" charset="0"/>
              </a:defRPr>
            </a:lvl3pPr>
            <a:lvl4pPr marL="1920240" indent="-274320">
              <a:defRPr sz="2880">
                <a:solidFill>
                  <a:schemeClr val="tx1"/>
                </a:solidFill>
                <a:latin typeface="Times New Roman" panose="02020603050405020304" pitchFamily="18" charset="0"/>
              </a:defRPr>
            </a:lvl4pPr>
            <a:lvl5pPr marL="2468880" indent="-274320">
              <a:defRPr sz="2880">
                <a:solidFill>
                  <a:schemeClr val="tx1"/>
                </a:solidFill>
                <a:latin typeface="Times New Roman" panose="02020603050405020304" pitchFamily="18" charset="0"/>
              </a:defRPr>
            </a:lvl5pPr>
            <a:lvl6pPr marL="3017520" indent="-274320" eaLnBrk="0" fontAlgn="base" hangingPunct="0">
              <a:spcBef>
                <a:spcPct val="0"/>
              </a:spcBef>
              <a:spcAft>
                <a:spcPct val="0"/>
              </a:spcAft>
              <a:defRPr sz="2880">
                <a:solidFill>
                  <a:schemeClr val="tx1"/>
                </a:solidFill>
                <a:latin typeface="Times New Roman" panose="02020603050405020304" pitchFamily="18" charset="0"/>
              </a:defRPr>
            </a:lvl6pPr>
            <a:lvl7pPr marL="3566160" indent="-274320" eaLnBrk="0" fontAlgn="base" hangingPunct="0">
              <a:spcBef>
                <a:spcPct val="0"/>
              </a:spcBef>
              <a:spcAft>
                <a:spcPct val="0"/>
              </a:spcAft>
              <a:defRPr sz="2880">
                <a:solidFill>
                  <a:schemeClr val="tx1"/>
                </a:solidFill>
                <a:latin typeface="Times New Roman" panose="02020603050405020304" pitchFamily="18" charset="0"/>
              </a:defRPr>
            </a:lvl7pPr>
            <a:lvl8pPr marL="4114800" indent="-274320" eaLnBrk="0" fontAlgn="base" hangingPunct="0">
              <a:spcBef>
                <a:spcPct val="0"/>
              </a:spcBef>
              <a:spcAft>
                <a:spcPct val="0"/>
              </a:spcAft>
              <a:defRPr sz="2880">
                <a:solidFill>
                  <a:schemeClr val="tx1"/>
                </a:solidFill>
                <a:latin typeface="Times New Roman" panose="02020603050405020304" pitchFamily="18" charset="0"/>
              </a:defRPr>
            </a:lvl8pPr>
            <a:lvl9pPr marL="4663440" indent="-274320" eaLnBrk="0" fontAlgn="base" hangingPunct="0">
              <a:spcBef>
                <a:spcPct val="0"/>
              </a:spcBef>
              <a:spcAft>
                <a:spcPct val="0"/>
              </a:spcAft>
              <a:defRPr sz="2880">
                <a:solidFill>
                  <a:schemeClr val="tx1"/>
                </a:solidFill>
                <a:latin typeface="Times New Roman" panose="02020603050405020304" pitchFamily="18" charset="0"/>
              </a:defRPr>
            </a:lvl9pPr>
          </a:lstStyle>
          <a:p>
            <a:fld id="{AF95068A-6C45-4818-A7D3-E326CE9EF128}" type="slidenum">
              <a:rPr lang="en-US" altLang="en-US" sz="1200"/>
              <a:pPr/>
              <a:t>20</a:t>
            </a:fld>
            <a:endParaRPr lang="en-US" altLang="en-US" sz="1200"/>
          </a:p>
        </p:txBody>
      </p:sp>
      <p:pic>
        <p:nvPicPr>
          <p:cNvPr id="78853" name="Picture 6">
            <a:extLst>
              <a:ext uri="{FF2B5EF4-FFF2-40B4-BE49-F238E27FC236}">
                <a16:creationId xmlns:a16="http://schemas.microsoft.com/office/drawing/2014/main" id="{349B19F4-46C0-04A4-B853-00517C0D48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24401" y="2148841"/>
            <a:ext cx="3188970" cy="248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1E293-D82D-C2FD-C9E5-1966A9037D38}"/>
              </a:ext>
            </a:extLst>
          </p:cNvPr>
          <p:cNvSpPr>
            <a:spLocks noGrp="1"/>
          </p:cNvSpPr>
          <p:nvPr>
            <p:ph type="title"/>
          </p:nvPr>
        </p:nvSpPr>
        <p:spPr/>
        <p:txBody>
          <a:bodyPr/>
          <a:lstStyle/>
          <a:p>
            <a:r>
              <a:rPr lang="en-US" dirty="0"/>
              <a:t>Reference links</a:t>
            </a:r>
          </a:p>
        </p:txBody>
      </p:sp>
      <p:sp>
        <p:nvSpPr>
          <p:cNvPr id="3" name="Content Placeholder 2">
            <a:extLst>
              <a:ext uri="{FF2B5EF4-FFF2-40B4-BE49-F238E27FC236}">
                <a16:creationId xmlns:a16="http://schemas.microsoft.com/office/drawing/2014/main" id="{D4427754-12A9-7BD0-1132-8A89A52C45A2}"/>
              </a:ext>
            </a:extLst>
          </p:cNvPr>
          <p:cNvSpPr>
            <a:spLocks noGrp="1"/>
          </p:cNvSpPr>
          <p:nvPr>
            <p:ph idx="1"/>
          </p:nvPr>
        </p:nvSpPr>
        <p:spPr/>
        <p:txBody>
          <a:bodyPr/>
          <a:lstStyle/>
          <a:p>
            <a:r>
              <a:rPr lang="en-US" b="1" dirty="0"/>
              <a:t>Insertion</a:t>
            </a:r>
            <a:endParaRPr lang="en-US" b="1" dirty="0">
              <a:hlinkClick r:id="rId2"/>
            </a:endParaRPr>
          </a:p>
          <a:p>
            <a:r>
              <a:rPr lang="en-US" dirty="0">
                <a:hlinkClick r:id="rId2"/>
              </a:rPr>
              <a:t>https://youtu.be/sXABdGalFNg</a:t>
            </a:r>
            <a:endParaRPr lang="en-US" dirty="0"/>
          </a:p>
          <a:p>
            <a:r>
              <a:rPr lang="en-US" b="1" dirty="0"/>
              <a:t>Deletion</a:t>
            </a:r>
          </a:p>
          <a:p>
            <a:r>
              <a:rPr lang="en-US" dirty="0">
                <a:hlinkClick r:id="rId3"/>
              </a:rPr>
              <a:t>https://youtu.be/hL9RUD33nYs</a:t>
            </a:r>
            <a:endParaRPr lang="en-US" dirty="0"/>
          </a:p>
          <a:p>
            <a:endParaRPr lang="en-US" dirty="0"/>
          </a:p>
        </p:txBody>
      </p:sp>
    </p:spTree>
    <p:extLst>
      <p:ext uri="{BB962C8B-B14F-4D97-AF65-F5344CB8AC3E}">
        <p14:creationId xmlns:p14="http://schemas.microsoft.com/office/powerpoint/2010/main" val="246954478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773</TotalTime>
  <Words>1015</Words>
  <Application>Microsoft Office PowerPoint</Application>
  <PresentationFormat>Widescreen</PresentationFormat>
  <Paragraphs>134</Paragraphs>
  <Slides>21</Slides>
  <Notes>11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ＭＳ Ｐゴシック</vt:lpstr>
      <vt:lpstr>Arial</vt:lpstr>
      <vt:lpstr>Calibri</vt:lpstr>
      <vt:lpstr>Calibri Light</vt:lpstr>
      <vt:lpstr>inter-bold</vt:lpstr>
      <vt:lpstr>inter-regular</vt:lpstr>
      <vt:lpstr>Wingdings</vt:lpstr>
      <vt:lpstr>Wingdings 2</vt:lpstr>
      <vt:lpstr>Retrospect</vt:lpstr>
      <vt:lpstr>Data Structure</vt:lpstr>
      <vt:lpstr>Binary Search Tree (BST)</vt:lpstr>
      <vt:lpstr>CLO Covered</vt:lpstr>
      <vt:lpstr>Algorithm for Searching in BST</vt:lpstr>
      <vt:lpstr>Insertion in BST</vt:lpstr>
      <vt:lpstr>Insertion in BST</vt:lpstr>
      <vt:lpstr>Insertion in BST</vt:lpstr>
      <vt:lpstr>PowerPoint Presentation</vt:lpstr>
      <vt:lpstr>PowerPoint Presentation</vt:lpstr>
      <vt:lpstr>Deletion in BST</vt:lpstr>
      <vt:lpstr>Deletion in BST</vt:lpstr>
      <vt:lpstr>Deletion in BST</vt:lpstr>
      <vt:lpstr>Deletion in BST</vt:lpstr>
      <vt:lpstr>Deletion in BST</vt:lpstr>
      <vt:lpstr>Deletion in BST</vt:lpstr>
      <vt:lpstr>Deletion in BST</vt:lpstr>
      <vt:lpstr>Deletion in BST</vt:lpstr>
      <vt:lpstr>Time Complexity of various operations of BST</vt:lpstr>
      <vt:lpstr>Space Complexity of various operations of BST</vt:lpstr>
      <vt:lpstr>Task (Deletion)</vt:lpstr>
      <vt:lpstr>Reference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Habiba Arshad</cp:lastModifiedBy>
  <cp:revision>68</cp:revision>
  <dcterms:created xsi:type="dcterms:W3CDTF">2022-11-28T04:11:00Z</dcterms:created>
  <dcterms:modified xsi:type="dcterms:W3CDTF">2024-12-26T03:23:12Z</dcterms:modified>
</cp:coreProperties>
</file>