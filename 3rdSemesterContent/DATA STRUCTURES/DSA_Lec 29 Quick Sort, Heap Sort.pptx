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92" r:id="rId2"/>
  </p:sldMasterIdLst>
  <p:notesMasterIdLst>
    <p:notesMasterId r:id="rId37"/>
  </p:notesMasterIdLst>
  <p:handoutMasterIdLst>
    <p:handoutMasterId r:id="rId38"/>
  </p:handoutMasterIdLst>
  <p:sldIdLst>
    <p:sldId id="415" r:id="rId3"/>
    <p:sldId id="435" r:id="rId4"/>
    <p:sldId id="394" r:id="rId5"/>
    <p:sldId id="395" r:id="rId6"/>
    <p:sldId id="396" r:id="rId7"/>
    <p:sldId id="399" r:id="rId8"/>
    <p:sldId id="397" r:id="rId9"/>
    <p:sldId id="398" r:id="rId10"/>
    <p:sldId id="400" r:id="rId11"/>
    <p:sldId id="401" r:id="rId12"/>
    <p:sldId id="402" r:id="rId13"/>
    <p:sldId id="403" r:id="rId14"/>
    <p:sldId id="404" r:id="rId15"/>
    <p:sldId id="405" r:id="rId16"/>
    <p:sldId id="439" r:id="rId17"/>
    <p:sldId id="440" r:id="rId18"/>
    <p:sldId id="257" r:id="rId19"/>
    <p:sldId id="421" r:id="rId20"/>
    <p:sldId id="422" r:id="rId21"/>
    <p:sldId id="423" r:id="rId22"/>
    <p:sldId id="424" r:id="rId23"/>
    <p:sldId id="425" r:id="rId24"/>
    <p:sldId id="266" r:id="rId25"/>
    <p:sldId id="426" r:id="rId26"/>
    <p:sldId id="427" r:id="rId27"/>
    <p:sldId id="428" r:id="rId28"/>
    <p:sldId id="429" r:id="rId29"/>
    <p:sldId id="271" r:id="rId30"/>
    <p:sldId id="430" r:id="rId31"/>
    <p:sldId id="436" r:id="rId32"/>
    <p:sldId id="437" r:id="rId33"/>
    <p:sldId id="438" r:id="rId34"/>
    <p:sldId id="433" r:id="rId35"/>
    <p:sldId id="434"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4" autoAdjust="0"/>
    <p:restoredTop sz="94660"/>
  </p:normalViewPr>
  <p:slideViewPr>
    <p:cSldViewPr snapToGrid="0">
      <p:cViewPr varScale="1">
        <p:scale>
          <a:sx n="82" d="100"/>
          <a:sy n="82" d="100"/>
        </p:scale>
        <p:origin x="672" y="72"/>
      </p:cViewPr>
      <p:guideLst>
        <p:guide orient="horz" pos="2160"/>
        <p:guide pos="3840"/>
      </p:guideLst>
    </p:cSldViewPr>
  </p:slideViewPr>
  <p:notesTextViewPr>
    <p:cViewPr>
      <p:scale>
        <a:sx n="1" d="1"/>
        <a:sy n="1" d="1"/>
      </p:scale>
      <p:origin x="0" y="0"/>
    </p:cViewPr>
  </p:notesTextViewPr>
  <p:notesViewPr>
    <p:cSldViewPr snapToGrid="0">
      <p:cViewPr varScale="1">
        <p:scale>
          <a:sx n="76" d="100"/>
          <a:sy n="76" d="100"/>
        </p:scale>
        <p:origin x="1770" y="96"/>
      </p:cViewPr>
      <p:guideLst/>
    </p:cSldViewPr>
  </p:notesViewPr>
  <p:gridSpacing cx="75895" cy="7589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82E0B3B4-78E1-48E2-85AF-EA72E89D3AE5}" type="datetimeFigureOut">
              <a:rPr lang="en-US"/>
              <a:pPr>
                <a:defRPr/>
              </a:pPr>
              <a:t>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AF3E64A3-EF46-4D9C-BE70-496385113FB9}" type="slidenum">
              <a:rPr lang="en-US"/>
              <a:pPr>
                <a:defRPr/>
              </a:pPr>
              <a:t>‹#›</a:t>
            </a:fld>
            <a:endParaRPr lang="en-US"/>
          </a:p>
        </p:txBody>
      </p:sp>
    </p:spTree>
    <p:extLst>
      <p:ext uri="{BB962C8B-B14F-4D97-AF65-F5344CB8AC3E}">
        <p14:creationId xmlns:p14="http://schemas.microsoft.com/office/powerpoint/2010/main" val="39084414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542E392-BEE6-41D4-A49C-43219A35FDDD}" type="datetimeFigureOut">
              <a:rPr lang="en-US"/>
              <a:pPr>
                <a:defRPr/>
              </a:pPr>
              <a:t>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E7EA7CDE-F935-4E41-A53E-E8126A70F7D3}" type="slidenum">
              <a:rPr lang="en-US"/>
              <a:pPr>
                <a:defRPr/>
              </a:pPr>
              <a:t>‹#›</a:t>
            </a:fld>
            <a:endParaRPr lang="en-US"/>
          </a:p>
        </p:txBody>
      </p:sp>
    </p:spTree>
    <p:extLst>
      <p:ext uri="{BB962C8B-B14F-4D97-AF65-F5344CB8AC3E}">
        <p14:creationId xmlns:p14="http://schemas.microsoft.com/office/powerpoint/2010/main" val="2469625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http://www.openbookproject.net/books/pythonds/SortSearch/TheQuickSort.html</a:t>
            </a:r>
          </a:p>
        </p:txBody>
      </p:sp>
    </p:spTree>
    <p:extLst>
      <p:ext uri="{BB962C8B-B14F-4D97-AF65-F5344CB8AC3E}">
        <p14:creationId xmlns:p14="http://schemas.microsoft.com/office/powerpoint/2010/main" val="2014453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EA73DA93-D728-46F8-A5D6-C2F07BF8E16C}" type="datetime1">
              <a:rPr lang="en-US" smtClean="0"/>
              <a:pPr>
                <a:defRPr/>
              </a:pPr>
              <a:t>1/6/2025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80A91E7-C180-441C-AC72-29A8E856B61F}" type="slidenum">
              <a:rPr lang="en-US" smtClean="0"/>
              <a:pPr>
                <a:defRPr/>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8588449"/>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16E8DA10-23DC-40E4-B2C8-530A90D8C630}" type="datetime1">
              <a:rPr lang="en-US" smtClean="0"/>
              <a:pPr>
                <a:defRPr/>
              </a:pPr>
              <a:t>1/6/2025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0DD1C3B-08B7-4A6E-B524-59FC87035FCA}" type="slidenum">
              <a:rPr lang="en-US" smtClean="0"/>
              <a:pPr>
                <a:defRPr/>
              </a:pPr>
              <a:t>‹#›</a:t>
            </a:fld>
            <a:endParaRPr lang="en-US"/>
          </a:p>
        </p:txBody>
      </p:sp>
    </p:spTree>
    <p:extLst>
      <p:ext uri="{BB962C8B-B14F-4D97-AF65-F5344CB8AC3E}">
        <p14:creationId xmlns:p14="http://schemas.microsoft.com/office/powerpoint/2010/main" val="3953964249"/>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E1D7100-8720-4FD5-AF66-74D79DE2FC5A}" type="datetime1">
              <a:rPr lang="en-US" smtClean="0"/>
              <a:pPr>
                <a:defRPr/>
              </a:pPr>
              <a:t>1/6/2025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E3CFD2E-D966-4B0F-9FD9-2235D7CE88DB}" type="slidenum">
              <a:rPr lang="en-US" smtClean="0"/>
              <a:pPr>
                <a:defRPr/>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883661"/>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132C0095-1F19-47DC-96F8-46B2ACB3926A}" type="datetime1">
              <a:rPr lang="en-US" smtClean="0"/>
              <a:pPr>
                <a:defRPr/>
              </a:pPr>
              <a:t>1/6/2025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60BF3D3-8C3D-4A85-BD99-5CF67F30D099}" type="slidenum">
              <a:rPr lang="en-US" smtClean="0"/>
              <a:pPr>
                <a:defRPr/>
              </a:pPr>
              <a:t>‹#›</a:t>
            </a:fld>
            <a:endParaRPr lang="en-US"/>
          </a:p>
        </p:txBody>
      </p:sp>
    </p:spTree>
    <p:extLst>
      <p:ext uri="{BB962C8B-B14F-4D97-AF65-F5344CB8AC3E}">
        <p14:creationId xmlns:p14="http://schemas.microsoft.com/office/powerpoint/2010/main" val="2301559079"/>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4B120EC4-6A28-46AC-A6A3-F149F330D506}" type="datetime1">
              <a:rPr lang="en-US" smtClean="0"/>
              <a:pPr>
                <a:defRPr/>
              </a:pPr>
              <a:t>1/6/2025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0FE3F90E-A7E1-4A3C-A739-C823F8481B7E}" type="slidenum">
              <a:rPr lang="en-US" smtClean="0"/>
              <a:pPr>
                <a:defRPr/>
              </a:pPr>
              <a:t>‹#›</a:t>
            </a:fld>
            <a:endParaRPr lang="en-US"/>
          </a:p>
        </p:txBody>
      </p:sp>
    </p:spTree>
    <p:extLst>
      <p:ext uri="{BB962C8B-B14F-4D97-AF65-F5344CB8AC3E}">
        <p14:creationId xmlns:p14="http://schemas.microsoft.com/office/powerpoint/2010/main" val="3139579194"/>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AFC1E868-B1DF-4651-8322-5CC993E6085A}" type="datetime1">
              <a:rPr lang="en-US" smtClean="0"/>
              <a:pPr>
                <a:defRPr/>
              </a:pPr>
              <a:t>1/6/2025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C0C7B7AD-1101-4333-BA93-F476D81D97AE}" type="slidenum">
              <a:rPr lang="en-US" smtClean="0"/>
              <a:pPr>
                <a:defRPr/>
              </a:pPr>
              <a:t>‹#›</a:t>
            </a:fld>
            <a:endParaRPr lang="en-US"/>
          </a:p>
        </p:txBody>
      </p:sp>
    </p:spTree>
    <p:extLst>
      <p:ext uri="{BB962C8B-B14F-4D97-AF65-F5344CB8AC3E}">
        <p14:creationId xmlns:p14="http://schemas.microsoft.com/office/powerpoint/2010/main" val="1948041070"/>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1A5D2A8F-0672-48D2-A23D-C0347BB0F91D}" type="datetime1">
              <a:rPr lang="en-US" smtClean="0"/>
              <a:pPr>
                <a:defRPr/>
              </a:pPr>
              <a:t>1/6/2025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9" name="Slide Number Placeholder 8"/>
          <p:cNvSpPr>
            <a:spLocks noGrp="1"/>
          </p:cNvSpPr>
          <p:nvPr>
            <p:ph type="sldNum" sz="quarter" idx="12"/>
          </p:nvPr>
        </p:nvSpPr>
        <p:spPr/>
        <p:txBody>
          <a:bodyPr/>
          <a:lstStyle/>
          <a:p>
            <a:pPr>
              <a:defRPr/>
            </a:pPr>
            <a:fld id="{18BD7A52-AE3C-4B74-AC22-836FE0C70F19}" type="slidenum">
              <a:rPr lang="en-US" smtClean="0"/>
              <a:pPr>
                <a:defRPr/>
              </a:pPr>
              <a:t>‹#›</a:t>
            </a:fld>
            <a:endParaRPr lang="en-US"/>
          </a:p>
        </p:txBody>
      </p:sp>
    </p:spTree>
    <p:extLst>
      <p:ext uri="{BB962C8B-B14F-4D97-AF65-F5344CB8AC3E}">
        <p14:creationId xmlns:p14="http://schemas.microsoft.com/office/powerpoint/2010/main" val="1878751619"/>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pPr>
              <a:defRPr/>
            </a:pPr>
            <a:fld id="{B8C0E58D-7C05-482F-B38B-FFB0A5B4C0A7}" type="datetime1">
              <a:rPr lang="en-US" smtClean="0"/>
              <a:pPr>
                <a:defRPr/>
              </a:pPr>
              <a:t>1/6/2025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378B2128-9F10-4393-AC72-7E0D762DB3B5}" type="slidenum">
              <a:rPr lang="en-US" smtClean="0"/>
              <a:pPr>
                <a:defRPr/>
              </a:pPr>
              <a:t>‹#›</a:t>
            </a:fld>
            <a:endParaRPr lang="en-US"/>
          </a:p>
        </p:txBody>
      </p:sp>
    </p:spTree>
    <p:extLst>
      <p:ext uri="{BB962C8B-B14F-4D97-AF65-F5344CB8AC3E}">
        <p14:creationId xmlns:p14="http://schemas.microsoft.com/office/powerpoint/2010/main" val="1105531865"/>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22A3B03-069D-409C-AC33-82F6E6BB95C7}" type="datetime1">
              <a:rPr lang="en-US" smtClean="0"/>
              <a:pPr>
                <a:defRPr/>
              </a:pPr>
              <a:t>1/6/2025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85193CD-57CC-471C-8359-B1565FC696E0}" type="slidenum">
              <a:rPr lang="en-US" smtClean="0"/>
              <a:pPr>
                <a:defRPr/>
              </a:pPr>
              <a:t>‹#›</a:t>
            </a:fld>
            <a:endParaRPr lang="en-US"/>
          </a:p>
        </p:txBody>
      </p:sp>
    </p:spTree>
    <p:extLst>
      <p:ext uri="{BB962C8B-B14F-4D97-AF65-F5344CB8AC3E}">
        <p14:creationId xmlns:p14="http://schemas.microsoft.com/office/powerpoint/2010/main" val="1523414848"/>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C95631B-38F5-4FC8-B2C0-4A58ECAE6EE4}" type="datetime1">
              <a:rPr lang="en-US" smtClean="0"/>
              <a:pPr>
                <a:defRPr/>
              </a:pPr>
              <a:t>1/6/2025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B82BB89-BB86-42D6-BC1C-65AF52EB9412}" type="slidenum">
              <a:rPr lang="en-US" smtClean="0"/>
              <a:pPr>
                <a:defRPr/>
              </a:pPr>
              <a:t>‹#›</a:t>
            </a:fld>
            <a:endParaRPr lang="en-US"/>
          </a:p>
        </p:txBody>
      </p:sp>
    </p:spTree>
    <p:extLst>
      <p:ext uri="{BB962C8B-B14F-4D97-AF65-F5344CB8AC3E}">
        <p14:creationId xmlns:p14="http://schemas.microsoft.com/office/powerpoint/2010/main" val="2772959564"/>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373D753C-9A3D-4878-BE00-CFC879FEBFBF}" type="datetime1">
              <a:rPr lang="en-US" smtClean="0"/>
              <a:pPr>
                <a:defRPr/>
              </a:pPr>
              <a:t>1/6/2025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2215704-07E5-487E-BADD-4F151DEFBC39}" type="slidenum">
              <a:rPr lang="en-US" smtClean="0"/>
              <a:pPr>
                <a:defRPr/>
              </a:pPr>
              <a:t>‹#›</a:t>
            </a:fld>
            <a:endParaRPr lang="en-US"/>
          </a:p>
        </p:txBody>
      </p:sp>
    </p:spTree>
    <p:extLst>
      <p:ext uri="{BB962C8B-B14F-4D97-AF65-F5344CB8AC3E}">
        <p14:creationId xmlns:p14="http://schemas.microsoft.com/office/powerpoint/2010/main" val="2251334153"/>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pPr>
              <a:defRPr/>
            </a:pPr>
            <a:fld id="{18E02A38-E19C-42DE-841E-A1A69EFF8C6B}" type="datetime1">
              <a:rPr lang="en-US" smtClean="0"/>
              <a:pPr>
                <a:defRPr/>
              </a:pPr>
              <a:t>1/6/2025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a:defRPr/>
            </a:pPr>
            <a:fld id="{6BD43196-CE02-4C5C-B1C3-BAC2C63ACE79}" type="slidenum">
              <a:rPr lang="en-US" smtClean="0"/>
              <a:pPr>
                <a:defRPr/>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887731"/>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spd="med">
    <p:fade/>
  </p:transition>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8400" y="1828800"/>
            <a:ext cx="7543800" cy="1882140"/>
          </a:xfrm>
        </p:spPr>
        <p:txBody>
          <a:bodyPr>
            <a:normAutofit fontScale="90000"/>
          </a:bodyPr>
          <a:lstStyle/>
          <a:p>
            <a:pPr algn="ctr"/>
            <a:r>
              <a:rPr lang="en-US" dirty="0"/>
              <a:t>Data Structure and Algorithm</a:t>
            </a:r>
          </a:p>
        </p:txBody>
      </p:sp>
      <p:sp>
        <p:nvSpPr>
          <p:cNvPr id="3" name="Subtitle 2"/>
          <p:cNvSpPr>
            <a:spLocks noGrp="1"/>
          </p:cNvSpPr>
          <p:nvPr>
            <p:ph type="subTitle" idx="1"/>
          </p:nvPr>
        </p:nvSpPr>
        <p:spPr>
          <a:xfrm>
            <a:off x="1506977" y="4551328"/>
            <a:ext cx="5891022" cy="1616007"/>
          </a:xfrm>
        </p:spPr>
        <p:txBody>
          <a:bodyPr>
            <a:normAutofit fontScale="92500" lnSpcReduction="20000"/>
          </a:bodyPr>
          <a:lstStyle/>
          <a:p>
            <a:pPr algn="l"/>
            <a:endParaRPr lang="en-US" dirty="0"/>
          </a:p>
          <a:p>
            <a:pPr algn="l"/>
            <a:r>
              <a:rPr lang="en-US" dirty="0"/>
              <a:t>Course Code: CS-201</a:t>
            </a:r>
          </a:p>
          <a:p>
            <a:pPr algn="l"/>
            <a:r>
              <a:rPr lang="en-US" dirty="0"/>
              <a:t>Topic: Sorting Techniques</a:t>
            </a:r>
          </a:p>
          <a:p>
            <a:r>
              <a:rPr lang="en-US" dirty="0"/>
              <a:t>Instructor: </a:t>
            </a:r>
            <a:r>
              <a:rPr lang="en-US" dirty="0" err="1"/>
              <a:t>habiba</a:t>
            </a:r>
            <a:r>
              <a:rPr lang="en-US" dirty="0"/>
              <a:t> </a:t>
            </a:r>
            <a:r>
              <a:rPr lang="en-US" dirty="0" err="1"/>
              <a:t>arshad</a:t>
            </a:r>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97305-E812-A462-103A-69A777C79D3E}"/>
              </a:ext>
            </a:extLst>
          </p:cNvPr>
          <p:cNvSpPr>
            <a:spLocks noGrp="1"/>
          </p:cNvSpPr>
          <p:nvPr>
            <p:ph type="title"/>
          </p:nvPr>
        </p:nvSpPr>
        <p:spPr/>
        <p:txBody>
          <a:bodyPr/>
          <a:lstStyle/>
          <a:p>
            <a:r>
              <a:rPr lang="en-US" dirty="0"/>
              <a:t>Today’s Goal</a:t>
            </a:r>
          </a:p>
        </p:txBody>
      </p:sp>
      <p:sp>
        <p:nvSpPr>
          <p:cNvPr id="3" name="Content Placeholder 2">
            <a:extLst>
              <a:ext uri="{FF2B5EF4-FFF2-40B4-BE49-F238E27FC236}">
                <a16:creationId xmlns:a16="http://schemas.microsoft.com/office/drawing/2014/main" id="{538F9DB0-D058-7B45-BF8E-A72B4B0A470A}"/>
              </a:ext>
            </a:extLst>
          </p:cNvPr>
          <p:cNvSpPr>
            <a:spLocks noGrp="1"/>
          </p:cNvSpPr>
          <p:nvPr>
            <p:ph idx="1"/>
          </p:nvPr>
        </p:nvSpPr>
        <p:spPr/>
        <p:txBody>
          <a:bodyPr>
            <a:normAutofit/>
          </a:bodyPr>
          <a:lstStyle/>
          <a:p>
            <a:r>
              <a:rPr lang="en-US" sz="2800" dirty="0"/>
              <a:t>Heap Sort</a:t>
            </a:r>
          </a:p>
          <a:p>
            <a:r>
              <a:rPr lang="en-US" sz="2800" dirty="0"/>
              <a:t>Quick Sort</a:t>
            </a:r>
          </a:p>
        </p:txBody>
      </p:sp>
    </p:spTree>
    <p:extLst>
      <p:ext uri="{BB962C8B-B14F-4D97-AF65-F5344CB8AC3E}">
        <p14:creationId xmlns:p14="http://schemas.microsoft.com/office/powerpoint/2010/main" val="52704165"/>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lstStyle/>
          <a:p>
            <a:r>
              <a:rPr lang="en-US" dirty="0"/>
              <a:t>Heap Sort</a:t>
            </a:r>
          </a:p>
        </p:txBody>
      </p:sp>
      <p:sp>
        <p:nvSpPr>
          <p:cNvPr id="14338" name="Content Placeholder 1"/>
          <p:cNvSpPr>
            <a:spLocks noGrp="1"/>
          </p:cNvSpPr>
          <p:nvPr>
            <p:ph idx="1"/>
          </p:nvPr>
        </p:nvSpPr>
        <p:spPr/>
        <p:txBody>
          <a:bodyPr/>
          <a:lstStyle/>
          <a:p>
            <a:pPr algn="just"/>
            <a:r>
              <a:rPr lang="en-US" dirty="0">
                <a:solidFill>
                  <a:srgbClr val="333333"/>
                </a:solidFill>
                <a:latin typeface="inter-regular"/>
              </a:rPr>
              <a:t>Heap sort processes the elements by creating the min-heap or max-heap using the elements of the given array. Min-heap or max-heap represents the ordering of array in which the root element represents the minimum or maximum element of the array.</a:t>
            </a:r>
          </a:p>
          <a:p>
            <a:pPr algn="just"/>
            <a:r>
              <a:rPr lang="en-US" dirty="0">
                <a:solidFill>
                  <a:srgbClr val="333333"/>
                </a:solidFill>
                <a:latin typeface="inter-regular"/>
              </a:rPr>
              <a:t>Heap sort basically recursively performs two main operations -</a:t>
            </a:r>
          </a:p>
          <a:p>
            <a:pPr marL="603647" indent="-204788" algn="just">
              <a:buFont typeface="Arial" panose="020B0604020202020204" pitchFamily="34" charset="0"/>
              <a:buChar char="•"/>
            </a:pPr>
            <a:r>
              <a:rPr lang="en-US" dirty="0">
                <a:solidFill>
                  <a:srgbClr val="000000"/>
                </a:solidFill>
                <a:latin typeface="inter-regular"/>
              </a:rPr>
              <a:t>Build a heap H, using the elements of array.</a:t>
            </a:r>
          </a:p>
          <a:p>
            <a:pPr marL="603647" indent="-204788" algn="just">
              <a:buFont typeface="Arial" panose="020B0604020202020204" pitchFamily="34" charset="0"/>
              <a:buChar char="•"/>
            </a:pPr>
            <a:r>
              <a:rPr lang="en-US" dirty="0">
                <a:solidFill>
                  <a:srgbClr val="000000"/>
                </a:solidFill>
                <a:latin typeface="inter-regular"/>
              </a:rPr>
              <a:t>Repeatedly delete the root element of the heap formed in 1</a:t>
            </a:r>
            <a:r>
              <a:rPr lang="en-US" baseline="30000" dirty="0">
                <a:solidFill>
                  <a:srgbClr val="000000"/>
                </a:solidFill>
                <a:latin typeface="inter-regular"/>
              </a:rPr>
              <a:t>st</a:t>
            </a:r>
            <a:r>
              <a:rPr lang="en-US" dirty="0">
                <a:solidFill>
                  <a:srgbClr val="000000"/>
                </a:solidFill>
                <a:latin typeface="inter-regular"/>
              </a:rPr>
              <a:t> phase.</a:t>
            </a:r>
          </a:p>
          <a:p>
            <a:endParaRPr lang="en-US" sz="1800" dirty="0"/>
          </a:p>
        </p:txBody>
      </p:sp>
    </p:spTree>
    <p:extLst>
      <p:ext uri="{BB962C8B-B14F-4D97-AF65-F5344CB8AC3E}">
        <p14:creationId xmlns:p14="http://schemas.microsoft.com/office/powerpoint/2010/main" val="143465077"/>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lstStyle/>
          <a:p>
            <a:r>
              <a:rPr lang="en-US" dirty="0"/>
              <a:t>Heap Sort</a:t>
            </a:r>
          </a:p>
        </p:txBody>
      </p:sp>
      <p:sp>
        <p:nvSpPr>
          <p:cNvPr id="14338" name="Content Placeholder 1"/>
          <p:cNvSpPr>
            <a:spLocks noGrp="1"/>
          </p:cNvSpPr>
          <p:nvPr>
            <p:ph idx="1"/>
          </p:nvPr>
        </p:nvSpPr>
        <p:spPr/>
        <p:txBody>
          <a:bodyPr>
            <a:normAutofit/>
          </a:bodyPr>
          <a:lstStyle/>
          <a:p>
            <a:r>
              <a:rPr lang="en-US" sz="2400" dirty="0"/>
              <a:t>A </a:t>
            </a:r>
            <a:r>
              <a:rPr lang="en-US" sz="2400" b="1" dirty="0"/>
              <a:t>heap</a:t>
            </a:r>
            <a:r>
              <a:rPr lang="en-US" sz="2400" dirty="0"/>
              <a:t> is a complete binary tree, and the binary tree is a tree in which the node can have the utmost two children. A complete binary tree is a binary tree in which all the levels except the last level, i.e., leaf node, should be completely filled, and all the nodes should be left-justified.</a:t>
            </a:r>
          </a:p>
          <a:p>
            <a:r>
              <a:rPr lang="en-US" sz="2400" dirty="0"/>
              <a:t>The concept of </a:t>
            </a:r>
            <a:r>
              <a:rPr lang="en-US" sz="2400" b="1" dirty="0"/>
              <a:t>heap sort </a:t>
            </a:r>
            <a:r>
              <a:rPr lang="en-US" sz="2400" dirty="0"/>
              <a:t>is to eliminate the elements one by one from the heap part of the list, and then insert them into the sorted part of the list.</a:t>
            </a:r>
          </a:p>
          <a:p>
            <a:endParaRPr lang="en-US" sz="2400" dirty="0"/>
          </a:p>
          <a:p>
            <a:r>
              <a:rPr lang="en-US" sz="2400" dirty="0"/>
              <a:t>Heapsort is the in-place sorting algorithm.</a:t>
            </a:r>
          </a:p>
        </p:txBody>
      </p:sp>
    </p:spTree>
    <p:extLst>
      <p:ext uri="{BB962C8B-B14F-4D97-AF65-F5344CB8AC3E}">
        <p14:creationId xmlns:p14="http://schemas.microsoft.com/office/powerpoint/2010/main" val="905665180"/>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lstStyle/>
          <a:p>
            <a:r>
              <a:rPr lang="en-US" dirty="0"/>
              <a:t>Working of Heap Sort</a:t>
            </a:r>
          </a:p>
        </p:txBody>
      </p:sp>
      <p:sp>
        <p:nvSpPr>
          <p:cNvPr id="14338" name="Content Placeholder 1"/>
          <p:cNvSpPr>
            <a:spLocks noGrp="1"/>
          </p:cNvSpPr>
          <p:nvPr>
            <p:ph idx="1"/>
          </p:nvPr>
        </p:nvSpPr>
        <p:spPr/>
        <p:txBody>
          <a:bodyPr>
            <a:normAutofit/>
          </a:bodyPr>
          <a:lstStyle/>
          <a:p>
            <a:r>
              <a:rPr lang="en-US" sz="2400" dirty="0"/>
              <a:t>In heap sort, basically, there are two phases involved in the sorting of elements. By using the heap sort algorithm, they are as follows -</a:t>
            </a:r>
          </a:p>
          <a:p>
            <a:endParaRPr lang="en-US" sz="2400" dirty="0"/>
          </a:p>
          <a:p>
            <a:r>
              <a:rPr lang="en-US" sz="2400" dirty="0"/>
              <a:t>The first step includes the creation of a heap by adjusting the elements of the array.</a:t>
            </a:r>
          </a:p>
          <a:p>
            <a:r>
              <a:rPr lang="en-US" sz="2400" dirty="0"/>
              <a:t>After the creation of heap, now remove the root element of the heap repeatedly by shifting it to the end of the array, and then store the heap structure with the remaining elements.</a:t>
            </a:r>
          </a:p>
        </p:txBody>
      </p:sp>
    </p:spTree>
    <p:extLst>
      <p:ext uri="{BB962C8B-B14F-4D97-AF65-F5344CB8AC3E}">
        <p14:creationId xmlns:p14="http://schemas.microsoft.com/office/powerpoint/2010/main" val="2925657302"/>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a:xfrm>
            <a:off x="1060315" y="666956"/>
            <a:ext cx="8229600" cy="857250"/>
          </a:xfrm>
        </p:spPr>
        <p:txBody>
          <a:bodyPr/>
          <a:lstStyle/>
          <a:p>
            <a:r>
              <a:rPr lang="en-US" dirty="0"/>
              <a:t>Working of Heap Sort</a:t>
            </a:r>
          </a:p>
        </p:txBody>
      </p:sp>
      <p:pic>
        <p:nvPicPr>
          <p:cNvPr id="3" name="Content Placeholder 2">
            <a:extLst>
              <a:ext uri="{FF2B5EF4-FFF2-40B4-BE49-F238E27FC236}">
                <a16:creationId xmlns:a16="http://schemas.microsoft.com/office/drawing/2014/main" id="{E65177FF-B2A7-410C-9E8E-D242E86BA333}"/>
              </a:ext>
            </a:extLst>
          </p:cNvPr>
          <p:cNvPicPr>
            <a:picLocks noGrp="1" noChangeAspect="1"/>
          </p:cNvPicPr>
          <p:nvPr>
            <p:ph idx="1"/>
          </p:nvPr>
        </p:nvPicPr>
        <p:blipFill>
          <a:blip r:embed="rId2"/>
          <a:stretch>
            <a:fillRect/>
          </a:stretch>
        </p:blipFill>
        <p:spPr>
          <a:xfrm>
            <a:off x="1418765" y="1810559"/>
            <a:ext cx="9666457" cy="4522147"/>
          </a:xfrm>
        </p:spPr>
      </p:pic>
    </p:spTree>
    <p:extLst>
      <p:ext uri="{BB962C8B-B14F-4D97-AF65-F5344CB8AC3E}">
        <p14:creationId xmlns:p14="http://schemas.microsoft.com/office/powerpoint/2010/main" val="1614438853"/>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a:xfrm>
            <a:off x="1693334" y="161019"/>
            <a:ext cx="6172200" cy="857250"/>
          </a:xfrm>
        </p:spPr>
        <p:txBody>
          <a:bodyPr/>
          <a:lstStyle/>
          <a:p>
            <a:r>
              <a:rPr lang="en-US" dirty="0"/>
              <a:t>Working of Heap Sort</a:t>
            </a:r>
          </a:p>
        </p:txBody>
      </p:sp>
      <p:pic>
        <p:nvPicPr>
          <p:cNvPr id="3" name="Content Placeholder 2">
            <a:extLst>
              <a:ext uri="{FF2B5EF4-FFF2-40B4-BE49-F238E27FC236}">
                <a16:creationId xmlns:a16="http://schemas.microsoft.com/office/drawing/2014/main" id="{1C05BF26-FFA3-41AE-845E-15F62A4A3AA2}"/>
              </a:ext>
            </a:extLst>
          </p:cNvPr>
          <p:cNvPicPr>
            <a:picLocks noGrp="1" noChangeAspect="1"/>
          </p:cNvPicPr>
          <p:nvPr>
            <p:ph idx="1"/>
          </p:nvPr>
        </p:nvPicPr>
        <p:blipFill>
          <a:blip r:embed="rId2"/>
          <a:stretch>
            <a:fillRect/>
          </a:stretch>
        </p:blipFill>
        <p:spPr>
          <a:xfrm>
            <a:off x="1212980" y="1018270"/>
            <a:ext cx="9731828" cy="5839730"/>
          </a:xfrm>
        </p:spPr>
      </p:pic>
    </p:spTree>
    <p:extLst>
      <p:ext uri="{BB962C8B-B14F-4D97-AF65-F5344CB8AC3E}">
        <p14:creationId xmlns:p14="http://schemas.microsoft.com/office/powerpoint/2010/main" val="3619922173"/>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a:xfrm>
            <a:off x="1583267" y="221488"/>
            <a:ext cx="8229600" cy="1143000"/>
          </a:xfrm>
        </p:spPr>
        <p:txBody>
          <a:bodyPr/>
          <a:lstStyle/>
          <a:p>
            <a:r>
              <a:rPr lang="en-US" dirty="0"/>
              <a:t>Working of Heap Sort</a:t>
            </a:r>
          </a:p>
        </p:txBody>
      </p:sp>
      <p:pic>
        <p:nvPicPr>
          <p:cNvPr id="3" name="Content Placeholder 2">
            <a:extLst>
              <a:ext uri="{FF2B5EF4-FFF2-40B4-BE49-F238E27FC236}">
                <a16:creationId xmlns:a16="http://schemas.microsoft.com/office/drawing/2014/main" id="{590E9C10-7826-4144-A8D1-FAD54916A285}"/>
              </a:ext>
            </a:extLst>
          </p:cNvPr>
          <p:cNvPicPr>
            <a:picLocks noGrp="1" noChangeAspect="1"/>
          </p:cNvPicPr>
          <p:nvPr>
            <p:ph idx="1"/>
          </p:nvPr>
        </p:nvPicPr>
        <p:blipFill>
          <a:blip r:embed="rId2"/>
          <a:stretch>
            <a:fillRect/>
          </a:stretch>
        </p:blipFill>
        <p:spPr>
          <a:xfrm>
            <a:off x="1667934" y="1447801"/>
            <a:ext cx="8737599" cy="4876800"/>
          </a:xfrm>
        </p:spPr>
      </p:pic>
    </p:spTree>
    <p:extLst>
      <p:ext uri="{BB962C8B-B14F-4D97-AF65-F5344CB8AC3E}">
        <p14:creationId xmlns:p14="http://schemas.microsoft.com/office/powerpoint/2010/main" val="2937295560"/>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lstStyle/>
          <a:p>
            <a:r>
              <a:rPr lang="en-US" dirty="0"/>
              <a:t>Working of Heap Sort</a:t>
            </a:r>
          </a:p>
        </p:txBody>
      </p:sp>
      <p:pic>
        <p:nvPicPr>
          <p:cNvPr id="3" name="Content Placeholder 2">
            <a:extLst>
              <a:ext uri="{FF2B5EF4-FFF2-40B4-BE49-F238E27FC236}">
                <a16:creationId xmlns:a16="http://schemas.microsoft.com/office/drawing/2014/main" id="{C60D6446-47FF-4311-A95B-A1EC761728E5}"/>
              </a:ext>
            </a:extLst>
          </p:cNvPr>
          <p:cNvPicPr>
            <a:picLocks noGrp="1" noChangeAspect="1"/>
          </p:cNvPicPr>
          <p:nvPr>
            <p:ph idx="1"/>
          </p:nvPr>
        </p:nvPicPr>
        <p:blipFill>
          <a:blip r:embed="rId2"/>
          <a:stretch>
            <a:fillRect/>
          </a:stretch>
        </p:blipFill>
        <p:spPr>
          <a:xfrm>
            <a:off x="1177047" y="1846264"/>
            <a:ext cx="8672602" cy="4674823"/>
          </a:xfrm>
        </p:spPr>
      </p:pic>
    </p:spTree>
    <p:extLst>
      <p:ext uri="{BB962C8B-B14F-4D97-AF65-F5344CB8AC3E}">
        <p14:creationId xmlns:p14="http://schemas.microsoft.com/office/powerpoint/2010/main" val="4092739567"/>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lstStyle/>
          <a:p>
            <a:r>
              <a:rPr lang="en-US" dirty="0"/>
              <a:t>Working of Heap Sort</a:t>
            </a:r>
          </a:p>
        </p:txBody>
      </p:sp>
      <p:pic>
        <p:nvPicPr>
          <p:cNvPr id="3" name="Content Placeholder 2">
            <a:extLst>
              <a:ext uri="{FF2B5EF4-FFF2-40B4-BE49-F238E27FC236}">
                <a16:creationId xmlns:a16="http://schemas.microsoft.com/office/drawing/2014/main" id="{A1099568-5710-4312-B13D-69D171A1F2F9}"/>
              </a:ext>
            </a:extLst>
          </p:cNvPr>
          <p:cNvPicPr>
            <a:picLocks noGrp="1" noChangeAspect="1"/>
          </p:cNvPicPr>
          <p:nvPr>
            <p:ph idx="1"/>
          </p:nvPr>
        </p:nvPicPr>
        <p:blipFill>
          <a:blip r:embed="rId2"/>
          <a:stretch>
            <a:fillRect/>
          </a:stretch>
        </p:blipFill>
        <p:spPr>
          <a:xfrm>
            <a:off x="1408565" y="1806914"/>
            <a:ext cx="8689125" cy="4764483"/>
          </a:xfrm>
        </p:spPr>
      </p:pic>
    </p:spTree>
    <p:extLst>
      <p:ext uri="{BB962C8B-B14F-4D97-AF65-F5344CB8AC3E}">
        <p14:creationId xmlns:p14="http://schemas.microsoft.com/office/powerpoint/2010/main" val="244381132"/>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lstStyle/>
          <a:p>
            <a:r>
              <a:rPr lang="en-US" dirty="0"/>
              <a:t>Working of Heap Sort</a:t>
            </a:r>
          </a:p>
        </p:txBody>
      </p:sp>
      <p:pic>
        <p:nvPicPr>
          <p:cNvPr id="3" name="Content Placeholder 2">
            <a:extLst>
              <a:ext uri="{FF2B5EF4-FFF2-40B4-BE49-F238E27FC236}">
                <a16:creationId xmlns:a16="http://schemas.microsoft.com/office/drawing/2014/main" id="{2ADA3633-6C63-4A48-B16F-25D26EB15B5D}"/>
              </a:ext>
            </a:extLst>
          </p:cNvPr>
          <p:cNvPicPr>
            <a:picLocks noGrp="1" noChangeAspect="1"/>
          </p:cNvPicPr>
          <p:nvPr>
            <p:ph idx="1"/>
          </p:nvPr>
        </p:nvPicPr>
        <p:blipFill>
          <a:blip r:embed="rId2"/>
          <a:stretch>
            <a:fillRect/>
          </a:stretch>
        </p:blipFill>
        <p:spPr>
          <a:xfrm>
            <a:off x="1514102" y="1930401"/>
            <a:ext cx="9153898" cy="4394211"/>
          </a:xfrm>
        </p:spPr>
      </p:pic>
    </p:spTree>
    <p:extLst>
      <p:ext uri="{BB962C8B-B14F-4D97-AF65-F5344CB8AC3E}">
        <p14:creationId xmlns:p14="http://schemas.microsoft.com/office/powerpoint/2010/main" val="1073222492"/>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lstStyle/>
          <a:p>
            <a:r>
              <a:rPr lang="en-US" dirty="0"/>
              <a:t>Working of Heap Sort</a:t>
            </a:r>
          </a:p>
        </p:txBody>
      </p:sp>
      <p:pic>
        <p:nvPicPr>
          <p:cNvPr id="3" name="Content Placeholder 2">
            <a:extLst>
              <a:ext uri="{FF2B5EF4-FFF2-40B4-BE49-F238E27FC236}">
                <a16:creationId xmlns:a16="http://schemas.microsoft.com/office/drawing/2014/main" id="{4BD18855-10C9-442D-8C37-958D0CF9AC8F}"/>
              </a:ext>
            </a:extLst>
          </p:cNvPr>
          <p:cNvPicPr>
            <a:picLocks noGrp="1" noChangeAspect="1"/>
          </p:cNvPicPr>
          <p:nvPr>
            <p:ph idx="1"/>
          </p:nvPr>
        </p:nvPicPr>
        <p:blipFill>
          <a:blip r:embed="rId2"/>
          <a:stretch>
            <a:fillRect/>
          </a:stretch>
        </p:blipFill>
        <p:spPr>
          <a:xfrm>
            <a:off x="1097280" y="1838797"/>
            <a:ext cx="9082729" cy="4486546"/>
          </a:xfrm>
        </p:spPr>
      </p:pic>
    </p:spTree>
    <p:extLst>
      <p:ext uri="{BB962C8B-B14F-4D97-AF65-F5344CB8AC3E}">
        <p14:creationId xmlns:p14="http://schemas.microsoft.com/office/powerpoint/2010/main" val="2952352953"/>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lstStyle/>
          <a:p>
            <a:r>
              <a:rPr lang="en-US" dirty="0"/>
              <a:t>Working of Heap Sort</a:t>
            </a:r>
          </a:p>
        </p:txBody>
      </p:sp>
      <p:pic>
        <p:nvPicPr>
          <p:cNvPr id="3" name="Content Placeholder 2">
            <a:extLst>
              <a:ext uri="{FF2B5EF4-FFF2-40B4-BE49-F238E27FC236}">
                <a16:creationId xmlns:a16="http://schemas.microsoft.com/office/drawing/2014/main" id="{AAA44FCD-EC11-481E-A545-84551DDCA5B0}"/>
              </a:ext>
            </a:extLst>
          </p:cNvPr>
          <p:cNvPicPr>
            <a:picLocks noGrp="1" noChangeAspect="1"/>
          </p:cNvPicPr>
          <p:nvPr>
            <p:ph idx="1"/>
          </p:nvPr>
        </p:nvPicPr>
        <p:blipFill>
          <a:blip r:embed="rId2"/>
          <a:stretch>
            <a:fillRect/>
          </a:stretch>
        </p:blipFill>
        <p:spPr>
          <a:xfrm>
            <a:off x="1011677" y="2057400"/>
            <a:ext cx="9522130" cy="4042111"/>
          </a:xfrm>
        </p:spPr>
      </p:pic>
    </p:spTree>
    <p:extLst>
      <p:ext uri="{BB962C8B-B14F-4D97-AF65-F5344CB8AC3E}">
        <p14:creationId xmlns:p14="http://schemas.microsoft.com/office/powerpoint/2010/main" val="2910541406"/>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lstStyle/>
          <a:p>
            <a:r>
              <a:rPr lang="en-US" dirty="0"/>
              <a:t>Working of Heap Sort</a:t>
            </a:r>
          </a:p>
        </p:txBody>
      </p:sp>
      <p:pic>
        <p:nvPicPr>
          <p:cNvPr id="3" name="Content Placeholder 2">
            <a:extLst>
              <a:ext uri="{FF2B5EF4-FFF2-40B4-BE49-F238E27FC236}">
                <a16:creationId xmlns:a16="http://schemas.microsoft.com/office/drawing/2014/main" id="{D7B18643-B05F-4D93-AD76-5FE8FF4DFA4E}"/>
              </a:ext>
            </a:extLst>
          </p:cNvPr>
          <p:cNvPicPr>
            <a:picLocks noGrp="1" noChangeAspect="1"/>
          </p:cNvPicPr>
          <p:nvPr>
            <p:ph idx="1"/>
          </p:nvPr>
        </p:nvPicPr>
        <p:blipFill>
          <a:blip r:embed="rId2"/>
          <a:stretch>
            <a:fillRect/>
          </a:stretch>
        </p:blipFill>
        <p:spPr>
          <a:xfrm>
            <a:off x="1845736" y="2010317"/>
            <a:ext cx="8297332" cy="4725486"/>
          </a:xfrm>
        </p:spPr>
      </p:pic>
    </p:spTree>
    <p:extLst>
      <p:ext uri="{BB962C8B-B14F-4D97-AF65-F5344CB8AC3E}">
        <p14:creationId xmlns:p14="http://schemas.microsoft.com/office/powerpoint/2010/main" val="3546270472"/>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11F6-F461-844D-6343-A967A43F0587}"/>
              </a:ext>
            </a:extLst>
          </p:cNvPr>
          <p:cNvSpPr>
            <a:spLocks noGrp="1"/>
          </p:cNvSpPr>
          <p:nvPr>
            <p:ph type="title"/>
          </p:nvPr>
        </p:nvSpPr>
        <p:spPr/>
        <p:txBody>
          <a:bodyPr/>
          <a:lstStyle/>
          <a:p>
            <a:r>
              <a:rPr lang="en-US" dirty="0"/>
              <a:t>Time Complexity</a:t>
            </a:r>
          </a:p>
        </p:txBody>
      </p:sp>
      <p:sp>
        <p:nvSpPr>
          <p:cNvPr id="3" name="Content Placeholder 2">
            <a:extLst>
              <a:ext uri="{FF2B5EF4-FFF2-40B4-BE49-F238E27FC236}">
                <a16:creationId xmlns:a16="http://schemas.microsoft.com/office/drawing/2014/main" id="{23512B4C-D9A4-875B-035B-73AA2CD45CDC}"/>
              </a:ext>
            </a:extLst>
          </p:cNvPr>
          <p:cNvSpPr>
            <a:spLocks noGrp="1"/>
          </p:cNvSpPr>
          <p:nvPr>
            <p:ph idx="1"/>
          </p:nvPr>
        </p:nvSpPr>
        <p:spPr/>
        <p:txBody>
          <a:bodyPr/>
          <a:lstStyle/>
          <a:p>
            <a:pPr algn="l">
              <a:spcBef>
                <a:spcPts val="1875"/>
              </a:spcBef>
              <a:spcAft>
                <a:spcPts val="750"/>
              </a:spcAft>
              <a:buFont typeface="Arial" panose="020B0604020202020204" pitchFamily="34" charset="0"/>
              <a:buChar char="•"/>
            </a:pPr>
            <a:r>
              <a:rPr lang="en-US" b="1" i="0" dirty="0">
                <a:solidFill>
                  <a:srgbClr val="344054"/>
                </a:solidFill>
                <a:effectLst/>
                <a:latin typeface="Source Sans 3"/>
              </a:rPr>
              <a:t>Best Case:</a:t>
            </a:r>
            <a:r>
              <a:rPr lang="en-US" b="0" i="0" dirty="0">
                <a:solidFill>
                  <a:srgbClr val="344054"/>
                </a:solidFill>
                <a:effectLst/>
                <a:latin typeface="Source Sans 3"/>
              </a:rPr>
              <a:t> The best-case time complexity for heap sort remains O(n log n), as regardless of the input arrangement, the process involves building a heap and performing subsequent removals which each take logarithmic time.</a:t>
            </a:r>
          </a:p>
          <a:p>
            <a:pPr algn="l">
              <a:spcBef>
                <a:spcPts val="1875"/>
              </a:spcBef>
              <a:spcAft>
                <a:spcPts val="750"/>
              </a:spcAft>
              <a:buFont typeface="Arial" panose="020B0604020202020204" pitchFamily="34" charset="0"/>
              <a:buChar char="•"/>
            </a:pPr>
            <a:r>
              <a:rPr lang="en-US" b="1" i="0" dirty="0">
                <a:solidFill>
                  <a:srgbClr val="344054"/>
                </a:solidFill>
                <a:effectLst/>
                <a:latin typeface="Source Sans 3"/>
              </a:rPr>
              <a:t>Worst Case:</a:t>
            </a:r>
            <a:r>
              <a:rPr lang="en-US" b="0" i="0" dirty="0">
                <a:solidFill>
                  <a:srgbClr val="344054"/>
                </a:solidFill>
                <a:effectLst/>
                <a:latin typeface="Source Sans 3"/>
              </a:rPr>
              <a:t> The worst-case time complexity also clocks in at O(n log n). This happens due to maintaining the heap during element extraction, which involves index adjustments at each level of the heap structure.</a:t>
            </a:r>
          </a:p>
          <a:p>
            <a:r>
              <a:rPr lang="en-US" b="0" i="0" dirty="0">
                <a:solidFill>
                  <a:srgbClr val="344054"/>
                </a:solidFill>
                <a:effectLst/>
                <a:latin typeface="Source Sans 3"/>
              </a:rPr>
              <a:t>In both scenarios, the consistent time complexity signifies its efficiency across diverse data layouts.</a:t>
            </a:r>
            <a:endParaRPr lang="en-US" dirty="0"/>
          </a:p>
        </p:txBody>
      </p:sp>
    </p:spTree>
    <p:extLst>
      <p:ext uri="{BB962C8B-B14F-4D97-AF65-F5344CB8AC3E}">
        <p14:creationId xmlns:p14="http://schemas.microsoft.com/office/powerpoint/2010/main" val="831822714"/>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14ACC-9378-1184-9ECF-559B21A5BE98}"/>
              </a:ext>
            </a:extLst>
          </p:cNvPr>
          <p:cNvSpPr>
            <a:spLocks noGrp="1"/>
          </p:cNvSpPr>
          <p:nvPr>
            <p:ph type="title"/>
          </p:nvPr>
        </p:nvSpPr>
        <p:spPr/>
        <p:txBody>
          <a:bodyPr/>
          <a:lstStyle/>
          <a:p>
            <a:r>
              <a:rPr lang="en-US" dirty="0"/>
              <a:t>Space Complexity</a:t>
            </a:r>
          </a:p>
        </p:txBody>
      </p:sp>
      <p:sp>
        <p:nvSpPr>
          <p:cNvPr id="3" name="Content Placeholder 2">
            <a:extLst>
              <a:ext uri="{FF2B5EF4-FFF2-40B4-BE49-F238E27FC236}">
                <a16:creationId xmlns:a16="http://schemas.microsoft.com/office/drawing/2014/main" id="{679CFB98-C7D4-3158-0FD2-3AAF578EBB18}"/>
              </a:ext>
            </a:extLst>
          </p:cNvPr>
          <p:cNvSpPr>
            <a:spLocks noGrp="1"/>
          </p:cNvSpPr>
          <p:nvPr>
            <p:ph idx="1"/>
          </p:nvPr>
        </p:nvSpPr>
        <p:spPr/>
        <p:txBody>
          <a:bodyPr>
            <a:normAutofit/>
          </a:bodyPr>
          <a:lstStyle/>
          <a:p>
            <a:r>
              <a:rPr lang="en-US" sz="2400" b="0" i="0" dirty="0">
                <a:solidFill>
                  <a:srgbClr val="344054"/>
                </a:solidFill>
                <a:effectLst/>
                <a:latin typeface="Source Sans 3"/>
              </a:rPr>
              <a:t>A key feature of </a:t>
            </a:r>
            <a:r>
              <a:rPr lang="en-US" sz="2400" b="1" i="0" dirty="0">
                <a:solidFill>
                  <a:srgbClr val="344054"/>
                </a:solidFill>
                <a:effectLst/>
                <a:latin typeface="Source Sans 3"/>
              </a:rPr>
              <a:t>heap sort</a:t>
            </a:r>
            <a:r>
              <a:rPr lang="en-US" sz="2400" b="0" i="0" dirty="0">
                <a:solidFill>
                  <a:srgbClr val="344054"/>
                </a:solidFill>
                <a:effectLst/>
                <a:latin typeface="Source Sans 3"/>
              </a:rPr>
              <a:t> in comparison to other sorting methods is its efficient use of memory: The space complexity for heap sort is O(1), which means it sorts the list in place. This stands in contrast to methods such as </a:t>
            </a:r>
            <a:r>
              <a:rPr lang="en-US" sz="2400" b="1" i="0" u="none" strike="noStrike" dirty="0">
                <a:solidFill>
                  <a:srgbClr val="2563EB"/>
                </a:solidFill>
                <a:effectLst/>
                <a:latin typeface="Source Sans 3"/>
              </a:rPr>
              <a:t>Merge Sort</a:t>
            </a:r>
            <a:r>
              <a:rPr lang="en-US" sz="2400" b="0" i="0" dirty="0">
                <a:solidFill>
                  <a:srgbClr val="344054"/>
                </a:solidFill>
                <a:effectLst/>
                <a:latin typeface="Source Sans 3"/>
              </a:rPr>
              <a:t>, which require additional storage space proportional to the size of the dataset. The in-place sorting mechanism of heap sort not only enhances performance for larger data sets but also streamlines operation within constrained memory contexts.</a:t>
            </a:r>
            <a:endParaRPr lang="en-US" sz="2400" dirty="0"/>
          </a:p>
        </p:txBody>
      </p:sp>
    </p:spTree>
    <p:extLst>
      <p:ext uri="{BB962C8B-B14F-4D97-AF65-F5344CB8AC3E}">
        <p14:creationId xmlns:p14="http://schemas.microsoft.com/office/powerpoint/2010/main" val="804903462"/>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5255C-0883-3C31-71FD-9040313EE4D2}"/>
              </a:ext>
            </a:extLst>
          </p:cNvPr>
          <p:cNvSpPr>
            <a:spLocks noGrp="1"/>
          </p:cNvSpPr>
          <p:nvPr>
            <p:ph type="title"/>
          </p:nvPr>
        </p:nvSpPr>
        <p:spPr/>
        <p:txBody>
          <a:bodyPr/>
          <a:lstStyle/>
          <a:p>
            <a:r>
              <a:rPr lang="en-US" dirty="0"/>
              <a:t>Quick Sort Algorithm</a:t>
            </a:r>
          </a:p>
        </p:txBody>
      </p:sp>
      <p:sp>
        <p:nvSpPr>
          <p:cNvPr id="3" name="Content Placeholder 2">
            <a:extLst>
              <a:ext uri="{FF2B5EF4-FFF2-40B4-BE49-F238E27FC236}">
                <a16:creationId xmlns:a16="http://schemas.microsoft.com/office/drawing/2014/main" id="{3816CBE6-E4FD-033D-6752-DE026307036C}"/>
              </a:ext>
            </a:extLst>
          </p:cNvPr>
          <p:cNvSpPr>
            <a:spLocks noGrp="1"/>
          </p:cNvSpPr>
          <p:nvPr>
            <p:ph idx="1"/>
          </p:nvPr>
        </p:nvSpPr>
        <p:spPr/>
        <p:txBody>
          <a:bodyPr>
            <a:normAutofit/>
          </a:bodyPr>
          <a:lstStyle/>
          <a:p>
            <a:r>
              <a:rPr lang="en-US" sz="2400" dirty="0"/>
              <a:t>Quick sort is a highly efficient sorting algorithm and is based on partitioning of array of data into smaller arrays. </a:t>
            </a:r>
          </a:p>
          <a:p>
            <a:r>
              <a:rPr lang="en-US" sz="2400" dirty="0"/>
              <a:t>A large array is partitioned into two arrays one of which holds values smaller than the specified value, say pivot, based on which the partition is made and another array holds values greater than the pivot value.</a:t>
            </a:r>
          </a:p>
          <a:p>
            <a:r>
              <a:rPr lang="en-US" sz="2400" dirty="0"/>
              <a:t>Quicksort partitions an array and then calls itself recursively twice to sort the two resulting subarrays. </a:t>
            </a:r>
          </a:p>
          <a:p>
            <a:r>
              <a:rPr lang="en-US" sz="2400" dirty="0"/>
              <a:t>This algorithm is quite efficient for large-sized data sets as its average and worst-case complexity are O(n2), respectively.</a:t>
            </a:r>
          </a:p>
        </p:txBody>
      </p:sp>
    </p:spTree>
    <p:extLst>
      <p:ext uri="{BB962C8B-B14F-4D97-AF65-F5344CB8AC3E}">
        <p14:creationId xmlns:p14="http://schemas.microsoft.com/office/powerpoint/2010/main" val="3994266226"/>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BC2CA-41E9-6854-975C-148E2C4604E0}"/>
              </a:ext>
            </a:extLst>
          </p:cNvPr>
          <p:cNvSpPr>
            <a:spLocks noGrp="1"/>
          </p:cNvSpPr>
          <p:nvPr>
            <p:ph type="title"/>
          </p:nvPr>
        </p:nvSpPr>
        <p:spPr/>
        <p:txBody>
          <a:bodyPr/>
          <a:lstStyle/>
          <a:p>
            <a:endParaRPr lang="en-US"/>
          </a:p>
        </p:txBody>
      </p:sp>
      <p:pic>
        <p:nvPicPr>
          <p:cNvPr id="1026" name="Picture 2" descr="Quick Sort Partition Animation">
            <a:extLst>
              <a:ext uri="{FF2B5EF4-FFF2-40B4-BE49-F238E27FC236}">
                <a16:creationId xmlns:a16="http://schemas.microsoft.com/office/drawing/2014/main" id="{20A902FF-039C-2DA8-5B79-E61B159BABA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7280" y="1846072"/>
            <a:ext cx="9766189" cy="3906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2583318"/>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0"/>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GB"/>
              <a:t>Quick Sort Basics</a:t>
            </a:r>
            <a:endParaRPr/>
          </a:p>
        </p:txBody>
      </p:sp>
      <p:sp>
        <p:nvSpPr>
          <p:cNvPr id="163" name="Google Shape;163;p20"/>
          <p:cNvSpPr txBox="1">
            <a:spLocks noGrp="1"/>
          </p:cNvSpPr>
          <p:nvPr>
            <p:ph type="body" idx="1"/>
          </p:nvPr>
        </p:nvSpPr>
        <p:spPr>
          <a:xfrm>
            <a:off x="1292087" y="1878496"/>
            <a:ext cx="9442174" cy="4247668"/>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spcAft>
                <a:spcPts val="0"/>
              </a:spcAft>
              <a:buClr>
                <a:schemeClr val="dk1"/>
              </a:buClr>
              <a:buSzPts val="3200"/>
              <a:buChar char="•"/>
            </a:pPr>
            <a:r>
              <a:rPr lang="en-GB" sz="2800" b="1" dirty="0"/>
              <a:t>Quick sort</a:t>
            </a:r>
            <a:r>
              <a:rPr lang="en-GB" sz="2800" dirty="0"/>
              <a:t> uses </a:t>
            </a:r>
            <a:r>
              <a:rPr lang="en-GB" sz="2800" dirty="0">
                <a:solidFill>
                  <a:srgbClr val="FF0000"/>
                </a:solidFill>
              </a:rPr>
              <a:t>divide and conquer </a:t>
            </a:r>
            <a:r>
              <a:rPr lang="en-GB" sz="2800" dirty="0"/>
              <a:t>to gain the same advantages as the merge sort.</a:t>
            </a:r>
            <a:endParaRPr sz="2800" dirty="0"/>
          </a:p>
          <a:p>
            <a:pPr marL="342900" indent="-342900" algn="just">
              <a:spcBef>
                <a:spcPts val="640"/>
              </a:spcBef>
              <a:spcAft>
                <a:spcPts val="0"/>
              </a:spcAft>
              <a:buClr>
                <a:schemeClr val="dk1"/>
              </a:buClr>
              <a:buSzPts val="3200"/>
              <a:buChar char="•"/>
            </a:pPr>
            <a:r>
              <a:rPr lang="en-GB" sz="2800" dirty="0"/>
              <a:t>The list is </a:t>
            </a:r>
            <a:r>
              <a:rPr lang="en-GB" sz="2800" dirty="0">
                <a:solidFill>
                  <a:srgbClr val="FF0000"/>
                </a:solidFill>
              </a:rPr>
              <a:t>logically divided in half.</a:t>
            </a:r>
            <a:endParaRPr sz="2800" dirty="0"/>
          </a:p>
          <a:p>
            <a:pPr marL="342900" indent="-342900" algn="just">
              <a:spcBef>
                <a:spcPts val="640"/>
              </a:spcBef>
              <a:spcAft>
                <a:spcPts val="0"/>
              </a:spcAft>
              <a:buClr>
                <a:schemeClr val="dk1"/>
              </a:buClr>
              <a:buSzPts val="3200"/>
              <a:buChar char="•"/>
            </a:pPr>
            <a:r>
              <a:rPr lang="en-GB" sz="2800" dirty="0"/>
              <a:t>Pivot value</a:t>
            </a:r>
            <a:endParaRPr sz="2800" dirty="0"/>
          </a:p>
          <a:p>
            <a:pPr marL="742950" lvl="1" indent="-285750" algn="just">
              <a:spcBef>
                <a:spcPts val="560"/>
              </a:spcBef>
              <a:spcAft>
                <a:spcPts val="0"/>
              </a:spcAft>
              <a:buClr>
                <a:schemeClr val="dk1"/>
              </a:buClr>
              <a:buSzPts val="2800"/>
              <a:buChar char="–"/>
            </a:pPr>
            <a:r>
              <a:rPr lang="en-GB" sz="2400" dirty="0"/>
              <a:t>A quick sort first selects any value from array , which is called the </a:t>
            </a:r>
            <a:r>
              <a:rPr lang="en-GB" sz="2400" b="1" dirty="0"/>
              <a:t>pivot value.</a:t>
            </a:r>
            <a:endParaRPr sz="24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GB"/>
              <a:t>Step: 01 Pivot Value</a:t>
            </a:r>
            <a:endParaRPr/>
          </a:p>
        </p:txBody>
      </p:sp>
      <p:sp>
        <p:nvSpPr>
          <p:cNvPr id="169" name="Google Shape;169;p21"/>
          <p:cNvSpPr txBox="1">
            <a:spLocks noGrp="1"/>
          </p:cNvSpPr>
          <p:nvPr>
            <p:ph type="body" idx="1"/>
          </p:nvPr>
        </p:nvSpPr>
        <p:spPr>
          <a:xfrm>
            <a:off x="2024034" y="2792896"/>
            <a:ext cx="8229600" cy="3339547"/>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spcAft>
                <a:spcPts val="0"/>
              </a:spcAft>
              <a:buClr>
                <a:schemeClr val="dk1"/>
              </a:buClr>
              <a:buSzPts val="3200"/>
              <a:buChar char="•"/>
            </a:pPr>
            <a:r>
              <a:rPr lang="en-GB" sz="2400" dirty="0"/>
              <a:t>What is the pivot value in above array:</a:t>
            </a:r>
            <a:endParaRPr sz="2400" dirty="0"/>
          </a:p>
          <a:p>
            <a:pPr marL="742950" lvl="1" indent="-285750">
              <a:spcBef>
                <a:spcPts val="560"/>
              </a:spcBef>
              <a:spcAft>
                <a:spcPts val="0"/>
              </a:spcAft>
              <a:buClr>
                <a:schemeClr val="dk1"/>
              </a:buClr>
              <a:buSzPts val="2800"/>
              <a:buChar char="–"/>
            </a:pPr>
            <a:r>
              <a:rPr lang="en-GB" sz="2000" dirty="0"/>
              <a:t>First item of array</a:t>
            </a:r>
            <a:endParaRPr sz="2000" dirty="0"/>
          </a:p>
          <a:p>
            <a:pPr marL="742950" lvl="1" indent="-285750">
              <a:spcBef>
                <a:spcPts val="560"/>
              </a:spcBef>
              <a:spcAft>
                <a:spcPts val="0"/>
              </a:spcAft>
              <a:buClr>
                <a:schemeClr val="dk1"/>
              </a:buClr>
              <a:buSzPts val="2800"/>
              <a:buChar char="–"/>
            </a:pPr>
            <a:r>
              <a:rPr lang="en-GB" sz="2000" dirty="0"/>
              <a:t>Last item of array</a:t>
            </a:r>
            <a:endParaRPr sz="2000" dirty="0"/>
          </a:p>
          <a:p>
            <a:pPr marL="742950" lvl="1" indent="-285750">
              <a:spcBef>
                <a:spcPts val="560"/>
              </a:spcBef>
              <a:spcAft>
                <a:spcPts val="0"/>
              </a:spcAft>
              <a:buClr>
                <a:schemeClr val="dk1"/>
              </a:buClr>
              <a:buSzPts val="2800"/>
              <a:buChar char="–"/>
            </a:pPr>
            <a:r>
              <a:rPr lang="en-GB" sz="2000" dirty="0"/>
              <a:t>Select Pivot Randomly</a:t>
            </a:r>
            <a:endParaRPr sz="2000" dirty="0"/>
          </a:p>
          <a:p>
            <a:pPr marL="342900" indent="-342900">
              <a:spcBef>
                <a:spcPts val="640"/>
              </a:spcBef>
              <a:spcAft>
                <a:spcPts val="0"/>
              </a:spcAft>
              <a:buClr>
                <a:schemeClr val="dk1"/>
              </a:buClr>
              <a:buSzPts val="3200"/>
              <a:buChar char="•"/>
            </a:pPr>
            <a:r>
              <a:rPr lang="en-GB" sz="2400" dirty="0"/>
              <a:t>The pivot value is used to split the list.</a:t>
            </a:r>
            <a:endParaRPr dirty="0"/>
          </a:p>
        </p:txBody>
      </p:sp>
      <p:pic>
        <p:nvPicPr>
          <p:cNvPr id="170" name="Google Shape;170;p21"/>
          <p:cNvPicPr preferRelativeResize="0"/>
          <p:nvPr/>
        </p:nvPicPr>
        <p:blipFill rotWithShape="1">
          <a:blip r:embed="rId3">
            <a:alphaModFix/>
          </a:blip>
          <a:srcRect/>
          <a:stretch/>
        </p:blipFill>
        <p:spPr>
          <a:xfrm>
            <a:off x="1981200" y="1417638"/>
            <a:ext cx="7689574" cy="1375258"/>
          </a:xfrm>
          <a:prstGeom prst="rect">
            <a:avLst/>
          </a:prstGeom>
          <a:noFill/>
          <a:ln>
            <a:noFill/>
          </a:ln>
        </p:spPr>
      </p:pic>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GB"/>
              <a:t>Step 2: Left Mark and Right Mark</a:t>
            </a:r>
            <a:endParaRPr/>
          </a:p>
        </p:txBody>
      </p:sp>
      <p:pic>
        <p:nvPicPr>
          <p:cNvPr id="176" name="Google Shape;176;p22"/>
          <p:cNvPicPr preferRelativeResize="0"/>
          <p:nvPr/>
        </p:nvPicPr>
        <p:blipFill rotWithShape="1">
          <a:blip r:embed="rId3">
            <a:alphaModFix/>
          </a:blip>
          <a:srcRect/>
          <a:stretch/>
        </p:blipFill>
        <p:spPr>
          <a:xfrm>
            <a:off x="1659835" y="1643049"/>
            <a:ext cx="7150809" cy="1285883"/>
          </a:xfrm>
          <a:prstGeom prst="rect">
            <a:avLst/>
          </a:prstGeom>
          <a:noFill/>
          <a:ln>
            <a:noFill/>
          </a:ln>
        </p:spPr>
      </p:pic>
      <p:pic>
        <p:nvPicPr>
          <p:cNvPr id="177" name="Google Shape;177;p22"/>
          <p:cNvPicPr preferRelativeResize="0"/>
          <p:nvPr/>
        </p:nvPicPr>
        <p:blipFill rotWithShape="1">
          <a:blip r:embed="rId4">
            <a:alphaModFix/>
          </a:blip>
          <a:srcRect/>
          <a:stretch/>
        </p:blipFill>
        <p:spPr>
          <a:xfrm>
            <a:off x="2117034" y="3429000"/>
            <a:ext cx="6878373" cy="1984725"/>
          </a:xfrm>
          <a:prstGeom prst="rect">
            <a:avLst/>
          </a:prstGeom>
          <a:noFill/>
          <a:ln>
            <a:noFill/>
          </a:ln>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3"/>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GB"/>
              <a:t>Step 3: Rule for Pivot value</a:t>
            </a:r>
            <a:endParaRPr/>
          </a:p>
        </p:txBody>
      </p:sp>
      <p:pic>
        <p:nvPicPr>
          <p:cNvPr id="184" name="Google Shape;184;p23"/>
          <p:cNvPicPr preferRelativeResize="0"/>
          <p:nvPr/>
        </p:nvPicPr>
        <p:blipFill rotWithShape="1">
          <a:blip r:embed="rId3">
            <a:alphaModFix/>
          </a:blip>
          <a:srcRect/>
          <a:stretch/>
        </p:blipFill>
        <p:spPr>
          <a:xfrm>
            <a:off x="2484783" y="4144617"/>
            <a:ext cx="6907571" cy="1856151"/>
          </a:xfrm>
          <a:prstGeom prst="rect">
            <a:avLst/>
          </a:prstGeom>
          <a:noFill/>
          <a:ln>
            <a:noFill/>
          </a:ln>
        </p:spPr>
      </p:pic>
      <p:sp>
        <p:nvSpPr>
          <p:cNvPr id="2" name="Google Shape;217;p27">
            <a:extLst>
              <a:ext uri="{FF2B5EF4-FFF2-40B4-BE49-F238E27FC236}">
                <a16:creationId xmlns:a16="http://schemas.microsoft.com/office/drawing/2014/main" id="{44F0BCE6-912D-D9A4-C8A3-E879B6A1E41C}"/>
              </a:ext>
            </a:extLst>
          </p:cNvPr>
          <p:cNvSpPr txBox="1">
            <a:spLocks noGrp="1"/>
          </p:cNvSpPr>
          <p:nvPr>
            <p:ph type="body" idx="1"/>
          </p:nvPr>
        </p:nvSpPr>
        <p:spPr>
          <a:xfrm>
            <a:off x="1003300" y="1600200"/>
            <a:ext cx="10247313" cy="4525963"/>
          </a:xfrm>
          <a:prstGeom prst="rect">
            <a:avLst/>
          </a:prstGeom>
          <a:noFill/>
          <a:ln>
            <a:noFill/>
          </a:ln>
        </p:spPr>
        <p:txBody>
          <a:bodyPr spcFirstLastPara="1" wrap="square" lIns="91425" tIns="45700" rIns="91425" bIns="45700" anchor="t" anchorCtr="0">
            <a:normAutofit/>
          </a:bodyPr>
          <a:lstStyle/>
          <a:p>
            <a:pPr marL="342900" indent="-342900" algn="just">
              <a:buClr>
                <a:schemeClr val="dk1"/>
              </a:buClr>
              <a:buSzPts val="3200"/>
              <a:buFont typeface="Arial"/>
              <a:buChar char="•"/>
            </a:pPr>
            <a:r>
              <a:rPr lang="en-GB" sz="2400" dirty="0">
                <a:solidFill>
                  <a:schemeClr val="dk1"/>
                </a:solidFill>
                <a:latin typeface="Calibri"/>
                <a:ea typeface="Calibri"/>
                <a:cs typeface="Calibri"/>
                <a:sym typeface="Calibri"/>
              </a:rPr>
              <a:t>Left: The array element on the </a:t>
            </a:r>
            <a:r>
              <a:rPr lang="en-GB" sz="2400" dirty="0" err="1">
                <a:solidFill>
                  <a:schemeClr val="dk1"/>
                </a:solidFill>
                <a:latin typeface="Calibri"/>
                <a:ea typeface="Calibri"/>
                <a:cs typeface="Calibri"/>
                <a:sym typeface="Calibri"/>
              </a:rPr>
              <a:t>leftmark</a:t>
            </a:r>
            <a:r>
              <a:rPr lang="en-GB" sz="2400" dirty="0">
                <a:solidFill>
                  <a:schemeClr val="dk1"/>
                </a:solidFill>
                <a:latin typeface="Calibri"/>
                <a:ea typeface="Calibri"/>
                <a:cs typeface="Calibri"/>
                <a:sym typeface="Calibri"/>
              </a:rPr>
              <a:t> must be greater than the pivot value.</a:t>
            </a:r>
            <a:endParaRPr sz="1400" dirty="0"/>
          </a:p>
          <a:p>
            <a:pPr marL="342900" indent="-342900" algn="just">
              <a:spcBef>
                <a:spcPts val="640"/>
              </a:spcBef>
              <a:buClr>
                <a:schemeClr val="dk1"/>
              </a:buClr>
              <a:buSzPts val="3200"/>
              <a:buFont typeface="Arial"/>
              <a:buChar char="•"/>
            </a:pPr>
            <a:r>
              <a:rPr lang="en-GB" sz="2400" dirty="0">
                <a:solidFill>
                  <a:schemeClr val="dk1"/>
                </a:solidFill>
                <a:latin typeface="Calibri"/>
                <a:ea typeface="Calibri"/>
                <a:cs typeface="Calibri"/>
                <a:sym typeface="Calibri"/>
              </a:rPr>
              <a:t>Right: The array element on the right mark must be less than the pivot value.</a:t>
            </a:r>
            <a:endParaRPr sz="2400" dirty="0">
              <a:solidFill>
                <a:schemeClr val="dk1"/>
              </a:solidFill>
              <a:latin typeface="Calibri"/>
              <a:ea typeface="Calibri"/>
              <a:cs typeface="Calibri"/>
              <a:sym typeface="Calibri"/>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GB"/>
              <a:t>Step 4: Rule for Pivot value</a:t>
            </a:r>
            <a:endParaRPr/>
          </a:p>
        </p:txBody>
      </p:sp>
      <p:pic>
        <p:nvPicPr>
          <p:cNvPr id="191" name="Google Shape;191;p24"/>
          <p:cNvPicPr preferRelativeResize="0"/>
          <p:nvPr/>
        </p:nvPicPr>
        <p:blipFill rotWithShape="1">
          <a:blip r:embed="rId3">
            <a:alphaModFix/>
          </a:blip>
          <a:srcRect/>
          <a:stretch/>
        </p:blipFill>
        <p:spPr>
          <a:xfrm>
            <a:off x="2524101" y="4714884"/>
            <a:ext cx="7553475" cy="1571636"/>
          </a:xfrm>
          <a:prstGeom prst="rect">
            <a:avLst/>
          </a:prstGeom>
          <a:noFill/>
          <a:ln>
            <a:noFill/>
          </a:ln>
        </p:spPr>
      </p:pic>
      <p:sp>
        <p:nvSpPr>
          <p:cNvPr id="192" name="Google Shape;192;p24"/>
          <p:cNvSpPr/>
          <p:nvPr/>
        </p:nvSpPr>
        <p:spPr>
          <a:xfrm>
            <a:off x="3452794" y="5786454"/>
            <a:ext cx="1428760" cy="642942"/>
          </a:xfrm>
          <a:prstGeom prst="rect">
            <a:avLst/>
          </a:prstGeom>
          <a:solidFill>
            <a:schemeClr val="accent1">
              <a:alpha val="13725"/>
            </a:schemeClr>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2" name="Google Shape;217;p27">
            <a:extLst>
              <a:ext uri="{FF2B5EF4-FFF2-40B4-BE49-F238E27FC236}">
                <a16:creationId xmlns:a16="http://schemas.microsoft.com/office/drawing/2014/main" id="{4DA125C0-5DA1-C3B7-604A-1EB18DF3AD70}"/>
              </a:ext>
            </a:extLst>
          </p:cNvPr>
          <p:cNvSpPr txBox="1">
            <a:spLocks noGrp="1"/>
          </p:cNvSpPr>
          <p:nvPr>
            <p:ph type="body" idx="1"/>
          </p:nvPr>
        </p:nvSpPr>
        <p:spPr>
          <a:xfrm>
            <a:off x="1133475" y="1600200"/>
            <a:ext cx="10147300" cy="4525963"/>
          </a:xfrm>
          <a:prstGeom prst="rect">
            <a:avLst/>
          </a:prstGeom>
          <a:noFill/>
          <a:ln>
            <a:noFill/>
          </a:ln>
        </p:spPr>
        <p:txBody>
          <a:bodyPr spcFirstLastPara="1" wrap="square" lIns="91425" tIns="45700" rIns="91425" bIns="45700" anchor="t" anchorCtr="0">
            <a:normAutofit/>
          </a:bodyPr>
          <a:lstStyle/>
          <a:p>
            <a:pPr marL="342900" indent="-342900" algn="just">
              <a:buClr>
                <a:schemeClr val="dk1"/>
              </a:buClr>
              <a:buSzPts val="3200"/>
              <a:buFont typeface="Arial"/>
              <a:buChar char="•"/>
            </a:pPr>
            <a:r>
              <a:rPr lang="en-GB" sz="2400" dirty="0">
                <a:solidFill>
                  <a:schemeClr val="dk1"/>
                </a:solidFill>
                <a:latin typeface="Calibri"/>
                <a:ea typeface="Calibri"/>
                <a:cs typeface="Calibri"/>
                <a:sym typeface="Calibri"/>
              </a:rPr>
              <a:t>Left: The array element on the </a:t>
            </a:r>
            <a:r>
              <a:rPr lang="en-GB" sz="2400" dirty="0" err="1">
                <a:solidFill>
                  <a:schemeClr val="dk1"/>
                </a:solidFill>
                <a:latin typeface="Calibri"/>
                <a:ea typeface="Calibri"/>
                <a:cs typeface="Calibri"/>
                <a:sym typeface="Calibri"/>
              </a:rPr>
              <a:t>leftmark</a:t>
            </a:r>
            <a:r>
              <a:rPr lang="en-GB" sz="2400" dirty="0">
                <a:solidFill>
                  <a:schemeClr val="dk1"/>
                </a:solidFill>
                <a:latin typeface="Calibri"/>
                <a:ea typeface="Calibri"/>
                <a:cs typeface="Calibri"/>
                <a:sym typeface="Calibri"/>
              </a:rPr>
              <a:t> must be greater than the pivot value.</a:t>
            </a:r>
            <a:endParaRPr sz="1400" dirty="0"/>
          </a:p>
          <a:p>
            <a:pPr marL="342900" indent="-342900" algn="just">
              <a:spcBef>
                <a:spcPts val="640"/>
              </a:spcBef>
              <a:buClr>
                <a:schemeClr val="dk1"/>
              </a:buClr>
              <a:buSzPts val="3200"/>
              <a:buFont typeface="Arial"/>
              <a:buChar char="•"/>
            </a:pPr>
            <a:r>
              <a:rPr lang="en-GB" sz="2400" dirty="0">
                <a:solidFill>
                  <a:schemeClr val="dk1"/>
                </a:solidFill>
                <a:latin typeface="Calibri"/>
                <a:ea typeface="Calibri"/>
                <a:cs typeface="Calibri"/>
                <a:sym typeface="Calibri"/>
              </a:rPr>
              <a:t>Right: The array element on the right mark must be less than the pivot value.</a:t>
            </a:r>
            <a:endParaRPr sz="2400" dirty="0">
              <a:solidFill>
                <a:schemeClr val="dk1"/>
              </a:solidFill>
              <a:latin typeface="Calibri"/>
              <a:ea typeface="Calibri"/>
              <a:cs typeface="Calibri"/>
              <a:sym typeface="Calibri"/>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GB"/>
              <a:t>Step 5: Rule for Pivot value</a:t>
            </a:r>
            <a:endParaRPr/>
          </a:p>
        </p:txBody>
      </p:sp>
      <p:pic>
        <p:nvPicPr>
          <p:cNvPr id="199" name="Google Shape;199;p25"/>
          <p:cNvPicPr preferRelativeResize="0"/>
          <p:nvPr/>
        </p:nvPicPr>
        <p:blipFill rotWithShape="1">
          <a:blip r:embed="rId3">
            <a:alphaModFix/>
          </a:blip>
          <a:srcRect/>
          <a:stretch/>
        </p:blipFill>
        <p:spPr>
          <a:xfrm>
            <a:off x="2295939" y="3975653"/>
            <a:ext cx="7914861" cy="2227768"/>
          </a:xfrm>
          <a:prstGeom prst="rect">
            <a:avLst/>
          </a:prstGeom>
          <a:noFill/>
          <a:ln>
            <a:noFill/>
          </a:ln>
        </p:spPr>
      </p:pic>
      <p:sp>
        <p:nvSpPr>
          <p:cNvPr id="200" name="Google Shape;200;p25"/>
          <p:cNvSpPr/>
          <p:nvPr/>
        </p:nvSpPr>
        <p:spPr>
          <a:xfrm>
            <a:off x="6810380" y="5643578"/>
            <a:ext cx="1428760" cy="642942"/>
          </a:xfrm>
          <a:prstGeom prst="rect">
            <a:avLst/>
          </a:prstGeom>
          <a:solidFill>
            <a:schemeClr val="accent1">
              <a:alpha val="13725"/>
            </a:schemeClr>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2" name="Google Shape;217;p27">
            <a:extLst>
              <a:ext uri="{FF2B5EF4-FFF2-40B4-BE49-F238E27FC236}">
                <a16:creationId xmlns:a16="http://schemas.microsoft.com/office/drawing/2014/main" id="{E8B4860B-EB9F-BE82-F10D-1F8506942800}"/>
              </a:ext>
            </a:extLst>
          </p:cNvPr>
          <p:cNvSpPr txBox="1">
            <a:spLocks noGrp="1"/>
          </p:cNvSpPr>
          <p:nvPr>
            <p:ph type="body" idx="1"/>
          </p:nvPr>
        </p:nvSpPr>
        <p:spPr>
          <a:xfrm>
            <a:off x="1560513" y="1600200"/>
            <a:ext cx="9004300" cy="4525963"/>
          </a:xfrm>
          <a:prstGeom prst="rect">
            <a:avLst/>
          </a:prstGeom>
          <a:noFill/>
          <a:ln>
            <a:noFill/>
          </a:ln>
        </p:spPr>
        <p:txBody>
          <a:bodyPr spcFirstLastPara="1" wrap="square" lIns="91425" tIns="45700" rIns="91425" bIns="45700" anchor="t" anchorCtr="0">
            <a:normAutofit/>
          </a:bodyPr>
          <a:lstStyle/>
          <a:p>
            <a:pPr marL="342900" indent="-342900" algn="just">
              <a:buClr>
                <a:schemeClr val="dk1"/>
              </a:buClr>
              <a:buSzPts val="3200"/>
              <a:buFont typeface="Arial"/>
              <a:buChar char="•"/>
            </a:pPr>
            <a:r>
              <a:rPr lang="en-GB" sz="2400" dirty="0">
                <a:solidFill>
                  <a:schemeClr val="dk1"/>
                </a:solidFill>
                <a:latin typeface="Calibri"/>
                <a:ea typeface="Calibri"/>
                <a:cs typeface="Calibri"/>
                <a:sym typeface="Calibri"/>
              </a:rPr>
              <a:t>Left: The array element on the </a:t>
            </a:r>
            <a:r>
              <a:rPr lang="en-GB" sz="2400" dirty="0" err="1">
                <a:solidFill>
                  <a:schemeClr val="dk1"/>
                </a:solidFill>
                <a:latin typeface="Calibri"/>
                <a:ea typeface="Calibri"/>
                <a:cs typeface="Calibri"/>
                <a:sym typeface="Calibri"/>
              </a:rPr>
              <a:t>leftmark</a:t>
            </a:r>
            <a:r>
              <a:rPr lang="en-GB" sz="2400" dirty="0">
                <a:solidFill>
                  <a:schemeClr val="dk1"/>
                </a:solidFill>
                <a:latin typeface="Calibri"/>
                <a:ea typeface="Calibri"/>
                <a:cs typeface="Calibri"/>
                <a:sym typeface="Calibri"/>
              </a:rPr>
              <a:t> must be greater than the pivot value.</a:t>
            </a:r>
            <a:endParaRPr sz="1400" dirty="0"/>
          </a:p>
          <a:p>
            <a:pPr marL="342900" indent="-342900" algn="just">
              <a:spcBef>
                <a:spcPts val="640"/>
              </a:spcBef>
              <a:buClr>
                <a:schemeClr val="dk1"/>
              </a:buClr>
              <a:buSzPts val="3200"/>
              <a:buFont typeface="Arial"/>
              <a:buChar char="•"/>
            </a:pPr>
            <a:r>
              <a:rPr lang="en-GB" sz="2400" dirty="0">
                <a:solidFill>
                  <a:schemeClr val="dk1"/>
                </a:solidFill>
                <a:latin typeface="Calibri"/>
                <a:ea typeface="Calibri"/>
                <a:cs typeface="Calibri"/>
                <a:sym typeface="Calibri"/>
              </a:rPr>
              <a:t>Right: The array element on the right mark must be less than the pivot value.</a:t>
            </a:r>
            <a:endParaRPr sz="2400" dirty="0">
              <a:solidFill>
                <a:schemeClr val="dk1"/>
              </a:solidFill>
              <a:latin typeface="Calibri"/>
              <a:ea typeface="Calibri"/>
              <a:cs typeface="Calibri"/>
              <a:sym typeface="Calibri"/>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GB"/>
              <a:t>Step 6: Exchange</a:t>
            </a:r>
            <a:endParaRPr/>
          </a:p>
        </p:txBody>
      </p:sp>
      <p:pic>
        <p:nvPicPr>
          <p:cNvPr id="207" name="Google Shape;207;p26"/>
          <p:cNvPicPr preferRelativeResize="0"/>
          <p:nvPr/>
        </p:nvPicPr>
        <p:blipFill rotWithShape="1">
          <a:blip r:embed="rId3">
            <a:alphaModFix/>
          </a:blip>
          <a:srcRect/>
          <a:stretch/>
        </p:blipFill>
        <p:spPr>
          <a:xfrm>
            <a:off x="2337739" y="4992813"/>
            <a:ext cx="7706086" cy="1571636"/>
          </a:xfrm>
          <a:prstGeom prst="rect">
            <a:avLst/>
          </a:prstGeom>
          <a:noFill/>
          <a:ln>
            <a:noFill/>
          </a:ln>
        </p:spPr>
      </p:pic>
      <p:sp>
        <p:nvSpPr>
          <p:cNvPr id="208" name="Google Shape;208;p26"/>
          <p:cNvSpPr/>
          <p:nvPr/>
        </p:nvSpPr>
        <p:spPr>
          <a:xfrm>
            <a:off x="3667108" y="5314284"/>
            <a:ext cx="928694" cy="928694"/>
          </a:xfrm>
          <a:prstGeom prst="rect">
            <a:avLst/>
          </a:prstGeom>
          <a:solidFill>
            <a:schemeClr val="accent1">
              <a:alpha val="13725"/>
            </a:schemeClr>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209" name="Google Shape;209;p26"/>
          <p:cNvSpPr/>
          <p:nvPr/>
        </p:nvSpPr>
        <p:spPr>
          <a:xfrm>
            <a:off x="7167570" y="5329930"/>
            <a:ext cx="928694" cy="928694"/>
          </a:xfrm>
          <a:prstGeom prst="rect">
            <a:avLst/>
          </a:prstGeom>
          <a:solidFill>
            <a:schemeClr val="accent1">
              <a:alpha val="13725"/>
            </a:schemeClr>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pic>
        <p:nvPicPr>
          <p:cNvPr id="210" name="Google Shape;210;p26"/>
          <p:cNvPicPr preferRelativeResize="0"/>
          <p:nvPr/>
        </p:nvPicPr>
        <p:blipFill rotWithShape="1">
          <a:blip r:embed="rId4">
            <a:alphaModFix/>
          </a:blip>
          <a:srcRect/>
          <a:stretch/>
        </p:blipFill>
        <p:spPr>
          <a:xfrm>
            <a:off x="2337739" y="3315322"/>
            <a:ext cx="7358114" cy="1714512"/>
          </a:xfrm>
          <a:prstGeom prst="rect">
            <a:avLst/>
          </a:prstGeom>
          <a:noFill/>
          <a:ln>
            <a:noFill/>
          </a:ln>
        </p:spPr>
      </p:pic>
      <p:sp>
        <p:nvSpPr>
          <p:cNvPr id="2" name="Google Shape;217;p27">
            <a:extLst>
              <a:ext uri="{FF2B5EF4-FFF2-40B4-BE49-F238E27FC236}">
                <a16:creationId xmlns:a16="http://schemas.microsoft.com/office/drawing/2014/main" id="{8B7057A2-83C8-EF68-BECF-7ECDDFA309A8}"/>
              </a:ext>
            </a:extLst>
          </p:cNvPr>
          <p:cNvSpPr txBox="1">
            <a:spLocks noGrp="1"/>
          </p:cNvSpPr>
          <p:nvPr>
            <p:ph type="body" idx="1"/>
          </p:nvPr>
        </p:nvSpPr>
        <p:spPr>
          <a:xfrm>
            <a:off x="1981200" y="1600200"/>
            <a:ext cx="8229600" cy="4525963"/>
          </a:xfrm>
          <a:prstGeom prst="rect">
            <a:avLst/>
          </a:prstGeom>
          <a:noFill/>
          <a:ln>
            <a:noFill/>
          </a:ln>
        </p:spPr>
        <p:txBody>
          <a:bodyPr spcFirstLastPara="1" wrap="square" lIns="91425" tIns="45700" rIns="91425" bIns="45700" anchor="t" anchorCtr="0">
            <a:normAutofit/>
          </a:bodyPr>
          <a:lstStyle/>
          <a:p>
            <a:pPr marL="342900" indent="-342900" algn="just">
              <a:buClr>
                <a:schemeClr val="dk1"/>
              </a:buClr>
              <a:buSzPts val="3200"/>
              <a:buFont typeface="Arial"/>
              <a:buChar char="•"/>
            </a:pPr>
            <a:r>
              <a:rPr lang="en-GB" sz="2400" dirty="0">
                <a:solidFill>
                  <a:schemeClr val="dk1"/>
                </a:solidFill>
                <a:latin typeface="Calibri"/>
                <a:ea typeface="Calibri"/>
                <a:cs typeface="Calibri"/>
                <a:sym typeface="Calibri"/>
              </a:rPr>
              <a:t>Left: The array element on the </a:t>
            </a:r>
            <a:r>
              <a:rPr lang="en-GB" sz="2400" dirty="0" err="1">
                <a:solidFill>
                  <a:schemeClr val="dk1"/>
                </a:solidFill>
                <a:latin typeface="Calibri"/>
                <a:ea typeface="Calibri"/>
                <a:cs typeface="Calibri"/>
                <a:sym typeface="Calibri"/>
              </a:rPr>
              <a:t>leftmark</a:t>
            </a:r>
            <a:r>
              <a:rPr lang="en-GB" sz="2400" dirty="0">
                <a:solidFill>
                  <a:schemeClr val="dk1"/>
                </a:solidFill>
                <a:latin typeface="Calibri"/>
                <a:ea typeface="Calibri"/>
                <a:cs typeface="Calibri"/>
                <a:sym typeface="Calibri"/>
              </a:rPr>
              <a:t> must be greater than the pivot value.</a:t>
            </a:r>
            <a:endParaRPr sz="1400" dirty="0"/>
          </a:p>
          <a:p>
            <a:pPr marL="342900" indent="-342900" algn="just">
              <a:spcBef>
                <a:spcPts val="640"/>
              </a:spcBef>
              <a:buClr>
                <a:schemeClr val="dk1"/>
              </a:buClr>
              <a:buSzPts val="3200"/>
              <a:buFont typeface="Arial"/>
              <a:buChar char="•"/>
            </a:pPr>
            <a:r>
              <a:rPr lang="en-GB" sz="2400" dirty="0">
                <a:solidFill>
                  <a:schemeClr val="dk1"/>
                </a:solidFill>
                <a:latin typeface="Calibri"/>
                <a:ea typeface="Calibri"/>
                <a:cs typeface="Calibri"/>
                <a:sym typeface="Calibri"/>
              </a:rPr>
              <a:t>Right: The array element on the right mark must be less than the pivot value.</a:t>
            </a:r>
            <a:endParaRPr sz="2400" dirty="0">
              <a:solidFill>
                <a:schemeClr val="dk1"/>
              </a:solidFill>
              <a:latin typeface="Calibri"/>
              <a:ea typeface="Calibri"/>
              <a:cs typeface="Calibri"/>
              <a:sym typeface="Calibri"/>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9"/>
                                        </p:tgtEl>
                                        <p:attrNameLst>
                                          <p:attrName>style.visibility</p:attrName>
                                        </p:attrNameLst>
                                      </p:cBhvr>
                                      <p:to>
                                        <p:strVal val="visible"/>
                                      </p:to>
                                    </p:set>
                                    <p:animEffect transition="in" filter="fade">
                                      <p:cBhvr>
                                        <p:cTn id="12" dur="500"/>
                                        <p:tgtEl>
                                          <p:spTgt spid="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7"/>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ts val="4400"/>
            </a:pPr>
            <a:r>
              <a:rPr lang="en-GB"/>
              <a:t>Step 7: Continue according to rules</a:t>
            </a:r>
            <a:endParaRPr/>
          </a:p>
        </p:txBody>
      </p:sp>
      <p:pic>
        <p:nvPicPr>
          <p:cNvPr id="216" name="Google Shape;216;p27"/>
          <p:cNvPicPr preferRelativeResize="0"/>
          <p:nvPr/>
        </p:nvPicPr>
        <p:blipFill rotWithShape="1">
          <a:blip r:embed="rId3">
            <a:alphaModFix/>
          </a:blip>
          <a:srcRect/>
          <a:stretch/>
        </p:blipFill>
        <p:spPr>
          <a:xfrm>
            <a:off x="1770433" y="3428999"/>
            <a:ext cx="8200417" cy="2709153"/>
          </a:xfrm>
          <a:prstGeom prst="rect">
            <a:avLst/>
          </a:prstGeom>
          <a:noFill/>
          <a:ln>
            <a:noFill/>
          </a:ln>
        </p:spPr>
      </p:pic>
      <p:sp>
        <p:nvSpPr>
          <p:cNvPr id="217" name="Google Shape;217;p27"/>
          <p:cNvSpPr txBox="1"/>
          <p:nvPr/>
        </p:nvSpPr>
        <p:spPr>
          <a:xfrm>
            <a:off x="1209261" y="1838527"/>
            <a:ext cx="9773478" cy="2019101"/>
          </a:xfrm>
          <a:prstGeom prst="rect">
            <a:avLst/>
          </a:prstGeom>
          <a:noFill/>
          <a:ln>
            <a:noFill/>
          </a:ln>
        </p:spPr>
        <p:txBody>
          <a:bodyPr spcFirstLastPara="1" wrap="square" lIns="91425" tIns="45700" rIns="91425" bIns="45700" anchor="t" anchorCtr="0">
            <a:normAutofit/>
          </a:bodyPr>
          <a:lstStyle/>
          <a:p>
            <a:pPr marL="342900" indent="-342900" algn="just">
              <a:buClr>
                <a:schemeClr val="dk1"/>
              </a:buClr>
              <a:buSzPts val="3200"/>
              <a:buFont typeface="Arial"/>
              <a:buChar char="•"/>
            </a:pPr>
            <a:r>
              <a:rPr lang="en-GB" sz="2400" dirty="0">
                <a:solidFill>
                  <a:schemeClr val="dk1"/>
                </a:solidFill>
                <a:latin typeface="Calibri"/>
                <a:ea typeface="Calibri"/>
                <a:cs typeface="Calibri"/>
                <a:sym typeface="Calibri"/>
              </a:rPr>
              <a:t>Left: The array element on the </a:t>
            </a:r>
            <a:r>
              <a:rPr lang="en-GB" sz="2400" dirty="0" err="1">
                <a:solidFill>
                  <a:schemeClr val="dk1"/>
                </a:solidFill>
                <a:latin typeface="Calibri"/>
                <a:ea typeface="Calibri"/>
                <a:cs typeface="Calibri"/>
                <a:sym typeface="Calibri"/>
              </a:rPr>
              <a:t>leftmark</a:t>
            </a:r>
            <a:r>
              <a:rPr lang="en-GB" sz="2400" dirty="0">
                <a:solidFill>
                  <a:schemeClr val="dk1"/>
                </a:solidFill>
                <a:latin typeface="Calibri"/>
                <a:ea typeface="Calibri"/>
                <a:cs typeface="Calibri"/>
                <a:sym typeface="Calibri"/>
              </a:rPr>
              <a:t> must be greater than the pivot value.</a:t>
            </a:r>
            <a:endParaRPr sz="1400" dirty="0"/>
          </a:p>
          <a:p>
            <a:pPr marL="342900" indent="-342900" algn="just">
              <a:spcBef>
                <a:spcPts val="640"/>
              </a:spcBef>
              <a:buClr>
                <a:schemeClr val="dk1"/>
              </a:buClr>
              <a:buSzPts val="3200"/>
              <a:buFont typeface="Arial"/>
              <a:buChar char="•"/>
            </a:pPr>
            <a:r>
              <a:rPr lang="en-GB" sz="2400" dirty="0">
                <a:solidFill>
                  <a:schemeClr val="dk1"/>
                </a:solidFill>
                <a:latin typeface="Calibri"/>
                <a:ea typeface="Calibri"/>
                <a:cs typeface="Calibri"/>
                <a:sym typeface="Calibri"/>
              </a:rPr>
              <a:t>Right: The array element on the right mark must be less than the pivot value.</a:t>
            </a:r>
            <a:endParaRPr sz="2400" dirty="0">
              <a:solidFill>
                <a:schemeClr val="dk1"/>
              </a:solidFill>
              <a:latin typeface="Calibri"/>
              <a:ea typeface="Calibri"/>
              <a:cs typeface="Calibri"/>
              <a:sym typeface="Calibri"/>
            </a:endParaRP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GB"/>
              <a:t>Step 8: Exchange</a:t>
            </a:r>
            <a:endParaRPr/>
          </a:p>
        </p:txBody>
      </p:sp>
      <p:pic>
        <p:nvPicPr>
          <p:cNvPr id="223" name="Google Shape;223;p28"/>
          <p:cNvPicPr preferRelativeResize="0"/>
          <p:nvPr/>
        </p:nvPicPr>
        <p:blipFill rotWithShape="1">
          <a:blip r:embed="rId3">
            <a:alphaModFix/>
          </a:blip>
          <a:srcRect/>
          <a:stretch/>
        </p:blipFill>
        <p:spPr>
          <a:xfrm>
            <a:off x="3167042" y="3494510"/>
            <a:ext cx="5500726" cy="1972436"/>
          </a:xfrm>
          <a:prstGeom prst="rect">
            <a:avLst/>
          </a:prstGeom>
          <a:noFill/>
          <a:ln>
            <a:noFill/>
          </a:ln>
        </p:spPr>
      </p:pic>
      <p:sp>
        <p:nvSpPr>
          <p:cNvPr id="224" name="Google Shape;224;p28"/>
          <p:cNvSpPr txBox="1"/>
          <p:nvPr/>
        </p:nvSpPr>
        <p:spPr>
          <a:xfrm>
            <a:off x="824948" y="1745766"/>
            <a:ext cx="9843052" cy="1892379"/>
          </a:xfrm>
          <a:prstGeom prst="rect">
            <a:avLst/>
          </a:prstGeom>
          <a:noFill/>
          <a:ln>
            <a:noFill/>
          </a:ln>
        </p:spPr>
        <p:txBody>
          <a:bodyPr spcFirstLastPara="1" wrap="square" lIns="91425" tIns="45700" rIns="91425" bIns="45700" anchor="t" anchorCtr="0">
            <a:normAutofit/>
          </a:bodyPr>
          <a:lstStyle/>
          <a:p>
            <a:pPr marL="342900" indent="-342900" algn="just">
              <a:buClr>
                <a:schemeClr val="dk1"/>
              </a:buClr>
              <a:buSzPts val="3200"/>
              <a:buFont typeface="Arial"/>
              <a:buChar char="•"/>
            </a:pPr>
            <a:endParaRPr sz="2800" dirty="0">
              <a:solidFill>
                <a:schemeClr val="dk1"/>
              </a:solidFill>
              <a:latin typeface="Calibri"/>
              <a:ea typeface="Calibri"/>
              <a:cs typeface="Calibri"/>
              <a:sym typeface="Calibri"/>
            </a:endParaRPr>
          </a:p>
        </p:txBody>
      </p:sp>
      <p:pic>
        <p:nvPicPr>
          <p:cNvPr id="225" name="Google Shape;225;p28"/>
          <p:cNvPicPr preferRelativeResize="0"/>
          <p:nvPr/>
        </p:nvPicPr>
        <p:blipFill rotWithShape="1">
          <a:blip r:embed="rId4">
            <a:alphaModFix/>
          </a:blip>
          <a:srcRect/>
          <a:stretch/>
        </p:blipFill>
        <p:spPr>
          <a:xfrm>
            <a:off x="3063077" y="5386889"/>
            <a:ext cx="5420540" cy="785818"/>
          </a:xfrm>
          <a:prstGeom prst="rect">
            <a:avLst/>
          </a:prstGeom>
          <a:noFill/>
          <a:ln>
            <a:noFill/>
          </a:ln>
        </p:spPr>
      </p:pic>
      <p:sp>
        <p:nvSpPr>
          <p:cNvPr id="226" name="Google Shape;226;p28"/>
          <p:cNvSpPr/>
          <p:nvPr/>
        </p:nvSpPr>
        <p:spPr>
          <a:xfrm>
            <a:off x="6777853" y="5529765"/>
            <a:ext cx="571504" cy="642942"/>
          </a:xfrm>
          <a:prstGeom prst="rect">
            <a:avLst/>
          </a:prstGeom>
          <a:solidFill>
            <a:schemeClr val="accent1">
              <a:alpha val="13725"/>
            </a:schemeClr>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227" name="Google Shape;227;p28"/>
          <p:cNvSpPr/>
          <p:nvPr/>
        </p:nvSpPr>
        <p:spPr>
          <a:xfrm>
            <a:off x="5634845" y="5515251"/>
            <a:ext cx="571504" cy="642942"/>
          </a:xfrm>
          <a:prstGeom prst="rect">
            <a:avLst/>
          </a:prstGeom>
          <a:solidFill>
            <a:schemeClr val="accent1">
              <a:alpha val="13725"/>
            </a:schemeClr>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2" name="Google Shape;217;p27">
            <a:extLst>
              <a:ext uri="{FF2B5EF4-FFF2-40B4-BE49-F238E27FC236}">
                <a16:creationId xmlns:a16="http://schemas.microsoft.com/office/drawing/2014/main" id="{DE8C03E6-7285-FC54-DA91-347B8E960F8A}"/>
              </a:ext>
            </a:extLst>
          </p:cNvPr>
          <p:cNvSpPr txBox="1"/>
          <p:nvPr/>
        </p:nvSpPr>
        <p:spPr>
          <a:xfrm>
            <a:off x="1209261" y="1838527"/>
            <a:ext cx="9773478" cy="2019101"/>
          </a:xfrm>
          <a:prstGeom prst="rect">
            <a:avLst/>
          </a:prstGeom>
          <a:noFill/>
          <a:ln>
            <a:noFill/>
          </a:ln>
        </p:spPr>
        <p:txBody>
          <a:bodyPr spcFirstLastPara="1" wrap="square" lIns="91425" tIns="45700" rIns="91425" bIns="45700" anchor="t" anchorCtr="0">
            <a:normAutofit/>
          </a:bodyPr>
          <a:lstStyle/>
          <a:p>
            <a:pPr marL="342900" indent="-342900" algn="just">
              <a:buClr>
                <a:schemeClr val="dk1"/>
              </a:buClr>
              <a:buSzPts val="3200"/>
              <a:buFont typeface="Arial"/>
              <a:buChar char="•"/>
            </a:pPr>
            <a:r>
              <a:rPr lang="en-GB" sz="2400" dirty="0">
                <a:solidFill>
                  <a:schemeClr val="dk1"/>
                </a:solidFill>
                <a:latin typeface="Calibri"/>
                <a:ea typeface="Calibri"/>
                <a:cs typeface="Calibri"/>
                <a:sym typeface="Calibri"/>
              </a:rPr>
              <a:t>Left: The array element on the </a:t>
            </a:r>
            <a:r>
              <a:rPr lang="en-GB" sz="2400" dirty="0" err="1">
                <a:solidFill>
                  <a:schemeClr val="dk1"/>
                </a:solidFill>
                <a:latin typeface="Calibri"/>
                <a:ea typeface="Calibri"/>
                <a:cs typeface="Calibri"/>
                <a:sym typeface="Calibri"/>
              </a:rPr>
              <a:t>leftmark</a:t>
            </a:r>
            <a:r>
              <a:rPr lang="en-GB" sz="2400" dirty="0">
                <a:solidFill>
                  <a:schemeClr val="dk1"/>
                </a:solidFill>
                <a:latin typeface="Calibri"/>
                <a:ea typeface="Calibri"/>
                <a:cs typeface="Calibri"/>
                <a:sym typeface="Calibri"/>
              </a:rPr>
              <a:t> must be greater than the pivot value.</a:t>
            </a:r>
            <a:endParaRPr sz="1400" dirty="0"/>
          </a:p>
          <a:p>
            <a:pPr marL="342900" indent="-342900" algn="just">
              <a:spcBef>
                <a:spcPts val="640"/>
              </a:spcBef>
              <a:buClr>
                <a:schemeClr val="dk1"/>
              </a:buClr>
              <a:buSzPts val="3200"/>
              <a:buFont typeface="Arial"/>
              <a:buChar char="•"/>
            </a:pPr>
            <a:r>
              <a:rPr lang="en-GB" sz="2400" dirty="0">
                <a:solidFill>
                  <a:schemeClr val="dk1"/>
                </a:solidFill>
                <a:latin typeface="Calibri"/>
                <a:ea typeface="Calibri"/>
                <a:cs typeface="Calibri"/>
                <a:sym typeface="Calibri"/>
              </a:rPr>
              <a:t>Right: The array element on the right mark must be less than the pivot value.</a:t>
            </a:r>
            <a:endParaRPr sz="2400" dirty="0">
              <a:solidFill>
                <a:schemeClr val="dk1"/>
              </a:solidFill>
              <a:latin typeface="Calibri"/>
              <a:ea typeface="Calibri"/>
              <a:cs typeface="Calibri"/>
              <a:sym typeface="Calibri"/>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fade">
                                      <p:cBhvr>
                                        <p:cTn id="7" dur="500"/>
                                        <p:tgtEl>
                                          <p:spTgt spid="2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7"/>
                                        </p:tgtEl>
                                        <p:attrNameLst>
                                          <p:attrName>style.visibility</p:attrName>
                                        </p:attrNameLst>
                                      </p:cBhvr>
                                      <p:to>
                                        <p:strVal val="visible"/>
                                      </p:to>
                                    </p:set>
                                    <p:animEffect transition="in" filter="fade">
                                      <p:cBhvr>
                                        <p:cTn id="12" dur="500"/>
                                        <p:tgtEl>
                                          <p:spTgt spid="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9"/>
          <p:cNvSpPr txBox="1">
            <a:spLocks noGrp="1"/>
          </p:cNvSpPr>
          <p:nvPr>
            <p:ph type="title"/>
          </p:nvPr>
        </p:nvSpPr>
        <p:spPr>
          <a:xfrm>
            <a:off x="1981200" y="274638"/>
            <a:ext cx="8229600" cy="41283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ts val="4400"/>
            </a:pPr>
            <a:r>
              <a:rPr lang="en-GB" dirty="0"/>
              <a:t>Step 9: Continue as per rules</a:t>
            </a:r>
            <a:endParaRPr dirty="0"/>
          </a:p>
        </p:txBody>
      </p:sp>
      <p:sp>
        <p:nvSpPr>
          <p:cNvPr id="233" name="Google Shape;233;p29"/>
          <p:cNvSpPr txBox="1"/>
          <p:nvPr/>
        </p:nvSpPr>
        <p:spPr>
          <a:xfrm>
            <a:off x="1120051" y="1605599"/>
            <a:ext cx="9743661" cy="1675758"/>
          </a:xfrm>
          <a:prstGeom prst="rect">
            <a:avLst/>
          </a:prstGeom>
          <a:noFill/>
          <a:ln>
            <a:noFill/>
          </a:ln>
        </p:spPr>
        <p:txBody>
          <a:bodyPr spcFirstLastPara="1" wrap="square" lIns="91425" tIns="45700" rIns="91425" bIns="45700" anchor="t" anchorCtr="0">
            <a:normAutofit/>
          </a:bodyPr>
          <a:lstStyle/>
          <a:p>
            <a:pPr marL="342900" indent="-342900" algn="just">
              <a:spcBef>
                <a:spcPts val="640"/>
              </a:spcBef>
              <a:buClr>
                <a:schemeClr val="dk1"/>
              </a:buClr>
              <a:buSzPts val="3200"/>
              <a:buFont typeface="Arial"/>
              <a:buChar char="•"/>
            </a:pPr>
            <a:endParaRPr lang="en-GB" sz="2400" dirty="0">
              <a:solidFill>
                <a:schemeClr val="dk1"/>
              </a:solidFill>
              <a:latin typeface="Calibri"/>
              <a:ea typeface="Calibri"/>
              <a:cs typeface="Calibri"/>
              <a:sym typeface="Calibri"/>
            </a:endParaRPr>
          </a:p>
          <a:p>
            <a:pPr marL="342900" indent="-342900" algn="just">
              <a:spcBef>
                <a:spcPts val="640"/>
              </a:spcBef>
              <a:buClr>
                <a:schemeClr val="dk1"/>
              </a:buClr>
              <a:buSzPts val="3200"/>
              <a:buFont typeface="Arial"/>
              <a:buChar char="•"/>
            </a:pPr>
            <a:r>
              <a:rPr lang="en-GB" sz="2400" dirty="0">
                <a:solidFill>
                  <a:schemeClr val="dk1"/>
                </a:solidFill>
                <a:latin typeface="Calibri"/>
                <a:ea typeface="Calibri"/>
                <a:cs typeface="Calibri"/>
                <a:sym typeface="Calibri"/>
              </a:rPr>
              <a:t>In case, when left mark and right mark cross each other than exchange the pivot  with the right mark </a:t>
            </a:r>
            <a:endParaRPr sz="2400" dirty="0">
              <a:solidFill>
                <a:schemeClr val="dk1"/>
              </a:solidFill>
              <a:latin typeface="Calibri"/>
              <a:ea typeface="Calibri"/>
              <a:cs typeface="Calibri"/>
              <a:sym typeface="Calibri"/>
            </a:endParaRPr>
          </a:p>
        </p:txBody>
      </p:sp>
      <p:pic>
        <p:nvPicPr>
          <p:cNvPr id="234" name="Google Shape;234;p29"/>
          <p:cNvPicPr preferRelativeResize="0"/>
          <p:nvPr/>
        </p:nvPicPr>
        <p:blipFill rotWithShape="1">
          <a:blip r:embed="rId3">
            <a:alphaModFix/>
          </a:blip>
          <a:srcRect/>
          <a:stretch/>
        </p:blipFill>
        <p:spPr>
          <a:xfrm>
            <a:off x="3598709" y="3019051"/>
            <a:ext cx="4786346" cy="1917297"/>
          </a:xfrm>
          <a:prstGeom prst="rect">
            <a:avLst/>
          </a:prstGeom>
          <a:noFill/>
          <a:ln>
            <a:noFill/>
          </a:ln>
        </p:spPr>
      </p:pic>
      <p:pic>
        <p:nvPicPr>
          <p:cNvPr id="235" name="Google Shape;235;p29"/>
          <p:cNvPicPr preferRelativeResize="0"/>
          <p:nvPr/>
        </p:nvPicPr>
        <p:blipFill rotWithShape="1">
          <a:blip r:embed="rId4">
            <a:alphaModFix/>
          </a:blip>
          <a:srcRect/>
          <a:stretch/>
        </p:blipFill>
        <p:spPr>
          <a:xfrm>
            <a:off x="2823537" y="4882770"/>
            <a:ext cx="6894395" cy="1770950"/>
          </a:xfrm>
          <a:prstGeom prst="rect">
            <a:avLst/>
          </a:prstGeom>
          <a:noFill/>
          <a:ln>
            <a:noFill/>
          </a:ln>
        </p:spPr>
      </p:pic>
      <p:sp>
        <p:nvSpPr>
          <p:cNvPr id="236" name="Google Shape;236;p29"/>
          <p:cNvSpPr/>
          <p:nvPr/>
        </p:nvSpPr>
        <p:spPr>
          <a:xfrm>
            <a:off x="5609617" y="4989926"/>
            <a:ext cx="564453" cy="745663"/>
          </a:xfrm>
          <a:prstGeom prst="rect">
            <a:avLst/>
          </a:prstGeom>
          <a:solidFill>
            <a:schemeClr val="accent1">
              <a:alpha val="13725"/>
            </a:schemeClr>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237" name="Google Shape;237;p29"/>
          <p:cNvSpPr/>
          <p:nvPr/>
        </p:nvSpPr>
        <p:spPr>
          <a:xfrm>
            <a:off x="3466477" y="4989926"/>
            <a:ext cx="564453" cy="745663"/>
          </a:xfrm>
          <a:prstGeom prst="rect">
            <a:avLst/>
          </a:prstGeom>
          <a:solidFill>
            <a:schemeClr val="accent1">
              <a:alpha val="13725"/>
            </a:schemeClr>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2" name="Google Shape;217;p27">
            <a:extLst>
              <a:ext uri="{FF2B5EF4-FFF2-40B4-BE49-F238E27FC236}">
                <a16:creationId xmlns:a16="http://schemas.microsoft.com/office/drawing/2014/main" id="{42D5CC5A-C002-8A68-17AA-E03052382F74}"/>
              </a:ext>
            </a:extLst>
          </p:cNvPr>
          <p:cNvSpPr txBox="1"/>
          <p:nvPr/>
        </p:nvSpPr>
        <p:spPr>
          <a:xfrm>
            <a:off x="1120051" y="613123"/>
            <a:ext cx="9773478" cy="1675758"/>
          </a:xfrm>
          <a:prstGeom prst="rect">
            <a:avLst/>
          </a:prstGeom>
          <a:noFill/>
          <a:ln>
            <a:noFill/>
          </a:ln>
        </p:spPr>
        <p:txBody>
          <a:bodyPr spcFirstLastPara="1" wrap="square" lIns="91425" tIns="45700" rIns="91425" bIns="45700" anchor="t" anchorCtr="0">
            <a:normAutofit/>
          </a:bodyPr>
          <a:lstStyle/>
          <a:p>
            <a:pPr marL="342900" indent="-342900" algn="just">
              <a:buClr>
                <a:schemeClr val="dk1"/>
              </a:buClr>
              <a:buSzPts val="3200"/>
              <a:buFont typeface="Arial"/>
              <a:buChar char="•"/>
            </a:pPr>
            <a:r>
              <a:rPr lang="en-GB" sz="2400" dirty="0">
                <a:solidFill>
                  <a:schemeClr val="dk1"/>
                </a:solidFill>
                <a:latin typeface="Calibri"/>
                <a:ea typeface="Calibri"/>
                <a:cs typeface="Calibri"/>
                <a:sym typeface="Calibri"/>
              </a:rPr>
              <a:t>Left: The array element on the </a:t>
            </a:r>
            <a:r>
              <a:rPr lang="en-GB" sz="2400" dirty="0" err="1">
                <a:solidFill>
                  <a:schemeClr val="dk1"/>
                </a:solidFill>
                <a:latin typeface="Calibri"/>
                <a:ea typeface="Calibri"/>
                <a:cs typeface="Calibri"/>
                <a:sym typeface="Calibri"/>
              </a:rPr>
              <a:t>leftmark</a:t>
            </a:r>
            <a:r>
              <a:rPr lang="en-GB" sz="2400" dirty="0">
                <a:solidFill>
                  <a:schemeClr val="dk1"/>
                </a:solidFill>
                <a:latin typeface="Calibri"/>
                <a:ea typeface="Calibri"/>
                <a:cs typeface="Calibri"/>
                <a:sym typeface="Calibri"/>
              </a:rPr>
              <a:t> must be greater than the pivot value.</a:t>
            </a:r>
            <a:endParaRPr sz="1400" dirty="0"/>
          </a:p>
          <a:p>
            <a:pPr marL="342900" indent="-342900" algn="just">
              <a:spcBef>
                <a:spcPts val="640"/>
              </a:spcBef>
              <a:buClr>
                <a:schemeClr val="dk1"/>
              </a:buClr>
              <a:buSzPts val="3200"/>
              <a:buFont typeface="Arial"/>
              <a:buChar char="•"/>
            </a:pPr>
            <a:r>
              <a:rPr lang="en-GB" sz="2400" dirty="0">
                <a:solidFill>
                  <a:schemeClr val="dk1"/>
                </a:solidFill>
                <a:latin typeface="Calibri"/>
                <a:ea typeface="Calibri"/>
                <a:cs typeface="Calibri"/>
                <a:sym typeface="Calibri"/>
              </a:rPr>
              <a:t>Right: The array element on the right mark must be less than the pivot value.</a:t>
            </a:r>
            <a:endParaRPr sz="2400" dirty="0">
              <a:solidFill>
                <a:schemeClr val="dk1"/>
              </a:solidFill>
              <a:latin typeface="Calibri"/>
              <a:ea typeface="Calibri"/>
              <a:cs typeface="Calibri"/>
              <a:sym typeface="Calibri"/>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6"/>
                                        </p:tgtEl>
                                        <p:attrNameLst>
                                          <p:attrName>style.visibility</p:attrName>
                                        </p:attrNameLst>
                                      </p:cBhvr>
                                      <p:to>
                                        <p:strVal val="visible"/>
                                      </p:to>
                                    </p:set>
                                    <p:animEffect transition="in" filter="fade">
                                      <p:cBhvr>
                                        <p:cTn id="7" dur="500"/>
                                        <p:tgtEl>
                                          <p:spTgt spid="2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7"/>
                                        </p:tgtEl>
                                        <p:attrNameLst>
                                          <p:attrName>style.visibility</p:attrName>
                                        </p:attrNameLst>
                                      </p:cBhvr>
                                      <p:to>
                                        <p:strVal val="visible"/>
                                      </p:to>
                                    </p:set>
                                    <p:animEffect transition="in" filter="fade">
                                      <p:cBhvr>
                                        <p:cTn id="12" dur="500"/>
                                        <p:tgtEl>
                                          <p:spTgt spid="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0"/>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endParaRPr/>
          </a:p>
        </p:txBody>
      </p:sp>
      <p:sp>
        <p:nvSpPr>
          <p:cNvPr id="243" name="Google Shape;243;p30"/>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139700">
              <a:spcBef>
                <a:spcPts val="0"/>
              </a:spcBef>
              <a:spcAft>
                <a:spcPts val="0"/>
              </a:spcAft>
              <a:buClr>
                <a:schemeClr val="dk1"/>
              </a:buClr>
              <a:buSzPts val="3200"/>
              <a:buNone/>
            </a:pPr>
            <a:endParaRPr/>
          </a:p>
        </p:txBody>
      </p:sp>
      <p:pic>
        <p:nvPicPr>
          <p:cNvPr id="244" name="Google Shape;244;p30"/>
          <p:cNvPicPr preferRelativeResize="0"/>
          <p:nvPr/>
        </p:nvPicPr>
        <p:blipFill rotWithShape="1">
          <a:blip r:embed="rId3">
            <a:alphaModFix/>
          </a:blip>
          <a:srcRect/>
          <a:stretch/>
        </p:blipFill>
        <p:spPr>
          <a:xfrm>
            <a:off x="2666976" y="4714885"/>
            <a:ext cx="3000396" cy="1084255"/>
          </a:xfrm>
          <a:prstGeom prst="rect">
            <a:avLst/>
          </a:prstGeom>
          <a:noFill/>
          <a:ln>
            <a:noFill/>
          </a:ln>
        </p:spPr>
      </p:pic>
      <p:pic>
        <p:nvPicPr>
          <p:cNvPr id="245" name="Google Shape;245;p30"/>
          <p:cNvPicPr preferRelativeResize="0"/>
          <p:nvPr/>
        </p:nvPicPr>
        <p:blipFill rotWithShape="1">
          <a:blip r:embed="rId4">
            <a:alphaModFix/>
          </a:blip>
          <a:srcRect/>
          <a:stretch/>
        </p:blipFill>
        <p:spPr>
          <a:xfrm>
            <a:off x="1738283" y="2214554"/>
            <a:ext cx="8679717" cy="1928826"/>
          </a:xfrm>
          <a:prstGeom prst="rect">
            <a:avLst/>
          </a:prstGeom>
          <a:noFill/>
          <a:ln>
            <a:noFill/>
          </a:ln>
        </p:spPr>
      </p:pic>
      <p:pic>
        <p:nvPicPr>
          <p:cNvPr id="246" name="Google Shape;246;p30"/>
          <p:cNvPicPr preferRelativeResize="0"/>
          <p:nvPr/>
        </p:nvPicPr>
        <p:blipFill rotWithShape="1">
          <a:blip r:embed="rId5">
            <a:alphaModFix/>
          </a:blip>
          <a:srcRect/>
          <a:stretch/>
        </p:blipFill>
        <p:spPr>
          <a:xfrm>
            <a:off x="6238876" y="4643447"/>
            <a:ext cx="2095500" cy="1152525"/>
          </a:xfrm>
          <a:prstGeom prst="rect">
            <a:avLst/>
          </a:prstGeom>
          <a:noFill/>
          <a:ln>
            <a:noFill/>
          </a:ln>
        </p:spPr>
      </p:pic>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04D63-AD0E-677B-E274-3E9FF0C31A8E}"/>
              </a:ext>
            </a:extLst>
          </p:cNvPr>
          <p:cNvSpPr>
            <a:spLocks noGrp="1"/>
          </p:cNvSpPr>
          <p:nvPr>
            <p:ph type="title"/>
          </p:nvPr>
        </p:nvSpPr>
        <p:spPr/>
        <p:txBody>
          <a:bodyPr/>
          <a:lstStyle/>
          <a:p>
            <a:endParaRPr lang="en-US"/>
          </a:p>
        </p:txBody>
      </p:sp>
      <p:graphicFrame>
        <p:nvGraphicFramePr>
          <p:cNvPr id="4" name="Table 4">
            <a:extLst>
              <a:ext uri="{FF2B5EF4-FFF2-40B4-BE49-F238E27FC236}">
                <a16:creationId xmlns:a16="http://schemas.microsoft.com/office/drawing/2014/main" id="{775A6DB2-0B28-15B4-7FD3-7F4F269175A6}"/>
              </a:ext>
            </a:extLst>
          </p:cNvPr>
          <p:cNvGraphicFramePr>
            <a:graphicFrameLocks noGrp="1"/>
          </p:cNvGraphicFramePr>
          <p:nvPr>
            <p:ph idx="1"/>
            <p:extLst>
              <p:ext uri="{D42A27DB-BD31-4B8C-83A1-F6EECF244321}">
                <p14:modId xmlns:p14="http://schemas.microsoft.com/office/powerpoint/2010/main" val="3372267244"/>
              </p:ext>
            </p:extLst>
          </p:nvPr>
        </p:nvGraphicFramePr>
        <p:xfrm>
          <a:off x="1096963" y="1846263"/>
          <a:ext cx="4340800" cy="634290"/>
        </p:xfrm>
        <a:graphic>
          <a:graphicData uri="http://schemas.openxmlformats.org/drawingml/2006/table">
            <a:tbl>
              <a:tblPr firstRow="1" bandRow="1">
                <a:tableStyleId>{5940675A-B579-460E-94D1-54222C63F5DA}</a:tableStyleId>
              </a:tblPr>
              <a:tblGrid>
                <a:gridCol w="868160">
                  <a:extLst>
                    <a:ext uri="{9D8B030D-6E8A-4147-A177-3AD203B41FA5}">
                      <a16:colId xmlns:a16="http://schemas.microsoft.com/office/drawing/2014/main" val="2581802679"/>
                    </a:ext>
                  </a:extLst>
                </a:gridCol>
                <a:gridCol w="868160">
                  <a:extLst>
                    <a:ext uri="{9D8B030D-6E8A-4147-A177-3AD203B41FA5}">
                      <a16:colId xmlns:a16="http://schemas.microsoft.com/office/drawing/2014/main" val="302535599"/>
                    </a:ext>
                  </a:extLst>
                </a:gridCol>
                <a:gridCol w="868160">
                  <a:extLst>
                    <a:ext uri="{9D8B030D-6E8A-4147-A177-3AD203B41FA5}">
                      <a16:colId xmlns:a16="http://schemas.microsoft.com/office/drawing/2014/main" val="2628774838"/>
                    </a:ext>
                  </a:extLst>
                </a:gridCol>
                <a:gridCol w="868160">
                  <a:extLst>
                    <a:ext uri="{9D8B030D-6E8A-4147-A177-3AD203B41FA5}">
                      <a16:colId xmlns:a16="http://schemas.microsoft.com/office/drawing/2014/main" val="754725136"/>
                    </a:ext>
                  </a:extLst>
                </a:gridCol>
                <a:gridCol w="868160">
                  <a:extLst>
                    <a:ext uri="{9D8B030D-6E8A-4147-A177-3AD203B41FA5}">
                      <a16:colId xmlns:a16="http://schemas.microsoft.com/office/drawing/2014/main" val="866238751"/>
                    </a:ext>
                  </a:extLst>
                </a:gridCol>
              </a:tblGrid>
              <a:tr h="634290">
                <a:tc>
                  <a:txBody>
                    <a:bodyPr/>
                    <a:lstStyle/>
                    <a:p>
                      <a:pPr algn="ctr"/>
                      <a:r>
                        <a:rPr lang="en-US" dirty="0"/>
                        <a:t>31</a:t>
                      </a:r>
                    </a:p>
                  </a:txBody>
                  <a:tcPr>
                    <a:solidFill>
                      <a:schemeClr val="bg1">
                        <a:lumMod val="65000"/>
                      </a:schemeClr>
                    </a:solidFill>
                  </a:tcPr>
                </a:tc>
                <a:tc>
                  <a:txBody>
                    <a:bodyPr/>
                    <a:lstStyle/>
                    <a:p>
                      <a:pPr algn="ctr"/>
                      <a:r>
                        <a:rPr lang="en-US" dirty="0"/>
                        <a:t>26</a:t>
                      </a:r>
                    </a:p>
                  </a:txBody>
                  <a:tcPr/>
                </a:tc>
                <a:tc>
                  <a:txBody>
                    <a:bodyPr/>
                    <a:lstStyle/>
                    <a:p>
                      <a:pPr algn="ctr"/>
                      <a:r>
                        <a:rPr lang="en-US" dirty="0"/>
                        <a:t>20</a:t>
                      </a:r>
                    </a:p>
                  </a:txBody>
                  <a:tcPr/>
                </a:tc>
                <a:tc>
                  <a:txBody>
                    <a:bodyPr/>
                    <a:lstStyle/>
                    <a:p>
                      <a:pPr algn="ctr"/>
                      <a:r>
                        <a:rPr lang="en-US" dirty="0"/>
                        <a:t>17</a:t>
                      </a:r>
                    </a:p>
                  </a:txBody>
                  <a:tcPr/>
                </a:tc>
                <a:tc>
                  <a:txBody>
                    <a:bodyPr/>
                    <a:lstStyle/>
                    <a:p>
                      <a:pPr algn="ctr"/>
                      <a:r>
                        <a:rPr lang="en-US" dirty="0"/>
                        <a:t>44</a:t>
                      </a:r>
                    </a:p>
                  </a:txBody>
                  <a:tcPr/>
                </a:tc>
                <a:extLst>
                  <a:ext uri="{0D108BD9-81ED-4DB2-BD59-A6C34878D82A}">
                    <a16:rowId xmlns:a16="http://schemas.microsoft.com/office/drawing/2014/main" val="977275040"/>
                  </a:ext>
                </a:extLst>
              </a:tr>
            </a:tbl>
          </a:graphicData>
        </a:graphic>
      </p:graphicFrame>
      <p:graphicFrame>
        <p:nvGraphicFramePr>
          <p:cNvPr id="6" name="Table 6">
            <a:extLst>
              <a:ext uri="{FF2B5EF4-FFF2-40B4-BE49-F238E27FC236}">
                <a16:creationId xmlns:a16="http://schemas.microsoft.com/office/drawing/2014/main" id="{A7D9D750-E94E-6166-CFD3-742967F9C73E}"/>
              </a:ext>
            </a:extLst>
          </p:cNvPr>
          <p:cNvGraphicFramePr>
            <a:graphicFrameLocks noGrp="1"/>
          </p:cNvGraphicFramePr>
          <p:nvPr>
            <p:extLst>
              <p:ext uri="{D42A27DB-BD31-4B8C-83A1-F6EECF244321}">
                <p14:modId xmlns:p14="http://schemas.microsoft.com/office/powerpoint/2010/main" val="2475056929"/>
              </p:ext>
            </p:extLst>
          </p:nvPr>
        </p:nvGraphicFramePr>
        <p:xfrm>
          <a:off x="7723762" y="1792567"/>
          <a:ext cx="3431919" cy="634291"/>
        </p:xfrm>
        <a:graphic>
          <a:graphicData uri="http://schemas.openxmlformats.org/drawingml/2006/table">
            <a:tbl>
              <a:tblPr firstRow="1" bandRow="1">
                <a:tableStyleId>{5940675A-B579-460E-94D1-54222C63F5DA}</a:tableStyleId>
              </a:tblPr>
              <a:tblGrid>
                <a:gridCol w="1143973">
                  <a:extLst>
                    <a:ext uri="{9D8B030D-6E8A-4147-A177-3AD203B41FA5}">
                      <a16:colId xmlns:a16="http://schemas.microsoft.com/office/drawing/2014/main" val="1249755824"/>
                    </a:ext>
                  </a:extLst>
                </a:gridCol>
                <a:gridCol w="1143973">
                  <a:extLst>
                    <a:ext uri="{9D8B030D-6E8A-4147-A177-3AD203B41FA5}">
                      <a16:colId xmlns:a16="http://schemas.microsoft.com/office/drawing/2014/main" val="525607902"/>
                    </a:ext>
                  </a:extLst>
                </a:gridCol>
                <a:gridCol w="1143973">
                  <a:extLst>
                    <a:ext uri="{9D8B030D-6E8A-4147-A177-3AD203B41FA5}">
                      <a16:colId xmlns:a16="http://schemas.microsoft.com/office/drawing/2014/main" val="859831241"/>
                    </a:ext>
                  </a:extLst>
                </a:gridCol>
              </a:tblGrid>
              <a:tr h="634291">
                <a:tc>
                  <a:txBody>
                    <a:bodyPr/>
                    <a:lstStyle/>
                    <a:p>
                      <a:pPr algn="ctr"/>
                      <a:r>
                        <a:rPr lang="en-US" dirty="0"/>
                        <a:t>77</a:t>
                      </a:r>
                    </a:p>
                  </a:txBody>
                  <a:tcPr>
                    <a:solidFill>
                      <a:schemeClr val="bg1">
                        <a:lumMod val="75000"/>
                      </a:schemeClr>
                    </a:solidFill>
                  </a:tcPr>
                </a:tc>
                <a:tc>
                  <a:txBody>
                    <a:bodyPr/>
                    <a:lstStyle/>
                    <a:p>
                      <a:pPr algn="ctr"/>
                      <a:r>
                        <a:rPr lang="en-US" dirty="0"/>
                        <a:t>55</a:t>
                      </a:r>
                    </a:p>
                  </a:txBody>
                  <a:tcPr/>
                </a:tc>
                <a:tc>
                  <a:txBody>
                    <a:bodyPr/>
                    <a:lstStyle/>
                    <a:p>
                      <a:pPr algn="ctr"/>
                      <a:r>
                        <a:rPr lang="en-US" dirty="0"/>
                        <a:t>93</a:t>
                      </a:r>
                    </a:p>
                  </a:txBody>
                  <a:tcPr/>
                </a:tc>
                <a:extLst>
                  <a:ext uri="{0D108BD9-81ED-4DB2-BD59-A6C34878D82A}">
                    <a16:rowId xmlns:a16="http://schemas.microsoft.com/office/drawing/2014/main" val="3520996022"/>
                  </a:ext>
                </a:extLst>
              </a:tr>
            </a:tbl>
          </a:graphicData>
        </a:graphic>
      </p:graphicFrame>
      <p:graphicFrame>
        <p:nvGraphicFramePr>
          <p:cNvPr id="7" name="Table 7">
            <a:extLst>
              <a:ext uri="{FF2B5EF4-FFF2-40B4-BE49-F238E27FC236}">
                <a16:creationId xmlns:a16="http://schemas.microsoft.com/office/drawing/2014/main" id="{9E7A4D1B-A7F9-D835-E450-46015E6B2314}"/>
              </a:ext>
            </a:extLst>
          </p:cNvPr>
          <p:cNvGraphicFramePr>
            <a:graphicFrameLocks noGrp="1"/>
          </p:cNvGraphicFramePr>
          <p:nvPr>
            <p:extLst>
              <p:ext uri="{D42A27DB-BD31-4B8C-83A1-F6EECF244321}">
                <p14:modId xmlns:p14="http://schemas.microsoft.com/office/powerpoint/2010/main" val="1197447429"/>
              </p:ext>
            </p:extLst>
          </p:nvPr>
        </p:nvGraphicFramePr>
        <p:xfrm>
          <a:off x="5981430" y="1153520"/>
          <a:ext cx="1187855" cy="583840"/>
        </p:xfrm>
        <a:graphic>
          <a:graphicData uri="http://schemas.openxmlformats.org/drawingml/2006/table">
            <a:tbl>
              <a:tblPr firstRow="1" bandRow="1">
                <a:tableStyleId>{5C22544A-7EE6-4342-B048-85BDC9FD1C3A}</a:tableStyleId>
              </a:tblPr>
              <a:tblGrid>
                <a:gridCol w="1187855">
                  <a:extLst>
                    <a:ext uri="{9D8B030D-6E8A-4147-A177-3AD203B41FA5}">
                      <a16:colId xmlns:a16="http://schemas.microsoft.com/office/drawing/2014/main" val="1151896293"/>
                    </a:ext>
                  </a:extLst>
                </a:gridCol>
              </a:tblGrid>
              <a:tr h="583840">
                <a:tc>
                  <a:txBody>
                    <a:bodyPr/>
                    <a:lstStyle/>
                    <a:p>
                      <a:pPr algn="ctr"/>
                      <a:r>
                        <a:rPr lang="en-US" dirty="0"/>
                        <a:t>54</a:t>
                      </a:r>
                    </a:p>
                  </a:txBody>
                  <a:tcPr/>
                </a:tc>
                <a:extLst>
                  <a:ext uri="{0D108BD9-81ED-4DB2-BD59-A6C34878D82A}">
                    <a16:rowId xmlns:a16="http://schemas.microsoft.com/office/drawing/2014/main" val="3459332926"/>
                  </a:ext>
                </a:extLst>
              </a:tr>
            </a:tbl>
          </a:graphicData>
        </a:graphic>
      </p:graphicFrame>
      <p:cxnSp>
        <p:nvCxnSpPr>
          <p:cNvPr id="11" name="Straight Arrow Connector 10">
            <a:extLst>
              <a:ext uri="{FF2B5EF4-FFF2-40B4-BE49-F238E27FC236}">
                <a16:creationId xmlns:a16="http://schemas.microsoft.com/office/drawing/2014/main" id="{4864C0B9-B78F-19A9-A502-D03C8254ADD1}"/>
              </a:ext>
            </a:extLst>
          </p:cNvPr>
          <p:cNvCxnSpPr/>
          <p:nvPr/>
        </p:nvCxnSpPr>
        <p:spPr>
          <a:xfrm flipV="1">
            <a:off x="2256817" y="2480553"/>
            <a:ext cx="155643" cy="42801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B3673ADE-25A8-92FB-AAE7-9529EBC3639D}"/>
              </a:ext>
            </a:extLst>
          </p:cNvPr>
          <p:cNvCxnSpPr>
            <a:cxnSpLocks/>
          </p:cNvCxnSpPr>
          <p:nvPr/>
        </p:nvCxnSpPr>
        <p:spPr>
          <a:xfrm flipH="1" flipV="1">
            <a:off x="4996775" y="2500008"/>
            <a:ext cx="158885" cy="40856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EA7713DC-58AC-DDE5-1F20-1CBAF94C5914}"/>
              </a:ext>
            </a:extLst>
          </p:cNvPr>
          <p:cNvCxnSpPr/>
          <p:nvPr/>
        </p:nvCxnSpPr>
        <p:spPr>
          <a:xfrm flipV="1">
            <a:off x="9271107" y="2500008"/>
            <a:ext cx="155643" cy="42801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10BC8989-B665-ADA8-7927-CC1CDC476D6C}"/>
              </a:ext>
            </a:extLst>
          </p:cNvPr>
          <p:cNvCxnSpPr>
            <a:cxnSpLocks/>
          </p:cNvCxnSpPr>
          <p:nvPr/>
        </p:nvCxnSpPr>
        <p:spPr>
          <a:xfrm flipH="1" flipV="1">
            <a:off x="10596665" y="2500008"/>
            <a:ext cx="152399" cy="42801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8AC9E269-74DE-15BB-1C4B-F92F1047142F}"/>
              </a:ext>
            </a:extLst>
          </p:cNvPr>
          <p:cNvSpPr txBox="1"/>
          <p:nvPr/>
        </p:nvSpPr>
        <p:spPr>
          <a:xfrm>
            <a:off x="1760706" y="3064213"/>
            <a:ext cx="1079771" cy="369332"/>
          </a:xfrm>
          <a:prstGeom prst="rect">
            <a:avLst/>
          </a:prstGeom>
          <a:noFill/>
        </p:spPr>
        <p:txBody>
          <a:bodyPr wrap="square" rtlCol="0">
            <a:spAutoFit/>
          </a:bodyPr>
          <a:lstStyle/>
          <a:p>
            <a:r>
              <a:rPr lang="en-US" dirty="0"/>
              <a:t>Left Mark</a:t>
            </a:r>
          </a:p>
        </p:txBody>
      </p:sp>
      <p:sp>
        <p:nvSpPr>
          <p:cNvPr id="18" name="TextBox 17">
            <a:extLst>
              <a:ext uri="{FF2B5EF4-FFF2-40B4-BE49-F238E27FC236}">
                <a16:creationId xmlns:a16="http://schemas.microsoft.com/office/drawing/2014/main" id="{FCD15DDB-7895-427E-C65A-7A31260DB8A6}"/>
              </a:ext>
            </a:extLst>
          </p:cNvPr>
          <p:cNvSpPr txBox="1"/>
          <p:nvPr/>
        </p:nvSpPr>
        <p:spPr>
          <a:xfrm>
            <a:off x="10209178" y="3001175"/>
            <a:ext cx="1279188" cy="369332"/>
          </a:xfrm>
          <a:prstGeom prst="rect">
            <a:avLst/>
          </a:prstGeom>
          <a:noFill/>
        </p:spPr>
        <p:txBody>
          <a:bodyPr wrap="square" rtlCol="0">
            <a:spAutoFit/>
          </a:bodyPr>
          <a:lstStyle/>
          <a:p>
            <a:r>
              <a:rPr lang="en-US" dirty="0"/>
              <a:t>Right Mark</a:t>
            </a:r>
          </a:p>
        </p:txBody>
      </p:sp>
      <p:sp>
        <p:nvSpPr>
          <p:cNvPr id="19" name="TextBox 18">
            <a:extLst>
              <a:ext uri="{FF2B5EF4-FFF2-40B4-BE49-F238E27FC236}">
                <a16:creationId xmlns:a16="http://schemas.microsoft.com/office/drawing/2014/main" id="{B05EA6AB-F5A9-3BF4-6FFB-614FF6ADA672}"/>
              </a:ext>
            </a:extLst>
          </p:cNvPr>
          <p:cNvSpPr txBox="1"/>
          <p:nvPr/>
        </p:nvSpPr>
        <p:spPr>
          <a:xfrm>
            <a:off x="8631676" y="2928025"/>
            <a:ext cx="1079771" cy="369332"/>
          </a:xfrm>
          <a:prstGeom prst="rect">
            <a:avLst/>
          </a:prstGeom>
          <a:noFill/>
        </p:spPr>
        <p:txBody>
          <a:bodyPr wrap="square" rtlCol="0">
            <a:spAutoFit/>
          </a:bodyPr>
          <a:lstStyle/>
          <a:p>
            <a:r>
              <a:rPr lang="en-US" dirty="0"/>
              <a:t>Left Mark</a:t>
            </a:r>
          </a:p>
        </p:txBody>
      </p:sp>
      <p:sp>
        <p:nvSpPr>
          <p:cNvPr id="20" name="TextBox 19">
            <a:extLst>
              <a:ext uri="{FF2B5EF4-FFF2-40B4-BE49-F238E27FC236}">
                <a16:creationId xmlns:a16="http://schemas.microsoft.com/office/drawing/2014/main" id="{A2F67B3C-F465-E9F7-4B98-7B02564C00E4}"/>
              </a:ext>
            </a:extLst>
          </p:cNvPr>
          <p:cNvSpPr txBox="1"/>
          <p:nvPr/>
        </p:nvSpPr>
        <p:spPr>
          <a:xfrm>
            <a:off x="4289898" y="3031947"/>
            <a:ext cx="1405647" cy="369332"/>
          </a:xfrm>
          <a:prstGeom prst="rect">
            <a:avLst/>
          </a:prstGeom>
          <a:noFill/>
        </p:spPr>
        <p:txBody>
          <a:bodyPr wrap="square" rtlCol="0">
            <a:spAutoFit/>
          </a:bodyPr>
          <a:lstStyle/>
          <a:p>
            <a:r>
              <a:rPr lang="en-US" dirty="0"/>
              <a:t>Right Mark</a:t>
            </a:r>
          </a:p>
        </p:txBody>
      </p:sp>
      <p:graphicFrame>
        <p:nvGraphicFramePr>
          <p:cNvPr id="22" name="Table 4">
            <a:extLst>
              <a:ext uri="{FF2B5EF4-FFF2-40B4-BE49-F238E27FC236}">
                <a16:creationId xmlns:a16="http://schemas.microsoft.com/office/drawing/2014/main" id="{D607D33B-5F93-D74E-A00D-96B7F9A8625F}"/>
              </a:ext>
            </a:extLst>
          </p:cNvPr>
          <p:cNvGraphicFramePr>
            <a:graphicFrameLocks/>
          </p:cNvGraphicFramePr>
          <p:nvPr>
            <p:extLst>
              <p:ext uri="{D42A27DB-BD31-4B8C-83A1-F6EECF244321}">
                <p14:modId xmlns:p14="http://schemas.microsoft.com/office/powerpoint/2010/main" val="2736290589"/>
              </p:ext>
            </p:extLst>
          </p:nvPr>
        </p:nvGraphicFramePr>
        <p:xfrm>
          <a:off x="1200725" y="4491267"/>
          <a:ext cx="4340800" cy="634290"/>
        </p:xfrm>
        <a:graphic>
          <a:graphicData uri="http://schemas.openxmlformats.org/drawingml/2006/table">
            <a:tbl>
              <a:tblPr firstRow="1" bandRow="1">
                <a:tableStyleId>{5940675A-B579-460E-94D1-54222C63F5DA}</a:tableStyleId>
              </a:tblPr>
              <a:tblGrid>
                <a:gridCol w="868160">
                  <a:extLst>
                    <a:ext uri="{9D8B030D-6E8A-4147-A177-3AD203B41FA5}">
                      <a16:colId xmlns:a16="http://schemas.microsoft.com/office/drawing/2014/main" val="2581802679"/>
                    </a:ext>
                  </a:extLst>
                </a:gridCol>
                <a:gridCol w="868160">
                  <a:extLst>
                    <a:ext uri="{9D8B030D-6E8A-4147-A177-3AD203B41FA5}">
                      <a16:colId xmlns:a16="http://schemas.microsoft.com/office/drawing/2014/main" val="302535599"/>
                    </a:ext>
                  </a:extLst>
                </a:gridCol>
                <a:gridCol w="868160">
                  <a:extLst>
                    <a:ext uri="{9D8B030D-6E8A-4147-A177-3AD203B41FA5}">
                      <a16:colId xmlns:a16="http://schemas.microsoft.com/office/drawing/2014/main" val="2628774838"/>
                    </a:ext>
                  </a:extLst>
                </a:gridCol>
                <a:gridCol w="868160">
                  <a:extLst>
                    <a:ext uri="{9D8B030D-6E8A-4147-A177-3AD203B41FA5}">
                      <a16:colId xmlns:a16="http://schemas.microsoft.com/office/drawing/2014/main" val="754725136"/>
                    </a:ext>
                  </a:extLst>
                </a:gridCol>
                <a:gridCol w="868160">
                  <a:extLst>
                    <a:ext uri="{9D8B030D-6E8A-4147-A177-3AD203B41FA5}">
                      <a16:colId xmlns:a16="http://schemas.microsoft.com/office/drawing/2014/main" val="866238751"/>
                    </a:ext>
                  </a:extLst>
                </a:gridCol>
              </a:tblGrid>
              <a:tr h="634290">
                <a:tc>
                  <a:txBody>
                    <a:bodyPr/>
                    <a:lstStyle/>
                    <a:p>
                      <a:pPr algn="ctr"/>
                      <a:r>
                        <a:rPr lang="en-US" dirty="0"/>
                        <a:t>31</a:t>
                      </a:r>
                    </a:p>
                  </a:txBody>
                  <a:tcPr>
                    <a:solidFill>
                      <a:schemeClr val="bg1">
                        <a:lumMod val="65000"/>
                      </a:schemeClr>
                    </a:solidFill>
                  </a:tcPr>
                </a:tc>
                <a:tc>
                  <a:txBody>
                    <a:bodyPr/>
                    <a:lstStyle/>
                    <a:p>
                      <a:pPr algn="ctr"/>
                      <a:r>
                        <a:rPr lang="en-US" dirty="0"/>
                        <a:t>26</a:t>
                      </a:r>
                    </a:p>
                  </a:txBody>
                  <a:tcPr/>
                </a:tc>
                <a:tc>
                  <a:txBody>
                    <a:bodyPr/>
                    <a:lstStyle/>
                    <a:p>
                      <a:pPr algn="ctr"/>
                      <a:r>
                        <a:rPr lang="en-US" dirty="0"/>
                        <a:t>20</a:t>
                      </a:r>
                    </a:p>
                  </a:txBody>
                  <a:tcPr/>
                </a:tc>
                <a:tc>
                  <a:txBody>
                    <a:bodyPr/>
                    <a:lstStyle/>
                    <a:p>
                      <a:pPr algn="ctr"/>
                      <a:r>
                        <a:rPr lang="en-US" dirty="0"/>
                        <a:t>17</a:t>
                      </a:r>
                    </a:p>
                  </a:txBody>
                  <a:tcPr/>
                </a:tc>
                <a:tc>
                  <a:txBody>
                    <a:bodyPr/>
                    <a:lstStyle/>
                    <a:p>
                      <a:pPr algn="ctr"/>
                      <a:r>
                        <a:rPr lang="en-US" dirty="0"/>
                        <a:t>44</a:t>
                      </a:r>
                    </a:p>
                  </a:txBody>
                  <a:tcPr/>
                </a:tc>
                <a:extLst>
                  <a:ext uri="{0D108BD9-81ED-4DB2-BD59-A6C34878D82A}">
                    <a16:rowId xmlns:a16="http://schemas.microsoft.com/office/drawing/2014/main" val="977275040"/>
                  </a:ext>
                </a:extLst>
              </a:tr>
            </a:tbl>
          </a:graphicData>
        </a:graphic>
      </p:graphicFrame>
      <p:graphicFrame>
        <p:nvGraphicFramePr>
          <p:cNvPr id="23" name="Table 6">
            <a:extLst>
              <a:ext uri="{FF2B5EF4-FFF2-40B4-BE49-F238E27FC236}">
                <a16:creationId xmlns:a16="http://schemas.microsoft.com/office/drawing/2014/main" id="{8B34A0BA-CDE5-C66A-F8DB-2A9B7B83514B}"/>
              </a:ext>
            </a:extLst>
          </p:cNvPr>
          <p:cNvGraphicFramePr>
            <a:graphicFrameLocks noGrp="1"/>
          </p:cNvGraphicFramePr>
          <p:nvPr>
            <p:extLst>
              <p:ext uri="{D42A27DB-BD31-4B8C-83A1-F6EECF244321}">
                <p14:modId xmlns:p14="http://schemas.microsoft.com/office/powerpoint/2010/main" val="768846234"/>
              </p:ext>
            </p:extLst>
          </p:nvPr>
        </p:nvGraphicFramePr>
        <p:xfrm>
          <a:off x="7827524" y="4437571"/>
          <a:ext cx="3431919" cy="634291"/>
        </p:xfrm>
        <a:graphic>
          <a:graphicData uri="http://schemas.openxmlformats.org/drawingml/2006/table">
            <a:tbl>
              <a:tblPr firstRow="1" bandRow="1">
                <a:tableStyleId>{5940675A-B579-460E-94D1-54222C63F5DA}</a:tableStyleId>
              </a:tblPr>
              <a:tblGrid>
                <a:gridCol w="1143973">
                  <a:extLst>
                    <a:ext uri="{9D8B030D-6E8A-4147-A177-3AD203B41FA5}">
                      <a16:colId xmlns:a16="http://schemas.microsoft.com/office/drawing/2014/main" val="1249755824"/>
                    </a:ext>
                  </a:extLst>
                </a:gridCol>
                <a:gridCol w="1143973">
                  <a:extLst>
                    <a:ext uri="{9D8B030D-6E8A-4147-A177-3AD203B41FA5}">
                      <a16:colId xmlns:a16="http://schemas.microsoft.com/office/drawing/2014/main" val="525607902"/>
                    </a:ext>
                  </a:extLst>
                </a:gridCol>
                <a:gridCol w="1143973">
                  <a:extLst>
                    <a:ext uri="{9D8B030D-6E8A-4147-A177-3AD203B41FA5}">
                      <a16:colId xmlns:a16="http://schemas.microsoft.com/office/drawing/2014/main" val="859831241"/>
                    </a:ext>
                  </a:extLst>
                </a:gridCol>
              </a:tblGrid>
              <a:tr h="634291">
                <a:tc>
                  <a:txBody>
                    <a:bodyPr/>
                    <a:lstStyle/>
                    <a:p>
                      <a:pPr algn="ctr"/>
                      <a:r>
                        <a:rPr lang="en-US" dirty="0"/>
                        <a:t>77</a:t>
                      </a:r>
                    </a:p>
                  </a:txBody>
                  <a:tcPr>
                    <a:solidFill>
                      <a:schemeClr val="bg1">
                        <a:lumMod val="75000"/>
                      </a:schemeClr>
                    </a:solidFill>
                  </a:tcPr>
                </a:tc>
                <a:tc>
                  <a:txBody>
                    <a:bodyPr/>
                    <a:lstStyle/>
                    <a:p>
                      <a:pPr algn="ctr"/>
                      <a:r>
                        <a:rPr lang="en-US" dirty="0"/>
                        <a:t>55</a:t>
                      </a:r>
                    </a:p>
                  </a:txBody>
                  <a:tcPr/>
                </a:tc>
                <a:tc>
                  <a:txBody>
                    <a:bodyPr/>
                    <a:lstStyle/>
                    <a:p>
                      <a:pPr algn="ctr"/>
                      <a:r>
                        <a:rPr lang="en-US" dirty="0"/>
                        <a:t>93</a:t>
                      </a:r>
                    </a:p>
                  </a:txBody>
                  <a:tcPr/>
                </a:tc>
                <a:extLst>
                  <a:ext uri="{0D108BD9-81ED-4DB2-BD59-A6C34878D82A}">
                    <a16:rowId xmlns:a16="http://schemas.microsoft.com/office/drawing/2014/main" val="3520996022"/>
                  </a:ext>
                </a:extLst>
              </a:tr>
            </a:tbl>
          </a:graphicData>
        </a:graphic>
      </p:graphicFrame>
      <p:graphicFrame>
        <p:nvGraphicFramePr>
          <p:cNvPr id="24" name="Table 7">
            <a:extLst>
              <a:ext uri="{FF2B5EF4-FFF2-40B4-BE49-F238E27FC236}">
                <a16:creationId xmlns:a16="http://schemas.microsoft.com/office/drawing/2014/main" id="{99A1F60C-4551-DBC6-4291-F82E35C44A26}"/>
              </a:ext>
            </a:extLst>
          </p:cNvPr>
          <p:cNvGraphicFramePr>
            <a:graphicFrameLocks noGrp="1"/>
          </p:cNvGraphicFramePr>
          <p:nvPr>
            <p:extLst>
              <p:ext uri="{D42A27DB-BD31-4B8C-83A1-F6EECF244321}">
                <p14:modId xmlns:p14="http://schemas.microsoft.com/office/powerpoint/2010/main" val="1543321769"/>
              </p:ext>
            </p:extLst>
          </p:nvPr>
        </p:nvGraphicFramePr>
        <p:xfrm>
          <a:off x="6085192" y="3798524"/>
          <a:ext cx="1187855" cy="583840"/>
        </p:xfrm>
        <a:graphic>
          <a:graphicData uri="http://schemas.openxmlformats.org/drawingml/2006/table">
            <a:tbl>
              <a:tblPr firstRow="1" bandRow="1">
                <a:tableStyleId>{5C22544A-7EE6-4342-B048-85BDC9FD1C3A}</a:tableStyleId>
              </a:tblPr>
              <a:tblGrid>
                <a:gridCol w="1187855">
                  <a:extLst>
                    <a:ext uri="{9D8B030D-6E8A-4147-A177-3AD203B41FA5}">
                      <a16:colId xmlns:a16="http://schemas.microsoft.com/office/drawing/2014/main" val="1151896293"/>
                    </a:ext>
                  </a:extLst>
                </a:gridCol>
              </a:tblGrid>
              <a:tr h="583840">
                <a:tc>
                  <a:txBody>
                    <a:bodyPr/>
                    <a:lstStyle/>
                    <a:p>
                      <a:pPr algn="ctr"/>
                      <a:r>
                        <a:rPr lang="en-US" dirty="0"/>
                        <a:t>54</a:t>
                      </a:r>
                    </a:p>
                  </a:txBody>
                  <a:tcPr/>
                </a:tc>
                <a:extLst>
                  <a:ext uri="{0D108BD9-81ED-4DB2-BD59-A6C34878D82A}">
                    <a16:rowId xmlns:a16="http://schemas.microsoft.com/office/drawing/2014/main" val="3459332926"/>
                  </a:ext>
                </a:extLst>
              </a:tr>
            </a:tbl>
          </a:graphicData>
        </a:graphic>
      </p:graphicFrame>
      <p:cxnSp>
        <p:nvCxnSpPr>
          <p:cNvPr id="25" name="Straight Arrow Connector 24">
            <a:extLst>
              <a:ext uri="{FF2B5EF4-FFF2-40B4-BE49-F238E27FC236}">
                <a16:creationId xmlns:a16="http://schemas.microsoft.com/office/drawing/2014/main" id="{F3B8943F-9D6D-3B9F-27F2-3069CE5F20AA}"/>
              </a:ext>
            </a:extLst>
          </p:cNvPr>
          <p:cNvCxnSpPr>
            <a:cxnSpLocks/>
          </p:cNvCxnSpPr>
          <p:nvPr/>
        </p:nvCxnSpPr>
        <p:spPr>
          <a:xfrm flipH="1" flipV="1">
            <a:off x="5164575" y="5125557"/>
            <a:ext cx="104737" cy="44747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10F573DD-3FFB-704C-1A4F-F1A2411E6BB0}"/>
              </a:ext>
            </a:extLst>
          </p:cNvPr>
          <p:cNvCxnSpPr>
            <a:cxnSpLocks/>
          </p:cNvCxnSpPr>
          <p:nvPr/>
        </p:nvCxnSpPr>
        <p:spPr>
          <a:xfrm flipV="1">
            <a:off x="3842426" y="5153523"/>
            <a:ext cx="256971" cy="419506"/>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id="{B54D790C-6C52-3DAC-0183-065D6BD0F791}"/>
              </a:ext>
            </a:extLst>
          </p:cNvPr>
          <p:cNvCxnSpPr/>
          <p:nvPr/>
        </p:nvCxnSpPr>
        <p:spPr>
          <a:xfrm flipV="1">
            <a:off x="9374869" y="5145012"/>
            <a:ext cx="155643" cy="42801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D771CE9D-62BA-45DD-91B7-CF2D35F90FD4}"/>
              </a:ext>
            </a:extLst>
          </p:cNvPr>
          <p:cNvCxnSpPr>
            <a:cxnSpLocks/>
          </p:cNvCxnSpPr>
          <p:nvPr/>
        </p:nvCxnSpPr>
        <p:spPr>
          <a:xfrm flipH="1" flipV="1">
            <a:off x="10700427" y="5145012"/>
            <a:ext cx="152399" cy="42801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 name="TextBox 28">
            <a:extLst>
              <a:ext uri="{FF2B5EF4-FFF2-40B4-BE49-F238E27FC236}">
                <a16:creationId xmlns:a16="http://schemas.microsoft.com/office/drawing/2014/main" id="{7CE80C12-7160-7F67-84DD-04B28EF85B94}"/>
              </a:ext>
            </a:extLst>
          </p:cNvPr>
          <p:cNvSpPr txBox="1"/>
          <p:nvPr/>
        </p:nvSpPr>
        <p:spPr>
          <a:xfrm>
            <a:off x="4918951" y="5573029"/>
            <a:ext cx="1079771" cy="369332"/>
          </a:xfrm>
          <a:prstGeom prst="rect">
            <a:avLst/>
          </a:prstGeom>
          <a:noFill/>
        </p:spPr>
        <p:txBody>
          <a:bodyPr wrap="square" rtlCol="0">
            <a:spAutoFit/>
          </a:bodyPr>
          <a:lstStyle/>
          <a:p>
            <a:r>
              <a:rPr lang="en-US" dirty="0"/>
              <a:t>Left Mark</a:t>
            </a:r>
          </a:p>
        </p:txBody>
      </p:sp>
      <p:sp>
        <p:nvSpPr>
          <p:cNvPr id="30" name="TextBox 29">
            <a:extLst>
              <a:ext uri="{FF2B5EF4-FFF2-40B4-BE49-F238E27FC236}">
                <a16:creationId xmlns:a16="http://schemas.microsoft.com/office/drawing/2014/main" id="{D0C9109A-497A-04D7-5435-E71F530E7FB0}"/>
              </a:ext>
            </a:extLst>
          </p:cNvPr>
          <p:cNvSpPr txBox="1"/>
          <p:nvPr/>
        </p:nvSpPr>
        <p:spPr>
          <a:xfrm>
            <a:off x="10312940" y="5646179"/>
            <a:ext cx="1079771" cy="369332"/>
          </a:xfrm>
          <a:prstGeom prst="rect">
            <a:avLst/>
          </a:prstGeom>
          <a:noFill/>
        </p:spPr>
        <p:txBody>
          <a:bodyPr wrap="square" rtlCol="0">
            <a:spAutoFit/>
          </a:bodyPr>
          <a:lstStyle/>
          <a:p>
            <a:r>
              <a:rPr lang="en-US" dirty="0"/>
              <a:t>Left Mark</a:t>
            </a:r>
          </a:p>
        </p:txBody>
      </p:sp>
      <p:sp>
        <p:nvSpPr>
          <p:cNvPr id="31" name="TextBox 30">
            <a:extLst>
              <a:ext uri="{FF2B5EF4-FFF2-40B4-BE49-F238E27FC236}">
                <a16:creationId xmlns:a16="http://schemas.microsoft.com/office/drawing/2014/main" id="{CA571DB4-765B-DC48-4743-1EF2BE73BE45}"/>
              </a:ext>
            </a:extLst>
          </p:cNvPr>
          <p:cNvSpPr txBox="1"/>
          <p:nvPr/>
        </p:nvSpPr>
        <p:spPr>
          <a:xfrm>
            <a:off x="8409562" y="5573029"/>
            <a:ext cx="1405647" cy="369332"/>
          </a:xfrm>
          <a:prstGeom prst="rect">
            <a:avLst/>
          </a:prstGeom>
          <a:noFill/>
        </p:spPr>
        <p:txBody>
          <a:bodyPr wrap="square" rtlCol="0">
            <a:spAutoFit/>
          </a:bodyPr>
          <a:lstStyle/>
          <a:p>
            <a:r>
              <a:rPr lang="en-US" dirty="0"/>
              <a:t>Right Mark</a:t>
            </a:r>
          </a:p>
        </p:txBody>
      </p:sp>
      <p:sp>
        <p:nvSpPr>
          <p:cNvPr id="32" name="TextBox 31">
            <a:extLst>
              <a:ext uri="{FF2B5EF4-FFF2-40B4-BE49-F238E27FC236}">
                <a16:creationId xmlns:a16="http://schemas.microsoft.com/office/drawing/2014/main" id="{09940B4F-2027-14D7-2809-0FC2F0D5A7EC}"/>
              </a:ext>
            </a:extLst>
          </p:cNvPr>
          <p:cNvSpPr txBox="1"/>
          <p:nvPr/>
        </p:nvSpPr>
        <p:spPr>
          <a:xfrm>
            <a:off x="3555459" y="5603914"/>
            <a:ext cx="1405647" cy="369332"/>
          </a:xfrm>
          <a:prstGeom prst="rect">
            <a:avLst/>
          </a:prstGeom>
          <a:noFill/>
        </p:spPr>
        <p:txBody>
          <a:bodyPr wrap="square" rtlCol="0">
            <a:spAutoFit/>
          </a:bodyPr>
          <a:lstStyle/>
          <a:p>
            <a:r>
              <a:rPr lang="en-US" dirty="0"/>
              <a:t>Right Mark</a:t>
            </a:r>
          </a:p>
        </p:txBody>
      </p:sp>
      <p:sp>
        <p:nvSpPr>
          <p:cNvPr id="35" name="TextBox 34">
            <a:extLst>
              <a:ext uri="{FF2B5EF4-FFF2-40B4-BE49-F238E27FC236}">
                <a16:creationId xmlns:a16="http://schemas.microsoft.com/office/drawing/2014/main" id="{E8ACBB34-56AE-1E36-C251-EDEF146175C6}"/>
              </a:ext>
            </a:extLst>
          </p:cNvPr>
          <p:cNvSpPr txBox="1"/>
          <p:nvPr/>
        </p:nvSpPr>
        <p:spPr>
          <a:xfrm>
            <a:off x="1354745" y="5946432"/>
            <a:ext cx="4340800" cy="369332"/>
          </a:xfrm>
          <a:prstGeom prst="rect">
            <a:avLst/>
          </a:prstGeom>
          <a:noFill/>
        </p:spPr>
        <p:txBody>
          <a:bodyPr wrap="square" rtlCol="0">
            <a:spAutoFit/>
          </a:bodyPr>
          <a:lstStyle/>
          <a:p>
            <a:r>
              <a:rPr lang="en-US" dirty="0"/>
              <a:t>Crossed exchange right mark with pivot</a:t>
            </a:r>
          </a:p>
        </p:txBody>
      </p:sp>
      <p:sp>
        <p:nvSpPr>
          <p:cNvPr id="36" name="TextBox 35">
            <a:extLst>
              <a:ext uri="{FF2B5EF4-FFF2-40B4-BE49-F238E27FC236}">
                <a16:creationId xmlns:a16="http://schemas.microsoft.com/office/drawing/2014/main" id="{D77EED60-5A54-842A-A204-C70F2129E241}"/>
              </a:ext>
            </a:extLst>
          </p:cNvPr>
          <p:cNvSpPr txBox="1"/>
          <p:nvPr/>
        </p:nvSpPr>
        <p:spPr>
          <a:xfrm>
            <a:off x="7644809" y="5973246"/>
            <a:ext cx="4340800" cy="369332"/>
          </a:xfrm>
          <a:prstGeom prst="rect">
            <a:avLst/>
          </a:prstGeom>
          <a:noFill/>
        </p:spPr>
        <p:txBody>
          <a:bodyPr wrap="square" rtlCol="0">
            <a:spAutoFit/>
          </a:bodyPr>
          <a:lstStyle/>
          <a:p>
            <a:r>
              <a:rPr lang="en-US" dirty="0"/>
              <a:t>Crossed exchange right mark with pivot</a:t>
            </a:r>
          </a:p>
        </p:txBody>
      </p:sp>
    </p:spTree>
    <p:extLst>
      <p:ext uri="{BB962C8B-B14F-4D97-AF65-F5344CB8AC3E}">
        <p14:creationId xmlns:p14="http://schemas.microsoft.com/office/powerpoint/2010/main" val="874321420"/>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04D63-AD0E-677B-E274-3E9FF0C31A8E}"/>
              </a:ext>
            </a:extLst>
          </p:cNvPr>
          <p:cNvSpPr>
            <a:spLocks noGrp="1"/>
          </p:cNvSpPr>
          <p:nvPr>
            <p:ph type="title"/>
          </p:nvPr>
        </p:nvSpPr>
        <p:spPr/>
        <p:txBody>
          <a:bodyPr/>
          <a:lstStyle/>
          <a:p>
            <a:endParaRPr lang="en-US"/>
          </a:p>
        </p:txBody>
      </p:sp>
      <p:graphicFrame>
        <p:nvGraphicFramePr>
          <p:cNvPr id="4" name="Table 4">
            <a:extLst>
              <a:ext uri="{FF2B5EF4-FFF2-40B4-BE49-F238E27FC236}">
                <a16:creationId xmlns:a16="http://schemas.microsoft.com/office/drawing/2014/main" id="{775A6DB2-0B28-15B4-7FD3-7F4F269175A6}"/>
              </a:ext>
            </a:extLst>
          </p:cNvPr>
          <p:cNvGraphicFramePr>
            <a:graphicFrameLocks noGrp="1"/>
          </p:cNvGraphicFramePr>
          <p:nvPr>
            <p:ph idx="1"/>
            <p:extLst>
              <p:ext uri="{D42A27DB-BD31-4B8C-83A1-F6EECF244321}">
                <p14:modId xmlns:p14="http://schemas.microsoft.com/office/powerpoint/2010/main" val="3161423536"/>
              </p:ext>
            </p:extLst>
          </p:nvPr>
        </p:nvGraphicFramePr>
        <p:xfrm>
          <a:off x="1096963" y="1846263"/>
          <a:ext cx="4340800" cy="634290"/>
        </p:xfrm>
        <a:graphic>
          <a:graphicData uri="http://schemas.openxmlformats.org/drawingml/2006/table">
            <a:tbl>
              <a:tblPr firstRow="1" bandRow="1">
                <a:tableStyleId>{5940675A-B579-460E-94D1-54222C63F5DA}</a:tableStyleId>
              </a:tblPr>
              <a:tblGrid>
                <a:gridCol w="868160">
                  <a:extLst>
                    <a:ext uri="{9D8B030D-6E8A-4147-A177-3AD203B41FA5}">
                      <a16:colId xmlns:a16="http://schemas.microsoft.com/office/drawing/2014/main" val="2581802679"/>
                    </a:ext>
                  </a:extLst>
                </a:gridCol>
                <a:gridCol w="868160">
                  <a:extLst>
                    <a:ext uri="{9D8B030D-6E8A-4147-A177-3AD203B41FA5}">
                      <a16:colId xmlns:a16="http://schemas.microsoft.com/office/drawing/2014/main" val="302535599"/>
                    </a:ext>
                  </a:extLst>
                </a:gridCol>
                <a:gridCol w="868160">
                  <a:extLst>
                    <a:ext uri="{9D8B030D-6E8A-4147-A177-3AD203B41FA5}">
                      <a16:colId xmlns:a16="http://schemas.microsoft.com/office/drawing/2014/main" val="2628774838"/>
                    </a:ext>
                  </a:extLst>
                </a:gridCol>
                <a:gridCol w="868160">
                  <a:extLst>
                    <a:ext uri="{9D8B030D-6E8A-4147-A177-3AD203B41FA5}">
                      <a16:colId xmlns:a16="http://schemas.microsoft.com/office/drawing/2014/main" val="754725136"/>
                    </a:ext>
                  </a:extLst>
                </a:gridCol>
                <a:gridCol w="868160">
                  <a:extLst>
                    <a:ext uri="{9D8B030D-6E8A-4147-A177-3AD203B41FA5}">
                      <a16:colId xmlns:a16="http://schemas.microsoft.com/office/drawing/2014/main" val="866238751"/>
                    </a:ext>
                  </a:extLst>
                </a:gridCol>
              </a:tblGrid>
              <a:tr h="634290">
                <a:tc>
                  <a:txBody>
                    <a:bodyPr/>
                    <a:lstStyle/>
                    <a:p>
                      <a:pPr algn="ctr"/>
                      <a:r>
                        <a:rPr lang="en-US" dirty="0"/>
                        <a:t>17</a:t>
                      </a:r>
                    </a:p>
                  </a:txBody>
                  <a:tcPr>
                    <a:noFill/>
                  </a:tcPr>
                </a:tc>
                <a:tc>
                  <a:txBody>
                    <a:bodyPr/>
                    <a:lstStyle/>
                    <a:p>
                      <a:pPr algn="ctr"/>
                      <a:r>
                        <a:rPr lang="en-US" dirty="0"/>
                        <a:t>26</a:t>
                      </a:r>
                    </a:p>
                  </a:txBody>
                  <a:tcPr>
                    <a:solidFill>
                      <a:schemeClr val="bg1">
                        <a:lumMod val="65000"/>
                      </a:schemeClr>
                    </a:solidFill>
                  </a:tcPr>
                </a:tc>
                <a:tc>
                  <a:txBody>
                    <a:bodyPr/>
                    <a:lstStyle/>
                    <a:p>
                      <a:pPr algn="ctr"/>
                      <a:r>
                        <a:rPr lang="en-US" dirty="0"/>
                        <a:t>20</a:t>
                      </a:r>
                    </a:p>
                  </a:txBody>
                  <a:tcPr/>
                </a:tc>
                <a:tc>
                  <a:txBody>
                    <a:bodyPr/>
                    <a:lstStyle/>
                    <a:p>
                      <a:pPr algn="ctr"/>
                      <a:r>
                        <a:rPr lang="en-US" dirty="0"/>
                        <a:t>31</a:t>
                      </a:r>
                    </a:p>
                  </a:txBody>
                  <a:tcPr>
                    <a:solidFill>
                      <a:schemeClr val="accent1"/>
                    </a:solidFill>
                  </a:tcPr>
                </a:tc>
                <a:tc>
                  <a:txBody>
                    <a:bodyPr/>
                    <a:lstStyle/>
                    <a:p>
                      <a:pPr algn="ctr"/>
                      <a:r>
                        <a:rPr lang="en-US" dirty="0"/>
                        <a:t>44</a:t>
                      </a:r>
                    </a:p>
                  </a:txBody>
                  <a:tcPr>
                    <a:solidFill>
                      <a:schemeClr val="accent3">
                        <a:lumMod val="40000"/>
                        <a:lumOff val="60000"/>
                      </a:schemeClr>
                    </a:solidFill>
                  </a:tcPr>
                </a:tc>
                <a:extLst>
                  <a:ext uri="{0D108BD9-81ED-4DB2-BD59-A6C34878D82A}">
                    <a16:rowId xmlns:a16="http://schemas.microsoft.com/office/drawing/2014/main" val="977275040"/>
                  </a:ext>
                </a:extLst>
              </a:tr>
            </a:tbl>
          </a:graphicData>
        </a:graphic>
      </p:graphicFrame>
      <p:graphicFrame>
        <p:nvGraphicFramePr>
          <p:cNvPr id="6" name="Table 6">
            <a:extLst>
              <a:ext uri="{FF2B5EF4-FFF2-40B4-BE49-F238E27FC236}">
                <a16:creationId xmlns:a16="http://schemas.microsoft.com/office/drawing/2014/main" id="{A7D9D750-E94E-6166-CFD3-742967F9C73E}"/>
              </a:ext>
            </a:extLst>
          </p:cNvPr>
          <p:cNvGraphicFramePr>
            <a:graphicFrameLocks noGrp="1"/>
          </p:cNvGraphicFramePr>
          <p:nvPr>
            <p:extLst>
              <p:ext uri="{D42A27DB-BD31-4B8C-83A1-F6EECF244321}">
                <p14:modId xmlns:p14="http://schemas.microsoft.com/office/powerpoint/2010/main" val="4102895068"/>
              </p:ext>
            </p:extLst>
          </p:nvPr>
        </p:nvGraphicFramePr>
        <p:xfrm>
          <a:off x="7723762" y="1792567"/>
          <a:ext cx="3431919" cy="634291"/>
        </p:xfrm>
        <a:graphic>
          <a:graphicData uri="http://schemas.openxmlformats.org/drawingml/2006/table">
            <a:tbl>
              <a:tblPr firstRow="1" bandRow="1">
                <a:tableStyleId>{5940675A-B579-460E-94D1-54222C63F5DA}</a:tableStyleId>
              </a:tblPr>
              <a:tblGrid>
                <a:gridCol w="1143973">
                  <a:extLst>
                    <a:ext uri="{9D8B030D-6E8A-4147-A177-3AD203B41FA5}">
                      <a16:colId xmlns:a16="http://schemas.microsoft.com/office/drawing/2014/main" val="1249755824"/>
                    </a:ext>
                  </a:extLst>
                </a:gridCol>
                <a:gridCol w="1143973">
                  <a:extLst>
                    <a:ext uri="{9D8B030D-6E8A-4147-A177-3AD203B41FA5}">
                      <a16:colId xmlns:a16="http://schemas.microsoft.com/office/drawing/2014/main" val="525607902"/>
                    </a:ext>
                  </a:extLst>
                </a:gridCol>
                <a:gridCol w="1143973">
                  <a:extLst>
                    <a:ext uri="{9D8B030D-6E8A-4147-A177-3AD203B41FA5}">
                      <a16:colId xmlns:a16="http://schemas.microsoft.com/office/drawing/2014/main" val="859831241"/>
                    </a:ext>
                  </a:extLst>
                </a:gridCol>
              </a:tblGrid>
              <a:tr h="634291">
                <a:tc>
                  <a:txBody>
                    <a:bodyPr/>
                    <a:lstStyle/>
                    <a:p>
                      <a:pPr algn="ctr"/>
                      <a:r>
                        <a:rPr lang="en-US" dirty="0"/>
                        <a:t>55</a:t>
                      </a:r>
                    </a:p>
                  </a:txBody>
                  <a:tcPr>
                    <a:solidFill>
                      <a:schemeClr val="accent3">
                        <a:lumMod val="40000"/>
                        <a:lumOff val="60000"/>
                      </a:schemeClr>
                    </a:solidFill>
                  </a:tcPr>
                </a:tc>
                <a:tc>
                  <a:txBody>
                    <a:bodyPr/>
                    <a:lstStyle/>
                    <a:p>
                      <a:pPr algn="ctr"/>
                      <a:r>
                        <a:rPr lang="en-US" dirty="0"/>
                        <a:t>77</a:t>
                      </a:r>
                    </a:p>
                  </a:txBody>
                  <a:tcPr>
                    <a:solidFill>
                      <a:schemeClr val="accent1"/>
                    </a:solidFill>
                  </a:tcPr>
                </a:tc>
                <a:tc>
                  <a:txBody>
                    <a:bodyPr/>
                    <a:lstStyle/>
                    <a:p>
                      <a:pPr algn="ctr"/>
                      <a:r>
                        <a:rPr lang="en-US" dirty="0"/>
                        <a:t>93</a:t>
                      </a:r>
                    </a:p>
                  </a:txBody>
                  <a:tcPr>
                    <a:solidFill>
                      <a:schemeClr val="accent3">
                        <a:lumMod val="40000"/>
                        <a:lumOff val="60000"/>
                      </a:schemeClr>
                    </a:solidFill>
                  </a:tcPr>
                </a:tc>
                <a:extLst>
                  <a:ext uri="{0D108BD9-81ED-4DB2-BD59-A6C34878D82A}">
                    <a16:rowId xmlns:a16="http://schemas.microsoft.com/office/drawing/2014/main" val="3520996022"/>
                  </a:ext>
                </a:extLst>
              </a:tr>
            </a:tbl>
          </a:graphicData>
        </a:graphic>
      </p:graphicFrame>
      <p:graphicFrame>
        <p:nvGraphicFramePr>
          <p:cNvPr id="7" name="Table 7">
            <a:extLst>
              <a:ext uri="{FF2B5EF4-FFF2-40B4-BE49-F238E27FC236}">
                <a16:creationId xmlns:a16="http://schemas.microsoft.com/office/drawing/2014/main" id="{9E7A4D1B-A7F9-D835-E450-46015E6B2314}"/>
              </a:ext>
            </a:extLst>
          </p:cNvPr>
          <p:cNvGraphicFramePr>
            <a:graphicFrameLocks noGrp="1"/>
          </p:cNvGraphicFramePr>
          <p:nvPr>
            <p:extLst>
              <p:ext uri="{D42A27DB-BD31-4B8C-83A1-F6EECF244321}">
                <p14:modId xmlns:p14="http://schemas.microsoft.com/office/powerpoint/2010/main" val="1412074049"/>
              </p:ext>
            </p:extLst>
          </p:nvPr>
        </p:nvGraphicFramePr>
        <p:xfrm>
          <a:off x="5981430" y="1153520"/>
          <a:ext cx="1187855" cy="583840"/>
        </p:xfrm>
        <a:graphic>
          <a:graphicData uri="http://schemas.openxmlformats.org/drawingml/2006/table">
            <a:tbl>
              <a:tblPr firstRow="1" bandRow="1">
                <a:tableStyleId>{5C22544A-7EE6-4342-B048-85BDC9FD1C3A}</a:tableStyleId>
              </a:tblPr>
              <a:tblGrid>
                <a:gridCol w="1187855">
                  <a:extLst>
                    <a:ext uri="{9D8B030D-6E8A-4147-A177-3AD203B41FA5}">
                      <a16:colId xmlns:a16="http://schemas.microsoft.com/office/drawing/2014/main" val="1151896293"/>
                    </a:ext>
                  </a:extLst>
                </a:gridCol>
              </a:tblGrid>
              <a:tr h="583840">
                <a:tc>
                  <a:txBody>
                    <a:bodyPr/>
                    <a:lstStyle/>
                    <a:p>
                      <a:pPr algn="ctr"/>
                      <a:r>
                        <a:rPr lang="en-US" dirty="0"/>
                        <a:t>54</a:t>
                      </a:r>
                    </a:p>
                  </a:txBody>
                  <a:tcPr/>
                </a:tc>
                <a:extLst>
                  <a:ext uri="{0D108BD9-81ED-4DB2-BD59-A6C34878D82A}">
                    <a16:rowId xmlns:a16="http://schemas.microsoft.com/office/drawing/2014/main" val="3459332926"/>
                  </a:ext>
                </a:extLst>
              </a:tr>
            </a:tbl>
          </a:graphicData>
        </a:graphic>
      </p:graphicFrame>
      <p:cxnSp>
        <p:nvCxnSpPr>
          <p:cNvPr id="11" name="Straight Arrow Connector 10">
            <a:extLst>
              <a:ext uri="{FF2B5EF4-FFF2-40B4-BE49-F238E27FC236}">
                <a16:creationId xmlns:a16="http://schemas.microsoft.com/office/drawing/2014/main" id="{4864C0B9-B78F-19A9-A502-D03C8254ADD1}"/>
              </a:ext>
            </a:extLst>
          </p:cNvPr>
          <p:cNvCxnSpPr/>
          <p:nvPr/>
        </p:nvCxnSpPr>
        <p:spPr>
          <a:xfrm flipV="1">
            <a:off x="3111720" y="2500008"/>
            <a:ext cx="155643" cy="42801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B3673ADE-25A8-92FB-AAE7-9529EBC3639D}"/>
              </a:ext>
            </a:extLst>
          </p:cNvPr>
          <p:cNvCxnSpPr>
            <a:cxnSpLocks/>
          </p:cNvCxnSpPr>
          <p:nvPr/>
        </p:nvCxnSpPr>
        <p:spPr>
          <a:xfrm flipH="1" flipV="1">
            <a:off x="3507801" y="2499524"/>
            <a:ext cx="158885" cy="40856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8AC9E269-74DE-15BB-1C4B-F92F1047142F}"/>
              </a:ext>
            </a:extLst>
          </p:cNvPr>
          <p:cNvSpPr txBox="1"/>
          <p:nvPr/>
        </p:nvSpPr>
        <p:spPr>
          <a:xfrm>
            <a:off x="2187592" y="2823071"/>
            <a:ext cx="1079771" cy="369332"/>
          </a:xfrm>
          <a:prstGeom prst="rect">
            <a:avLst/>
          </a:prstGeom>
          <a:noFill/>
        </p:spPr>
        <p:txBody>
          <a:bodyPr wrap="square" rtlCol="0">
            <a:spAutoFit/>
          </a:bodyPr>
          <a:lstStyle/>
          <a:p>
            <a:r>
              <a:rPr lang="en-US" dirty="0"/>
              <a:t>Left Mark</a:t>
            </a:r>
          </a:p>
        </p:txBody>
      </p:sp>
      <p:sp>
        <p:nvSpPr>
          <p:cNvPr id="20" name="TextBox 19">
            <a:extLst>
              <a:ext uri="{FF2B5EF4-FFF2-40B4-BE49-F238E27FC236}">
                <a16:creationId xmlns:a16="http://schemas.microsoft.com/office/drawing/2014/main" id="{A2F67B3C-F465-E9F7-4B98-7B02564C00E4}"/>
              </a:ext>
            </a:extLst>
          </p:cNvPr>
          <p:cNvSpPr txBox="1"/>
          <p:nvPr/>
        </p:nvSpPr>
        <p:spPr>
          <a:xfrm>
            <a:off x="3523524" y="2903765"/>
            <a:ext cx="1405647" cy="369332"/>
          </a:xfrm>
          <a:prstGeom prst="rect">
            <a:avLst/>
          </a:prstGeom>
          <a:noFill/>
        </p:spPr>
        <p:txBody>
          <a:bodyPr wrap="square" rtlCol="0">
            <a:spAutoFit/>
          </a:bodyPr>
          <a:lstStyle/>
          <a:p>
            <a:r>
              <a:rPr lang="en-US" dirty="0"/>
              <a:t>Right Mark</a:t>
            </a:r>
          </a:p>
        </p:txBody>
      </p:sp>
      <p:graphicFrame>
        <p:nvGraphicFramePr>
          <p:cNvPr id="22" name="Table 4">
            <a:extLst>
              <a:ext uri="{FF2B5EF4-FFF2-40B4-BE49-F238E27FC236}">
                <a16:creationId xmlns:a16="http://schemas.microsoft.com/office/drawing/2014/main" id="{D607D33B-5F93-D74E-A00D-96B7F9A8625F}"/>
              </a:ext>
            </a:extLst>
          </p:cNvPr>
          <p:cNvGraphicFramePr>
            <a:graphicFrameLocks/>
          </p:cNvGraphicFramePr>
          <p:nvPr>
            <p:extLst>
              <p:ext uri="{D42A27DB-BD31-4B8C-83A1-F6EECF244321}">
                <p14:modId xmlns:p14="http://schemas.microsoft.com/office/powerpoint/2010/main" val="2014844275"/>
              </p:ext>
            </p:extLst>
          </p:nvPr>
        </p:nvGraphicFramePr>
        <p:xfrm>
          <a:off x="1200725" y="4491267"/>
          <a:ext cx="4340800" cy="634290"/>
        </p:xfrm>
        <a:graphic>
          <a:graphicData uri="http://schemas.openxmlformats.org/drawingml/2006/table">
            <a:tbl>
              <a:tblPr firstRow="1" bandRow="1">
                <a:tableStyleId>{5940675A-B579-460E-94D1-54222C63F5DA}</a:tableStyleId>
              </a:tblPr>
              <a:tblGrid>
                <a:gridCol w="868160">
                  <a:extLst>
                    <a:ext uri="{9D8B030D-6E8A-4147-A177-3AD203B41FA5}">
                      <a16:colId xmlns:a16="http://schemas.microsoft.com/office/drawing/2014/main" val="2581802679"/>
                    </a:ext>
                  </a:extLst>
                </a:gridCol>
                <a:gridCol w="868160">
                  <a:extLst>
                    <a:ext uri="{9D8B030D-6E8A-4147-A177-3AD203B41FA5}">
                      <a16:colId xmlns:a16="http://schemas.microsoft.com/office/drawing/2014/main" val="302535599"/>
                    </a:ext>
                  </a:extLst>
                </a:gridCol>
                <a:gridCol w="868160">
                  <a:extLst>
                    <a:ext uri="{9D8B030D-6E8A-4147-A177-3AD203B41FA5}">
                      <a16:colId xmlns:a16="http://schemas.microsoft.com/office/drawing/2014/main" val="2628774838"/>
                    </a:ext>
                  </a:extLst>
                </a:gridCol>
                <a:gridCol w="868160">
                  <a:extLst>
                    <a:ext uri="{9D8B030D-6E8A-4147-A177-3AD203B41FA5}">
                      <a16:colId xmlns:a16="http://schemas.microsoft.com/office/drawing/2014/main" val="754725136"/>
                    </a:ext>
                  </a:extLst>
                </a:gridCol>
                <a:gridCol w="868160">
                  <a:extLst>
                    <a:ext uri="{9D8B030D-6E8A-4147-A177-3AD203B41FA5}">
                      <a16:colId xmlns:a16="http://schemas.microsoft.com/office/drawing/2014/main" val="866238751"/>
                    </a:ext>
                  </a:extLst>
                </a:gridCol>
              </a:tblGrid>
              <a:tr h="634290">
                <a:tc>
                  <a:txBody>
                    <a:bodyPr/>
                    <a:lstStyle/>
                    <a:p>
                      <a:pPr algn="ctr"/>
                      <a:r>
                        <a:rPr lang="en-US" dirty="0"/>
                        <a:t>17</a:t>
                      </a:r>
                    </a:p>
                  </a:txBody>
                  <a:tcPr>
                    <a:noFill/>
                  </a:tcPr>
                </a:tc>
                <a:tc>
                  <a:txBody>
                    <a:bodyPr/>
                    <a:lstStyle/>
                    <a:p>
                      <a:pPr algn="ctr"/>
                      <a:r>
                        <a:rPr lang="en-US" dirty="0"/>
                        <a:t>26</a:t>
                      </a:r>
                    </a:p>
                  </a:txBody>
                  <a:tcPr/>
                </a:tc>
                <a:tc>
                  <a:txBody>
                    <a:bodyPr/>
                    <a:lstStyle/>
                    <a:p>
                      <a:pPr algn="ctr"/>
                      <a:r>
                        <a:rPr lang="en-US" dirty="0"/>
                        <a:t>20</a:t>
                      </a:r>
                    </a:p>
                  </a:txBody>
                  <a:tcPr/>
                </a:tc>
                <a:tc>
                  <a:txBody>
                    <a:bodyPr/>
                    <a:lstStyle/>
                    <a:p>
                      <a:pPr algn="ctr"/>
                      <a:r>
                        <a:rPr lang="en-US" dirty="0"/>
                        <a:t>31</a:t>
                      </a:r>
                    </a:p>
                  </a:txBody>
                  <a:tcPr>
                    <a:solidFill>
                      <a:schemeClr val="accent3">
                        <a:lumMod val="40000"/>
                        <a:lumOff val="60000"/>
                      </a:schemeClr>
                    </a:solidFill>
                  </a:tcPr>
                </a:tc>
                <a:tc>
                  <a:txBody>
                    <a:bodyPr/>
                    <a:lstStyle/>
                    <a:p>
                      <a:pPr algn="ctr"/>
                      <a:r>
                        <a:rPr lang="en-US" dirty="0"/>
                        <a:t>44</a:t>
                      </a:r>
                    </a:p>
                  </a:txBody>
                  <a:tcPr>
                    <a:solidFill>
                      <a:schemeClr val="accent3">
                        <a:lumMod val="40000"/>
                        <a:lumOff val="60000"/>
                      </a:schemeClr>
                    </a:solidFill>
                  </a:tcPr>
                </a:tc>
                <a:extLst>
                  <a:ext uri="{0D108BD9-81ED-4DB2-BD59-A6C34878D82A}">
                    <a16:rowId xmlns:a16="http://schemas.microsoft.com/office/drawing/2014/main" val="977275040"/>
                  </a:ext>
                </a:extLst>
              </a:tr>
            </a:tbl>
          </a:graphicData>
        </a:graphic>
      </p:graphicFrame>
      <p:graphicFrame>
        <p:nvGraphicFramePr>
          <p:cNvPr id="23" name="Table 6">
            <a:extLst>
              <a:ext uri="{FF2B5EF4-FFF2-40B4-BE49-F238E27FC236}">
                <a16:creationId xmlns:a16="http://schemas.microsoft.com/office/drawing/2014/main" id="{8B34A0BA-CDE5-C66A-F8DB-2A9B7B83514B}"/>
              </a:ext>
            </a:extLst>
          </p:cNvPr>
          <p:cNvGraphicFramePr>
            <a:graphicFrameLocks noGrp="1"/>
          </p:cNvGraphicFramePr>
          <p:nvPr>
            <p:extLst>
              <p:ext uri="{D42A27DB-BD31-4B8C-83A1-F6EECF244321}">
                <p14:modId xmlns:p14="http://schemas.microsoft.com/office/powerpoint/2010/main" val="4002756529"/>
              </p:ext>
            </p:extLst>
          </p:nvPr>
        </p:nvGraphicFramePr>
        <p:xfrm>
          <a:off x="7827524" y="4437571"/>
          <a:ext cx="3431919" cy="634291"/>
        </p:xfrm>
        <a:graphic>
          <a:graphicData uri="http://schemas.openxmlformats.org/drawingml/2006/table">
            <a:tbl>
              <a:tblPr firstRow="1" bandRow="1">
                <a:tableStyleId>{5940675A-B579-460E-94D1-54222C63F5DA}</a:tableStyleId>
              </a:tblPr>
              <a:tblGrid>
                <a:gridCol w="1143973">
                  <a:extLst>
                    <a:ext uri="{9D8B030D-6E8A-4147-A177-3AD203B41FA5}">
                      <a16:colId xmlns:a16="http://schemas.microsoft.com/office/drawing/2014/main" val="1249755824"/>
                    </a:ext>
                  </a:extLst>
                </a:gridCol>
                <a:gridCol w="1143973">
                  <a:extLst>
                    <a:ext uri="{9D8B030D-6E8A-4147-A177-3AD203B41FA5}">
                      <a16:colId xmlns:a16="http://schemas.microsoft.com/office/drawing/2014/main" val="525607902"/>
                    </a:ext>
                  </a:extLst>
                </a:gridCol>
                <a:gridCol w="1143973">
                  <a:extLst>
                    <a:ext uri="{9D8B030D-6E8A-4147-A177-3AD203B41FA5}">
                      <a16:colId xmlns:a16="http://schemas.microsoft.com/office/drawing/2014/main" val="859831241"/>
                    </a:ext>
                  </a:extLst>
                </a:gridCol>
              </a:tblGrid>
              <a:tr h="634291">
                <a:tc>
                  <a:txBody>
                    <a:bodyPr/>
                    <a:lstStyle/>
                    <a:p>
                      <a:pPr algn="ctr"/>
                      <a:r>
                        <a:rPr lang="en-US" dirty="0"/>
                        <a:t>55</a:t>
                      </a:r>
                    </a:p>
                  </a:txBody>
                  <a:tcPr>
                    <a:solidFill>
                      <a:schemeClr val="accent3">
                        <a:lumMod val="40000"/>
                        <a:lumOff val="60000"/>
                      </a:schemeClr>
                    </a:solidFill>
                  </a:tcPr>
                </a:tc>
                <a:tc>
                  <a:txBody>
                    <a:bodyPr/>
                    <a:lstStyle/>
                    <a:p>
                      <a:pPr algn="ctr"/>
                      <a:r>
                        <a:rPr lang="en-US" dirty="0"/>
                        <a:t>77</a:t>
                      </a:r>
                    </a:p>
                  </a:txBody>
                  <a:tcPr>
                    <a:solidFill>
                      <a:schemeClr val="accent3">
                        <a:lumMod val="40000"/>
                        <a:lumOff val="60000"/>
                      </a:schemeClr>
                    </a:solidFill>
                  </a:tcPr>
                </a:tc>
                <a:tc>
                  <a:txBody>
                    <a:bodyPr/>
                    <a:lstStyle/>
                    <a:p>
                      <a:pPr algn="ctr"/>
                      <a:r>
                        <a:rPr lang="en-US" dirty="0"/>
                        <a:t>93</a:t>
                      </a:r>
                    </a:p>
                  </a:txBody>
                  <a:tcPr>
                    <a:solidFill>
                      <a:schemeClr val="accent3">
                        <a:lumMod val="40000"/>
                        <a:lumOff val="60000"/>
                      </a:schemeClr>
                    </a:solidFill>
                  </a:tcPr>
                </a:tc>
                <a:extLst>
                  <a:ext uri="{0D108BD9-81ED-4DB2-BD59-A6C34878D82A}">
                    <a16:rowId xmlns:a16="http://schemas.microsoft.com/office/drawing/2014/main" val="3520996022"/>
                  </a:ext>
                </a:extLst>
              </a:tr>
            </a:tbl>
          </a:graphicData>
        </a:graphic>
      </p:graphicFrame>
      <p:graphicFrame>
        <p:nvGraphicFramePr>
          <p:cNvPr id="24" name="Table 7">
            <a:extLst>
              <a:ext uri="{FF2B5EF4-FFF2-40B4-BE49-F238E27FC236}">
                <a16:creationId xmlns:a16="http://schemas.microsoft.com/office/drawing/2014/main" id="{99A1F60C-4551-DBC6-4291-F82E35C44A26}"/>
              </a:ext>
            </a:extLst>
          </p:cNvPr>
          <p:cNvGraphicFramePr>
            <a:graphicFrameLocks noGrp="1"/>
          </p:cNvGraphicFramePr>
          <p:nvPr/>
        </p:nvGraphicFramePr>
        <p:xfrm>
          <a:off x="6085192" y="3798524"/>
          <a:ext cx="1187855" cy="583840"/>
        </p:xfrm>
        <a:graphic>
          <a:graphicData uri="http://schemas.openxmlformats.org/drawingml/2006/table">
            <a:tbl>
              <a:tblPr firstRow="1" bandRow="1">
                <a:tableStyleId>{5C22544A-7EE6-4342-B048-85BDC9FD1C3A}</a:tableStyleId>
              </a:tblPr>
              <a:tblGrid>
                <a:gridCol w="1187855">
                  <a:extLst>
                    <a:ext uri="{9D8B030D-6E8A-4147-A177-3AD203B41FA5}">
                      <a16:colId xmlns:a16="http://schemas.microsoft.com/office/drawing/2014/main" val="1151896293"/>
                    </a:ext>
                  </a:extLst>
                </a:gridCol>
              </a:tblGrid>
              <a:tr h="583840">
                <a:tc>
                  <a:txBody>
                    <a:bodyPr/>
                    <a:lstStyle/>
                    <a:p>
                      <a:pPr algn="ctr"/>
                      <a:r>
                        <a:rPr lang="en-US" dirty="0"/>
                        <a:t>54</a:t>
                      </a:r>
                    </a:p>
                  </a:txBody>
                  <a:tcPr/>
                </a:tc>
                <a:extLst>
                  <a:ext uri="{0D108BD9-81ED-4DB2-BD59-A6C34878D82A}">
                    <a16:rowId xmlns:a16="http://schemas.microsoft.com/office/drawing/2014/main" val="3459332926"/>
                  </a:ext>
                </a:extLst>
              </a:tr>
            </a:tbl>
          </a:graphicData>
        </a:graphic>
      </p:graphicFrame>
      <p:cxnSp>
        <p:nvCxnSpPr>
          <p:cNvPr id="25" name="Straight Arrow Connector 24">
            <a:extLst>
              <a:ext uri="{FF2B5EF4-FFF2-40B4-BE49-F238E27FC236}">
                <a16:creationId xmlns:a16="http://schemas.microsoft.com/office/drawing/2014/main" id="{F3B8943F-9D6D-3B9F-27F2-3069CE5F20AA}"/>
              </a:ext>
            </a:extLst>
          </p:cNvPr>
          <p:cNvCxnSpPr>
            <a:cxnSpLocks/>
          </p:cNvCxnSpPr>
          <p:nvPr/>
        </p:nvCxnSpPr>
        <p:spPr>
          <a:xfrm flipH="1" flipV="1">
            <a:off x="3535434" y="5197787"/>
            <a:ext cx="104737" cy="44747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10F573DD-3FFB-704C-1A4F-F1A2411E6BB0}"/>
              </a:ext>
            </a:extLst>
          </p:cNvPr>
          <p:cNvCxnSpPr>
            <a:cxnSpLocks/>
          </p:cNvCxnSpPr>
          <p:nvPr/>
        </p:nvCxnSpPr>
        <p:spPr>
          <a:xfrm flipV="1">
            <a:off x="2875978" y="5167209"/>
            <a:ext cx="256971" cy="419506"/>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 name="TextBox 28">
            <a:extLst>
              <a:ext uri="{FF2B5EF4-FFF2-40B4-BE49-F238E27FC236}">
                <a16:creationId xmlns:a16="http://schemas.microsoft.com/office/drawing/2014/main" id="{7CE80C12-7160-7F67-84DD-04B28EF85B94}"/>
              </a:ext>
            </a:extLst>
          </p:cNvPr>
          <p:cNvSpPr txBox="1"/>
          <p:nvPr/>
        </p:nvSpPr>
        <p:spPr>
          <a:xfrm>
            <a:off x="3587243" y="5532823"/>
            <a:ext cx="1079771" cy="369332"/>
          </a:xfrm>
          <a:prstGeom prst="rect">
            <a:avLst/>
          </a:prstGeom>
          <a:noFill/>
        </p:spPr>
        <p:txBody>
          <a:bodyPr wrap="square" rtlCol="0">
            <a:spAutoFit/>
          </a:bodyPr>
          <a:lstStyle/>
          <a:p>
            <a:r>
              <a:rPr lang="en-US" dirty="0"/>
              <a:t>Left Mark</a:t>
            </a:r>
          </a:p>
        </p:txBody>
      </p:sp>
      <p:sp>
        <p:nvSpPr>
          <p:cNvPr id="32" name="TextBox 31">
            <a:extLst>
              <a:ext uri="{FF2B5EF4-FFF2-40B4-BE49-F238E27FC236}">
                <a16:creationId xmlns:a16="http://schemas.microsoft.com/office/drawing/2014/main" id="{09940B4F-2027-14D7-2809-0FC2F0D5A7EC}"/>
              </a:ext>
            </a:extLst>
          </p:cNvPr>
          <p:cNvSpPr txBox="1"/>
          <p:nvPr/>
        </p:nvSpPr>
        <p:spPr>
          <a:xfrm>
            <a:off x="2129714" y="5571260"/>
            <a:ext cx="1405647" cy="369332"/>
          </a:xfrm>
          <a:prstGeom prst="rect">
            <a:avLst/>
          </a:prstGeom>
          <a:noFill/>
        </p:spPr>
        <p:txBody>
          <a:bodyPr wrap="square" rtlCol="0">
            <a:spAutoFit/>
          </a:bodyPr>
          <a:lstStyle/>
          <a:p>
            <a:r>
              <a:rPr lang="en-US" dirty="0"/>
              <a:t>Right Mark</a:t>
            </a:r>
          </a:p>
        </p:txBody>
      </p:sp>
      <p:sp>
        <p:nvSpPr>
          <p:cNvPr id="35" name="TextBox 34">
            <a:extLst>
              <a:ext uri="{FF2B5EF4-FFF2-40B4-BE49-F238E27FC236}">
                <a16:creationId xmlns:a16="http://schemas.microsoft.com/office/drawing/2014/main" id="{E8ACBB34-56AE-1E36-C251-EDEF146175C6}"/>
              </a:ext>
            </a:extLst>
          </p:cNvPr>
          <p:cNvSpPr txBox="1"/>
          <p:nvPr/>
        </p:nvSpPr>
        <p:spPr>
          <a:xfrm>
            <a:off x="1354745" y="5946432"/>
            <a:ext cx="4340800" cy="369332"/>
          </a:xfrm>
          <a:prstGeom prst="rect">
            <a:avLst/>
          </a:prstGeom>
          <a:noFill/>
        </p:spPr>
        <p:txBody>
          <a:bodyPr wrap="square" rtlCol="0">
            <a:spAutoFit/>
          </a:bodyPr>
          <a:lstStyle/>
          <a:p>
            <a:r>
              <a:rPr lang="en-US" dirty="0"/>
              <a:t>Crossed exchange right mark with pivot</a:t>
            </a:r>
          </a:p>
        </p:txBody>
      </p:sp>
    </p:spTree>
    <p:extLst>
      <p:ext uri="{BB962C8B-B14F-4D97-AF65-F5344CB8AC3E}">
        <p14:creationId xmlns:p14="http://schemas.microsoft.com/office/powerpoint/2010/main" val="1279292615"/>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73CB9-2643-AFE0-98CC-59397D29CA45}"/>
              </a:ext>
            </a:extLst>
          </p:cNvPr>
          <p:cNvSpPr>
            <a:spLocks noGrp="1"/>
          </p:cNvSpPr>
          <p:nvPr>
            <p:ph type="title"/>
          </p:nvPr>
        </p:nvSpPr>
        <p:spPr/>
        <p:txBody>
          <a:bodyPr/>
          <a:lstStyle/>
          <a:p>
            <a:r>
              <a:rPr lang="en-US" dirty="0"/>
              <a:t>Sorted Array</a:t>
            </a:r>
          </a:p>
        </p:txBody>
      </p:sp>
      <p:graphicFrame>
        <p:nvGraphicFramePr>
          <p:cNvPr id="4" name="Table 4">
            <a:extLst>
              <a:ext uri="{FF2B5EF4-FFF2-40B4-BE49-F238E27FC236}">
                <a16:creationId xmlns:a16="http://schemas.microsoft.com/office/drawing/2014/main" id="{A5840D4C-3319-0975-DBDD-435EBA1AD2F3}"/>
              </a:ext>
            </a:extLst>
          </p:cNvPr>
          <p:cNvGraphicFramePr>
            <a:graphicFrameLocks/>
          </p:cNvGraphicFramePr>
          <p:nvPr>
            <p:extLst>
              <p:ext uri="{D42A27DB-BD31-4B8C-83A1-F6EECF244321}">
                <p14:modId xmlns:p14="http://schemas.microsoft.com/office/powerpoint/2010/main" val="4107381999"/>
              </p:ext>
            </p:extLst>
          </p:nvPr>
        </p:nvGraphicFramePr>
        <p:xfrm>
          <a:off x="1036001" y="2633284"/>
          <a:ext cx="6072324" cy="634290"/>
        </p:xfrm>
        <a:graphic>
          <a:graphicData uri="http://schemas.openxmlformats.org/drawingml/2006/table">
            <a:tbl>
              <a:tblPr firstRow="1" bandRow="1">
                <a:tableStyleId>{5940675A-B579-460E-94D1-54222C63F5DA}</a:tableStyleId>
              </a:tblPr>
              <a:tblGrid>
                <a:gridCol w="1216552">
                  <a:extLst>
                    <a:ext uri="{9D8B030D-6E8A-4147-A177-3AD203B41FA5}">
                      <a16:colId xmlns:a16="http://schemas.microsoft.com/office/drawing/2014/main" val="2581802679"/>
                    </a:ext>
                  </a:extLst>
                </a:gridCol>
                <a:gridCol w="1216552">
                  <a:extLst>
                    <a:ext uri="{9D8B030D-6E8A-4147-A177-3AD203B41FA5}">
                      <a16:colId xmlns:a16="http://schemas.microsoft.com/office/drawing/2014/main" val="302535599"/>
                    </a:ext>
                  </a:extLst>
                </a:gridCol>
                <a:gridCol w="918069">
                  <a:extLst>
                    <a:ext uri="{9D8B030D-6E8A-4147-A177-3AD203B41FA5}">
                      <a16:colId xmlns:a16="http://schemas.microsoft.com/office/drawing/2014/main" val="2628774838"/>
                    </a:ext>
                  </a:extLst>
                </a:gridCol>
                <a:gridCol w="953311">
                  <a:extLst>
                    <a:ext uri="{9D8B030D-6E8A-4147-A177-3AD203B41FA5}">
                      <a16:colId xmlns:a16="http://schemas.microsoft.com/office/drawing/2014/main" val="754725136"/>
                    </a:ext>
                  </a:extLst>
                </a:gridCol>
                <a:gridCol w="943583">
                  <a:extLst>
                    <a:ext uri="{9D8B030D-6E8A-4147-A177-3AD203B41FA5}">
                      <a16:colId xmlns:a16="http://schemas.microsoft.com/office/drawing/2014/main" val="866238751"/>
                    </a:ext>
                  </a:extLst>
                </a:gridCol>
                <a:gridCol w="824257">
                  <a:extLst>
                    <a:ext uri="{9D8B030D-6E8A-4147-A177-3AD203B41FA5}">
                      <a16:colId xmlns:a16="http://schemas.microsoft.com/office/drawing/2014/main" val="1419284645"/>
                    </a:ext>
                  </a:extLst>
                </a:gridCol>
              </a:tblGrid>
              <a:tr h="634290">
                <a:tc>
                  <a:txBody>
                    <a:bodyPr/>
                    <a:lstStyle/>
                    <a:p>
                      <a:pPr algn="ctr"/>
                      <a:r>
                        <a:rPr lang="en-US" dirty="0"/>
                        <a:t>17</a:t>
                      </a:r>
                    </a:p>
                  </a:txBody>
                  <a:tcPr>
                    <a:solidFill>
                      <a:schemeClr val="accent3">
                        <a:lumMod val="40000"/>
                        <a:lumOff val="60000"/>
                      </a:schemeClr>
                    </a:solidFill>
                  </a:tcPr>
                </a:tc>
                <a:tc>
                  <a:txBody>
                    <a:bodyPr/>
                    <a:lstStyle/>
                    <a:p>
                      <a:pPr algn="ctr"/>
                      <a:r>
                        <a:rPr lang="en-US" dirty="0"/>
                        <a:t>20</a:t>
                      </a:r>
                    </a:p>
                  </a:txBody>
                  <a:tcPr>
                    <a:solidFill>
                      <a:schemeClr val="accent3">
                        <a:lumMod val="40000"/>
                        <a:lumOff val="60000"/>
                      </a:schemeClr>
                    </a:solidFill>
                  </a:tcPr>
                </a:tc>
                <a:tc>
                  <a:txBody>
                    <a:bodyPr/>
                    <a:lstStyle/>
                    <a:p>
                      <a:pPr algn="ctr"/>
                      <a:r>
                        <a:rPr lang="en-US" dirty="0"/>
                        <a:t>26</a:t>
                      </a:r>
                    </a:p>
                  </a:txBody>
                  <a:tcPr>
                    <a:solidFill>
                      <a:schemeClr val="accent3">
                        <a:lumMod val="40000"/>
                        <a:lumOff val="60000"/>
                      </a:schemeClr>
                    </a:solidFill>
                  </a:tcPr>
                </a:tc>
                <a:tc>
                  <a:txBody>
                    <a:bodyPr/>
                    <a:lstStyle/>
                    <a:p>
                      <a:pPr algn="ctr"/>
                      <a:r>
                        <a:rPr lang="en-US" dirty="0"/>
                        <a:t>31</a:t>
                      </a:r>
                    </a:p>
                  </a:txBody>
                  <a:tcPr>
                    <a:solidFill>
                      <a:schemeClr val="accent3">
                        <a:lumMod val="40000"/>
                        <a:lumOff val="60000"/>
                      </a:schemeClr>
                    </a:solidFill>
                  </a:tcPr>
                </a:tc>
                <a:tc>
                  <a:txBody>
                    <a:bodyPr/>
                    <a:lstStyle/>
                    <a:p>
                      <a:pPr algn="ctr"/>
                      <a:r>
                        <a:rPr lang="en-US" dirty="0"/>
                        <a:t>44</a:t>
                      </a:r>
                    </a:p>
                  </a:txBody>
                  <a:tcPr>
                    <a:solidFill>
                      <a:schemeClr val="accent3">
                        <a:lumMod val="40000"/>
                        <a:lumOff val="60000"/>
                      </a:schemeClr>
                    </a:solidFill>
                  </a:tcPr>
                </a:tc>
                <a:tc>
                  <a:txBody>
                    <a:bodyPr/>
                    <a:lstStyle/>
                    <a:p>
                      <a:pPr algn="ctr"/>
                      <a:r>
                        <a:rPr lang="en-US" dirty="0"/>
                        <a:t>54</a:t>
                      </a:r>
                    </a:p>
                  </a:txBody>
                  <a:tcPr>
                    <a:solidFill>
                      <a:schemeClr val="accent3">
                        <a:lumMod val="40000"/>
                        <a:lumOff val="60000"/>
                      </a:schemeClr>
                    </a:solidFill>
                  </a:tcPr>
                </a:tc>
                <a:extLst>
                  <a:ext uri="{0D108BD9-81ED-4DB2-BD59-A6C34878D82A}">
                    <a16:rowId xmlns:a16="http://schemas.microsoft.com/office/drawing/2014/main" val="977275040"/>
                  </a:ext>
                </a:extLst>
              </a:tr>
            </a:tbl>
          </a:graphicData>
        </a:graphic>
      </p:graphicFrame>
      <p:graphicFrame>
        <p:nvGraphicFramePr>
          <p:cNvPr id="5" name="Table 6">
            <a:extLst>
              <a:ext uri="{FF2B5EF4-FFF2-40B4-BE49-F238E27FC236}">
                <a16:creationId xmlns:a16="http://schemas.microsoft.com/office/drawing/2014/main" id="{F79135D5-5B80-01E5-2608-803F0CD7DD56}"/>
              </a:ext>
            </a:extLst>
          </p:cNvPr>
          <p:cNvGraphicFramePr>
            <a:graphicFrameLocks noGrp="1"/>
          </p:cNvGraphicFramePr>
          <p:nvPr>
            <p:extLst>
              <p:ext uri="{D42A27DB-BD31-4B8C-83A1-F6EECF244321}">
                <p14:modId xmlns:p14="http://schemas.microsoft.com/office/powerpoint/2010/main" val="2704618680"/>
              </p:ext>
            </p:extLst>
          </p:nvPr>
        </p:nvGraphicFramePr>
        <p:xfrm>
          <a:off x="7108324" y="2633284"/>
          <a:ext cx="3431919" cy="634291"/>
        </p:xfrm>
        <a:graphic>
          <a:graphicData uri="http://schemas.openxmlformats.org/drawingml/2006/table">
            <a:tbl>
              <a:tblPr firstRow="1" bandRow="1">
                <a:tableStyleId>{5940675A-B579-460E-94D1-54222C63F5DA}</a:tableStyleId>
              </a:tblPr>
              <a:tblGrid>
                <a:gridCol w="1143973">
                  <a:extLst>
                    <a:ext uri="{9D8B030D-6E8A-4147-A177-3AD203B41FA5}">
                      <a16:colId xmlns:a16="http://schemas.microsoft.com/office/drawing/2014/main" val="1249755824"/>
                    </a:ext>
                  </a:extLst>
                </a:gridCol>
                <a:gridCol w="1143973">
                  <a:extLst>
                    <a:ext uri="{9D8B030D-6E8A-4147-A177-3AD203B41FA5}">
                      <a16:colId xmlns:a16="http://schemas.microsoft.com/office/drawing/2014/main" val="525607902"/>
                    </a:ext>
                  </a:extLst>
                </a:gridCol>
                <a:gridCol w="1143973">
                  <a:extLst>
                    <a:ext uri="{9D8B030D-6E8A-4147-A177-3AD203B41FA5}">
                      <a16:colId xmlns:a16="http://schemas.microsoft.com/office/drawing/2014/main" val="859831241"/>
                    </a:ext>
                  </a:extLst>
                </a:gridCol>
              </a:tblGrid>
              <a:tr h="634291">
                <a:tc>
                  <a:txBody>
                    <a:bodyPr/>
                    <a:lstStyle/>
                    <a:p>
                      <a:pPr algn="ctr"/>
                      <a:r>
                        <a:rPr lang="en-US" dirty="0"/>
                        <a:t>55</a:t>
                      </a:r>
                    </a:p>
                  </a:txBody>
                  <a:tcPr>
                    <a:solidFill>
                      <a:schemeClr val="accent3">
                        <a:lumMod val="40000"/>
                        <a:lumOff val="60000"/>
                      </a:schemeClr>
                    </a:solidFill>
                  </a:tcPr>
                </a:tc>
                <a:tc>
                  <a:txBody>
                    <a:bodyPr/>
                    <a:lstStyle/>
                    <a:p>
                      <a:pPr algn="ctr"/>
                      <a:r>
                        <a:rPr lang="en-US" dirty="0"/>
                        <a:t>77</a:t>
                      </a:r>
                    </a:p>
                  </a:txBody>
                  <a:tcPr>
                    <a:solidFill>
                      <a:schemeClr val="accent3">
                        <a:lumMod val="40000"/>
                        <a:lumOff val="60000"/>
                      </a:schemeClr>
                    </a:solidFill>
                  </a:tcPr>
                </a:tc>
                <a:tc>
                  <a:txBody>
                    <a:bodyPr/>
                    <a:lstStyle/>
                    <a:p>
                      <a:pPr algn="ctr"/>
                      <a:r>
                        <a:rPr lang="en-US" dirty="0"/>
                        <a:t>93</a:t>
                      </a:r>
                    </a:p>
                  </a:txBody>
                  <a:tcPr>
                    <a:solidFill>
                      <a:schemeClr val="accent3">
                        <a:lumMod val="40000"/>
                        <a:lumOff val="60000"/>
                      </a:schemeClr>
                    </a:solidFill>
                  </a:tcPr>
                </a:tc>
                <a:extLst>
                  <a:ext uri="{0D108BD9-81ED-4DB2-BD59-A6C34878D82A}">
                    <a16:rowId xmlns:a16="http://schemas.microsoft.com/office/drawing/2014/main" val="3520996022"/>
                  </a:ext>
                </a:extLst>
              </a:tr>
            </a:tbl>
          </a:graphicData>
        </a:graphic>
      </p:graphicFrame>
    </p:spTree>
    <p:extLst>
      <p:ext uri="{BB962C8B-B14F-4D97-AF65-F5344CB8AC3E}">
        <p14:creationId xmlns:p14="http://schemas.microsoft.com/office/powerpoint/2010/main" val="1864732501"/>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3"/>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GB"/>
              <a:t>Exercise</a:t>
            </a:r>
            <a:endParaRPr/>
          </a:p>
        </p:txBody>
      </p:sp>
      <p:graphicFrame>
        <p:nvGraphicFramePr>
          <p:cNvPr id="266" name="Google Shape;266;p33"/>
          <p:cNvGraphicFramePr/>
          <p:nvPr/>
        </p:nvGraphicFramePr>
        <p:xfrm>
          <a:off x="3095604" y="3143248"/>
          <a:ext cx="6000750" cy="741700"/>
        </p:xfrm>
        <a:graphic>
          <a:graphicData uri="http://schemas.openxmlformats.org/drawingml/2006/table">
            <a:tbl>
              <a:tblPr firstRow="1" bandRow="1">
                <a:noFill/>
              </a:tblPr>
              <a:tblGrid>
                <a:gridCol w="857250">
                  <a:extLst>
                    <a:ext uri="{9D8B030D-6E8A-4147-A177-3AD203B41FA5}">
                      <a16:colId xmlns:a16="http://schemas.microsoft.com/office/drawing/2014/main" val="20000"/>
                    </a:ext>
                  </a:extLst>
                </a:gridCol>
                <a:gridCol w="857250">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857250">
                  <a:extLst>
                    <a:ext uri="{9D8B030D-6E8A-4147-A177-3AD203B41FA5}">
                      <a16:colId xmlns:a16="http://schemas.microsoft.com/office/drawing/2014/main" val="20003"/>
                    </a:ext>
                  </a:extLst>
                </a:gridCol>
                <a:gridCol w="857250">
                  <a:extLst>
                    <a:ext uri="{9D8B030D-6E8A-4147-A177-3AD203B41FA5}">
                      <a16:colId xmlns:a16="http://schemas.microsoft.com/office/drawing/2014/main" val="20004"/>
                    </a:ext>
                  </a:extLst>
                </a:gridCol>
                <a:gridCol w="857250">
                  <a:extLst>
                    <a:ext uri="{9D8B030D-6E8A-4147-A177-3AD203B41FA5}">
                      <a16:colId xmlns:a16="http://schemas.microsoft.com/office/drawing/2014/main" val="20005"/>
                    </a:ext>
                  </a:extLst>
                </a:gridCol>
                <a:gridCol w="857250">
                  <a:extLst>
                    <a:ext uri="{9D8B030D-6E8A-4147-A177-3AD203B41FA5}">
                      <a16:colId xmlns:a16="http://schemas.microsoft.com/office/drawing/2014/main" val="20006"/>
                    </a:ext>
                  </a:extLst>
                </a:gridCol>
              </a:tblGrid>
              <a:tr h="370850">
                <a:tc>
                  <a:txBody>
                    <a:bodyPr/>
                    <a:lstStyle/>
                    <a:p>
                      <a:pPr marL="0" marR="0" lvl="0" indent="0" algn="l" rtl="0">
                        <a:spcBef>
                          <a:spcPts val="0"/>
                        </a:spcBef>
                        <a:spcAft>
                          <a:spcPts val="0"/>
                        </a:spcAft>
                        <a:buNone/>
                      </a:pPr>
                      <a:r>
                        <a:rPr lang="en-GB" sz="1800" u="none" strike="noStrike" cap="none"/>
                        <a:t>10</a:t>
                      </a:r>
                      <a:endParaRPr sz="1800"/>
                    </a:p>
                  </a:txBody>
                  <a:tcPr marL="91450" marR="91450" marT="45725" marB="45725"/>
                </a:tc>
                <a:tc>
                  <a:txBody>
                    <a:bodyPr/>
                    <a:lstStyle/>
                    <a:p>
                      <a:pPr marL="0" marR="0" lvl="0" indent="0" algn="l" rtl="0">
                        <a:spcBef>
                          <a:spcPts val="0"/>
                        </a:spcBef>
                        <a:spcAft>
                          <a:spcPts val="0"/>
                        </a:spcAft>
                        <a:buNone/>
                      </a:pPr>
                      <a:r>
                        <a:rPr lang="en-GB" sz="1800"/>
                        <a:t>80</a:t>
                      </a:r>
                      <a:endParaRPr sz="1800"/>
                    </a:p>
                  </a:txBody>
                  <a:tcPr marL="91450" marR="91450" marT="45725" marB="45725"/>
                </a:tc>
                <a:tc>
                  <a:txBody>
                    <a:bodyPr/>
                    <a:lstStyle/>
                    <a:p>
                      <a:pPr marL="0" marR="0" lvl="0" indent="0" algn="l" rtl="0">
                        <a:spcBef>
                          <a:spcPts val="0"/>
                        </a:spcBef>
                        <a:spcAft>
                          <a:spcPts val="0"/>
                        </a:spcAft>
                        <a:buNone/>
                      </a:pPr>
                      <a:r>
                        <a:rPr lang="en-GB" sz="1800"/>
                        <a:t>30</a:t>
                      </a:r>
                      <a:endParaRPr sz="1800"/>
                    </a:p>
                  </a:txBody>
                  <a:tcPr marL="91450" marR="91450" marT="45725" marB="45725"/>
                </a:tc>
                <a:tc>
                  <a:txBody>
                    <a:bodyPr/>
                    <a:lstStyle/>
                    <a:p>
                      <a:pPr marL="0" marR="0" lvl="0" indent="0" algn="l" rtl="0">
                        <a:spcBef>
                          <a:spcPts val="0"/>
                        </a:spcBef>
                        <a:spcAft>
                          <a:spcPts val="0"/>
                        </a:spcAft>
                        <a:buNone/>
                      </a:pPr>
                      <a:r>
                        <a:rPr lang="en-GB" sz="1800"/>
                        <a:t>90</a:t>
                      </a:r>
                      <a:endParaRPr sz="1800"/>
                    </a:p>
                  </a:txBody>
                  <a:tcPr marL="91450" marR="91450" marT="45725" marB="45725"/>
                </a:tc>
                <a:tc>
                  <a:txBody>
                    <a:bodyPr/>
                    <a:lstStyle/>
                    <a:p>
                      <a:pPr marL="0" marR="0" lvl="0" indent="0" algn="l" rtl="0">
                        <a:spcBef>
                          <a:spcPts val="0"/>
                        </a:spcBef>
                        <a:spcAft>
                          <a:spcPts val="0"/>
                        </a:spcAft>
                        <a:buNone/>
                      </a:pPr>
                      <a:r>
                        <a:rPr lang="en-GB" sz="1800"/>
                        <a:t>40</a:t>
                      </a:r>
                      <a:endParaRPr sz="1800"/>
                    </a:p>
                  </a:txBody>
                  <a:tcPr marL="91450" marR="91450" marT="45725" marB="45725"/>
                </a:tc>
                <a:tc>
                  <a:txBody>
                    <a:bodyPr/>
                    <a:lstStyle/>
                    <a:p>
                      <a:pPr marL="0" marR="0" lvl="0" indent="0" algn="l" rtl="0">
                        <a:spcBef>
                          <a:spcPts val="0"/>
                        </a:spcBef>
                        <a:spcAft>
                          <a:spcPts val="0"/>
                        </a:spcAft>
                        <a:buNone/>
                      </a:pPr>
                      <a:r>
                        <a:rPr lang="en-GB" sz="1800"/>
                        <a:t>50</a:t>
                      </a:r>
                      <a:endParaRPr sz="1800"/>
                    </a:p>
                  </a:txBody>
                  <a:tcPr marL="91450" marR="91450" marT="45725" marB="45725"/>
                </a:tc>
                <a:tc>
                  <a:txBody>
                    <a:bodyPr/>
                    <a:lstStyle/>
                    <a:p>
                      <a:pPr marL="0" marR="0" lvl="0" indent="0" algn="l" rtl="0">
                        <a:spcBef>
                          <a:spcPts val="0"/>
                        </a:spcBef>
                        <a:spcAft>
                          <a:spcPts val="0"/>
                        </a:spcAft>
                        <a:buNone/>
                      </a:pPr>
                      <a:r>
                        <a:rPr lang="en-GB" sz="1800"/>
                        <a:t>70</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3B37E-C854-B89A-8546-96A394A92E61}"/>
              </a:ext>
            </a:extLst>
          </p:cNvPr>
          <p:cNvSpPr>
            <a:spLocks noGrp="1"/>
          </p:cNvSpPr>
          <p:nvPr>
            <p:ph type="title"/>
          </p:nvPr>
        </p:nvSpPr>
        <p:spPr/>
        <p:txBody>
          <a:bodyPr/>
          <a:lstStyle/>
          <a:p>
            <a:r>
              <a:rPr lang="en-US" dirty="0"/>
              <a:t>Quick Sort analysis</a:t>
            </a:r>
          </a:p>
        </p:txBody>
      </p:sp>
      <p:sp>
        <p:nvSpPr>
          <p:cNvPr id="3" name="Content Placeholder 2">
            <a:extLst>
              <a:ext uri="{FF2B5EF4-FFF2-40B4-BE49-F238E27FC236}">
                <a16:creationId xmlns:a16="http://schemas.microsoft.com/office/drawing/2014/main" id="{26094B2B-8063-29AB-8A99-647A33B9612F}"/>
              </a:ext>
            </a:extLst>
          </p:cNvPr>
          <p:cNvSpPr>
            <a:spLocks noGrp="1"/>
          </p:cNvSpPr>
          <p:nvPr>
            <p:ph idx="1"/>
          </p:nvPr>
        </p:nvSpPr>
        <p:spPr/>
        <p:txBody>
          <a:bodyPr>
            <a:normAutofit fontScale="85000" lnSpcReduction="20000"/>
          </a:bodyPr>
          <a:lstStyle/>
          <a:p>
            <a:r>
              <a:rPr lang="en-US" sz="2800" dirty="0"/>
              <a:t>To analyze the </a:t>
            </a:r>
            <a:r>
              <a:rPr lang="en-US" sz="2800" dirty="0" err="1"/>
              <a:t>quickSort</a:t>
            </a:r>
            <a:r>
              <a:rPr lang="en-US" sz="2800" dirty="0"/>
              <a:t> function, note that for a list of length n, if the partition always occurs in the middle of the list, there will again be log n divisions. </a:t>
            </a:r>
          </a:p>
          <a:p>
            <a:r>
              <a:rPr lang="en-US" sz="2800" dirty="0"/>
              <a:t>In order to find the split point, each of the n items needs to be checked against the pivot value. The result is </a:t>
            </a:r>
            <a:r>
              <a:rPr lang="en-US" sz="2800" dirty="0" err="1"/>
              <a:t>nlogn</a:t>
            </a:r>
            <a:r>
              <a:rPr lang="en-US" sz="2800" dirty="0"/>
              <a:t>. </a:t>
            </a:r>
          </a:p>
          <a:p>
            <a:r>
              <a:rPr lang="en-US" sz="2800" dirty="0"/>
              <a:t>In addition, there is no need for additional memory as in the merge sort process.</a:t>
            </a:r>
          </a:p>
          <a:p>
            <a:r>
              <a:rPr lang="en-US" sz="2800" dirty="0"/>
              <a:t>Unfortunately, in the worst case, the split points may not be in the middle and can be very skewed to the left or the right, leaving a very uneven division. </a:t>
            </a:r>
          </a:p>
          <a:p>
            <a:r>
              <a:rPr lang="en-US" sz="2800" dirty="0"/>
              <a:t>In this case, sorting a list of n items divides into sorting a list of 0 items and a list of n−1 items. </a:t>
            </a:r>
          </a:p>
          <a:p>
            <a:r>
              <a:rPr lang="en-US" sz="2800" dirty="0"/>
              <a:t>Then sorting a list of n−1 divides into a list of size 0 and a list of size n−2, and so on. The result is an O(n2) sort with all of the overhead that recursion requires.</a:t>
            </a:r>
          </a:p>
        </p:txBody>
      </p:sp>
    </p:spTree>
    <p:extLst>
      <p:ext uri="{BB962C8B-B14F-4D97-AF65-F5344CB8AC3E}">
        <p14:creationId xmlns:p14="http://schemas.microsoft.com/office/powerpoint/2010/main" val="39884746"/>
      </p:ext>
    </p:extLst>
  </p:cSld>
  <p:clrMapOvr>
    <a:masterClrMapping/>
  </p:clrMapOvr>
  <p:transition spd="med">
    <p:fade/>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163AA760-FEA7-44E2-BB85-0893DB8CD7D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Retrospect</Template>
  <TotalTime>0</TotalTime>
  <Words>1303</Words>
  <Application>Microsoft Office PowerPoint</Application>
  <PresentationFormat>Widescreen</PresentationFormat>
  <Paragraphs>155</Paragraphs>
  <Slides>34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Calibri Light</vt:lpstr>
      <vt:lpstr>Century Gothic</vt:lpstr>
      <vt:lpstr>inter-regular</vt:lpstr>
      <vt:lpstr>Source Sans 3</vt:lpstr>
      <vt:lpstr>Retrospect</vt:lpstr>
      <vt:lpstr>Data Structure and Algorithm</vt:lpstr>
      <vt:lpstr>Today’s Goal</vt:lpstr>
      <vt:lpstr>Heap Sort</vt:lpstr>
      <vt:lpstr>Heap Sort</vt:lpstr>
      <vt:lpstr>Working of Heap Sort</vt:lpstr>
      <vt:lpstr>Working of Heap Sort</vt:lpstr>
      <vt:lpstr>Working of Heap Sort</vt:lpstr>
      <vt:lpstr>Working of Heap Sort</vt:lpstr>
      <vt:lpstr>Working of Heap Sort</vt:lpstr>
      <vt:lpstr>Working of Heap Sort</vt:lpstr>
      <vt:lpstr>Working of Heap Sort</vt:lpstr>
      <vt:lpstr>Working of Heap Sort</vt:lpstr>
      <vt:lpstr>Working of Heap Sort</vt:lpstr>
      <vt:lpstr>Working of Heap Sort</vt:lpstr>
      <vt:lpstr>Time Complexity</vt:lpstr>
      <vt:lpstr>Space Complexity</vt:lpstr>
      <vt:lpstr>Quick Sort Algorithm</vt:lpstr>
      <vt:lpstr>PowerPoint Presentation</vt:lpstr>
      <vt:lpstr>Quick Sort Basics</vt:lpstr>
      <vt:lpstr>Step: 01 Pivot Value</vt:lpstr>
      <vt:lpstr>Step 2: Left Mark and Right Mark</vt:lpstr>
      <vt:lpstr>Step 3: Rule for Pivot value</vt:lpstr>
      <vt:lpstr>Step 4: Rule for Pivot value</vt:lpstr>
      <vt:lpstr>Step 5: Rule for Pivot value</vt:lpstr>
      <vt:lpstr>Step 6: Exchange</vt:lpstr>
      <vt:lpstr>Step 7: Continue according to rules</vt:lpstr>
      <vt:lpstr>Step 8: Exchange</vt:lpstr>
      <vt:lpstr>Step 9: Continue as per rules</vt:lpstr>
      <vt:lpstr>PowerPoint Presentation</vt:lpstr>
      <vt:lpstr>PowerPoint Presentation</vt:lpstr>
      <vt:lpstr>PowerPoint Presentation</vt:lpstr>
      <vt:lpstr>Sorted Array</vt:lpstr>
      <vt:lpstr>Exercise</vt:lpstr>
      <vt:lpstr>Quick Sort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2013-10-18T18:37:23Z</dcterms:created>
  <dcterms:modified xsi:type="dcterms:W3CDTF">2025-01-06T06:53:34Z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TC034605409991</vt:lpwstr>
  </property>
</Properties>
</file>