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339" r:id="rId3"/>
    <p:sldId id="347" r:id="rId4"/>
    <p:sldId id="343" r:id="rId5"/>
    <p:sldId id="344" r:id="rId6"/>
    <p:sldId id="276" r:id="rId7"/>
    <p:sldId id="277" r:id="rId8"/>
    <p:sldId id="292" r:id="rId9"/>
    <p:sldId id="337" r:id="rId10"/>
    <p:sldId id="333" r:id="rId11"/>
    <p:sldId id="338" r:id="rId12"/>
    <p:sldId id="284" r:id="rId13"/>
    <p:sldId id="274" r:id="rId14"/>
    <p:sldId id="273" r:id="rId15"/>
    <p:sldId id="345" r:id="rId16"/>
    <p:sldId id="293" r:id="rId17"/>
    <p:sldId id="285" r:id="rId18"/>
    <p:sldId id="286" r:id="rId19"/>
    <p:sldId id="287" r:id="rId20"/>
    <p:sldId id="294" r:id="rId21"/>
    <p:sldId id="288" r:id="rId22"/>
    <p:sldId id="289" r:id="rId23"/>
    <p:sldId id="291" r:id="rId24"/>
    <p:sldId id="346" r:id="rId25"/>
    <p:sldId id="295"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46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889" autoAdjust="0"/>
  </p:normalViewPr>
  <p:slideViewPr>
    <p:cSldViewPr snapToGrid="0">
      <p:cViewPr varScale="1">
        <p:scale>
          <a:sx n="75" d="100"/>
          <a:sy n="75" d="100"/>
        </p:scale>
        <p:origin x="54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5D9D5B-FF27-4B6B-85EB-07AF9C07F856}" type="datetimeFigureOut">
              <a:rPr lang="en-US" smtClean="0"/>
              <a:t>12/16/2025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DEA683-90C8-451F-BC4A-13383BD37F21}" type="slidenum">
              <a:rPr lang="en-US" smtClean="0"/>
              <a:t>‹#›</a:t>
            </a:fld>
            <a:endParaRPr lang="en-US"/>
          </a:p>
        </p:txBody>
      </p:sp>
    </p:spTree>
    <p:extLst>
      <p:ext uri="{BB962C8B-B14F-4D97-AF65-F5344CB8AC3E}">
        <p14:creationId xmlns:p14="http://schemas.microsoft.com/office/powerpoint/2010/main" val="2878468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4DB8E60-3EBD-464F-A5EA-2517332E8C5D}" type="slidenum">
              <a:rPr lang="en-US" smtClean="0"/>
              <a:pPr/>
              <a:t>7</a:t>
            </a:fld>
            <a:endParaRPr lang="en-US"/>
          </a:p>
        </p:txBody>
      </p:sp>
    </p:spTree>
    <p:extLst>
      <p:ext uri="{BB962C8B-B14F-4D97-AF65-F5344CB8AC3E}">
        <p14:creationId xmlns:p14="http://schemas.microsoft.com/office/powerpoint/2010/main" val="30808943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 1</a:t>
            </a:r>
          </a:p>
          <a:p>
            <a:r>
              <a:rPr lang="en-US" dirty="0"/>
              <a:t>(1+1)%5=2</a:t>
            </a:r>
          </a:p>
        </p:txBody>
      </p:sp>
      <p:sp>
        <p:nvSpPr>
          <p:cNvPr id="4" name="Slide Number Placeholder 3"/>
          <p:cNvSpPr>
            <a:spLocks noGrp="1"/>
          </p:cNvSpPr>
          <p:nvPr>
            <p:ph type="sldNum" sz="quarter" idx="5"/>
          </p:nvPr>
        </p:nvSpPr>
        <p:spPr/>
        <p:txBody>
          <a:bodyPr/>
          <a:lstStyle/>
          <a:p>
            <a:fld id="{FADEA683-90C8-451F-BC4A-13383BD37F21}" type="slidenum">
              <a:rPr lang="en-US" smtClean="0"/>
              <a:t>14</a:t>
            </a:fld>
            <a:endParaRPr lang="en-US"/>
          </a:p>
        </p:txBody>
      </p:sp>
    </p:spTree>
    <p:extLst>
      <p:ext uri="{BB962C8B-B14F-4D97-AF65-F5344CB8AC3E}">
        <p14:creationId xmlns:p14="http://schemas.microsoft.com/office/powerpoint/2010/main" val="35142805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B01488-2866-41B3-B7DC-859AEE043E50}"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9E1F02-D963-4A85-BE2D-1321C23C253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3652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B01488-2866-41B3-B7DC-859AEE043E50}"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2070280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B01488-2866-41B3-B7DC-859AEE043E50}"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9E1F02-D963-4A85-BE2D-1321C23C253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9962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B01488-2866-41B3-B7DC-859AEE043E50}"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2944483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B01488-2866-41B3-B7DC-859AEE043E50}"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2389087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B01488-2866-41B3-B7DC-859AEE043E50}"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1572922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DB01488-2866-41B3-B7DC-859AEE043E50}" type="datetimeFigureOut">
              <a:rPr lang="en-US" smtClean="0"/>
              <a:t>12/16/2025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3752258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DB01488-2866-41B3-B7DC-859AEE043E50}" type="datetimeFigureOut">
              <a:rPr lang="en-US" smtClean="0"/>
              <a:t>12/16/2025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19E1F02-D963-4A85-BE2D-1321C23C253F}" type="slidenum">
              <a:rPr lang="en-US" smtClean="0"/>
              <a:t>‹#›</a:t>
            </a:fld>
            <a:endParaRPr lang="en-US"/>
          </a:p>
        </p:txBody>
      </p:sp>
    </p:spTree>
    <p:extLst>
      <p:ext uri="{BB962C8B-B14F-4D97-AF65-F5344CB8AC3E}">
        <p14:creationId xmlns:p14="http://schemas.microsoft.com/office/powerpoint/2010/main" val="181652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DB01488-2866-41B3-B7DC-859AEE043E50}"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2000167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B01488-2866-41B3-B7DC-859AEE043E50}"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2330796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B01488-2866-41B3-B7DC-859AEE043E50}"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3288698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DB01488-2866-41B3-B7DC-859AEE043E50}" type="datetimeFigureOut">
              <a:rPr lang="en-US" smtClean="0"/>
              <a:t>12/16/2025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19E1F02-D963-4A85-BE2D-1321C23C253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81854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977D9-232E-57A6-651D-F401E149D3EC}"/>
              </a:ext>
            </a:extLst>
          </p:cNvPr>
          <p:cNvSpPr>
            <a:spLocks noGrp="1"/>
          </p:cNvSpPr>
          <p:nvPr>
            <p:ph type="ctrTitle"/>
          </p:nvPr>
        </p:nvSpPr>
        <p:spPr/>
        <p:txBody>
          <a:bodyPr/>
          <a:lstStyle/>
          <a:p>
            <a:pPr algn="ctr"/>
            <a:r>
              <a:rPr lang="en-US" dirty="0"/>
              <a:t>Data Structure</a:t>
            </a:r>
          </a:p>
        </p:txBody>
      </p:sp>
      <p:sp>
        <p:nvSpPr>
          <p:cNvPr id="3" name="Subtitle 2">
            <a:extLst>
              <a:ext uri="{FF2B5EF4-FFF2-40B4-BE49-F238E27FC236}">
                <a16:creationId xmlns:a16="http://schemas.microsoft.com/office/drawing/2014/main" id="{9C8885BB-5F97-FC6A-EC08-9141FF4B6C2D}"/>
              </a:ext>
            </a:extLst>
          </p:cNvPr>
          <p:cNvSpPr>
            <a:spLocks noGrp="1"/>
          </p:cNvSpPr>
          <p:nvPr>
            <p:ph type="subTitle" idx="1"/>
          </p:nvPr>
        </p:nvSpPr>
        <p:spPr/>
        <p:txBody>
          <a:bodyPr>
            <a:normAutofit/>
          </a:bodyPr>
          <a:lstStyle/>
          <a:p>
            <a:r>
              <a:rPr lang="en-US" dirty="0"/>
              <a:t>Course code: cs-201</a:t>
            </a:r>
          </a:p>
          <a:p>
            <a:r>
              <a:rPr lang="en-US" dirty="0"/>
              <a:t>Topic: Queue</a:t>
            </a:r>
          </a:p>
        </p:txBody>
      </p:sp>
    </p:spTree>
    <p:extLst>
      <p:ext uri="{BB962C8B-B14F-4D97-AF65-F5344CB8AC3E}">
        <p14:creationId xmlns:p14="http://schemas.microsoft.com/office/powerpoint/2010/main" val="27678451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72692-F081-B1D7-CCE4-0E063326237E}"/>
              </a:ext>
            </a:extLst>
          </p:cNvPr>
          <p:cNvSpPr>
            <a:spLocks noGrp="1"/>
          </p:cNvSpPr>
          <p:nvPr>
            <p:ph type="title"/>
          </p:nvPr>
        </p:nvSpPr>
        <p:spPr/>
        <p:txBody>
          <a:bodyPr/>
          <a:lstStyle/>
          <a:p>
            <a:r>
              <a:rPr lang="en-US" dirty="0"/>
              <a:t>Goals for today</a:t>
            </a:r>
          </a:p>
        </p:txBody>
      </p:sp>
      <p:sp>
        <p:nvSpPr>
          <p:cNvPr id="3" name="Content Placeholder 2">
            <a:extLst>
              <a:ext uri="{FF2B5EF4-FFF2-40B4-BE49-F238E27FC236}">
                <a16:creationId xmlns:a16="http://schemas.microsoft.com/office/drawing/2014/main" id="{E1203246-14E0-E26A-E8DF-83B7561B264B}"/>
              </a:ext>
            </a:extLst>
          </p:cNvPr>
          <p:cNvSpPr>
            <a:spLocks noGrp="1"/>
          </p:cNvSpPr>
          <p:nvPr>
            <p:ph idx="1"/>
          </p:nvPr>
        </p:nvSpPr>
        <p:spPr/>
        <p:txBody>
          <a:bodyPr/>
          <a:lstStyle/>
          <a:p>
            <a:r>
              <a:rPr lang="en-GB" sz="2400" dirty="0"/>
              <a:t>To introduce :</a:t>
            </a:r>
          </a:p>
          <a:p>
            <a:pPr lvl="1"/>
            <a:r>
              <a:rPr lang="en-GB" sz="2000" dirty="0"/>
              <a:t>Circular queues</a:t>
            </a:r>
          </a:p>
          <a:p>
            <a:pPr lvl="1"/>
            <a:r>
              <a:rPr lang="en-GB" sz="2000" dirty="0"/>
              <a:t>Double-ended queues (Deque)</a:t>
            </a:r>
          </a:p>
          <a:p>
            <a:pPr lvl="1"/>
            <a:r>
              <a:rPr lang="en-GB" sz="2000" dirty="0"/>
              <a:t>Priority queues</a:t>
            </a:r>
          </a:p>
          <a:p>
            <a:endParaRPr lang="en-US" dirty="0"/>
          </a:p>
        </p:txBody>
      </p:sp>
    </p:spTree>
    <p:extLst>
      <p:ext uri="{BB962C8B-B14F-4D97-AF65-F5344CB8AC3E}">
        <p14:creationId xmlns:p14="http://schemas.microsoft.com/office/powerpoint/2010/main" val="1728284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8C216-07EA-41F8-777D-151988A1196C}"/>
              </a:ext>
            </a:extLst>
          </p:cNvPr>
          <p:cNvSpPr>
            <a:spLocks noGrp="1"/>
          </p:cNvSpPr>
          <p:nvPr>
            <p:ph type="title"/>
          </p:nvPr>
        </p:nvSpPr>
        <p:spPr/>
        <p:txBody>
          <a:bodyPr/>
          <a:lstStyle/>
          <a:p>
            <a:r>
              <a:rPr lang="en-US" dirty="0"/>
              <a:t>CLO Covered</a:t>
            </a:r>
          </a:p>
        </p:txBody>
      </p:sp>
      <p:sp>
        <p:nvSpPr>
          <p:cNvPr id="3" name="Content Placeholder 2">
            <a:extLst>
              <a:ext uri="{FF2B5EF4-FFF2-40B4-BE49-F238E27FC236}">
                <a16:creationId xmlns:a16="http://schemas.microsoft.com/office/drawing/2014/main" id="{D078B030-C476-D291-4FF4-55F3398C0D0D}"/>
              </a:ext>
            </a:extLst>
          </p:cNvPr>
          <p:cNvSpPr>
            <a:spLocks noGrp="1"/>
          </p:cNvSpPr>
          <p:nvPr>
            <p:ph idx="1"/>
          </p:nvPr>
        </p:nvSpPr>
        <p:spPr>
          <a:xfrm>
            <a:off x="809297" y="1845734"/>
            <a:ext cx="10720551" cy="4023360"/>
          </a:xfrm>
        </p:spPr>
        <p:txBody>
          <a:bodyPr/>
          <a:lstStyle/>
          <a:p>
            <a:r>
              <a:rPr lang="en-US" sz="3200" dirty="0"/>
              <a:t>CLO1: </a:t>
            </a:r>
            <a:r>
              <a:rPr lang="en-US" sz="3200" b="1" dirty="0"/>
              <a:t>Explain</a:t>
            </a:r>
            <a:r>
              <a:rPr lang="en-US" sz="3200" dirty="0"/>
              <a:t> the fundamentals of data structure as well as algorithms that operate on them GA2, BT C2</a:t>
            </a:r>
          </a:p>
          <a:p>
            <a:r>
              <a:rPr lang="en-US" sz="3200" dirty="0"/>
              <a:t>CLO2: </a:t>
            </a:r>
            <a:r>
              <a:rPr lang="en-US" sz="3200" b="1" dirty="0"/>
              <a:t>Apply</a:t>
            </a:r>
            <a:r>
              <a:rPr lang="en-US" sz="3200" dirty="0"/>
              <a:t> and design various data structures methods for specified applications. GA4, C3</a:t>
            </a:r>
          </a:p>
          <a:p>
            <a:endParaRPr lang="en-US" dirty="0"/>
          </a:p>
        </p:txBody>
      </p:sp>
    </p:spTree>
    <p:extLst>
      <p:ext uri="{BB962C8B-B14F-4D97-AF65-F5344CB8AC3E}">
        <p14:creationId xmlns:p14="http://schemas.microsoft.com/office/powerpoint/2010/main" val="6372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36875-B8D9-5A7E-696E-FAF4F1AA7801}"/>
              </a:ext>
            </a:extLst>
          </p:cNvPr>
          <p:cNvSpPr>
            <a:spLocks noGrp="1"/>
          </p:cNvSpPr>
          <p:nvPr>
            <p:ph type="title"/>
          </p:nvPr>
        </p:nvSpPr>
        <p:spPr/>
        <p:txBody>
          <a:bodyPr/>
          <a:lstStyle/>
          <a:p>
            <a:r>
              <a:rPr lang="en-US" dirty="0"/>
              <a:t>Algorithm for Enqueue using Link list</a:t>
            </a:r>
          </a:p>
        </p:txBody>
      </p:sp>
      <p:sp>
        <p:nvSpPr>
          <p:cNvPr id="3" name="Content Placeholder 2">
            <a:extLst>
              <a:ext uri="{FF2B5EF4-FFF2-40B4-BE49-F238E27FC236}">
                <a16:creationId xmlns:a16="http://schemas.microsoft.com/office/drawing/2014/main" id="{D0EFCA56-3FA3-AA5F-B184-CAF79932AC10}"/>
              </a:ext>
            </a:extLst>
          </p:cNvPr>
          <p:cNvSpPr>
            <a:spLocks noGrp="1"/>
          </p:cNvSpPr>
          <p:nvPr>
            <p:ph idx="1"/>
          </p:nvPr>
        </p:nvSpPr>
        <p:spPr>
          <a:xfrm>
            <a:off x="1097280" y="1845734"/>
            <a:ext cx="10058400" cy="4368454"/>
          </a:xfrm>
        </p:spPr>
        <p:txBody>
          <a:bodyPr>
            <a:normAutofit/>
          </a:bodyPr>
          <a:lstStyle/>
          <a:p>
            <a:r>
              <a:rPr lang="en-US" dirty="0"/>
              <a:t>Here ‘front’ and ‘rear’ are like start and last node of linked list</a:t>
            </a:r>
          </a:p>
          <a:p>
            <a:r>
              <a:rPr lang="en-US" dirty="0"/>
              <a:t>struct node *</a:t>
            </a:r>
            <a:r>
              <a:rPr lang="en-US" dirty="0" err="1"/>
              <a:t>newnode</a:t>
            </a:r>
            <a:r>
              <a:rPr lang="en-US" dirty="0"/>
              <a:t> = new (struct node);</a:t>
            </a:r>
          </a:p>
          <a:p>
            <a:r>
              <a:rPr lang="en-US" dirty="0"/>
              <a:t>    </a:t>
            </a:r>
            <a:r>
              <a:rPr lang="en-US" dirty="0" err="1"/>
              <a:t>newnode</a:t>
            </a:r>
            <a:r>
              <a:rPr lang="en-US" dirty="0"/>
              <a:t>-&gt;data=item;</a:t>
            </a:r>
          </a:p>
          <a:p>
            <a:pPr marL="201168" lvl="1" indent="0">
              <a:buNone/>
            </a:pPr>
            <a:r>
              <a:rPr lang="en-US" dirty="0"/>
              <a:t>  </a:t>
            </a:r>
            <a:r>
              <a:rPr lang="en-US" dirty="0" err="1"/>
              <a:t>newnode</a:t>
            </a:r>
            <a:r>
              <a:rPr lang="en-US" dirty="0"/>
              <a:t> -&gt; link = -1;</a:t>
            </a:r>
          </a:p>
          <a:p>
            <a:r>
              <a:rPr lang="en-US" dirty="0"/>
              <a:t>If (front==-1 &amp;&amp; rear==-1) // </a:t>
            </a:r>
            <a:r>
              <a:rPr lang="en-US" dirty="0">
                <a:solidFill>
                  <a:srgbClr val="00B050"/>
                </a:solidFill>
              </a:rPr>
              <a:t>if there is no element in the queue </a:t>
            </a:r>
          </a:p>
          <a:p>
            <a:pPr marL="201168" lvl="1" indent="0">
              <a:buNone/>
            </a:pPr>
            <a:r>
              <a:rPr lang="en-US" dirty="0"/>
              <a:t>  front=rear=</a:t>
            </a:r>
            <a:r>
              <a:rPr lang="en-US" dirty="0" err="1"/>
              <a:t>newnode</a:t>
            </a:r>
            <a:r>
              <a:rPr lang="en-US" dirty="0"/>
              <a:t>;</a:t>
            </a:r>
          </a:p>
          <a:p>
            <a:r>
              <a:rPr lang="en-US" dirty="0"/>
              <a:t>Else</a:t>
            </a:r>
          </a:p>
          <a:p>
            <a:r>
              <a:rPr lang="en-US" dirty="0"/>
              <a:t>    rear-&gt;link=</a:t>
            </a:r>
            <a:r>
              <a:rPr lang="en-US" dirty="0" err="1"/>
              <a:t>newnode</a:t>
            </a:r>
            <a:r>
              <a:rPr lang="en-US" dirty="0"/>
              <a:t>;</a:t>
            </a:r>
          </a:p>
          <a:p>
            <a:pPr marL="201168" lvl="1" indent="0">
              <a:buNone/>
            </a:pPr>
            <a:r>
              <a:rPr lang="en-US" dirty="0"/>
              <a:t>  rear = </a:t>
            </a:r>
            <a:r>
              <a:rPr lang="en-US" dirty="0" err="1"/>
              <a:t>newnode</a:t>
            </a:r>
            <a:r>
              <a:rPr lang="en-US" dirty="0"/>
              <a:t>;</a:t>
            </a:r>
          </a:p>
        </p:txBody>
      </p:sp>
    </p:spTree>
    <p:extLst>
      <p:ext uri="{BB962C8B-B14F-4D97-AF65-F5344CB8AC3E}">
        <p14:creationId xmlns:p14="http://schemas.microsoft.com/office/powerpoint/2010/main" val="2990461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A655A-F790-1383-2FDF-386ED43DD040}"/>
              </a:ext>
            </a:extLst>
          </p:cNvPr>
          <p:cNvSpPr>
            <a:spLocks noGrp="1"/>
          </p:cNvSpPr>
          <p:nvPr>
            <p:ph type="title"/>
          </p:nvPr>
        </p:nvSpPr>
        <p:spPr/>
        <p:txBody>
          <a:bodyPr/>
          <a:lstStyle/>
          <a:p>
            <a:r>
              <a:rPr lang="en-US" dirty="0"/>
              <a:t>Algorithm for Dequeue using Link list</a:t>
            </a:r>
          </a:p>
        </p:txBody>
      </p:sp>
      <p:sp>
        <p:nvSpPr>
          <p:cNvPr id="3" name="Content Placeholder 2">
            <a:extLst>
              <a:ext uri="{FF2B5EF4-FFF2-40B4-BE49-F238E27FC236}">
                <a16:creationId xmlns:a16="http://schemas.microsoft.com/office/drawing/2014/main" id="{6CD678B0-23B8-7F00-B96D-09BB23B81B4A}"/>
              </a:ext>
            </a:extLst>
          </p:cNvPr>
          <p:cNvSpPr>
            <a:spLocks noGrp="1"/>
          </p:cNvSpPr>
          <p:nvPr>
            <p:ph idx="1"/>
          </p:nvPr>
        </p:nvSpPr>
        <p:spPr/>
        <p:txBody>
          <a:bodyPr/>
          <a:lstStyle/>
          <a:p>
            <a:r>
              <a:rPr lang="en-US" dirty="0"/>
              <a:t>Struct node *temp</a:t>
            </a:r>
          </a:p>
          <a:p>
            <a:r>
              <a:rPr lang="en-US" dirty="0"/>
              <a:t>Temp = front</a:t>
            </a:r>
          </a:p>
          <a:p>
            <a:r>
              <a:rPr lang="en-US" dirty="0"/>
              <a:t>if(front==0 &amp;&amp; rear==0) </a:t>
            </a:r>
            <a:r>
              <a:rPr lang="en-US" dirty="0">
                <a:solidFill>
                  <a:srgbClr val="00B050"/>
                </a:solidFill>
              </a:rPr>
              <a:t>// no element in the queue</a:t>
            </a:r>
          </a:p>
          <a:p>
            <a:r>
              <a:rPr lang="en-US" dirty="0"/>
              <a:t>          underflow</a:t>
            </a:r>
          </a:p>
          <a:p>
            <a:r>
              <a:rPr lang="en-US" dirty="0"/>
              <a:t>else</a:t>
            </a:r>
          </a:p>
          <a:p>
            <a:r>
              <a:rPr lang="en-US" dirty="0"/>
              <a:t>          Print: front-&gt;data</a:t>
            </a:r>
          </a:p>
          <a:p>
            <a:r>
              <a:rPr lang="en-US" dirty="0"/>
              <a:t>          front=front-&gt;link;</a:t>
            </a:r>
          </a:p>
          <a:p>
            <a:r>
              <a:rPr lang="en-US" dirty="0"/>
              <a:t>          Free(temp)</a:t>
            </a:r>
          </a:p>
          <a:p>
            <a:endParaRPr lang="en-US" dirty="0"/>
          </a:p>
        </p:txBody>
      </p:sp>
    </p:spTree>
    <p:extLst>
      <p:ext uri="{BB962C8B-B14F-4D97-AF65-F5344CB8AC3E}">
        <p14:creationId xmlns:p14="http://schemas.microsoft.com/office/powerpoint/2010/main" val="1521326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1097280" y="1861152"/>
            <a:ext cx="10058400" cy="4268365"/>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GB" dirty="0"/>
              <a:t>Why circular queues are needed</a:t>
            </a:r>
            <a:endParaRPr lang="en-US" dirty="0"/>
          </a:p>
        </p:txBody>
      </p:sp>
    </p:spTree>
    <p:extLst>
      <p:ext uri="{BB962C8B-B14F-4D97-AF65-F5344CB8AC3E}">
        <p14:creationId xmlns:p14="http://schemas.microsoft.com/office/powerpoint/2010/main" val="2786879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idx="1"/>
          </p:nvPr>
        </p:nvSpPr>
        <p:spPr/>
        <p:txBody>
          <a:bodyPr/>
          <a:lstStyle/>
          <a:p>
            <a:pPr>
              <a:buFont typeface="Wingdings" pitchFamily="2" charset="2"/>
              <a:buChar char="v"/>
            </a:pPr>
            <a:r>
              <a:rPr lang="en-US" sz="2400" dirty="0"/>
              <a:t>We can treat the array holding the queue elements as circular (joined at the ends)</a:t>
            </a:r>
          </a:p>
          <a:p>
            <a:pPr marL="0" indent="0">
              <a:buNone/>
            </a:pPr>
            <a:endParaRPr lang="en-US" sz="2400" dirty="0"/>
          </a:p>
        </p:txBody>
      </p:sp>
      <p:sp>
        <p:nvSpPr>
          <p:cNvPr id="2" name="Title 1"/>
          <p:cNvSpPr>
            <a:spLocks noGrp="1"/>
          </p:cNvSpPr>
          <p:nvPr>
            <p:ph type="title"/>
          </p:nvPr>
        </p:nvSpPr>
        <p:spPr/>
        <p:txBody>
          <a:bodyPr/>
          <a:lstStyle/>
          <a:p>
            <a:r>
              <a:rPr lang="en-US" dirty="0"/>
              <a:t>Circular arrays</a:t>
            </a:r>
          </a:p>
        </p:txBody>
      </p:sp>
      <p:grpSp>
        <p:nvGrpSpPr>
          <p:cNvPr id="3" name="Group 29"/>
          <p:cNvGrpSpPr>
            <a:grpSpLocks/>
          </p:cNvGrpSpPr>
          <p:nvPr/>
        </p:nvGrpSpPr>
        <p:grpSpPr bwMode="auto">
          <a:xfrm>
            <a:off x="2133601" y="2734469"/>
            <a:ext cx="8077200" cy="2151062"/>
            <a:chOff x="384" y="1573"/>
            <a:chExt cx="5146" cy="1355"/>
          </a:xfrm>
        </p:grpSpPr>
        <p:sp>
          <p:nvSpPr>
            <p:cNvPr id="6" name="Rectangle 6"/>
            <p:cNvSpPr>
              <a:spLocks noChangeArrowheads="1"/>
            </p:cNvSpPr>
            <p:nvPr/>
          </p:nvSpPr>
          <p:spPr bwMode="auto">
            <a:xfrm>
              <a:off x="1549" y="2112"/>
              <a:ext cx="431"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44</a:t>
              </a:r>
            </a:p>
          </p:txBody>
        </p:sp>
        <p:sp>
          <p:nvSpPr>
            <p:cNvPr id="7" name="Rectangle 7"/>
            <p:cNvSpPr>
              <a:spLocks noChangeArrowheads="1"/>
            </p:cNvSpPr>
            <p:nvPr/>
          </p:nvSpPr>
          <p:spPr bwMode="auto">
            <a:xfrm>
              <a:off x="1981" y="2112"/>
              <a:ext cx="431"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55</a:t>
              </a:r>
            </a:p>
          </p:txBody>
        </p:sp>
        <p:sp>
          <p:nvSpPr>
            <p:cNvPr id="8" name="Rectangle 8"/>
            <p:cNvSpPr>
              <a:spLocks noChangeArrowheads="1"/>
            </p:cNvSpPr>
            <p:nvPr/>
          </p:nvSpPr>
          <p:spPr bwMode="auto">
            <a:xfrm>
              <a:off x="2413" y="2112"/>
              <a:ext cx="431" cy="38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en-US">
                <a:latin typeface="Verdana" pitchFamily="34" charset="0"/>
              </a:endParaRPr>
            </a:p>
          </p:txBody>
        </p:sp>
        <p:sp>
          <p:nvSpPr>
            <p:cNvPr id="9" name="Rectangle 9"/>
            <p:cNvSpPr>
              <a:spLocks noChangeArrowheads="1"/>
            </p:cNvSpPr>
            <p:nvPr/>
          </p:nvSpPr>
          <p:spPr bwMode="auto">
            <a:xfrm>
              <a:off x="2845" y="2112"/>
              <a:ext cx="431" cy="38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en-US">
                <a:latin typeface="Verdana" pitchFamily="34" charset="0"/>
              </a:endParaRPr>
            </a:p>
          </p:txBody>
        </p:sp>
        <p:sp>
          <p:nvSpPr>
            <p:cNvPr id="10" name="Rectangle 10"/>
            <p:cNvSpPr>
              <a:spLocks noChangeArrowheads="1"/>
            </p:cNvSpPr>
            <p:nvPr/>
          </p:nvSpPr>
          <p:spPr bwMode="auto">
            <a:xfrm>
              <a:off x="3277" y="2112"/>
              <a:ext cx="431" cy="38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 name="Rectangle 11"/>
            <p:cNvSpPr>
              <a:spLocks noChangeArrowheads="1"/>
            </p:cNvSpPr>
            <p:nvPr/>
          </p:nvSpPr>
          <p:spPr bwMode="auto">
            <a:xfrm>
              <a:off x="3709" y="2112"/>
              <a:ext cx="431"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11</a:t>
              </a:r>
            </a:p>
          </p:txBody>
        </p:sp>
        <p:sp>
          <p:nvSpPr>
            <p:cNvPr id="12" name="Rectangle 12"/>
            <p:cNvSpPr>
              <a:spLocks noChangeArrowheads="1"/>
            </p:cNvSpPr>
            <p:nvPr/>
          </p:nvSpPr>
          <p:spPr bwMode="auto">
            <a:xfrm>
              <a:off x="4141" y="2112"/>
              <a:ext cx="431"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22</a:t>
              </a:r>
            </a:p>
          </p:txBody>
        </p:sp>
        <p:sp>
          <p:nvSpPr>
            <p:cNvPr id="13" name="Rectangle 13"/>
            <p:cNvSpPr>
              <a:spLocks noChangeArrowheads="1"/>
            </p:cNvSpPr>
            <p:nvPr/>
          </p:nvSpPr>
          <p:spPr bwMode="auto">
            <a:xfrm>
              <a:off x="4573" y="2112"/>
              <a:ext cx="431"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33</a:t>
              </a:r>
            </a:p>
          </p:txBody>
        </p:sp>
        <p:sp>
          <p:nvSpPr>
            <p:cNvPr id="14" name="Text Box 14"/>
            <p:cNvSpPr txBox="1">
              <a:spLocks noChangeArrowheads="1"/>
            </p:cNvSpPr>
            <p:nvPr/>
          </p:nvSpPr>
          <p:spPr bwMode="auto">
            <a:xfrm>
              <a:off x="1693" y="1872"/>
              <a:ext cx="33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r>
                <a:rPr lang="en-US" sz="2000">
                  <a:latin typeface="Verdana" pitchFamily="34" charset="0"/>
                </a:rPr>
                <a:t>0      1      2      3      4      5      6     7</a:t>
              </a:r>
              <a:endParaRPr lang="en-US" sz="2000">
                <a:latin typeface="Times New Roman" pitchFamily="18" charset="0"/>
              </a:endParaRPr>
            </a:p>
          </p:txBody>
        </p:sp>
        <p:sp>
          <p:nvSpPr>
            <p:cNvPr id="15" name="Text Box 15"/>
            <p:cNvSpPr txBox="1">
              <a:spLocks noChangeArrowheads="1"/>
            </p:cNvSpPr>
            <p:nvPr/>
          </p:nvSpPr>
          <p:spPr bwMode="auto">
            <a:xfrm>
              <a:off x="384" y="2112"/>
              <a:ext cx="114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r>
                <a:rPr lang="en-US">
                  <a:solidFill>
                    <a:schemeClr val="accent2"/>
                  </a:solidFill>
                  <a:latin typeface="Verdana" pitchFamily="34" charset="0"/>
                </a:rPr>
                <a:t>myQueue:</a:t>
              </a:r>
            </a:p>
          </p:txBody>
        </p:sp>
        <p:grpSp>
          <p:nvGrpSpPr>
            <p:cNvPr id="5" name="Group 24"/>
            <p:cNvGrpSpPr>
              <a:grpSpLocks/>
            </p:cNvGrpSpPr>
            <p:nvPr/>
          </p:nvGrpSpPr>
          <p:grpSpPr bwMode="auto">
            <a:xfrm>
              <a:off x="1008" y="2545"/>
              <a:ext cx="1149" cy="383"/>
              <a:chOff x="2499" y="2785"/>
              <a:chExt cx="1149" cy="383"/>
            </a:xfrm>
          </p:grpSpPr>
          <p:sp>
            <p:nvSpPr>
              <p:cNvPr id="22" name="Text Box 17"/>
              <p:cNvSpPr txBox="1">
                <a:spLocks noChangeArrowheads="1"/>
              </p:cNvSpPr>
              <p:nvPr/>
            </p:nvSpPr>
            <p:spPr bwMode="auto">
              <a:xfrm>
                <a:off x="2499" y="2880"/>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r>
                  <a:rPr lang="en-US">
                    <a:solidFill>
                      <a:schemeClr val="accent2"/>
                    </a:solidFill>
                    <a:latin typeface="Verdana" pitchFamily="34" charset="0"/>
                  </a:rPr>
                  <a:t>rear = 1</a:t>
                </a:r>
              </a:p>
            </p:txBody>
          </p:sp>
          <p:sp>
            <p:nvSpPr>
              <p:cNvPr id="23" name="Freeform 18"/>
              <p:cNvSpPr>
                <a:spLocks/>
              </p:cNvSpPr>
              <p:nvPr/>
            </p:nvSpPr>
            <p:spPr bwMode="auto">
              <a:xfrm flipH="1">
                <a:off x="3406" y="2785"/>
                <a:ext cx="242" cy="242"/>
              </a:xfrm>
              <a:custGeom>
                <a:avLst/>
                <a:gdLst>
                  <a:gd name="T0" fmla="*/ 242 w 240"/>
                  <a:gd name="T1" fmla="*/ 242 h 240"/>
                  <a:gd name="T2" fmla="*/ 48 w 240"/>
                  <a:gd name="T3" fmla="*/ 194 h 240"/>
                  <a:gd name="T4" fmla="*/ 0 w 240"/>
                  <a:gd name="T5" fmla="*/ 0 h 240"/>
                  <a:gd name="T6" fmla="*/ 0 60000 65536"/>
                  <a:gd name="T7" fmla="*/ 0 60000 65536"/>
                  <a:gd name="T8" fmla="*/ 0 60000 65536"/>
                  <a:gd name="T9" fmla="*/ 0 w 240"/>
                  <a:gd name="T10" fmla="*/ 0 h 240"/>
                  <a:gd name="T11" fmla="*/ 240 w 240"/>
                  <a:gd name="T12" fmla="*/ 240 h 240"/>
                </a:gdLst>
                <a:ahLst/>
                <a:cxnLst>
                  <a:cxn ang="T6">
                    <a:pos x="T0" y="T1"/>
                  </a:cxn>
                  <a:cxn ang="T7">
                    <a:pos x="T2" y="T3"/>
                  </a:cxn>
                  <a:cxn ang="T8">
                    <a:pos x="T4" y="T5"/>
                  </a:cxn>
                </a:cxnLst>
                <a:rect l="T9" t="T10" r="T11" b="T12"/>
                <a:pathLst>
                  <a:path w="240" h="240">
                    <a:moveTo>
                      <a:pt x="240" y="240"/>
                    </a:moveTo>
                    <a:cubicBezTo>
                      <a:pt x="164" y="236"/>
                      <a:pt x="88" y="232"/>
                      <a:pt x="48" y="192"/>
                    </a:cubicBezTo>
                    <a:cubicBezTo>
                      <a:pt x="8" y="152"/>
                      <a:pt x="4" y="76"/>
                      <a:pt x="0" y="0"/>
                    </a:cubicBezTo>
                  </a:path>
                </a:pathLst>
              </a:custGeom>
              <a:noFill/>
              <a:ln w="1905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6" name="Group 22"/>
            <p:cNvGrpSpPr>
              <a:grpSpLocks/>
            </p:cNvGrpSpPr>
            <p:nvPr/>
          </p:nvGrpSpPr>
          <p:grpSpPr bwMode="auto">
            <a:xfrm>
              <a:off x="2640" y="2544"/>
              <a:ext cx="1248" cy="383"/>
              <a:chOff x="528" y="2784"/>
              <a:chExt cx="1248" cy="383"/>
            </a:xfrm>
          </p:grpSpPr>
          <p:sp>
            <p:nvSpPr>
              <p:cNvPr id="20" name="Text Box 20"/>
              <p:cNvSpPr txBox="1">
                <a:spLocks noChangeArrowheads="1"/>
              </p:cNvSpPr>
              <p:nvPr/>
            </p:nvSpPr>
            <p:spPr bwMode="auto">
              <a:xfrm>
                <a:off x="528" y="2879"/>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r>
                  <a:rPr lang="en-US">
                    <a:solidFill>
                      <a:schemeClr val="accent2"/>
                    </a:solidFill>
                    <a:latin typeface="Verdana" pitchFamily="34" charset="0"/>
                  </a:rPr>
                  <a:t>front = 5</a:t>
                </a:r>
              </a:p>
            </p:txBody>
          </p:sp>
          <p:sp>
            <p:nvSpPr>
              <p:cNvPr id="21" name="Freeform 21"/>
              <p:cNvSpPr>
                <a:spLocks/>
              </p:cNvSpPr>
              <p:nvPr/>
            </p:nvSpPr>
            <p:spPr bwMode="auto">
              <a:xfrm flipH="1">
                <a:off x="1534" y="2784"/>
                <a:ext cx="242" cy="242"/>
              </a:xfrm>
              <a:custGeom>
                <a:avLst/>
                <a:gdLst>
                  <a:gd name="T0" fmla="*/ 242 w 240"/>
                  <a:gd name="T1" fmla="*/ 242 h 240"/>
                  <a:gd name="T2" fmla="*/ 48 w 240"/>
                  <a:gd name="T3" fmla="*/ 194 h 240"/>
                  <a:gd name="T4" fmla="*/ 0 w 240"/>
                  <a:gd name="T5" fmla="*/ 0 h 240"/>
                  <a:gd name="T6" fmla="*/ 0 60000 65536"/>
                  <a:gd name="T7" fmla="*/ 0 60000 65536"/>
                  <a:gd name="T8" fmla="*/ 0 60000 65536"/>
                  <a:gd name="T9" fmla="*/ 0 w 240"/>
                  <a:gd name="T10" fmla="*/ 0 h 240"/>
                  <a:gd name="T11" fmla="*/ 240 w 240"/>
                  <a:gd name="T12" fmla="*/ 240 h 240"/>
                </a:gdLst>
                <a:ahLst/>
                <a:cxnLst>
                  <a:cxn ang="T6">
                    <a:pos x="T0" y="T1"/>
                  </a:cxn>
                  <a:cxn ang="T7">
                    <a:pos x="T2" y="T3"/>
                  </a:cxn>
                  <a:cxn ang="T8">
                    <a:pos x="T4" y="T5"/>
                  </a:cxn>
                </a:cxnLst>
                <a:rect l="T9" t="T10" r="T11" b="T12"/>
                <a:pathLst>
                  <a:path w="240" h="240">
                    <a:moveTo>
                      <a:pt x="240" y="240"/>
                    </a:moveTo>
                    <a:cubicBezTo>
                      <a:pt x="164" y="236"/>
                      <a:pt x="88" y="232"/>
                      <a:pt x="48" y="192"/>
                    </a:cubicBezTo>
                    <a:cubicBezTo>
                      <a:pt x="8" y="152"/>
                      <a:pt x="4" y="76"/>
                      <a:pt x="0" y="0"/>
                    </a:cubicBezTo>
                  </a:path>
                </a:pathLst>
              </a:custGeom>
              <a:noFill/>
              <a:ln w="1905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18" name="Line 25"/>
            <p:cNvSpPr>
              <a:spLocks noChangeShapeType="1"/>
            </p:cNvSpPr>
            <p:nvPr/>
          </p:nvSpPr>
          <p:spPr bwMode="auto">
            <a:xfrm>
              <a:off x="1392" y="2160"/>
              <a:ext cx="3840" cy="0"/>
            </a:xfrm>
            <a:prstGeom prst="line">
              <a:avLst/>
            </a:prstGeom>
            <a:noFill/>
            <a:ln w="25400">
              <a:solidFill>
                <a:schemeClr val="tx2"/>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US"/>
            </a:p>
          </p:txBody>
        </p:sp>
        <p:sp>
          <p:nvSpPr>
            <p:cNvPr id="19" name="Freeform 26"/>
            <p:cNvSpPr>
              <a:spLocks/>
            </p:cNvSpPr>
            <p:nvPr/>
          </p:nvSpPr>
          <p:spPr bwMode="auto">
            <a:xfrm>
              <a:off x="906" y="1573"/>
              <a:ext cx="4624" cy="595"/>
            </a:xfrm>
            <a:custGeom>
              <a:avLst/>
              <a:gdLst>
                <a:gd name="T0" fmla="*/ 4408 w 4624"/>
                <a:gd name="T1" fmla="*/ 587 h 595"/>
                <a:gd name="T2" fmla="*/ 4566 w 4624"/>
                <a:gd name="T3" fmla="*/ 508 h 595"/>
                <a:gd name="T4" fmla="*/ 4592 w 4624"/>
                <a:gd name="T5" fmla="*/ 284 h 595"/>
                <a:gd name="T6" fmla="*/ 4374 w 4624"/>
                <a:gd name="T7" fmla="*/ 107 h 595"/>
                <a:gd name="T8" fmla="*/ 3267 w 4624"/>
                <a:gd name="T9" fmla="*/ 40 h 595"/>
                <a:gd name="T10" fmla="*/ 1638 w 4624"/>
                <a:gd name="T11" fmla="*/ 11 h 595"/>
                <a:gd name="T12" fmla="*/ 294 w 4624"/>
                <a:gd name="T13" fmla="*/ 107 h 595"/>
                <a:gd name="T14" fmla="*/ 24 w 4624"/>
                <a:gd name="T15" fmla="*/ 343 h 595"/>
                <a:gd name="T16" fmla="*/ 149 w 4624"/>
                <a:gd name="T17" fmla="*/ 554 h 595"/>
                <a:gd name="T18" fmla="*/ 390 w 4624"/>
                <a:gd name="T19" fmla="*/ 587 h 59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24"/>
                <a:gd name="T31" fmla="*/ 0 h 595"/>
                <a:gd name="T32" fmla="*/ 4624 w 4624"/>
                <a:gd name="T33" fmla="*/ 595 h 59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24" h="595">
                  <a:moveTo>
                    <a:pt x="4408" y="587"/>
                  </a:moveTo>
                  <a:cubicBezTo>
                    <a:pt x="4434" y="574"/>
                    <a:pt x="4535" y="559"/>
                    <a:pt x="4566" y="508"/>
                  </a:cubicBezTo>
                  <a:cubicBezTo>
                    <a:pt x="4597" y="457"/>
                    <a:pt x="4624" y="351"/>
                    <a:pt x="4592" y="284"/>
                  </a:cubicBezTo>
                  <a:cubicBezTo>
                    <a:pt x="4560" y="217"/>
                    <a:pt x="4595" y="148"/>
                    <a:pt x="4374" y="107"/>
                  </a:cubicBezTo>
                  <a:cubicBezTo>
                    <a:pt x="4153" y="66"/>
                    <a:pt x="3723" y="56"/>
                    <a:pt x="3267" y="40"/>
                  </a:cubicBezTo>
                  <a:cubicBezTo>
                    <a:pt x="2811" y="24"/>
                    <a:pt x="2134" y="0"/>
                    <a:pt x="1638" y="11"/>
                  </a:cubicBezTo>
                  <a:cubicBezTo>
                    <a:pt x="1142" y="22"/>
                    <a:pt x="563" y="52"/>
                    <a:pt x="294" y="107"/>
                  </a:cubicBezTo>
                  <a:cubicBezTo>
                    <a:pt x="25" y="162"/>
                    <a:pt x="48" y="269"/>
                    <a:pt x="24" y="343"/>
                  </a:cubicBezTo>
                  <a:cubicBezTo>
                    <a:pt x="0" y="417"/>
                    <a:pt x="88" y="513"/>
                    <a:pt x="149" y="554"/>
                  </a:cubicBezTo>
                  <a:cubicBezTo>
                    <a:pt x="210" y="595"/>
                    <a:pt x="340" y="580"/>
                    <a:pt x="390" y="587"/>
                  </a:cubicBezTo>
                </a:path>
              </a:pathLst>
            </a:custGeom>
            <a:noFill/>
            <a:ln w="19050">
              <a:solidFill>
                <a:schemeClr val="tx2"/>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24" name="Rectangle 27"/>
          <p:cNvSpPr txBox="1">
            <a:spLocks noChangeArrowheads="1"/>
          </p:cNvSpPr>
          <p:nvPr/>
        </p:nvSpPr>
        <p:spPr>
          <a:xfrm>
            <a:off x="2171784" y="4885531"/>
            <a:ext cx="7962816" cy="1752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v"/>
            </a:pPr>
            <a:r>
              <a:rPr lang="en-US" sz="2400" dirty="0"/>
              <a:t>Elements were added to this queue in the order </a:t>
            </a:r>
            <a:r>
              <a:rPr lang="en-US" sz="2400" dirty="0">
                <a:latin typeface="Verdana" pitchFamily="34" charset="0"/>
              </a:rPr>
              <a:t>11</a:t>
            </a:r>
            <a:r>
              <a:rPr lang="en-US" sz="2400" dirty="0"/>
              <a:t>, </a:t>
            </a:r>
            <a:r>
              <a:rPr lang="en-US" sz="2400" dirty="0">
                <a:latin typeface="Verdana" pitchFamily="34" charset="0"/>
              </a:rPr>
              <a:t>22</a:t>
            </a:r>
            <a:r>
              <a:rPr lang="en-US" sz="2400" dirty="0"/>
              <a:t>, </a:t>
            </a:r>
            <a:r>
              <a:rPr lang="en-US" sz="2400" dirty="0">
                <a:latin typeface="Verdana" pitchFamily="34" charset="0"/>
              </a:rPr>
              <a:t>33</a:t>
            </a:r>
            <a:r>
              <a:rPr lang="en-US" sz="2400" dirty="0"/>
              <a:t>, </a:t>
            </a:r>
            <a:r>
              <a:rPr lang="en-US" sz="2400" dirty="0">
                <a:latin typeface="Verdana" pitchFamily="34" charset="0"/>
              </a:rPr>
              <a:t>44</a:t>
            </a:r>
            <a:r>
              <a:rPr lang="en-US" sz="2400" dirty="0"/>
              <a:t>, </a:t>
            </a:r>
            <a:r>
              <a:rPr lang="en-US" sz="2400" dirty="0">
                <a:latin typeface="Verdana" pitchFamily="34" charset="0"/>
              </a:rPr>
              <a:t>55</a:t>
            </a:r>
            <a:r>
              <a:rPr lang="en-US" sz="2400" dirty="0"/>
              <a:t>, and will be removed in the same order</a:t>
            </a:r>
          </a:p>
        </p:txBody>
      </p:sp>
    </p:spTree>
    <p:extLst>
      <p:ext uri="{BB962C8B-B14F-4D97-AF65-F5344CB8AC3E}">
        <p14:creationId xmlns:p14="http://schemas.microsoft.com/office/powerpoint/2010/main" val="1967799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
                                            <p:txEl>
                                              <p:pRg st="0" end="0"/>
                                            </p:txEl>
                                          </p:spTgt>
                                        </p:tgtEl>
                                        <p:attrNameLst>
                                          <p:attrName>style.visibility</p:attrName>
                                        </p:attrNameLst>
                                      </p:cBhvr>
                                      <p:to>
                                        <p:strVal val="visible"/>
                                      </p:to>
                                    </p:set>
                                    <p:animEffect transition="in" filter="wipe(left)">
                                      <p:cBhvr>
                                        <p:cTn id="17" dur="500"/>
                                        <p:tgtEl>
                                          <p:spTgt spid="2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5" autoUpdateAnimBg="0"/>
      <p:bldP spid="24" grpId="0" build="p" bldLvl="4"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idx="1"/>
          </p:nvPr>
        </p:nvSpPr>
        <p:spPr/>
        <p:txBody>
          <a:bodyPr/>
          <a:lstStyle/>
          <a:p>
            <a:pPr eaLnBrk="1" hangingPunct="1">
              <a:buFont typeface="Wingdings" pitchFamily="2" charset="2"/>
              <a:buChar char="v"/>
            </a:pPr>
            <a:r>
              <a:rPr lang="en-US" sz="2400" dirty="0"/>
              <a:t>If the queue were to become completely full, it would look like this:</a:t>
            </a:r>
          </a:p>
        </p:txBody>
      </p:sp>
      <p:sp>
        <p:nvSpPr>
          <p:cNvPr id="2" name="Title 1"/>
          <p:cNvSpPr>
            <a:spLocks noGrp="1"/>
          </p:cNvSpPr>
          <p:nvPr>
            <p:ph type="title"/>
          </p:nvPr>
        </p:nvSpPr>
        <p:spPr/>
        <p:txBody>
          <a:bodyPr/>
          <a:lstStyle/>
          <a:p>
            <a:r>
              <a:rPr lang="en-US" dirty="0"/>
              <a:t>Full and empty queues</a:t>
            </a:r>
          </a:p>
        </p:txBody>
      </p:sp>
      <p:grpSp>
        <p:nvGrpSpPr>
          <p:cNvPr id="3" name="Group 46"/>
          <p:cNvGrpSpPr>
            <a:grpSpLocks/>
          </p:cNvGrpSpPr>
          <p:nvPr/>
        </p:nvGrpSpPr>
        <p:grpSpPr bwMode="auto">
          <a:xfrm>
            <a:off x="2133600" y="2555875"/>
            <a:ext cx="7696200" cy="1676400"/>
            <a:chOff x="384" y="1248"/>
            <a:chExt cx="4848" cy="1056"/>
          </a:xfrm>
        </p:grpSpPr>
        <p:sp>
          <p:nvSpPr>
            <p:cNvPr id="6" name="Rectangle 6"/>
            <p:cNvSpPr>
              <a:spLocks noChangeArrowheads="1"/>
            </p:cNvSpPr>
            <p:nvPr/>
          </p:nvSpPr>
          <p:spPr bwMode="auto">
            <a:xfrm>
              <a:off x="1549" y="1488"/>
              <a:ext cx="431" cy="384"/>
            </a:xfrm>
            <a:prstGeom prst="rect">
              <a:avLst/>
            </a:prstGeom>
            <a:solidFill>
              <a:srgbClr val="FFFF99"/>
            </a:solidFill>
            <a:ln w="19050">
              <a:solidFill>
                <a:schemeClr val="tx1"/>
              </a:solidFill>
              <a:miter lim="800000"/>
              <a:headEnd/>
              <a:tailEnd/>
            </a:ln>
          </p:spPr>
          <p:txBody>
            <a:bodyPr wrap="none" anchor="ctr"/>
            <a:lstStyle/>
            <a:p>
              <a:pPr algn="ctr"/>
              <a:r>
                <a:rPr lang="en-US" dirty="0">
                  <a:latin typeface="Verdana" pitchFamily="34" charset="0"/>
                </a:rPr>
                <a:t>44</a:t>
              </a:r>
            </a:p>
          </p:txBody>
        </p:sp>
        <p:sp>
          <p:nvSpPr>
            <p:cNvPr id="7" name="Rectangle 7"/>
            <p:cNvSpPr>
              <a:spLocks noChangeArrowheads="1"/>
            </p:cNvSpPr>
            <p:nvPr/>
          </p:nvSpPr>
          <p:spPr bwMode="auto">
            <a:xfrm>
              <a:off x="1981" y="1488"/>
              <a:ext cx="431"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55</a:t>
              </a:r>
            </a:p>
          </p:txBody>
        </p:sp>
        <p:sp>
          <p:nvSpPr>
            <p:cNvPr id="8" name="Rectangle 8"/>
            <p:cNvSpPr>
              <a:spLocks noChangeArrowheads="1"/>
            </p:cNvSpPr>
            <p:nvPr/>
          </p:nvSpPr>
          <p:spPr bwMode="auto">
            <a:xfrm>
              <a:off x="2413" y="1488"/>
              <a:ext cx="431"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66</a:t>
              </a:r>
            </a:p>
          </p:txBody>
        </p:sp>
        <p:sp>
          <p:nvSpPr>
            <p:cNvPr id="9" name="Rectangle 9"/>
            <p:cNvSpPr>
              <a:spLocks noChangeArrowheads="1"/>
            </p:cNvSpPr>
            <p:nvPr/>
          </p:nvSpPr>
          <p:spPr bwMode="auto">
            <a:xfrm>
              <a:off x="2845" y="1488"/>
              <a:ext cx="431"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77</a:t>
              </a:r>
            </a:p>
          </p:txBody>
        </p:sp>
        <p:sp>
          <p:nvSpPr>
            <p:cNvPr id="10" name="Rectangle 10"/>
            <p:cNvSpPr>
              <a:spLocks noChangeArrowheads="1"/>
            </p:cNvSpPr>
            <p:nvPr/>
          </p:nvSpPr>
          <p:spPr bwMode="auto">
            <a:xfrm>
              <a:off x="3277" y="1488"/>
              <a:ext cx="431"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88</a:t>
              </a:r>
            </a:p>
          </p:txBody>
        </p:sp>
        <p:sp>
          <p:nvSpPr>
            <p:cNvPr id="11" name="Rectangle 11"/>
            <p:cNvSpPr>
              <a:spLocks noChangeArrowheads="1"/>
            </p:cNvSpPr>
            <p:nvPr/>
          </p:nvSpPr>
          <p:spPr bwMode="auto">
            <a:xfrm>
              <a:off x="3709" y="1488"/>
              <a:ext cx="431"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11</a:t>
              </a:r>
            </a:p>
          </p:txBody>
        </p:sp>
        <p:sp>
          <p:nvSpPr>
            <p:cNvPr id="12" name="Rectangle 12"/>
            <p:cNvSpPr>
              <a:spLocks noChangeArrowheads="1"/>
            </p:cNvSpPr>
            <p:nvPr/>
          </p:nvSpPr>
          <p:spPr bwMode="auto">
            <a:xfrm>
              <a:off x="4141" y="1488"/>
              <a:ext cx="431"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22</a:t>
              </a:r>
            </a:p>
          </p:txBody>
        </p:sp>
        <p:sp>
          <p:nvSpPr>
            <p:cNvPr id="13" name="Rectangle 13"/>
            <p:cNvSpPr>
              <a:spLocks noChangeArrowheads="1"/>
            </p:cNvSpPr>
            <p:nvPr/>
          </p:nvSpPr>
          <p:spPr bwMode="auto">
            <a:xfrm>
              <a:off x="4573" y="1488"/>
              <a:ext cx="431"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33</a:t>
              </a:r>
            </a:p>
          </p:txBody>
        </p:sp>
        <p:sp>
          <p:nvSpPr>
            <p:cNvPr id="14" name="Text Box 14"/>
            <p:cNvSpPr txBox="1">
              <a:spLocks noChangeArrowheads="1"/>
            </p:cNvSpPr>
            <p:nvPr/>
          </p:nvSpPr>
          <p:spPr bwMode="auto">
            <a:xfrm>
              <a:off x="1693" y="1248"/>
              <a:ext cx="33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r>
                <a:rPr lang="en-US" sz="2000">
                  <a:latin typeface="Verdana" pitchFamily="34" charset="0"/>
                </a:rPr>
                <a:t>0      1      2      3      4      5      6     7</a:t>
              </a:r>
              <a:endParaRPr lang="en-US" sz="2000">
                <a:latin typeface="Times New Roman" pitchFamily="18" charset="0"/>
              </a:endParaRPr>
            </a:p>
          </p:txBody>
        </p:sp>
        <p:sp>
          <p:nvSpPr>
            <p:cNvPr id="15" name="Text Box 15"/>
            <p:cNvSpPr txBox="1">
              <a:spLocks noChangeArrowheads="1"/>
            </p:cNvSpPr>
            <p:nvPr/>
          </p:nvSpPr>
          <p:spPr bwMode="auto">
            <a:xfrm>
              <a:off x="384" y="1488"/>
              <a:ext cx="11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r>
                <a:rPr lang="en-US">
                  <a:solidFill>
                    <a:schemeClr val="accent2"/>
                  </a:solidFill>
                  <a:latin typeface="Verdana" pitchFamily="34" charset="0"/>
                </a:rPr>
                <a:t>myQueue:</a:t>
              </a:r>
            </a:p>
          </p:txBody>
        </p:sp>
        <p:grpSp>
          <p:nvGrpSpPr>
            <p:cNvPr id="5" name="Group 16"/>
            <p:cNvGrpSpPr>
              <a:grpSpLocks/>
            </p:cNvGrpSpPr>
            <p:nvPr/>
          </p:nvGrpSpPr>
          <p:grpSpPr bwMode="auto">
            <a:xfrm>
              <a:off x="2355" y="1921"/>
              <a:ext cx="1149" cy="383"/>
              <a:chOff x="2499" y="2785"/>
              <a:chExt cx="1149" cy="383"/>
            </a:xfrm>
          </p:grpSpPr>
          <p:sp>
            <p:nvSpPr>
              <p:cNvPr id="19" name="Text Box 17"/>
              <p:cNvSpPr txBox="1">
                <a:spLocks noChangeArrowheads="1"/>
              </p:cNvSpPr>
              <p:nvPr/>
            </p:nvSpPr>
            <p:spPr bwMode="auto">
              <a:xfrm>
                <a:off x="2499" y="2880"/>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r>
                  <a:rPr lang="en-US">
                    <a:solidFill>
                      <a:schemeClr val="accent2"/>
                    </a:solidFill>
                    <a:latin typeface="Verdana" pitchFamily="34" charset="0"/>
                  </a:rPr>
                  <a:t>rear = 4</a:t>
                </a:r>
              </a:p>
            </p:txBody>
          </p:sp>
          <p:sp>
            <p:nvSpPr>
              <p:cNvPr id="20" name="Freeform 18"/>
              <p:cNvSpPr>
                <a:spLocks/>
              </p:cNvSpPr>
              <p:nvPr/>
            </p:nvSpPr>
            <p:spPr bwMode="auto">
              <a:xfrm flipH="1">
                <a:off x="3406" y="2785"/>
                <a:ext cx="242" cy="242"/>
              </a:xfrm>
              <a:custGeom>
                <a:avLst/>
                <a:gdLst>
                  <a:gd name="T0" fmla="*/ 242 w 240"/>
                  <a:gd name="T1" fmla="*/ 242 h 240"/>
                  <a:gd name="T2" fmla="*/ 48 w 240"/>
                  <a:gd name="T3" fmla="*/ 194 h 240"/>
                  <a:gd name="T4" fmla="*/ 0 w 240"/>
                  <a:gd name="T5" fmla="*/ 0 h 240"/>
                  <a:gd name="T6" fmla="*/ 0 60000 65536"/>
                  <a:gd name="T7" fmla="*/ 0 60000 65536"/>
                  <a:gd name="T8" fmla="*/ 0 60000 65536"/>
                  <a:gd name="T9" fmla="*/ 0 w 240"/>
                  <a:gd name="T10" fmla="*/ 0 h 240"/>
                  <a:gd name="T11" fmla="*/ 240 w 240"/>
                  <a:gd name="T12" fmla="*/ 240 h 240"/>
                </a:gdLst>
                <a:ahLst/>
                <a:cxnLst>
                  <a:cxn ang="T6">
                    <a:pos x="T0" y="T1"/>
                  </a:cxn>
                  <a:cxn ang="T7">
                    <a:pos x="T2" y="T3"/>
                  </a:cxn>
                  <a:cxn ang="T8">
                    <a:pos x="T4" y="T5"/>
                  </a:cxn>
                </a:cxnLst>
                <a:rect l="T9" t="T10" r="T11" b="T12"/>
                <a:pathLst>
                  <a:path w="240" h="240">
                    <a:moveTo>
                      <a:pt x="240" y="240"/>
                    </a:moveTo>
                    <a:cubicBezTo>
                      <a:pt x="164" y="236"/>
                      <a:pt x="88" y="232"/>
                      <a:pt x="48" y="192"/>
                    </a:cubicBezTo>
                    <a:cubicBezTo>
                      <a:pt x="8" y="152"/>
                      <a:pt x="4" y="76"/>
                      <a:pt x="0" y="0"/>
                    </a:cubicBezTo>
                  </a:path>
                </a:pathLst>
              </a:custGeom>
              <a:noFill/>
              <a:ln w="1905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17" name="Text Box 20"/>
            <p:cNvSpPr txBox="1">
              <a:spLocks noChangeArrowheads="1"/>
            </p:cNvSpPr>
            <p:nvPr/>
          </p:nvSpPr>
          <p:spPr bwMode="auto">
            <a:xfrm>
              <a:off x="4176" y="2016"/>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r>
                <a:rPr lang="en-US">
                  <a:solidFill>
                    <a:schemeClr val="accent2"/>
                  </a:solidFill>
                  <a:latin typeface="Verdana" pitchFamily="34" charset="0"/>
                </a:rPr>
                <a:t>front = 5</a:t>
              </a:r>
            </a:p>
          </p:txBody>
        </p:sp>
        <p:sp>
          <p:nvSpPr>
            <p:cNvPr id="18" name="Freeform 21"/>
            <p:cNvSpPr>
              <a:spLocks/>
            </p:cNvSpPr>
            <p:nvPr/>
          </p:nvSpPr>
          <p:spPr bwMode="auto">
            <a:xfrm>
              <a:off x="3934" y="1920"/>
              <a:ext cx="242" cy="242"/>
            </a:xfrm>
            <a:custGeom>
              <a:avLst/>
              <a:gdLst>
                <a:gd name="T0" fmla="*/ 242 w 240"/>
                <a:gd name="T1" fmla="*/ 242 h 240"/>
                <a:gd name="T2" fmla="*/ 48 w 240"/>
                <a:gd name="T3" fmla="*/ 194 h 240"/>
                <a:gd name="T4" fmla="*/ 0 w 240"/>
                <a:gd name="T5" fmla="*/ 0 h 240"/>
                <a:gd name="T6" fmla="*/ 0 60000 65536"/>
                <a:gd name="T7" fmla="*/ 0 60000 65536"/>
                <a:gd name="T8" fmla="*/ 0 60000 65536"/>
                <a:gd name="T9" fmla="*/ 0 w 240"/>
                <a:gd name="T10" fmla="*/ 0 h 240"/>
                <a:gd name="T11" fmla="*/ 240 w 240"/>
                <a:gd name="T12" fmla="*/ 240 h 240"/>
              </a:gdLst>
              <a:ahLst/>
              <a:cxnLst>
                <a:cxn ang="T6">
                  <a:pos x="T0" y="T1"/>
                </a:cxn>
                <a:cxn ang="T7">
                  <a:pos x="T2" y="T3"/>
                </a:cxn>
                <a:cxn ang="T8">
                  <a:pos x="T4" y="T5"/>
                </a:cxn>
              </a:cxnLst>
              <a:rect l="T9" t="T10" r="T11" b="T12"/>
              <a:pathLst>
                <a:path w="240" h="240">
                  <a:moveTo>
                    <a:pt x="240" y="240"/>
                  </a:moveTo>
                  <a:cubicBezTo>
                    <a:pt x="164" y="236"/>
                    <a:pt x="88" y="232"/>
                    <a:pt x="48" y="192"/>
                  </a:cubicBezTo>
                  <a:cubicBezTo>
                    <a:pt x="8" y="152"/>
                    <a:pt x="4" y="76"/>
                    <a:pt x="0" y="0"/>
                  </a:cubicBezTo>
                </a:path>
              </a:pathLst>
            </a:custGeom>
            <a:noFill/>
            <a:ln w="1905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Tree>
    <p:extLst>
      <p:ext uri="{BB962C8B-B14F-4D97-AF65-F5344CB8AC3E}">
        <p14:creationId xmlns:p14="http://schemas.microsoft.com/office/powerpoint/2010/main" val="217776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5"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2645" y="0"/>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Circular Queue</a:t>
            </a:r>
            <a:endParaRPr lang="en-US" sz="4000" b="1" kern="1200" spc="-10" dirty="0">
              <a:solidFill>
                <a:schemeClr val="tx1"/>
              </a:solidFill>
              <a:latin typeface="+mj-lt"/>
              <a:ea typeface="+mj-ea"/>
              <a:cs typeface="+mj-cs"/>
            </a:endParaRPr>
          </a:p>
        </p:txBody>
      </p:sp>
      <p:sp>
        <p:nvSpPr>
          <p:cNvPr id="11" name="Content Placeholder 2"/>
          <p:cNvSpPr txBox="1">
            <a:spLocks/>
          </p:cNvSpPr>
          <p:nvPr/>
        </p:nvSpPr>
        <p:spPr>
          <a:xfrm>
            <a:off x="1524000" y="2341848"/>
            <a:ext cx="9881156" cy="43891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4" name="Picture 3">
            <a:extLst>
              <a:ext uri="{FF2B5EF4-FFF2-40B4-BE49-F238E27FC236}">
                <a16:creationId xmlns:a16="http://schemas.microsoft.com/office/drawing/2014/main" id="{92FACD23-FE1D-4CFC-9EF7-E8EA2299E789}"/>
              </a:ext>
            </a:extLst>
          </p:cNvPr>
          <p:cNvPicPr>
            <a:picLocks noChangeAspect="1"/>
          </p:cNvPicPr>
          <p:nvPr/>
        </p:nvPicPr>
        <p:blipFill>
          <a:blip r:embed="rId2"/>
          <a:stretch>
            <a:fillRect/>
          </a:stretch>
        </p:blipFill>
        <p:spPr>
          <a:xfrm>
            <a:off x="83976" y="902764"/>
            <a:ext cx="4384379" cy="5955236"/>
          </a:xfrm>
          <a:prstGeom prst="rect">
            <a:avLst/>
          </a:prstGeom>
        </p:spPr>
      </p:pic>
      <p:pic>
        <p:nvPicPr>
          <p:cNvPr id="7" name="Picture 6">
            <a:extLst>
              <a:ext uri="{FF2B5EF4-FFF2-40B4-BE49-F238E27FC236}">
                <a16:creationId xmlns:a16="http://schemas.microsoft.com/office/drawing/2014/main" id="{DF7EE7D8-3D4F-45AD-A382-A6F411AC7246}"/>
              </a:ext>
            </a:extLst>
          </p:cNvPr>
          <p:cNvPicPr>
            <a:picLocks noChangeAspect="1"/>
          </p:cNvPicPr>
          <p:nvPr/>
        </p:nvPicPr>
        <p:blipFill>
          <a:blip r:embed="rId3"/>
          <a:stretch>
            <a:fillRect/>
          </a:stretch>
        </p:blipFill>
        <p:spPr>
          <a:xfrm>
            <a:off x="4468356" y="902764"/>
            <a:ext cx="4123258" cy="5916815"/>
          </a:xfrm>
          <a:prstGeom prst="rect">
            <a:avLst/>
          </a:prstGeom>
        </p:spPr>
      </p:pic>
      <p:pic>
        <p:nvPicPr>
          <p:cNvPr id="9" name="Picture 8">
            <a:extLst>
              <a:ext uri="{FF2B5EF4-FFF2-40B4-BE49-F238E27FC236}">
                <a16:creationId xmlns:a16="http://schemas.microsoft.com/office/drawing/2014/main" id="{49621B89-226B-4A10-A28A-012571D0DD74}"/>
              </a:ext>
            </a:extLst>
          </p:cNvPr>
          <p:cNvPicPr>
            <a:picLocks noChangeAspect="1"/>
          </p:cNvPicPr>
          <p:nvPr/>
        </p:nvPicPr>
        <p:blipFill>
          <a:blip r:embed="rId4"/>
          <a:stretch>
            <a:fillRect/>
          </a:stretch>
        </p:blipFill>
        <p:spPr>
          <a:xfrm>
            <a:off x="8591614" y="1418253"/>
            <a:ext cx="3600386" cy="2570415"/>
          </a:xfrm>
          <a:prstGeom prst="rect">
            <a:avLst/>
          </a:prstGeom>
        </p:spPr>
      </p:pic>
    </p:spTree>
    <p:extLst>
      <p:ext uri="{BB962C8B-B14F-4D97-AF65-F5344CB8AC3E}">
        <p14:creationId xmlns:p14="http://schemas.microsoft.com/office/powerpoint/2010/main" val="4109678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Activity </a:t>
            </a:r>
            <a:endParaRPr lang="en-US" sz="4000" b="1" kern="1200" spc="-10" dirty="0">
              <a:solidFill>
                <a:schemeClr val="tx1"/>
              </a:solidFill>
              <a:latin typeface="+mj-lt"/>
              <a:ea typeface="+mj-ea"/>
              <a:cs typeface="+mj-cs"/>
            </a:endParaRPr>
          </a:p>
        </p:txBody>
      </p:sp>
      <p:sp>
        <p:nvSpPr>
          <p:cNvPr id="11" name="Rectangle 3"/>
          <p:cNvSpPr txBox="1">
            <a:spLocks noChangeArrowheads="1"/>
          </p:cNvSpPr>
          <p:nvPr/>
        </p:nvSpPr>
        <p:spPr>
          <a:xfrm>
            <a:off x="1226890" y="1850969"/>
            <a:ext cx="10175790" cy="438912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dirty="0"/>
              <a:t>Consider the following queue of characters, where QUEUE is a linear array which is all allocated six memory cells: FRONT = 2, REAR = 4 </a:t>
            </a:r>
          </a:p>
          <a:p>
            <a:pPr>
              <a:defRPr/>
            </a:pPr>
            <a:r>
              <a:rPr lang="en-US" dirty="0"/>
              <a:t>QUEUE:  __ , A, C, D, __ , __</a:t>
            </a:r>
          </a:p>
          <a:p>
            <a:pPr>
              <a:defRPr/>
            </a:pPr>
            <a:r>
              <a:rPr lang="en-US" dirty="0"/>
              <a:t>Describe the queue as the following operations:</a:t>
            </a:r>
          </a:p>
          <a:p>
            <a:pPr>
              <a:defRPr/>
            </a:pPr>
            <a:r>
              <a:rPr lang="en-US" dirty="0"/>
              <a:t>F is added to the queue</a:t>
            </a:r>
          </a:p>
          <a:p>
            <a:pPr>
              <a:defRPr/>
            </a:pPr>
            <a:r>
              <a:rPr lang="en-US" dirty="0"/>
              <a:t>Two letters are deleted</a:t>
            </a:r>
          </a:p>
          <a:p>
            <a:pPr>
              <a:defRPr/>
            </a:pPr>
            <a:r>
              <a:rPr lang="en-US" dirty="0"/>
              <a:t>K, L, and M are added to the queue</a:t>
            </a:r>
          </a:p>
          <a:p>
            <a:pPr>
              <a:defRPr/>
            </a:pPr>
            <a:r>
              <a:rPr lang="en-US" dirty="0"/>
              <a:t>Two letters are deleted</a:t>
            </a:r>
          </a:p>
          <a:p>
            <a:pPr>
              <a:defRPr/>
            </a:pPr>
            <a:r>
              <a:rPr lang="en-US" dirty="0"/>
              <a:t>S is added to the queue</a:t>
            </a:r>
          </a:p>
          <a:p>
            <a:pPr>
              <a:defRPr/>
            </a:pPr>
            <a:r>
              <a:rPr lang="en-US" dirty="0"/>
              <a:t>Two letters are deleted</a:t>
            </a:r>
          </a:p>
          <a:p>
            <a:pPr>
              <a:defRPr/>
            </a:pPr>
            <a:endParaRPr lang="en-US" dirty="0"/>
          </a:p>
        </p:txBody>
      </p:sp>
    </p:spTree>
    <p:extLst>
      <p:ext uri="{BB962C8B-B14F-4D97-AF65-F5344CB8AC3E}">
        <p14:creationId xmlns:p14="http://schemas.microsoft.com/office/powerpoint/2010/main" val="3208007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Activity </a:t>
            </a:r>
            <a:endParaRPr lang="en-US" sz="4000" b="1" kern="1200" spc="-10" dirty="0">
              <a:solidFill>
                <a:schemeClr val="tx1"/>
              </a:solidFill>
              <a:latin typeface="+mj-lt"/>
              <a:ea typeface="+mj-ea"/>
              <a:cs typeface="+mj-cs"/>
            </a:endParaRPr>
          </a:p>
        </p:txBody>
      </p:sp>
      <p:sp>
        <p:nvSpPr>
          <p:cNvPr id="11" name="Rectangle 3"/>
          <p:cNvSpPr txBox="1">
            <a:spLocks noChangeArrowheads="1"/>
          </p:cNvSpPr>
          <p:nvPr/>
        </p:nvSpPr>
        <p:spPr>
          <a:xfrm>
            <a:off x="958506" y="1890907"/>
            <a:ext cx="10175790" cy="438912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dirty="0"/>
              <a:t>Maintain a circular array QUEUE with N=5 memory locations. Observe that queue always occupies consecutive locations expect when it occupies locations at the beginning and at the end of the array. Perform the following operations on initially empty queue.</a:t>
            </a:r>
          </a:p>
          <a:p>
            <a:pPr>
              <a:defRPr/>
            </a:pPr>
            <a:r>
              <a:rPr lang="en-US" dirty="0"/>
              <a:t>Front :0	Rear 0</a:t>
            </a:r>
          </a:p>
          <a:p>
            <a:pPr marL="0" indent="0">
              <a:buNone/>
              <a:defRPr/>
            </a:pPr>
            <a:endParaRPr lang="en-US" dirty="0"/>
          </a:p>
          <a:p>
            <a:pPr>
              <a:defRPr/>
            </a:pPr>
            <a:r>
              <a:rPr lang="en-US" dirty="0"/>
              <a:t>Enqueue A, B and C.</a:t>
            </a:r>
          </a:p>
          <a:p>
            <a:pPr>
              <a:defRPr/>
            </a:pPr>
            <a:r>
              <a:rPr lang="en-US" dirty="0"/>
              <a:t>Dequeue A</a:t>
            </a:r>
          </a:p>
          <a:p>
            <a:pPr>
              <a:defRPr/>
            </a:pPr>
            <a:r>
              <a:rPr lang="en-US" dirty="0"/>
              <a:t>Enqueue D and then E</a:t>
            </a:r>
          </a:p>
          <a:p>
            <a:pPr>
              <a:defRPr/>
            </a:pPr>
            <a:r>
              <a:rPr lang="en-US" dirty="0"/>
              <a:t>Delete B and C</a:t>
            </a:r>
          </a:p>
          <a:p>
            <a:pPr>
              <a:defRPr/>
            </a:pPr>
            <a:endParaRPr lang="en-US" dirty="0"/>
          </a:p>
          <a:p>
            <a:pPr>
              <a:defRPr/>
            </a:pPr>
            <a:endParaRPr lang="en-US" dirty="0"/>
          </a:p>
          <a:p>
            <a:pPr>
              <a:defRPr/>
            </a:pPr>
            <a:endParaRPr lang="en-US" dirty="0"/>
          </a:p>
        </p:txBody>
      </p:sp>
      <p:graphicFrame>
        <p:nvGraphicFramePr>
          <p:cNvPr id="3" name="Table 3">
            <a:extLst>
              <a:ext uri="{FF2B5EF4-FFF2-40B4-BE49-F238E27FC236}">
                <a16:creationId xmlns:a16="http://schemas.microsoft.com/office/drawing/2014/main" id="{ADA03E42-7080-4335-B841-9CB251364781}"/>
              </a:ext>
            </a:extLst>
          </p:cNvPr>
          <p:cNvGraphicFramePr>
            <a:graphicFrameLocks noGrp="1"/>
          </p:cNvGraphicFramePr>
          <p:nvPr>
            <p:extLst>
              <p:ext uri="{D42A27DB-BD31-4B8C-83A1-F6EECF244321}">
                <p14:modId xmlns:p14="http://schemas.microsoft.com/office/powerpoint/2010/main" val="1789013141"/>
              </p:ext>
            </p:extLst>
          </p:nvPr>
        </p:nvGraphicFramePr>
        <p:xfrm>
          <a:off x="4914944" y="3261565"/>
          <a:ext cx="4648200" cy="731520"/>
        </p:xfrm>
        <a:graphic>
          <a:graphicData uri="http://schemas.openxmlformats.org/drawingml/2006/table">
            <a:tbl>
              <a:tblPr firstRow="1" bandRow="1">
                <a:tableStyleId>{616DA210-FB5B-4158-B5E0-FEB733F419BA}</a:tableStyleId>
              </a:tblPr>
              <a:tblGrid>
                <a:gridCol w="929640">
                  <a:extLst>
                    <a:ext uri="{9D8B030D-6E8A-4147-A177-3AD203B41FA5}">
                      <a16:colId xmlns:a16="http://schemas.microsoft.com/office/drawing/2014/main" val="1071320467"/>
                    </a:ext>
                  </a:extLst>
                </a:gridCol>
                <a:gridCol w="929640">
                  <a:extLst>
                    <a:ext uri="{9D8B030D-6E8A-4147-A177-3AD203B41FA5}">
                      <a16:colId xmlns:a16="http://schemas.microsoft.com/office/drawing/2014/main" val="2591207346"/>
                    </a:ext>
                  </a:extLst>
                </a:gridCol>
                <a:gridCol w="929640">
                  <a:extLst>
                    <a:ext uri="{9D8B030D-6E8A-4147-A177-3AD203B41FA5}">
                      <a16:colId xmlns:a16="http://schemas.microsoft.com/office/drawing/2014/main" val="2372912212"/>
                    </a:ext>
                  </a:extLst>
                </a:gridCol>
                <a:gridCol w="929640">
                  <a:extLst>
                    <a:ext uri="{9D8B030D-6E8A-4147-A177-3AD203B41FA5}">
                      <a16:colId xmlns:a16="http://schemas.microsoft.com/office/drawing/2014/main" val="3238527921"/>
                    </a:ext>
                  </a:extLst>
                </a:gridCol>
                <a:gridCol w="929640">
                  <a:extLst>
                    <a:ext uri="{9D8B030D-6E8A-4147-A177-3AD203B41FA5}">
                      <a16:colId xmlns:a16="http://schemas.microsoft.com/office/drawing/2014/main" val="2558931016"/>
                    </a:ext>
                  </a:extLst>
                </a:gridCol>
              </a:tblGrid>
              <a:tr h="190500">
                <a:tc>
                  <a:txBody>
                    <a:bodyPr/>
                    <a:lstStyle/>
                    <a:p>
                      <a:pPr algn="ctr"/>
                      <a:endParaRPr lang="en-US" dirty="0"/>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2349196963"/>
                  </a:ext>
                </a:extLst>
              </a:tr>
              <a:tr h="190500">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tc>
                  <a:txBody>
                    <a:bodyPr/>
                    <a:lstStyle/>
                    <a:p>
                      <a:pPr algn="ctr"/>
                      <a:r>
                        <a:rPr lang="en-US" dirty="0"/>
                        <a:t>4</a:t>
                      </a:r>
                    </a:p>
                  </a:txBody>
                  <a:tcPr/>
                </a:tc>
                <a:tc>
                  <a:txBody>
                    <a:bodyPr/>
                    <a:lstStyle/>
                    <a:p>
                      <a:pPr algn="ctr"/>
                      <a:r>
                        <a:rPr lang="en-US" dirty="0"/>
                        <a:t>5</a:t>
                      </a:r>
                    </a:p>
                  </a:txBody>
                  <a:tcPr/>
                </a:tc>
                <a:extLst>
                  <a:ext uri="{0D108BD9-81ED-4DB2-BD59-A6C34878D82A}">
                    <a16:rowId xmlns:a16="http://schemas.microsoft.com/office/drawing/2014/main" val="4037551385"/>
                  </a:ext>
                </a:extLst>
              </a:tr>
            </a:tbl>
          </a:graphicData>
        </a:graphic>
      </p:graphicFrame>
      <p:sp>
        <p:nvSpPr>
          <p:cNvPr id="12" name="TextBox 11">
            <a:extLst>
              <a:ext uri="{FF2B5EF4-FFF2-40B4-BE49-F238E27FC236}">
                <a16:creationId xmlns:a16="http://schemas.microsoft.com/office/drawing/2014/main" id="{FE55611B-F992-4459-85F2-DA95537A53AF}"/>
              </a:ext>
            </a:extLst>
          </p:cNvPr>
          <p:cNvSpPr txBox="1"/>
          <p:nvPr/>
        </p:nvSpPr>
        <p:spPr>
          <a:xfrm>
            <a:off x="6094344" y="4085467"/>
            <a:ext cx="6097656" cy="2308324"/>
          </a:xfrm>
          <a:prstGeom prst="rect">
            <a:avLst/>
          </a:prstGeom>
          <a:noFill/>
        </p:spPr>
        <p:txBody>
          <a:bodyPr wrap="square">
            <a:spAutoFit/>
          </a:bodyPr>
          <a:lstStyle/>
          <a:p>
            <a:pPr marL="285750" indent="-285750">
              <a:buFont typeface="Arial" panose="020B0604020202020204" pitchFamily="34" charset="0"/>
              <a:buChar char="•"/>
              <a:defRPr/>
            </a:pPr>
            <a:r>
              <a:rPr lang="en-US" sz="2400" dirty="0"/>
              <a:t>Enqueue F</a:t>
            </a:r>
          </a:p>
          <a:p>
            <a:pPr marL="285750" indent="-285750">
              <a:buFont typeface="Arial" panose="020B0604020202020204" pitchFamily="34" charset="0"/>
              <a:buChar char="•"/>
              <a:defRPr/>
            </a:pPr>
            <a:r>
              <a:rPr lang="en-US" sz="2400" dirty="0"/>
              <a:t>Dequeue D</a:t>
            </a:r>
          </a:p>
          <a:p>
            <a:pPr marL="285750" indent="-285750">
              <a:buFont typeface="Arial" panose="020B0604020202020204" pitchFamily="34" charset="0"/>
              <a:buChar char="•"/>
              <a:defRPr/>
            </a:pPr>
            <a:r>
              <a:rPr lang="en-US" sz="2400" dirty="0"/>
              <a:t>Enqueue G and H</a:t>
            </a:r>
          </a:p>
          <a:p>
            <a:pPr marL="285750" indent="-285750">
              <a:buFont typeface="Arial" panose="020B0604020202020204" pitchFamily="34" charset="0"/>
              <a:buChar char="•"/>
              <a:defRPr/>
            </a:pPr>
            <a:r>
              <a:rPr lang="en-US" sz="2400" dirty="0"/>
              <a:t>Dequeue E and F</a:t>
            </a:r>
          </a:p>
          <a:p>
            <a:pPr marL="285750" indent="-285750">
              <a:buFont typeface="Arial" panose="020B0604020202020204" pitchFamily="34" charset="0"/>
              <a:buChar char="•"/>
              <a:defRPr/>
            </a:pPr>
            <a:r>
              <a:rPr lang="en-US" sz="2400" dirty="0"/>
              <a:t>Enqueue K</a:t>
            </a:r>
          </a:p>
          <a:p>
            <a:pPr marL="285750" indent="-285750">
              <a:buFont typeface="Arial" panose="020B0604020202020204" pitchFamily="34" charset="0"/>
              <a:buChar char="•"/>
              <a:defRPr/>
            </a:pPr>
            <a:r>
              <a:rPr lang="en-US" sz="2400" dirty="0"/>
              <a:t>Dequeue G and H</a:t>
            </a:r>
          </a:p>
        </p:txBody>
      </p:sp>
    </p:spTree>
    <p:extLst>
      <p:ext uri="{BB962C8B-B14F-4D97-AF65-F5344CB8AC3E}">
        <p14:creationId xmlns:p14="http://schemas.microsoft.com/office/powerpoint/2010/main" val="3777360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GB" sz="2800" dirty="0"/>
              <a:t>Maintain a circular queue with five elements. Initially list is empty. Insert three elements </a:t>
            </a:r>
            <a:r>
              <a:rPr lang="en-GB" sz="2800" dirty="0" err="1"/>
              <a:t>a,b,c</a:t>
            </a:r>
            <a:r>
              <a:rPr lang="en-GB" sz="2800" dirty="0"/>
              <a:t>. what will be your front and rear.</a:t>
            </a:r>
          </a:p>
          <a:p>
            <a:r>
              <a:rPr lang="en-GB" sz="2800" dirty="0"/>
              <a:t>Delete a, insert d and e, delete b and c, insert f, delete d, insert g and h, delete e, delete f, insert k, delete </a:t>
            </a:r>
            <a:r>
              <a:rPr lang="en-GB" sz="2800" dirty="0" err="1"/>
              <a:t>g,h</a:t>
            </a:r>
            <a:r>
              <a:rPr lang="en-GB" sz="2800" dirty="0"/>
              <a:t>, delete k.</a:t>
            </a:r>
          </a:p>
          <a:p>
            <a:r>
              <a:rPr lang="en-GB" sz="2800" dirty="0"/>
              <a:t>Tell about your front and rear at each step.</a:t>
            </a:r>
          </a:p>
          <a:p>
            <a:endParaRPr lang="en-US" dirty="0"/>
          </a:p>
        </p:txBody>
      </p:sp>
      <p:sp>
        <p:nvSpPr>
          <p:cNvPr id="2" name="Title 1"/>
          <p:cNvSpPr>
            <a:spLocks noGrp="1"/>
          </p:cNvSpPr>
          <p:nvPr>
            <p:ph type="title"/>
          </p:nvPr>
        </p:nvSpPr>
        <p:spPr/>
        <p:txBody>
          <a:bodyPr/>
          <a:lstStyle/>
          <a:p>
            <a:r>
              <a:rPr lang="en-GB" dirty="0"/>
              <a:t>Example</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GB" sz="3600" dirty="0"/>
              <a:t>If ((rear+1)=front) then print overflow</a:t>
            </a:r>
          </a:p>
          <a:p>
            <a:pPr>
              <a:buNone/>
            </a:pPr>
            <a:endParaRPr lang="en-GB" sz="3600" dirty="0"/>
          </a:p>
          <a:p>
            <a:r>
              <a:rPr lang="en-GB" sz="3600" dirty="0"/>
              <a:t>If (front=-1 and rear=-1) then print underflow</a:t>
            </a:r>
            <a:endParaRPr lang="en-US" sz="3600" dirty="0"/>
          </a:p>
        </p:txBody>
      </p:sp>
      <p:sp>
        <p:nvSpPr>
          <p:cNvPr id="2" name="Title 1"/>
          <p:cNvSpPr>
            <a:spLocks noGrp="1"/>
          </p:cNvSpPr>
          <p:nvPr>
            <p:ph type="title"/>
          </p:nvPr>
        </p:nvSpPr>
        <p:spPr/>
        <p:txBody>
          <a:bodyPr>
            <a:normAutofit/>
          </a:bodyPr>
          <a:lstStyle/>
          <a:p>
            <a:r>
              <a:rPr lang="en-GB" dirty="0"/>
              <a:t>Overflow and underflow condition in circular queues</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18115" y="1814495"/>
            <a:ext cx="8229600" cy="4525963"/>
          </a:xfrm>
        </p:spPr>
        <p:txBody>
          <a:bodyPr>
            <a:normAutofit lnSpcReduction="10000"/>
          </a:bodyPr>
          <a:lstStyle/>
          <a:p>
            <a:r>
              <a:rPr lang="en-GB" sz="2800" b="1" dirty="0"/>
              <a:t>Insertion:</a:t>
            </a:r>
            <a:endParaRPr lang="en-US" sz="2800" b="1" dirty="0"/>
          </a:p>
          <a:p>
            <a:pPr marL="201168" lvl="1" indent="0">
              <a:buNone/>
            </a:pPr>
            <a:r>
              <a:rPr lang="en-GB" sz="3200" dirty="0"/>
              <a:t>If( ( (rear+1) % N) == front )</a:t>
            </a:r>
          </a:p>
          <a:p>
            <a:pPr marL="201168" lvl="1" indent="0">
              <a:buNone/>
            </a:pPr>
            <a:r>
              <a:rPr lang="en-GB" sz="3200" dirty="0"/>
              <a:t>	Overflow </a:t>
            </a:r>
          </a:p>
          <a:p>
            <a:pPr marL="201168" lvl="1" indent="0">
              <a:buNone/>
            </a:pPr>
            <a:r>
              <a:rPr lang="en-GB" sz="3200" dirty="0"/>
              <a:t>elseif (front=-1 &amp;&amp; rear=-1</a:t>
            </a:r>
          </a:p>
          <a:p>
            <a:pPr marL="384048" lvl="2" indent="0">
              <a:buNone/>
            </a:pPr>
            <a:r>
              <a:rPr lang="en-GB" sz="2400" dirty="0"/>
              <a:t> </a:t>
            </a:r>
            <a:r>
              <a:rPr lang="en-GB" sz="3200" dirty="0"/>
              <a:t>front=0; rear=0;</a:t>
            </a:r>
          </a:p>
          <a:p>
            <a:pPr marL="384048" lvl="2" indent="0">
              <a:buNone/>
            </a:pPr>
            <a:r>
              <a:rPr lang="en-GB" sz="3200" dirty="0"/>
              <a:t>Queue[rear] = data;</a:t>
            </a:r>
          </a:p>
          <a:p>
            <a:pPr marL="201168" lvl="1" indent="0">
              <a:buNone/>
            </a:pPr>
            <a:r>
              <a:rPr lang="en-GB" sz="3200" dirty="0"/>
              <a:t>Else </a:t>
            </a:r>
          </a:p>
          <a:p>
            <a:pPr marL="201168" lvl="1" indent="0">
              <a:buNone/>
            </a:pPr>
            <a:r>
              <a:rPr lang="en-GB" sz="3200" dirty="0"/>
              <a:t>     rear=(rear+1)%N</a:t>
            </a:r>
          </a:p>
          <a:p>
            <a:pPr marL="201168" lvl="1" indent="0">
              <a:buNone/>
            </a:pPr>
            <a:r>
              <a:rPr lang="en-GB" sz="3200" dirty="0"/>
              <a:t>     queue[rear]=item;</a:t>
            </a:r>
          </a:p>
          <a:p>
            <a:pPr marL="201168" lvl="1" indent="0">
              <a:buNone/>
            </a:pPr>
            <a:endParaRPr lang="en-GB" dirty="0"/>
          </a:p>
          <a:p>
            <a:pPr lvl="1"/>
            <a:endParaRPr lang="en-GB" dirty="0"/>
          </a:p>
        </p:txBody>
      </p:sp>
      <p:sp>
        <p:nvSpPr>
          <p:cNvPr id="2" name="Title 1"/>
          <p:cNvSpPr>
            <a:spLocks noGrp="1"/>
          </p:cNvSpPr>
          <p:nvPr>
            <p:ph type="title"/>
          </p:nvPr>
        </p:nvSpPr>
        <p:spPr>
          <a:xfrm>
            <a:off x="1318115" y="517542"/>
            <a:ext cx="9878620" cy="1143000"/>
          </a:xfrm>
        </p:spPr>
        <p:txBody>
          <a:bodyPr>
            <a:normAutofit/>
          </a:bodyPr>
          <a:lstStyle/>
          <a:p>
            <a:r>
              <a:rPr lang="en-GB" dirty="0"/>
              <a:t>Circular Queues algorithms using array</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18114" y="1814495"/>
            <a:ext cx="9878619" cy="4525963"/>
          </a:xfrm>
        </p:spPr>
        <p:txBody>
          <a:bodyPr>
            <a:normAutofit/>
          </a:bodyPr>
          <a:lstStyle/>
          <a:p>
            <a:pPr marL="201168" lvl="1" indent="0">
              <a:buNone/>
            </a:pPr>
            <a:endParaRPr lang="en-GB" dirty="0"/>
          </a:p>
          <a:p>
            <a:r>
              <a:rPr lang="en-GB" sz="2800" b="1" dirty="0"/>
              <a:t>Deletion:</a:t>
            </a:r>
            <a:endParaRPr lang="en-US" sz="2800" b="1" dirty="0"/>
          </a:p>
          <a:p>
            <a:r>
              <a:rPr lang="en-GB" sz="3200" dirty="0"/>
              <a:t>if (front=-1 and rear=-1) then print underflow</a:t>
            </a:r>
            <a:endParaRPr lang="en-US" sz="3200" dirty="0"/>
          </a:p>
          <a:p>
            <a:pPr marL="91440" lvl="1" indent="-91440">
              <a:spcBef>
                <a:spcPts val="1200"/>
              </a:spcBef>
              <a:spcAft>
                <a:spcPts val="200"/>
              </a:spcAft>
              <a:buSzPct val="100000"/>
              <a:buFont typeface="Calibri" panose="020F0502020204030204" pitchFamily="34" charset="0"/>
              <a:buChar char=" "/>
            </a:pPr>
            <a:r>
              <a:rPr lang="en-GB" sz="3200" dirty="0"/>
              <a:t>else if (front==rear) then            //having only one element</a:t>
            </a:r>
          </a:p>
          <a:p>
            <a:pPr marL="91440" lvl="1" indent="-91440">
              <a:spcBef>
                <a:spcPts val="1200"/>
              </a:spcBef>
              <a:spcAft>
                <a:spcPts val="200"/>
              </a:spcAft>
              <a:buSzPct val="100000"/>
              <a:buFont typeface="Calibri" panose="020F0502020204030204" pitchFamily="34" charset="0"/>
              <a:buChar char=" "/>
            </a:pPr>
            <a:r>
              <a:rPr lang="en-GB" sz="3200" dirty="0"/>
              <a:t>    front=-1; rear=-1;</a:t>
            </a:r>
          </a:p>
          <a:p>
            <a:pPr marL="91440" lvl="1" indent="-91440">
              <a:spcBef>
                <a:spcPts val="1200"/>
              </a:spcBef>
              <a:spcAft>
                <a:spcPts val="200"/>
              </a:spcAft>
              <a:buSzPct val="100000"/>
              <a:buFont typeface="Calibri" panose="020F0502020204030204" pitchFamily="34" charset="0"/>
              <a:buChar char=" "/>
            </a:pPr>
            <a:r>
              <a:rPr lang="en-GB" sz="3200" dirty="0"/>
              <a:t>else </a:t>
            </a:r>
          </a:p>
          <a:p>
            <a:pPr marL="91440" lvl="1" indent="-91440">
              <a:spcBef>
                <a:spcPts val="1200"/>
              </a:spcBef>
              <a:spcAft>
                <a:spcPts val="200"/>
              </a:spcAft>
              <a:buSzPct val="100000"/>
              <a:buFont typeface="Calibri" panose="020F0502020204030204" pitchFamily="34" charset="0"/>
              <a:buChar char=" "/>
            </a:pPr>
            <a:r>
              <a:rPr lang="en-GB" sz="3200" dirty="0"/>
              <a:t>front=(front+1)%N;</a:t>
            </a:r>
          </a:p>
          <a:p>
            <a:pPr lvl="1"/>
            <a:endParaRPr lang="en-GB" dirty="0"/>
          </a:p>
        </p:txBody>
      </p:sp>
      <p:sp>
        <p:nvSpPr>
          <p:cNvPr id="2" name="Title 1"/>
          <p:cNvSpPr>
            <a:spLocks noGrp="1"/>
          </p:cNvSpPr>
          <p:nvPr>
            <p:ph type="title"/>
          </p:nvPr>
        </p:nvSpPr>
        <p:spPr>
          <a:xfrm>
            <a:off x="1318115" y="517542"/>
            <a:ext cx="9878620" cy="1143000"/>
          </a:xfrm>
        </p:spPr>
        <p:txBody>
          <a:bodyPr>
            <a:normAutofit/>
          </a:bodyPr>
          <a:lstStyle/>
          <a:p>
            <a:r>
              <a:rPr lang="en-GB" dirty="0"/>
              <a:t>Circular Queues algorithms using array</a:t>
            </a:r>
            <a:endParaRPr lang="en-US" dirty="0"/>
          </a:p>
        </p:txBody>
      </p:sp>
    </p:spTree>
    <p:extLst>
      <p:ext uri="{BB962C8B-B14F-4D97-AF65-F5344CB8AC3E}">
        <p14:creationId xmlns:p14="http://schemas.microsoft.com/office/powerpoint/2010/main" val="1901707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GB" sz="3200" dirty="0"/>
              <a:t>Memory management</a:t>
            </a:r>
          </a:p>
          <a:p>
            <a:r>
              <a:rPr lang="en-GB" sz="3200" dirty="0"/>
              <a:t>Process scheduling</a:t>
            </a:r>
          </a:p>
          <a:p>
            <a:endParaRPr lang="en-US" dirty="0"/>
          </a:p>
        </p:txBody>
      </p:sp>
      <p:sp>
        <p:nvSpPr>
          <p:cNvPr id="3" name="Title 2"/>
          <p:cNvSpPr>
            <a:spLocks noGrp="1"/>
          </p:cNvSpPr>
          <p:nvPr>
            <p:ph type="title"/>
          </p:nvPr>
        </p:nvSpPr>
        <p:spPr/>
        <p:txBody>
          <a:bodyPr/>
          <a:lstStyle/>
          <a:p>
            <a:r>
              <a:rPr lang="en-GB" dirty="0"/>
              <a:t>Applications of circular queues</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7280" y="1845733"/>
            <a:ext cx="10058400" cy="4534045"/>
          </a:xfrm>
        </p:spPr>
        <p:txBody>
          <a:bodyPr>
            <a:normAutofit lnSpcReduction="10000"/>
          </a:bodyPr>
          <a:lstStyle/>
          <a:p>
            <a:r>
              <a:rPr lang="en-US" sz="2800" dirty="0"/>
              <a:t>Double-ended queue is a more generalized form of queue data structure which allows insertion and removal of elements from both the ends, </a:t>
            </a:r>
            <a:r>
              <a:rPr lang="en-US" sz="2800" dirty="0" err="1"/>
              <a:t>i.e</a:t>
            </a:r>
            <a:r>
              <a:rPr lang="en-US" sz="2800" dirty="0"/>
              <a:t> , front and rear.</a:t>
            </a:r>
          </a:p>
          <a:p>
            <a:endParaRPr lang="en-US" sz="2800" dirty="0"/>
          </a:p>
          <a:p>
            <a:r>
              <a:rPr lang="en-US" sz="2800" dirty="0"/>
              <a:t>It is implemented using circular queues.</a:t>
            </a:r>
          </a:p>
          <a:p>
            <a:endParaRPr lang="en-US" sz="2800" dirty="0"/>
          </a:p>
          <a:p>
            <a:r>
              <a:rPr lang="en-US" sz="2800" b="1" dirty="0">
                <a:solidFill>
                  <a:srgbClr val="FF0000"/>
                </a:solidFill>
              </a:rPr>
              <a:t>Two types: </a:t>
            </a:r>
          </a:p>
          <a:p>
            <a:pPr>
              <a:buFont typeface="Wingdings" panose="05000000000000000000" pitchFamily="2" charset="2"/>
              <a:buChar char="§"/>
            </a:pPr>
            <a:r>
              <a:rPr lang="en-US" sz="2800" b="1" dirty="0">
                <a:solidFill>
                  <a:srgbClr val="FF0000"/>
                </a:solidFill>
              </a:rPr>
              <a:t>input-restricted deque</a:t>
            </a:r>
          </a:p>
          <a:p>
            <a:pPr>
              <a:buFont typeface="Wingdings" panose="05000000000000000000" pitchFamily="2" charset="2"/>
              <a:buChar char="§"/>
            </a:pPr>
            <a:r>
              <a:rPr lang="en-US" sz="2800" b="1" dirty="0">
                <a:solidFill>
                  <a:srgbClr val="FF0000"/>
                </a:solidFill>
              </a:rPr>
              <a:t>output-restricted deque</a:t>
            </a:r>
            <a:endParaRPr lang="en-US" b="1" dirty="0">
              <a:solidFill>
                <a:srgbClr val="FF0000"/>
              </a:solidFill>
            </a:endParaRPr>
          </a:p>
        </p:txBody>
      </p:sp>
      <p:sp>
        <p:nvSpPr>
          <p:cNvPr id="2" name="Title 1"/>
          <p:cNvSpPr>
            <a:spLocks noGrp="1"/>
          </p:cNvSpPr>
          <p:nvPr>
            <p:ph type="title"/>
          </p:nvPr>
        </p:nvSpPr>
        <p:spPr/>
        <p:txBody>
          <a:bodyPr/>
          <a:lstStyle/>
          <a:p>
            <a:r>
              <a:rPr lang="en-US" dirty="0"/>
              <a:t>Double-ended queues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998376" y="1845348"/>
            <a:ext cx="10268714" cy="4277389"/>
          </a:xfrm>
          <a:prstGeom prst="rect">
            <a:avLst/>
          </a:prstGeom>
          <a:noFill/>
          <a:ln w="9525">
            <a:noFill/>
            <a:miter lim="800000"/>
            <a:headEnd/>
            <a:tailEnd/>
          </a:ln>
          <a:effectLst/>
        </p:spPr>
      </p:pic>
      <p:sp>
        <p:nvSpPr>
          <p:cNvPr id="2" name="Title 1"/>
          <p:cNvSpPr>
            <a:spLocks noGrp="1"/>
          </p:cNvSpPr>
          <p:nvPr>
            <p:ph type="title"/>
          </p:nvPr>
        </p:nvSpPr>
        <p:spPr>
          <a:xfrm>
            <a:off x="998376" y="285728"/>
            <a:ext cx="8969506" cy="1143000"/>
          </a:xfrm>
        </p:spPr>
        <p:txBody>
          <a:bodyPr>
            <a:normAutofit/>
          </a:bodyPr>
          <a:lstStyle/>
          <a:p>
            <a:r>
              <a:rPr lang="en-US" dirty="0"/>
              <a:t>	Pictorial representation of deque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0621" y="653143"/>
            <a:ext cx="10951779" cy="5473021"/>
          </a:xfrm>
        </p:spPr>
        <p:txBody>
          <a:bodyPr>
            <a:normAutofit/>
          </a:bodyPr>
          <a:lstStyle/>
          <a:p>
            <a:pPr algn="just"/>
            <a:endParaRPr lang="en-US" dirty="0"/>
          </a:p>
          <a:p>
            <a:pPr algn="just"/>
            <a:endParaRPr lang="en-US" dirty="0"/>
          </a:p>
          <a:p>
            <a:pPr algn="just"/>
            <a:r>
              <a:rPr lang="en-US" sz="2800" dirty="0"/>
              <a:t>An </a:t>
            </a:r>
            <a:r>
              <a:rPr lang="en-US" sz="2800" b="1" dirty="0"/>
              <a:t>input-restricted deque </a:t>
            </a:r>
            <a:r>
              <a:rPr lang="en-US" sz="2800" dirty="0"/>
              <a:t>is one where deletion can be made from both ends, but insertion can be made at one end only.</a:t>
            </a:r>
          </a:p>
          <a:p>
            <a:pPr algn="just"/>
            <a:endParaRPr lang="en-US" dirty="0"/>
          </a:p>
          <a:p>
            <a:pPr algn="just"/>
            <a:endParaRPr lang="en-US" dirty="0"/>
          </a:p>
          <a:p>
            <a:pPr algn="just"/>
            <a:endParaRPr lang="en-US" dirty="0"/>
          </a:p>
          <a:p>
            <a:pPr algn="just"/>
            <a:endParaRPr lang="en-US" dirty="0"/>
          </a:p>
          <a:p>
            <a:pPr algn="just"/>
            <a:r>
              <a:rPr lang="en-US" sz="2800" dirty="0"/>
              <a:t>An </a:t>
            </a:r>
            <a:r>
              <a:rPr lang="en-US" sz="2800" b="1" dirty="0"/>
              <a:t>output-restricted deque </a:t>
            </a:r>
            <a:r>
              <a:rPr lang="en-US" sz="2800" dirty="0"/>
              <a:t>is one where insertion can be made at both ends, but deletion can be made from one end only. </a:t>
            </a:r>
          </a:p>
          <a:p>
            <a:pPr algn="just"/>
            <a:endParaRPr lang="en-US" dirty="0"/>
          </a:p>
          <a:p>
            <a:pPr algn="just"/>
            <a:endParaRPr lang="en-US" dirty="0"/>
          </a:p>
          <a:p>
            <a:pPr algn="just"/>
            <a:endParaRPr lang="en-US" dirty="0"/>
          </a:p>
          <a:p>
            <a:pPr algn="just"/>
            <a:endParaRPr lang="en-US" dirty="0"/>
          </a:p>
          <a:p>
            <a:pPr algn="just"/>
            <a:endParaRPr lang="en-US" dirty="0"/>
          </a:p>
        </p:txBody>
      </p:sp>
      <p:pic>
        <p:nvPicPr>
          <p:cNvPr id="5" name="Picture 4">
            <a:extLst>
              <a:ext uri="{FF2B5EF4-FFF2-40B4-BE49-F238E27FC236}">
                <a16:creationId xmlns:a16="http://schemas.microsoft.com/office/drawing/2014/main" id="{869B13AA-61AE-4634-3EFD-A17E65FD0AF0}"/>
              </a:ext>
            </a:extLst>
          </p:cNvPr>
          <p:cNvPicPr>
            <a:picLocks noChangeAspect="1"/>
          </p:cNvPicPr>
          <p:nvPr/>
        </p:nvPicPr>
        <p:blipFill rotWithShape="1">
          <a:blip r:embed="rId2"/>
          <a:srcRect b="20568"/>
          <a:stretch/>
        </p:blipFill>
        <p:spPr>
          <a:xfrm>
            <a:off x="2658861" y="2453109"/>
            <a:ext cx="6440953" cy="1719497"/>
          </a:xfrm>
          <a:prstGeom prst="rect">
            <a:avLst/>
          </a:prstGeom>
        </p:spPr>
      </p:pic>
      <p:pic>
        <p:nvPicPr>
          <p:cNvPr id="7" name="Picture 6">
            <a:extLst>
              <a:ext uri="{FF2B5EF4-FFF2-40B4-BE49-F238E27FC236}">
                <a16:creationId xmlns:a16="http://schemas.microsoft.com/office/drawing/2014/main" id="{7D783C83-EE44-0942-BA1D-9FE487B2CFE2}"/>
              </a:ext>
            </a:extLst>
          </p:cNvPr>
          <p:cNvPicPr>
            <a:picLocks noChangeAspect="1"/>
          </p:cNvPicPr>
          <p:nvPr/>
        </p:nvPicPr>
        <p:blipFill>
          <a:blip r:embed="rId3"/>
          <a:stretch>
            <a:fillRect/>
          </a:stretch>
        </p:blipFill>
        <p:spPr>
          <a:xfrm>
            <a:off x="2922024" y="5335494"/>
            <a:ext cx="5918127" cy="1522506"/>
          </a:xfrm>
          <a:prstGeom prst="rect">
            <a:avLst/>
          </a:prstGeom>
        </p:spPr>
      </p:pic>
      <p:sp>
        <p:nvSpPr>
          <p:cNvPr id="2" name="Title 1">
            <a:extLst>
              <a:ext uri="{FF2B5EF4-FFF2-40B4-BE49-F238E27FC236}">
                <a16:creationId xmlns:a16="http://schemas.microsoft.com/office/drawing/2014/main" id="{8DF1E64A-6CA3-03C7-C5D3-E3F673FF9E69}"/>
              </a:ext>
            </a:extLst>
          </p:cNvPr>
          <p:cNvSpPr>
            <a:spLocks noGrp="1"/>
          </p:cNvSpPr>
          <p:nvPr>
            <p:ph type="title"/>
          </p:nvPr>
        </p:nvSpPr>
        <p:spPr>
          <a:xfrm>
            <a:off x="1097280" y="286604"/>
            <a:ext cx="10058400" cy="1037700"/>
          </a:xfrm>
        </p:spPr>
        <p:txBody>
          <a:bodyPr/>
          <a:lstStyle/>
          <a:p>
            <a:r>
              <a:rPr lang="en-US" dirty="0"/>
              <a:t>Types of Double-ended queues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sz="3200" dirty="0"/>
              <a:t>They can be used in job scheduling algorithm. </a:t>
            </a:r>
          </a:p>
          <a:p>
            <a:pPr algn="just"/>
            <a:r>
              <a:rPr lang="en-US" sz="3200" dirty="0"/>
              <a:t>This algorithm implements task scheduling for several processors. A separate </a:t>
            </a:r>
            <a:r>
              <a:rPr lang="en-US" sz="3200" dirty="0" err="1"/>
              <a:t>deque</a:t>
            </a:r>
            <a:r>
              <a:rPr lang="en-US" sz="3200" dirty="0"/>
              <a:t> with threads to be executed is maintained for each processor. To execute the next thread, the processor gets the first element from the </a:t>
            </a:r>
            <a:r>
              <a:rPr lang="en-US" sz="3200" dirty="0" err="1"/>
              <a:t>deque</a:t>
            </a:r>
            <a:r>
              <a:rPr lang="en-US" sz="3200" dirty="0"/>
              <a:t> .</a:t>
            </a:r>
          </a:p>
          <a:p>
            <a:pPr algn="just"/>
            <a:endParaRPr lang="en-US" sz="3200" dirty="0"/>
          </a:p>
          <a:p>
            <a:pPr algn="just"/>
            <a:r>
              <a:rPr lang="en-US" sz="3200" dirty="0"/>
              <a:t>Undo-redo operations in software applications.</a:t>
            </a:r>
          </a:p>
          <a:p>
            <a:endParaRPr lang="en-US" dirty="0"/>
          </a:p>
        </p:txBody>
      </p:sp>
      <p:sp>
        <p:nvSpPr>
          <p:cNvPr id="3" name="Title 2"/>
          <p:cNvSpPr>
            <a:spLocks noGrp="1"/>
          </p:cNvSpPr>
          <p:nvPr>
            <p:ph type="title"/>
          </p:nvPr>
        </p:nvSpPr>
        <p:spPr/>
        <p:txBody>
          <a:bodyPr>
            <a:normAutofit/>
          </a:bodyPr>
          <a:lstStyle/>
          <a:p>
            <a:r>
              <a:rPr lang="en-GB" dirty="0"/>
              <a:t>Applications of double-ended queues</a:t>
            </a:r>
            <a:endParaRPr lang="en-US"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77463" y="1931437"/>
            <a:ext cx="10205544" cy="3594635"/>
          </a:xfrm>
        </p:spPr>
        <p:txBody>
          <a:bodyPr>
            <a:normAutofit lnSpcReduction="10000"/>
          </a:bodyPr>
          <a:lstStyle/>
          <a:p>
            <a:pPr fontAlgn="base"/>
            <a:r>
              <a:rPr lang="en-US" sz="3200" dirty="0"/>
              <a:t>Priority Queue is an extension of queue with following properties:</a:t>
            </a:r>
          </a:p>
          <a:p>
            <a:pPr lvl="1" fontAlgn="base"/>
            <a:r>
              <a:rPr lang="en-US" sz="2800" dirty="0"/>
              <a:t>Every item has a priority associated with it.</a:t>
            </a:r>
          </a:p>
          <a:p>
            <a:pPr lvl="1" fontAlgn="base"/>
            <a:r>
              <a:rPr lang="en-US" sz="2800" dirty="0"/>
              <a:t>Each element is inserted or deleted on the basis of their priority.</a:t>
            </a:r>
          </a:p>
          <a:p>
            <a:pPr lvl="1" fontAlgn="base"/>
            <a:r>
              <a:rPr lang="en-US" sz="2800" dirty="0"/>
              <a:t>If two elements have the same priority, they are served according to their order in the queue “first come first serve (FCFS)”.</a:t>
            </a:r>
          </a:p>
          <a:p>
            <a:pPr lvl="1" fontAlgn="base"/>
            <a:r>
              <a:rPr lang="en-US" sz="2800" dirty="0"/>
              <a:t>Priority queues are different from queues in the sense that they </a:t>
            </a:r>
            <a:r>
              <a:rPr lang="en-US" sz="2800" b="1" i="1" dirty="0"/>
              <a:t>do not act on the FIFO</a:t>
            </a:r>
            <a:r>
              <a:rPr lang="en-US" sz="2800" dirty="0"/>
              <a:t> principle.</a:t>
            </a:r>
          </a:p>
          <a:p>
            <a:pPr lvl="1" fontAlgn="base"/>
            <a:endParaRPr lang="en-US" dirty="0"/>
          </a:p>
          <a:p>
            <a:endParaRPr lang="en-US" dirty="0"/>
          </a:p>
        </p:txBody>
      </p:sp>
      <p:sp>
        <p:nvSpPr>
          <p:cNvPr id="2" name="Title 1"/>
          <p:cNvSpPr>
            <a:spLocks noGrp="1"/>
          </p:cNvSpPr>
          <p:nvPr>
            <p:ph type="title"/>
          </p:nvPr>
        </p:nvSpPr>
        <p:spPr>
          <a:xfrm>
            <a:off x="1538842" y="475862"/>
            <a:ext cx="8229600" cy="1143000"/>
          </a:xfrm>
        </p:spPr>
        <p:txBody>
          <a:bodyPr/>
          <a:lstStyle/>
          <a:p>
            <a:r>
              <a:rPr lang="en-US" dirty="0"/>
              <a:t>Priority queue</a:t>
            </a:r>
          </a:p>
        </p:txBody>
      </p:sp>
      <p:graphicFrame>
        <p:nvGraphicFramePr>
          <p:cNvPr id="5" name="Table 4"/>
          <p:cNvGraphicFramePr>
            <a:graphicFrameLocks noGrp="1"/>
          </p:cNvGraphicFramePr>
          <p:nvPr>
            <p:extLst>
              <p:ext uri="{D42A27DB-BD31-4B8C-83A1-F6EECF244321}">
                <p14:modId xmlns:p14="http://schemas.microsoft.com/office/powerpoint/2010/main" val="2368464305"/>
              </p:ext>
            </p:extLst>
          </p:nvPr>
        </p:nvGraphicFramePr>
        <p:xfrm>
          <a:off x="3381195" y="5252802"/>
          <a:ext cx="5815356" cy="780135"/>
        </p:xfrm>
        <a:graphic>
          <a:graphicData uri="http://schemas.openxmlformats.org/drawingml/2006/table">
            <a:tbl>
              <a:tblPr firstRow="1" bandRow="1">
                <a:tableStyleId>{5C22544A-7EE6-4342-B048-85BDC9FD1C3A}</a:tableStyleId>
              </a:tblPr>
              <a:tblGrid>
                <a:gridCol w="1938452">
                  <a:extLst>
                    <a:ext uri="{9D8B030D-6E8A-4147-A177-3AD203B41FA5}">
                      <a16:colId xmlns:a16="http://schemas.microsoft.com/office/drawing/2014/main" val="20000"/>
                    </a:ext>
                  </a:extLst>
                </a:gridCol>
                <a:gridCol w="1938452">
                  <a:extLst>
                    <a:ext uri="{9D8B030D-6E8A-4147-A177-3AD203B41FA5}">
                      <a16:colId xmlns:a16="http://schemas.microsoft.com/office/drawing/2014/main" val="20001"/>
                    </a:ext>
                  </a:extLst>
                </a:gridCol>
                <a:gridCol w="1938452">
                  <a:extLst>
                    <a:ext uri="{9D8B030D-6E8A-4147-A177-3AD203B41FA5}">
                      <a16:colId xmlns:a16="http://schemas.microsoft.com/office/drawing/2014/main" val="20002"/>
                    </a:ext>
                  </a:extLst>
                </a:gridCol>
              </a:tblGrid>
              <a:tr h="780135">
                <a:tc>
                  <a:txBody>
                    <a:bodyPr/>
                    <a:lstStyle/>
                    <a:p>
                      <a:pPr algn="ctr"/>
                      <a:r>
                        <a:rPr lang="en-US" sz="2800" dirty="0"/>
                        <a:t>Data</a:t>
                      </a:r>
                    </a:p>
                  </a:txBody>
                  <a:tcPr/>
                </a:tc>
                <a:tc>
                  <a:txBody>
                    <a:bodyPr/>
                    <a:lstStyle/>
                    <a:p>
                      <a:pPr algn="ctr"/>
                      <a:r>
                        <a:rPr lang="en-US" sz="2800" dirty="0"/>
                        <a:t>Priority no.</a:t>
                      </a:r>
                    </a:p>
                  </a:txBody>
                  <a:tcPr/>
                </a:tc>
                <a:tc>
                  <a:txBody>
                    <a:bodyPr/>
                    <a:lstStyle/>
                    <a:p>
                      <a:pPr algn="ctr"/>
                      <a:r>
                        <a:rPr lang="en-US" sz="2800" dirty="0"/>
                        <a:t>Link</a:t>
                      </a:r>
                    </a:p>
                  </a:txBody>
                  <a:tcPr/>
                </a:tc>
                <a:extLst>
                  <a:ext uri="{0D108BD9-81ED-4DB2-BD59-A6C34878D82A}">
                    <a16:rowId xmlns:a16="http://schemas.microsoft.com/office/drawing/2014/main" val="10000"/>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4000" dirty="0"/>
              <a:t>Two types of priority queues:</a:t>
            </a:r>
          </a:p>
          <a:p>
            <a:pPr lvl="1"/>
            <a:r>
              <a:rPr lang="en-US" sz="3600" dirty="0"/>
              <a:t>Ascending order priority queue (lower priority no. to higher priority no.)</a:t>
            </a:r>
          </a:p>
          <a:p>
            <a:pPr lvl="1"/>
            <a:r>
              <a:rPr lang="en-US" sz="3600" dirty="0"/>
              <a:t>Descending order priority queue (higher priority no. to lower priority no.)</a:t>
            </a:r>
            <a:endParaRPr lang="en-US" sz="2000" dirty="0"/>
          </a:p>
        </p:txBody>
      </p:sp>
      <p:sp>
        <p:nvSpPr>
          <p:cNvPr id="2" name="Title 1"/>
          <p:cNvSpPr>
            <a:spLocks noGrp="1"/>
          </p:cNvSpPr>
          <p:nvPr>
            <p:ph type="title"/>
          </p:nvPr>
        </p:nvSpPr>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3600" dirty="0"/>
              <a:t>One of the real world example would be Priority Scheduling algorithm where each job is assigned a priority and the job with the highest priority gets scheduled first.</a:t>
            </a:r>
          </a:p>
        </p:txBody>
      </p:sp>
      <p:sp>
        <p:nvSpPr>
          <p:cNvPr id="2" name="Title 1"/>
          <p:cNvSpPr>
            <a:spLocks noGrp="1"/>
          </p:cNvSpPr>
          <p:nvPr>
            <p:ph type="title"/>
          </p:nvPr>
        </p:nvSpPr>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B9817-042C-A73C-8572-C7942F10004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0F0FCDD-5424-55AD-F130-E42B48DFC3CB}"/>
              </a:ext>
            </a:extLst>
          </p:cNvPr>
          <p:cNvPicPr>
            <a:picLocks noGrp="1" noChangeAspect="1"/>
          </p:cNvPicPr>
          <p:nvPr>
            <p:ph idx="1"/>
          </p:nvPr>
        </p:nvPicPr>
        <p:blipFill>
          <a:blip r:embed="rId2"/>
          <a:stretch>
            <a:fillRect/>
          </a:stretch>
        </p:blipFill>
        <p:spPr>
          <a:xfrm>
            <a:off x="3579394" y="448070"/>
            <a:ext cx="4869602" cy="3086367"/>
          </a:xfrm>
        </p:spPr>
      </p:pic>
      <p:pic>
        <p:nvPicPr>
          <p:cNvPr id="7" name="Picture 6">
            <a:extLst>
              <a:ext uri="{FF2B5EF4-FFF2-40B4-BE49-F238E27FC236}">
                <a16:creationId xmlns:a16="http://schemas.microsoft.com/office/drawing/2014/main" id="{4FFAEE5B-1903-5D4A-075C-47CFDBA2E0C2}"/>
              </a:ext>
            </a:extLst>
          </p:cNvPr>
          <p:cNvPicPr>
            <a:picLocks noChangeAspect="1"/>
          </p:cNvPicPr>
          <p:nvPr/>
        </p:nvPicPr>
        <p:blipFill>
          <a:blip r:embed="rId3"/>
          <a:stretch>
            <a:fillRect/>
          </a:stretch>
        </p:blipFill>
        <p:spPr>
          <a:xfrm>
            <a:off x="1772702" y="4218535"/>
            <a:ext cx="8646596" cy="1804211"/>
          </a:xfrm>
          <a:prstGeom prst="rect">
            <a:avLst/>
          </a:prstGeom>
        </p:spPr>
      </p:pic>
      <p:sp>
        <p:nvSpPr>
          <p:cNvPr id="8" name="Rectangle 7">
            <a:extLst>
              <a:ext uri="{FF2B5EF4-FFF2-40B4-BE49-F238E27FC236}">
                <a16:creationId xmlns:a16="http://schemas.microsoft.com/office/drawing/2014/main" id="{CD6199B9-32A1-D77C-BFCA-D49A8769066C}"/>
              </a:ext>
            </a:extLst>
          </p:cNvPr>
          <p:cNvSpPr/>
          <p:nvPr/>
        </p:nvSpPr>
        <p:spPr>
          <a:xfrm>
            <a:off x="5980922" y="2780522"/>
            <a:ext cx="261258" cy="242596"/>
          </a:xfrm>
          <a:prstGeom prst="rect">
            <a:avLst/>
          </a:prstGeom>
          <a:solidFill>
            <a:srgbClr val="254663"/>
          </a:solidFill>
          <a:ln>
            <a:solidFill>
              <a:srgbClr val="2546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9" name="Rectangle 8">
            <a:extLst>
              <a:ext uri="{FF2B5EF4-FFF2-40B4-BE49-F238E27FC236}">
                <a16:creationId xmlns:a16="http://schemas.microsoft.com/office/drawing/2014/main" id="{1F695E6E-D253-01A3-E31E-7B15B1779E30}"/>
              </a:ext>
            </a:extLst>
          </p:cNvPr>
          <p:cNvSpPr/>
          <p:nvPr/>
        </p:nvSpPr>
        <p:spPr>
          <a:xfrm>
            <a:off x="9233170" y="4503575"/>
            <a:ext cx="261258" cy="242596"/>
          </a:xfrm>
          <a:prstGeom prst="rect">
            <a:avLst/>
          </a:prstGeom>
          <a:solidFill>
            <a:srgbClr val="254663"/>
          </a:solidFill>
          <a:ln>
            <a:solidFill>
              <a:srgbClr val="2546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Tree>
    <p:extLst>
      <p:ext uri="{BB962C8B-B14F-4D97-AF65-F5344CB8AC3E}">
        <p14:creationId xmlns:p14="http://schemas.microsoft.com/office/powerpoint/2010/main" val="16697444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29886" y="1849282"/>
            <a:ext cx="10578942" cy="4525963"/>
          </a:xfrm>
        </p:spPr>
        <p:txBody>
          <a:bodyPr/>
          <a:lstStyle/>
          <a:p>
            <a:r>
              <a:rPr lang="en-US" sz="3600" dirty="0"/>
              <a:t>Consider the linked list and apply following operations:</a:t>
            </a:r>
          </a:p>
          <a:p>
            <a:pPr lvl="1"/>
            <a:r>
              <a:rPr lang="en-US" sz="3200" dirty="0"/>
              <a:t>Insert ‘10’ with priority ‘1’.</a:t>
            </a:r>
          </a:p>
          <a:p>
            <a:pPr lvl="1"/>
            <a:r>
              <a:rPr lang="en-US" sz="3200" dirty="0"/>
              <a:t>Insert ‘20’ with priority ‘1’.</a:t>
            </a:r>
          </a:p>
          <a:p>
            <a:pPr lvl="1"/>
            <a:r>
              <a:rPr lang="en-US" sz="3200" dirty="0"/>
              <a:t>Insert ‘25’ with priority ‘3’.</a:t>
            </a:r>
            <a:endParaRPr lang="en-US" dirty="0"/>
          </a:p>
        </p:txBody>
      </p:sp>
      <p:sp>
        <p:nvSpPr>
          <p:cNvPr id="2" name="Title 1"/>
          <p:cNvSpPr>
            <a:spLocks noGrp="1"/>
          </p:cNvSpPr>
          <p:nvPr>
            <p:ph type="title"/>
          </p:nvPr>
        </p:nvSpPr>
        <p:spPr>
          <a:xfrm>
            <a:off x="1202940" y="793102"/>
            <a:ext cx="8229600" cy="857232"/>
          </a:xfrm>
        </p:spPr>
        <p:txBody>
          <a:bodyPr/>
          <a:lstStyle/>
          <a:p>
            <a:r>
              <a:rPr lang="en-US" dirty="0"/>
              <a:t>Example</a:t>
            </a: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942</TotalTime>
  <Words>1090</Words>
  <Application>Microsoft Office PowerPoint</Application>
  <PresentationFormat>Widescreen</PresentationFormat>
  <Paragraphs>167</Paragraphs>
  <Slides>25</Slides>
  <Notes>2</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Calibri Light</vt:lpstr>
      <vt:lpstr>Times New Roman</vt:lpstr>
      <vt:lpstr>Verdana</vt:lpstr>
      <vt:lpstr>Wingdings</vt:lpstr>
      <vt:lpstr>Retrospect</vt:lpstr>
      <vt:lpstr>Data Structure</vt:lpstr>
      <vt:lpstr>Goals for today</vt:lpstr>
      <vt:lpstr>CLO Covered</vt:lpstr>
      <vt:lpstr>Algorithm for Enqueue using Link list</vt:lpstr>
      <vt:lpstr>Algorithm for Dequeue using Link list</vt:lpstr>
      <vt:lpstr>Why circular queues are needed</vt:lpstr>
      <vt:lpstr>Circular arrays</vt:lpstr>
      <vt:lpstr>Full and empty queues</vt:lpstr>
      <vt:lpstr>Circular Queue</vt:lpstr>
      <vt:lpstr>Activity </vt:lpstr>
      <vt:lpstr>Activity </vt:lpstr>
      <vt:lpstr>Example</vt:lpstr>
      <vt:lpstr>Overflow and underflow condition in circular queues</vt:lpstr>
      <vt:lpstr>Circular Queues algorithms using array</vt:lpstr>
      <vt:lpstr>Circular Queues algorithms using array</vt:lpstr>
      <vt:lpstr>Applications of circular queues</vt:lpstr>
      <vt:lpstr>Double-ended queues</vt:lpstr>
      <vt:lpstr> Pictorial representation of deque</vt:lpstr>
      <vt:lpstr>Types of Double-ended queues</vt:lpstr>
      <vt:lpstr>Applications of double-ended queues</vt:lpstr>
      <vt:lpstr>Priority queue</vt:lpstr>
      <vt:lpstr>PowerPoint Presentation</vt:lpstr>
      <vt:lpstr>PowerPoint Presentation</vt:lpstr>
      <vt:lpstr>PowerPoint Presentation</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 and Algorithm</dc:title>
  <dc:creator>Habiba Arshad</dc:creator>
  <cp:lastModifiedBy>Rida Zahra</cp:lastModifiedBy>
  <cp:revision>37</cp:revision>
  <dcterms:created xsi:type="dcterms:W3CDTF">2022-11-28T04:11:00Z</dcterms:created>
  <dcterms:modified xsi:type="dcterms:W3CDTF">2025-12-16T14:41:45Z</dcterms:modified>
</cp:coreProperties>
</file>