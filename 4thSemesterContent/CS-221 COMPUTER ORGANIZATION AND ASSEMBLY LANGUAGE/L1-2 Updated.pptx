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450" r:id="rId3"/>
    <p:sldId id="452" r:id="rId4"/>
    <p:sldId id="423" r:id="rId5"/>
    <p:sldId id="453" r:id="rId6"/>
    <p:sldId id="455" r:id="rId7"/>
    <p:sldId id="424" r:id="rId8"/>
    <p:sldId id="456" r:id="rId9"/>
    <p:sldId id="345" r:id="rId10"/>
    <p:sldId id="462" r:id="rId11"/>
    <p:sldId id="496" r:id="rId12"/>
    <p:sldId id="497" r:id="rId13"/>
    <p:sldId id="498" r:id="rId14"/>
    <p:sldId id="463" r:id="rId15"/>
    <p:sldId id="467" r:id="rId16"/>
    <p:sldId id="485" r:id="rId17"/>
    <p:sldId id="468" r:id="rId18"/>
    <p:sldId id="469" r:id="rId19"/>
    <p:sldId id="470" r:id="rId20"/>
    <p:sldId id="471" r:id="rId21"/>
    <p:sldId id="472" r:id="rId22"/>
    <p:sldId id="486" r:id="rId23"/>
    <p:sldId id="464" r:id="rId24"/>
    <p:sldId id="487" r:id="rId25"/>
    <p:sldId id="465" r:id="rId26"/>
    <p:sldId id="488" r:id="rId27"/>
    <p:sldId id="473" r:id="rId28"/>
    <p:sldId id="474" r:id="rId29"/>
    <p:sldId id="484" r:id="rId30"/>
    <p:sldId id="475" r:id="rId31"/>
    <p:sldId id="489" r:id="rId32"/>
    <p:sldId id="483" r:id="rId33"/>
    <p:sldId id="490" r:id="rId34"/>
    <p:sldId id="491" r:id="rId35"/>
    <p:sldId id="492" r:id="rId36"/>
    <p:sldId id="493" r:id="rId37"/>
    <p:sldId id="494" r:id="rId38"/>
    <p:sldId id="495" r:id="rId39"/>
    <p:sldId id="476" r:id="rId40"/>
    <p:sldId id="477" r:id="rId41"/>
    <p:sldId id="478" r:id="rId42"/>
    <p:sldId id="479" r:id="rId43"/>
    <p:sldId id="480" r:id="rId44"/>
    <p:sldId id="499" r:id="rId45"/>
    <p:sldId id="481" r:id="rId46"/>
    <p:sldId id="48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33B5A-1464-465C-A3EB-833207B3E9A8}" v="14" dt="2026-03-02T07:15:45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063" autoAdjust="0"/>
  </p:normalViewPr>
  <p:slideViewPr>
    <p:cSldViewPr snapToGrid="0">
      <p:cViewPr varScale="1">
        <p:scale>
          <a:sx n="64" d="100"/>
          <a:sy n="64" d="100"/>
        </p:scale>
        <p:origin x="74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esha shoaib" userId="cd5853ea8dfa5a75" providerId="LiveId" clId="{1B3D6EC9-C197-43DA-A17A-D9A48614B270}"/>
    <pc:docChg chg="custSel addSld modSld">
      <pc:chgData name="ayesha shoaib" userId="cd5853ea8dfa5a75" providerId="LiveId" clId="{1B3D6EC9-C197-43DA-A17A-D9A48614B270}" dt="2026-03-02T07:16:06.676" v="158" actId="12"/>
      <pc:docMkLst>
        <pc:docMk/>
      </pc:docMkLst>
      <pc:sldChg chg="modSp new mod">
        <pc:chgData name="ayesha shoaib" userId="cd5853ea8dfa5a75" providerId="LiveId" clId="{1B3D6EC9-C197-43DA-A17A-D9A48614B270}" dt="2026-03-02T07:04:22.688" v="12" actId="12"/>
        <pc:sldMkLst>
          <pc:docMk/>
          <pc:sldMk cId="1824844189" sldId="489"/>
        </pc:sldMkLst>
        <pc:spChg chg="mod">
          <ac:chgData name="ayesha shoaib" userId="cd5853ea8dfa5a75" providerId="LiveId" clId="{1B3D6EC9-C197-43DA-A17A-D9A48614B270}" dt="2026-03-02T07:04:22.688" v="12" actId="12"/>
          <ac:spMkLst>
            <pc:docMk/>
            <pc:sldMk cId="1824844189" sldId="489"/>
            <ac:spMk id="3" creationId="{A5D8EF5D-AB3A-80E4-CCC3-E97290BFBECE}"/>
          </ac:spMkLst>
        </pc:spChg>
      </pc:sldChg>
      <pc:sldChg chg="modSp new mod">
        <pc:chgData name="ayesha shoaib" userId="cd5853ea8dfa5a75" providerId="LiveId" clId="{1B3D6EC9-C197-43DA-A17A-D9A48614B270}" dt="2026-03-02T07:11:48.688" v="91" actId="113"/>
        <pc:sldMkLst>
          <pc:docMk/>
          <pc:sldMk cId="3647139105" sldId="490"/>
        </pc:sldMkLst>
        <pc:spChg chg="mod">
          <ac:chgData name="ayesha shoaib" userId="cd5853ea8dfa5a75" providerId="LiveId" clId="{1B3D6EC9-C197-43DA-A17A-D9A48614B270}" dt="2026-03-02T07:11:48.688" v="91" actId="113"/>
          <ac:spMkLst>
            <pc:docMk/>
            <pc:sldMk cId="3647139105" sldId="490"/>
            <ac:spMk id="2" creationId="{9B334CD1-5F41-B2E3-CC01-C8A2E282B4D1}"/>
          </ac:spMkLst>
        </pc:spChg>
        <pc:spChg chg="mod">
          <ac:chgData name="ayesha shoaib" userId="cd5853ea8dfa5a75" providerId="LiveId" clId="{1B3D6EC9-C197-43DA-A17A-D9A48614B270}" dt="2026-03-02T07:08:11.551" v="27" actId="12"/>
          <ac:spMkLst>
            <pc:docMk/>
            <pc:sldMk cId="3647139105" sldId="490"/>
            <ac:spMk id="3" creationId="{C0AA7CAE-1BB8-C95E-1C53-12D6AA7C2E38}"/>
          </ac:spMkLst>
        </pc:spChg>
      </pc:sldChg>
      <pc:sldChg chg="modSp new mod">
        <pc:chgData name="ayesha shoaib" userId="cd5853ea8dfa5a75" providerId="LiveId" clId="{1B3D6EC9-C197-43DA-A17A-D9A48614B270}" dt="2026-03-02T07:10:09.918" v="57" actId="15"/>
        <pc:sldMkLst>
          <pc:docMk/>
          <pc:sldMk cId="3432639644" sldId="491"/>
        </pc:sldMkLst>
        <pc:spChg chg="mod">
          <ac:chgData name="ayesha shoaib" userId="cd5853ea8dfa5a75" providerId="LiveId" clId="{1B3D6EC9-C197-43DA-A17A-D9A48614B270}" dt="2026-03-02T07:08:52.152" v="47" actId="20577"/>
          <ac:spMkLst>
            <pc:docMk/>
            <pc:sldMk cId="3432639644" sldId="491"/>
            <ac:spMk id="2" creationId="{D995F72E-627B-6093-7D88-7C3EB5E4F65B}"/>
          </ac:spMkLst>
        </pc:spChg>
        <pc:spChg chg="mod">
          <ac:chgData name="ayesha shoaib" userId="cd5853ea8dfa5a75" providerId="LiveId" clId="{1B3D6EC9-C197-43DA-A17A-D9A48614B270}" dt="2026-03-02T07:10:09.918" v="57" actId="15"/>
          <ac:spMkLst>
            <pc:docMk/>
            <pc:sldMk cId="3432639644" sldId="491"/>
            <ac:spMk id="3" creationId="{93743519-9842-B704-F0BF-06D7EE9A7711}"/>
          </ac:spMkLst>
        </pc:spChg>
      </pc:sldChg>
      <pc:sldChg chg="modSp new mod">
        <pc:chgData name="ayesha shoaib" userId="cd5853ea8dfa5a75" providerId="LiveId" clId="{1B3D6EC9-C197-43DA-A17A-D9A48614B270}" dt="2026-03-02T07:11:39.697" v="90" actId="5793"/>
        <pc:sldMkLst>
          <pc:docMk/>
          <pc:sldMk cId="3276339172" sldId="492"/>
        </pc:sldMkLst>
        <pc:spChg chg="mod">
          <ac:chgData name="ayesha shoaib" userId="cd5853ea8dfa5a75" providerId="LiveId" clId="{1B3D6EC9-C197-43DA-A17A-D9A48614B270}" dt="2026-03-02T07:11:07.105" v="74" actId="113"/>
          <ac:spMkLst>
            <pc:docMk/>
            <pc:sldMk cId="3276339172" sldId="492"/>
            <ac:spMk id="2" creationId="{A45F9807-BDE5-77DE-74C3-77F0C07DE12E}"/>
          </ac:spMkLst>
        </pc:spChg>
        <pc:spChg chg="mod">
          <ac:chgData name="ayesha shoaib" userId="cd5853ea8dfa5a75" providerId="LiveId" clId="{1B3D6EC9-C197-43DA-A17A-D9A48614B270}" dt="2026-03-02T07:11:39.697" v="90" actId="5793"/>
          <ac:spMkLst>
            <pc:docMk/>
            <pc:sldMk cId="3276339172" sldId="492"/>
            <ac:spMk id="3" creationId="{A4D8FB12-5F67-C70B-86A8-91EE9B02ECB7}"/>
          </ac:spMkLst>
        </pc:spChg>
      </pc:sldChg>
      <pc:sldChg chg="modSp new mod">
        <pc:chgData name="ayesha shoaib" userId="cd5853ea8dfa5a75" providerId="LiveId" clId="{1B3D6EC9-C197-43DA-A17A-D9A48614B270}" dt="2026-03-02T07:12:54.650" v="107" actId="12"/>
        <pc:sldMkLst>
          <pc:docMk/>
          <pc:sldMk cId="3195600326" sldId="493"/>
        </pc:sldMkLst>
        <pc:spChg chg="mod">
          <ac:chgData name="ayesha shoaib" userId="cd5853ea8dfa5a75" providerId="LiveId" clId="{1B3D6EC9-C197-43DA-A17A-D9A48614B270}" dt="2026-03-02T07:12:35.157" v="99" actId="20577"/>
          <ac:spMkLst>
            <pc:docMk/>
            <pc:sldMk cId="3195600326" sldId="493"/>
            <ac:spMk id="2" creationId="{DEA3E952-1128-D381-D0C3-F495A27E3AF4}"/>
          </ac:spMkLst>
        </pc:spChg>
        <pc:spChg chg="mod">
          <ac:chgData name="ayesha shoaib" userId="cd5853ea8dfa5a75" providerId="LiveId" clId="{1B3D6EC9-C197-43DA-A17A-D9A48614B270}" dt="2026-03-02T07:12:54.650" v="107" actId="12"/>
          <ac:spMkLst>
            <pc:docMk/>
            <pc:sldMk cId="3195600326" sldId="493"/>
            <ac:spMk id="3" creationId="{2A9EEB00-1CE9-686D-24E7-028A36293673}"/>
          </ac:spMkLst>
        </pc:spChg>
      </pc:sldChg>
      <pc:sldChg chg="modSp new mod">
        <pc:chgData name="ayesha shoaib" userId="cd5853ea8dfa5a75" providerId="LiveId" clId="{1B3D6EC9-C197-43DA-A17A-D9A48614B270}" dt="2026-03-02T07:14:11.668" v="126" actId="113"/>
        <pc:sldMkLst>
          <pc:docMk/>
          <pc:sldMk cId="3062836273" sldId="494"/>
        </pc:sldMkLst>
        <pc:spChg chg="mod">
          <ac:chgData name="ayesha shoaib" userId="cd5853ea8dfa5a75" providerId="LiveId" clId="{1B3D6EC9-C197-43DA-A17A-D9A48614B270}" dt="2026-03-02T07:14:11.668" v="126" actId="113"/>
          <ac:spMkLst>
            <pc:docMk/>
            <pc:sldMk cId="3062836273" sldId="494"/>
            <ac:spMk id="2" creationId="{F33FA36A-514E-1C03-6379-7C6FF48ABADC}"/>
          </ac:spMkLst>
        </pc:spChg>
        <pc:spChg chg="mod">
          <ac:chgData name="ayesha shoaib" userId="cd5853ea8dfa5a75" providerId="LiveId" clId="{1B3D6EC9-C197-43DA-A17A-D9A48614B270}" dt="2026-03-02T07:14:00.765" v="125" actId="27636"/>
          <ac:spMkLst>
            <pc:docMk/>
            <pc:sldMk cId="3062836273" sldId="494"/>
            <ac:spMk id="3" creationId="{B8C2DBBC-C699-6670-8FD9-BDB2F74A648C}"/>
          </ac:spMkLst>
        </pc:spChg>
      </pc:sldChg>
      <pc:sldChg chg="addSp modSp new mod">
        <pc:chgData name="ayesha shoaib" userId="cd5853ea8dfa5a75" providerId="LiveId" clId="{1B3D6EC9-C197-43DA-A17A-D9A48614B270}" dt="2026-03-02T07:16:06.676" v="158" actId="12"/>
        <pc:sldMkLst>
          <pc:docMk/>
          <pc:sldMk cId="3291337420" sldId="495"/>
        </pc:sldMkLst>
        <pc:spChg chg="mod">
          <ac:chgData name="ayesha shoaib" userId="cd5853ea8dfa5a75" providerId="LiveId" clId="{1B3D6EC9-C197-43DA-A17A-D9A48614B270}" dt="2026-03-02T07:14:45.718" v="138" actId="5793"/>
          <ac:spMkLst>
            <pc:docMk/>
            <pc:sldMk cId="3291337420" sldId="495"/>
            <ac:spMk id="2" creationId="{5C8BC54A-4C72-7C8C-7A64-86EF3D3336D8}"/>
          </ac:spMkLst>
        </pc:spChg>
        <pc:spChg chg="mod">
          <ac:chgData name="ayesha shoaib" userId="cd5853ea8dfa5a75" providerId="LiveId" clId="{1B3D6EC9-C197-43DA-A17A-D9A48614B270}" dt="2026-03-02T07:16:06.676" v="158" actId="12"/>
          <ac:spMkLst>
            <pc:docMk/>
            <pc:sldMk cId="3291337420" sldId="495"/>
            <ac:spMk id="3" creationId="{343DE465-4B9C-57DA-80F8-D56FA3A04221}"/>
          </ac:spMkLst>
        </pc:spChg>
        <pc:spChg chg="add mod">
          <ac:chgData name="ayesha shoaib" userId="cd5853ea8dfa5a75" providerId="LiveId" clId="{1B3D6EC9-C197-43DA-A17A-D9A48614B270}" dt="2026-03-02T07:15:16.577" v="148"/>
          <ac:spMkLst>
            <pc:docMk/>
            <pc:sldMk cId="3291337420" sldId="495"/>
            <ac:spMk id="5" creationId="{B547459A-B503-8D60-F1D2-1D88FAFA6674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AA895-98F9-4B0B-99DF-0BDE7C8AFB52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787EE-9B77-42FF-8B7D-50B880C38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41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35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575FE91-B08C-E950-EC2A-5C4EA8171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C8B7D581-2372-6F62-50DE-252DF1FE0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C7B57FEB-11F4-FE05-6FAE-A0D2B8D7D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10EDFD-5CA3-4C0B-B657-D5F62C88A207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BE7C37C1-47F6-B686-5988-774D17E78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BFD8EDB6-71EB-8779-8030-5CF5AA9DE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744BFA12-D93A-2E44-9A24-5F2857583D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AE0A52-54CE-4975-811D-477936188D00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68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Input → Registers → Control Unit → ALU → Memory → Output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The user gives input → the CPU processes it → the result is shown as output</a:t>
            </a:r>
            <a:r>
              <a:rPr lang="en-US" dirty="0" smtClean="0"/>
              <a:t>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24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systems, especially </a:t>
            </a:r>
            <a:r>
              <a:rPr lang="en-US" b="1" dirty="0" smtClean="0"/>
              <a:t>fast CPUs or microcontrollers</a:t>
            </a:r>
            <a:r>
              <a:rPr lang="en-US" dirty="0" smtClean="0"/>
              <a:t>, send input </a:t>
            </a:r>
            <a:r>
              <a:rPr lang="en-US" b="1" dirty="0" smtClean="0"/>
              <a:t>directly to CPU registers</a:t>
            </a:r>
            <a:r>
              <a:rPr lang="en-US" dirty="0" smtClean="0"/>
              <a:t> instead of first storing it in main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11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 (Program Counter):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Holds the address of the next instruction.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 (Memory Address Register):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Holds the memory address of data or instruction being accessed.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 accesses that instruction from Main Memory (M).The instruction is placed into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MBR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 (Instruction Register):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Stores the current instruction.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I/O AR (I/O Address Register):</a:t>
            </a:r>
            <a:r>
              <a:rPr lang="en-US" b="1" baseline="0" dirty="0" smtClean="0"/>
              <a:t> </a:t>
            </a:r>
            <a:r>
              <a:rPr lang="en-US" dirty="0" smtClean="0"/>
              <a:t>Holds the </a:t>
            </a:r>
            <a:r>
              <a:rPr lang="en-US" b="1" dirty="0" smtClean="0"/>
              <a:t>address of the I/O device</a:t>
            </a:r>
            <a:r>
              <a:rPr lang="en-US" dirty="0" smtClean="0"/>
              <a:t> that the CPU wants to communicate with.</a:t>
            </a:r>
          </a:p>
          <a:p>
            <a:r>
              <a:rPr lang="en-US" b="1" dirty="0" smtClean="0"/>
              <a:t>I/O BR (I/O Buffer Register):</a:t>
            </a:r>
            <a:r>
              <a:rPr lang="en-US" dirty="0" smtClean="0"/>
              <a:t> Temporarily holds </a:t>
            </a:r>
            <a:r>
              <a:rPr lang="en-US" b="1" dirty="0" smtClean="0"/>
              <a:t>data</a:t>
            </a:r>
            <a:r>
              <a:rPr lang="en-US" dirty="0" smtClean="0"/>
              <a:t> being transferred between the CPU and the I/O device.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78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Architecture</a:t>
            </a:r>
            <a:r>
              <a:rPr lang="en-US" dirty="0" smtClean="0"/>
              <a:t> is a logical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Organization</a:t>
            </a:r>
            <a:r>
              <a:rPr lang="en-US" dirty="0" smtClean="0"/>
              <a:t> is a physical design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16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Architecture is like the architectural blueprint of a house.</a:t>
            </a:r>
            <a:endParaRPr lang="en-US" dirty="0"/>
          </a:p>
          <a:p>
            <a:r>
              <a:rPr lang="en-US" dirty="0"/>
              <a:t>It defines:</a:t>
            </a:r>
          </a:p>
          <a:p>
            <a:r>
              <a:rPr lang="en-US" dirty="0"/>
              <a:t>Number of rooms</a:t>
            </a:r>
          </a:p>
          <a:p>
            <a:r>
              <a:rPr lang="en-US" dirty="0"/>
              <a:t>Size of rooms</a:t>
            </a:r>
          </a:p>
          <a:p>
            <a:r>
              <a:rPr lang="en-US" dirty="0"/>
              <a:t>Kitchen layout</a:t>
            </a:r>
          </a:p>
          <a:p>
            <a:r>
              <a:rPr lang="en-US" dirty="0"/>
              <a:t>Doors and windows placement</a:t>
            </a:r>
          </a:p>
          <a:p>
            <a:r>
              <a:rPr lang="en-US" dirty="0"/>
              <a:t>Electrical and plumbing plan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74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Organization is like how the house is physically constructed.</a:t>
            </a:r>
            <a:endParaRPr lang="en-US" dirty="0"/>
          </a:p>
          <a:p>
            <a:r>
              <a:rPr lang="en-US" dirty="0"/>
              <a:t>It defines:</a:t>
            </a:r>
          </a:p>
          <a:p>
            <a:r>
              <a:rPr lang="en-US" dirty="0"/>
              <a:t>What materials are used (brick, concrete, wood)</a:t>
            </a:r>
          </a:p>
          <a:p>
            <a:r>
              <a:rPr lang="en-US" dirty="0"/>
              <a:t>Wiring implementation</a:t>
            </a:r>
          </a:p>
          <a:p>
            <a:r>
              <a:rPr lang="en-US" dirty="0"/>
              <a:t>Pipe layout</a:t>
            </a:r>
          </a:p>
          <a:p>
            <a:r>
              <a:rPr lang="en-US" dirty="0"/>
              <a:t>Foundation structure</a:t>
            </a:r>
          </a:p>
          <a:p>
            <a:r>
              <a:rPr lang="en-US" dirty="0"/>
              <a:t>Quality of insulation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18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46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53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shows how:</a:t>
            </a:r>
          </a:p>
          <a:p>
            <a:r>
              <a:rPr lang="en-US" dirty="0"/>
              <a:t>Instructions are stored in </a:t>
            </a:r>
            <a:r>
              <a:rPr lang="en-US" b="1" dirty="0"/>
              <a:t>Program Memory (RAM)</a:t>
            </a:r>
            <a:endParaRPr lang="en-US" dirty="0"/>
          </a:p>
          <a:p>
            <a:r>
              <a:rPr lang="en-US" dirty="0"/>
              <a:t>Data is stored in </a:t>
            </a:r>
            <a:r>
              <a:rPr lang="en-US" b="1" dirty="0"/>
              <a:t>Data Memory (RAM)</a:t>
            </a:r>
            <a:endParaRPr lang="en-US" dirty="0"/>
          </a:p>
          <a:p>
            <a:r>
              <a:rPr lang="en-US" dirty="0"/>
              <a:t>CPU processes instructions using:</a:t>
            </a:r>
          </a:p>
          <a:p>
            <a:pPr lvl="1"/>
            <a:r>
              <a:rPr lang="en-US" b="1" dirty="0"/>
              <a:t>PC (Program Counter)</a:t>
            </a:r>
            <a:endParaRPr lang="en-US" dirty="0"/>
          </a:p>
          <a:p>
            <a:pPr lvl="1"/>
            <a:r>
              <a:rPr lang="en-US" b="1" dirty="0"/>
              <a:t>Instruction Queue</a:t>
            </a:r>
            <a:endParaRPr lang="en-US" dirty="0"/>
          </a:p>
          <a:p>
            <a:pPr lvl="1"/>
            <a:r>
              <a:rPr lang="en-US" b="1" dirty="0"/>
              <a:t>Registers</a:t>
            </a:r>
            <a:endParaRPr lang="en-US" dirty="0"/>
          </a:p>
          <a:p>
            <a:pPr lvl="1"/>
            <a:r>
              <a:rPr lang="en-US" b="1" dirty="0"/>
              <a:t>ALU</a:t>
            </a:r>
            <a:endParaRPr lang="en-US" dirty="0"/>
          </a:p>
          <a:p>
            <a:r>
              <a:rPr lang="en-US" dirty="0"/>
              <a:t>Results are written back to memory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51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32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clock rate → shorter cycle time → faster execution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97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787EE-9B77-42FF-8B7D-50B880C386E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83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A8F0-8ACD-77BC-E391-69CCAE7E6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DB175-C98F-0028-AC77-85E9ADA45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64B69-0C5C-F499-90E8-D4D72404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AA8DD-65C3-4A77-8012-25C5D83A4F45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AF027-E6C3-62A4-7C74-BD9031BC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104A2-C92D-AD7E-6F4B-3D453737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2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65FE-3729-7CCF-40E5-311290C9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2740-BC08-57B3-FB0A-7CD1C1DB8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F9AD-D4F4-5073-996C-EFF7D356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4554-7702-44C9-ACBC-53CCE5C71286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82F9C-EC6C-769C-49DC-8978909C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2227A-4793-CC64-43D8-100454F1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9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2F79-3668-8013-70CE-1BF52C07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4BD14-7AB4-BE8A-705A-EE7481B9E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29C4B-C5B0-9C8C-360D-8DFB0C1B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98BF2-54FF-467A-8FF8-FE8D5A6C2F12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54624-98EE-D056-E02B-55A929CF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A154A-70BD-E583-E942-5BF10E06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47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3CE-E3C1-68A5-EA2A-EDC7C990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D209B-F742-C471-6AC7-87A581993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D0AD-EFEC-B4EA-1239-659C6758A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EB073-7785-5F62-2EA2-21A666BC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63CC-E632-4DA7-94BB-90EFF093F922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6CB59-3DF0-BE9E-6289-D2B59633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E944A-C273-AB1E-2AA0-AE450B8F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4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7C08-F3C2-20FB-193D-B9905333F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4489B-BACD-5695-D90A-D6E8470A7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9BD9A-AC6E-6EE4-F30B-93CDE84B2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1A0F7-4864-9E2C-ECCF-8C8E02F1D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C6CD0-7B04-0C29-1933-FB62297A5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202CA-A4C0-2A6E-DD63-8B385368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E4F2-F7FE-4FC2-809B-D8D020A58EC3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4821F-D1A7-BB52-9320-1F8FA902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A04BC-35C1-5EBF-0C11-0E6FF80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8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1F9B-F02D-FBDE-E087-A6CEEB22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B8714-8036-6F3A-5EC5-95A6C5C2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0496-1FC4-4704-9F01-480405E0FB8B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61ACF-D345-811E-D4E9-C5BFE9C6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CAF2F-C57B-581E-4668-D31283B8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6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0D3C83-0205-2A55-690E-C468EE33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F249-0B6E-4C28-9CDB-94C408BB132D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A24DA-11E6-7154-7E00-7526351E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FBE0F-B4C7-B5EF-BC34-BF70E234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4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BF48-CF62-0CBE-B9F3-6EC5ED29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B4818-33F2-6A47-BA72-B3F9FCAB3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22109-B9F2-60F6-BD6A-B1419B256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51924-F8ED-0224-C299-5C396A9EB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1D4B7-8598-4FF0-9E12-C2AD31635B9B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ABBC8-7638-6986-DEA9-C79DBA48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BB94C-DCC4-B0C9-9C00-826845DB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3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83D5-CA31-7C16-3801-B7C49AAB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B1609-18AA-E5A8-4D54-61A51B9A9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85510-46E0-65BF-20B4-1163FAC99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A81AB-8534-373E-9E22-9E0F5801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22F-2F35-4D14-A945-29DC63A82376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2D5AA-943C-AA98-6C40-36162CDC3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FD44C-DD75-AC9D-C115-7F94AB8A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2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CBD7-CA7C-931F-057F-995A3F98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5B5C9-6390-067A-79C1-9421277F1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FD069-3CD2-A44F-7E57-E57C9548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1E8FD-42FD-44D9-9365-ABE9DE1A50EB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81404-DC10-C6B7-0E45-2C81D6F1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27B42-140D-77BF-088A-5F0F30D3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6ABA0-3347-450B-6F1D-0C3229748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57F0B-8151-0B8E-FDF1-4A2DA4871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E63C5-A757-74DB-DB62-B813016C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86C5-39ED-4949-AE05-D5B180753534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CC088-8E82-4240-6DA5-14858BA7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60C6-61B6-D74B-2D24-26D5C230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9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A1D0E-BFC3-6C92-36D6-3B57302A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23D46-B46E-2FD4-77E2-C45652F7F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FFE8-B102-28B4-B9DA-BAAD84BA9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E0884-B925-4631-8365-B1B59D79646E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1E3F-2AAD-F7B0-ECAF-3763BE4D5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837A1-F444-4036-BA60-218EF7C91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0B3FD-D42B-4ECD-862F-BCEC8652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7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qsa.shoaib@uow.edu.p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240096" y="2677886"/>
            <a:ext cx="12192000" cy="1513113"/>
          </a:xfrm>
        </p:spPr>
        <p:txBody>
          <a:bodyPr/>
          <a:lstStyle/>
          <a:p>
            <a:pPr eaLnBrk="1" hangingPunct="1"/>
            <a:endParaRPr lang="en-US" sz="4267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2667" dirty="0">
                <a:latin typeface="Arial Black" panose="020B0A04020102020204" pitchFamily="34" charset="0"/>
              </a:rPr>
              <a:t>Instructor: </a:t>
            </a:r>
            <a:r>
              <a:rPr lang="en-US" sz="2667" dirty="0" smtClean="0">
                <a:latin typeface="Arial Black" panose="020B0A04020102020204" pitchFamily="34" charset="0"/>
              </a:rPr>
              <a:t>Aqsa </a:t>
            </a:r>
            <a:r>
              <a:rPr lang="en-US" sz="2667" dirty="0" err="1" smtClean="0">
                <a:latin typeface="Arial Black" panose="020B0A04020102020204" pitchFamily="34" charset="0"/>
              </a:rPr>
              <a:t>Safdar</a:t>
            </a:r>
            <a:endParaRPr lang="en-US" sz="2667" dirty="0">
              <a:latin typeface="Arial Black" panose="020B0A04020102020204" pitchFamily="34" charset="0"/>
            </a:endParaRP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2"/>
            <a:ext cx="5867400" cy="46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9" tIns="45719" rIns="91439" bIns="45719">
            <a:spAutoFit/>
          </a:bodyPr>
          <a:lstStyle/>
          <a:p>
            <a:pPr>
              <a:spcBef>
                <a:spcPct val="50000"/>
              </a:spcBef>
            </a:pPr>
            <a:endParaRPr lang="en-US" sz="2400"/>
          </a:p>
        </p:txBody>
      </p:sp>
      <p:pic>
        <p:nvPicPr>
          <p:cNvPr id="26625" name="Picture 1" descr="C:\Temp\ketrina\Lecture1-Introduc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4576" y="3789315"/>
            <a:ext cx="6022848" cy="2689917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B1A2797-49EB-BE24-9447-8251F826F90E}"/>
              </a:ext>
            </a:extLst>
          </p:cNvPr>
          <p:cNvSpPr txBox="1">
            <a:spLocks/>
          </p:cNvSpPr>
          <p:nvPr/>
        </p:nvSpPr>
        <p:spPr bwMode="auto">
          <a:xfrm>
            <a:off x="1654476" y="1107111"/>
            <a:ext cx="8883048" cy="1897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9" tIns="45719" rIns="91439" bIns="45719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5pPr>
            <a:lvl6pPr marL="342892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6pPr>
            <a:lvl7pPr marL="685783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7pPr>
            <a:lvl8pPr marL="1028675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8pPr>
            <a:lvl9pPr marL="1371566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4400" kern="0" dirty="0"/>
              <a:t>CS-352</a:t>
            </a:r>
            <a:br>
              <a:rPr lang="en-US" sz="4400" kern="0" dirty="0"/>
            </a:br>
            <a:r>
              <a:rPr lang="en-US" sz="4400" kern="0" dirty="0"/>
              <a:t>Computer Organization and Assembly Language</a:t>
            </a:r>
          </a:p>
          <a:p>
            <a:r>
              <a:rPr lang="en-US" sz="4400" kern="0" dirty="0"/>
              <a:t> Lecture 1 </a:t>
            </a:r>
            <a:br>
              <a:rPr lang="en-US" sz="4400" kern="0" dirty="0"/>
            </a:br>
            <a:endParaRPr lang="en-US" sz="4400" kern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8C5385-0D1E-DE3D-9E60-BD7C15D9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E62938-84EC-488D-9CA4-E38E8D42E52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47C6-A942-22F8-2A65-A0C6C14CC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administration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ADD9-96D8-0A2A-BA86-D534BF0D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1605" y="1676400"/>
            <a:ext cx="5638796" cy="3505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</a:t>
            </a:r>
            <a:r>
              <a:rPr lang="en-GB" sz="2400" dirty="0" smtClean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Aqsa </a:t>
            </a:r>
            <a:r>
              <a:rPr lang="en-GB" sz="2400" dirty="0" err="1" smtClean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Safdar</a:t>
            </a:r>
            <a:r>
              <a:rPr lang="en-GB" sz="2400" dirty="0" smtClean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(Lecturer</a:t>
            </a:r>
            <a:r>
              <a:rPr lang="en-GB" sz="2400" dirty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dirty="0" err="1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Deptt</a:t>
            </a:r>
            <a:r>
              <a:rPr lang="en-GB" sz="2400" dirty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Science, University of Wah, Wah Cantt).</a:t>
            </a:r>
          </a:p>
          <a:p>
            <a:pPr marL="109535" indent="0">
              <a:buNone/>
              <a:defRPr/>
            </a:pPr>
            <a:endParaRPr lang="en-GB" sz="2400" dirty="0">
              <a:solidFill>
                <a:schemeClr val="tx1">
                  <a:alpha val="5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GB" sz="2400" b="1" dirty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Information: </a:t>
            </a:r>
            <a:r>
              <a:rPr lang="en-GB" sz="2400" dirty="0" smtClean="0">
                <a:solidFill>
                  <a:schemeClr val="tx1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aqsa.safdar@uow.edu.pk</a:t>
            </a:r>
            <a:endParaRPr lang="en-GB" sz="2400" dirty="0">
              <a:solidFill>
                <a:schemeClr val="tx1">
                  <a:alpha val="5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GB" sz="2400" dirty="0">
              <a:solidFill>
                <a:schemeClr val="tx1">
                  <a:alpha val="55000"/>
                </a:schemeClr>
              </a:solidFill>
            </a:endParaRPr>
          </a:p>
          <a:p>
            <a:pPr>
              <a:defRPr/>
            </a:pPr>
            <a:endParaRPr lang="en-GB" sz="2400" dirty="0">
              <a:solidFill>
                <a:schemeClr val="tx1">
                  <a:alpha val="55000"/>
                </a:schemeClr>
              </a:solidFill>
            </a:endParaRPr>
          </a:p>
          <a:p>
            <a:pPr>
              <a:defRPr/>
            </a:pPr>
            <a:endParaRPr lang="en-US" sz="2400" dirty="0">
              <a:solidFill>
                <a:schemeClr val="tx1">
                  <a:alpha val="5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A8760-BDE6-F222-9601-66ED9867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>
            <a:extLst>
              <a:ext uri="{FF2B5EF4-FFF2-40B4-BE49-F238E27FC236}">
                <a16:creationId xmlns:a16="http://schemas.microsoft.com/office/drawing/2014/main" id="{381D5D59-1C94-8AA1-C758-9F101FA3F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49"/>
            <a:ext cx="9144000" cy="163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1492-FD67-FC1C-5257-445D7734F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50" y="3014664"/>
            <a:ext cx="11443062" cy="1373187"/>
          </a:xfrm>
        </p:spPr>
        <p:txBody>
          <a:bodyPr>
            <a:noAutofit/>
          </a:bodyPr>
          <a:lstStyle/>
          <a:p>
            <a:pPr marL="82294" indent="0">
              <a:lnSpc>
                <a:spcPct val="170000"/>
              </a:lnSpc>
              <a:buNone/>
              <a:defRPr/>
            </a:pPr>
            <a:endParaRPr lang="en-US" sz="1051" dirty="0"/>
          </a:p>
          <a:p>
            <a:pPr marL="82294" indent="0" algn="ctr">
              <a:lnSpc>
                <a:spcPct val="170000"/>
              </a:lnSpc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queries related to course(Assignments/Projects) just leave an email at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aqsa.safdar@uow.edu.pk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4" indent="0" algn="ctr">
              <a:lnSpc>
                <a:spcPct val="170000"/>
              </a:lnSpc>
              <a:buNone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office timings 08:00AM - 04:00 PM</a:t>
            </a:r>
          </a:p>
          <a:p>
            <a:pPr marL="82294" indent="0" algn="ctr">
              <a:lnSpc>
                <a:spcPct val="170000"/>
              </a:lnSpc>
              <a:buNone/>
              <a:defRPr/>
            </a:pPr>
            <a:endParaRPr lang="en-US" sz="1051" dirty="0"/>
          </a:p>
          <a:p>
            <a:pPr marL="82294" indent="0" algn="ctr">
              <a:lnSpc>
                <a:spcPct val="170000"/>
              </a:lnSpc>
              <a:buNone/>
              <a:defRPr/>
            </a:pPr>
            <a:r>
              <a:rPr lang="en-US" sz="2400" b="1" dirty="0"/>
              <a:t>   </a:t>
            </a:r>
          </a:p>
          <a:p>
            <a:pPr marL="82294" indent="0">
              <a:lnSpc>
                <a:spcPct val="170000"/>
              </a:lnSpc>
              <a:buNone/>
              <a:defRPr/>
            </a:pPr>
            <a:endParaRPr lang="en-US" sz="1051" dirty="0"/>
          </a:p>
          <a:p>
            <a:pPr marL="82294" indent="0">
              <a:lnSpc>
                <a:spcPct val="170000"/>
              </a:lnSpc>
              <a:buNone/>
              <a:defRPr/>
            </a:pPr>
            <a:endParaRPr lang="en-US" sz="105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C751A-2FB4-7C47-96D6-8D73110D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2AB1-B2D6-3DBD-BBED-F03BA051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Criteria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(2+1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C541AC-00C1-41FE-6ADF-05BDE09541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89502"/>
              </p:ext>
            </p:extLst>
          </p:nvPr>
        </p:nvGraphicFramePr>
        <p:xfrm>
          <a:off x="1423850" y="1843197"/>
          <a:ext cx="8987246" cy="4108920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4493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3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70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Assessment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7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Assignments/ Quizzes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sz="3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 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sz="3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 Term Exam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0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Term Exam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FD49E-B1D4-1838-C40A-46042048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EFE365-9C81-2F9D-C488-A50836C60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998853"/>
              </p:ext>
            </p:extLst>
          </p:nvPr>
        </p:nvGraphicFramePr>
        <p:xfrm>
          <a:off x="1806999" y="3476211"/>
          <a:ext cx="8894761" cy="3103563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8894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563"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572" marR="68572" marT="34295" marB="342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6392" name="Picture 7">
            <a:extLst>
              <a:ext uri="{FF2B5EF4-FFF2-40B4-BE49-F238E27FC236}">
                <a16:creationId xmlns:a16="http://schemas.microsoft.com/office/drawing/2014/main" id="{9AFA3CD3-5E54-10EF-087B-BBCF5F581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1"/>
            <a:ext cx="91440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EC5B08-6A19-22A9-2F02-29307E68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395" y="3476211"/>
            <a:ext cx="4698125" cy="484532"/>
          </a:xfrm>
        </p:spPr>
        <p:txBody>
          <a:bodyPr/>
          <a:lstStyle/>
          <a:p>
            <a:pPr algn="ctr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Quizzes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4" name="Content Placeholder 2">
            <a:extLst>
              <a:ext uri="{FF2B5EF4-FFF2-40B4-BE49-F238E27FC236}">
                <a16:creationId xmlns:a16="http://schemas.microsoft.com/office/drawing/2014/main" id="{4907B407-A18D-6F9F-D15A-B9DA8E50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963" y="4181476"/>
            <a:ext cx="4481512" cy="1819275"/>
          </a:xfrm>
        </p:spPr>
        <p:txBody>
          <a:bodyPr>
            <a:noAutofit/>
          </a:bodyPr>
          <a:lstStyle/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 will be due at the beginning of the class. Under normal circumstances, late work will not be accepted. </a:t>
            </a: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expected to do their own assignments.</a:t>
            </a:r>
          </a:p>
          <a:p>
            <a:pPr algn="just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Plagiarism will be observed strictly.</a:t>
            </a:r>
          </a:p>
        </p:txBody>
      </p:sp>
      <p:sp>
        <p:nvSpPr>
          <p:cNvPr id="16395" name="Title 1">
            <a:extLst>
              <a:ext uri="{FF2B5EF4-FFF2-40B4-BE49-F238E27FC236}">
                <a16:creationId xmlns:a16="http://schemas.microsoft.com/office/drawing/2014/main" id="{398F9159-B1D5-DE2E-1D86-1A98106D5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40" y="3476626"/>
            <a:ext cx="3767137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100" b="1" dirty="0">
                <a:cs typeface="Times New Roman" panose="02020603050405020304" pitchFamily="18" charset="0"/>
              </a:rPr>
              <a:t>Assignments</a:t>
            </a:r>
          </a:p>
        </p:txBody>
      </p:sp>
      <p:sp>
        <p:nvSpPr>
          <p:cNvPr id="16396" name="Content Placeholder 2">
            <a:extLst>
              <a:ext uri="{FF2B5EF4-FFF2-40B4-BE49-F238E27FC236}">
                <a16:creationId xmlns:a16="http://schemas.microsoft.com/office/drawing/2014/main" id="{CEB04247-E0E2-287A-118E-7579F6F61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3475" y="4181475"/>
            <a:ext cx="4078288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57225" indent="-246063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22338" indent="-219075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79513" indent="-200025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89063" indent="-182563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46263" indent="-182563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303463" indent="-182563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760663" indent="-182563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217863" indent="-182563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ts val="300"/>
              </a:spcBef>
              <a:buClr>
                <a:srgbClr val="B54A10"/>
              </a:buClr>
              <a:buSzTx/>
              <a:buFont typeface="Georgia" panose="02040502050405020303" pitchFamily="18" charset="0"/>
              <a:buChar char="•"/>
            </a:pPr>
            <a:r>
              <a:rPr lang="en-US" alt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Oral quizzes to check the understanding of previous lecture before starting the next.</a:t>
            </a:r>
          </a:p>
          <a:p>
            <a:pPr algn="just">
              <a:spcBef>
                <a:spcPts val="300"/>
              </a:spcBef>
              <a:buClr>
                <a:srgbClr val="B54A10"/>
              </a:buClr>
              <a:buSzTx/>
              <a:buFont typeface="Georgia" panose="02040502050405020303" pitchFamily="18" charset="0"/>
              <a:buChar char="•"/>
            </a:pPr>
            <a:r>
              <a:rPr lang="en-US" alt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Announced quizzes to assess the understanding of taught topics.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851862-8EF1-35F1-B14E-66A29891547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6247234" y="3476211"/>
            <a:ext cx="7144" cy="31035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127B1E-D316-0543-A7AA-4FCF7B9E065A}"/>
              </a:ext>
            </a:extLst>
          </p:cNvPr>
          <p:cNvCxnSpPr/>
          <p:nvPr/>
        </p:nvCxnSpPr>
        <p:spPr>
          <a:xfrm>
            <a:off x="1773240" y="4087813"/>
            <a:ext cx="878522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29D53-7607-9C7B-BA50-BB13CAAE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85B1-754A-6447-2C00-EB80A347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41"/>
            <a:ext cx="11018520" cy="650460"/>
          </a:xfrm>
        </p:spPr>
        <p:txBody>
          <a:bodyPr anchor="b">
            <a:normAutofit fontScale="90000"/>
          </a:bodyPr>
          <a:lstStyle/>
          <a:p>
            <a:pPr>
              <a:defRPr/>
            </a:pPr>
            <a:r>
              <a:rPr lang="en-US" sz="5400" dirty="0"/>
              <a:t>Few Things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D1F9-07D8-896D-B363-6B244788D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397001"/>
            <a:ext cx="6713552" cy="5222459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sensibility in your conduct.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should be your primary objective.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will be marked within 10 minutes at the start of the class.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of your attendance is mandatory.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b="1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</a:t>
            </a:r>
            <a:r>
              <a:rPr lang="en-US" sz="24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tolerance </a:t>
            </a:r>
            <a:r>
              <a:rPr lang="en-US" sz="24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</a:t>
            </a: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4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</a:t>
            </a:r>
            <a:r>
              <a:rPr lang="en-US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 </a:t>
            </a: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class </a:t>
            </a:r>
            <a:r>
              <a:rPr lang="en-US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 lectures.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 must </a:t>
            </a: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24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</a:t>
            </a: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time, no </a:t>
            </a:r>
            <a:r>
              <a:rPr lang="en-US" sz="24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r>
              <a:rPr lang="en-US" sz="2400" spc="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copied </a:t>
            </a:r>
            <a:r>
              <a:rPr lang="en-US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both parties </a:t>
            </a:r>
            <a:r>
              <a:rPr lang="en-US" sz="2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given</a:t>
            </a:r>
            <a:r>
              <a:rPr lang="en-US"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spc="-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miss </a:t>
            </a:r>
            <a:r>
              <a:rPr lang="en-US" sz="24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2400" spc="-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Classes, </a:t>
            </a:r>
            <a:r>
              <a:rPr lang="en-US" sz="24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Quizzes, Presentations, Assignments </a:t>
            </a:r>
            <a:r>
              <a:rPr lang="en-US" sz="2400" spc="-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Projects/Presentations.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all need to be a good human being.</a:t>
            </a:r>
          </a:p>
          <a:p>
            <a:pPr>
              <a:defRPr/>
            </a:pPr>
            <a:endParaRPr lang="en-US" sz="1700" dirty="0">
              <a:cs typeface="Calibri" panose="020F0502020204030204" pitchFamily="34" charset="0"/>
            </a:endParaRPr>
          </a:p>
          <a:p>
            <a:pPr>
              <a:defRPr/>
            </a:pPr>
            <a:endParaRPr lang="en-US" sz="1700" dirty="0">
              <a:cs typeface="Calibri" panose="020F0502020204030204" pitchFamily="34" charset="0"/>
            </a:endParaRPr>
          </a:p>
          <a:p>
            <a:pPr>
              <a:defRPr/>
            </a:pPr>
            <a:endParaRPr lang="en-US" sz="1700" dirty="0">
              <a:cs typeface="Calibri" panose="020F0502020204030204" pitchFamily="34" charset="0"/>
            </a:endParaRPr>
          </a:p>
        </p:txBody>
      </p:sp>
      <p:pic>
        <p:nvPicPr>
          <p:cNvPr id="18434" name="Picture 3" descr="A person holding a yellow note&#10;&#10;Description automatically generated">
            <a:extLst>
              <a:ext uri="{FF2B5EF4-FFF2-40B4-BE49-F238E27FC236}">
                <a16:creationId xmlns:a16="http://schemas.microsoft.com/office/drawing/2014/main" id="{1CF3C295-CDE4-50D4-1FBA-DD8E3772B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5" r="32904" b="-1"/>
          <a:stretch/>
        </p:blipFill>
        <p:spPr bwMode="auto">
          <a:xfrm>
            <a:off x="7649949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DCF38-A473-F164-8D44-DC8709D7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0259-332F-82D6-B63B-CDE72480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956A2-C505-2978-88C4-B837BAEE6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36914"/>
            <a:ext cx="10744200" cy="47444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this course include: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Computer System Organization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Programming (MIPS)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Datapath &amp; ALU Design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Architectures &amp; Performance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&amp; System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B7DD3-A0ED-09DA-32B2-E0DEB97C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3205-8CEE-29E5-EAA8-078194A9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0D40-EDF7-CD7D-4C4E-53970D2C0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&amp; ISA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Programming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&amp; ALU Design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Datapath &amp; Control (Verilog HDL)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Pipelining &amp; Hazards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&amp; Final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4DE9-4CCE-427B-CAE1-1052DE30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0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utcome Based Education OBE - what is it all about? | Creatrix Camp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3" y="-228600"/>
            <a:ext cx="12172277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87995" y="3245497"/>
            <a:ext cx="6238082" cy="30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DA7759-44E0-5C18-52D3-1C749A0B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7996" y="3429000"/>
            <a:ext cx="6096003" cy="764177"/>
          </a:xfrm>
        </p:spPr>
        <p:txBody>
          <a:bodyPr anchor="t">
            <a:noAutofit/>
          </a:bodyPr>
          <a:lstStyle/>
          <a:p>
            <a:pPr algn="ctr"/>
            <a:r>
              <a:rPr lang="en-US" sz="2000" b="1" dirty="0">
                <a:solidFill>
                  <a:srgbClr val="92D05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CLO Covered in this Lecture: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0AE5C9-637F-1E37-53EE-AED1B0DD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2134" y="3931920"/>
            <a:ext cx="6096003" cy="2361576"/>
          </a:xfrm>
        </p:spPr>
        <p:txBody>
          <a:bodyPr>
            <a:normAutofit fontScale="92500" lnSpcReduction="10000"/>
          </a:bodyPr>
          <a:lstStyle/>
          <a:p>
            <a:pPr marL="109535" indent="0" algn="ctr">
              <a:buNone/>
            </a:pPr>
            <a:r>
              <a:rPr lang="en-US" sz="2600" dirty="0">
                <a:solidFill>
                  <a:schemeClr val="tx1">
                    <a:alpha val="55000"/>
                  </a:schemeClr>
                </a:solidFill>
                <a:latin typeface="Arial Black" panose="020B0A04020102020204" pitchFamily="34" charset="0"/>
              </a:rPr>
              <a:t>CLO1: </a:t>
            </a:r>
            <a:r>
              <a:rPr lang="en-US" dirty="0">
                <a:latin typeface="Arial Black" panose="020B0A04020102020204" pitchFamily="34" charset="0"/>
              </a:rPr>
              <a:t>Explain the basic organization of a computer system, instruction set architecture (ISA), and processor performance metrics to understand how hardware executes programs.</a:t>
            </a:r>
          </a:p>
          <a:p>
            <a:pPr marL="109535" indent="0" algn="ctr">
              <a:buNone/>
            </a:pPr>
            <a:endParaRPr lang="en-US" sz="2400" dirty="0">
              <a:solidFill>
                <a:schemeClr val="tx1">
                  <a:alpha val="5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09F8F-C853-4531-A62C-67B1C0B3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9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045" y="208371"/>
            <a:ext cx="10515600" cy="98034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</a:t>
            </a:r>
            <a:r>
              <a:rPr lang="en-US" dirty="0" smtClean="0">
                <a:solidFill>
                  <a:srgbClr val="FF0000"/>
                </a:solidFill>
              </a:rPr>
              <a:t>Study COAL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06FA7-997B-EBA6-E33F-A27DA168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4F74563-C560-D727-8D9C-B718ED8843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6571" y="1152822"/>
            <a:ext cx="11469189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software interacts with hardware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 the gap between high-level programming and machine execution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knowledge for system-level understanding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works faster when the hardware is powerful and efficient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low-level system understanding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demand processor-level programming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execution time and CPI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pipeline and cache performance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efficient, optimized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programs using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MIPS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Assembly programming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Verilog HDL design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path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 control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Reasons to Study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computer works internally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(CPU, memory, registers).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instructions are executed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the processor.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problem-solving skills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hardware level.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performance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understanding memory and processing.</a:t>
            </a:r>
          </a:p>
          <a:p>
            <a:pPr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foundation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advanced subjects like Operating Systems and Computer Architecture.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8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" y="365125"/>
            <a:ext cx="11450320" cy="13255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Real life uses of Assembly Language</a:t>
            </a:r>
            <a:endParaRPr lang="en-US" dirty="0">
              <a:solidFill>
                <a:srgbClr val="FF0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58800" y="2447027"/>
            <a:ext cx="1133855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embedded systems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ATMs, traffic lights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operating systems for low-level tasks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write device drivers (keyboard, printer, graphics card)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game development for speed optimization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cybersecurity for malware analysis and reverse engineering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microcontrollers and small hardware devices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where high speed and direct hardware control are required</a:t>
            </a:r>
          </a:p>
        </p:txBody>
      </p:sp>
    </p:spTree>
    <p:extLst>
      <p:ext uri="{BB962C8B-B14F-4D97-AF65-F5344CB8AC3E}">
        <p14:creationId xmlns:p14="http://schemas.microsoft.com/office/powerpoint/2010/main" val="334428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9240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>Why Assembly is Used for High-Speed </a:t>
            </a:r>
            <a:r>
              <a:rPr lang="en-US" sz="3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Applications?</a:t>
            </a:r>
            <a:endParaRPr lang="en-US" sz="3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5440"/>
            <a:ext cx="11130280" cy="510603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talk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in Assembly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close to machine 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control over CPU and registers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extra layer (like compiler overhead)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in high-level languages.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written in Assembly 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Assembly is used where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 and performance are required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systems (traffic control, medical devices)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engines (graphics processing)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CCA37-FC17-84C2-7692-B49AA362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17BF9-A835-1AF2-17FB-26DF582FF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977"/>
            <a:ext cx="10515600" cy="527149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Computer System: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Computer Organization vs Computer Architecture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Units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Neumann Architecture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(Execution Time, CPI)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C2967-C218-5C1E-5393-8A773BCC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9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4F2FE-3B59-7928-6F81-375DB211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65125"/>
            <a:ext cx="1114552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Components of a Computer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8654-D5FF-6AC1-D624-1E4BEE514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Computer System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0B6F4-DD6B-A440-A6C0-9547298A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36B693-C7A1-F4B9-3D22-C6C546782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2441286"/>
            <a:ext cx="7142480" cy="409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992F-0BEA-9604-BCB6-12A6A189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550A-3DD8-C3BC-7BB9-DD98D4F82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0" y="1825625"/>
            <a:ext cx="11572240" cy="4351338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Unit: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data from the user and sends it to the CPU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 data temporarily inside the CPU (very fast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and manages all operations of the CPU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 (Arithmetic Logic Unit):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calculations and logical operations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Unit: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and instructions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Unit: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final result to the user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 → Registers → Control Unit → ALU → Memory Unit → Registers (if needed) → Output Unit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CC96-AF77-AD6F-427E-8F0702B6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0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8C72-98D7-51B9-70A1-FA8DC839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E018-8387-03EB-A619-12A3CB870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data and instructions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input into binary form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typing: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+ 3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converts keystrokes into binary signals.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46483-264A-0826-2E6F-AB9C5E50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508DD-883E-5A19-CF89-6F54B90FD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82" y="2111820"/>
            <a:ext cx="6096000" cy="25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8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FF73-3244-4809-0C9A-4BE365E8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FC4DC-7669-1A26-CF71-1A74201E2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processed binary results into human-readable form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computation: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displayed on screen.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393B1-BC50-8A13-4B17-E7C43288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7E576E-84C3-AAD1-80B2-DADE08255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170" y="2457165"/>
            <a:ext cx="3180485" cy="40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9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620A-0E51-DD13-9088-40B96DAB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796F-E8BF-707D-9A7B-54C804B4A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is the brain of the computer.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Logic Unit (ALU)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0759C-E79A-1CC8-FE56-B84F3078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AA04E-88FB-5220-6917-978B71C7F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052" y="2454680"/>
            <a:ext cx="4685232" cy="426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023AF-53FD-7920-6361-883C8CB9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Units of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A2A17-B980-E53E-A62A-3514C1959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Directs operations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control signals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instruction execution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arithmetic (+, −)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logical (AND, OR)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Small, fast storage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(Program Counter)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(Instruction Register)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A23D5-FB40-0BD6-3742-6C1F86ED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54CBF22-452E-CA1D-6DC5-F5C3B0F11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8975"/>
          <a:stretch>
            <a:fillRect/>
          </a:stretch>
        </p:blipFill>
        <p:spPr bwMode="auto">
          <a:xfrm>
            <a:off x="6248109" y="1425363"/>
            <a:ext cx="5105691" cy="49309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708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34FD-48BD-CB9A-202A-72980549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FBE0F-36F0-6B4F-6380-1A48D6B20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stored in memory: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48E23-13BC-E12D-4DA1-FEFA33F0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9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94FB9-9D66-7880-354D-1309DADC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Buses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D8C06-A5F9-E7A8-63F6-91C69703B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371870"/>
            <a:ext cx="4820920" cy="4242289"/>
          </a:xfrm>
        </p:spPr>
        <p:txBody>
          <a:bodyPr>
            <a:normAutofit/>
          </a:bodyPr>
          <a:lstStyle/>
          <a:p>
            <a:pPr fontAlgn="base"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transmitted from one part of a computer to another, connecting all major internal components to the CPU and memory, by the means of Buses. Types: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Bus: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carries data among the memory unit, the I/O devices, and the processor.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Bus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It carries the address of data (not the actual data) between memory and processor.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Bus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It carries control commands from the CPU (and status signals from other devices) in order to control and coordinate all the activities within the computer.</a:t>
            </a:r>
          </a:p>
          <a:p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B979FC-61D4-2A82-FC26-91A6C49E7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098872"/>
            <a:ext cx="6440424" cy="46049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5C824-C853-FCB5-6919-290C4A4C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7321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010B3FD-D42B-4ECD-862F-BCEC86522EA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3352-86BC-7172-0E9C-93D8A0363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1"/>
            <a:ext cx="10515600" cy="56006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Computer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070E-5549-1B9D-77E8-39384087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90" y="1048385"/>
            <a:ext cx="10904220" cy="5673090"/>
          </a:xfrm>
        </p:spPr>
        <p:txBody>
          <a:bodyPr>
            <a:normAutofit fontScale="550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Architecture Refers to those features of a computer system that are visible to the programmer meaning, things that affect how you write program.</a:t>
            </a:r>
          </a:p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(what operations the CPU can perform — e.g., add, subtract, multiply)</a:t>
            </a:r>
          </a:p>
          <a:p>
            <a:pPr marL="342900" indent="-342900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bits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represent data (8-bit, 16-bit, 32-bit, 64-bit)</a:t>
            </a:r>
          </a:p>
          <a:p>
            <a:pPr marL="342900" indent="-342900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representation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(how 1’s and 0’s are used)</a:t>
            </a:r>
          </a:p>
          <a:p>
            <a:pPr marL="342900" indent="-342900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modes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(how the CPU accesses data in memory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4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write:</a:t>
            </a:r>
          </a:p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int a = b + c;</a:t>
            </a: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defines: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instruction performs addition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registers are used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operands are accessed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45768-25C2-A95D-2B6C-E5FB83A4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8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F9ED-0D16-B81D-F8E2-963480F9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60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Computer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C678-30B5-4BA1-8718-AF9963FC2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set of instructions, registers, and data formats that define how software communicates with hardware.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specify the kind and size of data a processor can store and manipulate (e.g., integer, float, character).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modes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how an instruction specifies the location of its operands in memory or registers.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small, high-speed storage locations inside the CPU used to hold data and instructions temporarily.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describes how data and instructions are organized and accessed within the system’s memory structure.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A24E-55A4-E9BD-1737-86BF8BDE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2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ACA-2A05-1EE8-9DE4-3D0E660C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Computer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1C8C-0B2C-B726-05CC-4EBF51112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refers to how hardware components are arranged and interconnected to implement the architecture.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computer is built?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Datapath design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signals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 structure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1F632-110A-3CE6-5423-367DCFF1A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25</a:t>
            </a:fld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2C2F553-3392-4CDA-EE70-468EF6D91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522023"/>
            <a:ext cx="6554452" cy="423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2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4BFA-369B-3731-54BA-CB9F7FDFA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46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Computer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B8CBF-29A2-8511-D362-2193DCFE3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90"/>
            <a:ext cx="10515600" cy="4885373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Datapath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arrangement of hardware components (ALU, registers, multiplexers, buses) that move and process data inside the CPU.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electrical signals generated by the control unit to direct the operation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path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during instruction execution.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 structure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internal hardware organization of the Arithmetic Logic Unit that performs arithmetic and logical operations.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implementation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processor design technique that divides instruction execution into stages to execute multiple instructions simultaneously for improved performance.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ED0BD-49C4-E730-5542-D1B0FF7E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7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2D52C-DB09-CCD9-8462-B4766EED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04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Von Neumann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A0485-D90E-98DD-A5B6-B9F1CA007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both the program instructions and the data.</a:t>
            </a:r>
          </a:p>
          <a:p>
            <a:pPr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fetches instructions and data from the same place, one after another.</a:t>
            </a:r>
          </a:p>
          <a:p>
            <a:pPr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design is simpler and used in most traditional computers.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program concept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bus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execution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C2C7E-5685-D086-7E06-121BA1BF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4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6111-42C7-E1D8-EB99-BD061DF9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Von Neumann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6AB7B-FC59-2E1C-D1FD-2D4B10A0E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4E6BD-0FBE-30FD-89DE-AD221F70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6F456-2DCE-56E7-C837-91B3C167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379" y="1870075"/>
            <a:ext cx="6781704" cy="479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9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0970-8E33-1F1D-1C9E-8BB0CD2C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46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Registers</a:t>
            </a:r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80267-7A51-379F-2A04-563E3548D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90"/>
            <a:ext cx="10888980" cy="5566410"/>
          </a:xfrm>
        </p:spPr>
        <p:txBody>
          <a:bodyPr>
            <a:normAutofit/>
          </a:bodyPr>
          <a:lstStyle/>
          <a:p>
            <a:pPr fontAlgn="base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the results of calculations made by ALU.</a:t>
            </a:r>
          </a:p>
          <a:p>
            <a:pPr fontAlgn="base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(PC):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Keeps track of the memory location of the next instructions to be dealt with. The PC then passes this next address to Memory Address Register (MAR).</a:t>
            </a:r>
          </a:p>
          <a:p>
            <a:pPr fontAlgn="base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 Register (MAR):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stores the memory locations of instructions that need to be fetched from memory or stored into memory.</a:t>
            </a:r>
          </a:p>
          <a:p>
            <a:pPr fontAlgn="base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Data Register (MDR):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stores instructions fetched from memory or any data that is to be transferred to, and stored in, memory.</a:t>
            </a:r>
          </a:p>
          <a:p>
            <a:pPr fontAlgn="base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Instruction Register (CIR):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stores the most recently fetched instructions while it is waiting to be coded and executed.</a:t>
            </a:r>
          </a:p>
          <a:p>
            <a:pPr fontAlgn="base"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Buffer Register (IBR):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instruction that is not to be executed immediately is placed in the instruction buffer register IBR.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DB4CE-9EDA-DE7E-79DE-63E229FE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0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FFB0-F4D2-032D-59F1-304C3A13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Stored Program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DE2CE-AC9D-0A22-BEE4-0CF366D52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is stored in memory like data.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cycle: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Cycle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F968F-EC78-0D2B-FBDB-755BE2DD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AB5CA-1E2A-7B0C-B7D4-941717585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40727"/>
          <a:stretch>
            <a:fillRect/>
          </a:stretch>
        </p:blipFill>
        <p:spPr bwMode="auto">
          <a:xfrm>
            <a:off x="3607904" y="2733671"/>
            <a:ext cx="7671816" cy="16698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657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CD73-1C52-37CD-396D-F8AF9589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Stages of Fetch decode cycle</a:t>
            </a:r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8EF5D-AB3A-80E4-CCC3-E97290BF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step where the CPU retrieves the next instruction from memory using the Program Counter (PC).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step where the CPU interprets the fetched instruction to determine the required operation and operands.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step where the CPU performs the operation specified by the instruction using the ALU or other functional units.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A1BAC-3B75-13DF-FEB5-5EB1D16B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4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7A0C-E29D-2B91-C5E1-96E96017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Instruction Execution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E4B8D-FC35-AC73-E4E7-3003D376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A11E105C-16D5-C6FC-8A9F-3B7FCD92742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613108"/>
              </p:ext>
            </p:extLst>
          </p:nvPr>
        </p:nvGraphicFramePr>
        <p:xfrm>
          <a:off x="2706587" y="1432016"/>
          <a:ext cx="6778826" cy="5183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VISIO" r:id="rId4" imgW="3155760" imgH="2412720" progId="">
                  <p:embed/>
                </p:oleObj>
              </mc:Choice>
              <mc:Fallback>
                <p:oleObj name="VISIO" r:id="rId4" imgW="3155760" imgH="2412720" progId="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A11E105C-16D5-C6FC-8A9F-3B7FCD927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587" y="1432016"/>
                        <a:ext cx="6778826" cy="5183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830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4CD1-5F41-B2E3-CC01-C8A2E282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Step 1: 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7CAE-1BB8-C95E-1C53-12D6AA7C2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(PC)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holds the address of the next instruction.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CPU fetches instruction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I-1, I-2, I-3, I-4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Program RAM.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fetched instruction goes to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Queue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PC = 1000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at 1000 is: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$t0, $t1, $t2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instruction is fetched.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522ED-CDBC-BC8C-499D-F786A584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3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F72E-627B-6093-7D88-7C3EB5E4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Step 2: Decode: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3519-9842-B704-F0BF-06D7EE9A7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instruction moves from the Instruction Queue.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decodes it: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operation (add)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operands ($t1, $t2)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diagram: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Queue → decode → Registers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reads operand values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82C88-4D02-1F0C-0E26-96757E309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3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9807-BDE5-77DE-74C3-77F0C07D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Step 3: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8FB12-5F67-C70B-86A8-91EE9B02E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 go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 performs the operation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diagram: Registers → ALU → execute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$t1 = 5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$t2 = 3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 performs: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+ 3 = 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042-1FB5-E54E-309D-FCCD9C98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3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E952-1128-D381-D0C3-F495A27E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Step 4: Store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EEB00-1CE9-686D-24E7-028A3629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execution: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is stored back to: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register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Memory (RAM)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diagram: ALU → store the output → Data RAM or Registers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4B7F-C83C-0ECF-1247-24168AE0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0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A36A-514E-1C03-6379-7C6FF48A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Data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2DBBC-C699-6670-8FD9-BDB2F74A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(RAM)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instruction is: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$t0, 0($t1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load data from memory to registers</a:t>
            </a:r>
            <a:endParaRPr lang="en-US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fetched from Data RAM.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9FFDA-5C81-AE3A-3ED4-E2B63AF1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3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C54A-4C72-7C8C-7A64-86EF3D33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Arial Black" panose="020B0A04020102020204" pitchFamily="34" charset="0"/>
              </a:rPr>
              <a:t>Contd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DE465-4B9C-57DA-80F8-D56FA3A04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245" y="1913307"/>
            <a:ext cx="53747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arithmetic operations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logical operations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result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C30B6-0BB2-76C1-B040-BB86FB66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47459A-B503-8D60-F1D2-1D88FAFA6674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53747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Temporarily store operands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storage inside CPU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registers: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$t0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$t1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$s0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3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224A-6B39-0265-3E5C-A41C4F85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ED30E-7118-9D17-58A2-617A02566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measure performance?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processors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systems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efficiency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217D-7B92-09B7-1E1E-5104B76A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0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2383-F083-27C1-F50A-F7DB29956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Execution Time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81ED6-F8F2-E02E-23E0-DAEDE8106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= Total time to run a program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Elapsed Time (Wall-clock)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Time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program takes 5 seconds → Execution time = 5 sec.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F7E37-ADEE-1494-952D-007DA3BB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70F5-A888-D626-68A1-F58CDFF8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CPU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C07EE-933F-E531-5A7A-2D4610BBC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 Time= IC × CPI × CCT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IC= Instruction Count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= Cycles Per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need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CCT= Clock Cycle Time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3A5C8-15E0-E12C-30AC-A5C35C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41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EDE036-E3C5-7A26-8DAE-E9BEA2C54969}"/>
              </a:ext>
            </a:extLst>
          </p:cNvPr>
          <p:cNvGrpSpPr>
            <a:grpSpLocks/>
          </p:cNvGrpSpPr>
          <p:nvPr/>
        </p:nvGrpSpPr>
        <p:grpSpPr bwMode="auto">
          <a:xfrm>
            <a:off x="5339515" y="2321009"/>
            <a:ext cx="6162675" cy="503237"/>
            <a:chOff x="902" y="1123"/>
            <a:chExt cx="4205" cy="317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1CCDDFE-B547-26C5-1DD1-0DF4D4733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1123"/>
              <a:ext cx="4205" cy="144"/>
            </a:xfrm>
            <a:custGeom>
              <a:avLst/>
              <a:gdLst>
                <a:gd name="T0" fmla="*/ 0 w 4205"/>
                <a:gd name="T1" fmla="*/ 144 h 231"/>
                <a:gd name="T2" fmla="*/ 87 w 4205"/>
                <a:gd name="T3" fmla="*/ 144 h 231"/>
                <a:gd name="T4" fmla="*/ 87 w 4205"/>
                <a:gd name="T5" fmla="*/ 0 h 231"/>
                <a:gd name="T6" fmla="*/ 663 w 4205"/>
                <a:gd name="T7" fmla="*/ 0 h 231"/>
                <a:gd name="T8" fmla="*/ 663 w 4205"/>
                <a:gd name="T9" fmla="*/ 144 h 231"/>
                <a:gd name="T10" fmla="*/ 1239 w 4205"/>
                <a:gd name="T11" fmla="*/ 144 h 231"/>
                <a:gd name="T12" fmla="*/ 1239 w 4205"/>
                <a:gd name="T13" fmla="*/ 0 h 231"/>
                <a:gd name="T14" fmla="*/ 1815 w 4205"/>
                <a:gd name="T15" fmla="*/ 0 h 231"/>
                <a:gd name="T16" fmla="*/ 1815 w 4205"/>
                <a:gd name="T17" fmla="*/ 144 h 231"/>
                <a:gd name="T18" fmla="*/ 2391 w 4205"/>
                <a:gd name="T19" fmla="*/ 144 h 231"/>
                <a:gd name="T20" fmla="*/ 2391 w 4205"/>
                <a:gd name="T21" fmla="*/ 0 h 231"/>
                <a:gd name="T22" fmla="*/ 2967 w 4205"/>
                <a:gd name="T23" fmla="*/ 0 h 231"/>
                <a:gd name="T24" fmla="*/ 2967 w 4205"/>
                <a:gd name="T25" fmla="*/ 144 h 231"/>
                <a:gd name="T26" fmla="*/ 3543 w 4205"/>
                <a:gd name="T27" fmla="*/ 144 h 231"/>
                <a:gd name="T28" fmla="*/ 3543 w 4205"/>
                <a:gd name="T29" fmla="*/ 0 h 231"/>
                <a:gd name="T30" fmla="*/ 4119 w 4205"/>
                <a:gd name="T31" fmla="*/ 0 h 231"/>
                <a:gd name="T32" fmla="*/ 4120 w 4205"/>
                <a:gd name="T33" fmla="*/ 144 h 231"/>
                <a:gd name="T34" fmla="*/ 4205 w 4205"/>
                <a:gd name="T35" fmla="*/ 144 h 2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205" h="231">
                  <a:moveTo>
                    <a:pt x="0" y="231"/>
                  </a:moveTo>
                  <a:lnTo>
                    <a:pt x="87" y="231"/>
                  </a:lnTo>
                  <a:lnTo>
                    <a:pt x="87" y="0"/>
                  </a:lnTo>
                  <a:lnTo>
                    <a:pt x="663" y="0"/>
                  </a:lnTo>
                  <a:lnTo>
                    <a:pt x="663" y="231"/>
                  </a:lnTo>
                  <a:lnTo>
                    <a:pt x="1239" y="231"/>
                  </a:lnTo>
                  <a:lnTo>
                    <a:pt x="1239" y="0"/>
                  </a:lnTo>
                  <a:lnTo>
                    <a:pt x="1815" y="0"/>
                  </a:lnTo>
                  <a:lnTo>
                    <a:pt x="1815" y="231"/>
                  </a:lnTo>
                  <a:lnTo>
                    <a:pt x="2391" y="231"/>
                  </a:lnTo>
                  <a:lnTo>
                    <a:pt x="2391" y="0"/>
                  </a:lnTo>
                  <a:lnTo>
                    <a:pt x="2967" y="0"/>
                  </a:lnTo>
                  <a:lnTo>
                    <a:pt x="2967" y="231"/>
                  </a:lnTo>
                  <a:lnTo>
                    <a:pt x="3543" y="231"/>
                  </a:lnTo>
                  <a:lnTo>
                    <a:pt x="3543" y="0"/>
                  </a:lnTo>
                  <a:lnTo>
                    <a:pt x="4119" y="0"/>
                  </a:lnTo>
                  <a:lnTo>
                    <a:pt x="4120" y="231"/>
                  </a:lnTo>
                  <a:lnTo>
                    <a:pt x="4205" y="231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2A1D1658-4F21-4499-FDE4-168AFDDB0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1411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38C2E5A0-9D81-E369-881D-430FBB3B6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" y="1354"/>
              <a:ext cx="691" cy="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400"/>
                <a:t>Cycle 1</a:t>
              </a: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3C3D4A10-F905-D988-1AB3-07C07A0AF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1383"/>
              <a:ext cx="0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B42B7AA6-8148-D535-7863-5512E51E9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1383"/>
              <a:ext cx="0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C938384-D465-0EB6-4DD9-92A2A6B6A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1411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8029EC48-9084-AAD7-EB4B-900C781FC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1" y="1354"/>
              <a:ext cx="691" cy="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400"/>
                <a:t>Cycle 2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D8079631-5FE2-A755-CED1-8C97A1AE3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" y="1383"/>
              <a:ext cx="0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A751F8B4-B409-09E4-E609-6DBDD0C9B1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" y="1411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98EC980D-17BD-D1FC-F90C-678863B0D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3" y="1354"/>
              <a:ext cx="691" cy="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400"/>
                <a:t>Cycle 3</a:t>
              </a: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ED5AD457-F902-8F60-7D44-4217F8BCA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1383"/>
              <a:ext cx="0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730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F155-B439-674F-6E9E-BAE1590D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CPI (Cycles Per Instruction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CDDDF-0F79-3B00-0F01-D6BB9AA81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CPI tells how many clock cycles each instruction needs.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 = 1000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CPI = 2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Clock cycle = 1 ns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𝐶𝑃𝑈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=1000×2×1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=2000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CDDDF-0F79-3B00-0F01-D6BB9AA81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26DB0-3E9C-9CF4-61A3-2FA9AA92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4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BA83-B1F9-6D48-7C3A-5AAB6AA92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330" y="286384"/>
            <a:ext cx="10515600" cy="74358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Clock Rate vs Clock Cycle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72DDF7-BA24-7554-3289-AA3EA9B039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5545"/>
                <a:ext cx="10515600" cy="5535930"/>
              </a:xfrm>
            </p:spPr>
            <p:txBody>
              <a:bodyPr>
                <a:normAutofit/>
              </a:bodyPr>
              <a:lstStyle/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Clock rate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tells how many clock cycles a CPU performs in one second. It is usually measured in Hz, MHz, or GHz.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Clock</m:t>
                    </m:r>
                    <m:r>
                      <m:rPr>
                        <m:nor/>
                      </m:rPr>
                      <a:rPr lang="en-US" b="1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cycle</m:t>
                    </m:r>
                    <m:r>
                      <m:rPr>
                        <m:nor/>
                      </m:rPr>
                      <a:rPr lang="en-US" b="1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time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time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required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to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complete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one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clock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cycle</m:t>
                    </m:r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72DDF7-BA24-7554-3289-AA3EA9B039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5545"/>
                <a:ext cx="10515600" cy="5535930"/>
              </a:xfrm>
              <a:blipFill>
                <a:blip r:embed="rId3"/>
                <a:stretch>
                  <a:fillRect l="-1043" t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8C27B-D66C-CCAD-86B6-F61CBC31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43746"/>
            <a:ext cx="9955530" cy="1645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547867"/>
            <a:ext cx="9742169" cy="180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6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51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Clock Cycle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017" y="1202636"/>
            <a:ext cx="10734260" cy="287240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44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32183" y="4313790"/>
            <a:ext cx="92500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clock rate → more cycles per second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cycles → instructions processed faster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clock cycle time → faster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clock rate → shorter cycle time → faster execution</a:t>
            </a:r>
          </a:p>
        </p:txBody>
      </p:sp>
    </p:spTree>
    <p:extLst>
      <p:ext uri="{BB962C8B-B14F-4D97-AF65-F5344CB8AC3E}">
        <p14:creationId xmlns:p14="http://schemas.microsoft.com/office/powerpoint/2010/main" val="39626235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C407-84B0-487F-A082-86F618A6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32067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3C681-18AC-19D1-27F7-9D13F8E90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A: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= 1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= 2 GHz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B: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= 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= 3 GHz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Calculate which is faster?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6C0A4-FEFB-846C-E0B4-4B147B49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7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261FE-9F8B-8D20-A8A5-7B7D736A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Summary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DEE7D-97D1-B0BE-6AE5-C4DB7D857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vs Organization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Units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Neumann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Program Concept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Formula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83B88-1990-BA50-DA38-742E645E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B3FD-D42B-4ECD-862F-BCEC86522EA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4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2181</Words>
  <Application>Microsoft Office PowerPoint</Application>
  <PresentationFormat>Widescreen</PresentationFormat>
  <Paragraphs>449</Paragraphs>
  <Slides>46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Aptos</vt:lpstr>
      <vt:lpstr>Aptos Display</vt:lpstr>
      <vt:lpstr>Arial</vt:lpstr>
      <vt:lpstr>Arial Black</vt:lpstr>
      <vt:lpstr>Calibri</vt:lpstr>
      <vt:lpstr>Cambria Math</vt:lpstr>
      <vt:lpstr>Courier New</vt:lpstr>
      <vt:lpstr>Georgia</vt:lpstr>
      <vt:lpstr>Times New Roman</vt:lpstr>
      <vt:lpstr>Wingdings</vt:lpstr>
      <vt:lpstr>Office Theme</vt:lpstr>
      <vt:lpstr>VISIO</vt:lpstr>
      <vt:lpstr>PowerPoint Presentation</vt:lpstr>
      <vt:lpstr>Course administration</vt:lpstr>
      <vt:lpstr>PowerPoint Presentation</vt:lpstr>
      <vt:lpstr>Evaluation Criteria (2+1 Credit hrs)</vt:lpstr>
      <vt:lpstr>Quizzes</vt:lpstr>
      <vt:lpstr>Few Things to Remember</vt:lpstr>
      <vt:lpstr>Course Objectives</vt:lpstr>
      <vt:lpstr>Course Overview</vt:lpstr>
      <vt:lpstr>CLO Covered in this Lecture:</vt:lpstr>
      <vt:lpstr>Why Study COAL?</vt:lpstr>
      <vt:lpstr>Reasons to Study COAL </vt:lpstr>
      <vt:lpstr>Real life uses of Assembly Language</vt:lpstr>
      <vt:lpstr>Why Assembly is Used for High-Speed Applications?</vt:lpstr>
      <vt:lpstr>Lecture Outline</vt:lpstr>
      <vt:lpstr>Components of a Computer System</vt:lpstr>
      <vt:lpstr>Input/output Devices</vt:lpstr>
      <vt:lpstr>Input Unit</vt:lpstr>
      <vt:lpstr>Output Unit</vt:lpstr>
      <vt:lpstr>Central Processing Unit (CPU)</vt:lpstr>
      <vt:lpstr>Functional Units of CPU</vt:lpstr>
      <vt:lpstr>Memory Unit</vt:lpstr>
      <vt:lpstr>Buses</vt:lpstr>
      <vt:lpstr>Computer Architecture</vt:lpstr>
      <vt:lpstr>Computer Architecture</vt:lpstr>
      <vt:lpstr>Computer Organization</vt:lpstr>
      <vt:lpstr>Computer Organization</vt:lpstr>
      <vt:lpstr>Von Neumann Architecture</vt:lpstr>
      <vt:lpstr>Von Neumann Architecture</vt:lpstr>
      <vt:lpstr>Registers</vt:lpstr>
      <vt:lpstr>Stored Program Concept</vt:lpstr>
      <vt:lpstr>Stages of Fetch decode cycle</vt:lpstr>
      <vt:lpstr>Instruction Execution Cycle</vt:lpstr>
      <vt:lpstr>Step 1: Fetch</vt:lpstr>
      <vt:lpstr>Step 2: Decode:</vt:lpstr>
      <vt:lpstr>Step 3: Execute</vt:lpstr>
      <vt:lpstr>Step 4: Store Result</vt:lpstr>
      <vt:lpstr>Data Memory</vt:lpstr>
      <vt:lpstr>Contd…</vt:lpstr>
      <vt:lpstr>Performance Metrics</vt:lpstr>
      <vt:lpstr>Execution Time </vt:lpstr>
      <vt:lpstr>CPU Performance</vt:lpstr>
      <vt:lpstr>CPI (Cycles Per Instruction)</vt:lpstr>
      <vt:lpstr>Clock Rate vs Clock Cycle</vt:lpstr>
      <vt:lpstr>Clock Cycle</vt:lpstr>
      <vt:lpstr>Task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shoaib</dc:creator>
  <cp:lastModifiedBy>FINE LAPTOP</cp:lastModifiedBy>
  <cp:revision>44</cp:revision>
  <dcterms:created xsi:type="dcterms:W3CDTF">2026-03-02T04:31:06Z</dcterms:created>
  <dcterms:modified xsi:type="dcterms:W3CDTF">2026-03-11T05:57:02Z</dcterms:modified>
</cp:coreProperties>
</file>