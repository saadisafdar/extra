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323" r:id="rId2"/>
    <p:sldId id="421" r:id="rId3"/>
    <p:sldId id="324" r:id="rId4"/>
    <p:sldId id="419" r:id="rId5"/>
    <p:sldId id="420" r:id="rId6"/>
    <p:sldId id="298" r:id="rId7"/>
    <p:sldId id="356" r:id="rId8"/>
    <p:sldId id="357" r:id="rId9"/>
    <p:sldId id="355" r:id="rId10"/>
    <p:sldId id="299" r:id="rId11"/>
    <p:sldId id="310" r:id="rId12"/>
    <p:sldId id="300" r:id="rId13"/>
    <p:sldId id="311" r:id="rId14"/>
    <p:sldId id="301" r:id="rId15"/>
    <p:sldId id="302" r:id="rId16"/>
    <p:sldId id="312" r:id="rId17"/>
    <p:sldId id="35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91139" autoAdjust="0"/>
  </p:normalViewPr>
  <p:slideViewPr>
    <p:cSldViewPr snapToGrid="0">
      <p:cViewPr varScale="1">
        <p:scale>
          <a:sx n="75" d="100"/>
          <a:sy n="75" d="100"/>
        </p:scale>
        <p:origin x="99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CDFDBE-DC96-4D48-8AE4-FBED9340CE80}" type="datetimeFigureOut">
              <a:rPr lang="en-US" smtClean="0"/>
              <a:t>11/11/2024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766D6A-D958-4BB7-898A-61251ED72C68}" type="slidenum">
              <a:rPr lang="en-US" smtClean="0"/>
              <a:t>‹#›</a:t>
            </a:fld>
            <a:endParaRPr lang="en-US"/>
          </a:p>
        </p:txBody>
      </p:sp>
    </p:spTree>
    <p:extLst>
      <p:ext uri="{BB962C8B-B14F-4D97-AF65-F5344CB8AC3E}">
        <p14:creationId xmlns:p14="http://schemas.microsoft.com/office/powerpoint/2010/main" val="1290651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&lt;</a:t>
            </a:r>
            <a:r>
              <a:rPr lang="en-US" dirty="0" err="1"/>
              <a:t>stdlib</a:t>
            </a:r>
            <a:r>
              <a:rPr lang="en-US" dirty="0"/>
              <a:t>&gt; for dynamic memory allocation </a:t>
            </a:r>
          </a:p>
        </p:txBody>
      </p:sp>
      <p:sp>
        <p:nvSpPr>
          <p:cNvPr id="4" name="Slide Number Placeholder 3"/>
          <p:cNvSpPr>
            <a:spLocks noGrp="1"/>
          </p:cNvSpPr>
          <p:nvPr>
            <p:ph type="sldNum" sz="quarter" idx="5"/>
          </p:nvPr>
        </p:nvSpPr>
        <p:spPr/>
        <p:txBody>
          <a:bodyPr/>
          <a:lstStyle/>
          <a:p>
            <a:fld id="{3F766D6A-D958-4BB7-898A-61251ED72C68}" type="slidenum">
              <a:rPr lang="en-US" smtClean="0"/>
              <a:t>4</a:t>
            </a:fld>
            <a:endParaRPr lang="en-US"/>
          </a:p>
        </p:txBody>
      </p:sp>
    </p:spTree>
    <p:extLst>
      <p:ext uri="{BB962C8B-B14F-4D97-AF65-F5344CB8AC3E}">
        <p14:creationId xmlns:p14="http://schemas.microsoft.com/office/powerpoint/2010/main" val="1637747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&lt;</a:t>
            </a:r>
            <a:r>
              <a:rPr lang="en-US" dirty="0" err="1"/>
              <a:t>stdlib</a:t>
            </a:r>
            <a:r>
              <a:rPr lang="en-US" dirty="0"/>
              <a:t>&gt; for dynamic memory allocation </a:t>
            </a:r>
          </a:p>
          <a:p>
            <a:r>
              <a:rPr lang="en-US" dirty="0"/>
              <a:t>Head = new</a:t>
            </a:r>
            <a:r>
              <a:rPr lang="en-US"/>
              <a:t>(struct node)</a:t>
            </a:r>
            <a:endParaRPr lang="en-US" dirty="0"/>
          </a:p>
        </p:txBody>
      </p:sp>
      <p:sp>
        <p:nvSpPr>
          <p:cNvPr id="4" name="Slide Number Placeholder 3"/>
          <p:cNvSpPr>
            <a:spLocks noGrp="1"/>
          </p:cNvSpPr>
          <p:nvPr>
            <p:ph type="sldNum" sz="quarter" idx="5"/>
          </p:nvPr>
        </p:nvSpPr>
        <p:spPr/>
        <p:txBody>
          <a:bodyPr/>
          <a:lstStyle/>
          <a:p>
            <a:fld id="{3F766D6A-D958-4BB7-898A-61251ED72C68}" type="slidenum">
              <a:rPr lang="en-US" smtClean="0"/>
              <a:t>5</a:t>
            </a:fld>
            <a:endParaRPr lang="en-US"/>
          </a:p>
        </p:txBody>
      </p:sp>
    </p:spTree>
    <p:extLst>
      <p:ext uri="{BB962C8B-B14F-4D97-AF65-F5344CB8AC3E}">
        <p14:creationId xmlns:p14="http://schemas.microsoft.com/office/powerpoint/2010/main" val="2821037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7"/>
          <p:cNvSpPr>
            <a:spLocks noGrp="1" noChangeArrowheads="1"/>
          </p:cNvSpPr>
          <p:nvPr>
            <p:ph type="sldNum"/>
          </p:nvPr>
        </p:nvSpPr>
        <p:spPr>
          <a:ln/>
        </p:spPr>
        <p:txBody>
          <a:bodyPr/>
          <a:lstStyle/>
          <a:p>
            <a:fld id="{FB745764-1A9D-4C31-ADEB-9B67A2071BF9}" type="slidenum">
              <a:rPr lang="en-US">
                <a:solidFill>
                  <a:prstClr val="black"/>
                </a:solidFill>
              </a:rPr>
              <a:pPr/>
              <a:t>6</a:t>
            </a:fld>
            <a:endParaRPr lang="en-US">
              <a:solidFill>
                <a:prstClr val="black"/>
              </a:solidFill>
            </a:endParaRPr>
          </a:p>
        </p:txBody>
      </p:sp>
      <p:sp>
        <p:nvSpPr>
          <p:cNvPr id="185345" name="Text Box 1"/>
          <p:cNvSpPr txBox="1">
            <a:spLocks noChangeArrowheads="1"/>
          </p:cNvSpPr>
          <p:nvPr/>
        </p:nvSpPr>
        <p:spPr bwMode="auto">
          <a:xfrm>
            <a:off x="388620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fld id="{3413D851-4243-4FC5-B7C8-1E73DC56BF40}" type="slidenum">
              <a:rPr lang="en-US" sz="1200" b="1">
                <a:solidFill>
                  <a:srgbClr val="000000"/>
                </a:solidFill>
                <a:ea typeface="DejaVu Sans" charset="0"/>
                <a:cs typeface="DejaVu Sans" charset="0"/>
              </a:rPr>
              <a:pPr algn="r">
                <a:buSzPct val="45000"/>
                <a:buFont typeface="Wingdings" panose="05000000000000000000" pitchFamily="2" charset="2"/>
                <a:buNone/>
              </a:pPr>
              <a:t>6</a:t>
            </a:fld>
            <a:endParaRPr lang="en-US" sz="1200" b="1">
              <a:solidFill>
                <a:srgbClr val="000000"/>
              </a:solidFill>
              <a:ea typeface="DejaVu Sans" charset="0"/>
              <a:cs typeface="DejaVu Sans" charset="0"/>
            </a:endParaRPr>
          </a:p>
        </p:txBody>
      </p:sp>
      <p:sp>
        <p:nvSpPr>
          <p:cNvPr id="185346" name="Text Box 2"/>
          <p:cNvSpPr txBox="1">
            <a:spLocks noChangeArrowheads="1"/>
          </p:cNvSpPr>
          <p:nvPr/>
        </p:nvSpPr>
        <p:spPr bwMode="auto">
          <a:xfrm>
            <a:off x="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7" name="Text Box 3"/>
          <p:cNvSpPr txBox="1">
            <a:spLocks noChangeArrowheads="1"/>
          </p:cNvSpPr>
          <p:nvPr/>
        </p:nvSpPr>
        <p:spPr bwMode="auto">
          <a:xfrm>
            <a:off x="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8" name="Text Box 4"/>
          <p:cNvSpPr txBox="1">
            <a:spLocks noChangeArrowheads="1"/>
          </p:cNvSpPr>
          <p:nvPr/>
        </p:nvSpPr>
        <p:spPr bwMode="auto">
          <a:xfrm>
            <a:off x="388620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9" name="Rectangle 5"/>
          <p:cNvSpPr txBox="1">
            <a:spLocks noGrp="1" noRot="1" noChangeAspect="1" noChangeArrowheads="1"/>
          </p:cNvSpPr>
          <p:nvPr>
            <p:ph type="sldImg"/>
          </p:nvPr>
        </p:nvSpPr>
        <p:spPr bwMode="auto">
          <a:xfrm>
            <a:off x="369888" y="688975"/>
            <a:ext cx="6118225"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5350" name="Rectangle 6"/>
          <p:cNvSpPr txBox="1">
            <a:spLocks noGrp="1" noChangeArrowheads="1"/>
          </p:cNvSpPr>
          <p:nvPr>
            <p:ph type="body" idx="1"/>
          </p:nvPr>
        </p:nvSpPr>
        <p:spPr bwMode="auto">
          <a:xfrm>
            <a:off x="223838" y="4360863"/>
            <a:ext cx="6434137" cy="4130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311687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7"/>
          <p:cNvSpPr>
            <a:spLocks noGrp="1" noChangeArrowheads="1"/>
          </p:cNvSpPr>
          <p:nvPr>
            <p:ph type="sldNum"/>
          </p:nvPr>
        </p:nvSpPr>
        <p:spPr>
          <a:ln/>
        </p:spPr>
        <p:txBody>
          <a:bodyPr/>
          <a:lstStyle/>
          <a:p>
            <a:fld id="{FB745764-1A9D-4C31-ADEB-9B67A2071BF9}" type="slidenum">
              <a:rPr lang="en-US">
                <a:solidFill>
                  <a:prstClr val="black"/>
                </a:solidFill>
              </a:rPr>
              <a:pPr/>
              <a:t>7</a:t>
            </a:fld>
            <a:endParaRPr lang="en-US">
              <a:solidFill>
                <a:prstClr val="black"/>
              </a:solidFill>
            </a:endParaRPr>
          </a:p>
        </p:txBody>
      </p:sp>
      <p:sp>
        <p:nvSpPr>
          <p:cNvPr id="185345" name="Text Box 1"/>
          <p:cNvSpPr txBox="1">
            <a:spLocks noChangeArrowheads="1"/>
          </p:cNvSpPr>
          <p:nvPr/>
        </p:nvSpPr>
        <p:spPr bwMode="auto">
          <a:xfrm>
            <a:off x="388620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fld id="{3413D851-4243-4FC5-B7C8-1E73DC56BF40}" type="slidenum">
              <a:rPr lang="en-US" sz="1200" b="1">
                <a:solidFill>
                  <a:srgbClr val="000000"/>
                </a:solidFill>
                <a:ea typeface="DejaVu Sans" charset="0"/>
                <a:cs typeface="DejaVu Sans" charset="0"/>
              </a:rPr>
              <a:pPr algn="r">
                <a:buSzPct val="45000"/>
                <a:buFont typeface="Wingdings" panose="05000000000000000000" pitchFamily="2" charset="2"/>
                <a:buNone/>
              </a:pPr>
              <a:t>7</a:t>
            </a:fld>
            <a:endParaRPr lang="en-US" sz="1200" b="1">
              <a:solidFill>
                <a:srgbClr val="000000"/>
              </a:solidFill>
              <a:ea typeface="DejaVu Sans" charset="0"/>
              <a:cs typeface="DejaVu Sans" charset="0"/>
            </a:endParaRPr>
          </a:p>
        </p:txBody>
      </p:sp>
      <p:sp>
        <p:nvSpPr>
          <p:cNvPr id="185346" name="Text Box 2"/>
          <p:cNvSpPr txBox="1">
            <a:spLocks noChangeArrowheads="1"/>
          </p:cNvSpPr>
          <p:nvPr/>
        </p:nvSpPr>
        <p:spPr bwMode="auto">
          <a:xfrm>
            <a:off x="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7" name="Text Box 3"/>
          <p:cNvSpPr txBox="1">
            <a:spLocks noChangeArrowheads="1"/>
          </p:cNvSpPr>
          <p:nvPr/>
        </p:nvSpPr>
        <p:spPr bwMode="auto">
          <a:xfrm>
            <a:off x="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8" name="Text Box 4"/>
          <p:cNvSpPr txBox="1">
            <a:spLocks noChangeArrowheads="1"/>
          </p:cNvSpPr>
          <p:nvPr/>
        </p:nvSpPr>
        <p:spPr bwMode="auto">
          <a:xfrm>
            <a:off x="388620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9" name="Rectangle 5"/>
          <p:cNvSpPr txBox="1">
            <a:spLocks noGrp="1" noRot="1" noChangeAspect="1" noChangeArrowheads="1"/>
          </p:cNvSpPr>
          <p:nvPr>
            <p:ph type="sldImg"/>
          </p:nvPr>
        </p:nvSpPr>
        <p:spPr bwMode="auto">
          <a:xfrm>
            <a:off x="369888" y="688975"/>
            <a:ext cx="6118225"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5350" name="Rectangle 6"/>
          <p:cNvSpPr txBox="1">
            <a:spLocks noGrp="1" noChangeArrowheads="1"/>
          </p:cNvSpPr>
          <p:nvPr>
            <p:ph type="body" idx="1"/>
          </p:nvPr>
        </p:nvSpPr>
        <p:spPr bwMode="auto">
          <a:xfrm>
            <a:off x="223838" y="4360863"/>
            <a:ext cx="6434137" cy="4130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377135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7"/>
          <p:cNvSpPr>
            <a:spLocks noGrp="1" noChangeArrowheads="1"/>
          </p:cNvSpPr>
          <p:nvPr>
            <p:ph type="sldNum"/>
          </p:nvPr>
        </p:nvSpPr>
        <p:spPr>
          <a:ln/>
        </p:spPr>
        <p:txBody>
          <a:bodyPr/>
          <a:lstStyle/>
          <a:p>
            <a:fld id="{FB745764-1A9D-4C31-ADEB-9B67A2071BF9}" type="slidenum">
              <a:rPr lang="en-US">
                <a:solidFill>
                  <a:prstClr val="black"/>
                </a:solidFill>
              </a:rPr>
              <a:pPr/>
              <a:t>8</a:t>
            </a:fld>
            <a:endParaRPr lang="en-US">
              <a:solidFill>
                <a:prstClr val="black"/>
              </a:solidFill>
            </a:endParaRPr>
          </a:p>
        </p:txBody>
      </p:sp>
      <p:sp>
        <p:nvSpPr>
          <p:cNvPr id="185345" name="Text Box 1"/>
          <p:cNvSpPr txBox="1">
            <a:spLocks noChangeArrowheads="1"/>
          </p:cNvSpPr>
          <p:nvPr/>
        </p:nvSpPr>
        <p:spPr bwMode="auto">
          <a:xfrm>
            <a:off x="388620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fld id="{3413D851-4243-4FC5-B7C8-1E73DC56BF40}" type="slidenum">
              <a:rPr lang="en-US" sz="1200" b="1">
                <a:solidFill>
                  <a:srgbClr val="000000"/>
                </a:solidFill>
                <a:ea typeface="DejaVu Sans" charset="0"/>
                <a:cs typeface="DejaVu Sans" charset="0"/>
              </a:rPr>
              <a:pPr algn="r">
                <a:buSzPct val="45000"/>
                <a:buFont typeface="Wingdings" panose="05000000000000000000" pitchFamily="2" charset="2"/>
                <a:buNone/>
              </a:pPr>
              <a:t>8</a:t>
            </a:fld>
            <a:endParaRPr lang="en-US" sz="1200" b="1">
              <a:solidFill>
                <a:srgbClr val="000000"/>
              </a:solidFill>
              <a:ea typeface="DejaVu Sans" charset="0"/>
              <a:cs typeface="DejaVu Sans" charset="0"/>
            </a:endParaRPr>
          </a:p>
        </p:txBody>
      </p:sp>
      <p:sp>
        <p:nvSpPr>
          <p:cNvPr id="185346" name="Text Box 2"/>
          <p:cNvSpPr txBox="1">
            <a:spLocks noChangeArrowheads="1"/>
          </p:cNvSpPr>
          <p:nvPr/>
        </p:nvSpPr>
        <p:spPr bwMode="auto">
          <a:xfrm>
            <a:off x="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7" name="Text Box 3"/>
          <p:cNvSpPr txBox="1">
            <a:spLocks noChangeArrowheads="1"/>
          </p:cNvSpPr>
          <p:nvPr/>
        </p:nvSpPr>
        <p:spPr bwMode="auto">
          <a:xfrm>
            <a:off x="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8" name="Text Box 4"/>
          <p:cNvSpPr txBox="1">
            <a:spLocks noChangeArrowheads="1"/>
          </p:cNvSpPr>
          <p:nvPr/>
        </p:nvSpPr>
        <p:spPr bwMode="auto">
          <a:xfrm>
            <a:off x="388620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9" name="Rectangle 5"/>
          <p:cNvSpPr txBox="1">
            <a:spLocks noGrp="1" noRot="1" noChangeAspect="1" noChangeArrowheads="1"/>
          </p:cNvSpPr>
          <p:nvPr>
            <p:ph type="sldImg"/>
          </p:nvPr>
        </p:nvSpPr>
        <p:spPr bwMode="auto">
          <a:xfrm>
            <a:off x="369888" y="688975"/>
            <a:ext cx="6118225"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5350" name="Rectangle 6"/>
          <p:cNvSpPr txBox="1">
            <a:spLocks noGrp="1" noChangeArrowheads="1"/>
          </p:cNvSpPr>
          <p:nvPr>
            <p:ph type="body" idx="1"/>
          </p:nvPr>
        </p:nvSpPr>
        <p:spPr bwMode="auto">
          <a:xfrm>
            <a:off x="223838" y="4360863"/>
            <a:ext cx="6434137" cy="4130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2510648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7"/>
          <p:cNvSpPr>
            <a:spLocks noGrp="1" noChangeArrowheads="1"/>
          </p:cNvSpPr>
          <p:nvPr>
            <p:ph type="sldNum"/>
          </p:nvPr>
        </p:nvSpPr>
        <p:spPr>
          <a:ln/>
        </p:spPr>
        <p:txBody>
          <a:bodyPr/>
          <a:lstStyle/>
          <a:p>
            <a:fld id="{FB745764-1A9D-4C31-ADEB-9B67A2071BF9}" type="slidenum">
              <a:rPr lang="en-US">
                <a:solidFill>
                  <a:prstClr val="black"/>
                </a:solidFill>
              </a:rPr>
              <a:pPr/>
              <a:t>9</a:t>
            </a:fld>
            <a:endParaRPr lang="en-US">
              <a:solidFill>
                <a:prstClr val="black"/>
              </a:solidFill>
            </a:endParaRPr>
          </a:p>
        </p:txBody>
      </p:sp>
      <p:sp>
        <p:nvSpPr>
          <p:cNvPr id="185345" name="Text Box 1"/>
          <p:cNvSpPr txBox="1">
            <a:spLocks noChangeArrowheads="1"/>
          </p:cNvSpPr>
          <p:nvPr/>
        </p:nvSpPr>
        <p:spPr bwMode="auto">
          <a:xfrm>
            <a:off x="388620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fld id="{3413D851-4243-4FC5-B7C8-1E73DC56BF40}" type="slidenum">
              <a:rPr lang="en-US" sz="1200" b="1">
                <a:solidFill>
                  <a:srgbClr val="000000"/>
                </a:solidFill>
                <a:ea typeface="DejaVu Sans" charset="0"/>
                <a:cs typeface="DejaVu Sans" charset="0"/>
              </a:rPr>
              <a:pPr algn="r">
                <a:buSzPct val="45000"/>
                <a:buFont typeface="Wingdings" panose="05000000000000000000" pitchFamily="2" charset="2"/>
                <a:buNone/>
              </a:pPr>
              <a:t>9</a:t>
            </a:fld>
            <a:endParaRPr lang="en-US" sz="1200" b="1">
              <a:solidFill>
                <a:srgbClr val="000000"/>
              </a:solidFill>
              <a:ea typeface="DejaVu Sans" charset="0"/>
              <a:cs typeface="DejaVu Sans" charset="0"/>
            </a:endParaRPr>
          </a:p>
        </p:txBody>
      </p:sp>
      <p:sp>
        <p:nvSpPr>
          <p:cNvPr id="185346" name="Text Box 2"/>
          <p:cNvSpPr txBox="1">
            <a:spLocks noChangeArrowheads="1"/>
          </p:cNvSpPr>
          <p:nvPr/>
        </p:nvSpPr>
        <p:spPr bwMode="auto">
          <a:xfrm>
            <a:off x="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7" name="Text Box 3"/>
          <p:cNvSpPr txBox="1">
            <a:spLocks noChangeArrowheads="1"/>
          </p:cNvSpPr>
          <p:nvPr/>
        </p:nvSpPr>
        <p:spPr bwMode="auto">
          <a:xfrm>
            <a:off x="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8" name="Text Box 4"/>
          <p:cNvSpPr txBox="1">
            <a:spLocks noChangeArrowheads="1"/>
          </p:cNvSpPr>
          <p:nvPr/>
        </p:nvSpPr>
        <p:spPr bwMode="auto">
          <a:xfrm>
            <a:off x="388620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9" name="Rectangle 5"/>
          <p:cNvSpPr txBox="1">
            <a:spLocks noGrp="1" noRot="1" noChangeAspect="1" noChangeArrowheads="1"/>
          </p:cNvSpPr>
          <p:nvPr>
            <p:ph type="sldImg"/>
          </p:nvPr>
        </p:nvSpPr>
        <p:spPr bwMode="auto">
          <a:xfrm>
            <a:off x="369888" y="688975"/>
            <a:ext cx="6118225"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5350" name="Rectangle 6"/>
          <p:cNvSpPr txBox="1">
            <a:spLocks noGrp="1" noChangeArrowheads="1"/>
          </p:cNvSpPr>
          <p:nvPr>
            <p:ph type="body" idx="1"/>
          </p:nvPr>
        </p:nvSpPr>
        <p:spPr bwMode="auto">
          <a:xfrm>
            <a:off x="223838" y="4360863"/>
            <a:ext cx="6434137" cy="4130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31553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10</a:t>
            </a:fld>
            <a:endParaRPr lang="en-US"/>
          </a:p>
        </p:txBody>
      </p:sp>
    </p:spTree>
    <p:extLst>
      <p:ext uri="{BB962C8B-B14F-4D97-AF65-F5344CB8AC3E}">
        <p14:creationId xmlns:p14="http://schemas.microsoft.com/office/powerpoint/2010/main" val="1739486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latin typeface="Arial" panose="020B0604020202020204" pitchFamily="34" charset="0"/>
                <a:ea typeface="Noto Sans CJK SC" charset="0"/>
                <a:cs typeface="Noto Sans CJK SC" charset="0"/>
              </a:rPr>
              <a:t>Temp= new(struct node);</a:t>
            </a:r>
          </a:p>
        </p:txBody>
      </p:sp>
      <p:sp>
        <p:nvSpPr>
          <p:cNvPr id="4" name="Slide Number Placeholder 3"/>
          <p:cNvSpPr>
            <a:spLocks noGrp="1"/>
          </p:cNvSpPr>
          <p:nvPr>
            <p:ph type="sldNum" sz="quarter" idx="5"/>
          </p:nvPr>
        </p:nvSpPr>
        <p:spPr/>
        <p:txBody>
          <a:bodyPr/>
          <a:lstStyle/>
          <a:p>
            <a:fld id="{A4DE04C5-1AD6-4988-801F-A2CA2774D824}" type="slidenum">
              <a:rPr lang="en-US" smtClean="0"/>
              <a:t>11</a:t>
            </a:fld>
            <a:endParaRPr lang="en-US"/>
          </a:p>
        </p:txBody>
      </p:sp>
    </p:spTree>
    <p:extLst>
      <p:ext uri="{BB962C8B-B14F-4D97-AF65-F5344CB8AC3E}">
        <p14:creationId xmlns:p14="http://schemas.microsoft.com/office/powerpoint/2010/main" val="4069462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12</a:t>
            </a:fld>
            <a:endParaRPr lang="en-US"/>
          </a:p>
        </p:txBody>
      </p:sp>
    </p:spTree>
    <p:extLst>
      <p:ext uri="{BB962C8B-B14F-4D97-AF65-F5344CB8AC3E}">
        <p14:creationId xmlns:p14="http://schemas.microsoft.com/office/powerpoint/2010/main" val="1808767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13</a:t>
            </a:fld>
            <a:endParaRPr lang="en-US"/>
          </a:p>
        </p:txBody>
      </p:sp>
    </p:spTree>
    <p:extLst>
      <p:ext uri="{BB962C8B-B14F-4D97-AF65-F5344CB8AC3E}">
        <p14:creationId xmlns:p14="http://schemas.microsoft.com/office/powerpoint/2010/main" val="19697281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7"/>
          <p:cNvSpPr>
            <a:spLocks noGrp="1" noChangeArrowheads="1"/>
          </p:cNvSpPr>
          <p:nvPr>
            <p:ph type="sldNum"/>
          </p:nvPr>
        </p:nvSpPr>
        <p:spPr>
          <a:ln/>
        </p:spPr>
        <p:txBody>
          <a:bodyPr/>
          <a:lstStyle/>
          <a:p>
            <a:fld id="{FB745764-1A9D-4C31-ADEB-9B67A2071BF9}" type="slidenum">
              <a:rPr lang="en-US">
                <a:solidFill>
                  <a:prstClr val="black"/>
                </a:solidFill>
              </a:rPr>
              <a:pPr/>
              <a:t>14</a:t>
            </a:fld>
            <a:endParaRPr lang="en-US">
              <a:solidFill>
                <a:prstClr val="black"/>
              </a:solidFill>
            </a:endParaRPr>
          </a:p>
        </p:txBody>
      </p:sp>
      <p:sp>
        <p:nvSpPr>
          <p:cNvPr id="185345" name="Text Box 1"/>
          <p:cNvSpPr txBox="1">
            <a:spLocks noChangeArrowheads="1"/>
          </p:cNvSpPr>
          <p:nvPr/>
        </p:nvSpPr>
        <p:spPr bwMode="auto">
          <a:xfrm>
            <a:off x="388620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fld id="{3413D851-4243-4FC5-B7C8-1E73DC56BF40}" type="slidenum">
              <a:rPr lang="en-US" sz="1200" b="1">
                <a:solidFill>
                  <a:srgbClr val="000000"/>
                </a:solidFill>
                <a:ea typeface="DejaVu Sans" charset="0"/>
                <a:cs typeface="DejaVu Sans" charset="0"/>
              </a:rPr>
              <a:pPr algn="r">
                <a:buSzPct val="45000"/>
                <a:buFont typeface="Wingdings" panose="05000000000000000000" pitchFamily="2" charset="2"/>
                <a:buNone/>
              </a:pPr>
              <a:t>14</a:t>
            </a:fld>
            <a:endParaRPr lang="en-US" sz="1200" b="1">
              <a:solidFill>
                <a:srgbClr val="000000"/>
              </a:solidFill>
              <a:ea typeface="DejaVu Sans" charset="0"/>
              <a:cs typeface="DejaVu Sans" charset="0"/>
            </a:endParaRPr>
          </a:p>
        </p:txBody>
      </p:sp>
      <p:sp>
        <p:nvSpPr>
          <p:cNvPr id="185346" name="Text Box 2"/>
          <p:cNvSpPr txBox="1">
            <a:spLocks noChangeArrowheads="1"/>
          </p:cNvSpPr>
          <p:nvPr/>
        </p:nvSpPr>
        <p:spPr bwMode="auto">
          <a:xfrm>
            <a:off x="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7" name="Text Box 3"/>
          <p:cNvSpPr txBox="1">
            <a:spLocks noChangeArrowheads="1"/>
          </p:cNvSpPr>
          <p:nvPr/>
        </p:nvSpPr>
        <p:spPr bwMode="auto">
          <a:xfrm>
            <a:off x="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8" name="Text Box 4"/>
          <p:cNvSpPr txBox="1">
            <a:spLocks noChangeArrowheads="1"/>
          </p:cNvSpPr>
          <p:nvPr/>
        </p:nvSpPr>
        <p:spPr bwMode="auto">
          <a:xfrm>
            <a:off x="388620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9" name="Rectangle 5"/>
          <p:cNvSpPr txBox="1">
            <a:spLocks noGrp="1" noRot="1" noChangeAspect="1" noChangeArrowheads="1"/>
          </p:cNvSpPr>
          <p:nvPr>
            <p:ph type="sldImg"/>
          </p:nvPr>
        </p:nvSpPr>
        <p:spPr bwMode="auto">
          <a:xfrm>
            <a:off x="369888" y="688975"/>
            <a:ext cx="6118225"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5350" name="Rectangle 6"/>
          <p:cNvSpPr txBox="1">
            <a:spLocks noGrp="1" noChangeArrowheads="1"/>
          </p:cNvSpPr>
          <p:nvPr>
            <p:ph type="body" idx="1"/>
          </p:nvPr>
        </p:nvSpPr>
        <p:spPr bwMode="auto">
          <a:xfrm>
            <a:off x="223838" y="4360863"/>
            <a:ext cx="6434137" cy="4130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3827489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15</a:t>
            </a:fld>
            <a:endParaRPr lang="en-US"/>
          </a:p>
        </p:txBody>
      </p:sp>
    </p:spTree>
    <p:extLst>
      <p:ext uri="{BB962C8B-B14F-4D97-AF65-F5344CB8AC3E}">
        <p14:creationId xmlns:p14="http://schemas.microsoft.com/office/powerpoint/2010/main" val="2446999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latin typeface="Arial" panose="020B0604020202020204" pitchFamily="34" charset="0"/>
                <a:ea typeface="Noto Sans CJK SC" charset="0"/>
                <a:cs typeface="Noto Sans CJK SC" charset="0"/>
              </a:rPr>
              <a:t>Temp=new</a:t>
            </a:r>
            <a:r>
              <a:rPr lang="en-GB">
                <a:latin typeface="Arial" panose="020B0604020202020204" pitchFamily="34" charset="0"/>
                <a:ea typeface="Noto Sans CJK SC" charset="0"/>
                <a:cs typeface="Noto Sans CJK SC" charset="0"/>
              </a:rPr>
              <a:t>(struct node);</a:t>
            </a: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16</a:t>
            </a:fld>
            <a:endParaRPr lang="en-US"/>
          </a:p>
        </p:txBody>
      </p:sp>
    </p:spTree>
    <p:extLst>
      <p:ext uri="{BB962C8B-B14F-4D97-AF65-F5344CB8AC3E}">
        <p14:creationId xmlns:p14="http://schemas.microsoft.com/office/powerpoint/2010/main" val="1490653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Lecture 2</a:t>
            </a:r>
          </a:p>
        </p:txBody>
      </p:sp>
      <p:sp>
        <p:nvSpPr>
          <p:cNvPr id="5" name="Footer Placeholder 4"/>
          <p:cNvSpPr>
            <a:spLocks noGrp="1"/>
          </p:cNvSpPr>
          <p:nvPr>
            <p:ph type="ftr" sz="quarter" idx="11"/>
          </p:nvPr>
        </p:nvSpPr>
        <p:spPr/>
        <p:txBody>
          <a:bodyPr/>
          <a:lstStyle/>
          <a:p>
            <a:r>
              <a:rPr lang="en-US"/>
              <a:t>Object-Oriented Programming</a:t>
            </a:r>
          </a:p>
        </p:txBody>
      </p:sp>
      <p:sp>
        <p:nvSpPr>
          <p:cNvPr id="6" name="Slide Number Placeholder 5"/>
          <p:cNvSpPr>
            <a:spLocks noGrp="1"/>
          </p:cNvSpPr>
          <p:nvPr>
            <p:ph type="sldNum" sz="quarter" idx="12"/>
          </p:nvPr>
        </p:nvSpPr>
        <p:spPr/>
        <p:txBody>
          <a:bodyPr/>
          <a:lstStyle/>
          <a:p>
            <a:fld id="{938FCA96-F313-4D0B-BA7B-A6A3793754D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5479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Lecture 2</a:t>
            </a:r>
          </a:p>
        </p:txBody>
      </p:sp>
      <p:sp>
        <p:nvSpPr>
          <p:cNvPr id="5" name="Footer Placeholder 4"/>
          <p:cNvSpPr>
            <a:spLocks noGrp="1"/>
          </p:cNvSpPr>
          <p:nvPr>
            <p:ph type="ftr" sz="quarter" idx="11"/>
          </p:nvPr>
        </p:nvSpPr>
        <p:spPr/>
        <p:txBody>
          <a:bodyPr/>
          <a:lstStyle/>
          <a:p>
            <a:r>
              <a:rPr lang="en-US"/>
              <a:t>Object-Oriented Programming</a:t>
            </a:r>
          </a:p>
        </p:txBody>
      </p:sp>
      <p:sp>
        <p:nvSpPr>
          <p:cNvPr id="6" name="Slide Number Placeholder 5"/>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1905716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Lecture 2</a:t>
            </a:r>
          </a:p>
        </p:txBody>
      </p:sp>
      <p:sp>
        <p:nvSpPr>
          <p:cNvPr id="5" name="Footer Placeholder 4"/>
          <p:cNvSpPr>
            <a:spLocks noGrp="1"/>
          </p:cNvSpPr>
          <p:nvPr>
            <p:ph type="ftr" sz="quarter" idx="11"/>
          </p:nvPr>
        </p:nvSpPr>
        <p:spPr/>
        <p:txBody>
          <a:bodyPr/>
          <a:lstStyle/>
          <a:p>
            <a:r>
              <a:rPr lang="en-US"/>
              <a:t>Object-Oriented Programming</a:t>
            </a:r>
          </a:p>
        </p:txBody>
      </p:sp>
      <p:sp>
        <p:nvSpPr>
          <p:cNvPr id="6" name="Slide Number Placeholder 5"/>
          <p:cNvSpPr>
            <a:spLocks noGrp="1"/>
          </p:cNvSpPr>
          <p:nvPr>
            <p:ph type="sldNum" sz="quarter" idx="12"/>
          </p:nvPr>
        </p:nvSpPr>
        <p:spPr/>
        <p:txBody>
          <a:bodyPr/>
          <a:lstStyle/>
          <a:p>
            <a:fld id="{938FCA96-F313-4D0B-BA7B-A6A3793754D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1024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Lecture 2</a:t>
            </a:r>
          </a:p>
        </p:txBody>
      </p:sp>
      <p:sp>
        <p:nvSpPr>
          <p:cNvPr id="6" name="Footer Placeholder 5"/>
          <p:cNvSpPr>
            <a:spLocks noGrp="1"/>
          </p:cNvSpPr>
          <p:nvPr>
            <p:ph type="ftr" sz="quarter" idx="11"/>
          </p:nvPr>
        </p:nvSpPr>
        <p:spPr/>
        <p:txBody>
          <a:bodyPr/>
          <a:lstStyle/>
          <a:p>
            <a:r>
              <a:rPr lang="en-US"/>
              <a:t>Object-Oriented Programming</a:t>
            </a:r>
          </a:p>
        </p:txBody>
      </p:sp>
      <p:sp>
        <p:nvSpPr>
          <p:cNvPr id="7" name="Slide Number Placeholder 6"/>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1286347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Lecture 2</a:t>
            </a:r>
          </a:p>
        </p:txBody>
      </p:sp>
      <p:sp>
        <p:nvSpPr>
          <p:cNvPr id="8" name="Footer Placeholder 7"/>
          <p:cNvSpPr>
            <a:spLocks noGrp="1"/>
          </p:cNvSpPr>
          <p:nvPr>
            <p:ph type="ftr" sz="quarter" idx="11"/>
          </p:nvPr>
        </p:nvSpPr>
        <p:spPr/>
        <p:txBody>
          <a:bodyPr/>
          <a:lstStyle/>
          <a:p>
            <a:r>
              <a:rPr lang="en-US"/>
              <a:t>Object-Oriented Programming</a:t>
            </a:r>
          </a:p>
        </p:txBody>
      </p:sp>
      <p:sp>
        <p:nvSpPr>
          <p:cNvPr id="9" name="Slide Number Placeholder 8"/>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307892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Lecture 2</a:t>
            </a:r>
          </a:p>
        </p:txBody>
      </p:sp>
      <p:sp>
        <p:nvSpPr>
          <p:cNvPr id="4" name="Footer Placeholder 3"/>
          <p:cNvSpPr>
            <a:spLocks noGrp="1"/>
          </p:cNvSpPr>
          <p:nvPr>
            <p:ph type="ftr" sz="quarter" idx="11"/>
          </p:nvPr>
        </p:nvSpPr>
        <p:spPr/>
        <p:txBody>
          <a:bodyPr/>
          <a:lstStyle/>
          <a:p>
            <a:r>
              <a:rPr lang="en-US"/>
              <a:t>Object-Oriented Programming</a:t>
            </a:r>
          </a:p>
        </p:txBody>
      </p:sp>
      <p:sp>
        <p:nvSpPr>
          <p:cNvPr id="5" name="Slide Number Placeholder 4"/>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1135724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n-US"/>
              <a:t>Lecture 2</a:t>
            </a:r>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Object-Oriented Programming</a:t>
            </a:r>
          </a:p>
        </p:txBody>
      </p:sp>
      <p:sp>
        <p:nvSpPr>
          <p:cNvPr id="9" name="Slide Number Placeholder 8"/>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1988814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n-US"/>
              <a:t>Lecture 2</a:t>
            </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Object-Oriented Programming</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38FCA96-F313-4D0B-BA7B-A6A3793754D7}" type="slidenum">
              <a:rPr lang="en-US" smtClean="0"/>
              <a:t>‹#›</a:t>
            </a:fld>
            <a:endParaRPr lang="en-US"/>
          </a:p>
        </p:txBody>
      </p:sp>
    </p:spTree>
    <p:extLst>
      <p:ext uri="{BB962C8B-B14F-4D97-AF65-F5344CB8AC3E}">
        <p14:creationId xmlns:p14="http://schemas.microsoft.com/office/powerpoint/2010/main" val="1372040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Lecture 2</a:t>
            </a:r>
          </a:p>
        </p:txBody>
      </p:sp>
      <p:sp>
        <p:nvSpPr>
          <p:cNvPr id="6" name="Footer Placeholder 5"/>
          <p:cNvSpPr>
            <a:spLocks noGrp="1"/>
          </p:cNvSpPr>
          <p:nvPr>
            <p:ph type="ftr" sz="quarter" idx="11"/>
          </p:nvPr>
        </p:nvSpPr>
        <p:spPr/>
        <p:txBody>
          <a:bodyPr/>
          <a:lstStyle/>
          <a:p>
            <a:r>
              <a:rPr lang="en-US"/>
              <a:t>Object-Oriented Programming</a:t>
            </a:r>
          </a:p>
        </p:txBody>
      </p:sp>
      <p:sp>
        <p:nvSpPr>
          <p:cNvPr id="7" name="Slide Number Placeholder 6"/>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2259307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Lecture 2</a:t>
            </a:r>
          </a:p>
        </p:txBody>
      </p:sp>
      <p:sp>
        <p:nvSpPr>
          <p:cNvPr id="5" name="Footer Placeholder 4"/>
          <p:cNvSpPr>
            <a:spLocks noGrp="1"/>
          </p:cNvSpPr>
          <p:nvPr>
            <p:ph type="ftr" sz="quarter" idx="11"/>
          </p:nvPr>
        </p:nvSpPr>
        <p:spPr/>
        <p:txBody>
          <a:bodyPr/>
          <a:lstStyle/>
          <a:p>
            <a:r>
              <a:rPr lang="en-US"/>
              <a:t>Object-Oriented Programming</a:t>
            </a:r>
          </a:p>
        </p:txBody>
      </p:sp>
      <p:sp>
        <p:nvSpPr>
          <p:cNvPr id="6" name="Slide Number Placeholder 5"/>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4030085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Lecture 2</a:t>
            </a:r>
          </a:p>
        </p:txBody>
      </p:sp>
      <p:sp>
        <p:nvSpPr>
          <p:cNvPr id="5" name="Footer Placeholder 4"/>
          <p:cNvSpPr>
            <a:spLocks noGrp="1"/>
          </p:cNvSpPr>
          <p:nvPr>
            <p:ph type="ftr" sz="quarter" idx="11"/>
          </p:nvPr>
        </p:nvSpPr>
        <p:spPr/>
        <p:txBody>
          <a:bodyPr/>
          <a:lstStyle/>
          <a:p>
            <a:r>
              <a:rPr lang="en-US"/>
              <a:t>Object-Oriented Programming</a:t>
            </a:r>
          </a:p>
        </p:txBody>
      </p:sp>
      <p:sp>
        <p:nvSpPr>
          <p:cNvPr id="6" name="Slide Number Placeholder 5"/>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2817772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n-US"/>
              <a:t>Lecture 2</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Object-Oriented Programming</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38FCA96-F313-4D0B-BA7B-A6A3793754D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22852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E98EC7A-B0FB-41A6-866A-7FE9D1DE8E2A}"/>
              </a:ext>
            </a:extLst>
          </p:cNvPr>
          <p:cNvSpPr>
            <a:spLocks noGrp="1"/>
          </p:cNvSpPr>
          <p:nvPr>
            <p:ph type="ctrTitle"/>
          </p:nvPr>
        </p:nvSpPr>
        <p:spPr>
          <a:xfrm>
            <a:off x="1524000" y="1600200"/>
            <a:ext cx="8915400" cy="1830388"/>
          </a:xfrm>
        </p:spPr>
        <p:txBody>
          <a:bodyPr>
            <a:normAutofit fontScale="90000"/>
          </a:bodyPr>
          <a:lstStyle/>
          <a:p>
            <a:pPr algn="ctr" fontAlgn="auto">
              <a:spcAft>
                <a:spcPts val="0"/>
              </a:spcAft>
              <a:defRPr/>
            </a:pPr>
            <a:r>
              <a:rPr lang="en-US" dirty="0"/>
              <a:t>Data Structures and Algorithm</a:t>
            </a:r>
          </a:p>
        </p:txBody>
      </p:sp>
      <p:sp>
        <p:nvSpPr>
          <p:cNvPr id="11267" name="Subtitle 4">
            <a:extLst>
              <a:ext uri="{FF2B5EF4-FFF2-40B4-BE49-F238E27FC236}">
                <a16:creationId xmlns:a16="http://schemas.microsoft.com/office/drawing/2014/main" id="{76CBCB26-2BF2-27D4-B0B5-20E88F1D03C7}"/>
              </a:ext>
            </a:extLst>
          </p:cNvPr>
          <p:cNvSpPr>
            <a:spLocks noGrp="1"/>
          </p:cNvSpPr>
          <p:nvPr>
            <p:ph type="subTitle" idx="1"/>
          </p:nvPr>
        </p:nvSpPr>
        <p:spPr>
          <a:xfrm>
            <a:off x="1100138" y="4456113"/>
            <a:ext cx="10058400" cy="1143000"/>
          </a:xfrm>
        </p:spPr>
        <p:txBody>
          <a:bodyPr rtlCol="0">
            <a:normAutofit fontScale="85000" lnSpcReduction="20000"/>
          </a:bodyPr>
          <a:lstStyle/>
          <a:p>
            <a:pPr fontAlgn="auto">
              <a:defRPr/>
            </a:pPr>
            <a:r>
              <a:rPr lang="en-GB" altLang="en-US" dirty="0"/>
              <a:t>Course Code: CS-201</a:t>
            </a:r>
          </a:p>
          <a:p>
            <a:pPr fontAlgn="auto">
              <a:defRPr/>
            </a:pPr>
            <a:r>
              <a:rPr lang="en-GB" altLang="en-US" dirty="0"/>
              <a:t>Topic: Singly Linked List  Insertion </a:t>
            </a:r>
          </a:p>
          <a:p>
            <a:pPr fontAlgn="auto">
              <a:defRPr/>
            </a:pPr>
            <a:r>
              <a:rPr lang="en-GB" altLang="en-US" dirty="0"/>
              <a:t>Course Instructor: Habiba </a:t>
            </a:r>
            <a:r>
              <a:rPr lang="en-GB" altLang="en-US" dirty="0" err="1"/>
              <a:t>arshad</a:t>
            </a:r>
            <a:r>
              <a:rPr lang="en-GB" altLang="en-US" dirty="0"/>
              <a:t> </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59584-E0D7-FB02-3CC2-2D1C22708025}"/>
              </a:ext>
            </a:extLst>
          </p:cNvPr>
          <p:cNvSpPr>
            <a:spLocks noGrp="1"/>
          </p:cNvSpPr>
          <p:nvPr>
            <p:ph type="title"/>
          </p:nvPr>
        </p:nvSpPr>
        <p:spPr/>
        <p:txBody>
          <a:bodyPr/>
          <a:lstStyle/>
          <a:p>
            <a:r>
              <a:rPr lang="en-US" dirty="0"/>
              <a:t>CLO Covered in this lecture</a:t>
            </a:r>
          </a:p>
        </p:txBody>
      </p:sp>
      <p:sp>
        <p:nvSpPr>
          <p:cNvPr id="3" name="Content Placeholder 2">
            <a:extLst>
              <a:ext uri="{FF2B5EF4-FFF2-40B4-BE49-F238E27FC236}">
                <a16:creationId xmlns:a16="http://schemas.microsoft.com/office/drawing/2014/main" id="{A170FC8E-511B-99A8-8CE1-76694FC2CBC2}"/>
              </a:ext>
            </a:extLst>
          </p:cNvPr>
          <p:cNvSpPr>
            <a:spLocks noGrp="1"/>
          </p:cNvSpPr>
          <p:nvPr>
            <p:ph idx="1"/>
          </p:nvPr>
        </p:nvSpPr>
        <p:spPr/>
        <p:txBody>
          <a:bodyPr>
            <a:normAutofit/>
          </a:bodyPr>
          <a:lstStyle/>
          <a:p>
            <a:r>
              <a:rPr lang="en-US" sz="3200" dirty="0"/>
              <a:t>CLO2: </a:t>
            </a:r>
            <a:r>
              <a:rPr lang="en-US" sz="3200" b="1" dirty="0"/>
              <a:t>Apply</a:t>
            </a:r>
            <a:r>
              <a:rPr lang="en-US" sz="3200" dirty="0"/>
              <a:t> and design various data structures methods for specified applications. </a:t>
            </a:r>
          </a:p>
        </p:txBody>
      </p:sp>
    </p:spTree>
    <p:extLst>
      <p:ext uri="{BB962C8B-B14F-4D97-AF65-F5344CB8AC3E}">
        <p14:creationId xmlns:p14="http://schemas.microsoft.com/office/powerpoint/2010/main" val="4179059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586249-2C03-9822-3A0C-528D24D2D721}"/>
              </a:ext>
            </a:extLst>
          </p:cNvPr>
          <p:cNvSpPr>
            <a:spLocks noGrp="1"/>
          </p:cNvSpPr>
          <p:nvPr>
            <p:ph type="title"/>
          </p:nvPr>
        </p:nvSpPr>
        <p:spPr/>
        <p:txBody>
          <a:bodyPr/>
          <a:lstStyle/>
          <a:p>
            <a:pPr fontAlgn="auto">
              <a:spcAft>
                <a:spcPts val="0"/>
              </a:spcAft>
              <a:defRPr/>
            </a:pPr>
            <a:r>
              <a:rPr lang="en-US" dirty="0">
                <a:solidFill>
                  <a:schemeClr val="tx1">
                    <a:lumMod val="75000"/>
                    <a:lumOff val="25000"/>
                  </a:schemeClr>
                </a:solidFill>
              </a:rPr>
              <a:t>Goals for today</a:t>
            </a:r>
          </a:p>
        </p:txBody>
      </p:sp>
      <p:sp>
        <p:nvSpPr>
          <p:cNvPr id="11267" name="Content Placeholder 1">
            <a:extLst>
              <a:ext uri="{FF2B5EF4-FFF2-40B4-BE49-F238E27FC236}">
                <a16:creationId xmlns:a16="http://schemas.microsoft.com/office/drawing/2014/main" id="{4DAC6C23-80DD-CEF5-29BB-9902033C798B}"/>
              </a:ext>
            </a:extLst>
          </p:cNvPr>
          <p:cNvSpPr>
            <a:spLocks noGrp="1" noChangeArrowheads="1"/>
          </p:cNvSpPr>
          <p:nvPr>
            <p:ph idx="1"/>
          </p:nvPr>
        </p:nvSpPr>
        <p:spPr>
          <a:xfrm>
            <a:off x="1096963" y="1905000"/>
            <a:ext cx="10058400" cy="4525963"/>
          </a:xfrm>
        </p:spPr>
        <p:txBody>
          <a:bodyPr/>
          <a:lstStyle/>
          <a:p>
            <a:r>
              <a:rPr lang="en-GB" altLang="en-US" sz="2800" dirty="0"/>
              <a:t>To study:</a:t>
            </a:r>
          </a:p>
          <a:p>
            <a:pPr>
              <a:buFont typeface="Wingdings 3" panose="05040102010807070707" pitchFamily="18" charset="2"/>
              <a:buNone/>
            </a:pPr>
            <a:endParaRPr lang="en-GB" altLang="en-US" sz="2800" dirty="0"/>
          </a:p>
          <a:p>
            <a:pPr lvl="1"/>
            <a:r>
              <a:rPr lang="en-US" altLang="en-US" sz="2800" dirty="0"/>
              <a:t>Singly Linked List</a:t>
            </a:r>
          </a:p>
          <a:p>
            <a:pPr lvl="2"/>
            <a:r>
              <a:rPr lang="en-US" altLang="en-US" sz="2400" dirty="0"/>
              <a:t>Insertion</a:t>
            </a:r>
          </a:p>
          <a:p>
            <a:pPr lvl="2"/>
            <a:r>
              <a:rPr lang="en-US" altLang="en-US" sz="2400" dirty="0"/>
              <a:t>Deletion</a:t>
            </a:r>
          </a:p>
          <a:p>
            <a:endParaRPr lang="en-US" altLang="en-US" dirty="0"/>
          </a:p>
          <a:p>
            <a:endParaRPr lang="en-US" altLang="en-US" dirty="0"/>
          </a:p>
          <a:p>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0800E-18C0-45C2-32CF-63490FBC8F87}"/>
              </a:ext>
            </a:extLst>
          </p:cNvPr>
          <p:cNvSpPr>
            <a:spLocks noGrp="1"/>
          </p:cNvSpPr>
          <p:nvPr>
            <p:ph type="title"/>
          </p:nvPr>
        </p:nvSpPr>
        <p:spPr>
          <a:xfrm>
            <a:off x="636814" y="510496"/>
            <a:ext cx="10918371" cy="1143000"/>
          </a:xfrm>
        </p:spPr>
        <p:txBody>
          <a:bodyPr lIns="73399" tIns="36699" rIns="73399" bIns="36699">
            <a:normAutofit/>
          </a:bodyPr>
          <a:lstStyle/>
          <a:p>
            <a:pPr fontAlgn="auto">
              <a:spcAft>
                <a:spcPts val="0"/>
              </a:spcAft>
              <a:defRPr/>
            </a:pPr>
            <a:r>
              <a:rPr lang="en-US" dirty="0">
                <a:solidFill>
                  <a:schemeClr val="tx1">
                    <a:lumMod val="75000"/>
                    <a:lumOff val="25000"/>
                  </a:schemeClr>
                </a:solidFill>
                <a:latin typeface="Algerian" pitchFamily="82" charset="0"/>
              </a:rPr>
              <a:t>Creation of node </a:t>
            </a:r>
          </a:p>
        </p:txBody>
      </p:sp>
      <p:sp>
        <p:nvSpPr>
          <p:cNvPr id="3" name="Content Placeholder 2">
            <a:extLst>
              <a:ext uri="{FF2B5EF4-FFF2-40B4-BE49-F238E27FC236}">
                <a16:creationId xmlns:a16="http://schemas.microsoft.com/office/drawing/2014/main" id="{3A4A7001-0D8B-B23D-C85B-7FD744DD7796}"/>
              </a:ext>
            </a:extLst>
          </p:cNvPr>
          <p:cNvSpPr>
            <a:spLocks noGrp="1"/>
          </p:cNvSpPr>
          <p:nvPr>
            <p:ph idx="1"/>
          </p:nvPr>
        </p:nvSpPr>
        <p:spPr>
          <a:xfrm>
            <a:off x="500742" y="1959428"/>
            <a:ext cx="9568543" cy="4495800"/>
          </a:xfrm>
        </p:spPr>
        <p:txBody>
          <a:bodyPr lIns="73399" tIns="36699" rIns="73399" bIns="36699" rtlCol="0">
            <a:noAutofit/>
          </a:bodyPr>
          <a:lstStyle/>
          <a:p>
            <a:pPr marL="91440" indent="-91440" fontAlgn="auto">
              <a:buFont typeface="Wingdings" pitchFamily="2" charset="2"/>
              <a:buChar char="Ø"/>
              <a:defRPr/>
            </a:pPr>
            <a:r>
              <a:rPr lang="en-US" sz="2400" dirty="0">
                <a:solidFill>
                  <a:schemeClr val="tx1">
                    <a:lumMod val="75000"/>
                    <a:lumOff val="25000"/>
                  </a:schemeClr>
                </a:solidFill>
              </a:rPr>
              <a:t>To create a linked list in the memory, use structure which is self referential structure.</a:t>
            </a:r>
          </a:p>
          <a:p>
            <a:pPr marL="91440" indent="-91440" fontAlgn="auto">
              <a:buFont typeface="Wingdings" pitchFamily="2" charset="2"/>
              <a:buChar char="Ø"/>
              <a:defRPr/>
            </a:pPr>
            <a:r>
              <a:rPr lang="en-US" sz="2400" dirty="0">
                <a:solidFill>
                  <a:schemeClr val="tx1">
                    <a:lumMod val="75000"/>
                    <a:lumOff val="25000"/>
                  </a:schemeClr>
                </a:solidFill>
              </a:rPr>
              <a:t>In self referential structure one member of the structure is a pointer that points to the structure itself</a:t>
            </a:r>
            <a:r>
              <a:rPr lang="en-US" sz="1800" dirty="0"/>
              <a:t>                </a:t>
            </a:r>
          </a:p>
          <a:p>
            <a:pPr marL="0" indent="0" fontAlgn="auto">
              <a:buNone/>
              <a:defRPr/>
            </a:pPr>
            <a:r>
              <a:rPr lang="en-US" sz="2600" dirty="0">
                <a:solidFill>
                  <a:srgbClr val="FF0000"/>
                </a:solidFill>
              </a:rPr>
              <a:t>struct node</a:t>
            </a:r>
          </a:p>
          <a:p>
            <a:pPr marL="0" indent="0" fontAlgn="auto">
              <a:spcBef>
                <a:spcPts val="600"/>
              </a:spcBef>
              <a:spcAft>
                <a:spcPts val="0"/>
              </a:spcAft>
              <a:buFont typeface="Calibri" panose="020F0502020204030204" pitchFamily="34" charset="0"/>
              <a:buNone/>
              <a:defRPr/>
            </a:pPr>
            <a:r>
              <a:rPr lang="en-US" sz="2600" dirty="0">
                <a:solidFill>
                  <a:srgbClr val="FF0000"/>
                </a:solidFill>
              </a:rPr>
              <a:t>	    {</a:t>
            </a:r>
          </a:p>
          <a:p>
            <a:pPr marL="0" indent="0" fontAlgn="auto">
              <a:spcBef>
                <a:spcPts val="600"/>
              </a:spcBef>
              <a:spcAft>
                <a:spcPts val="0"/>
              </a:spcAft>
              <a:buFont typeface="Calibri" panose="020F0502020204030204" pitchFamily="34" charset="0"/>
              <a:buNone/>
              <a:defRPr/>
            </a:pPr>
            <a:r>
              <a:rPr lang="en-US" sz="2600" dirty="0">
                <a:solidFill>
                  <a:srgbClr val="FF0000"/>
                </a:solidFill>
              </a:rPr>
              <a:t>		int data; </a:t>
            </a:r>
            <a:r>
              <a:rPr lang="en-US" sz="2600" dirty="0">
                <a:solidFill>
                  <a:schemeClr val="tx1">
                    <a:lumMod val="75000"/>
                    <a:lumOff val="25000"/>
                  </a:schemeClr>
                </a:solidFill>
              </a:rPr>
              <a:t>// any data type can be used</a:t>
            </a:r>
          </a:p>
          <a:p>
            <a:pPr marL="0" indent="0" fontAlgn="auto">
              <a:spcBef>
                <a:spcPts val="600"/>
              </a:spcBef>
              <a:spcAft>
                <a:spcPts val="0"/>
              </a:spcAft>
              <a:buFont typeface="Calibri" panose="020F0502020204030204" pitchFamily="34" charset="0"/>
              <a:buNone/>
              <a:defRPr/>
            </a:pPr>
            <a:r>
              <a:rPr lang="en-US" sz="2600" dirty="0">
                <a:solidFill>
                  <a:schemeClr val="tx1">
                    <a:lumMod val="75000"/>
                    <a:lumOff val="25000"/>
                  </a:schemeClr>
                </a:solidFill>
              </a:rPr>
              <a:t>                         </a:t>
            </a:r>
            <a:r>
              <a:rPr lang="en-US" sz="2600" dirty="0">
                <a:solidFill>
                  <a:srgbClr val="FF0000"/>
                </a:solidFill>
              </a:rPr>
              <a:t>struct node *link; </a:t>
            </a:r>
            <a:r>
              <a:rPr lang="en-US" sz="2600" dirty="0">
                <a:solidFill>
                  <a:schemeClr val="tx1">
                    <a:lumMod val="75000"/>
                    <a:lumOff val="25000"/>
                  </a:schemeClr>
                </a:solidFill>
              </a:rPr>
              <a:t>// this points to the structure itself</a:t>
            </a:r>
          </a:p>
          <a:p>
            <a:pPr marL="0" indent="0" fontAlgn="auto">
              <a:spcBef>
                <a:spcPts val="600"/>
              </a:spcBef>
              <a:spcAft>
                <a:spcPts val="0"/>
              </a:spcAft>
              <a:buFont typeface="Calibri" panose="020F0502020204030204" pitchFamily="34" charset="0"/>
              <a:buNone/>
              <a:defRPr/>
            </a:pPr>
            <a:r>
              <a:rPr lang="en-US" sz="2600" dirty="0">
                <a:solidFill>
                  <a:schemeClr val="tx1">
                    <a:lumMod val="75000"/>
                    <a:lumOff val="25000"/>
                  </a:schemeClr>
                </a:solidFill>
              </a:rPr>
              <a:t>	</a:t>
            </a:r>
            <a:r>
              <a:rPr lang="en-US" sz="2600" dirty="0"/>
              <a:t>   </a:t>
            </a:r>
            <a:r>
              <a:rPr lang="en-US" sz="2600" dirty="0">
                <a:solidFill>
                  <a:srgbClr val="FF0000"/>
                </a:solidFill>
              </a:rPr>
              <a:t>};</a:t>
            </a:r>
          </a:p>
          <a:p>
            <a:pPr marL="0" indent="0" fontAlgn="auto">
              <a:spcBef>
                <a:spcPts val="600"/>
              </a:spcBef>
              <a:spcAft>
                <a:spcPts val="0"/>
              </a:spcAft>
              <a:buFont typeface="Calibri" panose="020F0502020204030204" pitchFamily="34" charset="0"/>
              <a:buNone/>
              <a:defRPr/>
            </a:pPr>
            <a:endParaRPr lang="en-US" sz="2600" dirty="0">
              <a:solidFill>
                <a:schemeClr val="tx1">
                  <a:lumMod val="75000"/>
                  <a:lumOff val="25000"/>
                </a:schemeClr>
              </a:solidFill>
            </a:endParaRPr>
          </a:p>
        </p:txBody>
      </p:sp>
      <p:pic>
        <p:nvPicPr>
          <p:cNvPr id="5" name="Picture 4">
            <a:extLst>
              <a:ext uri="{FF2B5EF4-FFF2-40B4-BE49-F238E27FC236}">
                <a16:creationId xmlns:a16="http://schemas.microsoft.com/office/drawing/2014/main" id="{64F56B55-26A1-2E87-7D54-227E61EA9A40}"/>
              </a:ext>
            </a:extLst>
          </p:cNvPr>
          <p:cNvPicPr>
            <a:picLocks noChangeAspect="1"/>
          </p:cNvPicPr>
          <p:nvPr/>
        </p:nvPicPr>
        <p:blipFill>
          <a:blip r:embed="rId3"/>
          <a:stretch>
            <a:fillRect/>
          </a:stretch>
        </p:blipFill>
        <p:spPr>
          <a:xfrm>
            <a:off x="8362533" y="3429000"/>
            <a:ext cx="2446232" cy="1219306"/>
          </a:xfrm>
          <a:prstGeom prst="rect">
            <a:avLst/>
          </a:prstGeom>
        </p:spPr>
      </p:pic>
    </p:spTree>
    <p:extLst>
      <p:ext uri="{BB962C8B-B14F-4D97-AF65-F5344CB8AC3E}">
        <p14:creationId xmlns:p14="http://schemas.microsoft.com/office/powerpoint/2010/main" val="1878146022"/>
      </p:ext>
    </p:extLst>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0800E-18C0-45C2-32CF-63490FBC8F87}"/>
              </a:ext>
            </a:extLst>
          </p:cNvPr>
          <p:cNvSpPr>
            <a:spLocks noGrp="1"/>
          </p:cNvSpPr>
          <p:nvPr>
            <p:ph type="title"/>
          </p:nvPr>
        </p:nvSpPr>
        <p:spPr>
          <a:xfrm>
            <a:off x="636814" y="510496"/>
            <a:ext cx="10918371" cy="1143000"/>
          </a:xfrm>
        </p:spPr>
        <p:txBody>
          <a:bodyPr lIns="73399" tIns="36699" rIns="73399" bIns="36699">
            <a:noAutofit/>
          </a:bodyPr>
          <a:lstStyle/>
          <a:p>
            <a:pPr fontAlgn="auto">
              <a:spcAft>
                <a:spcPts val="0"/>
              </a:spcAft>
              <a:defRPr/>
            </a:pPr>
            <a:r>
              <a:rPr lang="en-US" sz="4000" dirty="0">
                <a:solidFill>
                  <a:schemeClr val="tx1">
                    <a:lumMod val="75000"/>
                    <a:lumOff val="25000"/>
                  </a:schemeClr>
                </a:solidFill>
                <a:latin typeface="Algerian" pitchFamily="82" charset="0"/>
              </a:rPr>
              <a:t>Creation and insertion of data in node</a:t>
            </a:r>
          </a:p>
        </p:txBody>
      </p:sp>
      <p:sp>
        <p:nvSpPr>
          <p:cNvPr id="3" name="Content Placeholder 2">
            <a:extLst>
              <a:ext uri="{FF2B5EF4-FFF2-40B4-BE49-F238E27FC236}">
                <a16:creationId xmlns:a16="http://schemas.microsoft.com/office/drawing/2014/main" id="{3A4A7001-0D8B-B23D-C85B-7FD744DD7796}"/>
              </a:ext>
            </a:extLst>
          </p:cNvPr>
          <p:cNvSpPr>
            <a:spLocks noGrp="1"/>
          </p:cNvSpPr>
          <p:nvPr>
            <p:ph idx="1"/>
          </p:nvPr>
        </p:nvSpPr>
        <p:spPr>
          <a:xfrm>
            <a:off x="500742" y="1959428"/>
            <a:ext cx="9568543" cy="4495800"/>
          </a:xfrm>
        </p:spPr>
        <p:txBody>
          <a:bodyPr lIns="73399" tIns="36699" rIns="73399" bIns="36699" rtlCol="0">
            <a:noAutofit/>
          </a:bodyPr>
          <a:lstStyle/>
          <a:p>
            <a:pPr marL="0" indent="0" fontAlgn="auto">
              <a:spcBef>
                <a:spcPts val="600"/>
              </a:spcBef>
              <a:spcAft>
                <a:spcPts val="0"/>
              </a:spcAft>
              <a:buFont typeface="Calibri" panose="020F0502020204030204" pitchFamily="34" charset="0"/>
              <a:buNone/>
              <a:defRPr/>
            </a:pPr>
            <a:r>
              <a:rPr lang="en-US" sz="2600" dirty="0"/>
              <a:t>i</a:t>
            </a:r>
            <a:r>
              <a:rPr lang="en-US" sz="2600" dirty="0">
                <a:solidFill>
                  <a:schemeClr val="tx1">
                    <a:lumMod val="75000"/>
                    <a:lumOff val="25000"/>
                  </a:schemeClr>
                </a:solidFill>
              </a:rPr>
              <a:t>nt main()</a:t>
            </a:r>
          </a:p>
          <a:p>
            <a:pPr marL="0" indent="0" fontAlgn="auto">
              <a:spcBef>
                <a:spcPts val="600"/>
              </a:spcBef>
              <a:spcAft>
                <a:spcPts val="0"/>
              </a:spcAft>
              <a:buFont typeface="Calibri" panose="020F0502020204030204" pitchFamily="34" charset="0"/>
              <a:buNone/>
              <a:defRPr/>
            </a:pPr>
            <a:r>
              <a:rPr lang="en-US" sz="2600" dirty="0">
                <a:solidFill>
                  <a:schemeClr val="tx1">
                    <a:lumMod val="75000"/>
                    <a:lumOff val="25000"/>
                  </a:schemeClr>
                </a:solidFill>
              </a:rPr>
              <a:t>{</a:t>
            </a:r>
          </a:p>
          <a:p>
            <a:pPr marL="0" indent="0" fontAlgn="auto">
              <a:spcBef>
                <a:spcPts val="600"/>
              </a:spcBef>
              <a:spcAft>
                <a:spcPts val="0"/>
              </a:spcAft>
              <a:buFont typeface="Calibri" panose="020F0502020204030204" pitchFamily="34" charset="0"/>
              <a:buNone/>
              <a:defRPr/>
            </a:pPr>
            <a:r>
              <a:rPr lang="en-US" sz="2600" dirty="0"/>
              <a:t>	struct node *head = NULL;</a:t>
            </a:r>
          </a:p>
          <a:p>
            <a:pPr marL="0" indent="0" fontAlgn="auto">
              <a:spcBef>
                <a:spcPts val="600"/>
              </a:spcBef>
              <a:spcAft>
                <a:spcPts val="0"/>
              </a:spcAft>
              <a:buFont typeface="Calibri" panose="020F0502020204030204" pitchFamily="34" charset="0"/>
              <a:buNone/>
              <a:defRPr/>
            </a:pPr>
            <a:r>
              <a:rPr lang="en-US" sz="2600" dirty="0">
                <a:solidFill>
                  <a:schemeClr val="tx1">
                    <a:lumMod val="75000"/>
                    <a:lumOff val="25000"/>
                  </a:schemeClr>
                </a:solidFill>
              </a:rPr>
              <a:t>	head = (struct node*)malloc(</a:t>
            </a:r>
            <a:r>
              <a:rPr lang="en-US" sz="2600" dirty="0" err="1">
                <a:solidFill>
                  <a:schemeClr val="tx1">
                    <a:lumMod val="75000"/>
                    <a:lumOff val="25000"/>
                  </a:schemeClr>
                </a:solidFill>
              </a:rPr>
              <a:t>sizeof</a:t>
            </a:r>
            <a:r>
              <a:rPr lang="en-US" sz="2600" dirty="0">
                <a:solidFill>
                  <a:schemeClr val="tx1">
                    <a:lumMod val="75000"/>
                    <a:lumOff val="25000"/>
                  </a:schemeClr>
                </a:solidFill>
              </a:rPr>
              <a:t>(struct node));</a:t>
            </a:r>
          </a:p>
          <a:p>
            <a:pPr marL="0" indent="0" fontAlgn="auto">
              <a:spcBef>
                <a:spcPts val="600"/>
              </a:spcBef>
              <a:spcAft>
                <a:spcPts val="0"/>
              </a:spcAft>
              <a:buFont typeface="Calibri" panose="020F0502020204030204" pitchFamily="34" charset="0"/>
              <a:buNone/>
              <a:defRPr/>
            </a:pPr>
            <a:r>
              <a:rPr lang="en-US" sz="2600" dirty="0"/>
              <a:t>	head-&gt;data = data;</a:t>
            </a:r>
          </a:p>
          <a:p>
            <a:pPr marL="0" indent="0" fontAlgn="auto">
              <a:spcBef>
                <a:spcPts val="600"/>
              </a:spcBef>
              <a:spcAft>
                <a:spcPts val="0"/>
              </a:spcAft>
              <a:buFont typeface="Calibri" panose="020F0502020204030204" pitchFamily="34" charset="0"/>
              <a:buNone/>
              <a:defRPr/>
            </a:pPr>
            <a:r>
              <a:rPr lang="en-US" sz="2600" dirty="0">
                <a:solidFill>
                  <a:schemeClr val="tx1">
                    <a:lumMod val="75000"/>
                    <a:lumOff val="25000"/>
                  </a:schemeClr>
                </a:solidFill>
              </a:rPr>
              <a:t>	head-&gt;link = NULL;</a:t>
            </a:r>
          </a:p>
          <a:p>
            <a:pPr marL="0" indent="0" fontAlgn="auto">
              <a:spcBef>
                <a:spcPts val="600"/>
              </a:spcBef>
              <a:spcAft>
                <a:spcPts val="0"/>
              </a:spcAft>
              <a:buFont typeface="Calibri" panose="020F0502020204030204" pitchFamily="34" charset="0"/>
              <a:buNone/>
              <a:defRPr/>
            </a:pPr>
            <a:r>
              <a:rPr lang="en-US" sz="2600" dirty="0"/>
              <a:t>}</a:t>
            </a:r>
            <a:endParaRPr lang="en-US" sz="2600" dirty="0">
              <a:solidFill>
                <a:schemeClr val="tx1">
                  <a:lumMod val="75000"/>
                  <a:lumOff val="25000"/>
                </a:schemeClr>
              </a:solidFill>
            </a:endParaRPr>
          </a:p>
        </p:txBody>
      </p:sp>
      <p:pic>
        <p:nvPicPr>
          <p:cNvPr id="6" name="Picture 5">
            <a:extLst>
              <a:ext uri="{FF2B5EF4-FFF2-40B4-BE49-F238E27FC236}">
                <a16:creationId xmlns:a16="http://schemas.microsoft.com/office/drawing/2014/main" id="{5896C73C-243D-E2D8-E0E7-686D04962570}"/>
              </a:ext>
            </a:extLst>
          </p:cNvPr>
          <p:cNvPicPr>
            <a:picLocks noChangeAspect="1"/>
          </p:cNvPicPr>
          <p:nvPr/>
        </p:nvPicPr>
        <p:blipFill>
          <a:blip r:embed="rId3"/>
          <a:stretch>
            <a:fillRect/>
          </a:stretch>
        </p:blipFill>
        <p:spPr>
          <a:xfrm>
            <a:off x="9074743" y="1959428"/>
            <a:ext cx="2616515" cy="3080070"/>
          </a:xfrm>
          <a:prstGeom prst="rect">
            <a:avLst/>
          </a:prstGeom>
        </p:spPr>
      </p:pic>
    </p:spTree>
    <p:extLst>
      <p:ext uri="{BB962C8B-B14F-4D97-AF65-F5344CB8AC3E}">
        <p14:creationId xmlns:p14="http://schemas.microsoft.com/office/powerpoint/2010/main" val="2452111471"/>
      </p:ext>
    </p:extLst>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p:cNvSpPr txBox="1">
            <a:spLocks/>
          </p:cNvSpPr>
          <p:nvPr/>
        </p:nvSpPr>
        <p:spPr>
          <a:xfrm>
            <a:off x="958506" y="800392"/>
            <a:ext cx="10264697" cy="12121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US" sz="4000" b="1" spc="-5" dirty="0">
                <a:solidFill>
                  <a:srgbClr val="FFFFFF"/>
                </a:solidFill>
              </a:rPr>
              <a:t>OPERATION ON SINGLE LINKED LIST</a:t>
            </a:r>
            <a:endParaRPr lang="en-US" sz="3200" b="1" spc="-10" dirty="0">
              <a:solidFill>
                <a:srgbClr val="FFFFFF"/>
              </a:solidFill>
            </a:endParaRPr>
          </a:p>
        </p:txBody>
      </p:sp>
      <p:sp>
        <p:nvSpPr>
          <p:cNvPr id="8" name="object 2"/>
          <p:cNvSpPr txBox="1">
            <a:spLocks noGrp="1"/>
          </p:cNvSpPr>
          <p:nvPr>
            <p:ph type="title"/>
          </p:nvPr>
        </p:nvSpPr>
        <p:spPr>
          <a:xfrm>
            <a:off x="1402080" y="1210863"/>
            <a:ext cx="8150859" cy="391160"/>
          </a:xfrm>
          <a:prstGeom prst="rect">
            <a:avLst/>
          </a:prstGeom>
        </p:spPr>
        <p:txBody>
          <a:bodyPr vert="horz" wrap="square" lIns="0" tIns="12700" rIns="0" bIns="0" rtlCol="0">
            <a:spAutoFit/>
          </a:bodyPr>
          <a:lstStyle/>
          <a:p>
            <a:pPr marL="12700">
              <a:spcBef>
                <a:spcPts val="100"/>
              </a:spcBef>
            </a:pPr>
            <a:r>
              <a:rPr b="1" dirty="0">
                <a:latin typeface="Times New Roman"/>
                <a:cs typeface="Times New Roman"/>
              </a:rPr>
              <a:t>Insertion of </a:t>
            </a:r>
            <a:r>
              <a:rPr b="1" spc="-5" dirty="0"/>
              <a:t>an </a:t>
            </a:r>
            <a:r>
              <a:rPr b="1" dirty="0">
                <a:latin typeface="Times New Roman"/>
                <a:cs typeface="Times New Roman"/>
              </a:rPr>
              <a:t>element into </a:t>
            </a:r>
            <a:r>
              <a:rPr b="1" spc="-5" dirty="0"/>
              <a:t>the </a:t>
            </a:r>
            <a:r>
              <a:rPr b="1" dirty="0">
                <a:latin typeface="Times New Roman"/>
                <a:cs typeface="Times New Roman"/>
              </a:rPr>
              <a:t>linked list at </a:t>
            </a:r>
            <a:r>
              <a:rPr b="1" spc="-5" dirty="0"/>
              <a:t>various</a:t>
            </a:r>
            <a:r>
              <a:rPr b="1" spc="-100" dirty="0"/>
              <a:t> </a:t>
            </a:r>
            <a:r>
              <a:rPr b="1" dirty="0">
                <a:latin typeface="Times New Roman"/>
                <a:cs typeface="Times New Roman"/>
              </a:rPr>
              <a:t>positions:</a:t>
            </a:r>
          </a:p>
        </p:txBody>
      </p:sp>
      <p:sp>
        <p:nvSpPr>
          <p:cNvPr id="11" name="object 3"/>
          <p:cNvSpPr txBox="1"/>
          <p:nvPr/>
        </p:nvSpPr>
        <p:spPr>
          <a:xfrm>
            <a:off x="1402080" y="2122232"/>
            <a:ext cx="9699203" cy="2613536"/>
          </a:xfrm>
          <a:prstGeom prst="rect">
            <a:avLst/>
          </a:prstGeom>
        </p:spPr>
        <p:txBody>
          <a:bodyPr vert="horz" wrap="square" lIns="0" tIns="12700" rIns="0" bIns="0" rtlCol="0">
            <a:spAutoFit/>
          </a:bodyPr>
          <a:lstStyle/>
          <a:p>
            <a:pPr marL="12700" marR="5080" indent="914400">
              <a:spcBef>
                <a:spcPts val="100"/>
              </a:spcBef>
            </a:pPr>
            <a:r>
              <a:rPr sz="2400" dirty="0">
                <a:latin typeface="Times New Roman"/>
                <a:cs typeface="Times New Roman"/>
              </a:rPr>
              <a:t>Insertion of node into a linked list requires a free node</a:t>
            </a:r>
            <a:r>
              <a:rPr sz="2400" spc="-225" dirty="0">
                <a:latin typeface="Times New Roman"/>
                <a:cs typeface="Times New Roman"/>
              </a:rPr>
              <a:t> </a:t>
            </a:r>
            <a:r>
              <a:rPr sz="2400" dirty="0">
                <a:latin typeface="Times New Roman"/>
                <a:cs typeface="Times New Roman"/>
              </a:rPr>
              <a:t>in  which the </a:t>
            </a:r>
            <a:r>
              <a:rPr sz="2400" spc="-5" dirty="0">
                <a:latin typeface="Times New Roman"/>
                <a:cs typeface="Times New Roman"/>
              </a:rPr>
              <a:t>information </a:t>
            </a:r>
            <a:r>
              <a:rPr sz="2400" dirty="0">
                <a:latin typeface="Times New Roman"/>
                <a:cs typeface="Times New Roman"/>
              </a:rPr>
              <a:t>can be inserted and then the node can be  inserted into the linked</a:t>
            </a:r>
            <a:r>
              <a:rPr sz="2400" spc="-100" dirty="0">
                <a:latin typeface="Times New Roman"/>
                <a:cs typeface="Times New Roman"/>
              </a:rPr>
              <a:t> </a:t>
            </a:r>
            <a:r>
              <a:rPr sz="2400" dirty="0">
                <a:latin typeface="Times New Roman"/>
                <a:cs typeface="Times New Roman"/>
              </a:rPr>
              <a:t>list.</a:t>
            </a:r>
          </a:p>
          <a:p>
            <a:pPr>
              <a:spcBef>
                <a:spcPts val="5"/>
              </a:spcBef>
            </a:pPr>
            <a:endParaRPr sz="2500" dirty="0">
              <a:latin typeface="Times New Roman"/>
              <a:cs typeface="Times New Roman"/>
            </a:endParaRPr>
          </a:p>
          <a:p>
            <a:pPr marL="712470" indent="-243204">
              <a:buSzPct val="95833"/>
              <a:buFont typeface="Wingdings"/>
              <a:buChar char=""/>
              <a:tabLst>
                <a:tab pos="713105" algn="l"/>
              </a:tabLst>
            </a:pPr>
            <a:r>
              <a:rPr sz="2400" spc="-5" dirty="0">
                <a:latin typeface="Times New Roman"/>
                <a:cs typeface="Times New Roman"/>
              </a:rPr>
              <a:t>Before </a:t>
            </a:r>
            <a:r>
              <a:rPr sz="2400" dirty="0">
                <a:latin typeface="Times New Roman"/>
                <a:cs typeface="Times New Roman"/>
              </a:rPr>
              <a:t>header or at</a:t>
            </a:r>
            <a:r>
              <a:rPr sz="2400" spc="-40" dirty="0">
                <a:latin typeface="Times New Roman"/>
                <a:cs typeface="Times New Roman"/>
              </a:rPr>
              <a:t> </a:t>
            </a:r>
            <a:r>
              <a:rPr sz="2400" dirty="0">
                <a:latin typeface="Times New Roman"/>
                <a:cs typeface="Times New Roman"/>
              </a:rPr>
              <a:t>beginning.</a:t>
            </a:r>
          </a:p>
          <a:p>
            <a:pPr marL="712470" indent="-243204">
              <a:buSzPct val="95833"/>
              <a:buFont typeface="Wingdings"/>
              <a:buChar char=""/>
              <a:tabLst>
                <a:tab pos="713105" algn="l"/>
              </a:tabLst>
            </a:pPr>
            <a:r>
              <a:rPr sz="2400" spc="-5" dirty="0">
                <a:latin typeface="Times New Roman"/>
                <a:cs typeface="Times New Roman"/>
              </a:rPr>
              <a:t>At </a:t>
            </a:r>
            <a:r>
              <a:rPr sz="2400" dirty="0">
                <a:latin typeface="Times New Roman"/>
                <a:cs typeface="Times New Roman"/>
              </a:rPr>
              <a:t>the end of</a:t>
            </a:r>
            <a:r>
              <a:rPr sz="2400" spc="-20" dirty="0">
                <a:latin typeface="Times New Roman"/>
                <a:cs typeface="Times New Roman"/>
              </a:rPr>
              <a:t> </a:t>
            </a:r>
            <a:r>
              <a:rPr sz="2400" dirty="0">
                <a:latin typeface="Times New Roman"/>
                <a:cs typeface="Times New Roman"/>
              </a:rPr>
              <a:t>list.</a:t>
            </a:r>
          </a:p>
          <a:p>
            <a:pPr marL="712470" indent="-243204">
              <a:buSzPct val="95833"/>
              <a:buFont typeface="Wingdings"/>
              <a:buChar char=""/>
              <a:tabLst>
                <a:tab pos="713105" algn="l"/>
              </a:tabLst>
            </a:pPr>
            <a:r>
              <a:rPr sz="2400" spc="-5" dirty="0">
                <a:latin typeface="Times New Roman"/>
                <a:cs typeface="Times New Roman"/>
              </a:rPr>
              <a:t>At </a:t>
            </a:r>
            <a:r>
              <a:rPr sz="2400" dirty="0">
                <a:latin typeface="Times New Roman"/>
                <a:cs typeface="Times New Roman"/>
              </a:rPr>
              <a:t>the specified</a:t>
            </a:r>
            <a:r>
              <a:rPr sz="2400" spc="-35" dirty="0">
                <a:latin typeface="Times New Roman"/>
                <a:cs typeface="Times New Roman"/>
              </a:rPr>
              <a:t> </a:t>
            </a:r>
            <a:r>
              <a:rPr sz="2400" dirty="0">
                <a:latin typeface="Times New Roman"/>
                <a:cs typeface="Times New Roman"/>
              </a:rPr>
              <a:t>position.</a:t>
            </a:r>
          </a:p>
        </p:txBody>
      </p:sp>
    </p:spTree>
    <p:extLst>
      <p:ext uri="{BB962C8B-B14F-4D97-AF65-F5344CB8AC3E}">
        <p14:creationId xmlns:p14="http://schemas.microsoft.com/office/powerpoint/2010/main" val="788128837"/>
      </p:ext>
    </p:extLst>
  </p:cSld>
  <p:clrMapOvr>
    <a:masterClrMapping/>
  </p:clrMapOvr>
  <p:transition>
    <p:strips dir="rd"/>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object 2"/>
          <p:cNvSpPr txBox="1">
            <a:spLocks/>
          </p:cNvSpPr>
          <p:nvPr/>
        </p:nvSpPr>
        <p:spPr>
          <a:xfrm>
            <a:off x="958506" y="800392"/>
            <a:ext cx="10264697" cy="12121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US" sz="4000" b="1" spc="-5" dirty="0"/>
              <a:t>Availability List or AVAIL List.</a:t>
            </a:r>
            <a:endParaRPr lang="en-US" sz="3200" b="1" spc="-10" dirty="0"/>
          </a:p>
        </p:txBody>
      </p:sp>
      <p:sp>
        <p:nvSpPr>
          <p:cNvPr id="3" name="Title 2">
            <a:extLst>
              <a:ext uri="{FF2B5EF4-FFF2-40B4-BE49-F238E27FC236}">
                <a16:creationId xmlns:a16="http://schemas.microsoft.com/office/drawing/2014/main" id="{D002777A-7F48-488F-A235-C45F22576777}"/>
              </a:ext>
            </a:extLst>
          </p:cNvPr>
          <p:cNvSpPr>
            <a:spLocks noGrp="1"/>
          </p:cNvSpPr>
          <p:nvPr>
            <p:ph type="title"/>
          </p:nvPr>
        </p:nvSpPr>
        <p:spPr>
          <a:xfrm>
            <a:off x="958506" y="2012494"/>
            <a:ext cx="10610424" cy="3693319"/>
          </a:xfrm>
        </p:spPr>
        <p:txBody>
          <a:bodyPr>
            <a:normAutofit/>
          </a:bodyPr>
          <a:lstStyle/>
          <a:p>
            <a:r>
              <a:rPr lang="en-US" sz="2400" b="0" i="0" dirty="0">
                <a:solidFill>
                  <a:srgbClr val="303030"/>
                </a:solidFill>
                <a:effectLst/>
                <a:latin typeface="arial" panose="020B0604020202020204" pitchFamily="34" charset="0"/>
              </a:rPr>
              <a:t>It is a list of free nodes in the memory. It contains unused memory cells and these memory cells can be used in future. It is also known as ‘List of Available Space’ or ‘Free Storage List’ or ‘Free Pool’.</a:t>
            </a:r>
            <a:br>
              <a:rPr lang="en-US" sz="2400" dirty="0"/>
            </a:br>
            <a:br>
              <a:rPr lang="en-US" sz="2400" dirty="0"/>
            </a:br>
            <a:r>
              <a:rPr lang="en-US" sz="2400" b="0" i="0" dirty="0">
                <a:solidFill>
                  <a:srgbClr val="303030"/>
                </a:solidFill>
                <a:effectLst/>
                <a:latin typeface="arial" panose="020B0604020202020204" pitchFamily="34" charset="0"/>
              </a:rPr>
              <a:t>It is used along with linked list. Whenever a new node is to be inserted in the linked list, a free node is taken from the AVAIL List and is inserted in the linked list. </a:t>
            </a:r>
            <a:br>
              <a:rPr lang="en-US" sz="2400" b="0" i="0" dirty="0">
                <a:solidFill>
                  <a:srgbClr val="303030"/>
                </a:solidFill>
                <a:effectLst/>
                <a:latin typeface="arial" panose="020B0604020202020204" pitchFamily="34" charset="0"/>
              </a:rPr>
            </a:br>
            <a:br>
              <a:rPr lang="en-US" sz="2400" b="0" i="0" dirty="0">
                <a:solidFill>
                  <a:srgbClr val="303030"/>
                </a:solidFill>
                <a:effectLst/>
                <a:latin typeface="arial" panose="020B0604020202020204" pitchFamily="34" charset="0"/>
              </a:rPr>
            </a:br>
            <a:r>
              <a:rPr lang="en-US" sz="2400" b="0" i="0" dirty="0">
                <a:solidFill>
                  <a:srgbClr val="303030"/>
                </a:solidFill>
                <a:effectLst/>
                <a:latin typeface="arial" panose="020B0604020202020204" pitchFamily="34" charset="0"/>
              </a:rPr>
              <a:t>Similarly, whenever a node is deleted from the linked list, it is inserted in the AVAIL List. So that it can be used in future. </a:t>
            </a:r>
            <a:endParaRPr lang="en-US" sz="2400" dirty="0"/>
          </a:p>
        </p:txBody>
      </p:sp>
    </p:spTree>
    <p:extLst>
      <p:ext uri="{BB962C8B-B14F-4D97-AF65-F5344CB8AC3E}">
        <p14:creationId xmlns:p14="http://schemas.microsoft.com/office/powerpoint/2010/main" val="71002690"/>
      </p:ext>
    </p:extLst>
  </p:cSld>
  <p:clrMapOvr>
    <a:masterClrMapping/>
  </p:clrMapOvr>
  <p:transition>
    <p:strips dir="rd"/>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object 2"/>
          <p:cNvSpPr txBox="1">
            <a:spLocks/>
          </p:cNvSpPr>
          <p:nvPr/>
        </p:nvSpPr>
        <p:spPr>
          <a:xfrm>
            <a:off x="958506" y="800392"/>
            <a:ext cx="10264697" cy="12121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US" sz="4000" b="1" spc="-5" dirty="0">
                <a:solidFill>
                  <a:srgbClr val="FFFFFF"/>
                </a:solidFill>
              </a:rPr>
              <a:t>Availability List or AVAIL List.</a:t>
            </a:r>
            <a:endParaRPr lang="en-US" sz="3200" b="1" spc="-10" dirty="0">
              <a:solidFill>
                <a:srgbClr val="FFFFFF"/>
              </a:solidFill>
            </a:endParaRPr>
          </a:p>
        </p:txBody>
      </p:sp>
      <p:pic>
        <p:nvPicPr>
          <p:cNvPr id="1026" name="Picture 2" descr="Availability List or AVAIL LIST">
            <a:extLst>
              <a:ext uri="{FF2B5EF4-FFF2-40B4-BE49-F238E27FC236}">
                <a16:creationId xmlns:a16="http://schemas.microsoft.com/office/drawing/2014/main" id="{21132287-F916-4C4B-A680-8B4EF39597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2421810"/>
            <a:ext cx="6770383" cy="3800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7070740"/>
      </p:ext>
    </p:extLst>
  </p:cSld>
  <p:clrMapOvr>
    <a:masterClrMapping/>
  </p:clrMapOvr>
  <p:transition>
    <p:strips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p:cNvSpPr txBox="1">
            <a:spLocks/>
          </p:cNvSpPr>
          <p:nvPr/>
        </p:nvSpPr>
        <p:spPr>
          <a:xfrm>
            <a:off x="958506" y="800392"/>
            <a:ext cx="10264697" cy="12121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US" sz="4000" b="1" spc="-5" dirty="0"/>
              <a:t>Overflow and Underflow</a:t>
            </a:r>
            <a:endParaRPr lang="en-US" sz="3200" b="1" spc="-10" dirty="0"/>
          </a:p>
        </p:txBody>
      </p:sp>
      <p:sp>
        <p:nvSpPr>
          <p:cNvPr id="8" name="object 2"/>
          <p:cNvSpPr txBox="1">
            <a:spLocks noGrp="1"/>
          </p:cNvSpPr>
          <p:nvPr>
            <p:ph type="title"/>
          </p:nvPr>
        </p:nvSpPr>
        <p:spPr>
          <a:xfrm>
            <a:off x="1371600" y="2154519"/>
            <a:ext cx="8150859" cy="391160"/>
          </a:xfrm>
          <a:prstGeom prst="rect">
            <a:avLst/>
          </a:prstGeom>
        </p:spPr>
        <p:txBody>
          <a:bodyPr vert="horz" wrap="square" lIns="0" tIns="12700" rIns="0" bIns="0" rtlCol="0">
            <a:spAutoFit/>
          </a:bodyPr>
          <a:lstStyle/>
          <a:p>
            <a:pPr marL="12700">
              <a:spcBef>
                <a:spcPts val="100"/>
              </a:spcBef>
            </a:pPr>
            <a:r>
              <a:rPr lang="en-US" sz="2800" b="1" dirty="0">
                <a:latin typeface="Times New Roman"/>
                <a:cs typeface="Times New Roman"/>
              </a:rPr>
              <a:t>Overflow</a:t>
            </a:r>
            <a:endParaRPr sz="2800" b="1" dirty="0">
              <a:latin typeface="Times New Roman"/>
              <a:cs typeface="Times New Roman"/>
            </a:endParaRPr>
          </a:p>
        </p:txBody>
      </p:sp>
      <p:sp>
        <p:nvSpPr>
          <p:cNvPr id="11" name="object 3"/>
          <p:cNvSpPr txBox="1"/>
          <p:nvPr/>
        </p:nvSpPr>
        <p:spPr>
          <a:xfrm>
            <a:off x="1524000" y="2695310"/>
            <a:ext cx="9699203" cy="1256754"/>
          </a:xfrm>
          <a:prstGeom prst="rect">
            <a:avLst/>
          </a:prstGeom>
        </p:spPr>
        <p:txBody>
          <a:bodyPr vert="horz" wrap="square" lIns="0" tIns="12700" rIns="0" bIns="0" rtlCol="0">
            <a:spAutoFit/>
          </a:bodyPr>
          <a:lstStyle/>
          <a:p>
            <a:pPr marL="12700" marR="5080" indent="-12700">
              <a:spcBef>
                <a:spcPts val="100"/>
              </a:spcBef>
            </a:pPr>
            <a:r>
              <a:rPr lang="en-US" sz="2000" b="1" i="0" dirty="0">
                <a:solidFill>
                  <a:srgbClr val="202124"/>
                </a:solidFill>
                <a:effectLst/>
                <a:latin typeface="arial" panose="020B0604020202020204" pitchFamily="34" charset="0"/>
              </a:rPr>
              <a:t>Overflow happens at the time of insertion</a:t>
            </a:r>
            <a:r>
              <a:rPr lang="en-US" sz="2000" b="0" i="0" dirty="0">
                <a:solidFill>
                  <a:srgbClr val="202124"/>
                </a:solidFill>
                <a:effectLst/>
                <a:latin typeface="arial" panose="020B0604020202020204" pitchFamily="34" charset="0"/>
              </a:rPr>
              <a:t>. If we have to insert new data into the data structure, but there is no free space i.e. availability list is empty, then this situation is called 'Overflow’.</a:t>
            </a:r>
          </a:p>
          <a:p>
            <a:pPr marL="12700" marR="5080" indent="-12700">
              <a:spcBef>
                <a:spcPts val="100"/>
              </a:spcBef>
            </a:pPr>
            <a:r>
              <a:rPr lang="en-US" sz="2000" dirty="0">
                <a:solidFill>
                  <a:srgbClr val="202124"/>
                </a:solidFill>
                <a:latin typeface="arial" panose="020B0604020202020204" pitchFamily="34" charset="0"/>
                <a:cs typeface="Times New Roman"/>
              </a:rPr>
              <a:t>Overflow will occur with our linked list when AVAIL = NULL and there is an insertion</a:t>
            </a:r>
            <a:endParaRPr sz="2000" dirty="0">
              <a:latin typeface="Times New Roman"/>
              <a:cs typeface="Times New Roman"/>
            </a:endParaRPr>
          </a:p>
        </p:txBody>
      </p:sp>
      <p:sp>
        <p:nvSpPr>
          <p:cNvPr id="10" name="object 2">
            <a:extLst>
              <a:ext uri="{FF2B5EF4-FFF2-40B4-BE49-F238E27FC236}">
                <a16:creationId xmlns:a16="http://schemas.microsoft.com/office/drawing/2014/main" id="{A2E896EB-41EE-4CCA-B8CA-3EC86BA8DA88}"/>
              </a:ext>
            </a:extLst>
          </p:cNvPr>
          <p:cNvSpPr txBox="1">
            <a:spLocks/>
          </p:cNvSpPr>
          <p:nvPr/>
        </p:nvSpPr>
        <p:spPr>
          <a:xfrm>
            <a:off x="1371600" y="4243720"/>
            <a:ext cx="8150859" cy="391160"/>
          </a:xfrm>
          <a:prstGeom prst="rect">
            <a:avLst/>
          </a:prstGeom>
        </p:spPr>
        <p:txBody>
          <a:bodyPr vert="horz" wrap="square" lIns="0" tIns="12700" rIns="0" bIns="0" rtlCol="0">
            <a:spAutoFit/>
          </a:bodyPr>
          <a:lstStyle>
            <a:lvl1pPr>
              <a:defRPr sz="2400" b="0" i="0">
                <a:solidFill>
                  <a:schemeClr val="tx1"/>
                </a:solidFill>
                <a:latin typeface="Times New Roman"/>
                <a:ea typeface="+mj-ea"/>
                <a:cs typeface="Times New Roman"/>
              </a:defRPr>
            </a:lvl1pPr>
          </a:lstStyle>
          <a:p>
            <a:pPr marL="12700">
              <a:spcBef>
                <a:spcPts val="100"/>
              </a:spcBef>
            </a:pPr>
            <a:r>
              <a:rPr lang="en-US" b="1" kern="0" dirty="0"/>
              <a:t>Underflow</a:t>
            </a:r>
          </a:p>
        </p:txBody>
      </p:sp>
      <p:sp>
        <p:nvSpPr>
          <p:cNvPr id="12" name="object 3">
            <a:extLst>
              <a:ext uri="{FF2B5EF4-FFF2-40B4-BE49-F238E27FC236}">
                <a16:creationId xmlns:a16="http://schemas.microsoft.com/office/drawing/2014/main" id="{1B648E98-B813-4355-BFDE-495D4C6B0DED}"/>
              </a:ext>
            </a:extLst>
          </p:cNvPr>
          <p:cNvSpPr txBox="1"/>
          <p:nvPr/>
        </p:nvSpPr>
        <p:spPr>
          <a:xfrm>
            <a:off x="1523999" y="4755566"/>
            <a:ext cx="9699203" cy="1577355"/>
          </a:xfrm>
          <a:prstGeom prst="rect">
            <a:avLst/>
          </a:prstGeom>
        </p:spPr>
        <p:txBody>
          <a:bodyPr vert="horz" wrap="square" lIns="0" tIns="12700" rIns="0" bIns="0" rtlCol="0">
            <a:spAutoFit/>
          </a:bodyPr>
          <a:lstStyle/>
          <a:p>
            <a:pPr marL="12700" marR="5080" indent="-12700">
              <a:spcBef>
                <a:spcPts val="100"/>
              </a:spcBef>
            </a:pPr>
            <a:r>
              <a:rPr lang="en-US" sz="2000" b="0" i="0" dirty="0">
                <a:solidFill>
                  <a:srgbClr val="202124"/>
                </a:solidFill>
                <a:effectLst/>
                <a:latin typeface="arial" panose="020B0604020202020204" pitchFamily="34" charset="0"/>
              </a:rPr>
              <a:t>Refers to the situation where </a:t>
            </a:r>
            <a:r>
              <a:rPr lang="en-US" sz="2000" b="1" i="0" dirty="0">
                <a:solidFill>
                  <a:srgbClr val="202124"/>
                </a:solidFill>
                <a:effectLst/>
                <a:latin typeface="arial" panose="020B0604020202020204" pitchFamily="34" charset="0"/>
              </a:rPr>
              <a:t>one wants to delete data </a:t>
            </a:r>
            <a:r>
              <a:rPr lang="en-US" sz="2000" b="0" i="0" dirty="0">
                <a:solidFill>
                  <a:srgbClr val="202124"/>
                </a:solidFill>
                <a:effectLst/>
                <a:latin typeface="arial" panose="020B0604020202020204" pitchFamily="34" charset="0"/>
              </a:rPr>
              <a:t>from a data structure that is empty.</a:t>
            </a:r>
          </a:p>
          <a:p>
            <a:pPr marL="12700" marR="5080" indent="-12700">
              <a:spcBef>
                <a:spcPts val="100"/>
              </a:spcBef>
            </a:pPr>
            <a:r>
              <a:rPr lang="en-US" sz="2000" dirty="0">
                <a:solidFill>
                  <a:srgbClr val="202124"/>
                </a:solidFill>
                <a:latin typeface="arial" panose="020B0604020202020204" pitchFamily="34" charset="0"/>
                <a:cs typeface="Times New Roman"/>
              </a:rPr>
              <a:t>The situation is handled by printing the message UNDERFLOW</a:t>
            </a:r>
          </a:p>
          <a:p>
            <a:pPr marL="12700" marR="5080" indent="-12700">
              <a:spcBef>
                <a:spcPts val="100"/>
              </a:spcBef>
            </a:pPr>
            <a:r>
              <a:rPr lang="en-US" sz="2000" dirty="0">
                <a:solidFill>
                  <a:srgbClr val="202124"/>
                </a:solidFill>
                <a:latin typeface="arial" panose="020B0604020202020204" pitchFamily="34" charset="0"/>
                <a:cs typeface="Times New Roman"/>
              </a:rPr>
              <a:t>Observe that underflow will occur when our linked lists when START = NULL and there is a deletion</a:t>
            </a:r>
            <a:endParaRPr sz="2000" dirty="0">
              <a:latin typeface="Times New Roman"/>
              <a:cs typeface="Times New Roman"/>
            </a:endParaRPr>
          </a:p>
        </p:txBody>
      </p:sp>
    </p:spTree>
    <p:extLst>
      <p:ext uri="{BB962C8B-B14F-4D97-AF65-F5344CB8AC3E}">
        <p14:creationId xmlns:p14="http://schemas.microsoft.com/office/powerpoint/2010/main" val="1131822913"/>
      </p:ext>
    </p:extLst>
  </p:cSld>
  <p:clrMapOvr>
    <a:masterClrMapping/>
  </p:clrMapOvr>
  <p:transition>
    <p:strips dir="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p:cNvSpPr txBox="1">
            <a:spLocks noGrp="1"/>
          </p:cNvSpPr>
          <p:nvPr>
            <p:ph type="title"/>
          </p:nvPr>
        </p:nvSpPr>
        <p:spPr>
          <a:xfrm>
            <a:off x="4106848" y="608596"/>
            <a:ext cx="4489450" cy="635000"/>
          </a:xfrm>
          <a:prstGeom prst="rect">
            <a:avLst/>
          </a:prstGeom>
        </p:spPr>
        <p:txBody>
          <a:bodyPr vert="horz" wrap="square" lIns="0" tIns="12065" rIns="0" bIns="0" rtlCol="0">
            <a:spAutoFit/>
          </a:bodyPr>
          <a:lstStyle/>
          <a:p>
            <a:pPr marL="12700">
              <a:spcBef>
                <a:spcPts val="95"/>
              </a:spcBef>
            </a:pPr>
            <a:r>
              <a:rPr sz="4000" dirty="0"/>
              <a:t>Insertion </a:t>
            </a:r>
            <a:r>
              <a:rPr sz="4000" spc="-5" dirty="0"/>
              <a:t>at</a:t>
            </a:r>
            <a:r>
              <a:rPr sz="4000" spc="-70" dirty="0"/>
              <a:t> </a:t>
            </a:r>
            <a:r>
              <a:rPr sz="4000" dirty="0"/>
              <a:t>beginning</a:t>
            </a:r>
            <a:endParaRPr sz="4000"/>
          </a:p>
        </p:txBody>
      </p:sp>
      <p:pic>
        <p:nvPicPr>
          <p:cNvPr id="1026" name="Picture 2">
            <a:extLst>
              <a:ext uri="{FF2B5EF4-FFF2-40B4-BE49-F238E27FC236}">
                <a16:creationId xmlns:a16="http://schemas.microsoft.com/office/drawing/2014/main" id="{0C6CEACF-8799-4DA9-888F-9C4AE6FCEF4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951"/>
          <a:stretch/>
        </p:blipFill>
        <p:spPr bwMode="auto">
          <a:xfrm>
            <a:off x="2019300" y="1868805"/>
            <a:ext cx="8153400" cy="395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118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p:cNvSpPr txBox="1">
            <a:spLocks noGrp="1"/>
          </p:cNvSpPr>
          <p:nvPr>
            <p:ph type="title"/>
          </p:nvPr>
        </p:nvSpPr>
        <p:spPr>
          <a:xfrm>
            <a:off x="1922318" y="598035"/>
            <a:ext cx="6673980" cy="645561"/>
          </a:xfrm>
          <a:prstGeom prst="rect">
            <a:avLst/>
          </a:prstGeom>
        </p:spPr>
        <p:txBody>
          <a:bodyPr vert="horz" wrap="square" lIns="0" tIns="12065" rIns="0" bIns="0" rtlCol="0">
            <a:spAutoFit/>
          </a:bodyPr>
          <a:lstStyle/>
          <a:p>
            <a:pPr marL="12700">
              <a:spcBef>
                <a:spcPts val="95"/>
              </a:spcBef>
            </a:pPr>
            <a:r>
              <a:rPr b="1" dirty="0"/>
              <a:t>Insertion </a:t>
            </a:r>
            <a:r>
              <a:rPr b="1" spc="-5" dirty="0"/>
              <a:t>at</a:t>
            </a:r>
            <a:r>
              <a:rPr b="1" spc="-70" dirty="0"/>
              <a:t> </a:t>
            </a:r>
            <a:r>
              <a:rPr b="1" dirty="0"/>
              <a:t>beginning</a:t>
            </a:r>
          </a:p>
        </p:txBody>
      </p:sp>
      <p:pic>
        <p:nvPicPr>
          <p:cNvPr id="5" name="Picture 4">
            <a:extLst>
              <a:ext uri="{FF2B5EF4-FFF2-40B4-BE49-F238E27FC236}">
                <a16:creationId xmlns:a16="http://schemas.microsoft.com/office/drawing/2014/main" id="{BA95AABD-27A2-88F8-11AA-5945AD7DD7F8}"/>
              </a:ext>
            </a:extLst>
          </p:cNvPr>
          <p:cNvPicPr>
            <a:picLocks noChangeAspect="1"/>
          </p:cNvPicPr>
          <p:nvPr/>
        </p:nvPicPr>
        <p:blipFill>
          <a:blip r:embed="rId3"/>
          <a:stretch>
            <a:fillRect/>
          </a:stretch>
        </p:blipFill>
        <p:spPr>
          <a:xfrm>
            <a:off x="1128903" y="1964627"/>
            <a:ext cx="10123306" cy="2295646"/>
          </a:xfrm>
          <a:prstGeom prst="rect">
            <a:avLst/>
          </a:prstGeom>
        </p:spPr>
      </p:pic>
    </p:spTree>
    <p:extLst>
      <p:ext uri="{BB962C8B-B14F-4D97-AF65-F5344CB8AC3E}">
        <p14:creationId xmlns:p14="http://schemas.microsoft.com/office/powerpoint/2010/main" val="1757840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object 2"/>
          <p:cNvSpPr txBox="1">
            <a:spLocks noGrp="1"/>
          </p:cNvSpPr>
          <p:nvPr>
            <p:ph type="title"/>
          </p:nvPr>
        </p:nvSpPr>
        <p:spPr>
          <a:xfrm>
            <a:off x="4298182" y="539805"/>
            <a:ext cx="3627120" cy="696595"/>
          </a:xfrm>
          <a:prstGeom prst="rect">
            <a:avLst/>
          </a:prstGeom>
        </p:spPr>
        <p:txBody>
          <a:bodyPr vert="horz" wrap="square" lIns="0" tIns="13335" rIns="0" bIns="0" rtlCol="0">
            <a:spAutoFit/>
          </a:bodyPr>
          <a:lstStyle/>
          <a:p>
            <a:pPr marL="12700">
              <a:spcBef>
                <a:spcPts val="105"/>
              </a:spcBef>
            </a:pPr>
            <a:r>
              <a:rPr sz="4400" dirty="0"/>
              <a:t>Insertion At</a:t>
            </a:r>
            <a:r>
              <a:rPr sz="4400" spc="-335" dirty="0"/>
              <a:t> </a:t>
            </a:r>
            <a:r>
              <a:rPr sz="4400" dirty="0"/>
              <a:t>end</a:t>
            </a:r>
            <a:endParaRPr sz="4400"/>
          </a:p>
        </p:txBody>
      </p:sp>
      <p:pic>
        <p:nvPicPr>
          <p:cNvPr id="2050" name="Picture 2">
            <a:extLst>
              <a:ext uri="{FF2B5EF4-FFF2-40B4-BE49-F238E27FC236}">
                <a16:creationId xmlns:a16="http://schemas.microsoft.com/office/drawing/2014/main" id="{3A763EA6-EE66-4123-903F-3487B0CF66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807"/>
          <a:stretch/>
        </p:blipFill>
        <p:spPr bwMode="auto">
          <a:xfrm>
            <a:off x="2257425" y="1400175"/>
            <a:ext cx="7677150"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1518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D59B41-1123-4EA5-AE8D-BDAADBC9A951}"/>
              </a:ext>
            </a:extLst>
          </p:cNvPr>
          <p:cNvPicPr>
            <a:picLocks noChangeAspect="1"/>
          </p:cNvPicPr>
          <p:nvPr/>
        </p:nvPicPr>
        <p:blipFill>
          <a:blip r:embed="rId3"/>
          <a:stretch>
            <a:fillRect/>
          </a:stretch>
        </p:blipFill>
        <p:spPr>
          <a:xfrm>
            <a:off x="974561" y="2150920"/>
            <a:ext cx="8240290" cy="3217100"/>
          </a:xfrm>
          <a:prstGeom prst="rect">
            <a:avLst/>
          </a:prstGeom>
        </p:spPr>
      </p:pic>
      <p:pic>
        <p:nvPicPr>
          <p:cNvPr id="2" name="Picture 1">
            <a:extLst>
              <a:ext uri="{FF2B5EF4-FFF2-40B4-BE49-F238E27FC236}">
                <a16:creationId xmlns:a16="http://schemas.microsoft.com/office/drawing/2014/main" id="{CEF3A9D0-C3C2-4961-9AC0-4EEFFA8C9CC2}"/>
              </a:ext>
            </a:extLst>
          </p:cNvPr>
          <p:cNvPicPr>
            <a:picLocks noChangeAspect="1"/>
          </p:cNvPicPr>
          <p:nvPr/>
        </p:nvPicPr>
        <p:blipFill>
          <a:blip r:embed="rId4"/>
          <a:stretch>
            <a:fillRect/>
          </a:stretch>
        </p:blipFill>
        <p:spPr>
          <a:xfrm>
            <a:off x="6106397" y="3048000"/>
            <a:ext cx="6014233" cy="3686233"/>
          </a:xfrm>
          <a:prstGeom prst="rect">
            <a:avLst/>
          </a:prstGeom>
        </p:spPr>
      </p:pic>
      <p:sp>
        <p:nvSpPr>
          <p:cNvPr id="5" name="Title 4">
            <a:extLst>
              <a:ext uri="{FF2B5EF4-FFF2-40B4-BE49-F238E27FC236}">
                <a16:creationId xmlns:a16="http://schemas.microsoft.com/office/drawing/2014/main" id="{711549D5-934F-2BCF-8D25-572E8A1302EF}"/>
              </a:ext>
            </a:extLst>
          </p:cNvPr>
          <p:cNvSpPr>
            <a:spLocks noGrp="1"/>
          </p:cNvSpPr>
          <p:nvPr>
            <p:ph type="title"/>
          </p:nvPr>
        </p:nvSpPr>
        <p:spPr/>
        <p:txBody>
          <a:bodyPr/>
          <a:lstStyle/>
          <a:p>
            <a:r>
              <a:rPr lang="en-US" dirty="0"/>
              <a:t>Insertion at End</a:t>
            </a:r>
          </a:p>
        </p:txBody>
      </p:sp>
    </p:spTree>
    <p:extLst>
      <p:ext uri="{BB962C8B-B14F-4D97-AF65-F5344CB8AC3E}">
        <p14:creationId xmlns:p14="http://schemas.microsoft.com/office/powerpoint/2010/main" val="2777918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p:cNvSpPr txBox="1">
            <a:spLocks/>
          </p:cNvSpPr>
          <p:nvPr/>
        </p:nvSpPr>
        <p:spPr>
          <a:xfrm>
            <a:off x="958506" y="800392"/>
            <a:ext cx="10264697" cy="12121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US" sz="4000" b="1" spc="-5" dirty="0"/>
              <a:t>OPERATION ON SINGLE LINKED LIST</a:t>
            </a:r>
            <a:endParaRPr lang="en-US" sz="3200" b="1" spc="-10" dirty="0"/>
          </a:p>
        </p:txBody>
      </p:sp>
      <p:sp>
        <p:nvSpPr>
          <p:cNvPr id="10" name="object 2"/>
          <p:cNvSpPr txBox="1"/>
          <p:nvPr/>
        </p:nvSpPr>
        <p:spPr>
          <a:xfrm>
            <a:off x="1292452" y="2998821"/>
            <a:ext cx="9897769" cy="2577629"/>
          </a:xfrm>
          <a:prstGeom prst="rect">
            <a:avLst/>
          </a:prstGeom>
        </p:spPr>
        <p:txBody>
          <a:bodyPr vert="horz" wrap="square" lIns="0" tIns="12700" rIns="0" bIns="0" rtlCol="0">
            <a:spAutoFit/>
          </a:bodyPr>
          <a:lstStyle/>
          <a:p>
            <a:pPr marL="12700" marR="464820">
              <a:spcBef>
                <a:spcPts val="100"/>
              </a:spcBef>
              <a:buSzPct val="95833"/>
              <a:buFont typeface="Wingdings"/>
              <a:buChar char=""/>
              <a:tabLst>
                <a:tab pos="255904" algn="l"/>
              </a:tabLst>
            </a:pPr>
            <a:r>
              <a:rPr sz="2400" spc="-90" dirty="0">
                <a:latin typeface="Times New Roman"/>
                <a:cs typeface="Times New Roman"/>
              </a:rPr>
              <a:t>To </a:t>
            </a:r>
            <a:r>
              <a:rPr sz="2400" dirty="0">
                <a:latin typeface="Times New Roman"/>
                <a:cs typeface="Times New Roman"/>
              </a:rPr>
              <a:t>insert a </a:t>
            </a:r>
            <a:r>
              <a:rPr sz="2400" spc="-5" dirty="0">
                <a:latin typeface="Times New Roman"/>
                <a:cs typeface="Times New Roman"/>
              </a:rPr>
              <a:t>new </a:t>
            </a:r>
            <a:r>
              <a:rPr sz="2400" dirty="0">
                <a:latin typeface="Times New Roman"/>
                <a:cs typeface="Times New Roman"/>
              </a:rPr>
              <a:t>node at the specified position </a:t>
            </a:r>
            <a:r>
              <a:rPr sz="2400" spc="-5" dirty="0">
                <a:latin typeface="Times New Roman"/>
                <a:cs typeface="Times New Roman"/>
              </a:rPr>
              <a:t>we </a:t>
            </a:r>
            <a:r>
              <a:rPr sz="2400" dirty="0">
                <a:latin typeface="Times New Roman"/>
                <a:cs typeface="Times New Roman"/>
              </a:rPr>
              <a:t>have</a:t>
            </a:r>
            <a:r>
              <a:rPr sz="2400" spc="-75" dirty="0">
                <a:latin typeface="Times New Roman"/>
                <a:cs typeface="Times New Roman"/>
              </a:rPr>
              <a:t> </a:t>
            </a:r>
            <a:r>
              <a:rPr sz="2400" dirty="0">
                <a:latin typeface="Times New Roman"/>
                <a:cs typeface="Times New Roman"/>
              </a:rPr>
              <a:t>to  search position in the</a:t>
            </a:r>
            <a:r>
              <a:rPr sz="2400" spc="-45" dirty="0">
                <a:latin typeface="Times New Roman"/>
                <a:cs typeface="Times New Roman"/>
              </a:rPr>
              <a:t> </a:t>
            </a:r>
            <a:r>
              <a:rPr sz="2400" dirty="0">
                <a:latin typeface="Times New Roman"/>
                <a:cs typeface="Times New Roman"/>
              </a:rPr>
              <a:t>list.</a:t>
            </a:r>
          </a:p>
          <a:p>
            <a:pPr marL="255270" indent="-243204">
              <a:lnSpc>
                <a:spcPts val="2820"/>
              </a:lnSpc>
              <a:buSzPct val="95833"/>
              <a:buFont typeface="Wingdings"/>
              <a:buChar char=""/>
              <a:tabLst>
                <a:tab pos="255904" algn="l"/>
              </a:tabLst>
            </a:pPr>
            <a:r>
              <a:rPr sz="2400" dirty="0">
                <a:latin typeface="Times New Roman"/>
                <a:cs typeface="Times New Roman"/>
              </a:rPr>
              <a:t>Then </a:t>
            </a:r>
            <a:r>
              <a:rPr sz="2400" spc="-5" dirty="0">
                <a:latin typeface="Times New Roman"/>
                <a:cs typeface="Times New Roman"/>
              </a:rPr>
              <a:t>we </a:t>
            </a:r>
            <a:r>
              <a:rPr sz="2400" dirty="0">
                <a:latin typeface="Times New Roman"/>
                <a:cs typeface="Times New Roman"/>
              </a:rPr>
              <a:t>can insert the node after the position. Let</a:t>
            </a:r>
            <a:r>
              <a:rPr sz="2400" spc="-204" dirty="0">
                <a:latin typeface="Times New Roman"/>
                <a:cs typeface="Times New Roman"/>
              </a:rPr>
              <a:t> </a:t>
            </a:r>
            <a:r>
              <a:rPr sz="2400" dirty="0">
                <a:latin typeface="Times New Roman"/>
                <a:cs typeface="Times New Roman"/>
              </a:rPr>
              <a:t>the</a:t>
            </a:r>
            <a:r>
              <a:rPr lang="en-US" sz="2400" dirty="0">
                <a:latin typeface="Times New Roman"/>
                <a:cs typeface="Times New Roman"/>
              </a:rPr>
              <a:t> </a:t>
            </a:r>
            <a:r>
              <a:rPr sz="2400" dirty="0">
                <a:latin typeface="Times New Roman"/>
                <a:cs typeface="Times New Roman"/>
              </a:rPr>
              <a:t>address of the specified node be kept in</a:t>
            </a:r>
            <a:r>
              <a:rPr sz="2400" spc="-120" dirty="0">
                <a:latin typeface="Times New Roman"/>
                <a:cs typeface="Times New Roman"/>
              </a:rPr>
              <a:t> </a:t>
            </a:r>
            <a:r>
              <a:rPr sz="2400" spc="-35" dirty="0">
                <a:latin typeface="Times New Roman"/>
                <a:cs typeface="Times New Roman"/>
              </a:rPr>
              <a:t>ptr.</a:t>
            </a:r>
            <a:endParaRPr sz="2400" dirty="0">
              <a:latin typeface="Times New Roman"/>
              <a:cs typeface="Times New Roman"/>
            </a:endParaRPr>
          </a:p>
          <a:p>
            <a:pPr marL="12700" marR="5080">
              <a:buSzPct val="95833"/>
              <a:buFont typeface="Wingdings"/>
              <a:buChar char=""/>
              <a:tabLst>
                <a:tab pos="255904" algn="l"/>
              </a:tabLst>
            </a:pPr>
            <a:r>
              <a:rPr sz="2400" spc="-5" dirty="0">
                <a:latin typeface="Times New Roman"/>
                <a:cs typeface="Times New Roman"/>
              </a:rPr>
              <a:t>Adjust </a:t>
            </a:r>
            <a:r>
              <a:rPr sz="2400" dirty="0">
                <a:latin typeface="Times New Roman"/>
                <a:cs typeface="Times New Roman"/>
              </a:rPr>
              <a:t>the pointer </a:t>
            </a:r>
            <a:r>
              <a:rPr sz="2400" spc="-5" dirty="0">
                <a:latin typeface="Times New Roman"/>
                <a:cs typeface="Times New Roman"/>
              </a:rPr>
              <a:t>so </a:t>
            </a:r>
            <a:r>
              <a:rPr sz="2400" dirty="0">
                <a:latin typeface="Times New Roman"/>
                <a:cs typeface="Times New Roman"/>
              </a:rPr>
              <a:t>that next pointer of  the specified node pointed </a:t>
            </a:r>
            <a:r>
              <a:rPr lang="en-US" sz="2400" dirty="0">
                <a:latin typeface="Times New Roman"/>
                <a:cs typeface="Times New Roman"/>
              </a:rPr>
              <a:t>to</a:t>
            </a:r>
            <a:r>
              <a:rPr sz="2400" dirty="0">
                <a:latin typeface="Times New Roman"/>
                <a:cs typeface="Times New Roman"/>
              </a:rPr>
              <a:t> the</a:t>
            </a:r>
            <a:r>
              <a:rPr sz="2400" spc="-100" dirty="0">
                <a:latin typeface="Times New Roman"/>
                <a:cs typeface="Times New Roman"/>
              </a:rPr>
              <a:t> </a:t>
            </a:r>
            <a:r>
              <a:rPr sz="2400" spc="-35" dirty="0">
                <a:latin typeface="Times New Roman"/>
                <a:cs typeface="Times New Roman"/>
              </a:rPr>
              <a:t>ptr.</a:t>
            </a:r>
            <a:endParaRPr sz="2400" dirty="0">
              <a:latin typeface="Times New Roman"/>
              <a:cs typeface="Times New Roman"/>
            </a:endParaRPr>
          </a:p>
          <a:p>
            <a:pPr marL="12700" marR="125095">
              <a:buSzPct val="95833"/>
              <a:buFont typeface="Wingdings"/>
              <a:buChar char=""/>
              <a:tabLst>
                <a:tab pos="255904" algn="l"/>
              </a:tabLst>
            </a:pPr>
            <a:r>
              <a:rPr sz="2400" dirty="0">
                <a:latin typeface="Times New Roman"/>
                <a:cs typeface="Times New Roman"/>
              </a:rPr>
              <a:t>The next pointer of the specified node </a:t>
            </a:r>
            <a:r>
              <a:rPr sz="2400" spc="-5" dirty="0">
                <a:latin typeface="Times New Roman"/>
                <a:cs typeface="Times New Roman"/>
              </a:rPr>
              <a:t>will </a:t>
            </a:r>
            <a:r>
              <a:rPr sz="2400" dirty="0">
                <a:latin typeface="Times New Roman"/>
                <a:cs typeface="Times New Roman"/>
              </a:rPr>
              <a:t>point to the</a:t>
            </a:r>
            <a:r>
              <a:rPr sz="2400" spc="-200" dirty="0">
                <a:latin typeface="Times New Roman"/>
                <a:cs typeface="Times New Roman"/>
              </a:rPr>
              <a:t> </a:t>
            </a:r>
            <a:r>
              <a:rPr sz="2400" dirty="0">
                <a:latin typeface="Times New Roman"/>
                <a:cs typeface="Times New Roman"/>
              </a:rPr>
              <a:t>next  pointer of the node pointed by new</a:t>
            </a:r>
            <a:r>
              <a:rPr sz="2400" spc="-105" dirty="0">
                <a:latin typeface="Times New Roman"/>
                <a:cs typeface="Times New Roman"/>
              </a:rPr>
              <a:t> </a:t>
            </a:r>
            <a:r>
              <a:rPr sz="2400" spc="-35" dirty="0">
                <a:latin typeface="Times New Roman"/>
                <a:cs typeface="Times New Roman"/>
              </a:rPr>
              <a:t>ptr.</a:t>
            </a:r>
            <a:endParaRPr sz="2400" dirty="0">
              <a:latin typeface="Times New Roman"/>
              <a:cs typeface="Times New Roman"/>
            </a:endParaRPr>
          </a:p>
        </p:txBody>
      </p:sp>
      <p:sp>
        <p:nvSpPr>
          <p:cNvPr id="12" name="object 3"/>
          <p:cNvSpPr txBox="1">
            <a:spLocks noGrp="1"/>
          </p:cNvSpPr>
          <p:nvPr>
            <p:ph type="title"/>
          </p:nvPr>
        </p:nvSpPr>
        <p:spPr>
          <a:xfrm>
            <a:off x="1524000" y="2212385"/>
            <a:ext cx="7475220" cy="696595"/>
          </a:xfrm>
          <a:prstGeom prst="rect">
            <a:avLst/>
          </a:prstGeom>
        </p:spPr>
        <p:txBody>
          <a:bodyPr vert="horz" wrap="square" lIns="0" tIns="13335" rIns="0" bIns="0" rtlCol="0">
            <a:spAutoFit/>
          </a:bodyPr>
          <a:lstStyle/>
          <a:p>
            <a:pPr marL="12700">
              <a:spcBef>
                <a:spcPts val="105"/>
              </a:spcBef>
            </a:pPr>
            <a:r>
              <a:rPr sz="4400" dirty="0"/>
              <a:t>Insertion at the specified</a:t>
            </a:r>
            <a:r>
              <a:rPr sz="4400" spc="-114" dirty="0"/>
              <a:t> </a:t>
            </a:r>
            <a:r>
              <a:rPr sz="4400" dirty="0"/>
              <a:t>position</a:t>
            </a:r>
            <a:endParaRPr sz="4400"/>
          </a:p>
        </p:txBody>
      </p:sp>
    </p:spTree>
    <p:extLst>
      <p:ext uri="{BB962C8B-B14F-4D97-AF65-F5344CB8AC3E}">
        <p14:creationId xmlns:p14="http://schemas.microsoft.com/office/powerpoint/2010/main" val="800182400"/>
      </p:ext>
    </p:extLst>
  </p:cSld>
  <p:clrMapOvr>
    <a:masterClrMapping/>
  </p:clrMapOvr>
  <p:transition>
    <p:strips dir="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object 2"/>
          <p:cNvSpPr txBox="1">
            <a:spLocks noGrp="1"/>
          </p:cNvSpPr>
          <p:nvPr>
            <p:ph type="title"/>
          </p:nvPr>
        </p:nvSpPr>
        <p:spPr>
          <a:xfrm>
            <a:off x="2514600" y="536576"/>
            <a:ext cx="7475220" cy="696595"/>
          </a:xfrm>
          <a:prstGeom prst="rect">
            <a:avLst/>
          </a:prstGeom>
        </p:spPr>
        <p:txBody>
          <a:bodyPr vert="horz" wrap="square" lIns="0" tIns="13335" rIns="0" bIns="0" rtlCol="0">
            <a:spAutoFit/>
          </a:bodyPr>
          <a:lstStyle/>
          <a:p>
            <a:pPr marL="12700">
              <a:spcBef>
                <a:spcPts val="105"/>
              </a:spcBef>
            </a:pPr>
            <a:r>
              <a:rPr sz="4400" dirty="0"/>
              <a:t>Insertion at the specified</a:t>
            </a:r>
            <a:r>
              <a:rPr sz="4400" spc="-114" dirty="0"/>
              <a:t> </a:t>
            </a:r>
            <a:r>
              <a:rPr sz="4400" dirty="0"/>
              <a:t>position</a:t>
            </a:r>
            <a:endParaRPr sz="4400"/>
          </a:p>
        </p:txBody>
      </p:sp>
      <p:pic>
        <p:nvPicPr>
          <p:cNvPr id="3074" name="Picture 2" descr="Insertion in singly linked list after specified Node">
            <a:extLst>
              <a:ext uri="{FF2B5EF4-FFF2-40B4-BE49-F238E27FC236}">
                <a16:creationId xmlns:a16="http://schemas.microsoft.com/office/drawing/2014/main" id="{4C3CF3D1-9DD8-4CFB-8769-4842C1DB27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676400"/>
            <a:ext cx="8686800" cy="4005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64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object 2"/>
          <p:cNvSpPr txBox="1">
            <a:spLocks noGrp="1"/>
          </p:cNvSpPr>
          <p:nvPr>
            <p:ph type="title"/>
          </p:nvPr>
        </p:nvSpPr>
        <p:spPr>
          <a:xfrm>
            <a:off x="2514600" y="0"/>
            <a:ext cx="7475220" cy="696595"/>
          </a:xfrm>
          <a:prstGeom prst="rect">
            <a:avLst/>
          </a:prstGeom>
        </p:spPr>
        <p:txBody>
          <a:bodyPr vert="horz" wrap="square" lIns="0" tIns="13335" rIns="0" bIns="0" rtlCol="0">
            <a:spAutoFit/>
          </a:bodyPr>
          <a:lstStyle/>
          <a:p>
            <a:pPr marL="12700">
              <a:spcBef>
                <a:spcPts val="105"/>
              </a:spcBef>
            </a:pPr>
            <a:r>
              <a:rPr sz="4400" dirty="0"/>
              <a:t>Insertion at the specified</a:t>
            </a:r>
            <a:r>
              <a:rPr sz="4400" spc="-114" dirty="0"/>
              <a:t> </a:t>
            </a:r>
            <a:r>
              <a:rPr sz="4400" dirty="0"/>
              <a:t>position</a:t>
            </a:r>
          </a:p>
        </p:txBody>
      </p:sp>
      <p:pic>
        <p:nvPicPr>
          <p:cNvPr id="4" name="Picture 3">
            <a:extLst>
              <a:ext uri="{FF2B5EF4-FFF2-40B4-BE49-F238E27FC236}">
                <a16:creationId xmlns:a16="http://schemas.microsoft.com/office/drawing/2014/main" id="{ADA5EB8A-E98F-B587-F08E-CD0776A8485D}"/>
              </a:ext>
            </a:extLst>
          </p:cNvPr>
          <p:cNvPicPr>
            <a:picLocks noChangeAspect="1"/>
          </p:cNvPicPr>
          <p:nvPr/>
        </p:nvPicPr>
        <p:blipFill>
          <a:blip r:embed="rId3"/>
          <a:stretch>
            <a:fillRect/>
          </a:stretch>
        </p:blipFill>
        <p:spPr>
          <a:xfrm>
            <a:off x="2549237" y="589281"/>
            <a:ext cx="7128163" cy="6268719"/>
          </a:xfrm>
          <a:prstGeom prst="rect">
            <a:avLst/>
          </a:prstGeom>
        </p:spPr>
      </p:pic>
    </p:spTree>
    <p:extLst>
      <p:ext uri="{BB962C8B-B14F-4D97-AF65-F5344CB8AC3E}">
        <p14:creationId xmlns:p14="http://schemas.microsoft.com/office/powerpoint/2010/main" val="3705941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642008FB-4878-C39B-BF28-BBAC6851E79E}"/>
              </a:ext>
            </a:extLst>
          </p:cNvPr>
          <p:cNvSpPr>
            <a:spLocks noChangeArrowheads="1"/>
          </p:cNvSpPr>
          <p:nvPr/>
        </p:nvSpPr>
        <p:spPr bwMode="auto">
          <a:xfrm>
            <a:off x="1905000" y="914400"/>
            <a:ext cx="7315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eaLnBrk="1" hangingPunct="1"/>
            <a:br>
              <a:rPr lang="en-US" altLang="en-US" sz="2400">
                <a:solidFill>
                  <a:schemeClr val="tx2"/>
                </a:solidFill>
                <a:latin typeface="Lucida Sans Unicode" panose="020B0602030504020204" pitchFamily="34" charset="0"/>
                <a:cs typeface="Arial" panose="020B0604020202020204" pitchFamily="34" charset="0"/>
              </a:rPr>
            </a:br>
            <a:endParaRPr lang="en-US" altLang="en-US" sz="2400">
              <a:solidFill>
                <a:schemeClr val="tx2"/>
              </a:solidFill>
              <a:latin typeface="Lucida Sans Unicode" panose="020B0602030504020204" pitchFamily="34" charset="0"/>
              <a:cs typeface="Arial" panose="020B0604020202020204" pitchFamily="34" charset="0"/>
            </a:endParaRPr>
          </a:p>
        </p:txBody>
      </p:sp>
      <p:sp>
        <p:nvSpPr>
          <p:cNvPr id="36867" name="Title 1">
            <a:extLst>
              <a:ext uri="{FF2B5EF4-FFF2-40B4-BE49-F238E27FC236}">
                <a16:creationId xmlns:a16="http://schemas.microsoft.com/office/drawing/2014/main" id="{ABA23168-2890-6BFD-E000-E3DE317F448A}"/>
              </a:ext>
            </a:extLst>
          </p:cNvPr>
          <p:cNvSpPr txBox="1">
            <a:spLocks/>
          </p:cNvSpPr>
          <p:nvPr/>
        </p:nvSpPr>
        <p:spPr bwMode="auto">
          <a:xfrm>
            <a:off x="2209800" y="2438400"/>
            <a:ext cx="7391400"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4400">
                <a:cs typeface="Arial" panose="020B0604020202020204" pitchFamily="34" charset="0"/>
              </a:rPr>
              <a:t>Questions?</a:t>
            </a:r>
          </a:p>
        </p:txBody>
      </p:sp>
    </p:spTree>
  </p:cSld>
  <p:clrMapOvr>
    <a:masterClrMapping/>
  </p:clrMapOvr>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614</TotalTime>
  <Words>637</Words>
  <Application>Microsoft Office PowerPoint</Application>
  <PresentationFormat>Widescreen</PresentationFormat>
  <Paragraphs>84</Paragraphs>
  <Slides>17</Slides>
  <Notes>13</Notes>
  <HiddenSlides>2</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Algerian</vt:lpstr>
      <vt:lpstr>Arial</vt:lpstr>
      <vt:lpstr>Arial</vt:lpstr>
      <vt:lpstr>Calibri</vt:lpstr>
      <vt:lpstr>Calibri Light</vt:lpstr>
      <vt:lpstr>DejaVu Sans</vt:lpstr>
      <vt:lpstr>Lucida Sans Unicode</vt:lpstr>
      <vt:lpstr>Times New Roman</vt:lpstr>
      <vt:lpstr>Wingdings</vt:lpstr>
      <vt:lpstr>Wingdings 3</vt:lpstr>
      <vt:lpstr>Retrospect</vt:lpstr>
      <vt:lpstr>Data Structures and Algorithm</vt:lpstr>
      <vt:lpstr>CLO Covered in this lecture</vt:lpstr>
      <vt:lpstr>Goals for today</vt:lpstr>
      <vt:lpstr>Creation of node </vt:lpstr>
      <vt:lpstr>Creation and insertion of data in node</vt:lpstr>
      <vt:lpstr>Insertion of an element into the linked list at various positions:</vt:lpstr>
      <vt:lpstr>It is a list of free nodes in the memory. It contains unused memory cells and these memory cells can be used in future. It is also known as ‘List of Available Space’ or ‘Free Storage List’ or ‘Free Pool’.  It is used along with linked list. Whenever a new node is to be inserted in the linked list, a free node is taken from the AVAIL List and is inserted in the linked list.   Similarly, whenever a node is deleted from the linked list, it is inserted in the AVAIL List. So that it can be used in future. </vt:lpstr>
      <vt:lpstr>PowerPoint Presentation</vt:lpstr>
      <vt:lpstr>Overflow</vt:lpstr>
      <vt:lpstr>Insertion at beginning</vt:lpstr>
      <vt:lpstr>Insertion at beginning</vt:lpstr>
      <vt:lpstr>Insertion At end</vt:lpstr>
      <vt:lpstr>Insertion at End</vt:lpstr>
      <vt:lpstr>Insertion at the specified position</vt:lpstr>
      <vt:lpstr>Insertion at the specified position</vt:lpstr>
      <vt:lpstr>Insertion at the specified position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Habiba Arshad</dc:creator>
  <cp:lastModifiedBy>Habiba Arshad</cp:lastModifiedBy>
  <cp:revision>47</cp:revision>
  <dcterms:created xsi:type="dcterms:W3CDTF">2022-10-26T17:51:59Z</dcterms:created>
  <dcterms:modified xsi:type="dcterms:W3CDTF">2024-11-11T06:37:44Z</dcterms:modified>
</cp:coreProperties>
</file>