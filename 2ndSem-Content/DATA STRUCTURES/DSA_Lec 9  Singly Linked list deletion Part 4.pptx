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23" r:id="rId2"/>
    <p:sldId id="324" r:id="rId3"/>
    <p:sldId id="355" r:id="rId4"/>
    <p:sldId id="303" r:id="rId5"/>
    <p:sldId id="304" r:id="rId6"/>
    <p:sldId id="314" r:id="rId7"/>
    <p:sldId id="305" r:id="rId8"/>
    <p:sldId id="315" r:id="rId9"/>
    <p:sldId id="306" r:id="rId10"/>
    <p:sldId id="317" r:id="rId11"/>
    <p:sldId id="318" r:id="rId12"/>
    <p:sldId id="35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1139" autoAdjust="0"/>
  </p:normalViewPr>
  <p:slideViewPr>
    <p:cSldViewPr snapToGrid="0">
      <p:cViewPr varScale="1">
        <p:scale>
          <a:sx n="77" d="100"/>
          <a:sy n="77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DFDBE-DC96-4D48-8AE4-FBED9340CE8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66D6A-D958-4BB7-898A-61251ED72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5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B745764-1A9D-4C31-ADEB-9B67A2071BF9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85345" name="Text Box 1"/>
          <p:cNvSpPr txBox="1">
            <a:spLocks noChangeArrowheads="1"/>
          </p:cNvSpPr>
          <p:nvPr/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00" rIns="91800" anchor="b"/>
          <a:lstStyle>
            <a:lvl1pPr marL="215900" indent="-215900"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9pPr>
          </a:lstStyle>
          <a:p>
            <a:pPr algn="r">
              <a:buSzPct val="45000"/>
              <a:buFont typeface="Wingdings" panose="05000000000000000000" pitchFamily="2" charset="2"/>
              <a:buNone/>
            </a:pPr>
            <a:fld id="{3413D851-4243-4FC5-B7C8-1E73DC56BF40}" type="slidenum">
              <a:rPr lang="en-US" sz="1200" b="1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buSzPct val="45000"/>
                <a:buFont typeface="Wingdings" panose="05000000000000000000" pitchFamily="2" charset="2"/>
                <a:buNone/>
              </a:pPr>
              <a:t>4</a:t>
            </a:fld>
            <a:endParaRPr lang="en-US" sz="1200" b="1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85346" name="Text Box 2"/>
          <p:cNvSpPr txBox="1">
            <a:spLocks noChangeArrowheads="1"/>
          </p:cNvSpPr>
          <p:nvPr/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00" rIns="91800" anchor="b"/>
          <a:lstStyle>
            <a:lvl1pPr marL="215900" indent="-215900"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9pPr>
          </a:lstStyle>
          <a:p>
            <a:pPr>
              <a:buSzPct val="45000"/>
              <a:buFont typeface="Wingdings" panose="05000000000000000000" pitchFamily="2" charset="2"/>
              <a:buNone/>
            </a:pPr>
            <a:endParaRPr lang="en-US" sz="1200" b="1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00" rIns="91800"/>
          <a:lstStyle>
            <a:lvl1pPr marL="215900" indent="-215900"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9pPr>
          </a:lstStyle>
          <a:p>
            <a:pPr>
              <a:buSzPct val="45000"/>
              <a:buFont typeface="Wingdings" panose="05000000000000000000" pitchFamily="2" charset="2"/>
              <a:buNone/>
            </a:pPr>
            <a:endParaRPr lang="en-US" sz="1200" b="1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800" rIns="91800"/>
          <a:lstStyle>
            <a:lvl1pPr marL="215900" indent="-215900"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5988" algn="l"/>
                <a:tab pos="1833563" algn="l"/>
                <a:tab pos="2751138" algn="l"/>
                <a:tab pos="3668713" algn="l"/>
                <a:tab pos="4586288" algn="l"/>
                <a:tab pos="5503863" algn="l"/>
                <a:tab pos="6421438" algn="l"/>
                <a:tab pos="7339013" algn="l"/>
                <a:tab pos="8256588" algn="l"/>
                <a:tab pos="9174163" algn="l"/>
                <a:tab pos="10091738" algn="l"/>
              </a:tabLst>
              <a:defRPr sz="2400">
                <a:solidFill>
                  <a:srgbClr val="003366"/>
                </a:solidFill>
                <a:latin typeface="Times New Roman" panose="02020603050405020304" pitchFamily="18" charset="0"/>
                <a:ea typeface="Noto Sans CJK SC" charset="0"/>
                <a:cs typeface="Noto Sans CJK SC" charset="0"/>
              </a:defRPr>
            </a:lvl9pPr>
          </a:lstStyle>
          <a:p>
            <a:pPr algn="r">
              <a:buSzPct val="45000"/>
              <a:buFont typeface="Wingdings" panose="05000000000000000000" pitchFamily="2" charset="2"/>
              <a:buNone/>
            </a:pPr>
            <a:endParaRPr lang="en-US" sz="1200" b="1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85349" name="Rectangle 5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69888" y="688975"/>
            <a:ext cx="6118225" cy="3441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5350" name="Rectangle 6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223838" y="4360863"/>
            <a:ext cx="6434137" cy="41306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5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latin typeface="Arial" panose="020B0604020202020204" pitchFamily="34" charset="0"/>
              <a:ea typeface="Noto Sans CJK SC" charset="0"/>
              <a:cs typeface="Noto Sans CJK S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48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latin typeface="Arial" panose="020B0604020202020204" pitchFamily="34" charset="0"/>
              <a:ea typeface="Noto Sans CJK SC" charset="0"/>
              <a:cs typeface="Noto Sans CJK S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70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latin typeface="Arial" panose="020B0604020202020204" pitchFamily="34" charset="0"/>
              <a:ea typeface="Noto Sans CJK SC" charset="0"/>
              <a:cs typeface="Noto Sans CJK S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0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latin typeface="Arial" panose="020B0604020202020204" pitchFamily="34" charset="0"/>
              <a:ea typeface="Noto Sans CJK SC" charset="0"/>
              <a:cs typeface="Noto Sans CJK S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6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latin typeface="Arial" panose="020B0604020202020204" pitchFamily="34" charset="0"/>
              <a:ea typeface="Noto Sans CJK SC" charset="0"/>
              <a:cs typeface="Noto Sans CJK S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41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latin typeface="Arial" panose="020B0604020202020204" pitchFamily="34" charset="0"/>
              <a:ea typeface="Noto Sans CJK SC" charset="0"/>
              <a:cs typeface="Noto Sans CJK S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8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>
              <a:latin typeface="Arial" panose="020B0604020202020204" pitchFamily="34" charset="0"/>
              <a:ea typeface="Noto Sans CJK SC" charset="0"/>
              <a:cs typeface="Noto Sans CJK S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E04C5-1AD6-4988-801F-A2CA2774D8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47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16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02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4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2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Object-Oriented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1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Lecture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Object-Oriented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4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8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Object-Oriented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7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Lecture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Object-Oriented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38FCA96-F313-4D0B-BA7B-A6A3793754D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28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98EC7A-B0FB-41A6-866A-7FE9D1DE8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8915400" cy="1830388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/>
              <a:t>Data Structures and Algorithm</a:t>
            </a:r>
          </a:p>
        </p:txBody>
      </p:sp>
      <p:sp>
        <p:nvSpPr>
          <p:cNvPr id="11267" name="Subtitle 4">
            <a:extLst>
              <a:ext uri="{FF2B5EF4-FFF2-40B4-BE49-F238E27FC236}">
                <a16:creationId xmlns:a16="http://schemas.microsoft.com/office/drawing/2014/main" id="{76CBCB26-2BF2-27D4-B0B5-20E88F1D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138" y="4456113"/>
            <a:ext cx="10058400" cy="1143000"/>
          </a:xfrm>
        </p:spPr>
        <p:txBody>
          <a:bodyPr rtlCol="0">
            <a:normAutofit/>
          </a:bodyPr>
          <a:lstStyle/>
          <a:p>
            <a:pPr fontAlgn="auto">
              <a:defRPr/>
            </a:pPr>
            <a:r>
              <a:rPr lang="en-GB" altLang="en-US" dirty="0"/>
              <a:t>Course Code: CS-201</a:t>
            </a:r>
          </a:p>
          <a:p>
            <a:pPr fontAlgn="auto">
              <a:defRPr/>
            </a:pPr>
            <a:r>
              <a:rPr lang="en-GB" altLang="en-US" dirty="0"/>
              <a:t>Topic: Singly Linked deletion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586249-2C03-9822-3A0C-528D24D2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Goals for today</a:t>
            </a:r>
          </a:p>
        </p:txBody>
      </p:sp>
      <p:sp>
        <p:nvSpPr>
          <p:cNvPr id="11267" name="Content Placeholder 1">
            <a:extLst>
              <a:ext uri="{FF2B5EF4-FFF2-40B4-BE49-F238E27FC236}">
                <a16:creationId xmlns:a16="http://schemas.microsoft.com/office/drawing/2014/main" id="{4DAC6C23-80DD-CEF5-29BB-9902033C7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905000"/>
            <a:ext cx="10058400" cy="4525963"/>
          </a:xfrm>
        </p:spPr>
        <p:txBody>
          <a:bodyPr/>
          <a:lstStyle/>
          <a:p>
            <a:r>
              <a:rPr lang="en-GB" altLang="en-US" sz="2800" dirty="0"/>
              <a:t>To study:</a:t>
            </a:r>
          </a:p>
          <a:p>
            <a:pPr>
              <a:buFont typeface="Wingdings 3" panose="05040102010807070707" pitchFamily="18" charset="2"/>
              <a:buNone/>
            </a:pPr>
            <a:endParaRPr lang="en-GB" altLang="en-US" sz="2800" dirty="0"/>
          </a:p>
          <a:p>
            <a:pPr lvl="1"/>
            <a:r>
              <a:rPr lang="en-US" altLang="en-US" sz="2800" dirty="0"/>
              <a:t>Singly Linked List</a:t>
            </a:r>
          </a:p>
          <a:p>
            <a:pPr lvl="2"/>
            <a:r>
              <a:rPr lang="en-US" altLang="en-US" sz="2400" dirty="0"/>
              <a:t>Deletion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74AB-FAF7-9280-D033-2EE54E2C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F991C-A4FD-6D83-D857-4AF75933C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CLO2: </a:t>
            </a:r>
            <a:r>
              <a:rPr lang="en-US" sz="2800" b="1" dirty="0"/>
              <a:t>Apply</a:t>
            </a:r>
            <a:r>
              <a:rPr lang="en-US" sz="2800" dirty="0"/>
              <a:t> and design various data structures methods for specified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407015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 txBox="1">
            <a:spLocks/>
          </p:cNvSpPr>
          <p:nvPr/>
        </p:nvSpPr>
        <p:spPr>
          <a:xfrm>
            <a:off x="958506" y="800392"/>
            <a:ext cx="10264697" cy="1212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/>
            <a:r>
              <a:rPr lang="en-US" sz="4000" b="1" spc="-5" dirty="0"/>
              <a:t>OPERATION ON SINGLE LINKED LIST</a:t>
            </a:r>
            <a:endParaRPr lang="en-US" sz="3200" b="1" spc="-10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1819803" y="2087502"/>
            <a:ext cx="7315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kern="0" spc="-5"/>
              <a:t>Deletion an element from the linked</a:t>
            </a:r>
            <a:r>
              <a:rPr lang="en-US" sz="3600" kern="0" spc="85"/>
              <a:t> </a:t>
            </a:r>
            <a:r>
              <a:rPr lang="en-US" sz="3600" kern="0" spc="-5"/>
              <a:t>list</a:t>
            </a:r>
            <a:endParaRPr lang="en-US" sz="3600" kern="0" dirty="0"/>
          </a:p>
        </p:txBody>
      </p:sp>
      <p:sp>
        <p:nvSpPr>
          <p:cNvPr id="13" name="object 3"/>
          <p:cNvSpPr txBox="1"/>
          <p:nvPr/>
        </p:nvSpPr>
        <p:spPr>
          <a:xfrm>
            <a:off x="1402308" y="2923081"/>
            <a:ext cx="10342019" cy="3164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If the node be deleted, that </a:t>
            </a:r>
            <a:r>
              <a:rPr sz="2400" spc="-5" dirty="0">
                <a:latin typeface="Times New Roman"/>
                <a:cs typeface="Times New Roman"/>
              </a:rPr>
              <a:t>element </a:t>
            </a:r>
            <a:r>
              <a:rPr sz="2400" dirty="0">
                <a:latin typeface="Times New Roman"/>
                <a:cs typeface="Times New Roman"/>
              </a:rPr>
              <a:t>should be search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</a:p>
          <a:p>
            <a:pPr marL="88900"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over the list still the node find. Then it should be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deleted.</a:t>
            </a:r>
          </a:p>
          <a:p>
            <a:pPr>
              <a:spcBef>
                <a:spcPts val="10"/>
              </a:spcBef>
            </a:pPr>
            <a:endParaRPr sz="3850" dirty="0">
              <a:latin typeface="Times New Roman"/>
              <a:cs typeface="Times New Roman"/>
            </a:endParaRPr>
          </a:p>
          <a:p>
            <a:pPr marL="12700"/>
            <a:r>
              <a:rPr sz="2400" b="1" spc="-5" dirty="0">
                <a:latin typeface="Times New Roman"/>
                <a:cs typeface="Times New Roman"/>
              </a:rPr>
              <a:t>As </a:t>
            </a:r>
            <a:r>
              <a:rPr sz="2400" b="1" dirty="0">
                <a:latin typeface="Times New Roman"/>
                <a:cs typeface="Times New Roman"/>
              </a:rPr>
              <a:t>like </a:t>
            </a:r>
            <a:r>
              <a:rPr sz="2400" b="1" spc="-5" dirty="0">
                <a:latin typeface="Times New Roman"/>
                <a:cs typeface="Times New Roman"/>
              </a:rPr>
              <a:t>as </a:t>
            </a:r>
            <a:r>
              <a:rPr sz="2400" b="1" dirty="0">
                <a:latin typeface="Times New Roman"/>
                <a:cs typeface="Times New Roman"/>
              </a:rPr>
              <a:t>insertion </a:t>
            </a:r>
            <a:r>
              <a:rPr sz="2400" b="1" spc="-5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deletion </a:t>
            </a:r>
            <a:r>
              <a:rPr sz="2400" b="1" spc="-5" dirty="0">
                <a:latin typeface="Times New Roman"/>
                <a:cs typeface="Times New Roman"/>
              </a:rPr>
              <a:t>is </a:t>
            </a:r>
            <a:r>
              <a:rPr sz="2400" b="1" dirty="0">
                <a:latin typeface="Times New Roman"/>
                <a:cs typeface="Times New Roman"/>
              </a:rPr>
              <a:t>also performed </a:t>
            </a:r>
            <a:r>
              <a:rPr sz="2400" b="1" spc="-5" dirty="0">
                <a:latin typeface="Times New Roman"/>
                <a:cs typeface="Times New Roman"/>
              </a:rPr>
              <a:t>in </a:t>
            </a:r>
            <a:r>
              <a:rPr sz="2400" b="1" spc="-10" dirty="0">
                <a:latin typeface="Times New Roman"/>
                <a:cs typeface="Times New Roman"/>
              </a:rPr>
              <a:t>three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ways.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864869" indent="-243204">
              <a:buSzPct val="95833"/>
              <a:buFont typeface="Wingdings"/>
              <a:buChar char=""/>
              <a:tabLst>
                <a:tab pos="865505" algn="l"/>
              </a:tabLst>
            </a:pPr>
            <a:r>
              <a:rPr sz="2400" dirty="0">
                <a:latin typeface="Times New Roman"/>
                <a:cs typeface="Times New Roman"/>
              </a:rPr>
              <a:t>Deletion at the beginning position of the linked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list.</a:t>
            </a:r>
          </a:p>
          <a:p>
            <a:pPr marL="864869" indent="-243204">
              <a:buSzPct val="95833"/>
              <a:buFont typeface="Wingdings"/>
              <a:buChar char=""/>
              <a:tabLst>
                <a:tab pos="865505" algn="l"/>
              </a:tabLst>
            </a:pPr>
            <a:r>
              <a:rPr sz="2400" dirty="0">
                <a:latin typeface="Times New Roman"/>
                <a:cs typeface="Times New Roman"/>
              </a:rPr>
              <a:t>Deletion at the ending position of linked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list.</a:t>
            </a:r>
          </a:p>
          <a:p>
            <a:pPr marL="864869" indent="-243204">
              <a:buSzPct val="95833"/>
              <a:buFont typeface="Wingdings"/>
              <a:buChar char=""/>
              <a:tabLst>
                <a:tab pos="865505" algn="l"/>
              </a:tabLst>
            </a:pPr>
            <a:r>
              <a:rPr sz="2400" dirty="0">
                <a:latin typeface="Times New Roman"/>
                <a:cs typeface="Times New Roman"/>
              </a:rPr>
              <a:t>Deletion at a specified position in linked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list.</a:t>
            </a:r>
          </a:p>
        </p:txBody>
      </p:sp>
    </p:spTree>
    <p:extLst>
      <p:ext uri="{BB962C8B-B14F-4D97-AF65-F5344CB8AC3E}">
        <p14:creationId xmlns:p14="http://schemas.microsoft.com/office/powerpoint/2010/main" val="902234539"/>
      </p:ext>
    </p:extLst>
  </p:cSld>
  <p:clrMapOvr>
    <a:masterClrMapping/>
  </p:clrMapOvr>
  <p:transition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2"/>
          <p:cNvSpPr txBox="1">
            <a:spLocks noGrp="1"/>
          </p:cNvSpPr>
          <p:nvPr>
            <p:ph type="title"/>
          </p:nvPr>
        </p:nvSpPr>
        <p:spPr>
          <a:xfrm>
            <a:off x="3962400" y="623275"/>
            <a:ext cx="4426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spc="-5" dirty="0"/>
              <a:t>Deletion at</a:t>
            </a:r>
            <a:r>
              <a:rPr sz="4000" spc="-70" dirty="0"/>
              <a:t> </a:t>
            </a:r>
            <a:r>
              <a:rPr sz="4000" dirty="0"/>
              <a:t>beginning</a:t>
            </a:r>
            <a:endParaRPr sz="4000"/>
          </a:p>
        </p:txBody>
      </p:sp>
      <p:pic>
        <p:nvPicPr>
          <p:cNvPr id="4098" name="Picture 2" descr="DS Deletion in singly linked list at beginning">
            <a:extLst>
              <a:ext uri="{FF2B5EF4-FFF2-40B4-BE49-F238E27FC236}">
                <a16:creationId xmlns:a16="http://schemas.microsoft.com/office/drawing/2014/main" id="{D29E8291-F50D-4482-AF9B-65EFB405C8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47"/>
          <a:stretch/>
        </p:blipFill>
        <p:spPr bwMode="auto">
          <a:xfrm>
            <a:off x="1863826" y="1772907"/>
            <a:ext cx="8623732" cy="363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602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2"/>
          <p:cNvSpPr txBox="1">
            <a:spLocks noGrp="1"/>
          </p:cNvSpPr>
          <p:nvPr>
            <p:ph type="title"/>
          </p:nvPr>
        </p:nvSpPr>
        <p:spPr>
          <a:xfrm>
            <a:off x="1325880" y="824935"/>
            <a:ext cx="4426585" cy="540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spc="-5" dirty="0"/>
              <a:t>Deletion at</a:t>
            </a:r>
            <a:r>
              <a:rPr sz="4000" spc="-70" dirty="0"/>
              <a:t> </a:t>
            </a:r>
            <a:r>
              <a:rPr sz="4000" dirty="0"/>
              <a:t>beginning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1707324" y="2250670"/>
            <a:ext cx="78633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Step 1: If </a:t>
            </a:r>
            <a:r>
              <a:rPr lang="en-US" sz="2400" b="1" i="1" spc="-5" dirty="0">
                <a:latin typeface="Times New Roman"/>
                <a:cs typeface="Times New Roman"/>
              </a:rPr>
              <a:t>Start = Null</a:t>
            </a:r>
            <a:r>
              <a:rPr lang="en-US" sz="2400" b="1" i="1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then</a:t>
            </a:r>
          </a:p>
          <a:p>
            <a:pPr marL="1079500">
              <a:lnSpc>
                <a:spcPct val="100000"/>
              </a:lnSpc>
              <a:tabLst>
                <a:tab pos="1907539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Print:	</a:t>
            </a:r>
            <a:r>
              <a:rPr lang="en-US" sz="2400" dirty="0">
                <a:latin typeface="Times New Roman"/>
                <a:cs typeface="Times New Roman"/>
              </a:rPr>
              <a:t>“linked list is already</a:t>
            </a:r>
            <a:r>
              <a:rPr lang="en-US" sz="2400" spc="-9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empty-Underflow”</a:t>
            </a:r>
            <a:endParaRPr lang="en-US" sz="2400" dirty="0">
              <a:latin typeface="Times New Roman"/>
              <a:cs typeface="Times New Roman"/>
            </a:endParaRPr>
          </a:p>
          <a:p>
            <a:pPr marL="850900" marR="4322445" indent="151765">
              <a:lnSpc>
                <a:spcPct val="100000"/>
              </a:lnSpc>
            </a:pPr>
            <a:r>
              <a:rPr lang="en-US" sz="2400" dirty="0">
                <a:latin typeface="Times New Roman"/>
                <a:cs typeface="Times New Roman"/>
              </a:rPr>
              <a:t>Exit  </a:t>
            </a:r>
            <a:r>
              <a:rPr lang="en-US" sz="2400" spc="-5" dirty="0">
                <a:latin typeface="Times New Roman"/>
                <a:cs typeface="Times New Roman"/>
              </a:rPr>
              <a:t>[End</a:t>
            </a:r>
            <a:r>
              <a:rPr lang="en-US" sz="2400" spc="-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if]</a:t>
            </a:r>
          </a:p>
          <a:p>
            <a:pPr marL="12700">
              <a:lnSpc>
                <a:spcPct val="100000"/>
              </a:lnSpc>
            </a:pPr>
            <a:r>
              <a:rPr lang="en-US" sz="2400" spc="-5" dirty="0">
                <a:latin typeface="Times New Roman"/>
                <a:cs typeface="Times New Roman"/>
              </a:rPr>
              <a:t>Step 2: set </a:t>
            </a:r>
            <a:r>
              <a:rPr lang="en-US" sz="2400" b="1" i="1" spc="-5" dirty="0" err="1">
                <a:latin typeface="Times New Roman"/>
                <a:cs typeface="Times New Roman"/>
              </a:rPr>
              <a:t>Ptr</a:t>
            </a:r>
            <a:r>
              <a:rPr lang="en-US" sz="2400" b="1" i="1" spc="-5" dirty="0">
                <a:latin typeface="Times New Roman"/>
                <a:cs typeface="Times New Roman"/>
              </a:rPr>
              <a:t> = Start</a:t>
            </a:r>
          </a:p>
          <a:p>
            <a:pPr marL="12700">
              <a:lnSpc>
                <a:spcPct val="100000"/>
              </a:lnSpc>
            </a:pPr>
            <a:r>
              <a:rPr lang="en-US" sz="2400" spc="-5" dirty="0">
                <a:latin typeface="Times New Roman"/>
                <a:cs typeface="Times New Roman"/>
              </a:rPr>
              <a:t>Step 3:set </a:t>
            </a:r>
            <a:r>
              <a:rPr lang="en-US" sz="2400" b="1" i="1" spc="-5" dirty="0">
                <a:latin typeface="Times New Roman"/>
                <a:cs typeface="Times New Roman"/>
              </a:rPr>
              <a:t> Start = Start </a:t>
            </a:r>
            <a:r>
              <a:rPr lang="en-US" sz="2400" b="1" spc="-5" dirty="0">
                <a:latin typeface="Times New Roman"/>
                <a:cs typeface="Times New Roman"/>
              </a:rPr>
              <a:t>→</a:t>
            </a:r>
            <a:r>
              <a:rPr lang="en-US" sz="2400" b="1" dirty="0">
                <a:latin typeface="Times New Roman"/>
                <a:cs typeface="Times New Roman"/>
              </a:rPr>
              <a:t> </a:t>
            </a:r>
            <a:r>
              <a:rPr lang="en-US" sz="2400" b="1" i="1" spc="-5" dirty="0">
                <a:latin typeface="Times New Roman"/>
                <a:cs typeface="Times New Roman"/>
              </a:rPr>
              <a:t>Next</a:t>
            </a: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Step </a:t>
            </a:r>
            <a:r>
              <a:rPr lang="en-US" sz="2400" dirty="0">
                <a:latin typeface="Times New Roman"/>
                <a:cs typeface="Times New Roman"/>
              </a:rPr>
              <a:t>4: free(</a:t>
            </a:r>
            <a:r>
              <a:rPr lang="en-US" sz="2400" b="1" i="1" dirty="0" err="1">
                <a:latin typeface="Times New Roman"/>
                <a:cs typeface="Times New Roman"/>
              </a:rPr>
              <a:t>Ptr</a:t>
            </a:r>
            <a:r>
              <a:rPr lang="en-US" sz="2400" dirty="0">
                <a:latin typeface="Times New Roman"/>
                <a:cs typeface="Times New Roman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Step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5:Exit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35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"/>
          <p:cNvSpPr txBox="1">
            <a:spLocks noGrp="1"/>
          </p:cNvSpPr>
          <p:nvPr>
            <p:ph type="title"/>
          </p:nvPr>
        </p:nvSpPr>
        <p:spPr>
          <a:xfrm>
            <a:off x="4652518" y="623275"/>
            <a:ext cx="3564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/>
              <a:t>Deletion At</a:t>
            </a:r>
            <a:r>
              <a:rPr sz="4400" spc="-335" dirty="0"/>
              <a:t> </a:t>
            </a:r>
            <a:r>
              <a:rPr sz="4400" dirty="0"/>
              <a:t>end</a:t>
            </a:r>
            <a:endParaRPr sz="4400"/>
          </a:p>
        </p:txBody>
      </p:sp>
      <p:pic>
        <p:nvPicPr>
          <p:cNvPr id="5122" name="Picture 2" descr="DS Delete element from end">
            <a:extLst>
              <a:ext uri="{FF2B5EF4-FFF2-40B4-BE49-F238E27FC236}">
                <a16:creationId xmlns:a16="http://schemas.microsoft.com/office/drawing/2014/main" id="{CD65A8EB-07FF-4B1A-B648-20BCF6BC58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864"/>
          <a:stretch/>
        </p:blipFill>
        <p:spPr bwMode="auto">
          <a:xfrm>
            <a:off x="2196931" y="2209800"/>
            <a:ext cx="7798138" cy="211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38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"/>
          <p:cNvSpPr txBox="1">
            <a:spLocks noGrp="1"/>
          </p:cNvSpPr>
          <p:nvPr>
            <p:ph type="title"/>
          </p:nvPr>
        </p:nvSpPr>
        <p:spPr>
          <a:xfrm>
            <a:off x="4652518" y="623275"/>
            <a:ext cx="3564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/>
              <a:t>Deletion At</a:t>
            </a:r>
            <a:r>
              <a:rPr sz="4400" spc="-335" dirty="0"/>
              <a:t> </a:t>
            </a:r>
            <a:r>
              <a:rPr sz="4400" dirty="0"/>
              <a:t>end</a:t>
            </a:r>
            <a:endParaRPr sz="4400"/>
          </a:p>
        </p:txBody>
      </p:sp>
      <p:sp>
        <p:nvSpPr>
          <p:cNvPr id="46" name="object 4"/>
          <p:cNvSpPr txBox="1"/>
          <p:nvPr/>
        </p:nvSpPr>
        <p:spPr>
          <a:xfrm>
            <a:off x="1584960" y="2228850"/>
            <a:ext cx="8183245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Step </a:t>
            </a:r>
            <a:r>
              <a:rPr sz="2000" dirty="0">
                <a:latin typeface="Times New Roman"/>
                <a:cs typeface="Times New Roman"/>
              </a:rPr>
              <a:t>1:If </a:t>
            </a:r>
            <a:r>
              <a:rPr lang="en-US" sz="2000" b="1" i="1" spc="-5" dirty="0">
                <a:latin typeface="Times New Roman"/>
                <a:cs typeface="Times New Roman"/>
              </a:rPr>
              <a:t>Start</a:t>
            </a:r>
            <a:r>
              <a:rPr sz="2000" b="1" i="1" spc="-5" dirty="0">
                <a:latin typeface="Times New Roman"/>
                <a:cs typeface="Times New Roman"/>
              </a:rPr>
              <a:t> = Null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Then</a:t>
            </a:r>
          </a:p>
          <a:p>
            <a:pPr marL="9271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Print </a:t>
            </a:r>
            <a:r>
              <a:rPr sz="2000" dirty="0">
                <a:latin typeface="Times New Roman"/>
                <a:cs typeface="Times New Roman"/>
              </a:rPr>
              <a:t>: “Linked List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Empty”</a:t>
            </a:r>
            <a:endParaRPr sz="20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Exit</a:t>
            </a:r>
          </a:p>
          <a:p>
            <a:pPr marL="9271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[End</a:t>
            </a:r>
            <a:r>
              <a:rPr sz="2000" dirty="0">
                <a:latin typeface="Times New Roman"/>
                <a:cs typeface="Times New Roman"/>
              </a:rPr>
              <a:t> If]</a:t>
            </a:r>
          </a:p>
          <a:p>
            <a:pPr marL="1231900" marR="3571240" indent="-121983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Step 2: </a:t>
            </a:r>
            <a:r>
              <a:rPr lang="en-US" sz="2000" spc="-5" dirty="0">
                <a:latin typeface="Times New Roman"/>
                <a:cs typeface="Times New Roman"/>
              </a:rPr>
              <a:t>set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 = Start</a:t>
            </a:r>
            <a:endParaRPr lang="en-US" sz="2000" spc="-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839584" algn="l"/>
              </a:tabLst>
            </a:pPr>
            <a:r>
              <a:rPr sz="2000" spc="-5" dirty="0">
                <a:latin typeface="Times New Roman"/>
                <a:cs typeface="Times New Roman"/>
              </a:rPr>
              <a:t>Step 3: </a:t>
            </a:r>
            <a:r>
              <a:rPr lang="en-US" sz="2000" spc="-5" dirty="0">
                <a:latin typeface="Times New Roman"/>
                <a:cs typeface="Times New Roman"/>
              </a:rPr>
              <a:t>Repeat steps 4 and 5 while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 </a:t>
            </a:r>
            <a:r>
              <a:rPr lang="en-US" sz="2000" b="1" spc="-5" dirty="0">
                <a:latin typeface="Times New Roman"/>
                <a:cs typeface="Times New Roman"/>
              </a:rPr>
              <a:t>→</a:t>
            </a:r>
            <a:r>
              <a:rPr lang="en-US" sz="2000" b="1" i="1" spc="-5" dirty="0">
                <a:latin typeface="Times New Roman"/>
                <a:cs typeface="Times New Roman"/>
              </a:rPr>
              <a:t>next != Null</a:t>
            </a:r>
          </a:p>
          <a:p>
            <a:pPr marL="1604963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Step 4: </a:t>
            </a:r>
            <a:r>
              <a:rPr lang="en-US" sz="2000" spc="-5" dirty="0">
                <a:latin typeface="Times New Roman"/>
                <a:cs typeface="Times New Roman"/>
              </a:rPr>
              <a:t>set </a:t>
            </a:r>
            <a:r>
              <a:rPr lang="en-US" sz="2000" b="1" i="1" spc="-5" dirty="0">
                <a:latin typeface="Times New Roman"/>
                <a:cs typeface="Times New Roman"/>
              </a:rPr>
              <a:t>temp =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 </a:t>
            </a:r>
          </a:p>
          <a:p>
            <a:pPr marL="1604963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5: set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 =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 </a:t>
            </a:r>
            <a:r>
              <a:rPr lang="en-US" sz="2000" b="1" spc="-5" dirty="0">
                <a:latin typeface="Times New Roman"/>
                <a:cs typeface="Times New Roman"/>
              </a:rPr>
              <a:t>→ </a:t>
            </a:r>
            <a:r>
              <a:rPr lang="en-US" sz="2000" b="1" i="1" spc="-5" dirty="0">
                <a:latin typeface="Times New Roman"/>
                <a:cs typeface="Times New Roman"/>
              </a:rPr>
              <a:t>next </a:t>
            </a:r>
            <a:endParaRPr lang="en-US" sz="2000" spc="-5" dirty="0">
              <a:latin typeface="Times New Roman"/>
              <a:cs typeface="Times New Roman"/>
            </a:endParaRPr>
          </a:p>
          <a:p>
            <a:pPr marL="1604963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[End</a:t>
            </a:r>
            <a:r>
              <a:rPr sz="2000" dirty="0">
                <a:latin typeface="Times New Roman"/>
                <a:cs typeface="Times New Roman"/>
              </a:rPr>
              <a:t> loop]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Step 6: Set </a:t>
            </a:r>
            <a:r>
              <a:rPr lang="en-US" sz="2000" b="1" i="1" dirty="0">
                <a:latin typeface="Times New Roman"/>
                <a:cs typeface="Times New Roman"/>
              </a:rPr>
              <a:t>temp </a:t>
            </a:r>
            <a:r>
              <a:rPr lang="en-US" sz="2000" b="1" spc="-5" dirty="0">
                <a:latin typeface="Times New Roman"/>
                <a:cs typeface="Times New Roman"/>
              </a:rPr>
              <a:t>→ </a:t>
            </a:r>
            <a:r>
              <a:rPr lang="en-US" sz="2000" b="1" i="1" spc="-5" dirty="0">
                <a:latin typeface="Times New Roman"/>
                <a:cs typeface="Times New Roman"/>
              </a:rPr>
              <a:t>next = Null</a:t>
            </a:r>
          </a:p>
          <a:p>
            <a:pPr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7: </a:t>
            </a:r>
            <a:r>
              <a:rPr lang="en-US" sz="2000" b="1" i="1" spc="-5" dirty="0">
                <a:latin typeface="Times New Roman"/>
                <a:cs typeface="Times New Roman"/>
              </a:rPr>
              <a:t>free(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8: Exit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998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2"/>
          <p:cNvSpPr txBox="1">
            <a:spLocks noGrp="1"/>
          </p:cNvSpPr>
          <p:nvPr>
            <p:ph type="title"/>
          </p:nvPr>
        </p:nvSpPr>
        <p:spPr>
          <a:xfrm>
            <a:off x="2713508" y="621249"/>
            <a:ext cx="7413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/>
              <a:t>Deletion at the specified</a:t>
            </a:r>
            <a:r>
              <a:rPr sz="4400" spc="-105" dirty="0"/>
              <a:t> </a:t>
            </a:r>
            <a:r>
              <a:rPr sz="4400" dirty="0"/>
              <a:t>position</a:t>
            </a:r>
            <a:endParaRPr sz="4400"/>
          </a:p>
        </p:txBody>
      </p:sp>
      <p:sp>
        <p:nvSpPr>
          <p:cNvPr id="41" name="object 4"/>
          <p:cNvSpPr txBox="1"/>
          <p:nvPr/>
        </p:nvSpPr>
        <p:spPr>
          <a:xfrm>
            <a:off x="1051560" y="1935529"/>
            <a:ext cx="10302240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541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deleting a particular node from the linked list, the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first  </a:t>
            </a:r>
            <a:r>
              <a:rPr sz="2400" dirty="0">
                <a:latin typeface="Times New Roman"/>
                <a:cs typeface="Times New Roman"/>
              </a:rPr>
              <a:t>task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to find the address of the preceding node of nth  node to 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deleted.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3517265" algn="l"/>
              </a:tabLst>
            </a:pPr>
            <a:r>
              <a:rPr sz="2400" spc="-9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complete </a:t>
            </a:r>
            <a:r>
              <a:rPr sz="2400" dirty="0">
                <a:latin typeface="Times New Roman"/>
                <a:cs typeface="Times New Roman"/>
              </a:rPr>
              <a:t>the task traverse the linked list from begin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 </a:t>
            </a:r>
            <a:r>
              <a:rPr sz="2400" spc="-5" dirty="0">
                <a:latin typeface="Times New Roman"/>
                <a:cs typeface="Times New Roman"/>
              </a:rPr>
              <a:t>compare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Stored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node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item.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 dirty="0">
              <a:latin typeface="Times New Roman"/>
              <a:cs typeface="Times New Roman"/>
            </a:endParaRPr>
          </a:p>
          <a:p>
            <a:pPr marL="355600" marR="7556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60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pointers pointer1 pointer2 </a:t>
            </a:r>
            <a:r>
              <a:rPr sz="2400" spc="-5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while  traversing the list for locating the address of the node to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 deleted and address of </a:t>
            </a:r>
            <a:r>
              <a:rPr sz="2400" spc="-35" dirty="0">
                <a:latin typeface="Times New Roman"/>
                <a:cs typeface="Times New Roman"/>
              </a:rPr>
              <a:t>it’s </a:t>
            </a:r>
            <a:r>
              <a:rPr sz="2400" dirty="0">
                <a:latin typeface="Times New Roman"/>
                <a:cs typeface="Times New Roman"/>
              </a:rPr>
              <a:t>preceding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node.</a:t>
            </a:r>
          </a:p>
        </p:txBody>
      </p:sp>
    </p:spTree>
    <p:extLst>
      <p:ext uri="{BB962C8B-B14F-4D97-AF65-F5344CB8AC3E}">
        <p14:creationId xmlns:p14="http://schemas.microsoft.com/office/powerpoint/2010/main" val="9349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2"/>
          <p:cNvSpPr txBox="1">
            <a:spLocks noGrp="1"/>
          </p:cNvSpPr>
          <p:nvPr>
            <p:ph type="title"/>
          </p:nvPr>
        </p:nvSpPr>
        <p:spPr>
          <a:xfrm>
            <a:off x="2713508" y="621249"/>
            <a:ext cx="7413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/>
              <a:t>Deletion at the specified</a:t>
            </a:r>
            <a:r>
              <a:rPr sz="4400" spc="-105" dirty="0"/>
              <a:t> </a:t>
            </a:r>
            <a:r>
              <a:rPr sz="4400" dirty="0"/>
              <a:t>position</a:t>
            </a:r>
            <a:endParaRPr sz="4400"/>
          </a:p>
        </p:txBody>
      </p:sp>
      <p:pic>
        <p:nvPicPr>
          <p:cNvPr id="6146" name="Picture 2" descr="DS Deletion in singly linked list after the specified node">
            <a:extLst>
              <a:ext uri="{FF2B5EF4-FFF2-40B4-BE49-F238E27FC236}">
                <a16:creationId xmlns:a16="http://schemas.microsoft.com/office/drawing/2014/main" id="{DA767574-09F9-4AAC-A36B-8A83AA3363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65"/>
          <a:stretch/>
        </p:blipFill>
        <p:spPr bwMode="auto">
          <a:xfrm>
            <a:off x="2095500" y="1828801"/>
            <a:ext cx="8001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92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2"/>
          <p:cNvSpPr txBox="1">
            <a:spLocks noGrp="1"/>
          </p:cNvSpPr>
          <p:nvPr>
            <p:ph type="title"/>
          </p:nvPr>
        </p:nvSpPr>
        <p:spPr>
          <a:xfrm>
            <a:off x="2713508" y="258763"/>
            <a:ext cx="7413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dirty="0"/>
              <a:t>Deletion at the specified</a:t>
            </a:r>
            <a:r>
              <a:rPr sz="4400" spc="-105" dirty="0"/>
              <a:t> </a:t>
            </a:r>
            <a:r>
              <a:rPr sz="4400" dirty="0"/>
              <a:t>position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7C7792-8D6F-D3F3-EA7C-06A366B67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773" y="1230433"/>
            <a:ext cx="5106321" cy="515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53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42008FB-4878-C39B-BF28-BBAC6851E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br>
              <a:rPr lang="en-US" altLang="en-US" sz="2400">
                <a:solidFill>
                  <a:schemeClr val="tx2"/>
                </a:solidFill>
                <a:latin typeface="Lucida Sans Unicode" panose="020B0602030504020204" pitchFamily="34" charset="0"/>
                <a:cs typeface="Arial" panose="020B0604020202020204" pitchFamily="34" charset="0"/>
              </a:rPr>
            </a:br>
            <a:endParaRPr lang="en-US" altLang="en-US" sz="2400">
              <a:solidFill>
                <a:schemeClr val="tx2"/>
              </a:solidFill>
              <a:latin typeface="Lucida Sans Unicode" panose="020B0602030504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Title 1">
            <a:extLst>
              <a:ext uri="{FF2B5EF4-FFF2-40B4-BE49-F238E27FC236}">
                <a16:creationId xmlns:a16="http://schemas.microsoft.com/office/drawing/2014/main" id="{ABA23168-2890-6BFD-E000-E3DE317F448A}"/>
              </a:ext>
            </a:extLst>
          </p:cNvPr>
          <p:cNvSpPr txBox="1">
            <a:spLocks/>
          </p:cNvSpPr>
          <p:nvPr/>
        </p:nvSpPr>
        <p:spPr bwMode="auto">
          <a:xfrm>
            <a:off x="2209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>
                <a:cs typeface="Arial" panose="020B0604020202020204" pitchFamily="34" charset="0"/>
              </a:rPr>
              <a:t>Questions?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365</Words>
  <Application>Microsoft Office PowerPoint</Application>
  <PresentationFormat>Widescreen</PresentationFormat>
  <Paragraphs>63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DejaVu Sans</vt:lpstr>
      <vt:lpstr>Lucida Sans Unicode</vt:lpstr>
      <vt:lpstr>Times New Roman</vt:lpstr>
      <vt:lpstr>Wingdings</vt:lpstr>
      <vt:lpstr>Wingdings 3</vt:lpstr>
      <vt:lpstr>Retrospect</vt:lpstr>
      <vt:lpstr>Data Structures and Algorithm</vt:lpstr>
      <vt:lpstr>Goals for today</vt:lpstr>
      <vt:lpstr>CLO Covered</vt:lpstr>
      <vt:lpstr>PowerPoint Presentation</vt:lpstr>
      <vt:lpstr>Deletion at beginning</vt:lpstr>
      <vt:lpstr>Deletion at beginning</vt:lpstr>
      <vt:lpstr>Deletion At end</vt:lpstr>
      <vt:lpstr>Deletion At end</vt:lpstr>
      <vt:lpstr>Deletion at the specified position</vt:lpstr>
      <vt:lpstr>Deletion at the specified position</vt:lpstr>
      <vt:lpstr>Deletion at the specified position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Habiba Arshad</dc:creator>
  <cp:lastModifiedBy>Rida Zahra</cp:lastModifiedBy>
  <cp:revision>45</cp:revision>
  <dcterms:created xsi:type="dcterms:W3CDTF">2022-10-26T17:51:59Z</dcterms:created>
  <dcterms:modified xsi:type="dcterms:W3CDTF">2025-11-18T16:22:42Z</dcterms:modified>
</cp:coreProperties>
</file>