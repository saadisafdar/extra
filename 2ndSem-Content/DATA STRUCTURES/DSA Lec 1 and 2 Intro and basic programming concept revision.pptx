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56" r:id="rId2"/>
    <p:sldId id="413" r:id="rId3"/>
    <p:sldId id="423" r:id="rId4"/>
    <p:sldId id="424" r:id="rId5"/>
    <p:sldId id="425" r:id="rId6"/>
    <p:sldId id="426" r:id="rId7"/>
    <p:sldId id="261" r:id="rId8"/>
    <p:sldId id="262" r:id="rId9"/>
    <p:sldId id="427" r:id="rId10"/>
    <p:sldId id="260" r:id="rId11"/>
    <p:sldId id="269" r:id="rId12"/>
    <p:sldId id="264" r:id="rId13"/>
    <p:sldId id="428" r:id="rId14"/>
    <p:sldId id="270" r:id="rId15"/>
    <p:sldId id="265" r:id="rId16"/>
    <p:sldId id="266" r:id="rId17"/>
    <p:sldId id="267" r:id="rId18"/>
    <p:sldId id="268" r:id="rId19"/>
    <p:sldId id="271" r:id="rId20"/>
    <p:sldId id="273" r:id="rId21"/>
    <p:sldId id="272" r:id="rId22"/>
    <p:sldId id="398" r:id="rId23"/>
    <p:sldId id="338" r:id="rId24"/>
    <p:sldId id="393" r:id="rId25"/>
    <p:sldId id="339" r:id="rId26"/>
    <p:sldId id="399" r:id="rId27"/>
    <p:sldId id="343" r:id="rId28"/>
    <p:sldId id="344" r:id="rId29"/>
    <p:sldId id="397" r:id="rId30"/>
    <p:sldId id="369" r:id="rId31"/>
    <p:sldId id="373" r:id="rId32"/>
    <p:sldId id="374" r:id="rId33"/>
    <p:sldId id="375" r:id="rId34"/>
    <p:sldId id="376" r:id="rId35"/>
    <p:sldId id="371" r:id="rId36"/>
    <p:sldId id="377" r:id="rId37"/>
    <p:sldId id="378" r:id="rId38"/>
    <p:sldId id="379" r:id="rId39"/>
    <p:sldId id="401" r:id="rId40"/>
    <p:sldId id="402" r:id="rId41"/>
    <p:sldId id="380" r:id="rId42"/>
    <p:sldId id="403" r:id="rId43"/>
    <p:sldId id="404" r:id="rId44"/>
    <p:sldId id="382" r:id="rId45"/>
    <p:sldId id="405" r:id="rId46"/>
    <p:sldId id="406" r:id="rId47"/>
    <p:sldId id="385" r:id="rId48"/>
    <p:sldId id="407" r:id="rId49"/>
    <p:sldId id="408" r:id="rId50"/>
    <p:sldId id="386" r:id="rId51"/>
    <p:sldId id="409" r:id="rId52"/>
    <p:sldId id="387" r:id="rId53"/>
    <p:sldId id="410" r:id="rId54"/>
    <p:sldId id="388" r:id="rId55"/>
    <p:sldId id="412" r:id="rId56"/>
    <p:sldId id="389" r:id="rId57"/>
    <p:sldId id="411" r:id="rId58"/>
    <p:sldId id="354"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CF54FD-096C-4FC9-946C-497777BF5BC9}"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6892D-095D-42A4-AF00-946232583A8C}" type="slidenum">
              <a:rPr lang="en-US" smtClean="0"/>
              <a:t>‹#›</a:t>
            </a:fld>
            <a:endParaRPr lang="en-US"/>
          </a:p>
        </p:txBody>
      </p:sp>
    </p:spTree>
    <p:extLst>
      <p:ext uri="{BB962C8B-B14F-4D97-AF65-F5344CB8AC3E}">
        <p14:creationId xmlns:p14="http://schemas.microsoft.com/office/powerpoint/2010/main" val="88437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A16964B5-E0B1-771D-0745-3F794A9839D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A7162E56-0B8E-0F54-B3DD-45311B5845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DE59ED29-88B5-8514-8304-AA958B318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FAFEEA0-DCA6-4F87-B7DB-C69EFF7CFDDB}" type="slidenum">
              <a:rPr lang="en-US" altLang="en-US" sz="1200" smtClean="0"/>
              <a:pPr/>
              <a:t>6</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Lecture 1</a:t>
            </a:r>
          </a:p>
        </p:txBody>
      </p:sp>
      <p:sp>
        <p:nvSpPr>
          <p:cNvPr id="5" name="Footer Placeholder 4"/>
          <p:cNvSpPr>
            <a:spLocks noGrp="1"/>
          </p:cNvSpPr>
          <p:nvPr>
            <p:ph type="ftr" sz="quarter" idx="11"/>
          </p:nvPr>
        </p:nvSpPr>
        <p:spPr/>
        <p:txBody>
          <a:bodyPr/>
          <a:lstStyle/>
          <a:p>
            <a:r>
              <a:rPr lang="en-US"/>
              <a:t>DSA</a:t>
            </a:r>
          </a:p>
        </p:txBody>
      </p:sp>
      <p:sp>
        <p:nvSpPr>
          <p:cNvPr id="6" name="Slide Number Placeholder 5"/>
          <p:cNvSpPr>
            <a:spLocks noGrp="1"/>
          </p:cNvSpPr>
          <p:nvPr>
            <p:ph type="sldNum" sz="quarter" idx="12"/>
          </p:nvPr>
        </p:nvSpPr>
        <p:spPr/>
        <p:txBody>
          <a:bodyPr/>
          <a:lstStyle/>
          <a:p>
            <a:fld id="{122A9410-B598-43C3-8FC2-0C252DBB0D1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1592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1</a:t>
            </a:r>
          </a:p>
        </p:txBody>
      </p:sp>
      <p:sp>
        <p:nvSpPr>
          <p:cNvPr id="5" name="Footer Placeholder 4"/>
          <p:cNvSpPr>
            <a:spLocks noGrp="1"/>
          </p:cNvSpPr>
          <p:nvPr>
            <p:ph type="ftr" sz="quarter" idx="11"/>
          </p:nvPr>
        </p:nvSpPr>
        <p:spPr/>
        <p:txBody>
          <a:bodyPr/>
          <a:lstStyle/>
          <a:p>
            <a:r>
              <a:rPr lang="en-US"/>
              <a:t>DSA</a:t>
            </a:r>
          </a:p>
        </p:txBody>
      </p:sp>
      <p:sp>
        <p:nvSpPr>
          <p:cNvPr id="6" name="Slide Number Placeholder 5"/>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1688310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Lecture 1</a:t>
            </a:r>
          </a:p>
        </p:txBody>
      </p:sp>
      <p:sp>
        <p:nvSpPr>
          <p:cNvPr id="5" name="Footer Placeholder 4"/>
          <p:cNvSpPr>
            <a:spLocks noGrp="1"/>
          </p:cNvSpPr>
          <p:nvPr>
            <p:ph type="ftr" sz="quarter" idx="11"/>
          </p:nvPr>
        </p:nvSpPr>
        <p:spPr/>
        <p:txBody>
          <a:bodyPr/>
          <a:lstStyle/>
          <a:p>
            <a:r>
              <a:rPr lang="en-US"/>
              <a:t>DSA</a:t>
            </a:r>
          </a:p>
        </p:txBody>
      </p:sp>
      <p:sp>
        <p:nvSpPr>
          <p:cNvPr id="6" name="Slide Number Placeholder 5"/>
          <p:cNvSpPr>
            <a:spLocks noGrp="1"/>
          </p:cNvSpPr>
          <p:nvPr>
            <p:ph type="sldNum" sz="quarter" idx="12"/>
          </p:nvPr>
        </p:nvSpPr>
        <p:spPr/>
        <p:txBody>
          <a:bodyPr/>
          <a:lstStyle/>
          <a:p>
            <a:fld id="{122A9410-B598-43C3-8FC2-0C252DBB0D1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17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Lecture 1</a:t>
            </a:r>
          </a:p>
        </p:txBody>
      </p:sp>
      <p:sp>
        <p:nvSpPr>
          <p:cNvPr id="6" name="Footer Placeholder 5"/>
          <p:cNvSpPr>
            <a:spLocks noGrp="1"/>
          </p:cNvSpPr>
          <p:nvPr>
            <p:ph type="ftr" sz="quarter" idx="11"/>
          </p:nvPr>
        </p:nvSpPr>
        <p:spPr/>
        <p:txBody>
          <a:bodyPr/>
          <a:lstStyle/>
          <a:p>
            <a:r>
              <a:rPr lang="en-US"/>
              <a:t>DSA</a:t>
            </a:r>
          </a:p>
        </p:txBody>
      </p:sp>
      <p:sp>
        <p:nvSpPr>
          <p:cNvPr id="7" name="Slide Number Placeholder 6"/>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3581661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Lecture 1</a:t>
            </a:r>
          </a:p>
        </p:txBody>
      </p:sp>
      <p:sp>
        <p:nvSpPr>
          <p:cNvPr id="8" name="Footer Placeholder 7"/>
          <p:cNvSpPr>
            <a:spLocks noGrp="1"/>
          </p:cNvSpPr>
          <p:nvPr>
            <p:ph type="ftr" sz="quarter" idx="11"/>
          </p:nvPr>
        </p:nvSpPr>
        <p:spPr/>
        <p:txBody>
          <a:bodyPr/>
          <a:lstStyle/>
          <a:p>
            <a:r>
              <a:rPr lang="en-US"/>
              <a:t>DSA</a:t>
            </a:r>
          </a:p>
        </p:txBody>
      </p:sp>
      <p:sp>
        <p:nvSpPr>
          <p:cNvPr id="9" name="Slide Number Placeholder 8"/>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2280411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Lecture 1</a:t>
            </a:r>
          </a:p>
        </p:txBody>
      </p:sp>
      <p:sp>
        <p:nvSpPr>
          <p:cNvPr id="4" name="Footer Placeholder 3"/>
          <p:cNvSpPr>
            <a:spLocks noGrp="1"/>
          </p:cNvSpPr>
          <p:nvPr>
            <p:ph type="ftr" sz="quarter" idx="11"/>
          </p:nvPr>
        </p:nvSpPr>
        <p:spPr/>
        <p:txBody>
          <a:bodyPr/>
          <a:lstStyle/>
          <a:p>
            <a:r>
              <a:rPr lang="en-US"/>
              <a:t>DSA</a:t>
            </a:r>
          </a:p>
        </p:txBody>
      </p:sp>
      <p:sp>
        <p:nvSpPr>
          <p:cNvPr id="5" name="Slide Number Placeholder 4"/>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2385405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Lecture 1</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DSA</a:t>
            </a:r>
          </a:p>
        </p:txBody>
      </p:sp>
      <p:sp>
        <p:nvSpPr>
          <p:cNvPr id="9" name="Slide Number Placeholder 8"/>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44532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Lecture 1</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DSA</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2A9410-B598-43C3-8FC2-0C252DBB0D12}" type="slidenum">
              <a:rPr lang="en-US" smtClean="0"/>
              <a:t>‹#›</a:t>
            </a:fld>
            <a:endParaRPr lang="en-US"/>
          </a:p>
        </p:txBody>
      </p:sp>
    </p:spTree>
    <p:extLst>
      <p:ext uri="{BB962C8B-B14F-4D97-AF65-F5344CB8AC3E}">
        <p14:creationId xmlns:p14="http://schemas.microsoft.com/office/powerpoint/2010/main" val="2029568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Lecture 1</a:t>
            </a:r>
          </a:p>
        </p:txBody>
      </p:sp>
      <p:sp>
        <p:nvSpPr>
          <p:cNvPr id="6" name="Footer Placeholder 5"/>
          <p:cNvSpPr>
            <a:spLocks noGrp="1"/>
          </p:cNvSpPr>
          <p:nvPr>
            <p:ph type="ftr" sz="quarter" idx="11"/>
          </p:nvPr>
        </p:nvSpPr>
        <p:spPr/>
        <p:txBody>
          <a:bodyPr/>
          <a:lstStyle/>
          <a:p>
            <a:r>
              <a:rPr lang="en-US"/>
              <a:t>DSA</a:t>
            </a:r>
          </a:p>
        </p:txBody>
      </p:sp>
      <p:sp>
        <p:nvSpPr>
          <p:cNvPr id="7" name="Slide Number Placeholder 6"/>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1869032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1</a:t>
            </a:r>
          </a:p>
        </p:txBody>
      </p:sp>
      <p:sp>
        <p:nvSpPr>
          <p:cNvPr id="5" name="Footer Placeholder 4"/>
          <p:cNvSpPr>
            <a:spLocks noGrp="1"/>
          </p:cNvSpPr>
          <p:nvPr>
            <p:ph type="ftr" sz="quarter" idx="11"/>
          </p:nvPr>
        </p:nvSpPr>
        <p:spPr/>
        <p:txBody>
          <a:bodyPr/>
          <a:lstStyle/>
          <a:p>
            <a:r>
              <a:rPr lang="en-US"/>
              <a:t>DSA</a:t>
            </a:r>
          </a:p>
        </p:txBody>
      </p:sp>
      <p:sp>
        <p:nvSpPr>
          <p:cNvPr id="6" name="Slide Number Placeholder 5"/>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2758628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1</a:t>
            </a:r>
          </a:p>
        </p:txBody>
      </p:sp>
      <p:sp>
        <p:nvSpPr>
          <p:cNvPr id="5" name="Footer Placeholder 4"/>
          <p:cNvSpPr>
            <a:spLocks noGrp="1"/>
          </p:cNvSpPr>
          <p:nvPr>
            <p:ph type="ftr" sz="quarter" idx="11"/>
          </p:nvPr>
        </p:nvSpPr>
        <p:spPr/>
        <p:txBody>
          <a:bodyPr/>
          <a:lstStyle/>
          <a:p>
            <a:r>
              <a:rPr lang="en-US"/>
              <a:t>DSA</a:t>
            </a:r>
          </a:p>
        </p:txBody>
      </p:sp>
      <p:sp>
        <p:nvSpPr>
          <p:cNvPr id="6" name="Slide Number Placeholder 5"/>
          <p:cNvSpPr>
            <a:spLocks noGrp="1"/>
          </p:cNvSpPr>
          <p:nvPr>
            <p:ph type="sldNum" sz="quarter" idx="12"/>
          </p:nvPr>
        </p:nvSpPr>
        <p:spPr/>
        <p:txBody>
          <a:bodyPr/>
          <a:lstStyle/>
          <a:p>
            <a:fld id="{122A9410-B598-43C3-8FC2-0C252DBB0D12}" type="slidenum">
              <a:rPr lang="en-US" smtClean="0"/>
              <a:t>‹#›</a:t>
            </a:fld>
            <a:endParaRPr lang="en-US"/>
          </a:p>
        </p:txBody>
      </p:sp>
    </p:spTree>
    <p:extLst>
      <p:ext uri="{BB962C8B-B14F-4D97-AF65-F5344CB8AC3E}">
        <p14:creationId xmlns:p14="http://schemas.microsoft.com/office/powerpoint/2010/main" val="3022160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Lecture 1</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DSA</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2A9410-B598-43C3-8FC2-0C252DBB0D1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787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C7989-2736-474F-AB8C-1B8EBB19A163}"/>
              </a:ext>
            </a:extLst>
          </p:cNvPr>
          <p:cNvSpPr>
            <a:spLocks noGrp="1"/>
          </p:cNvSpPr>
          <p:nvPr>
            <p:ph type="ctrTitle"/>
          </p:nvPr>
        </p:nvSpPr>
        <p:spPr/>
        <p:txBody>
          <a:bodyPr/>
          <a:lstStyle/>
          <a:p>
            <a:pPr algn="ctr"/>
            <a:r>
              <a:rPr lang="en-US" dirty="0"/>
              <a:t>Data Structures &amp; Algorithm</a:t>
            </a:r>
          </a:p>
        </p:txBody>
      </p:sp>
      <p:sp>
        <p:nvSpPr>
          <p:cNvPr id="3" name="Subtitle 2">
            <a:extLst>
              <a:ext uri="{FF2B5EF4-FFF2-40B4-BE49-F238E27FC236}">
                <a16:creationId xmlns:a16="http://schemas.microsoft.com/office/drawing/2014/main" id="{B002471F-D0F5-68C4-2298-39534666CE60}"/>
              </a:ext>
            </a:extLst>
          </p:cNvPr>
          <p:cNvSpPr>
            <a:spLocks noGrp="1"/>
          </p:cNvSpPr>
          <p:nvPr>
            <p:ph type="subTitle" idx="1"/>
          </p:nvPr>
        </p:nvSpPr>
        <p:spPr/>
        <p:txBody>
          <a:bodyPr>
            <a:normAutofit fontScale="47500" lnSpcReduction="20000"/>
          </a:bodyPr>
          <a:lstStyle/>
          <a:p>
            <a:pPr algn="ctr"/>
            <a:r>
              <a:rPr lang="en-US" dirty="0"/>
              <a:t>Instructor: Rida Zahra</a:t>
            </a:r>
          </a:p>
          <a:p>
            <a:pPr algn="ctr"/>
            <a:endParaRPr lang="en-US" dirty="0"/>
          </a:p>
          <a:p>
            <a:pPr algn="ctr"/>
            <a:endParaRPr lang="en-US" dirty="0"/>
          </a:p>
          <a:p>
            <a:pPr algn="ctr"/>
            <a:r>
              <a:rPr lang="en-US" dirty="0"/>
              <a:t>Department of computer science</a:t>
            </a:r>
          </a:p>
        </p:txBody>
      </p:sp>
    </p:spTree>
    <p:extLst>
      <p:ext uri="{BB962C8B-B14F-4D97-AF65-F5344CB8AC3E}">
        <p14:creationId xmlns:p14="http://schemas.microsoft.com/office/powerpoint/2010/main" val="2070299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192A-2B7F-89BD-CD45-4BB112FAAEA9}"/>
              </a:ext>
            </a:extLst>
          </p:cNvPr>
          <p:cNvSpPr>
            <a:spLocks noGrp="1"/>
          </p:cNvSpPr>
          <p:nvPr>
            <p:ph type="title"/>
          </p:nvPr>
        </p:nvSpPr>
        <p:spPr>
          <a:xfrm>
            <a:off x="2346325" y="640022"/>
            <a:ext cx="7543800" cy="815186"/>
          </a:xfrm>
        </p:spPr>
        <p:txBody>
          <a:bodyPr/>
          <a:lstStyle/>
          <a:p>
            <a:pPr algn="ctr">
              <a:defRPr/>
            </a:pPr>
            <a:r>
              <a:rPr lang="en-US" dirty="0">
                <a:latin typeface="Calibri" panose="020F0502020204030204" pitchFamily="34" charset="0"/>
                <a:cs typeface="Calibri" panose="020F0502020204030204" pitchFamily="34" charset="0"/>
              </a:rPr>
              <a:t>Google Classroom Codes</a:t>
            </a:r>
          </a:p>
        </p:txBody>
      </p:sp>
      <p:sp>
        <p:nvSpPr>
          <p:cNvPr id="13316" name="TextBox 5">
            <a:extLst>
              <a:ext uri="{FF2B5EF4-FFF2-40B4-BE49-F238E27FC236}">
                <a16:creationId xmlns:a16="http://schemas.microsoft.com/office/drawing/2014/main" id="{9496E753-1B2B-7F28-BF73-1863107EB8B1}"/>
              </a:ext>
            </a:extLst>
          </p:cNvPr>
          <p:cNvSpPr txBox="1">
            <a:spLocks noChangeArrowheads="1"/>
          </p:cNvSpPr>
          <p:nvPr/>
        </p:nvSpPr>
        <p:spPr bwMode="auto">
          <a:xfrm>
            <a:off x="2389981" y="1962944"/>
            <a:ext cx="7456488" cy="4159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100" b="1"/>
              <a:t>Theory Code</a:t>
            </a:r>
          </a:p>
        </p:txBody>
      </p:sp>
      <p:pic>
        <p:nvPicPr>
          <p:cNvPr id="4" name="Picture 3">
            <a:extLst>
              <a:ext uri="{FF2B5EF4-FFF2-40B4-BE49-F238E27FC236}">
                <a16:creationId xmlns:a16="http://schemas.microsoft.com/office/drawing/2014/main" id="{9A271134-1DB4-3921-0671-C31C25CFAFCC}"/>
              </a:ext>
            </a:extLst>
          </p:cNvPr>
          <p:cNvPicPr>
            <a:picLocks noChangeAspect="1"/>
          </p:cNvPicPr>
          <p:nvPr/>
        </p:nvPicPr>
        <p:blipFill>
          <a:blip r:embed="rId2"/>
          <a:stretch>
            <a:fillRect/>
          </a:stretch>
        </p:blipFill>
        <p:spPr>
          <a:xfrm>
            <a:off x="3041650" y="2713919"/>
            <a:ext cx="6153150" cy="2762250"/>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163D-AE50-CFF9-C64F-B6DB67641B4E}"/>
              </a:ext>
            </a:extLst>
          </p:cNvPr>
          <p:cNvSpPr>
            <a:spLocks noGrp="1"/>
          </p:cNvSpPr>
          <p:nvPr>
            <p:ph type="title"/>
          </p:nvPr>
        </p:nvSpPr>
        <p:spPr/>
        <p:txBody>
          <a:bodyPr/>
          <a:lstStyle/>
          <a:p>
            <a:pPr>
              <a:defRPr/>
            </a:pPr>
            <a:r>
              <a:rPr lang="en-US" dirty="0"/>
              <a:t>Evaluation Criteria</a:t>
            </a:r>
          </a:p>
        </p:txBody>
      </p:sp>
      <p:graphicFrame>
        <p:nvGraphicFramePr>
          <p:cNvPr id="4" name="Content Placeholder 3">
            <a:extLst>
              <a:ext uri="{FF2B5EF4-FFF2-40B4-BE49-F238E27FC236}">
                <a16:creationId xmlns:a16="http://schemas.microsoft.com/office/drawing/2014/main" id="{92DDD2D7-497C-9FAF-8EED-E2EBCE590C3F}"/>
              </a:ext>
            </a:extLst>
          </p:cNvPr>
          <p:cNvGraphicFramePr>
            <a:graphicFrameLocks noGrp="1"/>
          </p:cNvGraphicFramePr>
          <p:nvPr>
            <p:ph idx="1"/>
            <p:extLst>
              <p:ext uri="{D42A27DB-BD31-4B8C-83A1-F6EECF244321}">
                <p14:modId xmlns:p14="http://schemas.microsoft.com/office/powerpoint/2010/main" val="1991895914"/>
              </p:ext>
            </p:extLst>
          </p:nvPr>
        </p:nvGraphicFramePr>
        <p:xfrm>
          <a:off x="2849880" y="1831122"/>
          <a:ext cx="6553200" cy="4740275"/>
        </p:xfrm>
        <a:graphic>
          <a:graphicData uri="http://schemas.openxmlformats.org/drawingml/2006/table">
            <a:tbl>
              <a:tblPr firstRow="1" firstCol="1" bandRow="1">
                <a:tableStyleId>{C083E6E3-FA7D-4D7B-A595-EF9225AFEA82}</a:tableStyleId>
              </a:tblPr>
              <a:tblGrid>
                <a:gridCol w="32766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tblGrid>
              <a:tr h="797088">
                <a:tc>
                  <a:txBody>
                    <a:bodyPr/>
                    <a:lstStyle/>
                    <a:p>
                      <a:pPr marL="0" marR="0" algn="ctr">
                        <a:lnSpc>
                          <a:spcPct val="107000"/>
                        </a:lnSpc>
                        <a:spcBef>
                          <a:spcPts val="0"/>
                        </a:spcBef>
                        <a:spcAft>
                          <a:spcPts val="0"/>
                        </a:spcAft>
                      </a:pPr>
                      <a:r>
                        <a:rPr lang="en-US" sz="2400" dirty="0">
                          <a:effectLst/>
                        </a:rPr>
                        <a:t>Assessment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tc>
                  <a:txBody>
                    <a:bodyPr/>
                    <a:lstStyle/>
                    <a:p>
                      <a:pPr marL="0" marR="0" algn="ctr">
                        <a:lnSpc>
                          <a:spcPct val="107000"/>
                        </a:lnSpc>
                        <a:spcBef>
                          <a:spcPts val="0"/>
                        </a:spcBef>
                        <a:spcAft>
                          <a:spcPts val="0"/>
                        </a:spcAft>
                      </a:pPr>
                      <a:r>
                        <a:rPr lang="en-US" sz="2400">
                          <a:effectLst/>
                        </a:rPr>
                        <a:t>%Age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1051704">
                <a:tc>
                  <a:txBody>
                    <a:bodyPr/>
                    <a:lstStyle/>
                    <a:p>
                      <a:pPr marL="0" marR="0" algn="ctr">
                        <a:lnSpc>
                          <a:spcPct val="150000"/>
                        </a:lnSpc>
                        <a:spcBef>
                          <a:spcPts val="0"/>
                        </a:spcBef>
                        <a:spcAft>
                          <a:spcPts val="0"/>
                        </a:spcAft>
                      </a:pPr>
                      <a:r>
                        <a:rPr lang="en-US" sz="2400" dirty="0">
                          <a:effectLst/>
                        </a:rPr>
                        <a:t>Assignments/ Quizzes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gn="ctr">
                        <a:lnSpc>
                          <a:spcPct val="150000"/>
                        </a:lnSpc>
                        <a:spcBef>
                          <a:spcPts val="0"/>
                        </a:spcBef>
                        <a:spcAft>
                          <a:spcPts val="0"/>
                        </a:spcAft>
                      </a:pPr>
                      <a:r>
                        <a:rPr lang="en-US" sz="2400" dirty="0">
                          <a:effectLst/>
                        </a:rPr>
                        <a:t>7.5% + 11.25% = 18.75%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10001"/>
                  </a:ext>
                </a:extLst>
              </a:tr>
              <a:tr h="731634">
                <a:tc>
                  <a:txBody>
                    <a:bodyPr/>
                    <a:lstStyle/>
                    <a:p>
                      <a:pPr marL="0" marR="0" algn="ctr">
                        <a:lnSpc>
                          <a:spcPct val="150000"/>
                        </a:lnSpc>
                        <a:spcBef>
                          <a:spcPts val="0"/>
                        </a:spcBef>
                        <a:spcAft>
                          <a:spcPts val="0"/>
                        </a:spcAft>
                      </a:pPr>
                      <a:r>
                        <a:rPr lang="en-US" sz="2400">
                          <a:effectLst/>
                        </a:rPr>
                        <a:t>Viva/Sessional</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gn="ctr">
                        <a:lnSpc>
                          <a:spcPct val="150000"/>
                        </a:lnSpc>
                        <a:spcBef>
                          <a:spcPts val="0"/>
                        </a:spcBef>
                        <a:spcAft>
                          <a:spcPts val="0"/>
                        </a:spcAft>
                      </a:pPr>
                      <a:r>
                        <a:rPr lang="en-US" sz="2400" dirty="0">
                          <a:effectLst/>
                        </a:rPr>
                        <a:t>10% + 15% = 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10002"/>
                  </a:ext>
                </a:extLst>
              </a:tr>
              <a:tr h="657307">
                <a:tc>
                  <a:txBody>
                    <a:bodyPr/>
                    <a:lstStyle/>
                    <a:p>
                      <a:pPr marL="0" marR="0" algn="ctr">
                        <a:lnSpc>
                          <a:spcPct val="150000"/>
                        </a:lnSpc>
                        <a:spcBef>
                          <a:spcPts val="0"/>
                        </a:spcBef>
                        <a:spcAft>
                          <a:spcPts val="0"/>
                        </a:spcAft>
                      </a:pPr>
                      <a:r>
                        <a:rPr lang="en-US" sz="2400">
                          <a:effectLst/>
                        </a:rPr>
                        <a:t>Mid Term Exam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gn="ctr">
                        <a:lnSpc>
                          <a:spcPct val="150000"/>
                        </a:lnSpc>
                        <a:spcBef>
                          <a:spcPts val="0"/>
                        </a:spcBef>
                        <a:spcAft>
                          <a:spcPts val="0"/>
                        </a:spcAft>
                      </a:pPr>
                      <a:r>
                        <a:rPr lang="en-US" sz="2400" dirty="0">
                          <a:effectLst/>
                        </a:rPr>
                        <a:t>22.5%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10003"/>
                  </a:ext>
                </a:extLst>
              </a:tr>
              <a:tr h="797088">
                <a:tc>
                  <a:txBody>
                    <a:bodyPr/>
                    <a:lstStyle/>
                    <a:p>
                      <a:pPr marL="0" marR="0" algn="ctr">
                        <a:lnSpc>
                          <a:spcPct val="150000"/>
                        </a:lnSpc>
                        <a:spcBef>
                          <a:spcPts val="0"/>
                        </a:spcBef>
                        <a:spcAft>
                          <a:spcPts val="0"/>
                        </a:spcAft>
                      </a:pPr>
                      <a:r>
                        <a:rPr lang="en-US" sz="2400">
                          <a:effectLst/>
                        </a:rPr>
                        <a:t>Final Term Exam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gn="ctr">
                        <a:lnSpc>
                          <a:spcPct val="150000"/>
                        </a:lnSpc>
                        <a:spcBef>
                          <a:spcPts val="0"/>
                        </a:spcBef>
                        <a:spcAft>
                          <a:spcPts val="0"/>
                        </a:spcAft>
                      </a:pPr>
                      <a:r>
                        <a:rPr lang="en-US" sz="2400" dirty="0">
                          <a:effectLst/>
                        </a:rPr>
                        <a:t>33.75%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10004"/>
                  </a:ext>
                </a:extLst>
              </a:tr>
              <a:tr h="705454">
                <a:tc>
                  <a:txBody>
                    <a:bodyPr/>
                    <a:lstStyle/>
                    <a:p>
                      <a:pPr marL="0" marR="0" algn="ctr">
                        <a:lnSpc>
                          <a:spcPct val="150000"/>
                        </a:lnSpc>
                        <a:spcBef>
                          <a:spcPts val="0"/>
                        </a:spcBef>
                        <a:spcAft>
                          <a:spcPts val="0"/>
                        </a:spcAft>
                      </a:pPr>
                      <a:r>
                        <a:rPr lang="en-US" sz="2400">
                          <a:effectLst/>
                        </a:rPr>
                        <a:t>Total</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0" marR="0" algn="ctr">
                        <a:lnSpc>
                          <a:spcPct val="150000"/>
                        </a:lnSpc>
                        <a:spcBef>
                          <a:spcPts val="0"/>
                        </a:spcBef>
                        <a:spcAft>
                          <a:spcPts val="0"/>
                        </a:spcAft>
                      </a:pPr>
                      <a:r>
                        <a:rPr lang="en-US" sz="2400" dirty="0">
                          <a:effectLst/>
                        </a:rPr>
                        <a:t> 100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10005"/>
                  </a:ext>
                </a:extLst>
              </a:tr>
            </a:tbl>
          </a:graphicData>
        </a:graphic>
      </p:graphicFrame>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ACA55A6-DAF0-365D-556E-3125829ECED4}"/>
              </a:ext>
            </a:extLst>
          </p:cNvPr>
          <p:cNvGraphicFramePr>
            <a:graphicFrameLocks noGrp="1"/>
          </p:cNvGraphicFramePr>
          <p:nvPr/>
        </p:nvGraphicFramePr>
        <p:xfrm>
          <a:off x="1773238" y="3560763"/>
          <a:ext cx="8785225" cy="2355850"/>
        </p:xfrm>
        <a:graphic>
          <a:graphicData uri="http://schemas.openxmlformats.org/drawingml/2006/table">
            <a:tbl>
              <a:tblPr firstRow="1" firstCol="1">
                <a:tableStyleId>{5940675A-B579-460E-94D1-54222C63F5DA}</a:tableStyleId>
              </a:tblPr>
              <a:tblGrid>
                <a:gridCol w="8785225">
                  <a:extLst>
                    <a:ext uri="{9D8B030D-6E8A-4147-A177-3AD203B41FA5}">
                      <a16:colId xmlns:a16="http://schemas.microsoft.com/office/drawing/2014/main" val="20000"/>
                    </a:ext>
                  </a:extLst>
                </a:gridCol>
              </a:tblGrid>
              <a:tr h="2355850">
                <a:tc>
                  <a:txBody>
                    <a:bodyPr/>
                    <a:lstStyle/>
                    <a:p>
                      <a:endParaRPr lang="en-US" sz="1400" dirty="0">
                        <a:solidFill>
                          <a:schemeClr val="tx1"/>
                        </a:solidFill>
                      </a:endParaRPr>
                    </a:p>
                  </a:txBody>
                  <a:tcPr marL="68572" marR="68572" marT="34294" marB="34294"/>
                </a:tc>
                <a:extLst>
                  <a:ext uri="{0D108BD9-81ED-4DB2-BD59-A6C34878D82A}">
                    <a16:rowId xmlns:a16="http://schemas.microsoft.com/office/drawing/2014/main" val="10000"/>
                  </a:ext>
                </a:extLst>
              </a:tr>
            </a:tbl>
          </a:graphicData>
        </a:graphic>
      </p:graphicFrame>
      <p:pic>
        <p:nvPicPr>
          <p:cNvPr id="16392" name="Picture 7">
            <a:extLst>
              <a:ext uri="{FF2B5EF4-FFF2-40B4-BE49-F238E27FC236}">
                <a16:creationId xmlns:a16="http://schemas.microsoft.com/office/drawing/2014/main" id="{25D7FE80-C598-72CC-E560-13F5EA2AE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57200"/>
            <a:ext cx="91440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B3D571DF-9472-7649-30EA-A4B8FBF37844}"/>
              </a:ext>
            </a:extLst>
          </p:cNvPr>
          <p:cNvSpPr>
            <a:spLocks noGrp="1"/>
          </p:cNvSpPr>
          <p:nvPr>
            <p:ph type="title"/>
          </p:nvPr>
        </p:nvSpPr>
        <p:spPr>
          <a:xfrm>
            <a:off x="6037394" y="3476211"/>
            <a:ext cx="4698125" cy="484532"/>
          </a:xfrm>
        </p:spPr>
        <p:txBody>
          <a:bodyPr/>
          <a:lstStyle/>
          <a:p>
            <a:pPr algn="ctr">
              <a:defRPr/>
            </a:pPr>
            <a:r>
              <a:rPr lang="en-US" sz="2100" dirty="0">
                <a:latin typeface="+mn-lt"/>
              </a:rPr>
              <a:t>Quizzes</a:t>
            </a:r>
          </a:p>
        </p:txBody>
      </p:sp>
      <p:sp>
        <p:nvSpPr>
          <p:cNvPr id="16394" name="Content Placeholder 2">
            <a:extLst>
              <a:ext uri="{FF2B5EF4-FFF2-40B4-BE49-F238E27FC236}">
                <a16:creationId xmlns:a16="http://schemas.microsoft.com/office/drawing/2014/main" id="{EB65E2AB-D755-7A25-6191-CDD2E680116D}"/>
              </a:ext>
            </a:extLst>
          </p:cNvPr>
          <p:cNvSpPr>
            <a:spLocks noGrp="1"/>
          </p:cNvSpPr>
          <p:nvPr>
            <p:ph idx="1"/>
          </p:nvPr>
        </p:nvSpPr>
        <p:spPr>
          <a:xfrm>
            <a:off x="1731963" y="4181475"/>
            <a:ext cx="4481512" cy="1819275"/>
          </a:xfrm>
        </p:spPr>
        <p:txBody>
          <a:bodyPr/>
          <a:lstStyle/>
          <a:p>
            <a:pPr algn="just"/>
            <a:r>
              <a:rPr lang="en-US" altLang="en-US" sz="1600"/>
              <a:t>Assignments will be due at the beginning of the class. Under normal circumstances, late work will not be accepted. </a:t>
            </a:r>
          </a:p>
          <a:p>
            <a:pPr algn="just"/>
            <a:r>
              <a:rPr lang="en-US" altLang="en-US" sz="1600"/>
              <a:t>Students are expected to do their own assignments.</a:t>
            </a:r>
          </a:p>
          <a:p>
            <a:pPr algn="just"/>
            <a:r>
              <a:rPr lang="en-US" altLang="en-US" sz="1600">
                <a:solidFill>
                  <a:srgbClr val="FF0000"/>
                </a:solidFill>
              </a:rPr>
              <a:t>Plagiarism will be observed strictly.</a:t>
            </a:r>
          </a:p>
        </p:txBody>
      </p:sp>
      <p:sp>
        <p:nvSpPr>
          <p:cNvPr id="16395" name="Title 1">
            <a:extLst>
              <a:ext uri="{FF2B5EF4-FFF2-40B4-BE49-F238E27FC236}">
                <a16:creationId xmlns:a16="http://schemas.microsoft.com/office/drawing/2014/main" id="{70FA27F7-1C83-1568-BB96-E67DC525D776}"/>
              </a:ext>
            </a:extLst>
          </p:cNvPr>
          <p:cNvSpPr txBox="1">
            <a:spLocks noChangeArrowheads="1"/>
          </p:cNvSpPr>
          <p:nvPr/>
        </p:nvSpPr>
        <p:spPr bwMode="auto">
          <a:xfrm>
            <a:off x="2446338" y="3476625"/>
            <a:ext cx="3767137"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100" b="1">
                <a:latin typeface="Lucida Sans Unicode" panose="020B0602030504020204" pitchFamily="34" charset="0"/>
              </a:rPr>
              <a:t>Assignments</a:t>
            </a:r>
          </a:p>
        </p:txBody>
      </p:sp>
      <p:sp>
        <p:nvSpPr>
          <p:cNvPr id="16396" name="Content Placeholder 2">
            <a:extLst>
              <a:ext uri="{FF2B5EF4-FFF2-40B4-BE49-F238E27FC236}">
                <a16:creationId xmlns:a16="http://schemas.microsoft.com/office/drawing/2014/main" id="{A5ECEB42-0BF7-756A-883F-70EFC5D2D2FE}"/>
              </a:ext>
            </a:extLst>
          </p:cNvPr>
          <p:cNvSpPr txBox="1">
            <a:spLocks noChangeArrowheads="1"/>
          </p:cNvSpPr>
          <p:nvPr/>
        </p:nvSpPr>
        <p:spPr bwMode="auto">
          <a:xfrm>
            <a:off x="6213475" y="4181475"/>
            <a:ext cx="4078288"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657225" indent="-246063">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922338" indent="-219075">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179513" indent="-200025">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1389063" indent="-182563">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18462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3034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27606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2178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ts val="300"/>
              </a:spcBef>
              <a:buClr>
                <a:srgbClr val="B54A10"/>
              </a:buClr>
              <a:buSzTx/>
              <a:buFont typeface="Georgia" panose="02040502050405020303" pitchFamily="18" charset="0"/>
              <a:buChar char="•"/>
            </a:pPr>
            <a:r>
              <a:rPr lang="en-US" altLang="en-US" sz="1600"/>
              <a:t>Surprise/ Announced quizzes to assess the understanding of taught topics.</a:t>
            </a:r>
          </a:p>
        </p:txBody>
      </p:sp>
      <p:cxnSp>
        <p:nvCxnSpPr>
          <p:cNvPr id="9" name="Straight Connector 8">
            <a:extLst>
              <a:ext uri="{FF2B5EF4-FFF2-40B4-BE49-F238E27FC236}">
                <a16:creationId xmlns:a16="http://schemas.microsoft.com/office/drawing/2014/main" id="{F7C78957-6E18-C508-B34A-10D56707E823}"/>
              </a:ext>
            </a:extLst>
          </p:cNvPr>
          <p:cNvCxnSpPr/>
          <p:nvPr/>
        </p:nvCxnSpPr>
        <p:spPr>
          <a:xfrm>
            <a:off x="6213475" y="3560763"/>
            <a:ext cx="0" cy="235585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B703A679-F403-CBB0-C1D9-3EDF5F128749}"/>
              </a:ext>
            </a:extLst>
          </p:cNvPr>
          <p:cNvCxnSpPr/>
          <p:nvPr/>
        </p:nvCxnSpPr>
        <p:spPr>
          <a:xfrm>
            <a:off x="1773238" y="4087813"/>
            <a:ext cx="8785225"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045B9-F514-D394-CD65-57E35B0F2B90}"/>
              </a:ext>
            </a:extLst>
          </p:cNvPr>
          <p:cNvSpPr>
            <a:spLocks noGrp="1"/>
          </p:cNvSpPr>
          <p:nvPr>
            <p:ph type="title"/>
          </p:nvPr>
        </p:nvSpPr>
        <p:spPr>
          <a:xfrm>
            <a:off x="1853790" y="1185662"/>
            <a:ext cx="8229600" cy="559074"/>
          </a:xfrm>
        </p:spPr>
        <p:txBody>
          <a:bodyPr>
            <a:normAutofit fontScale="90000"/>
          </a:bodyPr>
          <a:lstStyle/>
          <a:p>
            <a:pPr algn="ctr">
              <a:defRPr/>
            </a:pPr>
            <a:r>
              <a:rPr lang="en-US" dirty="0">
                <a:solidFill>
                  <a:srgbClr val="FF0000"/>
                </a:solidFill>
              </a:rPr>
              <a:t>How to perform well? </a:t>
            </a:r>
          </a:p>
        </p:txBody>
      </p:sp>
      <p:pic>
        <p:nvPicPr>
          <p:cNvPr id="17411" name="Content Placeholder 3">
            <a:extLst>
              <a:ext uri="{FF2B5EF4-FFF2-40B4-BE49-F238E27FC236}">
                <a16:creationId xmlns:a16="http://schemas.microsoft.com/office/drawing/2014/main" id="{EE5E5EFB-3E87-6413-A703-A534933E0C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857250"/>
            <a:ext cx="9144000" cy="2886075"/>
          </a:xfrm>
        </p:spPr>
      </p:pic>
      <p:sp>
        <p:nvSpPr>
          <p:cNvPr id="17412" name="TextBox 4">
            <a:extLst>
              <a:ext uri="{FF2B5EF4-FFF2-40B4-BE49-F238E27FC236}">
                <a16:creationId xmlns:a16="http://schemas.microsoft.com/office/drawing/2014/main" id="{FF7F8834-54A9-F3AE-E840-D8519F767DD5}"/>
              </a:ext>
            </a:extLst>
          </p:cNvPr>
          <p:cNvSpPr txBox="1">
            <a:spLocks noChangeArrowheads="1"/>
          </p:cNvSpPr>
          <p:nvPr/>
        </p:nvSpPr>
        <p:spPr bwMode="auto">
          <a:xfrm>
            <a:off x="1854200" y="3857625"/>
            <a:ext cx="83566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313" indent="-214313">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50000"/>
              </a:lnSpc>
              <a:buFont typeface="Arial" panose="020B0604020202020204" pitchFamily="34" charset="0"/>
              <a:buChar char="•"/>
            </a:pPr>
            <a:r>
              <a:rPr lang="en-US" altLang="en-US" sz="2000">
                <a:latin typeface="Arial" panose="020B0604020202020204" pitchFamily="34" charset="0"/>
                <a:cs typeface="Arial" panose="020B0604020202020204" pitchFamily="34" charset="0"/>
              </a:rPr>
              <a:t>Revise the topic covered in class the same day.</a:t>
            </a:r>
          </a:p>
          <a:p>
            <a:pPr>
              <a:lnSpc>
                <a:spcPct val="150000"/>
              </a:lnSpc>
              <a:buFont typeface="Arial" panose="020B0604020202020204" pitchFamily="34" charset="0"/>
              <a:buChar char="•"/>
            </a:pPr>
            <a:r>
              <a:rPr lang="en-US" altLang="en-US" sz="2000">
                <a:latin typeface="Arial" panose="020B0604020202020204" pitchFamily="34" charset="0"/>
                <a:cs typeface="Arial" panose="020B0604020202020204" pitchFamily="34" charset="0"/>
              </a:rPr>
              <a:t>Complete the tasks given, you might get bonus points for that. </a:t>
            </a:r>
            <a:r>
              <a:rPr lang="en-US" altLang="en-US" sz="2000">
                <a:latin typeface="Arial" panose="020B0604020202020204" pitchFamily="34" charset="0"/>
                <a:cs typeface="Arial" panose="020B0604020202020204" pitchFamily="34" charset="0"/>
                <a:sym typeface="Wingdings" panose="05000000000000000000" pitchFamily="2" charset="2"/>
              </a:rPr>
              <a:t></a:t>
            </a:r>
            <a:endParaRPr lang="en-US" altLang="en-US" sz="200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en-US" altLang="en-US" sz="2000">
                <a:latin typeface="Arial" panose="020B0604020202020204" pitchFamily="34" charset="0"/>
                <a:cs typeface="Arial" panose="020B0604020202020204" pitchFamily="34" charset="0"/>
              </a:rPr>
              <a:t>Feel free to consult me during my office hours.</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a:extLst>
              <a:ext uri="{FF2B5EF4-FFF2-40B4-BE49-F238E27FC236}">
                <a16:creationId xmlns:a16="http://schemas.microsoft.com/office/drawing/2014/main" id="{911A0830-9572-AFB2-857F-695B54799E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7873" y="615950"/>
            <a:ext cx="309245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92A165EF-BD69-7E22-B12B-25F529736F5E}"/>
              </a:ext>
            </a:extLst>
          </p:cNvPr>
          <p:cNvSpPr>
            <a:spLocks noGrp="1"/>
          </p:cNvSpPr>
          <p:nvPr>
            <p:ph type="title"/>
          </p:nvPr>
        </p:nvSpPr>
        <p:spPr>
          <a:xfrm>
            <a:off x="1211187" y="571500"/>
            <a:ext cx="4820478" cy="800100"/>
          </a:xfrm>
        </p:spPr>
        <p:txBody>
          <a:bodyPr>
            <a:normAutofit/>
          </a:bodyPr>
          <a:lstStyle/>
          <a:p>
            <a:pPr algn="ctr">
              <a:defRPr/>
            </a:pPr>
            <a:r>
              <a:rPr lang="en-US" sz="3200" b="1" dirty="0"/>
              <a:t>Few Things to Remember</a:t>
            </a:r>
          </a:p>
        </p:txBody>
      </p:sp>
      <p:sp>
        <p:nvSpPr>
          <p:cNvPr id="3" name="Content Placeholder 2">
            <a:extLst>
              <a:ext uri="{FF2B5EF4-FFF2-40B4-BE49-F238E27FC236}">
                <a16:creationId xmlns:a16="http://schemas.microsoft.com/office/drawing/2014/main" id="{5FAC51BE-09EB-5FEA-DBCB-26B7A0E7B579}"/>
              </a:ext>
            </a:extLst>
          </p:cNvPr>
          <p:cNvSpPr>
            <a:spLocks noGrp="1"/>
          </p:cNvSpPr>
          <p:nvPr>
            <p:ph idx="1"/>
          </p:nvPr>
        </p:nvSpPr>
        <p:spPr>
          <a:xfrm>
            <a:off x="1408698" y="1931193"/>
            <a:ext cx="7645400" cy="2995613"/>
          </a:xfrm>
        </p:spPr>
        <p:txBody>
          <a:bodyPr>
            <a:noAutofit/>
          </a:bodyPr>
          <a:lstStyle/>
          <a:p>
            <a:pPr algn="just">
              <a:buFont typeface="Wingdings" panose="05000000000000000000" pitchFamily="2" charset="2"/>
              <a:buChar char="Ø"/>
              <a:defRPr/>
            </a:pPr>
            <a:r>
              <a:rPr lang="en-US" sz="1800" dirty="0"/>
              <a:t>Show sensibility in your conduct.</a:t>
            </a:r>
          </a:p>
          <a:p>
            <a:pPr algn="just">
              <a:buFont typeface="Wingdings" panose="05000000000000000000" pitchFamily="2" charset="2"/>
              <a:buChar char="Ø"/>
              <a:defRPr/>
            </a:pPr>
            <a:r>
              <a:rPr lang="en-US" sz="1800" dirty="0"/>
              <a:t>Learning should be your primary objective.</a:t>
            </a:r>
          </a:p>
          <a:p>
            <a:pPr algn="just">
              <a:buFont typeface="Wingdings" panose="05000000000000000000" pitchFamily="2" charset="2"/>
              <a:buChar char="Ø"/>
              <a:defRPr/>
            </a:pPr>
            <a:r>
              <a:rPr lang="en-US" sz="1800" dirty="0"/>
              <a:t>Attendance will be marked within 15 minutes at the start of the class.</a:t>
            </a:r>
          </a:p>
          <a:p>
            <a:pPr algn="just">
              <a:buFont typeface="Wingdings" panose="05000000000000000000" pitchFamily="2" charset="2"/>
              <a:buChar char="Ø"/>
              <a:defRPr/>
            </a:pPr>
            <a:r>
              <a:rPr lang="en-US" sz="1800" dirty="0"/>
              <a:t>80% of your attendance is mandatory. </a:t>
            </a:r>
          </a:p>
          <a:p>
            <a:pPr algn="just">
              <a:buFont typeface="Wingdings" panose="05000000000000000000" pitchFamily="2" charset="2"/>
              <a:buChar char="Ø"/>
              <a:defRPr/>
            </a:pPr>
            <a:r>
              <a:rPr lang="en-US" sz="1800" b="1" spc="-19" dirty="0"/>
              <a:t>Zero </a:t>
            </a:r>
            <a:r>
              <a:rPr lang="en-US" sz="1800" b="1" spc="-11" dirty="0"/>
              <a:t>tolerance </a:t>
            </a:r>
            <a:r>
              <a:rPr lang="en-US" sz="1800" b="1" spc="-4" dirty="0"/>
              <a:t>policy </a:t>
            </a:r>
            <a:r>
              <a:rPr lang="en-US" sz="1800" spc="-4" dirty="0"/>
              <a:t>on </a:t>
            </a:r>
            <a:r>
              <a:rPr lang="en-US" sz="1800" spc="-11" dirty="0"/>
              <a:t>attendance, </a:t>
            </a:r>
            <a:r>
              <a:rPr lang="en-US" sz="1800" spc="-8" dirty="0"/>
              <a:t>discipline </a:t>
            </a:r>
            <a:r>
              <a:rPr lang="en-US" sz="1800" spc="-4" dirty="0"/>
              <a:t>in class </a:t>
            </a:r>
            <a:r>
              <a:rPr lang="en-US" sz="1800" spc="-8" dirty="0"/>
              <a:t>during  lectures.</a:t>
            </a:r>
            <a:endParaRPr lang="en-US" sz="1800" dirty="0"/>
          </a:p>
          <a:p>
            <a:pPr algn="just">
              <a:buFont typeface="Wingdings" panose="05000000000000000000" pitchFamily="2" charset="2"/>
              <a:buChar char="Ø"/>
              <a:defRPr/>
            </a:pPr>
            <a:r>
              <a:rPr lang="en-US" sz="1800" spc="-8" dirty="0"/>
              <a:t>Assignments must </a:t>
            </a:r>
            <a:r>
              <a:rPr lang="en-US" sz="1800" spc="-4" dirty="0"/>
              <a:t>be </a:t>
            </a:r>
            <a:r>
              <a:rPr lang="en-US" sz="1800" spc="-11" dirty="0"/>
              <a:t>submitted </a:t>
            </a:r>
            <a:r>
              <a:rPr lang="en-US" sz="1800" spc="-4" dirty="0"/>
              <a:t>on time, no </a:t>
            </a:r>
            <a:r>
              <a:rPr lang="en-US" sz="1800" spc="-11" dirty="0"/>
              <a:t>late</a:t>
            </a:r>
            <a:r>
              <a:rPr lang="en-US" sz="1800" spc="86" dirty="0"/>
              <a:t> </a:t>
            </a:r>
            <a:r>
              <a:rPr lang="en-US" sz="1800" spc="-4" dirty="0"/>
              <a:t>submissions.</a:t>
            </a:r>
            <a:endParaRPr lang="en-US" sz="1800" dirty="0"/>
          </a:p>
          <a:p>
            <a:pPr algn="just">
              <a:buFont typeface="Wingdings" panose="05000000000000000000" pitchFamily="2" charset="2"/>
              <a:buChar char="Ø"/>
              <a:defRPr/>
            </a:pPr>
            <a:r>
              <a:rPr lang="en-US" sz="1800" spc="-4" dirty="0"/>
              <a:t>In </a:t>
            </a:r>
            <a:r>
              <a:rPr lang="en-US" sz="1800" spc="-8" dirty="0"/>
              <a:t>case </a:t>
            </a:r>
            <a:r>
              <a:rPr lang="en-US" sz="1800" spc="-4" dirty="0"/>
              <a:t>of </a:t>
            </a:r>
            <a:r>
              <a:rPr lang="en-US" sz="1800" spc="-11" dirty="0"/>
              <a:t>copied </a:t>
            </a:r>
            <a:r>
              <a:rPr lang="en-US" sz="1800" spc="-8" dirty="0"/>
              <a:t>assignment both parties </a:t>
            </a:r>
            <a:r>
              <a:rPr lang="en-US" sz="1800" spc="-4" dirty="0"/>
              <a:t>will </a:t>
            </a:r>
            <a:r>
              <a:rPr lang="en-US" sz="1800" spc="-8" dirty="0"/>
              <a:t>be given</a:t>
            </a:r>
            <a:r>
              <a:rPr lang="en-US" sz="1800" spc="135" dirty="0"/>
              <a:t> </a:t>
            </a:r>
            <a:r>
              <a:rPr lang="en-US" sz="1800" b="1" spc="-15" dirty="0"/>
              <a:t>zero.</a:t>
            </a:r>
            <a:endParaRPr lang="en-US" sz="1800" dirty="0"/>
          </a:p>
          <a:p>
            <a:pPr algn="just">
              <a:buFont typeface="Wingdings" panose="05000000000000000000" pitchFamily="2" charset="2"/>
              <a:buChar char="Ø"/>
              <a:defRPr/>
            </a:pPr>
            <a:r>
              <a:rPr lang="en-US" sz="1800" spc="-4" dirty="0"/>
              <a:t>Don’t miss </a:t>
            </a:r>
            <a:r>
              <a:rPr lang="en-US" sz="1800" spc="-8" dirty="0"/>
              <a:t>your </a:t>
            </a:r>
            <a:r>
              <a:rPr lang="en-US" sz="1800" spc="-4" dirty="0"/>
              <a:t>Classes, </a:t>
            </a:r>
            <a:r>
              <a:rPr lang="en-US" sz="1800" spc="-8" dirty="0"/>
              <a:t>Quizzes, Presentations, Assignments </a:t>
            </a:r>
            <a:r>
              <a:rPr lang="en-US" sz="1800" spc="-4" dirty="0"/>
              <a:t>and</a:t>
            </a:r>
            <a:r>
              <a:rPr lang="en-US" sz="1800" dirty="0"/>
              <a:t> </a:t>
            </a:r>
            <a:r>
              <a:rPr lang="en-US" sz="1800" spc="-8" dirty="0"/>
              <a:t>Projects/Presentations.</a:t>
            </a:r>
            <a:endParaRPr lang="en-US" sz="1800" dirty="0"/>
          </a:p>
          <a:p>
            <a:pPr algn="just">
              <a:buFont typeface="Wingdings" panose="05000000000000000000" pitchFamily="2" charset="2"/>
              <a:buChar char="Ø"/>
              <a:defRPr/>
            </a:pPr>
            <a:r>
              <a:rPr lang="en-US" sz="1800" dirty="0"/>
              <a:t>You all need to be a good human being.</a:t>
            </a:r>
          </a:p>
          <a:p>
            <a:pPr algn="just">
              <a:defRPr/>
            </a:pPr>
            <a:endParaRPr lang="en-US" sz="1350" dirty="0">
              <a:latin typeface="Calibri" panose="020F0502020204030204" pitchFamily="34" charset="0"/>
              <a:cs typeface="Calibri" panose="020F0502020204030204" pitchFamily="34" charset="0"/>
            </a:endParaRPr>
          </a:p>
          <a:p>
            <a:pPr algn="just">
              <a:defRPr/>
            </a:pPr>
            <a:endParaRPr lang="en-US" sz="1350" dirty="0">
              <a:latin typeface="Calibri" panose="020F0502020204030204" pitchFamily="34" charset="0"/>
              <a:cs typeface="Calibri" panose="020F0502020204030204" pitchFamily="34" charset="0"/>
            </a:endParaRPr>
          </a:p>
          <a:p>
            <a:pPr algn="just">
              <a:defRPr/>
            </a:pPr>
            <a:endParaRPr lang="en-US" sz="1350" dirty="0">
              <a:latin typeface="Calibri" panose="020F0502020204030204" pitchFamily="34" charset="0"/>
              <a:cs typeface="Calibri" panose="020F0502020204030204" pitchFamily="34" charset="0"/>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2EF3-F56A-E850-EE6A-D538C68840E9}"/>
              </a:ext>
            </a:extLst>
          </p:cNvPr>
          <p:cNvSpPr>
            <a:spLocks noGrp="1"/>
          </p:cNvSpPr>
          <p:nvPr>
            <p:ph type="title"/>
          </p:nvPr>
        </p:nvSpPr>
        <p:spPr/>
        <p:txBody>
          <a:bodyPr/>
          <a:lstStyle/>
          <a:p>
            <a:r>
              <a:rPr lang="en-US" dirty="0"/>
              <a:t>Course Objectives</a:t>
            </a:r>
          </a:p>
        </p:txBody>
      </p:sp>
      <p:sp>
        <p:nvSpPr>
          <p:cNvPr id="3" name="Content Placeholder 2">
            <a:extLst>
              <a:ext uri="{FF2B5EF4-FFF2-40B4-BE49-F238E27FC236}">
                <a16:creationId xmlns:a16="http://schemas.microsoft.com/office/drawing/2014/main" id="{428B1F4A-4E91-3006-A4FD-E42801E2494F}"/>
              </a:ext>
            </a:extLst>
          </p:cNvPr>
          <p:cNvSpPr>
            <a:spLocks noGrp="1"/>
          </p:cNvSpPr>
          <p:nvPr>
            <p:ph idx="1"/>
          </p:nvPr>
        </p:nvSpPr>
        <p:spPr/>
        <p:txBody>
          <a:bodyPr/>
          <a:lstStyle/>
          <a:p>
            <a:pPr marL="342900" marR="219075" lvl="0" indent="-342900">
              <a:lnSpc>
                <a:spcPct val="150000"/>
              </a:lnSpc>
              <a:spcBef>
                <a:spcPts val="0"/>
              </a:spcBef>
              <a:spcAft>
                <a:spcPts val="0"/>
              </a:spcAft>
              <a:buFont typeface="Symbol" panose="05050102010706020507" pitchFamily="18" charset="2"/>
              <a:buChar char=""/>
              <a:tabLst>
                <a:tab pos="525145" algn="l"/>
                <a:tab pos="525780" algn="l"/>
              </a:tabLst>
            </a:pPr>
            <a:r>
              <a:rPr lang="en-US" sz="2400" dirty="0">
                <a:effectLst/>
                <a:latin typeface="Arial" panose="020B0604020202020204" pitchFamily="34" charset="0"/>
                <a:ea typeface="Arial" panose="020B0604020202020204" pitchFamily="34" charset="0"/>
              </a:rPr>
              <a:t>To understand the design of fundamental data structures as</a:t>
            </a:r>
            <a:r>
              <a:rPr lang="en-US" sz="2400" spc="-95" dirty="0">
                <a:effectLst/>
                <a:latin typeface="Arial" panose="020B0604020202020204" pitchFamily="34" charset="0"/>
                <a:ea typeface="Arial" panose="020B0604020202020204" pitchFamily="34" charset="0"/>
              </a:rPr>
              <a:t> </a:t>
            </a:r>
            <a:r>
              <a:rPr lang="en-US" sz="2400" dirty="0">
                <a:effectLst/>
                <a:latin typeface="Arial" panose="020B0604020202020204" pitchFamily="34" charset="0"/>
                <a:ea typeface="Arial" panose="020B0604020202020204" pitchFamily="34" charset="0"/>
              </a:rPr>
              <a:t>well as algorithms that operate on</a:t>
            </a:r>
            <a:r>
              <a:rPr lang="en-US" sz="2400" spc="-10" dirty="0">
                <a:effectLst/>
                <a:latin typeface="Arial" panose="020B0604020202020204" pitchFamily="34" charset="0"/>
                <a:ea typeface="Arial" panose="020B0604020202020204" pitchFamily="34" charset="0"/>
              </a:rPr>
              <a:t> </a:t>
            </a:r>
            <a:r>
              <a:rPr lang="en-US" sz="2400" dirty="0">
                <a:effectLst/>
                <a:latin typeface="Arial" panose="020B0604020202020204" pitchFamily="34" charset="0"/>
                <a:ea typeface="Arial" panose="020B0604020202020204" pitchFamily="34" charset="0"/>
              </a:rPr>
              <a:t>them</a:t>
            </a:r>
          </a:p>
          <a:p>
            <a:pPr marL="342900" marR="146685" lvl="0" indent="-342900">
              <a:lnSpc>
                <a:spcPct val="150000"/>
              </a:lnSpc>
              <a:spcBef>
                <a:spcPts val="0"/>
              </a:spcBef>
              <a:spcAft>
                <a:spcPts val="0"/>
              </a:spcAft>
              <a:buFont typeface="Symbol" panose="05050102010706020507" pitchFamily="18" charset="2"/>
              <a:buChar char=""/>
              <a:tabLst>
                <a:tab pos="525145" algn="l"/>
                <a:tab pos="525780" algn="l"/>
              </a:tabLst>
            </a:pPr>
            <a:r>
              <a:rPr lang="en-US" sz="2400" dirty="0">
                <a:effectLst/>
                <a:latin typeface="Arial" panose="020B0604020202020204" pitchFamily="34" charset="0"/>
                <a:ea typeface="Arial" panose="020B0604020202020204" pitchFamily="34" charset="0"/>
              </a:rPr>
              <a:t>To understand the fundamental tradeoffs in the design of the</a:t>
            </a:r>
            <a:r>
              <a:rPr lang="en-US" sz="2400" spc="-80" dirty="0">
                <a:effectLst/>
                <a:latin typeface="Arial" panose="020B0604020202020204" pitchFamily="34" charset="0"/>
                <a:ea typeface="Arial" panose="020B0604020202020204" pitchFamily="34" charset="0"/>
              </a:rPr>
              <a:t> </a:t>
            </a:r>
            <a:r>
              <a:rPr lang="en-US" sz="2400" dirty="0">
                <a:effectLst/>
                <a:latin typeface="Arial" panose="020B0604020202020204" pitchFamily="34" charset="0"/>
                <a:ea typeface="Arial" panose="020B0604020202020204" pitchFamily="34" charset="0"/>
              </a:rPr>
              <a:t>data structures</a:t>
            </a:r>
          </a:p>
          <a:p>
            <a:pPr marL="342900" marR="146685" lvl="0" indent="-342900">
              <a:lnSpc>
                <a:spcPct val="150000"/>
              </a:lnSpc>
              <a:spcBef>
                <a:spcPts val="0"/>
              </a:spcBef>
              <a:spcAft>
                <a:spcPts val="0"/>
              </a:spcAft>
              <a:buFont typeface="Symbol" panose="05050102010706020507" pitchFamily="18" charset="2"/>
              <a:buChar char=""/>
              <a:tabLst>
                <a:tab pos="525145" algn="l"/>
                <a:tab pos="525780" algn="l"/>
              </a:tabLst>
            </a:pPr>
            <a:r>
              <a:rPr lang="en-US" sz="2400" dirty="0">
                <a:effectLst/>
                <a:latin typeface="Arial" panose="020B0604020202020204" pitchFamily="34" charset="0"/>
                <a:ea typeface="Arial" panose="020B0604020202020204" pitchFamily="34" charset="0"/>
              </a:rPr>
              <a:t>To introduce tools for analyzing the time and space complexity</a:t>
            </a:r>
            <a:r>
              <a:rPr lang="en-US" sz="2400" spc="-110" dirty="0">
                <a:effectLst/>
                <a:latin typeface="Arial" panose="020B0604020202020204" pitchFamily="34" charset="0"/>
                <a:ea typeface="Arial" panose="020B0604020202020204" pitchFamily="34" charset="0"/>
              </a:rPr>
              <a:t> </a:t>
            </a:r>
            <a:r>
              <a:rPr lang="en-US" sz="2400" dirty="0">
                <a:effectLst/>
                <a:latin typeface="Arial" panose="020B0604020202020204" pitchFamily="34" charset="0"/>
                <a:ea typeface="Arial" panose="020B0604020202020204" pitchFamily="34" charset="0"/>
              </a:rPr>
              <a:t>of data</a:t>
            </a:r>
            <a:r>
              <a:rPr lang="en-US" sz="2400" spc="-10" dirty="0">
                <a:effectLst/>
                <a:latin typeface="Arial" panose="020B0604020202020204" pitchFamily="34" charset="0"/>
                <a:ea typeface="Arial" panose="020B0604020202020204" pitchFamily="34" charset="0"/>
              </a:rPr>
              <a:t> </a:t>
            </a:r>
            <a:r>
              <a:rPr lang="en-US" sz="2400" dirty="0">
                <a:effectLst/>
                <a:latin typeface="Arial" panose="020B0604020202020204" pitchFamily="34" charset="0"/>
                <a:ea typeface="Arial" panose="020B0604020202020204" pitchFamily="34" charset="0"/>
              </a:rPr>
              <a:t>structures</a:t>
            </a:r>
            <a:endParaRPr lang="en-US" dirty="0"/>
          </a:p>
        </p:txBody>
      </p:sp>
    </p:spTree>
    <p:extLst>
      <p:ext uri="{BB962C8B-B14F-4D97-AF65-F5344CB8AC3E}">
        <p14:creationId xmlns:p14="http://schemas.microsoft.com/office/powerpoint/2010/main" val="2253729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94A9347-FEA6-B139-3440-C2932A9A457B}"/>
              </a:ext>
            </a:extLst>
          </p:cNvPr>
          <p:cNvGraphicFramePr>
            <a:graphicFrameLocks noGrp="1"/>
          </p:cNvGraphicFramePr>
          <p:nvPr>
            <p:ph idx="1"/>
            <p:extLst>
              <p:ext uri="{D42A27DB-BD31-4B8C-83A1-F6EECF244321}">
                <p14:modId xmlns:p14="http://schemas.microsoft.com/office/powerpoint/2010/main" val="2213234910"/>
              </p:ext>
            </p:extLst>
          </p:nvPr>
        </p:nvGraphicFramePr>
        <p:xfrm>
          <a:off x="1066798" y="2063560"/>
          <a:ext cx="10058403" cy="3342644"/>
        </p:xfrm>
        <a:graphic>
          <a:graphicData uri="http://schemas.openxmlformats.org/drawingml/2006/table">
            <a:tbl>
              <a:tblPr firstRow="1" firstCol="1" lastRow="1" lastCol="1" bandRow="1" bandCol="1"/>
              <a:tblGrid>
                <a:gridCol w="7504600">
                  <a:extLst>
                    <a:ext uri="{9D8B030D-6E8A-4147-A177-3AD203B41FA5}">
                      <a16:colId xmlns:a16="http://schemas.microsoft.com/office/drawing/2014/main" val="122669497"/>
                    </a:ext>
                  </a:extLst>
                </a:gridCol>
                <a:gridCol w="712740">
                  <a:extLst>
                    <a:ext uri="{9D8B030D-6E8A-4147-A177-3AD203B41FA5}">
                      <a16:colId xmlns:a16="http://schemas.microsoft.com/office/drawing/2014/main" val="2045241604"/>
                    </a:ext>
                  </a:extLst>
                </a:gridCol>
                <a:gridCol w="277421">
                  <a:extLst>
                    <a:ext uri="{9D8B030D-6E8A-4147-A177-3AD203B41FA5}">
                      <a16:colId xmlns:a16="http://schemas.microsoft.com/office/drawing/2014/main" val="1708908613"/>
                    </a:ext>
                  </a:extLst>
                </a:gridCol>
                <a:gridCol w="1286221">
                  <a:extLst>
                    <a:ext uri="{9D8B030D-6E8A-4147-A177-3AD203B41FA5}">
                      <a16:colId xmlns:a16="http://schemas.microsoft.com/office/drawing/2014/main" val="1345536031"/>
                    </a:ext>
                  </a:extLst>
                </a:gridCol>
                <a:gridCol w="277421">
                  <a:extLst>
                    <a:ext uri="{9D8B030D-6E8A-4147-A177-3AD203B41FA5}">
                      <a16:colId xmlns:a16="http://schemas.microsoft.com/office/drawing/2014/main" val="899545966"/>
                    </a:ext>
                  </a:extLst>
                </a:gridCol>
              </a:tblGrid>
              <a:tr h="601225">
                <a:tc gridSpan="5">
                  <a:txBody>
                    <a:bodyPr/>
                    <a:lstStyle/>
                    <a:p>
                      <a:pPr marL="73152" marR="0" algn="l" fontAlgn="t">
                        <a:lnSpc>
                          <a:spcPct val="107000"/>
                        </a:lnSpc>
                        <a:spcBef>
                          <a:spcPts val="165"/>
                        </a:spcBef>
                      </a:pPr>
                      <a:r>
                        <a:rPr lang="en-US" sz="2300" b="1" i="0" u="none" strike="noStrike"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a:t>
                      </a:r>
                      <a:r>
                        <a:rPr lang="en-US" sz="2300" b="1" i="0" u="none" strike="noStrike" kern="100" spc="1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300" b="1" i="0" u="none" strike="noStrike"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Learning</a:t>
                      </a:r>
                      <a:r>
                        <a:rPr lang="en-US" sz="2300" b="1" i="0" u="none" strike="noStrike" kern="100" spc="2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300" b="1" i="0" u="none" strike="noStrike"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Outcomes</a:t>
                      </a:r>
                      <a:endParaRPr lang="en-US" sz="3100" b="0" i="0" u="none" strike="noStrike">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EAAD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11626593"/>
                  </a:ext>
                </a:extLst>
              </a:tr>
              <a:tr h="389376">
                <a:tc>
                  <a:txBody>
                    <a:bodyPr/>
                    <a:lstStyle/>
                    <a:p>
                      <a:pPr marL="73152" marR="0" algn="l" fontAlgn="t">
                        <a:lnSpc>
                          <a:spcPct val="107000"/>
                        </a:lnSpc>
                        <a:spcBef>
                          <a:spcPts val="280"/>
                        </a:spcBef>
                      </a:pP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After</a:t>
                      </a:r>
                      <a:r>
                        <a:rPr lang="en-US" sz="1900" b="0" i="0" u="none" strike="noStrike" kern="1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successful</a:t>
                      </a:r>
                      <a:r>
                        <a:rPr lang="en-US" sz="1900" b="0" i="0" u="none" strike="noStrike" kern="1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completion</a:t>
                      </a:r>
                      <a:r>
                        <a:rPr lang="en-US" sz="1900" b="0" i="0" u="none" strike="noStrike" kern="1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900" b="0" i="0" u="none" strike="noStrike" kern="1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this</a:t>
                      </a:r>
                      <a:r>
                        <a:rPr lang="en-US" sz="1900" b="0" i="0" u="none" strike="noStrike" kern="1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course,</a:t>
                      </a:r>
                      <a:r>
                        <a:rPr lang="en-US" sz="1900" b="0" i="0" u="none" strike="noStrike" kern="1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900" b="0" i="0" u="none" strike="noStrike" kern="1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1900" b="0" i="0" u="none" strike="noStrike" kern="1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should</a:t>
                      </a:r>
                      <a:r>
                        <a:rPr lang="en-US" sz="1900" b="0" i="0" u="none" strike="noStrike" kern="1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be</a:t>
                      </a:r>
                      <a:r>
                        <a:rPr lang="en-US" sz="1900" b="0" i="0" u="none" strike="noStrike" kern="1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able</a:t>
                      </a:r>
                      <a:r>
                        <a:rPr lang="en-US" sz="1900" b="0" i="0" u="none" strike="noStrike" kern="1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to:</a:t>
                      </a:r>
                      <a:endParaRPr lang="en-US" sz="3100" b="0" i="0" u="none" strike="noStrike" dirty="0">
                        <a:effectLst/>
                        <a:latin typeface="Arial" panose="020B0604020202020204" pitchFamily="34" charset="0"/>
                      </a:endParaRPr>
                    </a:p>
                  </a:txBody>
                  <a:tcPr marL="16448" marR="16448" marT="16448"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8288" marR="0" algn="l" fontAlgn="t">
                        <a:lnSpc>
                          <a:spcPct val="107000"/>
                        </a:lnSpc>
                        <a:spcBef>
                          <a:spcPts val="280"/>
                        </a:spcBef>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GA</a:t>
                      </a:r>
                      <a:endParaRPr lang="en-US" sz="3100" b="0" i="0" u="none" strike="noStrike">
                        <a:effectLst/>
                        <a:latin typeface="Arial" panose="020B0604020202020204" pitchFamily="34" charset="0"/>
                      </a:endParaRPr>
                    </a:p>
                  </a:txBody>
                  <a:tcPr marL="16448" marR="16448" marT="16448"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t">
                        <a:lnSpc>
                          <a:spcPct val="107000"/>
                        </a:lnSpc>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b="0" i="0" u="none" strike="noStrike">
                        <a:effectLst/>
                        <a:latin typeface="Arial" panose="020B0604020202020204" pitchFamily="34" charset="0"/>
                      </a:endParaRPr>
                    </a:p>
                  </a:txBody>
                  <a:tcPr marL="16448" marR="16448" marT="16448"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4008" marR="0" algn="l" fontAlgn="t">
                        <a:lnSpc>
                          <a:spcPct val="107000"/>
                        </a:lnSpc>
                        <a:spcBef>
                          <a:spcPts val="280"/>
                        </a:spcBef>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BT</a:t>
                      </a:r>
                      <a:r>
                        <a:rPr lang="en-US" sz="1900" b="0" i="0" u="none" strike="noStrike" kern="100" spc="4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Level</a:t>
                      </a:r>
                      <a:endParaRPr lang="en-US" sz="3100" b="0" i="0" u="none" strike="noStrike">
                        <a:effectLst/>
                        <a:latin typeface="Arial" panose="020B0604020202020204" pitchFamily="34" charset="0"/>
                      </a:endParaRPr>
                    </a:p>
                  </a:txBody>
                  <a:tcPr marL="16448" marR="16448" marT="16448"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t">
                        <a:lnSpc>
                          <a:spcPct val="107000"/>
                        </a:lnSpc>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b="0" i="0" u="none" strike="noStrike">
                        <a:effectLst/>
                        <a:latin typeface="Arial" panose="020B0604020202020204" pitchFamily="34" charset="0"/>
                      </a:endParaRPr>
                    </a:p>
                  </a:txBody>
                  <a:tcPr marL="16448" marR="16448" marT="16448"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9253295"/>
                  </a:ext>
                </a:extLst>
              </a:tr>
              <a:tr h="826450">
                <a:tc>
                  <a:txBody>
                    <a:bodyPr/>
                    <a:lstStyle/>
                    <a:p>
                      <a:pPr marL="512064" marR="0" indent="-219456" algn="l" fontAlgn="t">
                        <a:lnSpc>
                          <a:spcPct val="107000"/>
                        </a:lnSpc>
                        <a:spcBef>
                          <a:spcPts val="530"/>
                        </a:spcBef>
                      </a:pP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900" b="0" i="0" u="none" strike="noStrike" kern="1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1"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Explain</a:t>
                      </a:r>
                      <a:r>
                        <a:rPr lang="en-US" sz="1900" b="1" i="0" u="none" strike="noStrike" kern="1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900" b="0" i="0" u="none" strike="noStrike" kern="1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fundamentals</a:t>
                      </a:r>
                      <a:r>
                        <a:rPr lang="en-US" sz="1900" b="0" i="0" u="none" strike="noStrike" kern="1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900" b="0" i="0" u="none" strike="noStrike" kern="1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data</a:t>
                      </a:r>
                      <a:r>
                        <a:rPr lang="en-US" sz="1900" b="0" i="0" u="none" strike="noStrike" kern="1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structure</a:t>
                      </a:r>
                      <a:r>
                        <a:rPr lang="en-US" sz="1900" b="0" i="0" u="none" strike="noStrike" kern="1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z="1900" b="0" i="0" u="none" strike="noStrike" kern="1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well</a:t>
                      </a:r>
                      <a:r>
                        <a:rPr lang="en-US" sz="1900" b="0" i="0" u="none" strike="noStrike" kern="1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z="1900" b="0" i="0" u="none" strike="noStrike" kern="1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algorithms</a:t>
                      </a:r>
                      <a:r>
                        <a:rPr lang="en-US" sz="1900" b="0" i="0" u="none" strike="noStrike" kern="100" spc="-2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that operate on them</a:t>
                      </a:r>
                      <a:endParaRPr lang="en-US" sz="3100" b="0" i="0" u="none" strike="noStrike" dirty="0">
                        <a:effectLst/>
                        <a:latin typeface="Arial" panose="020B0604020202020204" pitchFamily="34" charset="0"/>
                      </a:endParaRPr>
                    </a:p>
                  </a:txBody>
                  <a:tcPr marL="16448" marR="16448" marT="1644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L="0" marR="0" algn="l" fontAlgn="t">
                        <a:lnSpc>
                          <a:spcPct val="107000"/>
                        </a:lnSpc>
                        <a:spcBef>
                          <a:spcPts val="55"/>
                        </a:spcBef>
                      </a:pPr>
                      <a:r>
                        <a:rPr lang="en-US" sz="18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b="0" i="0" u="none" strike="noStrike">
                        <a:effectLst/>
                        <a:latin typeface="Arial" panose="020B0604020202020204" pitchFamily="34" charset="0"/>
                      </a:endParaRPr>
                    </a:p>
                    <a:p>
                      <a:pPr marL="73152" marR="0" algn="l" fontAlgn="t">
                        <a:lnSpc>
                          <a:spcPct val="107000"/>
                        </a:lnSpc>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3100" b="0" i="0" u="none" strike="noStrike">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0" marR="0" algn="l" fontAlgn="t">
                        <a:lnSpc>
                          <a:spcPct val="107000"/>
                        </a:lnSpc>
                        <a:spcBef>
                          <a:spcPts val="55"/>
                        </a:spcBef>
                      </a:pPr>
                      <a:r>
                        <a:rPr lang="en-US" sz="18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b="0" i="0" u="none" strike="noStrike">
                        <a:effectLst/>
                        <a:latin typeface="Arial" panose="020B0604020202020204" pitchFamily="34" charset="0"/>
                      </a:endParaRPr>
                    </a:p>
                    <a:p>
                      <a:pPr marL="210312" marR="0" algn="l" fontAlgn="t">
                        <a:lnSpc>
                          <a:spcPct val="107000"/>
                        </a:lnSpc>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C2</a:t>
                      </a:r>
                      <a:endParaRPr lang="en-US" sz="3100" b="0" i="0" u="none" strike="noStrike">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47640168"/>
                  </a:ext>
                </a:extLst>
              </a:tr>
              <a:tr h="699143">
                <a:tc>
                  <a:txBody>
                    <a:bodyPr/>
                    <a:lstStyle/>
                    <a:p>
                      <a:pPr marL="512064" marR="0" indent="-219456" algn="l" fontAlgn="t">
                        <a:lnSpc>
                          <a:spcPct val="107000"/>
                        </a:lnSpc>
                        <a:spcBef>
                          <a:spcPts val="375"/>
                        </a:spcBef>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1900" b="0" i="0" u="none" strike="noStrike" kern="100" spc="1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1"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Apply</a:t>
                      </a:r>
                      <a:r>
                        <a:rPr lang="en-US" sz="1900" b="1" i="0" u="none" strike="noStrike" kern="100" spc="12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900" b="0" i="0" u="none" strike="noStrike" kern="100" spc="7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1900" b="0" i="0" u="none" strike="noStrike" kern="100" spc="1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various</a:t>
                      </a:r>
                      <a:r>
                        <a:rPr lang="en-US" sz="1900" b="0" i="0" u="none" strike="noStrike" kern="100" spc="1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data</a:t>
                      </a:r>
                      <a:r>
                        <a:rPr lang="en-US" sz="1900" b="0" i="0" u="none" strike="noStrike" kern="1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structures</a:t>
                      </a:r>
                      <a:r>
                        <a:rPr lang="en-US" sz="1900" b="0" i="0" u="none" strike="noStrike" kern="100" spc="1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methods</a:t>
                      </a:r>
                      <a:r>
                        <a:rPr lang="en-US" sz="1900" b="0" i="0" u="none" strike="noStrike" kern="100" spc="10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900" b="0" i="0" u="none" strike="noStrike" kern="100" spc="1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specified</a:t>
                      </a:r>
                      <a:r>
                        <a:rPr lang="en-US" sz="1900" b="0" i="0" u="none" strike="noStrike" kern="100" spc="-26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3100" b="0" i="0" u="none" strike="noStrike">
                        <a:effectLst/>
                        <a:latin typeface="Arial" panose="020B0604020202020204" pitchFamily="34" charset="0"/>
                      </a:endParaRPr>
                    </a:p>
                  </a:txBody>
                  <a:tcPr marL="16448" marR="16448" marT="1644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L="73152" marR="0" algn="l" fontAlgn="t">
                        <a:lnSpc>
                          <a:spcPct val="107000"/>
                        </a:lnSpc>
                        <a:spcBef>
                          <a:spcPts val="975"/>
                        </a:spcBef>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3100" b="0" i="0" u="none" strike="noStrike">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210312" marR="0" algn="l" fontAlgn="t">
                        <a:lnSpc>
                          <a:spcPct val="107000"/>
                        </a:lnSpc>
                        <a:spcBef>
                          <a:spcPts val="975"/>
                        </a:spcBef>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C3</a:t>
                      </a:r>
                      <a:endParaRPr lang="en-US" sz="3100" b="0" i="0" u="none" strike="noStrike">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55122061"/>
                  </a:ext>
                </a:extLst>
              </a:tr>
              <a:tr h="826450">
                <a:tc>
                  <a:txBody>
                    <a:bodyPr/>
                    <a:lstStyle/>
                    <a:p>
                      <a:pPr marL="512064" marR="0" indent="-219456" algn="l" fontAlgn="t">
                        <a:lnSpc>
                          <a:spcPct val="107000"/>
                        </a:lnSpc>
                        <a:spcBef>
                          <a:spcPts val="665"/>
                        </a:spcBef>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1900" b="0" i="0" u="none" strike="noStrike" kern="1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1"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US" sz="1900" b="1" i="0" u="none" strike="noStrike" kern="100" spc="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empirically</a:t>
                      </a:r>
                      <a:r>
                        <a:rPr lang="en-US" sz="1900" b="0" i="0" u="none" strike="noStrike" kern="100" spc="3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900" b="0" i="0" u="none" strike="noStrike" kern="100" spc="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US" sz="1900" b="0" i="0" u="none" strike="noStrike" kern="100" spc="7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900" b="0" i="0" u="none" strike="noStrike" kern="100" spc="7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algorithms</a:t>
                      </a:r>
                      <a:r>
                        <a:rPr lang="en-US" sz="1900" b="0" i="0" u="none" strike="noStrike" kern="100" spc="6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900" b="0" i="0" u="none" strike="noStrike" kern="100" spc="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terms</a:t>
                      </a:r>
                      <a:r>
                        <a:rPr lang="en-US" sz="1900" b="0" i="0" u="none" strike="noStrike" kern="100" spc="1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900" b="0" i="0" u="none" strike="noStrike" kern="100" spc="4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time</a:t>
                      </a:r>
                      <a:r>
                        <a:rPr lang="en-US" sz="1900" b="0" i="0" u="none" strike="noStrike" kern="100" spc="-26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andmemory</a:t>
                      </a:r>
                      <a:r>
                        <a:rPr lang="en-US" sz="1900" b="0" i="0" u="none" strike="noStrike" kern="100" spc="-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used</a:t>
                      </a:r>
                      <a:endParaRPr lang="en-US" sz="3100" b="0" i="0" u="none" strike="noStrike">
                        <a:effectLst/>
                        <a:latin typeface="Arial" panose="020B0604020202020204" pitchFamily="34" charset="0"/>
                      </a:endParaRPr>
                    </a:p>
                  </a:txBody>
                  <a:tcPr marL="16448" marR="16448" marT="1644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L="0" marR="0" algn="l" fontAlgn="t">
                        <a:lnSpc>
                          <a:spcPct val="107000"/>
                        </a:lnSpc>
                        <a:spcBef>
                          <a:spcPts val="55"/>
                        </a:spcBef>
                      </a:pPr>
                      <a:r>
                        <a:rPr lang="en-US" sz="18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b="0" i="0" u="none" strike="noStrike">
                        <a:effectLst/>
                        <a:latin typeface="Arial" panose="020B0604020202020204" pitchFamily="34" charset="0"/>
                      </a:endParaRPr>
                    </a:p>
                    <a:p>
                      <a:pPr marL="73152" marR="0" algn="l" fontAlgn="t">
                        <a:lnSpc>
                          <a:spcPct val="107000"/>
                        </a:lnSpc>
                      </a:pPr>
                      <a:r>
                        <a:rPr lang="en-US" sz="1900" b="0" i="0" u="none" strike="noStrike" kern="1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US" sz="3100" b="0" i="0" u="none" strike="noStrike">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0" marR="0" algn="l" fontAlgn="t">
                        <a:lnSpc>
                          <a:spcPct val="107000"/>
                        </a:lnSpc>
                        <a:spcBef>
                          <a:spcPts val="55"/>
                        </a:spcBef>
                      </a:pPr>
                      <a:r>
                        <a:rPr lang="en-US" sz="18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b="0" i="0" u="none" strike="noStrike" dirty="0">
                        <a:effectLst/>
                        <a:latin typeface="Arial" panose="020B0604020202020204" pitchFamily="34" charset="0"/>
                      </a:endParaRPr>
                    </a:p>
                    <a:p>
                      <a:pPr marL="210312" marR="0" algn="l" fontAlgn="t">
                        <a:lnSpc>
                          <a:spcPct val="107000"/>
                        </a:lnSpc>
                      </a:pPr>
                      <a:r>
                        <a:rPr lang="en-US" sz="1900" b="0" i="0" u="none" strike="noStrike" kern="100" dirty="0">
                          <a:effectLst/>
                          <a:latin typeface="Times New Roman" panose="02020603050405020304" pitchFamily="18" charset="0"/>
                          <a:ea typeface="Times New Roman" panose="02020603050405020304" pitchFamily="18" charset="0"/>
                          <a:cs typeface="Times New Roman" panose="02020603050405020304" pitchFamily="18" charset="0"/>
                        </a:rPr>
                        <a:t>C4</a:t>
                      </a:r>
                      <a:endParaRPr lang="en-US" sz="3100" b="0" i="0" u="none" strike="noStrike" dirty="0">
                        <a:effectLst/>
                        <a:latin typeface="Arial" panose="020B0604020202020204" pitchFamily="34" charset="0"/>
                      </a:endParaRPr>
                    </a:p>
                  </a:txBody>
                  <a:tcPr marL="157899" marR="157899" marT="78950" marB="789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068697910"/>
                  </a:ext>
                </a:extLst>
              </a:tr>
            </a:tbl>
          </a:graphicData>
        </a:graphic>
      </p:graphicFrame>
    </p:spTree>
    <p:extLst>
      <p:ext uri="{BB962C8B-B14F-4D97-AF65-F5344CB8AC3E}">
        <p14:creationId xmlns:p14="http://schemas.microsoft.com/office/powerpoint/2010/main" val="1756187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47BF-E15F-FAC0-1082-6351A43C1C39}"/>
              </a:ext>
            </a:extLst>
          </p:cNvPr>
          <p:cNvSpPr>
            <a:spLocks noGrp="1"/>
          </p:cNvSpPr>
          <p:nvPr>
            <p:ph type="title"/>
          </p:nvPr>
        </p:nvSpPr>
        <p:spPr>
          <a:xfrm>
            <a:off x="1097280" y="286603"/>
            <a:ext cx="10058400" cy="1450757"/>
          </a:xfrm>
        </p:spPr>
        <p:txBody>
          <a:bodyPr>
            <a:normAutofit/>
          </a:bodyPr>
          <a:lstStyle/>
          <a:p>
            <a:r>
              <a:rPr lang="en-US" dirty="0"/>
              <a:t>Mapping of CLO’s to GA’s</a:t>
            </a:r>
          </a:p>
        </p:txBody>
      </p:sp>
      <p:graphicFrame>
        <p:nvGraphicFramePr>
          <p:cNvPr id="7" name="Content Placeholder 6">
            <a:extLst>
              <a:ext uri="{FF2B5EF4-FFF2-40B4-BE49-F238E27FC236}">
                <a16:creationId xmlns:a16="http://schemas.microsoft.com/office/drawing/2014/main" id="{4E524514-6E9D-9AEE-19ED-1EAA95799E56}"/>
              </a:ext>
            </a:extLst>
          </p:cNvPr>
          <p:cNvGraphicFramePr>
            <a:graphicFrameLocks noGrp="1"/>
          </p:cNvGraphicFramePr>
          <p:nvPr>
            <p:ph idx="1"/>
            <p:extLst>
              <p:ext uri="{D42A27DB-BD31-4B8C-83A1-F6EECF244321}">
                <p14:modId xmlns:p14="http://schemas.microsoft.com/office/powerpoint/2010/main" val="3066638811"/>
              </p:ext>
            </p:extLst>
          </p:nvPr>
        </p:nvGraphicFramePr>
        <p:xfrm>
          <a:off x="1079116" y="1806827"/>
          <a:ext cx="10058402" cy="3313814"/>
        </p:xfrm>
        <a:graphic>
          <a:graphicData uri="http://schemas.openxmlformats.org/drawingml/2006/table">
            <a:tbl>
              <a:tblPr firstRow="1" firstCol="1" lastRow="1" lastCol="1" bandRow="1" bandCol="1">
                <a:tableStyleId>{5940675A-B579-460E-94D1-54222C63F5DA}</a:tableStyleId>
              </a:tblPr>
              <a:tblGrid>
                <a:gridCol w="6119849">
                  <a:extLst>
                    <a:ext uri="{9D8B030D-6E8A-4147-A177-3AD203B41FA5}">
                      <a16:colId xmlns:a16="http://schemas.microsoft.com/office/drawing/2014/main" val="1765518835"/>
                    </a:ext>
                  </a:extLst>
                </a:gridCol>
                <a:gridCol w="1313537">
                  <a:extLst>
                    <a:ext uri="{9D8B030D-6E8A-4147-A177-3AD203B41FA5}">
                      <a16:colId xmlns:a16="http://schemas.microsoft.com/office/drawing/2014/main" val="1246810282"/>
                    </a:ext>
                  </a:extLst>
                </a:gridCol>
                <a:gridCol w="1317650">
                  <a:extLst>
                    <a:ext uri="{9D8B030D-6E8A-4147-A177-3AD203B41FA5}">
                      <a16:colId xmlns:a16="http://schemas.microsoft.com/office/drawing/2014/main" val="4091342433"/>
                    </a:ext>
                  </a:extLst>
                </a:gridCol>
                <a:gridCol w="1307366">
                  <a:extLst>
                    <a:ext uri="{9D8B030D-6E8A-4147-A177-3AD203B41FA5}">
                      <a16:colId xmlns:a16="http://schemas.microsoft.com/office/drawing/2014/main" val="1211156242"/>
                    </a:ext>
                  </a:extLst>
                </a:gridCol>
              </a:tblGrid>
              <a:tr h="407821">
                <a:tc>
                  <a:txBody>
                    <a:bodyPr/>
                    <a:lstStyle/>
                    <a:p>
                      <a:pPr marL="5715" marR="0">
                        <a:lnSpc>
                          <a:spcPct val="107000"/>
                        </a:lnSpc>
                        <a:spcBef>
                          <a:spcPts val="40"/>
                        </a:spcBef>
                        <a:spcAft>
                          <a:spcPts val="0"/>
                        </a:spcAft>
                      </a:pPr>
                      <a:r>
                        <a:rPr lang="en-US" sz="2200" kern="100">
                          <a:effectLst/>
                        </a:rPr>
                        <a:t>GA’s/CLOs</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marR="0">
                        <a:lnSpc>
                          <a:spcPct val="107000"/>
                        </a:lnSpc>
                        <a:spcBef>
                          <a:spcPts val="40"/>
                        </a:spcBef>
                        <a:spcAft>
                          <a:spcPts val="0"/>
                        </a:spcAft>
                      </a:pPr>
                      <a:r>
                        <a:rPr lang="en-US" sz="2200" kern="100">
                          <a:effectLst/>
                        </a:rPr>
                        <a:t>CLO1</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nSpc>
                          <a:spcPct val="107000"/>
                        </a:lnSpc>
                        <a:spcBef>
                          <a:spcPts val="40"/>
                        </a:spcBef>
                        <a:spcAft>
                          <a:spcPts val="0"/>
                        </a:spcAft>
                      </a:pPr>
                      <a:r>
                        <a:rPr lang="en-US" sz="2200" kern="100">
                          <a:effectLst/>
                        </a:rPr>
                        <a:t>CLO2</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40" marR="0">
                        <a:lnSpc>
                          <a:spcPct val="107000"/>
                        </a:lnSpc>
                        <a:spcBef>
                          <a:spcPts val="40"/>
                        </a:spcBef>
                        <a:spcAft>
                          <a:spcPts val="0"/>
                        </a:spcAft>
                      </a:pPr>
                      <a:r>
                        <a:rPr lang="en-US" sz="2200" kern="100">
                          <a:effectLst/>
                        </a:rPr>
                        <a:t>CLO3</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39738449"/>
                  </a:ext>
                </a:extLst>
              </a:tr>
              <a:tr h="350546">
                <a:tc>
                  <a:txBody>
                    <a:bodyPr/>
                    <a:lstStyle/>
                    <a:p>
                      <a:pPr marL="5715" marR="0">
                        <a:lnSpc>
                          <a:spcPct val="107000"/>
                        </a:lnSpc>
                        <a:spcBef>
                          <a:spcPts val="25"/>
                        </a:spcBef>
                        <a:spcAft>
                          <a:spcPts val="0"/>
                        </a:spcAft>
                      </a:pPr>
                      <a:r>
                        <a:rPr lang="en-US" sz="2200" kern="100" dirty="0">
                          <a:effectLst/>
                        </a:rPr>
                        <a:t>GA1</a:t>
                      </a:r>
                      <a:r>
                        <a:rPr lang="en-US" sz="2200" kern="100" spc="40" dirty="0">
                          <a:effectLst/>
                        </a:rPr>
                        <a:t> </a:t>
                      </a:r>
                      <a:r>
                        <a:rPr lang="en-US" sz="2200" kern="100" dirty="0">
                          <a:effectLst/>
                        </a:rPr>
                        <a:t>(Academic</a:t>
                      </a:r>
                      <a:r>
                        <a:rPr lang="en-US" sz="2200" kern="100" spc="35" dirty="0">
                          <a:effectLst/>
                        </a:rPr>
                        <a:t> </a:t>
                      </a:r>
                      <a:r>
                        <a:rPr lang="en-US" sz="2200" kern="100" dirty="0">
                          <a:effectLst/>
                        </a:rPr>
                        <a:t>Education)</a:t>
                      </a:r>
                      <a:endPar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385447942"/>
                  </a:ext>
                </a:extLst>
              </a:tr>
              <a:tr h="516342">
                <a:tc>
                  <a:txBody>
                    <a:bodyPr/>
                    <a:lstStyle/>
                    <a:p>
                      <a:pPr marL="5715" marR="0">
                        <a:lnSpc>
                          <a:spcPts val="1185"/>
                        </a:lnSpc>
                        <a:spcBef>
                          <a:spcPts val="0"/>
                        </a:spcBef>
                        <a:spcAft>
                          <a:spcPts val="0"/>
                        </a:spcAft>
                      </a:pPr>
                      <a:endParaRPr lang="en-US" sz="2200" kern="100" dirty="0">
                        <a:effectLst/>
                      </a:endParaRPr>
                    </a:p>
                    <a:p>
                      <a:pPr marL="5715" marR="0">
                        <a:lnSpc>
                          <a:spcPts val="1185"/>
                        </a:lnSpc>
                        <a:spcBef>
                          <a:spcPts val="0"/>
                        </a:spcBef>
                        <a:spcAft>
                          <a:spcPts val="0"/>
                        </a:spcAft>
                      </a:pPr>
                      <a:r>
                        <a:rPr lang="en-US" sz="2200" kern="100" dirty="0">
                          <a:effectLst/>
                        </a:rPr>
                        <a:t>GA2</a:t>
                      </a:r>
                      <a:r>
                        <a:rPr lang="en-US" sz="2200" kern="100" spc="35" dirty="0">
                          <a:effectLst/>
                        </a:rPr>
                        <a:t> </a:t>
                      </a:r>
                      <a:r>
                        <a:rPr lang="en-US" sz="2200" kern="100" dirty="0">
                          <a:effectLst/>
                        </a:rPr>
                        <a:t>(Knowledge</a:t>
                      </a:r>
                      <a:r>
                        <a:rPr lang="en-US" sz="2200" kern="100" spc="60" dirty="0">
                          <a:effectLst/>
                        </a:rPr>
                        <a:t> </a:t>
                      </a:r>
                      <a:r>
                        <a:rPr lang="en-US" sz="2200" kern="100" dirty="0">
                          <a:effectLst/>
                        </a:rPr>
                        <a:t>for</a:t>
                      </a:r>
                      <a:r>
                        <a:rPr lang="en-US" sz="2200" kern="100" spc="45" dirty="0">
                          <a:effectLst/>
                        </a:rPr>
                        <a:t> </a:t>
                      </a:r>
                      <a:r>
                        <a:rPr lang="en-US" sz="2200" kern="100" dirty="0">
                          <a:effectLst/>
                        </a:rPr>
                        <a:t>Solving</a:t>
                      </a:r>
                      <a:r>
                        <a:rPr lang="en-US" sz="2200" kern="100" spc="20" dirty="0">
                          <a:effectLst/>
                        </a:rPr>
                        <a:t> </a:t>
                      </a:r>
                      <a:r>
                        <a:rPr lang="en-US" sz="2200" kern="100" dirty="0">
                          <a:effectLst/>
                        </a:rPr>
                        <a:t>Computing</a:t>
                      </a:r>
                      <a:r>
                        <a:rPr lang="en-US" sz="2200" kern="100" spc="20" dirty="0">
                          <a:effectLst/>
                        </a:rPr>
                        <a:t> </a:t>
                      </a:r>
                      <a:r>
                        <a:rPr lang="en-US" sz="2200" kern="100" dirty="0">
                          <a:effectLst/>
                        </a:rPr>
                        <a:t>Problems)</a:t>
                      </a:r>
                      <a:endPar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9525" marR="0" algn="ctr">
                        <a:lnSpc>
                          <a:spcPct val="107000"/>
                        </a:lnSpc>
                        <a:spcBef>
                          <a:spcPts val="0"/>
                        </a:spcBef>
                        <a:spcAft>
                          <a:spcPts val="0"/>
                        </a:spcAft>
                      </a:pPr>
                      <a:r>
                        <a:rPr lang="en-US" sz="2200" kern="100">
                          <a:effectLst/>
                        </a:rPr>
                        <a:t>✔</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19434859"/>
                  </a:ext>
                </a:extLst>
              </a:tr>
              <a:tr h="407821">
                <a:tc>
                  <a:txBody>
                    <a:bodyPr/>
                    <a:lstStyle/>
                    <a:p>
                      <a:pPr marL="5715" marR="0">
                        <a:lnSpc>
                          <a:spcPts val="1195"/>
                        </a:lnSpc>
                        <a:spcBef>
                          <a:spcPts val="0"/>
                        </a:spcBef>
                        <a:spcAft>
                          <a:spcPts val="0"/>
                        </a:spcAft>
                      </a:pPr>
                      <a:endParaRPr lang="en-US" sz="2200" kern="100" dirty="0">
                        <a:effectLst/>
                      </a:endParaRPr>
                    </a:p>
                    <a:p>
                      <a:pPr marL="5715" marR="0">
                        <a:lnSpc>
                          <a:spcPts val="1195"/>
                        </a:lnSpc>
                        <a:spcBef>
                          <a:spcPts val="0"/>
                        </a:spcBef>
                        <a:spcAft>
                          <a:spcPts val="0"/>
                        </a:spcAft>
                      </a:pPr>
                      <a:r>
                        <a:rPr lang="en-US" sz="2200" kern="100" dirty="0">
                          <a:effectLst/>
                        </a:rPr>
                        <a:t>GA3</a:t>
                      </a:r>
                      <a:r>
                        <a:rPr lang="en-US" sz="2200" kern="100" spc="35" dirty="0">
                          <a:effectLst/>
                        </a:rPr>
                        <a:t> </a:t>
                      </a:r>
                      <a:r>
                        <a:rPr lang="en-US" sz="2200" kern="100" dirty="0">
                          <a:effectLst/>
                        </a:rPr>
                        <a:t>(Problem</a:t>
                      </a:r>
                      <a:r>
                        <a:rPr lang="en-US" sz="2200" kern="100" spc="15" dirty="0">
                          <a:effectLst/>
                        </a:rPr>
                        <a:t> </a:t>
                      </a:r>
                      <a:r>
                        <a:rPr lang="en-US" sz="2200" kern="100" dirty="0">
                          <a:effectLst/>
                        </a:rPr>
                        <a:t>Analysis)</a:t>
                      </a:r>
                      <a:endPar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marR="0" algn="ctr">
                        <a:lnSpc>
                          <a:spcPct val="107000"/>
                        </a:lnSpc>
                        <a:spcBef>
                          <a:spcPts val="10"/>
                        </a:spcBef>
                        <a:spcAft>
                          <a:spcPts val="0"/>
                        </a:spcAft>
                      </a:pPr>
                      <a:r>
                        <a:rPr lang="en-US" sz="2200" kern="100">
                          <a:effectLst/>
                        </a:rPr>
                        <a:t>✔</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39427567"/>
                  </a:ext>
                </a:extLst>
              </a:tr>
              <a:tr h="407821">
                <a:tc>
                  <a:txBody>
                    <a:bodyPr/>
                    <a:lstStyle/>
                    <a:p>
                      <a:pPr marL="5715" marR="0">
                        <a:lnSpc>
                          <a:spcPct val="107000"/>
                        </a:lnSpc>
                        <a:spcBef>
                          <a:spcPts val="15"/>
                        </a:spcBef>
                        <a:spcAft>
                          <a:spcPts val="0"/>
                        </a:spcAft>
                      </a:pPr>
                      <a:r>
                        <a:rPr lang="en-US" sz="2200" kern="100" dirty="0">
                          <a:solidFill>
                            <a:schemeClr val="tx1"/>
                          </a:solidFill>
                          <a:effectLst/>
                          <a:latin typeface="+mn-lt"/>
                          <a:ea typeface="+mn-ea"/>
                          <a:cs typeface="+mn-cs"/>
                        </a:rPr>
                        <a:t>GA4 (Design/Development </a:t>
                      </a:r>
                      <a:r>
                        <a:rPr lang="en-US" sz="2200" kern="100" dirty="0">
                          <a:effectLst/>
                        </a:rPr>
                        <a:t>of</a:t>
                      </a:r>
                      <a:r>
                        <a:rPr lang="en-US" sz="2200" kern="100" spc="10" dirty="0">
                          <a:effectLst/>
                        </a:rPr>
                        <a:t> </a:t>
                      </a:r>
                      <a:r>
                        <a:rPr lang="en-US" sz="2200" kern="100" dirty="0">
                          <a:effectLst/>
                        </a:rPr>
                        <a:t>Solutions)</a:t>
                      </a:r>
                      <a:endPar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8890" marR="0" algn="ctr">
                        <a:lnSpc>
                          <a:spcPct val="107000"/>
                        </a:lnSpc>
                        <a:spcBef>
                          <a:spcPts val="0"/>
                        </a:spcBef>
                        <a:spcAft>
                          <a:spcPts val="0"/>
                        </a:spcAft>
                      </a:pPr>
                      <a:r>
                        <a:rPr lang="en-US" sz="2200" kern="100">
                          <a:effectLst/>
                        </a:rPr>
                        <a:t>✔</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958254751"/>
                  </a:ext>
                </a:extLst>
              </a:tr>
              <a:tr h="407821">
                <a:tc>
                  <a:txBody>
                    <a:bodyPr/>
                    <a:lstStyle/>
                    <a:p>
                      <a:pPr marL="5715" marR="0">
                        <a:lnSpc>
                          <a:spcPct val="107000"/>
                        </a:lnSpc>
                        <a:spcBef>
                          <a:spcPts val="40"/>
                        </a:spcBef>
                        <a:spcAft>
                          <a:spcPts val="0"/>
                        </a:spcAft>
                      </a:pPr>
                      <a:r>
                        <a:rPr lang="en-US" sz="2200" kern="100">
                          <a:effectLst/>
                        </a:rPr>
                        <a:t>GA5</a:t>
                      </a:r>
                      <a:r>
                        <a:rPr lang="en-US" sz="2200" kern="100" spc="40">
                          <a:effectLst/>
                        </a:rPr>
                        <a:t> </a:t>
                      </a:r>
                      <a:r>
                        <a:rPr lang="en-US" sz="2200" kern="100">
                          <a:effectLst/>
                        </a:rPr>
                        <a:t>(Modern</a:t>
                      </a:r>
                      <a:r>
                        <a:rPr lang="en-US" sz="2200" kern="100" spc="-5">
                          <a:effectLst/>
                        </a:rPr>
                        <a:t> </a:t>
                      </a:r>
                      <a:r>
                        <a:rPr lang="en-US" sz="2200" kern="100">
                          <a:effectLst/>
                        </a:rPr>
                        <a:t>Tool</a:t>
                      </a:r>
                      <a:r>
                        <a:rPr lang="en-US" sz="2200" kern="100" spc="50">
                          <a:effectLst/>
                        </a:rPr>
                        <a:t> </a:t>
                      </a:r>
                      <a:r>
                        <a:rPr lang="en-US" sz="2200" kern="100">
                          <a:effectLst/>
                        </a:rPr>
                        <a:t>Usage)</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85724670"/>
                  </a:ext>
                </a:extLst>
              </a:tr>
              <a:tr h="407821">
                <a:tc>
                  <a:txBody>
                    <a:bodyPr/>
                    <a:lstStyle/>
                    <a:p>
                      <a:pPr marL="5715" marR="0">
                        <a:lnSpc>
                          <a:spcPct val="107000"/>
                        </a:lnSpc>
                        <a:spcBef>
                          <a:spcPts val="25"/>
                        </a:spcBef>
                        <a:spcAft>
                          <a:spcPts val="0"/>
                        </a:spcAft>
                      </a:pPr>
                      <a:r>
                        <a:rPr lang="en-US" sz="2200" kern="100">
                          <a:effectLst/>
                        </a:rPr>
                        <a:t>GA6</a:t>
                      </a:r>
                      <a:r>
                        <a:rPr lang="en-US" sz="2200" kern="100" spc="30">
                          <a:effectLst/>
                        </a:rPr>
                        <a:t> </a:t>
                      </a:r>
                      <a:r>
                        <a:rPr lang="en-US" sz="2200" kern="100">
                          <a:effectLst/>
                        </a:rPr>
                        <a:t>(Individual</a:t>
                      </a:r>
                      <a:r>
                        <a:rPr lang="en-US" sz="2200" kern="100" spc="35">
                          <a:effectLst/>
                        </a:rPr>
                        <a:t> </a:t>
                      </a:r>
                      <a:r>
                        <a:rPr lang="en-US" sz="2200" kern="100">
                          <a:effectLst/>
                        </a:rPr>
                        <a:t>and</a:t>
                      </a:r>
                      <a:r>
                        <a:rPr lang="en-US" sz="2200" kern="100" spc="5">
                          <a:effectLst/>
                        </a:rPr>
                        <a:t> </a:t>
                      </a:r>
                      <a:r>
                        <a:rPr lang="en-US" sz="2200" kern="100">
                          <a:effectLst/>
                        </a:rPr>
                        <a:t>Teamwork)</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2317636"/>
                  </a:ext>
                </a:extLst>
              </a:tr>
              <a:tr h="407821">
                <a:tc>
                  <a:txBody>
                    <a:bodyPr/>
                    <a:lstStyle/>
                    <a:p>
                      <a:pPr marL="5715" marR="0">
                        <a:lnSpc>
                          <a:spcPct val="107000"/>
                        </a:lnSpc>
                        <a:spcBef>
                          <a:spcPts val="15"/>
                        </a:spcBef>
                        <a:spcAft>
                          <a:spcPts val="0"/>
                        </a:spcAft>
                      </a:pPr>
                      <a:r>
                        <a:rPr lang="en-US" sz="2200" kern="100">
                          <a:effectLst/>
                        </a:rPr>
                        <a:t>GA7</a:t>
                      </a:r>
                      <a:r>
                        <a:rPr lang="en-US" sz="2200" kern="100" spc="45">
                          <a:effectLst/>
                        </a:rPr>
                        <a:t> </a:t>
                      </a:r>
                      <a:r>
                        <a:rPr lang="en-US" sz="2200" kern="100">
                          <a:effectLst/>
                        </a:rPr>
                        <a:t>(Communication)</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a:effectLst/>
                        </a:rPr>
                        <a:t> </a:t>
                      </a:r>
                      <a:endParaRPr lang="en-US" sz="2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2200" kern="100" dirty="0">
                          <a:effectLst/>
                        </a:rPr>
                        <a:t> </a:t>
                      </a:r>
                      <a:endParaRPr lang="en-US" sz="2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69953209"/>
                  </a:ext>
                </a:extLst>
              </a:tr>
            </a:tbl>
          </a:graphicData>
        </a:graphic>
      </p:graphicFrame>
      <p:graphicFrame>
        <p:nvGraphicFramePr>
          <p:cNvPr id="8" name="Table 7">
            <a:extLst>
              <a:ext uri="{FF2B5EF4-FFF2-40B4-BE49-F238E27FC236}">
                <a16:creationId xmlns:a16="http://schemas.microsoft.com/office/drawing/2014/main" id="{10D1F2F3-F7C6-A645-5BEA-1F35FE0AEA46}"/>
              </a:ext>
            </a:extLst>
          </p:cNvPr>
          <p:cNvGraphicFramePr>
            <a:graphicFrameLocks noGrp="1"/>
          </p:cNvGraphicFramePr>
          <p:nvPr>
            <p:extLst>
              <p:ext uri="{D42A27DB-BD31-4B8C-83A1-F6EECF244321}">
                <p14:modId xmlns:p14="http://schemas.microsoft.com/office/powerpoint/2010/main" val="3280782395"/>
              </p:ext>
            </p:extLst>
          </p:nvPr>
        </p:nvGraphicFramePr>
        <p:xfrm>
          <a:off x="1084961" y="5225143"/>
          <a:ext cx="10070719" cy="1174680"/>
        </p:xfrm>
        <a:graphic>
          <a:graphicData uri="http://schemas.openxmlformats.org/drawingml/2006/table">
            <a:tbl>
              <a:tblPr firstRow="1" firstCol="1" lastRow="1" lastCol="1" bandRow="1" bandCol="1">
                <a:tableStyleId>{5940675A-B579-460E-94D1-54222C63F5DA}</a:tableStyleId>
              </a:tblPr>
              <a:tblGrid>
                <a:gridCol w="6117944">
                  <a:extLst>
                    <a:ext uri="{9D8B030D-6E8A-4147-A177-3AD203B41FA5}">
                      <a16:colId xmlns:a16="http://schemas.microsoft.com/office/drawing/2014/main" val="1297983536"/>
                    </a:ext>
                  </a:extLst>
                </a:gridCol>
                <a:gridCol w="1331495">
                  <a:extLst>
                    <a:ext uri="{9D8B030D-6E8A-4147-A177-3AD203B41FA5}">
                      <a16:colId xmlns:a16="http://schemas.microsoft.com/office/drawing/2014/main" val="848148085"/>
                    </a:ext>
                  </a:extLst>
                </a:gridCol>
                <a:gridCol w="1315453">
                  <a:extLst>
                    <a:ext uri="{9D8B030D-6E8A-4147-A177-3AD203B41FA5}">
                      <a16:colId xmlns:a16="http://schemas.microsoft.com/office/drawing/2014/main" val="1727117218"/>
                    </a:ext>
                  </a:extLst>
                </a:gridCol>
                <a:gridCol w="1305827">
                  <a:extLst>
                    <a:ext uri="{9D8B030D-6E8A-4147-A177-3AD203B41FA5}">
                      <a16:colId xmlns:a16="http://schemas.microsoft.com/office/drawing/2014/main" val="2652365339"/>
                    </a:ext>
                  </a:extLst>
                </a:gridCol>
              </a:tblGrid>
              <a:tr h="469068">
                <a:tc>
                  <a:txBody>
                    <a:bodyPr/>
                    <a:lstStyle/>
                    <a:p>
                      <a:pPr marL="5715" marR="0">
                        <a:lnSpc>
                          <a:spcPts val="1185"/>
                        </a:lnSpc>
                        <a:spcBef>
                          <a:spcPts val="0"/>
                        </a:spcBef>
                        <a:spcAft>
                          <a:spcPts val="0"/>
                        </a:spcAft>
                      </a:pPr>
                      <a:endParaRPr lang="en-US" sz="2200" kern="100" dirty="0">
                        <a:solidFill>
                          <a:schemeClr val="tx1"/>
                        </a:solidFill>
                        <a:effectLst/>
                        <a:latin typeface="+mn-lt"/>
                        <a:ea typeface="+mn-ea"/>
                        <a:cs typeface="+mn-cs"/>
                      </a:endParaRPr>
                    </a:p>
                    <a:p>
                      <a:pPr marL="5715" marR="0">
                        <a:lnSpc>
                          <a:spcPts val="1185"/>
                        </a:lnSpc>
                        <a:spcBef>
                          <a:spcPts val="0"/>
                        </a:spcBef>
                        <a:spcAft>
                          <a:spcPts val="0"/>
                        </a:spcAft>
                      </a:pPr>
                      <a:r>
                        <a:rPr lang="en-US" sz="2200" kern="100" dirty="0">
                          <a:solidFill>
                            <a:schemeClr val="tx1"/>
                          </a:solidFill>
                          <a:effectLst/>
                          <a:latin typeface="+mn-lt"/>
                          <a:ea typeface="+mn-ea"/>
                          <a:cs typeface="+mn-cs"/>
                        </a:rPr>
                        <a:t>GA8 (Computing Professionalism and Society)</a:t>
                      </a: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78183248"/>
                  </a:ext>
                </a:extLst>
              </a:tr>
              <a:tr h="335604">
                <a:tc>
                  <a:txBody>
                    <a:bodyPr/>
                    <a:lstStyle/>
                    <a:p>
                      <a:pPr marL="5715" marR="0">
                        <a:lnSpc>
                          <a:spcPct val="107000"/>
                        </a:lnSpc>
                        <a:spcBef>
                          <a:spcPts val="0"/>
                        </a:spcBef>
                        <a:spcAft>
                          <a:spcPts val="0"/>
                        </a:spcAft>
                      </a:pPr>
                      <a:r>
                        <a:rPr lang="en-US" sz="2200" kern="100">
                          <a:solidFill>
                            <a:schemeClr val="tx1"/>
                          </a:solidFill>
                          <a:effectLst/>
                          <a:latin typeface="+mn-lt"/>
                          <a:ea typeface="+mn-ea"/>
                          <a:cs typeface="+mn-cs"/>
                        </a:rPr>
                        <a:t>GA9 (Ethics)</a:t>
                      </a: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95388918"/>
                  </a:ext>
                </a:extLst>
              </a:tr>
              <a:tr h="322859">
                <a:tc>
                  <a:txBody>
                    <a:bodyPr/>
                    <a:lstStyle/>
                    <a:p>
                      <a:pPr marL="5715" marR="0">
                        <a:lnSpc>
                          <a:spcPts val="1255"/>
                        </a:lnSpc>
                        <a:spcBef>
                          <a:spcPts val="0"/>
                        </a:spcBef>
                        <a:spcAft>
                          <a:spcPts val="0"/>
                        </a:spcAft>
                      </a:pPr>
                      <a:endParaRPr lang="en-US" sz="2200" kern="100" dirty="0">
                        <a:solidFill>
                          <a:schemeClr val="tx1"/>
                        </a:solidFill>
                        <a:effectLst/>
                        <a:latin typeface="+mn-lt"/>
                        <a:ea typeface="+mn-ea"/>
                        <a:cs typeface="+mn-cs"/>
                      </a:endParaRPr>
                    </a:p>
                    <a:p>
                      <a:pPr marL="5715" marR="0">
                        <a:lnSpc>
                          <a:spcPts val="1255"/>
                        </a:lnSpc>
                        <a:spcBef>
                          <a:spcPts val="0"/>
                        </a:spcBef>
                        <a:spcAft>
                          <a:spcPts val="0"/>
                        </a:spcAft>
                      </a:pPr>
                      <a:r>
                        <a:rPr lang="en-US" sz="2200" kern="100" dirty="0">
                          <a:solidFill>
                            <a:schemeClr val="tx1"/>
                          </a:solidFill>
                          <a:effectLst/>
                          <a:latin typeface="+mn-lt"/>
                          <a:ea typeface="+mn-ea"/>
                          <a:cs typeface="+mn-cs"/>
                        </a:rPr>
                        <a:t>GA10 (Life-long Learning)</a:t>
                      </a: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1100" kern="100">
                          <a:effectLst/>
                        </a:rPr>
                        <a:t> </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07000"/>
                        </a:lnSpc>
                        <a:spcBef>
                          <a:spcPts val="0"/>
                        </a:spcBef>
                        <a:spcAft>
                          <a:spcPts val="0"/>
                        </a:spcAft>
                      </a:pPr>
                      <a:r>
                        <a:rPr lang="en-US" sz="1100" kern="100" dirty="0">
                          <a:effectLst/>
                        </a:rPr>
                        <a:t> </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11468800"/>
                  </a:ext>
                </a:extLst>
              </a:tr>
            </a:tbl>
          </a:graphicData>
        </a:graphic>
      </p:graphicFrame>
    </p:spTree>
    <p:extLst>
      <p:ext uri="{BB962C8B-B14F-4D97-AF65-F5344CB8AC3E}">
        <p14:creationId xmlns:p14="http://schemas.microsoft.com/office/powerpoint/2010/main" val="4170015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73D8-0FD1-FCEC-17F2-7DF15FF9515A}"/>
              </a:ext>
            </a:extLst>
          </p:cNvPr>
          <p:cNvSpPr>
            <a:spLocks noGrp="1"/>
          </p:cNvSpPr>
          <p:nvPr>
            <p:ph type="title"/>
          </p:nvPr>
        </p:nvSpPr>
        <p:spPr/>
        <p:txBody>
          <a:bodyPr/>
          <a:lstStyle/>
          <a:p>
            <a:r>
              <a:rPr lang="en-US" dirty="0"/>
              <a:t>Text and Reference Books</a:t>
            </a:r>
          </a:p>
        </p:txBody>
      </p:sp>
      <p:sp>
        <p:nvSpPr>
          <p:cNvPr id="3" name="Content Placeholder 2">
            <a:extLst>
              <a:ext uri="{FF2B5EF4-FFF2-40B4-BE49-F238E27FC236}">
                <a16:creationId xmlns:a16="http://schemas.microsoft.com/office/drawing/2014/main" id="{D4F06748-AD6C-89F7-B632-BDEBF7EFE4AC}"/>
              </a:ext>
            </a:extLst>
          </p:cNvPr>
          <p:cNvSpPr>
            <a:spLocks noGrp="1"/>
          </p:cNvSpPr>
          <p:nvPr>
            <p:ph idx="1"/>
          </p:nvPr>
        </p:nvSpPr>
        <p:spPr/>
        <p:txBody>
          <a:bodyPr/>
          <a:lstStyle/>
          <a:p>
            <a:endParaRPr lang="en-US" b="1" dirty="0"/>
          </a:p>
          <a:p>
            <a:r>
              <a:rPr lang="en-US" b="1" dirty="0"/>
              <a:t>Text Books:</a:t>
            </a:r>
          </a:p>
          <a:p>
            <a:pPr marR="66040" lvl="1">
              <a:lnSpc>
                <a:spcPct val="115000"/>
              </a:lnSpc>
              <a:spcBef>
                <a:spcPts val="0"/>
              </a:spcBef>
              <a:spcAft>
                <a:spcPts val="0"/>
              </a:spcAft>
              <a:tabLst>
                <a:tab pos="525145" algn="l"/>
                <a:tab pos="525780" algn="l"/>
              </a:tabLst>
            </a:pPr>
            <a:r>
              <a:rPr lang="en-US" sz="1600" dirty="0">
                <a:effectLst/>
                <a:latin typeface="Arial" panose="020B0604020202020204" pitchFamily="34" charset="0"/>
                <a:ea typeface="Arial" panose="020B0604020202020204" pitchFamily="34" charset="0"/>
              </a:rPr>
              <a:t>Data Structures and Algorithms in C++ by Michael T. Goodrich, Roberto </a:t>
            </a:r>
            <a:r>
              <a:rPr lang="en-US" sz="1600" dirty="0" err="1">
                <a:effectLst/>
                <a:latin typeface="Arial" panose="020B0604020202020204" pitchFamily="34" charset="0"/>
                <a:ea typeface="Arial" panose="020B0604020202020204" pitchFamily="34" charset="0"/>
              </a:rPr>
              <a:t>Tamassia</a:t>
            </a:r>
            <a:r>
              <a:rPr lang="en-US" sz="1600" dirty="0">
                <a:effectLst/>
                <a:latin typeface="Arial" panose="020B0604020202020204" pitchFamily="34" charset="0"/>
                <a:ea typeface="Arial" panose="020B0604020202020204" pitchFamily="34" charset="0"/>
              </a:rPr>
              <a:t>, and David Mount (2nd</a:t>
            </a:r>
            <a:r>
              <a:rPr lang="en-US" sz="1600" spc="-5" dirty="0">
                <a:effectLst/>
                <a:latin typeface="Arial" panose="020B0604020202020204" pitchFamily="34" charset="0"/>
                <a:ea typeface="Arial" panose="020B0604020202020204" pitchFamily="34" charset="0"/>
              </a:rPr>
              <a:t> </a:t>
            </a:r>
            <a:r>
              <a:rPr lang="en-US" sz="1600" dirty="0">
                <a:effectLst/>
                <a:latin typeface="Arial" panose="020B0604020202020204" pitchFamily="34" charset="0"/>
                <a:ea typeface="Arial" panose="020B0604020202020204" pitchFamily="34" charset="0"/>
              </a:rPr>
              <a:t>Edition)</a:t>
            </a:r>
          </a:p>
          <a:p>
            <a:pPr lvl="1"/>
            <a:r>
              <a:rPr lang="en-US" sz="1600" dirty="0">
                <a:effectLst/>
                <a:latin typeface="Arial" panose="020B0604020202020204" pitchFamily="34" charset="0"/>
                <a:ea typeface="Arial" panose="020B0604020202020204" pitchFamily="34" charset="0"/>
              </a:rPr>
              <a:t>Data Structures and Algorithm Analysis in C++ by Mark</a:t>
            </a:r>
            <a:r>
              <a:rPr lang="en-US" sz="1600" spc="160" dirty="0">
                <a:effectLst/>
                <a:latin typeface="Arial" panose="020B0604020202020204" pitchFamily="34" charset="0"/>
                <a:ea typeface="Arial" panose="020B0604020202020204" pitchFamily="34" charset="0"/>
              </a:rPr>
              <a:t> </a:t>
            </a:r>
            <a:r>
              <a:rPr lang="en-US" sz="1600" dirty="0">
                <a:effectLst/>
                <a:latin typeface="Arial" panose="020B0604020202020204" pitchFamily="34" charset="0"/>
                <a:ea typeface="Arial" panose="020B0604020202020204" pitchFamily="34" charset="0"/>
              </a:rPr>
              <a:t>Allen Weiss (4th Edition)</a:t>
            </a:r>
          </a:p>
          <a:p>
            <a:endParaRPr lang="en-US" sz="1800" b="1" dirty="0">
              <a:latin typeface="Arial" panose="020B0604020202020204" pitchFamily="34" charset="0"/>
            </a:endParaRPr>
          </a:p>
          <a:p>
            <a:r>
              <a:rPr lang="en-US" sz="1800" b="1" dirty="0">
                <a:latin typeface="Arial" panose="020B0604020202020204" pitchFamily="34" charset="0"/>
              </a:rPr>
              <a:t>Reference Books</a:t>
            </a:r>
          </a:p>
          <a:p>
            <a:pPr lvl="1"/>
            <a:r>
              <a:rPr lang="en-US" dirty="0"/>
              <a:t>Malik, D S. Data Structures in C++, 2nd Edition, Cengage Learning</a:t>
            </a:r>
          </a:p>
        </p:txBody>
      </p:sp>
    </p:spTree>
    <p:extLst>
      <p:ext uri="{BB962C8B-B14F-4D97-AF65-F5344CB8AC3E}">
        <p14:creationId xmlns:p14="http://schemas.microsoft.com/office/powerpoint/2010/main" val="3490529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3D61-8429-34B2-4F51-CB4093792ABC}"/>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4BE97D20-9E07-F478-8CB2-19813DDE63C5}"/>
              </a:ext>
            </a:extLst>
          </p:cNvPr>
          <p:cNvSpPr>
            <a:spLocks noGrp="1"/>
          </p:cNvSpPr>
          <p:nvPr>
            <p:ph idx="1"/>
          </p:nvPr>
        </p:nvSpPr>
        <p:spPr>
          <a:xfrm>
            <a:off x="1097280" y="1845733"/>
            <a:ext cx="10058400" cy="4601719"/>
          </a:xfrm>
        </p:spPr>
        <p:txBody>
          <a:bodyPr>
            <a:normAutofit fontScale="92500" lnSpcReduction="20000"/>
          </a:bodyPr>
          <a:lstStyle/>
          <a:p>
            <a:pPr>
              <a:buFont typeface="Wingdings" panose="05000000000000000000" pitchFamily="2" charset="2"/>
              <a:buChar char="Ø"/>
            </a:pPr>
            <a:r>
              <a:rPr lang="en-GB" altLang="en-US" sz="2400" dirty="0"/>
              <a:t>Introduction to data structures.</a:t>
            </a:r>
          </a:p>
          <a:p>
            <a:pPr>
              <a:buFont typeface="Wingdings" panose="05000000000000000000" pitchFamily="2" charset="2"/>
              <a:buChar char="Ø"/>
            </a:pPr>
            <a:r>
              <a:rPr lang="en-GB" altLang="en-US" sz="2400" dirty="0"/>
              <a:t>Analysis tools</a:t>
            </a:r>
            <a:r>
              <a:rPr lang="en-US" altLang="en-US" sz="2400" dirty="0"/>
              <a:t>.</a:t>
            </a:r>
          </a:p>
          <a:p>
            <a:pPr>
              <a:buFont typeface="Wingdings" panose="05000000000000000000" pitchFamily="2" charset="2"/>
              <a:buChar char="Ø"/>
            </a:pPr>
            <a:r>
              <a:rPr lang="en-GB" altLang="en-US" sz="2400" dirty="0"/>
              <a:t>Arrays.</a:t>
            </a:r>
          </a:p>
          <a:p>
            <a:pPr>
              <a:buFont typeface="Wingdings" panose="05000000000000000000" pitchFamily="2" charset="2"/>
              <a:buChar char="Ø"/>
            </a:pPr>
            <a:r>
              <a:rPr lang="en-GB" altLang="en-US" sz="2400" dirty="0"/>
              <a:t>Linked list.</a:t>
            </a:r>
          </a:p>
          <a:p>
            <a:pPr>
              <a:buFont typeface="Wingdings" panose="05000000000000000000" pitchFamily="2" charset="2"/>
              <a:buChar char="Ø"/>
            </a:pPr>
            <a:r>
              <a:rPr lang="en-GB" altLang="en-US" sz="2400" dirty="0"/>
              <a:t>Stacks.</a:t>
            </a:r>
          </a:p>
          <a:p>
            <a:pPr>
              <a:buFont typeface="Wingdings" panose="05000000000000000000" pitchFamily="2" charset="2"/>
              <a:buChar char="Ø"/>
            </a:pPr>
            <a:r>
              <a:rPr lang="en-GB" altLang="en-US" sz="2400" dirty="0"/>
              <a:t>Queues.</a:t>
            </a:r>
          </a:p>
          <a:p>
            <a:pPr>
              <a:buFont typeface="Wingdings" panose="05000000000000000000" pitchFamily="2" charset="2"/>
              <a:buChar char="Ø"/>
            </a:pPr>
            <a:r>
              <a:rPr lang="en-GB" altLang="en-US" sz="2400" dirty="0"/>
              <a:t>Trees.</a:t>
            </a:r>
          </a:p>
          <a:p>
            <a:pPr>
              <a:buFont typeface="Wingdings" panose="05000000000000000000" pitchFamily="2" charset="2"/>
              <a:buChar char="Ø"/>
            </a:pPr>
            <a:r>
              <a:rPr lang="en-GB" altLang="en-US" sz="2400" dirty="0"/>
              <a:t>Binary search tree.</a:t>
            </a:r>
          </a:p>
          <a:p>
            <a:pPr>
              <a:buFont typeface="Wingdings" panose="05000000000000000000" pitchFamily="2" charset="2"/>
              <a:buChar char="Ø"/>
            </a:pPr>
            <a:r>
              <a:rPr lang="en-GB" altLang="en-US" sz="2400" dirty="0"/>
              <a:t>Hash tables.</a:t>
            </a:r>
          </a:p>
          <a:p>
            <a:pPr>
              <a:buFont typeface="Wingdings" panose="05000000000000000000" pitchFamily="2" charset="2"/>
              <a:buChar char="Ø"/>
            </a:pPr>
            <a:r>
              <a:rPr lang="en-GB" altLang="en-US" sz="2400" dirty="0"/>
              <a:t>Sorting.</a:t>
            </a:r>
          </a:p>
          <a:p>
            <a:pPr>
              <a:buFont typeface="Wingdings" panose="05000000000000000000" pitchFamily="2" charset="2"/>
              <a:buChar char="Ø"/>
            </a:pPr>
            <a:r>
              <a:rPr lang="en-GB" altLang="en-US" sz="2400" dirty="0"/>
              <a:t>Graphs</a:t>
            </a:r>
          </a:p>
          <a:p>
            <a:endParaRPr lang="en-US" dirty="0"/>
          </a:p>
        </p:txBody>
      </p:sp>
    </p:spTree>
    <p:extLst>
      <p:ext uri="{BB962C8B-B14F-4D97-AF65-F5344CB8AC3E}">
        <p14:creationId xmlns:p14="http://schemas.microsoft.com/office/powerpoint/2010/main" val="245871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0E266-C04E-EE12-BBE8-272EF3B95F1C}"/>
              </a:ext>
            </a:extLst>
          </p:cNvPr>
          <p:cNvSpPr>
            <a:spLocks noGrp="1"/>
          </p:cNvSpPr>
          <p:nvPr>
            <p:ph type="title"/>
          </p:nvPr>
        </p:nvSpPr>
        <p:spPr/>
        <p:txBody>
          <a:bodyPr/>
          <a:lstStyle/>
          <a:p>
            <a:r>
              <a:rPr lang="en-US" dirty="0"/>
              <a:t>Prerequisites</a:t>
            </a:r>
          </a:p>
        </p:txBody>
      </p:sp>
      <p:sp>
        <p:nvSpPr>
          <p:cNvPr id="3" name="Content Placeholder 2">
            <a:extLst>
              <a:ext uri="{FF2B5EF4-FFF2-40B4-BE49-F238E27FC236}">
                <a16:creationId xmlns:a16="http://schemas.microsoft.com/office/drawing/2014/main" id="{23DDF970-663E-EC01-7F69-7202AECA2B72}"/>
              </a:ext>
            </a:extLst>
          </p:cNvPr>
          <p:cNvSpPr>
            <a:spLocks noGrp="1"/>
          </p:cNvSpPr>
          <p:nvPr>
            <p:ph idx="1"/>
          </p:nvPr>
        </p:nvSpPr>
        <p:spPr/>
        <p:txBody>
          <a:bodyPr/>
          <a:lstStyle/>
          <a:p>
            <a:pPr>
              <a:lnSpc>
                <a:spcPct val="150000"/>
              </a:lnSpc>
              <a:spcBef>
                <a:spcPts val="116"/>
              </a:spcBef>
              <a:tabLst>
                <a:tab pos="327433" algn="l"/>
                <a:tab pos="328133" algn="l"/>
              </a:tabLst>
            </a:pPr>
            <a:r>
              <a:rPr lang="en-US" sz="2000" dirty="0"/>
              <a:t>This module assumes that you understand the fundamentals of Programming</a:t>
            </a:r>
          </a:p>
          <a:p>
            <a:pPr marL="503743" indent="-503743">
              <a:lnSpc>
                <a:spcPct val="150000"/>
              </a:lnSpc>
              <a:spcBef>
                <a:spcPts val="116"/>
              </a:spcBef>
              <a:buFont typeface="Arial" panose="020B0604020202020204" pitchFamily="34" charset="0"/>
              <a:buChar char="•"/>
              <a:tabLst>
                <a:tab pos="327433" algn="l"/>
                <a:tab pos="328133" algn="l"/>
              </a:tabLst>
            </a:pPr>
            <a:r>
              <a:rPr lang="en-US" sz="2000" dirty="0">
                <a:solidFill>
                  <a:srgbClr val="2F5597"/>
                </a:solidFill>
              </a:rPr>
              <a:t>Variables, statements, functions, loops, etc.</a:t>
            </a:r>
          </a:p>
          <a:p>
            <a:pPr>
              <a:lnSpc>
                <a:spcPct val="150000"/>
              </a:lnSpc>
              <a:spcBef>
                <a:spcPts val="116"/>
              </a:spcBef>
              <a:tabLst>
                <a:tab pos="327433" algn="l"/>
                <a:tab pos="328133" algn="l"/>
              </a:tabLst>
            </a:pPr>
            <a:endParaRPr lang="en-US" sz="2000" dirty="0">
              <a:solidFill>
                <a:srgbClr val="2F5597"/>
              </a:solidFill>
            </a:endParaRPr>
          </a:p>
          <a:p>
            <a:pPr>
              <a:lnSpc>
                <a:spcPct val="150000"/>
              </a:lnSpc>
              <a:spcBef>
                <a:spcPts val="116"/>
              </a:spcBef>
              <a:tabLst>
                <a:tab pos="327433" algn="l"/>
                <a:tab pos="328133" algn="l"/>
              </a:tabLst>
            </a:pPr>
            <a:r>
              <a:rPr lang="en-US" sz="2000" dirty="0"/>
              <a:t>Note: Basic structure of C++ will be used in this subject.</a:t>
            </a:r>
          </a:p>
          <a:p>
            <a:endParaRPr lang="en-US" dirty="0"/>
          </a:p>
        </p:txBody>
      </p:sp>
    </p:spTree>
    <p:extLst>
      <p:ext uri="{BB962C8B-B14F-4D97-AF65-F5344CB8AC3E}">
        <p14:creationId xmlns:p14="http://schemas.microsoft.com/office/powerpoint/2010/main" val="1365352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Computer script on a screen">
            <a:extLst>
              <a:ext uri="{FF2B5EF4-FFF2-40B4-BE49-F238E27FC236}">
                <a16:creationId xmlns:a16="http://schemas.microsoft.com/office/drawing/2014/main" id="{E54C12FA-3A5B-241A-23DD-7EA6B1C47D0F}"/>
              </a:ext>
            </a:extLst>
          </p:cNvPr>
          <p:cNvPicPr>
            <a:picLocks noChangeAspect="1"/>
          </p:cNvPicPr>
          <p:nvPr/>
        </p:nvPicPr>
        <p:blipFill>
          <a:blip r:embed="rId2">
            <a:duotone>
              <a:schemeClr val="bg2">
                <a:shade val="45000"/>
                <a:satMod val="135000"/>
              </a:schemeClr>
              <a:prstClr val="white"/>
            </a:duotone>
            <a:alphaModFix amt="35000"/>
          </a:blip>
          <a:srcRect t="5981" b="9750"/>
          <a:stretch/>
        </p:blipFill>
        <p:spPr>
          <a:xfrm>
            <a:off x="20" y="10"/>
            <a:ext cx="12191980" cy="6857990"/>
          </a:xfrm>
          <a:prstGeom prst="rect">
            <a:avLst/>
          </a:prstGeom>
        </p:spPr>
      </p:pic>
      <p:sp>
        <p:nvSpPr>
          <p:cNvPr id="2" name="Title 1">
            <a:extLst>
              <a:ext uri="{FF2B5EF4-FFF2-40B4-BE49-F238E27FC236}">
                <a16:creationId xmlns:a16="http://schemas.microsoft.com/office/drawing/2014/main" id="{C4A3FC3A-6174-7680-B1C1-7A0F10193CDD}"/>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dirty="0">
                <a:solidFill>
                  <a:schemeClr val="tx1">
                    <a:lumMod val="85000"/>
                    <a:lumOff val="15000"/>
                  </a:schemeClr>
                </a:solidFill>
              </a:rPr>
              <a:t>Programming Basics</a:t>
            </a:r>
          </a:p>
        </p:txBody>
      </p:sp>
      <p:cxnSp>
        <p:nvCxnSpPr>
          <p:cNvPr id="14" name="Straight Connector 13">
            <a:extLst>
              <a:ext uri="{FF2B5EF4-FFF2-40B4-BE49-F238E27FC236}">
                <a16:creationId xmlns:a16="http://schemas.microsoft.com/office/drawing/2014/main" id="{77AB95BF-57D0-4E49-9EF2-408B47C8D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C520CBD-F82E-44E4-BDA5-128716AD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4618AE32-A526-42FC-A854-732740BD3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9421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F55C-2714-01B4-4459-8E1ED32E89B0}"/>
              </a:ext>
            </a:extLst>
          </p:cNvPr>
          <p:cNvSpPr>
            <a:spLocks noGrp="1"/>
          </p:cNvSpPr>
          <p:nvPr>
            <p:ph type="title"/>
          </p:nvPr>
        </p:nvSpPr>
        <p:spPr/>
        <p:txBody>
          <a:bodyPr/>
          <a:lstStyle/>
          <a:p>
            <a:r>
              <a:rPr lang="en-US" dirty="0"/>
              <a:t>Today’s Goal</a:t>
            </a:r>
          </a:p>
        </p:txBody>
      </p:sp>
      <p:sp>
        <p:nvSpPr>
          <p:cNvPr id="3" name="Content Placeholder 2">
            <a:extLst>
              <a:ext uri="{FF2B5EF4-FFF2-40B4-BE49-F238E27FC236}">
                <a16:creationId xmlns:a16="http://schemas.microsoft.com/office/drawing/2014/main" id="{539370A6-E024-DC07-88F8-757025165760}"/>
              </a:ext>
            </a:extLst>
          </p:cNvPr>
          <p:cNvSpPr>
            <a:spLocks noGrp="1"/>
          </p:cNvSpPr>
          <p:nvPr>
            <p:ph idx="1"/>
          </p:nvPr>
        </p:nvSpPr>
        <p:spPr/>
        <p:txBody>
          <a:bodyPr/>
          <a:lstStyle/>
          <a:p>
            <a:r>
              <a:rPr lang="en-GB" altLang="en-US" sz="2400" dirty="0"/>
              <a:t>To review basic programming concepts like:</a:t>
            </a:r>
          </a:p>
          <a:p>
            <a:pPr>
              <a:buFont typeface="Wingdings 3" panose="05040102010807070707" pitchFamily="18" charset="2"/>
              <a:buNone/>
            </a:pPr>
            <a:endParaRPr lang="en-GB" altLang="en-US" sz="2400" dirty="0"/>
          </a:p>
          <a:p>
            <a:pPr lvl="1"/>
            <a:r>
              <a:rPr lang="en-GB" altLang="en-US" sz="2400" dirty="0"/>
              <a:t>Variables and constants.</a:t>
            </a:r>
          </a:p>
          <a:p>
            <a:pPr lvl="1"/>
            <a:r>
              <a:rPr lang="en-GB" altLang="en-US" sz="2400" dirty="0"/>
              <a:t>Data types.</a:t>
            </a:r>
          </a:p>
          <a:p>
            <a:pPr lvl="1"/>
            <a:r>
              <a:rPr lang="en-GB" altLang="en-US" sz="2400" dirty="0"/>
              <a:t>Operators.</a:t>
            </a:r>
          </a:p>
          <a:p>
            <a:pPr lvl="1"/>
            <a:r>
              <a:rPr lang="en-GB" altLang="en-US" sz="2400" dirty="0"/>
              <a:t>Control flow.</a:t>
            </a:r>
            <a:endParaRPr lang="en-US" altLang="en-US" sz="2400" dirty="0"/>
          </a:p>
          <a:p>
            <a:endParaRPr lang="en-US" dirty="0"/>
          </a:p>
        </p:txBody>
      </p:sp>
    </p:spTree>
    <p:extLst>
      <p:ext uri="{BB962C8B-B14F-4D97-AF65-F5344CB8AC3E}">
        <p14:creationId xmlns:p14="http://schemas.microsoft.com/office/powerpoint/2010/main" val="2125724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CA1E-F1E3-206D-E916-60F4D3D875CD}"/>
              </a:ext>
            </a:extLst>
          </p:cNvPr>
          <p:cNvSpPr>
            <a:spLocks noGrp="1"/>
          </p:cNvSpPr>
          <p:nvPr>
            <p:ph type="title"/>
          </p:nvPr>
        </p:nvSpPr>
        <p:spPr/>
        <p:txBody>
          <a:bodyPr/>
          <a:lstStyle/>
          <a:p>
            <a:r>
              <a:rPr lang="en-US" dirty="0"/>
              <a:t>Variable and Constant</a:t>
            </a:r>
          </a:p>
        </p:txBody>
      </p:sp>
      <p:sp>
        <p:nvSpPr>
          <p:cNvPr id="3" name="Content Placeholder 2">
            <a:extLst>
              <a:ext uri="{FF2B5EF4-FFF2-40B4-BE49-F238E27FC236}">
                <a16:creationId xmlns:a16="http://schemas.microsoft.com/office/drawing/2014/main" id="{4E08B910-A2FE-9470-9D7E-6F1409695A8F}"/>
              </a:ext>
            </a:extLst>
          </p:cNvPr>
          <p:cNvSpPr>
            <a:spLocks noGrp="1"/>
          </p:cNvSpPr>
          <p:nvPr>
            <p:ph idx="1"/>
          </p:nvPr>
        </p:nvSpPr>
        <p:spPr/>
        <p:txBody>
          <a:bodyPr/>
          <a:lstStyle/>
          <a:p>
            <a:r>
              <a:rPr lang="en-US" altLang="en-US" sz="2400" dirty="0"/>
              <a:t>In a program, </a:t>
            </a:r>
            <a:r>
              <a:rPr lang="en-US" altLang="en-US" sz="2400" b="1" dirty="0"/>
              <a:t>data values</a:t>
            </a:r>
            <a:r>
              <a:rPr lang="en-US" altLang="en-US" sz="2400" dirty="0"/>
              <a:t> can be </a:t>
            </a:r>
            <a:r>
              <a:rPr lang="en-US" altLang="en-US" sz="2400" b="1" dirty="0"/>
              <a:t>constant</a:t>
            </a:r>
            <a:r>
              <a:rPr lang="en-US" altLang="en-US" sz="2400" dirty="0"/>
              <a:t> or </a:t>
            </a:r>
            <a:r>
              <a:rPr lang="en-US" altLang="en-US" sz="2400" b="1" dirty="0"/>
              <a:t>variable</a:t>
            </a:r>
            <a:r>
              <a:rPr lang="en-US" altLang="en-US" sz="2400" dirty="0"/>
              <a:t>. </a:t>
            </a:r>
          </a:p>
          <a:p>
            <a:endParaRPr lang="en-US" altLang="en-US" sz="2400" dirty="0"/>
          </a:p>
          <a:p>
            <a:r>
              <a:rPr lang="en-US" altLang="en-US" sz="2400" dirty="0"/>
              <a:t>If values are variable they can be changed by the program and the user.</a:t>
            </a:r>
          </a:p>
          <a:p>
            <a:endParaRPr lang="en-US" altLang="en-US" sz="2400" dirty="0"/>
          </a:p>
          <a:p>
            <a:r>
              <a:rPr lang="en-US" altLang="en-US" sz="2400" dirty="0"/>
              <a:t>When a program is running, the data values are held in </a:t>
            </a:r>
            <a:r>
              <a:rPr lang="en-US" altLang="en-US" sz="2400" b="1" dirty="0"/>
              <a:t>memory</a:t>
            </a:r>
            <a:r>
              <a:rPr lang="en-US" altLang="en-US" sz="2400" dirty="0"/>
              <a:t> while they are being worked on.</a:t>
            </a:r>
          </a:p>
          <a:p>
            <a:endParaRPr lang="en-US" dirty="0"/>
          </a:p>
        </p:txBody>
      </p:sp>
    </p:spTree>
    <p:extLst>
      <p:ext uri="{BB962C8B-B14F-4D97-AF65-F5344CB8AC3E}">
        <p14:creationId xmlns:p14="http://schemas.microsoft.com/office/powerpoint/2010/main" val="3799782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BAE64-CE27-B570-5038-BCBEAADF926A}"/>
              </a:ext>
            </a:extLst>
          </p:cNvPr>
          <p:cNvSpPr>
            <a:spLocks noGrp="1"/>
          </p:cNvSpPr>
          <p:nvPr>
            <p:ph type="title"/>
          </p:nvPr>
        </p:nvSpPr>
        <p:spPr/>
        <p:txBody>
          <a:bodyPr/>
          <a:lstStyle/>
          <a:p>
            <a:r>
              <a:rPr lang="en-US" dirty="0"/>
              <a:t>Constant</a:t>
            </a:r>
          </a:p>
        </p:txBody>
      </p:sp>
      <p:sp>
        <p:nvSpPr>
          <p:cNvPr id="3" name="Content Placeholder 2">
            <a:extLst>
              <a:ext uri="{FF2B5EF4-FFF2-40B4-BE49-F238E27FC236}">
                <a16:creationId xmlns:a16="http://schemas.microsoft.com/office/drawing/2014/main" id="{A51FCC26-ED1D-58ED-713B-8E9B3DA686F4}"/>
              </a:ext>
            </a:extLst>
          </p:cNvPr>
          <p:cNvSpPr>
            <a:spLocks noGrp="1"/>
          </p:cNvSpPr>
          <p:nvPr>
            <p:ph idx="1"/>
          </p:nvPr>
        </p:nvSpPr>
        <p:spPr/>
        <p:txBody>
          <a:bodyPr/>
          <a:lstStyle/>
          <a:p>
            <a:pPr eaLnBrk="1" hangingPunct="1"/>
            <a:r>
              <a:rPr lang="en-US" altLang="en-US" sz="2800" dirty="0"/>
              <a:t>Constants are values which cannot be modified e.g. the value of Pi</a:t>
            </a:r>
          </a:p>
          <a:p>
            <a:pPr eaLnBrk="1" hangingPunct="1"/>
            <a:r>
              <a:rPr lang="en-US" altLang="en-US" sz="2800" dirty="0"/>
              <a:t>To declare a constant in Java, we write a keyword “final” before the variable type. </a:t>
            </a:r>
          </a:p>
          <a:p>
            <a:pPr eaLnBrk="1" hangingPunct="1"/>
            <a:endParaRPr lang="en-US" altLang="en-US" sz="2800" dirty="0"/>
          </a:p>
          <a:p>
            <a:pPr eaLnBrk="1" hangingPunct="1">
              <a:buFontTx/>
              <a:buNone/>
            </a:pPr>
            <a:r>
              <a:rPr lang="en-US" altLang="en-US" sz="2800" dirty="0"/>
              <a:t>			final double pi = 3.14; </a:t>
            </a:r>
          </a:p>
          <a:p>
            <a:endParaRPr lang="en-US" dirty="0"/>
          </a:p>
        </p:txBody>
      </p:sp>
    </p:spTree>
    <p:extLst>
      <p:ext uri="{BB962C8B-B14F-4D97-AF65-F5344CB8AC3E}">
        <p14:creationId xmlns:p14="http://schemas.microsoft.com/office/powerpoint/2010/main" val="3392576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9D105-5840-A355-F56E-B93357F86E70}"/>
              </a:ext>
            </a:extLst>
          </p:cNvPr>
          <p:cNvSpPr>
            <a:spLocks noGrp="1"/>
          </p:cNvSpPr>
          <p:nvPr>
            <p:ph type="title"/>
          </p:nvPr>
        </p:nvSpPr>
        <p:spPr/>
        <p:txBody>
          <a:bodyPr/>
          <a:lstStyle/>
          <a:p>
            <a:r>
              <a:rPr lang="en-US" dirty="0"/>
              <a:t>Variable</a:t>
            </a:r>
          </a:p>
        </p:txBody>
      </p:sp>
      <p:sp>
        <p:nvSpPr>
          <p:cNvPr id="3" name="Content Placeholder 2">
            <a:extLst>
              <a:ext uri="{FF2B5EF4-FFF2-40B4-BE49-F238E27FC236}">
                <a16:creationId xmlns:a16="http://schemas.microsoft.com/office/drawing/2014/main" id="{75D06623-1C5B-F757-FEDA-E93E9E4DA2FD}"/>
              </a:ext>
            </a:extLst>
          </p:cNvPr>
          <p:cNvSpPr>
            <a:spLocks noGrp="1"/>
          </p:cNvSpPr>
          <p:nvPr>
            <p:ph idx="1"/>
          </p:nvPr>
        </p:nvSpPr>
        <p:spPr/>
        <p:txBody>
          <a:bodyPr>
            <a:normAutofit/>
          </a:bodyPr>
          <a:lstStyle/>
          <a:p>
            <a:pPr eaLnBrk="1" hangingPunct="1">
              <a:buFont typeface="Wingdings" panose="05000000000000000000" pitchFamily="2" charset="2"/>
              <a:buChar char="§"/>
            </a:pPr>
            <a:r>
              <a:rPr lang="en-US" altLang="en-US" sz="2800" dirty="0"/>
              <a:t>To store a value inside a computer a ‘variable’ is used. </a:t>
            </a:r>
          </a:p>
          <a:p>
            <a:pPr eaLnBrk="1" hangingPunct="1">
              <a:buFont typeface="Wingdings" panose="05000000000000000000" pitchFamily="2" charset="2"/>
              <a:buChar char="§"/>
            </a:pPr>
            <a:r>
              <a:rPr lang="en-US" altLang="en-US" sz="2800" dirty="0"/>
              <a:t>A variable is a space in the memory to store a value.</a:t>
            </a:r>
          </a:p>
          <a:p>
            <a:pPr eaLnBrk="1" hangingPunct="1">
              <a:buFont typeface="Wingdings" panose="05000000000000000000" pitchFamily="2" charset="2"/>
              <a:buChar char="§"/>
            </a:pPr>
            <a:r>
              <a:rPr lang="en-US" altLang="en-US" sz="2800" dirty="0"/>
              <a:t>This space is reserved until the variable is required.</a:t>
            </a:r>
            <a:endParaRPr lang="en-US" sz="2800" dirty="0"/>
          </a:p>
        </p:txBody>
      </p:sp>
    </p:spTree>
    <p:extLst>
      <p:ext uri="{BB962C8B-B14F-4D97-AF65-F5344CB8AC3E}">
        <p14:creationId xmlns:p14="http://schemas.microsoft.com/office/powerpoint/2010/main" val="1799971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99B6F-AED2-0B52-593D-0666B0641657}"/>
              </a:ext>
            </a:extLst>
          </p:cNvPr>
          <p:cNvSpPr>
            <a:spLocks noGrp="1"/>
          </p:cNvSpPr>
          <p:nvPr>
            <p:ph type="title"/>
          </p:nvPr>
        </p:nvSpPr>
        <p:spPr/>
        <p:txBody>
          <a:bodyPr/>
          <a:lstStyle/>
          <a:p>
            <a:r>
              <a:rPr lang="en-US" dirty="0"/>
              <a:t>What Makes a Variable?</a:t>
            </a:r>
          </a:p>
        </p:txBody>
      </p:sp>
      <p:sp>
        <p:nvSpPr>
          <p:cNvPr id="4" name="Rectangle 3">
            <a:extLst>
              <a:ext uri="{FF2B5EF4-FFF2-40B4-BE49-F238E27FC236}">
                <a16:creationId xmlns:a16="http://schemas.microsoft.com/office/drawing/2014/main" id="{99BAEB71-CC7A-21E7-B473-7FEE0F220CF6}"/>
              </a:ext>
            </a:extLst>
          </p:cNvPr>
          <p:cNvSpPr>
            <a:spLocks noGrp="1"/>
          </p:cNvSpPr>
          <p:nvPr>
            <p:ph idx="1"/>
          </p:nvPr>
        </p:nvSpPr>
        <p:spPr>
          <a:xfrm>
            <a:off x="1096963" y="1846263"/>
            <a:ext cx="10058400" cy="4022725"/>
          </a:xfrm>
        </p:spPr>
        <p:txBody>
          <a:bodyPr/>
          <a:lstStyle/>
          <a:p>
            <a:pPr eaLnBrk="1" hangingPunct="1">
              <a:lnSpc>
                <a:spcPct val="90000"/>
              </a:lnSpc>
            </a:pPr>
            <a:r>
              <a:rPr lang="en-US" altLang="en-US" sz="2800" dirty="0"/>
              <a:t>Variable has three important characteristics:</a:t>
            </a:r>
          </a:p>
          <a:p>
            <a:pPr lvl="1" eaLnBrk="1" hangingPunct="1">
              <a:lnSpc>
                <a:spcPct val="90000"/>
              </a:lnSpc>
            </a:pPr>
            <a:r>
              <a:rPr lang="en-US" altLang="en-US" sz="2400" dirty="0"/>
              <a:t>Type</a:t>
            </a:r>
          </a:p>
          <a:p>
            <a:pPr lvl="2" eaLnBrk="1" hangingPunct="1">
              <a:lnSpc>
                <a:spcPct val="90000"/>
              </a:lnSpc>
            </a:pPr>
            <a:r>
              <a:rPr lang="en-US" altLang="en-US" sz="2000" dirty="0"/>
              <a:t>How much memory do a variable need. </a:t>
            </a:r>
          </a:p>
          <a:p>
            <a:pPr lvl="3" eaLnBrk="1" hangingPunct="1">
              <a:lnSpc>
                <a:spcPct val="90000"/>
              </a:lnSpc>
            </a:pPr>
            <a:r>
              <a:rPr lang="en-US" altLang="en-US" sz="1800" dirty="0"/>
              <a:t>This information is determined by a type. </a:t>
            </a:r>
          </a:p>
          <a:p>
            <a:pPr lvl="1" eaLnBrk="1" hangingPunct="1">
              <a:lnSpc>
                <a:spcPct val="90000"/>
              </a:lnSpc>
            </a:pPr>
            <a:r>
              <a:rPr lang="en-US" altLang="en-US" sz="2400" dirty="0"/>
              <a:t>Name</a:t>
            </a:r>
          </a:p>
          <a:p>
            <a:pPr lvl="2" eaLnBrk="1" hangingPunct="1">
              <a:lnSpc>
                <a:spcPct val="90000"/>
              </a:lnSpc>
            </a:pPr>
            <a:r>
              <a:rPr lang="en-US" altLang="en-US" sz="2000" dirty="0"/>
              <a:t>How to differentiate a variable with another variable of the same type. </a:t>
            </a:r>
          </a:p>
          <a:p>
            <a:pPr lvl="3" eaLnBrk="1" hangingPunct="1">
              <a:lnSpc>
                <a:spcPct val="90000"/>
              </a:lnSpc>
            </a:pPr>
            <a:r>
              <a:rPr lang="en-US" altLang="en-US" sz="1800" dirty="0"/>
              <a:t>Name refers to the memory location assigned to this variable. </a:t>
            </a:r>
          </a:p>
          <a:p>
            <a:pPr lvl="1" eaLnBrk="1" hangingPunct="1">
              <a:lnSpc>
                <a:spcPct val="90000"/>
              </a:lnSpc>
            </a:pPr>
            <a:r>
              <a:rPr lang="en-US" altLang="en-US" sz="2400" dirty="0"/>
              <a:t>Value</a:t>
            </a:r>
          </a:p>
          <a:p>
            <a:pPr lvl="2" eaLnBrk="1" hangingPunct="1">
              <a:lnSpc>
                <a:spcPct val="90000"/>
              </a:lnSpc>
            </a:pPr>
            <a:r>
              <a:rPr lang="en-US" altLang="en-US" sz="2000" dirty="0"/>
              <a:t>What is the value?</a:t>
            </a:r>
          </a:p>
          <a:p>
            <a:pPr lvl="3" eaLnBrk="1" hangingPunct="1">
              <a:lnSpc>
                <a:spcPct val="90000"/>
              </a:lnSpc>
            </a:pPr>
            <a:r>
              <a:rPr lang="en-US" altLang="en-US" sz="1800" dirty="0"/>
              <a:t>The actual value contained by a variable. </a:t>
            </a:r>
          </a:p>
        </p:txBody>
      </p:sp>
    </p:spTree>
    <p:extLst>
      <p:ext uri="{BB962C8B-B14F-4D97-AF65-F5344CB8AC3E}">
        <p14:creationId xmlns:p14="http://schemas.microsoft.com/office/powerpoint/2010/main" val="1239585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99B6F-AED2-0B52-593D-0666B0641657}"/>
              </a:ext>
            </a:extLst>
          </p:cNvPr>
          <p:cNvSpPr>
            <a:spLocks noGrp="1"/>
          </p:cNvSpPr>
          <p:nvPr>
            <p:ph type="title"/>
          </p:nvPr>
        </p:nvSpPr>
        <p:spPr/>
        <p:txBody>
          <a:bodyPr/>
          <a:lstStyle/>
          <a:p>
            <a:r>
              <a:rPr lang="en-US" dirty="0"/>
              <a:t>An Example of a Variable</a:t>
            </a:r>
          </a:p>
        </p:txBody>
      </p:sp>
      <p:sp>
        <p:nvSpPr>
          <p:cNvPr id="4" name="Rectangle 3">
            <a:extLst>
              <a:ext uri="{FF2B5EF4-FFF2-40B4-BE49-F238E27FC236}">
                <a16:creationId xmlns:a16="http://schemas.microsoft.com/office/drawing/2014/main" id="{24D98F59-D682-E74E-AE70-01BCA5C76EF9}"/>
              </a:ext>
            </a:extLst>
          </p:cNvPr>
          <p:cNvSpPr txBox="1">
            <a:spLocks/>
          </p:cNvSpPr>
          <p:nvPr/>
        </p:nvSpPr>
        <p:spPr>
          <a:xfrm>
            <a:off x="4825588" y="3554097"/>
            <a:ext cx="3581400" cy="6858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Tx/>
              <a:buNone/>
            </a:pPr>
            <a:r>
              <a:rPr lang="en-US" altLang="en-US" sz="2400" dirty="0">
                <a:solidFill>
                  <a:srgbClr val="008000"/>
                </a:solidFill>
              </a:rPr>
              <a:t>                            =</a:t>
            </a:r>
          </a:p>
        </p:txBody>
      </p:sp>
      <p:sp>
        <p:nvSpPr>
          <p:cNvPr id="5" name="Oval 11">
            <a:extLst>
              <a:ext uri="{FF2B5EF4-FFF2-40B4-BE49-F238E27FC236}">
                <a16:creationId xmlns:a16="http://schemas.microsoft.com/office/drawing/2014/main" id="{4DA60400-4D03-BF26-47A4-34E303379754}"/>
              </a:ext>
            </a:extLst>
          </p:cNvPr>
          <p:cNvSpPr>
            <a:spLocks noChangeArrowheads="1"/>
          </p:cNvSpPr>
          <p:nvPr/>
        </p:nvSpPr>
        <p:spPr bwMode="auto">
          <a:xfrm>
            <a:off x="6976241" y="3534103"/>
            <a:ext cx="609600" cy="457200"/>
          </a:xfrm>
          <a:prstGeom prst="ellipse">
            <a:avLst/>
          </a:prstGeom>
          <a:solidFill>
            <a:schemeClr val="bg1"/>
          </a:solidFill>
          <a:ln w="9525">
            <a:solidFill>
              <a:schemeClr val="tx1"/>
            </a:solidFill>
            <a:round/>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35</a:t>
            </a:r>
          </a:p>
        </p:txBody>
      </p:sp>
      <p:sp>
        <p:nvSpPr>
          <p:cNvPr id="6" name="Oval 6">
            <a:extLst>
              <a:ext uri="{FF2B5EF4-FFF2-40B4-BE49-F238E27FC236}">
                <a16:creationId xmlns:a16="http://schemas.microsoft.com/office/drawing/2014/main" id="{BB11E331-E5CC-31A6-4236-6B5C1AE6859A}"/>
              </a:ext>
            </a:extLst>
          </p:cNvPr>
          <p:cNvSpPr>
            <a:spLocks noChangeArrowheads="1"/>
          </p:cNvSpPr>
          <p:nvPr/>
        </p:nvSpPr>
        <p:spPr bwMode="auto">
          <a:xfrm>
            <a:off x="4828000" y="3554453"/>
            <a:ext cx="1828800" cy="457200"/>
          </a:xfrm>
          <a:prstGeom prst="ellipse">
            <a:avLst/>
          </a:prstGeom>
          <a:solidFill>
            <a:schemeClr val="bg1"/>
          </a:solidFill>
          <a:ln w="9525">
            <a:solidFill>
              <a:schemeClr val="tx1"/>
            </a:solidFill>
            <a:round/>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temperature</a:t>
            </a:r>
          </a:p>
        </p:txBody>
      </p:sp>
      <p:sp>
        <p:nvSpPr>
          <p:cNvPr id="7" name="Oval 4">
            <a:extLst>
              <a:ext uri="{FF2B5EF4-FFF2-40B4-BE49-F238E27FC236}">
                <a16:creationId xmlns:a16="http://schemas.microsoft.com/office/drawing/2014/main" id="{667E30D9-C111-8649-4E66-FB6D2281244D}"/>
              </a:ext>
            </a:extLst>
          </p:cNvPr>
          <p:cNvSpPr>
            <a:spLocks noChangeArrowheads="1"/>
          </p:cNvSpPr>
          <p:nvPr/>
        </p:nvSpPr>
        <p:spPr bwMode="auto">
          <a:xfrm>
            <a:off x="4156841" y="3534103"/>
            <a:ext cx="609600" cy="457200"/>
          </a:xfrm>
          <a:prstGeom prst="ellipse">
            <a:avLst/>
          </a:prstGeom>
          <a:solidFill>
            <a:schemeClr val="bg1"/>
          </a:solidFill>
          <a:ln w="9525">
            <a:solidFill>
              <a:schemeClr val="tx1"/>
            </a:solidFill>
            <a:round/>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int</a:t>
            </a:r>
          </a:p>
        </p:txBody>
      </p:sp>
      <p:sp>
        <p:nvSpPr>
          <p:cNvPr id="8" name="Text Box 5">
            <a:extLst>
              <a:ext uri="{FF2B5EF4-FFF2-40B4-BE49-F238E27FC236}">
                <a16:creationId xmlns:a16="http://schemas.microsoft.com/office/drawing/2014/main" id="{8E7298E9-1759-3673-38FA-315C6A2B0653}"/>
              </a:ext>
            </a:extLst>
          </p:cNvPr>
          <p:cNvSpPr txBox="1">
            <a:spLocks noChangeArrowheads="1"/>
          </p:cNvSpPr>
          <p:nvPr/>
        </p:nvSpPr>
        <p:spPr bwMode="auto">
          <a:xfrm>
            <a:off x="2023241" y="2619703"/>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dirty="0">
                <a:solidFill>
                  <a:srgbClr val="FF9900"/>
                </a:solidFill>
                <a:latin typeface="Times New Roman" panose="02020603050405020304" pitchFamily="18" charset="0"/>
              </a:rPr>
              <a:t>Type of the variable is integer (written as “int” in Java)</a:t>
            </a:r>
          </a:p>
        </p:txBody>
      </p:sp>
      <p:sp>
        <p:nvSpPr>
          <p:cNvPr id="9" name="Line 7">
            <a:extLst>
              <a:ext uri="{FF2B5EF4-FFF2-40B4-BE49-F238E27FC236}">
                <a16:creationId xmlns:a16="http://schemas.microsoft.com/office/drawing/2014/main" id="{CA8FA944-96F4-8DDE-0F6B-01DA0DC8A1D0}"/>
              </a:ext>
            </a:extLst>
          </p:cNvPr>
          <p:cNvSpPr>
            <a:spLocks noChangeShapeType="1"/>
          </p:cNvSpPr>
          <p:nvPr/>
        </p:nvSpPr>
        <p:spPr bwMode="auto">
          <a:xfrm>
            <a:off x="4156841" y="3076903"/>
            <a:ext cx="228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Text Box 8">
            <a:extLst>
              <a:ext uri="{FF2B5EF4-FFF2-40B4-BE49-F238E27FC236}">
                <a16:creationId xmlns:a16="http://schemas.microsoft.com/office/drawing/2014/main" id="{8EDE7ED7-466D-7A24-2410-0D55378D0519}"/>
              </a:ext>
            </a:extLst>
          </p:cNvPr>
          <p:cNvSpPr txBox="1">
            <a:spLocks noChangeArrowheads="1"/>
          </p:cNvSpPr>
          <p:nvPr/>
        </p:nvSpPr>
        <p:spPr bwMode="auto">
          <a:xfrm>
            <a:off x="2159766" y="4337378"/>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chemeClr val="accent2"/>
                </a:solidFill>
                <a:latin typeface="Times New Roman" panose="02020603050405020304" pitchFamily="18" charset="0"/>
              </a:rPr>
              <a:t>A name of the variable</a:t>
            </a:r>
          </a:p>
        </p:txBody>
      </p:sp>
      <p:sp>
        <p:nvSpPr>
          <p:cNvPr id="11" name="Line 9">
            <a:extLst>
              <a:ext uri="{FF2B5EF4-FFF2-40B4-BE49-F238E27FC236}">
                <a16:creationId xmlns:a16="http://schemas.microsoft.com/office/drawing/2014/main" id="{FFA2AEE4-E39F-CECA-5429-2AB517AC72D4}"/>
              </a:ext>
            </a:extLst>
          </p:cNvPr>
          <p:cNvSpPr>
            <a:spLocks noChangeShapeType="1"/>
          </p:cNvSpPr>
          <p:nvPr/>
        </p:nvSpPr>
        <p:spPr bwMode="auto">
          <a:xfrm flipV="1">
            <a:off x="4766441" y="3991303"/>
            <a:ext cx="304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Line 12">
            <a:extLst>
              <a:ext uri="{FF2B5EF4-FFF2-40B4-BE49-F238E27FC236}">
                <a16:creationId xmlns:a16="http://schemas.microsoft.com/office/drawing/2014/main" id="{CC17B51D-98A0-C59C-DD2E-26FFE0601890}"/>
              </a:ext>
            </a:extLst>
          </p:cNvPr>
          <p:cNvSpPr>
            <a:spLocks noChangeShapeType="1"/>
          </p:cNvSpPr>
          <p:nvPr/>
        </p:nvSpPr>
        <p:spPr bwMode="auto">
          <a:xfrm flipH="1" flipV="1">
            <a:off x="7204841" y="4067503"/>
            <a:ext cx="152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Text Box 13">
            <a:extLst>
              <a:ext uri="{FF2B5EF4-FFF2-40B4-BE49-F238E27FC236}">
                <a16:creationId xmlns:a16="http://schemas.microsoft.com/office/drawing/2014/main" id="{824A585D-FC5B-3912-A610-86DCB901ED27}"/>
              </a:ext>
            </a:extLst>
          </p:cNvPr>
          <p:cNvSpPr txBox="1">
            <a:spLocks noChangeArrowheads="1"/>
          </p:cNvSpPr>
          <p:nvPr/>
        </p:nvSpPr>
        <p:spPr bwMode="auto">
          <a:xfrm>
            <a:off x="6503166" y="4870778"/>
            <a:ext cx="3910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008000"/>
                </a:solidFill>
                <a:latin typeface="Times New Roman" panose="02020603050405020304" pitchFamily="18" charset="0"/>
              </a:rPr>
              <a:t>An initial value of the variable</a:t>
            </a:r>
          </a:p>
        </p:txBody>
      </p:sp>
    </p:spTree>
    <p:extLst>
      <p:ext uri="{BB962C8B-B14F-4D97-AF65-F5344CB8AC3E}">
        <p14:creationId xmlns:p14="http://schemas.microsoft.com/office/powerpoint/2010/main" val="1039956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99B6F-AED2-0B52-593D-0666B0641657}"/>
              </a:ext>
            </a:extLst>
          </p:cNvPr>
          <p:cNvSpPr>
            <a:spLocks noGrp="1"/>
          </p:cNvSpPr>
          <p:nvPr>
            <p:ph type="title"/>
          </p:nvPr>
        </p:nvSpPr>
        <p:spPr/>
        <p:txBody>
          <a:bodyPr/>
          <a:lstStyle/>
          <a:p>
            <a:r>
              <a:rPr lang="en-US" dirty="0"/>
              <a:t>Rules for naming a variable</a:t>
            </a:r>
          </a:p>
        </p:txBody>
      </p:sp>
      <p:sp>
        <p:nvSpPr>
          <p:cNvPr id="4" name="Content Placeholder 1">
            <a:extLst>
              <a:ext uri="{FF2B5EF4-FFF2-40B4-BE49-F238E27FC236}">
                <a16:creationId xmlns:a16="http://schemas.microsoft.com/office/drawing/2014/main" id="{467A83FF-0E93-8D03-C0EB-89F6ADBDA269}"/>
              </a:ext>
            </a:extLst>
          </p:cNvPr>
          <p:cNvSpPr>
            <a:spLocks noGrp="1"/>
          </p:cNvSpPr>
          <p:nvPr>
            <p:ph idx="1"/>
          </p:nvPr>
        </p:nvSpPr>
        <p:spPr>
          <a:xfrm>
            <a:off x="1096963" y="1846263"/>
            <a:ext cx="10058400" cy="4022725"/>
          </a:xfrm>
        </p:spPr>
        <p:txBody>
          <a:bodyPr>
            <a:normAutofit/>
          </a:bodyPr>
          <a:lstStyle/>
          <a:p>
            <a:pPr>
              <a:buFont typeface="Wingdings 3" panose="05040102010807070707" pitchFamily="18" charset="2"/>
              <a:buNone/>
            </a:pPr>
            <a:r>
              <a:rPr lang="en-US" altLang="en-US" sz="2400" dirty="0"/>
              <a:t>Following are the rules for naming variables:</a:t>
            </a:r>
          </a:p>
          <a:p>
            <a:pPr>
              <a:buFont typeface="Wingdings" panose="05000000000000000000" pitchFamily="2" charset="2"/>
              <a:buChar char="§"/>
            </a:pPr>
            <a:r>
              <a:rPr lang="en-US" altLang="en-US" sz="2400" dirty="0"/>
              <a:t> Variable names in C++ can range from 1 to 255 characters.</a:t>
            </a:r>
          </a:p>
          <a:p>
            <a:pPr>
              <a:buFont typeface="Wingdings" panose="05000000000000000000" pitchFamily="2" charset="2"/>
              <a:buChar char="§"/>
            </a:pPr>
            <a:r>
              <a:rPr lang="en-US" altLang="en-US" sz="2400" dirty="0"/>
              <a:t> All variable names must begin with a letter of the alphabet or an underscore(_).</a:t>
            </a:r>
          </a:p>
          <a:p>
            <a:pPr>
              <a:buFont typeface="Wingdings" panose="05000000000000000000" pitchFamily="2" charset="2"/>
              <a:buChar char="§"/>
            </a:pPr>
            <a:r>
              <a:rPr lang="en-US" altLang="en-US" sz="2400" dirty="0"/>
              <a:t> After the first initial letter, variable names can also contain letters and numbers.  </a:t>
            </a:r>
          </a:p>
          <a:p>
            <a:pPr>
              <a:buFont typeface="Wingdings" panose="05000000000000000000" pitchFamily="2" charset="2"/>
              <a:buChar char="§"/>
            </a:pPr>
            <a:r>
              <a:rPr lang="en-US" altLang="en-US" sz="2400" dirty="0"/>
              <a:t> Variable names are case sensitive.</a:t>
            </a:r>
          </a:p>
          <a:p>
            <a:pPr>
              <a:buFont typeface="Wingdings" panose="05000000000000000000" pitchFamily="2" charset="2"/>
              <a:buChar char="§"/>
            </a:pPr>
            <a:r>
              <a:rPr lang="en-US" altLang="en-US" sz="2400" dirty="0"/>
              <a:t> No spaces or special characters are allowed.</a:t>
            </a:r>
          </a:p>
          <a:p>
            <a:pPr>
              <a:buFont typeface="Wingdings" panose="05000000000000000000" pitchFamily="2" charset="2"/>
              <a:buChar char="§"/>
            </a:pPr>
            <a:r>
              <a:rPr lang="en-US" altLang="en-US" sz="2400" dirty="0"/>
              <a:t> You cannot use a C++ keyword (a reserved word) as a variable name.</a:t>
            </a:r>
          </a:p>
        </p:txBody>
      </p:sp>
    </p:spTree>
    <p:extLst>
      <p:ext uri="{BB962C8B-B14F-4D97-AF65-F5344CB8AC3E}">
        <p14:creationId xmlns:p14="http://schemas.microsoft.com/office/powerpoint/2010/main" val="1048031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99B6F-AED2-0B52-593D-0666B0641657}"/>
              </a:ext>
            </a:extLst>
          </p:cNvPr>
          <p:cNvSpPr>
            <a:spLocks noGrp="1"/>
          </p:cNvSpPr>
          <p:nvPr>
            <p:ph type="title"/>
          </p:nvPr>
        </p:nvSpPr>
        <p:spPr/>
        <p:txBody>
          <a:bodyPr/>
          <a:lstStyle/>
          <a:p>
            <a:r>
              <a:rPr lang="en-US" dirty="0"/>
              <a:t>Some Examples</a:t>
            </a:r>
          </a:p>
        </p:txBody>
      </p:sp>
      <p:sp>
        <p:nvSpPr>
          <p:cNvPr id="3" name="Content Placeholder 2">
            <a:extLst>
              <a:ext uri="{FF2B5EF4-FFF2-40B4-BE49-F238E27FC236}">
                <a16:creationId xmlns:a16="http://schemas.microsoft.com/office/drawing/2014/main" id="{D74FB4C7-1A8D-98CB-448E-C49D8BC72682}"/>
              </a:ext>
            </a:extLst>
          </p:cNvPr>
          <p:cNvSpPr>
            <a:spLocks noGrp="1"/>
          </p:cNvSpPr>
          <p:nvPr>
            <p:ph idx="1"/>
          </p:nvPr>
        </p:nvSpPr>
        <p:spPr/>
        <p:txBody>
          <a:bodyPr/>
          <a:lstStyle/>
          <a:p>
            <a:r>
              <a:rPr lang="en-US" sz="2400" dirty="0"/>
              <a:t>Here are some examples of acceptable variable names:</a:t>
            </a:r>
          </a:p>
          <a:p>
            <a:r>
              <a:rPr lang="en-US" sz="2400" dirty="0"/>
              <a:t>Mohd,        Ali,    </a:t>
            </a:r>
            <a:r>
              <a:rPr lang="en-US" sz="2400" dirty="0" err="1"/>
              <a:t>abc</a:t>
            </a:r>
            <a:r>
              <a:rPr lang="en-US" sz="2400" dirty="0"/>
              <a:t>,    </a:t>
            </a:r>
            <a:r>
              <a:rPr lang="en-US" sz="2400" dirty="0" err="1"/>
              <a:t>move_name</a:t>
            </a:r>
            <a:r>
              <a:rPr lang="en-US" sz="2400" dirty="0"/>
              <a:t>,  a_123, myname50,   _temp,       j,     a23b9,      </a:t>
            </a:r>
            <a:r>
              <a:rPr lang="en-US" sz="2400" dirty="0" err="1"/>
              <a:t>retVal</a:t>
            </a:r>
            <a:endParaRPr lang="en-US" sz="2400" dirty="0"/>
          </a:p>
          <a:p>
            <a:endParaRPr lang="en-US" dirty="0"/>
          </a:p>
        </p:txBody>
      </p:sp>
    </p:spTree>
    <p:extLst>
      <p:ext uri="{BB962C8B-B14F-4D97-AF65-F5344CB8AC3E}">
        <p14:creationId xmlns:p14="http://schemas.microsoft.com/office/powerpoint/2010/main" val="360021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6BFE6063-183E-D157-F99B-9B3F451EF4EE}"/>
              </a:ext>
            </a:extLst>
          </p:cNvPr>
          <p:cNvSpPr>
            <a:spLocks noGrp="1"/>
          </p:cNvSpPr>
          <p:nvPr>
            <p:ph idx="1"/>
          </p:nvPr>
        </p:nvSpPr>
        <p:spPr>
          <a:xfrm>
            <a:off x="1340069" y="1907628"/>
            <a:ext cx="8870731" cy="3913736"/>
          </a:xfrm>
        </p:spPr>
        <p:txBody>
          <a:bodyPr>
            <a:normAutofit fontScale="92500" lnSpcReduction="10000"/>
          </a:bodyPr>
          <a:lstStyle/>
          <a:p>
            <a:pPr eaLnBrk="1" hangingPunct="1"/>
            <a:r>
              <a:rPr lang="en-US" altLang="en-US" sz="2800" dirty="0"/>
              <a:t>Computer programs use data types to organize different types of data in a program. </a:t>
            </a:r>
          </a:p>
          <a:p>
            <a:pPr eaLnBrk="1" hangingPunct="1"/>
            <a:r>
              <a:rPr lang="en-US" altLang="en-US" sz="2800" dirty="0"/>
              <a:t>Among other advantages a ‘type’ binds the memory to a variable name. </a:t>
            </a:r>
          </a:p>
          <a:p>
            <a:pPr eaLnBrk="1" hangingPunct="1"/>
            <a:r>
              <a:rPr lang="en-GB" altLang="en-US" sz="2800" dirty="0"/>
              <a:t>Following data types exist:</a:t>
            </a:r>
          </a:p>
          <a:p>
            <a:pPr lvl="1" eaLnBrk="1" hangingPunct="1"/>
            <a:r>
              <a:rPr lang="en-GB" altLang="en-US" sz="2400" dirty="0"/>
              <a:t>Int</a:t>
            </a:r>
          </a:p>
          <a:p>
            <a:pPr lvl="1" eaLnBrk="1" hangingPunct="1"/>
            <a:r>
              <a:rPr lang="en-GB" altLang="en-US" sz="2400" dirty="0"/>
              <a:t>Float</a:t>
            </a:r>
          </a:p>
          <a:p>
            <a:pPr lvl="1" eaLnBrk="1" hangingPunct="1"/>
            <a:r>
              <a:rPr lang="en-GB" altLang="en-US" sz="2400" dirty="0"/>
              <a:t>Double</a:t>
            </a:r>
          </a:p>
          <a:p>
            <a:pPr lvl="1" eaLnBrk="1" hangingPunct="1"/>
            <a:r>
              <a:rPr lang="en-GB" altLang="en-US" sz="2400" dirty="0"/>
              <a:t>Char</a:t>
            </a:r>
          </a:p>
          <a:p>
            <a:pPr lvl="1" eaLnBrk="1" hangingPunct="1"/>
            <a:r>
              <a:rPr lang="en-GB" altLang="en-US" sz="2400" dirty="0"/>
              <a:t>Boolean</a:t>
            </a:r>
          </a:p>
          <a:p>
            <a:pPr eaLnBrk="1" hangingPunct="1"/>
            <a:endParaRPr lang="en-US" altLang="en-US" dirty="0"/>
          </a:p>
        </p:txBody>
      </p:sp>
      <p:sp>
        <p:nvSpPr>
          <p:cNvPr id="14341" name="Rectangle 2">
            <a:extLst>
              <a:ext uri="{FF2B5EF4-FFF2-40B4-BE49-F238E27FC236}">
                <a16:creationId xmlns:a16="http://schemas.microsoft.com/office/drawing/2014/main" id="{8CB56AEC-04B4-1A88-68A7-70AD314F612C}"/>
              </a:ext>
            </a:extLst>
          </p:cNvPr>
          <p:cNvSpPr>
            <a:spLocks noGrp="1" noChangeArrowheads="1"/>
          </p:cNvSpPr>
          <p:nvPr>
            <p:ph type="title"/>
          </p:nvPr>
        </p:nvSpPr>
        <p:spPr/>
        <p:txBody>
          <a:bodyPr/>
          <a:lstStyle/>
          <a:p>
            <a:pPr>
              <a:defRPr/>
            </a:pPr>
            <a:r>
              <a:rPr lang="en-US" dirty="0"/>
              <a:t>Type of a Variable-Data type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CAE72E57-A38E-6F35-BE22-43978CED209A}"/>
              </a:ext>
            </a:extLst>
          </p:cNvPr>
          <p:cNvSpPr>
            <a:spLocks noGrp="1"/>
          </p:cNvSpPr>
          <p:nvPr>
            <p:ph idx="1"/>
          </p:nvPr>
        </p:nvSpPr>
        <p:spPr>
          <a:xfrm>
            <a:off x="1097279" y="2045435"/>
            <a:ext cx="10058399" cy="4525962"/>
          </a:xfrm>
        </p:spPr>
        <p:txBody>
          <a:bodyPr/>
          <a:lstStyle/>
          <a:p>
            <a:pPr eaLnBrk="1" hangingPunct="1"/>
            <a:r>
              <a:rPr lang="en-US" altLang="en-US" sz="2800" dirty="0"/>
              <a:t>The type int is of </a:t>
            </a:r>
            <a:r>
              <a:rPr lang="en-US" altLang="en-US" sz="2800" b="1" dirty="0"/>
              <a:t>4 bytes </a:t>
            </a:r>
            <a:r>
              <a:rPr lang="en-US" altLang="en-US" sz="2800" dirty="0"/>
              <a:t>(8x4= 32 bits).</a:t>
            </a:r>
          </a:p>
          <a:p>
            <a:pPr eaLnBrk="1" hangingPunct="1"/>
            <a:r>
              <a:rPr lang="en-US" altLang="en-US" sz="2800" dirty="0"/>
              <a:t>Therefore, it can hold maximum of 2,147,483,647 value. </a:t>
            </a:r>
          </a:p>
          <a:p>
            <a:pPr eaLnBrk="1" hangingPunct="1"/>
            <a:r>
              <a:rPr lang="en-US" altLang="en-US" sz="2800" dirty="0"/>
              <a:t>It can also hold values in negative down to</a:t>
            </a:r>
          </a:p>
          <a:p>
            <a:pPr eaLnBrk="1" hangingPunct="1">
              <a:buFont typeface="Wingdings 3" panose="05040102010807070707" pitchFamily="18" charset="2"/>
              <a:buNone/>
            </a:pPr>
            <a:r>
              <a:rPr lang="en-US" altLang="en-US" sz="2800" dirty="0"/>
              <a:t> 	-2,147,483,648.</a:t>
            </a:r>
          </a:p>
          <a:p>
            <a:pPr eaLnBrk="1" hangingPunct="1">
              <a:buFont typeface="Wingdings 3" panose="05040102010807070707" pitchFamily="18" charset="2"/>
              <a:buNone/>
            </a:pPr>
            <a:endParaRPr lang="en-US" altLang="en-US" dirty="0"/>
          </a:p>
          <a:p>
            <a:endParaRPr lang="en-US" altLang="en-US" dirty="0"/>
          </a:p>
        </p:txBody>
      </p:sp>
      <p:sp>
        <p:nvSpPr>
          <p:cNvPr id="3" name="Title 2">
            <a:extLst>
              <a:ext uri="{FF2B5EF4-FFF2-40B4-BE49-F238E27FC236}">
                <a16:creationId xmlns:a16="http://schemas.microsoft.com/office/drawing/2014/main" id="{3F7FA4B2-ED70-0FB2-0819-8F7E012A3A32}"/>
              </a:ext>
            </a:extLst>
          </p:cNvPr>
          <p:cNvSpPr>
            <a:spLocks noGrp="1"/>
          </p:cNvSpPr>
          <p:nvPr>
            <p:ph type="title"/>
          </p:nvPr>
        </p:nvSpPr>
        <p:spPr/>
        <p:txBody>
          <a:bodyPr/>
          <a:lstStyle/>
          <a:p>
            <a:pPr>
              <a:defRPr/>
            </a:pPr>
            <a:r>
              <a:rPr lang="en-US" dirty="0" err="1"/>
              <a:t>Int</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303058E4-573E-A3BA-31E7-E7B202F01864}"/>
              </a:ext>
            </a:extLst>
          </p:cNvPr>
          <p:cNvSpPr>
            <a:spLocks noGrp="1"/>
          </p:cNvSpPr>
          <p:nvPr>
            <p:ph idx="1"/>
          </p:nvPr>
        </p:nvSpPr>
        <p:spPr>
          <a:xfrm>
            <a:off x="1245476" y="1939158"/>
            <a:ext cx="10058400" cy="4067941"/>
          </a:xfrm>
        </p:spPr>
        <p:txBody>
          <a:bodyPr>
            <a:normAutofit/>
          </a:bodyPr>
          <a:lstStyle/>
          <a:p>
            <a:pPr eaLnBrk="1" hangingPunct="1"/>
            <a:r>
              <a:rPr lang="en-US" altLang="en-US" sz="3200" dirty="0">
                <a:solidFill>
                  <a:srgbClr val="FF0000"/>
                </a:solidFill>
              </a:rPr>
              <a:t>int</a:t>
            </a:r>
            <a:r>
              <a:rPr lang="en-US" altLang="en-US" sz="3200" dirty="0"/>
              <a:t> cannot hold a real value.</a:t>
            </a:r>
          </a:p>
          <a:p>
            <a:pPr eaLnBrk="1" hangingPunct="1"/>
            <a:r>
              <a:rPr lang="en-US" altLang="en-US" sz="3200" dirty="0"/>
              <a:t>Therefore, the type “</a:t>
            </a:r>
            <a:r>
              <a:rPr lang="en-US" altLang="en-US" sz="3200" dirty="0">
                <a:solidFill>
                  <a:srgbClr val="FF0000"/>
                </a:solidFill>
              </a:rPr>
              <a:t>float</a:t>
            </a:r>
            <a:r>
              <a:rPr lang="en-US" altLang="en-US" sz="3200" dirty="0"/>
              <a:t>” and “</a:t>
            </a:r>
            <a:r>
              <a:rPr lang="en-US" altLang="en-US" sz="3200" dirty="0">
                <a:solidFill>
                  <a:srgbClr val="FF0000"/>
                </a:solidFill>
              </a:rPr>
              <a:t>double</a:t>
            </a:r>
            <a:r>
              <a:rPr lang="en-US" altLang="en-US" sz="3200" dirty="0"/>
              <a:t>” are used to hold real values. </a:t>
            </a:r>
          </a:p>
          <a:p>
            <a:r>
              <a:rPr lang="en-US" altLang="en-US" sz="3200" dirty="0"/>
              <a:t>A variable of type float holds floating type data or real numbers, e.g., -11.4, 3.1416. </a:t>
            </a:r>
          </a:p>
          <a:p>
            <a:r>
              <a:rPr lang="en-US" altLang="en-US" sz="3200" dirty="0"/>
              <a:t>Float </a:t>
            </a:r>
            <a:r>
              <a:rPr lang="en-US" altLang="en-US" sz="3200" b="1" dirty="0"/>
              <a:t>occupies 4 bytes </a:t>
            </a:r>
            <a:r>
              <a:rPr lang="en-US" altLang="en-US" sz="3200" dirty="0"/>
              <a:t>in memory. </a:t>
            </a:r>
          </a:p>
          <a:p>
            <a:r>
              <a:rPr lang="en-US" altLang="en-US" sz="3200" dirty="0"/>
              <a:t> It can store values in range 3.4 x10^-38 to 3.4x10^38</a:t>
            </a:r>
          </a:p>
        </p:txBody>
      </p:sp>
      <p:sp>
        <p:nvSpPr>
          <p:cNvPr id="3" name="Title 2">
            <a:extLst>
              <a:ext uri="{FF2B5EF4-FFF2-40B4-BE49-F238E27FC236}">
                <a16:creationId xmlns:a16="http://schemas.microsoft.com/office/drawing/2014/main" id="{829725E2-2667-A603-5F84-FB0BCB2FDEE8}"/>
              </a:ext>
            </a:extLst>
          </p:cNvPr>
          <p:cNvSpPr>
            <a:spLocks noGrp="1"/>
          </p:cNvSpPr>
          <p:nvPr>
            <p:ph type="title"/>
          </p:nvPr>
        </p:nvSpPr>
        <p:spPr/>
        <p:txBody>
          <a:bodyPr/>
          <a:lstStyle/>
          <a:p>
            <a:pPr>
              <a:defRPr/>
            </a:pPr>
            <a:r>
              <a:rPr lang="en-US" dirty="0"/>
              <a:t>Data type for real numbers-float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A49BC2B7-BAEF-64D9-065F-4D7125576F10}"/>
              </a:ext>
            </a:extLst>
          </p:cNvPr>
          <p:cNvSpPr>
            <a:spLocks noGrp="1"/>
          </p:cNvSpPr>
          <p:nvPr>
            <p:ph idx="1"/>
          </p:nvPr>
        </p:nvSpPr>
        <p:spPr/>
        <p:txBody>
          <a:bodyPr/>
          <a:lstStyle/>
          <a:p>
            <a:pPr eaLnBrk="1" hangingPunct="1"/>
            <a:r>
              <a:rPr lang="en-US" altLang="en-US" sz="2800" dirty="0"/>
              <a:t>Double takes 8 bytes (8x8=64 bits) of memory instead of 4 bytes of an int. </a:t>
            </a:r>
          </a:p>
          <a:p>
            <a:pPr eaLnBrk="1" hangingPunct="1"/>
            <a:r>
              <a:rPr lang="en-US" altLang="en-US" sz="2800" dirty="0"/>
              <a:t>Out of the 8 bytes in a double 4 bytes are used to hold the value before the decimal point and 4 bytes for the value after the decimal point. </a:t>
            </a:r>
          </a:p>
          <a:p>
            <a:pPr eaLnBrk="1" hangingPunct="1"/>
            <a:endParaRPr lang="en-US" altLang="en-US" sz="2800" dirty="0"/>
          </a:p>
        </p:txBody>
      </p:sp>
      <p:sp>
        <p:nvSpPr>
          <p:cNvPr id="15365" name="Rectangle 2">
            <a:extLst>
              <a:ext uri="{FF2B5EF4-FFF2-40B4-BE49-F238E27FC236}">
                <a16:creationId xmlns:a16="http://schemas.microsoft.com/office/drawing/2014/main" id="{7FB6F7C9-65E3-53CD-1BE1-0FEA73AB0427}"/>
              </a:ext>
            </a:extLst>
          </p:cNvPr>
          <p:cNvSpPr>
            <a:spLocks noGrp="1" noChangeArrowheads="1"/>
          </p:cNvSpPr>
          <p:nvPr>
            <p:ph type="title"/>
          </p:nvPr>
        </p:nvSpPr>
        <p:spPr/>
        <p:txBody>
          <a:bodyPr>
            <a:normAutofit/>
          </a:bodyPr>
          <a:lstStyle/>
          <a:p>
            <a:pPr>
              <a:defRPr/>
            </a:pPr>
            <a:r>
              <a:rPr lang="en-US" dirty="0"/>
              <a:t>Data type for real numbers-double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9">
            <a:extLst>
              <a:ext uri="{FF2B5EF4-FFF2-40B4-BE49-F238E27FC236}">
                <a16:creationId xmlns:a16="http://schemas.microsoft.com/office/drawing/2014/main" id="{AE8952F2-F32A-77AB-EBE7-5866712DD8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791201" y="1981200"/>
            <a:ext cx="2195513" cy="3989388"/>
          </a:xfrm>
          <a:noFill/>
        </p:spPr>
      </p:pic>
      <p:sp>
        <p:nvSpPr>
          <p:cNvPr id="16389" name="Rectangle 2">
            <a:extLst>
              <a:ext uri="{FF2B5EF4-FFF2-40B4-BE49-F238E27FC236}">
                <a16:creationId xmlns:a16="http://schemas.microsoft.com/office/drawing/2014/main" id="{C7103E5C-24CE-5BA6-9E84-375A70063CBE}"/>
              </a:ext>
            </a:extLst>
          </p:cNvPr>
          <p:cNvSpPr>
            <a:spLocks noGrp="1" noChangeArrowheads="1"/>
          </p:cNvSpPr>
          <p:nvPr>
            <p:ph type="title"/>
          </p:nvPr>
        </p:nvSpPr>
        <p:spPr>
          <a:xfrm>
            <a:off x="1981200" y="609600"/>
            <a:ext cx="8382000" cy="1143000"/>
          </a:xfrm>
        </p:spPr>
        <p:txBody>
          <a:bodyPr>
            <a:normAutofit/>
          </a:bodyPr>
          <a:lstStyle/>
          <a:p>
            <a:pPr>
              <a:defRPr/>
            </a:pPr>
            <a:r>
              <a:rPr lang="en-US" sz="4000"/>
              <a:t>Relative Comparison of int and double</a:t>
            </a:r>
          </a:p>
        </p:txBody>
      </p:sp>
      <p:sp>
        <p:nvSpPr>
          <p:cNvPr id="30724" name="Text Box 6">
            <a:extLst>
              <a:ext uri="{FF2B5EF4-FFF2-40B4-BE49-F238E27FC236}">
                <a16:creationId xmlns:a16="http://schemas.microsoft.com/office/drawing/2014/main" id="{3FAB16D8-A2D5-E45E-5E22-0FA3647EC552}"/>
              </a:ext>
            </a:extLst>
          </p:cNvPr>
          <p:cNvSpPr txBox="1">
            <a:spLocks noChangeArrowheads="1"/>
          </p:cNvSpPr>
          <p:nvPr/>
        </p:nvSpPr>
        <p:spPr bwMode="auto">
          <a:xfrm>
            <a:off x="2743201" y="1905001"/>
            <a:ext cx="2811463" cy="1812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latin typeface="Times New Roman" panose="02020603050405020304" pitchFamily="18" charset="0"/>
              </a:rPr>
              <a:t>int numPeople = 2;</a:t>
            </a:r>
          </a:p>
          <a:p>
            <a:pPr eaLnBrk="1" hangingPunct="1">
              <a:spcBef>
                <a:spcPct val="0"/>
              </a:spcBef>
              <a:buClrTx/>
              <a:buSzTx/>
              <a:buFontTx/>
              <a:buNone/>
            </a:pPr>
            <a:endParaRPr lang="en-US" altLang="en-US" sz="1600">
              <a:latin typeface="Times New Roman" panose="02020603050405020304" pitchFamily="18" charset="0"/>
            </a:endParaRPr>
          </a:p>
          <a:p>
            <a:pPr eaLnBrk="1" hangingPunct="1">
              <a:spcBef>
                <a:spcPct val="0"/>
              </a:spcBef>
              <a:buClrTx/>
              <a:buSzTx/>
              <a:buFontTx/>
              <a:buNone/>
            </a:pPr>
            <a:r>
              <a:rPr lang="en-US" altLang="en-US" sz="1600">
                <a:latin typeface="Times New Roman" panose="02020603050405020304" pitchFamily="18" charset="0"/>
              </a:rPr>
              <a:t>Reserves 32 bits (4 bytes)</a:t>
            </a:r>
          </a:p>
          <a:p>
            <a:pPr eaLnBrk="1" hangingPunct="1">
              <a:spcBef>
                <a:spcPct val="0"/>
              </a:spcBef>
              <a:buClrTx/>
              <a:buSzTx/>
              <a:buFontTx/>
              <a:buNone/>
            </a:pPr>
            <a:r>
              <a:rPr lang="en-US" altLang="en-US" sz="1600">
                <a:latin typeface="Times New Roman" panose="02020603050405020304" pitchFamily="18" charset="0"/>
              </a:rPr>
              <a:t>and sets the value stored</a:t>
            </a:r>
          </a:p>
          <a:p>
            <a:pPr eaLnBrk="1" hangingPunct="1">
              <a:spcBef>
                <a:spcPct val="0"/>
              </a:spcBef>
              <a:buClrTx/>
              <a:buSzTx/>
              <a:buFontTx/>
              <a:buNone/>
            </a:pPr>
            <a:r>
              <a:rPr lang="en-US" altLang="en-US" sz="1600">
                <a:latin typeface="Times New Roman" panose="02020603050405020304" pitchFamily="18" charset="0"/>
              </a:rPr>
              <a:t>in that space to 2. The name</a:t>
            </a:r>
          </a:p>
          <a:p>
            <a:pPr eaLnBrk="1" hangingPunct="1">
              <a:spcBef>
                <a:spcPct val="0"/>
              </a:spcBef>
              <a:buClrTx/>
              <a:buSzTx/>
              <a:buFontTx/>
              <a:buNone/>
            </a:pPr>
            <a:r>
              <a:rPr lang="en-US" altLang="en-US" sz="1600">
                <a:latin typeface="Times New Roman" panose="02020603050405020304" pitchFamily="18" charset="0"/>
              </a:rPr>
              <a:t>‘numPeople’ is associated with</a:t>
            </a:r>
          </a:p>
          <a:p>
            <a:pPr eaLnBrk="1" hangingPunct="1">
              <a:spcBef>
                <a:spcPct val="0"/>
              </a:spcBef>
              <a:buClrTx/>
              <a:buSzTx/>
              <a:buFontTx/>
              <a:buNone/>
            </a:pPr>
            <a:r>
              <a:rPr lang="en-US" altLang="en-US" sz="1600">
                <a:latin typeface="Times New Roman" panose="02020603050405020304" pitchFamily="18" charset="0"/>
              </a:rPr>
              <a:t>this space. </a:t>
            </a:r>
          </a:p>
        </p:txBody>
      </p:sp>
      <p:sp>
        <p:nvSpPr>
          <p:cNvPr id="30725" name="Text Box 7">
            <a:extLst>
              <a:ext uri="{FF2B5EF4-FFF2-40B4-BE49-F238E27FC236}">
                <a16:creationId xmlns:a16="http://schemas.microsoft.com/office/drawing/2014/main" id="{60FCB122-A8FE-ACEB-E658-846F986C7985}"/>
              </a:ext>
            </a:extLst>
          </p:cNvPr>
          <p:cNvSpPr txBox="1">
            <a:spLocks noChangeArrowheads="1"/>
          </p:cNvSpPr>
          <p:nvPr/>
        </p:nvSpPr>
        <p:spPr bwMode="auto">
          <a:xfrm>
            <a:off x="2727325" y="3871913"/>
            <a:ext cx="2840038" cy="205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latin typeface="Times New Roman" panose="02020603050405020304" pitchFamily="18" charset="0"/>
              </a:rPr>
              <a:t>double bill = 32.45;</a:t>
            </a:r>
          </a:p>
          <a:p>
            <a:pPr eaLnBrk="1" hangingPunct="1">
              <a:spcBef>
                <a:spcPct val="0"/>
              </a:spcBef>
              <a:buClrTx/>
              <a:buSzTx/>
              <a:buFontTx/>
              <a:buNone/>
            </a:pPr>
            <a:endParaRPr lang="en-US" altLang="en-US" sz="1600">
              <a:latin typeface="Times New Roman" panose="02020603050405020304" pitchFamily="18" charset="0"/>
            </a:endParaRPr>
          </a:p>
          <a:p>
            <a:pPr eaLnBrk="1" hangingPunct="1">
              <a:spcBef>
                <a:spcPct val="0"/>
              </a:spcBef>
              <a:buClrTx/>
              <a:buSzTx/>
              <a:buFontTx/>
              <a:buNone/>
            </a:pPr>
            <a:r>
              <a:rPr lang="en-US" altLang="en-US" sz="1600">
                <a:latin typeface="Times New Roman" panose="02020603050405020304" pitchFamily="18" charset="0"/>
              </a:rPr>
              <a:t>Reserves 64 bits (8 bytes)</a:t>
            </a:r>
          </a:p>
          <a:p>
            <a:pPr eaLnBrk="1" hangingPunct="1">
              <a:spcBef>
                <a:spcPct val="0"/>
              </a:spcBef>
              <a:buClrTx/>
              <a:buSzTx/>
              <a:buFontTx/>
              <a:buNone/>
            </a:pPr>
            <a:r>
              <a:rPr lang="en-US" altLang="en-US" sz="1600">
                <a:latin typeface="Times New Roman" panose="02020603050405020304" pitchFamily="18" charset="0"/>
              </a:rPr>
              <a:t>and sets the value stored</a:t>
            </a:r>
          </a:p>
          <a:p>
            <a:pPr eaLnBrk="1" hangingPunct="1">
              <a:spcBef>
                <a:spcPct val="0"/>
              </a:spcBef>
              <a:buClrTx/>
              <a:buSzTx/>
              <a:buFontTx/>
              <a:buNone/>
            </a:pPr>
            <a:r>
              <a:rPr lang="en-US" altLang="en-US" sz="1600">
                <a:latin typeface="Times New Roman" panose="02020603050405020304" pitchFamily="18" charset="0"/>
              </a:rPr>
              <a:t>in that space to 32.45. The name</a:t>
            </a:r>
          </a:p>
          <a:p>
            <a:pPr eaLnBrk="1" hangingPunct="1">
              <a:spcBef>
                <a:spcPct val="0"/>
              </a:spcBef>
              <a:buClrTx/>
              <a:buSzTx/>
              <a:buFontTx/>
              <a:buNone/>
            </a:pPr>
            <a:r>
              <a:rPr lang="en-US" altLang="en-US" sz="1600">
                <a:latin typeface="Times New Roman" panose="02020603050405020304" pitchFamily="18" charset="0"/>
              </a:rPr>
              <a:t>‘bill’ is associated with</a:t>
            </a:r>
          </a:p>
          <a:p>
            <a:pPr eaLnBrk="1" hangingPunct="1">
              <a:spcBef>
                <a:spcPct val="0"/>
              </a:spcBef>
              <a:buClrTx/>
              <a:buSzTx/>
              <a:buFontTx/>
              <a:buNone/>
            </a:pPr>
            <a:r>
              <a:rPr lang="en-US" altLang="en-US" sz="1600">
                <a:latin typeface="Times New Roman" panose="02020603050405020304" pitchFamily="18" charset="0"/>
              </a:rPr>
              <a:t>this space. </a:t>
            </a:r>
          </a:p>
          <a:p>
            <a:pPr eaLnBrk="1" hangingPunct="1">
              <a:spcBef>
                <a:spcPct val="0"/>
              </a:spcBef>
              <a:buClrTx/>
              <a:buSzTx/>
              <a:buFontTx/>
              <a:buNone/>
            </a:pPr>
            <a:endParaRPr lang="en-US" altLang="en-US" sz="160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2F7E93D0-FBB4-3CB9-ECEA-6EE65AFA2FB9}"/>
              </a:ext>
            </a:extLst>
          </p:cNvPr>
          <p:cNvSpPr>
            <a:spLocks noGrp="1"/>
          </p:cNvSpPr>
          <p:nvPr>
            <p:ph idx="1"/>
          </p:nvPr>
        </p:nvSpPr>
        <p:spPr>
          <a:xfrm>
            <a:off x="1097280" y="1970690"/>
            <a:ext cx="9113520" cy="3926874"/>
          </a:xfrm>
        </p:spPr>
        <p:txBody>
          <a:bodyPr/>
          <a:lstStyle/>
          <a:p>
            <a:r>
              <a:rPr lang="en-US" altLang="en-US" sz="2400" dirty="0"/>
              <a:t>A variable of type char holds only a single lower case letter, a single uppercase letter, a single digit or a single special character (e.g., $ or *).</a:t>
            </a:r>
          </a:p>
          <a:p>
            <a:r>
              <a:rPr lang="en-US" altLang="en-US" sz="2400" dirty="0"/>
              <a:t> char takes only 1 byte (8 bits) in memory.</a:t>
            </a:r>
          </a:p>
          <a:p>
            <a:r>
              <a:rPr lang="en-US" altLang="en-US" sz="2400" dirty="0"/>
              <a:t> It can store values from -128 to 127.</a:t>
            </a:r>
          </a:p>
          <a:p>
            <a:r>
              <a:rPr lang="en-GB" altLang="en-US" sz="2400" dirty="0"/>
              <a:t> Collection of characters=&gt; string</a:t>
            </a:r>
            <a:endParaRPr lang="en-US" altLang="en-US" dirty="0"/>
          </a:p>
        </p:txBody>
      </p:sp>
      <p:sp>
        <p:nvSpPr>
          <p:cNvPr id="3" name="Title 2">
            <a:extLst>
              <a:ext uri="{FF2B5EF4-FFF2-40B4-BE49-F238E27FC236}">
                <a16:creationId xmlns:a16="http://schemas.microsoft.com/office/drawing/2014/main" id="{01AD9D87-4FE3-AB40-EE75-7136B2420E0C}"/>
              </a:ext>
            </a:extLst>
          </p:cNvPr>
          <p:cNvSpPr>
            <a:spLocks noGrp="1"/>
          </p:cNvSpPr>
          <p:nvPr>
            <p:ph type="title"/>
          </p:nvPr>
        </p:nvSpPr>
        <p:spPr/>
        <p:txBody>
          <a:bodyPr/>
          <a:lstStyle/>
          <a:p>
            <a:pPr>
              <a:defRPr/>
            </a:pPr>
            <a:r>
              <a:rPr lang="en-US" dirty="0"/>
              <a:t>Char Data Type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93226E95-2053-C322-A7CA-94272E23C838}"/>
              </a:ext>
            </a:extLst>
          </p:cNvPr>
          <p:cNvSpPr>
            <a:spLocks noGrp="1"/>
          </p:cNvSpPr>
          <p:nvPr>
            <p:ph idx="1"/>
          </p:nvPr>
        </p:nvSpPr>
        <p:spPr/>
        <p:txBody>
          <a:bodyPr>
            <a:normAutofit/>
          </a:bodyPr>
          <a:lstStyle/>
          <a:p>
            <a:r>
              <a:rPr lang="en-US" altLang="en-US" sz="2800" dirty="0"/>
              <a:t>Java has a simple type, called </a:t>
            </a:r>
            <a:r>
              <a:rPr lang="en-US" altLang="en-US" sz="2800" dirty="0" err="1"/>
              <a:t>boolean</a:t>
            </a:r>
            <a:r>
              <a:rPr lang="en-US" altLang="en-US" sz="2800" dirty="0"/>
              <a:t>, for logical values.</a:t>
            </a:r>
          </a:p>
          <a:p>
            <a:r>
              <a:rPr lang="en-US" altLang="en-US" sz="2800" dirty="0"/>
              <a:t>It can have only one of two possible values, true or false. </a:t>
            </a:r>
          </a:p>
          <a:p>
            <a:r>
              <a:rPr lang="en-US" altLang="en-US" sz="2800" dirty="0"/>
              <a:t>This is the type returned by all relational operators, </a:t>
            </a:r>
            <a:r>
              <a:rPr lang="en-US" altLang="en-US" sz="2800" dirty="0" err="1"/>
              <a:t>suchas</a:t>
            </a:r>
            <a:r>
              <a:rPr lang="en-US" altLang="en-US" sz="2800" dirty="0"/>
              <a:t> </a:t>
            </a:r>
            <a:r>
              <a:rPr lang="en-US" altLang="en-US" sz="2800" b="1" dirty="0"/>
              <a:t>a &lt; b</a:t>
            </a:r>
            <a:r>
              <a:rPr lang="en-US" altLang="en-US" sz="2800" dirty="0"/>
              <a:t>.</a:t>
            </a:r>
          </a:p>
          <a:p>
            <a:r>
              <a:rPr lang="en-US" altLang="en-US" sz="2800" dirty="0" err="1"/>
              <a:t>boolean</a:t>
            </a:r>
            <a:r>
              <a:rPr lang="en-US" altLang="en-US" sz="2800" dirty="0"/>
              <a:t> is also the type </a:t>
            </a:r>
            <a:r>
              <a:rPr lang="en-US" altLang="en-US" sz="2800" i="1" dirty="0"/>
              <a:t>required by the conditional expressions that govern the </a:t>
            </a:r>
            <a:r>
              <a:rPr lang="en-US" altLang="en-US" sz="2800" dirty="0"/>
              <a:t>control statements such as </a:t>
            </a:r>
            <a:r>
              <a:rPr lang="en-US" altLang="en-US" sz="2800" dirty="0">
                <a:solidFill>
                  <a:srgbClr val="FF0000"/>
                </a:solidFill>
              </a:rPr>
              <a:t>if</a:t>
            </a:r>
            <a:r>
              <a:rPr lang="en-US" altLang="en-US" sz="2800" dirty="0"/>
              <a:t> and </a:t>
            </a:r>
            <a:r>
              <a:rPr lang="en-US" altLang="en-US" sz="2800" dirty="0">
                <a:solidFill>
                  <a:srgbClr val="FF0000"/>
                </a:solidFill>
              </a:rPr>
              <a:t>for</a:t>
            </a:r>
            <a:r>
              <a:rPr lang="en-US" altLang="en-US" sz="2800" dirty="0"/>
              <a:t>.</a:t>
            </a:r>
          </a:p>
        </p:txBody>
      </p:sp>
      <p:sp>
        <p:nvSpPr>
          <p:cNvPr id="3" name="Title 2">
            <a:extLst>
              <a:ext uri="{FF2B5EF4-FFF2-40B4-BE49-F238E27FC236}">
                <a16:creationId xmlns:a16="http://schemas.microsoft.com/office/drawing/2014/main" id="{4154AF61-8B5A-E788-B4B6-9C7C392EE796}"/>
              </a:ext>
            </a:extLst>
          </p:cNvPr>
          <p:cNvSpPr>
            <a:spLocks noGrp="1"/>
          </p:cNvSpPr>
          <p:nvPr>
            <p:ph type="title"/>
          </p:nvPr>
        </p:nvSpPr>
        <p:spPr/>
        <p:txBody>
          <a:bodyPr/>
          <a:lstStyle/>
          <a:p>
            <a:pPr>
              <a:defRPr/>
            </a:pPr>
            <a:r>
              <a:rPr lang="en-US" dirty="0"/>
              <a:t>Boolean Data Type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0E1D9C16-9864-5326-9782-B1DCC8290829}"/>
              </a:ext>
            </a:extLst>
          </p:cNvPr>
          <p:cNvSpPr>
            <a:spLocks noGrp="1"/>
          </p:cNvSpPr>
          <p:nvPr>
            <p:ph idx="1"/>
          </p:nvPr>
        </p:nvSpPr>
        <p:spPr>
          <a:xfrm>
            <a:off x="1097280" y="1845734"/>
            <a:ext cx="10058400" cy="4365880"/>
          </a:xfrm>
        </p:spPr>
        <p:txBody>
          <a:bodyPr>
            <a:normAutofit fontScale="70000" lnSpcReduction="20000"/>
          </a:bodyPr>
          <a:lstStyle/>
          <a:p>
            <a:r>
              <a:rPr lang="en-GB" altLang="en-US" sz="3200" dirty="0"/>
              <a:t>Variable in a computer program is declared as:</a:t>
            </a:r>
          </a:p>
          <a:p>
            <a:pPr>
              <a:buFont typeface="Wingdings 3" panose="05040102010807070707" pitchFamily="18" charset="2"/>
              <a:buNone/>
            </a:pPr>
            <a:r>
              <a:rPr lang="en-US" altLang="en-US" sz="3200" dirty="0"/>
              <a:t>     datatype </a:t>
            </a:r>
            <a:r>
              <a:rPr lang="en-US" altLang="en-US" sz="3200" dirty="0" err="1"/>
              <a:t>variable_name</a:t>
            </a:r>
            <a:r>
              <a:rPr lang="en-US" altLang="en-US" sz="3200" dirty="0"/>
              <a:t>;</a:t>
            </a:r>
          </a:p>
          <a:p>
            <a:pPr>
              <a:buFont typeface="Wingdings 3" panose="05040102010807070707" pitchFamily="18" charset="2"/>
              <a:buNone/>
            </a:pPr>
            <a:r>
              <a:rPr lang="en-GB" altLang="en-US" sz="3200" dirty="0"/>
              <a:t>     For example: int var;</a:t>
            </a:r>
          </a:p>
          <a:p>
            <a:pPr>
              <a:buFont typeface="Wingdings 3" panose="05040102010807070707" pitchFamily="18" charset="2"/>
              <a:buNone/>
            </a:pPr>
            <a:r>
              <a:rPr lang="en-GB" altLang="en-US" sz="3200" dirty="0"/>
              <a:t>                           float var;</a:t>
            </a:r>
          </a:p>
          <a:p>
            <a:pPr>
              <a:buFont typeface="Wingdings 3" panose="05040102010807070707" pitchFamily="18" charset="2"/>
              <a:buNone/>
            </a:pPr>
            <a:endParaRPr lang="en-GB" altLang="en-US" sz="3200" dirty="0"/>
          </a:p>
          <a:p>
            <a:pPr lvl="1">
              <a:buFont typeface="Wingdings 3" panose="05040102010807070707" pitchFamily="18" charset="2"/>
              <a:buNone/>
            </a:pPr>
            <a:r>
              <a:rPr lang="en-GB" altLang="en-US" sz="3200" dirty="0"/>
              <a:t>Variables can also be assigned values as:</a:t>
            </a:r>
          </a:p>
          <a:p>
            <a:pPr lvl="1">
              <a:buFont typeface="Wingdings 3" panose="05040102010807070707" pitchFamily="18" charset="2"/>
              <a:buNone/>
            </a:pPr>
            <a:r>
              <a:rPr lang="en-US" altLang="en-US" sz="3200" dirty="0"/>
              <a:t>datatype </a:t>
            </a:r>
            <a:r>
              <a:rPr lang="en-US" altLang="en-US" sz="3200" dirty="0" err="1"/>
              <a:t>variable_name</a:t>
            </a:r>
            <a:r>
              <a:rPr lang="en-US" altLang="en-US" sz="3200" dirty="0"/>
              <a:t>= value;</a:t>
            </a:r>
            <a:endParaRPr lang="en-GB" altLang="en-US" sz="3200" dirty="0"/>
          </a:p>
          <a:p>
            <a:pPr lvl="1">
              <a:buFont typeface="Wingdings 3" panose="05040102010807070707" pitchFamily="18" charset="2"/>
              <a:buNone/>
            </a:pPr>
            <a:r>
              <a:rPr lang="en-GB" altLang="en-US" sz="3200" dirty="0"/>
              <a:t>For example: int var=8;</a:t>
            </a:r>
          </a:p>
          <a:p>
            <a:pPr lvl="1">
              <a:buFont typeface="Wingdings 3" panose="05040102010807070707" pitchFamily="18" charset="2"/>
              <a:buNone/>
            </a:pPr>
            <a:r>
              <a:rPr lang="en-GB" altLang="en-US" sz="3200" dirty="0"/>
              <a:t>float var=4.5;</a:t>
            </a:r>
          </a:p>
          <a:p>
            <a:pPr lvl="1">
              <a:buFont typeface="Wingdings 3" panose="05040102010807070707" pitchFamily="18" charset="2"/>
              <a:buNone/>
            </a:pPr>
            <a:r>
              <a:rPr lang="en-GB" altLang="en-US" sz="3200" dirty="0"/>
              <a:t>double var=23.4556;</a:t>
            </a:r>
          </a:p>
          <a:p>
            <a:pPr lvl="1">
              <a:buFont typeface="Wingdings 3" panose="05040102010807070707" pitchFamily="18" charset="2"/>
              <a:buNone/>
            </a:pPr>
            <a:r>
              <a:rPr lang="en-GB" altLang="en-US" sz="3200" dirty="0"/>
              <a:t>char var=‘a’;</a:t>
            </a:r>
          </a:p>
          <a:p>
            <a:pPr lvl="1">
              <a:buFont typeface="Wingdings 3" panose="05040102010807070707" pitchFamily="18" charset="2"/>
              <a:buNone/>
            </a:pPr>
            <a:r>
              <a:rPr lang="en-US" altLang="en-US" sz="3200" dirty="0"/>
              <a:t>string str1 = "Hello";</a:t>
            </a:r>
            <a:endParaRPr lang="en-GB" altLang="en-US" sz="3200" dirty="0"/>
          </a:p>
          <a:p>
            <a:pPr>
              <a:buFont typeface="Wingdings 3" panose="05040102010807070707" pitchFamily="18" charset="2"/>
              <a:buNone/>
            </a:pPr>
            <a:endParaRPr lang="en-US" altLang="en-US" sz="1800" dirty="0"/>
          </a:p>
        </p:txBody>
      </p:sp>
      <p:sp>
        <p:nvSpPr>
          <p:cNvPr id="3" name="Title 2">
            <a:extLst>
              <a:ext uri="{FF2B5EF4-FFF2-40B4-BE49-F238E27FC236}">
                <a16:creationId xmlns:a16="http://schemas.microsoft.com/office/drawing/2014/main" id="{2E28FFC7-D214-BFC4-8305-AD338272BE7C}"/>
              </a:ext>
            </a:extLst>
          </p:cNvPr>
          <p:cNvSpPr>
            <a:spLocks noGrp="1"/>
          </p:cNvSpPr>
          <p:nvPr>
            <p:ph type="title"/>
          </p:nvPr>
        </p:nvSpPr>
        <p:spPr/>
        <p:txBody>
          <a:bodyPr/>
          <a:lstStyle/>
          <a:p>
            <a:pPr>
              <a:defRPr/>
            </a:pPr>
            <a:r>
              <a:rPr lang="en-GB" dirty="0"/>
              <a:t>Variable declarations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14C5E2-DAAA-B597-CE8B-C570ACA948A5}"/>
              </a:ext>
            </a:extLst>
          </p:cNvPr>
          <p:cNvSpPr>
            <a:spLocks noGrp="1"/>
          </p:cNvSpPr>
          <p:nvPr>
            <p:ph idx="1"/>
          </p:nvPr>
        </p:nvSpPr>
        <p:spPr/>
        <p:txBody>
          <a:bodyPr/>
          <a:lstStyle/>
          <a:p>
            <a:pPr lvl="1" eaLnBrk="1" hangingPunct="1">
              <a:buFont typeface="Arial" pitchFamily="34" charset="0"/>
              <a:buChar char="•"/>
              <a:defRPr/>
            </a:pPr>
            <a:endParaRPr lang="en-US" dirty="0"/>
          </a:p>
          <a:p>
            <a:pPr lvl="1" eaLnBrk="1" hangingPunct="1">
              <a:buFont typeface="Arial" pitchFamily="34" charset="0"/>
              <a:buChar char="•"/>
              <a:defRPr/>
            </a:pPr>
            <a:r>
              <a:rPr lang="en-US" sz="2400" dirty="0"/>
              <a:t>Assignment</a:t>
            </a:r>
          </a:p>
          <a:p>
            <a:pPr lvl="1" eaLnBrk="1" hangingPunct="1">
              <a:buFont typeface="Verdana" panose="020B0604030504040204" pitchFamily="34" charset="0"/>
              <a:buNone/>
              <a:defRPr/>
            </a:pPr>
            <a:r>
              <a:rPr lang="en-US" sz="2400" dirty="0"/>
              <a:t>A binary operator ‘=’:</a:t>
            </a:r>
          </a:p>
          <a:p>
            <a:pPr marL="365760" indent="-256032">
              <a:spcAft>
                <a:spcPts val="0"/>
              </a:spcAft>
              <a:buNone/>
              <a:defRPr/>
            </a:pPr>
            <a:r>
              <a:rPr lang="en-US" sz="2800" b="1" dirty="0"/>
              <a:t>   variable = expression;</a:t>
            </a:r>
          </a:p>
          <a:p>
            <a:pPr marL="365760" indent="-256032">
              <a:spcAft>
                <a:spcPts val="0"/>
              </a:spcAft>
              <a:buNone/>
              <a:defRPr/>
            </a:pPr>
            <a:r>
              <a:rPr lang="en-GB" sz="2800" b="1" dirty="0"/>
              <a:t>    e.g. x=x+1</a:t>
            </a:r>
          </a:p>
          <a:p>
            <a:pPr marL="365760" indent="-256032">
              <a:spcAft>
                <a:spcPts val="0"/>
              </a:spcAft>
              <a:buNone/>
              <a:defRPr/>
            </a:pPr>
            <a:endParaRPr lang="en-US" sz="2800" dirty="0"/>
          </a:p>
          <a:p>
            <a:pPr lvl="1" eaLnBrk="1" hangingPunct="1">
              <a:buFont typeface="Arial" pitchFamily="34" charset="0"/>
              <a:buChar char="•"/>
              <a:defRPr/>
            </a:pPr>
            <a:r>
              <a:rPr lang="en-US" sz="2400" dirty="0"/>
              <a:t>Arithmetic</a:t>
            </a:r>
          </a:p>
          <a:p>
            <a:pPr lvl="1" eaLnBrk="1" hangingPunct="1">
              <a:buFont typeface="Verdana" panose="020B0604030504040204" pitchFamily="34" charset="0"/>
              <a:buNone/>
              <a:defRPr/>
            </a:pPr>
            <a:r>
              <a:rPr lang="en-GB" sz="2400" dirty="0"/>
              <a:t>Used to compute arithmetic expressions e.g. ‘+’, ‘-’, ‘*’, ‘/’, ‘%’.</a:t>
            </a:r>
          </a:p>
          <a:p>
            <a:pPr lvl="1" eaLnBrk="1" hangingPunct="1">
              <a:buFont typeface="Verdana" panose="020B0604030504040204" pitchFamily="34" charset="0"/>
              <a:buNone/>
              <a:defRPr/>
            </a:pPr>
            <a:endParaRPr lang="en-US" sz="2400" dirty="0"/>
          </a:p>
          <a:p>
            <a:pPr>
              <a:defRPr/>
            </a:pPr>
            <a:endParaRPr lang="en-US" dirty="0"/>
          </a:p>
        </p:txBody>
      </p:sp>
      <p:sp>
        <p:nvSpPr>
          <p:cNvPr id="3" name="Title 2">
            <a:extLst>
              <a:ext uri="{FF2B5EF4-FFF2-40B4-BE49-F238E27FC236}">
                <a16:creationId xmlns:a16="http://schemas.microsoft.com/office/drawing/2014/main" id="{15ACDF91-4664-3590-B9D5-FDE862E9E397}"/>
              </a:ext>
            </a:extLst>
          </p:cNvPr>
          <p:cNvSpPr>
            <a:spLocks noGrp="1"/>
          </p:cNvSpPr>
          <p:nvPr>
            <p:ph type="title"/>
          </p:nvPr>
        </p:nvSpPr>
        <p:spPr/>
        <p:txBody>
          <a:bodyPr>
            <a:normAutofit/>
          </a:bodyPr>
          <a:lstStyle/>
          <a:p>
            <a:pPr>
              <a:defRPr/>
            </a:pPr>
            <a:r>
              <a:rPr lang="en-GB" dirty="0"/>
              <a:t>Operators used in Computer Programming</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167AA0F9-3773-C2F7-1824-D7B5F94E0BDF}"/>
              </a:ext>
            </a:extLst>
          </p:cNvPr>
          <p:cNvSpPr>
            <a:spLocks noGrp="1"/>
          </p:cNvSpPr>
          <p:nvPr>
            <p:ph idx="1"/>
          </p:nvPr>
        </p:nvSpPr>
        <p:spPr/>
        <p:txBody>
          <a:bodyPr/>
          <a:lstStyle/>
          <a:p>
            <a:pPr eaLnBrk="1" hangingPunct="1"/>
            <a:r>
              <a:rPr lang="en-US" altLang="en-US" sz="2800" dirty="0"/>
              <a:t>Two unary operators:</a:t>
            </a:r>
          </a:p>
          <a:p>
            <a:pPr lvl="2" eaLnBrk="1" hangingPunct="1">
              <a:buFont typeface="Wingdings 2" panose="05020102010507070707" pitchFamily="18" charset="2"/>
              <a:buNone/>
            </a:pPr>
            <a:r>
              <a:rPr lang="en-US" altLang="en-US" sz="1800" dirty="0"/>
              <a:t>1) ++ increments its operand by 1</a:t>
            </a:r>
          </a:p>
          <a:p>
            <a:pPr lvl="2" eaLnBrk="1" hangingPunct="1">
              <a:buFont typeface="Wingdings 2" panose="05020102010507070707" pitchFamily="18" charset="2"/>
              <a:buNone/>
            </a:pPr>
            <a:r>
              <a:rPr lang="en-US" altLang="en-US" sz="1800" dirty="0"/>
              <a:t>2) -- decrements its operand by 1</a:t>
            </a:r>
          </a:p>
          <a:p>
            <a:pPr eaLnBrk="1" hangingPunct="1"/>
            <a:r>
              <a:rPr lang="en-US" altLang="en-US" sz="2800" dirty="0"/>
              <a:t>The operand must be a numerical variable.</a:t>
            </a:r>
          </a:p>
          <a:p>
            <a:pPr eaLnBrk="1" hangingPunct="1"/>
            <a:r>
              <a:rPr lang="en-US" altLang="en-US" sz="2800" dirty="0"/>
              <a:t>Each operation can appear in two versions:</a:t>
            </a:r>
          </a:p>
          <a:p>
            <a:pPr lvl="1" eaLnBrk="1" hangingPunct="1">
              <a:buFont typeface="Verdana" panose="020B0604030504040204" pitchFamily="34" charset="0"/>
              <a:buNone/>
            </a:pPr>
            <a:r>
              <a:rPr lang="en-US" altLang="en-US" sz="2400" dirty="0"/>
              <a:t>• </a:t>
            </a:r>
            <a:r>
              <a:rPr lang="en-US" altLang="en-US" sz="2400" b="1" dirty="0"/>
              <a:t>prefix</a:t>
            </a:r>
            <a:r>
              <a:rPr lang="en-US" altLang="en-US" sz="2400" dirty="0"/>
              <a:t> version evaluates the value of the operand after</a:t>
            </a:r>
          </a:p>
          <a:p>
            <a:pPr lvl="1" eaLnBrk="1" hangingPunct="1">
              <a:buFont typeface="Verdana" panose="020B0604030504040204" pitchFamily="34" charset="0"/>
              <a:buNone/>
            </a:pPr>
            <a:r>
              <a:rPr lang="en-US" altLang="en-US" sz="2400" dirty="0"/>
              <a:t>  performing the increment/decrement operation</a:t>
            </a:r>
          </a:p>
          <a:p>
            <a:pPr lvl="1" eaLnBrk="1" hangingPunct="1">
              <a:buFont typeface="Verdana" panose="020B0604030504040204" pitchFamily="34" charset="0"/>
              <a:buNone/>
            </a:pPr>
            <a:r>
              <a:rPr lang="en-US" altLang="en-US" sz="2400" dirty="0"/>
              <a:t>• </a:t>
            </a:r>
            <a:r>
              <a:rPr lang="en-US" altLang="en-US" sz="2400" b="1" dirty="0"/>
              <a:t>postfix</a:t>
            </a:r>
            <a:r>
              <a:rPr lang="en-US" altLang="en-US" sz="2400" dirty="0"/>
              <a:t> version evaluates the value of the operand before</a:t>
            </a:r>
          </a:p>
          <a:p>
            <a:pPr lvl="1" eaLnBrk="1" hangingPunct="1">
              <a:buFont typeface="Verdana" panose="020B0604030504040204" pitchFamily="34" charset="0"/>
              <a:buNone/>
            </a:pPr>
            <a:r>
              <a:rPr lang="en-US" altLang="en-US" sz="2400" dirty="0"/>
              <a:t>  performing the increment/decrement operation</a:t>
            </a:r>
            <a:endParaRPr lang="en-US" altLang="en-US" dirty="0"/>
          </a:p>
        </p:txBody>
      </p:sp>
      <p:sp>
        <p:nvSpPr>
          <p:cNvPr id="3" name="Title 2">
            <a:extLst>
              <a:ext uri="{FF2B5EF4-FFF2-40B4-BE49-F238E27FC236}">
                <a16:creationId xmlns:a16="http://schemas.microsoft.com/office/drawing/2014/main" id="{E966BC02-2E82-0B3D-1551-32F891A8CA17}"/>
              </a:ext>
            </a:extLst>
          </p:cNvPr>
          <p:cNvSpPr>
            <a:spLocks noGrp="1"/>
          </p:cNvSpPr>
          <p:nvPr>
            <p:ph type="title"/>
          </p:nvPr>
        </p:nvSpPr>
        <p:spPr>
          <a:xfrm>
            <a:off x="1981200" y="274638"/>
            <a:ext cx="8686800" cy="1143000"/>
          </a:xfrm>
        </p:spPr>
        <p:txBody>
          <a:bodyPr/>
          <a:lstStyle/>
          <a:p>
            <a:pPr>
              <a:defRPr/>
            </a:pPr>
            <a:r>
              <a:rPr lang="en-US" dirty="0"/>
              <a:t>Increment/ Decrement Operators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a:extLst>
              <a:ext uri="{FF2B5EF4-FFF2-40B4-BE49-F238E27FC236}">
                <a16:creationId xmlns:a16="http://schemas.microsoft.com/office/drawing/2014/main" id="{E1FCE2AC-10B9-C1B4-CC3E-08564A8C72F2}"/>
              </a:ext>
            </a:extLst>
          </p:cNvPr>
          <p:cNvSpPr>
            <a:spLocks noGrp="1"/>
          </p:cNvSpPr>
          <p:nvPr>
            <p:ph idx="1"/>
          </p:nvPr>
        </p:nvSpPr>
        <p:spPr/>
        <p:txBody>
          <a:bodyPr>
            <a:normAutofit/>
          </a:bodyPr>
          <a:lstStyle/>
          <a:p>
            <a:pPr eaLnBrk="1" hangingPunct="1"/>
            <a:r>
              <a:rPr lang="en-US" altLang="en-US" sz="2800" dirty="0"/>
              <a:t>Relational operators determine the relationship that one operand has to the other operand, specifically equality and ordering.</a:t>
            </a:r>
          </a:p>
          <a:p>
            <a:pPr eaLnBrk="1" hangingPunct="1"/>
            <a:r>
              <a:rPr lang="en-US" altLang="en-US" sz="2800" dirty="0"/>
              <a:t>The outcome is always a value of type </a:t>
            </a:r>
            <a:r>
              <a:rPr lang="en-US" altLang="en-US" sz="2800" b="1" dirty="0" err="1"/>
              <a:t>boolean</a:t>
            </a:r>
            <a:r>
              <a:rPr lang="en-US" altLang="en-US" sz="2800" dirty="0"/>
              <a:t>.</a:t>
            </a:r>
          </a:p>
          <a:p>
            <a:pPr eaLnBrk="1" hangingPunct="1"/>
            <a:r>
              <a:rPr lang="en-US" altLang="en-US" sz="2800" dirty="0"/>
              <a:t>They are most often used in branching and loop control statements.</a:t>
            </a:r>
          </a:p>
          <a:p>
            <a:pPr eaLnBrk="1" hangingPunct="1"/>
            <a:r>
              <a:rPr lang="en-GB" altLang="en-US" sz="2800" dirty="0"/>
              <a:t>e.g. ‘==’, ‘!=’, ‘&gt;’, ‘&lt;’, ‘&gt;=’, ‘&lt;=’ </a:t>
            </a:r>
            <a:endParaRPr lang="en-US" altLang="en-US" sz="2800" dirty="0"/>
          </a:p>
        </p:txBody>
      </p:sp>
      <p:sp>
        <p:nvSpPr>
          <p:cNvPr id="3" name="Title 2">
            <a:extLst>
              <a:ext uri="{FF2B5EF4-FFF2-40B4-BE49-F238E27FC236}">
                <a16:creationId xmlns:a16="http://schemas.microsoft.com/office/drawing/2014/main" id="{CB7EDDC2-5CC4-40D7-E094-40244D913CC7}"/>
              </a:ext>
            </a:extLst>
          </p:cNvPr>
          <p:cNvSpPr>
            <a:spLocks noGrp="1"/>
          </p:cNvSpPr>
          <p:nvPr>
            <p:ph type="title"/>
          </p:nvPr>
        </p:nvSpPr>
        <p:spPr/>
        <p:txBody>
          <a:bodyPr/>
          <a:lstStyle/>
          <a:p>
            <a:pPr>
              <a:defRPr/>
            </a:pPr>
            <a:r>
              <a:rPr lang="en-US" dirty="0"/>
              <a:t>Relational Operator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1">
            <a:extLst>
              <a:ext uri="{FF2B5EF4-FFF2-40B4-BE49-F238E27FC236}">
                <a16:creationId xmlns:a16="http://schemas.microsoft.com/office/drawing/2014/main" id="{031A4142-42AC-56A5-0DA9-E0120CD3BEB3}"/>
              </a:ext>
            </a:extLst>
          </p:cNvPr>
          <p:cNvSpPr>
            <a:spLocks noGrp="1"/>
          </p:cNvSpPr>
          <p:nvPr>
            <p:ph idx="1"/>
          </p:nvPr>
        </p:nvSpPr>
        <p:spPr/>
        <p:txBody>
          <a:bodyPr>
            <a:normAutofit/>
          </a:bodyPr>
          <a:lstStyle/>
          <a:p>
            <a:pPr eaLnBrk="1" hangingPunct="1"/>
            <a:r>
              <a:rPr lang="en-US" altLang="en-US" sz="3200" dirty="0"/>
              <a:t>Logical operators act upon </a:t>
            </a:r>
            <a:r>
              <a:rPr lang="en-US" altLang="en-US" sz="3200" dirty="0" err="1"/>
              <a:t>boolean</a:t>
            </a:r>
            <a:r>
              <a:rPr lang="en-US" altLang="en-US" sz="3200" dirty="0"/>
              <a:t> operands only.</a:t>
            </a:r>
          </a:p>
          <a:p>
            <a:pPr eaLnBrk="1" hangingPunct="1"/>
            <a:r>
              <a:rPr lang="en-US" altLang="en-US" sz="3200" dirty="0"/>
              <a:t>The outcome is always a value of type </a:t>
            </a:r>
            <a:r>
              <a:rPr lang="en-US" altLang="en-US" sz="3200" dirty="0" err="1"/>
              <a:t>boolean</a:t>
            </a:r>
            <a:r>
              <a:rPr lang="en-US" altLang="en-US" sz="3200" dirty="0"/>
              <a:t>.</a:t>
            </a:r>
          </a:p>
          <a:p>
            <a:pPr eaLnBrk="1" hangingPunct="1"/>
            <a:r>
              <a:rPr lang="en-GB" altLang="en-US" sz="3200" dirty="0"/>
              <a:t>E.g. AND(&amp;), OR(|), NOT(!), XOR(^).</a:t>
            </a:r>
            <a:endParaRPr lang="en-US" altLang="en-US" sz="3200" dirty="0"/>
          </a:p>
        </p:txBody>
      </p:sp>
      <p:sp>
        <p:nvSpPr>
          <p:cNvPr id="3" name="Title 2">
            <a:extLst>
              <a:ext uri="{FF2B5EF4-FFF2-40B4-BE49-F238E27FC236}">
                <a16:creationId xmlns:a16="http://schemas.microsoft.com/office/drawing/2014/main" id="{6ED3E236-4B47-FE9D-E81F-22E54DC63511}"/>
              </a:ext>
            </a:extLst>
          </p:cNvPr>
          <p:cNvSpPr>
            <a:spLocks noGrp="1"/>
          </p:cNvSpPr>
          <p:nvPr>
            <p:ph type="title"/>
          </p:nvPr>
        </p:nvSpPr>
        <p:spPr/>
        <p:txBody>
          <a:bodyPr/>
          <a:lstStyle/>
          <a:p>
            <a:pPr>
              <a:defRPr/>
            </a:pPr>
            <a:r>
              <a:rPr lang="en-US" dirty="0"/>
              <a:t>Logical Operators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73CD58F0-F8AE-999F-BFA0-04829B3498DD}"/>
              </a:ext>
            </a:extLst>
          </p:cNvPr>
          <p:cNvSpPr>
            <a:spLocks noGrp="1"/>
          </p:cNvSpPr>
          <p:nvPr>
            <p:ph idx="1"/>
          </p:nvPr>
        </p:nvSpPr>
        <p:spPr/>
        <p:txBody>
          <a:bodyPr>
            <a:normAutofit/>
          </a:bodyPr>
          <a:lstStyle/>
          <a:p>
            <a:pPr eaLnBrk="1" hangingPunct="1"/>
            <a:r>
              <a:rPr lang="en-US" altLang="en-US" sz="2400" dirty="0"/>
              <a:t>Writing a program means typing statements into a file.</a:t>
            </a:r>
          </a:p>
          <a:p>
            <a:pPr eaLnBrk="1" hangingPunct="1"/>
            <a:r>
              <a:rPr lang="en-US" altLang="en-US" sz="2400" dirty="0"/>
              <a:t>Without control flow, the interpreter would execute these statements in the order they appear in the file, left-to-right, top-down.</a:t>
            </a:r>
          </a:p>
          <a:p>
            <a:pPr eaLnBrk="1" hangingPunct="1"/>
            <a:r>
              <a:rPr lang="en-US" altLang="en-US" sz="2400" dirty="0"/>
              <a:t>Control flow statements, when inserted into the text of the program, determine in which order the program should be executed.</a:t>
            </a:r>
          </a:p>
        </p:txBody>
      </p:sp>
      <p:sp>
        <p:nvSpPr>
          <p:cNvPr id="2" name="Title 1">
            <a:extLst>
              <a:ext uri="{FF2B5EF4-FFF2-40B4-BE49-F238E27FC236}">
                <a16:creationId xmlns:a16="http://schemas.microsoft.com/office/drawing/2014/main" id="{C4510C0D-19F4-F5D0-E668-4EB3BBAF2560}"/>
              </a:ext>
            </a:extLst>
          </p:cNvPr>
          <p:cNvSpPr>
            <a:spLocks noGrp="1"/>
          </p:cNvSpPr>
          <p:nvPr>
            <p:ph type="title"/>
          </p:nvPr>
        </p:nvSpPr>
        <p:spPr/>
        <p:txBody>
          <a:bodyPr/>
          <a:lstStyle/>
          <a:p>
            <a:pPr>
              <a:defRPr/>
            </a:pPr>
            <a:r>
              <a:rPr lang="en-US" dirty="0"/>
              <a:t>Control Flow</a:t>
            </a:r>
          </a:p>
        </p:txBody>
      </p:sp>
      <p:pic>
        <p:nvPicPr>
          <p:cNvPr id="40964" name="Picture 4" descr="C:\Users\unknown\Desktop\Untitled.png">
            <a:extLst>
              <a:ext uri="{FF2B5EF4-FFF2-40B4-BE49-F238E27FC236}">
                <a16:creationId xmlns:a16="http://schemas.microsoft.com/office/drawing/2014/main" id="{2FC05D52-E6DD-D546-0E48-AF31379F2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7196" y="3996268"/>
            <a:ext cx="3886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1">
            <a:extLst>
              <a:ext uri="{FF2B5EF4-FFF2-40B4-BE49-F238E27FC236}">
                <a16:creationId xmlns:a16="http://schemas.microsoft.com/office/drawing/2014/main" id="{AA9BA032-096C-9262-2884-84996E63FE66}"/>
              </a:ext>
            </a:extLst>
          </p:cNvPr>
          <p:cNvSpPr>
            <a:spLocks noGrp="1"/>
          </p:cNvSpPr>
          <p:nvPr>
            <p:ph idx="1"/>
          </p:nvPr>
        </p:nvSpPr>
        <p:spPr>
          <a:xfrm>
            <a:off x="1206759" y="1816360"/>
            <a:ext cx="8229600" cy="4525963"/>
          </a:xfrm>
        </p:spPr>
        <p:txBody>
          <a:bodyPr>
            <a:normAutofit lnSpcReduction="10000"/>
          </a:bodyPr>
          <a:lstStyle/>
          <a:p>
            <a:r>
              <a:rPr lang="en-GB" altLang="en-US" dirty="0"/>
              <a:t>Selection statements</a:t>
            </a:r>
          </a:p>
          <a:p>
            <a:pPr lvl="1" eaLnBrk="1" hangingPunct="1"/>
            <a:r>
              <a:rPr lang="en-US" altLang="en-US" dirty="0"/>
              <a:t>if</a:t>
            </a:r>
          </a:p>
          <a:p>
            <a:pPr lvl="1" eaLnBrk="1" hangingPunct="1"/>
            <a:r>
              <a:rPr lang="en-US" altLang="en-US" dirty="0"/>
              <a:t>if-else</a:t>
            </a:r>
          </a:p>
          <a:p>
            <a:pPr lvl="1" eaLnBrk="1" hangingPunct="1"/>
            <a:r>
              <a:rPr lang="en-US" altLang="en-US" dirty="0"/>
              <a:t>if-else-if</a:t>
            </a:r>
          </a:p>
          <a:p>
            <a:pPr lvl="1" eaLnBrk="1" hangingPunct="1"/>
            <a:r>
              <a:rPr lang="en-US" altLang="en-US" dirty="0"/>
              <a:t>switch</a:t>
            </a:r>
            <a:endParaRPr lang="en-GB" altLang="en-US" dirty="0"/>
          </a:p>
          <a:p>
            <a:r>
              <a:rPr lang="en-GB" altLang="en-US" dirty="0"/>
              <a:t>Iteration Statements</a:t>
            </a:r>
          </a:p>
          <a:p>
            <a:pPr lvl="1"/>
            <a:r>
              <a:rPr lang="en-GB" altLang="en-US" dirty="0"/>
              <a:t>While</a:t>
            </a:r>
          </a:p>
          <a:p>
            <a:pPr lvl="1"/>
            <a:r>
              <a:rPr lang="en-GB" altLang="en-US" dirty="0"/>
              <a:t>Do-while</a:t>
            </a:r>
          </a:p>
          <a:p>
            <a:pPr lvl="1"/>
            <a:r>
              <a:rPr lang="en-GB" altLang="en-US" dirty="0"/>
              <a:t>For</a:t>
            </a:r>
          </a:p>
          <a:p>
            <a:r>
              <a:rPr lang="en-GB" altLang="en-US" dirty="0"/>
              <a:t>Jump Statements</a:t>
            </a:r>
          </a:p>
          <a:p>
            <a:pPr lvl="1"/>
            <a:r>
              <a:rPr lang="en-GB" altLang="en-US" dirty="0"/>
              <a:t>break</a:t>
            </a:r>
          </a:p>
          <a:p>
            <a:pPr lvl="1"/>
            <a:r>
              <a:rPr lang="en-GB" altLang="en-US" dirty="0"/>
              <a:t>return</a:t>
            </a:r>
          </a:p>
          <a:p>
            <a:pPr lvl="1"/>
            <a:r>
              <a:rPr lang="en-GB" altLang="en-US" dirty="0"/>
              <a:t>continue</a:t>
            </a:r>
          </a:p>
          <a:p>
            <a:pPr lvl="1"/>
            <a:endParaRPr lang="en-GB" altLang="en-US" dirty="0"/>
          </a:p>
          <a:p>
            <a:pPr lvl="1"/>
            <a:endParaRPr lang="en-GB" altLang="en-US" dirty="0"/>
          </a:p>
        </p:txBody>
      </p:sp>
      <p:sp>
        <p:nvSpPr>
          <p:cNvPr id="3" name="Title 2">
            <a:extLst>
              <a:ext uri="{FF2B5EF4-FFF2-40B4-BE49-F238E27FC236}">
                <a16:creationId xmlns:a16="http://schemas.microsoft.com/office/drawing/2014/main" id="{CC1F61F4-9BA8-3FD5-8601-2AEF40A51CEA}"/>
              </a:ext>
            </a:extLst>
          </p:cNvPr>
          <p:cNvSpPr>
            <a:spLocks noGrp="1"/>
          </p:cNvSpPr>
          <p:nvPr>
            <p:ph type="title"/>
          </p:nvPr>
        </p:nvSpPr>
        <p:spPr>
          <a:xfrm>
            <a:off x="1486678" y="387221"/>
            <a:ext cx="8229600" cy="1143000"/>
          </a:xfrm>
        </p:spPr>
        <p:txBody>
          <a:bodyPr>
            <a:normAutofit/>
          </a:bodyPr>
          <a:lstStyle/>
          <a:p>
            <a:pPr>
              <a:defRPr/>
            </a:pPr>
            <a:r>
              <a:rPr lang="en-GB" dirty="0"/>
              <a:t>Types of control flow statements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ABD6CEA5-586B-2262-4E2D-B56A62969528}"/>
              </a:ext>
            </a:extLst>
          </p:cNvPr>
          <p:cNvSpPr>
            <a:spLocks noGrp="1"/>
          </p:cNvSpPr>
          <p:nvPr>
            <p:ph idx="1"/>
          </p:nvPr>
        </p:nvSpPr>
        <p:spPr/>
        <p:txBody>
          <a:bodyPr/>
          <a:lstStyle/>
          <a:p>
            <a:pPr eaLnBrk="1" hangingPunct="1"/>
            <a:r>
              <a:rPr lang="en-US" altLang="en-US" sz="2800" dirty="0"/>
              <a:t>The component statement may be:</a:t>
            </a:r>
          </a:p>
          <a:p>
            <a:pPr lvl="1" eaLnBrk="1" hangingPunct="1"/>
            <a:r>
              <a:rPr lang="en-US" altLang="en-US" sz="2400" dirty="0"/>
              <a:t>simple</a:t>
            </a:r>
          </a:p>
          <a:p>
            <a:pPr lvl="2" eaLnBrk="1" hangingPunct="1"/>
            <a:r>
              <a:rPr lang="en-US" altLang="en-US" sz="1800" dirty="0"/>
              <a:t>if (expression) statement;</a:t>
            </a:r>
          </a:p>
          <a:p>
            <a:pPr lvl="1" eaLnBrk="1" hangingPunct="1"/>
            <a:r>
              <a:rPr lang="en-US" altLang="en-US" sz="2400" dirty="0"/>
              <a:t>compound</a:t>
            </a:r>
          </a:p>
          <a:p>
            <a:pPr lvl="2" eaLnBrk="1" hangingPunct="1"/>
            <a:r>
              <a:rPr lang="en-US" altLang="en-US" sz="1800" dirty="0"/>
              <a:t>if (expression) {</a:t>
            </a:r>
          </a:p>
          <a:p>
            <a:pPr lvl="2" eaLnBrk="1" hangingPunct="1">
              <a:buFont typeface="Wingdings 2" panose="05020102010507070707" pitchFamily="18" charset="2"/>
              <a:buNone/>
            </a:pPr>
            <a:r>
              <a:rPr lang="en-US" altLang="en-US" sz="1800" dirty="0"/>
              <a:t>   statement;</a:t>
            </a:r>
          </a:p>
          <a:p>
            <a:pPr lvl="2" eaLnBrk="1" hangingPunct="1">
              <a:buFont typeface="Wingdings 2" panose="05020102010507070707" pitchFamily="18" charset="2"/>
              <a:buNone/>
            </a:pPr>
            <a:r>
              <a:rPr lang="en-US" altLang="en-US" sz="1800" dirty="0"/>
              <a:t>   }</a:t>
            </a:r>
            <a:endParaRPr lang="en-US" altLang="en-US" dirty="0"/>
          </a:p>
        </p:txBody>
      </p:sp>
      <p:sp>
        <p:nvSpPr>
          <p:cNvPr id="3" name="Title 2">
            <a:extLst>
              <a:ext uri="{FF2B5EF4-FFF2-40B4-BE49-F238E27FC236}">
                <a16:creationId xmlns:a16="http://schemas.microsoft.com/office/drawing/2014/main" id="{BA99B3B4-68FA-C3FC-7469-CE3DA10F7893}"/>
              </a:ext>
            </a:extLst>
          </p:cNvPr>
          <p:cNvSpPr>
            <a:spLocks noGrp="1"/>
          </p:cNvSpPr>
          <p:nvPr>
            <p:ph type="title"/>
          </p:nvPr>
        </p:nvSpPr>
        <p:spPr/>
        <p:txBody>
          <a:bodyPr/>
          <a:lstStyle/>
          <a:p>
            <a:pPr>
              <a:defRPr/>
            </a:pPr>
            <a:r>
              <a:rPr lang="en-US" dirty="0"/>
              <a:t>Simple/Compound if statements</a:t>
            </a:r>
          </a:p>
        </p:txBody>
      </p:sp>
      <p:pic>
        <p:nvPicPr>
          <p:cNvPr id="43012" name="Picture 4">
            <a:extLst>
              <a:ext uri="{FF2B5EF4-FFF2-40B4-BE49-F238E27FC236}">
                <a16:creationId xmlns:a16="http://schemas.microsoft.com/office/drawing/2014/main" id="{5E880F00-03CC-9644-4847-5D8737BE8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438400"/>
            <a:ext cx="523875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028E6FAD-8960-B8F3-50F5-5E2D9E75A397}"/>
              </a:ext>
            </a:extLst>
          </p:cNvPr>
          <p:cNvSpPr>
            <a:spLocks noGrp="1"/>
          </p:cNvSpPr>
          <p:nvPr>
            <p:ph idx="1"/>
          </p:nvPr>
        </p:nvSpPr>
        <p:spPr/>
        <p:txBody>
          <a:bodyPr/>
          <a:lstStyle/>
          <a:p>
            <a:pPr eaLnBrk="1" hangingPunct="1"/>
            <a:r>
              <a:rPr lang="en-US" altLang="en-US"/>
              <a:t>Suppose you want to perform two different statements depending on the outcome of a boolean expression. if-else statement can be used.</a:t>
            </a:r>
          </a:p>
          <a:p>
            <a:pPr eaLnBrk="1" hangingPunct="1"/>
            <a:r>
              <a:rPr lang="en-US" altLang="en-US"/>
              <a:t>General form:</a:t>
            </a:r>
          </a:p>
          <a:p>
            <a:pPr lvl="1" eaLnBrk="1" hangingPunct="1"/>
            <a:r>
              <a:rPr lang="en-US" altLang="en-US"/>
              <a:t>if (expression) statement1</a:t>
            </a:r>
          </a:p>
          <a:p>
            <a:pPr lvl="1" eaLnBrk="1" hangingPunct="1">
              <a:buFont typeface="Verdana" panose="020B0604030504040204" pitchFamily="34" charset="0"/>
              <a:buNone/>
            </a:pPr>
            <a:r>
              <a:rPr lang="en-US" altLang="en-US"/>
              <a:t>   else statement2</a:t>
            </a:r>
          </a:p>
          <a:p>
            <a:pPr eaLnBrk="1" hangingPunct="1"/>
            <a:r>
              <a:rPr lang="en-US" altLang="en-US"/>
              <a:t>Again, statement1 and </a:t>
            </a:r>
          </a:p>
          <a:p>
            <a:pPr eaLnBrk="1" hangingPunct="1">
              <a:buFont typeface="Wingdings 3" panose="05040102010807070707" pitchFamily="18" charset="2"/>
              <a:buNone/>
            </a:pPr>
            <a:r>
              <a:rPr lang="en-US" altLang="en-US"/>
              <a:t>statement2 may be simple </a:t>
            </a:r>
          </a:p>
          <a:p>
            <a:pPr eaLnBrk="1" hangingPunct="1">
              <a:buFont typeface="Wingdings 3" panose="05040102010807070707" pitchFamily="18" charset="2"/>
              <a:buNone/>
            </a:pPr>
            <a:r>
              <a:rPr lang="en-US" altLang="en-US"/>
              <a:t>or compound.</a:t>
            </a:r>
          </a:p>
        </p:txBody>
      </p:sp>
      <p:sp>
        <p:nvSpPr>
          <p:cNvPr id="3" name="Title 2">
            <a:extLst>
              <a:ext uri="{FF2B5EF4-FFF2-40B4-BE49-F238E27FC236}">
                <a16:creationId xmlns:a16="http://schemas.microsoft.com/office/drawing/2014/main" id="{53426EEB-3E85-38A3-5FBD-98F79EABA7EE}"/>
              </a:ext>
            </a:extLst>
          </p:cNvPr>
          <p:cNvSpPr>
            <a:spLocks noGrp="1"/>
          </p:cNvSpPr>
          <p:nvPr>
            <p:ph type="title"/>
          </p:nvPr>
        </p:nvSpPr>
        <p:spPr/>
        <p:txBody>
          <a:bodyPr/>
          <a:lstStyle/>
          <a:p>
            <a:pPr>
              <a:defRPr/>
            </a:pPr>
            <a:r>
              <a:rPr lang="en-US" dirty="0"/>
              <a:t>If-else statement</a:t>
            </a:r>
          </a:p>
        </p:txBody>
      </p:sp>
      <p:pic>
        <p:nvPicPr>
          <p:cNvPr id="44036" name="Picture 4">
            <a:extLst>
              <a:ext uri="{FF2B5EF4-FFF2-40B4-BE49-F238E27FC236}">
                <a16:creationId xmlns:a16="http://schemas.microsoft.com/office/drawing/2014/main" id="{D3884644-27D8-CEB8-C007-DD10B08BF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1" y="2743200"/>
            <a:ext cx="41306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a:extLst>
              <a:ext uri="{FF2B5EF4-FFF2-40B4-BE49-F238E27FC236}">
                <a16:creationId xmlns:a16="http://schemas.microsoft.com/office/drawing/2014/main" id="{ABD8122F-F36E-395A-9BD8-F361B6C95506}"/>
              </a:ext>
            </a:extLst>
          </p:cNvPr>
          <p:cNvSpPr>
            <a:spLocks noGrp="1"/>
          </p:cNvSpPr>
          <p:nvPr>
            <p:ph idx="1"/>
          </p:nvPr>
        </p:nvSpPr>
        <p:spPr/>
        <p:txBody>
          <a:bodyPr/>
          <a:lstStyle/>
          <a:p>
            <a:pPr eaLnBrk="1" hangingPunct="1"/>
            <a:r>
              <a:rPr lang="en-US" altLang="en-US" dirty="0"/>
              <a:t>General form:</a:t>
            </a:r>
          </a:p>
          <a:p>
            <a:pPr lvl="1" eaLnBrk="1" hangingPunct="1"/>
            <a:r>
              <a:rPr lang="en-US" altLang="en-US" dirty="0"/>
              <a:t>if (expression1) </a:t>
            </a:r>
          </a:p>
          <a:p>
            <a:pPr marL="201168" lvl="1" indent="0" eaLnBrk="1" hangingPunct="1">
              <a:buNone/>
            </a:pPr>
            <a:r>
              <a:rPr lang="en-US" altLang="en-US" dirty="0"/>
              <a:t>	statement1</a:t>
            </a:r>
          </a:p>
          <a:p>
            <a:pPr lvl="1" eaLnBrk="1" hangingPunct="1">
              <a:buFont typeface="Verdana" panose="020B0604030504040204" pitchFamily="34" charset="0"/>
              <a:buNone/>
            </a:pPr>
            <a:r>
              <a:rPr lang="en-US" altLang="en-US" dirty="0"/>
              <a:t>   else if (expression2) </a:t>
            </a:r>
          </a:p>
          <a:p>
            <a:pPr lvl="1" eaLnBrk="1" hangingPunct="1">
              <a:buFont typeface="Verdana" panose="020B0604030504040204" pitchFamily="34" charset="0"/>
              <a:buNone/>
            </a:pPr>
            <a:r>
              <a:rPr lang="en-US" altLang="en-US" dirty="0"/>
              <a:t>		statement2</a:t>
            </a:r>
          </a:p>
          <a:p>
            <a:pPr lvl="1" eaLnBrk="1" hangingPunct="1">
              <a:buFont typeface="Verdana" panose="020B0604030504040204" pitchFamily="34" charset="0"/>
              <a:buNone/>
            </a:pPr>
            <a:r>
              <a:rPr lang="en-US" altLang="en-US" dirty="0"/>
              <a:t>   else if (expression3) </a:t>
            </a:r>
          </a:p>
          <a:p>
            <a:pPr lvl="1" eaLnBrk="1" hangingPunct="1">
              <a:buFont typeface="Verdana" panose="020B0604030504040204" pitchFamily="34" charset="0"/>
              <a:buNone/>
            </a:pPr>
            <a:r>
              <a:rPr lang="en-US" altLang="en-US" dirty="0"/>
              <a:t>		statement3</a:t>
            </a:r>
          </a:p>
          <a:p>
            <a:pPr lvl="1" eaLnBrk="1" hangingPunct="1">
              <a:buFont typeface="Verdana" panose="020B0604030504040204" pitchFamily="34" charset="0"/>
              <a:buNone/>
            </a:pPr>
            <a:r>
              <a:rPr lang="en-US" altLang="en-US" dirty="0"/>
              <a:t>   …</a:t>
            </a:r>
          </a:p>
          <a:p>
            <a:pPr lvl="1" eaLnBrk="1" hangingPunct="1">
              <a:buFont typeface="Verdana" panose="020B0604030504040204" pitchFamily="34" charset="0"/>
              <a:buNone/>
            </a:pPr>
            <a:r>
              <a:rPr lang="en-US" altLang="en-US" dirty="0"/>
              <a:t>   else statement</a:t>
            </a:r>
          </a:p>
        </p:txBody>
      </p:sp>
      <p:sp>
        <p:nvSpPr>
          <p:cNvPr id="3" name="Title 2">
            <a:extLst>
              <a:ext uri="{FF2B5EF4-FFF2-40B4-BE49-F238E27FC236}">
                <a16:creationId xmlns:a16="http://schemas.microsoft.com/office/drawing/2014/main" id="{8D7B6C5E-A844-0A0F-1DC2-4CCA58532424}"/>
              </a:ext>
            </a:extLst>
          </p:cNvPr>
          <p:cNvSpPr>
            <a:spLocks noGrp="1"/>
          </p:cNvSpPr>
          <p:nvPr>
            <p:ph type="title"/>
          </p:nvPr>
        </p:nvSpPr>
        <p:spPr/>
        <p:txBody>
          <a:bodyPr/>
          <a:lstStyle/>
          <a:p>
            <a:pPr>
              <a:defRPr/>
            </a:pPr>
            <a:r>
              <a:rPr lang="en-US" dirty="0"/>
              <a:t>If-else-if statement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7AC6-164B-E428-AC2A-95DEEA138E3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30E11E2-263B-8DCF-C5CB-C169AA682E58}"/>
              </a:ext>
            </a:extLst>
          </p:cNvPr>
          <p:cNvSpPr>
            <a:spLocks noGrp="1"/>
          </p:cNvSpPr>
          <p:nvPr>
            <p:ph idx="1"/>
          </p:nvPr>
        </p:nvSpPr>
        <p:spPr/>
        <p:txBody>
          <a:bodyPr/>
          <a:lstStyle/>
          <a:p>
            <a:r>
              <a:rPr lang="en-US" sz="2000" dirty="0"/>
              <a:t>Write a program that inputs test score of a student and displays his grade according to the following criteria</a:t>
            </a:r>
          </a:p>
          <a:p>
            <a:pPr marL="2222500" indent="0">
              <a:buNone/>
            </a:pPr>
            <a:r>
              <a:rPr lang="en-US" sz="2000" dirty="0"/>
              <a:t>Test Score		Grade</a:t>
            </a:r>
          </a:p>
          <a:p>
            <a:pPr marL="2222500" indent="0">
              <a:buNone/>
            </a:pPr>
            <a:r>
              <a:rPr lang="en-US" sz="2000" dirty="0"/>
              <a:t>&gt;=90			A</a:t>
            </a:r>
          </a:p>
          <a:p>
            <a:pPr marL="2222500" indent="0">
              <a:buNone/>
            </a:pPr>
            <a:r>
              <a:rPr lang="en-US" sz="2000" dirty="0"/>
              <a:t>80-89		B</a:t>
            </a:r>
          </a:p>
          <a:p>
            <a:pPr marL="2222500" indent="0">
              <a:buNone/>
            </a:pPr>
            <a:r>
              <a:rPr lang="en-US" sz="2000" dirty="0"/>
              <a:t>70-79		C</a:t>
            </a:r>
          </a:p>
          <a:p>
            <a:pPr marL="2222500" indent="0">
              <a:buNone/>
            </a:pPr>
            <a:r>
              <a:rPr lang="en-US" sz="2000" dirty="0"/>
              <a:t>60-69		D</a:t>
            </a:r>
          </a:p>
          <a:p>
            <a:pPr marL="2222500" indent="0">
              <a:buNone/>
            </a:pPr>
            <a:r>
              <a:rPr lang="en-US" sz="2000" dirty="0"/>
              <a:t>Below 60		F</a:t>
            </a:r>
            <a:endParaRPr lang="en-GB" sz="2000" dirty="0"/>
          </a:p>
          <a:p>
            <a:endParaRPr lang="en-US" dirty="0"/>
          </a:p>
        </p:txBody>
      </p:sp>
    </p:spTree>
    <p:extLst>
      <p:ext uri="{BB962C8B-B14F-4D97-AF65-F5344CB8AC3E}">
        <p14:creationId xmlns:p14="http://schemas.microsoft.com/office/powerpoint/2010/main" val="4086101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9279-97D6-EED9-13D4-37FF6FECFF8B}"/>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88CE270E-39AC-DB16-39D2-B060DB118903}"/>
              </a:ext>
            </a:extLst>
          </p:cNvPr>
          <p:cNvPicPr>
            <a:picLocks noGrp="1" noChangeAspect="1"/>
          </p:cNvPicPr>
          <p:nvPr>
            <p:ph idx="1"/>
          </p:nvPr>
        </p:nvPicPr>
        <p:blipFill>
          <a:blip r:embed="rId2"/>
          <a:stretch>
            <a:fillRect/>
          </a:stretch>
        </p:blipFill>
        <p:spPr>
          <a:xfrm>
            <a:off x="2052736" y="1846263"/>
            <a:ext cx="6946802" cy="4862762"/>
          </a:xfrm>
          <a:prstGeom prst="rect">
            <a:avLst/>
          </a:prstGeom>
        </p:spPr>
      </p:pic>
    </p:spTree>
    <p:extLst>
      <p:ext uri="{BB962C8B-B14F-4D97-AF65-F5344CB8AC3E}">
        <p14:creationId xmlns:p14="http://schemas.microsoft.com/office/powerpoint/2010/main" val="4026455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a:extLst>
              <a:ext uri="{FF2B5EF4-FFF2-40B4-BE49-F238E27FC236}">
                <a16:creationId xmlns:a16="http://schemas.microsoft.com/office/drawing/2014/main" id="{2C39D697-D6F3-CD72-14B7-E7D3C02E92F1}"/>
              </a:ext>
            </a:extLst>
          </p:cNvPr>
          <p:cNvSpPr>
            <a:spLocks noGrp="1"/>
          </p:cNvSpPr>
          <p:nvPr>
            <p:ph idx="1"/>
          </p:nvPr>
        </p:nvSpPr>
        <p:spPr/>
        <p:txBody>
          <a:bodyPr/>
          <a:lstStyle/>
          <a:p>
            <a:pPr eaLnBrk="1" hangingPunct="1"/>
            <a:r>
              <a:rPr lang="en-US" altLang="en-US" dirty="0"/>
              <a:t>switch provides a better alternative than if-else-if when the execution follows several branches depending on the value of an expression.</a:t>
            </a:r>
          </a:p>
          <a:p>
            <a:pPr eaLnBrk="1" hangingPunct="1"/>
            <a:r>
              <a:rPr lang="en-US" altLang="en-US" dirty="0"/>
              <a:t>General form:</a:t>
            </a:r>
          </a:p>
          <a:p>
            <a:pPr lvl="1" eaLnBrk="1" hangingPunct="1">
              <a:buFont typeface="Verdana" panose="020B0604030504040204" pitchFamily="34" charset="0"/>
              <a:buNone/>
            </a:pPr>
            <a:r>
              <a:rPr lang="en-US" altLang="en-US" dirty="0"/>
              <a:t>   switch (expression) {</a:t>
            </a:r>
          </a:p>
          <a:p>
            <a:pPr lvl="1" eaLnBrk="1" hangingPunct="1">
              <a:buFont typeface="Verdana" panose="020B0604030504040204" pitchFamily="34" charset="0"/>
              <a:buNone/>
            </a:pPr>
            <a:r>
              <a:rPr lang="en-US" altLang="en-US" dirty="0"/>
              <a:t>   case value1: statement1; break;</a:t>
            </a:r>
          </a:p>
          <a:p>
            <a:pPr lvl="1" eaLnBrk="1" hangingPunct="1">
              <a:buFont typeface="Verdana" panose="020B0604030504040204" pitchFamily="34" charset="0"/>
              <a:buNone/>
            </a:pPr>
            <a:r>
              <a:rPr lang="en-US" altLang="en-US" dirty="0"/>
              <a:t>   case value2: statement2; break;</a:t>
            </a:r>
          </a:p>
          <a:p>
            <a:pPr lvl="1" eaLnBrk="1" hangingPunct="1">
              <a:buFont typeface="Verdana" panose="020B0604030504040204" pitchFamily="34" charset="0"/>
              <a:buNone/>
            </a:pPr>
            <a:r>
              <a:rPr lang="en-US" altLang="en-US" dirty="0"/>
              <a:t>   case value3: statement3; break;</a:t>
            </a:r>
          </a:p>
          <a:p>
            <a:pPr lvl="1" eaLnBrk="1" hangingPunct="1">
              <a:buFont typeface="Verdana" panose="020B0604030504040204" pitchFamily="34" charset="0"/>
              <a:buNone/>
            </a:pPr>
            <a:r>
              <a:rPr lang="en-US" altLang="en-US" dirty="0"/>
              <a:t>   …</a:t>
            </a:r>
          </a:p>
          <a:p>
            <a:pPr lvl="1" eaLnBrk="1" hangingPunct="1">
              <a:buFont typeface="Verdana" panose="020B0604030504040204" pitchFamily="34" charset="0"/>
              <a:buNone/>
            </a:pPr>
            <a:r>
              <a:rPr lang="en-US" altLang="en-US" dirty="0"/>
              <a:t>   default: statement;</a:t>
            </a:r>
          </a:p>
          <a:p>
            <a:pPr lvl="1" eaLnBrk="1" hangingPunct="1">
              <a:buFont typeface="Verdana" panose="020B0604030504040204" pitchFamily="34" charset="0"/>
              <a:buNone/>
            </a:pPr>
            <a:r>
              <a:rPr lang="en-US" altLang="en-US" dirty="0"/>
              <a:t>   }</a:t>
            </a:r>
          </a:p>
        </p:txBody>
      </p:sp>
      <p:sp>
        <p:nvSpPr>
          <p:cNvPr id="3" name="Title 2">
            <a:extLst>
              <a:ext uri="{FF2B5EF4-FFF2-40B4-BE49-F238E27FC236}">
                <a16:creationId xmlns:a16="http://schemas.microsoft.com/office/drawing/2014/main" id="{71B0A1AB-DE00-20F2-EBA9-FD3C1A161FD0}"/>
              </a:ext>
            </a:extLst>
          </p:cNvPr>
          <p:cNvSpPr>
            <a:spLocks noGrp="1"/>
          </p:cNvSpPr>
          <p:nvPr>
            <p:ph type="title"/>
          </p:nvPr>
        </p:nvSpPr>
        <p:spPr/>
        <p:txBody>
          <a:bodyPr/>
          <a:lstStyle/>
          <a:p>
            <a:pPr>
              <a:defRPr/>
            </a:pPr>
            <a:r>
              <a:rPr lang="en-US" dirty="0"/>
              <a:t>Switch statement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F4B9-C465-8441-76A6-FD1E8B4A344C}"/>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1C29590-E187-DEE2-5CBA-07D5C00BF4E4}"/>
              </a:ext>
            </a:extLst>
          </p:cNvPr>
          <p:cNvSpPr>
            <a:spLocks noGrp="1"/>
          </p:cNvSpPr>
          <p:nvPr>
            <p:ph idx="1"/>
          </p:nvPr>
        </p:nvSpPr>
        <p:spPr/>
        <p:txBody>
          <a:bodyPr/>
          <a:lstStyle/>
          <a:p>
            <a:r>
              <a:rPr lang="en-US" sz="2800" b="1" dirty="0"/>
              <a:t>Write a program that inputs a character from the user and checks whether it is a vowel or consonant.</a:t>
            </a:r>
          </a:p>
          <a:p>
            <a:endParaRPr lang="en-US" dirty="0"/>
          </a:p>
        </p:txBody>
      </p:sp>
    </p:spTree>
    <p:extLst>
      <p:ext uri="{BB962C8B-B14F-4D97-AF65-F5344CB8AC3E}">
        <p14:creationId xmlns:p14="http://schemas.microsoft.com/office/powerpoint/2010/main" val="1396197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BA15-A6C7-13FB-C3DC-976F0DA21D12}"/>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33EB4B91-02BA-60ED-0794-72C87AAFE26C}"/>
              </a:ext>
            </a:extLst>
          </p:cNvPr>
          <p:cNvPicPr>
            <a:picLocks noGrp="1" noChangeAspect="1"/>
          </p:cNvPicPr>
          <p:nvPr>
            <p:ph idx="1"/>
          </p:nvPr>
        </p:nvPicPr>
        <p:blipFill rotWithShape="1">
          <a:blip r:embed="rId2"/>
          <a:srcRect r="22404"/>
          <a:stretch/>
        </p:blipFill>
        <p:spPr>
          <a:xfrm>
            <a:off x="966504" y="1864924"/>
            <a:ext cx="4865129" cy="4022725"/>
          </a:xfrm>
          <a:prstGeom prst="rect">
            <a:avLst/>
          </a:prstGeom>
        </p:spPr>
      </p:pic>
      <p:pic>
        <p:nvPicPr>
          <p:cNvPr id="6" name="Picture 5">
            <a:extLst>
              <a:ext uri="{FF2B5EF4-FFF2-40B4-BE49-F238E27FC236}">
                <a16:creationId xmlns:a16="http://schemas.microsoft.com/office/drawing/2014/main" id="{2FFF5AE4-8E95-8EEC-E9CF-3999C59F6C59}"/>
              </a:ext>
            </a:extLst>
          </p:cNvPr>
          <p:cNvPicPr>
            <a:picLocks noChangeAspect="1"/>
          </p:cNvPicPr>
          <p:nvPr/>
        </p:nvPicPr>
        <p:blipFill rotWithShape="1">
          <a:blip r:embed="rId3"/>
          <a:srcRect r="24451" b="2279"/>
          <a:stretch/>
        </p:blipFill>
        <p:spPr>
          <a:xfrm>
            <a:off x="5952601" y="1737360"/>
            <a:ext cx="5757317" cy="4766077"/>
          </a:xfrm>
          <a:prstGeom prst="rect">
            <a:avLst/>
          </a:prstGeom>
        </p:spPr>
      </p:pic>
    </p:spTree>
    <p:extLst>
      <p:ext uri="{BB962C8B-B14F-4D97-AF65-F5344CB8AC3E}">
        <p14:creationId xmlns:p14="http://schemas.microsoft.com/office/powerpoint/2010/main" val="471642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a:extLst>
              <a:ext uri="{FF2B5EF4-FFF2-40B4-BE49-F238E27FC236}">
                <a16:creationId xmlns:a16="http://schemas.microsoft.com/office/drawing/2014/main" id="{79DE0D16-9A9E-6757-69AE-86D53DEA7A6C}"/>
              </a:ext>
            </a:extLst>
          </p:cNvPr>
          <p:cNvSpPr>
            <a:spLocks noGrp="1"/>
          </p:cNvSpPr>
          <p:nvPr>
            <p:ph idx="1"/>
          </p:nvPr>
        </p:nvSpPr>
        <p:spPr/>
        <p:txBody>
          <a:bodyPr/>
          <a:lstStyle/>
          <a:p>
            <a:pPr eaLnBrk="1" hangingPunct="1"/>
            <a:r>
              <a:rPr lang="en-US" altLang="en-US"/>
              <a:t>General form:</a:t>
            </a:r>
          </a:p>
          <a:p>
            <a:pPr lvl="1" eaLnBrk="1" hangingPunct="1"/>
            <a:r>
              <a:rPr lang="en-US" altLang="en-US"/>
              <a:t>while (</a:t>
            </a:r>
            <a:r>
              <a:rPr lang="en-US" altLang="en-US" i="1"/>
              <a:t>expression) statement</a:t>
            </a:r>
          </a:p>
          <a:p>
            <a:pPr eaLnBrk="1" hangingPunct="1"/>
            <a:r>
              <a:rPr lang="en-US" altLang="en-US"/>
              <a:t>where expression must be of type boolean.</a:t>
            </a:r>
          </a:p>
          <a:p>
            <a:pPr eaLnBrk="1" hangingPunct="1"/>
            <a:r>
              <a:rPr lang="en-US" altLang="en-US"/>
              <a:t>The component statement may be:</a:t>
            </a:r>
          </a:p>
          <a:p>
            <a:pPr lvl="1" eaLnBrk="1" hangingPunct="1"/>
            <a:r>
              <a:rPr lang="en-US" altLang="en-US"/>
              <a:t>simple</a:t>
            </a:r>
          </a:p>
          <a:p>
            <a:pPr lvl="2" eaLnBrk="1" hangingPunct="1"/>
            <a:r>
              <a:rPr lang="en-US" altLang="en-US"/>
              <a:t>while (expression) statement;</a:t>
            </a:r>
          </a:p>
          <a:p>
            <a:pPr lvl="1" eaLnBrk="1" hangingPunct="1"/>
            <a:r>
              <a:rPr lang="en-US" altLang="en-US"/>
              <a:t>compound</a:t>
            </a:r>
          </a:p>
          <a:p>
            <a:pPr lvl="2" eaLnBrk="1" hangingPunct="1"/>
            <a:r>
              <a:rPr lang="en-US" altLang="en-US"/>
              <a:t>while (expression) {</a:t>
            </a:r>
          </a:p>
          <a:p>
            <a:pPr lvl="2" eaLnBrk="1" hangingPunct="1">
              <a:buFont typeface="Wingdings 2" panose="05020102010507070707" pitchFamily="18" charset="2"/>
              <a:buNone/>
            </a:pPr>
            <a:r>
              <a:rPr lang="en-US" altLang="en-US"/>
              <a:t>   statement;</a:t>
            </a:r>
          </a:p>
          <a:p>
            <a:pPr lvl="2" eaLnBrk="1" hangingPunct="1">
              <a:buFont typeface="Wingdings 2" panose="05020102010507070707" pitchFamily="18" charset="2"/>
              <a:buNone/>
            </a:pPr>
            <a:r>
              <a:rPr lang="en-US" altLang="en-US"/>
              <a:t>   }</a:t>
            </a:r>
          </a:p>
          <a:p>
            <a:pPr eaLnBrk="1" hangingPunct="1"/>
            <a:endParaRPr lang="en-US" altLang="en-US"/>
          </a:p>
          <a:p>
            <a:endParaRPr lang="en-US" altLang="en-US"/>
          </a:p>
        </p:txBody>
      </p:sp>
      <p:sp>
        <p:nvSpPr>
          <p:cNvPr id="3" name="Title 2">
            <a:extLst>
              <a:ext uri="{FF2B5EF4-FFF2-40B4-BE49-F238E27FC236}">
                <a16:creationId xmlns:a16="http://schemas.microsoft.com/office/drawing/2014/main" id="{53B4E136-E6EB-2517-B7CB-1F568BA96229}"/>
              </a:ext>
            </a:extLst>
          </p:cNvPr>
          <p:cNvSpPr>
            <a:spLocks noGrp="1"/>
          </p:cNvSpPr>
          <p:nvPr>
            <p:ph type="title"/>
          </p:nvPr>
        </p:nvSpPr>
        <p:spPr/>
        <p:txBody>
          <a:bodyPr/>
          <a:lstStyle/>
          <a:p>
            <a:pPr>
              <a:defRPr/>
            </a:pPr>
            <a:r>
              <a:rPr lang="en-GB" dirty="0"/>
              <a:t>while</a:t>
            </a:r>
            <a:endParaRPr lang="en-US" dirty="0"/>
          </a:p>
        </p:txBody>
      </p:sp>
      <p:pic>
        <p:nvPicPr>
          <p:cNvPr id="47111" name="Picture 4">
            <a:extLst>
              <a:ext uri="{FF2B5EF4-FFF2-40B4-BE49-F238E27FC236}">
                <a16:creationId xmlns:a16="http://schemas.microsoft.com/office/drawing/2014/main" id="{D081743D-1B82-5501-BB25-940D7549B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1" y="3657600"/>
            <a:ext cx="34956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8512-7271-851D-665D-EC96AA642C9C}"/>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A145876-66D5-7E6E-01E4-9C0708ED0FD6}"/>
              </a:ext>
            </a:extLst>
          </p:cNvPr>
          <p:cNvSpPr>
            <a:spLocks noGrp="1"/>
          </p:cNvSpPr>
          <p:nvPr>
            <p:ph idx="1"/>
          </p:nvPr>
        </p:nvSpPr>
        <p:spPr/>
        <p:txBody>
          <a:bodyPr/>
          <a:lstStyle/>
          <a:p>
            <a:r>
              <a:rPr lang="en-US" dirty="0"/>
              <a:t>Write a program that displays first five numbers and their sum using while loop.</a:t>
            </a:r>
          </a:p>
          <a:p>
            <a:endParaRPr lang="en-US" dirty="0"/>
          </a:p>
        </p:txBody>
      </p:sp>
    </p:spTree>
    <p:extLst>
      <p:ext uri="{BB962C8B-B14F-4D97-AF65-F5344CB8AC3E}">
        <p14:creationId xmlns:p14="http://schemas.microsoft.com/office/powerpoint/2010/main" val="2673997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A2C79-80D5-4419-5FFC-5E6A3DF8CB2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33A97A7-091A-374B-7417-0022174343F6}"/>
              </a:ext>
            </a:extLst>
          </p:cNvPr>
          <p:cNvSpPr>
            <a:spLocks noGrp="1"/>
          </p:cNvSpPr>
          <p:nvPr>
            <p:ph idx="1"/>
          </p:nvPr>
        </p:nvSpPr>
        <p:spPr/>
        <p:txBody>
          <a:bodyPr>
            <a:normAutofit fontScale="92500" lnSpcReduction="20000"/>
          </a:bodyPr>
          <a:lstStyle/>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lang="en-US" sz="2200" dirty="0">
                <a:solidFill>
                  <a:prstClr val="black"/>
                </a:solidFill>
                <a:latin typeface="Calibri"/>
              </a:rPr>
              <a:t>i</a:t>
            </a:r>
            <a:r>
              <a:rPr kumimoji="0" lang="en-US" sz="2200" b="0" i="0" u="none" strike="noStrike" kern="1200" cap="none" spc="0" normalizeH="0" baseline="0" noProof="0" dirty="0" err="1">
                <a:ln>
                  <a:noFill/>
                </a:ln>
                <a:solidFill>
                  <a:prstClr val="black"/>
                </a:solidFill>
                <a:effectLst/>
                <a:uLnTx/>
                <a:uFillTx/>
                <a:latin typeface="Calibri"/>
                <a:ea typeface="+mn-ea"/>
                <a:cs typeface="+mn-cs"/>
              </a:rPr>
              <a:t>nt</a:t>
            </a:r>
            <a:r>
              <a:rPr kumimoji="0" lang="en-US" sz="2200" b="0" i="0" u="none" strike="noStrike" kern="1200" cap="none" spc="0" normalizeH="0" baseline="0" noProof="0" dirty="0">
                <a:ln>
                  <a:noFill/>
                </a:ln>
                <a:solidFill>
                  <a:prstClr val="black"/>
                </a:solidFill>
                <a:effectLst/>
                <a:uLnTx/>
                <a:uFillTx/>
                <a:latin typeface="Calibri"/>
                <a:ea typeface="+mn-ea"/>
                <a:cs typeface="+mn-cs"/>
              </a:rPr>
              <a:t> main()</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int c, sum;</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c=1;</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sum=0;</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while(c&lt;=5)</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0" i="0" u="none" strike="noStrike" kern="1200" cap="none" spc="0" normalizeH="0" baseline="0" noProof="0" dirty="0" err="1">
                <a:ln>
                  <a:noFill/>
                </a:ln>
                <a:solidFill>
                  <a:prstClr val="black"/>
                </a:solidFill>
                <a:effectLst/>
                <a:uLnTx/>
                <a:uFillTx/>
                <a:latin typeface="Calibri"/>
                <a:ea typeface="+mn-ea"/>
                <a:cs typeface="+mn-cs"/>
              </a:rPr>
              <a:t>cout</a:t>
            </a:r>
            <a:r>
              <a:rPr kumimoji="0" lang="en-US" sz="2200" b="0" i="0" u="none" strike="noStrike" kern="1200" cap="none" spc="0" normalizeH="0" baseline="0" noProof="0" dirty="0">
                <a:ln>
                  <a:noFill/>
                </a:ln>
                <a:solidFill>
                  <a:prstClr val="black"/>
                </a:solidFill>
                <a:effectLst/>
                <a:uLnTx/>
                <a:uFillTx/>
                <a:latin typeface="Calibri"/>
                <a:ea typeface="+mn-ea"/>
                <a:cs typeface="+mn-cs"/>
              </a:rPr>
              <a:t>&lt;&lt;c&lt;&lt;</a:t>
            </a:r>
            <a:r>
              <a:rPr kumimoji="0" lang="en-US" sz="2200" b="0" i="0" u="none" strike="noStrike" kern="1200" cap="none" spc="0" normalizeH="0" baseline="0" noProof="0" dirty="0" err="1">
                <a:ln>
                  <a:noFill/>
                </a:ln>
                <a:solidFill>
                  <a:prstClr val="black"/>
                </a:solidFill>
                <a:effectLst/>
                <a:uLnTx/>
                <a:uFillTx/>
                <a:latin typeface="Calibri"/>
                <a:ea typeface="+mn-ea"/>
                <a:cs typeface="+mn-cs"/>
              </a:rPr>
              <a:t>endl</a:t>
            </a:r>
            <a:r>
              <a:rPr kumimoji="0" lang="en-US" sz="22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sum = sum + c;</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c=c+1;</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lang="en-US" sz="2200" dirty="0">
                <a:solidFill>
                  <a:prstClr val="black"/>
                </a:solidFill>
                <a:latin typeface="Calibri"/>
              </a:rPr>
              <a:t>c</a:t>
            </a:r>
            <a:r>
              <a:rPr kumimoji="0" lang="en-US" sz="2200" b="0" i="0" u="none" strike="noStrike" kern="1200" cap="none" spc="0" normalizeH="0" baseline="0" noProof="0" dirty="0">
                <a:ln>
                  <a:noFill/>
                </a:ln>
                <a:solidFill>
                  <a:prstClr val="black"/>
                </a:solidFill>
                <a:effectLst/>
                <a:uLnTx/>
                <a:uFillTx/>
                <a:latin typeface="Calibri"/>
                <a:ea typeface="+mn-ea"/>
                <a:cs typeface="+mn-cs"/>
              </a:rPr>
              <a:t>out&lt;&lt;“Sum is = ”&lt;&lt;sum;</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a:t>
            </a:r>
            <a:endParaRPr lang="en-US" dirty="0"/>
          </a:p>
        </p:txBody>
      </p:sp>
    </p:spTree>
    <p:extLst>
      <p:ext uri="{BB962C8B-B14F-4D97-AF65-F5344CB8AC3E}">
        <p14:creationId xmlns:p14="http://schemas.microsoft.com/office/powerpoint/2010/main" val="11568345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83E00AC8-3B37-7323-C278-D7261E59D55A}"/>
              </a:ext>
            </a:extLst>
          </p:cNvPr>
          <p:cNvSpPr>
            <a:spLocks noGrp="1"/>
          </p:cNvSpPr>
          <p:nvPr>
            <p:ph idx="1"/>
          </p:nvPr>
        </p:nvSpPr>
        <p:spPr>
          <a:xfrm>
            <a:off x="1097280" y="1854363"/>
            <a:ext cx="10211422" cy="4525962"/>
          </a:xfrm>
        </p:spPr>
        <p:txBody>
          <a:bodyPr/>
          <a:lstStyle/>
          <a:p>
            <a:pPr eaLnBrk="1" hangingPunct="1"/>
            <a:r>
              <a:rPr lang="en-US" altLang="en-US" sz="2500" dirty="0"/>
              <a:t>If a component statement has to be executed at least once, the do-while statement is more appropriate than the while statement.</a:t>
            </a:r>
          </a:p>
          <a:p>
            <a:pPr eaLnBrk="1" hangingPunct="1"/>
            <a:endParaRPr lang="en-US" altLang="en-US" sz="2500" dirty="0"/>
          </a:p>
          <a:p>
            <a:pPr eaLnBrk="1" hangingPunct="1"/>
            <a:r>
              <a:rPr lang="en-US" altLang="en-US" sz="2500" dirty="0"/>
              <a:t>General form:</a:t>
            </a:r>
          </a:p>
          <a:p>
            <a:pPr lvl="1" eaLnBrk="1" hangingPunct="1"/>
            <a:r>
              <a:rPr lang="en-US" altLang="en-US" dirty="0"/>
              <a:t>do statement</a:t>
            </a:r>
          </a:p>
          <a:p>
            <a:pPr lvl="1" eaLnBrk="1" hangingPunct="1">
              <a:buFont typeface="Verdana" panose="020B0604030504040204" pitchFamily="34" charset="0"/>
              <a:buNone/>
            </a:pPr>
            <a:r>
              <a:rPr lang="en-US" altLang="en-US" dirty="0"/>
              <a:t>   while (</a:t>
            </a:r>
            <a:r>
              <a:rPr lang="en-US" altLang="en-US" i="1" dirty="0"/>
              <a:t>expression);</a:t>
            </a:r>
          </a:p>
          <a:p>
            <a:pPr eaLnBrk="1" hangingPunct="1">
              <a:buFont typeface="Wingdings 3" panose="05040102010807070707" pitchFamily="18" charset="2"/>
              <a:buNone/>
            </a:pPr>
            <a:r>
              <a:rPr lang="en-US" altLang="en-US" dirty="0"/>
              <a:t>   </a:t>
            </a:r>
            <a:r>
              <a:rPr lang="en-US" altLang="en-US" sz="2300" dirty="0"/>
              <a:t>where expression must be of type </a:t>
            </a:r>
            <a:r>
              <a:rPr lang="en-US" altLang="en-US" sz="2300" dirty="0" err="1"/>
              <a:t>boolean</a:t>
            </a:r>
            <a:r>
              <a:rPr lang="en-US" altLang="en-US" sz="2300" dirty="0"/>
              <a:t>.</a:t>
            </a:r>
          </a:p>
        </p:txBody>
      </p:sp>
      <p:sp>
        <p:nvSpPr>
          <p:cNvPr id="3" name="Title 2">
            <a:extLst>
              <a:ext uri="{FF2B5EF4-FFF2-40B4-BE49-F238E27FC236}">
                <a16:creationId xmlns:a16="http://schemas.microsoft.com/office/drawing/2014/main" id="{5F01634E-FE74-5EC4-EDBB-D43B59C6723B}"/>
              </a:ext>
            </a:extLst>
          </p:cNvPr>
          <p:cNvSpPr>
            <a:spLocks noGrp="1"/>
          </p:cNvSpPr>
          <p:nvPr>
            <p:ph type="title"/>
          </p:nvPr>
        </p:nvSpPr>
        <p:spPr/>
        <p:txBody>
          <a:bodyPr/>
          <a:lstStyle/>
          <a:p>
            <a:pPr eaLnBrk="1" hangingPunct="1">
              <a:defRPr/>
            </a:pPr>
            <a:r>
              <a:rPr lang="en-US" dirty="0"/>
              <a:t>Do-while statement</a:t>
            </a:r>
          </a:p>
        </p:txBody>
      </p:sp>
      <p:pic>
        <p:nvPicPr>
          <p:cNvPr id="48132" name="Picture 4">
            <a:extLst>
              <a:ext uri="{FF2B5EF4-FFF2-40B4-BE49-F238E27FC236}">
                <a16:creationId xmlns:a16="http://schemas.microsoft.com/office/drawing/2014/main" id="{4A0240DF-C4A9-D07F-8076-FA7BDADC8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1" y="2667000"/>
            <a:ext cx="220027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9B58F-D224-49A2-7671-0F57A445CF3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7024C37-D5C5-88C3-2FD7-D9F1B1FC6129}"/>
              </a:ext>
            </a:extLst>
          </p:cNvPr>
          <p:cNvSpPr>
            <a:spLocks noGrp="1"/>
          </p:cNvSpPr>
          <p:nvPr>
            <p:ph idx="1"/>
          </p:nvPr>
        </p:nvSpPr>
        <p:spPr/>
        <p:txBody>
          <a:bodyPr/>
          <a:lstStyle/>
          <a:p>
            <a:r>
              <a:rPr lang="en-US" dirty="0"/>
              <a:t>Write a program that gets starting and ending point from the user and displays all odd numbers in the given range using do-while loop</a:t>
            </a:r>
          </a:p>
          <a:p>
            <a:endParaRPr lang="en-US" dirty="0"/>
          </a:p>
        </p:txBody>
      </p:sp>
    </p:spTree>
    <p:extLst>
      <p:ext uri="{BB962C8B-B14F-4D97-AF65-F5344CB8AC3E}">
        <p14:creationId xmlns:p14="http://schemas.microsoft.com/office/powerpoint/2010/main" val="207411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C9333-4730-5B0D-32FF-4957AADC778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CFF3198-4CEF-C856-6D1F-2E104267F088}"/>
              </a:ext>
            </a:extLst>
          </p:cNvPr>
          <p:cNvSpPr>
            <a:spLocks noGrp="1"/>
          </p:cNvSpPr>
          <p:nvPr>
            <p:ph idx="1"/>
          </p:nvPr>
        </p:nvSpPr>
        <p:spPr/>
        <p:txBody>
          <a:bodyPr>
            <a:normAutofit fontScale="85000" lnSpcReduction="20000"/>
          </a:bodyPr>
          <a:lstStyle/>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int c, s, e;</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cout</a:t>
            </a:r>
            <a:r>
              <a:rPr kumimoji="0" lang="en-US" sz="2000" b="0" i="0" u="none" strike="noStrike" kern="1200" cap="none" spc="0" normalizeH="0" baseline="0" noProof="0" dirty="0">
                <a:ln>
                  <a:noFill/>
                </a:ln>
                <a:solidFill>
                  <a:prstClr val="black"/>
                </a:solidFill>
                <a:effectLst/>
                <a:uLnTx/>
                <a:uFillTx/>
                <a:latin typeface="Calibri"/>
                <a:ea typeface="+mn-ea"/>
                <a:cs typeface="+mn-cs"/>
              </a:rPr>
              <a:t>&lt;&lt;“Enter starting number:”;</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cin</a:t>
            </a:r>
            <a:r>
              <a:rPr kumimoji="0" lang="en-US" sz="2000" b="0" i="0" u="none" strike="noStrike" kern="1200" cap="none" spc="0" normalizeH="0" baseline="0" noProof="0" dirty="0">
                <a:ln>
                  <a:noFill/>
                </a:ln>
                <a:solidFill>
                  <a:prstClr val="black"/>
                </a:solidFill>
                <a:effectLst/>
                <a:uLnTx/>
                <a:uFillTx/>
                <a:latin typeface="Calibri"/>
                <a:ea typeface="+mn-ea"/>
                <a:cs typeface="+mn-cs"/>
              </a:rPr>
              <a:t>&gt;&gt;s;</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cout</a:t>
            </a:r>
            <a:r>
              <a:rPr kumimoji="0" lang="en-US" sz="2000" b="0" i="0" u="none" strike="noStrike" kern="1200" cap="none" spc="0" normalizeH="0" baseline="0" noProof="0" dirty="0">
                <a:ln>
                  <a:noFill/>
                </a:ln>
                <a:solidFill>
                  <a:prstClr val="black"/>
                </a:solidFill>
                <a:effectLst/>
                <a:uLnTx/>
                <a:uFillTx/>
                <a:latin typeface="Calibri"/>
                <a:ea typeface="+mn-ea"/>
                <a:cs typeface="+mn-cs"/>
              </a:rPr>
              <a:t>&lt;&lt;“Enter ending number:”;</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err="1">
                <a:ln>
                  <a:noFill/>
                </a:ln>
                <a:solidFill>
                  <a:prstClr val="black"/>
                </a:solidFill>
                <a:effectLst/>
                <a:uLnTx/>
                <a:uFillTx/>
                <a:latin typeface="Calibri"/>
                <a:ea typeface="+mn-ea"/>
                <a:cs typeface="+mn-cs"/>
              </a:rPr>
              <a:t>cin</a:t>
            </a:r>
            <a:r>
              <a:rPr kumimoji="0" lang="en-US" sz="2000" b="0" i="0" u="none" strike="noStrike" kern="1200" cap="none" spc="0" normalizeH="0" baseline="0" noProof="0" dirty="0">
                <a:ln>
                  <a:noFill/>
                </a:ln>
                <a:solidFill>
                  <a:prstClr val="black"/>
                </a:solidFill>
                <a:effectLst/>
                <a:uLnTx/>
                <a:uFillTx/>
                <a:latin typeface="Calibri"/>
                <a:ea typeface="+mn-ea"/>
                <a:cs typeface="+mn-cs"/>
              </a:rPr>
              <a:t>&gt;&gt;e</a:t>
            </a:r>
            <a:r>
              <a:rPr kumimoji="0" lang="en-GB" sz="20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 = s;</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do</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	if(c % 2 !=0)</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cout</a:t>
            </a:r>
            <a:r>
              <a:rPr kumimoji="0" lang="en-US" sz="2000" b="0" i="0" u="none" strike="noStrike" kern="1200" cap="none" spc="0" normalizeH="0" baseline="0" noProof="0" dirty="0">
                <a:ln>
                  <a:noFill/>
                </a:ln>
                <a:solidFill>
                  <a:prstClr val="black"/>
                </a:solidFill>
                <a:effectLst/>
                <a:uLnTx/>
                <a:uFillTx/>
                <a:latin typeface="Calibri"/>
                <a:ea typeface="+mn-ea"/>
                <a:cs typeface="+mn-cs"/>
              </a:rPr>
              <a:t>&lt;&lt;c&lt;&lt;</a:t>
            </a:r>
            <a:r>
              <a:rPr kumimoji="0" lang="en-US" sz="2000" b="0" i="0" u="none" strike="noStrike" kern="1200" cap="none" spc="0" normalizeH="0" baseline="0" noProof="0" dirty="0" err="1">
                <a:ln>
                  <a:noFill/>
                </a:ln>
                <a:solidFill>
                  <a:prstClr val="black"/>
                </a:solidFill>
                <a:effectLst/>
                <a:uLnTx/>
                <a:uFillTx/>
                <a:latin typeface="Calibri"/>
                <a:ea typeface="+mn-ea"/>
                <a:cs typeface="+mn-cs"/>
              </a:rPr>
              <a:t>endl</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	c = c + 1;</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while(c&lt;=e);</a:t>
            </a:r>
          </a:p>
          <a:p>
            <a:pPr marL="114300" marR="0" lvl="0" indent="0" algn="l" defTabSz="914400" rtl="0" eaLnBrk="1" fontAlgn="auto" latinLnBrk="0" hangingPunct="1">
              <a:lnSpc>
                <a:spcPct val="100000"/>
              </a:lnSpc>
              <a:spcBef>
                <a:spcPct val="20000"/>
              </a:spcBef>
              <a:spcAft>
                <a:spcPts val="0"/>
              </a:spcAft>
              <a:buClr>
                <a:srgbClr val="4F81BD"/>
              </a:buClr>
              <a:buSzTx/>
              <a:buFont typeface="Arial"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t>
            </a:r>
            <a:endParaRPr lang="en-US" dirty="0"/>
          </a:p>
        </p:txBody>
      </p:sp>
    </p:spTree>
    <p:extLst>
      <p:ext uri="{BB962C8B-B14F-4D97-AF65-F5344CB8AC3E}">
        <p14:creationId xmlns:p14="http://schemas.microsoft.com/office/powerpoint/2010/main" val="13247786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1">
            <a:extLst>
              <a:ext uri="{FF2B5EF4-FFF2-40B4-BE49-F238E27FC236}">
                <a16:creationId xmlns:a16="http://schemas.microsoft.com/office/drawing/2014/main" id="{5D3CB186-4ACA-ECA6-2243-7980146D4EAD}"/>
              </a:ext>
            </a:extLst>
          </p:cNvPr>
          <p:cNvSpPr>
            <a:spLocks noGrp="1"/>
          </p:cNvSpPr>
          <p:nvPr>
            <p:ph idx="1"/>
          </p:nvPr>
        </p:nvSpPr>
        <p:spPr/>
        <p:txBody>
          <a:bodyPr/>
          <a:lstStyle/>
          <a:p>
            <a:pPr eaLnBrk="1" hangingPunct="1"/>
            <a:r>
              <a:rPr lang="en-US" altLang="en-US"/>
              <a:t>When iterating over a range of values, ‘for’ statement is more suitable to use than while or do-while.</a:t>
            </a:r>
          </a:p>
          <a:p>
            <a:pPr eaLnBrk="1" hangingPunct="1"/>
            <a:r>
              <a:rPr lang="en-US" altLang="en-US"/>
              <a:t>General form:</a:t>
            </a:r>
          </a:p>
          <a:p>
            <a:pPr lvl="1" eaLnBrk="1" hangingPunct="1"/>
            <a:r>
              <a:rPr lang="en-US" altLang="en-US"/>
              <a:t>for (initialization; termination; increment)</a:t>
            </a:r>
          </a:p>
          <a:p>
            <a:pPr lvl="2" eaLnBrk="1" hangingPunct="1">
              <a:buFont typeface="Wingdings 2" panose="05020102010507070707" pitchFamily="18" charset="2"/>
              <a:buNone/>
            </a:pPr>
            <a:r>
              <a:rPr lang="en-US" altLang="en-US" i="1"/>
              <a:t>   statement</a:t>
            </a:r>
          </a:p>
          <a:p>
            <a:pPr eaLnBrk="1" hangingPunct="1">
              <a:buFont typeface="Wingdings 3" panose="05040102010807070707" pitchFamily="18" charset="2"/>
              <a:buNone/>
            </a:pPr>
            <a:r>
              <a:rPr lang="en-US" altLang="en-US"/>
              <a:t>   where:</a:t>
            </a:r>
          </a:p>
          <a:p>
            <a:pPr lvl="1" eaLnBrk="1" hangingPunct="1"/>
            <a:r>
              <a:rPr lang="en-US" altLang="en-US"/>
              <a:t>initialization statement is executed once before the first iteration</a:t>
            </a:r>
          </a:p>
          <a:p>
            <a:pPr lvl="1" eaLnBrk="1" hangingPunct="1"/>
            <a:r>
              <a:rPr lang="en-US" altLang="en-US"/>
              <a:t>termination expression is evaluated before each iteration to determine when the loop should terminate</a:t>
            </a:r>
          </a:p>
          <a:p>
            <a:pPr lvl="1" eaLnBrk="1" hangingPunct="1"/>
            <a:r>
              <a:rPr lang="en-US" altLang="en-US"/>
              <a:t>increment statement is executed after each iteration</a:t>
            </a:r>
          </a:p>
        </p:txBody>
      </p:sp>
      <p:sp>
        <p:nvSpPr>
          <p:cNvPr id="3" name="Title 2">
            <a:extLst>
              <a:ext uri="{FF2B5EF4-FFF2-40B4-BE49-F238E27FC236}">
                <a16:creationId xmlns:a16="http://schemas.microsoft.com/office/drawing/2014/main" id="{B52D5FA2-4912-5839-6077-CAD51E30EFEF}"/>
              </a:ext>
            </a:extLst>
          </p:cNvPr>
          <p:cNvSpPr>
            <a:spLocks noGrp="1"/>
          </p:cNvSpPr>
          <p:nvPr>
            <p:ph type="title"/>
          </p:nvPr>
        </p:nvSpPr>
        <p:spPr/>
        <p:txBody>
          <a:bodyPr/>
          <a:lstStyle/>
          <a:p>
            <a:pPr eaLnBrk="1" hangingPunct="1">
              <a:defRPr/>
            </a:pPr>
            <a:r>
              <a:rPr lang="en-US" dirty="0"/>
              <a:t>For statement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F5C72-9AF9-CBED-B259-6AA114224CA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9386585-E407-DFAF-61A3-23877ABF572F}"/>
              </a:ext>
            </a:extLst>
          </p:cNvPr>
          <p:cNvSpPr>
            <a:spLocks noGrp="1"/>
          </p:cNvSpPr>
          <p:nvPr>
            <p:ph idx="1"/>
          </p:nvPr>
        </p:nvSpPr>
        <p:spPr/>
        <p:txBody>
          <a:bodyPr/>
          <a:lstStyle/>
          <a:p>
            <a:r>
              <a:rPr lang="en-US" sz="2400" dirty="0"/>
              <a:t>Product of all odd numbers from 1 to 10</a:t>
            </a:r>
          </a:p>
          <a:p>
            <a:endParaRPr lang="en-US" dirty="0"/>
          </a:p>
        </p:txBody>
      </p:sp>
      <p:pic>
        <p:nvPicPr>
          <p:cNvPr id="5" name="Picture 4">
            <a:extLst>
              <a:ext uri="{FF2B5EF4-FFF2-40B4-BE49-F238E27FC236}">
                <a16:creationId xmlns:a16="http://schemas.microsoft.com/office/drawing/2014/main" id="{2C24DA44-4E08-0B26-490D-E2AC87EFD981}"/>
              </a:ext>
            </a:extLst>
          </p:cNvPr>
          <p:cNvPicPr>
            <a:picLocks noChangeAspect="1"/>
          </p:cNvPicPr>
          <p:nvPr/>
        </p:nvPicPr>
        <p:blipFill>
          <a:blip r:embed="rId2"/>
          <a:stretch>
            <a:fillRect/>
          </a:stretch>
        </p:blipFill>
        <p:spPr>
          <a:xfrm>
            <a:off x="3959164" y="2639420"/>
            <a:ext cx="4334632" cy="3407959"/>
          </a:xfrm>
          <a:prstGeom prst="rect">
            <a:avLst/>
          </a:prstGeom>
        </p:spPr>
      </p:pic>
    </p:spTree>
    <p:extLst>
      <p:ext uri="{BB962C8B-B14F-4D97-AF65-F5344CB8AC3E}">
        <p14:creationId xmlns:p14="http://schemas.microsoft.com/office/powerpoint/2010/main" val="51027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2C6E6B45-12E3-E003-98E3-05F3DC703AFF}"/>
              </a:ext>
            </a:extLst>
          </p:cNvPr>
          <p:cNvSpPr>
            <a:spLocks noGrp="1"/>
          </p:cNvSpPr>
          <p:nvPr>
            <p:ph idx="1"/>
          </p:nvPr>
        </p:nvSpPr>
        <p:spPr>
          <a:xfrm>
            <a:off x="1097280" y="1845734"/>
            <a:ext cx="6656459" cy="4023360"/>
          </a:xfrm>
        </p:spPr>
        <p:txBody>
          <a:bodyPr/>
          <a:lstStyle/>
          <a:p>
            <a:pPr eaLnBrk="1" hangingPunct="1"/>
            <a:r>
              <a:rPr lang="en-US" altLang="en-US" dirty="0"/>
              <a:t>The break statement has three uses:</a:t>
            </a:r>
          </a:p>
          <a:p>
            <a:pPr marL="849313" lvl="1" indent="-457200">
              <a:buFont typeface="Lucida Sans Unicode" panose="020B0602030504020204" pitchFamily="34" charset="0"/>
              <a:buAutoNum type="arabicPeriod"/>
            </a:pPr>
            <a:r>
              <a:rPr lang="en-US" altLang="en-US" dirty="0"/>
              <a:t>to terminate a case inside the switch statement</a:t>
            </a:r>
          </a:p>
          <a:p>
            <a:pPr marL="849313" lvl="1" indent="-457200">
              <a:buFont typeface="Lucida Sans Unicode" panose="020B0602030504020204" pitchFamily="34" charset="0"/>
              <a:buAutoNum type="arabicPeriod"/>
            </a:pPr>
            <a:r>
              <a:rPr lang="en-US" altLang="en-US" dirty="0"/>
              <a:t>to exit an iterative statement</a:t>
            </a:r>
          </a:p>
          <a:p>
            <a:pPr marL="849313" lvl="1" indent="-457200">
              <a:buFont typeface="Lucida Sans Unicode" panose="020B0602030504020204" pitchFamily="34" charset="0"/>
              <a:buAutoNum type="arabicPeriod"/>
            </a:pPr>
            <a:r>
              <a:rPr lang="en-US" altLang="en-US" dirty="0"/>
              <a:t>to transfer control to another statement</a:t>
            </a:r>
          </a:p>
          <a:p>
            <a:r>
              <a:rPr lang="en-US" sz="1800" dirty="0"/>
              <a:t>Other statements after the break are not executed.</a:t>
            </a:r>
          </a:p>
          <a:p>
            <a:r>
              <a:rPr lang="en-US" sz="1800" dirty="0"/>
              <a:t>The control directly moves outside the body and the statement that comes after the body is executed.</a:t>
            </a:r>
          </a:p>
          <a:p>
            <a:pPr marL="392113" lvl="1" indent="0">
              <a:buNone/>
            </a:pPr>
            <a:endParaRPr lang="en-US" altLang="en-US" dirty="0"/>
          </a:p>
        </p:txBody>
      </p:sp>
      <p:sp>
        <p:nvSpPr>
          <p:cNvPr id="3" name="Title 2">
            <a:extLst>
              <a:ext uri="{FF2B5EF4-FFF2-40B4-BE49-F238E27FC236}">
                <a16:creationId xmlns:a16="http://schemas.microsoft.com/office/drawing/2014/main" id="{8F0578C2-1B1B-2F93-29AA-0FB9E2AEEDC2}"/>
              </a:ext>
            </a:extLst>
          </p:cNvPr>
          <p:cNvSpPr>
            <a:spLocks noGrp="1"/>
          </p:cNvSpPr>
          <p:nvPr>
            <p:ph type="title"/>
          </p:nvPr>
        </p:nvSpPr>
        <p:spPr/>
        <p:txBody>
          <a:bodyPr/>
          <a:lstStyle/>
          <a:p>
            <a:pPr eaLnBrk="1" hangingPunct="1">
              <a:defRPr/>
            </a:pPr>
            <a:r>
              <a:rPr lang="en-US" dirty="0"/>
              <a:t>Break Statement</a:t>
            </a:r>
          </a:p>
        </p:txBody>
      </p:sp>
      <p:pic>
        <p:nvPicPr>
          <p:cNvPr id="50180" name="Picture 4">
            <a:extLst>
              <a:ext uri="{FF2B5EF4-FFF2-40B4-BE49-F238E27FC236}">
                <a16:creationId xmlns:a16="http://schemas.microsoft.com/office/drawing/2014/main" id="{56B8D3B6-F5C5-BE5C-B827-7291012B8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5581" y="3015342"/>
            <a:ext cx="327977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B9E26-7F0E-733B-36F5-1CBB508F62D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7FBE805-B9E1-51BD-F1DA-D55C80C786C1}"/>
              </a:ext>
            </a:extLst>
          </p:cNvPr>
          <p:cNvPicPr>
            <a:picLocks noGrp="1" noChangeAspect="1"/>
          </p:cNvPicPr>
          <p:nvPr>
            <p:ph idx="1"/>
          </p:nvPr>
        </p:nvPicPr>
        <p:blipFill>
          <a:blip r:embed="rId2"/>
          <a:stretch>
            <a:fillRect/>
          </a:stretch>
        </p:blipFill>
        <p:spPr>
          <a:xfrm>
            <a:off x="1903315" y="1846263"/>
            <a:ext cx="8445695" cy="4022725"/>
          </a:xfrm>
          <a:prstGeom prst="rect">
            <a:avLst/>
          </a:prstGeom>
        </p:spPr>
      </p:pic>
    </p:spTree>
    <p:extLst>
      <p:ext uri="{BB962C8B-B14F-4D97-AF65-F5344CB8AC3E}">
        <p14:creationId xmlns:p14="http://schemas.microsoft.com/office/powerpoint/2010/main" val="1971399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AD19877A-6A9D-EA0A-7512-B28DB31BC3D2}"/>
              </a:ext>
            </a:extLst>
          </p:cNvPr>
          <p:cNvSpPr>
            <a:spLocks noGrp="1"/>
          </p:cNvSpPr>
          <p:nvPr>
            <p:ph idx="1"/>
          </p:nvPr>
        </p:nvSpPr>
        <p:spPr/>
        <p:txBody>
          <a:bodyPr>
            <a:normAutofit fontScale="85000" lnSpcReduction="20000"/>
          </a:bodyPr>
          <a:lstStyle/>
          <a:p>
            <a:pPr eaLnBrk="1" hangingPunct="1"/>
            <a:r>
              <a:rPr lang="en-US" altLang="en-US" dirty="0"/>
              <a:t>The return statement is used to return from the current method: it causes program control to transfer back to the caller of the method.</a:t>
            </a:r>
          </a:p>
          <a:p>
            <a:pPr eaLnBrk="1" hangingPunct="1"/>
            <a:r>
              <a:rPr lang="en-US" altLang="en-US" dirty="0"/>
              <a:t>The return statement returns the flow of the execution to the function from where it is called.</a:t>
            </a:r>
          </a:p>
          <a:p>
            <a:pPr eaLnBrk="1" hangingPunct="1"/>
            <a:r>
              <a:rPr lang="en-US" altLang="en-US" dirty="0"/>
              <a:t>This statement does not mandatorily need any conditional statements. As soon as the statement is executed, the flow of the program stops immediately and returns the control from where it was called. </a:t>
            </a:r>
          </a:p>
          <a:p>
            <a:pPr eaLnBrk="1" hangingPunct="1"/>
            <a:r>
              <a:rPr lang="en-US" altLang="en-US" dirty="0"/>
              <a:t>The return statement may or may not return anything for a void function, but for a non-void function, a return value must be returned.</a:t>
            </a:r>
          </a:p>
          <a:p>
            <a:pPr eaLnBrk="1" hangingPunct="1"/>
            <a:endParaRPr lang="en-US" altLang="en-US" dirty="0"/>
          </a:p>
          <a:p>
            <a:pPr eaLnBrk="1" hangingPunct="1"/>
            <a:r>
              <a:rPr lang="en-US" altLang="en-US" dirty="0"/>
              <a:t>Two forms:</a:t>
            </a:r>
          </a:p>
          <a:p>
            <a:pPr lvl="1" eaLnBrk="1" hangingPunct="1"/>
            <a:r>
              <a:rPr lang="en-US" altLang="en-US" dirty="0"/>
              <a:t>return without value</a:t>
            </a:r>
          </a:p>
          <a:p>
            <a:pPr eaLnBrk="1" hangingPunct="1">
              <a:buFont typeface="Wingdings 3" panose="05040102010807070707" pitchFamily="18" charset="2"/>
              <a:buNone/>
            </a:pPr>
            <a:r>
              <a:rPr lang="en-US" altLang="en-US" dirty="0"/>
              <a:t>        return;</a:t>
            </a:r>
          </a:p>
          <a:p>
            <a:pPr lvl="1" eaLnBrk="1" hangingPunct="1"/>
            <a:r>
              <a:rPr lang="en-US" altLang="en-US" dirty="0"/>
              <a:t>return with value</a:t>
            </a:r>
          </a:p>
          <a:p>
            <a:pPr eaLnBrk="1" hangingPunct="1">
              <a:buFont typeface="Wingdings 3" panose="05040102010807070707" pitchFamily="18" charset="2"/>
              <a:buNone/>
            </a:pPr>
            <a:r>
              <a:rPr lang="en-US" altLang="en-US" dirty="0"/>
              <a:t>        return expression;</a:t>
            </a:r>
          </a:p>
        </p:txBody>
      </p:sp>
      <p:sp>
        <p:nvSpPr>
          <p:cNvPr id="3" name="Title 2">
            <a:extLst>
              <a:ext uri="{FF2B5EF4-FFF2-40B4-BE49-F238E27FC236}">
                <a16:creationId xmlns:a16="http://schemas.microsoft.com/office/drawing/2014/main" id="{4073AFA4-BC26-0107-583D-93DE54BA8109}"/>
              </a:ext>
            </a:extLst>
          </p:cNvPr>
          <p:cNvSpPr>
            <a:spLocks noGrp="1"/>
          </p:cNvSpPr>
          <p:nvPr>
            <p:ph type="title"/>
          </p:nvPr>
        </p:nvSpPr>
        <p:spPr/>
        <p:txBody>
          <a:bodyPr/>
          <a:lstStyle/>
          <a:p>
            <a:pPr eaLnBrk="1" hangingPunct="1">
              <a:defRPr/>
            </a:pPr>
            <a:r>
              <a:rPr lang="en-US" dirty="0"/>
              <a:t>Return statement</a:t>
            </a:r>
          </a:p>
        </p:txBody>
      </p:sp>
      <p:pic>
        <p:nvPicPr>
          <p:cNvPr id="51204" name="Picture 4">
            <a:extLst>
              <a:ext uri="{FF2B5EF4-FFF2-40B4-BE49-F238E27FC236}">
                <a16:creationId xmlns:a16="http://schemas.microsoft.com/office/drawing/2014/main" id="{221F6D7C-EDB7-4AE0-10A9-D351C67D28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4724" y="3679426"/>
            <a:ext cx="2910956" cy="2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C378-3C10-21C5-E30B-AAD18471FCE4}"/>
              </a:ext>
            </a:extLst>
          </p:cNvPr>
          <p:cNvSpPr>
            <a:spLocks noGrp="1"/>
          </p:cNvSpPr>
          <p:nvPr>
            <p:ph type="title"/>
          </p:nvPr>
        </p:nvSpPr>
        <p:spPr/>
        <p:txBody>
          <a:bodyPr/>
          <a:lstStyle/>
          <a:p>
            <a:r>
              <a:rPr lang="en-US" dirty="0"/>
              <a:t>Example</a:t>
            </a:r>
          </a:p>
        </p:txBody>
      </p:sp>
      <p:pic>
        <p:nvPicPr>
          <p:cNvPr id="7" name="Content Placeholder 6">
            <a:extLst>
              <a:ext uri="{FF2B5EF4-FFF2-40B4-BE49-F238E27FC236}">
                <a16:creationId xmlns:a16="http://schemas.microsoft.com/office/drawing/2014/main" id="{A54B448C-5B40-CF18-320B-024A6B3ADDB6}"/>
              </a:ext>
            </a:extLst>
          </p:cNvPr>
          <p:cNvPicPr>
            <a:picLocks noGrp="1" noChangeAspect="1"/>
          </p:cNvPicPr>
          <p:nvPr>
            <p:ph idx="1"/>
          </p:nvPr>
        </p:nvPicPr>
        <p:blipFill>
          <a:blip r:embed="rId2"/>
          <a:stretch>
            <a:fillRect/>
          </a:stretch>
        </p:blipFill>
        <p:spPr>
          <a:xfrm>
            <a:off x="1976867" y="1883585"/>
            <a:ext cx="7925368" cy="4022725"/>
          </a:xfrm>
          <a:prstGeom prst="rect">
            <a:avLst/>
          </a:prstGeom>
        </p:spPr>
      </p:pic>
    </p:spTree>
    <p:extLst>
      <p:ext uri="{BB962C8B-B14F-4D97-AF65-F5344CB8AC3E}">
        <p14:creationId xmlns:p14="http://schemas.microsoft.com/office/powerpoint/2010/main" val="3264398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a:extLst>
              <a:ext uri="{FF2B5EF4-FFF2-40B4-BE49-F238E27FC236}">
                <a16:creationId xmlns:a16="http://schemas.microsoft.com/office/drawing/2014/main" id="{FB688746-B256-4232-B269-7A305C24D635}"/>
              </a:ext>
            </a:extLst>
          </p:cNvPr>
          <p:cNvSpPr>
            <a:spLocks noGrp="1"/>
          </p:cNvSpPr>
          <p:nvPr>
            <p:ph idx="1"/>
          </p:nvPr>
        </p:nvSpPr>
        <p:spPr/>
        <p:txBody>
          <a:bodyPr/>
          <a:lstStyle/>
          <a:p>
            <a:pPr eaLnBrk="1" hangingPunct="1"/>
            <a:r>
              <a:rPr lang="en-US" altLang="en-US" dirty="0"/>
              <a:t>The break statement terminates the block of code, in particular it terminates the execution of an iterative statement.</a:t>
            </a:r>
          </a:p>
          <a:p>
            <a:pPr eaLnBrk="1" hangingPunct="1"/>
            <a:r>
              <a:rPr lang="en-US" altLang="en-US" dirty="0"/>
              <a:t>The continue statement forces the early termination of the current iteration to begin immediately the next iteration.</a:t>
            </a:r>
          </a:p>
          <a:p>
            <a:r>
              <a:rPr lang="en-US" sz="2000" dirty="0"/>
              <a:t>When continue statement is used inside the body of the loop it shifts the control to the start of the loop body.</a:t>
            </a:r>
          </a:p>
          <a:p>
            <a:r>
              <a:rPr lang="en-US" sz="2000" dirty="0"/>
              <a:t>When this statement is executed in the loop body, the remaining statements of current iteration are not executed.</a:t>
            </a:r>
          </a:p>
          <a:p>
            <a:r>
              <a:rPr lang="en-US" sz="2000" dirty="0"/>
              <a:t>The control directly moves to the next iteration.</a:t>
            </a:r>
          </a:p>
          <a:p>
            <a:pPr eaLnBrk="1" hangingPunct="1"/>
            <a:endParaRPr lang="en-US" altLang="en-US" dirty="0"/>
          </a:p>
        </p:txBody>
      </p:sp>
      <p:sp>
        <p:nvSpPr>
          <p:cNvPr id="3" name="Title 2">
            <a:extLst>
              <a:ext uri="{FF2B5EF4-FFF2-40B4-BE49-F238E27FC236}">
                <a16:creationId xmlns:a16="http://schemas.microsoft.com/office/drawing/2014/main" id="{5DFDB8BE-FFA6-0AD2-EF1C-CB9C12C5F1FB}"/>
              </a:ext>
            </a:extLst>
          </p:cNvPr>
          <p:cNvSpPr>
            <a:spLocks noGrp="1"/>
          </p:cNvSpPr>
          <p:nvPr>
            <p:ph type="title"/>
          </p:nvPr>
        </p:nvSpPr>
        <p:spPr/>
        <p:txBody>
          <a:bodyPr/>
          <a:lstStyle/>
          <a:p>
            <a:pPr eaLnBrk="1" hangingPunct="1">
              <a:defRPr/>
            </a:pPr>
            <a:r>
              <a:rPr lang="en-US" dirty="0"/>
              <a:t>Continue Statement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B04D8-6833-540D-FEED-683D0335E89D}"/>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732C9BA-BF06-5007-9BE0-DBD0D2C3FB14}"/>
              </a:ext>
            </a:extLst>
          </p:cNvPr>
          <p:cNvPicPr>
            <a:picLocks noGrp="1" noChangeAspect="1"/>
          </p:cNvPicPr>
          <p:nvPr>
            <p:ph idx="1"/>
          </p:nvPr>
        </p:nvPicPr>
        <p:blipFill>
          <a:blip r:embed="rId2"/>
          <a:stretch>
            <a:fillRect/>
          </a:stretch>
        </p:blipFill>
        <p:spPr>
          <a:xfrm>
            <a:off x="1903315" y="1846263"/>
            <a:ext cx="8445695" cy="4022725"/>
          </a:xfrm>
          <a:prstGeom prst="rect">
            <a:avLst/>
          </a:prstGeom>
        </p:spPr>
      </p:pic>
    </p:spTree>
    <p:extLst>
      <p:ext uri="{BB962C8B-B14F-4D97-AF65-F5344CB8AC3E}">
        <p14:creationId xmlns:p14="http://schemas.microsoft.com/office/powerpoint/2010/main" val="5549558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ACA98C8-C834-3B6C-CB3F-A045764DC54D}"/>
              </a:ext>
            </a:extLst>
          </p:cNvPr>
          <p:cNvSpPr>
            <a:spLocks noChangeArrowheads="1"/>
          </p:cNvSpPr>
          <p:nvPr/>
        </p:nvSpPr>
        <p:spPr bwMode="auto">
          <a:xfrm>
            <a:off x="1905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br>
              <a:rPr lang="en-US" altLang="en-US" sz="2400">
                <a:solidFill>
                  <a:schemeClr val="tx2"/>
                </a:solidFill>
                <a:latin typeface="Lucida Sans Unicode" panose="020B0602030504020204" pitchFamily="34" charset="0"/>
              </a:rPr>
            </a:br>
            <a:endParaRPr lang="en-US" altLang="en-US" sz="2400">
              <a:solidFill>
                <a:schemeClr val="tx2"/>
              </a:solidFill>
              <a:latin typeface="Lucida Sans Unicode" panose="020B0602030504020204" pitchFamily="34" charset="0"/>
            </a:endParaRPr>
          </a:p>
        </p:txBody>
      </p:sp>
      <p:sp>
        <p:nvSpPr>
          <p:cNvPr id="53251" name="Title 1">
            <a:extLst>
              <a:ext uri="{FF2B5EF4-FFF2-40B4-BE49-F238E27FC236}">
                <a16:creationId xmlns:a16="http://schemas.microsoft.com/office/drawing/2014/main" id="{9D319A4A-127B-35ED-4107-7BB488E7519F}"/>
              </a:ext>
            </a:extLst>
          </p:cNvPr>
          <p:cNvSpPr txBox="1">
            <a:spLocks/>
          </p:cNvSpPr>
          <p:nvPr/>
        </p:nvSpPr>
        <p:spPr bwMode="auto">
          <a:xfrm>
            <a:off x="2209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4400">
                <a:latin typeface="Calibri" panose="020F0502020204030204" pitchFamily="34" charset="0"/>
              </a:rPr>
              <a:t>Questions?</a:t>
            </a:r>
          </a:p>
        </p:txBody>
      </p:sp>
    </p:spTree>
  </p:cSld>
  <p:clrMapOvr>
    <a:masterClrMapping/>
  </p:clrMapOvr>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1413</TotalTime>
  <Words>2604</Words>
  <Application>Microsoft Office PowerPoint</Application>
  <PresentationFormat>Widescreen</PresentationFormat>
  <Paragraphs>437</Paragraphs>
  <Slides>58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58</vt:i4>
      </vt:variant>
    </vt:vector>
  </HeadingPairs>
  <TitlesOfParts>
    <vt:vector size="70" baseType="lpstr">
      <vt:lpstr>Arial</vt:lpstr>
      <vt:lpstr>Calibri</vt:lpstr>
      <vt:lpstr>Calibri Light</vt:lpstr>
      <vt:lpstr>Georgia</vt:lpstr>
      <vt:lpstr>Lucida Sans Unicode</vt:lpstr>
      <vt:lpstr>Symbol</vt:lpstr>
      <vt:lpstr>Times New Roman</vt:lpstr>
      <vt:lpstr>Verdana</vt:lpstr>
      <vt:lpstr>Wingdings</vt:lpstr>
      <vt:lpstr>Wingdings 2</vt:lpstr>
      <vt:lpstr>Wingdings 3</vt:lpstr>
      <vt:lpstr>Retrospect</vt:lpstr>
      <vt:lpstr>Data Structures &amp; Algorithm</vt:lpstr>
      <vt:lpstr>Google Classroom Codes</vt:lpstr>
      <vt:lpstr>Evaluation Criteria</vt:lpstr>
      <vt:lpstr>Quizzes</vt:lpstr>
      <vt:lpstr>How to perform well? </vt:lpstr>
      <vt:lpstr>Few Things to Remember</vt:lpstr>
      <vt:lpstr>Course Objectives</vt:lpstr>
      <vt:lpstr>PowerPoint Presentation</vt:lpstr>
      <vt:lpstr>Mapping of CLO’s to GA’s</vt:lpstr>
      <vt:lpstr>Text and Reference Books</vt:lpstr>
      <vt:lpstr>Course Overview</vt:lpstr>
      <vt:lpstr>Prerequisites</vt:lpstr>
      <vt:lpstr>Programming Basics</vt:lpstr>
      <vt:lpstr>Today’s Goal</vt:lpstr>
      <vt:lpstr>Variable and Constant</vt:lpstr>
      <vt:lpstr>Constant</vt:lpstr>
      <vt:lpstr>Variable</vt:lpstr>
      <vt:lpstr>What Makes a Variable?</vt:lpstr>
      <vt:lpstr>An Example of a Variable</vt:lpstr>
      <vt:lpstr>Rules for naming a variable</vt:lpstr>
      <vt:lpstr>Some Examples</vt:lpstr>
      <vt:lpstr>Type of a Variable-Data type</vt:lpstr>
      <vt:lpstr>Int</vt:lpstr>
      <vt:lpstr>Data type for real numbers-float</vt:lpstr>
      <vt:lpstr>Data type for real numbers-double</vt:lpstr>
      <vt:lpstr>Relative Comparison of int and double</vt:lpstr>
      <vt:lpstr>Char Data Type</vt:lpstr>
      <vt:lpstr>Boolean Data Type</vt:lpstr>
      <vt:lpstr>Variable declarations</vt:lpstr>
      <vt:lpstr>Operators used in Computer Programming</vt:lpstr>
      <vt:lpstr>Increment/ Decrement Operators</vt:lpstr>
      <vt:lpstr>Relational Operator</vt:lpstr>
      <vt:lpstr>Logical Operators</vt:lpstr>
      <vt:lpstr>Control Flow</vt:lpstr>
      <vt:lpstr>Types of control flow statements</vt:lpstr>
      <vt:lpstr>Simple/Compound if statements</vt:lpstr>
      <vt:lpstr>If-else statement</vt:lpstr>
      <vt:lpstr>If-else-if statement</vt:lpstr>
      <vt:lpstr>Example</vt:lpstr>
      <vt:lpstr>Example</vt:lpstr>
      <vt:lpstr>Switch statement</vt:lpstr>
      <vt:lpstr>Example</vt:lpstr>
      <vt:lpstr>Example</vt:lpstr>
      <vt:lpstr>while</vt:lpstr>
      <vt:lpstr>Example</vt:lpstr>
      <vt:lpstr>Example</vt:lpstr>
      <vt:lpstr>Do-while statement</vt:lpstr>
      <vt:lpstr>Example</vt:lpstr>
      <vt:lpstr>Example</vt:lpstr>
      <vt:lpstr>For statement</vt:lpstr>
      <vt:lpstr>Example</vt:lpstr>
      <vt:lpstr>Break Statement</vt:lpstr>
      <vt:lpstr>PowerPoint Presentation</vt:lpstr>
      <vt:lpstr>Return statement</vt:lpstr>
      <vt:lpstr>Example</vt:lpstr>
      <vt:lpstr>Continue Statement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&amp; Algorithm</dc:title>
  <dc:creator>Habiba Arshad</dc:creator>
  <cp:lastModifiedBy>Rida Zahra</cp:lastModifiedBy>
  <cp:revision>34</cp:revision>
  <dcterms:created xsi:type="dcterms:W3CDTF">2022-10-02T18:21:51Z</dcterms:created>
  <dcterms:modified xsi:type="dcterms:W3CDTF">2025-10-14T03:22:05Z</dcterms:modified>
</cp:coreProperties>
</file>