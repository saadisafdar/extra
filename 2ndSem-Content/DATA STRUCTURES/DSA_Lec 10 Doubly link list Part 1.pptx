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3" r:id="rId2"/>
    <p:sldId id="324" r:id="rId3"/>
    <p:sldId id="528" r:id="rId4"/>
    <p:sldId id="498" r:id="rId5"/>
    <p:sldId id="521" r:id="rId6"/>
    <p:sldId id="499" r:id="rId7"/>
    <p:sldId id="500" r:id="rId8"/>
    <p:sldId id="522" r:id="rId9"/>
    <p:sldId id="523" r:id="rId10"/>
    <p:sldId id="527" r:id="rId11"/>
    <p:sldId id="512" r:id="rId12"/>
    <p:sldId id="505" r:id="rId13"/>
    <p:sldId id="524" r:id="rId14"/>
    <p:sldId id="525" r:id="rId15"/>
    <p:sldId id="526" r:id="rId16"/>
    <p:sldId id="513" r:id="rId17"/>
    <p:sldId id="514" r:id="rId18"/>
    <p:sldId id="515" r:id="rId19"/>
    <p:sldId id="516" r:id="rId20"/>
    <p:sldId id="517" r:id="rId21"/>
    <p:sldId id="520" r:id="rId22"/>
    <p:sldId id="518" r:id="rId23"/>
    <p:sldId id="529" r:id="rId24"/>
    <p:sldId id="530" r:id="rId25"/>
    <p:sldId id="53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793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8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62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2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8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1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4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0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6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0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7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DC88A9-39F9-4A23-830D-9B4DEF91EFA2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5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567419-CD58-5328-C2F1-E597579DF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8915400" cy="1830388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dirty="0"/>
              <a:t>Data Structure and Algorithm</a:t>
            </a:r>
          </a:p>
        </p:txBody>
      </p:sp>
      <p:sp>
        <p:nvSpPr>
          <p:cNvPr id="9219" name="Subtitle 4">
            <a:extLst>
              <a:ext uri="{FF2B5EF4-FFF2-40B4-BE49-F238E27FC236}">
                <a16:creationId xmlns:a16="http://schemas.microsoft.com/office/drawing/2014/main" id="{A8EB6202-F0CB-E961-842F-255AEA9CE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045" y="4591278"/>
            <a:ext cx="7772400" cy="1200150"/>
          </a:xfrm>
        </p:spPr>
        <p:txBody>
          <a:bodyPr>
            <a:normAutofit/>
          </a:bodyPr>
          <a:lstStyle/>
          <a:p>
            <a:r>
              <a:rPr lang="en-GB" altLang="en-US" dirty="0"/>
              <a:t>Course Code: CS-201 </a:t>
            </a:r>
          </a:p>
          <a:p>
            <a:r>
              <a:rPr lang="en-GB" altLang="en-US" dirty="0"/>
              <a:t>Topic: Doubly link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1">
            <a:extLst>
              <a:ext uri="{FF2B5EF4-FFF2-40B4-BE49-F238E27FC236}">
                <a16:creationId xmlns:a16="http://schemas.microsoft.com/office/drawing/2014/main" id="{A4C76B8E-B573-F5FE-9938-A1E666390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50098"/>
            <a:ext cx="8305800" cy="4057002"/>
          </a:xfrm>
        </p:spPr>
        <p:txBody>
          <a:bodyPr/>
          <a:lstStyle/>
          <a:p>
            <a:r>
              <a:rPr lang="en-GB" altLang="en-US" dirty="0"/>
              <a:t>To study:</a:t>
            </a:r>
          </a:p>
          <a:p>
            <a:pPr>
              <a:buFont typeface="Wingdings 3" panose="05040102010807070707" pitchFamily="18" charset="2"/>
              <a:buNone/>
            </a:pPr>
            <a:endParaRPr lang="en-GB" altLang="en-US" dirty="0"/>
          </a:p>
          <a:p>
            <a:pPr lvl="1"/>
            <a:r>
              <a:rPr lang="en-US" altLang="en-US" sz="2800" dirty="0" err="1"/>
              <a:t>Linkedlist</a:t>
            </a:r>
            <a:endParaRPr lang="en-US" altLang="en-US" sz="2800" dirty="0"/>
          </a:p>
          <a:p>
            <a:pPr lvl="2"/>
            <a:r>
              <a:rPr lang="en-US" altLang="en-US" sz="2000" dirty="0"/>
              <a:t>Doubly/ Two-way linked list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EFC342-F429-4528-95FF-841C830E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Goals for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CAC4-F23C-5428-87B2-400279D20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D345C-9DF2-BA87-84FA-64CC96392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CLO1: </a:t>
            </a:r>
            <a:r>
              <a:rPr lang="en-US" sz="2800" b="1" dirty="0"/>
              <a:t>Explain the </a:t>
            </a:r>
            <a:r>
              <a:rPr lang="en-US" sz="2800" dirty="0"/>
              <a:t>fundamentals of data structure as well as algorithms that operate on them</a:t>
            </a:r>
          </a:p>
          <a:p>
            <a:r>
              <a:rPr lang="en-US" sz="2800" dirty="0"/>
              <a:t>CLO2: </a:t>
            </a:r>
            <a:r>
              <a:rPr lang="en-US" sz="2800" b="1" dirty="0"/>
              <a:t>Apply</a:t>
            </a:r>
            <a:r>
              <a:rPr lang="en-US" sz="2800" dirty="0"/>
              <a:t> and design various data structures methods for specified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3081079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8AC8D-6B8B-B59A-7869-EE2213991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Two-Way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9152D-A2B7-7EFA-C736-1CF18CC47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380" y="1951037"/>
            <a:ext cx="9790300" cy="4151183"/>
          </a:xfrm>
        </p:spPr>
        <p:txBody>
          <a:bodyPr/>
          <a:lstStyle/>
          <a:p>
            <a:r>
              <a:rPr lang="en-US" altLang="en-US" sz="2400" dirty="0"/>
              <a:t>What we have discussed till now is a </a:t>
            </a:r>
            <a:r>
              <a:rPr lang="en-US" altLang="en-US" sz="2400" b="1" dirty="0">
                <a:solidFill>
                  <a:srgbClr val="FF0000"/>
                </a:solidFill>
              </a:rPr>
              <a:t>one-way </a:t>
            </a:r>
            <a:r>
              <a:rPr lang="en-US" altLang="en-US" sz="2400" dirty="0"/>
              <a:t>list [ Only one way we can traversed the list] </a:t>
            </a:r>
          </a:p>
          <a:p>
            <a:pPr marL="469265" marR="5080" indent="-457200">
              <a:lnSpc>
                <a:spcPct val="92600"/>
              </a:lnSpc>
              <a:spcBef>
                <a:spcPts val="384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In a single linked list, every node has a link to its next node in the sequence.</a:t>
            </a:r>
          </a:p>
          <a:p>
            <a:pPr marL="469265" marR="5080" indent="-457200">
              <a:lnSpc>
                <a:spcPct val="92600"/>
              </a:lnSpc>
              <a:spcBef>
                <a:spcPts val="384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So, we can traverse from one node to another node only in one direction and we can not traverse back. </a:t>
            </a:r>
          </a:p>
          <a:p>
            <a:pPr marL="469265" marR="5080" indent="-457200">
              <a:lnSpc>
                <a:spcPct val="92600"/>
              </a:lnSpc>
              <a:spcBef>
                <a:spcPts val="384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/>
                <a:cs typeface="Times New Roman"/>
              </a:rPr>
              <a:t>We can solve this kind of problem by using a double linked list. </a:t>
            </a:r>
          </a:p>
          <a:p>
            <a:r>
              <a:rPr lang="en-US" altLang="en-US" sz="2400" dirty="0"/>
              <a:t>Two-way List : Can be traversed in two direction </a:t>
            </a:r>
          </a:p>
          <a:p>
            <a:pPr lvl="1"/>
            <a:r>
              <a:rPr lang="en-US" altLang="en-US" sz="2000" dirty="0"/>
              <a:t>Forward : From beginning of the list to end</a:t>
            </a:r>
          </a:p>
          <a:p>
            <a:pPr lvl="1"/>
            <a:r>
              <a:rPr lang="en-US" altLang="en-US" sz="2000" dirty="0"/>
              <a:t>Backward: From end to beginning of the list 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0727-1D39-910D-8745-AE1DCE591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CB05F-1D6B-6A25-4323-8245637D4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5080" indent="0">
              <a:lnSpc>
                <a:spcPct val="92600"/>
              </a:lnSpc>
              <a:spcBef>
                <a:spcPts val="384"/>
              </a:spcBef>
              <a:buNone/>
            </a:pPr>
            <a:r>
              <a:rPr lang="en-US" sz="2800" dirty="0">
                <a:latin typeface="Times New Roman"/>
                <a:cs typeface="Times New Roman"/>
              </a:rPr>
              <a:t>Double </a:t>
            </a:r>
            <a:r>
              <a:rPr lang="en-US" sz="2800" spc="-5" dirty="0">
                <a:latin typeface="Times New Roman"/>
                <a:cs typeface="Times New Roman"/>
              </a:rPr>
              <a:t>linked list is </a:t>
            </a:r>
            <a:r>
              <a:rPr lang="en-US" sz="2800" dirty="0">
                <a:latin typeface="Times New Roman"/>
                <a:cs typeface="Times New Roman"/>
              </a:rPr>
              <a:t>a sequence of elements </a:t>
            </a:r>
            <a:r>
              <a:rPr lang="en-US" sz="2800" spc="-5" dirty="0">
                <a:latin typeface="Times New Roman"/>
                <a:cs typeface="Times New Roman"/>
              </a:rPr>
              <a:t>in which  </a:t>
            </a:r>
            <a:r>
              <a:rPr lang="en-US" sz="2800" dirty="0">
                <a:latin typeface="Times New Roman"/>
                <a:cs typeface="Times New Roman"/>
              </a:rPr>
              <a:t>every element has </a:t>
            </a:r>
            <a:r>
              <a:rPr lang="en-US" sz="2800" spc="-5" dirty="0">
                <a:latin typeface="Times New Roman"/>
                <a:cs typeface="Times New Roman"/>
              </a:rPr>
              <a:t>links to its </a:t>
            </a:r>
            <a:r>
              <a:rPr lang="en-US" sz="2800" dirty="0">
                <a:latin typeface="Times New Roman"/>
                <a:cs typeface="Times New Roman"/>
              </a:rPr>
              <a:t>previous element and  next element </a:t>
            </a:r>
            <a:r>
              <a:rPr lang="en-US" sz="2800" spc="-5" dirty="0">
                <a:latin typeface="Times New Roman"/>
                <a:cs typeface="Times New Roman"/>
              </a:rPr>
              <a:t>in the</a:t>
            </a:r>
            <a:r>
              <a:rPr lang="en-US" sz="2800" spc="-1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sequence.</a:t>
            </a:r>
          </a:p>
          <a:p>
            <a:pPr marL="0" indent="0">
              <a:buNone/>
            </a:pPr>
            <a:r>
              <a:rPr lang="en-US" sz="2800" kern="0" dirty="0"/>
              <a:t>So, we can traverse forward by using the next field and can traverse backward by using the previous field. </a:t>
            </a:r>
          </a:p>
          <a:p>
            <a:pPr marL="0" indent="0">
              <a:buNone/>
            </a:pPr>
            <a:r>
              <a:rPr lang="en-US" sz="2800" kern="0" dirty="0"/>
              <a:t>Every node in a double linked list contains three fields and they are shown in the following figure...</a:t>
            </a:r>
            <a:endParaRPr lang="en-US" sz="1800" kern="0" dirty="0">
              <a:solidFill>
                <a:sysClr val="windowText" lastClr="000000"/>
              </a:solidFill>
            </a:endParaRPr>
          </a:p>
          <a:p>
            <a:pPr marL="12065" marR="5080">
              <a:lnSpc>
                <a:spcPct val="92600"/>
              </a:lnSpc>
              <a:spcBef>
                <a:spcPts val="384"/>
              </a:spcBef>
            </a:pPr>
            <a:endParaRPr lang="en-US" sz="2800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1026" name="Picture 2" descr="Doubly linked list">
            <a:extLst>
              <a:ext uri="{FF2B5EF4-FFF2-40B4-BE49-F238E27FC236}">
                <a16:creationId xmlns:a16="http://schemas.microsoft.com/office/drawing/2014/main" id="{65A97769-9AE7-B03B-17C0-F77CCA298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594170"/>
            <a:ext cx="32670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560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8B57-DCA1-8A4D-7C2D-D0309C69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28" y="731836"/>
            <a:ext cx="8229600" cy="792162"/>
          </a:xfrm>
        </p:spPr>
        <p:txBody>
          <a:bodyPr/>
          <a:lstStyle/>
          <a:p>
            <a:pPr>
              <a:defRPr/>
            </a:pPr>
            <a:r>
              <a:rPr lang="en-US" dirty="0"/>
              <a:t>Two-Way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33687-C13A-7885-AB0C-42AE094F9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1012" y="1978090"/>
            <a:ext cx="9899780" cy="4148074"/>
          </a:xfrm>
        </p:spPr>
        <p:txBody>
          <a:bodyPr/>
          <a:lstStyle/>
          <a:p>
            <a:r>
              <a:rPr lang="en-US" altLang="en-US" sz="2800" dirty="0"/>
              <a:t>A </a:t>
            </a:r>
            <a:r>
              <a:rPr lang="en-US" altLang="en-US" sz="2800" b="1" dirty="0">
                <a:solidFill>
                  <a:srgbClr val="FF0000"/>
                </a:solidFill>
              </a:rPr>
              <a:t>two-way list </a:t>
            </a:r>
            <a:r>
              <a:rPr lang="en-US" altLang="en-US" sz="2800" dirty="0"/>
              <a:t>is a linear collection of data element called nodes where each node </a:t>
            </a:r>
            <a:r>
              <a:rPr lang="en-US" altLang="en-US" sz="2800" b="1" dirty="0">
                <a:solidFill>
                  <a:srgbClr val="FF0000"/>
                </a:solidFill>
              </a:rPr>
              <a:t>N</a:t>
            </a:r>
            <a:r>
              <a:rPr lang="en-US" altLang="en-US" sz="2800" dirty="0"/>
              <a:t> is divided into </a:t>
            </a:r>
            <a:r>
              <a:rPr lang="en-US" altLang="en-US" sz="2800" b="1" dirty="0">
                <a:solidFill>
                  <a:srgbClr val="FF0000"/>
                </a:solidFill>
              </a:rPr>
              <a:t>three parts</a:t>
            </a:r>
            <a:r>
              <a:rPr lang="en-US" altLang="en-US" sz="2800" dirty="0"/>
              <a:t>:</a:t>
            </a:r>
          </a:p>
          <a:p>
            <a:pPr lvl="1"/>
            <a:r>
              <a:rPr lang="en-US" altLang="en-US" sz="2800" dirty="0"/>
              <a:t>An </a:t>
            </a:r>
            <a:r>
              <a:rPr lang="en-US" altLang="en-US" sz="2800" b="1" dirty="0">
                <a:solidFill>
                  <a:srgbClr val="FF0000"/>
                </a:solidFill>
              </a:rPr>
              <a:t>information field  </a:t>
            </a:r>
            <a:r>
              <a:rPr lang="en-US" altLang="en-US" sz="2800" dirty="0"/>
              <a:t>INFO  which contains the data of N</a:t>
            </a:r>
          </a:p>
          <a:p>
            <a:pPr lvl="1"/>
            <a:r>
              <a:rPr lang="en-US" altLang="en-US" sz="2800" dirty="0"/>
              <a:t>A </a:t>
            </a:r>
            <a:r>
              <a:rPr lang="en-US" altLang="en-US" sz="2800" b="1" dirty="0">
                <a:solidFill>
                  <a:srgbClr val="FF0000"/>
                </a:solidFill>
              </a:rPr>
              <a:t>pointer field </a:t>
            </a:r>
            <a:r>
              <a:rPr lang="en-US" altLang="en-US" sz="2800" b="1" dirty="0"/>
              <a:t>‘</a:t>
            </a:r>
            <a:r>
              <a:rPr lang="en-US" altLang="en-US" sz="2800" dirty="0" err="1">
                <a:solidFill>
                  <a:srgbClr val="002060"/>
                </a:solidFill>
              </a:rPr>
              <a:t>NEXT_link</a:t>
            </a:r>
            <a:r>
              <a:rPr lang="en-US" altLang="en-US" sz="2800" dirty="0"/>
              <a:t>’ which contains the location of the next node in the list</a:t>
            </a:r>
          </a:p>
          <a:p>
            <a:pPr lvl="1"/>
            <a:r>
              <a:rPr lang="en-US" altLang="en-US" sz="2800" dirty="0"/>
              <a:t>A </a:t>
            </a:r>
            <a:r>
              <a:rPr lang="en-US" altLang="en-US" sz="2800" b="1" dirty="0">
                <a:solidFill>
                  <a:srgbClr val="FF0000"/>
                </a:solidFill>
              </a:rPr>
              <a:t>pointer field </a:t>
            </a:r>
            <a:r>
              <a:rPr lang="en-US" altLang="en-US" sz="2800" dirty="0"/>
              <a:t>‘</a:t>
            </a:r>
            <a:r>
              <a:rPr lang="en-US" altLang="en-US" sz="2800" dirty="0" err="1"/>
              <a:t>PREVIOUS_link</a:t>
            </a:r>
            <a:r>
              <a:rPr lang="en-US" altLang="en-US" sz="2800" dirty="0"/>
              <a:t>’ which contains the location of the preceding node in the list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1C82-6B7C-B776-9C74-777E70F4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505619"/>
            <a:ext cx="8229600" cy="1020762"/>
          </a:xfrm>
        </p:spPr>
        <p:txBody>
          <a:bodyPr/>
          <a:lstStyle/>
          <a:p>
            <a:pPr>
              <a:defRPr/>
            </a:pPr>
            <a:r>
              <a:rPr lang="en-US" dirty="0"/>
              <a:t>Two-Way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7E829-A26A-E874-E37E-12E2592BF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/>
              <a:t>List requires two pointer variables:</a:t>
            </a:r>
          </a:p>
          <a:p>
            <a:pPr lvl="1"/>
            <a:r>
              <a:rPr lang="en-US" altLang="en-US" sz="2800" b="1" dirty="0">
                <a:solidFill>
                  <a:srgbClr val="FF0000"/>
                </a:solidFill>
              </a:rPr>
              <a:t>HEAD</a:t>
            </a:r>
            <a:r>
              <a:rPr lang="en-US" altLang="en-US" sz="2800" dirty="0"/>
              <a:t>: which points to the first node in the list</a:t>
            </a:r>
          </a:p>
          <a:p>
            <a:pPr lvl="1"/>
            <a:r>
              <a:rPr lang="en-US" altLang="en-US" sz="2800" b="1" dirty="0">
                <a:solidFill>
                  <a:srgbClr val="FF0000"/>
                </a:solidFill>
              </a:rPr>
              <a:t>TAIL</a:t>
            </a:r>
            <a:r>
              <a:rPr lang="en-US" altLang="en-US" sz="2800" dirty="0"/>
              <a:t>: which points to the last node in the list </a:t>
            </a:r>
            <a:endParaRPr lang="en-US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8998CE-BB7F-3602-3747-5DA15AB7F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959" y="3196880"/>
            <a:ext cx="9002110" cy="29915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2096-BDBC-7C0A-01F8-41121112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5" dirty="0"/>
              <a:t>Difference</a:t>
            </a: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9009253-9567-3704-BEE1-8E77A493EB0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1846263"/>
            <a:ext cx="4999037" cy="3357201"/>
          </a:xfrm>
          <a:prstGeom prst="rect">
            <a:avLst/>
          </a:prstGeom>
        </p:spPr>
        <p:txBody>
          <a:bodyPr vert="horz" wrap="square" lIns="0" tIns="153035" rIns="0" bIns="0" rtlCol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205"/>
              </a:spcBef>
            </a:pPr>
            <a:r>
              <a:rPr lang="en-US" sz="2800" u="sng" kern="0" dirty="0">
                <a:solidFill>
                  <a:sysClr val="windowText" lastClr="000000"/>
                </a:solidFill>
              </a:rPr>
              <a:t>single linked</a:t>
            </a:r>
            <a:r>
              <a:rPr lang="en-US" sz="2800" u="sng" kern="0" spc="-20" dirty="0">
                <a:solidFill>
                  <a:sysClr val="windowText" lastClr="000000"/>
                </a:solidFill>
              </a:rPr>
              <a:t> </a:t>
            </a:r>
            <a:r>
              <a:rPr lang="en-US" sz="2800" u="sng" kern="0" dirty="0">
                <a:solidFill>
                  <a:sysClr val="windowText" lastClr="000000"/>
                </a:solidFill>
              </a:rPr>
              <a:t>list</a:t>
            </a:r>
          </a:p>
          <a:p>
            <a:pPr marL="298450" marR="235585" indent="-285750">
              <a:lnSpc>
                <a:spcPct val="92900"/>
              </a:lnSpc>
              <a:spcBef>
                <a:spcPts val="1375"/>
              </a:spcBef>
              <a:buFont typeface="Arial" panose="020B0604020202020204" pitchFamily="34" charset="0"/>
              <a:buChar char="•"/>
            </a:pPr>
            <a:r>
              <a:rPr lang="en-US" sz="2800" kern="0" dirty="0">
                <a:solidFill>
                  <a:srgbClr val="000000"/>
                </a:solidFill>
              </a:rPr>
              <a:t>every node has a link to  its next node in the  sequence.</a:t>
            </a:r>
          </a:p>
          <a:p>
            <a:pPr marL="298450" marR="5080" indent="-285750">
              <a:lnSpc>
                <a:spcPct val="92900"/>
              </a:lnSpc>
              <a:spcBef>
                <a:spcPts val="1375"/>
              </a:spcBef>
              <a:buFont typeface="Arial" panose="020B0604020202020204" pitchFamily="34" charset="0"/>
              <a:buChar char="•"/>
            </a:pPr>
            <a:r>
              <a:rPr lang="en-US" sz="2800" kern="0" dirty="0">
                <a:solidFill>
                  <a:srgbClr val="000000"/>
                </a:solidFill>
              </a:rPr>
              <a:t>we can traverse </a:t>
            </a:r>
            <a:r>
              <a:rPr lang="en-US" sz="2800" kern="0" spc="5" dirty="0">
                <a:solidFill>
                  <a:srgbClr val="000000"/>
                </a:solidFill>
              </a:rPr>
              <a:t>from</a:t>
            </a:r>
            <a:r>
              <a:rPr lang="en-US" sz="2800" kern="0" spc="-50" dirty="0">
                <a:solidFill>
                  <a:srgbClr val="000000"/>
                </a:solidFill>
              </a:rPr>
              <a:t> </a:t>
            </a:r>
            <a:r>
              <a:rPr lang="en-US" sz="2800" kern="0" dirty="0">
                <a:solidFill>
                  <a:srgbClr val="000000"/>
                </a:solidFill>
              </a:rPr>
              <a:t>one  node to another node  only in one</a:t>
            </a:r>
            <a:r>
              <a:rPr lang="en-US" sz="2800" kern="0" spc="-20" dirty="0">
                <a:solidFill>
                  <a:srgbClr val="000000"/>
                </a:solidFill>
              </a:rPr>
              <a:t> </a:t>
            </a:r>
            <a:r>
              <a:rPr lang="en-US" sz="2800" kern="0" dirty="0">
                <a:solidFill>
                  <a:srgbClr val="000000"/>
                </a:solidFill>
              </a:rPr>
              <a:t>direction we can not </a:t>
            </a:r>
            <a:r>
              <a:rPr lang="en-US" sz="2800" kern="0" spc="-5" dirty="0">
                <a:solidFill>
                  <a:srgbClr val="000000"/>
                </a:solidFill>
              </a:rPr>
              <a:t>traverse</a:t>
            </a:r>
            <a:r>
              <a:rPr lang="en-US" sz="2800" kern="0" spc="-30" dirty="0">
                <a:solidFill>
                  <a:srgbClr val="000000"/>
                </a:solidFill>
              </a:rPr>
              <a:t> </a:t>
            </a:r>
            <a:r>
              <a:rPr lang="en-US" sz="2800" kern="0" dirty="0">
                <a:solidFill>
                  <a:srgbClr val="000000"/>
                </a:solidFill>
              </a:rPr>
              <a:t>back</a:t>
            </a: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2F57C157-9CC3-F170-3476-9CE5A4D39E7C}"/>
              </a:ext>
            </a:extLst>
          </p:cNvPr>
          <p:cNvSpPr txBox="1">
            <a:spLocks/>
          </p:cNvSpPr>
          <p:nvPr/>
        </p:nvSpPr>
        <p:spPr>
          <a:xfrm>
            <a:off x="6475620" y="1869911"/>
            <a:ext cx="5158502" cy="3352841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235"/>
              </a:spcBef>
            </a:pPr>
            <a:r>
              <a:rPr lang="en-US" sz="2800" u="sng" kern="0" spc="10" dirty="0">
                <a:solidFill>
                  <a:sysClr val="windowText" lastClr="000000"/>
                </a:solidFill>
              </a:rPr>
              <a:t>double linked</a:t>
            </a:r>
            <a:r>
              <a:rPr lang="en-US" sz="2800" u="sng" kern="0" dirty="0">
                <a:solidFill>
                  <a:sysClr val="windowText" lastClr="000000"/>
                </a:solidFill>
              </a:rPr>
              <a:t> </a:t>
            </a:r>
            <a:r>
              <a:rPr lang="en-US" sz="2800" u="sng" kern="0" spc="5" dirty="0">
                <a:solidFill>
                  <a:sysClr val="windowText" lastClr="000000"/>
                </a:solidFill>
              </a:rPr>
              <a:t>list</a:t>
            </a:r>
          </a:p>
          <a:p>
            <a:pPr marL="298450" marR="5080" indent="-285750">
              <a:lnSpc>
                <a:spcPct val="93000"/>
              </a:lnSpc>
              <a:spcBef>
                <a:spcPts val="1405"/>
              </a:spcBef>
              <a:buFont typeface="Arial" panose="020B0604020202020204" pitchFamily="34" charset="0"/>
              <a:buChar char="•"/>
            </a:pPr>
            <a:r>
              <a:rPr lang="en-US" sz="2800" kern="0" spc="10" dirty="0">
                <a:solidFill>
                  <a:srgbClr val="000000"/>
                </a:solidFill>
              </a:rPr>
              <a:t>every node has </a:t>
            </a:r>
            <a:r>
              <a:rPr lang="en-US" sz="2800" kern="0" spc="5" dirty="0">
                <a:solidFill>
                  <a:srgbClr val="000000"/>
                </a:solidFill>
              </a:rPr>
              <a:t>a </a:t>
            </a:r>
            <a:r>
              <a:rPr lang="en-US" sz="2800" kern="0" spc="10" dirty="0">
                <a:solidFill>
                  <a:srgbClr val="000000"/>
                </a:solidFill>
              </a:rPr>
              <a:t>link</a:t>
            </a:r>
            <a:r>
              <a:rPr lang="en-US" sz="2800" kern="0" spc="-60" dirty="0">
                <a:solidFill>
                  <a:srgbClr val="000000"/>
                </a:solidFill>
              </a:rPr>
              <a:t> </a:t>
            </a:r>
            <a:r>
              <a:rPr lang="en-US" sz="2800" kern="0" dirty="0">
                <a:solidFill>
                  <a:srgbClr val="000000"/>
                </a:solidFill>
              </a:rPr>
              <a:t>to  </a:t>
            </a:r>
            <a:r>
              <a:rPr lang="en-US" sz="2800" kern="0" spc="5" dirty="0">
                <a:solidFill>
                  <a:srgbClr val="000000"/>
                </a:solidFill>
              </a:rPr>
              <a:t>its </a:t>
            </a:r>
            <a:r>
              <a:rPr lang="en-US" sz="2800" kern="0" spc="10" dirty="0">
                <a:solidFill>
                  <a:srgbClr val="000000"/>
                </a:solidFill>
              </a:rPr>
              <a:t>previous node and  next</a:t>
            </a:r>
            <a:r>
              <a:rPr lang="en-US" sz="2800" kern="0" dirty="0">
                <a:solidFill>
                  <a:srgbClr val="000000"/>
                </a:solidFill>
              </a:rPr>
              <a:t> </a:t>
            </a:r>
            <a:r>
              <a:rPr lang="en-US" sz="2800" kern="0" spc="10" dirty="0">
                <a:solidFill>
                  <a:srgbClr val="000000"/>
                </a:solidFill>
              </a:rPr>
              <a:t>node.</a:t>
            </a:r>
          </a:p>
          <a:p>
            <a:pPr marL="298450" marR="46990" indent="-285750">
              <a:lnSpc>
                <a:spcPct val="93000"/>
              </a:lnSpc>
              <a:spcBef>
                <a:spcPts val="1395"/>
              </a:spcBef>
              <a:buFont typeface="Arial" panose="020B0604020202020204" pitchFamily="34" charset="0"/>
              <a:buChar char="•"/>
            </a:pPr>
            <a:r>
              <a:rPr lang="en-US" sz="2800" kern="0" spc="10" dirty="0">
                <a:solidFill>
                  <a:srgbClr val="000000"/>
                </a:solidFill>
              </a:rPr>
              <a:t>So, we </a:t>
            </a:r>
            <a:r>
              <a:rPr lang="en-US" sz="2800" kern="0" spc="15" dirty="0">
                <a:solidFill>
                  <a:srgbClr val="000000"/>
                </a:solidFill>
              </a:rPr>
              <a:t>can </a:t>
            </a:r>
            <a:r>
              <a:rPr lang="en-US" sz="2800" kern="0" spc="5" dirty="0">
                <a:solidFill>
                  <a:srgbClr val="000000"/>
                </a:solidFill>
              </a:rPr>
              <a:t>traverse  forward </a:t>
            </a:r>
            <a:r>
              <a:rPr lang="en-US" sz="2800" kern="0" spc="15" dirty="0">
                <a:solidFill>
                  <a:srgbClr val="000000"/>
                </a:solidFill>
              </a:rPr>
              <a:t>by </a:t>
            </a:r>
            <a:r>
              <a:rPr lang="en-US" sz="2800" kern="0" spc="10" dirty="0">
                <a:solidFill>
                  <a:srgbClr val="000000"/>
                </a:solidFill>
              </a:rPr>
              <a:t>using </a:t>
            </a:r>
            <a:r>
              <a:rPr lang="en-US" sz="2800" kern="0" spc="5" dirty="0">
                <a:solidFill>
                  <a:srgbClr val="000000"/>
                </a:solidFill>
              </a:rPr>
              <a:t>the  </a:t>
            </a:r>
            <a:r>
              <a:rPr lang="en-US" sz="2800" kern="0" spc="10" dirty="0">
                <a:solidFill>
                  <a:srgbClr val="000000"/>
                </a:solidFill>
              </a:rPr>
              <a:t>next </a:t>
            </a:r>
            <a:r>
              <a:rPr lang="en-US" sz="2800" kern="0" spc="5" dirty="0">
                <a:solidFill>
                  <a:srgbClr val="000000"/>
                </a:solidFill>
              </a:rPr>
              <a:t>field </a:t>
            </a:r>
            <a:r>
              <a:rPr lang="en-US" sz="2800" kern="0" spc="15" dirty="0">
                <a:solidFill>
                  <a:srgbClr val="000000"/>
                </a:solidFill>
              </a:rPr>
              <a:t>and </a:t>
            </a:r>
            <a:r>
              <a:rPr lang="en-US" sz="2800" kern="0" spc="10" dirty="0">
                <a:solidFill>
                  <a:srgbClr val="000000"/>
                </a:solidFill>
              </a:rPr>
              <a:t>can  </a:t>
            </a:r>
            <a:r>
              <a:rPr lang="en-US" sz="2800" kern="0" spc="5" dirty="0">
                <a:solidFill>
                  <a:srgbClr val="000000"/>
                </a:solidFill>
              </a:rPr>
              <a:t>traverse </a:t>
            </a:r>
            <a:r>
              <a:rPr lang="en-US" sz="2800" kern="0" spc="10" dirty="0">
                <a:solidFill>
                  <a:srgbClr val="000000"/>
                </a:solidFill>
              </a:rPr>
              <a:t>backward by  using the previous</a:t>
            </a:r>
            <a:r>
              <a:rPr lang="en-US" sz="2800" kern="0" spc="-60" dirty="0">
                <a:solidFill>
                  <a:srgbClr val="000000"/>
                </a:solidFill>
              </a:rPr>
              <a:t> </a:t>
            </a:r>
            <a:r>
              <a:rPr lang="en-US" sz="2800" kern="0" spc="5" dirty="0">
                <a:solidFill>
                  <a:srgbClr val="000000"/>
                </a:solidFill>
              </a:rPr>
              <a:t>field</a:t>
            </a:r>
          </a:p>
        </p:txBody>
      </p:sp>
    </p:spTree>
    <p:extLst>
      <p:ext uri="{BB962C8B-B14F-4D97-AF65-F5344CB8AC3E}">
        <p14:creationId xmlns:p14="http://schemas.microsoft.com/office/powerpoint/2010/main" val="390575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0C84-94A0-42F8-C97D-769357C3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 to be remember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0D77AC5-2DB3-9A08-D06B-C15C003BA39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36320" y="1228234"/>
            <a:ext cx="10058400" cy="2987997"/>
          </a:xfrm>
          <a:prstGeom prst="rect">
            <a:avLst/>
          </a:prstGeom>
        </p:spPr>
        <p:txBody>
          <a:bodyPr vert="horz" wrap="square" lIns="0" tIns="723900" rIns="0" bIns="0" rtlCol="0">
            <a:spAutoFit/>
          </a:bodyPr>
          <a:lstStyle/>
          <a:p>
            <a:pPr marL="473075" marR="43180" indent="-457200">
              <a:lnSpc>
                <a:spcPts val="3570"/>
              </a:lnSpc>
              <a:spcBef>
                <a:spcPts val="440"/>
              </a:spcBef>
              <a:buFont typeface="Arial" panose="020B0604020202020204" pitchFamily="34" charset="0"/>
              <a:buChar char="•"/>
            </a:pPr>
            <a:r>
              <a:rPr sz="3200" spc="-5" dirty="0"/>
              <a:t>In </a:t>
            </a:r>
            <a:r>
              <a:rPr sz="3200" dirty="0"/>
              <a:t>double linked </a:t>
            </a:r>
            <a:r>
              <a:rPr sz="3200" spc="-5" dirty="0"/>
              <a:t>list, the first </a:t>
            </a:r>
            <a:r>
              <a:rPr sz="3200" dirty="0"/>
              <a:t>node </a:t>
            </a:r>
            <a:r>
              <a:rPr sz="3200" spc="-5" dirty="0"/>
              <a:t>must </a:t>
            </a:r>
            <a:r>
              <a:rPr sz="3200" dirty="0"/>
              <a:t>be always  pointed by</a:t>
            </a:r>
            <a:r>
              <a:rPr sz="3200" spc="5" dirty="0"/>
              <a:t> </a:t>
            </a:r>
            <a:r>
              <a:rPr sz="3200" dirty="0"/>
              <a:t>head.</a:t>
            </a:r>
          </a:p>
          <a:p>
            <a:pPr marL="473075" marR="5080" indent="-457200">
              <a:lnSpc>
                <a:spcPts val="3560"/>
              </a:lnSpc>
              <a:spcBef>
                <a:spcPts val="1420"/>
              </a:spcBef>
              <a:buFont typeface="Arial" panose="020B0604020202020204" pitchFamily="34" charset="0"/>
              <a:buChar char="•"/>
            </a:pPr>
            <a:r>
              <a:rPr sz="3200" spc="-5" dirty="0"/>
              <a:t>Always the </a:t>
            </a:r>
            <a:r>
              <a:rPr sz="3200" dirty="0">
                <a:solidFill>
                  <a:srgbClr val="FF0000"/>
                </a:solidFill>
              </a:rPr>
              <a:t>previous field </a:t>
            </a:r>
            <a:r>
              <a:rPr sz="3200" dirty="0"/>
              <a:t>of </a:t>
            </a:r>
            <a:r>
              <a:rPr sz="3200" spc="-5" dirty="0"/>
              <a:t>the </a:t>
            </a:r>
            <a:r>
              <a:rPr sz="3200" dirty="0">
                <a:solidFill>
                  <a:srgbClr val="FF0000"/>
                </a:solidFill>
              </a:rPr>
              <a:t>first node must be  </a:t>
            </a:r>
            <a:r>
              <a:rPr sz="3200" spc="-5" dirty="0">
                <a:solidFill>
                  <a:srgbClr val="FF0000"/>
                </a:solidFill>
              </a:rPr>
              <a:t>NULL.</a:t>
            </a:r>
            <a:endParaRPr sz="3200" dirty="0">
              <a:solidFill>
                <a:srgbClr val="FF0000"/>
              </a:solidFill>
            </a:endParaRPr>
          </a:p>
          <a:p>
            <a:pPr marL="473075" marR="796925" indent="-457200">
              <a:lnSpc>
                <a:spcPts val="3570"/>
              </a:lnSpc>
              <a:spcBef>
                <a:spcPts val="1415"/>
              </a:spcBef>
              <a:buFont typeface="Arial" panose="020B0604020202020204" pitchFamily="34" charset="0"/>
              <a:buChar char="•"/>
            </a:pPr>
            <a:r>
              <a:rPr sz="3200" spc="-5" dirty="0"/>
              <a:t>Always the </a:t>
            </a:r>
            <a:r>
              <a:rPr sz="3200" dirty="0">
                <a:solidFill>
                  <a:srgbClr val="FF0000"/>
                </a:solidFill>
              </a:rPr>
              <a:t>next </a:t>
            </a:r>
            <a:r>
              <a:rPr sz="3200" spc="-5" dirty="0">
                <a:solidFill>
                  <a:srgbClr val="FF0000"/>
                </a:solidFill>
              </a:rPr>
              <a:t>field</a:t>
            </a:r>
            <a:r>
              <a:rPr sz="3200" spc="-5" dirty="0"/>
              <a:t> </a:t>
            </a:r>
            <a:r>
              <a:rPr sz="3200" dirty="0"/>
              <a:t>of </a:t>
            </a:r>
            <a:r>
              <a:rPr sz="3200" spc="-5" dirty="0"/>
              <a:t>the </a:t>
            </a:r>
            <a:r>
              <a:rPr sz="3200" spc="-5" dirty="0">
                <a:solidFill>
                  <a:srgbClr val="FF0000"/>
                </a:solidFill>
              </a:rPr>
              <a:t>last </a:t>
            </a:r>
            <a:r>
              <a:rPr sz="3200" dirty="0">
                <a:solidFill>
                  <a:srgbClr val="FF0000"/>
                </a:solidFill>
              </a:rPr>
              <a:t>node must be  </a:t>
            </a:r>
            <a:r>
              <a:rPr sz="3200" spc="-5" dirty="0">
                <a:solidFill>
                  <a:srgbClr val="FF0000"/>
                </a:solidFill>
              </a:rPr>
              <a:t>NULL.</a:t>
            </a:r>
            <a:endParaRPr sz="32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2CF407-6A2B-E20A-28D8-5F6A8B56E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469" y="4317088"/>
            <a:ext cx="7488621" cy="239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61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1AFC-A2D4-FAED-8923-FE085A46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660" y="697150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Applications/Uses of doubly linked list  in real life</a:t>
            </a:r>
            <a:br>
              <a:rPr lang="en-US" dirty="0"/>
            </a:b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02B5462-172D-20CB-4E99-FA7F5E0194A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1846263"/>
            <a:ext cx="10058400" cy="4041876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576580" marR="593090" indent="-457200">
              <a:lnSpc>
                <a:spcPts val="3240"/>
              </a:lnSpc>
              <a:spcBef>
                <a:spcPts val="415"/>
              </a:spcBef>
              <a:buFont typeface="Arial" panose="020B0604020202020204" pitchFamily="34" charset="0"/>
              <a:buChar char="•"/>
            </a:pPr>
            <a:r>
              <a:rPr sz="2400" spc="5" dirty="0"/>
              <a:t>Doubly linked list </a:t>
            </a:r>
            <a:r>
              <a:rPr sz="2400" dirty="0"/>
              <a:t>can be </a:t>
            </a:r>
            <a:r>
              <a:rPr sz="2400" b="1" spc="5" dirty="0"/>
              <a:t>used </a:t>
            </a:r>
            <a:r>
              <a:rPr sz="2400" b="1" dirty="0"/>
              <a:t>in </a:t>
            </a:r>
            <a:r>
              <a:rPr sz="2400" b="1" spc="5" dirty="0"/>
              <a:t>navigation systems </a:t>
            </a:r>
            <a:r>
              <a:rPr sz="2400" spc="5" dirty="0"/>
              <a:t>where both front and back navigation </a:t>
            </a:r>
            <a:r>
              <a:rPr sz="2400" dirty="0"/>
              <a:t>is</a:t>
            </a:r>
            <a:r>
              <a:rPr sz="2400" spc="-10" dirty="0"/>
              <a:t> </a:t>
            </a:r>
            <a:r>
              <a:rPr sz="2400" spc="5" dirty="0"/>
              <a:t>required.</a:t>
            </a:r>
          </a:p>
          <a:p>
            <a:pPr marL="576580" marR="474345" indent="-457200">
              <a:lnSpc>
                <a:spcPts val="3240"/>
              </a:lnSpc>
              <a:spcBef>
                <a:spcPts val="1290"/>
              </a:spcBef>
              <a:buFont typeface="Arial" panose="020B0604020202020204" pitchFamily="34" charset="0"/>
              <a:buChar char="•"/>
            </a:pPr>
            <a:r>
              <a:rPr sz="2400" spc="5" dirty="0"/>
              <a:t>It is </a:t>
            </a:r>
            <a:r>
              <a:rPr sz="2400" b="1" spc="5" dirty="0"/>
              <a:t>used by browsers </a:t>
            </a:r>
            <a:r>
              <a:rPr sz="2400" dirty="0"/>
              <a:t>to </a:t>
            </a:r>
            <a:r>
              <a:rPr sz="2400" spc="5" dirty="0"/>
              <a:t>implement backward </a:t>
            </a:r>
            <a:r>
              <a:rPr sz="2400" dirty="0"/>
              <a:t>and  </a:t>
            </a:r>
            <a:r>
              <a:rPr sz="2400" spc="5" dirty="0"/>
              <a:t>forward navigation </a:t>
            </a:r>
            <a:r>
              <a:rPr sz="2400" dirty="0"/>
              <a:t>of </a:t>
            </a:r>
            <a:r>
              <a:rPr sz="2400" spc="5" dirty="0"/>
              <a:t>visited web pages </a:t>
            </a:r>
            <a:r>
              <a:rPr sz="2400" dirty="0"/>
              <a:t>i.e. back and  </a:t>
            </a:r>
            <a:r>
              <a:rPr sz="2400" spc="5" dirty="0"/>
              <a:t>forward button.</a:t>
            </a:r>
          </a:p>
          <a:p>
            <a:pPr marL="576580" marR="5080" indent="-457200">
              <a:lnSpc>
                <a:spcPts val="3240"/>
              </a:lnSpc>
              <a:spcBef>
                <a:spcPts val="1290"/>
              </a:spcBef>
              <a:buFont typeface="Arial" panose="020B0604020202020204" pitchFamily="34" charset="0"/>
              <a:buChar char="•"/>
            </a:pPr>
            <a:r>
              <a:rPr sz="2400" spc="5" dirty="0"/>
              <a:t>It is also used by various application </a:t>
            </a:r>
            <a:r>
              <a:rPr sz="2400" b="1" spc="5" dirty="0"/>
              <a:t>to implement Undo  and </a:t>
            </a:r>
            <a:r>
              <a:rPr sz="2400" b="1" spc="10" dirty="0"/>
              <a:t>Redo</a:t>
            </a:r>
            <a:r>
              <a:rPr sz="2400" b="1" spc="5" dirty="0"/>
              <a:t> </a:t>
            </a:r>
            <a:r>
              <a:rPr sz="2400" spc="-5" dirty="0"/>
              <a:t>functionality.</a:t>
            </a:r>
          </a:p>
          <a:p>
            <a:pPr marL="576580" marR="249554" indent="-457200">
              <a:lnSpc>
                <a:spcPts val="4520"/>
              </a:lnSpc>
              <a:spcBef>
                <a:spcPts val="270"/>
              </a:spcBef>
              <a:buFont typeface="Arial" panose="020B0604020202020204" pitchFamily="34" charset="0"/>
              <a:buChar char="•"/>
            </a:pPr>
            <a:r>
              <a:rPr sz="2400" spc="5" dirty="0"/>
              <a:t>It </a:t>
            </a:r>
            <a:r>
              <a:rPr sz="2400" dirty="0"/>
              <a:t>can also </a:t>
            </a:r>
            <a:r>
              <a:rPr sz="2400" spc="5" dirty="0"/>
              <a:t>be </a:t>
            </a:r>
            <a:r>
              <a:rPr sz="2400" b="1" spc="5" dirty="0"/>
              <a:t>used </a:t>
            </a:r>
            <a:r>
              <a:rPr sz="2400" b="1" dirty="0"/>
              <a:t>to </a:t>
            </a:r>
            <a:r>
              <a:rPr sz="2400" b="1" spc="5" dirty="0"/>
              <a:t>represent deck </a:t>
            </a:r>
            <a:r>
              <a:rPr sz="2400" b="1" dirty="0"/>
              <a:t>of </a:t>
            </a:r>
            <a:r>
              <a:rPr sz="2400" b="1" spc="5" dirty="0"/>
              <a:t>cards </a:t>
            </a:r>
            <a:r>
              <a:rPr sz="2400" b="1" dirty="0"/>
              <a:t>in </a:t>
            </a:r>
            <a:r>
              <a:rPr sz="2400" b="1" spc="5" dirty="0"/>
              <a:t>games</a:t>
            </a:r>
            <a:r>
              <a:rPr sz="2400" spc="5" dirty="0"/>
              <a:t>.  It is also used </a:t>
            </a:r>
            <a:r>
              <a:rPr sz="2400" dirty="0"/>
              <a:t>to </a:t>
            </a:r>
            <a:r>
              <a:rPr sz="2400" spc="5" dirty="0"/>
              <a:t>represent various states </a:t>
            </a:r>
            <a:r>
              <a:rPr sz="2400" dirty="0"/>
              <a:t>of a</a:t>
            </a:r>
            <a:r>
              <a:rPr sz="2400" spc="-5" dirty="0"/>
              <a:t> </a:t>
            </a:r>
            <a:r>
              <a:rPr sz="2400" spc="5" dirty="0"/>
              <a:t>game.</a:t>
            </a:r>
          </a:p>
        </p:txBody>
      </p:sp>
    </p:spTree>
    <p:extLst>
      <p:ext uri="{BB962C8B-B14F-4D97-AF65-F5344CB8AC3E}">
        <p14:creationId xmlns:p14="http://schemas.microsoft.com/office/powerpoint/2010/main" val="1914761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649B9-22DF-D079-B95C-F34BFF9A7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020762"/>
          </a:xfrm>
        </p:spPr>
        <p:txBody>
          <a:bodyPr/>
          <a:lstStyle/>
          <a:p>
            <a:pPr>
              <a:defRPr/>
            </a:pPr>
            <a:r>
              <a:rPr lang="en-US" dirty="0"/>
              <a:t>Doubly Linked List Declaration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52C5A6B9-EA88-BEFE-D4B1-ADA22139D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 3" panose="05040102010807070707" pitchFamily="18" charset="2"/>
              <a:buNone/>
            </a:pPr>
            <a:r>
              <a:rPr lang="en-US" altLang="en-US" sz="2800" dirty="0"/>
              <a:t>struct node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800" dirty="0"/>
              <a:t>{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800" dirty="0"/>
              <a:t>int data;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800" dirty="0"/>
              <a:t>struct node *</a:t>
            </a:r>
            <a:r>
              <a:rPr lang="en-US" altLang="en-US" sz="2800" dirty="0" err="1"/>
              <a:t>prev</a:t>
            </a:r>
            <a:r>
              <a:rPr lang="en-US" altLang="en-US" sz="2800" dirty="0"/>
              <a:t>;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800" dirty="0"/>
              <a:t>struct node *next; 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2800" dirty="0"/>
              <a:t>}*head, *tail;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A0CD-C722-70F3-A27F-A7200E2E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784" y="731836"/>
            <a:ext cx="82296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Operation in two-way list 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0202B85F-78DD-7378-389C-7324F85DC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78090"/>
            <a:ext cx="8229600" cy="4148074"/>
          </a:xfrm>
        </p:spPr>
        <p:txBody>
          <a:bodyPr/>
          <a:lstStyle/>
          <a:p>
            <a:endParaRPr lang="en-US" altLang="en-US" dirty="0"/>
          </a:p>
          <a:p>
            <a:r>
              <a:rPr lang="en-US" altLang="en-US" sz="3600" dirty="0"/>
              <a:t>Traversing </a:t>
            </a:r>
          </a:p>
          <a:p>
            <a:r>
              <a:rPr lang="en-US" altLang="en-US" sz="3600" dirty="0"/>
              <a:t>Searching </a:t>
            </a:r>
          </a:p>
          <a:p>
            <a:r>
              <a:rPr lang="en-US" altLang="en-US" sz="3600" dirty="0"/>
              <a:t>Deletion </a:t>
            </a:r>
          </a:p>
          <a:p>
            <a:r>
              <a:rPr lang="en-US" altLang="en-US" sz="3600" dirty="0"/>
              <a:t>Insertion</a:t>
            </a:r>
          </a:p>
          <a:p>
            <a:r>
              <a:rPr lang="en-US" altLang="en-US" sz="3600" dirty="0"/>
              <a:t>Display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A0CD-C722-70F3-A27F-A7200E2E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784" y="731836"/>
            <a:ext cx="82296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Operation in two-way list 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0202B85F-78DD-7378-389C-7324F85DC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78090"/>
            <a:ext cx="8229600" cy="4148074"/>
          </a:xfrm>
        </p:spPr>
        <p:txBody>
          <a:bodyPr/>
          <a:lstStyle/>
          <a:p>
            <a:endParaRPr lang="en-US" altLang="en-US" dirty="0"/>
          </a:p>
          <a:p>
            <a:endParaRPr lang="en-US" altLang="en-US" sz="36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17AD65C-BCFF-BB5C-A319-086349734C6F}"/>
              </a:ext>
            </a:extLst>
          </p:cNvPr>
          <p:cNvSpPr txBox="1"/>
          <p:nvPr/>
        </p:nvSpPr>
        <p:spPr>
          <a:xfrm>
            <a:off x="2658143" y="3573600"/>
            <a:ext cx="170815" cy="2346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450" spc="265" dirty="0">
                <a:latin typeface="Calibri"/>
                <a:cs typeface="Calibri"/>
              </a:rPr>
              <a:t>●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ABB808B-7D3F-9F2E-199B-981CBF240F3A}"/>
              </a:ext>
            </a:extLst>
          </p:cNvPr>
          <p:cNvSpPr txBox="1"/>
          <p:nvPr/>
        </p:nvSpPr>
        <p:spPr>
          <a:xfrm>
            <a:off x="2981991" y="3432630"/>
            <a:ext cx="14719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I</a:t>
            </a:r>
            <a:r>
              <a:rPr sz="3200" spc="5" dirty="0">
                <a:latin typeface="Times New Roman"/>
                <a:cs typeface="Times New Roman"/>
              </a:rPr>
              <a:t>n</a:t>
            </a:r>
            <a:r>
              <a:rPr sz="3200" spc="-10" dirty="0">
                <a:latin typeface="Times New Roman"/>
                <a:cs typeface="Times New Roman"/>
              </a:rPr>
              <a:t>s</a:t>
            </a:r>
            <a:r>
              <a:rPr sz="3200" spc="5" dirty="0">
                <a:latin typeface="Times New Roman"/>
                <a:cs typeface="Times New Roman"/>
              </a:rPr>
              <a:t>e</a:t>
            </a:r>
            <a:r>
              <a:rPr sz="3200" dirty="0">
                <a:latin typeface="Times New Roman"/>
                <a:cs typeface="Times New Roman"/>
              </a:rPr>
              <a:t>rti</a:t>
            </a:r>
            <a:r>
              <a:rPr sz="3200" spc="5" dirty="0">
                <a:latin typeface="Times New Roman"/>
                <a:cs typeface="Times New Roman"/>
              </a:rPr>
              <a:t>o</a:t>
            </a:r>
            <a:r>
              <a:rPr sz="3200" dirty="0">
                <a:latin typeface="Times New Roman"/>
                <a:cs typeface="Times New Roman"/>
              </a:rPr>
              <a:t>n</a:t>
            </a: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71DE767D-0A7B-6101-8E16-9E27D5301365}"/>
              </a:ext>
            </a:extLst>
          </p:cNvPr>
          <p:cNvGrpSpPr/>
          <p:nvPr/>
        </p:nvGrpSpPr>
        <p:grpSpPr>
          <a:xfrm>
            <a:off x="4577748" y="3140531"/>
            <a:ext cx="1729105" cy="249554"/>
            <a:chOff x="2519045" y="2054860"/>
            <a:chExt cx="1729105" cy="249554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1429C7B-D99E-5D81-B641-E840D7B256B8}"/>
                </a:ext>
              </a:extLst>
            </p:cNvPr>
            <p:cNvSpPr/>
            <p:nvPr/>
          </p:nvSpPr>
          <p:spPr>
            <a:xfrm>
              <a:off x="2519680" y="2106930"/>
              <a:ext cx="1574800" cy="196850"/>
            </a:xfrm>
            <a:custGeom>
              <a:avLst/>
              <a:gdLst/>
              <a:ahLst/>
              <a:cxnLst/>
              <a:rect l="l" t="t" r="r" b="b"/>
              <a:pathLst>
                <a:path w="1574800" h="196850">
                  <a:moveTo>
                    <a:pt x="0" y="196850"/>
                  </a:moveTo>
                  <a:lnTo>
                    <a:pt x="157479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F944E64-4159-B539-E938-64925D7BBDE3}"/>
                </a:ext>
              </a:extLst>
            </p:cNvPr>
            <p:cNvSpPr/>
            <p:nvPr/>
          </p:nvSpPr>
          <p:spPr>
            <a:xfrm>
              <a:off x="4080510" y="2054860"/>
              <a:ext cx="167640" cy="106680"/>
            </a:xfrm>
            <a:custGeom>
              <a:avLst/>
              <a:gdLst/>
              <a:ahLst/>
              <a:cxnLst/>
              <a:rect l="l" t="t" r="r" b="b"/>
              <a:pathLst>
                <a:path w="167639" h="106680">
                  <a:moveTo>
                    <a:pt x="0" y="0"/>
                  </a:moveTo>
                  <a:lnTo>
                    <a:pt x="13969" y="106679"/>
                  </a:lnTo>
                  <a:lnTo>
                    <a:pt x="167639" y="33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>
            <a:extLst>
              <a:ext uri="{FF2B5EF4-FFF2-40B4-BE49-F238E27FC236}">
                <a16:creationId xmlns:a16="http://schemas.microsoft.com/office/drawing/2014/main" id="{181157EB-84D1-D29D-47BA-42CFD4E121B5}"/>
              </a:ext>
            </a:extLst>
          </p:cNvPr>
          <p:cNvGrpSpPr/>
          <p:nvPr/>
        </p:nvGrpSpPr>
        <p:grpSpPr>
          <a:xfrm>
            <a:off x="4722528" y="3565982"/>
            <a:ext cx="1727835" cy="184785"/>
            <a:chOff x="2663825" y="2480310"/>
            <a:chExt cx="1727835" cy="18478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33DFBA9-070B-F0F6-2C8B-019DDCFA885B}"/>
                </a:ext>
              </a:extLst>
            </p:cNvPr>
            <p:cNvSpPr/>
            <p:nvPr/>
          </p:nvSpPr>
          <p:spPr>
            <a:xfrm>
              <a:off x="2664460" y="2532380"/>
              <a:ext cx="1573530" cy="132080"/>
            </a:xfrm>
            <a:custGeom>
              <a:avLst/>
              <a:gdLst/>
              <a:ahLst/>
              <a:cxnLst/>
              <a:rect l="l" t="t" r="r" b="b"/>
              <a:pathLst>
                <a:path w="1573529" h="132080">
                  <a:moveTo>
                    <a:pt x="0" y="132080"/>
                  </a:moveTo>
                  <a:lnTo>
                    <a:pt x="15735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A94468F-88D1-5A75-318C-FD9B97273F93}"/>
                </a:ext>
              </a:extLst>
            </p:cNvPr>
            <p:cNvSpPr/>
            <p:nvPr/>
          </p:nvSpPr>
          <p:spPr>
            <a:xfrm>
              <a:off x="4226560" y="2480310"/>
              <a:ext cx="165100" cy="106680"/>
            </a:xfrm>
            <a:custGeom>
              <a:avLst/>
              <a:gdLst/>
              <a:ahLst/>
              <a:cxnLst/>
              <a:rect l="l" t="t" r="r" b="b"/>
              <a:pathLst>
                <a:path w="165100" h="106680">
                  <a:moveTo>
                    <a:pt x="0" y="0"/>
                  </a:moveTo>
                  <a:lnTo>
                    <a:pt x="8889" y="106679"/>
                  </a:lnTo>
                  <a:lnTo>
                    <a:pt x="165100" y="39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CEAC97B1-ED57-6D31-4D00-A21B8EF6B3E7}"/>
              </a:ext>
            </a:extLst>
          </p:cNvPr>
          <p:cNvGrpSpPr/>
          <p:nvPr/>
        </p:nvGrpSpPr>
        <p:grpSpPr>
          <a:xfrm>
            <a:off x="4866038" y="4036517"/>
            <a:ext cx="1729105" cy="186055"/>
            <a:chOff x="2807335" y="2950845"/>
            <a:chExt cx="1729105" cy="18605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721F55A-5D10-7C9E-CFD9-A07C9FAF99F0}"/>
                </a:ext>
              </a:extLst>
            </p:cNvPr>
            <p:cNvSpPr/>
            <p:nvPr/>
          </p:nvSpPr>
          <p:spPr>
            <a:xfrm>
              <a:off x="2807970" y="2951480"/>
              <a:ext cx="1573530" cy="132080"/>
            </a:xfrm>
            <a:custGeom>
              <a:avLst/>
              <a:gdLst/>
              <a:ahLst/>
              <a:cxnLst/>
              <a:rect l="l" t="t" r="r" b="b"/>
              <a:pathLst>
                <a:path w="1573529" h="132080">
                  <a:moveTo>
                    <a:pt x="0" y="0"/>
                  </a:moveTo>
                  <a:lnTo>
                    <a:pt x="1573530" y="1320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643FCF4-F686-5CDC-CEEB-B30A88D4B219}"/>
                </a:ext>
              </a:extLst>
            </p:cNvPr>
            <p:cNvSpPr/>
            <p:nvPr/>
          </p:nvSpPr>
          <p:spPr>
            <a:xfrm>
              <a:off x="4370070" y="3028950"/>
              <a:ext cx="166370" cy="107950"/>
            </a:xfrm>
            <a:custGeom>
              <a:avLst/>
              <a:gdLst/>
              <a:ahLst/>
              <a:cxnLst/>
              <a:rect l="l" t="t" r="r" b="b"/>
              <a:pathLst>
                <a:path w="166370" h="107950">
                  <a:moveTo>
                    <a:pt x="8889" y="0"/>
                  </a:moveTo>
                  <a:lnTo>
                    <a:pt x="0" y="107950"/>
                  </a:lnTo>
                  <a:lnTo>
                    <a:pt x="166369" y="6731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4ED8093B-F4CF-0E1A-9A4F-D43931EDB7ED}"/>
              </a:ext>
            </a:extLst>
          </p:cNvPr>
          <p:cNvSpPr txBox="1"/>
          <p:nvPr/>
        </p:nvSpPr>
        <p:spPr>
          <a:xfrm>
            <a:off x="6422422" y="2927171"/>
            <a:ext cx="3088640" cy="1728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At </a:t>
            </a:r>
            <a:r>
              <a:rPr sz="2200" dirty="0">
                <a:latin typeface="Times New Roman"/>
                <a:cs typeface="Times New Roman"/>
              </a:rPr>
              <a:t>Beginning of 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list</a:t>
            </a:r>
            <a:endParaRPr sz="2200" dirty="0">
              <a:latin typeface="Times New Roman"/>
              <a:cs typeface="Times New Roman"/>
            </a:endParaRPr>
          </a:p>
          <a:p>
            <a:pPr marL="262255">
              <a:spcBef>
                <a:spcPts val="1610"/>
              </a:spcBef>
            </a:pPr>
            <a:r>
              <a:rPr sz="2000" dirty="0">
                <a:latin typeface="Times New Roman"/>
                <a:cs typeface="Times New Roman"/>
              </a:rPr>
              <a:t>At End of </a:t>
            </a:r>
            <a:r>
              <a:rPr sz="2000" spc="-5" dirty="0">
                <a:latin typeface="Times New Roman"/>
                <a:cs typeface="Times New Roman"/>
              </a:rPr>
              <a:t>the list</a:t>
            </a:r>
            <a:endParaRPr sz="2000" dirty="0">
              <a:latin typeface="Times New Roman"/>
              <a:cs typeface="Times New Roman"/>
            </a:endParaRPr>
          </a:p>
          <a:p>
            <a:pPr>
              <a:spcBef>
                <a:spcPts val="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L="406400" marR="5080">
              <a:lnSpc>
                <a:spcPts val="2220"/>
              </a:lnSpc>
            </a:pPr>
            <a:r>
              <a:rPr sz="2000" dirty="0">
                <a:latin typeface="Times New Roman"/>
                <a:cs typeface="Times New Roman"/>
              </a:rPr>
              <a:t>At </a:t>
            </a:r>
            <a:r>
              <a:rPr sz="2000" spc="-5" dirty="0">
                <a:latin typeface="Times New Roman"/>
                <a:cs typeface="Times New Roman"/>
              </a:rPr>
              <a:t>Specific location in the  </a:t>
            </a:r>
            <a:r>
              <a:rPr sz="2000" spc="-10" dirty="0">
                <a:latin typeface="Times New Roman"/>
                <a:cs typeface="Times New Roman"/>
              </a:rPr>
              <a:t>list</a:t>
            </a:r>
            <a:endParaRPr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5708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A0CD-C722-70F3-A27F-A7200E2E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784" y="731836"/>
            <a:ext cx="82296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Operation in two-way list 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0202B85F-78DD-7378-389C-7324F85DC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78090"/>
            <a:ext cx="8229600" cy="4148074"/>
          </a:xfrm>
        </p:spPr>
        <p:txBody>
          <a:bodyPr/>
          <a:lstStyle/>
          <a:p>
            <a:endParaRPr lang="en-US" altLang="en-US" dirty="0"/>
          </a:p>
          <a:p>
            <a:endParaRPr lang="en-US" altLang="en-US" sz="3600" dirty="0"/>
          </a:p>
        </p:txBody>
      </p:sp>
      <p:grpSp>
        <p:nvGrpSpPr>
          <p:cNvPr id="15" name="object 3">
            <a:extLst>
              <a:ext uri="{FF2B5EF4-FFF2-40B4-BE49-F238E27FC236}">
                <a16:creationId xmlns:a16="http://schemas.microsoft.com/office/drawing/2014/main" id="{21B9FA18-DA46-5D13-9A81-60D03426A487}"/>
              </a:ext>
            </a:extLst>
          </p:cNvPr>
          <p:cNvGrpSpPr/>
          <p:nvPr/>
        </p:nvGrpSpPr>
        <p:grpSpPr>
          <a:xfrm>
            <a:off x="3505200" y="2934469"/>
            <a:ext cx="1940561" cy="319125"/>
            <a:chOff x="2519045" y="2054860"/>
            <a:chExt cx="1729105" cy="249554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6DEFC924-08F5-88CC-A515-E63540E5FF62}"/>
                </a:ext>
              </a:extLst>
            </p:cNvPr>
            <p:cNvSpPr/>
            <p:nvPr/>
          </p:nvSpPr>
          <p:spPr>
            <a:xfrm>
              <a:off x="2519680" y="2106930"/>
              <a:ext cx="1574800" cy="196850"/>
            </a:xfrm>
            <a:custGeom>
              <a:avLst/>
              <a:gdLst/>
              <a:ahLst/>
              <a:cxnLst/>
              <a:rect l="l" t="t" r="r" b="b"/>
              <a:pathLst>
                <a:path w="1574800" h="196850">
                  <a:moveTo>
                    <a:pt x="0" y="196850"/>
                  </a:moveTo>
                  <a:lnTo>
                    <a:pt x="157479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17" name="object 5">
              <a:extLst>
                <a:ext uri="{FF2B5EF4-FFF2-40B4-BE49-F238E27FC236}">
                  <a16:creationId xmlns:a16="http://schemas.microsoft.com/office/drawing/2014/main" id="{A61DB15E-A3F7-1AE5-F372-6D65309C4875}"/>
                </a:ext>
              </a:extLst>
            </p:cNvPr>
            <p:cNvSpPr/>
            <p:nvPr/>
          </p:nvSpPr>
          <p:spPr>
            <a:xfrm>
              <a:off x="4080510" y="2054860"/>
              <a:ext cx="167640" cy="106680"/>
            </a:xfrm>
            <a:custGeom>
              <a:avLst/>
              <a:gdLst/>
              <a:ahLst/>
              <a:cxnLst/>
              <a:rect l="l" t="t" r="r" b="b"/>
              <a:pathLst>
                <a:path w="167639" h="106680">
                  <a:moveTo>
                    <a:pt x="0" y="0"/>
                  </a:moveTo>
                  <a:lnTo>
                    <a:pt x="13969" y="106679"/>
                  </a:lnTo>
                  <a:lnTo>
                    <a:pt x="167639" y="33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grpSp>
        <p:nvGrpSpPr>
          <p:cNvPr id="18" name="object 6">
            <a:extLst>
              <a:ext uri="{FF2B5EF4-FFF2-40B4-BE49-F238E27FC236}">
                <a16:creationId xmlns:a16="http://schemas.microsoft.com/office/drawing/2014/main" id="{F3E6EB92-30B0-212C-DCFA-9669A1B6F90F}"/>
              </a:ext>
            </a:extLst>
          </p:cNvPr>
          <p:cNvGrpSpPr/>
          <p:nvPr/>
        </p:nvGrpSpPr>
        <p:grpSpPr>
          <a:xfrm>
            <a:off x="3550286" y="3431843"/>
            <a:ext cx="1824988" cy="266378"/>
            <a:chOff x="2663825" y="2480310"/>
            <a:chExt cx="1727835" cy="184785"/>
          </a:xfrm>
        </p:grpSpPr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B4A2B631-F160-6C00-68EA-643B71390C24}"/>
                </a:ext>
              </a:extLst>
            </p:cNvPr>
            <p:cNvSpPr/>
            <p:nvPr/>
          </p:nvSpPr>
          <p:spPr>
            <a:xfrm>
              <a:off x="2664460" y="2532380"/>
              <a:ext cx="1573530" cy="132080"/>
            </a:xfrm>
            <a:custGeom>
              <a:avLst/>
              <a:gdLst/>
              <a:ahLst/>
              <a:cxnLst/>
              <a:rect l="l" t="t" r="r" b="b"/>
              <a:pathLst>
                <a:path w="1573529" h="132080">
                  <a:moveTo>
                    <a:pt x="0" y="132080"/>
                  </a:moveTo>
                  <a:lnTo>
                    <a:pt x="157352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20" name="object 8">
              <a:extLst>
                <a:ext uri="{FF2B5EF4-FFF2-40B4-BE49-F238E27FC236}">
                  <a16:creationId xmlns:a16="http://schemas.microsoft.com/office/drawing/2014/main" id="{F4ECC2B6-0389-CB85-EFBB-616554F54471}"/>
                </a:ext>
              </a:extLst>
            </p:cNvPr>
            <p:cNvSpPr/>
            <p:nvPr/>
          </p:nvSpPr>
          <p:spPr>
            <a:xfrm>
              <a:off x="4226560" y="2480310"/>
              <a:ext cx="165100" cy="106680"/>
            </a:xfrm>
            <a:custGeom>
              <a:avLst/>
              <a:gdLst/>
              <a:ahLst/>
              <a:cxnLst/>
              <a:rect l="l" t="t" r="r" b="b"/>
              <a:pathLst>
                <a:path w="165100" h="106680">
                  <a:moveTo>
                    <a:pt x="0" y="0"/>
                  </a:moveTo>
                  <a:lnTo>
                    <a:pt x="8889" y="106679"/>
                  </a:lnTo>
                  <a:lnTo>
                    <a:pt x="165100" y="393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21" name="object 9">
            <a:extLst>
              <a:ext uri="{FF2B5EF4-FFF2-40B4-BE49-F238E27FC236}">
                <a16:creationId xmlns:a16="http://schemas.microsoft.com/office/drawing/2014/main" id="{B2FD34E9-ABDE-1769-2F24-946014F7172E}"/>
              </a:ext>
            </a:extLst>
          </p:cNvPr>
          <p:cNvSpPr txBox="1"/>
          <p:nvPr/>
        </p:nvSpPr>
        <p:spPr>
          <a:xfrm>
            <a:off x="5561557" y="2589364"/>
            <a:ext cx="4039869" cy="10797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At </a:t>
            </a:r>
            <a:r>
              <a:rPr sz="2800" dirty="0">
                <a:latin typeface="Times New Roman"/>
                <a:cs typeface="Times New Roman"/>
              </a:rPr>
              <a:t>Beginning of the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</a:t>
            </a:r>
            <a:endParaRPr sz="2800" dirty="0">
              <a:latin typeface="Times New Roman"/>
              <a:cs typeface="Times New Roman"/>
            </a:endParaRPr>
          </a:p>
          <a:p>
            <a:pPr marL="262255">
              <a:spcBef>
                <a:spcPts val="1610"/>
              </a:spcBef>
            </a:pPr>
            <a:r>
              <a:rPr sz="2800" dirty="0">
                <a:latin typeface="Times New Roman"/>
                <a:cs typeface="Times New Roman"/>
              </a:rPr>
              <a:t>At End of </a:t>
            </a:r>
            <a:r>
              <a:rPr sz="2800" spc="-5" dirty="0">
                <a:latin typeface="Times New Roman"/>
                <a:cs typeface="Times New Roman"/>
              </a:rPr>
              <a:t>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22" name="object 10">
            <a:extLst>
              <a:ext uri="{FF2B5EF4-FFF2-40B4-BE49-F238E27FC236}">
                <a16:creationId xmlns:a16="http://schemas.microsoft.com/office/drawing/2014/main" id="{60CC1525-AB3F-094F-015C-E1EB299EDC2C}"/>
              </a:ext>
            </a:extLst>
          </p:cNvPr>
          <p:cNvGrpSpPr/>
          <p:nvPr/>
        </p:nvGrpSpPr>
        <p:grpSpPr>
          <a:xfrm>
            <a:off x="3493441" y="4025421"/>
            <a:ext cx="1869361" cy="337400"/>
            <a:chOff x="2807335" y="2950845"/>
            <a:chExt cx="1729105" cy="186055"/>
          </a:xfrm>
        </p:grpSpPr>
        <p:sp>
          <p:nvSpPr>
            <p:cNvPr id="23" name="object 11">
              <a:extLst>
                <a:ext uri="{FF2B5EF4-FFF2-40B4-BE49-F238E27FC236}">
                  <a16:creationId xmlns:a16="http://schemas.microsoft.com/office/drawing/2014/main" id="{691D93E9-FADD-3FA0-D6CA-AC00E29156C6}"/>
                </a:ext>
              </a:extLst>
            </p:cNvPr>
            <p:cNvSpPr/>
            <p:nvPr/>
          </p:nvSpPr>
          <p:spPr>
            <a:xfrm>
              <a:off x="2807970" y="2951480"/>
              <a:ext cx="1573530" cy="132080"/>
            </a:xfrm>
            <a:custGeom>
              <a:avLst/>
              <a:gdLst/>
              <a:ahLst/>
              <a:cxnLst/>
              <a:rect l="l" t="t" r="r" b="b"/>
              <a:pathLst>
                <a:path w="1573529" h="132080">
                  <a:moveTo>
                    <a:pt x="0" y="0"/>
                  </a:moveTo>
                  <a:lnTo>
                    <a:pt x="1573530" y="1320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2800"/>
            </a:p>
          </p:txBody>
        </p:sp>
        <p:sp>
          <p:nvSpPr>
            <p:cNvPr id="24" name="object 12">
              <a:extLst>
                <a:ext uri="{FF2B5EF4-FFF2-40B4-BE49-F238E27FC236}">
                  <a16:creationId xmlns:a16="http://schemas.microsoft.com/office/drawing/2014/main" id="{9CB7713F-C24F-2B73-4438-30CDA0EB71C3}"/>
                </a:ext>
              </a:extLst>
            </p:cNvPr>
            <p:cNvSpPr/>
            <p:nvPr/>
          </p:nvSpPr>
          <p:spPr>
            <a:xfrm>
              <a:off x="4370070" y="3028950"/>
              <a:ext cx="166370" cy="107950"/>
            </a:xfrm>
            <a:custGeom>
              <a:avLst/>
              <a:gdLst/>
              <a:ahLst/>
              <a:cxnLst/>
              <a:rect l="l" t="t" r="r" b="b"/>
              <a:pathLst>
                <a:path w="166370" h="107950">
                  <a:moveTo>
                    <a:pt x="8889" y="0"/>
                  </a:moveTo>
                  <a:lnTo>
                    <a:pt x="0" y="107950"/>
                  </a:lnTo>
                  <a:lnTo>
                    <a:pt x="166369" y="6731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2800"/>
            </a:p>
          </p:txBody>
        </p:sp>
      </p:grpSp>
      <p:sp>
        <p:nvSpPr>
          <p:cNvPr id="25" name="object 13">
            <a:extLst>
              <a:ext uri="{FF2B5EF4-FFF2-40B4-BE49-F238E27FC236}">
                <a16:creationId xmlns:a16="http://schemas.microsoft.com/office/drawing/2014/main" id="{34025B24-150B-EDAE-D774-CAA6312460EE}"/>
              </a:ext>
            </a:extLst>
          </p:cNvPr>
          <p:cNvSpPr txBox="1"/>
          <p:nvPr/>
        </p:nvSpPr>
        <p:spPr>
          <a:xfrm>
            <a:off x="5561557" y="4115908"/>
            <a:ext cx="4484370" cy="3374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220"/>
              </a:lnSpc>
              <a:spcBef>
                <a:spcPts val="325"/>
              </a:spcBef>
            </a:pPr>
            <a:r>
              <a:rPr sz="2800" dirty="0">
                <a:latin typeface="Times New Roman"/>
                <a:cs typeface="Times New Roman"/>
              </a:rPr>
              <a:t>At </a:t>
            </a:r>
            <a:r>
              <a:rPr sz="2800" spc="-5" dirty="0">
                <a:latin typeface="Times New Roman"/>
                <a:cs typeface="Times New Roman"/>
              </a:rPr>
              <a:t>Specific location in the  </a:t>
            </a:r>
            <a:r>
              <a:rPr sz="2800" spc="-10" dirty="0">
                <a:latin typeface="Times New Roman"/>
                <a:cs typeface="Times New Roman"/>
              </a:rPr>
              <a:t>list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14">
            <a:extLst>
              <a:ext uri="{FF2B5EF4-FFF2-40B4-BE49-F238E27FC236}">
                <a16:creationId xmlns:a16="http://schemas.microsoft.com/office/drawing/2014/main" id="{0B8E4C37-6CEE-4DF7-0C09-BFE819777087}"/>
              </a:ext>
            </a:extLst>
          </p:cNvPr>
          <p:cNvSpPr txBox="1"/>
          <p:nvPr/>
        </p:nvSpPr>
        <p:spPr>
          <a:xfrm>
            <a:off x="1981200" y="3254510"/>
            <a:ext cx="16649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Deletion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12041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A0CD-C722-70F3-A27F-A7200E2E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784" y="731836"/>
            <a:ext cx="82296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Operation in two-way list 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0202B85F-78DD-7378-389C-7324F85DC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78090"/>
            <a:ext cx="8229600" cy="4148074"/>
          </a:xfrm>
        </p:spPr>
        <p:txBody>
          <a:bodyPr/>
          <a:lstStyle/>
          <a:p>
            <a:endParaRPr lang="en-US" altLang="en-US" dirty="0"/>
          </a:p>
          <a:p>
            <a:endParaRPr lang="en-US" altLang="en-US" sz="3600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7D0183F-1D5C-77A6-95B4-B054A25BD12C}"/>
              </a:ext>
            </a:extLst>
          </p:cNvPr>
          <p:cNvGrpSpPr/>
          <p:nvPr/>
        </p:nvGrpSpPr>
        <p:grpSpPr>
          <a:xfrm>
            <a:off x="4481885" y="3198649"/>
            <a:ext cx="1729105" cy="249554"/>
            <a:chOff x="2519045" y="2054860"/>
            <a:chExt cx="1729105" cy="249554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B3A1D55-6AC6-3B82-D4D4-80CEC26FD3ED}"/>
                </a:ext>
              </a:extLst>
            </p:cNvPr>
            <p:cNvSpPr/>
            <p:nvPr/>
          </p:nvSpPr>
          <p:spPr>
            <a:xfrm>
              <a:off x="2519680" y="2106930"/>
              <a:ext cx="1574800" cy="196850"/>
            </a:xfrm>
            <a:custGeom>
              <a:avLst/>
              <a:gdLst/>
              <a:ahLst/>
              <a:cxnLst/>
              <a:rect l="l" t="t" r="r" b="b"/>
              <a:pathLst>
                <a:path w="1574800" h="196850">
                  <a:moveTo>
                    <a:pt x="0" y="196850"/>
                  </a:moveTo>
                  <a:lnTo>
                    <a:pt x="157479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482E0AE-78D3-8219-19BF-CBDA872C877D}"/>
                </a:ext>
              </a:extLst>
            </p:cNvPr>
            <p:cNvSpPr/>
            <p:nvPr/>
          </p:nvSpPr>
          <p:spPr>
            <a:xfrm>
              <a:off x="4080510" y="2054860"/>
              <a:ext cx="167640" cy="106680"/>
            </a:xfrm>
            <a:custGeom>
              <a:avLst/>
              <a:gdLst/>
              <a:ahLst/>
              <a:cxnLst/>
              <a:rect l="l" t="t" r="r" b="b"/>
              <a:pathLst>
                <a:path w="167639" h="106680">
                  <a:moveTo>
                    <a:pt x="0" y="0"/>
                  </a:moveTo>
                  <a:lnTo>
                    <a:pt x="13969" y="106679"/>
                  </a:lnTo>
                  <a:lnTo>
                    <a:pt x="167639" y="330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9">
            <a:extLst>
              <a:ext uri="{FF2B5EF4-FFF2-40B4-BE49-F238E27FC236}">
                <a16:creationId xmlns:a16="http://schemas.microsoft.com/office/drawing/2014/main" id="{DE1C4CC2-6506-6569-C941-1802864A293D}"/>
              </a:ext>
            </a:extLst>
          </p:cNvPr>
          <p:cNvSpPr txBox="1"/>
          <p:nvPr/>
        </p:nvSpPr>
        <p:spPr>
          <a:xfrm>
            <a:off x="6326560" y="2985289"/>
            <a:ext cx="266509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spc="-5" dirty="0">
                <a:latin typeface="Times New Roman"/>
                <a:cs typeface="Times New Roman"/>
              </a:rPr>
              <a:t>Forward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list</a:t>
            </a:r>
            <a:endParaRPr sz="2800" dirty="0">
              <a:latin typeface="Times New Roman"/>
              <a:cs typeface="Times New Roman"/>
            </a:endParaRPr>
          </a:p>
        </p:txBody>
      </p:sp>
      <p:grpSp>
        <p:nvGrpSpPr>
          <p:cNvPr id="7" name="object 10">
            <a:extLst>
              <a:ext uri="{FF2B5EF4-FFF2-40B4-BE49-F238E27FC236}">
                <a16:creationId xmlns:a16="http://schemas.microsoft.com/office/drawing/2014/main" id="{3A52BA40-F31B-697D-5393-BFB5B8F6F157}"/>
              </a:ext>
            </a:extLst>
          </p:cNvPr>
          <p:cNvGrpSpPr/>
          <p:nvPr/>
        </p:nvGrpSpPr>
        <p:grpSpPr>
          <a:xfrm>
            <a:off x="4460340" y="4008590"/>
            <a:ext cx="1750650" cy="300040"/>
            <a:chOff x="2807335" y="2950845"/>
            <a:chExt cx="1729105" cy="186055"/>
          </a:xfrm>
        </p:grpSpPr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28CC5E9A-4968-4359-2314-FE3F9B5456A6}"/>
                </a:ext>
              </a:extLst>
            </p:cNvPr>
            <p:cNvSpPr/>
            <p:nvPr/>
          </p:nvSpPr>
          <p:spPr>
            <a:xfrm>
              <a:off x="2807970" y="2951480"/>
              <a:ext cx="1573530" cy="132080"/>
            </a:xfrm>
            <a:custGeom>
              <a:avLst/>
              <a:gdLst/>
              <a:ahLst/>
              <a:cxnLst/>
              <a:rect l="l" t="t" r="r" b="b"/>
              <a:pathLst>
                <a:path w="1573529" h="132080">
                  <a:moveTo>
                    <a:pt x="0" y="0"/>
                  </a:moveTo>
                  <a:lnTo>
                    <a:pt x="1573530" y="13208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CA0D013A-F17C-538D-EBCA-C55A56658339}"/>
                </a:ext>
              </a:extLst>
            </p:cNvPr>
            <p:cNvSpPr/>
            <p:nvPr/>
          </p:nvSpPr>
          <p:spPr>
            <a:xfrm>
              <a:off x="4370070" y="3028950"/>
              <a:ext cx="166370" cy="107950"/>
            </a:xfrm>
            <a:custGeom>
              <a:avLst/>
              <a:gdLst/>
              <a:ahLst/>
              <a:cxnLst/>
              <a:rect l="l" t="t" r="r" b="b"/>
              <a:pathLst>
                <a:path w="166370" h="107950">
                  <a:moveTo>
                    <a:pt x="8889" y="0"/>
                  </a:moveTo>
                  <a:lnTo>
                    <a:pt x="0" y="107950"/>
                  </a:lnTo>
                  <a:lnTo>
                    <a:pt x="166369" y="67310"/>
                  </a:lnTo>
                  <a:lnTo>
                    <a:pt x="8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3">
            <a:extLst>
              <a:ext uri="{FF2B5EF4-FFF2-40B4-BE49-F238E27FC236}">
                <a16:creationId xmlns:a16="http://schemas.microsoft.com/office/drawing/2014/main" id="{96133CC0-6883-F894-DA1F-4974FF4CBDAC}"/>
              </a:ext>
            </a:extLst>
          </p:cNvPr>
          <p:cNvSpPr txBox="1"/>
          <p:nvPr/>
        </p:nvSpPr>
        <p:spPr>
          <a:xfrm>
            <a:off x="6326560" y="4070912"/>
            <a:ext cx="2694940" cy="33740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220"/>
              </a:lnSpc>
              <a:spcBef>
                <a:spcPts val="325"/>
              </a:spcBef>
            </a:pPr>
            <a:r>
              <a:rPr lang="en-US" sz="2800" dirty="0">
                <a:latin typeface="Times New Roman"/>
                <a:cs typeface="Times New Roman"/>
              </a:rPr>
              <a:t>Reverse </a:t>
            </a:r>
            <a:r>
              <a:rPr sz="2800" spc="-10" dirty="0">
                <a:latin typeface="Times New Roman"/>
                <a:cs typeface="Times New Roman"/>
              </a:rPr>
              <a:t>list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1" name="object 14">
            <a:extLst>
              <a:ext uri="{FF2B5EF4-FFF2-40B4-BE49-F238E27FC236}">
                <a16:creationId xmlns:a16="http://schemas.microsoft.com/office/drawing/2014/main" id="{A35C9E4E-EBDE-14FF-32FF-444CC79FB836}"/>
              </a:ext>
            </a:extLst>
          </p:cNvPr>
          <p:cNvSpPr txBox="1"/>
          <p:nvPr/>
        </p:nvSpPr>
        <p:spPr>
          <a:xfrm>
            <a:off x="3166355" y="3447569"/>
            <a:ext cx="12839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800" spc="-5" dirty="0">
                <a:latin typeface="Times New Roman"/>
                <a:cs typeface="Times New Roman"/>
              </a:rPr>
              <a:t>D</a:t>
            </a:r>
            <a:r>
              <a:rPr lang="en-US" sz="2800" spc="-5" dirty="0">
                <a:latin typeface="Times New Roman"/>
                <a:cs typeface="Times New Roman"/>
              </a:rPr>
              <a:t>isplay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7029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1BE8-60BC-623A-526C-C2E2B4104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768" y="927781"/>
            <a:ext cx="9122228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Traversing in two-way list 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A08696F-1003-27DC-8926-4ABFD2E4E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2" y="1838131"/>
            <a:ext cx="5515169" cy="4833257"/>
          </a:xfrm>
        </p:spPr>
        <p:txBody>
          <a:bodyPr>
            <a:normAutofit/>
          </a:bodyPr>
          <a:lstStyle/>
          <a:p>
            <a:r>
              <a:rPr lang="en-US" altLang="en-US" sz="2600" dirty="0"/>
              <a:t>struct node *p</a:t>
            </a:r>
          </a:p>
          <a:p>
            <a:r>
              <a:rPr lang="en-US" altLang="en-US" sz="2600" dirty="0"/>
              <a:t>if (start== Null), then print underflow &amp; return.</a:t>
            </a:r>
          </a:p>
          <a:p>
            <a:r>
              <a:rPr lang="en-US" altLang="en-US" sz="2600" dirty="0">
                <a:solidFill>
                  <a:srgbClr val="7030A0"/>
                </a:solidFill>
              </a:rPr>
              <a:t>p=start; </a:t>
            </a:r>
            <a:r>
              <a:rPr lang="en-US" altLang="en-US" sz="3400" dirty="0">
                <a:solidFill>
                  <a:srgbClr val="FF0000"/>
                </a:solidFill>
              </a:rPr>
              <a:t>//forward traversing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while(p!=null) 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{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	print p-&gt;info;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	p= p -&gt;next;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}</a:t>
            </a:r>
          </a:p>
          <a:p>
            <a:pPr lvl="1">
              <a:buFont typeface="Verdana" panose="020B0604030504040204" pitchFamily="34" charset="0"/>
              <a:buNone/>
            </a:pPr>
            <a:endParaRPr lang="en-US" altLang="en-US" dirty="0"/>
          </a:p>
          <a:p>
            <a:pPr lvl="1">
              <a:buFont typeface="Verdana" panose="020B0604030504040204" pitchFamily="34" charset="0"/>
              <a:buNone/>
            </a:pP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A73C7-BC62-9520-E530-6BD3A0EB3D7C}"/>
              </a:ext>
            </a:extLst>
          </p:cNvPr>
          <p:cNvSpPr txBox="1"/>
          <p:nvPr/>
        </p:nvSpPr>
        <p:spPr>
          <a:xfrm>
            <a:off x="6603741" y="3160097"/>
            <a:ext cx="5414088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600" dirty="0">
                <a:solidFill>
                  <a:srgbClr val="7030A0"/>
                </a:solidFill>
              </a:rPr>
              <a:t>p=last;  </a:t>
            </a:r>
            <a:r>
              <a:rPr lang="en-US" altLang="en-US" sz="3400" dirty="0">
                <a:solidFill>
                  <a:srgbClr val="FF0000"/>
                </a:solidFill>
              </a:rPr>
              <a:t>//backward traversing</a:t>
            </a:r>
            <a:endParaRPr lang="en-US" altLang="en-US" sz="2600" dirty="0">
              <a:solidFill>
                <a:srgbClr val="FF0000"/>
              </a:solidFill>
            </a:endParaRP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while(p!=null) 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{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	print p-&gt;info;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	p= p -&gt;</a:t>
            </a:r>
            <a:r>
              <a:rPr lang="en-US" altLang="en-US" sz="2300" dirty="0" err="1">
                <a:solidFill>
                  <a:srgbClr val="7030A0"/>
                </a:solidFill>
              </a:rPr>
              <a:t>prev</a:t>
            </a:r>
            <a:r>
              <a:rPr lang="en-US" altLang="en-US" sz="2300" dirty="0">
                <a:solidFill>
                  <a:srgbClr val="7030A0"/>
                </a:solidFill>
              </a:rPr>
              <a:t>;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en-US" sz="2300" dirty="0">
                <a:solidFill>
                  <a:srgbClr val="7030A0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794D-9A30-34C8-A0DF-F9F7C6E1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592" y="731836"/>
            <a:ext cx="9392816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Forward Search in Two-way List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00D1AB-110B-7C06-AB25-1E0B1034A867}"/>
              </a:ext>
            </a:extLst>
          </p:cNvPr>
          <p:cNvSpPr/>
          <p:nvPr/>
        </p:nvSpPr>
        <p:spPr>
          <a:xfrm>
            <a:off x="1399592" y="1810139"/>
            <a:ext cx="8405934" cy="4211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1705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Step1:	</a:t>
            </a:r>
            <a:r>
              <a:rPr lang="en-US" sz="2000" dirty="0">
                <a:latin typeface="Times New Roman"/>
                <a:cs typeface="Times New Roman"/>
              </a:rPr>
              <a:t>If </a:t>
            </a:r>
            <a:r>
              <a:rPr lang="en-US" sz="2000" b="1" i="1" spc="-5" dirty="0">
                <a:latin typeface="Times New Roman"/>
                <a:cs typeface="Times New Roman"/>
              </a:rPr>
              <a:t>Start = Null</a:t>
            </a:r>
            <a:r>
              <a:rPr lang="en-US" sz="2000" b="1" i="1" spc="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Then</a:t>
            </a:r>
          </a:p>
          <a:p>
            <a:pPr marL="1078865">
              <a:lnSpc>
                <a:spcPct val="100000"/>
              </a:lnSpc>
            </a:pPr>
            <a:r>
              <a:rPr lang="en-US" sz="2000" spc="-5" dirty="0" err="1">
                <a:latin typeface="Times New Roman"/>
                <a:cs typeface="Times New Roman"/>
              </a:rPr>
              <a:t>Print:”Linked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List is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Empty”</a:t>
            </a:r>
            <a:endParaRPr lang="en-US" sz="2000" dirty="0">
              <a:latin typeface="Times New Roman"/>
              <a:cs typeface="Times New Roman"/>
            </a:endParaRPr>
          </a:p>
          <a:p>
            <a:pPr marL="1078865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Exit</a:t>
            </a:r>
          </a:p>
          <a:p>
            <a:pPr marL="107886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[End</a:t>
            </a:r>
            <a:r>
              <a:rPr lang="en-US" sz="2000" dirty="0">
                <a:latin typeface="Times New Roman"/>
                <a:cs typeface="Times New Roman"/>
              </a:rPr>
              <a:t> If]</a:t>
            </a:r>
          </a:p>
          <a:p>
            <a:pPr marL="12700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2: Set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=</a:t>
            </a:r>
            <a:r>
              <a:rPr lang="en-US" sz="2000" b="1" i="1" spc="-10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Start  </a:t>
            </a:r>
            <a:r>
              <a:rPr lang="en-US" sz="2000" i="1" spc="-5" dirty="0">
                <a:latin typeface="Times New Roman"/>
                <a:cs typeface="Times New Roman"/>
              </a:rPr>
              <a:t>// forward searching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3: Repeat While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 ! = Null</a:t>
            </a:r>
            <a:endParaRPr lang="en-US" sz="20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tabLst>
                <a:tab pos="1282065" algn="l"/>
                <a:tab pos="236601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If	</a:t>
            </a:r>
            <a:r>
              <a:rPr lang="en-US" sz="2000" b="1" i="1" dirty="0" err="1">
                <a:latin typeface="Times New Roman"/>
                <a:cs typeface="Times New Roman"/>
              </a:rPr>
              <a:t>Ptr</a:t>
            </a:r>
            <a:r>
              <a:rPr lang="en-US" sz="2000" b="1" i="1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→ </a:t>
            </a:r>
            <a:r>
              <a:rPr lang="en-US" sz="2000" b="1" i="1" dirty="0">
                <a:latin typeface="Times New Roman"/>
                <a:cs typeface="Times New Roman"/>
              </a:rPr>
              <a:t>info = Data</a:t>
            </a:r>
            <a:r>
              <a:rPr lang="en-US" sz="2000" b="1" i="1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Then</a:t>
            </a:r>
          </a:p>
          <a:p>
            <a:pPr marL="1155065" marR="5080">
              <a:lnSpc>
                <a:spcPct val="100000"/>
              </a:lnSpc>
              <a:spcBef>
                <a:spcPts val="5"/>
              </a:spcBef>
            </a:pPr>
            <a:r>
              <a:rPr lang="en-US" sz="2000" spc="-5" dirty="0">
                <a:latin typeface="Times New Roman"/>
                <a:cs typeface="Times New Roman"/>
              </a:rPr>
              <a:t>Print 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spc="-5" dirty="0">
                <a:latin typeface="Times New Roman"/>
                <a:cs typeface="Times New Roman"/>
              </a:rPr>
              <a:t>“Element </a:t>
            </a:r>
            <a:r>
              <a:rPr lang="en-US" sz="2000" dirty="0">
                <a:latin typeface="Times New Roman"/>
                <a:cs typeface="Times New Roman"/>
              </a:rPr>
              <a:t>is </a:t>
            </a:r>
            <a:r>
              <a:rPr lang="en-US" sz="2000" spc="-5" dirty="0">
                <a:latin typeface="Times New Roman"/>
                <a:cs typeface="Times New Roman"/>
              </a:rPr>
              <a:t>found </a:t>
            </a:r>
            <a:r>
              <a:rPr lang="en-US" sz="2000" dirty="0">
                <a:latin typeface="Times New Roman"/>
                <a:cs typeface="Times New Roman"/>
              </a:rPr>
              <a:t>at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address”:</a:t>
            </a:r>
            <a:r>
              <a:rPr lang="en-US" sz="2000" b="1" i="1" dirty="0" err="1">
                <a:latin typeface="Times New Roman"/>
                <a:cs typeface="Times New Roman"/>
              </a:rPr>
              <a:t>Ptr</a:t>
            </a:r>
            <a:r>
              <a:rPr lang="en-US" sz="2000" b="1" i="1" dirty="0">
                <a:latin typeface="Times New Roman"/>
                <a:cs typeface="Times New Roman"/>
              </a:rPr>
              <a:t>     </a:t>
            </a:r>
            <a:r>
              <a:rPr lang="en-US" sz="2000" dirty="0">
                <a:latin typeface="Times New Roman"/>
                <a:cs typeface="Times New Roman"/>
              </a:rPr>
              <a:t>Exit</a:t>
            </a:r>
          </a:p>
          <a:p>
            <a:pPr marL="92646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Else</a:t>
            </a:r>
            <a:endParaRPr lang="en-US" sz="2000" dirty="0">
              <a:latin typeface="Times New Roman"/>
              <a:cs typeface="Times New Roman"/>
            </a:endParaRPr>
          </a:p>
          <a:p>
            <a:pPr marL="1383665">
              <a:lnSpc>
                <a:spcPct val="100000"/>
              </a:lnSpc>
              <a:tabLst>
                <a:tab pos="4188460" algn="l"/>
                <a:tab pos="4645660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Set </a:t>
            </a:r>
            <a:r>
              <a:rPr lang="en-US" sz="2000" b="1" i="1" dirty="0" err="1">
                <a:latin typeface="Times New Roman"/>
                <a:cs typeface="Times New Roman"/>
              </a:rPr>
              <a:t>Ptr</a:t>
            </a:r>
            <a:r>
              <a:rPr lang="en-US" sz="2000" b="1" i="1" dirty="0">
                <a:latin typeface="Times New Roman"/>
                <a:cs typeface="Times New Roman"/>
              </a:rPr>
              <a:t> =</a:t>
            </a:r>
            <a:r>
              <a:rPr lang="en-US" sz="2000" b="1" i="1" spc="-15" dirty="0">
                <a:latin typeface="Times New Roman"/>
                <a:cs typeface="Times New Roman"/>
              </a:rPr>
              <a:t> </a:t>
            </a:r>
            <a:r>
              <a:rPr lang="en-US" sz="2000" b="1" i="1" dirty="0" err="1">
                <a:latin typeface="Times New Roman"/>
                <a:cs typeface="Times New Roman"/>
              </a:rPr>
              <a:t>Ptr</a:t>
            </a:r>
            <a:r>
              <a:rPr lang="en-US" sz="2000" b="1" i="1" dirty="0">
                <a:latin typeface="Times New Roman"/>
                <a:cs typeface="Times New Roman"/>
              </a:rPr>
              <a:t> →</a:t>
            </a:r>
            <a:r>
              <a:rPr lang="en-US" sz="2000" b="1" i="1" spc="-5" dirty="0">
                <a:latin typeface="Times New Roman"/>
                <a:cs typeface="Times New Roman"/>
              </a:rPr>
              <a:t>Next</a:t>
            </a:r>
            <a:endParaRPr lang="en-US" sz="20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[End If]</a:t>
            </a:r>
            <a:endParaRPr lang="en-US" sz="20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[End</a:t>
            </a:r>
            <a:r>
              <a:rPr lang="en-US" sz="2000" dirty="0">
                <a:latin typeface="Times New Roman"/>
                <a:cs typeface="Times New Roman"/>
              </a:rPr>
              <a:t> Loop]</a:t>
            </a:r>
          </a:p>
          <a:p>
            <a:pPr marL="12700" marR="73850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</a:t>
            </a:r>
            <a:r>
              <a:rPr lang="en-US" sz="2000" dirty="0">
                <a:latin typeface="Times New Roman"/>
                <a:cs typeface="Times New Roman"/>
              </a:rPr>
              <a:t>4: </a:t>
            </a:r>
            <a:r>
              <a:rPr lang="en-US" sz="2000" spc="-5" dirty="0">
                <a:latin typeface="Times New Roman"/>
                <a:cs typeface="Times New Roman"/>
              </a:rPr>
              <a:t>Print 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spc="-5" dirty="0">
                <a:latin typeface="Times New Roman"/>
                <a:cs typeface="Times New Roman"/>
              </a:rPr>
              <a:t>“Element </a:t>
            </a:r>
            <a:r>
              <a:rPr lang="en-US" sz="2000" dirty="0">
                <a:latin typeface="Times New Roman"/>
                <a:cs typeface="Times New Roman"/>
              </a:rPr>
              <a:t>not found in linked</a:t>
            </a:r>
            <a:r>
              <a:rPr lang="en-US" sz="2000" spc="-12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list”  </a:t>
            </a:r>
            <a:r>
              <a:rPr lang="en-US" sz="2000" dirty="0">
                <a:latin typeface="Times New Roman"/>
                <a:cs typeface="Times New Roman"/>
              </a:rPr>
              <a:t>Step 5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:Exit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E6F5-6CC4-C2FD-176B-8A1F1943E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76" y="619870"/>
            <a:ext cx="9483012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Backward Searching in Two-way List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F2D40-4798-492D-DC57-507F511408CA}"/>
              </a:ext>
            </a:extLst>
          </p:cNvPr>
          <p:cNvSpPr/>
          <p:nvPr/>
        </p:nvSpPr>
        <p:spPr>
          <a:xfrm>
            <a:off x="2416629" y="1894114"/>
            <a:ext cx="7750629" cy="416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41705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Step1:	</a:t>
            </a:r>
            <a:r>
              <a:rPr lang="en-US" sz="2000" dirty="0">
                <a:latin typeface="Times New Roman"/>
                <a:cs typeface="Times New Roman"/>
              </a:rPr>
              <a:t>If </a:t>
            </a:r>
            <a:r>
              <a:rPr lang="en-US" sz="2000" b="1" i="1" spc="-5" dirty="0">
                <a:latin typeface="Times New Roman"/>
                <a:cs typeface="Times New Roman"/>
              </a:rPr>
              <a:t>Start = Null</a:t>
            </a:r>
            <a:r>
              <a:rPr lang="en-US" sz="2000" b="1" i="1" spc="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Then</a:t>
            </a:r>
          </a:p>
          <a:p>
            <a:pPr marL="1078865">
              <a:lnSpc>
                <a:spcPct val="100000"/>
              </a:lnSpc>
            </a:pPr>
            <a:r>
              <a:rPr lang="en-US" sz="2000" spc="-5" dirty="0" err="1">
                <a:latin typeface="Times New Roman"/>
                <a:cs typeface="Times New Roman"/>
              </a:rPr>
              <a:t>Print:”Linked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List is</a:t>
            </a:r>
            <a:r>
              <a:rPr lang="en-US" sz="2000" spc="-5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Empty”</a:t>
            </a:r>
            <a:endParaRPr lang="en-US" sz="2000" dirty="0">
              <a:latin typeface="Times New Roman"/>
              <a:cs typeface="Times New Roman"/>
            </a:endParaRPr>
          </a:p>
          <a:p>
            <a:pPr marL="1078865">
              <a:lnSpc>
                <a:spcPct val="100000"/>
              </a:lnSpc>
            </a:pPr>
            <a:r>
              <a:rPr lang="en-US" sz="2000" dirty="0">
                <a:latin typeface="Times New Roman"/>
                <a:cs typeface="Times New Roman"/>
              </a:rPr>
              <a:t>Exit</a:t>
            </a:r>
          </a:p>
          <a:p>
            <a:pPr marL="107886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[End</a:t>
            </a:r>
            <a:r>
              <a:rPr lang="en-US" sz="2000" dirty="0">
                <a:latin typeface="Times New Roman"/>
                <a:cs typeface="Times New Roman"/>
              </a:rPr>
              <a:t> If]</a:t>
            </a:r>
          </a:p>
          <a:p>
            <a:pPr marL="12700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2: Set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=</a:t>
            </a:r>
            <a:r>
              <a:rPr lang="en-US" sz="2000" b="1" i="1" spc="-10" dirty="0">
                <a:latin typeface="Times New Roman"/>
                <a:cs typeface="Times New Roman"/>
              </a:rPr>
              <a:t> </a:t>
            </a:r>
            <a:r>
              <a:rPr lang="en-US" sz="2000" b="1" i="1" spc="-5" dirty="0">
                <a:latin typeface="Times New Roman"/>
                <a:cs typeface="Times New Roman"/>
              </a:rPr>
              <a:t>last  </a:t>
            </a:r>
            <a:r>
              <a:rPr lang="en-US" sz="2000" i="1" spc="-5" dirty="0">
                <a:latin typeface="Times New Roman"/>
                <a:cs typeface="Times New Roman"/>
              </a:rPr>
              <a:t>// backward searching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3: Repeat While </a:t>
            </a:r>
            <a:r>
              <a:rPr lang="en-US" sz="2000" b="1" i="1" spc="-5" dirty="0" err="1">
                <a:latin typeface="Times New Roman"/>
                <a:cs typeface="Times New Roman"/>
              </a:rPr>
              <a:t>Ptr</a:t>
            </a:r>
            <a:r>
              <a:rPr lang="en-US" sz="2000" b="1" i="1" spc="-5" dirty="0">
                <a:latin typeface="Times New Roman"/>
                <a:cs typeface="Times New Roman"/>
              </a:rPr>
              <a:t> ! = Null</a:t>
            </a:r>
            <a:endParaRPr lang="en-US" sz="20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tabLst>
                <a:tab pos="1282065" algn="l"/>
                <a:tab pos="236601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If	</a:t>
            </a:r>
            <a:r>
              <a:rPr lang="en-US" sz="2000" b="1" i="1" dirty="0" err="1">
                <a:latin typeface="Times New Roman"/>
                <a:cs typeface="Times New Roman"/>
              </a:rPr>
              <a:t>Ptr</a:t>
            </a:r>
            <a:r>
              <a:rPr lang="en-US" sz="2000" b="1" i="1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→ </a:t>
            </a:r>
            <a:r>
              <a:rPr lang="en-US" sz="2000" b="1" i="1" dirty="0">
                <a:latin typeface="Times New Roman"/>
                <a:cs typeface="Times New Roman"/>
              </a:rPr>
              <a:t>info = Data</a:t>
            </a:r>
            <a:r>
              <a:rPr lang="en-US" sz="2000" b="1" i="1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Then</a:t>
            </a:r>
          </a:p>
          <a:p>
            <a:pPr marL="1155065" marR="5080">
              <a:lnSpc>
                <a:spcPct val="100000"/>
              </a:lnSpc>
              <a:spcBef>
                <a:spcPts val="5"/>
              </a:spcBef>
            </a:pPr>
            <a:r>
              <a:rPr lang="en-US" sz="2000" spc="-5" dirty="0">
                <a:latin typeface="Times New Roman"/>
                <a:cs typeface="Times New Roman"/>
              </a:rPr>
              <a:t>Print 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spc="-5" dirty="0">
                <a:latin typeface="Times New Roman"/>
                <a:cs typeface="Times New Roman"/>
              </a:rPr>
              <a:t>“Element </a:t>
            </a:r>
            <a:r>
              <a:rPr lang="en-US" sz="2000" dirty="0">
                <a:latin typeface="Times New Roman"/>
                <a:cs typeface="Times New Roman"/>
              </a:rPr>
              <a:t>is </a:t>
            </a:r>
            <a:r>
              <a:rPr lang="en-US" sz="2000" spc="-5" dirty="0">
                <a:latin typeface="Times New Roman"/>
                <a:cs typeface="Times New Roman"/>
              </a:rPr>
              <a:t>found </a:t>
            </a:r>
            <a:r>
              <a:rPr lang="en-US" sz="2000" dirty="0">
                <a:latin typeface="Times New Roman"/>
                <a:cs typeface="Times New Roman"/>
              </a:rPr>
              <a:t>at</a:t>
            </a:r>
            <a:r>
              <a:rPr lang="en-US" sz="2000" spc="-7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address”:</a:t>
            </a:r>
            <a:r>
              <a:rPr lang="en-US" sz="2000" b="1" i="1" dirty="0" err="1">
                <a:latin typeface="Times New Roman"/>
                <a:cs typeface="Times New Roman"/>
              </a:rPr>
              <a:t>Ptr</a:t>
            </a:r>
            <a:r>
              <a:rPr lang="en-US" sz="2000" b="1" i="1" dirty="0">
                <a:latin typeface="Times New Roman"/>
                <a:cs typeface="Times New Roman"/>
              </a:rPr>
              <a:t>     </a:t>
            </a:r>
            <a:r>
              <a:rPr lang="en-US" sz="2000" dirty="0">
                <a:latin typeface="Times New Roman"/>
                <a:cs typeface="Times New Roman"/>
              </a:rPr>
              <a:t>Exit</a:t>
            </a:r>
          </a:p>
          <a:p>
            <a:pPr marL="92646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Else</a:t>
            </a:r>
            <a:endParaRPr lang="en-US" sz="2000" dirty="0">
              <a:latin typeface="Times New Roman"/>
              <a:cs typeface="Times New Roman"/>
            </a:endParaRPr>
          </a:p>
          <a:p>
            <a:pPr marL="1383665">
              <a:lnSpc>
                <a:spcPct val="100000"/>
              </a:lnSpc>
              <a:tabLst>
                <a:tab pos="4188460" algn="l"/>
                <a:tab pos="4645660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Set </a:t>
            </a:r>
            <a:r>
              <a:rPr lang="en-US" sz="2000" b="1" i="1" dirty="0" err="1">
                <a:latin typeface="Times New Roman"/>
                <a:cs typeface="Times New Roman"/>
              </a:rPr>
              <a:t>Ptr</a:t>
            </a:r>
            <a:r>
              <a:rPr lang="en-US" sz="2000" b="1" i="1" dirty="0">
                <a:latin typeface="Times New Roman"/>
                <a:cs typeface="Times New Roman"/>
              </a:rPr>
              <a:t> =</a:t>
            </a:r>
            <a:r>
              <a:rPr lang="en-US" sz="2000" b="1" i="1" spc="-15" dirty="0">
                <a:latin typeface="Times New Roman"/>
                <a:cs typeface="Times New Roman"/>
              </a:rPr>
              <a:t> </a:t>
            </a:r>
            <a:r>
              <a:rPr lang="en-US" sz="2000" b="1" i="1" dirty="0" err="1">
                <a:latin typeface="Times New Roman"/>
                <a:cs typeface="Times New Roman"/>
              </a:rPr>
              <a:t>Ptr</a:t>
            </a:r>
            <a:r>
              <a:rPr lang="en-US" sz="2000" b="1" i="1" dirty="0">
                <a:latin typeface="Times New Roman"/>
                <a:cs typeface="Times New Roman"/>
              </a:rPr>
              <a:t> →</a:t>
            </a:r>
            <a:r>
              <a:rPr lang="en-US" sz="2000" b="1" i="1" spc="-5" dirty="0" err="1">
                <a:latin typeface="Times New Roman"/>
                <a:cs typeface="Times New Roman"/>
              </a:rPr>
              <a:t>Prev</a:t>
            </a:r>
            <a:endParaRPr lang="en-US" sz="20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[End If]</a:t>
            </a:r>
            <a:endParaRPr lang="en-US" sz="20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[End</a:t>
            </a:r>
            <a:r>
              <a:rPr lang="en-US" sz="2000" dirty="0">
                <a:latin typeface="Times New Roman"/>
                <a:cs typeface="Times New Roman"/>
              </a:rPr>
              <a:t> Loop]</a:t>
            </a:r>
          </a:p>
          <a:p>
            <a:pPr marL="12700" marR="738505">
              <a:lnSpc>
                <a:spcPct val="100000"/>
              </a:lnSpc>
            </a:pPr>
            <a:r>
              <a:rPr lang="en-US" sz="2000" spc="-5" dirty="0">
                <a:latin typeface="Times New Roman"/>
                <a:cs typeface="Times New Roman"/>
              </a:rPr>
              <a:t>Step </a:t>
            </a:r>
            <a:r>
              <a:rPr lang="en-US" sz="2000" dirty="0">
                <a:latin typeface="Times New Roman"/>
                <a:cs typeface="Times New Roman"/>
              </a:rPr>
              <a:t>4: </a:t>
            </a:r>
            <a:r>
              <a:rPr lang="en-US" sz="2000" spc="-5" dirty="0">
                <a:latin typeface="Times New Roman"/>
                <a:cs typeface="Times New Roman"/>
              </a:rPr>
              <a:t>Print </a:t>
            </a:r>
            <a:r>
              <a:rPr lang="en-US" sz="2000" dirty="0">
                <a:latin typeface="Times New Roman"/>
                <a:cs typeface="Times New Roman"/>
              </a:rPr>
              <a:t>: </a:t>
            </a:r>
            <a:r>
              <a:rPr lang="en-US" sz="2000" spc="-5" dirty="0">
                <a:latin typeface="Times New Roman"/>
                <a:cs typeface="Times New Roman"/>
              </a:rPr>
              <a:t>“Element </a:t>
            </a:r>
            <a:r>
              <a:rPr lang="en-US" sz="2000" dirty="0">
                <a:latin typeface="Times New Roman"/>
                <a:cs typeface="Times New Roman"/>
              </a:rPr>
              <a:t>not found in linked</a:t>
            </a:r>
            <a:r>
              <a:rPr lang="en-US" sz="2000" spc="-12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list”  </a:t>
            </a:r>
            <a:r>
              <a:rPr lang="en-US" sz="2000" dirty="0">
                <a:latin typeface="Times New Roman"/>
                <a:cs typeface="Times New Roman"/>
              </a:rPr>
              <a:t>Step 5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:Exit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20D4-84BA-867C-2CD1-EF7A3F2B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992" y="731836"/>
            <a:ext cx="10342179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Algorithm for insertion in two-way list-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At Start when start is null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52BA25DE-AE25-F64C-8931-2793C4A44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78090"/>
            <a:ext cx="8229600" cy="4148074"/>
          </a:xfrm>
        </p:spPr>
        <p:txBody>
          <a:bodyPr>
            <a:normAutofit/>
          </a:bodyPr>
          <a:lstStyle/>
          <a:p>
            <a:pPr lvl="1">
              <a:buFont typeface="Verdana" panose="020B0604030504040204" pitchFamily="34" charset="0"/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if (start == Null)</a:t>
            </a:r>
          </a:p>
          <a:p>
            <a:pPr lvl="1">
              <a:buFont typeface="Verdana" panose="020B0604030504040204" pitchFamily="34" charset="0"/>
              <a:buNone/>
            </a:pPr>
            <a:endParaRPr lang="en-US" altLang="en-US" sz="2800" dirty="0"/>
          </a:p>
          <a:p>
            <a:pPr lvl="1">
              <a:buFont typeface="Verdana" panose="020B0604030504040204" pitchFamily="34" charset="0"/>
              <a:buNone/>
            </a:pPr>
            <a:endParaRPr lang="en-US" altLang="en-US" sz="2800" dirty="0"/>
          </a:p>
          <a:p>
            <a:pPr lvl="1">
              <a:buFont typeface="Verdana" panose="020B0604030504040204" pitchFamily="34" charset="0"/>
              <a:buNone/>
            </a:pPr>
            <a:endParaRPr lang="en-US" altLang="en-US" sz="2800" dirty="0"/>
          </a:p>
          <a:p>
            <a:pPr lvl="1">
              <a:buFont typeface="Verdana" panose="020B0604030504040204" pitchFamily="34" charset="0"/>
              <a:buNone/>
            </a:pPr>
            <a:endParaRPr lang="en-US" altLang="en-US" sz="2800" dirty="0"/>
          </a:p>
          <a:p>
            <a:pPr lvl="1">
              <a:buFont typeface="Verdana" panose="020B0604030504040204" pitchFamily="34" charset="0"/>
              <a:buNone/>
            </a:pPr>
            <a:endParaRPr lang="en-US" altLang="en-US" sz="2800" dirty="0"/>
          </a:p>
          <a:p>
            <a:pPr lvl="1">
              <a:buFont typeface="Verdana" panose="020B0604030504040204" pitchFamily="34" charset="0"/>
              <a:buNone/>
            </a:pPr>
            <a:endParaRPr lang="en-US" altLang="en-US" sz="2800" dirty="0"/>
          </a:p>
          <a:p>
            <a:pPr lvl="1">
              <a:buFont typeface="Verdana" panose="020B0604030504040204" pitchFamily="34" charset="0"/>
              <a:buNone/>
            </a:pPr>
            <a:endParaRPr lang="en-US" altLang="en-US" sz="2800" dirty="0"/>
          </a:p>
          <a:p>
            <a:pPr lvl="1">
              <a:buFont typeface="Verdana" panose="020B0604030504040204" pitchFamily="34" charset="0"/>
              <a:buNone/>
            </a:pPr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FF023-86A0-9C2D-3765-664D7771A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866553"/>
            <a:ext cx="6769166" cy="24985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DA802-1708-9026-2D98-94AC5B41C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165" y="731836"/>
            <a:ext cx="10941269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Algorithm for insertion in two-way list 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At Start when start is not null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1F80EE-465B-B183-C274-8D963B774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938" y="1863034"/>
            <a:ext cx="8443057" cy="3893603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CCE1A-47EC-5F9F-3137-CF2046762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984" y="619870"/>
            <a:ext cx="82296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Algorithm for insertion in two-way list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At End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AAF8ED5-4931-A276-2A7C-3F72BDF67B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911" y="1846263"/>
            <a:ext cx="7856503" cy="40227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3F27-A407-43A7-947C-A422E183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04" y="884236"/>
            <a:ext cx="8229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Algorithm for insertion in two-way list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At any Position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BBD37-3F13-A34F-867D-9B7751C5A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83" y="2000369"/>
            <a:ext cx="10848392" cy="37140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DA54E5A-96BD-A950-8E7E-5BDAFFA712EA}"/>
              </a:ext>
            </a:extLst>
          </p:cNvPr>
          <p:cNvSpPr/>
          <p:nvPr/>
        </p:nvSpPr>
        <p:spPr>
          <a:xfrm>
            <a:off x="8444204" y="1894114"/>
            <a:ext cx="279918" cy="438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3F27-A407-43A7-947C-A422E183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04" y="884236"/>
            <a:ext cx="8229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Algorithm for insertion in two-way list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At any Position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4E0E5F-6B03-7BF9-E342-D05F6C9FD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939" y="1884784"/>
            <a:ext cx="9336254" cy="3769567"/>
          </a:xfrm>
        </p:spPr>
      </p:pic>
    </p:spTree>
    <p:extLst>
      <p:ext uri="{BB962C8B-B14F-4D97-AF65-F5344CB8AC3E}">
        <p14:creationId xmlns:p14="http://schemas.microsoft.com/office/powerpoint/2010/main" val="9081481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3F27-A407-43A7-947C-A422E183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6704" y="884236"/>
            <a:ext cx="8229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Algorithm for insertion in two-way list</a:t>
            </a:r>
            <a:br>
              <a:rPr lang="en-US" dirty="0"/>
            </a:br>
            <a:r>
              <a:rPr lang="en-US" dirty="0">
                <a:solidFill>
                  <a:srgbClr val="C00000"/>
                </a:solidFill>
              </a:rPr>
              <a:t>At any Position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DEB2FA6-B6DA-3FB6-E200-BD61593DB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278" y="1856792"/>
            <a:ext cx="8320251" cy="4487842"/>
          </a:xfrm>
        </p:spPr>
      </p:pic>
    </p:spTree>
    <p:extLst>
      <p:ext uri="{BB962C8B-B14F-4D97-AF65-F5344CB8AC3E}">
        <p14:creationId xmlns:p14="http://schemas.microsoft.com/office/powerpoint/2010/main" val="987466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CB03-7DA1-A58E-CFD8-F5CEB416D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714" y="2553942"/>
            <a:ext cx="4314475" cy="1450757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3203322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714</TotalTime>
  <Words>965</Words>
  <Application>Microsoft Office PowerPoint</Application>
  <PresentationFormat>Widescreen</PresentationFormat>
  <Paragraphs>136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Verdana</vt:lpstr>
      <vt:lpstr>Wingdings 3</vt:lpstr>
      <vt:lpstr>Retrospect</vt:lpstr>
      <vt:lpstr>Data Structure and Algorithm</vt:lpstr>
      <vt:lpstr>Goals for today</vt:lpstr>
      <vt:lpstr>CLO Covered</vt:lpstr>
      <vt:lpstr>Two-Way List </vt:lpstr>
      <vt:lpstr>Doubly Linked List</vt:lpstr>
      <vt:lpstr>Two-Way List </vt:lpstr>
      <vt:lpstr>Two-Way List </vt:lpstr>
      <vt:lpstr>Difference</vt:lpstr>
      <vt:lpstr>Important Points to be remember</vt:lpstr>
      <vt:lpstr>Applications/Uses of doubly linked list  in real life </vt:lpstr>
      <vt:lpstr>Doubly Linked List Declaration</vt:lpstr>
      <vt:lpstr>Operation in two-way list </vt:lpstr>
      <vt:lpstr>Operation in two-way list </vt:lpstr>
      <vt:lpstr>Operation in two-way list </vt:lpstr>
      <vt:lpstr>Operation in two-way list </vt:lpstr>
      <vt:lpstr>Traversing in two-way list </vt:lpstr>
      <vt:lpstr>Forward Search in Two-way List </vt:lpstr>
      <vt:lpstr>Backward Searching in Two-way List </vt:lpstr>
      <vt:lpstr>Algorithm for insertion in two-way list-  At Start when start is null</vt:lpstr>
      <vt:lpstr>Algorithm for insertion in two-way list  At Start when start is not null</vt:lpstr>
      <vt:lpstr>Algorithm for insertion in two-way list At End </vt:lpstr>
      <vt:lpstr>Algorithm for insertion in two-way list At any Position </vt:lpstr>
      <vt:lpstr>Algorithm for insertion in two-way list At any Position </vt:lpstr>
      <vt:lpstr>Algorithm for insertion in two-way list At any Position 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and Algorithm</dc:title>
  <dc:creator>Habiba Arshad</dc:creator>
  <cp:lastModifiedBy>Rida Zahra</cp:lastModifiedBy>
  <cp:revision>29</cp:revision>
  <dcterms:created xsi:type="dcterms:W3CDTF">2022-11-02T06:26:08Z</dcterms:created>
  <dcterms:modified xsi:type="dcterms:W3CDTF">2025-11-18T16:22:38Z</dcterms:modified>
</cp:coreProperties>
</file>