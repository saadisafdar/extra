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306" r:id="rId4"/>
    <p:sldId id="307" r:id="rId5"/>
    <p:sldId id="308" r:id="rId6"/>
    <p:sldId id="309" r:id="rId7"/>
    <p:sldId id="310" r:id="rId8"/>
    <p:sldId id="312" r:id="rId9"/>
    <p:sldId id="314" r:id="rId10"/>
    <p:sldId id="333" r:id="rId11"/>
    <p:sldId id="315" r:id="rId12"/>
    <p:sldId id="258" r:id="rId13"/>
    <p:sldId id="259" r:id="rId14"/>
    <p:sldId id="260" r:id="rId15"/>
    <p:sldId id="261" r:id="rId16"/>
    <p:sldId id="334" r:id="rId17"/>
    <p:sldId id="335" r:id="rId18"/>
    <p:sldId id="273" r:id="rId19"/>
    <p:sldId id="275" r:id="rId20"/>
    <p:sldId id="328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719" autoAdjust="0"/>
  </p:normalViewPr>
  <p:slideViewPr>
    <p:cSldViewPr>
      <p:cViewPr varScale="1">
        <p:scale>
          <a:sx n="69" d="100"/>
          <a:sy n="69" d="100"/>
        </p:scale>
        <p:origin x="540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BDD33-D104-4FE7-8424-144019680F9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061840-ED53-4E58-9A63-5828EA708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2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Web </a:t>
            </a:r>
            <a:r>
              <a:rPr lang="en-US" b="1" i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defacement</a:t>
            </a:r>
            <a:r>
              <a:rPr lang="en-US" b="0" i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is an attack in which malicious parties penetrate a website and replace content on the site with their own messages.</a:t>
            </a:r>
            <a:endParaRPr lang="aa-E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1840-ED53-4E58-9A63-5828EA708D6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18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279417-4F16-4896-9C7E-64EB435756FB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Arbitrary auth of remote requests and web servers, abuse of server resources, features, and security hole exploits, pose information extraction i.e.. ip info, domain info and file info</a:t>
            </a:r>
          </a:p>
        </p:txBody>
      </p:sp>
    </p:spTree>
    <p:extLst>
      <p:ext uri="{BB962C8B-B14F-4D97-AF65-F5344CB8AC3E}">
        <p14:creationId xmlns:p14="http://schemas.microsoft.com/office/powerpoint/2010/main" val="1694212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3E812D-6E84-4B3A-9A8B-8F977288139B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Time For a Break!</a:t>
            </a:r>
          </a:p>
        </p:txBody>
      </p:sp>
    </p:spTree>
    <p:extLst>
      <p:ext uri="{BB962C8B-B14F-4D97-AF65-F5344CB8AC3E}">
        <p14:creationId xmlns:p14="http://schemas.microsoft.com/office/powerpoint/2010/main" val="2466648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In computer networking, ingress filtering is a technique used to ensure that incoming packets are actually from the networks from which they claim to originate. This can be used as a countermeasure against various spoofing attacks where the attacker's packets contain fake IP addresses. </a:t>
            </a:r>
            <a:endParaRPr lang="aa-E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1840-ED53-4E58-9A63-5828EA708D6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531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In computer networking, egress filtering is the practice of monitoring and potentially restricting the flow of information outbound from one network to another. Typically, it is information from a private TCP/IP computer network to the Internet that is controlled.</a:t>
            </a:r>
            <a:endParaRPr lang="aa-E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1840-ED53-4E58-9A63-5828EA708D6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294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F5BE7-BC17-4875-A3B0-A98508A83151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Gateway is like a NAT box, ie, a home router.</a:t>
            </a:r>
          </a:p>
        </p:txBody>
      </p:sp>
    </p:spTree>
    <p:extLst>
      <p:ext uri="{BB962C8B-B14F-4D97-AF65-F5344CB8AC3E}">
        <p14:creationId xmlns:p14="http://schemas.microsoft.com/office/powerpoint/2010/main" val="4019839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5157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737600" y="624840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EABD6C7A-0671-4649-9B0F-CCF10B5119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>
          <a:xfrm>
            <a:off x="4165600" y="6248400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9094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Comic Sans MS" panose="030F0702030302020204" pitchFamily="66" charset="0"/>
              </a:rPr>
              <a:t>Introduction to Information Security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Firewalls </a:t>
            </a:r>
          </a:p>
        </p:txBody>
      </p:sp>
    </p:spTree>
    <p:extLst>
      <p:ext uri="{BB962C8B-B14F-4D97-AF65-F5344CB8AC3E}">
        <p14:creationId xmlns:p14="http://schemas.microsoft.com/office/powerpoint/2010/main" val="2860424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AU" altLang="en-US" dirty="0">
                <a:latin typeface="Comic Sans MS" panose="030F0702030302020204" pitchFamily="66" charset="0"/>
              </a:rPr>
              <a:t>What is a Firewall?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74750"/>
            <a:ext cx="11201400" cy="534987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AU" altLang="en-US" dirty="0">
                <a:latin typeface="Comic Sans MS" panose="030F0702030302020204" pitchFamily="66" charset="0"/>
              </a:rPr>
              <a:t>A </a:t>
            </a:r>
            <a:r>
              <a:rPr lang="en-AU" altLang="en-US" b="1" dirty="0">
                <a:latin typeface="Comic Sans MS" panose="030F0702030302020204" pitchFamily="66" charset="0"/>
              </a:rPr>
              <a:t>point</a:t>
            </a:r>
            <a:r>
              <a:rPr lang="en-AU" altLang="en-US" dirty="0">
                <a:latin typeface="Comic Sans MS" panose="030F0702030302020204" pitchFamily="66" charset="0"/>
              </a:rPr>
              <a:t> of control and monitoring </a:t>
            </a:r>
          </a:p>
          <a:p>
            <a:pPr>
              <a:lnSpc>
                <a:spcPct val="170000"/>
              </a:lnSpc>
            </a:pPr>
            <a:r>
              <a:rPr lang="en-AU" altLang="en-US" dirty="0">
                <a:latin typeface="Comic Sans MS" panose="030F0702030302020204" pitchFamily="66" charset="0"/>
              </a:rPr>
              <a:t>Imposes restrictions on network services</a:t>
            </a:r>
          </a:p>
          <a:p>
            <a:pPr lvl="1">
              <a:lnSpc>
                <a:spcPct val="170000"/>
              </a:lnSpc>
            </a:pPr>
            <a:r>
              <a:rPr lang="en-AU" altLang="en-US" dirty="0">
                <a:latin typeface="Comic Sans MS" panose="030F0702030302020204" pitchFamily="66" charset="0"/>
              </a:rPr>
              <a:t>only authorized traffic is allowed </a:t>
            </a:r>
          </a:p>
          <a:p>
            <a:pPr>
              <a:lnSpc>
                <a:spcPct val="170000"/>
              </a:lnSpc>
            </a:pPr>
            <a:r>
              <a:rPr lang="en-AU" altLang="en-US" dirty="0">
                <a:latin typeface="Comic Sans MS" panose="030F0702030302020204" pitchFamily="66" charset="0"/>
              </a:rPr>
              <a:t>Controlling access</a:t>
            </a:r>
          </a:p>
          <a:p>
            <a:pPr lvl="1">
              <a:lnSpc>
                <a:spcPct val="170000"/>
              </a:lnSpc>
            </a:pPr>
            <a:r>
              <a:rPr lang="en-US" altLang="en-US" dirty="0">
                <a:latin typeface="Comic Sans MS" panose="030F0702030302020204" pitchFamily="66" charset="0"/>
              </a:rPr>
              <a:t>can implement alarms for abnormal behavior</a:t>
            </a:r>
          </a:p>
          <a:p>
            <a:pPr>
              <a:lnSpc>
                <a:spcPct val="170000"/>
              </a:lnSpc>
            </a:pPr>
            <a:r>
              <a:rPr lang="en-US" altLang="en-US" dirty="0">
                <a:latin typeface="Comic Sans MS" panose="030F0702030302020204" pitchFamily="66" charset="0"/>
              </a:rPr>
              <a:t>A firewall is a security policy enforcement point that regulates access between computer networks</a:t>
            </a:r>
          </a:p>
          <a:p>
            <a:pPr>
              <a:lnSpc>
                <a:spcPct val="170000"/>
              </a:lnSpc>
            </a:pPr>
            <a:r>
              <a:rPr lang="en-US" altLang="en-US" dirty="0">
                <a:latin typeface="Comic Sans MS" panose="030F0702030302020204" pitchFamily="66" charset="0"/>
              </a:rPr>
              <a:t>Controls TCP protocols</a:t>
            </a:r>
          </a:p>
          <a:p>
            <a:pPr lvl="1">
              <a:lnSpc>
                <a:spcPct val="170000"/>
              </a:lnSpc>
            </a:pPr>
            <a:r>
              <a:rPr lang="en-US" altLang="en-US" dirty="0">
                <a:latin typeface="Comic Sans MS" panose="030F0702030302020204" pitchFamily="66" charset="0"/>
              </a:rPr>
              <a:t>http, </a:t>
            </a:r>
            <a:r>
              <a:rPr lang="en-US" altLang="en-US" dirty="0" err="1">
                <a:latin typeface="Comic Sans MS" panose="030F0702030302020204" pitchFamily="66" charset="0"/>
              </a:rPr>
              <a:t>smtp</a:t>
            </a:r>
            <a:r>
              <a:rPr lang="en-US" altLang="en-US" dirty="0">
                <a:latin typeface="Comic Sans MS" panose="030F0702030302020204" pitchFamily="66" charset="0"/>
              </a:rPr>
              <a:t>, ftp, telnet </a:t>
            </a:r>
            <a:r>
              <a:rPr lang="en-US" altLang="en-US" dirty="0" err="1">
                <a:latin typeface="Comic Sans MS" panose="030F0702030302020204" pitchFamily="66" charset="0"/>
              </a:rPr>
              <a:t>etc</a:t>
            </a:r>
            <a:endParaRPr lang="en-US" altLang="en-US" dirty="0">
              <a:latin typeface="Comic Sans MS" panose="030F0702030302020204" pitchFamily="66" charset="0"/>
            </a:endParaRPr>
          </a:p>
          <a:p>
            <a:pPr marL="457200" lvl="1" indent="0">
              <a:lnSpc>
                <a:spcPct val="170000"/>
              </a:lnSpc>
              <a:buNone/>
            </a:pPr>
            <a:endParaRPr lang="en-AU" altLang="en-US" dirty="0">
              <a:latin typeface="Comic Sans MS" panose="030F0702030302020204" pitchFamily="66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400" y="4876800"/>
            <a:ext cx="247650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748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omic Sans MS" panose="030F0702030302020204" pitchFamily="66" charset="0"/>
              </a:rPr>
              <a:t>What do Firewalls Protect?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>
                <a:latin typeface="Comic Sans MS" panose="030F0702030302020204" pitchFamily="66" charset="0"/>
              </a:rPr>
              <a:t>Data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latin typeface="Comic Sans MS" panose="030F0702030302020204" pitchFamily="66" charset="0"/>
              </a:rPr>
              <a:t>Financial information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latin typeface="Comic Sans MS" panose="030F0702030302020204" pitchFamily="66" charset="0"/>
              </a:rPr>
              <a:t>Sensitive employee or customer data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latin typeface="Comic Sans MS" panose="030F0702030302020204" pitchFamily="66" charset="0"/>
              </a:rPr>
              <a:t>Resources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latin typeface="Comic Sans MS" panose="030F0702030302020204" pitchFamily="66" charset="0"/>
              </a:rPr>
              <a:t>Computing resources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latin typeface="Comic Sans MS" panose="030F0702030302020204" pitchFamily="66" charset="0"/>
              </a:rPr>
              <a:t>Time resources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latin typeface="Comic Sans MS" panose="030F0702030302020204" pitchFamily="66" charset="0"/>
              </a:rPr>
              <a:t>Reputation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latin typeface="Comic Sans MS" panose="030F0702030302020204" pitchFamily="66" charset="0"/>
              </a:rPr>
              <a:t>Loss of confidence in an organization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latin typeface="Comic Sans MS" panose="030F0702030302020204" pitchFamily="66" charset="0"/>
              </a:rPr>
              <a:t>Intruder uses an organization’s network to attack other sites</a:t>
            </a:r>
          </a:p>
        </p:txBody>
      </p:sp>
    </p:spTree>
    <p:extLst>
      <p:ext uri="{BB962C8B-B14F-4D97-AF65-F5344CB8AC3E}">
        <p14:creationId xmlns:p14="http://schemas.microsoft.com/office/powerpoint/2010/main" val="3421628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latin typeface="Comic Sans MS" panose="030F0702030302020204" pitchFamily="66" charset="0"/>
              </a:rPr>
              <a:t>Who do Firewalls Guard Against?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0" y="1905000"/>
            <a:ext cx="9601200" cy="41910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>
                <a:latin typeface="Comic Sans MS" panose="030F0702030302020204" pitchFamily="66" charset="0"/>
              </a:rPr>
              <a:t>Internal Users</a:t>
            </a:r>
          </a:p>
          <a:p>
            <a:pPr>
              <a:lnSpc>
                <a:spcPct val="90000"/>
              </a:lnSpc>
            </a:pPr>
            <a:endParaRPr lang="en-US" altLang="en-US" sz="2800" dirty="0">
              <a:latin typeface="Comic Sans MS" panose="030F0702030302020204" pitchFamily="66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 dirty="0">
                <a:latin typeface="Comic Sans MS" panose="030F0702030302020204" pitchFamily="66" charset="0"/>
              </a:rPr>
              <a:t>Hackers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block unauthorized access to networks and systems by filtering incoming and outgoing traffic,</a:t>
            </a:r>
            <a:endParaRPr lang="en-US" altLang="en-US" sz="2400" dirty="0">
              <a:latin typeface="Comic Sans MS" panose="030F0702030302020204" pitchFamily="66" charset="0"/>
            </a:endParaRPr>
          </a:p>
          <a:p>
            <a:pPr>
              <a:lnSpc>
                <a:spcPct val="90000"/>
              </a:lnSpc>
            </a:pPr>
            <a:endParaRPr lang="en-US" altLang="en-US" sz="2800" dirty="0">
              <a:latin typeface="Comic Sans MS" panose="030F0702030302020204" pitchFamily="66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 dirty="0">
                <a:latin typeface="Comic Sans MS" panose="030F0702030302020204" pitchFamily="66" charset="0"/>
              </a:rPr>
              <a:t>Corporate Espionage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latin typeface="Comic Sans MS" panose="030F0702030302020204" pitchFamily="66" charset="0"/>
              </a:rPr>
              <a:t>o</a:t>
            </a:r>
            <a:r>
              <a:rPr lang="en-GB" sz="2400" dirty="0" err="1"/>
              <a:t>btain</a:t>
            </a:r>
            <a:r>
              <a:rPr lang="en-GB" sz="2400" dirty="0"/>
              <a:t> confidential business information to gain a competitive advantage</a:t>
            </a:r>
            <a:endParaRPr lang="en-US" altLang="en-US" sz="2400" dirty="0">
              <a:latin typeface="Comic Sans MS" panose="030F0702030302020204" pitchFamily="66" charset="0"/>
            </a:endParaRPr>
          </a:p>
          <a:p>
            <a:pPr>
              <a:lnSpc>
                <a:spcPct val="90000"/>
              </a:lnSpc>
            </a:pPr>
            <a:endParaRPr lang="en-US" altLang="en-US" sz="2800" dirty="0">
              <a:latin typeface="Comic Sans MS" panose="030F0702030302020204" pitchFamily="66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 dirty="0">
                <a:latin typeface="Comic Sans MS" panose="030F0702030302020204" pitchFamily="66" charset="0"/>
              </a:rPr>
              <a:t>Terrorists</a:t>
            </a:r>
          </a:p>
          <a:p>
            <a:pPr>
              <a:lnSpc>
                <a:spcPct val="90000"/>
              </a:lnSpc>
            </a:pPr>
            <a:endParaRPr lang="en-US" altLang="en-US" sz="2800" dirty="0">
              <a:latin typeface="Comic Sans MS" panose="030F0702030302020204" pitchFamily="66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 dirty="0">
                <a:latin typeface="Comic Sans MS" panose="030F0702030302020204" pitchFamily="66" charset="0"/>
              </a:rPr>
              <a:t>Common Thieves 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prevent malicious individuals from exploiting vulnerabilities </a:t>
            </a:r>
            <a:endParaRPr lang="en-US" altLang="en-US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489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omic Sans MS" panose="030F0702030302020204" pitchFamily="66" charset="0"/>
              </a:rPr>
              <a:t>Common Internet Threats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00200"/>
            <a:ext cx="10591800" cy="4800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800" dirty="0">
                <a:latin typeface="Comic Sans MS" panose="030F0702030302020204" pitchFamily="66" charset="0"/>
              </a:rPr>
              <a:t>Denial of service attacks</a:t>
            </a:r>
          </a:p>
          <a:p>
            <a:pPr lvl="1">
              <a:lnSpc>
                <a:spcPct val="150000"/>
              </a:lnSpc>
            </a:pPr>
            <a:r>
              <a:rPr lang="en-US" altLang="en-US" sz="2400" dirty="0">
                <a:latin typeface="Comic Sans MS" panose="030F0702030302020204" pitchFamily="66" charset="0"/>
              </a:rPr>
              <a:t>Specific attacks that can cause a server crash</a:t>
            </a:r>
          </a:p>
          <a:p>
            <a:pPr lvl="1">
              <a:lnSpc>
                <a:spcPct val="150000"/>
              </a:lnSpc>
            </a:pPr>
            <a:r>
              <a:rPr lang="en-US" altLang="en-US" sz="2400" dirty="0">
                <a:latin typeface="Comic Sans MS" panose="030F0702030302020204" pitchFamily="66" charset="0"/>
              </a:rPr>
              <a:t>Flooding the server with traffic to disrupt or deny service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Comic Sans MS" panose="030F0702030302020204" pitchFamily="66" charset="0"/>
              </a:rPr>
              <a:t>Intrusion threats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Comic Sans MS" panose="030F0702030302020204" pitchFamily="66" charset="0"/>
              </a:rPr>
              <a:t>Attacks on services </a:t>
            </a:r>
          </a:p>
          <a:p>
            <a:pPr lvl="1">
              <a:lnSpc>
                <a:spcPct val="150000"/>
              </a:lnSpc>
            </a:pPr>
            <a:r>
              <a:rPr lang="en-US" altLang="en-US" sz="2400" dirty="0">
                <a:latin typeface="Comic Sans MS" panose="030F0702030302020204" pitchFamily="66" charset="0"/>
              </a:rPr>
              <a:t>The backend server may not be enough for adequate protection, but the firewall can block external attacks</a:t>
            </a:r>
          </a:p>
        </p:txBody>
      </p:sp>
    </p:spTree>
    <p:extLst>
      <p:ext uri="{BB962C8B-B14F-4D97-AF65-F5344CB8AC3E}">
        <p14:creationId xmlns:p14="http://schemas.microsoft.com/office/powerpoint/2010/main" val="2129318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latin typeface="Comic Sans MS" panose="030F0702030302020204" pitchFamily="66" charset="0"/>
              </a:rPr>
              <a:t>How Vulnerable are Internet Services?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800" dirty="0">
                <a:latin typeface="Comic Sans MS" panose="030F0702030302020204" pitchFamily="66" charset="0"/>
              </a:rPr>
              <a:t>E-mail or </a:t>
            </a:r>
            <a:r>
              <a:rPr lang="en-US" altLang="en-US" sz="2800" dirty="0" err="1">
                <a:latin typeface="Comic Sans MS" panose="030F0702030302020204" pitchFamily="66" charset="0"/>
              </a:rPr>
              <a:t>smtp</a:t>
            </a:r>
            <a:r>
              <a:rPr lang="en-US" altLang="en-US" sz="2800" dirty="0">
                <a:latin typeface="Comic Sans MS" panose="030F0702030302020204" pitchFamily="66" charset="0"/>
              </a:rPr>
              <a:t> – Simple Mail Transfer Protocol</a:t>
            </a:r>
          </a:p>
          <a:p>
            <a:pPr lvl="1">
              <a:lnSpc>
                <a:spcPct val="150000"/>
              </a:lnSpc>
            </a:pPr>
            <a:r>
              <a:rPr lang="en-US" altLang="en-US" sz="2400" dirty="0" smtClean="0">
                <a:latin typeface="Comic Sans MS" panose="030F0702030302020204" pitchFamily="66" charset="0"/>
              </a:rPr>
              <a:t>Risks </a:t>
            </a:r>
            <a:r>
              <a:rPr lang="en-US" altLang="en-US" sz="2400" dirty="0">
                <a:latin typeface="Comic Sans MS" panose="030F0702030302020204" pitchFamily="66" charset="0"/>
              </a:rPr>
              <a:t>Include</a:t>
            </a:r>
          </a:p>
          <a:p>
            <a:pPr lvl="2">
              <a:lnSpc>
                <a:spcPct val="150000"/>
              </a:lnSpc>
            </a:pPr>
            <a:r>
              <a:rPr lang="en-US" altLang="en-US" sz="2000" dirty="0">
                <a:latin typeface="Comic Sans MS" panose="030F0702030302020204" pitchFamily="66" charset="0"/>
              </a:rPr>
              <a:t>E-mail bombing (stalking)</a:t>
            </a:r>
          </a:p>
          <a:p>
            <a:pPr lvl="3">
              <a:lnSpc>
                <a:spcPct val="150000"/>
              </a:lnSpc>
            </a:pPr>
            <a:r>
              <a:rPr lang="en-US" altLang="en-US" sz="1800" dirty="0">
                <a:latin typeface="Comic Sans MS" panose="030F0702030302020204" pitchFamily="66" charset="0"/>
              </a:rPr>
              <a:t>Anonymous harassment</a:t>
            </a:r>
          </a:p>
          <a:p>
            <a:pPr lvl="3">
              <a:lnSpc>
                <a:spcPct val="150000"/>
              </a:lnSpc>
            </a:pPr>
            <a:r>
              <a:rPr lang="en-US" altLang="en-US" sz="1800" dirty="0">
                <a:latin typeface="Comic Sans MS" panose="030F0702030302020204" pitchFamily="66" charset="0"/>
              </a:rPr>
              <a:t>Large amounts of e-mail to a single user address</a:t>
            </a:r>
          </a:p>
          <a:p>
            <a:pPr lvl="2">
              <a:lnSpc>
                <a:spcPct val="150000"/>
              </a:lnSpc>
            </a:pPr>
            <a:r>
              <a:rPr lang="en-US" altLang="en-US" sz="2000" dirty="0">
                <a:latin typeface="Comic Sans MS" panose="030F0702030302020204" pitchFamily="66" charset="0"/>
              </a:rPr>
              <a:t>Spamming</a:t>
            </a:r>
          </a:p>
          <a:p>
            <a:pPr lvl="3">
              <a:lnSpc>
                <a:spcPct val="150000"/>
              </a:lnSpc>
            </a:pPr>
            <a:r>
              <a:rPr lang="en-US" altLang="en-US" sz="1800" dirty="0">
                <a:latin typeface="Comic Sans MS" panose="030F0702030302020204" pitchFamily="66" charset="0"/>
              </a:rPr>
              <a:t>Messages sent to numerous different users from a host</a:t>
            </a:r>
          </a:p>
          <a:p>
            <a:pPr lvl="2">
              <a:lnSpc>
                <a:spcPct val="150000"/>
              </a:lnSpc>
            </a:pPr>
            <a:r>
              <a:rPr lang="en-US" altLang="en-US" sz="2000" dirty="0">
                <a:latin typeface="Comic Sans MS" panose="030F0702030302020204" pitchFamily="66" charset="0"/>
              </a:rPr>
              <a:t>Virus download mechanism</a:t>
            </a:r>
          </a:p>
        </p:txBody>
      </p:sp>
    </p:spTree>
    <p:extLst>
      <p:ext uri="{BB962C8B-B14F-4D97-AF65-F5344CB8AC3E}">
        <p14:creationId xmlns:p14="http://schemas.microsoft.com/office/powerpoint/2010/main" val="3078218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latin typeface="Comic Sans MS" panose="030F0702030302020204" pitchFamily="66" charset="0"/>
              </a:rPr>
              <a:t>How Vulnerable are Internet Services?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800" dirty="0">
                <a:latin typeface="Comic Sans MS" panose="030F0702030302020204" pitchFamily="66" charset="0"/>
              </a:rPr>
              <a:t>FTP - File Transfer Protocol</a:t>
            </a:r>
          </a:p>
          <a:p>
            <a:pPr lvl="1">
              <a:lnSpc>
                <a:spcPct val="150000"/>
              </a:lnSpc>
            </a:pPr>
            <a:r>
              <a:rPr lang="en-US" altLang="en-US" sz="2400" dirty="0" smtClean="0">
                <a:latin typeface="Comic Sans MS" panose="030F0702030302020204" pitchFamily="66" charset="0"/>
              </a:rPr>
              <a:t>Risks </a:t>
            </a:r>
            <a:r>
              <a:rPr lang="en-US" altLang="en-US" sz="2400" dirty="0">
                <a:latin typeface="Comic Sans MS" panose="030F0702030302020204" pitchFamily="66" charset="0"/>
              </a:rPr>
              <a:t>Include</a:t>
            </a:r>
          </a:p>
          <a:p>
            <a:pPr lvl="2">
              <a:lnSpc>
                <a:spcPct val="150000"/>
              </a:lnSpc>
            </a:pPr>
            <a:r>
              <a:rPr lang="en-US" altLang="en-US" sz="2000" dirty="0">
                <a:latin typeface="Comic Sans MS" panose="030F0702030302020204" pitchFamily="66" charset="0"/>
              </a:rPr>
              <a:t>Unencrypted authentication</a:t>
            </a:r>
          </a:p>
          <a:p>
            <a:pPr lvl="3">
              <a:lnSpc>
                <a:spcPct val="150000"/>
              </a:lnSpc>
            </a:pPr>
            <a:r>
              <a:rPr lang="en-US" altLang="en-US" sz="1800" dirty="0">
                <a:latin typeface="Comic Sans MS" panose="030F0702030302020204" pitchFamily="66" charset="0"/>
              </a:rPr>
              <a:t>Usernames and passwords can be "sniffed”</a:t>
            </a:r>
          </a:p>
          <a:p>
            <a:pPr lvl="2">
              <a:lnSpc>
                <a:spcPct val="150000"/>
              </a:lnSpc>
            </a:pPr>
            <a:r>
              <a:rPr lang="en-US" altLang="en-US" sz="2000" dirty="0">
                <a:latin typeface="Comic Sans MS" panose="030F0702030302020204" pitchFamily="66" charset="0"/>
              </a:rPr>
              <a:t>Unencrypted data transfers</a:t>
            </a:r>
          </a:p>
          <a:p>
            <a:pPr lvl="3">
              <a:lnSpc>
                <a:spcPct val="150000"/>
              </a:lnSpc>
            </a:pPr>
            <a:r>
              <a:rPr lang="en-US" altLang="en-US" sz="1800" dirty="0">
                <a:latin typeface="Comic Sans MS" panose="030F0702030302020204" pitchFamily="66" charset="0"/>
              </a:rPr>
              <a:t>Data can be viewed</a:t>
            </a:r>
          </a:p>
        </p:txBody>
      </p:sp>
    </p:spTree>
    <p:extLst>
      <p:ext uri="{BB962C8B-B14F-4D97-AF65-F5344CB8AC3E}">
        <p14:creationId xmlns:p14="http://schemas.microsoft.com/office/powerpoint/2010/main" val="2892262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latin typeface="Comic Sans MS" panose="030F0702030302020204" pitchFamily="66" charset="0"/>
              </a:rPr>
              <a:t>How Vulnerable are internet services?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81200"/>
            <a:ext cx="8839200" cy="4114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>
                <a:latin typeface="Comic Sans MS" panose="030F0702030302020204" pitchFamily="66" charset="0"/>
              </a:rPr>
              <a:t>HTTP – Hypertext  Transfer Protocol</a:t>
            </a:r>
          </a:p>
          <a:p>
            <a:pPr lvl="1">
              <a:lnSpc>
                <a:spcPct val="150000"/>
              </a:lnSpc>
            </a:pPr>
            <a:r>
              <a:rPr lang="en-US" altLang="en-US" sz="2400" dirty="0" smtClean="0">
                <a:latin typeface="Comic Sans MS" panose="030F0702030302020204" pitchFamily="66" charset="0"/>
              </a:rPr>
              <a:t>Risks </a:t>
            </a:r>
            <a:r>
              <a:rPr lang="en-US" altLang="en-US" sz="2400" dirty="0">
                <a:latin typeface="Comic Sans MS" panose="030F0702030302020204" pitchFamily="66" charset="0"/>
              </a:rPr>
              <a:t>Include</a:t>
            </a:r>
          </a:p>
          <a:p>
            <a:pPr lvl="2">
              <a:lnSpc>
                <a:spcPct val="150000"/>
              </a:lnSpc>
            </a:pPr>
            <a:r>
              <a:rPr lang="en-US" altLang="en-US" sz="2000" dirty="0">
                <a:latin typeface="Comic Sans MS" panose="030F0702030302020204" pitchFamily="66" charset="0"/>
              </a:rPr>
              <a:t>Browsers can be used to run dangerous commands</a:t>
            </a:r>
          </a:p>
          <a:p>
            <a:pPr lvl="2">
              <a:lnSpc>
                <a:spcPct val="150000"/>
              </a:lnSpc>
            </a:pPr>
            <a:r>
              <a:rPr lang="en-US" altLang="en-US" sz="2000" dirty="0">
                <a:latin typeface="Comic Sans MS" panose="030F0702030302020204" pitchFamily="66" charset="0"/>
              </a:rPr>
              <a:t>Difficult to secure</a:t>
            </a:r>
          </a:p>
          <a:p>
            <a:pPr lvl="2">
              <a:lnSpc>
                <a:spcPct val="150000"/>
              </a:lnSpc>
            </a:pPr>
            <a:r>
              <a:rPr lang="en-US" altLang="en-US" sz="2000" dirty="0">
                <a:latin typeface="Comic Sans MS" panose="030F0702030302020204" pitchFamily="66" charset="0"/>
              </a:rPr>
              <a:t>Remote execution of commands and execution (server side) </a:t>
            </a:r>
          </a:p>
        </p:txBody>
      </p:sp>
    </p:spTree>
    <p:extLst>
      <p:ext uri="{BB962C8B-B14F-4D97-AF65-F5344CB8AC3E}">
        <p14:creationId xmlns:p14="http://schemas.microsoft.com/office/powerpoint/2010/main" val="3382512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latin typeface="Comic Sans MS" panose="030F0702030302020204" pitchFamily="66" charset="0"/>
              </a:rPr>
              <a:t>How Vulnerable are Internet Services?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Comic Sans MS" panose="030F0702030302020204" pitchFamily="66" charset="0"/>
              </a:rPr>
              <a:t>DNS (</a:t>
            </a:r>
            <a:r>
              <a:rPr lang="en-US" dirty="0"/>
              <a:t>Domain Name System)</a:t>
            </a:r>
            <a:endParaRPr lang="en-US" altLang="en-US" dirty="0">
              <a:latin typeface="Comic Sans MS" panose="030F0702030302020204" pitchFamily="66" charset="0"/>
            </a:endParaRPr>
          </a:p>
          <a:p>
            <a:pPr lvl="1"/>
            <a:r>
              <a:rPr lang="en-US" altLang="en-US" dirty="0" smtClean="0">
                <a:latin typeface="Comic Sans MS" panose="030F0702030302020204" pitchFamily="66" charset="0"/>
              </a:rPr>
              <a:t>Risks </a:t>
            </a:r>
            <a:r>
              <a:rPr lang="en-US" altLang="en-US" dirty="0">
                <a:latin typeface="Comic Sans MS" panose="030F0702030302020204" pitchFamily="66" charset="0"/>
              </a:rPr>
              <a:t>include</a:t>
            </a:r>
          </a:p>
          <a:p>
            <a:pPr lvl="2"/>
            <a:r>
              <a:rPr lang="en-US" altLang="en-US" dirty="0">
                <a:latin typeface="Comic Sans MS" panose="030F0702030302020204" pitchFamily="66" charset="0"/>
              </a:rPr>
              <a:t>DNS cache poisoning</a:t>
            </a:r>
          </a:p>
          <a:p>
            <a:pPr lvl="3"/>
            <a:r>
              <a:rPr lang="en-GB" altLang="en-US" dirty="0"/>
              <a:t>If an attacker can inject malicious records into the cache, they can direct users to fraudulent websites.</a:t>
            </a:r>
            <a:endParaRPr lang="en-US" altLang="en-US" dirty="0"/>
          </a:p>
          <a:p>
            <a:pPr lvl="2"/>
            <a:r>
              <a:rPr lang="en-US" altLang="en-US" dirty="0">
                <a:latin typeface="Comic Sans MS" panose="030F0702030302020204" pitchFamily="66" charset="0"/>
              </a:rPr>
              <a:t>DNS spoofing</a:t>
            </a:r>
          </a:p>
          <a:p>
            <a:pPr lvl="3"/>
            <a:r>
              <a:rPr lang="en-GB" dirty="0"/>
              <a:t>Attacker intercepts DNS queries sent by the victim and returns malicious DNS responses, redirecting them to fake websites or to attacker-controlled servers.</a:t>
            </a:r>
            <a:endParaRPr lang="en-US" alt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903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So what does a Firewall do?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752600"/>
            <a:ext cx="6934200" cy="4038600"/>
          </a:xfrm>
        </p:spPr>
      </p:pic>
    </p:spTree>
    <p:extLst>
      <p:ext uri="{BB962C8B-B14F-4D97-AF65-F5344CB8AC3E}">
        <p14:creationId xmlns:p14="http://schemas.microsoft.com/office/powerpoint/2010/main" val="305742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latin typeface="Comic Sans MS" panose="030F0702030302020204" pitchFamily="66" charset="0"/>
              </a:rPr>
              <a:t>Firewall Architecture Overview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Comic Sans MS" panose="030F0702030302020204" pitchFamily="66" charset="0"/>
              </a:rPr>
              <a:t>Basic Firewall Components</a:t>
            </a:r>
          </a:p>
          <a:p>
            <a:endParaRPr lang="en-US" altLang="en-US" dirty="0">
              <a:latin typeface="Comic Sans MS" panose="030F0702030302020204" pitchFamily="66" charset="0"/>
            </a:endParaRPr>
          </a:p>
          <a:p>
            <a:pPr lvl="1"/>
            <a:r>
              <a:rPr lang="en-US" altLang="en-US" dirty="0">
                <a:latin typeface="Comic Sans MS" panose="030F0702030302020204" pitchFamily="66" charset="0"/>
              </a:rPr>
              <a:t>Software </a:t>
            </a:r>
          </a:p>
          <a:p>
            <a:endParaRPr lang="en-US" altLang="en-US" dirty="0">
              <a:latin typeface="Comic Sans MS" panose="030F0702030302020204" pitchFamily="66" charset="0"/>
            </a:endParaRPr>
          </a:p>
          <a:p>
            <a:pPr lvl="1"/>
            <a:r>
              <a:rPr lang="en-US" altLang="en-US" dirty="0">
                <a:latin typeface="Comic Sans MS" panose="030F0702030302020204" pitchFamily="66" charset="0"/>
              </a:rPr>
              <a:t>Hardware</a:t>
            </a:r>
          </a:p>
          <a:p>
            <a:endParaRPr lang="en-US" altLang="en-US" dirty="0">
              <a:latin typeface="Comic Sans MS" panose="030F0702030302020204" pitchFamily="66" charset="0"/>
            </a:endParaRPr>
          </a:p>
          <a:p>
            <a:pPr lvl="1"/>
            <a:r>
              <a:rPr lang="en-US" altLang="en-US" dirty="0">
                <a:latin typeface="Comic Sans MS" panose="030F0702030302020204" pitchFamily="66" charset="0"/>
              </a:rPr>
              <a:t>Purpose Built/Appliance based</a:t>
            </a:r>
          </a:p>
        </p:txBody>
      </p:sp>
    </p:spTree>
    <p:extLst>
      <p:ext uri="{BB962C8B-B14F-4D97-AF65-F5344CB8AC3E}">
        <p14:creationId xmlns:p14="http://schemas.microsoft.com/office/powerpoint/2010/main" val="1906684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omic Sans MS" panose="030F0702030302020204" pitchFamily="66" charset="0"/>
              </a:rPr>
              <a:t>Classification of Firewall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371600"/>
            <a:ext cx="9829800" cy="5029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800" dirty="0">
                <a:latin typeface="Comic Sans MS" panose="030F0702030302020204" pitchFamily="66" charset="0"/>
              </a:rPr>
              <a:t>Characterized by protocol level it controls </a:t>
            </a:r>
            <a:r>
              <a:rPr lang="en-US" altLang="en-US" sz="2800" dirty="0" smtClean="0">
                <a:latin typeface="Comic Sans MS" panose="030F0702030302020204" pitchFamily="66" charset="0"/>
              </a:rPr>
              <a:t>in</a:t>
            </a:r>
          </a:p>
          <a:p>
            <a:pPr>
              <a:buFont typeface="Wingdings" pitchFamily="2" charset="2"/>
              <a:buNone/>
            </a:pPr>
            <a:endParaRPr lang="en-US" altLang="en-US" sz="2800" dirty="0">
              <a:latin typeface="Comic Sans MS" panose="030F0702030302020204" pitchFamily="66" charset="0"/>
            </a:endParaRPr>
          </a:p>
          <a:p>
            <a:pPr lvl="2"/>
            <a:r>
              <a:rPr lang="en-US" altLang="en-US" sz="2800" dirty="0">
                <a:latin typeface="Comic Sans MS" panose="030F0702030302020204" pitchFamily="66" charset="0"/>
              </a:rPr>
              <a:t>Packet filtering</a:t>
            </a:r>
          </a:p>
          <a:p>
            <a:pPr lvl="2"/>
            <a:r>
              <a:rPr lang="en-US" altLang="en-US" sz="2800" dirty="0">
                <a:latin typeface="Comic Sans MS" panose="030F0702030302020204" pitchFamily="66" charset="0"/>
              </a:rPr>
              <a:t>Circuit gateways</a:t>
            </a:r>
          </a:p>
          <a:p>
            <a:pPr lvl="2"/>
            <a:r>
              <a:rPr lang="en-US" altLang="en-US" sz="2800" dirty="0">
                <a:latin typeface="Comic Sans MS" panose="030F0702030302020204" pitchFamily="66" charset="0"/>
              </a:rPr>
              <a:t>Application gateways</a:t>
            </a:r>
          </a:p>
          <a:p>
            <a:pPr lvl="2"/>
            <a:r>
              <a:rPr lang="en-US" altLang="en-US" sz="2800" dirty="0" smtClean="0">
                <a:latin typeface="Comic Sans MS" panose="030F0702030302020204" pitchFamily="66" charset="0"/>
              </a:rPr>
              <a:t>Combination </a:t>
            </a:r>
            <a:r>
              <a:rPr lang="en-US" altLang="en-US" sz="2800" dirty="0">
                <a:latin typeface="Comic Sans MS" panose="030F0702030302020204" pitchFamily="66" charset="0"/>
              </a:rPr>
              <a:t>of above is dynamic packet filter</a:t>
            </a:r>
          </a:p>
        </p:txBody>
      </p:sp>
    </p:spTree>
    <p:extLst>
      <p:ext uri="{BB962C8B-B14F-4D97-AF65-F5344CB8AC3E}">
        <p14:creationId xmlns:p14="http://schemas.microsoft.com/office/powerpoint/2010/main" val="3680070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omic Sans MS" panose="030F0702030302020204" pitchFamily="66" charset="0"/>
              </a:rPr>
              <a:t>Firewalls – Packet Filters</a:t>
            </a:r>
            <a:endParaRPr lang="en-AU" altLang="en-US" dirty="0">
              <a:latin typeface="Comic Sans MS" panose="030F0702030302020204" pitchFamily="66" charset="0"/>
            </a:endParaRPr>
          </a:p>
        </p:txBody>
      </p:sp>
      <p:pic>
        <p:nvPicPr>
          <p:cNvPr id="5837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3" t="3580" r="4633" b="69801"/>
          <a:stretch>
            <a:fillRect/>
          </a:stretch>
        </p:blipFill>
        <p:spPr bwMode="auto">
          <a:xfrm>
            <a:off x="1676400" y="2254250"/>
            <a:ext cx="8763000" cy="332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4907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US" altLang="en-US" dirty="0">
                <a:latin typeface="Comic Sans MS" panose="030F0702030302020204" pitchFamily="66" charset="0"/>
              </a:rPr>
              <a:t>Firewalls – Packet Filters</a:t>
            </a:r>
            <a:endParaRPr lang="en-AU" altLang="en-US" dirty="0">
              <a:latin typeface="Comic Sans MS" panose="030F0702030302020204" pitchFamily="66" charset="0"/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295400"/>
            <a:ext cx="8915400" cy="5410200"/>
          </a:xfrm>
        </p:spPr>
        <p:txBody>
          <a:bodyPr>
            <a:normAutofit/>
          </a:bodyPr>
          <a:lstStyle/>
          <a:p>
            <a:r>
              <a:rPr lang="en-AU" altLang="en-US" dirty="0">
                <a:latin typeface="Comic Sans MS" panose="030F0702030302020204" pitchFamily="66" charset="0"/>
              </a:rPr>
              <a:t>Simplest of components </a:t>
            </a:r>
          </a:p>
          <a:p>
            <a:r>
              <a:rPr lang="en-US" altLang="en-US" dirty="0">
                <a:latin typeface="Comic Sans MS" panose="030F0702030302020204" pitchFamily="66" charset="0"/>
              </a:rPr>
              <a:t>Uses transport-layer information only</a:t>
            </a:r>
          </a:p>
          <a:p>
            <a:pPr lvl="1"/>
            <a:r>
              <a:rPr lang="en-US" altLang="en-US" dirty="0">
                <a:latin typeface="Comic Sans MS" panose="030F0702030302020204" pitchFamily="66" charset="0"/>
              </a:rPr>
              <a:t>IP Source Address, Destination Address</a:t>
            </a:r>
          </a:p>
          <a:p>
            <a:pPr lvl="1"/>
            <a:r>
              <a:rPr lang="en-US" altLang="en-US" dirty="0">
                <a:latin typeface="Comic Sans MS" panose="030F0702030302020204" pitchFamily="66" charset="0"/>
              </a:rPr>
              <a:t>Protocol/Next Header (TCP, UDP, ICMP, </a:t>
            </a:r>
            <a:r>
              <a:rPr lang="en-US" altLang="en-US" dirty="0" err="1">
                <a:latin typeface="Comic Sans MS" panose="030F0702030302020204" pitchFamily="66" charset="0"/>
              </a:rPr>
              <a:t>etc</a:t>
            </a:r>
            <a:r>
              <a:rPr lang="en-US" altLang="en-US" dirty="0">
                <a:latin typeface="Comic Sans MS" panose="030F0702030302020204" pitchFamily="66" charset="0"/>
              </a:rPr>
              <a:t>)</a:t>
            </a:r>
          </a:p>
          <a:p>
            <a:pPr lvl="1"/>
            <a:r>
              <a:rPr lang="en-US" altLang="en-US" dirty="0">
                <a:latin typeface="Comic Sans MS" panose="030F0702030302020204" pitchFamily="66" charset="0"/>
              </a:rPr>
              <a:t>TCP or UDP source &amp; destination ports</a:t>
            </a:r>
          </a:p>
          <a:p>
            <a:pPr lvl="1"/>
            <a:r>
              <a:rPr lang="en-US" altLang="en-US" dirty="0">
                <a:latin typeface="Comic Sans MS" panose="030F0702030302020204" pitchFamily="66" charset="0"/>
              </a:rPr>
              <a:t>TCP Flags (SYN, ACK, FIN, RST, PSH, </a:t>
            </a:r>
            <a:r>
              <a:rPr lang="en-US" altLang="en-US" dirty="0" err="1">
                <a:latin typeface="Comic Sans MS" panose="030F0702030302020204" pitchFamily="66" charset="0"/>
              </a:rPr>
              <a:t>etc</a:t>
            </a:r>
            <a:r>
              <a:rPr lang="en-US" altLang="en-US" dirty="0">
                <a:latin typeface="Comic Sans MS" panose="030F0702030302020204" pitchFamily="66" charset="0"/>
              </a:rPr>
              <a:t>)</a:t>
            </a:r>
          </a:p>
          <a:p>
            <a:pPr lvl="1"/>
            <a:r>
              <a:rPr lang="en-US" altLang="en-US" dirty="0">
                <a:latin typeface="Comic Sans MS" panose="030F0702030302020204" pitchFamily="66" charset="0"/>
              </a:rPr>
              <a:t>ICMP message type</a:t>
            </a:r>
          </a:p>
          <a:p>
            <a:endParaRPr lang="en-AU" altLang="en-US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063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omic Sans MS" panose="030F0702030302020204" pitchFamily="66" charset="0"/>
              </a:rPr>
              <a:t>Usage of Packet Filters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1447800"/>
            <a:ext cx="8915400" cy="4953000"/>
          </a:xfrm>
        </p:spPr>
        <p:txBody>
          <a:bodyPr/>
          <a:lstStyle/>
          <a:p>
            <a:r>
              <a:rPr lang="en-US" altLang="en-US" sz="3600" dirty="0">
                <a:latin typeface="Comic Sans MS" panose="030F0702030302020204" pitchFamily="66" charset="0"/>
              </a:rPr>
              <a:t>Filtering with incoming or outgoing interfaces</a:t>
            </a:r>
          </a:p>
          <a:p>
            <a:pPr lvl="1"/>
            <a:r>
              <a:rPr lang="en-US" altLang="en-US" sz="3200" dirty="0">
                <a:latin typeface="Comic Sans MS" panose="030F0702030302020204" pitchFamily="66" charset="0"/>
              </a:rPr>
              <a:t>E.g., Ingress filtering of spoofed IP addresses</a:t>
            </a:r>
          </a:p>
          <a:p>
            <a:pPr lvl="1"/>
            <a:r>
              <a:rPr lang="en-US" altLang="en-US" sz="3200" dirty="0">
                <a:latin typeface="Comic Sans MS" panose="030F0702030302020204" pitchFamily="66" charset="0"/>
              </a:rPr>
              <a:t>Egress filtering</a:t>
            </a:r>
          </a:p>
        </p:txBody>
      </p:sp>
    </p:spTree>
    <p:extLst>
      <p:ext uri="{BB962C8B-B14F-4D97-AF65-F5344CB8AC3E}">
        <p14:creationId xmlns:p14="http://schemas.microsoft.com/office/powerpoint/2010/main" val="497511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Ingress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Filter malicious traffic coming from outer untrusted network (Internet).</a:t>
            </a:r>
          </a:p>
          <a:p>
            <a:r>
              <a:rPr lang="en-US" sz="2400" dirty="0">
                <a:latin typeface="Comic Sans MS" panose="030F0702030302020204" pitchFamily="66" charset="0"/>
              </a:rPr>
              <a:t>Checking the source IP Addresses of incoming packets to prevent malicious traffic</a:t>
            </a:r>
          </a:p>
          <a:p>
            <a:r>
              <a:rPr lang="en-US" sz="2400" dirty="0">
                <a:latin typeface="Comic Sans MS" panose="030F0702030302020204" pitchFamily="66" charset="0"/>
              </a:rPr>
              <a:t>Block packets in case if Source IP Address is:</a:t>
            </a:r>
          </a:p>
          <a:p>
            <a:pPr lvl="1"/>
            <a:r>
              <a:rPr lang="en-US" sz="2400" dirty="0">
                <a:latin typeface="Comic Sans MS" panose="030F0702030302020204" pitchFamily="66" charset="0"/>
              </a:rPr>
              <a:t>IP Address of internal network</a:t>
            </a:r>
          </a:p>
          <a:p>
            <a:pPr lvl="1"/>
            <a:r>
              <a:rPr lang="en-US" sz="2400" dirty="0">
                <a:latin typeface="Comic Sans MS" panose="030F0702030302020204" pitchFamily="66" charset="0"/>
              </a:rPr>
              <a:t>Loopback IP Addresses</a:t>
            </a:r>
          </a:p>
          <a:p>
            <a:pPr lvl="2"/>
            <a:r>
              <a:rPr lang="en-GB" sz="2000" dirty="0"/>
              <a:t>IP addresses used by a device to send network traffic to itself. The device can communicate with itself as if it were communicating with another machine on the network</a:t>
            </a:r>
            <a:endParaRPr lang="en-US" sz="2000" dirty="0">
              <a:latin typeface="Comic Sans MS" panose="030F0702030302020204" pitchFamily="66" charset="0"/>
            </a:endParaRPr>
          </a:p>
          <a:p>
            <a:pPr lvl="1"/>
            <a:r>
              <a:rPr lang="en-US" sz="2400" dirty="0">
                <a:latin typeface="Comic Sans MS" panose="030F0702030302020204" pitchFamily="66" charset="0"/>
              </a:rPr>
              <a:t>Multicast IP addresses</a:t>
            </a:r>
          </a:p>
          <a:p>
            <a:pPr lvl="2"/>
            <a:r>
              <a:rPr lang="en-GB" sz="2000" dirty="0"/>
              <a:t>Allows the sender to send one copy of the data to a group of recipients </a:t>
            </a:r>
            <a:endParaRPr lang="en-US" sz="2000" dirty="0">
              <a:latin typeface="Comic Sans MS" panose="030F0702030302020204" pitchFamily="66" charset="0"/>
            </a:endParaRPr>
          </a:p>
          <a:p>
            <a:pPr lvl="1"/>
            <a:r>
              <a:rPr lang="en-US" sz="2400" dirty="0">
                <a:latin typeface="Comic Sans MS" panose="030F0702030302020204" pitchFamily="66" charset="0"/>
              </a:rPr>
              <a:t>Private IP Addresses from outer network</a:t>
            </a:r>
          </a:p>
        </p:txBody>
      </p:sp>
    </p:spTree>
    <p:extLst>
      <p:ext uri="{BB962C8B-B14F-4D97-AF65-F5344CB8AC3E}">
        <p14:creationId xmlns:p14="http://schemas.microsoft.com/office/powerpoint/2010/main" val="513179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Egress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Comic Sans MS" panose="030F0702030302020204" pitchFamily="66" charset="0"/>
              </a:rPr>
              <a:t>Monitoring and controlling the outbound malicious traffic from internal network to outer network.</a:t>
            </a:r>
          </a:p>
          <a:p>
            <a:pPr algn="just"/>
            <a:r>
              <a:rPr lang="en-US" sz="2400" dirty="0">
                <a:latin typeface="Comic Sans MS" panose="030F0702030302020204" pitchFamily="66" charset="0"/>
              </a:rPr>
              <a:t>Monitoring the Source IP Addresses of packets going from internal network to outer network.</a:t>
            </a:r>
          </a:p>
          <a:p>
            <a:pPr algn="just"/>
            <a:r>
              <a:rPr lang="en-US" sz="2400" dirty="0">
                <a:latin typeface="Comic Sans MS" panose="030F0702030302020204" pitchFamily="66" charset="0"/>
              </a:rPr>
              <a:t>If the source IP address is not in the trusted IP Address list of internal network then IP Spoofing attack is launched by some one from your internal network.</a:t>
            </a:r>
          </a:p>
          <a:p>
            <a:pPr algn="just"/>
            <a:endParaRPr lang="en-US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276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omic Sans MS" panose="030F0702030302020204" pitchFamily="66" charset="0"/>
              </a:rPr>
              <a:t>Firewall Gateways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10363200" cy="5257800"/>
          </a:xfrm>
        </p:spPr>
        <p:txBody>
          <a:bodyPr>
            <a:normAutofit/>
          </a:bodyPr>
          <a:lstStyle/>
          <a:p>
            <a:r>
              <a:rPr lang="en-GB" dirty="0"/>
              <a:t>A </a:t>
            </a:r>
            <a:r>
              <a:rPr lang="en-GB" b="1" dirty="0"/>
              <a:t>firewall gateway</a:t>
            </a:r>
            <a:r>
              <a:rPr lang="en-GB" dirty="0"/>
              <a:t> is a security device or system that acts as a barrier between two or more networks, typically a private network</a:t>
            </a:r>
          </a:p>
          <a:p>
            <a:pPr lvl="1"/>
            <a:r>
              <a:rPr lang="en-US" altLang="en-US" dirty="0">
                <a:latin typeface="Comic Sans MS" panose="030F0702030302020204" pitchFamily="66" charset="0"/>
              </a:rPr>
              <a:t>Filter incoming, outgoing packets</a:t>
            </a:r>
          </a:p>
          <a:p>
            <a:pPr lvl="1"/>
            <a:r>
              <a:rPr lang="en-US" altLang="en-US" dirty="0">
                <a:latin typeface="Comic Sans MS" panose="030F0702030302020204" pitchFamily="66" charset="0"/>
              </a:rPr>
              <a:t>All incoming traffic directed to firewall </a:t>
            </a:r>
          </a:p>
          <a:p>
            <a:pPr lvl="1"/>
            <a:r>
              <a:rPr lang="en-US" altLang="en-US" dirty="0">
                <a:latin typeface="Comic Sans MS" panose="030F0702030302020204" pitchFamily="66" charset="0"/>
              </a:rPr>
              <a:t>All outgoing traffic appears to come from firewall</a:t>
            </a:r>
          </a:p>
          <a:p>
            <a:pPr lvl="1"/>
            <a:endParaRPr lang="en-GB" altLang="en-US" dirty="0">
              <a:latin typeface="Comic Sans MS" panose="030F0702030302020204" pitchFamily="66" charset="0"/>
            </a:endParaRPr>
          </a:p>
          <a:p>
            <a:pPr lvl="1"/>
            <a:r>
              <a:rPr lang="en-GB" dirty="0"/>
              <a:t>Operates at the </a:t>
            </a:r>
            <a:r>
              <a:rPr lang="en-GB" b="1" dirty="0"/>
              <a:t>Transport Layer (Layer 4)</a:t>
            </a:r>
            <a:r>
              <a:rPr lang="en-GB" dirty="0"/>
              <a:t> of the OSI model</a:t>
            </a:r>
            <a:endParaRPr lang="en-US" alt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68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81200" y="274638"/>
            <a:ext cx="8229600" cy="792162"/>
          </a:xfrm>
        </p:spPr>
        <p:txBody>
          <a:bodyPr/>
          <a:lstStyle/>
          <a:p>
            <a:r>
              <a:rPr lang="en-US" altLang="en-US" dirty="0">
                <a:latin typeface="Comic Sans MS" panose="030F0702030302020204" pitchFamily="66" charset="0"/>
              </a:rPr>
              <a:t>Application-Level Filtering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143000"/>
            <a:ext cx="8915400" cy="5562600"/>
          </a:xfrm>
        </p:spPr>
        <p:txBody>
          <a:bodyPr>
            <a:normAutofit/>
          </a:bodyPr>
          <a:lstStyle/>
          <a:p>
            <a:pPr algn="just"/>
            <a:endParaRPr lang="en-GB" dirty="0"/>
          </a:p>
          <a:p>
            <a:pPr algn="just"/>
            <a:r>
              <a:rPr lang="en-GB" dirty="0"/>
              <a:t>Acts as an intermediary that filters traffic based on </a:t>
            </a:r>
            <a:r>
              <a:rPr lang="en-GB" b="1" dirty="0"/>
              <a:t>application-specific protocols</a:t>
            </a:r>
            <a:r>
              <a:rPr lang="en-GB" dirty="0"/>
              <a:t> (e.g., HTTP, FTP, SMTP, DNS). </a:t>
            </a:r>
          </a:p>
          <a:p>
            <a:pPr algn="just"/>
            <a:r>
              <a:rPr lang="en-GB" dirty="0"/>
              <a:t>It inspects the actual content of the data being transferred, ensuring that it matches the expected application </a:t>
            </a:r>
            <a:r>
              <a:rPr lang="en-GB" dirty="0" err="1"/>
              <a:t>behavior</a:t>
            </a:r>
            <a:r>
              <a:rPr lang="en-GB" dirty="0"/>
              <a:t>.</a:t>
            </a:r>
          </a:p>
          <a:p>
            <a:pPr algn="just"/>
            <a:r>
              <a:rPr lang="en-GB" dirty="0"/>
              <a:t>Operates at the </a:t>
            </a:r>
            <a:r>
              <a:rPr lang="en-GB" b="1" dirty="0"/>
              <a:t>Application Layer </a:t>
            </a:r>
            <a:r>
              <a:rPr lang="en-GB" dirty="0"/>
              <a:t>of the OSI model</a:t>
            </a:r>
          </a:p>
        </p:txBody>
      </p:sp>
    </p:spTree>
    <p:extLst>
      <p:ext uri="{BB962C8B-B14F-4D97-AF65-F5344CB8AC3E}">
        <p14:creationId xmlns:p14="http://schemas.microsoft.com/office/powerpoint/2010/main" val="3500543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990600" y="228601"/>
            <a:ext cx="10210800" cy="1371600"/>
          </a:xfrm>
        </p:spPr>
        <p:txBody>
          <a:bodyPr/>
          <a:lstStyle/>
          <a:p>
            <a:r>
              <a:rPr lang="en-US" altLang="en-US" sz="4000" dirty="0">
                <a:latin typeface="Comic Sans MS" panose="030F0702030302020204" pitchFamily="66" charset="0"/>
              </a:rPr>
              <a:t>Dynamic Packet Filter Implementation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>
                <a:latin typeface="Comic Sans MS" panose="030F0702030302020204" pitchFamily="66" charset="0"/>
              </a:rPr>
              <a:t>Dynamically update packet filter’s ruleset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Comic Sans MS" panose="030F0702030302020204" pitchFamily="66" charset="0"/>
              </a:rPr>
              <a:t>Rules from the rule set can be selected on conditional basis.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Comic Sans MS" panose="030F0702030302020204" pitchFamily="66" charset="0"/>
              </a:rPr>
              <a:t>Uses State Table for getting information about connections between hosts.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Comic Sans MS" panose="030F0702030302020204" pitchFamily="66" charset="0"/>
              </a:rPr>
              <a:t>Rules can be selected at run time.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Comic Sans MS" panose="030F0702030302020204" pitchFamily="66" charset="0"/>
              </a:rPr>
              <a:t>Functionality of different layers of firewall can also be selected dynamically depending upon nature of traffic.</a:t>
            </a:r>
          </a:p>
        </p:txBody>
      </p:sp>
    </p:spTree>
    <p:extLst>
      <p:ext uri="{BB962C8B-B14F-4D97-AF65-F5344CB8AC3E}">
        <p14:creationId xmlns:p14="http://schemas.microsoft.com/office/powerpoint/2010/main" val="3942925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81200" y="-76200"/>
            <a:ext cx="8229600" cy="792163"/>
          </a:xfrm>
        </p:spPr>
        <p:txBody>
          <a:bodyPr/>
          <a:lstStyle/>
          <a:p>
            <a:r>
              <a:rPr lang="en-US" altLang="en-US" dirty="0">
                <a:latin typeface="Comic Sans MS" panose="030F0702030302020204" pitchFamily="66" charset="0"/>
              </a:rPr>
              <a:t>Stateful Filtering</a:t>
            </a:r>
          </a:p>
        </p:txBody>
      </p:sp>
      <p:pic>
        <p:nvPicPr>
          <p:cNvPr id="716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762000"/>
            <a:ext cx="7543800" cy="611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7200" y="5715000"/>
            <a:ext cx="4014240" cy="461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AU" altLang="en-US" dirty="0">
                <a:latin typeface="Comic Sans MS" panose="030F0702030302020204" pitchFamily="66" charset="0"/>
              </a:rPr>
              <a:t>To avoid TCP SYN flooding attacks </a:t>
            </a:r>
          </a:p>
        </p:txBody>
      </p:sp>
    </p:spTree>
    <p:extLst>
      <p:ext uri="{BB962C8B-B14F-4D97-AF65-F5344CB8AC3E}">
        <p14:creationId xmlns:p14="http://schemas.microsoft.com/office/powerpoint/2010/main" val="2505191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2467</TotalTime>
  <Words>957</Words>
  <Application>Microsoft Office PowerPoint</Application>
  <PresentationFormat>Widescreen</PresentationFormat>
  <Paragraphs>145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Arial</vt:lpstr>
      <vt:lpstr>Calibri</vt:lpstr>
      <vt:lpstr>Comic Sans MS</vt:lpstr>
      <vt:lpstr>Wingdings</vt:lpstr>
      <vt:lpstr>Office Theme</vt:lpstr>
      <vt:lpstr>Introduction to Information Security</vt:lpstr>
      <vt:lpstr>What is a Firewall?</vt:lpstr>
      <vt:lpstr>What do Firewalls Protect?</vt:lpstr>
      <vt:lpstr>Who do Firewalls Guard Against?</vt:lpstr>
      <vt:lpstr>Common Internet Threats</vt:lpstr>
      <vt:lpstr>How Vulnerable are Internet Services?</vt:lpstr>
      <vt:lpstr>How Vulnerable are Internet Services?</vt:lpstr>
      <vt:lpstr>How Vulnerable are internet services?</vt:lpstr>
      <vt:lpstr>How Vulnerable are Internet Services?</vt:lpstr>
      <vt:lpstr>So what does a Firewall do?</vt:lpstr>
      <vt:lpstr>Firewall Architecture Overview</vt:lpstr>
      <vt:lpstr>Classification of Firewall</vt:lpstr>
      <vt:lpstr>Firewalls – Packet Filters</vt:lpstr>
      <vt:lpstr>Firewalls – Packet Filters</vt:lpstr>
      <vt:lpstr>Usage of Packet Filters</vt:lpstr>
      <vt:lpstr>Ingress Filtering</vt:lpstr>
      <vt:lpstr>Egress Filtering</vt:lpstr>
      <vt:lpstr>Firewall Gateways</vt:lpstr>
      <vt:lpstr>Application-Level Filtering</vt:lpstr>
      <vt:lpstr>Dynamic Packet Filter Implementation</vt:lpstr>
      <vt:lpstr>Stateful Filtering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CS5713 Network Security</dc:title>
  <dc:creator>Dell</dc:creator>
  <cp:lastModifiedBy>Microsoft account</cp:lastModifiedBy>
  <cp:revision>65</cp:revision>
  <dcterms:created xsi:type="dcterms:W3CDTF">2006-08-16T00:00:00Z</dcterms:created>
  <dcterms:modified xsi:type="dcterms:W3CDTF">2026-02-03T08:18:00Z</dcterms:modified>
</cp:coreProperties>
</file>