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5"/>
  </p:notesMasterIdLst>
  <p:sldIdLst>
    <p:sldId id="256" r:id="rId2"/>
    <p:sldId id="280" r:id="rId3"/>
    <p:sldId id="281" r:id="rId4"/>
    <p:sldId id="257" r:id="rId5"/>
    <p:sldId id="258" r:id="rId6"/>
    <p:sldId id="282" r:id="rId7"/>
    <p:sldId id="283" r:id="rId8"/>
    <p:sldId id="284" r:id="rId9"/>
    <p:sldId id="285" r:id="rId10"/>
    <p:sldId id="287" r:id="rId11"/>
    <p:sldId id="288" r:id="rId12"/>
    <p:sldId id="289" r:id="rId13"/>
    <p:sldId id="259" r:id="rId14"/>
    <p:sldId id="270" r:id="rId15"/>
    <p:sldId id="271" r:id="rId16"/>
    <p:sldId id="272" r:id="rId17"/>
    <p:sldId id="260" r:id="rId18"/>
    <p:sldId id="264" r:id="rId19"/>
    <p:sldId id="265" r:id="rId20"/>
    <p:sldId id="266" r:id="rId21"/>
    <p:sldId id="267" r:id="rId22"/>
    <p:sldId id="268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730" autoAdjust="0"/>
  </p:normalViewPr>
  <p:slideViewPr>
    <p:cSldViewPr snapToGrid="0">
      <p:cViewPr varScale="1">
        <p:scale>
          <a:sx n="65" d="100"/>
          <a:sy n="65" d="100"/>
        </p:scale>
        <p:origin x="6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D9E4B-A625-41D8-AB47-3CCFBDB7D9A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63D2F-6484-4184-91EA-4A85FAE3A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JO" smtClean="0"/>
              <a:t>الدفاع: منع استغلال النظام من خلال تطبيق السياسة والتدريب / التعليم والتكنولوجيا. يفضل الأمن متعدد الطبقات (الدفاع في العمق)</a:t>
            </a:r>
            <a:endParaRPr lang="en-US" smtClean="0"/>
          </a:p>
          <a:p>
            <a:r>
              <a:rPr lang="ar-JO" smtClean="0"/>
              <a:t>مكافحة التهديدات</a:t>
            </a:r>
            <a:endParaRPr lang="en-US" smtClean="0"/>
          </a:p>
          <a:p>
            <a:r>
              <a:rPr lang="ar-JO" smtClean="0"/>
              <a:t>إزالة نقاط الضعف من التقييم</a:t>
            </a:r>
            <a:endParaRPr lang="en-US" smtClean="0"/>
          </a:p>
          <a:p>
            <a:r>
              <a:rPr lang="ar-JO" smtClean="0"/>
              <a:t>تقييد الوصول إلى الأصول</a:t>
            </a:r>
            <a:endParaRPr lang="en-US" smtClean="0"/>
          </a:p>
          <a:p>
            <a:r>
              <a:rPr lang="ar-JO" smtClean="0"/>
              <a:t>أضف ضمانات وقائية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763D2F-6484-4184-91EA-4A85FAE3ADE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8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JO" smtClean="0"/>
              <a:t>التحويل: تحويل المخاطر إلى مناطق أخرى أو كيانات خارجية للتعامل معها</a:t>
            </a:r>
            <a:endParaRPr lang="en-US" smtClean="0"/>
          </a:p>
          <a:p>
            <a:r>
              <a:rPr lang="ar-JO" smtClean="0"/>
              <a:t>يمكن أن تشمل:</a:t>
            </a:r>
            <a:endParaRPr lang="en-US" smtClean="0"/>
          </a:p>
          <a:p>
            <a:r>
              <a:rPr lang="ar-JO" smtClean="0"/>
              <a:t>تأمين المشتريات</a:t>
            </a:r>
            <a:endParaRPr lang="en-US" smtClean="0"/>
          </a:p>
          <a:p>
            <a:r>
              <a:rPr lang="ar-JO" smtClean="0"/>
              <a:t>الاستعانة بمصادر خارجية لمنظمات أخرى</a:t>
            </a:r>
            <a:endParaRPr lang="en-US" smtClean="0"/>
          </a:p>
          <a:p>
            <a:r>
              <a:rPr lang="ar-JO" smtClean="0"/>
              <a:t>تنفيذ عقود الخدمة مع مقدمي الخدمة</a:t>
            </a:r>
            <a:endParaRPr lang="en-US" smtClean="0"/>
          </a:p>
          <a:p>
            <a:r>
              <a:rPr lang="ar-JO" smtClean="0"/>
              <a:t>مراجعة نماذج النشر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763D2F-6484-4184-91EA-4A85FAE3AD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5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JO" smtClean="0"/>
              <a:t>التخفيف: وضع الخطط والاستعدادات لتقليل أضرار تحقيق التهديد</a:t>
            </a:r>
            <a:endParaRPr lang="en-US" smtClean="0"/>
          </a:p>
          <a:p>
            <a:r>
              <a:rPr lang="ar-JO" smtClean="0"/>
              <a:t>يجب أن يشمل التحضير:</a:t>
            </a:r>
            <a:endParaRPr lang="en-US" smtClean="0"/>
          </a:p>
          <a:p>
            <a:r>
              <a:rPr lang="ar-JO" smtClean="0"/>
              <a:t>خطة الاستجابة للحوادث</a:t>
            </a:r>
            <a:endParaRPr lang="en-US" smtClean="0"/>
          </a:p>
          <a:p>
            <a:r>
              <a:rPr lang="ar-JO" smtClean="0"/>
              <a:t>خطة التعافي من الكوارث</a:t>
            </a:r>
            <a:endParaRPr lang="en-US" smtClean="0"/>
          </a:p>
          <a:p>
            <a:r>
              <a:rPr lang="ar-JO" smtClean="0"/>
              <a:t>خطة استمرارية العمل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763D2F-6484-4184-91EA-4A85FAE3ADE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13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JO" smtClean="0"/>
              <a:t>القبول: تحديد المخاطر والاعتراف بها بشكل صحيح واختيار عدم السيطرة عليها</a:t>
            </a:r>
            <a:endParaRPr lang="en-US" smtClean="0"/>
          </a:p>
          <a:p>
            <a:r>
              <a:rPr lang="ar-JO" smtClean="0"/>
              <a:t>مناسب عندما:</a:t>
            </a:r>
            <a:endParaRPr lang="en-US" smtClean="0"/>
          </a:p>
          <a:p>
            <a:r>
              <a:rPr lang="ar-JO" smtClean="0"/>
              <a:t>تكلفة حماية الأصول أو الأصول تتجاوز تكلفة استبدالها</a:t>
            </a:r>
            <a:endParaRPr lang="en-US" smtClean="0"/>
          </a:p>
          <a:p>
            <a:r>
              <a:rPr lang="ar-JO" smtClean="0"/>
              <a:t>عندما يكون احتمال المخاطرة منخفضًا جدًا ويكون للأصل أولوية منخفضة</a:t>
            </a:r>
            <a:endParaRPr lang="en-US" smtClean="0"/>
          </a:p>
          <a:p>
            <a:r>
              <a:rPr lang="ar-JO" smtClean="0"/>
              <a:t>غير ذلك</a:t>
            </a:r>
            <a:endParaRPr lang="en-US" smtClean="0"/>
          </a:p>
          <a:p>
            <a:r>
              <a:rPr lang="ar-JO" smtClean="0"/>
              <a:t>القبول = الإهمال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763D2F-6484-4184-91EA-4A85FAE3ADE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59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JO" smtClean="0"/>
              <a:t>الإنهاء: إزالة أو إيقاف أصول المعلومات من المنظمة</a:t>
            </a:r>
            <a:endParaRPr lang="en-US" smtClean="0"/>
          </a:p>
          <a:p>
            <a:r>
              <a:rPr lang="ar-JO" smtClean="0"/>
              <a:t>الامثله تشمل:</a:t>
            </a:r>
            <a:endParaRPr lang="en-US" smtClean="0"/>
          </a:p>
          <a:p>
            <a:r>
              <a:rPr lang="ar-JO" smtClean="0"/>
              <a:t>التخلص من المعدات</a:t>
            </a:r>
            <a:endParaRPr lang="en-US" smtClean="0"/>
          </a:p>
          <a:p>
            <a:r>
              <a:rPr lang="ar-JO" smtClean="0"/>
              <a:t>وقف الخدمة المقدمة</a:t>
            </a:r>
            <a:endParaRPr lang="en-US" smtClean="0"/>
          </a:p>
          <a:p>
            <a:r>
              <a:rPr lang="ar-JO" smtClean="0"/>
              <a:t>إقالة موظف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763D2F-6484-4184-91EA-4A85FAE3ADE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46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JO" smtClean="0"/>
              <a:t>معاير قياسية لإدارة المخاطر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763D2F-6484-4184-91EA-4A85FAE3ADE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18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229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0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710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85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61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5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6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3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88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6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274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903E345-E744-4400-9B93-F5B0B3D1FDD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A7A4A07-3584-45CF-A77B-09789B1F736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195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1.png"/><Relationship Id="rId10" Type="http://schemas.openxmlformats.org/officeDocument/2006/relationships/image" Target="../media/image34.png"/><Relationship Id="rId4" Type="http://schemas.openxmlformats.org/officeDocument/2006/relationships/image" Target="../media/image6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Risk Management: Controlling Risk In information Security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830" y="716691"/>
            <a:ext cx="5275770" cy="334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8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1774524"/>
            <a:ext cx="9720072" cy="149961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7" y="1300162"/>
            <a:ext cx="9720073" cy="5724144"/>
          </a:xfrm>
        </p:spPr>
        <p:txBody>
          <a:bodyPr/>
          <a:lstStyle/>
          <a:p>
            <a:r>
              <a:rPr lang="en-US" sz="2800" dirty="0"/>
              <a:t>Risk management is the process of identifying vulnerabilities in an organization’s information systems and taking carefully respond steps to ensure the confidentiality, integrity, and availability of all components.</a:t>
            </a:r>
          </a:p>
          <a:p>
            <a:r>
              <a:rPr lang="en-US" sz="2800" dirty="0"/>
              <a:t>Risk management requires three major undertakings</a:t>
            </a:r>
            <a:r>
              <a:rPr lang="en-US" sz="2800" dirty="0" smtClean="0"/>
              <a:t>:</a:t>
            </a:r>
          </a:p>
          <a:p>
            <a:endParaRPr lang="en-US" dirty="0"/>
          </a:p>
        </p:txBody>
      </p:sp>
      <p:sp>
        <p:nvSpPr>
          <p:cNvPr id="5" name="object 81"/>
          <p:cNvSpPr txBox="1"/>
          <p:nvPr/>
        </p:nvSpPr>
        <p:spPr>
          <a:xfrm>
            <a:off x="2290917" y="3748502"/>
            <a:ext cx="4729315" cy="1776188"/>
          </a:xfrm>
          <a:prstGeom prst="rect">
            <a:avLst/>
          </a:prstGeom>
        </p:spPr>
        <p:txBody>
          <a:bodyPr vert="horz" wrap="square" lIns="0" tIns="16951" rIns="0" bIns="0" rtlCol="0">
            <a:spAutoFit/>
          </a:bodyPr>
          <a:lstStyle/>
          <a:p>
            <a:pPr marL="359851" marR="6780" indent="-342900" defTabSz="457200">
              <a:lnSpc>
                <a:spcPct val="120000"/>
              </a:lnSpc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sz="3200" dirty="0"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3200" spc="-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13" dirty="0">
                <a:latin typeface="Calibri" panose="020F0502020204030204" charset="0"/>
                <a:cs typeface="Calibri" panose="020F0502020204030204" charset="0"/>
              </a:rPr>
              <a:t>identification </a:t>
            </a:r>
            <a:endParaRPr lang="en-US" sz="3200" spc="-13" dirty="0" smtClean="0">
              <a:latin typeface="Calibri" panose="020F0502020204030204" charset="0"/>
              <a:cs typeface="Calibri" panose="020F0502020204030204" charset="0"/>
            </a:endParaRPr>
          </a:p>
          <a:p>
            <a:pPr marL="359851" marR="6780" indent="-342900" defTabSz="457200">
              <a:lnSpc>
                <a:spcPct val="120000"/>
              </a:lnSpc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sz="3200" dirty="0" smtClean="0"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3200" spc="-33" dirty="0" smtClean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13" dirty="0">
                <a:latin typeface="Calibri" panose="020F0502020204030204" charset="0"/>
                <a:cs typeface="Calibri" panose="020F0502020204030204" charset="0"/>
              </a:rPr>
              <a:t>assessment </a:t>
            </a:r>
            <a:endParaRPr lang="en-US" sz="3200" spc="-13" dirty="0" smtClean="0">
              <a:latin typeface="Calibri" panose="020F0502020204030204" charset="0"/>
              <a:cs typeface="Calibri" panose="020F0502020204030204" charset="0"/>
            </a:endParaRPr>
          </a:p>
          <a:p>
            <a:pPr marL="359851" marR="6780" indent="-342900" defTabSz="457200">
              <a:lnSpc>
                <a:spcPct val="120000"/>
              </a:lnSpc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sz="3200" dirty="0" smtClean="0"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3200" spc="-33" dirty="0" smtClean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13" dirty="0">
                <a:latin typeface="Calibri" panose="020F0502020204030204" charset="0"/>
                <a:cs typeface="Calibri" panose="020F0502020204030204" charset="0"/>
              </a:rPr>
              <a:t>control</a:t>
            </a:r>
            <a:endParaRPr sz="32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48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ject 74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24128" y="585216"/>
            <a:ext cx="9720072" cy="576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Steps of a risk management plan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10183450" cy="402336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1: Identify Risk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2: Assess Risk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 3: Control Risk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Steps are similar regardless of context (InfoSec, Physical Security, Financial, etc.)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presentation will focus on controlling risk within an InfoSec context</a:t>
            </a:r>
          </a:p>
        </p:txBody>
      </p:sp>
    </p:spTree>
    <p:extLst>
      <p:ext uri="{BB962C8B-B14F-4D97-AF65-F5344CB8AC3E}">
        <p14:creationId xmlns:p14="http://schemas.microsoft.com/office/powerpoint/2010/main" val="174337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133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Identification		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1133" y="2128684"/>
            <a:ext cx="4927874" cy="402336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steps to risk identification are: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Identify your organization’s information assets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Classify and categorize said assets into useful groups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Rank assets necessity to the organization </a:t>
            </a:r>
          </a:p>
          <a:p>
            <a:pPr marL="128016" lvl="1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the right is a simplified example of how a company may identify risks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17790436"/>
              </p:ext>
            </p:extLst>
          </p:nvPr>
        </p:nvGraphicFramePr>
        <p:xfrm>
          <a:off x="6096729" y="887588"/>
          <a:ext cx="5946988" cy="569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747"/>
                <a:gridCol w="1486747"/>
                <a:gridCol w="1486747"/>
                <a:gridCol w="1486747"/>
              </a:tblGrid>
              <a:tr h="9387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Asset</a:t>
                      </a:r>
                      <a:r>
                        <a:rPr lang="en-US" sz="1600" baseline="0" dirty="0" smtClean="0"/>
                        <a:t> </a:t>
                      </a:r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Asset Type and Subcategory</a:t>
                      </a:r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Asset</a:t>
                      </a:r>
                      <a:r>
                        <a:rPr lang="en-US" sz="1600" baseline="0" dirty="0" smtClean="0"/>
                        <a:t> Function</a:t>
                      </a:r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Priority Level (Low, Medium, High, Critical)</a:t>
                      </a:r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1418099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Bob</a:t>
                      </a:r>
                      <a:r>
                        <a:rPr lang="en-US" sz="1600" baseline="0" dirty="0" smtClean="0"/>
                        <a:t> Worker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Personnel: InfoSec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smtClean="0"/>
                        <a:t>Secure Networks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smtClean="0"/>
                        <a:t>Penetration Testing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smtClean="0"/>
                        <a:t>Make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Low</a:t>
                      </a:r>
                      <a:endParaRPr lang="en-US" sz="1600" dirty="0"/>
                    </a:p>
                  </a:txBody>
                  <a:tcPr/>
                </a:tc>
              </a:tr>
              <a:tr h="750758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Cisco UCS</a:t>
                      </a:r>
                      <a:r>
                        <a:rPr lang="en-US" sz="1600" baseline="0" dirty="0" smtClean="0"/>
                        <a:t> B460 M4 Blade Server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Hardware: Networking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smtClean="0"/>
                        <a:t>Database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High</a:t>
                      </a:r>
                      <a:endParaRPr lang="en-US" sz="1600" dirty="0"/>
                    </a:p>
                  </a:txBody>
                  <a:tcPr/>
                </a:tc>
              </a:tr>
              <a:tr h="119565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Customer</a:t>
                      </a:r>
                      <a:r>
                        <a:rPr lang="en-US" sz="1600" baseline="0" dirty="0" smtClean="0"/>
                        <a:t> Personally Identifiable Information (PII)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Data: Confidential Information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Provide</a:t>
                      </a:r>
                      <a:r>
                        <a:rPr lang="en-US" sz="1600" baseline="0" dirty="0" smtClean="0"/>
                        <a:t> information for all business transactions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Critical</a:t>
                      </a:r>
                      <a:endParaRPr lang="en-US" sz="1600" dirty="0"/>
                    </a:p>
                  </a:txBody>
                  <a:tcPr/>
                </a:tc>
              </a:tr>
              <a:tr h="750758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Windows</a:t>
                      </a:r>
                      <a:r>
                        <a:rPr lang="en-US" sz="1600" baseline="0" dirty="0" smtClean="0"/>
                        <a:t> 7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Software: Operating System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smtClean="0"/>
                        <a:t>Employee</a:t>
                      </a:r>
                      <a:r>
                        <a:rPr lang="en-US" sz="1600" baseline="0" dirty="0" smtClean="0"/>
                        <a:t> access to enterprise software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Medium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6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" y="137478"/>
            <a:ext cx="12186961" cy="644866"/>
            <a:chOff x="0" y="0"/>
            <a:chExt cx="4608195" cy="243840"/>
          </a:xfrm>
        </p:grpSpPr>
        <p:sp>
          <p:nvSpPr>
            <p:cNvPr id="3" name="object 3"/>
            <p:cNvSpPr/>
            <p:nvPr/>
          </p:nvSpPr>
          <p:spPr>
            <a:xfrm>
              <a:off x="27185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2224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89" y="118947"/>
              <a:ext cx="1405500" cy="41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2042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24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722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7732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823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0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4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748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0252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0756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260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764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226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2772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327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3780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28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867285" y="110155"/>
            <a:ext cx="2198255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14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Control</a:t>
            </a:r>
            <a:r>
              <a:rPr sz="1587" b="1" spc="-14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Strategies</a:t>
            </a:r>
            <a:endParaRPr sz="1587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703590" y="452023"/>
            <a:ext cx="1042869" cy="109157"/>
            <a:chOff x="3669169" y="118937"/>
            <a:chExt cx="394335" cy="41275"/>
          </a:xfrm>
        </p:grpSpPr>
        <p:sp>
          <p:nvSpPr>
            <p:cNvPr id="25" name="object 25"/>
            <p:cNvSpPr/>
            <p:nvPr/>
          </p:nvSpPr>
          <p:spPr>
            <a:xfrm>
              <a:off x="36717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72211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7725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82291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733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9237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9741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0245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643266" y="110155"/>
            <a:ext cx="1069739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Qualitative</a:t>
            </a:r>
          </a:p>
        </p:txBody>
      </p:sp>
      <p:grpSp>
        <p:nvGrpSpPr>
          <p:cNvPr id="34" name="object 34"/>
          <p:cNvGrpSpPr/>
          <p:nvPr/>
        </p:nvGrpSpPr>
        <p:grpSpPr>
          <a:xfrm>
            <a:off x="11352429" y="452023"/>
            <a:ext cx="775854" cy="109157"/>
            <a:chOff x="4292637" y="118937"/>
            <a:chExt cx="293370" cy="41275"/>
          </a:xfrm>
        </p:grpSpPr>
        <p:sp>
          <p:nvSpPr>
            <p:cNvPr id="35" name="object 35"/>
            <p:cNvSpPr/>
            <p:nvPr/>
          </p:nvSpPr>
          <p:spPr>
            <a:xfrm>
              <a:off x="42951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3455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3959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4463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44967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45471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1292076" y="110155"/>
            <a:ext cx="643184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Points</a:t>
            </a:r>
          </a:p>
        </p:txBody>
      </p:sp>
      <p:grpSp>
        <p:nvGrpSpPr>
          <p:cNvPr id="42" name="object 42"/>
          <p:cNvGrpSpPr/>
          <p:nvPr/>
        </p:nvGrpSpPr>
        <p:grpSpPr>
          <a:xfrm>
            <a:off x="3" y="643598"/>
            <a:ext cx="12186961" cy="730811"/>
            <a:chOff x="0" y="191376"/>
            <a:chExt cx="4608195" cy="276338"/>
          </a:xfrm>
        </p:grpSpPr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1376"/>
              <a:ext cx="4608004" cy="6958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0" y="243560"/>
              <a:ext cx="4608195" cy="224154"/>
            </a:xfrm>
            <a:custGeom>
              <a:avLst/>
              <a:gdLst/>
              <a:ahLst/>
              <a:cxnLst/>
              <a:rect l="l" t="t" r="r" b="b"/>
              <a:pathLst>
                <a:path w="4608195" h="224154">
                  <a:moveTo>
                    <a:pt x="0" y="224066"/>
                  </a:moveTo>
                  <a:lnTo>
                    <a:pt x="4608004" y="224066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2240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52035" y="-26085"/>
            <a:ext cx="6661936" cy="1279173"/>
          </a:xfrm>
          <a:prstGeom prst="rect">
            <a:avLst/>
          </a:prstGeom>
        </p:spPr>
        <p:txBody>
          <a:bodyPr vert="horz" wrap="square" lIns="0" tIns="167934" rIns="0" bIns="0" rtlCol="0">
            <a:spAutoFit/>
          </a:bodyPr>
          <a:lstStyle/>
          <a:p>
            <a:pPr marL="33587">
              <a:spcBef>
                <a:spcPts val="1322"/>
              </a:spcBef>
              <a:tabLst>
                <a:tab pos="1810290" algn="l"/>
                <a:tab pos="4485424" algn="l"/>
              </a:tabLst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Introduction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Assessment</a:t>
            </a: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396"/>
              </a:spcBef>
            </a:pP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 marL="33587"/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Asset</a:t>
            </a:r>
            <a:r>
              <a:rPr sz="3703" spc="238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3703" spc="25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3703" spc="25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Inventory</a:t>
            </a:r>
            <a:endParaRPr sz="3703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7" name="object 4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374175"/>
            <a:ext cx="12186456" cy="9202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62" y="2390397"/>
            <a:ext cx="172602" cy="172602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1691148" y="2163098"/>
            <a:ext cx="9577719" cy="2715444"/>
          </a:xfrm>
          <a:prstGeom prst="rect">
            <a:avLst/>
          </a:prstGeom>
        </p:spPr>
        <p:txBody>
          <a:bodyPr vert="horz" wrap="square" lIns="0" tIns="18473" rIns="0" bIns="0" rtlCol="0">
            <a:spAutoFit/>
          </a:bodyPr>
          <a:lstStyle/>
          <a:p>
            <a:pPr marL="33587" marR="13434">
              <a:lnSpc>
                <a:spcPct val="103000"/>
              </a:lnSpc>
              <a:spcBef>
                <a:spcPts val="145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Iterative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process;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begins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with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assets,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including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all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elements</a:t>
            </a:r>
            <a:r>
              <a:rPr sz="2909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z="2909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an</a:t>
            </a:r>
            <a:r>
              <a:rPr sz="2909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organizations</a:t>
            </a:r>
            <a:r>
              <a:rPr sz="2909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system</a:t>
            </a:r>
            <a:r>
              <a:rPr sz="2909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(people,</a:t>
            </a:r>
            <a:r>
              <a:rPr sz="2909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procedures,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data</a:t>
            </a:r>
            <a:r>
              <a:rPr sz="2909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2909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information,</a:t>
            </a:r>
            <a:r>
              <a:rPr sz="2909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software,</a:t>
            </a:r>
            <a:r>
              <a:rPr sz="2909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hardware,</a:t>
            </a:r>
            <a:r>
              <a:rPr sz="2909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networking)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33587" marR="151137">
              <a:lnSpc>
                <a:spcPct val="103000"/>
              </a:lnSpc>
              <a:spcBef>
                <a:spcPts val="3041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Assets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are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then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classified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categorized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This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process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begins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with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assets,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including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all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0" name="object 5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62" y="4141643"/>
            <a:ext cx="172602" cy="172602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3" y="7643359"/>
            <a:ext cx="12186961" cy="350982"/>
            <a:chOff x="0" y="3323780"/>
            <a:chExt cx="4608195" cy="132715"/>
          </a:xfrm>
        </p:grpSpPr>
        <p:sp>
          <p:nvSpPr>
            <p:cNvPr id="52" name="object 52"/>
            <p:cNvSpPr/>
            <p:nvPr/>
          </p:nvSpPr>
          <p:spPr>
            <a:xfrm>
              <a:off x="0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2303995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dt" sz="half" idx="10"/>
          </p:nvPr>
        </p:nvSpPr>
        <p:spPr>
          <a:xfrm>
            <a:off x="2029235" y="12978352"/>
            <a:ext cx="4268271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587">
              <a:lnSpc>
                <a:spcPts val="1811"/>
              </a:lnSpc>
            </a:pPr>
            <a:r>
              <a:rPr dirty="0">
                <a:latin typeface="Calibri" panose="020F0502020204030204" charset="0"/>
                <a:cs typeface="Calibri" panose="020F0502020204030204" charset="0"/>
              </a:rPr>
              <a:t>Principles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576340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" y="-466460"/>
            <a:ext cx="12186961" cy="644866"/>
            <a:chOff x="0" y="0"/>
            <a:chExt cx="4608195" cy="243840"/>
          </a:xfrm>
        </p:grpSpPr>
        <p:sp>
          <p:nvSpPr>
            <p:cNvPr id="3" name="object 3"/>
            <p:cNvSpPr/>
            <p:nvPr/>
          </p:nvSpPr>
          <p:spPr>
            <a:xfrm>
              <a:off x="27185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2224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89" y="118947"/>
              <a:ext cx="1405500" cy="41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2042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24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722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7732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823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0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4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748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0252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0756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260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764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226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2772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327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3780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28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6717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7221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7725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8229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8733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9237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9741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0245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29517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3455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39597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4463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967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5471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292076" y="-493783"/>
            <a:ext cx="643184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Points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3" y="39660"/>
            <a:ext cx="12186961" cy="730811"/>
            <a:chOff x="0" y="191376"/>
            <a:chExt cx="4608195" cy="276338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1376"/>
              <a:ext cx="4608004" cy="6958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0" y="243560"/>
              <a:ext cx="4608195" cy="224154"/>
            </a:xfrm>
            <a:custGeom>
              <a:avLst/>
              <a:gdLst/>
              <a:ahLst/>
              <a:cxnLst/>
              <a:rect l="l" t="t" r="r" b="b"/>
              <a:pathLst>
                <a:path w="4608195" h="224154">
                  <a:moveTo>
                    <a:pt x="0" y="224066"/>
                  </a:moveTo>
                  <a:lnTo>
                    <a:pt x="4608004" y="224066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2240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52036" y="-630024"/>
            <a:ext cx="10460602" cy="1279173"/>
          </a:xfrm>
          <a:prstGeom prst="rect">
            <a:avLst/>
          </a:prstGeom>
        </p:spPr>
        <p:txBody>
          <a:bodyPr vert="horz" wrap="square" lIns="0" tIns="167934" rIns="0" bIns="0" rtlCol="0">
            <a:spAutoFit/>
          </a:bodyPr>
          <a:lstStyle/>
          <a:p>
            <a:pPr marL="33587">
              <a:spcBef>
                <a:spcPts val="1322"/>
              </a:spcBef>
              <a:tabLst>
                <a:tab pos="1810290" algn="l"/>
                <a:tab pos="4485424" algn="l"/>
                <a:tab pos="6648368" algn="l"/>
                <a:tab pos="9424260" algn="l"/>
              </a:tabLst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Introduction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Assessment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Control</a:t>
            </a:r>
            <a:r>
              <a:rPr sz="1587" b="1" spc="-14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Strategies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Qualitative</a:t>
            </a: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396"/>
              </a:spcBef>
            </a:pP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 marL="33587"/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People,</a:t>
            </a:r>
            <a:r>
              <a:rPr sz="3703" spc="198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Procedures,</a:t>
            </a:r>
            <a:r>
              <a:rPr sz="3703" spc="198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3703" spc="198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Data</a:t>
            </a:r>
            <a:r>
              <a:rPr sz="3703" spc="21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Asset</a:t>
            </a:r>
            <a:r>
              <a:rPr sz="3703" spc="198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endParaRPr sz="3703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70237"/>
            <a:ext cx="12186456" cy="9202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62" y="1252780"/>
            <a:ext cx="172602" cy="172602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62" y="2548927"/>
            <a:ext cx="172602" cy="172602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5412" y="3151270"/>
            <a:ext cx="139080" cy="13908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95412" y="4144766"/>
            <a:ext cx="139080" cy="13908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95412" y="5539795"/>
            <a:ext cx="139080" cy="139080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1651819" y="1032075"/>
            <a:ext cx="10373760" cy="5186735"/>
          </a:xfrm>
          <a:prstGeom prst="rect">
            <a:avLst/>
          </a:prstGeom>
        </p:spPr>
        <p:txBody>
          <a:bodyPr vert="horz" wrap="square" lIns="0" tIns="18473" rIns="0" bIns="0" rtlCol="0">
            <a:spAutoFit/>
          </a:bodyPr>
          <a:lstStyle/>
          <a:p>
            <a:pPr marL="33587" marR="13434">
              <a:lnSpc>
                <a:spcPct val="103000"/>
              </a:lnSpc>
              <a:spcBef>
                <a:spcPts val="145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Human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resources,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documentation,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data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assets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are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more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difficult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identify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33587">
              <a:spcBef>
                <a:spcPts val="3135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Important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asset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attributes: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765764" marR="1133531">
              <a:spcBef>
                <a:spcPts val="1256"/>
              </a:spcBef>
            </a:pPr>
            <a:r>
              <a:rPr sz="2645" dirty="0">
                <a:latin typeface="Calibri" panose="020F0502020204030204" charset="0"/>
                <a:cs typeface="Calibri" panose="020F0502020204030204" charset="0"/>
              </a:rPr>
              <a:t>People:</a:t>
            </a:r>
            <a:r>
              <a:rPr sz="2645" spc="15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position</a:t>
            </a:r>
            <a:r>
              <a:rPr sz="2645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name/number/ID;</a:t>
            </a:r>
            <a:r>
              <a:rPr sz="2645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supervisor;</a:t>
            </a:r>
            <a:r>
              <a:rPr sz="2645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security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clearance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level;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special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skills</a:t>
            </a:r>
            <a:endParaRPr sz="2645" dirty="0">
              <a:latin typeface="Calibri" panose="020F0502020204030204" charset="0"/>
              <a:cs typeface="Calibri" panose="020F0502020204030204" charset="0"/>
            </a:endParaRPr>
          </a:p>
          <a:p>
            <a:pPr marL="765764" marR="105797">
              <a:spcBef>
                <a:spcPts val="1468"/>
              </a:spcBef>
            </a:pPr>
            <a:r>
              <a:rPr sz="2645" dirty="0">
                <a:latin typeface="Calibri" panose="020F0502020204030204" charset="0"/>
                <a:cs typeface="Calibri" panose="020F0502020204030204" charset="0"/>
              </a:rPr>
              <a:t>Procedures:</a:t>
            </a:r>
            <a:r>
              <a:rPr sz="2645" spc="18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description;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intended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purpose;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what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elements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it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is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tied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to;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storage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location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reference;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storage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location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for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update</a:t>
            </a:r>
            <a:endParaRPr sz="2645" dirty="0">
              <a:latin typeface="Calibri" panose="020F0502020204030204" charset="0"/>
              <a:cs typeface="Calibri" panose="020F0502020204030204" charset="0"/>
            </a:endParaRPr>
          </a:p>
          <a:p>
            <a:pPr marL="765764" marR="347617">
              <a:spcBef>
                <a:spcPts val="1468"/>
              </a:spcBef>
            </a:pPr>
            <a:r>
              <a:rPr sz="2645" dirty="0">
                <a:latin typeface="Calibri" panose="020F0502020204030204" charset="0"/>
                <a:cs typeface="Calibri" panose="020F0502020204030204" charset="0"/>
              </a:rPr>
              <a:t>Data:</a:t>
            </a:r>
            <a:r>
              <a:rPr sz="2645" spc="212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classification;</a:t>
            </a:r>
            <a:r>
              <a:rPr sz="2645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owner/creator/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manager;</a:t>
            </a:r>
            <a:r>
              <a:rPr sz="2645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data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structure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size;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data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structure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used;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online/offline;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location;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backup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procedures</a:t>
            </a:r>
            <a:r>
              <a:rPr sz="2645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employed</a:t>
            </a:r>
            <a:endParaRPr sz="2645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" y="7643359"/>
            <a:ext cx="12186961" cy="350982"/>
            <a:chOff x="0" y="3323780"/>
            <a:chExt cx="4608195" cy="132715"/>
          </a:xfrm>
        </p:grpSpPr>
        <p:sp>
          <p:nvSpPr>
            <p:cNvPr id="51" name="object 51"/>
            <p:cNvSpPr/>
            <p:nvPr/>
          </p:nvSpPr>
          <p:spPr>
            <a:xfrm>
              <a:off x="0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303995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4" name="object 54"/>
          <p:cNvSpPr txBox="1">
            <a:spLocks noGrp="1"/>
          </p:cNvSpPr>
          <p:nvPr>
            <p:ph type="dt" sz="half" idx="10"/>
          </p:nvPr>
        </p:nvSpPr>
        <p:spPr>
          <a:xfrm>
            <a:off x="2029235" y="12978352"/>
            <a:ext cx="4268271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587">
              <a:lnSpc>
                <a:spcPts val="1811"/>
              </a:lnSpc>
            </a:pPr>
            <a:r>
              <a:rPr dirty="0">
                <a:latin typeface="Calibri" panose="020F0502020204030204" charset="0"/>
                <a:cs typeface="Calibri" panose="020F0502020204030204" charset="0"/>
              </a:rPr>
              <a:t>Principles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98355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" y="-484017"/>
            <a:ext cx="12186961" cy="644866"/>
            <a:chOff x="0" y="0"/>
            <a:chExt cx="4608195" cy="243840"/>
          </a:xfrm>
        </p:grpSpPr>
        <p:sp>
          <p:nvSpPr>
            <p:cNvPr id="3" name="object 3"/>
            <p:cNvSpPr/>
            <p:nvPr/>
          </p:nvSpPr>
          <p:spPr>
            <a:xfrm>
              <a:off x="27185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2224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89" y="118947"/>
              <a:ext cx="1405500" cy="41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2042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24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722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7732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823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0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4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748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0252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0756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260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764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226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2772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327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3780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28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6717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7221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7725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8229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8733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9237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9741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0245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29517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43455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439597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4463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4967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5471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292076" y="-511340"/>
            <a:ext cx="643184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Points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3" y="22102"/>
            <a:ext cx="12186961" cy="730811"/>
            <a:chOff x="0" y="191376"/>
            <a:chExt cx="4608195" cy="276338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1376"/>
              <a:ext cx="4608004" cy="6958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0" y="243560"/>
              <a:ext cx="4608195" cy="224154"/>
            </a:xfrm>
            <a:custGeom>
              <a:avLst/>
              <a:gdLst/>
              <a:ahLst/>
              <a:cxnLst/>
              <a:rect l="l" t="t" r="r" b="b"/>
              <a:pathLst>
                <a:path w="4608195" h="224154">
                  <a:moveTo>
                    <a:pt x="0" y="224066"/>
                  </a:moveTo>
                  <a:lnTo>
                    <a:pt x="4608004" y="224066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2240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52033" y="-647581"/>
            <a:ext cx="10574797" cy="1279173"/>
          </a:xfrm>
          <a:prstGeom prst="rect">
            <a:avLst/>
          </a:prstGeom>
        </p:spPr>
        <p:txBody>
          <a:bodyPr vert="horz" wrap="square" lIns="0" tIns="167934" rIns="0" bIns="0" rtlCol="0">
            <a:spAutoFit/>
          </a:bodyPr>
          <a:lstStyle/>
          <a:p>
            <a:pPr marL="33587">
              <a:spcBef>
                <a:spcPts val="1322"/>
              </a:spcBef>
              <a:tabLst>
                <a:tab pos="1810290" algn="l"/>
                <a:tab pos="4485424" algn="l"/>
                <a:tab pos="6648368" algn="l"/>
                <a:tab pos="9424260" algn="l"/>
              </a:tabLst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Introduction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Assessment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Control</a:t>
            </a:r>
            <a:r>
              <a:rPr sz="1587" b="1" spc="-14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Strategies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Qualitative</a:t>
            </a: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396"/>
              </a:spcBef>
            </a:pP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 marL="33587"/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Hardware,</a:t>
            </a:r>
            <a:r>
              <a:rPr sz="3703" spc="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Software,</a:t>
            </a:r>
            <a:r>
              <a:rPr sz="3703" spc="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3703" spc="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Network</a:t>
            </a:r>
            <a:r>
              <a:rPr sz="3703" spc="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Asset</a:t>
            </a:r>
            <a:r>
              <a:rPr sz="3703" spc="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endParaRPr sz="3703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52680"/>
            <a:ext cx="12186456" cy="9202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62" y="1334496"/>
            <a:ext cx="172602" cy="172602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501664" y="993058"/>
            <a:ext cx="9669195" cy="3377519"/>
          </a:xfrm>
          <a:prstGeom prst="rect">
            <a:avLst/>
          </a:prstGeom>
        </p:spPr>
        <p:txBody>
          <a:bodyPr vert="horz" wrap="square" lIns="0" tIns="206560" rIns="0" bIns="0" rtlCol="0">
            <a:spAutoFit/>
          </a:bodyPr>
          <a:lstStyle/>
          <a:p>
            <a:pPr marL="33587" marR="13434">
              <a:lnSpc>
                <a:spcPct val="103000"/>
              </a:lnSpc>
              <a:spcBef>
                <a:spcPts val="1361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Asset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attributes</a:t>
            </a:r>
            <a:r>
              <a:rPr sz="2909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be</a:t>
            </a:r>
            <a:r>
              <a:rPr sz="2909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considered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are:</a:t>
            </a:r>
            <a:r>
              <a:rPr sz="2909" spc="212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name;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IP</a:t>
            </a:r>
            <a:r>
              <a:rPr sz="2909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address;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MAC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address;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element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type;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serial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number;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manufacturer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name;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model/part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number;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software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version;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physical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or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logical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location;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controlling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entity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33587" marR="347617">
              <a:lnSpc>
                <a:spcPct val="103000"/>
              </a:lnSpc>
              <a:spcBef>
                <a:spcPts val="3041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Automated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tools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identify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system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elements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hardware, software,</a:t>
            </a:r>
            <a:r>
              <a:rPr sz="2909" spc="-15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network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components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8" name="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62" y="3519214"/>
            <a:ext cx="172602" cy="17260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3" y="7643359"/>
            <a:ext cx="12186961" cy="350982"/>
            <a:chOff x="0" y="3323780"/>
            <a:chExt cx="4608195" cy="132715"/>
          </a:xfrm>
        </p:grpSpPr>
        <p:sp>
          <p:nvSpPr>
            <p:cNvPr id="51" name="object 51"/>
            <p:cNvSpPr/>
            <p:nvPr/>
          </p:nvSpPr>
          <p:spPr>
            <a:xfrm>
              <a:off x="0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303995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4" name="object 54"/>
          <p:cNvSpPr txBox="1">
            <a:spLocks noGrp="1"/>
          </p:cNvSpPr>
          <p:nvPr>
            <p:ph type="dt" sz="half" idx="10"/>
          </p:nvPr>
        </p:nvSpPr>
        <p:spPr>
          <a:xfrm>
            <a:off x="2029235" y="12978352"/>
            <a:ext cx="4268271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587">
              <a:lnSpc>
                <a:spcPts val="1811"/>
              </a:lnSpc>
            </a:pPr>
            <a:r>
              <a:rPr dirty="0">
                <a:latin typeface="Calibri" panose="020F0502020204030204" charset="0"/>
                <a:cs typeface="Calibri" panose="020F0502020204030204" charset="0"/>
              </a:rPr>
              <a:t>Principles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2836184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" y="-484017"/>
            <a:ext cx="12186961" cy="644866"/>
            <a:chOff x="0" y="0"/>
            <a:chExt cx="4608195" cy="243840"/>
          </a:xfrm>
        </p:grpSpPr>
        <p:sp>
          <p:nvSpPr>
            <p:cNvPr id="3" name="object 3"/>
            <p:cNvSpPr/>
            <p:nvPr/>
          </p:nvSpPr>
          <p:spPr>
            <a:xfrm>
              <a:off x="27185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2224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89" y="118947"/>
              <a:ext cx="1405500" cy="41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2042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24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722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7732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823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0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4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748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0252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0756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260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764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226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2772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327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3780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28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6717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7221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7725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8229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8733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9237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9741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0245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643266" y="-511340"/>
            <a:ext cx="1069739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Qualitative</a:t>
            </a:r>
          </a:p>
        </p:txBody>
      </p:sp>
      <p:grpSp>
        <p:nvGrpSpPr>
          <p:cNvPr id="32" name="object 32"/>
          <p:cNvGrpSpPr/>
          <p:nvPr/>
        </p:nvGrpSpPr>
        <p:grpSpPr>
          <a:xfrm>
            <a:off x="11352429" y="-169866"/>
            <a:ext cx="775854" cy="109157"/>
            <a:chOff x="4292637" y="118937"/>
            <a:chExt cx="293370" cy="41275"/>
          </a:xfrm>
        </p:grpSpPr>
        <p:sp>
          <p:nvSpPr>
            <p:cNvPr id="33" name="object 33"/>
            <p:cNvSpPr/>
            <p:nvPr/>
          </p:nvSpPr>
          <p:spPr>
            <a:xfrm>
              <a:off x="42951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3455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3959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63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4967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5471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1292076" y="-511340"/>
            <a:ext cx="643184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Points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3" y="22102"/>
            <a:ext cx="12186961" cy="730811"/>
            <a:chOff x="0" y="191376"/>
            <a:chExt cx="4608195" cy="276338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1376"/>
              <a:ext cx="4608004" cy="6958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0" y="243560"/>
              <a:ext cx="4608195" cy="224154"/>
            </a:xfrm>
            <a:custGeom>
              <a:avLst/>
              <a:gdLst/>
              <a:ahLst/>
              <a:cxnLst/>
              <a:rect l="l" t="t" r="r" b="b"/>
              <a:pathLst>
                <a:path w="4608195" h="224154">
                  <a:moveTo>
                    <a:pt x="0" y="224066"/>
                  </a:moveTo>
                  <a:lnTo>
                    <a:pt x="4608004" y="224066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2240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2035" y="-647581"/>
            <a:ext cx="8814849" cy="1279173"/>
          </a:xfrm>
          <a:prstGeom prst="rect">
            <a:avLst/>
          </a:prstGeom>
        </p:spPr>
        <p:txBody>
          <a:bodyPr vert="horz" wrap="square" lIns="0" tIns="167934" rIns="0" bIns="0" rtlCol="0">
            <a:spAutoFit/>
          </a:bodyPr>
          <a:lstStyle/>
          <a:p>
            <a:pPr marL="33587">
              <a:spcBef>
                <a:spcPts val="1322"/>
              </a:spcBef>
              <a:tabLst>
                <a:tab pos="1810290" algn="l"/>
                <a:tab pos="4485424" algn="l"/>
                <a:tab pos="6648368" algn="l"/>
              </a:tabLst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Introduction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Assessment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Control</a:t>
            </a:r>
            <a:r>
              <a:rPr sz="1587" b="1" spc="-14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Strategies</a:t>
            </a: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396"/>
              </a:spcBef>
            </a:pP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 marL="33587"/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Data</a:t>
            </a:r>
            <a:r>
              <a:rPr sz="3703" spc="17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Classification</a:t>
            </a:r>
            <a:r>
              <a:rPr sz="3703" spc="17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3703" spc="17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management</a:t>
            </a:r>
            <a:endParaRPr sz="3703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52680"/>
            <a:ext cx="12186456" cy="9202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62" y="1535513"/>
            <a:ext cx="172602" cy="172602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651293" y="1314808"/>
            <a:ext cx="9483227" cy="3554045"/>
          </a:xfrm>
          <a:prstGeom prst="rect">
            <a:avLst/>
          </a:prstGeom>
        </p:spPr>
        <p:txBody>
          <a:bodyPr vert="horz" wrap="square" lIns="0" tIns="18473" rIns="0" bIns="0" rtlCol="0">
            <a:spAutoFit/>
          </a:bodyPr>
          <a:lstStyle/>
          <a:p>
            <a:pPr marL="33587" marR="1706174">
              <a:lnSpc>
                <a:spcPct val="103000"/>
              </a:lnSpc>
              <a:spcBef>
                <a:spcPts val="3041"/>
              </a:spcBef>
            </a:pPr>
            <a:r>
              <a:rPr sz="2909" spc="-26" dirty="0" smtClean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z="2909" spc="-105" dirty="0" smtClean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owners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responsible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classifying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their information</a:t>
            </a:r>
            <a:r>
              <a:rPr sz="2909" spc="4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assets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33587">
              <a:spcBef>
                <a:spcPts val="3135"/>
              </a:spcBef>
            </a:pP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Information classifications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must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be</a:t>
            </a:r>
            <a:r>
              <a:rPr sz="2909" spc="-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reviewed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 periodically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33587" marR="13434">
              <a:lnSpc>
                <a:spcPct val="103000"/>
              </a:lnSpc>
              <a:spcBef>
                <a:spcPts val="3041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Most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organizations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do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not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need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detailed</a:t>
            </a:r>
            <a:r>
              <a:rPr sz="2909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level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classification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used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by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military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or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federal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agencies;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however,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organizations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may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need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classify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data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provide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protection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8" name="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62" y="2831660"/>
            <a:ext cx="172602" cy="172602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44401" y="3631650"/>
            <a:ext cx="172602" cy="172602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3" y="7643359"/>
            <a:ext cx="12186961" cy="350982"/>
            <a:chOff x="0" y="3323780"/>
            <a:chExt cx="4608195" cy="132715"/>
          </a:xfrm>
        </p:grpSpPr>
        <p:sp>
          <p:nvSpPr>
            <p:cNvPr id="52" name="object 52"/>
            <p:cNvSpPr/>
            <p:nvPr/>
          </p:nvSpPr>
          <p:spPr>
            <a:xfrm>
              <a:off x="0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2303995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dt" sz="half" idx="10"/>
          </p:nvPr>
        </p:nvSpPr>
        <p:spPr>
          <a:xfrm>
            <a:off x="2029235" y="12978352"/>
            <a:ext cx="4268271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587">
              <a:lnSpc>
                <a:spcPts val="1811"/>
              </a:lnSpc>
            </a:pPr>
            <a:r>
              <a:rPr dirty="0">
                <a:latin typeface="Calibri" panose="020F0502020204030204" charset="0"/>
                <a:cs typeface="Calibri" panose="020F0502020204030204" charset="0"/>
              </a:rPr>
              <a:t>Principles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62939046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" y="-484017"/>
            <a:ext cx="12186961" cy="644866"/>
            <a:chOff x="0" y="0"/>
            <a:chExt cx="4608195" cy="243840"/>
          </a:xfrm>
        </p:grpSpPr>
        <p:sp>
          <p:nvSpPr>
            <p:cNvPr id="3" name="object 3"/>
            <p:cNvSpPr/>
            <p:nvPr/>
          </p:nvSpPr>
          <p:spPr>
            <a:xfrm>
              <a:off x="27185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2224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89" y="118947"/>
              <a:ext cx="1405500" cy="41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2042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24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722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7732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823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0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4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748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0252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0756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260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764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226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2772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327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3780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28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6717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7221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7725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8229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8733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9237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9741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0245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643266" y="-511340"/>
            <a:ext cx="1069739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Qualitative</a:t>
            </a:r>
          </a:p>
        </p:txBody>
      </p:sp>
      <p:grpSp>
        <p:nvGrpSpPr>
          <p:cNvPr id="32" name="object 32"/>
          <p:cNvGrpSpPr/>
          <p:nvPr/>
        </p:nvGrpSpPr>
        <p:grpSpPr>
          <a:xfrm>
            <a:off x="11352429" y="-169866"/>
            <a:ext cx="775854" cy="109157"/>
            <a:chOff x="4292637" y="118937"/>
            <a:chExt cx="293370" cy="41275"/>
          </a:xfrm>
        </p:grpSpPr>
        <p:sp>
          <p:nvSpPr>
            <p:cNvPr id="33" name="object 33"/>
            <p:cNvSpPr/>
            <p:nvPr/>
          </p:nvSpPr>
          <p:spPr>
            <a:xfrm>
              <a:off x="42951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3455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3959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63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4967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5471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1292076" y="-511340"/>
            <a:ext cx="643184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Points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3" y="22102"/>
            <a:ext cx="12186961" cy="730811"/>
            <a:chOff x="0" y="191376"/>
            <a:chExt cx="4608195" cy="276338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1376"/>
              <a:ext cx="4608004" cy="6958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0" y="243560"/>
              <a:ext cx="4608195" cy="224154"/>
            </a:xfrm>
            <a:custGeom>
              <a:avLst/>
              <a:gdLst/>
              <a:ahLst/>
              <a:cxnLst/>
              <a:rect l="l" t="t" r="r" b="b"/>
              <a:pathLst>
                <a:path w="4608195" h="224154">
                  <a:moveTo>
                    <a:pt x="0" y="224066"/>
                  </a:moveTo>
                  <a:lnTo>
                    <a:pt x="4608004" y="224066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2240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2033" y="-647581"/>
            <a:ext cx="9098656" cy="1279173"/>
          </a:xfrm>
          <a:prstGeom prst="rect">
            <a:avLst/>
          </a:prstGeom>
        </p:spPr>
        <p:txBody>
          <a:bodyPr vert="horz" wrap="square" lIns="0" tIns="167934" rIns="0" bIns="0" rtlCol="0">
            <a:spAutoFit/>
          </a:bodyPr>
          <a:lstStyle/>
          <a:p>
            <a:pPr marL="33587">
              <a:spcBef>
                <a:spcPts val="1322"/>
              </a:spcBef>
              <a:tabLst>
                <a:tab pos="1810290" algn="l"/>
                <a:tab pos="4485424" algn="l"/>
                <a:tab pos="6648368" algn="l"/>
              </a:tabLst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Introduction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Assessment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Control</a:t>
            </a:r>
            <a:r>
              <a:rPr sz="1587" b="1" spc="-14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Strategies</a:t>
            </a: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396"/>
              </a:spcBef>
            </a:pP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 marL="33587"/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Classifying</a:t>
            </a:r>
            <a:r>
              <a:rPr sz="3703" spc="21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3703" spc="22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Prioritizing</a:t>
            </a:r>
            <a:r>
              <a:rPr sz="3703" spc="22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z="3703" spc="22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Assets</a:t>
            </a:r>
            <a:endParaRPr sz="3703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52680"/>
            <a:ext cx="12186456" cy="9202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62" y="2407392"/>
            <a:ext cx="172602" cy="172602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651294" y="2186688"/>
            <a:ext cx="8994538" cy="2415463"/>
          </a:xfrm>
          <a:prstGeom prst="rect">
            <a:avLst/>
          </a:prstGeom>
        </p:spPr>
        <p:txBody>
          <a:bodyPr vert="horz" wrap="square" lIns="0" tIns="18473" rIns="0" bIns="0" rtlCol="0">
            <a:spAutoFit/>
          </a:bodyPr>
          <a:lstStyle/>
          <a:p>
            <a:pPr marL="33587" marR="13434">
              <a:lnSpc>
                <a:spcPct val="103000"/>
              </a:lnSpc>
              <a:spcBef>
                <a:spcPts val="145"/>
              </a:spcBef>
            </a:pPr>
            <a:r>
              <a:rPr sz="3200" dirty="0">
                <a:latin typeface="Calibri" panose="020F0502020204030204" charset="0"/>
                <a:cs typeface="Calibri" panose="020F0502020204030204" charset="0"/>
              </a:rPr>
              <a:t>Many</a:t>
            </a:r>
            <a:r>
              <a:rPr sz="3200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organizations</a:t>
            </a:r>
            <a:r>
              <a:rPr sz="3200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have</a:t>
            </a:r>
            <a:r>
              <a:rPr sz="3200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data</a:t>
            </a:r>
            <a:r>
              <a:rPr sz="3200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classification</a:t>
            </a:r>
            <a:r>
              <a:rPr sz="3200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schemes</a:t>
            </a:r>
            <a:r>
              <a:rPr sz="3200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(e.g.,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confidential,</a:t>
            </a:r>
            <a:r>
              <a:rPr sz="3200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internal,</a:t>
            </a:r>
            <a:r>
              <a:rPr sz="3200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public</a:t>
            </a:r>
            <a:r>
              <a:rPr sz="3200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data)</a:t>
            </a:r>
            <a:endParaRPr sz="3200" dirty="0">
              <a:latin typeface="Calibri" panose="020F0502020204030204" charset="0"/>
              <a:cs typeface="Calibri" panose="020F0502020204030204" charset="0"/>
            </a:endParaRPr>
          </a:p>
          <a:p>
            <a:pPr marL="33587">
              <a:spcBef>
                <a:spcPts val="3135"/>
              </a:spcBef>
            </a:pP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Categories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must</a:t>
            </a: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be</a:t>
            </a:r>
            <a:r>
              <a:rPr sz="3200" spc="-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comprehensive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mutually</a:t>
            </a:r>
            <a:r>
              <a:rPr sz="3200" spc="-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exclusive</a:t>
            </a:r>
            <a:endParaRPr sz="32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8" name="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62" y="3703538"/>
            <a:ext cx="172602" cy="17260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3" y="7643359"/>
            <a:ext cx="12186961" cy="350982"/>
            <a:chOff x="0" y="3323780"/>
            <a:chExt cx="4608195" cy="132715"/>
          </a:xfrm>
        </p:grpSpPr>
        <p:sp>
          <p:nvSpPr>
            <p:cNvPr id="51" name="object 51"/>
            <p:cNvSpPr/>
            <p:nvPr/>
          </p:nvSpPr>
          <p:spPr>
            <a:xfrm>
              <a:off x="0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303995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4" name="object 54"/>
          <p:cNvSpPr txBox="1">
            <a:spLocks noGrp="1"/>
          </p:cNvSpPr>
          <p:nvPr>
            <p:ph type="dt" sz="half" idx="10"/>
          </p:nvPr>
        </p:nvSpPr>
        <p:spPr>
          <a:xfrm>
            <a:off x="2029235" y="12978352"/>
            <a:ext cx="4268271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587">
              <a:lnSpc>
                <a:spcPts val="1811"/>
              </a:lnSpc>
            </a:pPr>
            <a:r>
              <a:rPr dirty="0">
                <a:latin typeface="Calibri" panose="020F0502020204030204" charset="0"/>
                <a:cs typeface="Calibri" panose="020F0502020204030204" charset="0"/>
              </a:rPr>
              <a:t>Principles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8842190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" y="-466460"/>
            <a:ext cx="12186961" cy="644866"/>
            <a:chOff x="0" y="0"/>
            <a:chExt cx="4608195" cy="243840"/>
          </a:xfrm>
        </p:grpSpPr>
        <p:sp>
          <p:nvSpPr>
            <p:cNvPr id="3" name="object 3"/>
            <p:cNvSpPr/>
            <p:nvPr/>
          </p:nvSpPr>
          <p:spPr>
            <a:xfrm>
              <a:off x="27185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2224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89" y="118947"/>
              <a:ext cx="1405500" cy="41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2042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24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722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7732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823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0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4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748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0252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0756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260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764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226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2772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327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3780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28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6717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7221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7725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8229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8733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9237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9741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0245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643266" y="-493783"/>
            <a:ext cx="1069739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Qualitative</a:t>
            </a:r>
          </a:p>
        </p:txBody>
      </p:sp>
      <p:grpSp>
        <p:nvGrpSpPr>
          <p:cNvPr id="32" name="object 32"/>
          <p:cNvGrpSpPr/>
          <p:nvPr/>
        </p:nvGrpSpPr>
        <p:grpSpPr>
          <a:xfrm>
            <a:off x="11352429" y="-152308"/>
            <a:ext cx="775854" cy="109157"/>
            <a:chOff x="4292637" y="118937"/>
            <a:chExt cx="293370" cy="41275"/>
          </a:xfrm>
        </p:grpSpPr>
        <p:sp>
          <p:nvSpPr>
            <p:cNvPr id="33" name="object 33"/>
            <p:cNvSpPr/>
            <p:nvPr/>
          </p:nvSpPr>
          <p:spPr>
            <a:xfrm>
              <a:off x="42951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3455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3959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63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4967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5471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1292076" y="-493783"/>
            <a:ext cx="643184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Points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3" y="39660"/>
            <a:ext cx="12186961" cy="730811"/>
            <a:chOff x="0" y="191376"/>
            <a:chExt cx="4608195" cy="276338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1376"/>
              <a:ext cx="4608004" cy="6958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0" y="243560"/>
              <a:ext cx="4608195" cy="224154"/>
            </a:xfrm>
            <a:custGeom>
              <a:avLst/>
              <a:gdLst/>
              <a:ahLst/>
              <a:cxnLst/>
              <a:rect l="l" t="t" r="r" b="b"/>
              <a:pathLst>
                <a:path w="4608195" h="224154">
                  <a:moveTo>
                    <a:pt x="0" y="224066"/>
                  </a:moveTo>
                  <a:lnTo>
                    <a:pt x="4608004" y="224066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2240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2035" y="-630024"/>
            <a:ext cx="8814849" cy="1279173"/>
          </a:xfrm>
          <a:prstGeom prst="rect">
            <a:avLst/>
          </a:prstGeom>
        </p:spPr>
        <p:txBody>
          <a:bodyPr vert="horz" wrap="square" lIns="0" tIns="167934" rIns="0" bIns="0" rtlCol="0">
            <a:spAutoFit/>
          </a:bodyPr>
          <a:lstStyle/>
          <a:p>
            <a:pPr marL="33587">
              <a:spcBef>
                <a:spcPts val="1322"/>
              </a:spcBef>
              <a:tabLst>
                <a:tab pos="1810290" algn="l"/>
                <a:tab pos="4485424" algn="l"/>
                <a:tab pos="6648368" algn="l"/>
              </a:tabLst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Introduction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Assessment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Control</a:t>
            </a:r>
            <a:r>
              <a:rPr sz="1587" b="1" spc="-14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Strategies</a:t>
            </a: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396"/>
              </a:spcBef>
            </a:pP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 marL="33587"/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z="3703" spc="18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Asset</a:t>
            </a:r>
            <a:r>
              <a:rPr sz="3703" spc="18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Valuation</a:t>
            </a:r>
            <a:r>
              <a:rPr sz="3703" spc="18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(cont.)</a:t>
            </a:r>
            <a:endParaRPr sz="3703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70237"/>
            <a:ext cx="12186456" cy="9202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62" y="2327019"/>
            <a:ext cx="172602" cy="172602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62" y="3623164"/>
            <a:ext cx="172602" cy="172602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29062" y="4919312"/>
            <a:ext cx="172602" cy="172602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918464" y="1234367"/>
            <a:ext cx="10198622" cy="4438114"/>
          </a:xfrm>
          <a:prstGeom prst="rect">
            <a:avLst/>
          </a:prstGeom>
        </p:spPr>
        <p:txBody>
          <a:bodyPr vert="horz" wrap="square" lIns="0" tIns="246864" rIns="0" bIns="0" rtlCol="0">
            <a:spAutoFit/>
          </a:bodyPr>
          <a:lstStyle/>
          <a:p>
            <a:pPr marL="33587">
              <a:spcBef>
                <a:spcPts val="1944"/>
              </a:spcBef>
            </a:pP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z="3200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dirty="0">
                <a:latin typeface="Calibri" panose="020F0502020204030204" charset="0"/>
                <a:cs typeface="Calibri" panose="020F0502020204030204" charset="0"/>
              </a:rPr>
              <a:t>Asset</a:t>
            </a:r>
            <a:r>
              <a:rPr sz="3200" spc="-5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200" spc="-26" dirty="0">
                <a:latin typeface="Calibri" panose="020F0502020204030204" charset="0"/>
                <a:cs typeface="Calibri" panose="020F0502020204030204" charset="0"/>
              </a:rPr>
              <a:t>Prioritization</a:t>
            </a:r>
            <a:endParaRPr sz="3200" dirty="0">
              <a:latin typeface="Calibri" panose="020F0502020204030204" charset="0"/>
              <a:cs typeface="Calibri" panose="020F0502020204030204" charset="0"/>
            </a:endParaRPr>
          </a:p>
          <a:p>
            <a:pPr marL="765764" marR="273726">
              <a:lnSpc>
                <a:spcPct val="103000"/>
              </a:lnSpc>
              <a:spcBef>
                <a:spcPts val="1573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Create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weighting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each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category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based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on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sz="2909" spc="-13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answers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to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questions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765764" marR="470206">
              <a:lnSpc>
                <a:spcPct val="103000"/>
              </a:lnSpc>
              <a:spcBef>
                <a:spcPts val="3041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Calculate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relative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importance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each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asset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using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weighted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factor</a:t>
            </a:r>
            <a:r>
              <a:rPr sz="2909" spc="-18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analysis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765764" marR="13434">
              <a:lnSpc>
                <a:spcPct val="103000"/>
              </a:lnSpc>
              <a:spcBef>
                <a:spcPts val="3041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List</a:t>
            </a:r>
            <a:r>
              <a:rPr sz="2909" spc="-11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assets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in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order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importance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using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weighted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factor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analysis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worksheet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" y="7643359"/>
            <a:ext cx="12186961" cy="350982"/>
            <a:chOff x="0" y="3323780"/>
            <a:chExt cx="4608195" cy="132715"/>
          </a:xfrm>
        </p:grpSpPr>
        <p:sp>
          <p:nvSpPr>
            <p:cNvPr id="51" name="object 51"/>
            <p:cNvSpPr/>
            <p:nvPr/>
          </p:nvSpPr>
          <p:spPr>
            <a:xfrm>
              <a:off x="0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303995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4" name="object 54"/>
          <p:cNvSpPr txBox="1">
            <a:spLocks noGrp="1"/>
          </p:cNvSpPr>
          <p:nvPr>
            <p:ph type="dt" sz="half" idx="10"/>
          </p:nvPr>
        </p:nvSpPr>
        <p:spPr>
          <a:xfrm>
            <a:off x="2029235" y="12978352"/>
            <a:ext cx="4268271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587">
              <a:lnSpc>
                <a:spcPts val="1811"/>
              </a:lnSpc>
            </a:pPr>
            <a:r>
              <a:rPr dirty="0">
                <a:latin typeface="Calibri" panose="020F0502020204030204" charset="0"/>
                <a:cs typeface="Calibri" panose="020F0502020204030204" charset="0"/>
              </a:rPr>
              <a:t>Principles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06675843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" y="-466460"/>
            <a:ext cx="12186961" cy="644866"/>
            <a:chOff x="0" y="0"/>
            <a:chExt cx="4608195" cy="243840"/>
          </a:xfrm>
        </p:grpSpPr>
        <p:sp>
          <p:nvSpPr>
            <p:cNvPr id="3" name="object 3"/>
            <p:cNvSpPr/>
            <p:nvPr/>
          </p:nvSpPr>
          <p:spPr>
            <a:xfrm>
              <a:off x="271856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2224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89" y="118947"/>
              <a:ext cx="1405500" cy="41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22042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24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722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7732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823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8740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4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74848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0252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0756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1260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1764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2268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2772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3276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337804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42844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6717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7221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7725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8229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38733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9237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974109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4024515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643266" y="-493783"/>
            <a:ext cx="1069739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Qualitative</a:t>
            </a:r>
          </a:p>
        </p:txBody>
      </p:sp>
      <p:grpSp>
        <p:nvGrpSpPr>
          <p:cNvPr id="32" name="object 32"/>
          <p:cNvGrpSpPr/>
          <p:nvPr/>
        </p:nvGrpSpPr>
        <p:grpSpPr>
          <a:xfrm>
            <a:off x="11352429" y="-152308"/>
            <a:ext cx="775854" cy="109157"/>
            <a:chOff x="4292637" y="118937"/>
            <a:chExt cx="293370" cy="41275"/>
          </a:xfrm>
        </p:grpSpPr>
        <p:sp>
          <p:nvSpPr>
            <p:cNvPr id="33" name="object 33"/>
            <p:cNvSpPr/>
            <p:nvPr/>
          </p:nvSpPr>
          <p:spPr>
            <a:xfrm>
              <a:off x="42951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43455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3959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4463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4496777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4547171" y="12147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1292076" y="-493783"/>
            <a:ext cx="643184" cy="276453"/>
          </a:xfrm>
          <a:prstGeom prst="rect">
            <a:avLst/>
          </a:prstGeom>
        </p:spPr>
        <p:txBody>
          <a:bodyPr vert="horz" wrap="square" lIns="0" tIns="31907" rIns="0" bIns="0" rtlCol="0">
            <a:spAutoFit/>
          </a:bodyPr>
          <a:lstStyle/>
          <a:p>
            <a:pPr marL="33587">
              <a:spcBef>
                <a:spcPts val="252"/>
              </a:spcBef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Points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3" y="39660"/>
            <a:ext cx="12186961" cy="730811"/>
            <a:chOff x="0" y="191376"/>
            <a:chExt cx="4608195" cy="276338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91376"/>
              <a:ext cx="4608004" cy="6958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0" y="243560"/>
              <a:ext cx="4608195" cy="224154"/>
            </a:xfrm>
            <a:custGeom>
              <a:avLst/>
              <a:gdLst/>
              <a:ahLst/>
              <a:cxnLst/>
              <a:rect l="l" t="t" r="r" b="b"/>
              <a:pathLst>
                <a:path w="4608195" h="224154">
                  <a:moveTo>
                    <a:pt x="0" y="224066"/>
                  </a:moveTo>
                  <a:lnTo>
                    <a:pt x="4608004" y="224066"/>
                  </a:lnTo>
                  <a:lnTo>
                    <a:pt x="4608004" y="0"/>
                  </a:lnTo>
                  <a:lnTo>
                    <a:pt x="0" y="0"/>
                  </a:lnTo>
                  <a:lnTo>
                    <a:pt x="0" y="224066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2035" y="-630024"/>
            <a:ext cx="8814849" cy="1279173"/>
          </a:xfrm>
          <a:prstGeom prst="rect">
            <a:avLst/>
          </a:prstGeom>
        </p:spPr>
        <p:txBody>
          <a:bodyPr vert="horz" wrap="square" lIns="0" tIns="167934" rIns="0" bIns="0" rtlCol="0">
            <a:spAutoFit/>
          </a:bodyPr>
          <a:lstStyle/>
          <a:p>
            <a:pPr marL="33587">
              <a:spcBef>
                <a:spcPts val="1322"/>
              </a:spcBef>
              <a:tabLst>
                <a:tab pos="1810290" algn="l"/>
                <a:tab pos="4485424" algn="l"/>
                <a:tab pos="6648368" algn="l"/>
              </a:tabLst>
            </a:pP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Introduction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1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Identification</a:t>
            </a:r>
            <a:r>
              <a:rPr sz="1587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	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Assessment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	Risk</a:t>
            </a:r>
            <a:r>
              <a:rPr sz="1587" b="1" spc="-40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Control</a:t>
            </a:r>
            <a:r>
              <a:rPr sz="1587" b="1" spc="-14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1587" b="1" spc="-26" dirty="0">
                <a:solidFill>
                  <a:srgbClr val="7F7F7F"/>
                </a:solidFill>
                <a:latin typeface="Calibri" panose="020F0502020204030204" charset="0"/>
                <a:cs typeface="Calibri" panose="020F0502020204030204" charset="0"/>
              </a:rPr>
              <a:t>Strategies</a:t>
            </a: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396"/>
              </a:spcBef>
            </a:pPr>
            <a:endParaRPr sz="1587">
              <a:latin typeface="Calibri" panose="020F0502020204030204" charset="0"/>
              <a:cs typeface="Calibri" panose="020F0502020204030204" charset="0"/>
            </a:endParaRPr>
          </a:p>
          <a:p>
            <a:pPr marL="33587"/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Identifying</a:t>
            </a:r>
            <a:r>
              <a:rPr sz="3703" spc="21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sz="3703" spc="212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Prioritizing</a:t>
            </a:r>
            <a:r>
              <a:rPr sz="3703" spc="224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3703" spc="-26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Threats</a:t>
            </a:r>
            <a:endParaRPr sz="3703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70237"/>
            <a:ext cx="12186456" cy="9202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62" y="1726352"/>
            <a:ext cx="172602" cy="172602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62" y="3022499"/>
            <a:ext cx="172602" cy="172602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5412" y="3705149"/>
            <a:ext cx="139080" cy="13908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95412" y="4186986"/>
            <a:ext cx="139080" cy="13908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95412" y="4668821"/>
            <a:ext cx="139080" cy="13908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95412" y="5150691"/>
            <a:ext cx="139080" cy="139080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1651293" y="1505651"/>
            <a:ext cx="9258192" cy="3897664"/>
          </a:xfrm>
          <a:prstGeom prst="rect">
            <a:avLst/>
          </a:prstGeom>
        </p:spPr>
        <p:txBody>
          <a:bodyPr vert="horz" wrap="square" lIns="0" tIns="18473" rIns="0" bIns="0" rtlCol="0">
            <a:spAutoFit/>
          </a:bodyPr>
          <a:lstStyle/>
          <a:p>
            <a:pPr marL="33587" marR="13434">
              <a:lnSpc>
                <a:spcPct val="103000"/>
              </a:lnSpc>
              <a:spcBef>
                <a:spcPts val="145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Realistic</a:t>
            </a:r>
            <a:r>
              <a:rPr sz="2909" spc="-15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threats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need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investigation;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unimportant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threats</a:t>
            </a:r>
            <a:r>
              <a:rPr sz="2909" spc="-14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65" dirty="0">
                <a:latin typeface="Calibri" panose="020F0502020204030204" charset="0"/>
                <a:cs typeface="Calibri" panose="020F0502020204030204" charset="0"/>
              </a:rPr>
              <a:t>are </a:t>
            </a:r>
            <a:r>
              <a:rPr sz="2909" dirty="0">
                <a:latin typeface="Calibri" panose="020F0502020204030204" charset="0"/>
                <a:cs typeface="Calibri" panose="020F0502020204030204" charset="0"/>
              </a:rPr>
              <a:t>set</a:t>
            </a:r>
            <a:r>
              <a:rPr sz="2909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aside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33587">
              <a:spcBef>
                <a:spcPts val="3135"/>
              </a:spcBef>
            </a:pPr>
            <a:r>
              <a:rPr sz="2909" dirty="0">
                <a:latin typeface="Calibri" panose="020F0502020204030204" charset="0"/>
                <a:cs typeface="Calibri" panose="020F0502020204030204" charset="0"/>
              </a:rPr>
              <a:t>Threat</a:t>
            </a:r>
            <a:r>
              <a:rPr sz="2909" spc="-10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909" spc="-26" dirty="0">
                <a:latin typeface="Calibri" panose="020F0502020204030204" charset="0"/>
                <a:cs typeface="Calibri" panose="020F0502020204030204" charset="0"/>
              </a:rPr>
              <a:t>assessment:</a:t>
            </a:r>
            <a:endParaRPr sz="2909" dirty="0">
              <a:latin typeface="Calibri" panose="020F0502020204030204" charset="0"/>
              <a:cs typeface="Calibri" panose="020F0502020204030204" charset="0"/>
            </a:endParaRPr>
          </a:p>
          <a:p>
            <a:pPr marL="765764">
              <a:spcBef>
                <a:spcPts val="1878"/>
              </a:spcBef>
            </a:pPr>
            <a:r>
              <a:rPr sz="2645" dirty="0">
                <a:latin typeface="Calibri" panose="020F0502020204030204" charset="0"/>
                <a:cs typeface="Calibri" panose="020F0502020204030204" charset="0"/>
              </a:rPr>
              <a:t>Which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threats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present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danger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assets?</a:t>
            </a:r>
            <a:endParaRPr sz="2645" dirty="0">
              <a:latin typeface="Calibri" panose="020F0502020204030204" charset="0"/>
              <a:cs typeface="Calibri" panose="020F0502020204030204" charset="0"/>
            </a:endParaRPr>
          </a:p>
          <a:p>
            <a:pPr marL="765764" marR="470206">
              <a:lnSpc>
                <a:spcPct val="120000"/>
              </a:lnSpc>
            </a:pPr>
            <a:r>
              <a:rPr sz="2645" dirty="0">
                <a:latin typeface="Calibri" panose="020F0502020204030204" charset="0"/>
                <a:cs typeface="Calibri" panose="020F0502020204030204" charset="0"/>
              </a:rPr>
              <a:t>Which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threats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represent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most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danger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information?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How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much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would</a:t>
            </a:r>
            <a:r>
              <a:rPr sz="2645" spc="-65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it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cost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recover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from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attack?</a:t>
            </a:r>
            <a:endParaRPr sz="2645" dirty="0">
              <a:latin typeface="Calibri" panose="020F0502020204030204" charset="0"/>
              <a:cs typeface="Calibri" panose="020F0502020204030204" charset="0"/>
            </a:endParaRPr>
          </a:p>
          <a:p>
            <a:pPr marL="765764">
              <a:spcBef>
                <a:spcPts val="622"/>
              </a:spcBef>
            </a:pPr>
            <a:r>
              <a:rPr sz="2645" dirty="0">
                <a:latin typeface="Calibri" panose="020F0502020204030204" charset="0"/>
                <a:cs typeface="Calibri" panose="020F0502020204030204" charset="0"/>
              </a:rPr>
              <a:t>Which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threat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requires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greatest</a:t>
            </a:r>
            <a:r>
              <a:rPr sz="2645" spc="-93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expenditure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dirty="0">
                <a:latin typeface="Calibri" panose="020F0502020204030204" charset="0"/>
                <a:cs typeface="Calibri" panose="020F0502020204030204" charset="0"/>
              </a:rPr>
              <a:t>to</a:t>
            </a:r>
            <a:r>
              <a:rPr sz="2645" spc="-79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z="2645" spc="-26" dirty="0">
                <a:latin typeface="Calibri" panose="020F0502020204030204" charset="0"/>
                <a:cs typeface="Calibri" panose="020F0502020204030204" charset="0"/>
              </a:rPr>
              <a:t>prevent?</a:t>
            </a:r>
            <a:endParaRPr sz="2645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" y="7643359"/>
            <a:ext cx="12186961" cy="350982"/>
            <a:chOff x="0" y="3323780"/>
            <a:chExt cx="4608195" cy="132715"/>
          </a:xfrm>
        </p:grpSpPr>
        <p:sp>
          <p:nvSpPr>
            <p:cNvPr id="54" name="object 54"/>
            <p:cNvSpPr/>
            <p:nvPr/>
          </p:nvSpPr>
          <p:spPr>
            <a:xfrm>
              <a:off x="0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2303995" y="3323780"/>
              <a:ext cx="2304415" cy="132715"/>
            </a:xfrm>
            <a:custGeom>
              <a:avLst/>
              <a:gdLst/>
              <a:ahLst/>
              <a:cxnLst/>
              <a:rect l="l" t="t" r="r" b="b"/>
              <a:pathLst>
                <a:path w="2304415" h="132714">
                  <a:moveTo>
                    <a:pt x="2303995" y="0"/>
                  </a:moveTo>
                  <a:lnTo>
                    <a:pt x="0" y="0"/>
                  </a:lnTo>
                  <a:lnTo>
                    <a:pt x="0" y="132219"/>
                  </a:lnTo>
                  <a:lnTo>
                    <a:pt x="2303995" y="13221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3567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57" name="object 57"/>
          <p:cNvSpPr txBox="1">
            <a:spLocks noGrp="1"/>
          </p:cNvSpPr>
          <p:nvPr>
            <p:ph type="dt" sz="half" idx="10"/>
          </p:nvPr>
        </p:nvSpPr>
        <p:spPr>
          <a:xfrm>
            <a:off x="2029235" y="12978352"/>
            <a:ext cx="4268271" cy="23083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587">
              <a:lnSpc>
                <a:spcPts val="1811"/>
              </a:lnSpc>
            </a:pPr>
            <a:r>
              <a:rPr dirty="0">
                <a:latin typeface="Calibri" panose="020F0502020204030204" charset="0"/>
                <a:cs typeface="Calibri" panose="020F0502020204030204" charset="0"/>
              </a:rPr>
              <a:t>Principles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Information</a:t>
            </a:r>
            <a:r>
              <a:rPr spc="14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spc="-26" dirty="0">
                <a:latin typeface="Calibri" panose="020F0502020204030204" charset="0"/>
                <a:cs typeface="Calibri" panose="020F0502020204030204" charset="0"/>
              </a:rPr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45990315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560" y="523432"/>
            <a:ext cx="9720072" cy="1499616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Assessment 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272" y="1754658"/>
            <a:ext cx="4754880" cy="402336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steps to risk assessment are: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Identify threats and threat agents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Prioritize threats and threat agents 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Assess vulnerabilities in current InfoSec plan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Determine risk of each threat </a:t>
            </a:r>
          </a:p>
          <a:p>
            <a:pPr marL="128016" lvl="1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 = P * V – M + U</a:t>
            </a:r>
          </a:p>
          <a:p>
            <a:pPr marL="128016" lvl="1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 = Risk</a:t>
            </a:r>
          </a:p>
          <a:p>
            <a:pPr marL="128016" lvl="1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 = Probability of threat attack</a:t>
            </a:r>
          </a:p>
          <a:p>
            <a:pPr marL="128016" lvl="1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 = Value of Information Asset</a:t>
            </a:r>
          </a:p>
          <a:p>
            <a:pPr marL="128016" lvl="1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 = Mitigation by current controls</a:t>
            </a:r>
          </a:p>
          <a:p>
            <a:pPr marL="128016" lvl="1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 = Uncertainty of vulnerability</a:t>
            </a:r>
          </a:p>
          <a:p>
            <a:pPr marL="128016" lvl="1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table to the right combines elements of all of these in a highly simplified format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29151541"/>
              </p:ext>
            </p:extLst>
          </p:nvPr>
        </p:nvGraphicFramePr>
        <p:xfrm>
          <a:off x="6232847" y="457201"/>
          <a:ext cx="5850295" cy="5773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059"/>
                <a:gridCol w="1170059"/>
                <a:gridCol w="1170059"/>
                <a:gridCol w="1170059"/>
                <a:gridCol w="1170059"/>
              </a:tblGrid>
              <a:tr h="166000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Threat Agent</a:t>
                      </a:r>
                      <a:r>
                        <a:rPr lang="en-US" sz="1600" baseline="0" dirty="0" smtClean="0"/>
                        <a:t> and Threat</a:t>
                      </a:r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Target</a:t>
                      </a:r>
                      <a:r>
                        <a:rPr lang="en-US" sz="1600" baseline="0" dirty="0" smtClean="0"/>
                        <a:t>ed Asset</a:t>
                      </a:r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Threat Level </a:t>
                      </a:r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Possible</a:t>
                      </a:r>
                      <a:r>
                        <a:rPr lang="en-US" sz="1600" baseline="0" dirty="0" smtClean="0"/>
                        <a:t> Exploits</a:t>
                      </a:r>
                      <a:endParaRPr lang="en-US" sz="1600" dirty="0" smtClean="0"/>
                    </a:p>
                    <a:p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Risk (Scale of 1-5)</a:t>
                      </a:r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480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Disgruntled</a:t>
                      </a:r>
                      <a:r>
                        <a:rPr lang="en-US" sz="1600" baseline="0" dirty="0" smtClean="0"/>
                        <a:t> Insider: Steal company information</a:t>
                      </a:r>
                    </a:p>
                    <a:p>
                      <a:r>
                        <a:rPr lang="en-US" sz="1600" baseline="0" dirty="0" smtClean="0"/>
                        <a:t>to sell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Company</a:t>
                      </a:r>
                      <a:r>
                        <a:rPr lang="en-US" sz="1600" baseline="0" dirty="0" smtClean="0"/>
                        <a:t> data (i.e. Customer PII)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High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Access</a:t>
                      </a:r>
                      <a:r>
                        <a:rPr lang="en-US" sz="1600" baseline="0" dirty="0" smtClean="0"/>
                        <a:t> control credentials, knowledge of InfoSec policies, etc.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4.16</a:t>
                      </a:r>
                      <a:endParaRPr lang="en-US" sz="1600" dirty="0"/>
                    </a:p>
                  </a:txBody>
                  <a:tcPr/>
                </a:tc>
              </a:tr>
              <a:tr h="12480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Fire:</a:t>
                      </a:r>
                      <a:r>
                        <a:rPr lang="en-US" sz="1600" baseline="0" dirty="0" smtClean="0"/>
                        <a:t> Burn the facility down or cause major damage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Company</a:t>
                      </a:r>
                      <a:r>
                        <a:rPr lang="en-US" sz="1600" baseline="0" dirty="0" smtClean="0"/>
                        <a:t> Facility, Personnel, Equipment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Critical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Mishandled</a:t>
                      </a:r>
                      <a:r>
                        <a:rPr lang="en-US" sz="1600" baseline="0" dirty="0" smtClean="0"/>
                        <a:t> equipment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2.78</a:t>
                      </a:r>
                      <a:endParaRPr lang="en-US" sz="1600" dirty="0"/>
                    </a:p>
                  </a:txBody>
                  <a:tcPr/>
                </a:tc>
              </a:tr>
              <a:tr h="124809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Hacktivists:</a:t>
                      </a:r>
                      <a:r>
                        <a:rPr lang="en-US" sz="1600" baseline="0" dirty="0" smtClean="0"/>
                        <a:t> Quality of service deviation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Company</a:t>
                      </a:r>
                      <a:r>
                        <a:rPr lang="en-US" sz="1600" baseline="0" dirty="0" smtClean="0"/>
                        <a:t> Hardware/Software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Low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Lack of effective</a:t>
                      </a:r>
                      <a:r>
                        <a:rPr lang="en-US" sz="1600" baseline="0" dirty="0" smtClean="0"/>
                        <a:t> filtering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1.39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12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control 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7058" y="1874767"/>
            <a:ext cx="9720073" cy="4224528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steps to risk control are: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Cost-Benefit Analysis (CBA)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Single Loss Expectancy (SLE)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Annualized Rate of Occurrence (ARO)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Annual Loss Expectancy (ALE)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Annual Cost of the Safeguard (ASG)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Feasibility Analysis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Organizational Feasibility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Operational Feasibility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Technical Feasibility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Political Feasibility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Risk Control Strategy Implementation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29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Cost-Benefit analysis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Determine what risk control strategies are cost effective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Below are some common formulas used to calculate cost-benefit analysis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70977" y="2084832"/>
            <a:ext cx="5412370" cy="376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2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Feasibility analysis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Organizational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Does the plan correspond to the organization’s objectives? What is in it for the organization?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Does it limit the organization’s capabilities in any way?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Operational: Will shareholders (users, managers, etc.) be able/willing to accept the plan? Is the system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compatible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the new changes? Have the possible changes been communicated to the employees?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Technical: Is the necessary technology owned or obtainable? Are our employees trained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if not can we afford to train them? Should we hire new employees?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Political: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 InfoSec acquire the necessary budget and approval to implement the plan? Is the budget required justifiable? Does InfoSec have to compete with other departments to acquire the desired budget?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40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control Strategies	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Defense </a:t>
            </a:r>
          </a:p>
          <a:p>
            <a:r>
              <a:rPr lang="en-US" sz="32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Transferal</a:t>
            </a:r>
          </a:p>
          <a:p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Mitigation</a:t>
            </a:r>
          </a:p>
          <a:p>
            <a:r>
              <a:rPr lang="en-US" sz="32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Acceptance (Abandonment) </a:t>
            </a:r>
          </a:p>
          <a:p>
            <a:r>
              <a:rPr lang="en-US" sz="32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Termination </a:t>
            </a:r>
          </a:p>
        </p:txBody>
      </p:sp>
    </p:spTree>
    <p:extLst>
      <p:ext uri="{BB962C8B-B14F-4D97-AF65-F5344CB8AC3E}">
        <p14:creationId xmlns:p14="http://schemas.microsoft.com/office/powerpoint/2010/main" val="344813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control </a:t>
            </a:r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Strategy: defense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Defense: Prevent the exploitation of the system via application of policy, training/education, and technology. Preferably layered security (defense in depth)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Counter threats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vulnerabilities from assess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Limit access to assets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protective safeguards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49081" y="1678344"/>
            <a:ext cx="5276335" cy="465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0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control </a:t>
            </a:r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Strategy: transferal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Transferal: Shift risks to other areas or outside entities to handle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include: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Purchasing insurance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Outsourcing to other organizations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Implementing service contracts with providers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Revising deployment models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42531" y="2286000"/>
            <a:ext cx="400050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control Strategy</a:t>
            </a:r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Mitigation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Mitigation: Creating plans and preparations to reduce the damage of threat actualization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Preparation should include a: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Incidence Response Plan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Disaster Recovery Plan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Business Continuity Plan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89637" y="1692876"/>
            <a:ext cx="6156732" cy="461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9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control Strategy</a:t>
            </a:r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Acceptance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Acceptance: Properly identifying and acknowledging risks, and choosing to not control them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Appropriate when: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cost to protect an asset or assets exceeds the cost to replace it/them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the probability of risk is very low and the asset is of low priority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Otherwise acceptance = negligence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77467" y="2286000"/>
            <a:ext cx="4754562" cy="36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6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control Strategy</a:t>
            </a:r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Termination	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Termination: Removing or discontinuing the information asset from the organization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Examples include: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Equipment disposal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Discontinuing a provided service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Firing an employee </a:t>
            </a: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89638" y="2084832"/>
            <a:ext cx="4754562" cy="376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7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standard approaches to risk management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U.S CERT’s Operationally Critical Threat Assessment Vulnerability Evaluation (OCTAVE) Methods (Original, OCTAVE-S, OCTAVE-Allegro)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ISO 27005 Standard for InfoSec Risk Management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NIST Risk Management Model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Microsoft Risk Management Approach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Jack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A. Jones’ Factor Analysis of Information Risk (FAIR)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Delphi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Technique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64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989</TotalTime>
  <Words>1333</Words>
  <Application>Microsoft Office PowerPoint</Application>
  <PresentationFormat>Widescreen</PresentationFormat>
  <Paragraphs>237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Times New Roman</vt:lpstr>
      <vt:lpstr>Tw Cen MT</vt:lpstr>
      <vt:lpstr>Tw Cen MT Condensed</vt:lpstr>
      <vt:lpstr>Wingdings</vt:lpstr>
      <vt:lpstr>Wingdings 3</vt:lpstr>
      <vt:lpstr>Integral</vt:lpstr>
      <vt:lpstr>Risk Management: Controlling Risk In information Security</vt:lpstr>
      <vt:lpstr>PowerPoint Presentation</vt:lpstr>
      <vt:lpstr>PowerPoint Presentation</vt:lpstr>
      <vt:lpstr>Steps of a risk management plan</vt:lpstr>
      <vt:lpstr>Risk Identification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Risk Assessment </vt:lpstr>
      <vt:lpstr>Risk control </vt:lpstr>
      <vt:lpstr>Cost-Benefit analysis</vt:lpstr>
      <vt:lpstr>Feasibility analysis</vt:lpstr>
      <vt:lpstr>Risk control Strategies </vt:lpstr>
      <vt:lpstr>Risk control Strategy: defense</vt:lpstr>
      <vt:lpstr>Risk control Strategy: transferal</vt:lpstr>
      <vt:lpstr>Risk control Strategy: Mitigation  </vt:lpstr>
      <vt:lpstr>Risk control Strategy: Acceptance</vt:lpstr>
      <vt:lpstr>Risk control Strategy: Termination  </vt:lpstr>
      <vt:lpstr>standard approaches to risk management</vt:lpstr>
    </vt:vector>
  </TitlesOfParts>
  <Company>Indiana University of Pennsylvania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 Collin Patrick Donaldson</dc:creator>
  <cp:lastModifiedBy>Microsoft account</cp:lastModifiedBy>
  <cp:revision>48</cp:revision>
  <dcterms:created xsi:type="dcterms:W3CDTF">2015-04-08T18:44:06Z</dcterms:created>
  <dcterms:modified xsi:type="dcterms:W3CDTF">2026-01-27T09:08:40Z</dcterms:modified>
</cp:coreProperties>
</file>