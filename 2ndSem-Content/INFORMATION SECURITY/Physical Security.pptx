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22"/>
  </p:notesMasterIdLst>
  <p:handoutMasterIdLst>
    <p:handoutMasterId r:id="rId23"/>
  </p:handoutMasterIdLst>
  <p:sldIdLst>
    <p:sldId id="315" r:id="rId5"/>
    <p:sldId id="26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77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968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7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505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12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01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337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77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82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42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971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883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91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05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437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616477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704" r:id="rId13"/>
    <p:sldLayoutId id="2147483682" r:id="rId1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Physical Security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F0E88-B235-6C61-071A-D1E0077DFA53}"/>
              </a:ext>
            </a:extLst>
          </p:cNvPr>
          <p:cNvSpPr txBox="1"/>
          <p:nvPr/>
        </p:nvSpPr>
        <p:spPr>
          <a:xfrm>
            <a:off x="350874" y="2920018"/>
            <a:ext cx="79956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Physical Access Controls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Failure of Supporting Utilities and Structural Collapse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Interception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Mobile and Portable Systems</a:t>
            </a:r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535370" y="2646977"/>
            <a:ext cx="10160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spc="-55" dirty="0">
                <a:solidFill>
                  <a:srgbClr val="FF0000"/>
                </a:solidFill>
                <a:latin typeface="Tahoma"/>
                <a:cs typeface="Tahoma"/>
              </a:rPr>
              <a:t>Seven</a:t>
            </a:r>
            <a:r>
              <a:rPr lang="en-US" sz="24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Major</a:t>
            </a:r>
            <a:r>
              <a:rPr lang="en-US" sz="2400" spc="-40" dirty="0">
                <a:latin typeface="Tahoma"/>
                <a:cs typeface="Tahoma"/>
              </a:rPr>
              <a:t> Sources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Physical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Loss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(Donn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B.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Parker)</a:t>
            </a:r>
            <a:endParaRPr lang="en-US" sz="2400" dirty="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FA9F9-8177-C364-1538-DFB15AF0BF3B}"/>
              </a:ext>
            </a:extLst>
          </p:cNvPr>
          <p:cNvSpPr txBox="1"/>
          <p:nvPr/>
        </p:nvSpPr>
        <p:spPr>
          <a:xfrm>
            <a:off x="1535370" y="3108642"/>
            <a:ext cx="6097772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Extreme</a:t>
            </a:r>
            <a:r>
              <a:rPr lang="en-US" sz="18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0" dirty="0">
                <a:solidFill>
                  <a:srgbClr val="0000FF"/>
                </a:solidFill>
                <a:latin typeface="Tahoma"/>
                <a:cs typeface="Tahoma"/>
              </a:rPr>
              <a:t>temperature:</a:t>
            </a:r>
            <a:r>
              <a:rPr lang="en-US" sz="1800" spc="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heat,</a:t>
            </a:r>
            <a:r>
              <a:rPr lang="en-US" sz="1800" spc="-55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cold</a:t>
            </a:r>
          </a:p>
          <a:p>
            <a:pPr marL="12700">
              <a:spcBef>
                <a:spcPts val="90"/>
              </a:spcBef>
            </a:pPr>
            <a:r>
              <a:rPr lang="en-US" sz="1800" spc="-45" dirty="0">
                <a:solidFill>
                  <a:srgbClr val="0000FF"/>
                </a:solidFill>
                <a:latin typeface="Tahoma"/>
                <a:cs typeface="Tahoma"/>
              </a:rPr>
              <a:t>Gases:</a:t>
            </a:r>
            <a:r>
              <a:rPr lang="en-US" sz="1800" spc="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55" dirty="0">
                <a:latin typeface="Tahoma"/>
                <a:cs typeface="Tahoma"/>
              </a:rPr>
              <a:t>war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65" dirty="0">
                <a:latin typeface="Tahoma"/>
                <a:cs typeface="Tahoma"/>
              </a:rPr>
              <a:t>gases,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commercial </a:t>
            </a:r>
            <a:r>
              <a:rPr lang="en-US" sz="1800" spc="-45" dirty="0">
                <a:latin typeface="Tahoma"/>
                <a:cs typeface="Tahoma"/>
              </a:rPr>
              <a:t>vapors,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30" dirty="0">
                <a:latin typeface="Tahoma"/>
                <a:cs typeface="Tahoma"/>
              </a:rPr>
              <a:t>humid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or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dry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air,</a:t>
            </a:r>
            <a:endParaRPr lang="en-US"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149B1-7E55-C624-0E34-49CD27EF678F}"/>
              </a:ext>
            </a:extLst>
          </p:cNvPr>
          <p:cNvSpPr txBox="1"/>
          <p:nvPr/>
        </p:nvSpPr>
        <p:spPr>
          <a:xfrm>
            <a:off x="1535370" y="344748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1E6E2-1022-AD77-ADD6-C37714826D98}"/>
              </a:ext>
            </a:extLst>
          </p:cNvPr>
          <p:cNvSpPr txBox="1"/>
          <p:nvPr/>
        </p:nvSpPr>
        <p:spPr>
          <a:xfrm>
            <a:off x="1537510" y="381681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800" spc="-20" dirty="0">
                <a:solidFill>
                  <a:srgbClr val="0000FF"/>
                </a:solidFill>
                <a:latin typeface="Tahoma"/>
                <a:cs typeface="Tahoma"/>
              </a:rPr>
              <a:t>Liquids:</a:t>
            </a:r>
            <a:r>
              <a:rPr lang="en-US" sz="18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water,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40" dirty="0">
                <a:latin typeface="Tahoma"/>
                <a:cs typeface="Tahoma"/>
              </a:rPr>
              <a:t>chemicals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F9F893-504B-576B-8F98-5C187E1E6494}"/>
              </a:ext>
            </a:extLst>
          </p:cNvPr>
          <p:cNvSpPr txBox="1"/>
          <p:nvPr/>
        </p:nvSpPr>
        <p:spPr>
          <a:xfrm>
            <a:off x="1535370" y="421204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Living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solidFill>
                  <a:srgbClr val="0000FF"/>
                </a:solidFill>
                <a:latin typeface="Tahoma"/>
                <a:cs typeface="Tahoma"/>
              </a:rPr>
              <a:t>organisms:</a:t>
            </a:r>
            <a:r>
              <a:rPr lang="en-US" sz="18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viruses,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30" dirty="0">
                <a:latin typeface="Tahoma"/>
                <a:cs typeface="Tahoma"/>
              </a:rPr>
              <a:t>bacteria,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people,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animals,</a:t>
            </a:r>
            <a:r>
              <a:rPr lang="en-US" sz="1800" spc="-25" dirty="0">
                <a:latin typeface="Tahoma"/>
                <a:cs typeface="Tahoma"/>
              </a:rPr>
              <a:t> insects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66FC39-0845-AFD7-1280-3C65C6ED2B65}"/>
              </a:ext>
            </a:extLst>
          </p:cNvPr>
          <p:cNvSpPr txBox="1"/>
          <p:nvPr/>
        </p:nvSpPr>
        <p:spPr>
          <a:xfrm>
            <a:off x="1535370" y="453865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800" spc="-25" dirty="0">
                <a:solidFill>
                  <a:srgbClr val="0000FF"/>
                </a:solidFill>
                <a:latin typeface="Tahoma"/>
                <a:cs typeface="Tahoma"/>
              </a:rPr>
              <a:t>Projectiles:</a:t>
            </a:r>
            <a:r>
              <a:rPr lang="en-US" sz="18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30" dirty="0">
                <a:latin typeface="Tahoma"/>
                <a:cs typeface="Tahoma"/>
              </a:rPr>
              <a:t>tangible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objects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in</a:t>
            </a:r>
            <a:r>
              <a:rPr lang="en-US" sz="1800" spc="-25" dirty="0">
                <a:latin typeface="Tahoma"/>
                <a:cs typeface="Tahoma"/>
              </a:rPr>
              <a:t> motion, </a:t>
            </a:r>
            <a:r>
              <a:rPr lang="en-US" sz="1800" spc="-70" dirty="0">
                <a:latin typeface="Tahoma"/>
                <a:cs typeface="Tahoma"/>
              </a:rPr>
              <a:t>powered</a:t>
            </a:r>
            <a:r>
              <a:rPr lang="en-US" sz="1800" spc="-20" dirty="0">
                <a:latin typeface="Tahoma"/>
                <a:cs typeface="Tahoma"/>
              </a:rPr>
              <a:t> objects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10A380-C32A-51CE-3A1D-560BCE83BE03}"/>
              </a:ext>
            </a:extLst>
          </p:cNvPr>
          <p:cNvSpPr txBox="1"/>
          <p:nvPr/>
        </p:nvSpPr>
        <p:spPr>
          <a:xfrm>
            <a:off x="1535370" y="4907990"/>
            <a:ext cx="8905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Movement:</a:t>
            </a:r>
            <a:r>
              <a:rPr lang="en-US" sz="18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0" dirty="0">
                <a:latin typeface="Tahoma"/>
                <a:cs typeface="Tahoma"/>
              </a:rPr>
              <a:t>collapse,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shearing,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40" dirty="0">
                <a:latin typeface="Tahoma"/>
                <a:cs typeface="Tahoma"/>
              </a:rPr>
              <a:t>shaking,</a:t>
            </a:r>
            <a:r>
              <a:rPr lang="en-US" sz="1800" spc="-30" dirty="0">
                <a:latin typeface="Tahoma"/>
                <a:cs typeface="Tahoma"/>
              </a:rPr>
              <a:t> vibration, </a:t>
            </a:r>
            <a:r>
              <a:rPr lang="en-US" sz="1800" spc="-10" dirty="0">
                <a:latin typeface="Tahoma"/>
                <a:cs typeface="Tahoma"/>
              </a:rPr>
              <a:t>liquefaction</a:t>
            </a:r>
            <a:endParaRPr lang="en-US" sz="1800" dirty="0">
              <a:latin typeface="Tahoma"/>
              <a:cs typeface="Tahom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2D2373-FCE6-67ED-5F01-217A65EE5994}"/>
              </a:ext>
            </a:extLst>
          </p:cNvPr>
          <p:cNvSpPr txBox="1"/>
          <p:nvPr/>
        </p:nvSpPr>
        <p:spPr>
          <a:xfrm>
            <a:off x="1535370" y="5289635"/>
            <a:ext cx="10160442" cy="639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Energy</a:t>
            </a:r>
            <a:r>
              <a:rPr lang="en-US" sz="18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solidFill>
                  <a:srgbClr val="0000FF"/>
                </a:solidFill>
                <a:latin typeface="Tahoma"/>
                <a:cs typeface="Tahoma"/>
              </a:rPr>
              <a:t>anomalies:</a:t>
            </a:r>
            <a:r>
              <a:rPr lang="en-US" sz="18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electrical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60" dirty="0">
                <a:latin typeface="Tahoma"/>
                <a:cs typeface="Tahoma"/>
              </a:rPr>
              <a:t>surge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or</a:t>
            </a:r>
            <a:r>
              <a:rPr lang="en-US" sz="1800" spc="-30" dirty="0">
                <a:latin typeface="Tahoma"/>
                <a:cs typeface="Tahoma"/>
              </a:rPr>
              <a:t> failure, </a:t>
            </a:r>
            <a:r>
              <a:rPr lang="en-US" sz="1800" spc="-10" dirty="0">
                <a:latin typeface="Tahoma"/>
                <a:cs typeface="Tahoma"/>
              </a:rPr>
              <a:t>magnetism, </a:t>
            </a:r>
            <a:r>
              <a:rPr lang="en-US" sz="1800" dirty="0">
                <a:latin typeface="Tahoma"/>
                <a:cs typeface="Tahoma"/>
              </a:rPr>
              <a:t>static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electricity, aging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circuitry;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radiation:</a:t>
            </a:r>
            <a:r>
              <a:rPr lang="en-US" sz="1800" spc="65" dirty="0"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sound,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light,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radio</a:t>
            </a:r>
            <a:endParaRPr lang="en-US" sz="1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9113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Access</a:t>
            </a:r>
            <a:r>
              <a:rPr lang="en-US" sz="32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535370" y="2646977"/>
            <a:ext cx="10160443" cy="211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268605">
              <a:lnSpc>
                <a:spcPct val="102600"/>
              </a:lnSpc>
              <a:spcBef>
                <a:spcPts val="55"/>
              </a:spcBef>
            </a:pP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Secure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facility:</a:t>
            </a:r>
            <a:r>
              <a:rPr lang="en-US" sz="24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physical </a:t>
            </a:r>
            <a:r>
              <a:rPr lang="en-US" sz="2400" spc="-10" dirty="0">
                <a:latin typeface="Tahoma"/>
                <a:cs typeface="Tahoma"/>
              </a:rPr>
              <a:t>location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70" dirty="0">
                <a:latin typeface="Tahoma"/>
                <a:cs typeface="Tahoma"/>
              </a:rPr>
              <a:t>engineered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with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controls </a:t>
            </a:r>
            <a:r>
              <a:rPr lang="en-US" sz="2400" spc="-55" dirty="0">
                <a:latin typeface="Tahoma"/>
                <a:cs typeface="Tahoma"/>
              </a:rPr>
              <a:t>designed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minimize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risk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attacks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from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physical </a:t>
            </a:r>
            <a:r>
              <a:rPr lang="en-US" sz="2400" spc="-30" dirty="0">
                <a:latin typeface="Tahoma"/>
                <a:cs typeface="Tahoma"/>
              </a:rPr>
              <a:t>threats</a:t>
            </a:r>
            <a:endParaRPr lang="en-US" sz="24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40" dirty="0">
                <a:latin typeface="Tahoma"/>
                <a:cs typeface="Tahoma"/>
              </a:rPr>
              <a:t>Secure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facility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can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take</a:t>
            </a:r>
            <a:r>
              <a:rPr lang="en-US" sz="2400" spc="-45" dirty="0">
                <a:latin typeface="Tahoma"/>
                <a:cs typeface="Tahoma"/>
              </a:rPr>
              <a:t> advantage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natural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terrain,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traffic </a:t>
            </a:r>
            <a:r>
              <a:rPr lang="en-US" sz="2400" spc="-30" dirty="0">
                <a:latin typeface="Tahoma"/>
                <a:cs typeface="Tahoma"/>
              </a:rPr>
              <a:t>flow,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and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75" dirty="0">
                <a:latin typeface="Tahoma"/>
                <a:cs typeface="Tahoma"/>
              </a:rPr>
              <a:t>degree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urban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development;</a:t>
            </a:r>
            <a:r>
              <a:rPr lang="en-US" sz="2400" spc="-25" dirty="0">
                <a:latin typeface="Tahoma"/>
                <a:cs typeface="Tahoma"/>
              </a:rPr>
              <a:t> can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complement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these </a:t>
            </a:r>
            <a:r>
              <a:rPr lang="en-US" sz="2400" dirty="0">
                <a:latin typeface="Tahoma"/>
                <a:cs typeface="Tahoma"/>
              </a:rPr>
              <a:t>with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protection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mechanisms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(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fences,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gates,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walls,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guards, alarms</a:t>
            </a:r>
            <a:r>
              <a:rPr lang="en-US" sz="2400" spc="-10" dirty="0">
                <a:latin typeface="Tahoma"/>
                <a:cs typeface="Tahoma"/>
              </a:rPr>
              <a:t>)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69363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 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535370" y="2646977"/>
            <a:ext cx="10160443" cy="3411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37160">
              <a:lnSpc>
                <a:spcPct val="102600"/>
              </a:lnSpc>
              <a:spcBef>
                <a:spcPts val="55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Walls,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Fencing,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Gates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–</a:t>
            </a:r>
            <a:r>
              <a:rPr lang="en-US" sz="2400" spc="28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walls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fences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with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suitably </a:t>
            </a:r>
            <a:r>
              <a:rPr lang="en-US" sz="2400" spc="-35" dirty="0">
                <a:latin typeface="Tahoma"/>
                <a:cs typeface="Tahoma"/>
              </a:rPr>
              <a:t>constructed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gates </a:t>
            </a:r>
            <a:r>
              <a:rPr lang="en-US" sz="2400" spc="-60" dirty="0">
                <a:latin typeface="Tahoma"/>
                <a:cs typeface="Tahoma"/>
              </a:rPr>
              <a:t>are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</a:t>
            </a:r>
            <a:r>
              <a:rPr lang="en-US" sz="2400" spc="-35" dirty="0">
                <a:latin typeface="Tahoma"/>
                <a:cs typeface="Tahoma"/>
              </a:rPr>
              <a:t> essential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starting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point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for </a:t>
            </a:r>
            <a:r>
              <a:rPr lang="en-US" sz="2400" spc="-40" dirty="0">
                <a:latin typeface="Tahoma"/>
                <a:cs typeface="Tahoma"/>
              </a:rPr>
              <a:t>organizations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whose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70" dirty="0">
                <a:latin typeface="Tahoma"/>
                <a:cs typeface="Tahoma"/>
              </a:rPr>
              <a:t>employees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require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access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the </a:t>
            </a:r>
            <a:r>
              <a:rPr lang="en-US" sz="2400" spc="-20" dirty="0">
                <a:latin typeface="Tahoma"/>
                <a:cs typeface="Tahoma"/>
              </a:rPr>
              <a:t>real </a:t>
            </a:r>
            <a:r>
              <a:rPr lang="en-US" sz="2400" spc="-35" dirty="0">
                <a:latin typeface="Tahoma"/>
                <a:cs typeface="Tahoma"/>
              </a:rPr>
              <a:t>estate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the</a:t>
            </a:r>
            <a:r>
              <a:rPr lang="en-US" sz="2400" spc="-35" dirty="0">
                <a:latin typeface="Tahoma"/>
                <a:cs typeface="Tahoma"/>
              </a:rPr>
              <a:t> organization </a:t>
            </a:r>
            <a:r>
              <a:rPr lang="en-US" sz="2400" spc="-60" dirty="0">
                <a:latin typeface="Tahoma"/>
                <a:cs typeface="Tahoma"/>
              </a:rPr>
              <a:t>owns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or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controls</a:t>
            </a:r>
            <a:endParaRPr lang="en-US" sz="24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Guards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–</a:t>
            </a:r>
            <a:r>
              <a:rPr lang="en-US" sz="2400" spc="3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Guards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can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evaluate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each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situation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as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it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arises</a:t>
            </a:r>
            <a:r>
              <a:rPr lang="en-US" sz="2400" spc="-25" dirty="0">
                <a:latin typeface="Tahoma"/>
                <a:cs typeface="Tahoma"/>
              </a:rPr>
              <a:t> and </a:t>
            </a:r>
            <a:r>
              <a:rPr lang="en-US" sz="2400" spc="-55" dirty="0">
                <a:latin typeface="Tahoma"/>
                <a:cs typeface="Tahoma"/>
              </a:rPr>
              <a:t>make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reasoned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responses.</a:t>
            </a:r>
            <a:r>
              <a:rPr lang="en-US" sz="2400" spc="9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Most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guards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have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clear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standard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operating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/>
                <a:cs typeface="Tahoma"/>
              </a:rPr>
              <a:t>procedures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(SOPs)</a:t>
            </a: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that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help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them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act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decisively </a:t>
            </a:r>
            <a:r>
              <a:rPr lang="en-US" sz="2400" dirty="0">
                <a:latin typeface="Tahoma"/>
                <a:cs typeface="Tahoma"/>
              </a:rPr>
              <a:t>in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unfamiliar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situations</a:t>
            </a:r>
            <a:endParaRPr lang="en-US" sz="2400" dirty="0">
              <a:latin typeface="Tahoma"/>
              <a:cs typeface="Tahoma"/>
            </a:endParaRPr>
          </a:p>
          <a:p>
            <a:pPr marL="12700" marR="163195" algn="just">
              <a:lnSpc>
                <a:spcPct val="102600"/>
              </a:lnSpc>
              <a:spcBef>
                <a:spcPts val="1150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Dogs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–</a:t>
            </a:r>
            <a:r>
              <a:rPr lang="en-US" sz="2400" spc="3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Guard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dogs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are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useful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because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their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keen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75" dirty="0">
                <a:latin typeface="Tahoma"/>
                <a:cs typeface="Tahoma"/>
              </a:rPr>
              <a:t>sense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of </a:t>
            </a:r>
            <a:r>
              <a:rPr lang="en-US" sz="2400" spc="-30" dirty="0">
                <a:latin typeface="Tahoma"/>
                <a:cs typeface="Tahoma"/>
              </a:rPr>
              <a:t>smell</a:t>
            </a:r>
            <a:r>
              <a:rPr lang="en-US" sz="2400" spc="-35" dirty="0">
                <a:latin typeface="Tahoma"/>
                <a:cs typeface="Tahoma"/>
              </a:rPr>
              <a:t> and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hearing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can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detect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intrusions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that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human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guards </a:t>
            </a:r>
            <a:r>
              <a:rPr lang="en-US" sz="2400" spc="-10" dirty="0">
                <a:latin typeface="Tahoma"/>
                <a:cs typeface="Tahoma"/>
              </a:rPr>
              <a:t>cannot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80878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 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535370" y="2646977"/>
            <a:ext cx="10160443" cy="382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ID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cards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and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badges</a:t>
            </a:r>
            <a:endParaRPr lang="en-US" sz="24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70"/>
              </a:spcBef>
            </a:pPr>
            <a:r>
              <a:rPr lang="en-US" sz="2400" dirty="0">
                <a:latin typeface="Tahoma"/>
                <a:cs typeface="Tahoma"/>
              </a:rPr>
              <a:t>Ties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physical security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with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information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access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control</a:t>
            </a:r>
            <a:endParaRPr lang="en-US" sz="24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lang="en-US" sz="1800" dirty="0">
                <a:solidFill>
                  <a:srgbClr val="0000FF"/>
                </a:solidFill>
                <a:latin typeface="Tahoma"/>
                <a:cs typeface="Tahoma"/>
              </a:rPr>
              <a:t>ID</a:t>
            </a:r>
            <a:r>
              <a:rPr lang="en-US" sz="18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rgbClr val="0000FF"/>
                </a:solidFill>
                <a:latin typeface="Tahoma"/>
                <a:cs typeface="Tahoma"/>
              </a:rPr>
              <a:t>card</a:t>
            </a:r>
            <a:r>
              <a:rPr lang="en-US" sz="18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is</a:t>
            </a:r>
            <a:r>
              <a:rPr lang="en-US" sz="1800" spc="-5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typically</a:t>
            </a:r>
            <a:r>
              <a:rPr lang="en-US" sz="1800" spc="-5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concealed</a:t>
            </a:r>
            <a:endParaRPr lang="en-US" sz="18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565"/>
              </a:spcBef>
            </a:pPr>
            <a:r>
              <a:rPr lang="en-US" sz="1800" spc="-25" dirty="0">
                <a:solidFill>
                  <a:srgbClr val="0000FF"/>
                </a:solidFill>
                <a:latin typeface="Tahoma"/>
                <a:cs typeface="Tahoma"/>
              </a:rPr>
              <a:t>Name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50" dirty="0">
                <a:solidFill>
                  <a:srgbClr val="0000FF"/>
                </a:solidFill>
                <a:latin typeface="Tahoma"/>
                <a:cs typeface="Tahoma"/>
              </a:rPr>
              <a:t>badge</a:t>
            </a:r>
            <a:r>
              <a:rPr lang="en-US" sz="18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is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visible</a:t>
            </a:r>
            <a:endParaRPr lang="en-US" sz="18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835"/>
              </a:spcBef>
            </a:pPr>
            <a:r>
              <a:rPr lang="en-US" sz="2400" spc="-50" dirty="0">
                <a:latin typeface="Tahoma"/>
                <a:cs typeface="Tahoma"/>
              </a:rPr>
              <a:t>Serve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as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simple</a:t>
            </a:r>
            <a:r>
              <a:rPr lang="en-US" sz="2400" spc="-40" dirty="0">
                <a:latin typeface="Tahoma"/>
                <a:cs typeface="Tahoma"/>
              </a:rPr>
              <a:t> form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biometrics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(facial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recognition).</a:t>
            </a:r>
            <a:endParaRPr lang="en-US" sz="2400" dirty="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30" dirty="0">
                <a:latin typeface="Tahoma"/>
                <a:cs typeface="Tahoma"/>
              </a:rPr>
              <a:t>Should</a:t>
            </a:r>
            <a:r>
              <a:rPr lang="en-US" sz="2400" spc="-6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not</a:t>
            </a:r>
            <a:r>
              <a:rPr lang="en-US" sz="2400" spc="-8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only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means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control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as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cards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can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easily </a:t>
            </a:r>
            <a:r>
              <a:rPr lang="en-US" sz="2400" spc="-30" dirty="0">
                <a:latin typeface="Tahoma"/>
                <a:cs typeface="Tahoma"/>
              </a:rPr>
              <a:t>duplicated, </a:t>
            </a:r>
            <a:r>
              <a:rPr lang="en-US" sz="2400" spc="-35" dirty="0">
                <a:latin typeface="Tahoma"/>
                <a:cs typeface="Tahoma"/>
              </a:rPr>
              <a:t>stolen,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modified.</a:t>
            </a:r>
            <a:endParaRPr lang="en-US" sz="2400" dirty="0">
              <a:latin typeface="Tahoma"/>
              <a:cs typeface="Tahoma"/>
            </a:endParaRPr>
          </a:p>
          <a:p>
            <a:pPr marL="289560" marR="257810">
              <a:lnSpc>
                <a:spcPct val="102600"/>
              </a:lnSpc>
              <a:spcBef>
                <a:spcPts val="1150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Tailgating </a:t>
            </a:r>
            <a:r>
              <a:rPr lang="en-US" sz="2400" spc="-35" dirty="0">
                <a:latin typeface="Tahoma"/>
                <a:cs typeface="Tahoma"/>
              </a:rPr>
              <a:t>occurs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when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unauthorized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individual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follows authorized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user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through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the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control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4678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 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326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Locks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keys</a:t>
            </a:r>
            <a:endParaRPr lang="en-US" sz="24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lang="en-US" sz="2400" dirty="0">
                <a:latin typeface="Tahoma"/>
                <a:cs typeface="Tahoma"/>
              </a:rPr>
              <a:t>Two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types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locks:</a:t>
            </a:r>
            <a:r>
              <a:rPr lang="en-US" sz="2400" spc="60" dirty="0"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mechanical </a:t>
            </a:r>
            <a:r>
              <a:rPr lang="en-US" sz="2400" spc="-35" dirty="0">
                <a:latin typeface="Tahoma"/>
                <a:cs typeface="Tahoma"/>
              </a:rPr>
              <a:t>and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electromechanical</a:t>
            </a:r>
            <a:r>
              <a:rPr lang="en-US" sz="2400" spc="-10" dirty="0">
                <a:latin typeface="Tahoma"/>
                <a:cs typeface="Tahoma"/>
              </a:rPr>
              <a:t>.</a:t>
            </a:r>
            <a:endParaRPr lang="en-US" sz="2400" dirty="0">
              <a:latin typeface="Tahoma"/>
              <a:cs typeface="Tahoma"/>
            </a:endParaRPr>
          </a:p>
          <a:p>
            <a:pPr marL="289560" marR="185420">
              <a:lnSpc>
                <a:spcPct val="102600"/>
              </a:lnSpc>
              <a:spcBef>
                <a:spcPts val="1150"/>
              </a:spcBef>
            </a:pPr>
            <a:r>
              <a:rPr lang="en-US" sz="2400" spc="-10" dirty="0">
                <a:latin typeface="Tahoma"/>
                <a:cs typeface="Tahoma"/>
              </a:rPr>
              <a:t>Locks</a:t>
            </a:r>
            <a:r>
              <a:rPr lang="en-US" sz="2400" spc="-6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can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also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divided</a:t>
            </a:r>
            <a:r>
              <a:rPr lang="en-US" sz="2400" spc="-6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into</a:t>
            </a:r>
            <a:r>
              <a:rPr lang="en-US" sz="2400" spc="-6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four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categories:</a:t>
            </a:r>
            <a:r>
              <a:rPr lang="en-US" sz="2400" spc="40" dirty="0"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manual, </a:t>
            </a:r>
            <a:r>
              <a:rPr lang="en-US" sz="2400" spc="-55" dirty="0">
                <a:solidFill>
                  <a:srgbClr val="0000FF"/>
                </a:solidFill>
                <a:latin typeface="Tahoma"/>
                <a:cs typeface="Tahoma"/>
              </a:rPr>
              <a:t>programmable,</a:t>
            </a:r>
            <a:r>
              <a:rPr lang="en-US" sz="2400" spc="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electronic,</a:t>
            </a:r>
            <a:r>
              <a:rPr lang="en-US" sz="2400" spc="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biometric</a:t>
            </a:r>
            <a:endParaRPr lang="en-US" sz="2400" dirty="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10" dirty="0">
                <a:latin typeface="Tahoma"/>
                <a:cs typeface="Tahoma"/>
              </a:rPr>
              <a:t>Locks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fail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alternative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procedures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for</a:t>
            </a:r>
            <a:r>
              <a:rPr lang="en-US" sz="2400" spc="-25" dirty="0">
                <a:latin typeface="Tahoma"/>
                <a:cs typeface="Tahoma"/>
              </a:rPr>
              <a:t> controlling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access </a:t>
            </a:r>
            <a:r>
              <a:rPr lang="en-US" sz="2400" spc="-25" dirty="0">
                <a:latin typeface="Tahoma"/>
                <a:cs typeface="Tahoma"/>
              </a:rPr>
              <a:t>must</a:t>
            </a:r>
            <a:r>
              <a:rPr lang="en-US" sz="2400" spc="-6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put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in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place</a:t>
            </a:r>
            <a:endParaRPr lang="en-US" sz="24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185"/>
              </a:spcBef>
            </a:pPr>
            <a:r>
              <a:rPr lang="en-US" sz="2400" spc="-10" dirty="0">
                <a:latin typeface="Tahoma"/>
                <a:cs typeface="Tahoma"/>
              </a:rPr>
              <a:t>Locks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fail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in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one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40" dirty="0">
                <a:latin typeface="Tahoma"/>
                <a:cs typeface="Tahoma"/>
              </a:rPr>
              <a:t> two </a:t>
            </a:r>
            <a:r>
              <a:rPr lang="en-US" sz="2400" spc="-10" dirty="0">
                <a:latin typeface="Tahoma"/>
                <a:cs typeface="Tahoma"/>
              </a:rPr>
              <a:t>ways:</a:t>
            </a:r>
            <a:endParaRPr lang="en-US" sz="2400" dirty="0">
              <a:latin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F2F9B-4243-9157-4323-0760F8F50B93}"/>
              </a:ext>
            </a:extLst>
          </p:cNvPr>
          <p:cNvSpPr txBox="1"/>
          <p:nvPr/>
        </p:nvSpPr>
        <p:spPr>
          <a:xfrm>
            <a:off x="2910661" y="5663064"/>
            <a:ext cx="7668733" cy="734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</a:pP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Fail-safe</a:t>
            </a:r>
            <a:r>
              <a:rPr lang="en-US" sz="18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lock</a:t>
            </a:r>
            <a:r>
              <a:rPr lang="en-US" sz="1800" spc="-10" dirty="0">
                <a:latin typeface="Tahoma"/>
                <a:cs typeface="Tahoma"/>
              </a:rPr>
              <a:t>;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door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lock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fails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40" dirty="0">
                <a:latin typeface="Tahoma"/>
                <a:cs typeface="Tahoma"/>
              </a:rPr>
              <a:t>and </a:t>
            </a:r>
            <a:r>
              <a:rPr lang="en-US" sz="1800" spc="-20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door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remained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unlock </a:t>
            </a:r>
          </a:p>
          <a:p>
            <a:pPr marL="12700" marR="5080">
              <a:lnSpc>
                <a:spcPct val="119600"/>
              </a:lnSpc>
              <a:spcBef>
                <a:spcPts val="100"/>
              </a:spcBef>
            </a:pP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Fail-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secure</a:t>
            </a:r>
            <a:r>
              <a:rPr lang="en-US" sz="18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lock</a:t>
            </a:r>
            <a:r>
              <a:rPr lang="en-US" sz="1800" spc="-10" dirty="0">
                <a:latin typeface="Tahoma"/>
                <a:cs typeface="Tahoma"/>
              </a:rPr>
              <a:t>;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door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lock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fails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and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door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remains locked</a:t>
            </a:r>
            <a:endParaRPr lang="en-US" sz="1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13885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5508"/>
            <a:ext cx="4668819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5" y="1709530"/>
            <a:ext cx="3754671" cy="2528515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marL="12700">
              <a:lnSpc>
                <a:spcPct val="125000"/>
              </a:lnSpc>
            </a:pPr>
            <a:r>
              <a:rPr lang="en-US" sz="3600" b="0" cap="all"/>
              <a:t>Physical Security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49B71-B686-4DFD-93AD-40CB19B62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066" y="0"/>
            <a:ext cx="751993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78" descr="Several different types of electronic locks&#10;&#10;Description automatically generated with medium confidence">
            <a:extLst>
              <a:ext uri="{FF2B5EF4-FFF2-40B4-BE49-F238E27FC236}">
                <a16:creationId xmlns:a16="http://schemas.microsoft.com/office/drawing/2014/main" id="{2C955B81-E3CB-02A7-0668-0C4B0FD267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7437" y="1095508"/>
            <a:ext cx="5765944" cy="501689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653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3F396-D026-FBE9-5BD7-37E8C523A8A7}"/>
              </a:ext>
            </a:extLst>
          </p:cNvPr>
          <p:cNvSpPr txBox="1"/>
          <p:nvPr/>
        </p:nvSpPr>
        <p:spPr>
          <a:xfrm>
            <a:off x="6833991" y="6200185"/>
            <a:ext cx="2926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latin typeface="Calibri"/>
                <a:cs typeface="Calibri"/>
              </a:rPr>
              <a:t>Figure</a:t>
            </a:r>
            <a:r>
              <a:rPr lang="en-US" sz="1800" spc="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9-1 </a:t>
            </a:r>
            <a:r>
              <a:rPr lang="en-US" sz="1800" spc="-10" dirty="0">
                <a:latin typeface="Calibri"/>
                <a:cs typeface="Calibri"/>
              </a:rPr>
              <a:t>Locks</a:t>
            </a: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7594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 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2705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Mantraps</a:t>
            </a:r>
            <a:endParaRPr lang="en-US" sz="24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Small</a:t>
            </a:r>
            <a:r>
              <a:rPr lang="en-US" sz="2400" spc="-8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enclosure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lang="en-US" sz="24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has 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entry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point</a:t>
            </a:r>
            <a:r>
              <a:rPr lang="en-US" sz="24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US" sz="24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different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exit</a:t>
            </a:r>
            <a:r>
              <a:rPr lang="en-US" sz="24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point</a:t>
            </a:r>
            <a:endParaRPr lang="en-US" sz="2400" dirty="0">
              <a:latin typeface="Tahoma"/>
              <a:cs typeface="Tahoma"/>
            </a:endParaRPr>
          </a:p>
          <a:p>
            <a:pPr marL="289560" marR="6985">
              <a:lnSpc>
                <a:spcPct val="102600"/>
              </a:lnSpc>
              <a:spcBef>
                <a:spcPts val="1150"/>
              </a:spcBef>
            </a:pPr>
            <a:r>
              <a:rPr lang="en-US" sz="2400" spc="-35" dirty="0">
                <a:latin typeface="Tahoma"/>
                <a:cs typeface="Tahoma"/>
              </a:rPr>
              <a:t>Individual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enters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mantrap,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requests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access,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if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verified,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is </a:t>
            </a:r>
            <a:r>
              <a:rPr lang="en-US" sz="2400" spc="-55" dirty="0">
                <a:latin typeface="Tahoma"/>
                <a:cs typeface="Tahoma"/>
              </a:rPr>
              <a:t>allowed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exit</a:t>
            </a:r>
            <a:r>
              <a:rPr lang="en-US" sz="2400" spc="-30" dirty="0">
                <a:latin typeface="Tahoma"/>
                <a:cs typeface="Tahoma"/>
              </a:rPr>
              <a:t> mantrap </a:t>
            </a:r>
            <a:r>
              <a:rPr lang="en-US" sz="2400" dirty="0">
                <a:latin typeface="Tahoma"/>
                <a:cs typeface="Tahoma"/>
              </a:rPr>
              <a:t>into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facility</a:t>
            </a:r>
            <a:endParaRPr lang="en-US" sz="2400" dirty="0">
              <a:latin typeface="Tahoma"/>
              <a:cs typeface="Tahoma"/>
            </a:endParaRPr>
          </a:p>
          <a:p>
            <a:pPr marL="289560" marR="128270">
              <a:lnSpc>
                <a:spcPct val="102600"/>
              </a:lnSpc>
              <a:spcBef>
                <a:spcPts val="1150"/>
              </a:spcBef>
            </a:pPr>
            <a:r>
              <a:rPr lang="en-US" sz="2400" spc="-35" dirty="0">
                <a:latin typeface="Tahoma"/>
                <a:cs typeface="Tahoma"/>
              </a:rPr>
              <a:t>Individual </a:t>
            </a:r>
            <a:r>
              <a:rPr lang="en-US" sz="2400" spc="-45" dirty="0">
                <a:latin typeface="Tahoma"/>
                <a:cs typeface="Tahoma"/>
              </a:rPr>
              <a:t>denied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entry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is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not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allowed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exit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until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security </a:t>
            </a:r>
            <a:r>
              <a:rPr lang="en-US" sz="2400" spc="-20" dirty="0">
                <a:latin typeface="Tahoma"/>
                <a:cs typeface="Tahoma"/>
              </a:rPr>
              <a:t>official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overrides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automatic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locks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the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enclosure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96432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5508"/>
            <a:ext cx="4668819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5" y="1709530"/>
            <a:ext cx="3754671" cy="2528515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marL="12700">
              <a:lnSpc>
                <a:spcPct val="125000"/>
              </a:lnSpc>
            </a:pPr>
            <a:r>
              <a:rPr lang="en-US" sz="3600" b="0" cap="all"/>
              <a:t>Physical Security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49B71-B686-4DFD-93AD-40CB19B62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066" y="0"/>
            <a:ext cx="751993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77" descr="A diagram of a room&#10;&#10;Description automatically generated">
            <a:extLst>
              <a:ext uri="{FF2B5EF4-FFF2-40B4-BE49-F238E27FC236}">
                <a16:creationId xmlns:a16="http://schemas.microsoft.com/office/drawing/2014/main" id="{C7FFE8B1-4D46-2070-202A-D06F46AE11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2285" y="1334435"/>
            <a:ext cx="6236248" cy="453904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653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D236F-A391-1F98-5980-A4181BF03D2E}"/>
              </a:ext>
            </a:extLst>
          </p:cNvPr>
          <p:cNvSpPr txBox="1"/>
          <p:nvPr/>
        </p:nvSpPr>
        <p:spPr>
          <a:xfrm>
            <a:off x="7017179" y="5927735"/>
            <a:ext cx="28734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latin typeface="Calibri"/>
                <a:cs typeface="Calibri"/>
              </a:rPr>
              <a:t>Figure</a:t>
            </a:r>
            <a:r>
              <a:rPr lang="en-US" sz="1800" spc="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9-2 </a:t>
            </a:r>
            <a:r>
              <a:rPr lang="en-US" sz="1800" spc="-10" dirty="0">
                <a:latin typeface="Calibri"/>
                <a:cs typeface="Calibri"/>
              </a:rPr>
              <a:t>Mantraps</a:t>
            </a: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81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 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343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Electronic</a:t>
            </a:r>
            <a:r>
              <a:rPr lang="en-US" sz="24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monitoring</a:t>
            </a:r>
            <a:endParaRPr lang="en-US" sz="2400" dirty="0">
              <a:latin typeface="Tahoma"/>
              <a:cs typeface="Tahoma"/>
            </a:endParaRPr>
          </a:p>
          <a:p>
            <a:pPr marL="289560" marR="232410">
              <a:lnSpc>
                <a:spcPct val="102600"/>
              </a:lnSpc>
              <a:spcBef>
                <a:spcPts val="595"/>
              </a:spcBef>
            </a:pPr>
            <a:r>
              <a:rPr lang="en-US" sz="2400" spc="-50" dirty="0">
                <a:latin typeface="Tahoma"/>
                <a:cs typeface="Tahoma"/>
              </a:rPr>
              <a:t>Records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events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where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other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types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physical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controls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are </a:t>
            </a:r>
            <a:r>
              <a:rPr lang="en-US" sz="2400" spc="-25" dirty="0">
                <a:latin typeface="Tahoma"/>
                <a:cs typeface="Tahoma"/>
              </a:rPr>
              <a:t>impractical</a:t>
            </a:r>
            <a:r>
              <a:rPr lang="en-US" sz="2400" spc="-20" dirty="0">
                <a:latin typeface="Tahoma"/>
                <a:cs typeface="Tahoma"/>
              </a:rPr>
              <a:t> or </a:t>
            </a:r>
            <a:r>
              <a:rPr lang="en-US" sz="2400" spc="-10" dirty="0">
                <a:latin typeface="Tahoma"/>
                <a:cs typeface="Tahoma"/>
              </a:rPr>
              <a:t>incomplete</a:t>
            </a:r>
            <a:endParaRPr lang="en-US" sz="2400" dirty="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150"/>
              </a:spcBef>
            </a:pPr>
            <a:r>
              <a:rPr lang="en-US" sz="2400" dirty="0">
                <a:latin typeface="Tahoma"/>
                <a:cs typeface="Tahoma"/>
              </a:rPr>
              <a:t>May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use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cameras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with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video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recorders;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includes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closed-</a:t>
            </a: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circuit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television</a:t>
            </a:r>
            <a:r>
              <a:rPr lang="en-US" sz="2400" spc="9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(CCT)</a:t>
            </a:r>
            <a:r>
              <a:rPr lang="en-US" sz="2400" spc="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systems</a:t>
            </a:r>
            <a:endParaRPr lang="en-US" sz="24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185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Drawbacks:</a:t>
            </a:r>
            <a:endParaRPr lang="en-US" sz="2400" dirty="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475"/>
              </a:spcBef>
            </a:pPr>
            <a:r>
              <a:rPr lang="en-US" sz="1800" spc="-35" dirty="0">
                <a:latin typeface="Tahoma"/>
                <a:cs typeface="Tahoma"/>
              </a:rPr>
              <a:t>Reactive;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does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not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prevent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5" dirty="0">
                <a:latin typeface="Tahoma"/>
                <a:cs typeface="Tahoma"/>
              </a:rPr>
              <a:t>access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or </a:t>
            </a:r>
            <a:r>
              <a:rPr lang="en-US" sz="1800" spc="-30" dirty="0">
                <a:latin typeface="Tahoma"/>
                <a:cs typeface="Tahoma"/>
              </a:rPr>
              <a:t>prohibited</a:t>
            </a:r>
            <a:r>
              <a:rPr lang="en-US" sz="1800" spc="-10" dirty="0">
                <a:latin typeface="Tahoma"/>
                <a:cs typeface="Tahoma"/>
              </a:rPr>
              <a:t> activity</a:t>
            </a:r>
            <a:endParaRPr lang="en-US" sz="1800" dirty="0">
              <a:latin typeface="Tahoma"/>
              <a:cs typeface="Tahoma"/>
            </a:endParaRPr>
          </a:p>
          <a:p>
            <a:pPr marL="566420" marR="248920">
              <a:lnSpc>
                <a:spcPct val="100000"/>
              </a:lnSpc>
              <a:spcBef>
                <a:spcPts val="560"/>
              </a:spcBef>
            </a:pPr>
            <a:r>
              <a:rPr lang="en-US" sz="1800" spc="-35" dirty="0">
                <a:latin typeface="Tahoma"/>
                <a:cs typeface="Tahoma"/>
              </a:rPr>
              <a:t>Recordings </a:t>
            </a:r>
            <a:r>
              <a:rPr lang="en-US" sz="1800" spc="-20" dirty="0">
                <a:latin typeface="Tahoma"/>
                <a:cs typeface="Tahoma"/>
              </a:rPr>
              <a:t>often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are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not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monitored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in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real</a:t>
            </a:r>
            <a:r>
              <a:rPr lang="en-US" sz="1800" spc="-25" dirty="0">
                <a:latin typeface="Tahoma"/>
                <a:cs typeface="Tahoma"/>
              </a:rPr>
              <a:t> time;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must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be </a:t>
            </a:r>
            <a:r>
              <a:rPr lang="en-US" sz="1800" spc="-50" dirty="0">
                <a:latin typeface="Tahoma"/>
                <a:cs typeface="Tahoma"/>
              </a:rPr>
              <a:t>reviewed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to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have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30" dirty="0">
                <a:latin typeface="Tahoma"/>
                <a:cs typeface="Tahoma"/>
              </a:rPr>
              <a:t>any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value</a:t>
            </a:r>
            <a:endParaRPr lang="en-US" sz="1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4815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r>
              <a:rPr lang="en-US" sz="32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 Controls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308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Alarms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alarm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systems</a:t>
            </a:r>
            <a:endParaRPr lang="en-US" sz="24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Alarm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systems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notify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when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event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occurs</a:t>
            </a:r>
            <a:endParaRPr lang="en-US" sz="2400" dirty="0">
              <a:latin typeface="Tahoma"/>
              <a:cs typeface="Tahoma"/>
            </a:endParaRPr>
          </a:p>
          <a:p>
            <a:pPr marL="289560" marR="357505">
              <a:lnSpc>
                <a:spcPct val="102600"/>
              </a:lnSpc>
              <a:spcBef>
                <a:spcPts val="1150"/>
              </a:spcBef>
            </a:pPr>
            <a:r>
              <a:rPr lang="en-US" sz="2400" spc="-10" dirty="0">
                <a:latin typeface="Tahoma"/>
                <a:cs typeface="Tahoma"/>
              </a:rPr>
              <a:t>Detect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fire,</a:t>
            </a:r>
            <a:r>
              <a:rPr lang="en-US" sz="2400" spc="-30" dirty="0">
                <a:latin typeface="Tahoma"/>
                <a:cs typeface="Tahoma"/>
              </a:rPr>
              <a:t> intrusion,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environmental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disturbance,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or</a:t>
            </a:r>
            <a:r>
              <a:rPr lang="en-US" sz="2400" spc="-25" dirty="0">
                <a:latin typeface="Tahoma"/>
                <a:cs typeface="Tahoma"/>
              </a:rPr>
              <a:t> an interruption </a:t>
            </a:r>
            <a:r>
              <a:rPr lang="en-US" sz="2400" dirty="0">
                <a:latin typeface="Tahoma"/>
                <a:cs typeface="Tahoma"/>
              </a:rPr>
              <a:t>in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services.</a:t>
            </a:r>
            <a:endParaRPr lang="en-US" sz="2400" dirty="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Rely</a:t>
            </a:r>
            <a:r>
              <a:rPr lang="en-US" sz="2400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on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75" dirty="0">
                <a:solidFill>
                  <a:srgbClr val="0000FF"/>
                </a:solidFill>
                <a:latin typeface="Tahoma"/>
                <a:cs typeface="Tahoma"/>
              </a:rPr>
              <a:t>sensors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detect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event</a:t>
            </a:r>
            <a:r>
              <a:rPr lang="en-US" sz="2400" spc="-50" dirty="0">
                <a:latin typeface="Tahoma"/>
                <a:cs typeface="Tahoma"/>
              </a:rPr>
              <a:t>;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e.g.,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motion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detectors, </a:t>
            </a:r>
            <a:r>
              <a:rPr lang="en-US" sz="2400" spc="-60" dirty="0">
                <a:latin typeface="Tahoma"/>
                <a:cs typeface="Tahoma"/>
              </a:rPr>
              <a:t>smoke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detectors,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thermal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detectors,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glass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breakage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detectors, </a:t>
            </a:r>
            <a:r>
              <a:rPr lang="en-US" sz="2400" spc="-35" dirty="0">
                <a:latin typeface="Tahoma"/>
                <a:cs typeface="Tahoma"/>
              </a:rPr>
              <a:t>weight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70" dirty="0">
                <a:latin typeface="Tahoma"/>
                <a:cs typeface="Tahoma"/>
              </a:rPr>
              <a:t>sensors,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contact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70" dirty="0">
                <a:latin typeface="Tahoma"/>
                <a:cs typeface="Tahoma"/>
              </a:rPr>
              <a:t>sensors,</a:t>
            </a:r>
            <a:r>
              <a:rPr lang="en-US" sz="2400" spc="1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vibration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sensors.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2856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pc="-20" dirty="0"/>
              <a:t>Failure</a:t>
            </a:r>
            <a:r>
              <a:rPr lang="en-US" spc="-60" dirty="0"/>
              <a:t> </a:t>
            </a:r>
            <a:r>
              <a:rPr lang="en-US" dirty="0"/>
              <a:t>of</a:t>
            </a:r>
            <a:r>
              <a:rPr lang="en-US" spc="-55" dirty="0"/>
              <a:t> </a:t>
            </a:r>
            <a:r>
              <a:rPr lang="en-US" spc="-30" dirty="0"/>
              <a:t>Supporting</a:t>
            </a:r>
            <a:r>
              <a:rPr lang="en-US" spc="-60" dirty="0"/>
              <a:t> </a:t>
            </a:r>
            <a:r>
              <a:rPr lang="en-US" dirty="0"/>
              <a:t>Utilities</a:t>
            </a:r>
            <a:r>
              <a:rPr lang="en-US" spc="-55" dirty="0"/>
              <a:t> </a:t>
            </a:r>
            <a:r>
              <a:rPr lang="en-US" spc="-30" dirty="0"/>
              <a:t>and</a:t>
            </a:r>
            <a:r>
              <a:rPr lang="en-US" spc="-55" dirty="0"/>
              <a:t> </a:t>
            </a:r>
            <a:r>
              <a:rPr lang="en-US" spc="-10" dirty="0"/>
              <a:t>Structural</a:t>
            </a:r>
            <a:r>
              <a:rPr lang="en-US" spc="-60" dirty="0"/>
              <a:t> </a:t>
            </a:r>
            <a:r>
              <a:rPr lang="en-US" spc="-20" dirty="0"/>
              <a:t>Collapse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308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28575">
              <a:lnSpc>
                <a:spcPct val="102600"/>
              </a:lnSpc>
              <a:spcBef>
                <a:spcPts val="55"/>
              </a:spcBef>
            </a:pP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Supporting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utilities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(heating,</a:t>
            </a:r>
            <a:r>
              <a:rPr lang="en-US" sz="2400" spc="-25" dirty="0">
                <a:latin typeface="Tahoma"/>
                <a:cs typeface="Tahoma"/>
              </a:rPr>
              <a:t> ventilation,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air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conditioning; </a:t>
            </a:r>
            <a:r>
              <a:rPr lang="en-US" sz="2400" spc="-70" dirty="0">
                <a:latin typeface="Tahoma"/>
                <a:cs typeface="Tahoma"/>
              </a:rPr>
              <a:t>power;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water;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others)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have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significant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impact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on </a:t>
            </a:r>
            <a:r>
              <a:rPr lang="en-US" sz="2400" spc="-35" dirty="0">
                <a:latin typeface="Tahoma"/>
                <a:cs typeface="Tahoma"/>
              </a:rPr>
              <a:t>continued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safe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operation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facility</a:t>
            </a:r>
            <a:endParaRPr lang="en-US" sz="2400" dirty="0">
              <a:latin typeface="Tahoma"/>
              <a:cs typeface="Tahoma"/>
            </a:endParaRPr>
          </a:p>
          <a:p>
            <a:pPr marL="12700" marR="174625">
              <a:lnSpc>
                <a:spcPct val="102699"/>
              </a:lnSpc>
              <a:spcBef>
                <a:spcPts val="1150"/>
              </a:spcBef>
            </a:pPr>
            <a:r>
              <a:rPr lang="en-US" sz="2400" dirty="0">
                <a:latin typeface="Tahoma"/>
                <a:cs typeface="Tahoma"/>
              </a:rPr>
              <a:t>Each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utility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must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properly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managed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prevent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potential </a:t>
            </a:r>
            <a:r>
              <a:rPr lang="en-US" sz="2400" spc="-65" dirty="0">
                <a:latin typeface="Tahoma"/>
                <a:cs typeface="Tahoma"/>
              </a:rPr>
              <a:t>damage</a:t>
            </a:r>
            <a:r>
              <a:rPr lang="en-US" sz="2400" dirty="0">
                <a:latin typeface="Tahoma"/>
                <a:cs typeface="Tahoma"/>
              </a:rPr>
              <a:t> to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information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information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systems</a:t>
            </a:r>
            <a:endParaRPr lang="en-US" sz="24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30" dirty="0">
                <a:latin typeface="Tahoma"/>
                <a:cs typeface="Tahoma"/>
              </a:rPr>
              <a:t>Areas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within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heating,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ventilation,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air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conditioning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(HVAC) </a:t>
            </a:r>
            <a:r>
              <a:rPr lang="en-US" sz="2400" spc="-50" dirty="0">
                <a:latin typeface="Tahoma"/>
                <a:cs typeface="Tahoma"/>
              </a:rPr>
              <a:t>systems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that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can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cause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damage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information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systems </a:t>
            </a:r>
            <a:r>
              <a:rPr lang="en-US" sz="2400" spc="-30" dirty="0">
                <a:latin typeface="Tahoma"/>
                <a:cs typeface="Tahoma"/>
              </a:rPr>
              <a:t>include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temperature,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filtration,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humidity</a:t>
            </a:r>
            <a:r>
              <a:rPr lang="en-US" sz="2400" spc="-30" dirty="0">
                <a:latin typeface="Tahoma"/>
                <a:cs typeface="Tahoma"/>
              </a:rPr>
              <a:t>,</a:t>
            </a:r>
            <a:r>
              <a:rPr lang="en-US" sz="2400" spc="-35" dirty="0">
                <a:latin typeface="Tahoma"/>
                <a:cs typeface="Tahoma"/>
              </a:rPr>
              <a:t> and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static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electricity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69455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Maintenance</a:t>
            </a:r>
            <a:r>
              <a:rPr lang="en-US" sz="3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lang="en-US" sz="3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/>
                <a:cs typeface="Tahoma"/>
              </a:rPr>
              <a:t>Facility</a:t>
            </a:r>
            <a:r>
              <a:rPr lang="en-US" sz="3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227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0">
              <a:lnSpc>
                <a:spcPct val="102600"/>
              </a:lnSpc>
              <a:spcBef>
                <a:spcPts val="55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Physical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security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must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constantly</a:t>
            </a:r>
            <a:r>
              <a:rPr lang="en-US" sz="2400" spc="-45" dirty="0">
                <a:latin typeface="Tahoma"/>
                <a:cs typeface="Tahoma"/>
              </a:rPr>
              <a:t> documented,</a:t>
            </a:r>
            <a:r>
              <a:rPr lang="en-US" sz="2400" spc="-40" dirty="0">
                <a:latin typeface="Tahoma"/>
                <a:cs typeface="Tahoma"/>
              </a:rPr>
              <a:t> evaluated,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tested</a:t>
            </a:r>
            <a:endParaRPr lang="en-US" sz="24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Documentation</a:t>
            </a:r>
            <a:r>
              <a:rPr lang="en-US" sz="24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10" dirty="0">
                <a:latin typeface="Tahoma"/>
                <a:cs typeface="Tahoma"/>
              </a:rPr>
              <a:t> facility’s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configuration,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operation,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and function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should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be</a:t>
            </a:r>
            <a:r>
              <a:rPr lang="en-US" sz="2400" spc="-35" dirty="0">
                <a:latin typeface="Tahoma"/>
                <a:cs typeface="Tahoma"/>
              </a:rPr>
              <a:t> integrated </a:t>
            </a:r>
            <a:r>
              <a:rPr lang="en-US" sz="2400" dirty="0">
                <a:latin typeface="Tahoma"/>
                <a:cs typeface="Tahoma"/>
              </a:rPr>
              <a:t>into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disaster </a:t>
            </a:r>
            <a:r>
              <a:rPr lang="en-US" sz="2400" spc="-45" dirty="0">
                <a:latin typeface="Tahoma"/>
                <a:cs typeface="Tahoma"/>
              </a:rPr>
              <a:t>recovery</a:t>
            </a:r>
            <a:r>
              <a:rPr lang="en-US" sz="2400" spc="-35" dirty="0">
                <a:latin typeface="Tahoma"/>
                <a:cs typeface="Tahoma"/>
              </a:rPr>
              <a:t> plans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and </a:t>
            </a:r>
            <a:r>
              <a:rPr lang="en-US" sz="2400" spc="-35" dirty="0">
                <a:latin typeface="Tahoma"/>
                <a:cs typeface="Tahoma"/>
              </a:rPr>
              <a:t>operating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procedures</a:t>
            </a:r>
            <a:endParaRPr lang="en-US" sz="2400" dirty="0">
              <a:latin typeface="Tahoma"/>
              <a:cs typeface="Tahoma"/>
            </a:endParaRPr>
          </a:p>
          <a:p>
            <a:pPr marL="12700" marR="332740">
              <a:lnSpc>
                <a:spcPct val="102600"/>
              </a:lnSpc>
              <a:spcBef>
                <a:spcPts val="1150"/>
              </a:spcBef>
            </a:pP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Testing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helps </a:t>
            </a:r>
            <a:r>
              <a:rPr lang="en-US" sz="2400" spc="-45" dirty="0">
                <a:latin typeface="Tahoma"/>
                <a:cs typeface="Tahoma"/>
              </a:rPr>
              <a:t>improve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the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facility’s</a:t>
            </a:r>
            <a:r>
              <a:rPr lang="en-US" sz="2400" spc="-35" dirty="0">
                <a:latin typeface="Tahoma"/>
                <a:cs typeface="Tahoma"/>
              </a:rPr>
              <a:t> physical security </a:t>
            </a:r>
            <a:r>
              <a:rPr lang="en-US" sz="2400" spc="-25" dirty="0">
                <a:latin typeface="Tahoma"/>
                <a:cs typeface="Tahoma"/>
              </a:rPr>
              <a:t>and </a:t>
            </a:r>
            <a:r>
              <a:rPr lang="en-US" sz="2400" spc="-20" dirty="0">
                <a:latin typeface="Tahoma"/>
                <a:cs typeface="Tahoma"/>
              </a:rPr>
              <a:t>identify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weak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points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27577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Tahoma"/>
                <a:cs typeface="Tahoma"/>
              </a:rPr>
              <a:t>Mobile</a:t>
            </a:r>
            <a:r>
              <a:rPr lang="en-US" sz="3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lang="en-US" sz="3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/>
                <a:cs typeface="Tahoma"/>
              </a:rPr>
              <a:t>Portable</a:t>
            </a:r>
            <a:r>
              <a:rPr lang="en-US" sz="3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3120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lang="en-US" sz="2400" dirty="0">
                <a:latin typeface="Tahoma"/>
                <a:cs typeface="Tahoma"/>
              </a:rPr>
              <a:t>Many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mobile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computing</a:t>
            </a:r>
            <a:r>
              <a:rPr lang="en-US"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systems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(e.g.</a:t>
            </a:r>
            <a:r>
              <a:rPr lang="en-US" sz="2400" spc="6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laptops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handhelds) </a:t>
            </a:r>
            <a:r>
              <a:rPr lang="en-US" sz="2400" spc="-55" dirty="0">
                <a:latin typeface="Tahoma"/>
                <a:cs typeface="Tahoma"/>
              </a:rPr>
              <a:t>have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corporate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information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stored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within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them;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some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are </a:t>
            </a:r>
            <a:r>
              <a:rPr lang="en-US" sz="2400" spc="-45" dirty="0">
                <a:latin typeface="Tahoma"/>
                <a:cs typeface="Tahoma"/>
              </a:rPr>
              <a:t>configured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facilitate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user’s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access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into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organization’s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secure </a:t>
            </a:r>
            <a:r>
              <a:rPr lang="en-US" sz="2400" spc="-35" dirty="0">
                <a:latin typeface="Tahoma"/>
                <a:cs typeface="Tahoma"/>
              </a:rPr>
              <a:t>computing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facilities</a:t>
            </a:r>
            <a:r>
              <a:rPr lang="en-US" sz="2400" spc="-7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(i.e.</a:t>
            </a:r>
            <a:r>
              <a:rPr lang="en-US" sz="2400" spc="2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they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require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more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security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than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25" dirty="0">
                <a:latin typeface="Tahoma"/>
                <a:cs typeface="Tahoma"/>
              </a:rPr>
              <a:t>the </a:t>
            </a:r>
            <a:r>
              <a:rPr lang="en-US" sz="2400" spc="-60" dirty="0">
                <a:latin typeface="Tahoma"/>
                <a:cs typeface="Tahoma"/>
              </a:rPr>
              <a:t>average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in-</a:t>
            </a:r>
            <a:r>
              <a:rPr lang="en-US" sz="2400" spc="-55" dirty="0">
                <a:latin typeface="Tahoma"/>
                <a:cs typeface="Tahoma"/>
              </a:rPr>
              <a:t>house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system).</a:t>
            </a:r>
            <a:endParaRPr lang="en-US" sz="2400" dirty="0">
              <a:latin typeface="Tahoma"/>
              <a:cs typeface="Tahoma"/>
            </a:endParaRPr>
          </a:p>
          <a:p>
            <a:pPr marL="12700" marR="443230">
              <a:lnSpc>
                <a:spcPct val="102600"/>
              </a:lnSpc>
              <a:spcBef>
                <a:spcPts val="1150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Controls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support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security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and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retrieval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lost</a:t>
            </a:r>
            <a:r>
              <a:rPr lang="en-US" sz="2400" spc="-5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or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stolen </a:t>
            </a:r>
            <a:r>
              <a:rPr lang="en-US" sz="2400" spc="-10" dirty="0">
                <a:latin typeface="Tahoma"/>
                <a:cs typeface="Tahoma"/>
              </a:rPr>
              <a:t>laptops.</a:t>
            </a:r>
            <a:endParaRPr lang="en-US" sz="2400" dirty="0">
              <a:latin typeface="Tahoma"/>
              <a:cs typeface="Tahoma"/>
            </a:endParaRPr>
          </a:p>
          <a:p>
            <a:pPr marL="289560" marR="154305">
              <a:lnSpc>
                <a:spcPct val="100000"/>
              </a:lnSpc>
              <a:spcBef>
                <a:spcPts val="475"/>
              </a:spcBef>
            </a:pPr>
            <a:r>
              <a:rPr lang="en-US" sz="1800" spc="-35" dirty="0" err="1">
                <a:solidFill>
                  <a:srgbClr val="0000FF"/>
                </a:solidFill>
                <a:latin typeface="Tahoma"/>
                <a:cs typeface="Tahoma"/>
              </a:rPr>
              <a:t>CompuTrace</a:t>
            </a:r>
            <a:r>
              <a:rPr lang="en-US" sz="18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software,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stored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on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laptop;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reports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to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a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central </a:t>
            </a:r>
            <a:r>
              <a:rPr lang="en-US" sz="1800" spc="-30" dirty="0">
                <a:latin typeface="Tahoma"/>
                <a:cs typeface="Tahoma"/>
              </a:rPr>
              <a:t>monitoring</a:t>
            </a:r>
            <a:r>
              <a:rPr lang="en-US" sz="1800" spc="15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center</a:t>
            </a:r>
            <a:endParaRPr lang="en-US" sz="1800" dirty="0">
              <a:latin typeface="Tahoma"/>
              <a:cs typeface="Tahoma"/>
            </a:endParaRPr>
          </a:p>
          <a:p>
            <a:pPr marL="289560" marR="19685">
              <a:lnSpc>
                <a:spcPct val="100000"/>
              </a:lnSpc>
              <a:spcBef>
                <a:spcPts val="555"/>
              </a:spcBef>
            </a:pP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Burglar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45" dirty="0">
                <a:solidFill>
                  <a:srgbClr val="0000FF"/>
                </a:solidFill>
                <a:latin typeface="Tahoma"/>
                <a:cs typeface="Tahoma"/>
              </a:rPr>
              <a:t>alarms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made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up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of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a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55" dirty="0">
                <a:solidFill>
                  <a:srgbClr val="0000FF"/>
                </a:solidFill>
                <a:latin typeface="Tahoma"/>
                <a:cs typeface="Tahoma"/>
              </a:rPr>
              <a:t>PC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card </a:t>
            </a:r>
            <a:r>
              <a:rPr lang="en-US" sz="1800" dirty="0">
                <a:latin typeface="Tahoma"/>
                <a:cs typeface="Tahoma"/>
              </a:rPr>
              <a:t>that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contains </a:t>
            </a:r>
            <a:r>
              <a:rPr lang="en-US" sz="1800" dirty="0">
                <a:latin typeface="Tahoma"/>
                <a:cs typeface="Tahoma"/>
              </a:rPr>
              <a:t>a</a:t>
            </a:r>
            <a:r>
              <a:rPr lang="en-US" sz="1800" spc="-3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motion </a:t>
            </a:r>
            <a:r>
              <a:rPr lang="en-US" sz="1800" spc="-25" dirty="0">
                <a:latin typeface="Tahoma"/>
                <a:cs typeface="Tahoma"/>
              </a:rPr>
              <a:t>detector.</a:t>
            </a:r>
            <a:r>
              <a:rPr lang="en-US" sz="1800" spc="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If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35" dirty="0">
                <a:latin typeface="Tahoma"/>
                <a:cs typeface="Tahoma"/>
              </a:rPr>
              <a:t>device </a:t>
            </a:r>
            <a:r>
              <a:rPr lang="en-US" sz="1800" dirty="0">
                <a:latin typeface="Tahoma"/>
                <a:cs typeface="Tahoma"/>
              </a:rPr>
              <a:t>is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45" dirty="0">
                <a:latin typeface="Tahoma"/>
                <a:cs typeface="Tahoma"/>
              </a:rPr>
              <a:t>armed,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5" dirty="0">
                <a:latin typeface="Tahoma"/>
                <a:cs typeface="Tahoma"/>
              </a:rPr>
              <a:t>and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20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10" dirty="0">
                <a:latin typeface="Tahoma"/>
                <a:cs typeface="Tahoma"/>
              </a:rPr>
              <a:t>laptop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is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50" dirty="0">
                <a:latin typeface="Tahoma"/>
                <a:cs typeface="Tahoma"/>
              </a:rPr>
              <a:t>moved</a:t>
            </a:r>
            <a:r>
              <a:rPr lang="en-US" sz="1800" spc="-30" dirty="0">
                <a:latin typeface="Tahoma"/>
                <a:cs typeface="Tahoma"/>
              </a:rPr>
              <a:t> more </a:t>
            </a:r>
            <a:r>
              <a:rPr lang="en-US" sz="1800" spc="-20" dirty="0">
                <a:latin typeface="Tahoma"/>
                <a:cs typeface="Tahoma"/>
              </a:rPr>
              <a:t>than</a:t>
            </a:r>
            <a:r>
              <a:rPr lang="en-US" sz="1800" spc="-40" dirty="0">
                <a:latin typeface="Tahoma"/>
                <a:cs typeface="Tahoma"/>
              </a:rPr>
              <a:t> expected,</a:t>
            </a:r>
            <a:r>
              <a:rPr lang="en-US" sz="1800" spc="-35" dirty="0"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25" dirty="0">
                <a:solidFill>
                  <a:srgbClr val="0000FF"/>
                </a:solidFill>
                <a:latin typeface="Tahoma"/>
                <a:cs typeface="Tahoma"/>
              </a:rPr>
              <a:t>alarm</a:t>
            </a:r>
            <a:r>
              <a:rPr lang="en-US" sz="18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triggers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lang="en-US" sz="1800" spc="-40" dirty="0">
                <a:solidFill>
                  <a:srgbClr val="0000FF"/>
                </a:solidFill>
                <a:latin typeface="Tahoma"/>
                <a:cs typeface="Tahoma"/>
              </a:rPr>
              <a:t> very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loud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30" dirty="0">
                <a:solidFill>
                  <a:srgbClr val="0000FF"/>
                </a:solidFill>
                <a:latin typeface="Tahoma"/>
                <a:cs typeface="Tahoma"/>
              </a:rPr>
              <a:t>buzzer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10" dirty="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lang="en-US" sz="18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1800" spc="-20" dirty="0">
                <a:solidFill>
                  <a:srgbClr val="0000FF"/>
                </a:solidFill>
                <a:latin typeface="Tahoma"/>
                <a:cs typeface="Tahoma"/>
              </a:rPr>
              <a:t>horn</a:t>
            </a:r>
            <a:endParaRPr lang="en-US" sz="18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87533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3CD7F-736E-4AF7-AB2B-473CAA9E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EDA2F5-6B28-478B-9AC4-43FE41E2B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16907"/>
            <a:ext cx="12192000" cy="23740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2" y="4153113"/>
            <a:ext cx="9180747" cy="1248431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marL="12700">
              <a:lnSpc>
                <a:spcPct val="115000"/>
              </a:lnSpc>
            </a:pPr>
            <a:r>
              <a:rPr lang="en-US" sz="3800" b="0" cap="all"/>
              <a:t>Mobile and Portable Systems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1D712E-ABB9-4258-877D-9349C857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979202"/>
            <a:ext cx="1006766" cy="2249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528E56-1447-4C98-882B-CE262795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ject 42" descr="A person working on a computer&#10;&#10;Description automatically generated">
            <a:extLst>
              <a:ext uri="{FF2B5EF4-FFF2-40B4-BE49-F238E27FC236}">
                <a16:creationId xmlns:a16="http://schemas.microsoft.com/office/drawing/2014/main" id="{490404D9-D4A9-0486-171F-7098E5CFD6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5102" y="484632"/>
            <a:ext cx="8520570" cy="29917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20D9F-963F-E345-BCD5-5369FE4822A5}"/>
              </a:ext>
            </a:extLst>
          </p:cNvPr>
          <p:cNvSpPr txBox="1"/>
          <p:nvPr/>
        </p:nvSpPr>
        <p:spPr>
          <a:xfrm>
            <a:off x="3888858" y="354610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latin typeface="Calibri"/>
                <a:cs typeface="Calibri"/>
              </a:rPr>
              <a:t>Figure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9-6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Laptop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theft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deterrence</a:t>
            </a: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498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Remote</a:t>
            </a:r>
            <a:r>
              <a:rPr lang="en-US" sz="3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/>
                <a:cs typeface="Tahoma"/>
              </a:rPr>
              <a:t>Computing</a:t>
            </a:r>
            <a:r>
              <a:rPr lang="en-US" sz="3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endParaRPr lang="en-US" sz="3200" dirty="0">
              <a:latin typeface="Tahoma"/>
              <a:cs typeface="Tah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E141F-4AF1-43C5-A834-0B025F6B6C5D}"/>
              </a:ext>
            </a:extLst>
          </p:cNvPr>
          <p:cNvSpPr txBox="1"/>
          <p:nvPr/>
        </p:nvSpPr>
        <p:spPr>
          <a:xfrm>
            <a:off x="1462004" y="2402428"/>
            <a:ext cx="10160443" cy="317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Remote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site</a:t>
            </a:r>
            <a:r>
              <a:rPr lang="en-US" sz="24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computing:</a:t>
            </a:r>
            <a:r>
              <a:rPr lang="en-US" sz="24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75" dirty="0">
                <a:latin typeface="Tahoma"/>
                <a:cs typeface="Tahoma"/>
              </a:rPr>
              <a:t>away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from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organizational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facility</a:t>
            </a:r>
            <a:endParaRPr lang="en-US" sz="2400" dirty="0">
              <a:latin typeface="Tahoma"/>
              <a:cs typeface="Tahoma"/>
            </a:endParaRPr>
          </a:p>
          <a:p>
            <a:pPr marL="12700" marR="128270">
              <a:lnSpc>
                <a:spcPct val="102600"/>
              </a:lnSpc>
              <a:spcBef>
                <a:spcPts val="1150"/>
              </a:spcBef>
            </a:pP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Telecommuting:</a:t>
            </a:r>
            <a:r>
              <a:rPr lang="en-US" sz="24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computing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using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telecommunications </a:t>
            </a:r>
            <a:r>
              <a:rPr lang="en-US" sz="2400" spc="-30" dirty="0">
                <a:latin typeface="Tahoma"/>
                <a:cs typeface="Tahoma"/>
              </a:rPr>
              <a:t>including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Internet,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dial-</a:t>
            </a:r>
            <a:r>
              <a:rPr lang="en-US" sz="2400" spc="-10" dirty="0">
                <a:latin typeface="Tahoma"/>
                <a:cs typeface="Tahoma"/>
              </a:rPr>
              <a:t>up, </a:t>
            </a:r>
            <a:r>
              <a:rPr lang="en-US" sz="2400" spc="-20" dirty="0">
                <a:latin typeface="Tahoma"/>
                <a:cs typeface="Tahoma"/>
              </a:rPr>
              <a:t>or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leased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point-to-</a:t>
            </a:r>
            <a:r>
              <a:rPr lang="en-US" sz="2400" dirty="0">
                <a:latin typeface="Tahoma"/>
                <a:cs typeface="Tahoma"/>
              </a:rPr>
              <a:t>point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links</a:t>
            </a:r>
            <a:endParaRPr lang="en-US" sz="2400" dirty="0">
              <a:latin typeface="Tahoma"/>
              <a:cs typeface="Tahoma"/>
            </a:endParaRPr>
          </a:p>
          <a:p>
            <a:pPr marL="12700" marR="5080" algn="just">
              <a:lnSpc>
                <a:spcPct val="102600"/>
              </a:lnSpc>
              <a:spcBef>
                <a:spcPts val="1150"/>
              </a:spcBef>
            </a:pPr>
            <a:r>
              <a:rPr lang="en-US" sz="2400" spc="-50" dirty="0">
                <a:latin typeface="Tahoma"/>
                <a:cs typeface="Tahoma"/>
              </a:rPr>
              <a:t>Employees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may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65" dirty="0">
                <a:latin typeface="Tahoma"/>
                <a:cs typeface="Tahoma"/>
              </a:rPr>
              <a:t>need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access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5" dirty="0">
                <a:latin typeface="Tahoma"/>
                <a:cs typeface="Tahoma"/>
              </a:rPr>
              <a:t>networks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on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business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trips; </a:t>
            </a:r>
            <a:r>
              <a:rPr lang="en-US" sz="2400" spc="-45" dirty="0">
                <a:latin typeface="Tahoma"/>
                <a:cs typeface="Tahoma"/>
              </a:rPr>
              <a:t>telecommuters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need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access</a:t>
            </a:r>
            <a:r>
              <a:rPr lang="en-US" sz="2400" spc="-30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from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home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50" dirty="0">
                <a:latin typeface="Tahoma"/>
                <a:cs typeface="Tahoma"/>
              </a:rPr>
              <a:t>systems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20" dirty="0">
                <a:latin typeface="Tahoma"/>
                <a:cs typeface="Tahoma"/>
              </a:rPr>
              <a:t>or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spc="-30" dirty="0">
                <a:latin typeface="Tahoma"/>
                <a:cs typeface="Tahoma"/>
              </a:rPr>
              <a:t>satellite </a:t>
            </a:r>
            <a:r>
              <a:rPr lang="en-US" sz="2400" spc="-10" dirty="0">
                <a:latin typeface="Tahoma"/>
                <a:cs typeface="Tahoma"/>
              </a:rPr>
              <a:t>offices</a:t>
            </a:r>
            <a:endParaRPr lang="en-US" sz="2400" dirty="0">
              <a:latin typeface="Tahoma"/>
              <a:cs typeface="Tahoma"/>
            </a:endParaRPr>
          </a:p>
          <a:p>
            <a:pPr marL="12700" marR="168910">
              <a:lnSpc>
                <a:spcPct val="102600"/>
              </a:lnSpc>
              <a:spcBef>
                <a:spcPts val="1150"/>
              </a:spcBef>
            </a:pP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45" dirty="0">
                <a:latin typeface="Tahoma"/>
                <a:cs typeface="Tahoma"/>
              </a:rPr>
              <a:t>provide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60" dirty="0">
                <a:latin typeface="Tahoma"/>
                <a:cs typeface="Tahoma"/>
              </a:rPr>
              <a:t>secure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40" dirty="0">
                <a:latin typeface="Tahoma"/>
                <a:cs typeface="Tahoma"/>
              </a:rPr>
              <a:t>extension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of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35" dirty="0">
                <a:latin typeface="Tahoma"/>
                <a:cs typeface="Tahoma"/>
              </a:rPr>
              <a:t>organization’s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10" dirty="0">
                <a:latin typeface="Tahoma"/>
                <a:cs typeface="Tahoma"/>
              </a:rPr>
              <a:t>internal </a:t>
            </a:r>
            <a:r>
              <a:rPr lang="en-US" sz="2400" spc="-55" dirty="0">
                <a:latin typeface="Tahoma"/>
                <a:cs typeface="Tahoma"/>
              </a:rPr>
              <a:t>networks,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/>
                <a:cs typeface="Tahoma"/>
              </a:rPr>
              <a:t>all</a:t>
            </a: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external</a:t>
            </a:r>
            <a:r>
              <a:rPr lang="en-US" sz="24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/>
                <a:cs typeface="Tahoma"/>
              </a:rPr>
              <a:t>connections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lang="en-US" sz="24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/>
                <a:cs typeface="Tahoma"/>
              </a:rPr>
              <a:t>systems</a:t>
            </a:r>
            <a:r>
              <a:rPr lang="en-US" sz="24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/>
                <a:cs typeface="Tahoma"/>
              </a:rPr>
              <a:t>must </a:t>
            </a:r>
            <a:r>
              <a:rPr lang="en-US" sz="2400" spc="-35" dirty="0">
                <a:solidFill>
                  <a:srgbClr val="0000FF"/>
                </a:solidFill>
                <a:latin typeface="Tahoma"/>
                <a:cs typeface="Tahoma"/>
              </a:rPr>
              <a:t>be </a:t>
            </a:r>
            <a:r>
              <a:rPr lang="en-US" sz="2400" spc="-10" dirty="0">
                <a:solidFill>
                  <a:srgbClr val="0000FF"/>
                </a:solidFill>
                <a:latin typeface="Tahoma"/>
                <a:cs typeface="Tahoma"/>
              </a:rPr>
              <a:t>secured</a:t>
            </a:r>
            <a:endParaRPr lang="en-US"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9680626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{6757FCC7-689D-46DA-8597-F01DD36BC12F}tf56000440_win32</Template>
  <TotalTime>658</TotalTime>
  <Words>904</Words>
  <Application>Microsoft Office PowerPoint</Application>
  <PresentationFormat>Widescreen</PresentationFormat>
  <Paragraphs>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Meiryo</vt:lpstr>
      <vt:lpstr>Arial</vt:lpstr>
      <vt:lpstr>Calibri</vt:lpstr>
      <vt:lpstr>Corbel</vt:lpstr>
      <vt:lpstr>Tahoma</vt:lpstr>
      <vt:lpstr>Wingdings</vt:lpstr>
      <vt:lpstr>ShojiVTI</vt:lpstr>
      <vt:lpstr>Physical Security</vt:lpstr>
      <vt:lpstr>Agenda</vt:lpstr>
      <vt:lpstr>Introduction</vt:lpstr>
      <vt:lpstr>Physical Access Controls</vt:lpstr>
      <vt:lpstr>Physical Security Controls</vt:lpstr>
      <vt:lpstr>Physical Security Controls</vt:lpstr>
      <vt:lpstr>Physical Security Controls</vt:lpstr>
      <vt:lpstr>Physical Security Controls</vt:lpstr>
      <vt:lpstr>Physical Security Controls</vt:lpstr>
      <vt:lpstr>Physical Security Controls</vt:lpstr>
      <vt:lpstr>Physical Security Controls</vt:lpstr>
      <vt:lpstr>Physical Security Controls</vt:lpstr>
      <vt:lpstr>Failure of Supporting Utilities and Structural Collapse</vt:lpstr>
      <vt:lpstr>Maintenance of Facility Systems</vt:lpstr>
      <vt:lpstr>Mobile and Portable Systems</vt:lpstr>
      <vt:lpstr>Mobile and Portable Systems</vt:lpstr>
      <vt:lpstr>Remote Computing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Security</dc:title>
  <dc:creator>Momina Mir</dc:creator>
  <cp:lastModifiedBy>Momina Mir</cp:lastModifiedBy>
  <cp:revision>3</cp:revision>
  <dcterms:created xsi:type="dcterms:W3CDTF">2024-06-02T16:45:45Z</dcterms:created>
  <dcterms:modified xsi:type="dcterms:W3CDTF">2024-06-03T08:22:51Z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