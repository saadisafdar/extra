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8"/>
  </p:notesMasterIdLst>
  <p:sldIdLst>
    <p:sldId id="875" r:id="rId4"/>
    <p:sldId id="789" r:id="rId5"/>
    <p:sldId id="825" r:id="rId6"/>
    <p:sldId id="257" r:id="rId7"/>
    <p:sldId id="258" r:id="rId8"/>
    <p:sldId id="867" r:id="rId9"/>
    <p:sldId id="259" r:id="rId10"/>
    <p:sldId id="869" r:id="rId11"/>
    <p:sldId id="872" r:id="rId12"/>
    <p:sldId id="870" r:id="rId13"/>
    <p:sldId id="843" r:id="rId14"/>
    <p:sldId id="868" r:id="rId15"/>
    <p:sldId id="871" r:id="rId16"/>
    <p:sldId id="873" r:id="rId17"/>
    <p:sldId id="874" r:id="rId18"/>
    <p:sldId id="857" r:id="rId19"/>
    <p:sldId id="262" r:id="rId20"/>
    <p:sldId id="855" r:id="rId21"/>
    <p:sldId id="864" r:id="rId22"/>
    <p:sldId id="865" r:id="rId23"/>
    <p:sldId id="866" r:id="rId24"/>
    <p:sldId id="851" r:id="rId25"/>
    <p:sldId id="862" r:id="rId26"/>
    <p:sldId id="858" r:id="rId27"/>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8105" autoAdjust="0"/>
  </p:normalViewPr>
  <p:slideViewPr>
    <p:cSldViewPr snapToGrid="0">
      <p:cViewPr varScale="1">
        <p:scale>
          <a:sx n="72" d="100"/>
          <a:sy n="72"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B301F5-07A3-4FE4-976C-CA4952C4C1A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003EBE85-61C3-4A8C-B096-20383EA35C46}">
      <dgm:prSet custT="1"/>
      <dgm:spPr/>
      <dgm:t>
        <a:bodyPr/>
        <a:lstStyle/>
        <a:p>
          <a:r>
            <a:rPr lang="en-US" sz="3600" dirty="0"/>
            <a:t>This week lecture will cover the following CLO’s:</a:t>
          </a:r>
        </a:p>
      </dgm:t>
    </dgm:pt>
    <dgm:pt modelId="{CA4AA996-65FD-4B8F-BBE0-A906A9E5220E}" type="parTrans" cxnId="{BCEEB6D3-EFBE-4684-AF7C-3A02210BE3D9}">
      <dgm:prSet/>
      <dgm:spPr/>
      <dgm:t>
        <a:bodyPr/>
        <a:lstStyle/>
        <a:p>
          <a:endParaRPr lang="en-US"/>
        </a:p>
      </dgm:t>
    </dgm:pt>
    <dgm:pt modelId="{793489B5-9C5E-4E77-A6F3-2F6B2B3AEB5A}" type="sibTrans" cxnId="{BCEEB6D3-EFBE-4684-AF7C-3A02210BE3D9}">
      <dgm:prSet/>
      <dgm:spPr/>
      <dgm:t>
        <a:bodyPr/>
        <a:lstStyle/>
        <a:p>
          <a:endParaRPr lang="en-US"/>
        </a:p>
      </dgm:t>
    </dgm:pt>
    <dgm:pt modelId="{0F6BED61-37A6-4265-9765-7643A715CD2C}">
      <dgm:prSet custT="1"/>
      <dgm:spPr/>
      <dgm:t>
        <a:bodyPr/>
        <a:lstStyle/>
        <a:p>
          <a:pPr algn="just"/>
          <a:r>
            <a:rPr lang="en-US" sz="3200" b="1" dirty="0"/>
            <a:t>CLO1: </a:t>
          </a:r>
          <a:r>
            <a:rPr lang="en-US" sz="3200" b="0" dirty="0"/>
            <a:t>Discuss the key concepts in the field of artificial intelligence</a:t>
          </a:r>
          <a:endParaRPr lang="en-US" sz="3200" dirty="0"/>
        </a:p>
      </dgm:t>
    </dgm:pt>
    <dgm:pt modelId="{CE80463D-0B4E-4616-A7D3-FCA563D7C095}" type="parTrans" cxnId="{D4C01C85-8389-4770-954C-640B9194FA32}">
      <dgm:prSet/>
      <dgm:spPr/>
      <dgm:t>
        <a:bodyPr/>
        <a:lstStyle/>
        <a:p>
          <a:endParaRPr lang="en-US"/>
        </a:p>
      </dgm:t>
    </dgm:pt>
    <dgm:pt modelId="{991B6CDF-473C-43F2-B07A-CB69C404667A}" type="sibTrans" cxnId="{D4C01C85-8389-4770-954C-640B9194FA32}">
      <dgm:prSet/>
      <dgm:spPr/>
      <dgm:t>
        <a:bodyPr/>
        <a:lstStyle/>
        <a:p>
          <a:endParaRPr lang="en-US"/>
        </a:p>
      </dgm:t>
    </dgm:pt>
    <dgm:pt modelId="{1E8486E2-0691-4247-B9C3-FCB6AD71DA77}" type="pres">
      <dgm:prSet presAssocID="{87B301F5-07A3-4FE4-976C-CA4952C4C1A1}" presName="linear" presStyleCnt="0">
        <dgm:presLayoutVars>
          <dgm:animLvl val="lvl"/>
          <dgm:resizeHandles val="exact"/>
        </dgm:presLayoutVars>
      </dgm:prSet>
      <dgm:spPr/>
    </dgm:pt>
    <dgm:pt modelId="{CBC7B95D-FC8B-44BC-816F-8FC732EF125D}" type="pres">
      <dgm:prSet presAssocID="{003EBE85-61C3-4A8C-B096-20383EA35C46}" presName="parentText" presStyleLbl="node1" presStyleIdx="0" presStyleCnt="1">
        <dgm:presLayoutVars>
          <dgm:chMax val="0"/>
          <dgm:bulletEnabled val="1"/>
        </dgm:presLayoutVars>
      </dgm:prSet>
      <dgm:spPr/>
    </dgm:pt>
    <dgm:pt modelId="{A025C2BC-3DF5-4B12-A043-E15E948A1F98}" type="pres">
      <dgm:prSet presAssocID="{003EBE85-61C3-4A8C-B096-20383EA35C46}" presName="childText" presStyleLbl="revTx" presStyleIdx="0" presStyleCnt="1">
        <dgm:presLayoutVars>
          <dgm:bulletEnabled val="1"/>
        </dgm:presLayoutVars>
      </dgm:prSet>
      <dgm:spPr/>
    </dgm:pt>
  </dgm:ptLst>
  <dgm:cxnLst>
    <dgm:cxn modelId="{0BF05139-1E12-4DCD-98EF-7B0DABA33B58}" type="presOf" srcId="{87B301F5-07A3-4FE4-976C-CA4952C4C1A1}" destId="{1E8486E2-0691-4247-B9C3-FCB6AD71DA77}" srcOrd="0" destOrd="0" presId="urn:microsoft.com/office/officeart/2005/8/layout/vList2"/>
    <dgm:cxn modelId="{F6F4E43C-9CB5-4911-A20A-B55E9CCF2C4F}" type="presOf" srcId="{003EBE85-61C3-4A8C-B096-20383EA35C46}" destId="{CBC7B95D-FC8B-44BC-816F-8FC732EF125D}" srcOrd="0" destOrd="0" presId="urn:microsoft.com/office/officeart/2005/8/layout/vList2"/>
    <dgm:cxn modelId="{D4C01C85-8389-4770-954C-640B9194FA32}" srcId="{003EBE85-61C3-4A8C-B096-20383EA35C46}" destId="{0F6BED61-37A6-4265-9765-7643A715CD2C}" srcOrd="0" destOrd="0" parTransId="{CE80463D-0B4E-4616-A7D3-FCA563D7C095}" sibTransId="{991B6CDF-473C-43F2-B07A-CB69C404667A}"/>
    <dgm:cxn modelId="{8F12479A-C069-4E0A-BB1E-B76D7E4A0CF5}" type="presOf" srcId="{0F6BED61-37A6-4265-9765-7643A715CD2C}" destId="{A025C2BC-3DF5-4B12-A043-E15E948A1F98}" srcOrd="0" destOrd="0" presId="urn:microsoft.com/office/officeart/2005/8/layout/vList2"/>
    <dgm:cxn modelId="{BCEEB6D3-EFBE-4684-AF7C-3A02210BE3D9}" srcId="{87B301F5-07A3-4FE4-976C-CA4952C4C1A1}" destId="{003EBE85-61C3-4A8C-B096-20383EA35C46}" srcOrd="0" destOrd="0" parTransId="{CA4AA996-65FD-4B8F-BBE0-A906A9E5220E}" sibTransId="{793489B5-9C5E-4E77-A6F3-2F6B2B3AEB5A}"/>
    <dgm:cxn modelId="{2897C92D-7832-425B-A7AE-4DE3AFB3DBD0}" type="presParOf" srcId="{1E8486E2-0691-4247-B9C3-FCB6AD71DA77}" destId="{CBC7B95D-FC8B-44BC-816F-8FC732EF125D}" srcOrd="0" destOrd="0" presId="urn:microsoft.com/office/officeart/2005/8/layout/vList2"/>
    <dgm:cxn modelId="{C49B8052-8CF3-4FDC-B7CA-CCA691C86E81}" type="presParOf" srcId="{1E8486E2-0691-4247-B9C3-FCB6AD71DA77}" destId="{A025C2BC-3DF5-4B12-A043-E15E948A1F9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BAFF19-3AEA-4097-8AAE-B0E8391780F7}"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0C1BEE06-F90E-4F09-93B1-D550B806CA6C}">
      <dgm:prSet custT="1"/>
      <dgm:spPr/>
      <dgm:t>
        <a:bodyPr/>
        <a:lstStyle/>
        <a:p>
          <a:r>
            <a:rPr lang="en-GB" sz="2400" b="1" dirty="0"/>
            <a:t>CLO 1:</a:t>
          </a:r>
          <a:endParaRPr lang="en-US" sz="2400" dirty="0"/>
        </a:p>
      </dgm:t>
    </dgm:pt>
    <dgm:pt modelId="{1C6E13D2-05A4-4EA5-B0FB-6A1163A05D3F}" type="parTrans" cxnId="{EDA5AD18-5AD5-44AA-855C-93782C77F351}">
      <dgm:prSet/>
      <dgm:spPr/>
      <dgm:t>
        <a:bodyPr/>
        <a:lstStyle/>
        <a:p>
          <a:endParaRPr lang="en-US"/>
        </a:p>
      </dgm:t>
    </dgm:pt>
    <dgm:pt modelId="{31DBE3B1-489D-4A12-8CA6-D49A4738C6DE}" type="sibTrans" cxnId="{EDA5AD18-5AD5-44AA-855C-93782C77F351}">
      <dgm:prSet/>
      <dgm:spPr/>
      <dgm:t>
        <a:bodyPr/>
        <a:lstStyle/>
        <a:p>
          <a:endParaRPr lang="en-US"/>
        </a:p>
      </dgm:t>
    </dgm:pt>
    <dgm:pt modelId="{2B5DA1EB-E771-49A5-867E-D9665D475071}">
      <dgm:prSet custT="1"/>
      <dgm:spPr/>
      <dgm:t>
        <a:bodyPr/>
        <a:lstStyle/>
        <a:p>
          <a:r>
            <a:rPr lang="en-GB" sz="2400" dirty="0"/>
            <a:t>Introduction to </a:t>
          </a:r>
          <a:r>
            <a:rPr lang="en-GB" sz="2400"/>
            <a:t>Neural Networks</a:t>
          </a:r>
          <a:endParaRPr lang="en-US" sz="2400" b="0" dirty="0">
            <a:solidFill>
              <a:schemeClr val="tx1"/>
            </a:solidFill>
          </a:endParaRPr>
        </a:p>
      </dgm:t>
    </dgm:pt>
    <dgm:pt modelId="{DD750D13-57AD-4795-8AF1-C66AB423D0AD}" type="parTrans" cxnId="{710F3773-380C-452A-B8E5-ACE531C1737D}">
      <dgm:prSet/>
      <dgm:spPr/>
      <dgm:t>
        <a:bodyPr/>
        <a:lstStyle/>
        <a:p>
          <a:endParaRPr lang="en-US"/>
        </a:p>
      </dgm:t>
    </dgm:pt>
    <dgm:pt modelId="{448BFBFD-9308-4A33-BEA8-5A2FB6BB745D}" type="sibTrans" cxnId="{710F3773-380C-452A-B8E5-ACE531C1737D}">
      <dgm:prSet/>
      <dgm:spPr/>
      <dgm:t>
        <a:bodyPr/>
        <a:lstStyle/>
        <a:p>
          <a:endParaRPr lang="en-US"/>
        </a:p>
      </dgm:t>
    </dgm:pt>
    <dgm:pt modelId="{D834BA1F-3574-4DD1-BA2B-1AFDA1B9DFB4}" type="pres">
      <dgm:prSet presAssocID="{1ABAFF19-3AEA-4097-8AAE-B0E8391780F7}" presName="linear" presStyleCnt="0">
        <dgm:presLayoutVars>
          <dgm:dir/>
          <dgm:animLvl val="lvl"/>
          <dgm:resizeHandles val="exact"/>
        </dgm:presLayoutVars>
      </dgm:prSet>
      <dgm:spPr/>
    </dgm:pt>
    <dgm:pt modelId="{698E3174-0318-4F94-9674-373830A430B0}" type="pres">
      <dgm:prSet presAssocID="{0C1BEE06-F90E-4F09-93B1-D550B806CA6C}" presName="parentLin" presStyleCnt="0"/>
      <dgm:spPr/>
    </dgm:pt>
    <dgm:pt modelId="{3A3AD406-9F02-4B7C-A576-31CAD64141FB}" type="pres">
      <dgm:prSet presAssocID="{0C1BEE06-F90E-4F09-93B1-D550B806CA6C}" presName="parentLeftMargin" presStyleLbl="node1" presStyleIdx="0" presStyleCnt="1"/>
      <dgm:spPr/>
    </dgm:pt>
    <dgm:pt modelId="{49E13C96-EE4B-48D1-8768-AE8ECE07E331}" type="pres">
      <dgm:prSet presAssocID="{0C1BEE06-F90E-4F09-93B1-D550B806CA6C}" presName="parentText" presStyleLbl="node1" presStyleIdx="0" presStyleCnt="1" custScaleY="32103">
        <dgm:presLayoutVars>
          <dgm:chMax val="0"/>
          <dgm:bulletEnabled val="1"/>
        </dgm:presLayoutVars>
      </dgm:prSet>
      <dgm:spPr/>
    </dgm:pt>
    <dgm:pt modelId="{0A19CEC3-B103-4F3A-9B3C-FE1A70884031}" type="pres">
      <dgm:prSet presAssocID="{0C1BEE06-F90E-4F09-93B1-D550B806CA6C}" presName="negativeSpace" presStyleCnt="0"/>
      <dgm:spPr/>
    </dgm:pt>
    <dgm:pt modelId="{2A8F8C97-D792-4E29-9ADB-A33A1728580F}" type="pres">
      <dgm:prSet presAssocID="{0C1BEE06-F90E-4F09-93B1-D550B806CA6C}" presName="childText" presStyleLbl="conFgAcc1" presStyleIdx="0" presStyleCnt="1" custLinFactNeighborX="-6264" custLinFactNeighborY="-8958">
        <dgm:presLayoutVars>
          <dgm:bulletEnabled val="1"/>
        </dgm:presLayoutVars>
      </dgm:prSet>
      <dgm:spPr/>
    </dgm:pt>
  </dgm:ptLst>
  <dgm:cxnLst>
    <dgm:cxn modelId="{EDA5AD18-5AD5-44AA-855C-93782C77F351}" srcId="{1ABAFF19-3AEA-4097-8AAE-B0E8391780F7}" destId="{0C1BEE06-F90E-4F09-93B1-D550B806CA6C}" srcOrd="0" destOrd="0" parTransId="{1C6E13D2-05A4-4EA5-B0FB-6A1163A05D3F}" sibTransId="{31DBE3B1-489D-4A12-8CA6-D49A4738C6DE}"/>
    <dgm:cxn modelId="{51F1EF38-B93F-42C4-8499-9FA3E48A4234}" type="presOf" srcId="{2B5DA1EB-E771-49A5-867E-D9665D475071}" destId="{2A8F8C97-D792-4E29-9ADB-A33A1728580F}" srcOrd="0" destOrd="0" presId="urn:microsoft.com/office/officeart/2005/8/layout/list1"/>
    <dgm:cxn modelId="{710F3773-380C-452A-B8E5-ACE531C1737D}" srcId="{0C1BEE06-F90E-4F09-93B1-D550B806CA6C}" destId="{2B5DA1EB-E771-49A5-867E-D9665D475071}" srcOrd="0" destOrd="0" parTransId="{DD750D13-57AD-4795-8AF1-C66AB423D0AD}" sibTransId="{448BFBFD-9308-4A33-BEA8-5A2FB6BB745D}"/>
    <dgm:cxn modelId="{B0A9B776-35AF-48D4-BFF4-277D6353C2FC}" type="presOf" srcId="{0C1BEE06-F90E-4F09-93B1-D550B806CA6C}" destId="{3A3AD406-9F02-4B7C-A576-31CAD64141FB}" srcOrd="0" destOrd="0" presId="urn:microsoft.com/office/officeart/2005/8/layout/list1"/>
    <dgm:cxn modelId="{C58C6D8D-0F6A-41DE-BE99-C70A31B35699}" type="presOf" srcId="{1ABAFF19-3AEA-4097-8AAE-B0E8391780F7}" destId="{D834BA1F-3574-4DD1-BA2B-1AFDA1B9DFB4}" srcOrd="0" destOrd="0" presId="urn:microsoft.com/office/officeart/2005/8/layout/list1"/>
    <dgm:cxn modelId="{18CD7FB9-3224-4608-80A8-03227FC84AEF}" type="presOf" srcId="{0C1BEE06-F90E-4F09-93B1-D550B806CA6C}" destId="{49E13C96-EE4B-48D1-8768-AE8ECE07E331}" srcOrd="1" destOrd="0" presId="urn:microsoft.com/office/officeart/2005/8/layout/list1"/>
    <dgm:cxn modelId="{D16F14BC-919C-407D-9F91-3E9A927135BB}" type="presParOf" srcId="{D834BA1F-3574-4DD1-BA2B-1AFDA1B9DFB4}" destId="{698E3174-0318-4F94-9674-373830A430B0}" srcOrd="0" destOrd="0" presId="urn:microsoft.com/office/officeart/2005/8/layout/list1"/>
    <dgm:cxn modelId="{B62856A7-083E-400F-9694-9EB44D3B7BC0}" type="presParOf" srcId="{698E3174-0318-4F94-9674-373830A430B0}" destId="{3A3AD406-9F02-4B7C-A576-31CAD64141FB}" srcOrd="0" destOrd="0" presId="urn:microsoft.com/office/officeart/2005/8/layout/list1"/>
    <dgm:cxn modelId="{32A0C464-B9F5-4E90-AC51-22A63AD2C577}" type="presParOf" srcId="{698E3174-0318-4F94-9674-373830A430B0}" destId="{49E13C96-EE4B-48D1-8768-AE8ECE07E331}" srcOrd="1" destOrd="0" presId="urn:microsoft.com/office/officeart/2005/8/layout/list1"/>
    <dgm:cxn modelId="{5E5B1DDA-3810-44FD-8183-E6F7B748D5C5}" type="presParOf" srcId="{D834BA1F-3574-4DD1-BA2B-1AFDA1B9DFB4}" destId="{0A19CEC3-B103-4F3A-9B3C-FE1A70884031}" srcOrd="1" destOrd="0" presId="urn:microsoft.com/office/officeart/2005/8/layout/list1"/>
    <dgm:cxn modelId="{033ED4DB-9E6E-436F-8018-68F8CC396992}" type="presParOf" srcId="{D834BA1F-3574-4DD1-BA2B-1AFDA1B9DFB4}" destId="{2A8F8C97-D792-4E29-9ADB-A33A1728580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C7B95D-FC8B-44BC-816F-8FC732EF125D}">
      <dsp:nvSpPr>
        <dsp:cNvPr id="0" name=""/>
        <dsp:cNvSpPr/>
      </dsp:nvSpPr>
      <dsp:spPr>
        <a:xfrm>
          <a:off x="0" y="1257142"/>
          <a:ext cx="5918184" cy="144494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kern="1200" dirty="0"/>
            <a:t>This week lecture will cover the following CLO’s:</a:t>
          </a:r>
        </a:p>
      </dsp:txBody>
      <dsp:txXfrm>
        <a:off x="70537" y="1327679"/>
        <a:ext cx="5777110" cy="1303875"/>
      </dsp:txXfrm>
    </dsp:sp>
    <dsp:sp modelId="{A025C2BC-3DF5-4B12-A043-E15E948A1F98}">
      <dsp:nvSpPr>
        <dsp:cNvPr id="0" name=""/>
        <dsp:cNvSpPr/>
      </dsp:nvSpPr>
      <dsp:spPr>
        <a:xfrm>
          <a:off x="0" y="2702092"/>
          <a:ext cx="5918184"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7902" tIns="40640" rIns="227584" bIns="40640" numCol="1" spcCol="1270" anchor="t" anchorCtr="0">
          <a:noAutofit/>
        </a:bodyPr>
        <a:lstStyle/>
        <a:p>
          <a:pPr marL="285750" lvl="1" indent="-285750" algn="just" defTabSz="1422400">
            <a:lnSpc>
              <a:spcPct val="90000"/>
            </a:lnSpc>
            <a:spcBef>
              <a:spcPct val="0"/>
            </a:spcBef>
            <a:spcAft>
              <a:spcPct val="20000"/>
            </a:spcAft>
            <a:buChar char="•"/>
          </a:pPr>
          <a:r>
            <a:rPr lang="en-US" sz="3200" b="1" kern="1200" dirty="0"/>
            <a:t>CLO1: </a:t>
          </a:r>
          <a:r>
            <a:rPr lang="en-US" sz="3200" b="0" kern="1200" dirty="0"/>
            <a:t>Discuss the key concepts in the field of artificial intelligence</a:t>
          </a:r>
          <a:endParaRPr lang="en-US" sz="3200" kern="1200" dirty="0"/>
        </a:p>
      </dsp:txBody>
      <dsp:txXfrm>
        <a:off x="0" y="2702092"/>
        <a:ext cx="5918184" cy="14464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8F8C97-D792-4E29-9ADB-A33A1728580F}">
      <dsp:nvSpPr>
        <dsp:cNvPr id="0" name=""/>
        <dsp:cNvSpPr/>
      </dsp:nvSpPr>
      <dsp:spPr>
        <a:xfrm>
          <a:off x="0" y="2111882"/>
          <a:ext cx="6666833" cy="1893937"/>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1353820" rIns="517420" bIns="170688" numCol="1" spcCol="1270" anchor="t" anchorCtr="0">
          <a:noAutofit/>
        </a:bodyPr>
        <a:lstStyle/>
        <a:p>
          <a:pPr marL="228600" lvl="1" indent="-228600" algn="l" defTabSz="1066800">
            <a:lnSpc>
              <a:spcPct val="90000"/>
            </a:lnSpc>
            <a:spcBef>
              <a:spcPct val="0"/>
            </a:spcBef>
            <a:spcAft>
              <a:spcPct val="15000"/>
            </a:spcAft>
            <a:buChar char="•"/>
          </a:pPr>
          <a:r>
            <a:rPr lang="en-GB" sz="2400" kern="1200" dirty="0"/>
            <a:t>Introduction to </a:t>
          </a:r>
          <a:r>
            <a:rPr lang="en-GB" sz="2400" kern="1200"/>
            <a:t>Neural Networks</a:t>
          </a:r>
          <a:endParaRPr lang="en-US" sz="2400" b="0" kern="1200" dirty="0">
            <a:solidFill>
              <a:schemeClr val="tx1"/>
            </a:solidFill>
          </a:endParaRPr>
        </a:p>
      </dsp:txBody>
      <dsp:txXfrm>
        <a:off x="0" y="2111882"/>
        <a:ext cx="6666833" cy="1893937"/>
      </dsp:txXfrm>
    </dsp:sp>
    <dsp:sp modelId="{49E13C96-EE4B-48D1-8768-AE8ECE07E331}">
      <dsp:nvSpPr>
        <dsp:cNvPr id="0" name=""/>
        <dsp:cNvSpPr/>
      </dsp:nvSpPr>
      <dsp:spPr>
        <a:xfrm>
          <a:off x="333341" y="2541233"/>
          <a:ext cx="4666783" cy="615992"/>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1066800">
            <a:lnSpc>
              <a:spcPct val="90000"/>
            </a:lnSpc>
            <a:spcBef>
              <a:spcPct val="0"/>
            </a:spcBef>
            <a:spcAft>
              <a:spcPct val="35000"/>
            </a:spcAft>
            <a:buNone/>
          </a:pPr>
          <a:r>
            <a:rPr lang="en-GB" sz="2400" b="1" kern="1200" dirty="0"/>
            <a:t>CLO 1:</a:t>
          </a:r>
          <a:endParaRPr lang="en-US" sz="2400" kern="1200" dirty="0"/>
        </a:p>
      </dsp:txBody>
      <dsp:txXfrm>
        <a:off x="363411" y="2571303"/>
        <a:ext cx="4606643" cy="55585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22099-AF8A-4701-B810-968115DD4CD5}" type="datetimeFigureOut">
              <a:rPr lang="en-PK" smtClean="0"/>
              <a:t>02/11/2026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22CE8F-AF87-4DC9-8931-B46FD2A57B7E}" type="slidenum">
              <a:rPr lang="en-PK" smtClean="0"/>
              <a:t>‹#›</a:t>
            </a:fld>
            <a:endParaRPr lang="en-PK"/>
          </a:p>
        </p:txBody>
      </p:sp>
    </p:spTree>
    <p:extLst>
      <p:ext uri="{BB962C8B-B14F-4D97-AF65-F5344CB8AC3E}">
        <p14:creationId xmlns:p14="http://schemas.microsoft.com/office/powerpoint/2010/main" val="37885244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geeksforgeeks.org/machine-learning/backpropagation-in-neural-network/"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3</a:t>
            </a:fld>
            <a:endParaRPr lang="en-PK"/>
          </a:p>
        </p:txBody>
      </p:sp>
    </p:spTree>
    <p:extLst>
      <p:ext uri="{BB962C8B-B14F-4D97-AF65-F5344CB8AC3E}">
        <p14:creationId xmlns:p14="http://schemas.microsoft.com/office/powerpoint/2010/main" val="3833762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5</a:t>
            </a:fld>
            <a:endParaRPr lang="en-PK"/>
          </a:p>
        </p:txBody>
      </p:sp>
    </p:spTree>
    <p:extLst>
      <p:ext uri="{BB962C8B-B14F-4D97-AF65-F5344CB8AC3E}">
        <p14:creationId xmlns:p14="http://schemas.microsoft.com/office/powerpoint/2010/main" val="443391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A22CE8F-AF87-4DC9-8931-B46FD2A57B7E}" type="slidenum">
              <a:rPr lang="en-PK" smtClean="0"/>
              <a:t>11</a:t>
            </a:fld>
            <a:endParaRPr lang="en-PK"/>
          </a:p>
        </p:txBody>
      </p:sp>
    </p:spTree>
    <p:extLst>
      <p:ext uri="{BB962C8B-B14F-4D97-AF65-F5344CB8AC3E}">
        <p14:creationId xmlns:p14="http://schemas.microsoft.com/office/powerpoint/2010/main" val="845799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https://youtu.be/R2AXVUwBh7A</a:t>
            </a:r>
          </a:p>
        </p:txBody>
      </p:sp>
      <p:sp>
        <p:nvSpPr>
          <p:cNvPr id="4" name="Slide Number Placeholder 3"/>
          <p:cNvSpPr>
            <a:spLocks noGrp="1"/>
          </p:cNvSpPr>
          <p:nvPr>
            <p:ph type="sldNum" sz="quarter" idx="5"/>
          </p:nvPr>
        </p:nvSpPr>
        <p:spPr/>
        <p:txBody>
          <a:bodyPr/>
          <a:lstStyle/>
          <a:p>
            <a:fld id="{8A22CE8F-AF87-4DC9-8931-B46FD2A57B7E}" type="slidenum">
              <a:rPr lang="en-PK" smtClean="0"/>
              <a:t>15</a:t>
            </a:fld>
            <a:endParaRPr lang="en-PK"/>
          </a:p>
        </p:txBody>
      </p:sp>
    </p:spTree>
    <p:extLst>
      <p:ext uri="{BB962C8B-B14F-4D97-AF65-F5344CB8AC3E}">
        <p14:creationId xmlns:p14="http://schemas.microsoft.com/office/powerpoint/2010/main" val="908115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Gradient descent</a:t>
            </a:r>
            <a:r>
              <a:rPr lang="en-US" sz="1200" b="0" i="0" kern="1200" dirty="0">
                <a:solidFill>
                  <a:schemeClr val="tx1"/>
                </a:solidFill>
                <a:effectLst/>
                <a:latin typeface="+mn-lt"/>
                <a:ea typeface="+mn-ea"/>
                <a:cs typeface="+mn-cs"/>
              </a:rPr>
              <a:t> is the backbone of the learning process for various algorithms, including linear regression, logistic regression, support vector machines, and neural networks which serves as a fundamental optimization technique to minimize the cost function of a model by iteratively adjusting the model parameters to reduce the difference between predicted and actual values, improving the model's performance.</a:t>
            </a:r>
          </a:p>
          <a:p>
            <a:endParaRPr lang="en-US" sz="1200" b="0" i="0" kern="1200" dirty="0">
              <a:solidFill>
                <a:schemeClr val="tx1"/>
              </a:solidFill>
              <a:effectLst/>
              <a:latin typeface="+mn-lt"/>
              <a:ea typeface="+mn-ea"/>
              <a:cs typeface="+mn-cs"/>
            </a:endParaRPr>
          </a:p>
          <a:p>
            <a:r>
              <a:rPr lang="en-US" dirty="0">
                <a:hlinkClick r:id="rId3"/>
              </a:rPr>
              <a:t>Backpropagation in Neural Network - </a:t>
            </a:r>
            <a:r>
              <a:rPr lang="en-US" dirty="0" err="1">
                <a:hlinkClick r:id="rId3"/>
              </a:rPr>
              <a:t>GeeksforGeeks</a:t>
            </a:r>
            <a:endParaRPr lang="en-US" dirty="0"/>
          </a:p>
        </p:txBody>
      </p:sp>
      <p:sp>
        <p:nvSpPr>
          <p:cNvPr id="4" name="Slide Number Placeholder 3"/>
          <p:cNvSpPr>
            <a:spLocks noGrp="1"/>
          </p:cNvSpPr>
          <p:nvPr>
            <p:ph type="sldNum" sz="quarter" idx="5"/>
          </p:nvPr>
        </p:nvSpPr>
        <p:spPr/>
        <p:txBody>
          <a:bodyPr/>
          <a:lstStyle/>
          <a:p>
            <a:fld id="{8A22CE8F-AF87-4DC9-8931-B46FD2A57B7E}" type="slidenum">
              <a:rPr lang="en-PK" smtClean="0"/>
              <a:t>20</a:t>
            </a:fld>
            <a:endParaRPr lang="en-PK"/>
          </a:p>
        </p:txBody>
      </p:sp>
    </p:spTree>
    <p:extLst>
      <p:ext uri="{BB962C8B-B14F-4D97-AF65-F5344CB8AC3E}">
        <p14:creationId xmlns:p14="http://schemas.microsoft.com/office/powerpoint/2010/main" val="1075197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BF6E-1F1A-43E5-E220-6BDA7505F1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480DB783-DEC2-A3C7-C92E-F68DB83AA3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0CD0007-2303-FEB7-6AC0-EEB7E75F9ED7}"/>
              </a:ext>
            </a:extLst>
          </p:cNvPr>
          <p:cNvSpPr>
            <a:spLocks noGrp="1"/>
          </p:cNvSpPr>
          <p:nvPr>
            <p:ph type="dt" sz="half" idx="10"/>
          </p:nvPr>
        </p:nvSpPr>
        <p:spPr/>
        <p:txBody>
          <a:bodyPr/>
          <a:lstStyle/>
          <a:p>
            <a:fld id="{88268D2E-9289-42AC-B80C-6990639C6970}" type="datetime8">
              <a:rPr lang="en-PK" smtClean="0"/>
              <a:t>02/11/2026 08:45</a:t>
            </a:fld>
            <a:endParaRPr lang="en-PK"/>
          </a:p>
        </p:txBody>
      </p:sp>
      <p:sp>
        <p:nvSpPr>
          <p:cNvPr id="5" name="Footer Placeholder 4">
            <a:extLst>
              <a:ext uri="{FF2B5EF4-FFF2-40B4-BE49-F238E27FC236}">
                <a16:creationId xmlns:a16="http://schemas.microsoft.com/office/drawing/2014/main" id="{304C1C67-3BAA-4BB7-E952-40087303A03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F3BAB63F-A8D1-625B-851E-0468772D2734}"/>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7086739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0F5E-5A4A-48AB-F52F-4B3D819101E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EAED141-6028-3B45-E8E1-D75FBB31D1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F91B5A7-5E7D-1482-A77F-6C1D9E69A931}"/>
              </a:ext>
            </a:extLst>
          </p:cNvPr>
          <p:cNvSpPr>
            <a:spLocks noGrp="1"/>
          </p:cNvSpPr>
          <p:nvPr>
            <p:ph type="dt" sz="half" idx="10"/>
          </p:nvPr>
        </p:nvSpPr>
        <p:spPr/>
        <p:txBody>
          <a:bodyPr/>
          <a:lstStyle/>
          <a:p>
            <a:fld id="{56A6C460-4D55-46A8-8B39-F8D80668C204}" type="datetime8">
              <a:rPr lang="en-PK" smtClean="0"/>
              <a:t>02/11/2026 08:45</a:t>
            </a:fld>
            <a:endParaRPr lang="en-PK"/>
          </a:p>
        </p:txBody>
      </p:sp>
      <p:sp>
        <p:nvSpPr>
          <p:cNvPr id="5" name="Footer Placeholder 4">
            <a:extLst>
              <a:ext uri="{FF2B5EF4-FFF2-40B4-BE49-F238E27FC236}">
                <a16:creationId xmlns:a16="http://schemas.microsoft.com/office/drawing/2014/main" id="{82FFE02F-9BDB-A3D2-C609-466E907B7CD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E8FBAB45-FD81-4E1C-DA59-7E59E3E602C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4045829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0F9AF-AFEF-5692-FA74-44D15087C3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2400C95-EDA4-E6F5-4AF5-4A6CAA7854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3DCB0D-660C-5E86-7853-04235E37D9C4}"/>
              </a:ext>
            </a:extLst>
          </p:cNvPr>
          <p:cNvSpPr>
            <a:spLocks noGrp="1"/>
          </p:cNvSpPr>
          <p:nvPr>
            <p:ph type="dt" sz="half" idx="10"/>
          </p:nvPr>
        </p:nvSpPr>
        <p:spPr/>
        <p:txBody>
          <a:bodyPr/>
          <a:lstStyle/>
          <a:p>
            <a:fld id="{FA202975-3265-4D6C-885C-67478BE3C7F2}" type="datetime8">
              <a:rPr lang="en-PK" smtClean="0"/>
              <a:t>02/11/2026 08:45</a:t>
            </a:fld>
            <a:endParaRPr lang="en-PK"/>
          </a:p>
        </p:txBody>
      </p:sp>
      <p:sp>
        <p:nvSpPr>
          <p:cNvPr id="5" name="Footer Placeholder 4">
            <a:extLst>
              <a:ext uri="{FF2B5EF4-FFF2-40B4-BE49-F238E27FC236}">
                <a16:creationId xmlns:a16="http://schemas.microsoft.com/office/drawing/2014/main" id="{584171C3-5CDF-9D80-4EBE-656BDE541C1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14E53F3-584B-156B-3CB7-CE2840A107E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675586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848-8B44-647A-1750-A34E7339AB2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F86DC08F-EC6A-9CC6-A7BE-12D10FD125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12273F5-CE29-B7C3-1DEE-634187AA6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32B0614-7950-A619-551B-ED3E162EFF23}"/>
              </a:ext>
            </a:extLst>
          </p:cNvPr>
          <p:cNvSpPr>
            <a:spLocks noGrp="1"/>
          </p:cNvSpPr>
          <p:nvPr>
            <p:ph type="dt" sz="half" idx="10"/>
          </p:nvPr>
        </p:nvSpPr>
        <p:spPr/>
        <p:txBody>
          <a:bodyPr/>
          <a:lstStyle/>
          <a:p>
            <a:fld id="{07BB4E42-362D-4DFA-8928-76DAAEE00EBB}" type="datetime8">
              <a:rPr lang="en-PK" smtClean="0"/>
              <a:t>02/11/2026 08:45</a:t>
            </a:fld>
            <a:endParaRPr lang="en-PK"/>
          </a:p>
        </p:txBody>
      </p:sp>
      <p:sp>
        <p:nvSpPr>
          <p:cNvPr id="6" name="Footer Placeholder 5">
            <a:extLst>
              <a:ext uri="{FF2B5EF4-FFF2-40B4-BE49-F238E27FC236}">
                <a16:creationId xmlns:a16="http://schemas.microsoft.com/office/drawing/2014/main" id="{CF441B59-C8B5-6D0F-4399-F106AC82F8A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64AFC60-2053-ECFF-5C50-368976D31673}"/>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189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AF65F-F935-8509-0750-29F87FE67B41}"/>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4D1EDD-2F32-8088-DCA4-940683FC44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F957DC-D663-7F27-98CF-5CFD4701F5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56DBE920-D195-F4B1-8A1C-DF099F1A7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8AEEDD-4D96-4D6A-F2B6-6E56E84203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CF1D32A-14A7-43A3-04BD-3E5C1D6C5A10}"/>
              </a:ext>
            </a:extLst>
          </p:cNvPr>
          <p:cNvSpPr>
            <a:spLocks noGrp="1"/>
          </p:cNvSpPr>
          <p:nvPr>
            <p:ph type="dt" sz="half" idx="10"/>
          </p:nvPr>
        </p:nvSpPr>
        <p:spPr/>
        <p:txBody>
          <a:bodyPr/>
          <a:lstStyle/>
          <a:p>
            <a:fld id="{79F22A64-5408-49DB-841F-68B670D0A952}" type="datetime8">
              <a:rPr lang="en-PK" smtClean="0"/>
              <a:t>02/11/2026 08:45</a:t>
            </a:fld>
            <a:endParaRPr lang="en-PK"/>
          </a:p>
        </p:txBody>
      </p:sp>
      <p:sp>
        <p:nvSpPr>
          <p:cNvPr id="8" name="Footer Placeholder 7">
            <a:extLst>
              <a:ext uri="{FF2B5EF4-FFF2-40B4-BE49-F238E27FC236}">
                <a16:creationId xmlns:a16="http://schemas.microsoft.com/office/drawing/2014/main" id="{0489F090-39B6-F704-B7FE-D92B0D991FFD}"/>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8A437A89-9DDA-2071-C1AA-F472229D41AF}"/>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098387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B27A3-5102-EE21-A807-3AC83BC7EC70}"/>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9994ABC-C15D-FE70-E572-6DC603DD5855}"/>
              </a:ext>
            </a:extLst>
          </p:cNvPr>
          <p:cNvSpPr>
            <a:spLocks noGrp="1"/>
          </p:cNvSpPr>
          <p:nvPr>
            <p:ph type="dt" sz="half" idx="10"/>
          </p:nvPr>
        </p:nvSpPr>
        <p:spPr/>
        <p:txBody>
          <a:bodyPr/>
          <a:lstStyle/>
          <a:p>
            <a:fld id="{65D11D58-974E-4CAF-AC6D-5DBE315773AB}" type="datetime8">
              <a:rPr lang="en-PK" smtClean="0"/>
              <a:t>02/11/2026 08:45</a:t>
            </a:fld>
            <a:endParaRPr lang="en-PK"/>
          </a:p>
        </p:txBody>
      </p:sp>
      <p:sp>
        <p:nvSpPr>
          <p:cNvPr id="4" name="Footer Placeholder 3">
            <a:extLst>
              <a:ext uri="{FF2B5EF4-FFF2-40B4-BE49-F238E27FC236}">
                <a16:creationId xmlns:a16="http://schemas.microsoft.com/office/drawing/2014/main" id="{DB229E67-5D6A-62B9-0F07-7987F2233BF3}"/>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D1FEB484-C332-0992-D1F3-3F2F2D91BE5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10649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1F1087-2936-983D-89D2-679197D30A81}"/>
              </a:ext>
            </a:extLst>
          </p:cNvPr>
          <p:cNvSpPr>
            <a:spLocks noGrp="1"/>
          </p:cNvSpPr>
          <p:nvPr>
            <p:ph type="dt" sz="half" idx="10"/>
          </p:nvPr>
        </p:nvSpPr>
        <p:spPr/>
        <p:txBody>
          <a:bodyPr/>
          <a:lstStyle/>
          <a:p>
            <a:fld id="{1A752D9D-C6C1-49F2-AE52-02C80D6EEE70}" type="datetime8">
              <a:rPr lang="en-PK" smtClean="0"/>
              <a:t>02/11/2026 08:45</a:t>
            </a:fld>
            <a:endParaRPr lang="en-PK"/>
          </a:p>
        </p:txBody>
      </p:sp>
      <p:sp>
        <p:nvSpPr>
          <p:cNvPr id="3" name="Footer Placeholder 2">
            <a:extLst>
              <a:ext uri="{FF2B5EF4-FFF2-40B4-BE49-F238E27FC236}">
                <a16:creationId xmlns:a16="http://schemas.microsoft.com/office/drawing/2014/main" id="{5780D7FA-42F7-2E29-B463-91C82A3EA39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C384DD66-06F1-428F-8C28-7722073E4C02}"/>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686186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23CE5-E801-D5B4-C053-AF956615D1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BC01F3B-C27D-DFCB-EC41-FE54E8B84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3F774E3-55AD-9EDB-210F-21390360F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16F6D0-CE3D-181B-8D4A-CE6D944B2E5C}"/>
              </a:ext>
            </a:extLst>
          </p:cNvPr>
          <p:cNvSpPr>
            <a:spLocks noGrp="1"/>
          </p:cNvSpPr>
          <p:nvPr>
            <p:ph type="dt" sz="half" idx="10"/>
          </p:nvPr>
        </p:nvSpPr>
        <p:spPr/>
        <p:txBody>
          <a:bodyPr/>
          <a:lstStyle/>
          <a:p>
            <a:fld id="{0AE860EF-E9C5-4154-ABA0-497C98888386}" type="datetime8">
              <a:rPr lang="en-PK" smtClean="0"/>
              <a:t>02/11/2026 08:45</a:t>
            </a:fld>
            <a:endParaRPr lang="en-PK"/>
          </a:p>
        </p:txBody>
      </p:sp>
      <p:sp>
        <p:nvSpPr>
          <p:cNvPr id="6" name="Footer Placeholder 5">
            <a:extLst>
              <a:ext uri="{FF2B5EF4-FFF2-40B4-BE49-F238E27FC236}">
                <a16:creationId xmlns:a16="http://schemas.microsoft.com/office/drawing/2014/main" id="{87E9E0BA-6765-5F28-D792-DFBAF369FB12}"/>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1142F7D-EC17-A880-F4CA-79F8DE7E7D1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3802219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CA6B2-0346-47D8-7C6C-CEB953FA4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2FD7669-0EBC-8316-FE6C-4E3AFA75DB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630D761-DEC6-4E02-A5A6-68D7DAB6FE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01B9B-2FB7-4E9B-93B1-2B1A71C6FCFB}"/>
              </a:ext>
            </a:extLst>
          </p:cNvPr>
          <p:cNvSpPr>
            <a:spLocks noGrp="1"/>
          </p:cNvSpPr>
          <p:nvPr>
            <p:ph type="dt" sz="half" idx="10"/>
          </p:nvPr>
        </p:nvSpPr>
        <p:spPr/>
        <p:txBody>
          <a:bodyPr/>
          <a:lstStyle/>
          <a:p>
            <a:fld id="{CA1A3010-BD20-4C20-A139-F111CFCE4DED}" type="datetime8">
              <a:rPr lang="en-PK" smtClean="0"/>
              <a:t>02/11/2026 08:45</a:t>
            </a:fld>
            <a:endParaRPr lang="en-PK"/>
          </a:p>
        </p:txBody>
      </p:sp>
      <p:sp>
        <p:nvSpPr>
          <p:cNvPr id="6" name="Footer Placeholder 5">
            <a:extLst>
              <a:ext uri="{FF2B5EF4-FFF2-40B4-BE49-F238E27FC236}">
                <a16:creationId xmlns:a16="http://schemas.microsoft.com/office/drawing/2014/main" id="{BBDA871A-2E8C-6DAA-29F7-58F546DA9B3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17073E63-5A89-7F39-0343-31B38AA0A5CB}"/>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557457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4A0C1-36D1-D275-D29D-A5F174F13B25}"/>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27EC01DC-96D5-483D-EB66-D069F943BA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CE0D86A-33F6-CC08-D069-C2CD2DA22C8E}"/>
              </a:ext>
            </a:extLst>
          </p:cNvPr>
          <p:cNvSpPr>
            <a:spLocks noGrp="1"/>
          </p:cNvSpPr>
          <p:nvPr>
            <p:ph type="dt" sz="half" idx="10"/>
          </p:nvPr>
        </p:nvSpPr>
        <p:spPr/>
        <p:txBody>
          <a:bodyPr/>
          <a:lstStyle/>
          <a:p>
            <a:fld id="{4FCDF583-EA1F-490D-A440-28D5D4D1609B}" type="datetime8">
              <a:rPr lang="en-PK" smtClean="0"/>
              <a:t>02/11/2026 08:45</a:t>
            </a:fld>
            <a:endParaRPr lang="en-PK"/>
          </a:p>
        </p:txBody>
      </p:sp>
      <p:sp>
        <p:nvSpPr>
          <p:cNvPr id="5" name="Footer Placeholder 4">
            <a:extLst>
              <a:ext uri="{FF2B5EF4-FFF2-40B4-BE49-F238E27FC236}">
                <a16:creationId xmlns:a16="http://schemas.microsoft.com/office/drawing/2014/main" id="{18C4C501-4B4E-CD7A-A3CF-AAF9C06DB586}"/>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B962088F-8BDE-3163-D288-747BB62CE606}"/>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1398185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FFE489-8C8D-9284-62BE-5BD44DD32D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BE0687B-E3ED-4012-AF0D-ED0C35C62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872E4B5-4BD5-1EA2-4054-0181794E6F30}"/>
              </a:ext>
            </a:extLst>
          </p:cNvPr>
          <p:cNvSpPr>
            <a:spLocks noGrp="1"/>
          </p:cNvSpPr>
          <p:nvPr>
            <p:ph type="dt" sz="half" idx="10"/>
          </p:nvPr>
        </p:nvSpPr>
        <p:spPr/>
        <p:txBody>
          <a:bodyPr/>
          <a:lstStyle/>
          <a:p>
            <a:fld id="{DCE86CA3-BD67-4FC2-8043-563DA28C6DEF}" type="datetime8">
              <a:rPr lang="en-PK" smtClean="0"/>
              <a:t>02/11/2026 08:45</a:t>
            </a:fld>
            <a:endParaRPr lang="en-PK"/>
          </a:p>
        </p:txBody>
      </p:sp>
      <p:sp>
        <p:nvSpPr>
          <p:cNvPr id="5" name="Footer Placeholder 4">
            <a:extLst>
              <a:ext uri="{FF2B5EF4-FFF2-40B4-BE49-F238E27FC236}">
                <a16:creationId xmlns:a16="http://schemas.microsoft.com/office/drawing/2014/main" id="{5ECB897C-3A1B-5B06-4673-7AD97389028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37320210-5709-B516-739E-CEF3220C1B29}"/>
              </a:ext>
            </a:extLst>
          </p:cNvPr>
          <p:cNvSpPr>
            <a:spLocks noGrp="1"/>
          </p:cNvSpPr>
          <p:nvPr>
            <p:ph type="sldNum" sz="quarter" idx="12"/>
          </p:nvPr>
        </p:nvSpPr>
        <p:spPr/>
        <p:txBody>
          <a:bodyPr/>
          <a:lstStyle/>
          <a:p>
            <a:fld id="{273F6AE5-FFBF-49E9-8C0A-67AD363D4ACB}" type="slidenum">
              <a:rPr lang="en-PK" smtClean="0"/>
              <a:t>‹#›</a:t>
            </a:fld>
            <a:endParaRPr lang="en-PK"/>
          </a:p>
        </p:txBody>
      </p:sp>
    </p:spTree>
    <p:extLst>
      <p:ext uri="{BB962C8B-B14F-4D97-AF65-F5344CB8AC3E}">
        <p14:creationId xmlns:p14="http://schemas.microsoft.com/office/powerpoint/2010/main" val="2742123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A9A5E6FA-F9B2-43F4-93A1-754EFBD5F0B7}" type="datetime8">
              <a:rPr lang="en-PK" smtClean="0"/>
              <a:t>02/11/2026 08:45</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205953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8A33D06E-F415-4185-80CC-C9C1D8DCF4BF}" type="datetime8">
              <a:rPr lang="en-PK" smtClean="0"/>
              <a:t>02/11/2026 08:45</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2661903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C9009A1A-9470-4BA4-A2A2-7BF1CBDD1AE9}" type="datetime8">
              <a:rPr lang="en-PK" smtClean="0"/>
              <a:t>02/11/2026 08:45</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010432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EA9879D1-4867-47B4-ABB5-00115205E094}" type="datetime8">
              <a:rPr lang="en-PK" smtClean="0"/>
              <a:t>02/11/2026 08:45</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855367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B0C6ACD6-7DB4-4B0B-80BA-170914EA3395}" type="datetime8">
              <a:rPr lang="en-PK" smtClean="0"/>
              <a:t>02/11/2026 08:45</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7881116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05312407-BEAE-4152-B7BA-48543FBFA995}" type="datetime8">
              <a:rPr lang="en-PK" smtClean="0"/>
              <a:t>02/11/2026 08:45</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9756485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ADA8559E-9171-4385-8072-B0E593863BB5}" type="datetime8">
              <a:rPr lang="en-PK" smtClean="0"/>
              <a:t>02/11/2026 08:45</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284312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C28870C0-0CCF-4A43-BBA0-BD65E4FC916D}" type="datetime8">
              <a:rPr lang="en-PK" smtClean="0"/>
              <a:t>02/11/2026 08:45</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97252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01EED458-9B45-4ED9-810F-EDF3F113BFE8}" type="datetime8">
              <a:rPr lang="en-PK" smtClean="0"/>
              <a:t>02/11/2026 08:45</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635910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E4F8A886-A279-4E48-9566-005C3CCF0512}" type="datetime8">
              <a:rPr lang="en-PK" smtClean="0"/>
              <a:t>02/11/2026 08:45</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11963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776FA2A8-78F7-44B2-B930-F12580E93FE9}" type="datetime8">
              <a:rPr lang="en-PK" smtClean="0"/>
              <a:t>02/11/2026 08:45</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2941998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538424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1949977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6809314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341477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8648131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005100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404373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5432381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363918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040484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02/11/2026</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115485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48A50D-613C-02AB-581B-1EF8CBBB5B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6868A3D-C8EE-C41F-48F9-726C438B28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D75493D-4CF2-26D7-B747-6F625DBE2E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D636D9-B266-4646-B09B-4DC3FF6DEB0E}" type="datetime8">
              <a:rPr lang="en-PK" smtClean="0"/>
              <a:t>02/11/2026 08:45</a:t>
            </a:fld>
            <a:endParaRPr lang="en-PK"/>
          </a:p>
        </p:txBody>
      </p:sp>
      <p:sp>
        <p:nvSpPr>
          <p:cNvPr id="5" name="Footer Placeholder 4">
            <a:extLst>
              <a:ext uri="{FF2B5EF4-FFF2-40B4-BE49-F238E27FC236}">
                <a16:creationId xmlns:a16="http://schemas.microsoft.com/office/drawing/2014/main" id="{6BB9FEE2-49F4-5CCC-6E73-A93A928D6A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6F66B20A-6F5F-92E0-412B-7BC36CDF6F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3F6AE5-FFBF-49E9-8C0A-67AD363D4ACB}" type="slidenum">
              <a:rPr lang="en-PK" smtClean="0"/>
              <a:t>‹#›</a:t>
            </a:fld>
            <a:endParaRPr lang="en-PK"/>
          </a:p>
        </p:txBody>
      </p:sp>
    </p:spTree>
    <p:extLst>
      <p:ext uri="{BB962C8B-B14F-4D97-AF65-F5344CB8AC3E}">
        <p14:creationId xmlns:p14="http://schemas.microsoft.com/office/powerpoint/2010/main" val="2842186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2A6A64-E084-48DF-BC71-B8BC8F551A5E}" type="datetime8">
              <a:rPr lang="en-PK" smtClean="0"/>
              <a:t>02/11/2026 08:45</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GB"/>
              <a:t>Note: Modus ponens allows one to eliminate a conditional statement from a logical proof or argument (the antecedents) and thereby not carry these antecedents forward in an ever-lengthening string of symbols.</a:t>
            </a:r>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4221325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02/11/2026</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31239947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br>
              <a:rPr lang="en-GB" sz="4800" dirty="0">
                <a:solidFill>
                  <a:srgbClr val="FFFFFF"/>
                </a:solidFill>
                <a:latin typeface="Arial" panose="020B0604020202020204" pitchFamily="34" charset="0"/>
                <a:cs typeface="Arial" panose="020B0604020202020204" pitchFamily="34" charset="0"/>
              </a:rPr>
            </a:br>
            <a:r>
              <a:rPr lang="en-GB" sz="4800" dirty="0">
                <a:solidFill>
                  <a:srgbClr val="FFFFFF"/>
                </a:solidFill>
                <a:latin typeface="Arial" panose="020B0604020202020204" pitchFamily="34" charset="0"/>
                <a:cs typeface="Arial" panose="020B0604020202020204" pitchFamily="34" charset="0"/>
              </a:rPr>
              <a:t>CS-202</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4316361"/>
            <a:ext cx="9078628" cy="1715352"/>
          </a:xfrm>
        </p:spPr>
        <p:txBody>
          <a:bodyPr anchor="ctr">
            <a:noAutofit/>
          </a:bodyPr>
          <a:lstStyle/>
          <a:p>
            <a:r>
              <a:rPr lang="en-GB" dirty="0">
                <a:solidFill>
                  <a:srgbClr val="FFFFFF"/>
                </a:solidFill>
                <a:latin typeface="Arial" panose="020B0604020202020204" pitchFamily="34" charset="0"/>
                <a:cs typeface="Arial" panose="020B0604020202020204" pitchFamily="34" charset="0"/>
              </a:rPr>
              <a:t>Topic: Advance Topics NN and Fuzzy Systems</a:t>
            </a:r>
          </a:p>
          <a:p>
            <a:r>
              <a:rPr lang="en-GB" sz="1800" dirty="0">
                <a:solidFill>
                  <a:srgbClr val="FFFFFF"/>
                </a:solidFill>
                <a:latin typeface="Arial" panose="020B0604020202020204" pitchFamily="34" charset="0"/>
                <a:cs typeface="Arial" panose="020B0604020202020204" pitchFamily="34" charset="0"/>
              </a:rPr>
              <a:t>Habiba Arshad</a:t>
            </a:r>
          </a:p>
          <a:p>
            <a:r>
              <a:rPr lang="en-GB" sz="1800" dirty="0">
                <a:solidFill>
                  <a:srgbClr val="FFFFFF"/>
                </a:solidFill>
                <a:latin typeface="Arial" panose="020B0604020202020204" pitchFamily="34" charset="0"/>
                <a:cs typeface="Arial" panose="020B0604020202020204" pitchFamily="34" charset="0"/>
              </a:rPr>
              <a:t>Department of Computer Science</a:t>
            </a:r>
          </a:p>
          <a:p>
            <a:r>
              <a:rPr lang="en-GB" sz="1800" dirty="0">
                <a:solidFill>
                  <a:srgbClr val="FFFFFF"/>
                </a:solidFill>
                <a:latin typeface="Arial" panose="020B0604020202020204" pitchFamily="34" charset="0"/>
                <a:cs typeface="Arial" panose="020B0604020202020204" pitchFamily="34" charset="0"/>
              </a:rPr>
              <a:t>University of Wah</a:t>
            </a:r>
          </a:p>
        </p:txBody>
      </p:sp>
    </p:spTree>
    <p:extLst>
      <p:ext uri="{BB962C8B-B14F-4D97-AF65-F5344CB8AC3E}">
        <p14:creationId xmlns:p14="http://schemas.microsoft.com/office/powerpoint/2010/main" val="258195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DE0E7B3-C946-4D46-D3F2-E5D4B280843F}"/>
              </a:ext>
            </a:extLst>
          </p:cNvPr>
          <p:cNvSpPr>
            <a:spLocks noGrp="1"/>
          </p:cNvSpPr>
          <p:nvPr>
            <p:ph type="title"/>
          </p:nvPr>
        </p:nvSpPr>
        <p:spPr>
          <a:xfrm>
            <a:off x="645065" y="1097280"/>
            <a:ext cx="3796306" cy="4666207"/>
          </a:xfrm>
        </p:spPr>
        <p:txBody>
          <a:bodyPr anchor="ctr">
            <a:normAutofit/>
          </a:bodyPr>
          <a:lstStyle/>
          <a:p>
            <a:r>
              <a:rPr lang="en-GB" sz="4800" b="1" dirty="0">
                <a:latin typeface="Arial" panose="020B0604020202020204" pitchFamily="34" charset="0"/>
                <a:cs typeface="Arial" panose="020B0604020202020204" pitchFamily="34" charset="0"/>
              </a:rPr>
              <a:t>Week-16 CLO’s</a:t>
            </a:r>
            <a:endParaRPr lang="en-PK" sz="4800" b="1"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576" y="5945955"/>
            <a:ext cx="12109423" cy="525780"/>
            <a:chOff x="82576" y="5945955"/>
            <a:chExt cx="12109423" cy="525780"/>
          </a:xfrm>
        </p:grpSpPr>
        <p:sp>
          <p:nvSpPr>
            <p:cNvPr id="12" name="Rectangle 11">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5" name="Content Placeholder 2">
            <a:extLst>
              <a:ext uri="{FF2B5EF4-FFF2-40B4-BE49-F238E27FC236}">
                <a16:creationId xmlns:a16="http://schemas.microsoft.com/office/drawing/2014/main" id="{951412D1-217C-109E-B1DF-6DFBBBBDB9B7}"/>
              </a:ext>
            </a:extLst>
          </p:cNvPr>
          <p:cNvGraphicFramePr>
            <a:graphicFrameLocks noGrp="1"/>
          </p:cNvGraphicFramePr>
          <p:nvPr>
            <p:ph idx="1"/>
            <p:extLst>
              <p:ext uri="{D42A27DB-BD31-4B8C-83A1-F6EECF244321}">
                <p14:modId xmlns:p14="http://schemas.microsoft.com/office/powerpoint/2010/main" val="3012909463"/>
              </p:ext>
            </p:extLst>
          </p:nvPr>
        </p:nvGraphicFramePr>
        <p:xfrm>
          <a:off x="5431536" y="587829"/>
          <a:ext cx="5918184" cy="54056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069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77852DB-10CB-BAE7-752A-5098AF7A36BA}"/>
              </a:ext>
            </a:extLst>
          </p:cNvPr>
          <p:cNvSpPr>
            <a:spLocks noGrp="1"/>
          </p:cNvSpPr>
          <p:nvPr>
            <p:ph type="title"/>
          </p:nvPr>
        </p:nvSpPr>
        <p:spPr>
          <a:xfrm>
            <a:off x="586478" y="1683756"/>
            <a:ext cx="3115265" cy="2396359"/>
          </a:xfrm>
        </p:spPr>
        <p:txBody>
          <a:bodyPr anchor="b">
            <a:normAutofit/>
          </a:bodyPr>
          <a:lstStyle/>
          <a:p>
            <a:pPr algn="r"/>
            <a:r>
              <a:rPr lang="en-GB" sz="4800" b="1" dirty="0">
                <a:solidFill>
                  <a:srgbClr val="FFFFFF"/>
                </a:solidFill>
              </a:rPr>
              <a:t>CLO’s Mapping </a:t>
            </a:r>
            <a:endParaRPr lang="en-PK" sz="4800" b="1" dirty="0">
              <a:solidFill>
                <a:srgbClr val="FFFFFF"/>
              </a:solidFill>
            </a:endParaRPr>
          </a:p>
        </p:txBody>
      </p:sp>
      <p:graphicFrame>
        <p:nvGraphicFramePr>
          <p:cNvPr id="12" name="Content Placeholder 2">
            <a:extLst>
              <a:ext uri="{FF2B5EF4-FFF2-40B4-BE49-F238E27FC236}">
                <a16:creationId xmlns:a16="http://schemas.microsoft.com/office/drawing/2014/main" id="{D1DDC836-2DE9-75FA-5E18-375B488BD769}"/>
              </a:ext>
            </a:extLst>
          </p:cNvPr>
          <p:cNvGraphicFramePr>
            <a:graphicFrameLocks noGrp="1"/>
          </p:cNvGraphicFramePr>
          <p:nvPr>
            <p:ph idx="1"/>
            <p:extLst>
              <p:ext uri="{D42A27DB-BD31-4B8C-83A1-F6EECF244321}">
                <p14:modId xmlns:p14="http://schemas.microsoft.com/office/powerpoint/2010/main" val="795355430"/>
              </p:ext>
            </p:extLst>
          </p:nvPr>
        </p:nvGraphicFramePr>
        <p:xfrm>
          <a:off x="4905052" y="321275"/>
          <a:ext cx="6666833" cy="62895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34015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49ECAFBC-B9EE-1127-2756-4F24E01916A6}"/>
              </a:ext>
            </a:extLst>
          </p:cNvPr>
          <p:cNvSpPr txBox="1"/>
          <p:nvPr/>
        </p:nvSpPr>
        <p:spPr>
          <a:xfrm>
            <a:off x="2020905" y="1651847"/>
            <a:ext cx="8350011" cy="3081242"/>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GB" sz="6600" b="1" kern="1200" dirty="0">
                <a:solidFill>
                  <a:srgbClr val="FFFFFF"/>
                </a:solidFill>
                <a:latin typeface="+mj-lt"/>
                <a:ea typeface="+mj-ea"/>
                <a:cs typeface="+mj-cs"/>
              </a:rPr>
              <a:t>Advance Topics NN and Fuzzy </a:t>
            </a:r>
            <a:r>
              <a:rPr lang="en-GB" sz="6600" b="1" dirty="0">
                <a:solidFill>
                  <a:srgbClr val="FFFFFF"/>
                </a:solidFill>
                <a:latin typeface="+mj-lt"/>
                <a:ea typeface="+mj-ea"/>
                <a:cs typeface="+mj-cs"/>
              </a:rPr>
              <a:t>S</a:t>
            </a:r>
            <a:r>
              <a:rPr lang="en-GB" sz="6600" b="1" kern="1200" dirty="0">
                <a:solidFill>
                  <a:srgbClr val="FFFFFF"/>
                </a:solidFill>
                <a:latin typeface="+mj-lt"/>
                <a:ea typeface="+mj-ea"/>
                <a:cs typeface="+mj-cs"/>
              </a:rPr>
              <a:t>ystems</a:t>
            </a:r>
          </a:p>
        </p:txBody>
      </p:sp>
    </p:spTree>
    <p:extLst>
      <p:ext uri="{BB962C8B-B14F-4D97-AF65-F5344CB8AC3E}">
        <p14:creationId xmlns:p14="http://schemas.microsoft.com/office/powerpoint/2010/main" val="366955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6DBC10D-E0E3-2095-5984-52FF4A0BFE6C}"/>
              </a:ext>
            </a:extLst>
          </p:cNvPr>
          <p:cNvSpPr>
            <a:spLocks noGrp="1"/>
          </p:cNvSpPr>
          <p:nvPr>
            <p:ph type="title"/>
          </p:nvPr>
        </p:nvSpPr>
        <p:spPr>
          <a:xfrm>
            <a:off x="826396" y="586855"/>
            <a:ext cx="4230100" cy="3387497"/>
          </a:xfrm>
        </p:spPr>
        <p:txBody>
          <a:bodyPr anchor="b">
            <a:normAutofit/>
          </a:bodyPr>
          <a:lstStyle/>
          <a:p>
            <a:pPr algn="r"/>
            <a:r>
              <a:rPr lang="en-GB" sz="4000" b="1" dirty="0">
                <a:solidFill>
                  <a:srgbClr val="FFFFFF"/>
                </a:solidFill>
              </a:rPr>
              <a:t>Neural Networks</a:t>
            </a:r>
            <a:endParaRPr lang="en-PK" sz="4000" b="1" dirty="0">
              <a:solidFill>
                <a:srgbClr val="FFFFFF"/>
              </a:solidFill>
            </a:endParaRPr>
          </a:p>
        </p:txBody>
      </p:sp>
      <p:sp>
        <p:nvSpPr>
          <p:cNvPr id="3" name="Content Placeholder 2">
            <a:extLst>
              <a:ext uri="{FF2B5EF4-FFF2-40B4-BE49-F238E27FC236}">
                <a16:creationId xmlns:a16="http://schemas.microsoft.com/office/drawing/2014/main" id="{A0832CF4-80BD-83B8-FD98-A2C95A3B4303}"/>
              </a:ext>
            </a:extLst>
          </p:cNvPr>
          <p:cNvSpPr>
            <a:spLocks noGrp="1"/>
          </p:cNvSpPr>
          <p:nvPr>
            <p:ph idx="1"/>
          </p:nvPr>
        </p:nvSpPr>
        <p:spPr>
          <a:xfrm>
            <a:off x="5787341" y="649480"/>
            <a:ext cx="5976866" cy="5546047"/>
          </a:xfrm>
        </p:spPr>
        <p:txBody>
          <a:bodyPr anchor="ctr">
            <a:normAutofit lnSpcReduction="10000"/>
          </a:bodyPr>
          <a:lstStyle/>
          <a:p>
            <a:pPr algn="just"/>
            <a:r>
              <a:rPr lang="en-GB" b="0" i="0" dirty="0">
                <a:solidFill>
                  <a:srgbClr val="001D35"/>
                </a:solidFill>
                <a:effectLst/>
                <a:latin typeface="Google Sans"/>
              </a:rPr>
              <a:t>A neural network is a machine learning technique that uses artificial intelligence (AI) to teach computers to process data. </a:t>
            </a:r>
          </a:p>
          <a:p>
            <a:pPr algn="just"/>
            <a:r>
              <a:rPr lang="en-GB" b="0" i="0" dirty="0">
                <a:solidFill>
                  <a:srgbClr val="001D35"/>
                </a:solidFill>
                <a:effectLst/>
                <a:latin typeface="Google Sans"/>
              </a:rPr>
              <a:t>Neural networks are based on the human brain, with interconnected nodes called neurons that are organized in layers. </a:t>
            </a:r>
          </a:p>
          <a:p>
            <a:pPr algn="just"/>
            <a:r>
              <a:rPr lang="en-GB" dirty="0">
                <a:latin typeface="Google Sans"/>
              </a:rPr>
              <a:t>Inspired by the human brain.</a:t>
            </a:r>
          </a:p>
          <a:p>
            <a:pPr algn="just"/>
            <a:r>
              <a:rPr lang="en-GB" dirty="0">
                <a:latin typeface="Google Sans"/>
              </a:rPr>
              <a:t>Composed of neurons (nodes) connected by weights</a:t>
            </a:r>
            <a:endParaRPr lang="it-IT" dirty="0">
              <a:latin typeface="Google Sans"/>
            </a:endParaRPr>
          </a:p>
          <a:p>
            <a:pPr algn="l" fontAlgn="base"/>
            <a:r>
              <a:rPr lang="en-GB" b="1" dirty="0"/>
              <a:t>Example:</a:t>
            </a:r>
            <a:r>
              <a:rPr lang="en-GB" dirty="0"/>
              <a:t> Face recognition, speech processing, etc.</a:t>
            </a:r>
            <a:endParaRPr lang="it-IT" dirty="0">
              <a:solidFill>
                <a:srgbClr val="161616"/>
              </a:solidFill>
              <a:latin typeface="IBM Plex Sans" panose="020B0503050203000203" pitchFamily="34" charset="0"/>
            </a:endParaRPr>
          </a:p>
        </p:txBody>
      </p:sp>
    </p:spTree>
    <p:extLst>
      <p:ext uri="{BB962C8B-B14F-4D97-AF65-F5344CB8AC3E}">
        <p14:creationId xmlns:p14="http://schemas.microsoft.com/office/powerpoint/2010/main" val="3616842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3000"/>
                <a:satMod val="150000"/>
                <a:shade val="98000"/>
                <a:lumMod val="102000"/>
              </a:schemeClr>
            </a:gs>
            <a:gs pos="50000">
              <a:schemeClr val="bg2">
                <a:tint val="98000"/>
                <a:satMod val="130000"/>
                <a:shade val="90000"/>
                <a:lumMod val="103000"/>
              </a:schemeClr>
            </a:gs>
            <a:gs pos="100000">
              <a:schemeClr val="bg2">
                <a:shade val="63000"/>
                <a:satMod val="120000"/>
              </a:schemeClr>
            </a:gs>
          </a:gsLst>
          <a:lin ang="5400000" scaled="0"/>
        </a:gra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AA24DE7-C336-4994-8C52-D9B3F3D0F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3311" y="953311"/>
            <a:ext cx="10603149" cy="5263867"/>
          </a:xfrm>
          <a:prstGeom prst="roundRect">
            <a:avLst>
              <a:gd name="adj" fmla="val 1566"/>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85020D-14C1-3FB4-90C7-8F26F3052A31}"/>
              </a:ext>
            </a:extLst>
          </p:cNvPr>
          <p:cNvSpPr>
            <a:spLocks noGrp="1"/>
          </p:cNvSpPr>
          <p:nvPr>
            <p:ph type="title"/>
          </p:nvPr>
        </p:nvSpPr>
        <p:spPr>
          <a:xfrm>
            <a:off x="640080" y="640080"/>
            <a:ext cx="2752354" cy="2709275"/>
          </a:xfrm>
          <a:prstGeom prst="rect">
            <a:avLst/>
          </a:prstGeom>
          <a:solidFill>
            <a:srgbClr val="526C86"/>
          </a:solidFill>
          <a:ln>
            <a:solidFill>
              <a:srgbClr val="526C86"/>
            </a:solidFill>
          </a:ln>
        </p:spPr>
        <p:txBody>
          <a:bodyPr vert="horz" lIns="91440" tIns="45720" rIns="91440" bIns="45720" rtlCol="0" anchor="ctr">
            <a:normAutofit/>
          </a:bodyPr>
          <a:lstStyle/>
          <a:p>
            <a:pPr algn="ctr"/>
            <a:r>
              <a:rPr lang="en-US" sz="2800" kern="1200">
                <a:solidFill>
                  <a:srgbClr val="FFFFFF"/>
                </a:solidFill>
                <a:latin typeface="+mj-lt"/>
                <a:ea typeface="+mj-ea"/>
                <a:cs typeface="+mj-cs"/>
              </a:rPr>
              <a:t>Human Brain vs Neural Network</a:t>
            </a:r>
          </a:p>
        </p:txBody>
      </p:sp>
      <p:pic>
        <p:nvPicPr>
          <p:cNvPr id="5" name="Content Placeholder 4" descr="A diagram of a neuron&#10;&#10;AI-generated content may be incorrect.">
            <a:extLst>
              <a:ext uri="{FF2B5EF4-FFF2-40B4-BE49-F238E27FC236}">
                <a16:creationId xmlns:a16="http://schemas.microsoft.com/office/drawing/2014/main" id="{2741310E-6315-DFAF-9135-03B48A80E2FA}"/>
              </a:ext>
            </a:extLst>
          </p:cNvPr>
          <p:cNvPicPr>
            <a:picLocks noGrp="1" noChangeAspect="1"/>
          </p:cNvPicPr>
          <p:nvPr>
            <p:ph idx="1"/>
          </p:nvPr>
        </p:nvPicPr>
        <p:blipFill>
          <a:blip r:embed="rId2"/>
          <a:stretch>
            <a:fillRect/>
          </a:stretch>
        </p:blipFill>
        <p:spPr>
          <a:xfrm>
            <a:off x="3559277" y="1120877"/>
            <a:ext cx="7895304" cy="4783812"/>
          </a:xfrm>
          <a:prstGeom prst="rect">
            <a:avLst/>
          </a:prstGeom>
        </p:spPr>
      </p:pic>
    </p:spTree>
    <p:extLst>
      <p:ext uri="{BB962C8B-B14F-4D97-AF65-F5344CB8AC3E}">
        <p14:creationId xmlns:p14="http://schemas.microsoft.com/office/powerpoint/2010/main" val="1081646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E5E58B-E429-0D7A-DE21-7D21E716D598}"/>
              </a:ext>
            </a:extLst>
          </p:cNvPr>
          <p:cNvSpPr>
            <a:spLocks noGrp="1"/>
          </p:cNvSpPr>
          <p:nvPr>
            <p:ph type="title"/>
          </p:nvPr>
        </p:nvSpPr>
        <p:spPr>
          <a:xfrm>
            <a:off x="612648" y="603504"/>
            <a:ext cx="5862396" cy="1527048"/>
          </a:xfrm>
        </p:spPr>
        <p:txBody>
          <a:bodyPr anchor="b">
            <a:normAutofit/>
          </a:bodyPr>
          <a:lstStyle/>
          <a:p>
            <a:r>
              <a:rPr lang="en-US" b="1"/>
              <a:t>Human Brain vs Neural Network</a:t>
            </a:r>
            <a:endParaRPr lang="en-PK" b="1"/>
          </a:p>
        </p:txBody>
      </p:sp>
      <p:sp>
        <p:nvSpPr>
          <p:cNvPr id="5" name="Rectangle 2">
            <a:extLst>
              <a:ext uri="{FF2B5EF4-FFF2-40B4-BE49-F238E27FC236}">
                <a16:creationId xmlns:a16="http://schemas.microsoft.com/office/drawing/2014/main" id="{43BBE5A4-1961-7415-5ABB-61ACD6B9F69E}"/>
              </a:ext>
            </a:extLst>
          </p:cNvPr>
          <p:cNvSpPr>
            <a:spLocks noGrp="1" noChangeArrowheads="1"/>
          </p:cNvSpPr>
          <p:nvPr>
            <p:ph idx="1"/>
          </p:nvPr>
        </p:nvSpPr>
        <p:spPr bwMode="auto">
          <a:xfrm>
            <a:off x="341533" y="2130552"/>
            <a:ext cx="6330763" cy="443916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US" sz="1800" dirty="0"/>
              <a:t>A </a:t>
            </a:r>
            <a:r>
              <a:rPr lang="en-US" sz="1800" b="1" dirty="0"/>
              <a:t>biological neuron </a:t>
            </a:r>
            <a:r>
              <a:rPr lang="en-US" sz="1800" dirty="0"/>
              <a:t>consists of four main parts:</a:t>
            </a:r>
          </a:p>
          <a:p>
            <a:r>
              <a:rPr lang="en-US" sz="1800" b="1" dirty="0"/>
              <a:t>Dendrites</a:t>
            </a:r>
            <a:r>
              <a:rPr lang="en-US" sz="1800" dirty="0"/>
              <a:t>: These are the input channels of the neuron. They receive signals from other neurons.</a:t>
            </a:r>
          </a:p>
          <a:p>
            <a:r>
              <a:rPr lang="en-US" sz="1800" b="1" dirty="0"/>
              <a:t>Cell Body (Soma)</a:t>
            </a:r>
            <a:r>
              <a:rPr lang="en-US" sz="1800" dirty="0"/>
              <a:t>: This contains the nucleus and is responsible for processing the incoming signals.</a:t>
            </a:r>
          </a:p>
          <a:p>
            <a:r>
              <a:rPr lang="en-US" sz="1800" b="1" dirty="0"/>
              <a:t>Axon</a:t>
            </a:r>
            <a:r>
              <a:rPr lang="en-US" sz="1800" dirty="0"/>
              <a:t>: This transmits the processed signal away from the cell body.</a:t>
            </a:r>
          </a:p>
          <a:p>
            <a:r>
              <a:rPr lang="en-US" sz="1800" b="1" dirty="0"/>
              <a:t>Axon Terminals</a:t>
            </a:r>
            <a:r>
              <a:rPr lang="en-US" sz="1800" dirty="0"/>
              <a:t>: These are the endpoints where the signals are passed on to other neurons. They play a crucial role in signal transmission through </a:t>
            </a:r>
            <a:r>
              <a:rPr lang="en-US" sz="1800" b="1" dirty="0"/>
              <a:t>synapses</a:t>
            </a:r>
            <a:r>
              <a:rPr lang="en-US" sz="1800" dirty="0"/>
              <a:t>.</a:t>
            </a:r>
          </a:p>
          <a:p>
            <a:r>
              <a:rPr lang="en-US" sz="1800" dirty="0"/>
              <a:t>The </a:t>
            </a:r>
            <a:r>
              <a:rPr lang="en-US" sz="1800" b="1" dirty="0"/>
              <a:t>synapse</a:t>
            </a:r>
            <a:r>
              <a:rPr lang="en-US" sz="1800" dirty="0"/>
              <a:t> acts as the </a:t>
            </a:r>
            <a:r>
              <a:rPr lang="en-US" sz="1800" b="1" dirty="0"/>
              <a:t>information transfer mechanism</a:t>
            </a:r>
            <a:r>
              <a:rPr lang="en-US" sz="1800" dirty="0"/>
              <a:t>—it allows one neuron to communicate with another, forming a vast, interconnected network.</a:t>
            </a:r>
          </a:p>
        </p:txBody>
      </p:sp>
      <p:pic>
        <p:nvPicPr>
          <p:cNvPr id="3" name="Content Placeholder 4">
            <a:extLst>
              <a:ext uri="{FF2B5EF4-FFF2-40B4-BE49-F238E27FC236}">
                <a16:creationId xmlns:a16="http://schemas.microsoft.com/office/drawing/2014/main" id="{456EE2BB-AA3C-278D-82EE-5341CF4D9CC7}"/>
              </a:ext>
            </a:extLst>
          </p:cNvPr>
          <p:cNvPicPr>
            <a:picLocks noChangeAspect="1"/>
          </p:cNvPicPr>
          <p:nvPr/>
        </p:nvPicPr>
        <p:blipFill>
          <a:blip r:embed="rId2"/>
          <a:srcRect l="5703" t="13682" r="44241"/>
          <a:stretch>
            <a:fillRect/>
          </a:stretch>
        </p:blipFill>
        <p:spPr>
          <a:xfrm>
            <a:off x="7091395" y="1313958"/>
            <a:ext cx="4681506" cy="4258469"/>
          </a:xfrm>
          <a:prstGeom prst="rect">
            <a:avLst/>
          </a:prstGeom>
        </p:spPr>
      </p:pic>
    </p:spTree>
    <p:extLst>
      <p:ext uri="{BB962C8B-B14F-4D97-AF65-F5344CB8AC3E}">
        <p14:creationId xmlns:p14="http://schemas.microsoft.com/office/powerpoint/2010/main" val="515379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DF68C3-C0C3-939B-EBC6-B6B4F9613163}"/>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11D059-785E-ED7F-00EF-76C6D7C1DFA7}"/>
              </a:ext>
            </a:extLst>
          </p:cNvPr>
          <p:cNvSpPr>
            <a:spLocks noGrp="1"/>
          </p:cNvSpPr>
          <p:nvPr>
            <p:ph type="title"/>
          </p:nvPr>
        </p:nvSpPr>
        <p:spPr>
          <a:xfrm>
            <a:off x="612648" y="603504"/>
            <a:ext cx="5862396" cy="1527048"/>
          </a:xfrm>
        </p:spPr>
        <p:txBody>
          <a:bodyPr anchor="b">
            <a:normAutofit/>
          </a:bodyPr>
          <a:lstStyle/>
          <a:p>
            <a:r>
              <a:rPr lang="en-US" b="1"/>
              <a:t>Human Brain vs Neural Network</a:t>
            </a:r>
            <a:endParaRPr lang="en-PK" b="1"/>
          </a:p>
        </p:txBody>
      </p:sp>
      <p:sp>
        <p:nvSpPr>
          <p:cNvPr id="5" name="Rectangle 2">
            <a:extLst>
              <a:ext uri="{FF2B5EF4-FFF2-40B4-BE49-F238E27FC236}">
                <a16:creationId xmlns:a16="http://schemas.microsoft.com/office/drawing/2014/main" id="{1433642B-31CD-8A76-69E5-7DF4CDD9E8AF}"/>
              </a:ext>
            </a:extLst>
          </p:cNvPr>
          <p:cNvSpPr>
            <a:spLocks noGrp="1" noChangeArrowheads="1"/>
          </p:cNvSpPr>
          <p:nvPr>
            <p:ph idx="1"/>
          </p:nvPr>
        </p:nvSpPr>
        <p:spPr bwMode="auto">
          <a:xfrm>
            <a:off x="612648" y="2212847"/>
            <a:ext cx="5862396" cy="444359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indent="0">
              <a:buNone/>
            </a:pPr>
            <a:r>
              <a:rPr lang="en-US" sz="1700" b="1" dirty="0"/>
              <a:t>Artificial Neuron: The Perceptron</a:t>
            </a:r>
          </a:p>
          <a:p>
            <a:pPr marL="0" indent="0">
              <a:buNone/>
            </a:pPr>
            <a:r>
              <a:rPr lang="en-US" sz="2000" dirty="0"/>
              <a:t>To simulate this structure in artificial intelligence, we use a simplified model known as the </a:t>
            </a:r>
            <a:r>
              <a:rPr lang="en-US" sz="2000" b="1" dirty="0"/>
              <a:t>perceptron</a:t>
            </a:r>
            <a:r>
              <a:rPr lang="en-US" sz="2000" dirty="0"/>
              <a:t>.</a:t>
            </a:r>
          </a:p>
          <a:p>
            <a:r>
              <a:rPr lang="en-US" sz="2000" b="1" dirty="0"/>
              <a:t>Inputs</a:t>
            </a:r>
            <a:r>
              <a:rPr lang="en-US" sz="2000" dirty="0"/>
              <a:t>: The perceptron receives multiple inputs, typically denoted as x1,x2,…,</a:t>
            </a:r>
            <a:r>
              <a:rPr lang="en-US" sz="2000" dirty="0" err="1"/>
              <a:t>xn</a:t>
            </a:r>
            <a:r>
              <a:rPr lang="en-US" sz="2000" dirty="0"/>
              <a:t> representing an n-dimensional input vector.</a:t>
            </a:r>
          </a:p>
          <a:p>
            <a:r>
              <a:rPr lang="en-US" sz="2000" b="1" dirty="0"/>
              <a:t>Processing Function</a:t>
            </a:r>
            <a:r>
              <a:rPr lang="en-US" sz="2000" dirty="0"/>
              <a:t>: These inputs are passed into a function that performs a weighted sum and applies an </a:t>
            </a:r>
            <a:r>
              <a:rPr lang="en-US" sz="2000" b="1" dirty="0"/>
              <a:t>activation function</a:t>
            </a:r>
            <a:r>
              <a:rPr lang="en-US" sz="2000" dirty="0"/>
              <a:t> to determine the output.</a:t>
            </a:r>
          </a:p>
          <a:p>
            <a:r>
              <a:rPr lang="en-US" sz="2000" b="1" dirty="0"/>
              <a:t>Output</a:t>
            </a:r>
            <a:r>
              <a:rPr lang="en-US" sz="2000" dirty="0"/>
              <a:t>: The result is a single output value, which can be passed to other neurons in a network.</a:t>
            </a:r>
          </a:p>
          <a:p>
            <a:pPr marL="0" indent="0">
              <a:buNone/>
            </a:pPr>
            <a:r>
              <a:rPr lang="en-US" sz="2000" dirty="0"/>
              <a:t>This artificial neuron mimics the input-processing-output cycle of a biological neuron.</a:t>
            </a:r>
          </a:p>
        </p:txBody>
      </p:sp>
      <p:pic>
        <p:nvPicPr>
          <p:cNvPr id="4" name="Content Placeholder 4" descr="A diagram of a neuron&#10;&#10;AI-generated content may be incorrect.">
            <a:extLst>
              <a:ext uri="{FF2B5EF4-FFF2-40B4-BE49-F238E27FC236}">
                <a16:creationId xmlns:a16="http://schemas.microsoft.com/office/drawing/2014/main" id="{9B9E77A3-59AF-AB66-86D3-4CE31394740D}"/>
              </a:ext>
            </a:extLst>
          </p:cNvPr>
          <p:cNvPicPr>
            <a:picLocks noChangeAspect="1"/>
          </p:cNvPicPr>
          <p:nvPr/>
        </p:nvPicPr>
        <p:blipFill>
          <a:blip r:embed="rId2"/>
          <a:srcRect l="62339" t="22009" r="510" b="233"/>
          <a:stretch>
            <a:fillRect/>
          </a:stretch>
        </p:blipFill>
        <p:spPr>
          <a:xfrm>
            <a:off x="7091395" y="858836"/>
            <a:ext cx="4681506" cy="5168714"/>
          </a:xfrm>
          <a:prstGeom prst="rect">
            <a:avLst/>
          </a:prstGeom>
        </p:spPr>
      </p:pic>
    </p:spTree>
    <p:extLst>
      <p:ext uri="{BB962C8B-B14F-4D97-AF65-F5344CB8AC3E}">
        <p14:creationId xmlns:p14="http://schemas.microsoft.com/office/powerpoint/2010/main" val="4068732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A74AC3-B2D6-ED6F-269F-13EDFA0245B1}"/>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603842FC-AA34-9010-991C-A02701B64379}"/>
              </a:ext>
            </a:extLst>
          </p:cNvPr>
          <p:cNvSpPr>
            <a:spLocks noGrp="1"/>
          </p:cNvSpPr>
          <p:nvPr>
            <p:ph type="title"/>
          </p:nvPr>
        </p:nvSpPr>
        <p:spPr>
          <a:xfrm>
            <a:off x="723901" y="509587"/>
            <a:ext cx="7649239" cy="742951"/>
          </a:xfrm>
        </p:spPr>
        <p:txBody>
          <a:bodyPr vert="horz" lIns="91440" tIns="45720" rIns="91440" bIns="45720" rtlCol="0" anchor="ctr">
            <a:normAutofit/>
          </a:bodyPr>
          <a:lstStyle/>
          <a:p>
            <a:r>
              <a:rPr lang="en-US" sz="3600" b="1" kern="1200">
                <a:solidFill>
                  <a:schemeClr val="tx1"/>
                </a:solidFill>
                <a:latin typeface="+mj-lt"/>
                <a:ea typeface="+mj-ea"/>
                <a:cs typeface="+mj-cs"/>
              </a:rPr>
              <a:t>Human Brain vs Neural Network</a:t>
            </a:r>
          </a:p>
        </p:txBody>
      </p:sp>
      <p:pic>
        <p:nvPicPr>
          <p:cNvPr id="6" name="Content Placeholder 5">
            <a:extLst>
              <a:ext uri="{FF2B5EF4-FFF2-40B4-BE49-F238E27FC236}">
                <a16:creationId xmlns:a16="http://schemas.microsoft.com/office/drawing/2014/main" id="{5719B996-40A8-508B-2E32-030ED2643F23}"/>
              </a:ext>
            </a:extLst>
          </p:cNvPr>
          <p:cNvPicPr>
            <a:picLocks noGrp="1" noChangeAspect="1"/>
          </p:cNvPicPr>
          <p:nvPr>
            <p:ph idx="1"/>
          </p:nvPr>
        </p:nvPicPr>
        <p:blipFill>
          <a:blip r:embed="rId2"/>
          <a:stretch>
            <a:fillRect/>
          </a:stretch>
        </p:blipFill>
        <p:spPr bwMode="auto">
          <a:xfrm>
            <a:off x="422031" y="2072640"/>
            <a:ext cx="10994657" cy="45391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 name="Freeform: Shape 34">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27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03017D-F39E-939B-9598-7E24115C9E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3B2BE8-5F12-A855-92D8-0FF71E359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23510C5-A243-374B-BC75-A849F18A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93B66-3F11-4C10-DCF2-A783867BF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9F5DA7-F7A6-82B4-B9A0-00515D503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7C8DC81-C947-B847-CA7B-95BA57E455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090B08-94CB-E6D6-AF30-A566053A7058}"/>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Neural Network</a:t>
            </a:r>
            <a:endParaRPr lang="en-PK" sz="4000" b="1" dirty="0">
              <a:solidFill>
                <a:srgbClr val="FFFFFF"/>
              </a:solidFill>
            </a:endParaRPr>
          </a:p>
        </p:txBody>
      </p:sp>
      <p:sp>
        <p:nvSpPr>
          <p:cNvPr id="5" name="Rectangle 2">
            <a:extLst>
              <a:ext uri="{FF2B5EF4-FFF2-40B4-BE49-F238E27FC236}">
                <a16:creationId xmlns:a16="http://schemas.microsoft.com/office/drawing/2014/main" id="{7DFE9585-ACF0-FB20-DDAD-CF7CA98F215E}"/>
              </a:ext>
            </a:extLst>
          </p:cNvPr>
          <p:cNvSpPr>
            <a:spLocks noGrp="1" noChangeArrowheads="1"/>
          </p:cNvSpPr>
          <p:nvPr>
            <p:ph idx="1"/>
          </p:nvPr>
        </p:nvSpPr>
        <p:spPr bwMode="auto">
          <a:xfrm>
            <a:off x="983227" y="2161619"/>
            <a:ext cx="10140044" cy="386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While a perceptron represents a </a:t>
            </a:r>
            <a:r>
              <a:rPr lang="en-US" b="1" dirty="0"/>
              <a:t>single neuron</a:t>
            </a:r>
            <a:r>
              <a:rPr lang="en-US" dirty="0"/>
              <a:t>, neural networks consist of </a:t>
            </a:r>
            <a:r>
              <a:rPr lang="en-US" b="1" dirty="0"/>
              <a:t>multiple such neurons</a:t>
            </a:r>
            <a:r>
              <a:rPr lang="en-US" dirty="0"/>
              <a:t>, interconnected through </a:t>
            </a:r>
            <a:r>
              <a:rPr lang="en-US" b="1" dirty="0"/>
              <a:t>synapses</a:t>
            </a:r>
            <a:r>
              <a:rPr lang="en-US" dirty="0"/>
              <a:t> (i.e., weighted connections).</a:t>
            </a:r>
          </a:p>
          <a:p>
            <a:r>
              <a:rPr lang="en-US" dirty="0"/>
              <a:t>These neurons are arranged in </a:t>
            </a:r>
            <a:r>
              <a:rPr lang="en-US" b="1" dirty="0"/>
              <a:t>layers</a:t>
            </a:r>
            <a:r>
              <a:rPr lang="en-US" dirty="0"/>
              <a:t>:</a:t>
            </a:r>
          </a:p>
          <a:p>
            <a:pPr lvl="1"/>
            <a:r>
              <a:rPr lang="en-US" b="1" dirty="0"/>
              <a:t>Input Layer</a:t>
            </a:r>
            <a:endParaRPr lang="en-US" dirty="0"/>
          </a:p>
          <a:p>
            <a:pPr lvl="1"/>
            <a:r>
              <a:rPr lang="en-US" b="1" dirty="0"/>
              <a:t>Hidden Layers</a:t>
            </a:r>
            <a:endParaRPr lang="en-US" dirty="0"/>
          </a:p>
          <a:p>
            <a:pPr lvl="1"/>
            <a:r>
              <a:rPr lang="en-US" b="1" dirty="0"/>
              <a:t>Output Layer</a:t>
            </a:r>
            <a:endParaRPr lang="en-US" dirty="0"/>
          </a:p>
          <a:p>
            <a:r>
              <a:rPr lang="en-US" dirty="0"/>
              <a:t>Each layer transforms the data and passes it forward, allowing the network to learn complex patterns.</a:t>
            </a:r>
          </a:p>
        </p:txBody>
      </p:sp>
    </p:spTree>
    <p:extLst>
      <p:ext uri="{BB962C8B-B14F-4D97-AF65-F5344CB8AC3E}">
        <p14:creationId xmlns:p14="http://schemas.microsoft.com/office/powerpoint/2010/main" val="3573341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260240-EAD3-C6A3-88C7-587A15A9AD5E}"/>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BD7D3C-ADFC-6E51-2C71-60C11018408D}"/>
              </a:ext>
            </a:extLst>
          </p:cNvPr>
          <p:cNvSpPr>
            <a:spLocks noGrp="1"/>
          </p:cNvSpPr>
          <p:nvPr>
            <p:ph type="title"/>
          </p:nvPr>
        </p:nvSpPr>
        <p:spPr>
          <a:xfrm>
            <a:off x="0" y="56471"/>
            <a:ext cx="2277046" cy="744836"/>
          </a:xfrm>
        </p:spPr>
        <p:txBody>
          <a:bodyPr vert="horz" lIns="91440" tIns="45720" rIns="91440" bIns="45720" rtlCol="0" anchor="ctr">
            <a:normAutofit/>
          </a:bodyPr>
          <a:lstStyle/>
          <a:p>
            <a:pPr algn="ctr"/>
            <a:r>
              <a:rPr lang="en-US" sz="3600" b="1" dirty="0">
                <a:solidFill>
                  <a:schemeClr val="tx1">
                    <a:lumMod val="85000"/>
                    <a:lumOff val="15000"/>
                  </a:schemeClr>
                </a:solidFill>
              </a:rPr>
              <a:t>Overview</a:t>
            </a:r>
          </a:p>
        </p:txBody>
      </p:sp>
      <p:cxnSp>
        <p:nvCxnSpPr>
          <p:cNvPr id="23" name="Straight Connector 22">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diagram of a network&#10;&#10;Description automatically generated">
            <a:extLst>
              <a:ext uri="{FF2B5EF4-FFF2-40B4-BE49-F238E27FC236}">
                <a16:creationId xmlns:a16="http://schemas.microsoft.com/office/drawing/2014/main" id="{61888D3E-EEB0-308D-767B-7B2AE265FB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363" y="723147"/>
            <a:ext cx="11556000" cy="5977561"/>
          </a:xfrm>
          <a:prstGeom prst="rect">
            <a:avLst/>
          </a:prstGeom>
        </p:spPr>
      </p:pic>
    </p:spTree>
    <p:extLst>
      <p:ext uri="{BB962C8B-B14F-4D97-AF65-F5344CB8AC3E}">
        <p14:creationId xmlns:p14="http://schemas.microsoft.com/office/powerpoint/2010/main" val="979333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3464F5-67A2-5548-97D3-F93D3A6AD07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8B2C64-2646-53CF-A98C-3A75EAADD6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20B798F-1E96-27E0-1B76-D1BEC0266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2D0B298-C7D5-C257-A78B-7F51005AA1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B4314A8-2E35-4F75-CA33-9260DC1E9E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E4647BC-12AF-938D-51F4-04C9B4F8E3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280132-123C-B559-9CA7-270087CB3538}"/>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Perceptron</a:t>
            </a:r>
            <a:endParaRPr lang="en-PK" sz="4000" b="1" dirty="0">
              <a:solidFill>
                <a:srgbClr val="FFFFFF"/>
              </a:solidFill>
            </a:endParaRPr>
          </a:p>
        </p:txBody>
      </p:sp>
      <p:sp>
        <p:nvSpPr>
          <p:cNvPr id="5" name="Rectangle 2">
            <a:extLst>
              <a:ext uri="{FF2B5EF4-FFF2-40B4-BE49-F238E27FC236}">
                <a16:creationId xmlns:a16="http://schemas.microsoft.com/office/drawing/2014/main" id="{E3521EC6-CC89-C814-32EE-5FD55D442AAD}"/>
              </a:ext>
            </a:extLst>
          </p:cNvPr>
          <p:cNvSpPr>
            <a:spLocks noGrp="1" noChangeArrowheads="1"/>
          </p:cNvSpPr>
          <p:nvPr>
            <p:ph idx="1"/>
          </p:nvPr>
        </p:nvSpPr>
        <p:spPr bwMode="auto">
          <a:xfrm>
            <a:off x="1371599" y="1923078"/>
            <a:ext cx="9751671" cy="1089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400" dirty="0"/>
              <a:t>The </a:t>
            </a:r>
            <a:r>
              <a:rPr lang="en-US" sz="2400" b="1" dirty="0"/>
              <a:t>perceptron</a:t>
            </a:r>
            <a:r>
              <a:rPr lang="en-US" sz="2400" dirty="0"/>
              <a:t> is a foundational unit in neural networks, designed as a computational replica of the </a:t>
            </a:r>
            <a:r>
              <a:rPr lang="en-US" sz="2400" b="1" dirty="0"/>
              <a:t>biological neuron</a:t>
            </a:r>
            <a:r>
              <a:rPr lang="en-US" sz="2400" dirty="0"/>
              <a:t>. It is also the name of an early algorithm for supervised learning of binary classifiers</a:t>
            </a:r>
            <a:endParaRPr kumimoji="0" lang="en-PK" altLang="en-PK"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C732FD2F-61A1-D4F9-8825-2CA46E0D25FE}"/>
              </a:ext>
            </a:extLst>
          </p:cNvPr>
          <p:cNvPicPr>
            <a:picLocks noChangeAspect="1"/>
          </p:cNvPicPr>
          <p:nvPr/>
        </p:nvPicPr>
        <p:blipFill>
          <a:blip r:embed="rId2"/>
          <a:stretch>
            <a:fillRect/>
          </a:stretch>
        </p:blipFill>
        <p:spPr>
          <a:xfrm>
            <a:off x="1516936" y="3246544"/>
            <a:ext cx="9606334" cy="3543717"/>
          </a:xfrm>
          <a:prstGeom prst="rect">
            <a:avLst/>
          </a:prstGeom>
        </p:spPr>
      </p:pic>
    </p:spTree>
    <p:extLst>
      <p:ext uri="{BB962C8B-B14F-4D97-AF65-F5344CB8AC3E}">
        <p14:creationId xmlns:p14="http://schemas.microsoft.com/office/powerpoint/2010/main" val="2306068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C4065C-F103-3944-AF45-1F774A1E817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164F91E-3A95-2D98-0C69-AFD26B7345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ABEB67-808D-1612-2C9D-2A04DF322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5034371-CF85-A515-B46B-0AE41FB9A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046C5E6-9908-7FFB-03A4-B20BBE629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A1E9BEA-9F47-35D1-8FEF-ACF2EAC5E7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ACE433-373D-7120-FD71-95461641972B}"/>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Components</a:t>
            </a:r>
          </a:p>
        </p:txBody>
      </p:sp>
      <p:sp>
        <p:nvSpPr>
          <p:cNvPr id="7" name="Rectangle 4">
            <a:extLst>
              <a:ext uri="{FF2B5EF4-FFF2-40B4-BE49-F238E27FC236}">
                <a16:creationId xmlns:a16="http://schemas.microsoft.com/office/drawing/2014/main" id="{EE2A7C89-1636-0477-EB44-3ADA73B0E6FC}"/>
              </a:ext>
            </a:extLst>
          </p:cNvPr>
          <p:cNvSpPr>
            <a:spLocks noChangeArrowheads="1"/>
          </p:cNvSpPr>
          <p:nvPr/>
        </p:nvSpPr>
        <p:spPr bwMode="auto">
          <a:xfrm>
            <a:off x="256400" y="2245611"/>
            <a:ext cx="1151153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400" b="1" dirty="0"/>
              <a:t>Inputs:</a:t>
            </a:r>
          </a:p>
          <a:p>
            <a:pPr lvl="1" eaLnBrk="0" fontAlgn="base" hangingPunct="0">
              <a:spcBef>
                <a:spcPct val="0"/>
              </a:spcBef>
              <a:spcAft>
                <a:spcPct val="0"/>
              </a:spcAft>
              <a:buFontTx/>
              <a:buChar char="•"/>
            </a:pPr>
            <a:r>
              <a:rPr lang="en-US" altLang="en-US" sz="2400" dirty="0"/>
              <a:t>These are the features or data points fed into the perceptron.</a:t>
            </a:r>
          </a:p>
          <a:p>
            <a:pPr lvl="1" eaLnBrk="0" fontAlgn="base" hangingPunct="0">
              <a:spcBef>
                <a:spcPct val="0"/>
              </a:spcBef>
              <a:spcAft>
                <a:spcPct val="0"/>
              </a:spcAft>
              <a:buFontTx/>
              <a:buChar char="•"/>
            </a:pPr>
            <a:r>
              <a:rPr lang="en-US" altLang="en-US" sz="2400" dirty="0"/>
              <a:t>Analogous to dendrites in biological neurons.</a:t>
            </a:r>
          </a:p>
          <a:p>
            <a:pPr marL="0" marR="0" lvl="0" indent="0" algn="l" defTabSz="914400" rtl="0" eaLnBrk="0" fontAlgn="base" latinLnBrk="0" hangingPunct="0">
              <a:lnSpc>
                <a:spcPct val="100000"/>
              </a:lnSpc>
              <a:spcBef>
                <a:spcPct val="0"/>
              </a:spcBef>
              <a:spcAft>
                <a:spcPct val="0"/>
              </a:spcAft>
              <a:buClrTx/>
              <a:buSzTx/>
              <a:tabLst/>
            </a:pPr>
            <a:endParaRPr lang="en-US" altLang="en-US" sz="2400" b="1" dirty="0"/>
          </a:p>
          <a:p>
            <a:pPr marL="0" marR="0" lvl="0" indent="0" algn="l" defTabSz="914400" rtl="0" eaLnBrk="0" fontAlgn="base" latinLnBrk="0" hangingPunct="0">
              <a:lnSpc>
                <a:spcPct val="100000"/>
              </a:lnSpc>
              <a:spcBef>
                <a:spcPct val="0"/>
              </a:spcBef>
              <a:spcAft>
                <a:spcPct val="0"/>
              </a:spcAft>
              <a:buClrTx/>
              <a:buSzTx/>
              <a:tabLst/>
            </a:pPr>
            <a:r>
              <a:rPr lang="en-US" altLang="en-US" sz="2400" b="1" dirty="0"/>
              <a:t>Weights and Bias:</a:t>
            </a:r>
          </a:p>
          <a:p>
            <a:pPr lvl="1" eaLnBrk="0" fontAlgn="base" hangingPunct="0">
              <a:spcBef>
                <a:spcPct val="0"/>
              </a:spcBef>
              <a:spcAft>
                <a:spcPct val="0"/>
              </a:spcAft>
              <a:buFontTx/>
              <a:buChar char="•"/>
            </a:pPr>
            <a:r>
              <a:rPr lang="en-US" altLang="en-US" sz="2400" dirty="0"/>
              <a:t>Each input is associated with a weight w1,w2,...,</a:t>
            </a:r>
            <a:r>
              <a:rPr lang="en-US" altLang="en-US" sz="2400" dirty="0" err="1"/>
              <a:t>wn</a:t>
            </a:r>
            <a:r>
              <a:rPr lang="en-US" altLang="en-US" sz="2400" dirty="0"/>
              <a:t>​.</a:t>
            </a:r>
          </a:p>
          <a:p>
            <a:pPr lvl="1" eaLnBrk="0" fontAlgn="base" hangingPunct="0">
              <a:spcBef>
                <a:spcPct val="0"/>
              </a:spcBef>
              <a:spcAft>
                <a:spcPct val="0"/>
              </a:spcAft>
              <a:buFontTx/>
              <a:buChar char="•"/>
            </a:pPr>
            <a:r>
              <a:rPr lang="en-US" altLang="en-US" sz="2400" dirty="0"/>
              <a:t>There is also a bias term b, which helps shift the activation function.</a:t>
            </a:r>
          </a:p>
          <a:p>
            <a:pPr lvl="1" eaLnBrk="0" fontAlgn="base" hangingPunct="0">
              <a:spcBef>
                <a:spcPct val="0"/>
              </a:spcBef>
              <a:spcAft>
                <a:spcPct val="0"/>
              </a:spcAft>
              <a:buFontTx/>
              <a:buChar char="•"/>
            </a:pPr>
            <a:r>
              <a:rPr lang="en-US" altLang="en-US" sz="2400" dirty="0"/>
              <a:t>These weights and bias are learnable parameters, similar to coefficients in linear or polynomial regression.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58820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36EED5-468C-6D31-7992-6B8BD077C7F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ED37D7-20E3-33AE-6B32-9C89E9DC6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5CA10F1-3188-FCCC-84C9-97121F8BB0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00449A1-83BA-7AD8-2A82-467515B2A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57E422C-0F7E-C835-2580-89B98BBD4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77ECAC2-8482-9ABB-6D31-986EE41B9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EFF5E-19D1-7D2D-8E03-EEE6FAFFB6A4}"/>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Structure of a Neural Network</a:t>
            </a:r>
            <a:endParaRPr lang="en-PK" sz="4000" b="1" dirty="0">
              <a:solidFill>
                <a:srgbClr val="FFFFFF"/>
              </a:solidFill>
            </a:endParaRPr>
          </a:p>
        </p:txBody>
      </p:sp>
      <p:sp>
        <p:nvSpPr>
          <p:cNvPr id="4" name="Content Placeholder 3">
            <a:extLst>
              <a:ext uri="{FF2B5EF4-FFF2-40B4-BE49-F238E27FC236}">
                <a16:creationId xmlns:a16="http://schemas.microsoft.com/office/drawing/2014/main" id="{2C87E0B6-99B1-2236-E5F3-452C5FC9B3C7}"/>
              </a:ext>
            </a:extLst>
          </p:cNvPr>
          <p:cNvSpPr>
            <a:spLocks noGrp="1"/>
          </p:cNvSpPr>
          <p:nvPr>
            <p:ph idx="1"/>
          </p:nvPr>
        </p:nvSpPr>
        <p:spPr>
          <a:xfrm>
            <a:off x="327991" y="1825625"/>
            <a:ext cx="11732646" cy="4843532"/>
          </a:xfrm>
        </p:spPr>
        <p:txBody>
          <a:bodyPr>
            <a:normAutofit fontScale="77500" lnSpcReduction="20000"/>
          </a:bodyPr>
          <a:lstStyle/>
          <a:p>
            <a:pPr marL="0" indent="0">
              <a:buNone/>
            </a:pPr>
            <a:r>
              <a:rPr lang="en-US" b="1" dirty="0"/>
              <a:t>Net Input (Weighted Sum):</a:t>
            </a:r>
            <a:r>
              <a:rPr lang="en-US" dirty="0"/>
              <a:t>This is computed using the formula:</a:t>
            </a:r>
          </a:p>
          <a:p>
            <a:pPr marL="0" indent="0">
              <a:buNone/>
            </a:pPr>
            <a:endParaRPr lang="en-US" dirty="0"/>
          </a:p>
          <a:p>
            <a:pPr marL="0" indent="0">
              <a:buNone/>
            </a:pPr>
            <a:endParaRPr lang="en-US" dirty="0"/>
          </a:p>
          <a:p>
            <a:pPr marL="0" indent="0">
              <a:buNone/>
            </a:pPr>
            <a:endParaRPr lang="en-US" dirty="0"/>
          </a:p>
          <a:p>
            <a:pPr marL="0" indent="0">
              <a:buNone/>
            </a:pPr>
            <a:r>
              <a:rPr lang="en-US" dirty="0"/>
              <a:t>This represents the linear combination of inputs and weights, just like in regression models.</a:t>
            </a:r>
          </a:p>
          <a:p>
            <a:pPr marL="0" indent="0">
              <a:buNone/>
            </a:pPr>
            <a:endParaRPr lang="en-US" b="1" dirty="0"/>
          </a:p>
          <a:p>
            <a:pPr marL="0" indent="0">
              <a:buNone/>
            </a:pPr>
            <a:r>
              <a:rPr lang="en-US" b="1" dirty="0"/>
              <a:t>Activation Function:</a:t>
            </a:r>
          </a:p>
          <a:p>
            <a:pPr marL="0" indent="0">
              <a:buNone/>
            </a:pPr>
            <a:r>
              <a:rPr lang="en-US" dirty="0"/>
              <a:t>The activation function decides the output of the perceptron based on the weighted sum.</a:t>
            </a:r>
          </a:p>
          <a:p>
            <a:pPr marL="0" indent="0">
              <a:buNone/>
            </a:pPr>
            <a:r>
              <a:rPr lang="en-US" dirty="0"/>
              <a:t>It can be:</a:t>
            </a:r>
          </a:p>
          <a:p>
            <a:pPr marL="0" indent="0">
              <a:buNone/>
            </a:pPr>
            <a:r>
              <a:rPr lang="en-US" dirty="0"/>
              <a:t>Linear (e.g., identity function, in regression problems)</a:t>
            </a:r>
          </a:p>
          <a:p>
            <a:pPr marL="0" indent="0">
              <a:buNone/>
            </a:pPr>
            <a:r>
              <a:rPr lang="en-US" dirty="0"/>
              <a:t>Non-linear (e.g., sigmoid, ReLU, tanh — commonly used in deep learning)</a:t>
            </a:r>
          </a:p>
          <a:p>
            <a:pPr marL="0" indent="0">
              <a:buNone/>
            </a:pPr>
            <a:r>
              <a:rPr lang="en-US" dirty="0"/>
              <a:t>The choice of activation allows the network to learn complex, non-linear decision boundaries.</a:t>
            </a:r>
          </a:p>
        </p:txBody>
      </p:sp>
      <p:pic>
        <p:nvPicPr>
          <p:cNvPr id="9" name="Picture 8">
            <a:extLst>
              <a:ext uri="{FF2B5EF4-FFF2-40B4-BE49-F238E27FC236}">
                <a16:creationId xmlns:a16="http://schemas.microsoft.com/office/drawing/2014/main" id="{DCAE5729-6986-5F25-9846-3DD78894A0F2}"/>
              </a:ext>
            </a:extLst>
          </p:cNvPr>
          <p:cNvPicPr>
            <a:picLocks noChangeAspect="1"/>
          </p:cNvPicPr>
          <p:nvPr/>
        </p:nvPicPr>
        <p:blipFill>
          <a:blip r:embed="rId2"/>
          <a:stretch>
            <a:fillRect/>
          </a:stretch>
        </p:blipFill>
        <p:spPr>
          <a:xfrm>
            <a:off x="4355824" y="2095441"/>
            <a:ext cx="2661201" cy="1194825"/>
          </a:xfrm>
          <a:prstGeom prst="rect">
            <a:avLst/>
          </a:prstGeom>
        </p:spPr>
      </p:pic>
    </p:spTree>
    <p:extLst>
      <p:ext uri="{BB962C8B-B14F-4D97-AF65-F5344CB8AC3E}">
        <p14:creationId xmlns:p14="http://schemas.microsoft.com/office/powerpoint/2010/main" val="393479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and diagram of a function&#10;&#10;AI-generated content may be incorrect.">
            <a:extLst>
              <a:ext uri="{FF2B5EF4-FFF2-40B4-BE49-F238E27FC236}">
                <a16:creationId xmlns:a16="http://schemas.microsoft.com/office/drawing/2014/main" id="{014D4426-E2FA-58C0-38BE-EF9110973738}"/>
              </a:ext>
            </a:extLst>
          </p:cNvPr>
          <p:cNvPicPr>
            <a:picLocks noGrp="1" noChangeAspect="1"/>
          </p:cNvPicPr>
          <p:nvPr>
            <p:ph idx="1"/>
          </p:nvPr>
        </p:nvPicPr>
        <p:blipFill>
          <a:blip r:embed="rId3"/>
          <a:stretch>
            <a:fillRect/>
          </a:stretch>
        </p:blipFill>
        <p:spPr>
          <a:xfrm>
            <a:off x="1999629" y="643467"/>
            <a:ext cx="8192741"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6134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F59A06-575C-5D00-B908-BA6667E9634F}"/>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282388-5BF8-9C55-FCF9-1B7FD1AB06AB}"/>
              </a:ext>
            </a:extLst>
          </p:cNvPr>
          <p:cNvSpPr>
            <a:spLocks noGrp="1"/>
          </p:cNvSpPr>
          <p:nvPr>
            <p:ph type="title"/>
          </p:nvPr>
        </p:nvSpPr>
        <p:spPr>
          <a:xfrm>
            <a:off x="645064" y="525982"/>
            <a:ext cx="4282983" cy="1200361"/>
          </a:xfrm>
        </p:spPr>
        <p:txBody>
          <a:bodyPr anchor="b">
            <a:normAutofit/>
          </a:bodyPr>
          <a:lstStyle/>
          <a:p>
            <a:r>
              <a:rPr lang="en-GB" sz="3600" b="1"/>
              <a:t>Perceptron Learning Rule</a:t>
            </a:r>
            <a:endParaRPr lang="en-PK" sz="3600" b="1"/>
          </a:p>
        </p:txBody>
      </p:sp>
      <p:sp>
        <p:nvSpPr>
          <p:cNvPr id="23" name="Rectangle 2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9B6B15E7-E565-A701-2F3E-11FBD1A48641}"/>
              </a:ext>
            </a:extLst>
          </p:cNvPr>
          <p:cNvSpPr>
            <a:spLocks noGrp="1" noChangeArrowheads="1"/>
          </p:cNvSpPr>
          <p:nvPr>
            <p:ph idx="1"/>
          </p:nvPr>
        </p:nvSpPr>
        <p:spPr bwMode="auto">
          <a:xfrm>
            <a:off x="645066" y="2031101"/>
            <a:ext cx="4282984" cy="351194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a:buFont typeface="Arial" panose="020B0604020202020204" pitchFamily="34" charset="0"/>
              <a:buChar char="•"/>
            </a:pPr>
            <a:r>
              <a:rPr lang="en-GB" dirty="0">
                <a:latin typeface="Arial" panose="020B0604020202020204" pitchFamily="34" charset="0"/>
                <a:cs typeface="Arial" panose="020B0604020202020204" pitchFamily="34" charset="0"/>
              </a:rPr>
              <a:t>Initialize weights randomly</a:t>
            </a:r>
          </a:p>
          <a:p>
            <a:pPr>
              <a:buFont typeface="Arial" panose="020B0604020202020204" pitchFamily="34" charset="0"/>
              <a:buChar char="•"/>
            </a:pPr>
            <a:r>
              <a:rPr lang="en-GB" dirty="0">
                <a:latin typeface="Arial" panose="020B0604020202020204" pitchFamily="34" charset="0"/>
                <a:cs typeface="Arial" panose="020B0604020202020204" pitchFamily="34" charset="0"/>
              </a:rPr>
              <a:t>Compute output</a:t>
            </a:r>
          </a:p>
          <a:p>
            <a:pPr>
              <a:buFont typeface="Arial" panose="020B0604020202020204" pitchFamily="34" charset="0"/>
              <a:buChar char="•"/>
            </a:pPr>
            <a:r>
              <a:rPr lang="en-GB" dirty="0">
                <a:latin typeface="Arial" panose="020B0604020202020204" pitchFamily="34" charset="0"/>
                <a:cs typeface="Arial" panose="020B0604020202020204" pitchFamily="34" charset="0"/>
              </a:rPr>
              <a:t>Adjust weights based on error</a:t>
            </a:r>
          </a:p>
          <a:p>
            <a:pPr>
              <a:buFont typeface="Arial" panose="020B0604020202020204" pitchFamily="34" charset="0"/>
              <a:buChar char="•"/>
            </a:pPr>
            <a:r>
              <a:rPr lang="en-GB" dirty="0">
                <a:latin typeface="Arial" panose="020B0604020202020204" pitchFamily="34" charset="0"/>
                <a:cs typeface="Arial" panose="020B0604020202020204" pitchFamily="34" charset="0"/>
              </a:rPr>
              <a:t>Repeat until the error is minimized</a:t>
            </a:r>
          </a:p>
        </p:txBody>
      </p:sp>
      <p:sp>
        <p:nvSpPr>
          <p:cNvPr id="25" name="Rectangle 2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math equations on a white background&#10;&#10;Description automatically generated">
            <a:extLst>
              <a:ext uri="{FF2B5EF4-FFF2-40B4-BE49-F238E27FC236}">
                <a16:creationId xmlns:a16="http://schemas.microsoft.com/office/drawing/2014/main" id="{5508DEF1-0308-373F-002F-47B87FCB26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3407" y="1646682"/>
            <a:ext cx="6051744" cy="3564000"/>
          </a:xfrm>
          <a:prstGeom prst="rect">
            <a:avLst/>
          </a:prstGeom>
        </p:spPr>
      </p:pic>
    </p:spTree>
    <p:extLst>
      <p:ext uri="{BB962C8B-B14F-4D97-AF65-F5344CB8AC3E}">
        <p14:creationId xmlns:p14="http://schemas.microsoft.com/office/powerpoint/2010/main" val="3512417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38C1D8-EEF4-CFFA-24C7-EC177264BD2C}"/>
              </a:ext>
            </a:extLst>
          </p:cNvPr>
          <p:cNvSpPr>
            <a:spLocks noGrp="1"/>
          </p:cNvSpPr>
          <p:nvPr>
            <p:ph type="title" idx="4294967295"/>
          </p:nvPr>
        </p:nvSpPr>
        <p:spPr>
          <a:xfrm>
            <a:off x="1115568" y="548640"/>
            <a:ext cx="10168128" cy="1179576"/>
          </a:xfrm>
        </p:spPr>
        <p:txBody>
          <a:bodyPr vert="horz" lIns="91440" tIns="45720" rIns="91440" bIns="45720" rtlCol="0" anchor="ctr">
            <a:normAutofit/>
          </a:bodyPr>
          <a:lstStyle/>
          <a:p>
            <a:r>
              <a:rPr lang="en-US" sz="4000" b="1" kern="1200" dirty="0">
                <a:solidFill>
                  <a:schemeClr val="tx1"/>
                </a:solidFill>
                <a:latin typeface="+mj-lt"/>
                <a:ea typeface="+mj-ea"/>
                <a:cs typeface="+mj-cs"/>
              </a:rPr>
              <a:t>Limitation of Perceptron</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Rectangle 1">
            <a:extLst>
              <a:ext uri="{FF2B5EF4-FFF2-40B4-BE49-F238E27FC236}">
                <a16:creationId xmlns:a16="http://schemas.microsoft.com/office/drawing/2014/main" id="{CBA777A2-5B53-68DB-A8A6-036FECAEDEC3}"/>
              </a:ext>
            </a:extLst>
          </p:cNvPr>
          <p:cNvSpPr>
            <a:spLocks noGrp="1" noChangeArrowheads="1"/>
          </p:cNvSpPr>
          <p:nvPr>
            <p:ph idx="4294967295"/>
          </p:nvPr>
        </p:nvSpPr>
        <p:spPr bwMode="auto">
          <a:xfrm>
            <a:off x="1115568" y="2106592"/>
            <a:ext cx="10168128" cy="450147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a:buFont typeface="Arial" panose="020B0604020202020204" pitchFamily="34" charset="0"/>
              <a:buChar char="•"/>
            </a:pPr>
            <a:r>
              <a:rPr lang="en-GB" sz="2400" dirty="0"/>
              <a:t>Cannot solve </a:t>
            </a:r>
            <a:r>
              <a:rPr lang="en-GB" sz="2400" b="1" dirty="0"/>
              <a:t>non-linearly separable problems</a:t>
            </a:r>
            <a:r>
              <a:rPr lang="en-GB" sz="2400" dirty="0"/>
              <a:t> (e.g., XOR problem)</a:t>
            </a:r>
          </a:p>
          <a:p>
            <a:pPr>
              <a:buFont typeface="Arial" panose="020B0604020202020204" pitchFamily="34" charset="0"/>
              <a:buChar char="•"/>
            </a:pPr>
            <a:r>
              <a:rPr lang="en-GB" sz="2400" dirty="0"/>
              <a:t>Only works for simple tasks</a:t>
            </a:r>
          </a:p>
          <a:p>
            <a:pPr>
              <a:buFont typeface="Arial" panose="020B0604020202020204" pitchFamily="34" charset="0"/>
              <a:buChar char="•"/>
            </a:pPr>
            <a:r>
              <a:rPr lang="en-GB" sz="2400" dirty="0"/>
              <a:t>Solution: </a:t>
            </a:r>
            <a:r>
              <a:rPr lang="en-GB" sz="2400" b="1" dirty="0"/>
              <a:t>Use Multi-Layer Networks &amp; Backpropagation</a:t>
            </a:r>
          </a:p>
          <a:p>
            <a:pPr marL="0" indent="0">
              <a:buNone/>
            </a:pPr>
            <a:endParaRPr lang="en-GB" sz="2400" b="1" dirty="0"/>
          </a:p>
          <a:p>
            <a:pPr marL="0" indent="0" algn="just">
              <a:buNone/>
            </a:pPr>
            <a:r>
              <a:rPr lang="en-GB" sz="2400" b="1" dirty="0"/>
              <a:t>Non-linearly separable problems</a:t>
            </a:r>
            <a:endParaRPr lang="en-GB" sz="2400" dirty="0">
              <a:latin typeface="Arial" panose="020B0604020202020204" pitchFamily="34" charset="0"/>
              <a:cs typeface="Arial" panose="020B0604020202020204" pitchFamily="34" charset="0"/>
            </a:endParaRPr>
          </a:p>
          <a:p>
            <a:pPr algn="just"/>
            <a:r>
              <a:rPr lang="en-GB" sz="2400" b="0" i="0" dirty="0">
                <a:effectLst/>
                <a:latin typeface="Arial" panose="020B0604020202020204" pitchFamily="34" charset="0"/>
                <a:cs typeface="Arial" panose="020B0604020202020204" pitchFamily="34" charset="0"/>
              </a:rPr>
              <a:t>A "non-linearly separable problem" in machine learning refers to </a:t>
            </a:r>
            <a:r>
              <a:rPr lang="en-GB" sz="2400" dirty="0">
                <a:latin typeface="Arial" panose="020B0604020202020204" pitchFamily="34" charset="0"/>
                <a:cs typeface="Arial" panose="020B0604020202020204" pitchFamily="34" charset="0"/>
              </a:rPr>
              <a:t>a dataset where the different classes of data cannot be separated by a straight line</a:t>
            </a:r>
            <a:r>
              <a:rPr lang="en-GB" sz="2400" b="0" i="0" dirty="0">
                <a:effectLst/>
                <a:latin typeface="Arial" panose="020B0604020202020204" pitchFamily="34" charset="0"/>
                <a:cs typeface="Arial" panose="020B0604020202020204" pitchFamily="34" charset="0"/>
              </a:rPr>
              <a:t> (or hyperplane in higher dimensions), meaning a simple linear model cannot effectively classify the data, and more complex non-linear functions are required to distinguish between the classes.</a:t>
            </a:r>
            <a:endParaRPr lang="en-GB"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952541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9B1977-8B81-676C-8BED-6FA51E4B232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F7362F7-399F-DA73-06F0-C61D15132DCD}"/>
              </a:ext>
            </a:extLst>
          </p:cNvPr>
          <p:cNvSpPr>
            <a:spLocks noGrp="1"/>
          </p:cNvSpPr>
          <p:nvPr>
            <p:ph type="title" idx="4294967295"/>
          </p:nvPr>
        </p:nvSpPr>
        <p:spPr>
          <a:xfrm>
            <a:off x="1115568" y="548640"/>
            <a:ext cx="10168128" cy="1179576"/>
          </a:xfrm>
        </p:spPr>
        <p:txBody>
          <a:bodyPr vert="horz" lIns="91440" tIns="45720" rIns="91440" bIns="45720" rtlCol="0" anchor="ctr">
            <a:normAutofit/>
          </a:bodyPr>
          <a:lstStyle/>
          <a:p>
            <a:r>
              <a:rPr lang="en-US" sz="4000" b="1" kern="1200" dirty="0">
                <a:solidFill>
                  <a:schemeClr val="tx1"/>
                </a:solidFill>
                <a:latin typeface="+mj-lt"/>
                <a:ea typeface="+mj-ea"/>
                <a:cs typeface="+mj-cs"/>
              </a:rPr>
              <a:t>Backpropagation Algorithm</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Rectangle 2">
            <a:extLst>
              <a:ext uri="{FF2B5EF4-FFF2-40B4-BE49-F238E27FC236}">
                <a16:creationId xmlns:a16="http://schemas.microsoft.com/office/drawing/2014/main" id="{3848C2F3-B53A-13F6-F4D8-FE4F0C8A8523}"/>
              </a:ext>
            </a:extLst>
          </p:cNvPr>
          <p:cNvSpPr>
            <a:spLocks noGrp="1" noChangeArrowheads="1"/>
          </p:cNvSpPr>
          <p:nvPr>
            <p:ph idx="4294967295"/>
          </p:nvPr>
        </p:nvSpPr>
        <p:spPr bwMode="auto">
          <a:xfrm>
            <a:off x="626850" y="2496200"/>
            <a:ext cx="11095759" cy="3599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Roboto" panose="02000000000000000000" pitchFamily="2" charset="0"/>
              </a:rPr>
              <a:t>Backpropagation is a fundamental algorithm used to train artificial neural networks, particularly feed-forward neural networks. </a:t>
            </a:r>
          </a:p>
          <a:p>
            <a:r>
              <a:rPr lang="en-US" dirty="0">
                <a:latin typeface="Roboto" panose="02000000000000000000" pitchFamily="2" charset="0"/>
              </a:rPr>
              <a:t>It is an iterative method that helps minimize the cost function by adjusting the weights and biases of the network. </a:t>
            </a:r>
          </a:p>
          <a:p>
            <a:r>
              <a:rPr lang="en-US" dirty="0">
                <a:latin typeface="Roboto" panose="02000000000000000000" pitchFamily="2" charset="0"/>
              </a:rPr>
              <a:t>This process involves two main passes: </a:t>
            </a:r>
          </a:p>
          <a:p>
            <a:pPr lvl="1"/>
            <a:r>
              <a:rPr lang="en-US" dirty="0">
                <a:latin typeface="Roboto" panose="02000000000000000000" pitchFamily="2" charset="0"/>
              </a:rPr>
              <a:t>forward pass </a:t>
            </a:r>
          </a:p>
          <a:p>
            <a:pPr lvl="1"/>
            <a:r>
              <a:rPr lang="en-US" dirty="0">
                <a:latin typeface="Roboto" panose="02000000000000000000" pitchFamily="2" charset="0"/>
              </a:rPr>
              <a:t>backward pass.</a:t>
            </a:r>
          </a:p>
          <a:p>
            <a:endParaRPr lang="en-US" dirty="0"/>
          </a:p>
        </p:txBody>
      </p:sp>
    </p:spTree>
    <p:extLst>
      <p:ext uri="{BB962C8B-B14F-4D97-AF65-F5344CB8AC3E}">
        <p14:creationId xmlns:p14="http://schemas.microsoft.com/office/powerpoint/2010/main" val="32723740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C53D25-E2F3-7B8D-E884-CE35586F64D4}"/>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22F30-EE05-EF2F-6A42-1BE905464F5F}"/>
              </a:ext>
            </a:extLst>
          </p:cNvPr>
          <p:cNvSpPr>
            <a:spLocks noGrp="1"/>
          </p:cNvSpPr>
          <p:nvPr>
            <p:ph type="title" idx="4294967295"/>
          </p:nvPr>
        </p:nvSpPr>
        <p:spPr>
          <a:xfrm>
            <a:off x="612648" y="603504"/>
            <a:ext cx="5862396" cy="743515"/>
          </a:xfrm>
        </p:spPr>
        <p:txBody>
          <a:bodyPr vert="horz" lIns="91440" tIns="45720" rIns="91440" bIns="45720" rtlCol="0" anchor="b">
            <a:normAutofit/>
          </a:bodyPr>
          <a:lstStyle/>
          <a:p>
            <a:r>
              <a:rPr lang="en-US" sz="3600" b="1" kern="1200" dirty="0">
                <a:solidFill>
                  <a:schemeClr val="tx1"/>
                </a:solidFill>
                <a:latin typeface="+mj-lt"/>
                <a:ea typeface="+mj-ea"/>
                <a:cs typeface="+mj-cs"/>
              </a:rPr>
              <a:t>Forward Pass</a:t>
            </a:r>
          </a:p>
        </p:txBody>
      </p:sp>
      <p:sp>
        <p:nvSpPr>
          <p:cNvPr id="5" name="Rectangle 2">
            <a:extLst>
              <a:ext uri="{FF2B5EF4-FFF2-40B4-BE49-F238E27FC236}">
                <a16:creationId xmlns:a16="http://schemas.microsoft.com/office/drawing/2014/main" id="{BCE602AF-1A4A-46EC-0B86-787C9FF7920D}"/>
              </a:ext>
            </a:extLst>
          </p:cNvPr>
          <p:cNvSpPr>
            <a:spLocks noGrp="1" noChangeArrowheads="1"/>
          </p:cNvSpPr>
          <p:nvPr>
            <p:ph idx="4294967295"/>
          </p:nvPr>
        </p:nvSpPr>
        <p:spPr bwMode="auto">
          <a:xfrm>
            <a:off x="612648" y="1584493"/>
            <a:ext cx="5862396" cy="456066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a:bodyPr>
          <a:lstStyle/>
          <a:p>
            <a:pPr fontAlgn="base">
              <a:lnSpc>
                <a:spcPct val="120000"/>
              </a:lnSpc>
              <a:spcBef>
                <a:spcPct val="0"/>
              </a:spcBef>
              <a:spcAft>
                <a:spcPts val="600"/>
              </a:spcAft>
            </a:pPr>
            <a:r>
              <a:rPr lang="en-US" sz="2400" dirty="0"/>
              <a:t>In the forward pass, the input data is fed into the input layer of the neural network. </a:t>
            </a:r>
          </a:p>
          <a:p>
            <a:pPr fontAlgn="base">
              <a:lnSpc>
                <a:spcPct val="120000"/>
              </a:lnSpc>
              <a:spcBef>
                <a:spcPct val="0"/>
              </a:spcBef>
              <a:spcAft>
                <a:spcPts val="600"/>
              </a:spcAft>
            </a:pPr>
            <a:r>
              <a:rPr lang="en-US" sz="2400" dirty="0"/>
              <a:t>The inputs are then passed through the hidden layers, where each neuron computes a weighted sum of its inputs, adds a bias, and applies an activation function. </a:t>
            </a:r>
          </a:p>
          <a:p>
            <a:pPr fontAlgn="base">
              <a:lnSpc>
                <a:spcPct val="120000"/>
              </a:lnSpc>
              <a:spcBef>
                <a:spcPct val="0"/>
              </a:spcBef>
              <a:spcAft>
                <a:spcPts val="600"/>
              </a:spcAft>
            </a:pPr>
            <a:r>
              <a:rPr lang="en-US" sz="2400" dirty="0"/>
              <a:t>The output of each hidden layer is used as the input for the next layer.</a:t>
            </a:r>
          </a:p>
          <a:p>
            <a:pPr fontAlgn="base">
              <a:lnSpc>
                <a:spcPct val="120000"/>
              </a:lnSpc>
              <a:spcBef>
                <a:spcPct val="0"/>
              </a:spcBef>
              <a:spcAft>
                <a:spcPts val="600"/>
              </a:spcAft>
            </a:pPr>
            <a:r>
              <a:rPr lang="en-US" sz="2400" dirty="0"/>
              <a:t> Finally, the output layer produces the network's prediction.</a:t>
            </a:r>
            <a:endParaRPr kumimoji="0" lang="en-US" altLang="en-PK" sz="2400" i="0" u="none" strike="noStrike" cap="none" normalizeH="0" baseline="0" dirty="0">
              <a:ln>
                <a:noFill/>
              </a:ln>
              <a:effectLst/>
            </a:endParaRPr>
          </a:p>
        </p:txBody>
      </p:sp>
      <p:pic>
        <p:nvPicPr>
          <p:cNvPr id="3" name="Picture 2">
            <a:extLst>
              <a:ext uri="{FF2B5EF4-FFF2-40B4-BE49-F238E27FC236}">
                <a16:creationId xmlns:a16="http://schemas.microsoft.com/office/drawing/2014/main" id="{0CF94525-E984-EDE9-22CE-0C99ABEC408B}"/>
              </a:ext>
            </a:extLst>
          </p:cNvPr>
          <p:cNvPicPr>
            <a:picLocks noChangeAspect="1"/>
          </p:cNvPicPr>
          <p:nvPr/>
        </p:nvPicPr>
        <p:blipFill>
          <a:blip r:embed="rId2"/>
          <a:stretch>
            <a:fillRect/>
          </a:stretch>
        </p:blipFill>
        <p:spPr>
          <a:xfrm>
            <a:off x="6475044" y="900135"/>
            <a:ext cx="5297857" cy="5018344"/>
          </a:xfrm>
          <a:prstGeom prst="rect">
            <a:avLst/>
          </a:prstGeom>
        </p:spPr>
      </p:pic>
    </p:spTree>
    <p:extLst>
      <p:ext uri="{BB962C8B-B14F-4D97-AF65-F5344CB8AC3E}">
        <p14:creationId xmlns:p14="http://schemas.microsoft.com/office/powerpoint/2010/main" val="5076294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1B551F-E3D6-6E7B-BECE-7DE51AFF492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AC584A-6515-97CC-1CA7-A6B1104AC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D2132FE9-58DA-4B36-0470-0B5E1ACE2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ECD39E8F-B1FB-BE36-27AC-64B8B0D00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E2B5F7-1448-9B0A-6B7F-275A96486747}"/>
              </a:ext>
            </a:extLst>
          </p:cNvPr>
          <p:cNvSpPr>
            <a:spLocks noGrp="1"/>
          </p:cNvSpPr>
          <p:nvPr>
            <p:ph type="title" idx="4294967295"/>
          </p:nvPr>
        </p:nvSpPr>
        <p:spPr>
          <a:xfrm>
            <a:off x="1115568" y="548640"/>
            <a:ext cx="10168128" cy="650999"/>
          </a:xfrm>
        </p:spPr>
        <p:txBody>
          <a:bodyPr vert="horz" lIns="91440" tIns="45720" rIns="91440" bIns="45720" rtlCol="0" anchor="ctr">
            <a:normAutofit/>
          </a:bodyPr>
          <a:lstStyle/>
          <a:p>
            <a:r>
              <a:rPr lang="en-US" sz="4000" b="1" kern="1200" dirty="0">
                <a:solidFill>
                  <a:schemeClr val="tx1"/>
                </a:solidFill>
                <a:latin typeface="+mj-lt"/>
                <a:ea typeface="+mj-ea"/>
                <a:cs typeface="+mj-cs"/>
              </a:rPr>
              <a:t>Backward Pass</a:t>
            </a:r>
          </a:p>
        </p:txBody>
      </p:sp>
      <p:sp>
        <p:nvSpPr>
          <p:cNvPr id="14" name="Rectangle 13">
            <a:extLst>
              <a:ext uri="{FF2B5EF4-FFF2-40B4-BE49-F238E27FC236}">
                <a16:creationId xmlns:a16="http://schemas.microsoft.com/office/drawing/2014/main" id="{6886F5FA-9E9F-4458-D24F-AA93C4398A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Rectangle 2">
            <a:extLst>
              <a:ext uri="{FF2B5EF4-FFF2-40B4-BE49-F238E27FC236}">
                <a16:creationId xmlns:a16="http://schemas.microsoft.com/office/drawing/2014/main" id="{BF0F76DE-8562-0B58-86AE-5F844E71B195}"/>
              </a:ext>
            </a:extLst>
          </p:cNvPr>
          <p:cNvSpPr>
            <a:spLocks noGrp="1" noChangeArrowheads="1"/>
          </p:cNvSpPr>
          <p:nvPr>
            <p:ph idx="4294967295"/>
          </p:nvPr>
        </p:nvSpPr>
        <p:spPr bwMode="auto">
          <a:xfrm>
            <a:off x="498834" y="1785045"/>
            <a:ext cx="608858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pPr>
            <a:r>
              <a:rPr lang="en-US" sz="2400" dirty="0"/>
              <a:t>In the backward pass, the error is propagated back through the network to update the weights and biases. </a:t>
            </a:r>
          </a:p>
          <a:p>
            <a:pPr algn="just" eaLnBrk="0" fontAlgn="base" hangingPunct="0">
              <a:lnSpc>
                <a:spcPct val="100000"/>
              </a:lnSpc>
              <a:spcBef>
                <a:spcPct val="0"/>
              </a:spcBef>
              <a:spcAft>
                <a:spcPct val="0"/>
              </a:spcAft>
            </a:pPr>
            <a:r>
              <a:rPr lang="en-US" sz="2400" dirty="0"/>
              <a:t>The error is calculated as the difference between the predicted output and the actual output. </a:t>
            </a:r>
          </a:p>
          <a:p>
            <a:pPr algn="just" eaLnBrk="0" fontAlgn="base" hangingPunct="0">
              <a:lnSpc>
                <a:spcPct val="100000"/>
              </a:lnSpc>
              <a:spcBef>
                <a:spcPct val="0"/>
              </a:spcBef>
              <a:spcAft>
                <a:spcPct val="0"/>
              </a:spcAft>
            </a:pPr>
            <a:r>
              <a:rPr lang="en-US" sz="2400" dirty="0"/>
              <a:t>The gradients of the error with respect to each weight and bias are computed using the chain rule. </a:t>
            </a:r>
          </a:p>
          <a:p>
            <a:pPr algn="just" eaLnBrk="0" fontAlgn="base" hangingPunct="0">
              <a:lnSpc>
                <a:spcPct val="100000"/>
              </a:lnSpc>
              <a:spcBef>
                <a:spcPct val="0"/>
              </a:spcBef>
              <a:spcAft>
                <a:spcPct val="0"/>
              </a:spcAft>
            </a:pPr>
            <a:r>
              <a:rPr lang="en-US" sz="2400" dirty="0"/>
              <a:t>These gradients indicate how much each weight and bias should be adjusted to minimize the error.</a:t>
            </a:r>
            <a:endParaRPr kumimoji="0" lang="it-IT" altLang="en-PK" sz="240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26DD6E3-EC70-2924-980A-7C5C5FFB8522}"/>
              </a:ext>
            </a:extLst>
          </p:cNvPr>
          <p:cNvPicPr>
            <a:picLocks noChangeAspect="1"/>
          </p:cNvPicPr>
          <p:nvPr/>
        </p:nvPicPr>
        <p:blipFill>
          <a:blip r:embed="rId3"/>
          <a:srcRect l="40609" t="5423"/>
          <a:stretch>
            <a:fillRect/>
          </a:stretch>
        </p:blipFill>
        <p:spPr>
          <a:xfrm>
            <a:off x="6756698" y="885992"/>
            <a:ext cx="5075637" cy="5423368"/>
          </a:xfrm>
          <a:prstGeom prst="rect">
            <a:avLst/>
          </a:prstGeom>
        </p:spPr>
      </p:pic>
    </p:spTree>
    <p:extLst>
      <p:ext uri="{BB962C8B-B14F-4D97-AF65-F5344CB8AC3E}">
        <p14:creationId xmlns:p14="http://schemas.microsoft.com/office/powerpoint/2010/main" val="3569936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CC6ACF-B3DE-23AD-467E-4D9DAC9B2702}"/>
              </a:ext>
            </a:extLst>
          </p:cNvPr>
          <p:cNvSpPr txBox="1"/>
          <p:nvPr/>
        </p:nvSpPr>
        <p:spPr>
          <a:xfrm>
            <a:off x="1061885" y="1680919"/>
            <a:ext cx="10038734" cy="1815882"/>
          </a:xfrm>
          <a:prstGeom prst="rect">
            <a:avLst/>
          </a:prstGeom>
          <a:noFill/>
        </p:spPr>
        <p:txBody>
          <a:bodyPr wrap="square">
            <a:spAutoFit/>
          </a:bodyPr>
          <a:lstStyle/>
          <a:p>
            <a:pPr algn="just"/>
            <a:r>
              <a:rPr lang="en-US" sz="2800" dirty="0"/>
              <a:t>The backpropagation algorithm is essential for training neural networks as it efficiently computes the gradients needed to update the weights and biases, enabling the network to learn from data and make accurate predictions</a:t>
            </a:r>
          </a:p>
        </p:txBody>
      </p:sp>
    </p:spTree>
    <p:extLst>
      <p:ext uri="{BB962C8B-B14F-4D97-AF65-F5344CB8AC3E}">
        <p14:creationId xmlns:p14="http://schemas.microsoft.com/office/powerpoint/2010/main" val="3653797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25AF8D-4EE7-8D39-B7D7-F5F79BEB77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420938-4DBB-E547-3CD6-14612017FACD}"/>
              </a:ext>
            </a:extLst>
          </p:cNvPr>
          <p:cNvSpPr>
            <a:spLocks noGrp="1"/>
          </p:cNvSpPr>
          <p:nvPr>
            <p:ph type="title"/>
          </p:nvPr>
        </p:nvSpPr>
        <p:spPr>
          <a:xfrm>
            <a:off x="686834" y="1153572"/>
            <a:ext cx="3200400" cy="4461163"/>
          </a:xfrm>
        </p:spPr>
        <p:txBody>
          <a:bodyPr>
            <a:normAutofit/>
          </a:bodyPr>
          <a:lstStyle/>
          <a:p>
            <a:r>
              <a:rPr lang="en-GB" b="1" dirty="0">
                <a:solidFill>
                  <a:srgbClr val="FFFFFF"/>
                </a:solidFill>
              </a:rPr>
              <a:t>Fuzzy Logics</a:t>
            </a:r>
            <a:endParaRPr lang="en-PK" b="1"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Rectangle 1">
            <a:extLst>
              <a:ext uri="{FF2B5EF4-FFF2-40B4-BE49-F238E27FC236}">
                <a16:creationId xmlns:a16="http://schemas.microsoft.com/office/drawing/2014/main" id="{77E05B4B-CF15-8C2A-DBC5-457444E9D186}"/>
              </a:ext>
            </a:extLst>
          </p:cNvPr>
          <p:cNvSpPr>
            <a:spLocks noGrp="1" noChangeArrowheads="1"/>
          </p:cNvSpPr>
          <p:nvPr>
            <p:ph idx="1"/>
          </p:nvPr>
        </p:nvSpPr>
        <p:spPr bwMode="auto">
          <a:xfrm>
            <a:off x="4727344" y="636190"/>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endParaRPr lang="en-GB" sz="1700" b="0" i="0" dirty="0">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n-PK" altLang="en-PK" sz="1700" b="0" i="0" u="none" strike="noStrike" cap="none" normalizeH="0" baseline="0" dirty="0">
              <a:ln>
                <a:noFill/>
              </a:ln>
              <a:effectLst/>
              <a:latin typeface="Arial" panose="020B0604020202020204" pitchFamily="34" charset="0"/>
              <a:cs typeface="Arial" panose="020B0604020202020204" pitchFamily="34" charset="0"/>
            </a:endParaRPr>
          </a:p>
        </p:txBody>
      </p:sp>
      <p:sp>
        <p:nvSpPr>
          <p:cNvPr id="7" name="Rectangle 4">
            <a:extLst>
              <a:ext uri="{FF2B5EF4-FFF2-40B4-BE49-F238E27FC236}">
                <a16:creationId xmlns:a16="http://schemas.microsoft.com/office/drawing/2014/main" id="{1115522D-24D1-54F2-1724-398DBA76DA68}"/>
              </a:ext>
            </a:extLst>
          </p:cNvPr>
          <p:cNvSpPr>
            <a:spLocks noChangeArrowheads="1"/>
          </p:cNvSpPr>
          <p:nvPr/>
        </p:nvSpPr>
        <p:spPr bwMode="auto">
          <a:xfrm>
            <a:off x="4748805" y="382011"/>
            <a:ext cx="686356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it-IT" altLang="en-PK" sz="2400" b="1" i="0" u="none" strike="noStrike" cap="none" normalizeH="0" baseline="0" dirty="0">
                <a:ln>
                  <a:noFill/>
                </a:ln>
                <a:effectLst/>
                <a:latin typeface="Arial" panose="020B0604020202020204" pitchFamily="34" charset="0"/>
              </a:rPr>
              <a:t>Introduction to Fuzzy Logic</a:t>
            </a:r>
            <a:endParaRPr kumimoji="0" lang="en-GB" altLang="en-PK" sz="24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2400" b="1" i="0" u="none" strike="noStrike" cap="none" normalizeH="0" baseline="0" dirty="0">
                <a:ln>
                  <a:noFill/>
                </a:ln>
                <a:solidFill>
                  <a:schemeClr val="tx1"/>
                </a:solidFill>
                <a:effectLst/>
                <a:latin typeface="Arial" panose="020B0604020202020204" pitchFamily="34" charset="0"/>
              </a:rPr>
              <a:t>Why Fuzzy?</a:t>
            </a:r>
            <a:r>
              <a:rPr kumimoji="0" lang="en-PK" altLang="en-PK" sz="2400" b="0" i="0" u="none" strike="noStrike" cap="none" normalizeH="0" baseline="0" dirty="0">
                <a:ln>
                  <a:noFill/>
                </a:ln>
                <a:solidFill>
                  <a:schemeClr val="tx1"/>
                </a:solidFill>
                <a:effectLst/>
                <a:latin typeface="Arial" panose="020B0604020202020204" pitchFamily="34" charset="0"/>
              </a:rPr>
              <a:t> Traditional logic is binary (0 or 1), but the real world is uncertain.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2400" b="1" i="0" u="none" strike="noStrike" cap="none" normalizeH="0" baseline="0" dirty="0">
                <a:ln>
                  <a:noFill/>
                </a:ln>
                <a:solidFill>
                  <a:schemeClr val="tx1"/>
                </a:solidFill>
                <a:effectLst/>
                <a:latin typeface="Arial" panose="020B0604020202020204" pitchFamily="34" charset="0"/>
              </a:rPr>
              <a:t>Fuzzy Logic</a:t>
            </a:r>
            <a:r>
              <a:rPr kumimoji="0" lang="en-PK" altLang="en-PK" sz="2400" b="0" i="0" u="none" strike="noStrike" cap="none" normalizeH="0" baseline="0" dirty="0">
                <a:ln>
                  <a:noFill/>
                </a:ln>
                <a:solidFill>
                  <a:schemeClr val="tx1"/>
                </a:solidFill>
                <a:effectLst/>
                <a:latin typeface="Arial" panose="020B0604020202020204" pitchFamily="34" charset="0"/>
              </a:rPr>
              <a:t> allows for partial truths (e.g., "somewhat cold" or "very hot").</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Used in </a:t>
            </a:r>
            <a:r>
              <a:rPr kumimoji="0" lang="en-PK" altLang="en-PK" sz="2400" b="1" i="0" u="none" strike="noStrike" cap="none" normalizeH="0" baseline="0" dirty="0">
                <a:ln>
                  <a:noFill/>
                </a:ln>
                <a:solidFill>
                  <a:schemeClr val="tx1"/>
                </a:solidFill>
                <a:effectLst/>
                <a:latin typeface="Arial" panose="020B0604020202020204" pitchFamily="34" charset="0"/>
              </a:rPr>
              <a:t>decision-making, control systems, and AI</a:t>
            </a:r>
            <a:r>
              <a:rPr kumimoji="0" lang="en-PK" altLang="en-PK" sz="2400" b="0" i="0" u="none" strike="noStrike" cap="none" normalizeH="0" baseline="0" dirty="0">
                <a:ln>
                  <a:noFill/>
                </a:ln>
                <a:solidFill>
                  <a:schemeClr val="tx1"/>
                </a:solidFill>
                <a:effectLst/>
                <a:latin typeface="Arial" panose="020B0604020202020204" pitchFamily="34" charset="0"/>
              </a:rPr>
              <a:t>. </a:t>
            </a:r>
            <a:endParaRPr kumimoji="0" lang="en-GB" altLang="en-PK" sz="24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it-IT" sz="2400" dirty="0"/>
              <a:t>Fuzzy Logic vs. Classical Logic</a:t>
            </a:r>
            <a:endParaRPr lang="en-GB" sz="2400"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PK" altLang="en-PK" sz="2400" b="0" i="0" u="none" strike="noStrike" cap="none" normalizeH="0" baseline="0" dirty="0">
              <a:ln>
                <a:noFill/>
              </a:ln>
              <a:solidFill>
                <a:schemeClr val="tx1"/>
              </a:solidFill>
              <a:effectLst/>
              <a:latin typeface="Arial" panose="020B0604020202020204" pitchFamily="34" charset="0"/>
            </a:endParaRPr>
          </a:p>
        </p:txBody>
      </p:sp>
      <p:graphicFrame>
        <p:nvGraphicFramePr>
          <p:cNvPr id="9" name="Table 8">
            <a:extLst>
              <a:ext uri="{FF2B5EF4-FFF2-40B4-BE49-F238E27FC236}">
                <a16:creationId xmlns:a16="http://schemas.microsoft.com/office/drawing/2014/main" id="{08D3C514-BFEC-5609-D3A0-C0F1E5F5588A}"/>
              </a:ext>
            </a:extLst>
          </p:cNvPr>
          <p:cNvGraphicFramePr>
            <a:graphicFrameLocks noGrp="1"/>
          </p:cNvGraphicFramePr>
          <p:nvPr>
            <p:extLst>
              <p:ext uri="{D42A27DB-BD31-4B8C-83A1-F6EECF244321}">
                <p14:modId xmlns:p14="http://schemas.microsoft.com/office/powerpoint/2010/main" val="3527754234"/>
              </p:ext>
            </p:extLst>
          </p:nvPr>
        </p:nvGraphicFramePr>
        <p:xfrm>
          <a:off x="4995694" y="3558221"/>
          <a:ext cx="6906492" cy="1752600"/>
        </p:xfrm>
        <a:graphic>
          <a:graphicData uri="http://schemas.openxmlformats.org/drawingml/2006/table">
            <a:tbl>
              <a:tblPr firstRow="1" bandRow="1">
                <a:tableStyleId>{5940675A-B579-460E-94D1-54222C63F5DA}</a:tableStyleId>
              </a:tblPr>
              <a:tblGrid>
                <a:gridCol w="3453246">
                  <a:extLst>
                    <a:ext uri="{9D8B030D-6E8A-4147-A177-3AD203B41FA5}">
                      <a16:colId xmlns:a16="http://schemas.microsoft.com/office/drawing/2014/main" val="405984754"/>
                    </a:ext>
                  </a:extLst>
                </a:gridCol>
                <a:gridCol w="3453246">
                  <a:extLst>
                    <a:ext uri="{9D8B030D-6E8A-4147-A177-3AD203B41FA5}">
                      <a16:colId xmlns:a16="http://schemas.microsoft.com/office/drawing/2014/main" val="587647766"/>
                    </a:ext>
                  </a:extLst>
                </a:gridCol>
              </a:tblGrid>
              <a:tr h="370840">
                <a:tc>
                  <a:txBody>
                    <a:bodyPr/>
                    <a:lstStyle/>
                    <a:p>
                      <a:r>
                        <a:rPr lang="en-GB" b="1" dirty="0"/>
                        <a:t>Classical Logic (Binary)</a:t>
                      </a:r>
                      <a:endParaRPr lang="en-PK" b="1" dirty="0"/>
                    </a:p>
                  </a:txBody>
                  <a:tcPr/>
                </a:tc>
                <a:tc>
                  <a:txBody>
                    <a:bodyPr/>
                    <a:lstStyle/>
                    <a:p>
                      <a:r>
                        <a:rPr lang="en-GB" b="1" dirty="0"/>
                        <a:t>Fuzzy Logic</a:t>
                      </a:r>
                    </a:p>
                  </a:txBody>
                  <a:tcPr/>
                </a:tc>
                <a:extLst>
                  <a:ext uri="{0D108BD9-81ED-4DB2-BD59-A6C34878D82A}">
                    <a16:rowId xmlns:a16="http://schemas.microsoft.com/office/drawing/2014/main" val="1010859264"/>
                  </a:ext>
                </a:extLst>
              </a:tr>
              <a:tr h="370840">
                <a:tc>
                  <a:txBody>
                    <a:bodyPr/>
                    <a:lstStyle/>
                    <a:p>
                      <a:r>
                        <a:rPr lang="en-GB" dirty="0"/>
                        <a:t>Yes or No (0 or 1)	</a:t>
                      </a:r>
                      <a:endParaRPr lang="en-PK" dirty="0"/>
                    </a:p>
                  </a:txBody>
                  <a:tcPr/>
                </a:tc>
                <a:tc>
                  <a:txBody>
                    <a:bodyPr/>
                    <a:lstStyle/>
                    <a:p>
                      <a:r>
                        <a:rPr lang="en-GB" dirty="0"/>
                        <a:t>Degrees of truth (0 to 1)</a:t>
                      </a:r>
                    </a:p>
                  </a:txBody>
                  <a:tcPr/>
                </a:tc>
                <a:extLst>
                  <a:ext uri="{0D108BD9-81ED-4DB2-BD59-A6C34878D82A}">
                    <a16:rowId xmlns:a16="http://schemas.microsoft.com/office/drawing/2014/main" val="300633154"/>
                  </a:ext>
                </a:extLst>
              </a:tr>
              <a:tr h="370840">
                <a:tc>
                  <a:txBody>
                    <a:bodyPr/>
                    <a:lstStyle/>
                    <a:p>
                      <a:r>
                        <a:rPr lang="en-GB" dirty="0"/>
                        <a:t>Rigid decision-making	</a:t>
                      </a:r>
                      <a:endParaRPr lang="en-PK" dirty="0"/>
                    </a:p>
                  </a:txBody>
                  <a:tcPr/>
                </a:tc>
                <a:tc>
                  <a:txBody>
                    <a:bodyPr/>
                    <a:lstStyle/>
                    <a:p>
                      <a:r>
                        <a:rPr lang="en-GB" dirty="0"/>
                        <a:t>Handles uncertainty</a:t>
                      </a:r>
                    </a:p>
                  </a:txBody>
                  <a:tcPr/>
                </a:tc>
                <a:extLst>
                  <a:ext uri="{0D108BD9-81ED-4DB2-BD59-A6C34878D82A}">
                    <a16:rowId xmlns:a16="http://schemas.microsoft.com/office/drawing/2014/main" val="126092206"/>
                  </a:ext>
                </a:extLst>
              </a:tr>
              <a:tr h="370840">
                <a:tc>
                  <a:txBody>
                    <a:bodyPr/>
                    <a:lstStyle/>
                    <a:p>
                      <a:r>
                        <a:rPr lang="en-GB" dirty="0"/>
                        <a:t>Example: Light is ON/OFF	</a:t>
                      </a:r>
                      <a:endParaRPr lang="en-PK" dirty="0"/>
                    </a:p>
                  </a:txBody>
                  <a:tcPr/>
                </a:tc>
                <a:tc>
                  <a:txBody>
                    <a:bodyPr/>
                    <a:lstStyle/>
                    <a:p>
                      <a:r>
                        <a:rPr lang="en-GB" dirty="0"/>
                        <a:t>Example: Light is Dim, Bright, Medium</a:t>
                      </a:r>
                      <a:endParaRPr lang="en-PK" dirty="0"/>
                    </a:p>
                  </a:txBody>
                  <a:tcPr/>
                </a:tc>
                <a:extLst>
                  <a:ext uri="{0D108BD9-81ED-4DB2-BD59-A6C34878D82A}">
                    <a16:rowId xmlns:a16="http://schemas.microsoft.com/office/drawing/2014/main" val="3562531061"/>
                  </a:ext>
                </a:extLst>
              </a:tr>
            </a:tbl>
          </a:graphicData>
        </a:graphic>
      </p:graphicFrame>
    </p:spTree>
    <p:extLst>
      <p:ext uri="{BB962C8B-B14F-4D97-AF65-F5344CB8AC3E}">
        <p14:creationId xmlns:p14="http://schemas.microsoft.com/office/powerpoint/2010/main" val="1140747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C643D1-353B-01F0-7BCF-EB40C75661E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E9E16B-D449-34E4-A171-0481D4A30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F5E5078-8BEE-8A44-F87D-6E7C576034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75E198-DB82-D77D-23B2-D618D38220D7}"/>
              </a:ext>
            </a:extLst>
          </p:cNvPr>
          <p:cNvSpPr>
            <a:spLocks noGrp="1"/>
          </p:cNvSpPr>
          <p:nvPr>
            <p:ph type="title"/>
          </p:nvPr>
        </p:nvSpPr>
        <p:spPr>
          <a:xfrm>
            <a:off x="686834" y="1153572"/>
            <a:ext cx="3200400" cy="4461163"/>
          </a:xfrm>
        </p:spPr>
        <p:txBody>
          <a:bodyPr>
            <a:normAutofit/>
          </a:bodyPr>
          <a:lstStyle/>
          <a:p>
            <a:r>
              <a:rPr lang="en-GB" b="1" dirty="0">
                <a:solidFill>
                  <a:srgbClr val="FFFFFF"/>
                </a:solidFill>
              </a:rPr>
              <a:t>Fuzzy and Hybrid Intelligent Systems</a:t>
            </a:r>
            <a:endParaRPr lang="en-PK" b="1" dirty="0">
              <a:solidFill>
                <a:srgbClr val="FFFFFF"/>
              </a:solidFill>
            </a:endParaRPr>
          </a:p>
        </p:txBody>
      </p:sp>
      <p:sp>
        <p:nvSpPr>
          <p:cNvPr id="12" name="Arc 11">
            <a:extLst>
              <a:ext uri="{FF2B5EF4-FFF2-40B4-BE49-F238E27FC236}">
                <a16:creationId xmlns:a16="http://schemas.microsoft.com/office/drawing/2014/main" id="{5F854B00-BF2C-4490-D197-D0A883445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Rectangle 1">
            <a:extLst>
              <a:ext uri="{FF2B5EF4-FFF2-40B4-BE49-F238E27FC236}">
                <a16:creationId xmlns:a16="http://schemas.microsoft.com/office/drawing/2014/main" id="{C52D2F1E-011F-192F-CE9A-925C7425A226}"/>
              </a:ext>
            </a:extLst>
          </p:cNvPr>
          <p:cNvSpPr>
            <a:spLocks noGrp="1" noChangeArrowheads="1"/>
          </p:cNvSpPr>
          <p:nvPr>
            <p:ph idx="1"/>
          </p:nvPr>
        </p:nvSpPr>
        <p:spPr bwMode="auto">
          <a:xfrm>
            <a:off x="4727344" y="636190"/>
            <a:ext cx="6906491" cy="55856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ct val="0"/>
              </a:spcAft>
              <a:buClrTx/>
              <a:buSzTx/>
              <a:buFontTx/>
              <a:buNone/>
              <a:tabLst/>
            </a:pPr>
            <a:endParaRPr lang="en-GB" sz="1700" b="0" i="0" dirty="0">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ct val="0"/>
              </a:spcAft>
              <a:buClrTx/>
              <a:buSzTx/>
              <a:buFontTx/>
              <a:buNone/>
              <a:tabLst/>
            </a:pPr>
            <a:endParaRPr kumimoji="0" lang="en-PK" altLang="en-PK" sz="1700" b="0" i="0" u="none" strike="noStrike" cap="none" normalizeH="0" baseline="0" dirty="0">
              <a:ln>
                <a:noFill/>
              </a:ln>
              <a:effectLst/>
              <a:latin typeface="Arial" panose="020B0604020202020204" pitchFamily="34" charset="0"/>
              <a:cs typeface="Arial" panose="020B0604020202020204" pitchFamily="34" charset="0"/>
            </a:endParaRPr>
          </a:p>
        </p:txBody>
      </p:sp>
      <p:sp>
        <p:nvSpPr>
          <p:cNvPr id="7" name="Rectangle 4">
            <a:extLst>
              <a:ext uri="{FF2B5EF4-FFF2-40B4-BE49-F238E27FC236}">
                <a16:creationId xmlns:a16="http://schemas.microsoft.com/office/drawing/2014/main" id="{D6B51541-18E8-B473-B4FB-90FC4E2A987C}"/>
              </a:ext>
            </a:extLst>
          </p:cNvPr>
          <p:cNvSpPr>
            <a:spLocks noChangeArrowheads="1"/>
          </p:cNvSpPr>
          <p:nvPr/>
        </p:nvSpPr>
        <p:spPr bwMode="auto">
          <a:xfrm>
            <a:off x="4727344" y="1054137"/>
            <a:ext cx="686356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it-IT" sz="2800" b="1" dirty="0"/>
              <a:t>Combines Neural Networks + Fuzzy Logic</a:t>
            </a:r>
            <a:endParaRPr lang="it-IT" sz="2800" dirty="0"/>
          </a:p>
          <a:p>
            <a:pPr marL="342900" indent="-342900">
              <a:buFont typeface="Arial" panose="020B0604020202020204" pitchFamily="34" charset="0"/>
              <a:buChar char="•"/>
            </a:pPr>
            <a:r>
              <a:rPr lang="it-IT" sz="2800" b="1" dirty="0"/>
              <a:t>Why Hybrid?</a:t>
            </a:r>
            <a:endParaRPr lang="it-IT" sz="2800" dirty="0"/>
          </a:p>
          <a:p>
            <a:pPr marL="742950" lvl="1" indent="-285750">
              <a:buFont typeface="Arial" panose="020B0604020202020204" pitchFamily="34" charset="0"/>
              <a:buChar char="•"/>
            </a:pPr>
            <a:r>
              <a:rPr lang="it-IT" sz="2800" dirty="0"/>
              <a:t>Neural Networks learn from data</a:t>
            </a:r>
          </a:p>
          <a:p>
            <a:pPr marL="742950" lvl="1" indent="-285750">
              <a:buFont typeface="Arial" panose="020B0604020202020204" pitchFamily="34" charset="0"/>
              <a:buChar char="•"/>
            </a:pPr>
            <a:r>
              <a:rPr lang="it-IT" sz="2800" dirty="0"/>
              <a:t>Fuzzy Logic handles uncertainty</a:t>
            </a:r>
          </a:p>
          <a:p>
            <a:pPr marL="742950" lvl="1" indent="-285750">
              <a:buFont typeface="Arial" panose="020B0604020202020204" pitchFamily="34" charset="0"/>
              <a:buChar char="•"/>
            </a:pPr>
            <a:r>
              <a:rPr lang="it-IT" sz="2800" dirty="0"/>
              <a:t>Together, they improve AI systems</a:t>
            </a:r>
          </a:p>
          <a:p>
            <a:pPr marL="342900" indent="-342900">
              <a:buFont typeface="Arial" panose="020B0604020202020204" pitchFamily="34" charset="0"/>
              <a:buChar char="•"/>
            </a:pPr>
            <a:r>
              <a:rPr lang="it-IT" sz="2800" dirty="0"/>
              <a:t>Example: </a:t>
            </a:r>
            <a:r>
              <a:rPr lang="it-IT" sz="2800" b="1" dirty="0"/>
              <a:t>Self-driving cars</a:t>
            </a:r>
            <a:r>
              <a:rPr lang="it-IT" sz="2800" dirty="0"/>
              <a:t> use Neural Networks for vision &amp; Fuzzy Logic for decision-making.</a:t>
            </a:r>
          </a:p>
        </p:txBody>
      </p:sp>
    </p:spTree>
    <p:extLst>
      <p:ext uri="{BB962C8B-B14F-4D97-AF65-F5344CB8AC3E}">
        <p14:creationId xmlns:p14="http://schemas.microsoft.com/office/powerpoint/2010/main" val="2963667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DDD50D-95DE-337C-812D-A28B269E6031}"/>
              </a:ext>
            </a:extLst>
          </p:cNvPr>
          <p:cNvSpPr>
            <a:spLocks noGrp="1"/>
          </p:cNvSpPr>
          <p:nvPr>
            <p:ph type="title"/>
          </p:nvPr>
        </p:nvSpPr>
        <p:spPr>
          <a:xfrm>
            <a:off x="1371599" y="294538"/>
            <a:ext cx="9895951" cy="1033669"/>
          </a:xfrm>
        </p:spPr>
        <p:txBody>
          <a:bodyPr>
            <a:normAutofit/>
          </a:bodyPr>
          <a:lstStyle/>
          <a:p>
            <a:r>
              <a:rPr lang="en-GB" sz="4000" b="1" dirty="0">
                <a:solidFill>
                  <a:srgbClr val="FFFFFF"/>
                </a:solidFill>
              </a:rPr>
              <a:t>Summary &amp; Applications</a:t>
            </a:r>
            <a:endParaRPr lang="en-PK" sz="4000" b="1" dirty="0">
              <a:solidFill>
                <a:srgbClr val="FFFFFF"/>
              </a:solidFill>
            </a:endParaRPr>
          </a:p>
        </p:txBody>
      </p:sp>
      <p:sp>
        <p:nvSpPr>
          <p:cNvPr id="5" name="Rectangle 2">
            <a:extLst>
              <a:ext uri="{FF2B5EF4-FFF2-40B4-BE49-F238E27FC236}">
                <a16:creationId xmlns:a16="http://schemas.microsoft.com/office/drawing/2014/main" id="{341B922E-3395-9D2F-6206-BCAD9F7249D2}"/>
              </a:ext>
            </a:extLst>
          </p:cNvPr>
          <p:cNvSpPr>
            <a:spLocks noGrp="1" noChangeArrowheads="1"/>
          </p:cNvSpPr>
          <p:nvPr>
            <p:ph idx="1"/>
          </p:nvPr>
        </p:nvSpPr>
        <p:spPr bwMode="auto">
          <a:xfrm>
            <a:off x="925513" y="2497486"/>
            <a:ext cx="9919965"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PK" altLang="en-PK" b="1" i="0" u="none" strike="noStrike" cap="none" normalizeH="0" baseline="0" dirty="0">
                <a:ln>
                  <a:noFill/>
                </a:ln>
                <a:solidFill>
                  <a:schemeClr val="tx1"/>
                </a:solidFill>
                <a:effectLst/>
                <a:latin typeface="Arial" panose="020B0604020202020204" pitchFamily="34" charset="0"/>
              </a:rPr>
              <a:t>Neural Networks:</a:t>
            </a:r>
            <a:r>
              <a:rPr kumimoji="0" lang="en-PK" altLang="en-PK" b="0" i="0" u="none" strike="noStrike" cap="none" normalizeH="0" baseline="0" dirty="0">
                <a:ln>
                  <a:noFill/>
                </a:ln>
                <a:solidFill>
                  <a:schemeClr val="tx1"/>
                </a:solidFill>
                <a:effectLst/>
                <a:latin typeface="Arial" panose="020B0604020202020204" pitchFamily="34" charset="0"/>
              </a:rPr>
              <a:t> Used in pattern recognition, deep learning</a:t>
            </a:r>
          </a:p>
          <a:p>
            <a:pPr eaLnBrk="0" fontAlgn="base" hangingPunct="0">
              <a:lnSpc>
                <a:spcPct val="100000"/>
              </a:lnSpc>
              <a:spcBef>
                <a:spcPct val="0"/>
              </a:spcBef>
              <a:spcAft>
                <a:spcPct val="0"/>
              </a:spcAft>
            </a:pPr>
            <a:r>
              <a:rPr kumimoji="0" lang="en-PK" altLang="en-PK" b="1" i="0" u="none" strike="noStrike" cap="none" normalizeH="0" baseline="0" dirty="0">
                <a:ln>
                  <a:noFill/>
                </a:ln>
                <a:solidFill>
                  <a:schemeClr val="tx1"/>
                </a:solidFill>
                <a:effectLst/>
                <a:latin typeface="Arial" panose="020B0604020202020204" pitchFamily="34" charset="0"/>
              </a:rPr>
              <a:t>Perceptron:</a:t>
            </a:r>
            <a:r>
              <a:rPr kumimoji="0" lang="en-PK" altLang="en-PK" b="0" i="0" u="none" strike="noStrike" cap="none" normalizeH="0" baseline="0" dirty="0">
                <a:ln>
                  <a:noFill/>
                </a:ln>
                <a:solidFill>
                  <a:schemeClr val="tx1"/>
                </a:solidFill>
                <a:effectLst/>
                <a:latin typeface="Arial" panose="020B0604020202020204" pitchFamily="34" charset="0"/>
              </a:rPr>
              <a:t> Basic NN, limited to simple problems</a:t>
            </a:r>
          </a:p>
          <a:p>
            <a:pPr eaLnBrk="0" fontAlgn="base" hangingPunct="0">
              <a:lnSpc>
                <a:spcPct val="100000"/>
              </a:lnSpc>
              <a:spcBef>
                <a:spcPct val="0"/>
              </a:spcBef>
              <a:spcAft>
                <a:spcPct val="0"/>
              </a:spcAft>
            </a:pPr>
            <a:r>
              <a:rPr kumimoji="0" lang="en-PK" altLang="en-PK" b="1" i="0" u="none" strike="noStrike" cap="none" normalizeH="0" baseline="0" dirty="0">
                <a:ln>
                  <a:noFill/>
                </a:ln>
                <a:solidFill>
                  <a:schemeClr val="tx1"/>
                </a:solidFill>
                <a:effectLst/>
                <a:latin typeface="Arial" panose="020B0604020202020204" pitchFamily="34" charset="0"/>
              </a:rPr>
              <a:t>Backpropagation:</a:t>
            </a:r>
            <a:r>
              <a:rPr kumimoji="0" lang="en-PK" altLang="en-PK" b="0" i="0" u="none" strike="noStrike" cap="none" normalizeH="0" baseline="0" dirty="0">
                <a:ln>
                  <a:noFill/>
                </a:ln>
                <a:solidFill>
                  <a:schemeClr val="tx1"/>
                </a:solidFill>
                <a:effectLst/>
                <a:latin typeface="Arial" panose="020B0604020202020204" pitchFamily="34" charset="0"/>
              </a:rPr>
              <a:t> Trains deep networks using error correction</a:t>
            </a:r>
          </a:p>
          <a:p>
            <a:pPr eaLnBrk="0" fontAlgn="base" hangingPunct="0">
              <a:lnSpc>
                <a:spcPct val="100000"/>
              </a:lnSpc>
              <a:spcBef>
                <a:spcPct val="0"/>
              </a:spcBef>
              <a:spcAft>
                <a:spcPct val="0"/>
              </a:spcAft>
            </a:pPr>
            <a:r>
              <a:rPr kumimoji="0" lang="en-PK" altLang="en-PK" b="1" i="0" u="none" strike="noStrike" cap="none" normalizeH="0" baseline="0" dirty="0">
                <a:ln>
                  <a:noFill/>
                </a:ln>
                <a:solidFill>
                  <a:schemeClr val="tx1"/>
                </a:solidFill>
                <a:effectLst/>
                <a:latin typeface="Arial" panose="020B0604020202020204" pitchFamily="34" charset="0"/>
              </a:rPr>
              <a:t>Fuzzy Logic:</a:t>
            </a:r>
            <a:r>
              <a:rPr kumimoji="0" lang="en-PK" altLang="en-PK" b="0" i="0" u="none" strike="noStrike" cap="none" normalizeH="0" baseline="0" dirty="0">
                <a:ln>
                  <a:noFill/>
                </a:ln>
                <a:solidFill>
                  <a:schemeClr val="tx1"/>
                </a:solidFill>
                <a:effectLst/>
                <a:latin typeface="Arial" panose="020B0604020202020204" pitchFamily="34" charset="0"/>
              </a:rPr>
              <a:t> Handles uncertainty in AI systems</a:t>
            </a:r>
          </a:p>
          <a:p>
            <a:pPr eaLnBrk="0" fontAlgn="base" hangingPunct="0">
              <a:lnSpc>
                <a:spcPct val="100000"/>
              </a:lnSpc>
              <a:spcBef>
                <a:spcPct val="0"/>
              </a:spcBef>
              <a:spcAft>
                <a:spcPct val="0"/>
              </a:spcAft>
            </a:pPr>
            <a:r>
              <a:rPr kumimoji="0" lang="en-PK" altLang="en-PK" b="1" i="0" u="none" strike="noStrike" cap="none" normalizeH="0" baseline="0" dirty="0">
                <a:ln>
                  <a:noFill/>
                </a:ln>
                <a:solidFill>
                  <a:schemeClr val="tx1"/>
                </a:solidFill>
                <a:effectLst/>
                <a:latin typeface="Arial" panose="020B0604020202020204" pitchFamily="34" charset="0"/>
              </a:rPr>
              <a:t>Hybrid Systems:</a:t>
            </a:r>
            <a:r>
              <a:rPr kumimoji="0" lang="en-PK" altLang="en-PK" b="0" i="0" u="none" strike="noStrike" cap="none" normalizeH="0" baseline="0" dirty="0">
                <a:ln>
                  <a:noFill/>
                </a:ln>
                <a:solidFill>
                  <a:schemeClr val="tx1"/>
                </a:solidFill>
                <a:effectLst/>
                <a:latin typeface="Arial" panose="020B0604020202020204" pitchFamily="34" charset="0"/>
              </a:rPr>
              <a:t> Combine multiple AI techniques for better accuracy </a:t>
            </a:r>
          </a:p>
        </p:txBody>
      </p:sp>
    </p:spTree>
    <p:extLst>
      <p:ext uri="{BB962C8B-B14F-4D97-AF65-F5344CB8AC3E}">
        <p14:creationId xmlns:p14="http://schemas.microsoft.com/office/powerpoint/2010/main" val="26489096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1202</TotalTime>
  <Words>1260</Words>
  <Application>Microsoft Office PowerPoint</Application>
  <PresentationFormat>Widescreen</PresentationFormat>
  <Paragraphs>132</Paragraphs>
  <Slides>24</Slides>
  <Notes>6</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24</vt:i4>
      </vt:variant>
    </vt:vector>
  </HeadingPairs>
  <TitlesOfParts>
    <vt:vector size="34" baseType="lpstr">
      <vt:lpstr>Aptos</vt:lpstr>
      <vt:lpstr>Aptos Display</vt:lpstr>
      <vt:lpstr>Arial</vt:lpstr>
      <vt:lpstr>Calibri</vt:lpstr>
      <vt:lpstr>Google Sans</vt:lpstr>
      <vt:lpstr>IBM Plex Sans</vt:lpstr>
      <vt:lpstr>Roboto</vt:lpstr>
      <vt:lpstr>Office Theme</vt:lpstr>
      <vt:lpstr>1_Office Theme</vt:lpstr>
      <vt:lpstr>2_Office Theme</vt:lpstr>
      <vt:lpstr>Artificial Intelligence CS-202</vt:lpstr>
      <vt:lpstr>Week-16 CLO’s</vt:lpstr>
      <vt:lpstr>CLO’s Mapping </vt:lpstr>
      <vt:lpstr>PowerPoint Presentation</vt:lpstr>
      <vt:lpstr>Neural Networks</vt:lpstr>
      <vt:lpstr>Human Brain vs Neural Network</vt:lpstr>
      <vt:lpstr>Human Brain vs Neural Network</vt:lpstr>
      <vt:lpstr>Human Brain vs Neural Network</vt:lpstr>
      <vt:lpstr>Human Brain vs Neural Network</vt:lpstr>
      <vt:lpstr>Neural Network</vt:lpstr>
      <vt:lpstr>Overview</vt:lpstr>
      <vt:lpstr>Perceptron</vt:lpstr>
      <vt:lpstr>Components</vt:lpstr>
      <vt:lpstr>Structure of a Neural Network</vt:lpstr>
      <vt:lpstr>PowerPoint Presentation</vt:lpstr>
      <vt:lpstr>Perceptron Learning Rule</vt:lpstr>
      <vt:lpstr>Limitation of Perceptron</vt:lpstr>
      <vt:lpstr>Backpropagation Algorithm</vt:lpstr>
      <vt:lpstr>Forward Pass</vt:lpstr>
      <vt:lpstr>Backward Pass</vt:lpstr>
      <vt:lpstr>PowerPoint Presentation</vt:lpstr>
      <vt:lpstr>Fuzzy Logics</vt:lpstr>
      <vt:lpstr>Fuzzy and Hybrid Intelligent Systems</vt:lpstr>
      <vt:lpstr>Summary &amp; 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Mansoor Iqbal</dc:creator>
  <cp:lastModifiedBy>Habiba Arshad</cp:lastModifiedBy>
  <cp:revision>200</cp:revision>
  <dcterms:created xsi:type="dcterms:W3CDTF">2024-12-10T05:09:36Z</dcterms:created>
  <dcterms:modified xsi:type="dcterms:W3CDTF">2026-02-11T05:00:12Z</dcterms:modified>
</cp:coreProperties>
</file>