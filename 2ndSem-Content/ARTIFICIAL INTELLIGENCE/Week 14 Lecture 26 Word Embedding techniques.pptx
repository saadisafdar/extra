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38"/>
  </p:notesMasterIdLst>
  <p:sldIdLst>
    <p:sldId id="862" r:id="rId4"/>
    <p:sldId id="789" r:id="rId5"/>
    <p:sldId id="825" r:id="rId6"/>
    <p:sldId id="912" r:id="rId7"/>
    <p:sldId id="289" r:id="rId8"/>
    <p:sldId id="913" r:id="rId9"/>
    <p:sldId id="325" r:id="rId10"/>
    <p:sldId id="863" r:id="rId11"/>
    <p:sldId id="285" r:id="rId12"/>
    <p:sldId id="914" r:id="rId13"/>
    <p:sldId id="915" r:id="rId14"/>
    <p:sldId id="865" r:id="rId15"/>
    <p:sldId id="876" r:id="rId16"/>
    <p:sldId id="877" r:id="rId17"/>
    <p:sldId id="855" r:id="rId18"/>
    <p:sldId id="874" r:id="rId19"/>
    <p:sldId id="873" r:id="rId20"/>
    <p:sldId id="878" r:id="rId21"/>
    <p:sldId id="866" r:id="rId22"/>
    <p:sldId id="867" r:id="rId23"/>
    <p:sldId id="872" r:id="rId24"/>
    <p:sldId id="871" r:id="rId25"/>
    <p:sldId id="870" r:id="rId26"/>
    <p:sldId id="869" r:id="rId27"/>
    <p:sldId id="916" r:id="rId28"/>
    <p:sldId id="851" r:id="rId29"/>
    <p:sldId id="879" r:id="rId30"/>
    <p:sldId id="875" r:id="rId31"/>
    <p:sldId id="852" r:id="rId32"/>
    <p:sldId id="854" r:id="rId33"/>
    <p:sldId id="858" r:id="rId34"/>
    <p:sldId id="859" r:id="rId35"/>
    <p:sldId id="860" r:id="rId36"/>
    <p:sldId id="861" r:id="rId3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0719" autoAdjust="0"/>
  </p:normalViewPr>
  <p:slideViewPr>
    <p:cSldViewPr snapToGrid="0">
      <p:cViewPr>
        <p:scale>
          <a:sx n="70" d="100"/>
          <a:sy n="70" d="100"/>
        </p:scale>
        <p:origin x="1166"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pPr algn="just"/>
          <a:r>
            <a:rPr lang="en-US" b="1" dirty="0"/>
            <a:t>CLO1: </a:t>
          </a:r>
          <a:r>
            <a:rPr lang="en-US" b="0" dirty="0"/>
            <a:t>Discuss the key concepts in the field of artificial intelligence</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EB5ACA34-5E81-4C34-9396-A967E2A2AB76}">
      <dgm:prSet/>
      <dgm:spPr/>
      <dgm:t>
        <a:bodyPr/>
        <a:lstStyle/>
        <a:p>
          <a:pPr algn="just"/>
          <a:r>
            <a:rPr lang="en-US" b="1" dirty="0"/>
            <a:t>CLO 2: Implement </a:t>
          </a:r>
          <a:r>
            <a:rPr lang="en-US" dirty="0"/>
            <a:t>artificial intelligence techniques and case studies</a:t>
          </a:r>
        </a:p>
      </dgm:t>
    </dgm:pt>
    <dgm:pt modelId="{9A070146-3875-47E3-94D7-B2C90F536C89}" type="parTrans" cxnId="{5B24FC3C-4ED4-4834-9B89-88E70A3EE3EC}">
      <dgm:prSet/>
      <dgm:spPr/>
      <dgm:t>
        <a:bodyPr/>
        <a:lstStyle/>
        <a:p>
          <a:endParaRPr lang="en-PK"/>
        </a:p>
      </dgm:t>
    </dgm:pt>
    <dgm:pt modelId="{430978D5-BF76-4915-9FA8-631F66362A49}" type="sibTrans" cxnId="{5B24FC3C-4ED4-4834-9B89-88E70A3EE3EC}">
      <dgm:prSet/>
      <dgm:spPr/>
      <dgm:t>
        <a:bodyPr/>
        <a:lstStyle/>
        <a:p>
          <a:endParaRPr lang="en-PK"/>
        </a:p>
      </dgm:t>
    </dgm:pt>
    <dgm:pt modelId="{5DD57DBE-1DB9-4E7F-ABB7-129BCD8D7AE1}">
      <dgm:prSet/>
      <dgm:spPr/>
      <dgm:t>
        <a:bodyPr/>
        <a:lstStyle/>
        <a:p>
          <a:pPr algn="just"/>
          <a:r>
            <a:rPr lang="en-US" b="1" dirty="0"/>
            <a:t>CLO 3: Model </a:t>
          </a:r>
          <a:r>
            <a:rPr lang="en-US" dirty="0"/>
            <a:t>an automated solution for given problems using artificial intelligence paradigm</a:t>
          </a:r>
        </a:p>
      </dgm:t>
    </dgm:pt>
    <dgm:pt modelId="{E2D17144-28A8-4B2B-8228-B3B24085B30B}" type="parTrans" cxnId="{7F6163F1-0278-4EFE-AD95-6BEC4FE076D7}">
      <dgm:prSet/>
      <dgm:spPr/>
      <dgm:t>
        <a:bodyPr/>
        <a:lstStyle/>
        <a:p>
          <a:endParaRPr lang="en-PK"/>
        </a:p>
      </dgm:t>
    </dgm:pt>
    <dgm:pt modelId="{4BEC6A4B-2C99-411D-A64B-D1F5EE799431}" type="sibTrans" cxnId="{7F6163F1-0278-4EFE-AD95-6BEC4FE076D7}">
      <dgm:prSet/>
      <dgm:spPr/>
      <dgm:t>
        <a:bodyPr/>
        <a:lstStyle/>
        <a:p>
          <a:endParaRPr lang="en-PK"/>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5B24FC3C-4ED4-4834-9B89-88E70A3EE3EC}" srcId="{003EBE85-61C3-4A8C-B096-20383EA35C46}" destId="{EB5ACA34-5E81-4C34-9396-A967E2A2AB76}" srcOrd="1" destOrd="0" parTransId="{9A070146-3875-47E3-94D7-B2C90F536C89}" sibTransId="{430978D5-BF76-4915-9FA8-631F66362A49}"/>
    <dgm:cxn modelId="{D4C01C85-8389-4770-954C-640B9194FA32}" srcId="{003EBE85-61C3-4A8C-B096-20383EA35C46}" destId="{0F6BED61-37A6-4265-9765-7643A715CD2C}" srcOrd="0" destOrd="0" parTransId="{CE80463D-0B4E-4616-A7D3-FCA563D7C095}" sibTransId="{991B6CDF-473C-43F2-B07A-CB69C404667A}"/>
    <dgm:cxn modelId="{DAA9DA92-9036-4020-B801-71FEE704F66F}" type="presOf" srcId="{5DD57DBE-1DB9-4E7F-ABB7-129BCD8D7AE1}" destId="{A025C2BC-3DF5-4B12-A043-E15E948A1F98}" srcOrd="0" destOrd="2" presId="urn:microsoft.com/office/officeart/2005/8/layout/vList2"/>
    <dgm:cxn modelId="{8F12479A-C069-4E0A-BB1E-B76D7E4A0CF5}" type="presOf" srcId="{0F6BED61-37A6-4265-9765-7643A715CD2C}" destId="{A025C2BC-3DF5-4B12-A043-E15E948A1F98}" srcOrd="0" destOrd="0" presId="urn:microsoft.com/office/officeart/2005/8/layout/vList2"/>
    <dgm:cxn modelId="{7EA4AAC6-84B8-4CD7-8049-447BD7E93EBF}" type="presOf" srcId="{EB5ACA34-5E81-4C34-9396-A967E2A2AB76}"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7F6163F1-0278-4EFE-AD95-6BEC4FE076D7}" srcId="{003EBE85-61C3-4A8C-B096-20383EA35C46}" destId="{5DD57DBE-1DB9-4E7F-ABB7-129BCD8D7AE1}" srcOrd="2" destOrd="0" parTransId="{E2D17144-28A8-4B2B-8228-B3B24085B30B}" sibTransId="{4BEC6A4B-2C99-411D-A64B-D1F5EE799431}"/>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AFF19-3AEA-4097-8AAE-B0E8391780F7}"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0C1BEE06-F90E-4F09-93B1-D550B806CA6C}">
      <dgm:prSet custT="1"/>
      <dgm:spPr/>
      <dgm:t>
        <a:bodyPr/>
        <a:lstStyle/>
        <a:p>
          <a:r>
            <a:rPr lang="en-GB" sz="2400" b="1" dirty="0"/>
            <a:t>CLO 1:</a:t>
          </a:r>
          <a:endParaRPr lang="en-US" sz="2400" dirty="0"/>
        </a:p>
      </dgm:t>
    </dgm:pt>
    <dgm:pt modelId="{1C6E13D2-05A4-4EA5-B0FB-6A1163A05D3F}" type="parTrans" cxnId="{EDA5AD18-5AD5-44AA-855C-93782C77F351}">
      <dgm:prSet/>
      <dgm:spPr/>
      <dgm:t>
        <a:bodyPr/>
        <a:lstStyle/>
        <a:p>
          <a:endParaRPr lang="en-US"/>
        </a:p>
      </dgm:t>
    </dgm:pt>
    <dgm:pt modelId="{31DBE3B1-489D-4A12-8CA6-D49A4738C6DE}" type="sibTrans" cxnId="{EDA5AD18-5AD5-44AA-855C-93782C77F351}">
      <dgm:prSet/>
      <dgm:spPr/>
      <dgm:t>
        <a:bodyPr/>
        <a:lstStyle/>
        <a:p>
          <a:endParaRPr lang="en-US"/>
        </a:p>
      </dgm:t>
    </dgm:pt>
    <dgm:pt modelId="{2B5DA1EB-E771-49A5-867E-D9665D475071}">
      <dgm:prSet custT="1"/>
      <dgm:spPr/>
      <dgm:t>
        <a:bodyPr/>
        <a:lstStyle/>
        <a:p>
          <a:r>
            <a:rPr lang="en-GB" sz="2400" dirty="0"/>
            <a:t>Introduction to NLP and Machine Learning</a:t>
          </a:r>
          <a:endParaRPr lang="en-US" sz="2400" b="0" dirty="0">
            <a:solidFill>
              <a:schemeClr val="tx1"/>
            </a:solidFill>
          </a:endParaRPr>
        </a:p>
      </dgm:t>
    </dgm:pt>
    <dgm:pt modelId="{DD750D13-57AD-4795-8AF1-C66AB423D0AD}" type="parTrans" cxnId="{710F3773-380C-452A-B8E5-ACE531C1737D}">
      <dgm:prSet/>
      <dgm:spPr/>
      <dgm:t>
        <a:bodyPr/>
        <a:lstStyle/>
        <a:p>
          <a:endParaRPr lang="en-US"/>
        </a:p>
      </dgm:t>
    </dgm:pt>
    <dgm:pt modelId="{448BFBFD-9308-4A33-BEA8-5A2FB6BB745D}" type="sibTrans" cxnId="{710F3773-380C-452A-B8E5-ACE531C1737D}">
      <dgm:prSet/>
      <dgm:spPr/>
      <dgm:t>
        <a:bodyPr/>
        <a:lstStyle/>
        <a:p>
          <a:endParaRPr lang="en-US"/>
        </a:p>
      </dgm:t>
    </dgm:pt>
    <dgm:pt modelId="{3F3DFE54-F6B7-43ED-84E5-2138CE660EB6}">
      <dgm:prSet custT="1"/>
      <dgm:spPr/>
      <dgm:t>
        <a:bodyPr/>
        <a:lstStyle/>
        <a:p>
          <a:r>
            <a:rPr lang="en-GB" sz="2400" b="1" dirty="0"/>
            <a:t>CLO 2:</a:t>
          </a:r>
          <a:endParaRPr lang="en-US" sz="2400" dirty="0"/>
        </a:p>
      </dgm:t>
    </dgm:pt>
    <dgm:pt modelId="{35603E27-4986-4093-BA13-540EF067230A}" type="parTrans" cxnId="{EA14688B-076D-4056-931B-F74C89BF1C9E}">
      <dgm:prSet/>
      <dgm:spPr/>
      <dgm:t>
        <a:bodyPr/>
        <a:lstStyle/>
        <a:p>
          <a:endParaRPr lang="en-US"/>
        </a:p>
      </dgm:t>
    </dgm:pt>
    <dgm:pt modelId="{A9A51733-DE1F-469E-8D4B-A6E9376ABC7F}" type="sibTrans" cxnId="{EA14688B-076D-4056-931B-F74C89BF1C9E}">
      <dgm:prSet/>
      <dgm:spPr/>
      <dgm:t>
        <a:bodyPr/>
        <a:lstStyle/>
        <a:p>
          <a:endParaRPr lang="en-US"/>
        </a:p>
      </dgm:t>
    </dgm:pt>
    <dgm:pt modelId="{BC9F2467-8675-4C7B-A23B-F5B8B939445E}">
      <dgm:prSet custT="1"/>
      <dgm:spPr/>
      <dgm:t>
        <a:bodyPr/>
        <a:lstStyle/>
        <a:p>
          <a:r>
            <a:rPr lang="en-US" sz="2400" dirty="0"/>
            <a:t>Pre-processing and Feature Extraction</a:t>
          </a:r>
        </a:p>
      </dgm:t>
    </dgm:pt>
    <dgm:pt modelId="{4C54B955-7CC3-4BE7-8D3F-2A5FDB33B454}" type="parTrans" cxnId="{E9A8AFEE-FA31-4B1D-BCC6-EB81265C2F25}">
      <dgm:prSet/>
      <dgm:spPr/>
      <dgm:t>
        <a:bodyPr/>
        <a:lstStyle/>
        <a:p>
          <a:endParaRPr lang="en-US"/>
        </a:p>
      </dgm:t>
    </dgm:pt>
    <dgm:pt modelId="{2D52629A-90C7-4C02-B7FA-11727220C377}" type="sibTrans" cxnId="{E9A8AFEE-FA31-4B1D-BCC6-EB81265C2F25}">
      <dgm:prSet/>
      <dgm:spPr/>
      <dgm:t>
        <a:bodyPr/>
        <a:lstStyle/>
        <a:p>
          <a:endParaRPr lang="en-US"/>
        </a:p>
      </dgm:t>
    </dgm:pt>
    <dgm:pt modelId="{EB2FCA84-9939-4E6E-8B60-40D56E6917E0}">
      <dgm:prSet custT="1"/>
      <dgm:spPr/>
      <dgm:t>
        <a:bodyPr/>
        <a:lstStyle/>
        <a:p>
          <a:r>
            <a:rPr lang="en-GB" sz="2400" b="1" dirty="0"/>
            <a:t>CLO 3:</a:t>
          </a:r>
          <a:endParaRPr lang="en-US" sz="2400" dirty="0"/>
        </a:p>
      </dgm:t>
    </dgm:pt>
    <dgm:pt modelId="{A1564985-219D-4DC7-BC98-3B303ED8C272}" type="parTrans" cxnId="{F05B7AD0-26ED-4954-8274-8230E650B722}">
      <dgm:prSet/>
      <dgm:spPr/>
      <dgm:t>
        <a:bodyPr/>
        <a:lstStyle/>
        <a:p>
          <a:endParaRPr lang="en-PK"/>
        </a:p>
      </dgm:t>
    </dgm:pt>
    <dgm:pt modelId="{1E227B5D-14D6-4DDF-80A7-5C8B80052FB2}" type="sibTrans" cxnId="{F05B7AD0-26ED-4954-8274-8230E650B722}">
      <dgm:prSet/>
      <dgm:spPr/>
      <dgm:t>
        <a:bodyPr/>
        <a:lstStyle/>
        <a:p>
          <a:endParaRPr lang="en-PK"/>
        </a:p>
      </dgm:t>
    </dgm:pt>
    <dgm:pt modelId="{97390587-8832-407A-AAE8-67F0E50AAC79}">
      <dgm:prSet custT="1"/>
      <dgm:spPr/>
      <dgm:t>
        <a:bodyPr/>
        <a:lstStyle/>
        <a:p>
          <a:r>
            <a:rPr lang="en-US" sz="2400" dirty="0"/>
            <a:t>Machine Learning Models Implementation</a:t>
          </a:r>
          <a:endParaRPr lang="en-PK" sz="2400" dirty="0"/>
        </a:p>
      </dgm:t>
    </dgm:pt>
    <dgm:pt modelId="{6DEA89BD-C5BD-4C70-8E91-648F0D795961}" type="parTrans" cxnId="{7A78FDF5-F824-4568-A8B3-A9A0E57F2634}">
      <dgm:prSet/>
      <dgm:spPr/>
      <dgm:t>
        <a:bodyPr/>
        <a:lstStyle/>
        <a:p>
          <a:endParaRPr lang="en-PK"/>
        </a:p>
      </dgm:t>
    </dgm:pt>
    <dgm:pt modelId="{EF03280B-9B35-413B-A84F-D48DC11EC541}" type="sibTrans" cxnId="{7A78FDF5-F824-4568-A8B3-A9A0E57F2634}">
      <dgm:prSet/>
      <dgm:spPr/>
      <dgm:t>
        <a:bodyPr/>
        <a:lstStyle/>
        <a:p>
          <a:endParaRPr lang="en-PK"/>
        </a:p>
      </dgm:t>
    </dgm:pt>
    <dgm:pt modelId="{D834BA1F-3574-4DD1-BA2B-1AFDA1B9DFB4}" type="pres">
      <dgm:prSet presAssocID="{1ABAFF19-3AEA-4097-8AAE-B0E8391780F7}" presName="linear" presStyleCnt="0">
        <dgm:presLayoutVars>
          <dgm:dir/>
          <dgm:animLvl val="lvl"/>
          <dgm:resizeHandles val="exact"/>
        </dgm:presLayoutVars>
      </dgm:prSet>
      <dgm:spPr/>
    </dgm:pt>
    <dgm:pt modelId="{698E3174-0318-4F94-9674-373830A430B0}" type="pres">
      <dgm:prSet presAssocID="{0C1BEE06-F90E-4F09-93B1-D550B806CA6C}" presName="parentLin" presStyleCnt="0"/>
      <dgm:spPr/>
    </dgm:pt>
    <dgm:pt modelId="{3A3AD406-9F02-4B7C-A576-31CAD64141FB}" type="pres">
      <dgm:prSet presAssocID="{0C1BEE06-F90E-4F09-93B1-D550B806CA6C}" presName="parentLeftMargin" presStyleLbl="node1" presStyleIdx="0" presStyleCnt="3"/>
      <dgm:spPr/>
    </dgm:pt>
    <dgm:pt modelId="{49E13C96-EE4B-48D1-8768-AE8ECE07E331}" type="pres">
      <dgm:prSet presAssocID="{0C1BEE06-F90E-4F09-93B1-D550B806CA6C}" presName="parentText" presStyleLbl="node1" presStyleIdx="0" presStyleCnt="3" custScaleY="32103">
        <dgm:presLayoutVars>
          <dgm:chMax val="0"/>
          <dgm:bulletEnabled val="1"/>
        </dgm:presLayoutVars>
      </dgm:prSet>
      <dgm:spPr/>
    </dgm:pt>
    <dgm:pt modelId="{0A19CEC3-B103-4F3A-9B3C-FE1A70884031}" type="pres">
      <dgm:prSet presAssocID="{0C1BEE06-F90E-4F09-93B1-D550B806CA6C}" presName="negativeSpace" presStyleCnt="0"/>
      <dgm:spPr/>
    </dgm:pt>
    <dgm:pt modelId="{2A8F8C97-D792-4E29-9ADB-A33A1728580F}" type="pres">
      <dgm:prSet presAssocID="{0C1BEE06-F90E-4F09-93B1-D550B806CA6C}" presName="childText" presStyleLbl="conFgAcc1" presStyleIdx="0" presStyleCnt="3" custLinFactNeighborX="-6264" custLinFactNeighborY="-8958">
        <dgm:presLayoutVars>
          <dgm:bulletEnabled val="1"/>
        </dgm:presLayoutVars>
      </dgm:prSet>
      <dgm:spPr/>
    </dgm:pt>
    <dgm:pt modelId="{E9D3FC74-370E-4118-9A41-52FB915D24B6}" type="pres">
      <dgm:prSet presAssocID="{31DBE3B1-489D-4A12-8CA6-D49A4738C6DE}" presName="spaceBetweenRectangles" presStyleCnt="0"/>
      <dgm:spPr/>
    </dgm:pt>
    <dgm:pt modelId="{DDC2F1DC-AC4E-4BD5-8F1F-3AB55F5B9E84}" type="pres">
      <dgm:prSet presAssocID="{3F3DFE54-F6B7-43ED-84E5-2138CE660EB6}" presName="parentLin" presStyleCnt="0"/>
      <dgm:spPr/>
    </dgm:pt>
    <dgm:pt modelId="{F0839E54-C2C9-4E12-8664-B616247CC422}" type="pres">
      <dgm:prSet presAssocID="{3F3DFE54-F6B7-43ED-84E5-2138CE660EB6}" presName="parentLeftMargin" presStyleLbl="node1" presStyleIdx="0" presStyleCnt="3"/>
      <dgm:spPr/>
    </dgm:pt>
    <dgm:pt modelId="{CD8EDF22-9A27-49D7-87DD-3C29CC93D73D}" type="pres">
      <dgm:prSet presAssocID="{3F3DFE54-F6B7-43ED-84E5-2138CE660EB6}" presName="parentText" presStyleLbl="node1" presStyleIdx="1" presStyleCnt="3" custScaleY="30974">
        <dgm:presLayoutVars>
          <dgm:chMax val="0"/>
          <dgm:bulletEnabled val="1"/>
        </dgm:presLayoutVars>
      </dgm:prSet>
      <dgm:spPr/>
    </dgm:pt>
    <dgm:pt modelId="{72D71622-01F6-453A-84C1-5F1DDDB24708}" type="pres">
      <dgm:prSet presAssocID="{3F3DFE54-F6B7-43ED-84E5-2138CE660EB6}" presName="negativeSpace" presStyleCnt="0"/>
      <dgm:spPr/>
    </dgm:pt>
    <dgm:pt modelId="{6EB0EFF8-0C42-4EF9-9C2C-CFC7394E0CEC}" type="pres">
      <dgm:prSet presAssocID="{3F3DFE54-F6B7-43ED-84E5-2138CE660EB6}" presName="childText" presStyleLbl="conFgAcc1" presStyleIdx="1" presStyleCnt="3">
        <dgm:presLayoutVars>
          <dgm:bulletEnabled val="1"/>
        </dgm:presLayoutVars>
      </dgm:prSet>
      <dgm:spPr/>
    </dgm:pt>
    <dgm:pt modelId="{D707FEEB-5C14-4CE6-8A0A-1A0DF4B0FC30}" type="pres">
      <dgm:prSet presAssocID="{A9A51733-DE1F-469E-8D4B-A6E9376ABC7F}" presName="spaceBetweenRectangles" presStyleCnt="0"/>
      <dgm:spPr/>
    </dgm:pt>
    <dgm:pt modelId="{7DE92294-6F69-4AB4-B18F-BD7676C147D1}" type="pres">
      <dgm:prSet presAssocID="{EB2FCA84-9939-4E6E-8B60-40D56E6917E0}" presName="parentLin" presStyleCnt="0"/>
      <dgm:spPr/>
    </dgm:pt>
    <dgm:pt modelId="{8320412B-B8D1-4831-B332-847EDE3D6D79}" type="pres">
      <dgm:prSet presAssocID="{EB2FCA84-9939-4E6E-8B60-40D56E6917E0}" presName="parentLeftMargin" presStyleLbl="node1" presStyleIdx="1" presStyleCnt="3" custScaleY="30974"/>
      <dgm:spPr/>
    </dgm:pt>
    <dgm:pt modelId="{60CFD664-969E-433F-B211-696768B0118B}" type="pres">
      <dgm:prSet presAssocID="{EB2FCA84-9939-4E6E-8B60-40D56E6917E0}" presName="parentText" presStyleLbl="node1" presStyleIdx="2" presStyleCnt="3" custScaleY="28313">
        <dgm:presLayoutVars>
          <dgm:chMax val="0"/>
          <dgm:bulletEnabled val="1"/>
        </dgm:presLayoutVars>
      </dgm:prSet>
      <dgm:spPr/>
    </dgm:pt>
    <dgm:pt modelId="{76151914-E99F-405A-9771-212B31421B8D}" type="pres">
      <dgm:prSet presAssocID="{EB2FCA84-9939-4E6E-8B60-40D56E6917E0}" presName="negativeSpace" presStyleCnt="0"/>
      <dgm:spPr/>
    </dgm:pt>
    <dgm:pt modelId="{32D490F6-6959-4A86-BC15-70A51DD2639D}" type="pres">
      <dgm:prSet presAssocID="{EB2FCA84-9939-4E6E-8B60-40D56E6917E0}" presName="childText" presStyleLbl="conFgAcc1" presStyleIdx="2" presStyleCnt="3">
        <dgm:presLayoutVars>
          <dgm:bulletEnabled val="1"/>
        </dgm:presLayoutVars>
      </dgm:prSet>
      <dgm:spPr/>
    </dgm:pt>
  </dgm:ptLst>
  <dgm:cxnLst>
    <dgm:cxn modelId="{EDA5AD18-5AD5-44AA-855C-93782C77F351}" srcId="{1ABAFF19-3AEA-4097-8AAE-B0E8391780F7}" destId="{0C1BEE06-F90E-4F09-93B1-D550B806CA6C}" srcOrd="0" destOrd="0" parTransId="{1C6E13D2-05A4-4EA5-B0FB-6A1163A05D3F}" sibTransId="{31DBE3B1-489D-4A12-8CA6-D49A4738C6DE}"/>
    <dgm:cxn modelId="{C8ADBC29-41BB-4AEE-B7C4-DEC6D84CB982}" type="presOf" srcId="{EB2FCA84-9939-4E6E-8B60-40D56E6917E0}" destId="{60CFD664-969E-433F-B211-696768B0118B}" srcOrd="1" destOrd="0" presId="urn:microsoft.com/office/officeart/2005/8/layout/list1"/>
    <dgm:cxn modelId="{51F1EF38-B93F-42C4-8499-9FA3E48A4234}" type="presOf" srcId="{2B5DA1EB-E771-49A5-867E-D9665D475071}" destId="{2A8F8C97-D792-4E29-9ADB-A33A1728580F}" srcOrd="0" destOrd="0" presId="urn:microsoft.com/office/officeart/2005/8/layout/list1"/>
    <dgm:cxn modelId="{710F3773-380C-452A-B8E5-ACE531C1737D}" srcId="{0C1BEE06-F90E-4F09-93B1-D550B806CA6C}" destId="{2B5DA1EB-E771-49A5-867E-D9665D475071}" srcOrd="0" destOrd="0" parTransId="{DD750D13-57AD-4795-8AF1-C66AB423D0AD}" sibTransId="{448BFBFD-9308-4A33-BEA8-5A2FB6BB745D}"/>
    <dgm:cxn modelId="{B0A9B776-35AF-48D4-BFF4-277D6353C2FC}" type="presOf" srcId="{0C1BEE06-F90E-4F09-93B1-D550B806CA6C}" destId="{3A3AD406-9F02-4B7C-A576-31CAD64141FB}" srcOrd="0" destOrd="0" presId="urn:microsoft.com/office/officeart/2005/8/layout/list1"/>
    <dgm:cxn modelId="{EA14688B-076D-4056-931B-F74C89BF1C9E}" srcId="{1ABAFF19-3AEA-4097-8AAE-B0E8391780F7}" destId="{3F3DFE54-F6B7-43ED-84E5-2138CE660EB6}" srcOrd="1" destOrd="0" parTransId="{35603E27-4986-4093-BA13-540EF067230A}" sibTransId="{A9A51733-DE1F-469E-8D4B-A6E9376ABC7F}"/>
    <dgm:cxn modelId="{C58C6D8D-0F6A-41DE-BE99-C70A31B35699}" type="presOf" srcId="{1ABAFF19-3AEA-4097-8AAE-B0E8391780F7}" destId="{D834BA1F-3574-4DD1-BA2B-1AFDA1B9DFB4}" srcOrd="0" destOrd="0" presId="urn:microsoft.com/office/officeart/2005/8/layout/list1"/>
    <dgm:cxn modelId="{03A4159A-4EBA-4FA7-8F3E-5BD1C16A34D0}" type="presOf" srcId="{3F3DFE54-F6B7-43ED-84E5-2138CE660EB6}" destId="{CD8EDF22-9A27-49D7-87DD-3C29CC93D73D}" srcOrd="1" destOrd="0" presId="urn:microsoft.com/office/officeart/2005/8/layout/list1"/>
    <dgm:cxn modelId="{CC8A0B9C-4640-40CE-ADE6-DF681DFEEE51}" type="presOf" srcId="{BC9F2467-8675-4C7B-A23B-F5B8B939445E}" destId="{6EB0EFF8-0C42-4EF9-9C2C-CFC7394E0CEC}" srcOrd="0" destOrd="0" presId="urn:microsoft.com/office/officeart/2005/8/layout/list1"/>
    <dgm:cxn modelId="{E09D52B6-E821-4C77-B554-F690E6B058C4}" type="presOf" srcId="{EB2FCA84-9939-4E6E-8B60-40D56E6917E0}" destId="{8320412B-B8D1-4831-B332-847EDE3D6D79}" srcOrd="0" destOrd="0" presId="urn:microsoft.com/office/officeart/2005/8/layout/list1"/>
    <dgm:cxn modelId="{18CD7FB9-3224-4608-80A8-03227FC84AEF}" type="presOf" srcId="{0C1BEE06-F90E-4F09-93B1-D550B806CA6C}" destId="{49E13C96-EE4B-48D1-8768-AE8ECE07E331}" srcOrd="1" destOrd="0" presId="urn:microsoft.com/office/officeart/2005/8/layout/list1"/>
    <dgm:cxn modelId="{1488EEBC-07E5-49E9-B9C6-5F6FC40691A6}" type="presOf" srcId="{97390587-8832-407A-AAE8-67F0E50AAC79}" destId="{32D490F6-6959-4A86-BC15-70A51DD2639D}" srcOrd="0" destOrd="0" presId="urn:microsoft.com/office/officeart/2005/8/layout/list1"/>
    <dgm:cxn modelId="{F05B7AD0-26ED-4954-8274-8230E650B722}" srcId="{1ABAFF19-3AEA-4097-8AAE-B0E8391780F7}" destId="{EB2FCA84-9939-4E6E-8B60-40D56E6917E0}" srcOrd="2" destOrd="0" parTransId="{A1564985-219D-4DC7-BC98-3B303ED8C272}" sibTransId="{1E227B5D-14D6-4DDF-80A7-5C8B80052FB2}"/>
    <dgm:cxn modelId="{E86429EC-2392-47BA-9AB5-071E4B75E5F1}" type="presOf" srcId="{3F3DFE54-F6B7-43ED-84E5-2138CE660EB6}" destId="{F0839E54-C2C9-4E12-8664-B616247CC422}" srcOrd="0" destOrd="0" presId="urn:microsoft.com/office/officeart/2005/8/layout/list1"/>
    <dgm:cxn modelId="{E9A8AFEE-FA31-4B1D-BCC6-EB81265C2F25}" srcId="{3F3DFE54-F6B7-43ED-84E5-2138CE660EB6}" destId="{BC9F2467-8675-4C7B-A23B-F5B8B939445E}" srcOrd="0" destOrd="0" parTransId="{4C54B955-7CC3-4BE7-8D3F-2A5FDB33B454}" sibTransId="{2D52629A-90C7-4C02-B7FA-11727220C377}"/>
    <dgm:cxn modelId="{7A78FDF5-F824-4568-A8B3-A9A0E57F2634}" srcId="{EB2FCA84-9939-4E6E-8B60-40D56E6917E0}" destId="{97390587-8832-407A-AAE8-67F0E50AAC79}" srcOrd="0" destOrd="0" parTransId="{6DEA89BD-C5BD-4C70-8E91-648F0D795961}" sibTransId="{EF03280B-9B35-413B-A84F-D48DC11EC541}"/>
    <dgm:cxn modelId="{D16F14BC-919C-407D-9F91-3E9A927135BB}" type="presParOf" srcId="{D834BA1F-3574-4DD1-BA2B-1AFDA1B9DFB4}" destId="{698E3174-0318-4F94-9674-373830A430B0}" srcOrd="0" destOrd="0" presId="urn:microsoft.com/office/officeart/2005/8/layout/list1"/>
    <dgm:cxn modelId="{B62856A7-083E-400F-9694-9EB44D3B7BC0}" type="presParOf" srcId="{698E3174-0318-4F94-9674-373830A430B0}" destId="{3A3AD406-9F02-4B7C-A576-31CAD64141FB}" srcOrd="0" destOrd="0" presId="urn:microsoft.com/office/officeart/2005/8/layout/list1"/>
    <dgm:cxn modelId="{32A0C464-B9F5-4E90-AC51-22A63AD2C577}" type="presParOf" srcId="{698E3174-0318-4F94-9674-373830A430B0}" destId="{49E13C96-EE4B-48D1-8768-AE8ECE07E331}" srcOrd="1" destOrd="0" presId="urn:microsoft.com/office/officeart/2005/8/layout/list1"/>
    <dgm:cxn modelId="{5E5B1DDA-3810-44FD-8183-E6F7B748D5C5}" type="presParOf" srcId="{D834BA1F-3574-4DD1-BA2B-1AFDA1B9DFB4}" destId="{0A19CEC3-B103-4F3A-9B3C-FE1A70884031}" srcOrd="1" destOrd="0" presId="urn:microsoft.com/office/officeart/2005/8/layout/list1"/>
    <dgm:cxn modelId="{033ED4DB-9E6E-436F-8018-68F8CC396992}" type="presParOf" srcId="{D834BA1F-3574-4DD1-BA2B-1AFDA1B9DFB4}" destId="{2A8F8C97-D792-4E29-9ADB-A33A1728580F}" srcOrd="2" destOrd="0" presId="urn:microsoft.com/office/officeart/2005/8/layout/list1"/>
    <dgm:cxn modelId="{BDA5F5B3-5881-4124-843A-1FD46D6C56C2}" type="presParOf" srcId="{D834BA1F-3574-4DD1-BA2B-1AFDA1B9DFB4}" destId="{E9D3FC74-370E-4118-9A41-52FB915D24B6}" srcOrd="3" destOrd="0" presId="urn:microsoft.com/office/officeart/2005/8/layout/list1"/>
    <dgm:cxn modelId="{1CBDB688-C31F-4B6E-A5D5-E8677DC6B409}" type="presParOf" srcId="{D834BA1F-3574-4DD1-BA2B-1AFDA1B9DFB4}" destId="{DDC2F1DC-AC4E-4BD5-8F1F-3AB55F5B9E84}" srcOrd="4" destOrd="0" presId="urn:microsoft.com/office/officeart/2005/8/layout/list1"/>
    <dgm:cxn modelId="{0F5A7F57-31D3-4E79-835E-111F9624272E}" type="presParOf" srcId="{DDC2F1DC-AC4E-4BD5-8F1F-3AB55F5B9E84}" destId="{F0839E54-C2C9-4E12-8664-B616247CC422}" srcOrd="0" destOrd="0" presId="urn:microsoft.com/office/officeart/2005/8/layout/list1"/>
    <dgm:cxn modelId="{6A11352D-93F5-4A9F-AF17-71DF26BFE7D8}" type="presParOf" srcId="{DDC2F1DC-AC4E-4BD5-8F1F-3AB55F5B9E84}" destId="{CD8EDF22-9A27-49D7-87DD-3C29CC93D73D}" srcOrd="1" destOrd="0" presId="urn:microsoft.com/office/officeart/2005/8/layout/list1"/>
    <dgm:cxn modelId="{D91473F5-4CA9-4BD3-897D-18564E2185B0}" type="presParOf" srcId="{D834BA1F-3574-4DD1-BA2B-1AFDA1B9DFB4}" destId="{72D71622-01F6-453A-84C1-5F1DDDB24708}" srcOrd="5" destOrd="0" presId="urn:microsoft.com/office/officeart/2005/8/layout/list1"/>
    <dgm:cxn modelId="{08E9880D-CAAF-49C4-BBCA-83E123248F03}" type="presParOf" srcId="{D834BA1F-3574-4DD1-BA2B-1AFDA1B9DFB4}" destId="{6EB0EFF8-0C42-4EF9-9C2C-CFC7394E0CEC}" srcOrd="6" destOrd="0" presId="urn:microsoft.com/office/officeart/2005/8/layout/list1"/>
    <dgm:cxn modelId="{1B9201AD-5C47-49D0-8649-C8EAE495D9C7}" type="presParOf" srcId="{D834BA1F-3574-4DD1-BA2B-1AFDA1B9DFB4}" destId="{D707FEEB-5C14-4CE6-8A0A-1A0DF4B0FC30}" srcOrd="7" destOrd="0" presId="urn:microsoft.com/office/officeart/2005/8/layout/list1"/>
    <dgm:cxn modelId="{5B9189C7-4618-405A-9185-CBC013C50D00}" type="presParOf" srcId="{D834BA1F-3574-4DD1-BA2B-1AFDA1B9DFB4}" destId="{7DE92294-6F69-4AB4-B18F-BD7676C147D1}" srcOrd="8" destOrd="0" presId="urn:microsoft.com/office/officeart/2005/8/layout/list1"/>
    <dgm:cxn modelId="{7ACAB67C-514C-4103-84C2-71116202B5D2}" type="presParOf" srcId="{7DE92294-6F69-4AB4-B18F-BD7676C147D1}" destId="{8320412B-B8D1-4831-B332-847EDE3D6D79}" srcOrd="0" destOrd="0" presId="urn:microsoft.com/office/officeart/2005/8/layout/list1"/>
    <dgm:cxn modelId="{A3E9A359-379E-46B2-ADD3-C7C8D4EE6248}" type="presParOf" srcId="{7DE92294-6F69-4AB4-B18F-BD7676C147D1}" destId="{60CFD664-969E-433F-B211-696768B0118B}" srcOrd="1" destOrd="0" presId="urn:microsoft.com/office/officeart/2005/8/layout/list1"/>
    <dgm:cxn modelId="{12538AE4-4C23-457B-AA27-393B2FD7CBDA}" type="presParOf" srcId="{D834BA1F-3574-4DD1-BA2B-1AFDA1B9DFB4}" destId="{76151914-E99F-405A-9771-212B31421B8D}" srcOrd="9" destOrd="0" presId="urn:microsoft.com/office/officeart/2005/8/layout/list1"/>
    <dgm:cxn modelId="{2B586815-7F2E-41D4-92B9-02AF5E7B468A}" type="presParOf" srcId="{D834BA1F-3574-4DD1-BA2B-1AFDA1B9DFB4}" destId="{32D490F6-6959-4A86-BC15-70A51DD2639D}"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19B528-08EE-49DD-95EB-24342F7BBABF}"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C160BE35-7800-461C-A3CA-929BC853280F}">
      <dgm:prSet/>
      <dgm:spPr/>
      <dgm:t>
        <a:bodyPr/>
        <a:lstStyle/>
        <a:p>
          <a:r>
            <a:rPr lang="en-US"/>
            <a:t>Word embedding in Natural Language Processing (NLP) is a technique used to represent words as numerical vectors in a continuous vector space. </a:t>
          </a:r>
        </a:p>
      </dgm:t>
    </dgm:pt>
    <dgm:pt modelId="{7943907F-879B-4BCF-9E7A-9A369A0A5F55}" type="parTrans" cxnId="{75A922D4-54FA-47C3-B614-6B54CC9FDEAE}">
      <dgm:prSet/>
      <dgm:spPr/>
      <dgm:t>
        <a:bodyPr/>
        <a:lstStyle/>
        <a:p>
          <a:endParaRPr lang="en-US"/>
        </a:p>
      </dgm:t>
    </dgm:pt>
    <dgm:pt modelId="{047C4A33-57C5-4CBC-BAF5-911C8AB3E6FC}" type="sibTrans" cxnId="{75A922D4-54FA-47C3-B614-6B54CC9FDEAE}">
      <dgm:prSet/>
      <dgm:spPr/>
      <dgm:t>
        <a:bodyPr/>
        <a:lstStyle/>
        <a:p>
          <a:endParaRPr lang="en-US"/>
        </a:p>
      </dgm:t>
    </dgm:pt>
    <dgm:pt modelId="{97AA2468-F15E-45CE-A2E4-853844257EB0}">
      <dgm:prSet/>
      <dgm:spPr/>
      <dgm:t>
        <a:bodyPr/>
        <a:lstStyle/>
        <a:p>
          <a:r>
            <a:rPr lang="en-US"/>
            <a:t>These embeddings capture semantic meaning, syntactic properties, and relationships between words, allowing algorithms to process and analyze text more effectively.</a:t>
          </a:r>
        </a:p>
      </dgm:t>
    </dgm:pt>
    <dgm:pt modelId="{EA744F3C-2697-42D6-9495-A1E22E36D5FE}" type="parTrans" cxnId="{C4291DA5-82D9-4AB2-80E5-4027BDF35477}">
      <dgm:prSet/>
      <dgm:spPr/>
      <dgm:t>
        <a:bodyPr/>
        <a:lstStyle/>
        <a:p>
          <a:endParaRPr lang="en-US"/>
        </a:p>
      </dgm:t>
    </dgm:pt>
    <dgm:pt modelId="{AA5B4AD1-56C0-4FFD-A253-404B5AF02AC7}" type="sibTrans" cxnId="{C4291DA5-82D9-4AB2-80E5-4027BDF35477}">
      <dgm:prSet/>
      <dgm:spPr/>
      <dgm:t>
        <a:bodyPr/>
        <a:lstStyle/>
        <a:p>
          <a:endParaRPr lang="en-US"/>
        </a:p>
      </dgm:t>
    </dgm:pt>
    <dgm:pt modelId="{B0482E5F-8DFA-4CB0-A48B-807502693630}" type="pres">
      <dgm:prSet presAssocID="{BA19B528-08EE-49DD-95EB-24342F7BBABF}" presName="vert0" presStyleCnt="0">
        <dgm:presLayoutVars>
          <dgm:dir/>
          <dgm:animOne val="branch"/>
          <dgm:animLvl val="lvl"/>
        </dgm:presLayoutVars>
      </dgm:prSet>
      <dgm:spPr/>
    </dgm:pt>
    <dgm:pt modelId="{03C22FEF-15ED-45E6-A62E-E238BCA828E5}" type="pres">
      <dgm:prSet presAssocID="{C160BE35-7800-461C-A3CA-929BC853280F}" presName="thickLine" presStyleLbl="alignNode1" presStyleIdx="0" presStyleCnt="2"/>
      <dgm:spPr/>
    </dgm:pt>
    <dgm:pt modelId="{8462E9AF-D2DB-4F63-95A7-66AB041D759C}" type="pres">
      <dgm:prSet presAssocID="{C160BE35-7800-461C-A3CA-929BC853280F}" presName="horz1" presStyleCnt="0"/>
      <dgm:spPr/>
    </dgm:pt>
    <dgm:pt modelId="{0BF125E2-B547-4510-B703-99DAE1CB3097}" type="pres">
      <dgm:prSet presAssocID="{C160BE35-7800-461C-A3CA-929BC853280F}" presName="tx1" presStyleLbl="revTx" presStyleIdx="0" presStyleCnt="2"/>
      <dgm:spPr/>
    </dgm:pt>
    <dgm:pt modelId="{0ECF98D6-4308-43F7-BC9A-F4A65842EC9F}" type="pres">
      <dgm:prSet presAssocID="{C160BE35-7800-461C-A3CA-929BC853280F}" presName="vert1" presStyleCnt="0"/>
      <dgm:spPr/>
    </dgm:pt>
    <dgm:pt modelId="{CD163447-44EB-482A-BBB5-A6692B1E6474}" type="pres">
      <dgm:prSet presAssocID="{97AA2468-F15E-45CE-A2E4-853844257EB0}" presName="thickLine" presStyleLbl="alignNode1" presStyleIdx="1" presStyleCnt="2"/>
      <dgm:spPr/>
    </dgm:pt>
    <dgm:pt modelId="{8CBDE186-634F-4603-AD68-3DB2A55935A5}" type="pres">
      <dgm:prSet presAssocID="{97AA2468-F15E-45CE-A2E4-853844257EB0}" presName="horz1" presStyleCnt="0"/>
      <dgm:spPr/>
    </dgm:pt>
    <dgm:pt modelId="{98FAB9BC-D00A-4A98-844B-EB6198479A56}" type="pres">
      <dgm:prSet presAssocID="{97AA2468-F15E-45CE-A2E4-853844257EB0}" presName="tx1" presStyleLbl="revTx" presStyleIdx="1" presStyleCnt="2"/>
      <dgm:spPr/>
    </dgm:pt>
    <dgm:pt modelId="{913A60B4-0A1A-4060-B286-B6923F6327F2}" type="pres">
      <dgm:prSet presAssocID="{97AA2468-F15E-45CE-A2E4-853844257EB0}" presName="vert1" presStyleCnt="0"/>
      <dgm:spPr/>
    </dgm:pt>
  </dgm:ptLst>
  <dgm:cxnLst>
    <dgm:cxn modelId="{F37E5123-47C0-4426-9AFA-EA3CE8E91FB7}" type="presOf" srcId="{97AA2468-F15E-45CE-A2E4-853844257EB0}" destId="{98FAB9BC-D00A-4A98-844B-EB6198479A56}" srcOrd="0" destOrd="0" presId="urn:microsoft.com/office/officeart/2008/layout/LinedList"/>
    <dgm:cxn modelId="{FD2A1F44-A5F1-4411-9F42-660A832C4ABF}" type="presOf" srcId="{C160BE35-7800-461C-A3CA-929BC853280F}" destId="{0BF125E2-B547-4510-B703-99DAE1CB3097}" srcOrd="0" destOrd="0" presId="urn:microsoft.com/office/officeart/2008/layout/LinedList"/>
    <dgm:cxn modelId="{C4291DA5-82D9-4AB2-80E5-4027BDF35477}" srcId="{BA19B528-08EE-49DD-95EB-24342F7BBABF}" destId="{97AA2468-F15E-45CE-A2E4-853844257EB0}" srcOrd="1" destOrd="0" parTransId="{EA744F3C-2697-42D6-9495-A1E22E36D5FE}" sibTransId="{AA5B4AD1-56C0-4FFD-A253-404B5AF02AC7}"/>
    <dgm:cxn modelId="{E650BBA7-50AD-4FD9-9FFD-F967719938D5}" type="presOf" srcId="{BA19B528-08EE-49DD-95EB-24342F7BBABF}" destId="{B0482E5F-8DFA-4CB0-A48B-807502693630}" srcOrd="0" destOrd="0" presId="urn:microsoft.com/office/officeart/2008/layout/LinedList"/>
    <dgm:cxn modelId="{75A922D4-54FA-47C3-B614-6B54CC9FDEAE}" srcId="{BA19B528-08EE-49DD-95EB-24342F7BBABF}" destId="{C160BE35-7800-461C-A3CA-929BC853280F}" srcOrd="0" destOrd="0" parTransId="{7943907F-879B-4BCF-9E7A-9A369A0A5F55}" sibTransId="{047C4A33-57C5-4CBC-BAF5-911C8AB3E6FC}"/>
    <dgm:cxn modelId="{F614BD4C-0594-42C0-9676-BE800D174D0C}" type="presParOf" srcId="{B0482E5F-8DFA-4CB0-A48B-807502693630}" destId="{03C22FEF-15ED-45E6-A62E-E238BCA828E5}" srcOrd="0" destOrd="0" presId="urn:microsoft.com/office/officeart/2008/layout/LinedList"/>
    <dgm:cxn modelId="{83BFCA25-3FE8-40FD-9E2E-50451E9AD307}" type="presParOf" srcId="{B0482E5F-8DFA-4CB0-A48B-807502693630}" destId="{8462E9AF-D2DB-4F63-95A7-66AB041D759C}" srcOrd="1" destOrd="0" presId="urn:microsoft.com/office/officeart/2008/layout/LinedList"/>
    <dgm:cxn modelId="{B3C8E1DE-12D3-428C-8ABA-B499FDA718EC}" type="presParOf" srcId="{8462E9AF-D2DB-4F63-95A7-66AB041D759C}" destId="{0BF125E2-B547-4510-B703-99DAE1CB3097}" srcOrd="0" destOrd="0" presId="urn:microsoft.com/office/officeart/2008/layout/LinedList"/>
    <dgm:cxn modelId="{F117EB8E-C3E9-4B8F-BA64-7136F4145B2E}" type="presParOf" srcId="{8462E9AF-D2DB-4F63-95A7-66AB041D759C}" destId="{0ECF98D6-4308-43F7-BC9A-F4A65842EC9F}" srcOrd="1" destOrd="0" presId="urn:microsoft.com/office/officeart/2008/layout/LinedList"/>
    <dgm:cxn modelId="{6F9BCB78-8FBE-4F0E-A5C1-E57E27532986}" type="presParOf" srcId="{B0482E5F-8DFA-4CB0-A48B-807502693630}" destId="{CD163447-44EB-482A-BBB5-A6692B1E6474}" srcOrd="2" destOrd="0" presId="urn:microsoft.com/office/officeart/2008/layout/LinedList"/>
    <dgm:cxn modelId="{70B1ECF3-8DFB-4737-9D02-3AC95F865F19}" type="presParOf" srcId="{B0482E5F-8DFA-4CB0-A48B-807502693630}" destId="{8CBDE186-634F-4603-AD68-3DB2A55935A5}" srcOrd="3" destOrd="0" presId="urn:microsoft.com/office/officeart/2008/layout/LinedList"/>
    <dgm:cxn modelId="{6AFCD696-641E-461B-B298-D6207A7A9FF5}" type="presParOf" srcId="{8CBDE186-634F-4603-AD68-3DB2A55935A5}" destId="{98FAB9BC-D00A-4A98-844B-EB6198479A56}" srcOrd="0" destOrd="0" presId="urn:microsoft.com/office/officeart/2008/layout/LinedList"/>
    <dgm:cxn modelId="{42D54F91-D32F-4987-8681-B15C19FE8922}" type="presParOf" srcId="{8CBDE186-634F-4603-AD68-3DB2A55935A5}" destId="{913A60B4-0A1A-4060-B286-B6923F6327F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72823"/>
          <a:ext cx="5918184" cy="14320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This week lecture will cover the following CLO’s:</a:t>
          </a:r>
        </a:p>
      </dsp:txBody>
      <dsp:txXfrm>
        <a:off x="69908" y="342731"/>
        <a:ext cx="5778368" cy="1292264"/>
      </dsp:txXfrm>
    </dsp:sp>
    <dsp:sp modelId="{A025C2BC-3DF5-4B12-A043-E15E948A1F98}">
      <dsp:nvSpPr>
        <dsp:cNvPr id="0" name=""/>
        <dsp:cNvSpPr/>
      </dsp:nvSpPr>
      <dsp:spPr>
        <a:xfrm>
          <a:off x="0" y="1704904"/>
          <a:ext cx="5918184" cy="342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45720" rIns="256032" bIns="45720" numCol="1" spcCol="1270" anchor="t" anchorCtr="0">
          <a:noAutofit/>
        </a:bodyPr>
        <a:lstStyle/>
        <a:p>
          <a:pPr marL="285750" lvl="1" indent="-285750" algn="just" defTabSz="1244600">
            <a:lnSpc>
              <a:spcPct val="90000"/>
            </a:lnSpc>
            <a:spcBef>
              <a:spcPct val="0"/>
            </a:spcBef>
            <a:spcAft>
              <a:spcPct val="20000"/>
            </a:spcAft>
            <a:buChar char="•"/>
          </a:pPr>
          <a:r>
            <a:rPr lang="en-US" sz="2800" b="1" kern="1200" dirty="0"/>
            <a:t>CLO1: </a:t>
          </a:r>
          <a:r>
            <a:rPr lang="en-US" sz="2800" b="0" kern="1200" dirty="0"/>
            <a:t>Discuss the key concepts in the field of artificial intelligence</a:t>
          </a:r>
          <a:endParaRPr lang="en-US" sz="2800" kern="1200" dirty="0"/>
        </a:p>
        <a:p>
          <a:pPr marL="285750" lvl="1" indent="-285750" algn="just" defTabSz="1244600">
            <a:lnSpc>
              <a:spcPct val="90000"/>
            </a:lnSpc>
            <a:spcBef>
              <a:spcPct val="0"/>
            </a:spcBef>
            <a:spcAft>
              <a:spcPct val="20000"/>
            </a:spcAft>
            <a:buChar char="•"/>
          </a:pPr>
          <a:r>
            <a:rPr lang="en-US" sz="2800" b="1" kern="1200" dirty="0"/>
            <a:t>CLO 2: Implement </a:t>
          </a:r>
          <a:r>
            <a:rPr lang="en-US" sz="2800" kern="1200" dirty="0"/>
            <a:t>artificial intelligence techniques and case studies</a:t>
          </a:r>
        </a:p>
        <a:p>
          <a:pPr marL="285750" lvl="1" indent="-285750" algn="just" defTabSz="1244600">
            <a:lnSpc>
              <a:spcPct val="90000"/>
            </a:lnSpc>
            <a:spcBef>
              <a:spcPct val="0"/>
            </a:spcBef>
            <a:spcAft>
              <a:spcPct val="20000"/>
            </a:spcAft>
            <a:buChar char="•"/>
          </a:pPr>
          <a:r>
            <a:rPr lang="en-US" sz="2800" b="1" kern="1200" dirty="0"/>
            <a:t>CLO 3: Model </a:t>
          </a:r>
          <a:r>
            <a:rPr lang="en-US" sz="2800" kern="1200" dirty="0"/>
            <a:t>an automated solution for given problems using artificial intelligence paradigm</a:t>
          </a:r>
        </a:p>
      </dsp:txBody>
      <dsp:txXfrm>
        <a:off x="0" y="1704904"/>
        <a:ext cx="5918184" cy="3427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C97-D792-4E29-9ADB-A33A1728580F}">
      <dsp:nvSpPr>
        <dsp:cNvPr id="0" name=""/>
        <dsp:cNvSpPr/>
      </dsp:nvSpPr>
      <dsp:spPr>
        <a:xfrm>
          <a:off x="0" y="4921"/>
          <a:ext cx="6666833" cy="2201062"/>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53820"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Introduction to NLP and Machine Learning</a:t>
          </a:r>
          <a:endParaRPr lang="en-US" sz="2400" b="0" kern="1200" dirty="0">
            <a:solidFill>
              <a:schemeClr val="tx1"/>
            </a:solidFill>
          </a:endParaRPr>
        </a:p>
      </dsp:txBody>
      <dsp:txXfrm>
        <a:off x="0" y="4921"/>
        <a:ext cx="6666833" cy="2201062"/>
      </dsp:txXfrm>
    </dsp:sp>
    <dsp:sp modelId="{49E13C96-EE4B-48D1-8768-AE8ECE07E331}">
      <dsp:nvSpPr>
        <dsp:cNvPr id="0" name=""/>
        <dsp:cNvSpPr/>
      </dsp:nvSpPr>
      <dsp:spPr>
        <a:xfrm>
          <a:off x="333341" y="379771"/>
          <a:ext cx="4666783" cy="61599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1:</a:t>
          </a:r>
          <a:endParaRPr lang="en-US" sz="2400" kern="1200" dirty="0"/>
        </a:p>
      </dsp:txBody>
      <dsp:txXfrm>
        <a:off x="363411" y="409841"/>
        <a:ext cx="4606643" cy="555852"/>
      </dsp:txXfrm>
    </dsp:sp>
    <dsp:sp modelId="{6EB0EFF8-0C42-4EF9-9C2C-CFC7394E0CEC}">
      <dsp:nvSpPr>
        <dsp:cNvPr id="0" name=""/>
        <dsp:cNvSpPr/>
      </dsp:nvSpPr>
      <dsp:spPr>
        <a:xfrm>
          <a:off x="0" y="2223355"/>
          <a:ext cx="6666833" cy="1893937"/>
        </a:xfrm>
        <a:prstGeom prst="rect">
          <a:avLst/>
        </a:prstGeom>
        <a:solidFill>
          <a:schemeClr val="lt1">
            <a:alpha val="90000"/>
            <a:hueOff val="0"/>
            <a:satOff val="0"/>
            <a:lumOff val="0"/>
            <a:alphaOff val="0"/>
          </a:schemeClr>
        </a:soli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53820" rIns="517420"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Pre-processing and Feature Extraction</a:t>
          </a:r>
        </a:p>
      </dsp:txBody>
      <dsp:txXfrm>
        <a:off x="0" y="2223355"/>
        <a:ext cx="6666833" cy="1893937"/>
      </dsp:txXfrm>
    </dsp:sp>
    <dsp:sp modelId="{CD8EDF22-9A27-49D7-87DD-3C29CC93D73D}">
      <dsp:nvSpPr>
        <dsp:cNvPr id="0" name=""/>
        <dsp:cNvSpPr/>
      </dsp:nvSpPr>
      <dsp:spPr>
        <a:xfrm>
          <a:off x="333341" y="2588426"/>
          <a:ext cx="4666783" cy="594329"/>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2:</a:t>
          </a:r>
          <a:endParaRPr lang="en-US" sz="2400" kern="1200" dirty="0"/>
        </a:p>
      </dsp:txBody>
      <dsp:txXfrm>
        <a:off x="362354" y="2617439"/>
        <a:ext cx="4608757" cy="536303"/>
      </dsp:txXfrm>
    </dsp:sp>
    <dsp:sp modelId="{32D490F6-6959-4A86-BC15-70A51DD2639D}">
      <dsp:nvSpPr>
        <dsp:cNvPr id="0" name=""/>
        <dsp:cNvSpPr/>
      </dsp:nvSpPr>
      <dsp:spPr>
        <a:xfrm>
          <a:off x="0" y="4052162"/>
          <a:ext cx="6666833" cy="2201062"/>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53820" rIns="517420"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Machine Learning Models Implementation</a:t>
          </a:r>
          <a:endParaRPr lang="en-PK" sz="2400" kern="1200" dirty="0"/>
        </a:p>
      </dsp:txBody>
      <dsp:txXfrm>
        <a:off x="0" y="4052162"/>
        <a:ext cx="6666833" cy="2201062"/>
      </dsp:txXfrm>
    </dsp:sp>
    <dsp:sp modelId="{60CFD664-969E-433F-B211-696768B0118B}">
      <dsp:nvSpPr>
        <dsp:cNvPr id="0" name=""/>
        <dsp:cNvSpPr/>
      </dsp:nvSpPr>
      <dsp:spPr>
        <a:xfrm>
          <a:off x="333341" y="4468292"/>
          <a:ext cx="4666783" cy="54326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3:</a:t>
          </a:r>
          <a:endParaRPr lang="en-US" sz="2400" kern="1200" dirty="0"/>
        </a:p>
      </dsp:txBody>
      <dsp:txXfrm>
        <a:off x="359861" y="4494812"/>
        <a:ext cx="4613743" cy="4902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C22FEF-15ED-45E6-A62E-E238BCA828E5}">
      <dsp:nvSpPr>
        <dsp:cNvPr id="0" name=""/>
        <dsp:cNvSpPr/>
      </dsp:nvSpPr>
      <dsp:spPr>
        <a:xfrm>
          <a:off x="0" y="0"/>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BF125E2-B547-4510-B703-99DAE1CB3097}">
      <dsp:nvSpPr>
        <dsp:cNvPr id="0" name=""/>
        <dsp:cNvSpPr/>
      </dsp:nvSpPr>
      <dsp:spPr>
        <a:xfrm>
          <a:off x="0" y="0"/>
          <a:ext cx="6666833"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Word embedding in Natural Language Processing (NLP) is a technique used to represent words as numerical vectors in a continuous vector space. </a:t>
          </a:r>
        </a:p>
      </dsp:txBody>
      <dsp:txXfrm>
        <a:off x="0" y="0"/>
        <a:ext cx="6666833" cy="2726960"/>
      </dsp:txXfrm>
    </dsp:sp>
    <dsp:sp modelId="{CD163447-44EB-482A-BBB5-A6692B1E6474}">
      <dsp:nvSpPr>
        <dsp:cNvPr id="0" name=""/>
        <dsp:cNvSpPr/>
      </dsp:nvSpPr>
      <dsp:spPr>
        <a:xfrm>
          <a:off x="0" y="2726960"/>
          <a:ext cx="6666833" cy="0"/>
        </a:xfrm>
        <a:prstGeom prst="line">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8FAB9BC-D00A-4A98-844B-EB6198479A56}">
      <dsp:nvSpPr>
        <dsp:cNvPr id="0" name=""/>
        <dsp:cNvSpPr/>
      </dsp:nvSpPr>
      <dsp:spPr>
        <a:xfrm>
          <a:off x="0" y="2726960"/>
          <a:ext cx="6666833"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These embeddings capture semantic meaning, syntactic properties, and relationships between words, allowing algorithms to process and analyze text more effectively.</a:t>
          </a:r>
        </a:p>
      </dsp:txBody>
      <dsp:txXfrm>
        <a:off x="0" y="2726960"/>
        <a:ext cx="6666833" cy="27269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22099-AF8A-4701-B810-968115DD4CD5}" type="datetimeFigureOut">
              <a:rPr lang="en-PK" smtClean="0"/>
              <a:t>02/02/2026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CE8F-AF87-4DC9-8931-B46FD2A57B7E}" type="slidenum">
              <a:rPr lang="en-PK" smtClean="0"/>
              <a:t>‹#›</a:t>
            </a:fld>
            <a:endParaRPr lang="en-PK"/>
          </a:p>
        </p:txBody>
      </p:sp>
    </p:spTree>
    <p:extLst>
      <p:ext uri="{BB962C8B-B14F-4D97-AF65-F5344CB8AC3E}">
        <p14:creationId xmlns:p14="http://schemas.microsoft.com/office/powerpoint/2010/main" val="37885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erokell.io/blog/word2vec"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3</a:t>
            </a:fld>
            <a:endParaRPr lang="en-PK"/>
          </a:p>
        </p:txBody>
      </p:sp>
    </p:spTree>
    <p:extLst>
      <p:ext uri="{BB962C8B-B14F-4D97-AF65-F5344CB8AC3E}">
        <p14:creationId xmlns:p14="http://schemas.microsoft.com/office/powerpoint/2010/main" val="3833762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8523E7-76EF-2945-AB4A-B4572F3EA1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1318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22CE8F-AF87-4DC9-8931-B46FD2A57B7E}"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3391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8523E7-76EF-2945-AB4A-B4572F3EA1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9442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8523E7-76EF-2945-AB4A-B4572F3EA18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1299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Word2Vec: Explanation and Examples</a:t>
            </a:r>
            <a:endParaRPr lang="en-US" sz="1200" dirty="0"/>
          </a:p>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16</a:t>
            </a:fld>
            <a:endParaRPr lang="en-PK"/>
          </a:p>
        </p:txBody>
      </p:sp>
    </p:spTree>
    <p:extLst>
      <p:ext uri="{BB962C8B-B14F-4D97-AF65-F5344CB8AC3E}">
        <p14:creationId xmlns:p14="http://schemas.microsoft.com/office/powerpoint/2010/main" val="3980348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25</a:t>
            </a:fld>
            <a:endParaRPr lang="en-PK"/>
          </a:p>
        </p:txBody>
      </p:sp>
    </p:spTree>
    <p:extLst>
      <p:ext uri="{BB962C8B-B14F-4D97-AF65-F5344CB8AC3E}">
        <p14:creationId xmlns:p14="http://schemas.microsoft.com/office/powerpoint/2010/main" val="2538870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ProximaNova"/>
              </a:rPr>
              <a:t>The choice between the two approaches depends on the specific task at hand. The skip-gram model performs well with limited amounts of data and is particularly effective at representing infrequent words. In contrast, the CBOW model produces better representations for more commonly occurring words.</a:t>
            </a:r>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29</a:t>
            </a:fld>
            <a:endParaRPr lang="en-PK"/>
          </a:p>
        </p:txBody>
      </p:sp>
    </p:spTree>
    <p:extLst>
      <p:ext uri="{BB962C8B-B14F-4D97-AF65-F5344CB8AC3E}">
        <p14:creationId xmlns:p14="http://schemas.microsoft.com/office/powerpoint/2010/main" val="958583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33</a:t>
            </a:fld>
            <a:endParaRPr lang="en-PK"/>
          </a:p>
        </p:txBody>
      </p:sp>
    </p:spTree>
    <p:extLst>
      <p:ext uri="{BB962C8B-B14F-4D97-AF65-F5344CB8AC3E}">
        <p14:creationId xmlns:p14="http://schemas.microsoft.com/office/powerpoint/2010/main" val="4234104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34</a:t>
            </a:fld>
            <a:endParaRPr lang="en-PK"/>
          </a:p>
        </p:txBody>
      </p:sp>
    </p:spTree>
    <p:extLst>
      <p:ext uri="{BB962C8B-B14F-4D97-AF65-F5344CB8AC3E}">
        <p14:creationId xmlns:p14="http://schemas.microsoft.com/office/powerpoint/2010/main" val="2816090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F6E-1F1A-43E5-E220-6BDA7505F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80DB783-DEC2-A3C7-C92E-F68DB83AA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0CD0007-2303-FEB7-6AC0-EEB7E75F9ED7}"/>
              </a:ext>
            </a:extLst>
          </p:cNvPr>
          <p:cNvSpPr>
            <a:spLocks noGrp="1"/>
          </p:cNvSpPr>
          <p:nvPr>
            <p:ph type="dt" sz="half" idx="10"/>
          </p:nvPr>
        </p:nvSpPr>
        <p:spPr/>
        <p:txBody>
          <a:bodyPr/>
          <a:lstStyle/>
          <a:p>
            <a:fld id="{88268D2E-9289-42AC-B80C-6990639C6970}" type="datetime8">
              <a:rPr lang="en-PK" smtClean="0"/>
              <a:t>02/02/2026 08:52</a:t>
            </a:fld>
            <a:endParaRPr lang="en-PK"/>
          </a:p>
        </p:txBody>
      </p:sp>
      <p:sp>
        <p:nvSpPr>
          <p:cNvPr id="5" name="Footer Placeholder 4">
            <a:extLst>
              <a:ext uri="{FF2B5EF4-FFF2-40B4-BE49-F238E27FC236}">
                <a16:creationId xmlns:a16="http://schemas.microsoft.com/office/drawing/2014/main" id="{304C1C67-3BAA-4BB7-E952-40087303A03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F3BAB63F-A8D1-625B-851E-0468772D2734}"/>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70867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0F5E-5A4A-48AB-F52F-4B3D819101E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EAED141-6028-3B45-E8E1-D75FBB31D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91B5A7-5E7D-1482-A77F-6C1D9E69A931}"/>
              </a:ext>
            </a:extLst>
          </p:cNvPr>
          <p:cNvSpPr>
            <a:spLocks noGrp="1"/>
          </p:cNvSpPr>
          <p:nvPr>
            <p:ph type="dt" sz="half" idx="10"/>
          </p:nvPr>
        </p:nvSpPr>
        <p:spPr/>
        <p:txBody>
          <a:bodyPr/>
          <a:lstStyle/>
          <a:p>
            <a:fld id="{56A6C460-4D55-46A8-8B39-F8D80668C204}" type="datetime8">
              <a:rPr lang="en-PK" smtClean="0"/>
              <a:t>02/02/2026 08:52</a:t>
            </a:fld>
            <a:endParaRPr lang="en-PK"/>
          </a:p>
        </p:txBody>
      </p:sp>
      <p:sp>
        <p:nvSpPr>
          <p:cNvPr id="5" name="Footer Placeholder 4">
            <a:extLst>
              <a:ext uri="{FF2B5EF4-FFF2-40B4-BE49-F238E27FC236}">
                <a16:creationId xmlns:a16="http://schemas.microsoft.com/office/drawing/2014/main" id="{82FFE02F-9BDB-A3D2-C609-466E907B7CD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E8FBAB45-FD81-4E1C-DA59-7E59E3E602C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404582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F9AF-AFEF-5692-FA74-44D15087C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400C95-EDA4-E6F5-4AF5-4A6CAA785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DCB0D-660C-5E86-7853-04235E37D9C4}"/>
              </a:ext>
            </a:extLst>
          </p:cNvPr>
          <p:cNvSpPr>
            <a:spLocks noGrp="1"/>
          </p:cNvSpPr>
          <p:nvPr>
            <p:ph type="dt" sz="half" idx="10"/>
          </p:nvPr>
        </p:nvSpPr>
        <p:spPr/>
        <p:txBody>
          <a:bodyPr/>
          <a:lstStyle/>
          <a:p>
            <a:fld id="{FA202975-3265-4D6C-885C-67478BE3C7F2}" type="datetime8">
              <a:rPr lang="en-PK" smtClean="0"/>
              <a:t>02/02/2026 08:52</a:t>
            </a:fld>
            <a:endParaRPr lang="en-PK"/>
          </a:p>
        </p:txBody>
      </p:sp>
      <p:sp>
        <p:nvSpPr>
          <p:cNvPr id="5" name="Footer Placeholder 4">
            <a:extLst>
              <a:ext uri="{FF2B5EF4-FFF2-40B4-BE49-F238E27FC236}">
                <a16:creationId xmlns:a16="http://schemas.microsoft.com/office/drawing/2014/main" id="{584171C3-5CDF-9D80-4EBE-656BDE541C1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14E53F3-584B-156B-3CB7-CE2840A107E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6755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848-8B44-647A-1750-A34E7339AB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86DC08F-EC6A-9CC6-A7BE-12D10FD12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12273F5-CE29-B7C3-1DEE-634187AA6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32B0614-7950-A619-551B-ED3E162EFF23}"/>
              </a:ext>
            </a:extLst>
          </p:cNvPr>
          <p:cNvSpPr>
            <a:spLocks noGrp="1"/>
          </p:cNvSpPr>
          <p:nvPr>
            <p:ph type="dt" sz="half" idx="10"/>
          </p:nvPr>
        </p:nvSpPr>
        <p:spPr/>
        <p:txBody>
          <a:bodyPr/>
          <a:lstStyle/>
          <a:p>
            <a:fld id="{07BB4E42-362D-4DFA-8928-76DAAEE00EBB}" type="datetime8">
              <a:rPr lang="en-PK" smtClean="0"/>
              <a:t>02/02/2026 08:52</a:t>
            </a:fld>
            <a:endParaRPr lang="en-PK"/>
          </a:p>
        </p:txBody>
      </p:sp>
      <p:sp>
        <p:nvSpPr>
          <p:cNvPr id="6" name="Footer Placeholder 5">
            <a:extLst>
              <a:ext uri="{FF2B5EF4-FFF2-40B4-BE49-F238E27FC236}">
                <a16:creationId xmlns:a16="http://schemas.microsoft.com/office/drawing/2014/main" id="{CF441B59-C8B5-6D0F-4399-F106AC82F8A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64AFC60-2053-ECFF-5C50-368976D31673}"/>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189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F65F-F935-8509-0750-29F87FE67B4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4D1EDD-2F32-8088-DCA4-940683FC4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957DC-D663-7F27-98CF-5CFD4701F5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6DBE920-D195-F4B1-8A1C-DF099F1A7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AEEDD-4D96-4D6A-F2B6-6E56E8420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CF1D32A-14A7-43A3-04BD-3E5C1D6C5A10}"/>
              </a:ext>
            </a:extLst>
          </p:cNvPr>
          <p:cNvSpPr>
            <a:spLocks noGrp="1"/>
          </p:cNvSpPr>
          <p:nvPr>
            <p:ph type="dt" sz="half" idx="10"/>
          </p:nvPr>
        </p:nvSpPr>
        <p:spPr/>
        <p:txBody>
          <a:bodyPr/>
          <a:lstStyle/>
          <a:p>
            <a:fld id="{79F22A64-5408-49DB-841F-68B670D0A952}" type="datetime8">
              <a:rPr lang="en-PK" smtClean="0"/>
              <a:t>02/02/2026 08:52</a:t>
            </a:fld>
            <a:endParaRPr lang="en-PK"/>
          </a:p>
        </p:txBody>
      </p:sp>
      <p:sp>
        <p:nvSpPr>
          <p:cNvPr id="8" name="Footer Placeholder 7">
            <a:extLst>
              <a:ext uri="{FF2B5EF4-FFF2-40B4-BE49-F238E27FC236}">
                <a16:creationId xmlns:a16="http://schemas.microsoft.com/office/drawing/2014/main" id="{0489F090-39B6-F704-B7FE-D92B0D991FF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8A437A89-9DDA-2071-C1AA-F472229D41AF}"/>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983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B27A3-5102-EE21-A807-3AC83BC7EC7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9994ABC-C15D-FE70-E572-6DC603DD5855}"/>
              </a:ext>
            </a:extLst>
          </p:cNvPr>
          <p:cNvSpPr>
            <a:spLocks noGrp="1"/>
          </p:cNvSpPr>
          <p:nvPr>
            <p:ph type="dt" sz="half" idx="10"/>
          </p:nvPr>
        </p:nvSpPr>
        <p:spPr/>
        <p:txBody>
          <a:bodyPr/>
          <a:lstStyle/>
          <a:p>
            <a:fld id="{65D11D58-974E-4CAF-AC6D-5DBE315773AB}" type="datetime8">
              <a:rPr lang="en-PK" smtClean="0"/>
              <a:t>02/02/2026 08:52</a:t>
            </a:fld>
            <a:endParaRPr lang="en-PK"/>
          </a:p>
        </p:txBody>
      </p:sp>
      <p:sp>
        <p:nvSpPr>
          <p:cNvPr id="4" name="Footer Placeholder 3">
            <a:extLst>
              <a:ext uri="{FF2B5EF4-FFF2-40B4-BE49-F238E27FC236}">
                <a16:creationId xmlns:a16="http://schemas.microsoft.com/office/drawing/2014/main" id="{DB229E67-5D6A-62B9-0F07-7987F2233BF3}"/>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D1FEB484-C332-0992-D1F3-3F2F2D91BE5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10649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F1087-2936-983D-89D2-679197D30A81}"/>
              </a:ext>
            </a:extLst>
          </p:cNvPr>
          <p:cNvSpPr>
            <a:spLocks noGrp="1"/>
          </p:cNvSpPr>
          <p:nvPr>
            <p:ph type="dt" sz="half" idx="10"/>
          </p:nvPr>
        </p:nvSpPr>
        <p:spPr/>
        <p:txBody>
          <a:bodyPr/>
          <a:lstStyle/>
          <a:p>
            <a:fld id="{1A752D9D-C6C1-49F2-AE52-02C80D6EEE70}" type="datetime8">
              <a:rPr lang="en-PK" smtClean="0"/>
              <a:t>02/02/2026 08:52</a:t>
            </a:fld>
            <a:endParaRPr lang="en-PK"/>
          </a:p>
        </p:txBody>
      </p:sp>
      <p:sp>
        <p:nvSpPr>
          <p:cNvPr id="3" name="Footer Placeholder 2">
            <a:extLst>
              <a:ext uri="{FF2B5EF4-FFF2-40B4-BE49-F238E27FC236}">
                <a16:creationId xmlns:a16="http://schemas.microsoft.com/office/drawing/2014/main" id="{5780D7FA-42F7-2E29-B463-91C82A3EA39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C384DD66-06F1-428F-8C28-7722073E4C0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68618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3CE5-E801-D5B4-C053-AF956615D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BC01F3B-C27D-DFCB-EC41-FE54E8B84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3F774E3-55AD-9EDB-210F-21390360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F6D0-CE3D-181B-8D4A-CE6D944B2E5C}"/>
              </a:ext>
            </a:extLst>
          </p:cNvPr>
          <p:cNvSpPr>
            <a:spLocks noGrp="1"/>
          </p:cNvSpPr>
          <p:nvPr>
            <p:ph type="dt" sz="half" idx="10"/>
          </p:nvPr>
        </p:nvSpPr>
        <p:spPr/>
        <p:txBody>
          <a:bodyPr/>
          <a:lstStyle/>
          <a:p>
            <a:fld id="{0AE860EF-E9C5-4154-ABA0-497C98888386}" type="datetime8">
              <a:rPr lang="en-PK" smtClean="0"/>
              <a:t>02/02/2026 08:52</a:t>
            </a:fld>
            <a:endParaRPr lang="en-PK"/>
          </a:p>
        </p:txBody>
      </p:sp>
      <p:sp>
        <p:nvSpPr>
          <p:cNvPr id="6" name="Footer Placeholder 5">
            <a:extLst>
              <a:ext uri="{FF2B5EF4-FFF2-40B4-BE49-F238E27FC236}">
                <a16:creationId xmlns:a16="http://schemas.microsoft.com/office/drawing/2014/main" id="{87E9E0BA-6765-5F28-D792-DFBAF369FB12}"/>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1142F7D-EC17-A880-F4CA-79F8DE7E7D1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80221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6B2-0346-47D8-7C6C-CEB953FA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2FD7669-0EBC-8316-FE6C-4E3AFA75D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630D761-DEC6-4E02-A5A6-68D7DAB6F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01B9B-2FB7-4E9B-93B1-2B1A71C6FCFB}"/>
              </a:ext>
            </a:extLst>
          </p:cNvPr>
          <p:cNvSpPr>
            <a:spLocks noGrp="1"/>
          </p:cNvSpPr>
          <p:nvPr>
            <p:ph type="dt" sz="half" idx="10"/>
          </p:nvPr>
        </p:nvSpPr>
        <p:spPr/>
        <p:txBody>
          <a:bodyPr/>
          <a:lstStyle/>
          <a:p>
            <a:fld id="{CA1A3010-BD20-4C20-A139-F111CFCE4DED}" type="datetime8">
              <a:rPr lang="en-PK" smtClean="0"/>
              <a:t>02/02/2026 08:52</a:t>
            </a:fld>
            <a:endParaRPr lang="en-PK"/>
          </a:p>
        </p:txBody>
      </p:sp>
      <p:sp>
        <p:nvSpPr>
          <p:cNvPr id="6" name="Footer Placeholder 5">
            <a:extLst>
              <a:ext uri="{FF2B5EF4-FFF2-40B4-BE49-F238E27FC236}">
                <a16:creationId xmlns:a16="http://schemas.microsoft.com/office/drawing/2014/main" id="{BBDA871A-2E8C-6DAA-29F7-58F546DA9B3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17073E63-5A89-7F39-0343-31B38AA0A5C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5574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A0C1-36D1-D275-D29D-A5F174F13B2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7EC01DC-96D5-483D-EB66-D069F943BA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E0D86A-33F6-CC08-D069-C2CD2DA22C8E}"/>
              </a:ext>
            </a:extLst>
          </p:cNvPr>
          <p:cNvSpPr>
            <a:spLocks noGrp="1"/>
          </p:cNvSpPr>
          <p:nvPr>
            <p:ph type="dt" sz="half" idx="10"/>
          </p:nvPr>
        </p:nvSpPr>
        <p:spPr/>
        <p:txBody>
          <a:bodyPr/>
          <a:lstStyle/>
          <a:p>
            <a:fld id="{4FCDF583-EA1F-490D-A440-28D5D4D1609B}" type="datetime8">
              <a:rPr lang="en-PK" smtClean="0"/>
              <a:t>02/02/2026 08:52</a:t>
            </a:fld>
            <a:endParaRPr lang="en-PK"/>
          </a:p>
        </p:txBody>
      </p:sp>
      <p:sp>
        <p:nvSpPr>
          <p:cNvPr id="5" name="Footer Placeholder 4">
            <a:extLst>
              <a:ext uri="{FF2B5EF4-FFF2-40B4-BE49-F238E27FC236}">
                <a16:creationId xmlns:a16="http://schemas.microsoft.com/office/drawing/2014/main" id="{18C4C501-4B4E-CD7A-A3CF-AAF9C06DB58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B962088F-8BDE-3163-D288-747BB62CE606}"/>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39818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FE489-8C8D-9284-62BE-5BD44DD32D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BE0687B-E3ED-4012-AF0D-ED0C35C62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72E4B5-4BD5-1EA2-4054-0181794E6F30}"/>
              </a:ext>
            </a:extLst>
          </p:cNvPr>
          <p:cNvSpPr>
            <a:spLocks noGrp="1"/>
          </p:cNvSpPr>
          <p:nvPr>
            <p:ph type="dt" sz="half" idx="10"/>
          </p:nvPr>
        </p:nvSpPr>
        <p:spPr/>
        <p:txBody>
          <a:bodyPr/>
          <a:lstStyle/>
          <a:p>
            <a:fld id="{DCE86CA3-BD67-4FC2-8043-563DA28C6DEF}" type="datetime8">
              <a:rPr lang="en-PK" smtClean="0"/>
              <a:t>02/02/2026 08:52</a:t>
            </a:fld>
            <a:endParaRPr lang="en-PK"/>
          </a:p>
        </p:txBody>
      </p:sp>
      <p:sp>
        <p:nvSpPr>
          <p:cNvPr id="5" name="Footer Placeholder 4">
            <a:extLst>
              <a:ext uri="{FF2B5EF4-FFF2-40B4-BE49-F238E27FC236}">
                <a16:creationId xmlns:a16="http://schemas.microsoft.com/office/drawing/2014/main" id="{5ECB897C-3A1B-5B06-4673-7AD97389028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37320210-5709-B516-739E-CEF3220C1B2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74212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A9A5E6FA-F9B2-43F4-93A1-754EFBD5F0B7}" type="datetime8">
              <a:rPr lang="en-PK" smtClean="0"/>
              <a:t>02/02/2026 08:52</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0595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8A33D06E-F415-4185-80CC-C9C1D8DCF4BF}" type="datetime8">
              <a:rPr lang="en-PK" smtClean="0"/>
              <a:t>02/02/2026 08:52</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6619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C9009A1A-9470-4BA4-A2A2-7BF1CBDD1AE9}" type="datetime8">
              <a:rPr lang="en-PK" smtClean="0"/>
              <a:t>02/02/2026 08:52</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104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EA9879D1-4867-47B4-ABB5-00115205E094}" type="datetime8">
              <a:rPr lang="en-PK" smtClean="0"/>
              <a:t>02/02/2026 08:52</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85536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B0C6ACD6-7DB4-4B0B-80BA-170914EA3395}" type="datetime8">
              <a:rPr lang="en-PK" smtClean="0"/>
              <a:t>02/02/2026 08:52</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78811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05312407-BEAE-4152-B7BA-48543FBFA995}" type="datetime8">
              <a:rPr lang="en-PK" smtClean="0"/>
              <a:t>02/02/2026 08:52</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975648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ADA8559E-9171-4385-8072-B0E593863BB5}" type="datetime8">
              <a:rPr lang="en-PK" smtClean="0"/>
              <a:t>02/02/2026 08:52</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28431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C28870C0-0CCF-4A43-BBA0-BD65E4FC916D}" type="datetime8">
              <a:rPr lang="en-PK" smtClean="0"/>
              <a:t>02/02/2026 08:52</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7252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01EED458-9B45-4ED9-810F-EDF3F113BFE8}" type="datetime8">
              <a:rPr lang="en-PK" smtClean="0"/>
              <a:t>02/02/2026 08:52</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63591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E4F8A886-A279-4E48-9566-005C3CCF0512}" type="datetime8">
              <a:rPr lang="en-PK" smtClean="0"/>
              <a:t>02/02/2026 08:52</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1963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776FA2A8-78F7-44B2-B930-F12580E93FE9}" type="datetime8">
              <a:rPr lang="en-PK" smtClean="0"/>
              <a:t>02/02/2026 08:52</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94199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403093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27709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913806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00260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406862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4822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1265857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6539465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62590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973587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00181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8A50D-613C-02AB-581B-1EF8CBBB5B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868A3D-C8EE-C41F-48F9-726C438B2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75493D-4CF2-26D7-B747-6F625DBE2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36D9-B266-4646-B09B-4DC3FF6DEB0E}" type="datetime8">
              <a:rPr lang="en-PK" smtClean="0"/>
              <a:t>02/02/2026 08:52</a:t>
            </a:fld>
            <a:endParaRPr lang="en-PK"/>
          </a:p>
        </p:txBody>
      </p:sp>
      <p:sp>
        <p:nvSpPr>
          <p:cNvPr id="5" name="Footer Placeholder 4">
            <a:extLst>
              <a:ext uri="{FF2B5EF4-FFF2-40B4-BE49-F238E27FC236}">
                <a16:creationId xmlns:a16="http://schemas.microsoft.com/office/drawing/2014/main" id="{6BB9FEE2-49F4-5CCC-6E73-A93A928D6A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6F66B20A-6F5F-92E0-412B-7BC36CDF6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6AE5-FFBF-49E9-8C0A-67AD363D4ACB}" type="slidenum">
              <a:rPr lang="en-PK" smtClean="0"/>
              <a:t>‹#›</a:t>
            </a:fld>
            <a:endParaRPr lang="en-PK"/>
          </a:p>
        </p:txBody>
      </p:sp>
    </p:spTree>
    <p:extLst>
      <p:ext uri="{BB962C8B-B14F-4D97-AF65-F5344CB8AC3E}">
        <p14:creationId xmlns:p14="http://schemas.microsoft.com/office/powerpoint/2010/main" val="284218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A6A64-E084-48DF-BC71-B8BC8F551A5E}" type="datetime8">
              <a:rPr lang="en-PK" smtClean="0"/>
              <a:t>02/02/2026 08:52</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221325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02/02/2026</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11708593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Machine Learning and Word Embeddings</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25819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Week-13 CLO’s</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1024202415"/>
              </p:ext>
            </p:extLst>
          </p:nvPr>
        </p:nvGraphicFramePr>
        <p:xfrm>
          <a:off x="5431536" y="587829"/>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7852DB-10CB-BAE7-752A-5098AF7A36BA}"/>
              </a:ext>
            </a:extLst>
          </p:cNvPr>
          <p:cNvSpPr>
            <a:spLocks noGrp="1"/>
          </p:cNvSpPr>
          <p:nvPr>
            <p:ph type="title"/>
          </p:nvPr>
        </p:nvSpPr>
        <p:spPr>
          <a:xfrm>
            <a:off x="586478" y="1683756"/>
            <a:ext cx="3115265" cy="2396359"/>
          </a:xfrm>
        </p:spPr>
        <p:txBody>
          <a:bodyPr anchor="b">
            <a:normAutofit/>
          </a:bodyPr>
          <a:lstStyle/>
          <a:p>
            <a:pPr algn="r"/>
            <a:r>
              <a:rPr lang="en-GB" sz="4800" b="1" dirty="0">
                <a:solidFill>
                  <a:srgbClr val="FFFFFF"/>
                </a:solidFill>
              </a:rPr>
              <a:t>CLO’s Mapping </a:t>
            </a:r>
            <a:endParaRPr lang="en-PK" sz="4800" b="1" dirty="0">
              <a:solidFill>
                <a:srgbClr val="FFFFFF"/>
              </a:solidFill>
            </a:endParaRPr>
          </a:p>
        </p:txBody>
      </p:sp>
      <p:graphicFrame>
        <p:nvGraphicFramePr>
          <p:cNvPr id="12" name="Content Placeholder 2">
            <a:extLst>
              <a:ext uri="{FF2B5EF4-FFF2-40B4-BE49-F238E27FC236}">
                <a16:creationId xmlns:a16="http://schemas.microsoft.com/office/drawing/2014/main" id="{D1DDC836-2DE9-75FA-5E18-375B488BD769}"/>
              </a:ext>
            </a:extLst>
          </p:cNvPr>
          <p:cNvGraphicFramePr>
            <a:graphicFrameLocks noGrp="1"/>
          </p:cNvGraphicFramePr>
          <p:nvPr>
            <p:ph idx="1"/>
            <p:extLst>
              <p:ext uri="{D42A27DB-BD31-4B8C-83A1-F6EECF244321}">
                <p14:modId xmlns:p14="http://schemas.microsoft.com/office/powerpoint/2010/main" val="978082947"/>
              </p:ext>
            </p:extLst>
          </p:nvPr>
        </p:nvGraphicFramePr>
        <p:xfrm>
          <a:off x="4905052" y="321275"/>
          <a:ext cx="6666833" cy="6289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340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9ECAFBC-B9EE-1127-2756-4F24E01916A6}"/>
              </a:ext>
            </a:extLst>
          </p:cNvPr>
          <p:cNvSpPr txBox="1"/>
          <p:nvPr/>
        </p:nvSpPr>
        <p:spPr>
          <a:xfrm>
            <a:off x="2020905" y="1651847"/>
            <a:ext cx="8147713" cy="308124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Display" panose="02110004020202020204"/>
                <a:ea typeface="+mn-ea"/>
                <a:cs typeface="+mn-cs"/>
              </a:rPr>
              <a:t>NLP And Machine Learning</a:t>
            </a:r>
            <a:endParaRPr kumimoji="0" lang="en-US" sz="6600" b="0" i="0" u="none" strike="noStrike" kern="1200" cap="none" spc="0" normalizeH="0" baseline="0" noProof="0" dirty="0">
              <a:ln>
                <a:noFill/>
              </a:ln>
              <a:solidFill>
                <a:srgbClr val="FFFFFF"/>
              </a:solidFill>
              <a:effectLst/>
              <a:uLnTx/>
              <a:uFillTx/>
              <a:latin typeface="Aptos Display" panose="02110004020202020204"/>
              <a:ea typeface="+mn-ea"/>
              <a:cs typeface="+mn-cs"/>
            </a:endParaRPr>
          </a:p>
        </p:txBody>
      </p:sp>
    </p:spTree>
    <p:extLst>
      <p:ext uri="{BB962C8B-B14F-4D97-AF65-F5344CB8AC3E}">
        <p14:creationId xmlns:p14="http://schemas.microsoft.com/office/powerpoint/2010/main" val="2944469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What is Machine Learning: </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ArialMT"/>
              </a:rPr>
              <a:t>“Machine learning is the field of study that enables a machine to automatically learn from data, improve performance from experiences, and predict things without being explicitly programmed.” (</a:t>
            </a:r>
            <a:r>
              <a:rPr lang="en-US" b="1" dirty="0">
                <a:latin typeface="ArialMT"/>
              </a:rPr>
              <a:t>Arthur Samuel 1959</a:t>
            </a:r>
            <a:r>
              <a:rPr lang="en-US" dirty="0">
                <a:latin typeface="ArialMT"/>
              </a:rPr>
              <a:t>)</a:t>
            </a:r>
          </a:p>
          <a:p>
            <a:pPr algn="just"/>
            <a:endParaRPr lang="en-US" b="1" dirty="0">
              <a:latin typeface="ArialMT"/>
            </a:endParaRPr>
          </a:p>
          <a:p>
            <a:pPr algn="just"/>
            <a:endParaRPr lang="en-US" dirty="0">
              <a:latin typeface="ArialMT"/>
            </a:endParaRPr>
          </a:p>
          <a:p>
            <a:endParaRPr lang="en-US" dirty="0"/>
          </a:p>
          <a:p>
            <a:endParaRPr lang="en-US" dirty="0">
              <a:latin typeface="ArialMT"/>
            </a:endParaRPr>
          </a:p>
          <a:p>
            <a:endParaRPr lang="en-US" dirty="0"/>
          </a:p>
        </p:txBody>
      </p:sp>
    </p:spTree>
    <p:extLst>
      <p:ext uri="{BB962C8B-B14F-4D97-AF65-F5344CB8AC3E}">
        <p14:creationId xmlns:p14="http://schemas.microsoft.com/office/powerpoint/2010/main" val="74794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r"/>
            <a:r>
              <a:rPr lang="en-GB" sz="4000" b="1" dirty="0">
                <a:solidFill>
                  <a:srgbClr val="FFFFFF"/>
                </a:solidFill>
              </a:rPr>
              <a:t>What is Machine Learning</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5976866" cy="5546047"/>
          </a:xfrm>
        </p:spPr>
        <p:txBody>
          <a:bodyPr anchor="ctr">
            <a:normAutofit/>
          </a:bodyPr>
          <a:lstStyle/>
          <a:p>
            <a:pPr algn="just"/>
            <a:r>
              <a:rPr lang="en-GB" dirty="0"/>
              <a:t>Machine learning (ML) is a branch of artificial intelligence (AI) focused on enabling computers and machines to imitate the way that humans learn, to perform tasks autonomously, and to improve their performance and accuracy through experience and exposure to more data.</a:t>
            </a:r>
          </a:p>
          <a:p>
            <a:pPr algn="l" fontAlgn="base"/>
            <a:endParaRPr lang="it-IT" dirty="0">
              <a:solidFill>
                <a:srgbClr val="161616"/>
              </a:solidFill>
              <a:latin typeface="IBM Plex Sans" panose="020B0503050203000203" pitchFamily="34" charset="0"/>
            </a:endParaRPr>
          </a:p>
        </p:txBody>
      </p:sp>
    </p:spTree>
    <p:extLst>
      <p:ext uri="{BB962C8B-B14F-4D97-AF65-F5344CB8AC3E}">
        <p14:creationId xmlns:p14="http://schemas.microsoft.com/office/powerpoint/2010/main" val="365019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does Machine Learning work</a:t>
            </a:r>
          </a:p>
        </p:txBody>
      </p:sp>
      <p:sp>
        <p:nvSpPr>
          <p:cNvPr id="3" name="Content Placeholder 2"/>
          <p:cNvSpPr>
            <a:spLocks noGrp="1"/>
          </p:cNvSpPr>
          <p:nvPr>
            <p:ph idx="1"/>
          </p:nvPr>
        </p:nvSpPr>
        <p:spPr/>
        <p:txBody>
          <a:bodyPr/>
          <a:lstStyle/>
          <a:p>
            <a:r>
              <a:rPr lang="en-US" dirty="0"/>
              <a:t>A Machine Learning system </a:t>
            </a:r>
            <a:r>
              <a:rPr lang="en-US" b="1" dirty="0"/>
              <a:t>learns from historical data which in known as training data, builds the prediction models, and whenever it receives new data, predicts the output for it.</a:t>
            </a:r>
          </a:p>
          <a:p>
            <a:r>
              <a:rPr lang="en-US" dirty="0"/>
              <a:t>The accuracy of predicted output depends upon the amount of data, as the huge amount of data helps to build a better model which predicts the output more accurately.</a:t>
            </a:r>
          </a:p>
          <a:p>
            <a:endParaRPr lang="en-US" dirty="0"/>
          </a:p>
        </p:txBody>
      </p:sp>
      <p:pic>
        <p:nvPicPr>
          <p:cNvPr id="4" name="Picture 3"/>
          <p:cNvPicPr>
            <a:picLocks noChangeAspect="1"/>
          </p:cNvPicPr>
          <p:nvPr/>
        </p:nvPicPr>
        <p:blipFill>
          <a:blip r:embed="rId3"/>
          <a:stretch>
            <a:fillRect/>
          </a:stretch>
        </p:blipFill>
        <p:spPr>
          <a:xfrm>
            <a:off x="2349884" y="4783139"/>
            <a:ext cx="7860917" cy="1964503"/>
          </a:xfrm>
          <a:prstGeom prst="rect">
            <a:avLst/>
          </a:prstGeom>
        </p:spPr>
      </p:pic>
    </p:spTree>
    <p:extLst>
      <p:ext uri="{BB962C8B-B14F-4D97-AF65-F5344CB8AC3E}">
        <p14:creationId xmlns:p14="http://schemas.microsoft.com/office/powerpoint/2010/main" val="392935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96E6BE7-178A-4ABA-2003-18C7ECDA10F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Machine Learning Methods </a:t>
            </a:r>
          </a:p>
        </p:txBody>
      </p:sp>
      <p:graphicFrame>
        <p:nvGraphicFramePr>
          <p:cNvPr id="4" name="Content Placeholder 3">
            <a:extLst>
              <a:ext uri="{FF2B5EF4-FFF2-40B4-BE49-F238E27FC236}">
                <a16:creationId xmlns:a16="http://schemas.microsoft.com/office/drawing/2014/main" id="{E92E2921-BAB1-C645-631F-935B919CA82B}"/>
              </a:ext>
            </a:extLst>
          </p:cNvPr>
          <p:cNvGraphicFramePr>
            <a:graphicFrameLocks noGrp="1"/>
          </p:cNvGraphicFramePr>
          <p:nvPr>
            <p:ph idx="1"/>
          </p:nvPr>
        </p:nvGraphicFramePr>
        <p:xfrm>
          <a:off x="132304" y="2008416"/>
          <a:ext cx="11927392" cy="4382889"/>
        </p:xfrm>
        <a:graphic>
          <a:graphicData uri="http://schemas.openxmlformats.org/drawingml/2006/table">
            <a:tbl>
              <a:tblPr/>
              <a:tblGrid>
                <a:gridCol w="2301108">
                  <a:extLst>
                    <a:ext uri="{9D8B030D-6E8A-4147-A177-3AD203B41FA5}">
                      <a16:colId xmlns:a16="http://schemas.microsoft.com/office/drawing/2014/main" val="3916951129"/>
                    </a:ext>
                  </a:extLst>
                </a:gridCol>
                <a:gridCol w="4158885">
                  <a:extLst>
                    <a:ext uri="{9D8B030D-6E8A-4147-A177-3AD203B41FA5}">
                      <a16:colId xmlns:a16="http://schemas.microsoft.com/office/drawing/2014/main" val="43147798"/>
                    </a:ext>
                  </a:extLst>
                </a:gridCol>
                <a:gridCol w="2582588">
                  <a:extLst>
                    <a:ext uri="{9D8B030D-6E8A-4147-A177-3AD203B41FA5}">
                      <a16:colId xmlns:a16="http://schemas.microsoft.com/office/drawing/2014/main" val="2737010975"/>
                    </a:ext>
                  </a:extLst>
                </a:gridCol>
                <a:gridCol w="2884811">
                  <a:extLst>
                    <a:ext uri="{9D8B030D-6E8A-4147-A177-3AD203B41FA5}">
                      <a16:colId xmlns:a16="http://schemas.microsoft.com/office/drawing/2014/main" val="2768463373"/>
                    </a:ext>
                  </a:extLst>
                </a:gridCol>
              </a:tblGrid>
              <a:tr h="552669">
                <a:tc>
                  <a:txBody>
                    <a:bodyPr/>
                    <a:lstStyle/>
                    <a:p>
                      <a:r>
                        <a:rPr lang="en-US" sz="1800" b="1" dirty="0"/>
                        <a:t>Type</a:t>
                      </a:r>
                      <a:endParaRPr lang="en-US" sz="1800" dirty="0"/>
                    </a:p>
                  </a:txBody>
                  <a:tcPr marL="44825" marR="44825" marT="22412" marB="22412"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r>
                        <a:rPr lang="en-US" sz="1800" b="1" dirty="0"/>
                        <a:t>Description</a:t>
                      </a:r>
                      <a:endParaRPr lang="en-US" sz="1800" dirty="0"/>
                    </a:p>
                  </a:txBody>
                  <a:tcPr marL="44825" marR="44825" marT="22412" marB="22412"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sz="1800" b="1"/>
                        <a:t>Examples</a:t>
                      </a:r>
                      <a:endParaRPr lang="en-US" sz="1800"/>
                    </a:p>
                  </a:txBody>
                  <a:tcPr marL="44825" marR="44825" marT="22412" marB="22412"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sz="1800" b="1"/>
                        <a:t>Use Cases</a:t>
                      </a:r>
                      <a:endParaRPr lang="en-US" sz="1800"/>
                    </a:p>
                  </a:txBody>
                  <a:tcPr marL="44825" marR="44825" marT="22412" marB="2241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40155584"/>
                  </a:ext>
                </a:extLst>
              </a:tr>
              <a:tr h="957555">
                <a:tc>
                  <a:txBody>
                    <a:bodyPr/>
                    <a:lstStyle/>
                    <a:p>
                      <a:r>
                        <a:rPr lang="en-US" sz="1800" b="1"/>
                        <a:t>1. Supervised Learning</a:t>
                      </a:r>
                      <a:endParaRPr lang="en-US" sz="1800"/>
                    </a:p>
                  </a:txBody>
                  <a:tcPr marL="44825" marR="44825" marT="22412" marB="22412"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sz="1800" dirty="0"/>
                        <a:t>Learn from labeled data to make predictions or classifications.</a:t>
                      </a:r>
                    </a:p>
                  </a:txBody>
                  <a:tcPr marL="44825" marR="44825" marT="22412" marB="22412" anchor="ctr">
                    <a:lnL>
                      <a:noFill/>
                    </a:lnL>
                    <a:lnR>
                      <a:noFill/>
                    </a:lnR>
                    <a:lnT>
                      <a:noFill/>
                    </a:lnT>
                    <a:lnB>
                      <a:noFill/>
                    </a:lnB>
                    <a:noFill/>
                  </a:tcPr>
                </a:tc>
                <a:tc>
                  <a:txBody>
                    <a:bodyPr/>
                    <a:lstStyle/>
                    <a:p>
                      <a:r>
                        <a:rPr lang="en-US" sz="1800"/>
                        <a:t>Linear Regression, Decision Trees, SVM</a:t>
                      </a:r>
                    </a:p>
                  </a:txBody>
                  <a:tcPr marL="44825" marR="44825" marT="22412" marB="22412" anchor="ctr">
                    <a:lnL>
                      <a:noFill/>
                    </a:lnL>
                    <a:lnR>
                      <a:noFill/>
                    </a:lnR>
                    <a:lnT>
                      <a:noFill/>
                    </a:lnT>
                    <a:lnB>
                      <a:noFill/>
                    </a:lnB>
                    <a:noFill/>
                  </a:tcPr>
                </a:tc>
                <a:tc>
                  <a:txBody>
                    <a:bodyPr/>
                    <a:lstStyle/>
                    <a:p>
                      <a:r>
                        <a:rPr lang="en-US" sz="1800"/>
                        <a:t>Spam detection, sentiment analysis, forecasting</a:t>
                      </a:r>
                    </a:p>
                  </a:txBody>
                  <a:tcPr marL="44825" marR="44825" marT="22412" marB="22412"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503237945"/>
                  </a:ext>
                </a:extLst>
              </a:tr>
              <a:tr h="957555">
                <a:tc>
                  <a:txBody>
                    <a:bodyPr/>
                    <a:lstStyle/>
                    <a:p>
                      <a:r>
                        <a:rPr lang="en-US" sz="1800" b="1"/>
                        <a:t>2. Unsupervised Learning</a:t>
                      </a:r>
                      <a:endParaRPr lang="en-US" sz="1800"/>
                    </a:p>
                  </a:txBody>
                  <a:tcPr marL="44825" marR="44825" marT="22412" marB="22412"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sz="1800" dirty="0"/>
                        <a:t>Find patterns or groupings in unlabeled data.</a:t>
                      </a:r>
                    </a:p>
                  </a:txBody>
                  <a:tcPr marL="44825" marR="44825" marT="22412" marB="22412" anchor="ctr">
                    <a:lnL>
                      <a:noFill/>
                    </a:lnL>
                    <a:lnR>
                      <a:noFill/>
                    </a:lnR>
                    <a:lnT>
                      <a:noFill/>
                    </a:lnT>
                    <a:lnB>
                      <a:noFill/>
                    </a:lnB>
                    <a:noFill/>
                  </a:tcPr>
                </a:tc>
                <a:tc>
                  <a:txBody>
                    <a:bodyPr/>
                    <a:lstStyle/>
                    <a:p>
                      <a:r>
                        <a:rPr lang="en-US" sz="1800" dirty="0"/>
                        <a:t>K-Means, Hierarchical Clustering, PCA</a:t>
                      </a:r>
                    </a:p>
                  </a:txBody>
                  <a:tcPr marL="44825" marR="44825" marT="22412" marB="22412" anchor="ctr">
                    <a:lnL>
                      <a:noFill/>
                    </a:lnL>
                    <a:lnR>
                      <a:noFill/>
                    </a:lnR>
                    <a:lnT>
                      <a:noFill/>
                    </a:lnT>
                    <a:lnB>
                      <a:noFill/>
                    </a:lnB>
                    <a:noFill/>
                  </a:tcPr>
                </a:tc>
                <a:tc>
                  <a:txBody>
                    <a:bodyPr/>
                    <a:lstStyle/>
                    <a:p>
                      <a:r>
                        <a:rPr lang="en-US" sz="1800" dirty="0"/>
                        <a:t>Customer segmentation, topic modeling</a:t>
                      </a:r>
                    </a:p>
                  </a:txBody>
                  <a:tcPr marL="44825" marR="44825" marT="22412" marB="22412"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91330920"/>
                  </a:ext>
                </a:extLst>
              </a:tr>
              <a:tr h="957555">
                <a:tc>
                  <a:txBody>
                    <a:bodyPr/>
                    <a:lstStyle/>
                    <a:p>
                      <a:r>
                        <a:rPr lang="en-US" sz="1800" b="1"/>
                        <a:t>3. Semi-Supervised Learning</a:t>
                      </a:r>
                      <a:endParaRPr lang="en-US" sz="1800"/>
                    </a:p>
                  </a:txBody>
                  <a:tcPr marL="44825" marR="44825" marT="22412" marB="22412"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sz="1800"/>
                        <a:t>Uses small labeled data + large unlabeled data for learning.</a:t>
                      </a:r>
                    </a:p>
                  </a:txBody>
                  <a:tcPr marL="44825" marR="44825" marT="22412" marB="22412" anchor="ctr">
                    <a:lnL>
                      <a:noFill/>
                    </a:lnL>
                    <a:lnR>
                      <a:noFill/>
                    </a:lnR>
                    <a:lnT>
                      <a:noFill/>
                    </a:lnT>
                    <a:lnB>
                      <a:noFill/>
                    </a:lnB>
                    <a:noFill/>
                  </a:tcPr>
                </a:tc>
                <a:tc>
                  <a:txBody>
                    <a:bodyPr/>
                    <a:lstStyle/>
                    <a:p>
                      <a:r>
                        <a:rPr lang="en-US" sz="1800"/>
                        <a:t>Modified supervised models</a:t>
                      </a:r>
                    </a:p>
                  </a:txBody>
                  <a:tcPr marL="44825" marR="44825" marT="22412" marB="22412" anchor="ctr">
                    <a:lnL>
                      <a:noFill/>
                    </a:lnL>
                    <a:lnR>
                      <a:noFill/>
                    </a:lnR>
                    <a:lnT>
                      <a:noFill/>
                    </a:lnT>
                    <a:lnB>
                      <a:noFill/>
                    </a:lnB>
                    <a:noFill/>
                  </a:tcPr>
                </a:tc>
                <a:tc>
                  <a:txBody>
                    <a:bodyPr/>
                    <a:lstStyle/>
                    <a:p>
                      <a:r>
                        <a:rPr lang="en-US" sz="1800" dirty="0"/>
                        <a:t>Medical imaging, speech recognition</a:t>
                      </a:r>
                    </a:p>
                  </a:txBody>
                  <a:tcPr marL="44825" marR="44825" marT="22412" marB="22412"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795017657"/>
                  </a:ext>
                </a:extLst>
              </a:tr>
              <a:tr h="957555">
                <a:tc>
                  <a:txBody>
                    <a:bodyPr/>
                    <a:lstStyle/>
                    <a:p>
                      <a:r>
                        <a:rPr lang="en-US" sz="1800" b="1"/>
                        <a:t>4. Reinforcement Learning</a:t>
                      </a:r>
                      <a:endParaRPr lang="en-US" sz="1800"/>
                    </a:p>
                  </a:txBody>
                  <a:tcPr marL="44825" marR="44825" marT="22412" marB="22412"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US" sz="1800"/>
                        <a:t>Learn through trial and error to maximize rewards in an environment.</a:t>
                      </a:r>
                    </a:p>
                  </a:txBody>
                  <a:tcPr marL="44825" marR="44825" marT="22412" marB="22412"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sz="1800"/>
                        <a:t>Q-Learning, Deep Q-Networks</a:t>
                      </a:r>
                    </a:p>
                  </a:txBody>
                  <a:tcPr marL="44825" marR="44825" marT="22412" marB="22412"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sz="1800" dirty="0"/>
                        <a:t>Game AI, robotics, autonomous vehicles</a:t>
                      </a:r>
                    </a:p>
                  </a:txBody>
                  <a:tcPr marL="44825" marR="44825" marT="22412" marB="2241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431356"/>
                  </a:ext>
                </a:extLst>
              </a:tr>
            </a:tbl>
          </a:graphicData>
        </a:graphic>
      </p:graphicFrame>
    </p:spTree>
    <p:extLst>
      <p:ext uri="{BB962C8B-B14F-4D97-AF65-F5344CB8AC3E}">
        <p14:creationId xmlns:p14="http://schemas.microsoft.com/office/powerpoint/2010/main" val="3160349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Machine Learning</a:t>
            </a:r>
          </a:p>
        </p:txBody>
      </p:sp>
      <p:sp>
        <p:nvSpPr>
          <p:cNvPr id="3" name="Content Placeholder 2"/>
          <p:cNvSpPr>
            <a:spLocks noGrp="1"/>
          </p:cNvSpPr>
          <p:nvPr>
            <p:ph idx="1"/>
          </p:nvPr>
        </p:nvSpPr>
        <p:spPr/>
        <p:txBody>
          <a:bodyPr>
            <a:normAutofit/>
          </a:bodyPr>
          <a:lstStyle/>
          <a:p>
            <a:r>
              <a:rPr lang="en-US" dirty="0"/>
              <a:t>Machine learning uses data to detect various patterns in a given dataset.</a:t>
            </a:r>
          </a:p>
          <a:p>
            <a:r>
              <a:rPr lang="en-US" dirty="0"/>
              <a:t>It can learn from past data and improve automatically.</a:t>
            </a:r>
          </a:p>
          <a:p>
            <a:r>
              <a:rPr lang="en-US" dirty="0"/>
              <a:t>It is a data-driven technology.</a:t>
            </a:r>
          </a:p>
          <a:p>
            <a:r>
              <a:rPr lang="en-US" dirty="0"/>
              <a:t>Machine learning is much similar to data mining as it also deals with the huge amount of the data.</a:t>
            </a:r>
          </a:p>
          <a:p>
            <a:endParaRPr lang="en-US" dirty="0"/>
          </a:p>
        </p:txBody>
      </p:sp>
    </p:spTree>
    <p:extLst>
      <p:ext uri="{BB962C8B-B14F-4D97-AF65-F5344CB8AC3E}">
        <p14:creationId xmlns:p14="http://schemas.microsoft.com/office/powerpoint/2010/main" val="13546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4E5E58B-E429-0D7A-DE21-7D21E716D598}"/>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Integrating NLP with Machine Learning</a:t>
            </a:r>
            <a:endParaRPr lang="en-PK" sz="4000" b="1" dirty="0">
              <a:solidFill>
                <a:srgbClr val="FFFFFF"/>
              </a:solidFill>
            </a:endParaRPr>
          </a:p>
        </p:txBody>
      </p:sp>
      <p:sp>
        <p:nvSpPr>
          <p:cNvPr id="5" name="Rectangle 2">
            <a:extLst>
              <a:ext uri="{FF2B5EF4-FFF2-40B4-BE49-F238E27FC236}">
                <a16:creationId xmlns:a16="http://schemas.microsoft.com/office/drawing/2014/main" id="{43BBE5A4-1961-7415-5ABB-61ACD6B9F69E}"/>
              </a:ext>
            </a:extLst>
          </p:cNvPr>
          <p:cNvSpPr>
            <a:spLocks noGrp="1" noChangeArrowheads="1"/>
          </p:cNvSpPr>
          <p:nvPr>
            <p:ph idx="1"/>
          </p:nvPr>
        </p:nvSpPr>
        <p:spPr bwMode="auto">
          <a:xfrm>
            <a:off x="914401" y="1870294"/>
            <a:ext cx="1020887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What is Integration?</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Using machine learning models to analyse and process natural language data.</a:t>
            </a:r>
          </a:p>
          <a:p>
            <a:pPr marL="0" marR="0" lvl="0" indent="0" algn="just"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How It Works</a:t>
            </a:r>
            <a:endParaRPr lang="en-GB" altLang="en-PK" sz="2400" dirty="0">
              <a:latin typeface="Arial" panose="020B0604020202020204" pitchFamily="34" charset="0"/>
            </a:endParaRPr>
          </a:p>
          <a:p>
            <a:pPr algn="just"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Data Collection</a:t>
            </a:r>
            <a:r>
              <a:rPr kumimoji="0" lang="en-PK" altLang="en-PK" sz="2400" b="0" i="0" u="none" strike="noStrike" cap="none" normalizeH="0" baseline="0" dirty="0">
                <a:ln>
                  <a:noFill/>
                </a:ln>
                <a:solidFill>
                  <a:schemeClr val="tx1"/>
                </a:solidFill>
                <a:effectLst/>
                <a:latin typeface="Arial" panose="020B0604020202020204" pitchFamily="34" charset="0"/>
              </a:rPr>
              <a:t>: Gathering raw text data.</a:t>
            </a:r>
            <a:endParaRPr kumimoji="0" lang="en-GB" altLang="en-PK" sz="24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Text Preprocessing</a:t>
            </a:r>
            <a:r>
              <a:rPr kumimoji="0" lang="en-PK" altLang="en-PK" sz="2400" b="0" i="0" u="none" strike="noStrike" cap="none" normalizeH="0" baseline="0" dirty="0">
                <a:ln>
                  <a:noFill/>
                </a:ln>
                <a:solidFill>
                  <a:schemeClr val="tx1"/>
                </a:solidFill>
                <a:effectLst/>
                <a:latin typeface="Arial" panose="020B0604020202020204" pitchFamily="34" charset="0"/>
              </a:rPr>
              <a:t>: Tokenization, removing stop words, stemming, etc.</a:t>
            </a:r>
          </a:p>
          <a:p>
            <a:pPr algn="just"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Feature Extraction</a:t>
            </a:r>
            <a:r>
              <a:rPr kumimoji="0" lang="en-PK" altLang="en-PK" sz="2400" b="0" i="0" u="none" strike="noStrike" cap="none" normalizeH="0" baseline="0" dirty="0">
                <a:ln>
                  <a:noFill/>
                </a:ln>
                <a:solidFill>
                  <a:schemeClr val="tx1"/>
                </a:solidFill>
                <a:effectLst/>
                <a:latin typeface="Arial" panose="020B0604020202020204" pitchFamily="34" charset="0"/>
              </a:rPr>
              <a:t>: Converting text into numerical data (e.g., TF-IDF, Bag-of-Words, Word2Vec).</a:t>
            </a:r>
          </a:p>
          <a:p>
            <a:pPr algn="just"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Model Application</a:t>
            </a:r>
            <a:r>
              <a:rPr kumimoji="0" lang="en-PK" altLang="en-PK" sz="2400" b="0" i="0" u="none" strike="noStrike" cap="none" normalizeH="0" baseline="0" dirty="0">
                <a:ln>
                  <a:noFill/>
                </a:ln>
                <a:solidFill>
                  <a:schemeClr val="tx1"/>
                </a:solidFill>
                <a:effectLst/>
                <a:latin typeface="Arial" panose="020B0604020202020204" pitchFamily="34" charset="0"/>
              </a:rPr>
              <a:t>: Applying ML models like Logistic Regression, Decision Trees, or Neural Networks.</a:t>
            </a:r>
          </a:p>
          <a:p>
            <a:pPr algn="just"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Evaluation</a:t>
            </a:r>
            <a:r>
              <a:rPr kumimoji="0" lang="en-PK" altLang="en-PK" sz="2400" b="0" i="0" u="none" strike="noStrike" cap="none" normalizeH="0" baseline="0" dirty="0">
                <a:ln>
                  <a:noFill/>
                </a:ln>
                <a:solidFill>
                  <a:schemeClr val="tx1"/>
                </a:solidFill>
                <a:effectLst/>
                <a:latin typeface="Arial" panose="020B0604020202020204" pitchFamily="34" charset="0"/>
              </a:rPr>
              <a:t>: Assessing model performance (e.g., accuracy, F1-score).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2383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F59A06-575C-5D00-B908-BA6667E963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8097A-0E40-F2A5-7D19-06D84FFCC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4037D4F0-D4A4-36E8-A426-5F18B9A25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ACDE39B-B08A-4B18-1080-2BDC233D1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0BB8E087-088B-6202-DF9E-E8607E2D2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9210640-98DB-41F5-22D3-C9DB938CC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5282388-5BF8-9C55-FCF9-1B7FD1AB06AB}"/>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Text Classification Techniques</a:t>
            </a:r>
            <a:endParaRPr lang="en-PK" sz="4000" b="1" dirty="0">
              <a:solidFill>
                <a:srgbClr val="FFFFFF"/>
              </a:solidFill>
            </a:endParaRPr>
          </a:p>
        </p:txBody>
      </p:sp>
      <p:sp>
        <p:nvSpPr>
          <p:cNvPr id="5" name="Rectangle 2">
            <a:extLst>
              <a:ext uri="{FF2B5EF4-FFF2-40B4-BE49-F238E27FC236}">
                <a16:creationId xmlns:a16="http://schemas.microsoft.com/office/drawing/2014/main" id="{9B6B15E7-E565-A701-2F3E-11FBD1A48641}"/>
              </a:ext>
            </a:extLst>
          </p:cNvPr>
          <p:cNvSpPr>
            <a:spLocks noGrp="1" noChangeArrowheads="1"/>
          </p:cNvSpPr>
          <p:nvPr>
            <p:ph idx="1"/>
          </p:nvPr>
        </p:nvSpPr>
        <p:spPr bwMode="auto">
          <a:xfrm>
            <a:off x="648929" y="1598424"/>
            <a:ext cx="11248103" cy="5345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it-IT" sz="2400" b="1" dirty="0"/>
              <a:t>Definition:</a:t>
            </a:r>
            <a:endParaRPr lang="it-IT" sz="2400" dirty="0"/>
          </a:p>
          <a:p>
            <a:pPr marL="742950" lvl="1" indent="-285750">
              <a:buFont typeface="Arial" panose="020B0604020202020204" pitchFamily="34" charset="0"/>
              <a:buChar char="•"/>
            </a:pPr>
            <a:r>
              <a:rPr lang="it-IT" sz="2200" dirty="0"/>
              <a:t>Assigning predefined labels to text (e.g., Spam vs. Non-Spam emails).</a:t>
            </a:r>
          </a:p>
          <a:p>
            <a:pPr>
              <a:buFont typeface="Arial" panose="020B0604020202020204" pitchFamily="34" charset="0"/>
              <a:buChar char="•"/>
            </a:pPr>
            <a:r>
              <a:rPr lang="it-IT" sz="2400" b="1" dirty="0"/>
              <a:t>Techniques:</a:t>
            </a:r>
            <a:endParaRPr lang="it-IT" sz="2400" dirty="0"/>
          </a:p>
          <a:p>
            <a:pPr marL="742950" lvl="1" indent="-285750">
              <a:buFont typeface="Arial" panose="020B0604020202020204" pitchFamily="34" charset="0"/>
              <a:buChar char="•"/>
            </a:pPr>
            <a:r>
              <a:rPr lang="it-IT" sz="2200" b="1" dirty="0"/>
              <a:t>Supervised Learning</a:t>
            </a:r>
            <a:r>
              <a:rPr lang="it-IT" sz="2200" dirty="0"/>
              <a:t>:</a:t>
            </a:r>
          </a:p>
          <a:p>
            <a:pPr marL="1143000" lvl="2" indent="-228600">
              <a:buFont typeface="Arial" panose="020B0604020202020204" pitchFamily="34" charset="0"/>
              <a:buChar char="•"/>
            </a:pPr>
            <a:r>
              <a:rPr lang="it-IT" sz="2200" dirty="0"/>
              <a:t>Algorithms: Naive Bayes, SVM, Logistic Regression.</a:t>
            </a:r>
          </a:p>
          <a:p>
            <a:pPr marL="1143000" lvl="2" indent="-228600">
              <a:buFont typeface="Arial" panose="020B0604020202020204" pitchFamily="34" charset="0"/>
              <a:buChar char="•"/>
            </a:pPr>
            <a:r>
              <a:rPr lang="it-IT" sz="2200" dirty="0"/>
              <a:t>Example: Classify reviews as "Positive" or "Negative."</a:t>
            </a:r>
          </a:p>
          <a:p>
            <a:pPr marL="742950" lvl="1" indent="-285750">
              <a:buFont typeface="Arial" panose="020B0604020202020204" pitchFamily="34" charset="0"/>
              <a:buChar char="•"/>
            </a:pPr>
            <a:r>
              <a:rPr lang="it-IT" sz="2200" b="1" dirty="0"/>
              <a:t>Unsupervised Learning</a:t>
            </a:r>
            <a:r>
              <a:rPr lang="it-IT" sz="2200" dirty="0"/>
              <a:t>:</a:t>
            </a:r>
          </a:p>
          <a:p>
            <a:pPr marL="1143000" lvl="2" indent="-228600">
              <a:buFont typeface="Arial" panose="020B0604020202020204" pitchFamily="34" charset="0"/>
              <a:buChar char="•"/>
            </a:pPr>
            <a:r>
              <a:rPr lang="it-IT" sz="2200" dirty="0"/>
              <a:t>Algorithms: K-Means, Hierarchical Clustering.</a:t>
            </a:r>
          </a:p>
          <a:p>
            <a:pPr marL="1143000" lvl="2" indent="-228600">
              <a:buFont typeface="Arial" panose="020B0604020202020204" pitchFamily="34" charset="0"/>
              <a:buChar char="•"/>
            </a:pPr>
            <a:r>
              <a:rPr lang="it-IT" sz="2200" dirty="0"/>
              <a:t>Example: Group documents into similar topics.</a:t>
            </a:r>
          </a:p>
          <a:p>
            <a:pPr>
              <a:buFont typeface="Arial" panose="020B0604020202020204" pitchFamily="34" charset="0"/>
              <a:buChar char="•"/>
            </a:pPr>
            <a:r>
              <a:rPr lang="it-IT" sz="2400" b="1" dirty="0"/>
              <a:t>Real-World Example:</a:t>
            </a:r>
            <a:endParaRPr lang="it-IT" sz="2400" dirty="0"/>
          </a:p>
          <a:p>
            <a:pPr marL="742950" lvl="1" indent="-285750">
              <a:buFont typeface="Arial" panose="020B0604020202020204" pitchFamily="34" charset="0"/>
              <a:buChar char="•"/>
            </a:pPr>
            <a:r>
              <a:rPr lang="it-IT" sz="2200" dirty="0"/>
              <a:t>Spam Email Detection:</a:t>
            </a:r>
          </a:p>
          <a:p>
            <a:pPr marL="1143000" lvl="2" indent="-228600">
              <a:buFont typeface="Arial" panose="020B0604020202020204" pitchFamily="34" charset="0"/>
              <a:buChar char="•"/>
            </a:pPr>
            <a:r>
              <a:rPr lang="it-IT" sz="2200" dirty="0"/>
              <a:t>Input: Email text.</a:t>
            </a:r>
          </a:p>
          <a:p>
            <a:pPr marL="1143000" lvl="2" indent="-228600">
              <a:buFont typeface="Arial" panose="020B0604020202020204" pitchFamily="34" charset="0"/>
              <a:buChar char="•"/>
            </a:pPr>
            <a:r>
              <a:rPr lang="it-IT" sz="2200" dirty="0"/>
              <a:t>Output: "Spam" or "Not Spam."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PK" altLang="en-PK"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2417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57" name="Rectangle 2056">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59" name="Rectangle 2058">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61" name="Rectangle 2060">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63" name="Rectangle 2062">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8736D29-87B5-B261-9C4F-91A31265D5F2}"/>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dirty="0">
                <a:solidFill>
                  <a:srgbClr val="FFFFFF"/>
                </a:solidFill>
              </a:rPr>
              <a:t>Text Classification</a:t>
            </a:r>
          </a:p>
        </p:txBody>
      </p:sp>
      <p:pic>
        <p:nvPicPr>
          <p:cNvPr id="4" name="Content Placeholder 3">
            <a:extLst>
              <a:ext uri="{FF2B5EF4-FFF2-40B4-BE49-F238E27FC236}">
                <a16:creationId xmlns:a16="http://schemas.microsoft.com/office/drawing/2014/main" id="{F7C973E5-5D84-2262-0313-08210D850533}"/>
              </a:ext>
            </a:extLst>
          </p:cNvPr>
          <p:cNvPicPr>
            <a:picLocks noGrp="1" noChangeAspect="1"/>
          </p:cNvPicPr>
          <p:nvPr>
            <p:ph idx="1"/>
          </p:nvPr>
        </p:nvPicPr>
        <p:blipFill>
          <a:blip r:embed="rId2"/>
          <a:stretch>
            <a:fillRect/>
          </a:stretch>
        </p:blipFill>
        <p:spPr>
          <a:xfrm>
            <a:off x="715748" y="2640918"/>
            <a:ext cx="5131088" cy="3078652"/>
          </a:xfrm>
          <a:prstGeom prst="rect">
            <a:avLst/>
          </a:prstGeom>
        </p:spPr>
      </p:pic>
      <p:pic>
        <p:nvPicPr>
          <p:cNvPr id="2050" name="Picture 2" descr="Unsupervised Text Classification Using K-Means Clustering Algorithm ...">
            <a:extLst>
              <a:ext uri="{FF2B5EF4-FFF2-40B4-BE49-F238E27FC236}">
                <a16:creationId xmlns:a16="http://schemas.microsoft.com/office/drawing/2014/main" id="{F45EA60A-2796-6B75-3E04-9859FE12308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45165" y="2247676"/>
            <a:ext cx="5131087" cy="3938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600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B01180-A89E-7E3A-EDA4-DD1FBCF6463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0E85D6-8956-7FC0-CC3A-F89D9FACA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DCDD6CF-5A64-2347-060B-40274899F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6D8BCDE-83F6-0495-CF8B-908AB9BDB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16166525-E56B-87C1-805C-94B3FEB4E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025628B5-07E0-4087-5E37-E64CCCA70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D392675C-A772-94BD-A46C-97BE8BE5A7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28087BE7-3C29-9C98-887E-EDFE2DF32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2D2343ED-39AF-A2F7-FD16-C5D9CC58C318}"/>
              </a:ext>
            </a:extLst>
          </p:cNvPr>
          <p:cNvSpPr txBox="1"/>
          <p:nvPr/>
        </p:nvSpPr>
        <p:spPr>
          <a:xfrm>
            <a:off x="2020905" y="1651847"/>
            <a:ext cx="8147713" cy="308124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Display" panose="02110004020202020204"/>
                <a:ea typeface="+mn-ea"/>
                <a:cs typeface="+mn-cs"/>
              </a:rPr>
              <a:t>Word Embeddings</a:t>
            </a:r>
            <a:endParaRPr kumimoji="0" lang="en-US" sz="6600" b="0" i="0" u="none" strike="noStrike" kern="1200" cap="none" spc="0" normalizeH="0" baseline="0" noProof="0" dirty="0">
              <a:ln>
                <a:noFill/>
              </a:ln>
              <a:solidFill>
                <a:srgbClr val="FFFFFF"/>
              </a:solidFill>
              <a:effectLst/>
              <a:uLnTx/>
              <a:uFillTx/>
              <a:latin typeface="Aptos Display" panose="02110004020202020204"/>
              <a:ea typeface="+mn-ea"/>
              <a:cs typeface="+mn-cs"/>
            </a:endParaRPr>
          </a:p>
        </p:txBody>
      </p:sp>
    </p:spTree>
    <p:extLst>
      <p:ext uri="{BB962C8B-B14F-4D97-AF65-F5344CB8AC3E}">
        <p14:creationId xmlns:p14="http://schemas.microsoft.com/office/powerpoint/2010/main" val="1399787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5DB055-C0C6-8992-C961-C43925BEA835}"/>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Word Embeddings</a:t>
            </a:r>
          </a:p>
        </p:txBody>
      </p:sp>
      <p:graphicFrame>
        <p:nvGraphicFramePr>
          <p:cNvPr id="5" name="Content Placeholder 2">
            <a:extLst>
              <a:ext uri="{FF2B5EF4-FFF2-40B4-BE49-F238E27FC236}">
                <a16:creationId xmlns:a16="http://schemas.microsoft.com/office/drawing/2014/main" id="{6171EF85-82C3-035D-A87D-6AB8324A4DE1}"/>
              </a:ext>
            </a:extLst>
          </p:cNvPr>
          <p:cNvGraphicFramePr>
            <a:graphicFrameLocks noGrp="1"/>
          </p:cNvGraphicFramePr>
          <p:nvPr>
            <p:ph idx="1"/>
            <p:extLst>
              <p:ext uri="{D42A27DB-BD31-4B8C-83A1-F6EECF244321}">
                <p14:modId xmlns:p14="http://schemas.microsoft.com/office/powerpoint/2010/main" val="419571152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8451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9B1977-8B81-676C-8BED-6FA51E4B2327}"/>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362F7-399F-DA73-06F0-C61D15132DCD}"/>
              </a:ext>
            </a:extLst>
          </p:cNvPr>
          <p:cNvSpPr>
            <a:spLocks noGrp="1"/>
          </p:cNvSpPr>
          <p:nvPr>
            <p:ph type="title" idx="4294967295"/>
          </p:nvPr>
        </p:nvSpPr>
        <p:spPr>
          <a:xfrm>
            <a:off x="1371599" y="294538"/>
            <a:ext cx="9895951" cy="1033669"/>
          </a:xfrm>
        </p:spPr>
        <p:txBody>
          <a:bodyPr vert="horz" lIns="91440" tIns="45720" rIns="91440" bIns="45720" rtlCol="0" anchor="ctr">
            <a:normAutofit/>
          </a:bodyPr>
          <a:lstStyle/>
          <a:p>
            <a:r>
              <a:rPr lang="en-US" sz="4000" b="1" kern="1200" dirty="0">
                <a:solidFill>
                  <a:srgbClr val="FFFFFF"/>
                </a:solidFill>
                <a:latin typeface="+mj-lt"/>
                <a:ea typeface="+mj-ea"/>
                <a:cs typeface="+mj-cs"/>
              </a:rPr>
              <a:t>Word Embeddings</a:t>
            </a:r>
          </a:p>
        </p:txBody>
      </p:sp>
      <p:sp>
        <p:nvSpPr>
          <p:cNvPr id="5" name="Rectangle 2">
            <a:extLst>
              <a:ext uri="{FF2B5EF4-FFF2-40B4-BE49-F238E27FC236}">
                <a16:creationId xmlns:a16="http://schemas.microsoft.com/office/drawing/2014/main" id="{3848C2F3-B53A-13F6-F4D8-FE4F0C8A8523}"/>
              </a:ext>
            </a:extLst>
          </p:cNvPr>
          <p:cNvSpPr>
            <a:spLocks noGrp="1" noChangeArrowheads="1"/>
          </p:cNvSpPr>
          <p:nvPr>
            <p:ph idx="4294967295"/>
          </p:nvPr>
        </p:nvSpPr>
        <p:spPr bwMode="auto">
          <a:xfrm>
            <a:off x="757085" y="1885278"/>
            <a:ext cx="10338546" cy="46781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spcBef>
                <a:spcPct val="0"/>
              </a:spcBef>
              <a:spcAft>
                <a:spcPts val="600"/>
              </a:spcAft>
              <a:buClrTx/>
              <a:buSzTx/>
              <a:tabLst/>
            </a:pPr>
            <a:r>
              <a:rPr lang="en-US" altLang="en-PK" sz="3200" dirty="0"/>
              <a:t>For example, a computer can learn that “king” is more similar to “ruler” than “worker” by representing these words in a vector space where similar words are closer together. </a:t>
            </a:r>
          </a:p>
          <a:p>
            <a:pPr marR="0" lvl="0" fontAlgn="base">
              <a:spcBef>
                <a:spcPct val="0"/>
              </a:spcBef>
              <a:spcAft>
                <a:spcPts val="600"/>
              </a:spcAft>
              <a:buClrTx/>
              <a:buSzTx/>
              <a:tabLst/>
            </a:pPr>
            <a:r>
              <a:rPr lang="en-US" altLang="en-PK" sz="3200" dirty="0"/>
              <a:t>These embeddings are learned using language modeling and feature learning techniques, allowing computers to understand and process the semantic relationships between words.</a:t>
            </a:r>
          </a:p>
          <a:p>
            <a:pPr marL="0" marR="0" lvl="0" indent="0" fontAlgn="base">
              <a:spcBef>
                <a:spcPct val="0"/>
              </a:spcBef>
              <a:spcAft>
                <a:spcPts val="600"/>
              </a:spcAft>
              <a:buClrTx/>
              <a:buSzTx/>
              <a:buNone/>
              <a:tabLst/>
            </a:pPr>
            <a:endParaRPr kumimoji="0" lang="en-US" altLang="en-PK" b="0" i="0" u="none" strike="noStrike" cap="none" normalizeH="0" baseline="0" dirty="0">
              <a:ln>
                <a:noFill/>
              </a:ln>
              <a:effectLst/>
            </a:endParaRPr>
          </a:p>
        </p:txBody>
      </p:sp>
    </p:spTree>
    <p:extLst>
      <p:ext uri="{BB962C8B-B14F-4D97-AF65-F5344CB8AC3E}">
        <p14:creationId xmlns:p14="http://schemas.microsoft.com/office/powerpoint/2010/main" val="327237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27F9BC-D9DF-AFA9-DB72-00D4A382EB26}"/>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F9B34EF-339A-5FEB-5AE3-6C1628670B25}"/>
              </a:ext>
            </a:extLst>
          </p:cNvPr>
          <p:cNvSpPr>
            <a:spLocks noGrp="1"/>
          </p:cNvSpPr>
          <p:nvPr>
            <p:ph type="title" idx="4294967295"/>
          </p:nvPr>
        </p:nvSpPr>
        <p:spPr>
          <a:xfrm>
            <a:off x="1137034" y="609597"/>
            <a:ext cx="9392421" cy="1330841"/>
          </a:xfrm>
        </p:spPr>
        <p:txBody>
          <a:bodyPr vert="horz" lIns="91440" tIns="45720" rIns="91440" bIns="45720" rtlCol="0" anchor="ctr">
            <a:normAutofit/>
          </a:bodyPr>
          <a:lstStyle/>
          <a:p>
            <a:r>
              <a:rPr lang="en-US" b="1" kern="1200" dirty="0">
                <a:solidFill>
                  <a:schemeClr val="tx1"/>
                </a:solidFill>
                <a:latin typeface="+mj-lt"/>
                <a:ea typeface="+mj-ea"/>
                <a:cs typeface="+mj-cs"/>
              </a:rPr>
              <a:t>Word Embeddings</a:t>
            </a:r>
          </a:p>
        </p:txBody>
      </p:sp>
      <p:pic>
        <p:nvPicPr>
          <p:cNvPr id="3" name="Picture 2" descr="A screenshot of a computer&#10;&#10;AI-generated content may be incorrect.">
            <a:extLst>
              <a:ext uri="{FF2B5EF4-FFF2-40B4-BE49-F238E27FC236}">
                <a16:creationId xmlns:a16="http://schemas.microsoft.com/office/drawing/2014/main" id="{55D5598A-4B03-D550-E809-EAE5B4520D51}"/>
              </a:ext>
            </a:extLst>
          </p:cNvPr>
          <p:cNvPicPr>
            <a:picLocks noChangeAspect="1"/>
          </p:cNvPicPr>
          <p:nvPr/>
        </p:nvPicPr>
        <p:blipFill>
          <a:blip r:embed="rId3"/>
          <a:stretch>
            <a:fillRect/>
          </a:stretch>
        </p:blipFill>
        <p:spPr>
          <a:xfrm>
            <a:off x="5078778" y="1655193"/>
            <a:ext cx="6810375" cy="4432823"/>
          </a:xfrm>
          <a:prstGeom prst="rect">
            <a:avLst/>
          </a:prstGeom>
        </p:spPr>
      </p:pic>
      <p:sp>
        <p:nvSpPr>
          <p:cNvPr id="49" name="Freeform: Shape 4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2040ADDD-2EA4-D3FF-A027-2C8DE1DC435E}"/>
              </a:ext>
            </a:extLst>
          </p:cNvPr>
          <p:cNvSpPr txBox="1"/>
          <p:nvPr/>
        </p:nvSpPr>
        <p:spPr>
          <a:xfrm>
            <a:off x="59906" y="2061836"/>
            <a:ext cx="4948974" cy="4524315"/>
          </a:xfrm>
          <a:prstGeom prst="rect">
            <a:avLst/>
          </a:prstGeom>
          <a:noFill/>
        </p:spPr>
        <p:txBody>
          <a:bodyPr wrap="square">
            <a:spAutoFit/>
          </a:bodyPr>
          <a:lstStyle/>
          <a:p>
            <a:r>
              <a:rPr lang="en-US" sz="2400" b="0" i="0" dirty="0">
                <a:solidFill>
                  <a:srgbClr val="000000"/>
                </a:solidFill>
                <a:effectLst/>
                <a:latin typeface="ProximaNova"/>
              </a:rPr>
              <a:t>The meaning of a term is determined by its context: the words that come before and after it, which is called the context window. </a:t>
            </a:r>
          </a:p>
          <a:p>
            <a:endParaRPr lang="en-US" sz="2400" dirty="0">
              <a:solidFill>
                <a:srgbClr val="000000"/>
              </a:solidFill>
              <a:latin typeface="ProximaNova"/>
            </a:endParaRPr>
          </a:p>
          <a:p>
            <a:r>
              <a:rPr lang="en-US" sz="2400" b="0" i="0" dirty="0">
                <a:solidFill>
                  <a:srgbClr val="000000"/>
                </a:solidFill>
                <a:effectLst/>
                <a:latin typeface="ProximaNova"/>
              </a:rPr>
              <a:t>Typically, this window is four words wide, with four words to the left and right of the target term. </a:t>
            </a:r>
          </a:p>
          <a:p>
            <a:endParaRPr lang="en-US" sz="2400" dirty="0">
              <a:solidFill>
                <a:srgbClr val="000000"/>
              </a:solidFill>
              <a:latin typeface="ProximaNova"/>
            </a:endParaRPr>
          </a:p>
          <a:p>
            <a:r>
              <a:rPr lang="en-US" sz="2400" b="0" i="0" dirty="0">
                <a:solidFill>
                  <a:srgbClr val="000000"/>
                </a:solidFill>
                <a:effectLst/>
                <a:latin typeface="ProximaNova"/>
              </a:rPr>
              <a:t>To create vector representations of words, we look at how often they appear together. </a:t>
            </a:r>
          </a:p>
        </p:txBody>
      </p:sp>
    </p:spTree>
    <p:extLst>
      <p:ext uri="{BB962C8B-B14F-4D97-AF65-F5344CB8AC3E}">
        <p14:creationId xmlns:p14="http://schemas.microsoft.com/office/powerpoint/2010/main" val="194005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1E7F69-7809-4E53-67A3-C6719B0409E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2AE742B-F347-8142-8D93-33709EDEC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FB87AB9-BD99-0978-6197-D705EADDF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629A836-93E7-88B1-8F0F-10B911698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E006404-AD2D-7611-7B07-1A0C87D70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1CE4B2-54B1-5963-4035-89398FF7C1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161B2A-646C-FC79-95A7-92CEA81E5444}"/>
              </a:ext>
            </a:extLst>
          </p:cNvPr>
          <p:cNvSpPr>
            <a:spLocks noGrp="1"/>
          </p:cNvSpPr>
          <p:nvPr>
            <p:ph type="title" idx="4294967295"/>
          </p:nvPr>
        </p:nvSpPr>
        <p:spPr>
          <a:xfrm>
            <a:off x="1371599" y="294538"/>
            <a:ext cx="9895951" cy="1033669"/>
          </a:xfrm>
        </p:spPr>
        <p:txBody>
          <a:bodyPr vert="horz" lIns="91440" tIns="45720" rIns="91440" bIns="45720" rtlCol="0" anchor="ctr">
            <a:normAutofit/>
          </a:bodyPr>
          <a:lstStyle/>
          <a:p>
            <a:r>
              <a:rPr lang="en-US" sz="4000" b="1" kern="1200" dirty="0">
                <a:solidFill>
                  <a:srgbClr val="FFFFFF"/>
                </a:solidFill>
                <a:latin typeface="+mj-lt"/>
                <a:ea typeface="+mj-ea"/>
                <a:cs typeface="+mj-cs"/>
              </a:rPr>
              <a:t>Techniques for Word Embeddings</a:t>
            </a:r>
          </a:p>
        </p:txBody>
      </p:sp>
      <p:sp>
        <p:nvSpPr>
          <p:cNvPr id="5" name="Rectangle 2">
            <a:extLst>
              <a:ext uri="{FF2B5EF4-FFF2-40B4-BE49-F238E27FC236}">
                <a16:creationId xmlns:a16="http://schemas.microsoft.com/office/drawing/2014/main" id="{47874C59-F345-1681-9C48-2FC65A0A33D5}"/>
              </a:ext>
            </a:extLst>
          </p:cNvPr>
          <p:cNvSpPr>
            <a:spLocks noGrp="1" noChangeArrowheads="1"/>
          </p:cNvSpPr>
          <p:nvPr>
            <p:ph idx="4294967295"/>
          </p:nvPr>
        </p:nvSpPr>
        <p:spPr bwMode="auto">
          <a:xfrm>
            <a:off x="757085" y="1885279"/>
            <a:ext cx="10338546" cy="41162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fontAlgn="base">
              <a:spcBef>
                <a:spcPct val="0"/>
              </a:spcBef>
              <a:spcAft>
                <a:spcPts val="600"/>
              </a:spcAft>
            </a:pPr>
            <a:r>
              <a:rPr kumimoji="0" lang="en-US" altLang="en-PK" b="1" i="0" u="none" strike="noStrike" cap="none" normalizeH="0" baseline="0" dirty="0">
                <a:ln>
                  <a:noFill/>
                </a:ln>
                <a:effectLst/>
              </a:rPr>
              <a:t>TF-IDF</a:t>
            </a:r>
            <a:r>
              <a:rPr kumimoji="0" lang="en-US" altLang="en-PK" b="0" i="0" u="none" strike="noStrike" cap="none" normalizeH="0" baseline="0" dirty="0">
                <a:ln>
                  <a:noFill/>
                </a:ln>
                <a:effectLst/>
              </a:rPr>
              <a:t>: Numerical representation based on frequency and importance.</a:t>
            </a:r>
          </a:p>
          <a:p>
            <a:pPr fontAlgn="base">
              <a:spcBef>
                <a:spcPct val="0"/>
              </a:spcBef>
              <a:spcAft>
                <a:spcPts val="600"/>
              </a:spcAft>
            </a:pPr>
            <a:r>
              <a:rPr kumimoji="0" lang="en-US" altLang="en-PK" b="1" i="0" u="none" strike="noStrike" cap="none" normalizeH="0" baseline="0" dirty="0">
                <a:ln>
                  <a:noFill/>
                </a:ln>
                <a:effectLst/>
              </a:rPr>
              <a:t>Word2Vec</a:t>
            </a:r>
            <a:r>
              <a:rPr kumimoji="0" lang="en-US" altLang="en-PK" b="0" i="0" u="none" strike="noStrike" cap="none" normalizeH="0" baseline="0" dirty="0">
                <a:ln>
                  <a:noFill/>
                </a:ln>
                <a:effectLst/>
              </a:rPr>
              <a:t>: Learns embeddings using neural networks</a:t>
            </a:r>
            <a:endParaRPr lang="en-US" dirty="0"/>
          </a:p>
          <a:p>
            <a:pPr fontAlgn="base">
              <a:spcBef>
                <a:spcPct val="0"/>
              </a:spcBef>
              <a:spcAft>
                <a:spcPts val="600"/>
              </a:spcAft>
            </a:pPr>
            <a:r>
              <a:rPr lang="en-US" dirty="0"/>
              <a:t>Typically uses </a:t>
            </a:r>
            <a:r>
              <a:rPr lang="en-US" b="1" dirty="0"/>
              <a:t>100 to 300 dimensions</a:t>
            </a:r>
            <a:r>
              <a:rPr lang="en-US" dirty="0"/>
              <a:t>.</a:t>
            </a:r>
          </a:p>
          <a:p>
            <a:pPr fontAlgn="base">
              <a:spcBef>
                <a:spcPct val="0"/>
              </a:spcBef>
              <a:spcAft>
                <a:spcPts val="600"/>
              </a:spcAft>
            </a:pPr>
            <a:r>
              <a:rPr lang="en-US" b="1" dirty="0"/>
              <a:t>BERT: </a:t>
            </a:r>
            <a:r>
              <a:rPr lang="en-US" dirty="0"/>
              <a:t>Transformer-based contextual embeddings (each word's meaning depends on context).</a:t>
            </a:r>
          </a:p>
          <a:p>
            <a:pPr fontAlgn="base">
              <a:spcBef>
                <a:spcPct val="0"/>
              </a:spcBef>
              <a:spcAft>
                <a:spcPts val="600"/>
              </a:spcAft>
            </a:pPr>
            <a:r>
              <a:rPr lang="en-US" dirty="0"/>
              <a:t>go much higher — up to </a:t>
            </a:r>
            <a:r>
              <a:rPr lang="en-US" b="1" dirty="0"/>
              <a:t>768 or even 1024 dimensions</a:t>
            </a:r>
            <a:r>
              <a:rPr lang="en-US" dirty="0"/>
              <a:t> per token.</a:t>
            </a:r>
            <a:endParaRPr kumimoji="0" lang="en-US" altLang="en-PK" b="0" i="0" u="none" strike="noStrike" cap="none" normalizeH="0" baseline="0" dirty="0">
              <a:ln>
                <a:noFill/>
              </a:ln>
              <a:effectLst/>
            </a:endParaRPr>
          </a:p>
          <a:p>
            <a:pPr marL="0" marR="0" lvl="0" fontAlgn="base">
              <a:spcBef>
                <a:spcPct val="0"/>
              </a:spcBef>
              <a:spcAft>
                <a:spcPts val="600"/>
              </a:spcAft>
              <a:buClrTx/>
              <a:buSzTx/>
              <a:tabLst/>
            </a:pPr>
            <a:endParaRPr kumimoji="0" lang="en-US" altLang="en-PK" sz="2000" b="0" i="0" u="none" strike="noStrike" cap="none" normalizeH="0" baseline="0" dirty="0">
              <a:ln>
                <a:noFill/>
              </a:ln>
              <a:effectLst/>
            </a:endParaRPr>
          </a:p>
        </p:txBody>
      </p:sp>
    </p:spTree>
    <p:extLst>
      <p:ext uri="{BB962C8B-B14F-4D97-AF65-F5344CB8AC3E}">
        <p14:creationId xmlns:p14="http://schemas.microsoft.com/office/powerpoint/2010/main" val="4235207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ADAB4D-86FB-5979-6D41-FA9A7503CE1A}"/>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Sample Code Example</a:t>
            </a:r>
          </a:p>
        </p:txBody>
      </p:sp>
      <p:sp>
        <p:nvSpPr>
          <p:cNvPr id="3" name="Content Placeholder 2">
            <a:extLst>
              <a:ext uri="{FF2B5EF4-FFF2-40B4-BE49-F238E27FC236}">
                <a16:creationId xmlns:a16="http://schemas.microsoft.com/office/drawing/2014/main" id="{675C287C-4801-0ADA-4A6E-F980C0230E80}"/>
              </a:ext>
            </a:extLst>
          </p:cNvPr>
          <p:cNvSpPr>
            <a:spLocks noGrp="1"/>
          </p:cNvSpPr>
          <p:nvPr>
            <p:ph idx="1"/>
          </p:nvPr>
        </p:nvSpPr>
        <p:spPr>
          <a:xfrm>
            <a:off x="4145280" y="406400"/>
            <a:ext cx="4490720" cy="6096000"/>
          </a:xfrm>
        </p:spPr>
        <p:txBody>
          <a:bodyPr vert="horz" lIns="91440" tIns="45720" rIns="91440" bIns="45720" rtlCol="0">
            <a:normAutofit/>
          </a:bodyPr>
          <a:lstStyle/>
          <a:p>
            <a:pPr marL="0" indent="0">
              <a:buNone/>
            </a:pPr>
            <a:r>
              <a:rPr lang="en-US" sz="2000" dirty="0"/>
              <a:t>from </a:t>
            </a:r>
            <a:r>
              <a:rPr lang="en-US" sz="2000" dirty="0" err="1"/>
              <a:t>gensim.models</a:t>
            </a:r>
            <a:r>
              <a:rPr lang="en-US" sz="2000" dirty="0"/>
              <a:t> import Word2Vec</a:t>
            </a:r>
          </a:p>
          <a:p>
            <a:pPr marL="0" indent="0">
              <a:buNone/>
            </a:pPr>
            <a:endParaRPr lang="en-US" sz="2000" dirty="0"/>
          </a:p>
          <a:p>
            <a:pPr marL="0" indent="0">
              <a:buNone/>
            </a:pPr>
            <a:r>
              <a:rPr lang="en-US" sz="2000" dirty="0"/>
              <a:t># Example corpus</a:t>
            </a:r>
          </a:p>
          <a:p>
            <a:pPr marL="0" indent="0">
              <a:buNone/>
            </a:pPr>
            <a:r>
              <a:rPr lang="en-US" sz="2000" dirty="0"/>
              <a:t>sentences = [["I", "love", "machine", "learning"], ["NLP", "is", "fun"]]</a:t>
            </a:r>
          </a:p>
          <a:p>
            <a:pPr marL="0" indent="0">
              <a:buNone/>
            </a:pPr>
            <a:endParaRPr lang="en-US" sz="2000" dirty="0"/>
          </a:p>
          <a:p>
            <a:pPr marL="0" indent="0">
              <a:buNone/>
            </a:pPr>
            <a:r>
              <a:rPr lang="en-US" sz="2000" dirty="0"/>
              <a:t># Train Word2Vec model</a:t>
            </a:r>
          </a:p>
          <a:p>
            <a:pPr marL="0" indent="0">
              <a:buNone/>
            </a:pPr>
            <a:r>
              <a:rPr lang="en-US" sz="2000" dirty="0"/>
              <a:t>model = Word2Vec(sentences, </a:t>
            </a:r>
            <a:r>
              <a:rPr lang="en-US" sz="2000" dirty="0" err="1"/>
              <a:t>vector_size</a:t>
            </a:r>
            <a:r>
              <a:rPr lang="en-US" sz="2000" dirty="0"/>
              <a:t>=100, window=5, </a:t>
            </a:r>
            <a:r>
              <a:rPr lang="en-US" sz="2000" dirty="0" err="1"/>
              <a:t>min_count</a:t>
            </a:r>
            <a:r>
              <a:rPr lang="en-US" sz="2000" dirty="0"/>
              <a:t>=1, workers=4)</a:t>
            </a:r>
          </a:p>
          <a:p>
            <a:pPr marL="0" indent="0">
              <a:buNone/>
            </a:pPr>
            <a:endParaRPr lang="en-US" sz="2000" dirty="0"/>
          </a:p>
          <a:p>
            <a:pPr marL="0" indent="0">
              <a:buNone/>
            </a:pPr>
            <a:r>
              <a:rPr lang="en-US" sz="2000" dirty="0"/>
              <a:t># Get the embedding vector for the word 'machine'</a:t>
            </a:r>
          </a:p>
          <a:p>
            <a:pPr marL="0" indent="0">
              <a:buNone/>
            </a:pPr>
            <a:r>
              <a:rPr lang="en-US" sz="2000" dirty="0"/>
              <a:t>vector = </a:t>
            </a:r>
            <a:r>
              <a:rPr lang="en-US" sz="2000" dirty="0" err="1"/>
              <a:t>model.wv</a:t>
            </a:r>
            <a:r>
              <a:rPr lang="en-US" sz="2000" dirty="0"/>
              <a:t>['machine']</a:t>
            </a:r>
          </a:p>
          <a:p>
            <a:pPr marL="0" indent="0">
              <a:buNone/>
            </a:pPr>
            <a:r>
              <a:rPr lang="en-US" sz="2000" dirty="0"/>
              <a:t>print(vector)</a:t>
            </a:r>
          </a:p>
          <a:p>
            <a:endParaRPr lang="en-US" sz="1400" dirty="0"/>
          </a:p>
        </p:txBody>
      </p:sp>
      <p:cxnSp>
        <p:nvCxnSpPr>
          <p:cNvPr id="19" name="Straight Connector 18">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74B455D-A4C3-F543-E231-AF7CE7C8D2A5}"/>
              </a:ext>
            </a:extLst>
          </p:cNvPr>
          <p:cNvSpPr txBox="1"/>
          <p:nvPr/>
        </p:nvSpPr>
        <p:spPr>
          <a:xfrm>
            <a:off x="8451604" y="1412489"/>
            <a:ext cx="3662855" cy="4363844"/>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2400" dirty="0">
                <a:solidFill>
                  <a:srgbClr val="FF0000"/>
                </a:solidFill>
              </a:rPr>
              <a:t>Values are floating-point numbers that encode the meaning of the word "machine" as learned by the model.</a:t>
            </a:r>
          </a:p>
          <a:p>
            <a:pPr marL="342900" indent="-228600">
              <a:lnSpc>
                <a:spcPct val="90000"/>
              </a:lnSpc>
              <a:spcAft>
                <a:spcPts val="600"/>
              </a:spcAft>
              <a:buFont typeface="Arial" panose="020B0604020202020204" pitchFamily="34" charset="0"/>
              <a:buChar char="•"/>
            </a:pPr>
            <a:endParaRPr lang="en-US" sz="2400" dirty="0">
              <a:solidFill>
                <a:srgbClr val="FF0000"/>
              </a:solidFill>
            </a:endParaRPr>
          </a:p>
          <a:p>
            <a:pPr marL="342900" indent="-228600">
              <a:lnSpc>
                <a:spcPct val="90000"/>
              </a:lnSpc>
              <a:spcAft>
                <a:spcPts val="600"/>
              </a:spcAft>
              <a:buFont typeface="Arial" panose="020B0604020202020204" pitchFamily="34" charset="0"/>
              <a:buChar char="•"/>
            </a:pPr>
            <a:r>
              <a:rPr lang="en-US" sz="2400" dirty="0">
                <a:solidFill>
                  <a:srgbClr val="FF0000"/>
                </a:solidFill>
              </a:rPr>
              <a:t>Each word will have a different vector, and similar words will have similar vectors in terms of cosine similarity.</a:t>
            </a:r>
          </a:p>
        </p:txBody>
      </p:sp>
    </p:spTree>
    <p:extLst>
      <p:ext uri="{BB962C8B-B14F-4D97-AF65-F5344CB8AC3E}">
        <p14:creationId xmlns:p14="http://schemas.microsoft.com/office/powerpoint/2010/main" val="483361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08C760-7E3F-FAB8-1C0B-5688DFB07A7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2874B8D5-9A8A-EBE5-A93B-18B0D27BD319}"/>
              </a:ext>
            </a:extLst>
          </p:cNvPr>
          <p:cNvSpPr>
            <a:spLocks noGrp="1"/>
          </p:cNvSpPr>
          <p:nvPr>
            <p:ph idx="1"/>
          </p:nvPr>
        </p:nvSpPr>
        <p:spPr>
          <a:xfrm>
            <a:off x="1371599" y="2318197"/>
            <a:ext cx="9724031" cy="3683358"/>
          </a:xfrm>
        </p:spPr>
        <p:txBody>
          <a:bodyPr anchor="ctr">
            <a:normAutofit/>
          </a:bodyPr>
          <a:lstStyle/>
          <a:p>
            <a:pPr marL="0" marR="0">
              <a:spcAft>
                <a:spcPts val="1000"/>
              </a:spcAft>
              <a:buNone/>
            </a:pPr>
            <a:r>
              <a:rPr lang="en-US" sz="2000" b="1" dirty="0">
                <a:effectLst/>
                <a:latin typeface="Times New Roman" panose="02020603050405020304" pitchFamily="18" charset="0"/>
                <a:ea typeface="Calibri" panose="020F0502020204030204" pitchFamily="34" charset="0"/>
                <a:cs typeface="Arial" panose="020B0604020202020204" pitchFamily="34" charset="0"/>
              </a:rPr>
              <a:t>Analyz</a:t>
            </a:r>
            <a:r>
              <a:rPr lang="en-US" sz="2000" dirty="0">
                <a:effectLst/>
                <a:latin typeface="Times New Roman" panose="02020603050405020304" pitchFamily="18" charset="0"/>
                <a:ea typeface="Calibri" panose="020F0502020204030204" pitchFamily="34" charset="0"/>
                <a:cs typeface="Arial" panose="020B0604020202020204" pitchFamily="34" charset="0"/>
              </a:rPr>
              <a:t>e the collection of four documents as follows and determine the  </a:t>
            </a:r>
            <a:r>
              <a:rPr lang="en-US" sz="2000" dirty="0" err="1">
                <a:effectLst/>
                <a:latin typeface="Times New Roman" panose="02020603050405020304" pitchFamily="18" charset="0"/>
                <a:ea typeface="Calibri" panose="020F0502020204030204" pitchFamily="34" charset="0"/>
                <a:cs typeface="Arial" panose="020B0604020202020204" pitchFamily="34" charset="0"/>
              </a:rPr>
              <a:t>tf-idf</a:t>
            </a:r>
            <a:r>
              <a:rPr lang="en-US" sz="2000" dirty="0">
                <a:effectLst/>
                <a:latin typeface="Times New Roman" panose="02020603050405020304" pitchFamily="18" charset="0"/>
                <a:ea typeface="Calibri" panose="020F0502020204030204" pitchFamily="34" charset="0"/>
                <a:cs typeface="Arial" panose="020B0604020202020204" pitchFamily="34" charset="0"/>
              </a:rPr>
              <a:t> scores for each term in each document.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1​ : "The sky is blue.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2 : "The sun is bright today."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3: "The sun in the sky is bright."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4: "We can see the shining sun, the bright sun."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endParaRPr lang="en-US" sz="2000" dirty="0"/>
          </a:p>
        </p:txBody>
      </p:sp>
    </p:spTree>
    <p:extLst>
      <p:ext uri="{BB962C8B-B14F-4D97-AF65-F5344CB8AC3E}">
        <p14:creationId xmlns:p14="http://schemas.microsoft.com/office/powerpoint/2010/main" val="401262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277E0-F88C-4FF1-E1A3-790EB0FB06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63B446-3876-22B1-BC16-90CF8A5A4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BDB09D-5F9D-0B19-60B7-B4EA269F6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0AFB3B-DA5D-9DD2-94AC-AE825047B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9B07CD-9770-21D8-4AC9-F020734EC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A39D64D-F3CD-51AD-920D-D7C5FD678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B16606-7395-7A64-6482-5A81E72F114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5574E236-E633-E18E-821E-679536E78C22}"/>
              </a:ext>
            </a:extLst>
          </p:cNvPr>
          <p:cNvSpPr>
            <a:spLocks noGrp="1"/>
          </p:cNvSpPr>
          <p:nvPr>
            <p:ph idx="1"/>
          </p:nvPr>
        </p:nvSpPr>
        <p:spPr>
          <a:xfrm>
            <a:off x="459351" y="1779638"/>
            <a:ext cx="10636280" cy="4783823"/>
          </a:xfrm>
        </p:spPr>
        <p:txBody>
          <a:bodyPr anchor="ctr">
            <a:normAutofit/>
          </a:bodyPr>
          <a:lstStyle/>
          <a:p>
            <a:pPr marL="0" indent="0">
              <a:buNone/>
            </a:pPr>
            <a:r>
              <a:rPr lang="en-US" b="1" dirty="0"/>
              <a:t>Step 1: Preprocess the documents</a:t>
            </a:r>
          </a:p>
          <a:p>
            <a:r>
              <a:rPr lang="en-US" dirty="0"/>
              <a:t>Convert to lowercase and tokenize each document.</a:t>
            </a:r>
          </a:p>
          <a:p>
            <a:r>
              <a:rPr lang="en-US" dirty="0"/>
              <a:t>Tokens:</a:t>
            </a:r>
          </a:p>
          <a:p>
            <a:pPr lvl="1"/>
            <a:r>
              <a:rPr lang="en-US" dirty="0"/>
              <a:t>d1: ["the", "sky", "is", "blue"]</a:t>
            </a:r>
          </a:p>
          <a:p>
            <a:pPr lvl="1"/>
            <a:r>
              <a:rPr lang="en-US" dirty="0"/>
              <a:t>d2: ["the", "sun", "is", "bright", "today"]</a:t>
            </a:r>
          </a:p>
          <a:p>
            <a:pPr lvl="1"/>
            <a:r>
              <a:rPr lang="en-US" dirty="0"/>
              <a:t>d3: ["the", "sun", "in", "the", "sky", "is", "bright"]</a:t>
            </a:r>
          </a:p>
          <a:p>
            <a:pPr lvl="1"/>
            <a:r>
              <a:rPr lang="en-US" dirty="0"/>
              <a:t>d4: ["we", "can", "see", "the", "shining", "sun", "the", "bright", "sun"]</a:t>
            </a:r>
          </a:p>
          <a:p>
            <a:r>
              <a:rPr lang="en-US" dirty="0"/>
              <a:t>Remove punctuation and </a:t>
            </a:r>
            <a:r>
              <a:rPr lang="en-US" dirty="0" err="1"/>
              <a:t>stopwords</a:t>
            </a:r>
            <a:r>
              <a:rPr lang="en-US" dirty="0"/>
              <a:t> if necessary.</a:t>
            </a:r>
          </a:p>
          <a:p>
            <a:pPr marL="0" indent="0">
              <a:buNone/>
            </a:pPr>
            <a:r>
              <a:rPr lang="en-US" dirty="0"/>
              <a:t>[the, sky, is, blue, sun, bright, today, in, we, can, see, shining]</a:t>
            </a:r>
          </a:p>
          <a:p>
            <a:endParaRPr lang="en-US" dirty="0"/>
          </a:p>
          <a:p>
            <a:endParaRPr lang="en-US" sz="2000" dirty="0"/>
          </a:p>
        </p:txBody>
      </p:sp>
    </p:spTree>
    <p:extLst>
      <p:ext uri="{BB962C8B-B14F-4D97-AF65-F5344CB8AC3E}">
        <p14:creationId xmlns:p14="http://schemas.microsoft.com/office/powerpoint/2010/main" val="1116248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D78809-E3AC-A3AD-C1A8-A93A28D6331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D92B4B-C865-2F2D-C6A8-5EF36CB4E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D66E58D-AC74-825F-A99D-C1319CCE2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6D7AE3-0417-C61E-6666-904FD286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1B4562-C4F1-EA62-68E6-A988845DE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AEF792-BA60-D8D6-B75B-259F9E82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D8B24C-694B-70C1-BB55-7DC794ACDA4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57193614-04F3-37A4-EF4B-EF2CAC7BD5EA}"/>
              </a:ext>
            </a:extLst>
          </p:cNvPr>
          <p:cNvSpPr>
            <a:spLocks noGrp="1"/>
          </p:cNvSpPr>
          <p:nvPr>
            <p:ph idx="1"/>
          </p:nvPr>
        </p:nvSpPr>
        <p:spPr>
          <a:xfrm>
            <a:off x="459351" y="1789471"/>
            <a:ext cx="6816520" cy="4975123"/>
          </a:xfrm>
        </p:spPr>
        <p:txBody>
          <a:bodyPr anchor="ctr">
            <a:normAutofit lnSpcReduction="10000"/>
          </a:bodyPr>
          <a:lstStyle/>
          <a:p>
            <a:pPr marL="0" indent="0">
              <a:buNone/>
            </a:pPr>
            <a:r>
              <a:rPr lang="en-US" b="1" dirty="0"/>
              <a:t>Step 2: Calculate Term Frequency (TF)</a:t>
            </a:r>
          </a:p>
          <a:p>
            <a:r>
              <a:rPr lang="en-US" sz="2000" dirty="0"/>
              <a:t>TF(t, d) = (Number of times term t appears in document d) / (Total number of terms in document d)</a:t>
            </a:r>
          </a:p>
          <a:p>
            <a:r>
              <a:rPr lang="en-US" sz="2000" dirty="0"/>
              <a:t>TF for each document:</a:t>
            </a:r>
          </a:p>
          <a:p>
            <a:pPr marL="0" indent="0">
              <a:buNone/>
            </a:pPr>
            <a:r>
              <a:rPr lang="en-US" sz="2000" b="1" dirty="0"/>
              <a:t>d1:</a:t>
            </a:r>
          </a:p>
          <a:p>
            <a:pPr marL="457200" lvl="1" indent="0">
              <a:buNone/>
            </a:pPr>
            <a:r>
              <a:rPr lang="en-US" sz="1800" dirty="0"/>
              <a:t>"the": 1/4 = 0.25</a:t>
            </a:r>
          </a:p>
          <a:p>
            <a:pPr marL="457200" lvl="1" indent="0">
              <a:buNone/>
            </a:pPr>
            <a:r>
              <a:rPr lang="en-US" sz="1800" dirty="0"/>
              <a:t>"sky": 1/4 = 0.25</a:t>
            </a:r>
          </a:p>
          <a:p>
            <a:pPr marL="457200" lvl="1" indent="0">
              <a:buNone/>
            </a:pPr>
            <a:r>
              <a:rPr lang="en-US" sz="1800" dirty="0"/>
              <a:t>"is": 1/4 = 0.25</a:t>
            </a:r>
          </a:p>
          <a:p>
            <a:pPr marL="457200" lvl="1" indent="0">
              <a:buNone/>
            </a:pPr>
            <a:r>
              <a:rPr lang="en-US" sz="1800" dirty="0"/>
              <a:t>"blue": 1/4 = 0.25</a:t>
            </a:r>
          </a:p>
          <a:p>
            <a:pPr marL="0" indent="0">
              <a:buNone/>
            </a:pPr>
            <a:r>
              <a:rPr lang="en-US" sz="2000" b="1" dirty="0"/>
              <a:t>d2:</a:t>
            </a:r>
          </a:p>
          <a:p>
            <a:pPr marL="457200" lvl="1" indent="0">
              <a:buNone/>
            </a:pPr>
            <a:r>
              <a:rPr lang="en-US" sz="1800" dirty="0"/>
              <a:t>"the": 1/5 = 0.2</a:t>
            </a:r>
          </a:p>
          <a:p>
            <a:pPr marL="457200" lvl="1" indent="0">
              <a:buNone/>
            </a:pPr>
            <a:r>
              <a:rPr lang="en-US" sz="1800" dirty="0"/>
              <a:t>"sun": 1/5 = 0.2</a:t>
            </a:r>
          </a:p>
          <a:p>
            <a:pPr marL="457200" lvl="1" indent="0">
              <a:buNone/>
            </a:pPr>
            <a:r>
              <a:rPr lang="en-US" sz="1800" dirty="0"/>
              <a:t>"is": 1/5 = 0.2</a:t>
            </a:r>
          </a:p>
          <a:p>
            <a:pPr marL="457200" lvl="1" indent="0">
              <a:buNone/>
            </a:pPr>
            <a:r>
              <a:rPr lang="en-US" sz="1800" dirty="0"/>
              <a:t>"bright": 1/5 = 0.2</a:t>
            </a:r>
          </a:p>
          <a:p>
            <a:pPr marL="457200" lvl="1" indent="0">
              <a:buNone/>
            </a:pPr>
            <a:r>
              <a:rPr lang="en-US" sz="1800" dirty="0"/>
              <a:t>"today": 1/5 = 0.2</a:t>
            </a:r>
          </a:p>
          <a:p>
            <a:endParaRPr lang="en-US" sz="2000" dirty="0"/>
          </a:p>
        </p:txBody>
      </p:sp>
      <p:sp>
        <p:nvSpPr>
          <p:cNvPr id="5" name="TextBox 4">
            <a:extLst>
              <a:ext uri="{FF2B5EF4-FFF2-40B4-BE49-F238E27FC236}">
                <a16:creationId xmlns:a16="http://schemas.microsoft.com/office/drawing/2014/main" id="{181D7242-BE6F-3237-1F4F-06710A7A7746}"/>
              </a:ext>
            </a:extLst>
          </p:cNvPr>
          <p:cNvSpPr txBox="1"/>
          <p:nvPr/>
        </p:nvSpPr>
        <p:spPr>
          <a:xfrm>
            <a:off x="6469626" y="2443557"/>
            <a:ext cx="4493342" cy="4308872"/>
          </a:xfrm>
          <a:prstGeom prst="rect">
            <a:avLst/>
          </a:prstGeom>
          <a:noFill/>
        </p:spPr>
        <p:txBody>
          <a:bodyPr wrap="square">
            <a:spAutoFit/>
          </a:bodyPr>
          <a:lstStyle/>
          <a:p>
            <a:r>
              <a:rPr lang="en-US" sz="2000" b="1" dirty="0"/>
              <a:t>d3:</a:t>
            </a:r>
          </a:p>
          <a:p>
            <a:pPr lvl="1"/>
            <a:r>
              <a:rPr lang="en-US" dirty="0"/>
              <a:t>"the": 2/7 ≈ 0.286</a:t>
            </a:r>
          </a:p>
          <a:p>
            <a:pPr lvl="1"/>
            <a:r>
              <a:rPr lang="en-US" dirty="0"/>
              <a:t>"sun": 1/7 ≈ 0.143</a:t>
            </a:r>
          </a:p>
          <a:p>
            <a:pPr lvl="1"/>
            <a:r>
              <a:rPr lang="en-US" dirty="0"/>
              <a:t>"in": 1/7 ≈ 0.143</a:t>
            </a:r>
          </a:p>
          <a:p>
            <a:pPr lvl="1"/>
            <a:r>
              <a:rPr lang="en-US" dirty="0"/>
              <a:t>"sky": 1/7 ≈ 0.143</a:t>
            </a:r>
          </a:p>
          <a:p>
            <a:pPr lvl="1"/>
            <a:r>
              <a:rPr lang="en-US" dirty="0"/>
              <a:t>"is": 1/7 ≈ 0.143</a:t>
            </a:r>
          </a:p>
          <a:p>
            <a:pPr lvl="1"/>
            <a:r>
              <a:rPr lang="en-US" dirty="0"/>
              <a:t>"bright": 1/7 ≈ 0.143</a:t>
            </a:r>
          </a:p>
          <a:p>
            <a:r>
              <a:rPr lang="en-US" sz="2000" b="1" dirty="0"/>
              <a:t>d4:</a:t>
            </a:r>
          </a:p>
          <a:p>
            <a:pPr lvl="1"/>
            <a:r>
              <a:rPr lang="en-US" dirty="0"/>
              <a:t>"we": 1/9 ≈ 0.111</a:t>
            </a:r>
          </a:p>
          <a:p>
            <a:pPr lvl="1"/>
            <a:r>
              <a:rPr lang="en-US" dirty="0"/>
              <a:t>"can": 1/9 ≈ 0.111</a:t>
            </a:r>
          </a:p>
          <a:p>
            <a:pPr lvl="1"/>
            <a:r>
              <a:rPr lang="en-US" dirty="0"/>
              <a:t>"see": 1/9 ≈ 0.111</a:t>
            </a:r>
          </a:p>
          <a:p>
            <a:pPr lvl="1"/>
            <a:r>
              <a:rPr lang="en-US" dirty="0"/>
              <a:t>"the": 2/9 ≈ 0.222</a:t>
            </a:r>
          </a:p>
          <a:p>
            <a:pPr lvl="1"/>
            <a:r>
              <a:rPr lang="en-US" dirty="0"/>
              <a:t>"shining": 1/9 ≈ 0.111</a:t>
            </a:r>
          </a:p>
          <a:p>
            <a:pPr lvl="1"/>
            <a:r>
              <a:rPr lang="en-US" dirty="0"/>
              <a:t>"sun": 2/9 ≈ 0.222</a:t>
            </a:r>
          </a:p>
          <a:p>
            <a:pPr lvl="1"/>
            <a:r>
              <a:rPr lang="en-US" dirty="0"/>
              <a:t>"bright": 1/9 ≈ 0.111</a:t>
            </a:r>
            <a:endParaRPr lang="en-US" sz="2000" dirty="0"/>
          </a:p>
        </p:txBody>
      </p:sp>
    </p:spTree>
    <p:extLst>
      <p:ext uri="{BB962C8B-B14F-4D97-AF65-F5344CB8AC3E}">
        <p14:creationId xmlns:p14="http://schemas.microsoft.com/office/powerpoint/2010/main" val="3465695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A71954-905C-8DC6-B2B8-61CF60578CD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13D95F-3BC4-0C7C-094D-1FA33293D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1EB3F2-C784-0F45-5C7E-DB91F66C7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4FC992-DECA-576A-0023-F6E90F475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3F43C4-47DC-3294-59CE-1FE428A26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B109583-191F-C4A2-C852-34721E35A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8AFD3F-D697-2739-A569-BC9BBA56EB1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0253B351-DB16-A9A4-F6DA-422C680BE77D}"/>
              </a:ext>
            </a:extLst>
          </p:cNvPr>
          <p:cNvSpPr>
            <a:spLocks noGrp="1"/>
          </p:cNvSpPr>
          <p:nvPr>
            <p:ph idx="1"/>
          </p:nvPr>
        </p:nvSpPr>
        <p:spPr>
          <a:xfrm>
            <a:off x="459345" y="1537019"/>
            <a:ext cx="11524569" cy="1311689"/>
          </a:xfrm>
        </p:spPr>
        <p:txBody>
          <a:bodyPr anchor="ctr">
            <a:normAutofit/>
          </a:bodyPr>
          <a:lstStyle/>
          <a:p>
            <a:pPr marL="0" indent="0">
              <a:buNone/>
            </a:pPr>
            <a:r>
              <a:rPr lang="en-US" b="1" dirty="0"/>
              <a:t>Step 3: Calculate Inverse Document Frequency (IDF)</a:t>
            </a:r>
          </a:p>
          <a:p>
            <a:r>
              <a:rPr lang="en-US" sz="2000" dirty="0"/>
              <a:t>IDF(t) = </a:t>
            </a:r>
            <a:r>
              <a:rPr lang="en-US" sz="2000" dirty="0" err="1"/>
              <a:t>log_base</a:t>
            </a:r>
            <a:r>
              <a:rPr lang="en-US" sz="2000" dirty="0"/>
              <a:t> 10(Total number of documents / Number of documents with term t)</a:t>
            </a:r>
          </a:p>
          <a:p>
            <a:endParaRPr lang="en-US" sz="2000" dirty="0"/>
          </a:p>
        </p:txBody>
      </p:sp>
      <p:sp>
        <p:nvSpPr>
          <p:cNvPr id="5" name="TextBox 4">
            <a:extLst>
              <a:ext uri="{FF2B5EF4-FFF2-40B4-BE49-F238E27FC236}">
                <a16:creationId xmlns:a16="http://schemas.microsoft.com/office/drawing/2014/main" id="{A3658487-BBB6-9BF0-04BF-FD4C0208B07C}"/>
              </a:ext>
            </a:extLst>
          </p:cNvPr>
          <p:cNvSpPr txBox="1"/>
          <p:nvPr/>
        </p:nvSpPr>
        <p:spPr>
          <a:xfrm>
            <a:off x="7983414" y="3189542"/>
            <a:ext cx="3655485" cy="2015936"/>
          </a:xfrm>
          <a:prstGeom prst="rect">
            <a:avLst/>
          </a:prstGeom>
          <a:noFill/>
        </p:spPr>
        <p:txBody>
          <a:bodyPr wrap="square">
            <a:spAutoFit/>
          </a:bodyPr>
          <a:lstStyle/>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1​ : "The sky is blue.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2 : "The sun is bright today."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3: "The sun in the sky is bright."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Aft>
                <a:spcPts val="1000"/>
              </a:spcAft>
              <a:buNone/>
            </a:pPr>
            <a:r>
              <a:rPr lang="en-US" sz="2000" dirty="0">
                <a:effectLst/>
                <a:latin typeface="Cambria Math" panose="02040503050406030204" pitchFamily="18" charset="0"/>
                <a:ea typeface="Calibri" panose="020F0502020204030204" pitchFamily="34" charset="0"/>
                <a:cs typeface="Cambria Math" panose="02040503050406030204" pitchFamily="18" charset="0"/>
              </a:rPr>
              <a:t>𝑑</a:t>
            </a:r>
            <a:r>
              <a:rPr lang="en-US" sz="2000" dirty="0">
                <a:effectLst/>
                <a:latin typeface="Times New Roman" panose="02020603050405020304" pitchFamily="18" charset="0"/>
                <a:ea typeface="Calibri" panose="020F0502020204030204" pitchFamily="34" charset="0"/>
                <a:cs typeface="Arial" panose="020B0604020202020204" pitchFamily="34" charset="0"/>
              </a:rPr>
              <a:t>4: "We can see the shining sun, the bright sun."</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7813832B-D469-DE1F-2000-9D3BF09904B2}"/>
              </a:ext>
            </a:extLst>
          </p:cNvPr>
          <p:cNvGraphicFramePr>
            <a:graphicFrameLocks noGrp="1"/>
          </p:cNvGraphicFramePr>
          <p:nvPr>
            <p:extLst>
              <p:ext uri="{D42A27DB-BD31-4B8C-83A1-F6EECF244321}">
                <p14:modId xmlns:p14="http://schemas.microsoft.com/office/powerpoint/2010/main" val="1461762674"/>
              </p:ext>
            </p:extLst>
          </p:nvPr>
        </p:nvGraphicFramePr>
        <p:xfrm>
          <a:off x="2074170" y="2507811"/>
          <a:ext cx="4572814" cy="4257760"/>
        </p:xfrm>
        <a:graphic>
          <a:graphicData uri="http://schemas.openxmlformats.org/drawingml/2006/table">
            <a:tbl>
              <a:tblPr/>
              <a:tblGrid>
                <a:gridCol w="1524271">
                  <a:extLst>
                    <a:ext uri="{9D8B030D-6E8A-4147-A177-3AD203B41FA5}">
                      <a16:colId xmlns:a16="http://schemas.microsoft.com/office/drawing/2014/main" val="3943421215"/>
                    </a:ext>
                  </a:extLst>
                </a:gridCol>
                <a:gridCol w="1184574">
                  <a:extLst>
                    <a:ext uri="{9D8B030D-6E8A-4147-A177-3AD203B41FA5}">
                      <a16:colId xmlns:a16="http://schemas.microsoft.com/office/drawing/2014/main" val="1419766341"/>
                    </a:ext>
                  </a:extLst>
                </a:gridCol>
                <a:gridCol w="1863969">
                  <a:extLst>
                    <a:ext uri="{9D8B030D-6E8A-4147-A177-3AD203B41FA5}">
                      <a16:colId xmlns:a16="http://schemas.microsoft.com/office/drawing/2014/main" val="2403637698"/>
                    </a:ext>
                  </a:extLst>
                </a:gridCol>
              </a:tblGrid>
              <a:tr h="280340">
                <a:tc>
                  <a:txBody>
                    <a:bodyPr/>
                    <a:lstStyle/>
                    <a:p>
                      <a:pPr>
                        <a:buNone/>
                      </a:pPr>
                      <a:r>
                        <a:rPr lang="en-US" sz="1600" b="1" dirty="0"/>
                        <a:t>Term</a:t>
                      </a:r>
                    </a:p>
                  </a:txBody>
                  <a:tcPr marL="83680" marR="83680" marT="41840" marB="41840" anchor="ctr">
                    <a:lnL>
                      <a:noFill/>
                    </a:lnL>
                    <a:lnR>
                      <a:noFill/>
                    </a:lnR>
                    <a:lnT>
                      <a:noFill/>
                    </a:lnT>
                    <a:lnB>
                      <a:noFill/>
                    </a:lnB>
                    <a:noFill/>
                  </a:tcPr>
                </a:tc>
                <a:tc>
                  <a:txBody>
                    <a:bodyPr/>
                    <a:lstStyle/>
                    <a:p>
                      <a:pPr>
                        <a:buNone/>
                      </a:pPr>
                      <a:r>
                        <a:rPr lang="en-US" sz="1600" b="1" dirty="0" err="1"/>
                        <a:t>df</a:t>
                      </a:r>
                      <a:endParaRPr lang="en-US" sz="1600" b="1" dirty="0"/>
                    </a:p>
                  </a:txBody>
                  <a:tcPr marL="83680" marR="83680" marT="41840" marB="41840" anchor="ctr">
                    <a:lnL>
                      <a:noFill/>
                    </a:lnL>
                    <a:lnR>
                      <a:noFill/>
                    </a:lnR>
                    <a:lnT>
                      <a:noFill/>
                    </a:lnT>
                    <a:lnB>
                      <a:noFill/>
                    </a:lnB>
                    <a:noFill/>
                  </a:tcPr>
                </a:tc>
                <a:tc>
                  <a:txBody>
                    <a:bodyPr/>
                    <a:lstStyle/>
                    <a:p>
                      <a:pPr>
                        <a:buNone/>
                      </a:pPr>
                      <a:r>
                        <a:rPr lang="en-US" sz="1600" b="1" dirty="0"/>
                        <a:t>IDF</a:t>
                      </a:r>
                    </a:p>
                  </a:txBody>
                  <a:tcPr marL="83680" marR="83680" marT="41840" marB="41840" anchor="ctr">
                    <a:lnL>
                      <a:noFill/>
                    </a:lnL>
                    <a:lnR>
                      <a:noFill/>
                    </a:lnR>
                    <a:lnT>
                      <a:noFill/>
                    </a:lnT>
                    <a:lnB>
                      <a:noFill/>
                    </a:lnB>
                    <a:noFill/>
                  </a:tcPr>
                </a:tc>
                <a:extLst>
                  <a:ext uri="{0D108BD9-81ED-4DB2-BD59-A6C34878D82A}">
                    <a16:rowId xmlns:a16="http://schemas.microsoft.com/office/drawing/2014/main" val="4275414634"/>
                  </a:ext>
                </a:extLst>
              </a:tr>
              <a:tr h="280340">
                <a:tc>
                  <a:txBody>
                    <a:bodyPr/>
                    <a:lstStyle/>
                    <a:p>
                      <a:pPr>
                        <a:buNone/>
                      </a:pPr>
                      <a:r>
                        <a:rPr lang="en-US" sz="1600"/>
                        <a:t>the</a:t>
                      </a:r>
                    </a:p>
                  </a:txBody>
                  <a:tcPr marL="83680" marR="83680" marT="41840" marB="41840" anchor="ctr">
                    <a:lnL>
                      <a:noFill/>
                    </a:lnL>
                    <a:lnR>
                      <a:noFill/>
                    </a:lnR>
                    <a:lnT>
                      <a:noFill/>
                    </a:lnT>
                    <a:lnB>
                      <a:noFill/>
                    </a:lnB>
                    <a:noFill/>
                  </a:tcPr>
                </a:tc>
                <a:tc>
                  <a:txBody>
                    <a:bodyPr/>
                    <a:lstStyle/>
                    <a:p>
                      <a:pPr>
                        <a:buNone/>
                      </a:pPr>
                      <a:r>
                        <a:rPr lang="en-US" sz="1600"/>
                        <a:t>4</a:t>
                      </a:r>
                    </a:p>
                  </a:txBody>
                  <a:tcPr marL="83680" marR="83680" marT="41840" marB="41840" anchor="ctr">
                    <a:lnL>
                      <a:noFill/>
                    </a:lnL>
                    <a:lnR>
                      <a:noFill/>
                    </a:lnR>
                    <a:lnT>
                      <a:noFill/>
                    </a:lnT>
                    <a:lnB>
                      <a:noFill/>
                    </a:lnB>
                    <a:noFill/>
                  </a:tcPr>
                </a:tc>
                <a:tc>
                  <a:txBody>
                    <a:bodyPr/>
                    <a:lstStyle/>
                    <a:p>
                      <a:pPr>
                        <a:buNone/>
                      </a:pPr>
                      <a:r>
                        <a:rPr lang="en-US" sz="1600" b="1"/>
                        <a:t>0</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1257481097"/>
                  </a:ext>
                </a:extLst>
              </a:tr>
              <a:tr h="280340">
                <a:tc>
                  <a:txBody>
                    <a:bodyPr/>
                    <a:lstStyle/>
                    <a:p>
                      <a:pPr>
                        <a:buNone/>
                      </a:pPr>
                      <a:r>
                        <a:rPr lang="en-US" sz="1600"/>
                        <a:t>sky</a:t>
                      </a:r>
                    </a:p>
                  </a:txBody>
                  <a:tcPr marL="83680" marR="83680" marT="41840" marB="41840" anchor="ctr">
                    <a:lnL>
                      <a:noFill/>
                    </a:lnL>
                    <a:lnR>
                      <a:noFill/>
                    </a:lnR>
                    <a:lnT>
                      <a:noFill/>
                    </a:lnT>
                    <a:lnB>
                      <a:noFill/>
                    </a:lnB>
                    <a:noFill/>
                  </a:tcPr>
                </a:tc>
                <a:tc>
                  <a:txBody>
                    <a:bodyPr/>
                    <a:lstStyle/>
                    <a:p>
                      <a:pPr>
                        <a:buNone/>
                      </a:pPr>
                      <a:r>
                        <a:rPr lang="en-US" sz="1600"/>
                        <a:t>2</a:t>
                      </a:r>
                    </a:p>
                  </a:txBody>
                  <a:tcPr marL="83680" marR="83680" marT="41840" marB="41840" anchor="ctr">
                    <a:lnL>
                      <a:noFill/>
                    </a:lnL>
                    <a:lnR>
                      <a:noFill/>
                    </a:lnR>
                    <a:lnT>
                      <a:noFill/>
                    </a:lnT>
                    <a:lnB>
                      <a:noFill/>
                    </a:lnB>
                    <a:noFill/>
                  </a:tcPr>
                </a:tc>
                <a:tc>
                  <a:txBody>
                    <a:bodyPr/>
                    <a:lstStyle/>
                    <a:p>
                      <a:pPr>
                        <a:buNone/>
                      </a:pPr>
                      <a:r>
                        <a:rPr lang="en-US" sz="1600" b="1" dirty="0"/>
                        <a:t>0.301</a:t>
                      </a:r>
                      <a:endParaRPr lang="en-US" sz="1600" dirty="0"/>
                    </a:p>
                  </a:txBody>
                  <a:tcPr marL="83680" marR="83680" marT="41840" marB="41840" anchor="ctr">
                    <a:lnL>
                      <a:noFill/>
                    </a:lnL>
                    <a:lnR>
                      <a:noFill/>
                    </a:lnR>
                    <a:lnT>
                      <a:noFill/>
                    </a:lnT>
                    <a:lnB>
                      <a:noFill/>
                    </a:lnB>
                    <a:noFill/>
                  </a:tcPr>
                </a:tc>
                <a:extLst>
                  <a:ext uri="{0D108BD9-81ED-4DB2-BD59-A6C34878D82A}">
                    <a16:rowId xmlns:a16="http://schemas.microsoft.com/office/drawing/2014/main" val="855435030"/>
                  </a:ext>
                </a:extLst>
              </a:tr>
              <a:tr h="280340">
                <a:tc>
                  <a:txBody>
                    <a:bodyPr/>
                    <a:lstStyle/>
                    <a:p>
                      <a:pPr>
                        <a:buNone/>
                      </a:pPr>
                      <a:r>
                        <a:rPr lang="en-US" sz="1600"/>
                        <a:t>is</a:t>
                      </a:r>
                    </a:p>
                  </a:txBody>
                  <a:tcPr marL="83680" marR="83680" marT="41840" marB="41840" anchor="ctr">
                    <a:lnL>
                      <a:noFill/>
                    </a:lnL>
                    <a:lnR>
                      <a:noFill/>
                    </a:lnR>
                    <a:lnT>
                      <a:noFill/>
                    </a:lnT>
                    <a:lnB>
                      <a:noFill/>
                    </a:lnB>
                    <a:noFill/>
                  </a:tcPr>
                </a:tc>
                <a:tc>
                  <a:txBody>
                    <a:bodyPr/>
                    <a:lstStyle/>
                    <a:p>
                      <a:pPr>
                        <a:buNone/>
                      </a:pPr>
                      <a:r>
                        <a:rPr lang="en-US" sz="1600"/>
                        <a:t>3</a:t>
                      </a:r>
                    </a:p>
                  </a:txBody>
                  <a:tcPr marL="83680" marR="83680" marT="41840" marB="41840" anchor="ctr">
                    <a:lnL>
                      <a:noFill/>
                    </a:lnL>
                    <a:lnR>
                      <a:noFill/>
                    </a:lnR>
                    <a:lnT>
                      <a:noFill/>
                    </a:lnT>
                    <a:lnB>
                      <a:noFill/>
                    </a:lnB>
                    <a:noFill/>
                  </a:tcPr>
                </a:tc>
                <a:tc>
                  <a:txBody>
                    <a:bodyPr/>
                    <a:lstStyle/>
                    <a:p>
                      <a:pPr>
                        <a:buNone/>
                      </a:pPr>
                      <a:r>
                        <a:rPr lang="en-US" sz="1600" b="1"/>
                        <a:t>0.125</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3620065546"/>
                  </a:ext>
                </a:extLst>
              </a:tr>
              <a:tr h="280340">
                <a:tc>
                  <a:txBody>
                    <a:bodyPr/>
                    <a:lstStyle/>
                    <a:p>
                      <a:pPr>
                        <a:buNone/>
                      </a:pPr>
                      <a:r>
                        <a:rPr lang="en-US" sz="1600"/>
                        <a:t>blue</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3273047798"/>
                  </a:ext>
                </a:extLst>
              </a:tr>
              <a:tr h="280340">
                <a:tc>
                  <a:txBody>
                    <a:bodyPr/>
                    <a:lstStyle/>
                    <a:p>
                      <a:pPr>
                        <a:buNone/>
                      </a:pPr>
                      <a:r>
                        <a:rPr lang="en-US" sz="1600" dirty="0"/>
                        <a:t>sun</a:t>
                      </a:r>
                    </a:p>
                  </a:txBody>
                  <a:tcPr marL="83680" marR="83680" marT="41840" marB="41840" anchor="ctr">
                    <a:lnL>
                      <a:noFill/>
                    </a:lnL>
                    <a:lnR>
                      <a:noFill/>
                    </a:lnR>
                    <a:lnT>
                      <a:noFill/>
                    </a:lnT>
                    <a:lnB>
                      <a:noFill/>
                    </a:lnB>
                    <a:noFill/>
                  </a:tcPr>
                </a:tc>
                <a:tc>
                  <a:txBody>
                    <a:bodyPr/>
                    <a:lstStyle/>
                    <a:p>
                      <a:pPr>
                        <a:buNone/>
                      </a:pPr>
                      <a:r>
                        <a:rPr lang="en-US" sz="1600" dirty="0"/>
                        <a:t>3</a:t>
                      </a:r>
                    </a:p>
                  </a:txBody>
                  <a:tcPr marL="83680" marR="83680" marT="41840" marB="41840" anchor="ctr">
                    <a:lnL>
                      <a:noFill/>
                    </a:lnL>
                    <a:lnR>
                      <a:noFill/>
                    </a:lnR>
                    <a:lnT>
                      <a:noFill/>
                    </a:lnT>
                    <a:lnB>
                      <a:noFill/>
                    </a:lnB>
                    <a:noFill/>
                  </a:tcPr>
                </a:tc>
                <a:tc>
                  <a:txBody>
                    <a:bodyPr/>
                    <a:lstStyle/>
                    <a:p>
                      <a:pPr>
                        <a:buNone/>
                      </a:pPr>
                      <a:r>
                        <a:rPr lang="en-US" sz="1600" b="1"/>
                        <a:t>0.125</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1140075793"/>
                  </a:ext>
                </a:extLst>
              </a:tr>
              <a:tr h="280340">
                <a:tc>
                  <a:txBody>
                    <a:bodyPr/>
                    <a:lstStyle/>
                    <a:p>
                      <a:pPr>
                        <a:buNone/>
                      </a:pPr>
                      <a:r>
                        <a:rPr lang="en-US" sz="1600"/>
                        <a:t>bright</a:t>
                      </a:r>
                    </a:p>
                  </a:txBody>
                  <a:tcPr marL="83680" marR="83680" marT="41840" marB="41840" anchor="ctr">
                    <a:lnL>
                      <a:noFill/>
                    </a:lnL>
                    <a:lnR>
                      <a:noFill/>
                    </a:lnR>
                    <a:lnT>
                      <a:noFill/>
                    </a:lnT>
                    <a:lnB>
                      <a:noFill/>
                    </a:lnB>
                    <a:noFill/>
                  </a:tcPr>
                </a:tc>
                <a:tc>
                  <a:txBody>
                    <a:bodyPr/>
                    <a:lstStyle/>
                    <a:p>
                      <a:pPr>
                        <a:buNone/>
                      </a:pPr>
                      <a:r>
                        <a:rPr lang="en-US" sz="1600"/>
                        <a:t>3</a:t>
                      </a:r>
                    </a:p>
                  </a:txBody>
                  <a:tcPr marL="83680" marR="83680" marT="41840" marB="41840" anchor="ctr">
                    <a:lnL>
                      <a:noFill/>
                    </a:lnL>
                    <a:lnR>
                      <a:noFill/>
                    </a:lnR>
                    <a:lnT>
                      <a:noFill/>
                    </a:lnT>
                    <a:lnB>
                      <a:noFill/>
                    </a:lnB>
                    <a:noFill/>
                  </a:tcPr>
                </a:tc>
                <a:tc>
                  <a:txBody>
                    <a:bodyPr/>
                    <a:lstStyle/>
                    <a:p>
                      <a:pPr>
                        <a:buNone/>
                      </a:pPr>
                      <a:r>
                        <a:rPr lang="en-US" sz="1600" b="1"/>
                        <a:t>0.125</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2534131884"/>
                  </a:ext>
                </a:extLst>
              </a:tr>
              <a:tr h="280340">
                <a:tc>
                  <a:txBody>
                    <a:bodyPr/>
                    <a:lstStyle/>
                    <a:p>
                      <a:pPr>
                        <a:buNone/>
                      </a:pPr>
                      <a:r>
                        <a:rPr lang="en-US" sz="1600"/>
                        <a:t>today</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840433183"/>
                  </a:ext>
                </a:extLst>
              </a:tr>
              <a:tr h="280340">
                <a:tc>
                  <a:txBody>
                    <a:bodyPr/>
                    <a:lstStyle/>
                    <a:p>
                      <a:pPr>
                        <a:buNone/>
                      </a:pPr>
                      <a:r>
                        <a:rPr lang="en-US" sz="1600"/>
                        <a:t>in</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345927808"/>
                  </a:ext>
                </a:extLst>
              </a:tr>
              <a:tr h="280340">
                <a:tc>
                  <a:txBody>
                    <a:bodyPr/>
                    <a:lstStyle/>
                    <a:p>
                      <a:pPr>
                        <a:buNone/>
                      </a:pPr>
                      <a:r>
                        <a:rPr lang="en-US" sz="1600"/>
                        <a:t>we</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91098970"/>
                  </a:ext>
                </a:extLst>
              </a:tr>
              <a:tr h="280340">
                <a:tc>
                  <a:txBody>
                    <a:bodyPr/>
                    <a:lstStyle/>
                    <a:p>
                      <a:pPr>
                        <a:buNone/>
                      </a:pPr>
                      <a:r>
                        <a:rPr lang="en-US" sz="1600"/>
                        <a:t>can</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3212578491"/>
                  </a:ext>
                </a:extLst>
              </a:tr>
              <a:tr h="280340">
                <a:tc>
                  <a:txBody>
                    <a:bodyPr/>
                    <a:lstStyle/>
                    <a:p>
                      <a:pPr>
                        <a:buNone/>
                      </a:pPr>
                      <a:r>
                        <a:rPr lang="en-US" sz="1600"/>
                        <a:t>see</a:t>
                      </a:r>
                    </a:p>
                  </a:txBody>
                  <a:tcPr marL="83680" marR="83680" marT="41840" marB="41840" anchor="ctr">
                    <a:lnL>
                      <a:noFill/>
                    </a:lnL>
                    <a:lnR>
                      <a:noFill/>
                    </a:lnR>
                    <a:lnT>
                      <a:noFill/>
                    </a:lnT>
                    <a:lnB>
                      <a:noFill/>
                    </a:lnB>
                    <a:noFill/>
                  </a:tcPr>
                </a:tc>
                <a:tc>
                  <a:txBody>
                    <a:bodyPr/>
                    <a:lstStyle/>
                    <a:p>
                      <a:pPr>
                        <a:buNone/>
                      </a:pPr>
                      <a:r>
                        <a:rPr lang="en-US" sz="1600" dirty="0"/>
                        <a:t>1</a:t>
                      </a:r>
                    </a:p>
                  </a:txBody>
                  <a:tcPr marL="83680" marR="83680" marT="41840" marB="41840" anchor="ctr">
                    <a:lnL>
                      <a:noFill/>
                    </a:lnL>
                    <a:lnR>
                      <a:noFill/>
                    </a:lnR>
                    <a:lnT>
                      <a:noFill/>
                    </a:lnT>
                    <a:lnB>
                      <a:noFill/>
                    </a:lnB>
                    <a:noFill/>
                  </a:tcPr>
                </a:tc>
                <a:tc>
                  <a:txBody>
                    <a:bodyPr/>
                    <a:lstStyle/>
                    <a:p>
                      <a:pPr>
                        <a:buNone/>
                      </a:pPr>
                      <a:r>
                        <a:rPr lang="en-US" sz="1600" b="1"/>
                        <a:t>0.602</a:t>
                      </a:r>
                      <a:endParaRPr lang="en-US" sz="1600"/>
                    </a:p>
                  </a:txBody>
                  <a:tcPr marL="83680" marR="83680" marT="41840" marB="41840" anchor="ctr">
                    <a:lnL>
                      <a:noFill/>
                    </a:lnL>
                    <a:lnR>
                      <a:noFill/>
                    </a:lnR>
                    <a:lnT>
                      <a:noFill/>
                    </a:lnT>
                    <a:lnB>
                      <a:noFill/>
                    </a:lnB>
                    <a:noFill/>
                  </a:tcPr>
                </a:tc>
                <a:extLst>
                  <a:ext uri="{0D108BD9-81ED-4DB2-BD59-A6C34878D82A}">
                    <a16:rowId xmlns:a16="http://schemas.microsoft.com/office/drawing/2014/main" val="2172097037"/>
                  </a:ext>
                </a:extLst>
              </a:tr>
              <a:tr h="280340">
                <a:tc>
                  <a:txBody>
                    <a:bodyPr/>
                    <a:lstStyle/>
                    <a:p>
                      <a:pPr>
                        <a:buNone/>
                      </a:pPr>
                      <a:r>
                        <a:rPr lang="en-US" sz="1600" dirty="0"/>
                        <a:t>shining</a:t>
                      </a:r>
                    </a:p>
                  </a:txBody>
                  <a:tcPr marL="83680" marR="83680" marT="41840" marB="41840" anchor="ctr">
                    <a:lnL>
                      <a:noFill/>
                    </a:lnL>
                    <a:lnR>
                      <a:noFill/>
                    </a:lnR>
                    <a:lnT>
                      <a:noFill/>
                    </a:lnT>
                    <a:lnB>
                      <a:noFill/>
                    </a:lnB>
                    <a:noFill/>
                  </a:tcPr>
                </a:tc>
                <a:tc>
                  <a:txBody>
                    <a:bodyPr/>
                    <a:lstStyle/>
                    <a:p>
                      <a:pPr>
                        <a:buNone/>
                      </a:pPr>
                      <a:r>
                        <a:rPr lang="en-US" sz="1600"/>
                        <a:t>1</a:t>
                      </a:r>
                    </a:p>
                  </a:txBody>
                  <a:tcPr marL="83680" marR="83680" marT="41840" marB="41840" anchor="ctr">
                    <a:lnL>
                      <a:noFill/>
                    </a:lnL>
                    <a:lnR>
                      <a:noFill/>
                    </a:lnR>
                    <a:lnT>
                      <a:noFill/>
                    </a:lnT>
                    <a:lnB>
                      <a:noFill/>
                    </a:lnB>
                    <a:noFill/>
                  </a:tcPr>
                </a:tc>
                <a:tc>
                  <a:txBody>
                    <a:bodyPr/>
                    <a:lstStyle/>
                    <a:p>
                      <a:pPr>
                        <a:buNone/>
                      </a:pPr>
                      <a:r>
                        <a:rPr lang="en-US" sz="1600" b="1" dirty="0"/>
                        <a:t>0.602</a:t>
                      </a:r>
                      <a:endParaRPr lang="en-US" sz="1600" dirty="0"/>
                    </a:p>
                  </a:txBody>
                  <a:tcPr marL="83680" marR="83680" marT="41840" marB="41840" anchor="ctr">
                    <a:lnL>
                      <a:noFill/>
                    </a:lnL>
                    <a:lnR>
                      <a:noFill/>
                    </a:lnR>
                    <a:lnT>
                      <a:noFill/>
                    </a:lnT>
                    <a:lnB>
                      <a:noFill/>
                    </a:lnB>
                    <a:noFill/>
                  </a:tcPr>
                </a:tc>
                <a:extLst>
                  <a:ext uri="{0D108BD9-81ED-4DB2-BD59-A6C34878D82A}">
                    <a16:rowId xmlns:a16="http://schemas.microsoft.com/office/drawing/2014/main" val="1365335522"/>
                  </a:ext>
                </a:extLst>
              </a:tr>
            </a:tbl>
          </a:graphicData>
        </a:graphic>
      </p:graphicFrame>
    </p:spTree>
    <p:extLst>
      <p:ext uri="{BB962C8B-B14F-4D97-AF65-F5344CB8AC3E}">
        <p14:creationId xmlns:p14="http://schemas.microsoft.com/office/powerpoint/2010/main" val="882384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282352-D4A0-1DED-76F9-3F8D8F3956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44930C-A409-C9B2-3121-C024FFAED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EE9660-47BD-246D-8613-688D6EB32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44F49A-67FE-2378-C479-33E4B6D1B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B32648F-57BA-64E8-ADD4-115807E1C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D2E1B2-0323-10F7-C7CF-8D4ED6936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1F070A-7C59-C6C0-CFB3-EB3004733B7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246C841D-AA52-3166-1ADF-C8055DE437D9}"/>
              </a:ext>
            </a:extLst>
          </p:cNvPr>
          <p:cNvSpPr>
            <a:spLocks noGrp="1"/>
          </p:cNvSpPr>
          <p:nvPr>
            <p:ph idx="1"/>
          </p:nvPr>
        </p:nvSpPr>
        <p:spPr>
          <a:xfrm>
            <a:off x="459351" y="1754238"/>
            <a:ext cx="5784134" cy="4990691"/>
          </a:xfrm>
        </p:spPr>
        <p:txBody>
          <a:bodyPr anchor="ctr">
            <a:normAutofit/>
          </a:bodyPr>
          <a:lstStyle/>
          <a:p>
            <a:pPr marL="0" indent="0">
              <a:buNone/>
            </a:pPr>
            <a:r>
              <a:rPr lang="en-US" sz="3000" b="1" dirty="0"/>
              <a:t>Step 4: Calculate TF-IDF</a:t>
            </a:r>
          </a:p>
          <a:p>
            <a:r>
              <a:rPr lang="en-US" sz="2000" dirty="0"/>
              <a:t>TF-IDF(t, d) = TF(t, d) * IDF(t)</a:t>
            </a:r>
          </a:p>
          <a:p>
            <a:r>
              <a:rPr lang="en-US" sz="2000" dirty="0"/>
              <a:t>TF-IDF Scores:</a:t>
            </a:r>
          </a:p>
          <a:p>
            <a:pPr marL="0" indent="0">
              <a:buNone/>
            </a:pPr>
            <a:r>
              <a:rPr lang="en-US" sz="2000" b="1" dirty="0"/>
              <a:t>d1:</a:t>
            </a:r>
          </a:p>
          <a:p>
            <a:pPr marL="0" indent="0">
              <a:buNone/>
            </a:pPr>
            <a:endParaRPr lang="en-US" sz="2000" b="1" dirty="0"/>
          </a:p>
          <a:p>
            <a:pPr marL="0" indent="0">
              <a:buNone/>
            </a:pPr>
            <a:endParaRPr lang="en-US" sz="2000" b="1" dirty="0"/>
          </a:p>
          <a:p>
            <a:pPr marL="0" indent="0">
              <a:buNone/>
            </a:pPr>
            <a:r>
              <a:rPr lang="en-US" sz="2000" b="1" dirty="0"/>
              <a:t>d2:</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endParaRPr lang="en-US" sz="2000" dirty="0"/>
          </a:p>
        </p:txBody>
      </p:sp>
      <p:sp>
        <p:nvSpPr>
          <p:cNvPr id="7" name="TextBox 6">
            <a:extLst>
              <a:ext uri="{FF2B5EF4-FFF2-40B4-BE49-F238E27FC236}">
                <a16:creationId xmlns:a16="http://schemas.microsoft.com/office/drawing/2014/main" id="{964E3863-D382-41FC-9A20-5CDE9B9F71DA}"/>
              </a:ext>
            </a:extLst>
          </p:cNvPr>
          <p:cNvSpPr txBox="1"/>
          <p:nvPr/>
        </p:nvSpPr>
        <p:spPr>
          <a:xfrm>
            <a:off x="5928852" y="1754238"/>
            <a:ext cx="5338698" cy="2417841"/>
          </a:xfrm>
          <a:prstGeom prst="rect">
            <a:avLst/>
          </a:prstGeom>
          <a:noFill/>
        </p:spPr>
        <p:txBody>
          <a:bodyPr wrap="square">
            <a:spAutoFit/>
          </a:bodyPr>
          <a:lstStyle/>
          <a:p>
            <a:pPr lvl="1">
              <a:lnSpc>
                <a:spcPct val="90000"/>
              </a:lnSpc>
              <a:spcBef>
                <a:spcPts val="500"/>
              </a:spcBef>
            </a:pPr>
            <a:r>
              <a:rPr lang="en-US" sz="2000" b="1" dirty="0"/>
              <a:t>d3:</a:t>
            </a:r>
          </a:p>
          <a:p>
            <a:pPr lvl="1">
              <a:lnSpc>
                <a:spcPct val="90000"/>
              </a:lnSpc>
              <a:spcBef>
                <a:spcPts val="500"/>
              </a:spcBef>
            </a:pPr>
            <a:endParaRPr lang="en-US" sz="2000" b="1" dirty="0"/>
          </a:p>
          <a:p>
            <a:pPr lvl="1">
              <a:lnSpc>
                <a:spcPct val="90000"/>
              </a:lnSpc>
              <a:spcBef>
                <a:spcPts val="500"/>
              </a:spcBef>
            </a:pPr>
            <a:endParaRPr lang="en-US" sz="2000" b="1" dirty="0"/>
          </a:p>
          <a:p>
            <a:pPr lvl="1">
              <a:lnSpc>
                <a:spcPct val="90000"/>
              </a:lnSpc>
              <a:spcBef>
                <a:spcPts val="500"/>
              </a:spcBef>
            </a:pPr>
            <a:endParaRPr lang="en-US" sz="2000" b="1" dirty="0"/>
          </a:p>
          <a:p>
            <a:pPr lvl="1">
              <a:lnSpc>
                <a:spcPct val="90000"/>
              </a:lnSpc>
              <a:spcBef>
                <a:spcPts val="500"/>
              </a:spcBef>
            </a:pPr>
            <a:endParaRPr lang="en-US" sz="2000" b="1" dirty="0"/>
          </a:p>
          <a:p>
            <a:pPr lvl="1">
              <a:lnSpc>
                <a:spcPct val="90000"/>
              </a:lnSpc>
              <a:spcBef>
                <a:spcPts val="500"/>
              </a:spcBef>
            </a:pPr>
            <a:endParaRPr lang="en-US" sz="2000" b="1" dirty="0"/>
          </a:p>
          <a:p>
            <a:pPr lvl="1">
              <a:lnSpc>
                <a:spcPct val="90000"/>
              </a:lnSpc>
              <a:spcBef>
                <a:spcPts val="500"/>
              </a:spcBef>
            </a:pPr>
            <a:r>
              <a:rPr lang="en-US" sz="2000" b="1" dirty="0"/>
              <a:t>d4:</a:t>
            </a:r>
          </a:p>
        </p:txBody>
      </p:sp>
      <p:graphicFrame>
        <p:nvGraphicFramePr>
          <p:cNvPr id="4" name="Table 3">
            <a:extLst>
              <a:ext uri="{FF2B5EF4-FFF2-40B4-BE49-F238E27FC236}">
                <a16:creationId xmlns:a16="http://schemas.microsoft.com/office/drawing/2014/main" id="{A36A4905-0245-2E67-4439-C2D57A168727}"/>
              </a:ext>
            </a:extLst>
          </p:cNvPr>
          <p:cNvGraphicFramePr>
            <a:graphicFrameLocks noGrp="1"/>
          </p:cNvGraphicFramePr>
          <p:nvPr>
            <p:extLst>
              <p:ext uri="{D42A27DB-BD31-4B8C-83A1-F6EECF244321}">
                <p14:modId xmlns:p14="http://schemas.microsoft.com/office/powerpoint/2010/main" val="1214715030"/>
              </p:ext>
            </p:extLst>
          </p:nvPr>
        </p:nvGraphicFramePr>
        <p:xfrm>
          <a:off x="1371599" y="2756710"/>
          <a:ext cx="3446584" cy="1570925"/>
        </p:xfrm>
        <a:graphic>
          <a:graphicData uri="http://schemas.openxmlformats.org/drawingml/2006/table">
            <a:tbl>
              <a:tblPr/>
              <a:tblGrid>
                <a:gridCol w="861646">
                  <a:extLst>
                    <a:ext uri="{9D8B030D-6E8A-4147-A177-3AD203B41FA5}">
                      <a16:colId xmlns:a16="http://schemas.microsoft.com/office/drawing/2014/main" val="3271950503"/>
                    </a:ext>
                  </a:extLst>
                </a:gridCol>
                <a:gridCol w="861646">
                  <a:extLst>
                    <a:ext uri="{9D8B030D-6E8A-4147-A177-3AD203B41FA5}">
                      <a16:colId xmlns:a16="http://schemas.microsoft.com/office/drawing/2014/main" val="2164832089"/>
                    </a:ext>
                  </a:extLst>
                </a:gridCol>
                <a:gridCol w="861646">
                  <a:extLst>
                    <a:ext uri="{9D8B030D-6E8A-4147-A177-3AD203B41FA5}">
                      <a16:colId xmlns:a16="http://schemas.microsoft.com/office/drawing/2014/main" val="3059470377"/>
                    </a:ext>
                  </a:extLst>
                </a:gridCol>
                <a:gridCol w="861646">
                  <a:extLst>
                    <a:ext uri="{9D8B030D-6E8A-4147-A177-3AD203B41FA5}">
                      <a16:colId xmlns:a16="http://schemas.microsoft.com/office/drawing/2014/main" val="1938180653"/>
                    </a:ext>
                  </a:extLst>
                </a:gridCol>
              </a:tblGrid>
              <a:tr h="314185">
                <a:tc>
                  <a:txBody>
                    <a:bodyPr/>
                    <a:lstStyle/>
                    <a:p>
                      <a:pPr>
                        <a:buNone/>
                      </a:pPr>
                      <a:r>
                        <a:rPr lang="en-US" sz="1400" b="1" dirty="0"/>
                        <a:t>Term</a:t>
                      </a:r>
                    </a:p>
                  </a:txBody>
                  <a:tcPr anchor="ctr">
                    <a:lnL>
                      <a:noFill/>
                    </a:lnL>
                    <a:lnR>
                      <a:noFill/>
                    </a:lnR>
                    <a:lnT>
                      <a:noFill/>
                    </a:lnT>
                    <a:lnB>
                      <a:noFill/>
                    </a:lnB>
                    <a:noFill/>
                  </a:tcPr>
                </a:tc>
                <a:tc>
                  <a:txBody>
                    <a:bodyPr/>
                    <a:lstStyle/>
                    <a:p>
                      <a:pPr>
                        <a:buNone/>
                      </a:pPr>
                      <a:r>
                        <a:rPr lang="en-US" sz="1400" b="1" dirty="0"/>
                        <a:t>TF</a:t>
                      </a:r>
                    </a:p>
                  </a:txBody>
                  <a:tcPr anchor="ctr">
                    <a:lnL>
                      <a:noFill/>
                    </a:lnL>
                    <a:lnR>
                      <a:noFill/>
                    </a:lnR>
                    <a:lnT>
                      <a:noFill/>
                    </a:lnT>
                    <a:lnB>
                      <a:noFill/>
                    </a:lnB>
                    <a:noFill/>
                  </a:tcPr>
                </a:tc>
                <a:tc>
                  <a:txBody>
                    <a:bodyPr/>
                    <a:lstStyle/>
                    <a:p>
                      <a:pPr>
                        <a:buNone/>
                      </a:pPr>
                      <a:r>
                        <a:rPr lang="en-US" sz="1400" b="1" dirty="0"/>
                        <a:t>IDF</a:t>
                      </a:r>
                    </a:p>
                  </a:txBody>
                  <a:tcPr anchor="ctr">
                    <a:lnL>
                      <a:noFill/>
                    </a:lnL>
                    <a:lnR>
                      <a:noFill/>
                    </a:lnR>
                    <a:lnT>
                      <a:noFill/>
                    </a:lnT>
                    <a:lnB>
                      <a:noFill/>
                    </a:lnB>
                    <a:noFill/>
                  </a:tcPr>
                </a:tc>
                <a:tc>
                  <a:txBody>
                    <a:bodyPr/>
                    <a:lstStyle/>
                    <a:p>
                      <a:pPr>
                        <a:buNone/>
                      </a:pPr>
                      <a:r>
                        <a:rPr lang="en-US" sz="1400" b="1" dirty="0"/>
                        <a:t>TF-IDF</a:t>
                      </a:r>
                    </a:p>
                  </a:txBody>
                  <a:tcPr anchor="ctr">
                    <a:lnL>
                      <a:noFill/>
                    </a:lnL>
                    <a:lnR>
                      <a:noFill/>
                    </a:lnR>
                    <a:lnT>
                      <a:noFill/>
                    </a:lnT>
                    <a:lnB>
                      <a:noFill/>
                    </a:lnB>
                    <a:noFill/>
                  </a:tcPr>
                </a:tc>
                <a:extLst>
                  <a:ext uri="{0D108BD9-81ED-4DB2-BD59-A6C34878D82A}">
                    <a16:rowId xmlns:a16="http://schemas.microsoft.com/office/drawing/2014/main" val="1497695306"/>
                  </a:ext>
                </a:extLst>
              </a:tr>
              <a:tr h="314185">
                <a:tc>
                  <a:txBody>
                    <a:bodyPr/>
                    <a:lstStyle/>
                    <a:p>
                      <a:pPr>
                        <a:buNone/>
                      </a:pPr>
                      <a:r>
                        <a:rPr lang="en-US" sz="1400" dirty="0"/>
                        <a:t>the</a:t>
                      </a:r>
                    </a:p>
                  </a:txBody>
                  <a:tcPr anchor="ctr">
                    <a:lnL>
                      <a:noFill/>
                    </a:lnL>
                    <a:lnR>
                      <a:noFill/>
                    </a:lnR>
                    <a:lnT>
                      <a:noFill/>
                    </a:lnT>
                    <a:lnB>
                      <a:noFill/>
                    </a:lnB>
                    <a:noFill/>
                  </a:tcPr>
                </a:tc>
                <a:tc>
                  <a:txBody>
                    <a:bodyPr/>
                    <a:lstStyle/>
                    <a:p>
                      <a:pPr>
                        <a:buNone/>
                      </a:pPr>
                      <a:r>
                        <a:rPr lang="en-US" sz="1400" dirty="0"/>
                        <a:t>0.25</a:t>
                      </a:r>
                    </a:p>
                  </a:txBody>
                  <a:tcPr anchor="ctr">
                    <a:lnL>
                      <a:noFill/>
                    </a:lnL>
                    <a:lnR>
                      <a:noFill/>
                    </a:lnR>
                    <a:lnT>
                      <a:noFill/>
                    </a:lnT>
                    <a:lnB>
                      <a:noFill/>
                    </a:lnB>
                    <a:noFill/>
                  </a:tcPr>
                </a:tc>
                <a:tc>
                  <a:txBody>
                    <a:bodyPr/>
                    <a:lstStyle/>
                    <a:p>
                      <a:pPr>
                        <a:buNone/>
                      </a:pPr>
                      <a:r>
                        <a:rPr lang="en-US" sz="1400" dirty="0"/>
                        <a:t>0</a:t>
                      </a:r>
                    </a:p>
                  </a:txBody>
                  <a:tcPr anchor="ctr">
                    <a:lnL>
                      <a:noFill/>
                    </a:lnL>
                    <a:lnR>
                      <a:noFill/>
                    </a:lnR>
                    <a:lnT>
                      <a:noFill/>
                    </a:lnT>
                    <a:lnB>
                      <a:noFill/>
                    </a:lnB>
                    <a:noFill/>
                  </a:tcPr>
                </a:tc>
                <a:tc>
                  <a:txBody>
                    <a:bodyPr/>
                    <a:lstStyle/>
                    <a:p>
                      <a:pPr>
                        <a:buNone/>
                      </a:pPr>
                      <a:r>
                        <a:rPr lang="en-US" sz="1400" b="1"/>
                        <a:t>0</a:t>
                      </a:r>
                      <a:endParaRPr lang="en-US" sz="1400"/>
                    </a:p>
                  </a:txBody>
                  <a:tcPr anchor="ctr">
                    <a:lnL>
                      <a:noFill/>
                    </a:lnL>
                    <a:lnR>
                      <a:noFill/>
                    </a:lnR>
                    <a:lnT>
                      <a:noFill/>
                    </a:lnT>
                    <a:lnB>
                      <a:noFill/>
                    </a:lnB>
                    <a:noFill/>
                  </a:tcPr>
                </a:tc>
                <a:extLst>
                  <a:ext uri="{0D108BD9-81ED-4DB2-BD59-A6C34878D82A}">
                    <a16:rowId xmlns:a16="http://schemas.microsoft.com/office/drawing/2014/main" val="4268762740"/>
                  </a:ext>
                </a:extLst>
              </a:tr>
              <a:tr h="314185">
                <a:tc>
                  <a:txBody>
                    <a:bodyPr/>
                    <a:lstStyle/>
                    <a:p>
                      <a:pPr>
                        <a:buNone/>
                      </a:pPr>
                      <a:r>
                        <a:rPr lang="en-US" sz="1400"/>
                        <a:t>sky</a:t>
                      </a:r>
                    </a:p>
                  </a:txBody>
                  <a:tcPr anchor="ctr">
                    <a:lnL>
                      <a:noFill/>
                    </a:lnL>
                    <a:lnR>
                      <a:noFill/>
                    </a:lnR>
                    <a:lnT>
                      <a:noFill/>
                    </a:lnT>
                    <a:lnB>
                      <a:noFill/>
                    </a:lnB>
                    <a:noFill/>
                  </a:tcPr>
                </a:tc>
                <a:tc>
                  <a:txBody>
                    <a:bodyPr/>
                    <a:lstStyle/>
                    <a:p>
                      <a:pPr>
                        <a:buNone/>
                      </a:pPr>
                      <a:r>
                        <a:rPr lang="en-US" sz="1400"/>
                        <a:t>0.25</a:t>
                      </a:r>
                    </a:p>
                  </a:txBody>
                  <a:tcPr anchor="ctr">
                    <a:lnL>
                      <a:noFill/>
                    </a:lnL>
                    <a:lnR>
                      <a:noFill/>
                    </a:lnR>
                    <a:lnT>
                      <a:noFill/>
                    </a:lnT>
                    <a:lnB>
                      <a:noFill/>
                    </a:lnB>
                    <a:noFill/>
                  </a:tcPr>
                </a:tc>
                <a:tc>
                  <a:txBody>
                    <a:bodyPr/>
                    <a:lstStyle/>
                    <a:p>
                      <a:pPr>
                        <a:buNone/>
                      </a:pPr>
                      <a:r>
                        <a:rPr lang="en-US" sz="1400" dirty="0"/>
                        <a:t>0.301</a:t>
                      </a:r>
                    </a:p>
                  </a:txBody>
                  <a:tcPr anchor="ctr">
                    <a:lnL>
                      <a:noFill/>
                    </a:lnL>
                    <a:lnR>
                      <a:noFill/>
                    </a:lnR>
                    <a:lnT>
                      <a:noFill/>
                    </a:lnT>
                    <a:lnB>
                      <a:noFill/>
                    </a:lnB>
                    <a:noFill/>
                  </a:tcPr>
                </a:tc>
                <a:tc>
                  <a:txBody>
                    <a:bodyPr/>
                    <a:lstStyle/>
                    <a:p>
                      <a:pPr>
                        <a:buNone/>
                      </a:pPr>
                      <a:r>
                        <a:rPr lang="en-US" sz="1400" b="1" dirty="0"/>
                        <a:t>0.075</a:t>
                      </a:r>
                      <a:endParaRPr lang="en-US" sz="1400" dirty="0"/>
                    </a:p>
                  </a:txBody>
                  <a:tcPr anchor="ctr">
                    <a:lnL>
                      <a:noFill/>
                    </a:lnL>
                    <a:lnR>
                      <a:noFill/>
                    </a:lnR>
                    <a:lnT>
                      <a:noFill/>
                    </a:lnT>
                    <a:lnB>
                      <a:noFill/>
                    </a:lnB>
                    <a:noFill/>
                  </a:tcPr>
                </a:tc>
                <a:extLst>
                  <a:ext uri="{0D108BD9-81ED-4DB2-BD59-A6C34878D82A}">
                    <a16:rowId xmlns:a16="http://schemas.microsoft.com/office/drawing/2014/main" val="2561354821"/>
                  </a:ext>
                </a:extLst>
              </a:tr>
              <a:tr h="314185">
                <a:tc>
                  <a:txBody>
                    <a:bodyPr/>
                    <a:lstStyle/>
                    <a:p>
                      <a:pPr>
                        <a:buNone/>
                      </a:pPr>
                      <a:r>
                        <a:rPr lang="en-US" sz="1400"/>
                        <a:t>is</a:t>
                      </a:r>
                    </a:p>
                  </a:txBody>
                  <a:tcPr anchor="ctr">
                    <a:lnL>
                      <a:noFill/>
                    </a:lnL>
                    <a:lnR>
                      <a:noFill/>
                    </a:lnR>
                    <a:lnT>
                      <a:noFill/>
                    </a:lnT>
                    <a:lnB>
                      <a:noFill/>
                    </a:lnB>
                    <a:noFill/>
                  </a:tcPr>
                </a:tc>
                <a:tc>
                  <a:txBody>
                    <a:bodyPr/>
                    <a:lstStyle/>
                    <a:p>
                      <a:pPr>
                        <a:buNone/>
                      </a:pPr>
                      <a:r>
                        <a:rPr lang="en-US" sz="1400"/>
                        <a:t>0.25</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dirty="0"/>
                        <a:t>0.031</a:t>
                      </a:r>
                      <a:endParaRPr lang="en-US" sz="1400" dirty="0"/>
                    </a:p>
                  </a:txBody>
                  <a:tcPr anchor="ctr">
                    <a:lnL>
                      <a:noFill/>
                    </a:lnL>
                    <a:lnR>
                      <a:noFill/>
                    </a:lnR>
                    <a:lnT>
                      <a:noFill/>
                    </a:lnT>
                    <a:lnB>
                      <a:noFill/>
                    </a:lnB>
                    <a:noFill/>
                  </a:tcPr>
                </a:tc>
                <a:extLst>
                  <a:ext uri="{0D108BD9-81ED-4DB2-BD59-A6C34878D82A}">
                    <a16:rowId xmlns:a16="http://schemas.microsoft.com/office/drawing/2014/main" val="2250618787"/>
                  </a:ext>
                </a:extLst>
              </a:tr>
              <a:tr h="314185">
                <a:tc>
                  <a:txBody>
                    <a:bodyPr/>
                    <a:lstStyle/>
                    <a:p>
                      <a:pPr>
                        <a:buNone/>
                      </a:pPr>
                      <a:r>
                        <a:rPr lang="en-US" sz="1400" dirty="0"/>
                        <a:t>blue</a:t>
                      </a:r>
                    </a:p>
                  </a:txBody>
                  <a:tcPr anchor="ctr">
                    <a:lnL>
                      <a:noFill/>
                    </a:lnL>
                    <a:lnR>
                      <a:noFill/>
                    </a:lnR>
                    <a:lnT>
                      <a:noFill/>
                    </a:lnT>
                    <a:lnB>
                      <a:noFill/>
                    </a:lnB>
                    <a:noFill/>
                  </a:tcPr>
                </a:tc>
                <a:tc>
                  <a:txBody>
                    <a:bodyPr/>
                    <a:lstStyle/>
                    <a:p>
                      <a:pPr>
                        <a:buNone/>
                      </a:pPr>
                      <a:r>
                        <a:rPr lang="en-US" sz="1400"/>
                        <a:t>0.25</a:t>
                      </a:r>
                    </a:p>
                  </a:txBody>
                  <a:tcPr anchor="ctr">
                    <a:lnL>
                      <a:noFill/>
                    </a:lnL>
                    <a:lnR>
                      <a:noFill/>
                    </a:lnR>
                    <a:lnT>
                      <a:noFill/>
                    </a:lnT>
                    <a:lnB>
                      <a:noFill/>
                    </a:lnB>
                    <a:noFill/>
                  </a:tcPr>
                </a:tc>
                <a:tc>
                  <a:txBody>
                    <a:bodyPr/>
                    <a:lstStyle/>
                    <a:p>
                      <a:pPr>
                        <a:buNone/>
                      </a:pPr>
                      <a:r>
                        <a:rPr lang="en-US" sz="1400"/>
                        <a:t>0.602</a:t>
                      </a:r>
                    </a:p>
                  </a:txBody>
                  <a:tcPr anchor="ctr">
                    <a:lnL>
                      <a:noFill/>
                    </a:lnL>
                    <a:lnR>
                      <a:noFill/>
                    </a:lnR>
                    <a:lnT>
                      <a:noFill/>
                    </a:lnT>
                    <a:lnB>
                      <a:noFill/>
                    </a:lnB>
                    <a:noFill/>
                  </a:tcPr>
                </a:tc>
                <a:tc>
                  <a:txBody>
                    <a:bodyPr/>
                    <a:lstStyle/>
                    <a:p>
                      <a:pPr>
                        <a:buNone/>
                      </a:pPr>
                      <a:r>
                        <a:rPr lang="en-US" sz="1400" b="1" dirty="0"/>
                        <a:t>0.151</a:t>
                      </a:r>
                      <a:endParaRPr lang="en-US" sz="1400" dirty="0"/>
                    </a:p>
                  </a:txBody>
                  <a:tcPr anchor="ctr">
                    <a:lnL>
                      <a:noFill/>
                    </a:lnL>
                    <a:lnR>
                      <a:noFill/>
                    </a:lnR>
                    <a:lnT>
                      <a:noFill/>
                    </a:lnT>
                    <a:lnB>
                      <a:noFill/>
                    </a:lnB>
                    <a:noFill/>
                  </a:tcPr>
                </a:tc>
                <a:extLst>
                  <a:ext uri="{0D108BD9-81ED-4DB2-BD59-A6C34878D82A}">
                    <a16:rowId xmlns:a16="http://schemas.microsoft.com/office/drawing/2014/main" val="1220605142"/>
                  </a:ext>
                </a:extLst>
              </a:tr>
            </a:tbl>
          </a:graphicData>
        </a:graphic>
      </p:graphicFrame>
      <p:graphicFrame>
        <p:nvGraphicFramePr>
          <p:cNvPr id="5" name="Table 4">
            <a:extLst>
              <a:ext uri="{FF2B5EF4-FFF2-40B4-BE49-F238E27FC236}">
                <a16:creationId xmlns:a16="http://schemas.microsoft.com/office/drawing/2014/main" id="{004583A9-39BD-933D-826B-11D640923773}"/>
              </a:ext>
            </a:extLst>
          </p:cNvPr>
          <p:cNvGraphicFramePr>
            <a:graphicFrameLocks noGrp="1"/>
          </p:cNvGraphicFramePr>
          <p:nvPr>
            <p:extLst>
              <p:ext uri="{D42A27DB-BD31-4B8C-83A1-F6EECF244321}">
                <p14:modId xmlns:p14="http://schemas.microsoft.com/office/powerpoint/2010/main" val="3506724815"/>
              </p:ext>
            </p:extLst>
          </p:nvPr>
        </p:nvGraphicFramePr>
        <p:xfrm>
          <a:off x="1077009" y="4570547"/>
          <a:ext cx="4507524" cy="1828800"/>
        </p:xfrm>
        <a:graphic>
          <a:graphicData uri="http://schemas.openxmlformats.org/drawingml/2006/table">
            <a:tbl>
              <a:tblPr/>
              <a:tblGrid>
                <a:gridCol w="1126881">
                  <a:extLst>
                    <a:ext uri="{9D8B030D-6E8A-4147-A177-3AD203B41FA5}">
                      <a16:colId xmlns:a16="http://schemas.microsoft.com/office/drawing/2014/main" val="881982386"/>
                    </a:ext>
                  </a:extLst>
                </a:gridCol>
                <a:gridCol w="1126881">
                  <a:extLst>
                    <a:ext uri="{9D8B030D-6E8A-4147-A177-3AD203B41FA5}">
                      <a16:colId xmlns:a16="http://schemas.microsoft.com/office/drawing/2014/main" val="1329661044"/>
                    </a:ext>
                  </a:extLst>
                </a:gridCol>
                <a:gridCol w="1126881">
                  <a:extLst>
                    <a:ext uri="{9D8B030D-6E8A-4147-A177-3AD203B41FA5}">
                      <a16:colId xmlns:a16="http://schemas.microsoft.com/office/drawing/2014/main" val="164722575"/>
                    </a:ext>
                  </a:extLst>
                </a:gridCol>
                <a:gridCol w="1126881">
                  <a:extLst>
                    <a:ext uri="{9D8B030D-6E8A-4147-A177-3AD203B41FA5}">
                      <a16:colId xmlns:a16="http://schemas.microsoft.com/office/drawing/2014/main" val="3924676410"/>
                    </a:ext>
                  </a:extLst>
                </a:gridCol>
              </a:tblGrid>
              <a:tr h="258948">
                <a:tc>
                  <a:txBody>
                    <a:bodyPr/>
                    <a:lstStyle/>
                    <a:p>
                      <a:pPr>
                        <a:buNone/>
                      </a:pPr>
                      <a:r>
                        <a:rPr lang="en-US" sz="1400" b="1" dirty="0"/>
                        <a:t>Term</a:t>
                      </a:r>
                    </a:p>
                  </a:txBody>
                  <a:tcPr anchor="ctr">
                    <a:lnL>
                      <a:noFill/>
                    </a:lnL>
                    <a:lnR>
                      <a:noFill/>
                    </a:lnR>
                    <a:lnT>
                      <a:noFill/>
                    </a:lnT>
                    <a:lnB>
                      <a:noFill/>
                    </a:lnB>
                    <a:noFill/>
                  </a:tcPr>
                </a:tc>
                <a:tc>
                  <a:txBody>
                    <a:bodyPr/>
                    <a:lstStyle/>
                    <a:p>
                      <a:pPr>
                        <a:buNone/>
                      </a:pPr>
                      <a:r>
                        <a:rPr lang="en-US" sz="1400" b="1" dirty="0"/>
                        <a:t>TF</a:t>
                      </a:r>
                    </a:p>
                  </a:txBody>
                  <a:tcPr anchor="ctr">
                    <a:lnL>
                      <a:noFill/>
                    </a:lnL>
                    <a:lnR>
                      <a:noFill/>
                    </a:lnR>
                    <a:lnT>
                      <a:noFill/>
                    </a:lnT>
                    <a:lnB>
                      <a:noFill/>
                    </a:lnB>
                    <a:noFill/>
                  </a:tcPr>
                </a:tc>
                <a:tc>
                  <a:txBody>
                    <a:bodyPr/>
                    <a:lstStyle/>
                    <a:p>
                      <a:pPr>
                        <a:buNone/>
                      </a:pPr>
                      <a:r>
                        <a:rPr lang="en-US" sz="1400" b="1" dirty="0"/>
                        <a:t>IDF</a:t>
                      </a:r>
                    </a:p>
                  </a:txBody>
                  <a:tcPr anchor="ctr">
                    <a:lnL>
                      <a:noFill/>
                    </a:lnL>
                    <a:lnR>
                      <a:noFill/>
                    </a:lnR>
                    <a:lnT>
                      <a:noFill/>
                    </a:lnT>
                    <a:lnB>
                      <a:noFill/>
                    </a:lnB>
                    <a:noFill/>
                  </a:tcPr>
                </a:tc>
                <a:tc>
                  <a:txBody>
                    <a:bodyPr/>
                    <a:lstStyle/>
                    <a:p>
                      <a:pPr>
                        <a:buNone/>
                      </a:pPr>
                      <a:r>
                        <a:rPr lang="en-US" sz="1400" b="1" dirty="0"/>
                        <a:t>TF-IDF</a:t>
                      </a:r>
                    </a:p>
                  </a:txBody>
                  <a:tcPr anchor="ctr">
                    <a:lnL>
                      <a:noFill/>
                    </a:lnL>
                    <a:lnR>
                      <a:noFill/>
                    </a:lnR>
                    <a:lnT>
                      <a:noFill/>
                    </a:lnT>
                    <a:lnB>
                      <a:noFill/>
                    </a:lnB>
                    <a:noFill/>
                  </a:tcPr>
                </a:tc>
                <a:extLst>
                  <a:ext uri="{0D108BD9-81ED-4DB2-BD59-A6C34878D82A}">
                    <a16:rowId xmlns:a16="http://schemas.microsoft.com/office/drawing/2014/main" val="4248102700"/>
                  </a:ext>
                </a:extLst>
              </a:tr>
              <a:tr h="258948">
                <a:tc>
                  <a:txBody>
                    <a:bodyPr/>
                    <a:lstStyle/>
                    <a:p>
                      <a:pPr>
                        <a:buNone/>
                      </a:pPr>
                      <a:r>
                        <a:rPr lang="en-US" sz="1400"/>
                        <a:t>the</a:t>
                      </a:r>
                    </a:p>
                  </a:txBody>
                  <a:tcPr anchor="ctr">
                    <a:lnL>
                      <a:noFill/>
                    </a:lnL>
                    <a:lnR>
                      <a:noFill/>
                    </a:lnR>
                    <a:lnT>
                      <a:noFill/>
                    </a:lnT>
                    <a:lnB>
                      <a:noFill/>
                    </a:lnB>
                    <a:noFill/>
                  </a:tcPr>
                </a:tc>
                <a:tc>
                  <a:txBody>
                    <a:bodyPr/>
                    <a:lstStyle/>
                    <a:p>
                      <a:pPr>
                        <a:buNone/>
                      </a:pPr>
                      <a:r>
                        <a:rPr lang="en-US" sz="1400"/>
                        <a:t>0.20</a:t>
                      </a:r>
                    </a:p>
                  </a:txBody>
                  <a:tcPr anchor="ctr">
                    <a:lnL>
                      <a:noFill/>
                    </a:lnL>
                    <a:lnR>
                      <a:noFill/>
                    </a:lnR>
                    <a:lnT>
                      <a:noFill/>
                    </a:lnT>
                    <a:lnB>
                      <a:noFill/>
                    </a:lnB>
                    <a:noFill/>
                  </a:tcPr>
                </a:tc>
                <a:tc>
                  <a:txBody>
                    <a:bodyPr/>
                    <a:lstStyle/>
                    <a:p>
                      <a:pPr>
                        <a:buNone/>
                      </a:pPr>
                      <a:r>
                        <a:rPr lang="en-US" sz="1400" dirty="0"/>
                        <a:t>0</a:t>
                      </a:r>
                    </a:p>
                  </a:txBody>
                  <a:tcPr anchor="ctr">
                    <a:lnL>
                      <a:noFill/>
                    </a:lnL>
                    <a:lnR>
                      <a:noFill/>
                    </a:lnR>
                    <a:lnT>
                      <a:noFill/>
                    </a:lnT>
                    <a:lnB>
                      <a:noFill/>
                    </a:lnB>
                    <a:noFill/>
                  </a:tcPr>
                </a:tc>
                <a:tc>
                  <a:txBody>
                    <a:bodyPr/>
                    <a:lstStyle/>
                    <a:p>
                      <a:pPr>
                        <a:buNone/>
                      </a:pPr>
                      <a:r>
                        <a:rPr lang="en-US" sz="1400" b="1"/>
                        <a:t>0</a:t>
                      </a:r>
                      <a:endParaRPr lang="en-US" sz="1400"/>
                    </a:p>
                  </a:txBody>
                  <a:tcPr anchor="ctr">
                    <a:lnL>
                      <a:noFill/>
                    </a:lnL>
                    <a:lnR>
                      <a:noFill/>
                    </a:lnR>
                    <a:lnT>
                      <a:noFill/>
                    </a:lnT>
                    <a:lnB>
                      <a:noFill/>
                    </a:lnB>
                    <a:noFill/>
                  </a:tcPr>
                </a:tc>
                <a:extLst>
                  <a:ext uri="{0D108BD9-81ED-4DB2-BD59-A6C34878D82A}">
                    <a16:rowId xmlns:a16="http://schemas.microsoft.com/office/drawing/2014/main" val="456955525"/>
                  </a:ext>
                </a:extLst>
              </a:tr>
              <a:tr h="258948">
                <a:tc>
                  <a:txBody>
                    <a:bodyPr/>
                    <a:lstStyle/>
                    <a:p>
                      <a:pPr>
                        <a:buNone/>
                      </a:pPr>
                      <a:r>
                        <a:rPr lang="en-US" sz="1400"/>
                        <a:t>sun</a:t>
                      </a:r>
                    </a:p>
                  </a:txBody>
                  <a:tcPr anchor="ctr">
                    <a:lnL>
                      <a:noFill/>
                    </a:lnL>
                    <a:lnR>
                      <a:noFill/>
                    </a:lnR>
                    <a:lnT>
                      <a:noFill/>
                    </a:lnT>
                    <a:lnB>
                      <a:noFill/>
                    </a:lnB>
                    <a:noFill/>
                  </a:tcPr>
                </a:tc>
                <a:tc>
                  <a:txBody>
                    <a:bodyPr/>
                    <a:lstStyle/>
                    <a:p>
                      <a:pPr>
                        <a:buNone/>
                      </a:pPr>
                      <a:r>
                        <a:rPr lang="en-US" sz="1400"/>
                        <a:t>0.20</a:t>
                      </a:r>
                    </a:p>
                  </a:txBody>
                  <a:tcPr anchor="ctr">
                    <a:lnL>
                      <a:noFill/>
                    </a:lnL>
                    <a:lnR>
                      <a:noFill/>
                    </a:lnR>
                    <a:lnT>
                      <a:noFill/>
                    </a:lnT>
                    <a:lnB>
                      <a:noFill/>
                    </a:lnB>
                    <a:noFill/>
                  </a:tcPr>
                </a:tc>
                <a:tc>
                  <a:txBody>
                    <a:bodyPr/>
                    <a:lstStyle/>
                    <a:p>
                      <a:pPr>
                        <a:buNone/>
                      </a:pPr>
                      <a:r>
                        <a:rPr lang="en-US" sz="1400" dirty="0"/>
                        <a:t>0.125</a:t>
                      </a:r>
                    </a:p>
                  </a:txBody>
                  <a:tcPr anchor="ctr">
                    <a:lnL>
                      <a:noFill/>
                    </a:lnL>
                    <a:lnR>
                      <a:noFill/>
                    </a:lnR>
                    <a:lnT>
                      <a:noFill/>
                    </a:lnT>
                    <a:lnB>
                      <a:noFill/>
                    </a:lnB>
                    <a:noFill/>
                  </a:tcPr>
                </a:tc>
                <a:tc>
                  <a:txBody>
                    <a:bodyPr/>
                    <a:lstStyle/>
                    <a:p>
                      <a:pPr>
                        <a:buNone/>
                      </a:pPr>
                      <a:r>
                        <a:rPr lang="en-US" sz="1400" b="1"/>
                        <a:t>0.025</a:t>
                      </a:r>
                      <a:endParaRPr lang="en-US" sz="1400"/>
                    </a:p>
                  </a:txBody>
                  <a:tcPr anchor="ctr">
                    <a:lnL>
                      <a:noFill/>
                    </a:lnL>
                    <a:lnR>
                      <a:noFill/>
                    </a:lnR>
                    <a:lnT>
                      <a:noFill/>
                    </a:lnT>
                    <a:lnB>
                      <a:noFill/>
                    </a:lnB>
                    <a:noFill/>
                  </a:tcPr>
                </a:tc>
                <a:extLst>
                  <a:ext uri="{0D108BD9-81ED-4DB2-BD59-A6C34878D82A}">
                    <a16:rowId xmlns:a16="http://schemas.microsoft.com/office/drawing/2014/main" val="2578369702"/>
                  </a:ext>
                </a:extLst>
              </a:tr>
              <a:tr h="258948">
                <a:tc>
                  <a:txBody>
                    <a:bodyPr/>
                    <a:lstStyle/>
                    <a:p>
                      <a:pPr>
                        <a:buNone/>
                      </a:pPr>
                      <a:r>
                        <a:rPr lang="en-US" sz="1400"/>
                        <a:t>is</a:t>
                      </a:r>
                    </a:p>
                  </a:txBody>
                  <a:tcPr anchor="ctr">
                    <a:lnL>
                      <a:noFill/>
                    </a:lnL>
                    <a:lnR>
                      <a:noFill/>
                    </a:lnR>
                    <a:lnT>
                      <a:noFill/>
                    </a:lnT>
                    <a:lnB>
                      <a:noFill/>
                    </a:lnB>
                    <a:noFill/>
                  </a:tcPr>
                </a:tc>
                <a:tc>
                  <a:txBody>
                    <a:bodyPr/>
                    <a:lstStyle/>
                    <a:p>
                      <a:pPr>
                        <a:buNone/>
                      </a:pPr>
                      <a:r>
                        <a:rPr lang="en-US" sz="1400"/>
                        <a:t>0.20</a:t>
                      </a:r>
                    </a:p>
                  </a:txBody>
                  <a:tcPr anchor="ctr">
                    <a:lnL>
                      <a:noFill/>
                    </a:lnL>
                    <a:lnR>
                      <a:noFill/>
                    </a:lnR>
                    <a:lnT>
                      <a:noFill/>
                    </a:lnT>
                    <a:lnB>
                      <a:noFill/>
                    </a:lnB>
                    <a:noFill/>
                  </a:tcPr>
                </a:tc>
                <a:tc>
                  <a:txBody>
                    <a:bodyPr/>
                    <a:lstStyle/>
                    <a:p>
                      <a:pPr>
                        <a:buNone/>
                      </a:pPr>
                      <a:r>
                        <a:rPr lang="en-US" sz="1400" dirty="0"/>
                        <a:t>0.125</a:t>
                      </a:r>
                    </a:p>
                  </a:txBody>
                  <a:tcPr anchor="ctr">
                    <a:lnL>
                      <a:noFill/>
                    </a:lnL>
                    <a:lnR>
                      <a:noFill/>
                    </a:lnR>
                    <a:lnT>
                      <a:noFill/>
                    </a:lnT>
                    <a:lnB>
                      <a:noFill/>
                    </a:lnB>
                    <a:noFill/>
                  </a:tcPr>
                </a:tc>
                <a:tc>
                  <a:txBody>
                    <a:bodyPr/>
                    <a:lstStyle/>
                    <a:p>
                      <a:pPr>
                        <a:buNone/>
                      </a:pPr>
                      <a:r>
                        <a:rPr lang="en-US" sz="1400" b="1" dirty="0"/>
                        <a:t>0.025</a:t>
                      </a:r>
                      <a:endParaRPr lang="en-US" sz="1400" dirty="0"/>
                    </a:p>
                  </a:txBody>
                  <a:tcPr anchor="ctr">
                    <a:lnL>
                      <a:noFill/>
                    </a:lnL>
                    <a:lnR>
                      <a:noFill/>
                    </a:lnR>
                    <a:lnT>
                      <a:noFill/>
                    </a:lnT>
                    <a:lnB>
                      <a:noFill/>
                    </a:lnB>
                    <a:noFill/>
                  </a:tcPr>
                </a:tc>
                <a:extLst>
                  <a:ext uri="{0D108BD9-81ED-4DB2-BD59-A6C34878D82A}">
                    <a16:rowId xmlns:a16="http://schemas.microsoft.com/office/drawing/2014/main" val="2741334591"/>
                  </a:ext>
                </a:extLst>
              </a:tr>
              <a:tr h="258948">
                <a:tc>
                  <a:txBody>
                    <a:bodyPr/>
                    <a:lstStyle/>
                    <a:p>
                      <a:pPr>
                        <a:buNone/>
                      </a:pPr>
                      <a:r>
                        <a:rPr lang="en-US" sz="1400"/>
                        <a:t>bright</a:t>
                      </a:r>
                    </a:p>
                  </a:txBody>
                  <a:tcPr anchor="ctr">
                    <a:lnL>
                      <a:noFill/>
                    </a:lnL>
                    <a:lnR>
                      <a:noFill/>
                    </a:lnR>
                    <a:lnT>
                      <a:noFill/>
                    </a:lnT>
                    <a:lnB>
                      <a:noFill/>
                    </a:lnB>
                    <a:noFill/>
                  </a:tcPr>
                </a:tc>
                <a:tc>
                  <a:txBody>
                    <a:bodyPr/>
                    <a:lstStyle/>
                    <a:p>
                      <a:pPr>
                        <a:buNone/>
                      </a:pPr>
                      <a:r>
                        <a:rPr lang="en-US" sz="1400"/>
                        <a:t>0.20</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dirty="0"/>
                        <a:t>0.025</a:t>
                      </a:r>
                      <a:endParaRPr lang="en-US" sz="1400" dirty="0"/>
                    </a:p>
                  </a:txBody>
                  <a:tcPr anchor="ctr">
                    <a:lnL>
                      <a:noFill/>
                    </a:lnL>
                    <a:lnR>
                      <a:noFill/>
                    </a:lnR>
                    <a:lnT>
                      <a:noFill/>
                    </a:lnT>
                    <a:lnB>
                      <a:noFill/>
                    </a:lnB>
                    <a:noFill/>
                  </a:tcPr>
                </a:tc>
                <a:extLst>
                  <a:ext uri="{0D108BD9-81ED-4DB2-BD59-A6C34878D82A}">
                    <a16:rowId xmlns:a16="http://schemas.microsoft.com/office/drawing/2014/main" val="3783899921"/>
                  </a:ext>
                </a:extLst>
              </a:tr>
              <a:tr h="258948">
                <a:tc>
                  <a:txBody>
                    <a:bodyPr/>
                    <a:lstStyle/>
                    <a:p>
                      <a:pPr>
                        <a:buNone/>
                      </a:pPr>
                      <a:r>
                        <a:rPr lang="en-US" sz="1400" dirty="0"/>
                        <a:t>today</a:t>
                      </a:r>
                    </a:p>
                  </a:txBody>
                  <a:tcPr anchor="ctr">
                    <a:lnL>
                      <a:noFill/>
                    </a:lnL>
                    <a:lnR>
                      <a:noFill/>
                    </a:lnR>
                    <a:lnT>
                      <a:noFill/>
                    </a:lnT>
                    <a:lnB>
                      <a:noFill/>
                    </a:lnB>
                    <a:noFill/>
                  </a:tcPr>
                </a:tc>
                <a:tc>
                  <a:txBody>
                    <a:bodyPr/>
                    <a:lstStyle/>
                    <a:p>
                      <a:pPr>
                        <a:buNone/>
                      </a:pPr>
                      <a:r>
                        <a:rPr lang="en-US" sz="1400"/>
                        <a:t>0.20</a:t>
                      </a:r>
                    </a:p>
                  </a:txBody>
                  <a:tcPr anchor="ctr">
                    <a:lnL>
                      <a:noFill/>
                    </a:lnL>
                    <a:lnR>
                      <a:noFill/>
                    </a:lnR>
                    <a:lnT>
                      <a:noFill/>
                    </a:lnT>
                    <a:lnB>
                      <a:noFill/>
                    </a:lnB>
                    <a:noFill/>
                  </a:tcPr>
                </a:tc>
                <a:tc>
                  <a:txBody>
                    <a:bodyPr/>
                    <a:lstStyle/>
                    <a:p>
                      <a:pPr>
                        <a:buNone/>
                      </a:pPr>
                      <a:r>
                        <a:rPr lang="en-US" sz="1400"/>
                        <a:t>0.602</a:t>
                      </a:r>
                    </a:p>
                  </a:txBody>
                  <a:tcPr anchor="ctr">
                    <a:lnL>
                      <a:noFill/>
                    </a:lnL>
                    <a:lnR>
                      <a:noFill/>
                    </a:lnR>
                    <a:lnT>
                      <a:noFill/>
                    </a:lnT>
                    <a:lnB>
                      <a:noFill/>
                    </a:lnB>
                    <a:noFill/>
                  </a:tcPr>
                </a:tc>
                <a:tc>
                  <a:txBody>
                    <a:bodyPr/>
                    <a:lstStyle/>
                    <a:p>
                      <a:pPr>
                        <a:buNone/>
                      </a:pPr>
                      <a:r>
                        <a:rPr lang="en-US" sz="1400" b="1" dirty="0"/>
                        <a:t>0.120</a:t>
                      </a:r>
                      <a:endParaRPr lang="en-US" sz="1400" dirty="0"/>
                    </a:p>
                  </a:txBody>
                  <a:tcPr anchor="ctr">
                    <a:lnL>
                      <a:noFill/>
                    </a:lnL>
                    <a:lnR>
                      <a:noFill/>
                    </a:lnR>
                    <a:lnT>
                      <a:noFill/>
                    </a:lnT>
                    <a:lnB>
                      <a:noFill/>
                    </a:lnB>
                    <a:noFill/>
                  </a:tcPr>
                </a:tc>
                <a:extLst>
                  <a:ext uri="{0D108BD9-81ED-4DB2-BD59-A6C34878D82A}">
                    <a16:rowId xmlns:a16="http://schemas.microsoft.com/office/drawing/2014/main" val="3714400713"/>
                  </a:ext>
                </a:extLst>
              </a:tr>
            </a:tbl>
          </a:graphicData>
        </a:graphic>
      </p:graphicFrame>
      <p:graphicFrame>
        <p:nvGraphicFramePr>
          <p:cNvPr id="6" name="Table 5">
            <a:extLst>
              <a:ext uri="{FF2B5EF4-FFF2-40B4-BE49-F238E27FC236}">
                <a16:creationId xmlns:a16="http://schemas.microsoft.com/office/drawing/2014/main" id="{47A73448-8D39-9281-7BB6-FBDBAE06CA38}"/>
              </a:ext>
            </a:extLst>
          </p:cNvPr>
          <p:cNvGraphicFramePr>
            <a:graphicFrameLocks noGrp="1"/>
          </p:cNvGraphicFramePr>
          <p:nvPr>
            <p:extLst>
              <p:ext uri="{D42A27DB-BD31-4B8C-83A1-F6EECF244321}">
                <p14:modId xmlns:p14="http://schemas.microsoft.com/office/powerpoint/2010/main" val="2748305428"/>
              </p:ext>
            </p:extLst>
          </p:nvPr>
        </p:nvGraphicFramePr>
        <p:xfrm>
          <a:off x="7346138" y="1639806"/>
          <a:ext cx="4366848" cy="2133600"/>
        </p:xfrm>
        <a:graphic>
          <a:graphicData uri="http://schemas.openxmlformats.org/drawingml/2006/table">
            <a:tbl>
              <a:tblPr/>
              <a:tblGrid>
                <a:gridCol w="1091712">
                  <a:extLst>
                    <a:ext uri="{9D8B030D-6E8A-4147-A177-3AD203B41FA5}">
                      <a16:colId xmlns:a16="http://schemas.microsoft.com/office/drawing/2014/main" val="3987124106"/>
                    </a:ext>
                  </a:extLst>
                </a:gridCol>
                <a:gridCol w="1091712">
                  <a:extLst>
                    <a:ext uri="{9D8B030D-6E8A-4147-A177-3AD203B41FA5}">
                      <a16:colId xmlns:a16="http://schemas.microsoft.com/office/drawing/2014/main" val="4166120817"/>
                    </a:ext>
                  </a:extLst>
                </a:gridCol>
                <a:gridCol w="1091712">
                  <a:extLst>
                    <a:ext uri="{9D8B030D-6E8A-4147-A177-3AD203B41FA5}">
                      <a16:colId xmlns:a16="http://schemas.microsoft.com/office/drawing/2014/main" val="1564732646"/>
                    </a:ext>
                  </a:extLst>
                </a:gridCol>
                <a:gridCol w="1091712">
                  <a:extLst>
                    <a:ext uri="{9D8B030D-6E8A-4147-A177-3AD203B41FA5}">
                      <a16:colId xmlns:a16="http://schemas.microsoft.com/office/drawing/2014/main" val="1465724517"/>
                    </a:ext>
                  </a:extLst>
                </a:gridCol>
              </a:tblGrid>
              <a:tr h="285762">
                <a:tc>
                  <a:txBody>
                    <a:bodyPr/>
                    <a:lstStyle/>
                    <a:p>
                      <a:pPr>
                        <a:buNone/>
                      </a:pPr>
                      <a:r>
                        <a:rPr lang="en-US" sz="1400" b="1" dirty="0"/>
                        <a:t>Term</a:t>
                      </a:r>
                    </a:p>
                  </a:txBody>
                  <a:tcPr anchor="ctr">
                    <a:lnL>
                      <a:noFill/>
                    </a:lnL>
                    <a:lnR>
                      <a:noFill/>
                    </a:lnR>
                    <a:lnT>
                      <a:noFill/>
                    </a:lnT>
                    <a:lnB>
                      <a:noFill/>
                    </a:lnB>
                    <a:noFill/>
                  </a:tcPr>
                </a:tc>
                <a:tc>
                  <a:txBody>
                    <a:bodyPr/>
                    <a:lstStyle/>
                    <a:p>
                      <a:pPr>
                        <a:buNone/>
                      </a:pPr>
                      <a:r>
                        <a:rPr lang="en-US" sz="1400" b="1" dirty="0"/>
                        <a:t>TF</a:t>
                      </a:r>
                    </a:p>
                  </a:txBody>
                  <a:tcPr anchor="ctr">
                    <a:lnL>
                      <a:noFill/>
                    </a:lnL>
                    <a:lnR>
                      <a:noFill/>
                    </a:lnR>
                    <a:lnT>
                      <a:noFill/>
                    </a:lnT>
                    <a:lnB>
                      <a:noFill/>
                    </a:lnB>
                    <a:noFill/>
                  </a:tcPr>
                </a:tc>
                <a:tc>
                  <a:txBody>
                    <a:bodyPr/>
                    <a:lstStyle/>
                    <a:p>
                      <a:pPr>
                        <a:buNone/>
                      </a:pPr>
                      <a:r>
                        <a:rPr lang="en-US" sz="1400" b="1" dirty="0"/>
                        <a:t>IDF</a:t>
                      </a:r>
                    </a:p>
                  </a:txBody>
                  <a:tcPr anchor="ctr">
                    <a:lnL>
                      <a:noFill/>
                    </a:lnL>
                    <a:lnR>
                      <a:noFill/>
                    </a:lnR>
                    <a:lnT>
                      <a:noFill/>
                    </a:lnT>
                    <a:lnB>
                      <a:noFill/>
                    </a:lnB>
                    <a:noFill/>
                  </a:tcPr>
                </a:tc>
                <a:tc>
                  <a:txBody>
                    <a:bodyPr/>
                    <a:lstStyle/>
                    <a:p>
                      <a:pPr>
                        <a:buNone/>
                      </a:pPr>
                      <a:r>
                        <a:rPr lang="en-US" sz="1400" b="1" dirty="0"/>
                        <a:t>TF-IDF</a:t>
                      </a:r>
                    </a:p>
                  </a:txBody>
                  <a:tcPr anchor="ctr">
                    <a:lnL>
                      <a:noFill/>
                    </a:lnL>
                    <a:lnR>
                      <a:noFill/>
                    </a:lnR>
                    <a:lnT>
                      <a:noFill/>
                    </a:lnT>
                    <a:lnB>
                      <a:noFill/>
                    </a:lnB>
                    <a:noFill/>
                  </a:tcPr>
                </a:tc>
                <a:extLst>
                  <a:ext uri="{0D108BD9-81ED-4DB2-BD59-A6C34878D82A}">
                    <a16:rowId xmlns:a16="http://schemas.microsoft.com/office/drawing/2014/main" val="3965286556"/>
                  </a:ext>
                </a:extLst>
              </a:tr>
              <a:tr h="285762">
                <a:tc>
                  <a:txBody>
                    <a:bodyPr/>
                    <a:lstStyle/>
                    <a:p>
                      <a:pPr>
                        <a:buNone/>
                      </a:pPr>
                      <a:r>
                        <a:rPr lang="en-US" sz="1400" dirty="0"/>
                        <a:t>the</a:t>
                      </a:r>
                    </a:p>
                  </a:txBody>
                  <a:tcPr anchor="ctr">
                    <a:lnL>
                      <a:noFill/>
                    </a:lnL>
                    <a:lnR>
                      <a:noFill/>
                    </a:lnR>
                    <a:lnT>
                      <a:noFill/>
                    </a:lnT>
                    <a:lnB>
                      <a:noFill/>
                    </a:lnB>
                    <a:noFill/>
                  </a:tcPr>
                </a:tc>
                <a:tc>
                  <a:txBody>
                    <a:bodyPr/>
                    <a:lstStyle/>
                    <a:p>
                      <a:pPr>
                        <a:buNone/>
                      </a:pPr>
                      <a:r>
                        <a:rPr lang="en-US" sz="1400" dirty="0"/>
                        <a:t>0.33</a:t>
                      </a:r>
                    </a:p>
                  </a:txBody>
                  <a:tcPr anchor="ctr">
                    <a:lnL>
                      <a:noFill/>
                    </a:lnL>
                    <a:lnR>
                      <a:noFill/>
                    </a:lnR>
                    <a:lnT>
                      <a:noFill/>
                    </a:lnT>
                    <a:lnB>
                      <a:noFill/>
                    </a:lnB>
                    <a:noFill/>
                  </a:tcPr>
                </a:tc>
                <a:tc>
                  <a:txBody>
                    <a:bodyPr/>
                    <a:lstStyle/>
                    <a:p>
                      <a:pPr>
                        <a:buNone/>
                      </a:pPr>
                      <a:r>
                        <a:rPr lang="en-US" sz="1400"/>
                        <a:t>0</a:t>
                      </a:r>
                    </a:p>
                  </a:txBody>
                  <a:tcPr anchor="ctr">
                    <a:lnL>
                      <a:noFill/>
                    </a:lnL>
                    <a:lnR>
                      <a:noFill/>
                    </a:lnR>
                    <a:lnT>
                      <a:noFill/>
                    </a:lnT>
                    <a:lnB>
                      <a:noFill/>
                    </a:lnB>
                    <a:noFill/>
                  </a:tcPr>
                </a:tc>
                <a:tc>
                  <a:txBody>
                    <a:bodyPr/>
                    <a:lstStyle/>
                    <a:p>
                      <a:pPr>
                        <a:buNone/>
                      </a:pPr>
                      <a:r>
                        <a:rPr lang="en-US" sz="1400" b="1"/>
                        <a:t>0</a:t>
                      </a:r>
                      <a:endParaRPr lang="en-US" sz="1400"/>
                    </a:p>
                  </a:txBody>
                  <a:tcPr anchor="ctr">
                    <a:lnL>
                      <a:noFill/>
                    </a:lnL>
                    <a:lnR>
                      <a:noFill/>
                    </a:lnR>
                    <a:lnT>
                      <a:noFill/>
                    </a:lnT>
                    <a:lnB>
                      <a:noFill/>
                    </a:lnB>
                    <a:noFill/>
                  </a:tcPr>
                </a:tc>
                <a:extLst>
                  <a:ext uri="{0D108BD9-81ED-4DB2-BD59-A6C34878D82A}">
                    <a16:rowId xmlns:a16="http://schemas.microsoft.com/office/drawing/2014/main" val="1959776652"/>
                  </a:ext>
                </a:extLst>
              </a:tr>
              <a:tr h="285762">
                <a:tc>
                  <a:txBody>
                    <a:bodyPr/>
                    <a:lstStyle/>
                    <a:p>
                      <a:pPr>
                        <a:buNone/>
                      </a:pPr>
                      <a:r>
                        <a:rPr lang="en-US" sz="1400"/>
                        <a:t>sun</a:t>
                      </a:r>
                    </a:p>
                  </a:txBody>
                  <a:tcPr anchor="ctr">
                    <a:lnL>
                      <a:noFill/>
                    </a:lnL>
                    <a:lnR>
                      <a:noFill/>
                    </a:lnR>
                    <a:lnT>
                      <a:noFill/>
                    </a:lnT>
                    <a:lnB>
                      <a:noFill/>
                    </a:lnB>
                    <a:noFill/>
                  </a:tcPr>
                </a:tc>
                <a:tc>
                  <a:txBody>
                    <a:bodyPr/>
                    <a:lstStyle/>
                    <a:p>
                      <a:pPr>
                        <a:buNone/>
                      </a:pPr>
                      <a:r>
                        <a:rPr lang="en-US" sz="1400" dirty="0"/>
                        <a:t>0.17</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a:t>0.021</a:t>
                      </a:r>
                      <a:endParaRPr lang="en-US" sz="1400"/>
                    </a:p>
                  </a:txBody>
                  <a:tcPr anchor="ctr">
                    <a:lnL>
                      <a:noFill/>
                    </a:lnL>
                    <a:lnR>
                      <a:noFill/>
                    </a:lnR>
                    <a:lnT>
                      <a:noFill/>
                    </a:lnT>
                    <a:lnB>
                      <a:noFill/>
                    </a:lnB>
                    <a:noFill/>
                  </a:tcPr>
                </a:tc>
                <a:extLst>
                  <a:ext uri="{0D108BD9-81ED-4DB2-BD59-A6C34878D82A}">
                    <a16:rowId xmlns:a16="http://schemas.microsoft.com/office/drawing/2014/main" val="2606928592"/>
                  </a:ext>
                </a:extLst>
              </a:tr>
              <a:tr h="285762">
                <a:tc>
                  <a:txBody>
                    <a:bodyPr/>
                    <a:lstStyle/>
                    <a:p>
                      <a:pPr>
                        <a:buNone/>
                      </a:pPr>
                      <a:r>
                        <a:rPr lang="en-US" sz="1400"/>
                        <a:t>in</a:t>
                      </a:r>
                    </a:p>
                  </a:txBody>
                  <a:tcPr anchor="ctr">
                    <a:lnL>
                      <a:noFill/>
                    </a:lnL>
                    <a:lnR>
                      <a:noFill/>
                    </a:lnR>
                    <a:lnT>
                      <a:noFill/>
                    </a:lnT>
                    <a:lnB>
                      <a:noFill/>
                    </a:lnB>
                    <a:noFill/>
                  </a:tcPr>
                </a:tc>
                <a:tc>
                  <a:txBody>
                    <a:bodyPr/>
                    <a:lstStyle/>
                    <a:p>
                      <a:pPr>
                        <a:buNone/>
                      </a:pPr>
                      <a:r>
                        <a:rPr lang="en-US" sz="1400"/>
                        <a:t>0.17</a:t>
                      </a:r>
                    </a:p>
                  </a:txBody>
                  <a:tcPr anchor="ctr">
                    <a:lnL>
                      <a:noFill/>
                    </a:lnL>
                    <a:lnR>
                      <a:noFill/>
                    </a:lnR>
                    <a:lnT>
                      <a:noFill/>
                    </a:lnT>
                    <a:lnB>
                      <a:noFill/>
                    </a:lnB>
                    <a:noFill/>
                  </a:tcPr>
                </a:tc>
                <a:tc>
                  <a:txBody>
                    <a:bodyPr/>
                    <a:lstStyle/>
                    <a:p>
                      <a:pPr>
                        <a:buNone/>
                      </a:pPr>
                      <a:r>
                        <a:rPr lang="en-US" sz="1400" dirty="0"/>
                        <a:t>0.602</a:t>
                      </a:r>
                    </a:p>
                  </a:txBody>
                  <a:tcPr anchor="ctr">
                    <a:lnL>
                      <a:noFill/>
                    </a:lnL>
                    <a:lnR>
                      <a:noFill/>
                    </a:lnR>
                    <a:lnT>
                      <a:noFill/>
                    </a:lnT>
                    <a:lnB>
                      <a:noFill/>
                    </a:lnB>
                    <a:noFill/>
                  </a:tcPr>
                </a:tc>
                <a:tc>
                  <a:txBody>
                    <a:bodyPr/>
                    <a:lstStyle/>
                    <a:p>
                      <a:pPr>
                        <a:buNone/>
                      </a:pPr>
                      <a:r>
                        <a:rPr lang="en-US" sz="1400" b="1"/>
                        <a:t>0.100</a:t>
                      </a:r>
                      <a:endParaRPr lang="en-US" sz="1400"/>
                    </a:p>
                  </a:txBody>
                  <a:tcPr anchor="ctr">
                    <a:lnL>
                      <a:noFill/>
                    </a:lnL>
                    <a:lnR>
                      <a:noFill/>
                    </a:lnR>
                    <a:lnT>
                      <a:noFill/>
                    </a:lnT>
                    <a:lnB>
                      <a:noFill/>
                    </a:lnB>
                    <a:noFill/>
                  </a:tcPr>
                </a:tc>
                <a:extLst>
                  <a:ext uri="{0D108BD9-81ED-4DB2-BD59-A6C34878D82A}">
                    <a16:rowId xmlns:a16="http://schemas.microsoft.com/office/drawing/2014/main" val="2068194501"/>
                  </a:ext>
                </a:extLst>
              </a:tr>
              <a:tr h="285762">
                <a:tc>
                  <a:txBody>
                    <a:bodyPr/>
                    <a:lstStyle/>
                    <a:p>
                      <a:pPr>
                        <a:buNone/>
                      </a:pPr>
                      <a:r>
                        <a:rPr lang="en-US" sz="1400"/>
                        <a:t>sky</a:t>
                      </a:r>
                    </a:p>
                  </a:txBody>
                  <a:tcPr anchor="ctr">
                    <a:lnL>
                      <a:noFill/>
                    </a:lnL>
                    <a:lnR>
                      <a:noFill/>
                    </a:lnR>
                    <a:lnT>
                      <a:noFill/>
                    </a:lnT>
                    <a:lnB>
                      <a:noFill/>
                    </a:lnB>
                    <a:noFill/>
                  </a:tcPr>
                </a:tc>
                <a:tc>
                  <a:txBody>
                    <a:bodyPr/>
                    <a:lstStyle/>
                    <a:p>
                      <a:pPr>
                        <a:buNone/>
                      </a:pPr>
                      <a:r>
                        <a:rPr lang="en-US" sz="1400"/>
                        <a:t>0.17</a:t>
                      </a:r>
                    </a:p>
                  </a:txBody>
                  <a:tcPr anchor="ctr">
                    <a:lnL>
                      <a:noFill/>
                    </a:lnL>
                    <a:lnR>
                      <a:noFill/>
                    </a:lnR>
                    <a:lnT>
                      <a:noFill/>
                    </a:lnT>
                    <a:lnB>
                      <a:noFill/>
                    </a:lnB>
                    <a:noFill/>
                  </a:tcPr>
                </a:tc>
                <a:tc>
                  <a:txBody>
                    <a:bodyPr/>
                    <a:lstStyle/>
                    <a:p>
                      <a:pPr>
                        <a:buNone/>
                      </a:pPr>
                      <a:r>
                        <a:rPr lang="en-US" sz="1400" dirty="0"/>
                        <a:t>0.301</a:t>
                      </a:r>
                    </a:p>
                  </a:txBody>
                  <a:tcPr anchor="ctr">
                    <a:lnL>
                      <a:noFill/>
                    </a:lnL>
                    <a:lnR>
                      <a:noFill/>
                    </a:lnR>
                    <a:lnT>
                      <a:noFill/>
                    </a:lnT>
                    <a:lnB>
                      <a:noFill/>
                    </a:lnB>
                    <a:noFill/>
                  </a:tcPr>
                </a:tc>
                <a:tc>
                  <a:txBody>
                    <a:bodyPr/>
                    <a:lstStyle/>
                    <a:p>
                      <a:pPr>
                        <a:buNone/>
                      </a:pPr>
                      <a:r>
                        <a:rPr lang="en-US" sz="1400" b="1"/>
                        <a:t>0.050</a:t>
                      </a:r>
                      <a:endParaRPr lang="en-US" sz="1400"/>
                    </a:p>
                  </a:txBody>
                  <a:tcPr anchor="ctr">
                    <a:lnL>
                      <a:noFill/>
                    </a:lnL>
                    <a:lnR>
                      <a:noFill/>
                    </a:lnR>
                    <a:lnT>
                      <a:noFill/>
                    </a:lnT>
                    <a:lnB>
                      <a:noFill/>
                    </a:lnB>
                    <a:noFill/>
                  </a:tcPr>
                </a:tc>
                <a:extLst>
                  <a:ext uri="{0D108BD9-81ED-4DB2-BD59-A6C34878D82A}">
                    <a16:rowId xmlns:a16="http://schemas.microsoft.com/office/drawing/2014/main" val="4106407802"/>
                  </a:ext>
                </a:extLst>
              </a:tr>
              <a:tr h="285762">
                <a:tc>
                  <a:txBody>
                    <a:bodyPr/>
                    <a:lstStyle/>
                    <a:p>
                      <a:pPr>
                        <a:buNone/>
                      </a:pPr>
                      <a:r>
                        <a:rPr lang="en-US" sz="1400"/>
                        <a:t>is</a:t>
                      </a:r>
                    </a:p>
                  </a:txBody>
                  <a:tcPr anchor="ctr">
                    <a:lnL>
                      <a:noFill/>
                    </a:lnL>
                    <a:lnR>
                      <a:noFill/>
                    </a:lnR>
                    <a:lnT>
                      <a:noFill/>
                    </a:lnT>
                    <a:lnB>
                      <a:noFill/>
                    </a:lnB>
                    <a:noFill/>
                  </a:tcPr>
                </a:tc>
                <a:tc>
                  <a:txBody>
                    <a:bodyPr/>
                    <a:lstStyle/>
                    <a:p>
                      <a:pPr>
                        <a:buNone/>
                      </a:pPr>
                      <a:r>
                        <a:rPr lang="en-US" sz="1400"/>
                        <a:t>0.17</a:t>
                      </a:r>
                    </a:p>
                  </a:txBody>
                  <a:tcPr anchor="ctr">
                    <a:lnL>
                      <a:noFill/>
                    </a:lnL>
                    <a:lnR>
                      <a:noFill/>
                    </a:lnR>
                    <a:lnT>
                      <a:noFill/>
                    </a:lnT>
                    <a:lnB>
                      <a:noFill/>
                    </a:lnB>
                    <a:noFill/>
                  </a:tcPr>
                </a:tc>
                <a:tc>
                  <a:txBody>
                    <a:bodyPr/>
                    <a:lstStyle/>
                    <a:p>
                      <a:pPr>
                        <a:buNone/>
                      </a:pPr>
                      <a:r>
                        <a:rPr lang="en-US" sz="1400" dirty="0"/>
                        <a:t>0.125</a:t>
                      </a:r>
                    </a:p>
                  </a:txBody>
                  <a:tcPr anchor="ctr">
                    <a:lnL>
                      <a:noFill/>
                    </a:lnL>
                    <a:lnR>
                      <a:noFill/>
                    </a:lnR>
                    <a:lnT>
                      <a:noFill/>
                    </a:lnT>
                    <a:lnB>
                      <a:noFill/>
                    </a:lnB>
                    <a:noFill/>
                  </a:tcPr>
                </a:tc>
                <a:tc>
                  <a:txBody>
                    <a:bodyPr/>
                    <a:lstStyle/>
                    <a:p>
                      <a:pPr>
                        <a:buNone/>
                      </a:pPr>
                      <a:r>
                        <a:rPr lang="en-US" sz="1400" b="1"/>
                        <a:t>0.021</a:t>
                      </a:r>
                      <a:endParaRPr lang="en-US" sz="1400"/>
                    </a:p>
                  </a:txBody>
                  <a:tcPr anchor="ctr">
                    <a:lnL>
                      <a:noFill/>
                    </a:lnL>
                    <a:lnR>
                      <a:noFill/>
                    </a:lnR>
                    <a:lnT>
                      <a:noFill/>
                    </a:lnT>
                    <a:lnB>
                      <a:noFill/>
                    </a:lnB>
                    <a:noFill/>
                  </a:tcPr>
                </a:tc>
                <a:extLst>
                  <a:ext uri="{0D108BD9-81ED-4DB2-BD59-A6C34878D82A}">
                    <a16:rowId xmlns:a16="http://schemas.microsoft.com/office/drawing/2014/main" val="2921875465"/>
                  </a:ext>
                </a:extLst>
              </a:tr>
              <a:tr h="285762">
                <a:tc>
                  <a:txBody>
                    <a:bodyPr/>
                    <a:lstStyle/>
                    <a:p>
                      <a:pPr>
                        <a:buNone/>
                      </a:pPr>
                      <a:r>
                        <a:rPr lang="en-US" sz="1400"/>
                        <a:t>bright</a:t>
                      </a:r>
                    </a:p>
                  </a:txBody>
                  <a:tcPr anchor="ctr">
                    <a:lnL>
                      <a:noFill/>
                    </a:lnL>
                    <a:lnR>
                      <a:noFill/>
                    </a:lnR>
                    <a:lnT>
                      <a:noFill/>
                    </a:lnT>
                    <a:lnB>
                      <a:noFill/>
                    </a:lnB>
                    <a:noFill/>
                  </a:tcPr>
                </a:tc>
                <a:tc>
                  <a:txBody>
                    <a:bodyPr/>
                    <a:lstStyle/>
                    <a:p>
                      <a:pPr>
                        <a:buNone/>
                      </a:pPr>
                      <a:r>
                        <a:rPr lang="en-US" sz="1400"/>
                        <a:t>0.17</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dirty="0"/>
                        <a:t>0.021</a:t>
                      </a:r>
                      <a:endParaRPr lang="en-US" sz="1400" dirty="0"/>
                    </a:p>
                  </a:txBody>
                  <a:tcPr anchor="ctr">
                    <a:lnL>
                      <a:noFill/>
                    </a:lnL>
                    <a:lnR>
                      <a:noFill/>
                    </a:lnR>
                    <a:lnT>
                      <a:noFill/>
                    </a:lnT>
                    <a:lnB>
                      <a:noFill/>
                    </a:lnB>
                    <a:noFill/>
                  </a:tcPr>
                </a:tc>
                <a:extLst>
                  <a:ext uri="{0D108BD9-81ED-4DB2-BD59-A6C34878D82A}">
                    <a16:rowId xmlns:a16="http://schemas.microsoft.com/office/drawing/2014/main" val="1115916383"/>
                  </a:ext>
                </a:extLst>
              </a:tr>
            </a:tbl>
          </a:graphicData>
        </a:graphic>
      </p:graphicFrame>
      <p:graphicFrame>
        <p:nvGraphicFramePr>
          <p:cNvPr id="9" name="Table 8">
            <a:extLst>
              <a:ext uri="{FF2B5EF4-FFF2-40B4-BE49-F238E27FC236}">
                <a16:creationId xmlns:a16="http://schemas.microsoft.com/office/drawing/2014/main" id="{626A32FC-4EA1-E0F6-55E7-0B4356D8C34E}"/>
              </a:ext>
            </a:extLst>
          </p:cNvPr>
          <p:cNvGraphicFramePr>
            <a:graphicFrameLocks noGrp="1"/>
          </p:cNvGraphicFramePr>
          <p:nvPr>
            <p:extLst>
              <p:ext uri="{D42A27DB-BD31-4B8C-83A1-F6EECF244321}">
                <p14:modId xmlns:p14="http://schemas.microsoft.com/office/powerpoint/2010/main" val="1565857210"/>
              </p:ext>
            </p:extLst>
          </p:nvPr>
        </p:nvGraphicFramePr>
        <p:xfrm>
          <a:off x="7379852" y="3998994"/>
          <a:ext cx="4299420" cy="2438400"/>
        </p:xfrm>
        <a:graphic>
          <a:graphicData uri="http://schemas.openxmlformats.org/drawingml/2006/table">
            <a:tbl>
              <a:tblPr/>
              <a:tblGrid>
                <a:gridCol w="1074855">
                  <a:extLst>
                    <a:ext uri="{9D8B030D-6E8A-4147-A177-3AD203B41FA5}">
                      <a16:colId xmlns:a16="http://schemas.microsoft.com/office/drawing/2014/main" val="3987909833"/>
                    </a:ext>
                  </a:extLst>
                </a:gridCol>
                <a:gridCol w="1074855">
                  <a:extLst>
                    <a:ext uri="{9D8B030D-6E8A-4147-A177-3AD203B41FA5}">
                      <a16:colId xmlns:a16="http://schemas.microsoft.com/office/drawing/2014/main" val="638441825"/>
                    </a:ext>
                  </a:extLst>
                </a:gridCol>
                <a:gridCol w="1074855">
                  <a:extLst>
                    <a:ext uri="{9D8B030D-6E8A-4147-A177-3AD203B41FA5}">
                      <a16:colId xmlns:a16="http://schemas.microsoft.com/office/drawing/2014/main" val="1309753557"/>
                    </a:ext>
                  </a:extLst>
                </a:gridCol>
                <a:gridCol w="1074855">
                  <a:extLst>
                    <a:ext uri="{9D8B030D-6E8A-4147-A177-3AD203B41FA5}">
                      <a16:colId xmlns:a16="http://schemas.microsoft.com/office/drawing/2014/main" val="1189732355"/>
                    </a:ext>
                  </a:extLst>
                </a:gridCol>
              </a:tblGrid>
              <a:tr h="280632">
                <a:tc>
                  <a:txBody>
                    <a:bodyPr/>
                    <a:lstStyle/>
                    <a:p>
                      <a:pPr>
                        <a:buNone/>
                      </a:pPr>
                      <a:r>
                        <a:rPr lang="en-US" sz="1400" b="1" dirty="0"/>
                        <a:t>Term</a:t>
                      </a:r>
                    </a:p>
                  </a:txBody>
                  <a:tcPr anchor="ctr">
                    <a:lnL>
                      <a:noFill/>
                    </a:lnL>
                    <a:lnR>
                      <a:noFill/>
                    </a:lnR>
                    <a:lnT>
                      <a:noFill/>
                    </a:lnT>
                    <a:lnB>
                      <a:noFill/>
                    </a:lnB>
                    <a:noFill/>
                  </a:tcPr>
                </a:tc>
                <a:tc>
                  <a:txBody>
                    <a:bodyPr/>
                    <a:lstStyle/>
                    <a:p>
                      <a:pPr>
                        <a:buNone/>
                      </a:pPr>
                      <a:r>
                        <a:rPr lang="en-US" sz="1400" b="1"/>
                        <a:t>TF</a:t>
                      </a:r>
                    </a:p>
                  </a:txBody>
                  <a:tcPr anchor="ctr">
                    <a:lnL>
                      <a:noFill/>
                    </a:lnL>
                    <a:lnR>
                      <a:noFill/>
                    </a:lnR>
                    <a:lnT>
                      <a:noFill/>
                    </a:lnT>
                    <a:lnB>
                      <a:noFill/>
                    </a:lnB>
                    <a:noFill/>
                  </a:tcPr>
                </a:tc>
                <a:tc>
                  <a:txBody>
                    <a:bodyPr/>
                    <a:lstStyle/>
                    <a:p>
                      <a:pPr>
                        <a:buNone/>
                      </a:pPr>
                      <a:r>
                        <a:rPr lang="en-US" sz="1400" b="1"/>
                        <a:t>IDF</a:t>
                      </a:r>
                    </a:p>
                  </a:txBody>
                  <a:tcPr anchor="ctr">
                    <a:lnL>
                      <a:noFill/>
                    </a:lnL>
                    <a:lnR>
                      <a:noFill/>
                    </a:lnR>
                    <a:lnT>
                      <a:noFill/>
                    </a:lnT>
                    <a:lnB>
                      <a:noFill/>
                    </a:lnB>
                    <a:noFill/>
                  </a:tcPr>
                </a:tc>
                <a:tc>
                  <a:txBody>
                    <a:bodyPr/>
                    <a:lstStyle/>
                    <a:p>
                      <a:pPr>
                        <a:buNone/>
                      </a:pPr>
                      <a:r>
                        <a:rPr lang="en-US" sz="1400" b="1" dirty="0"/>
                        <a:t>TF-IDF</a:t>
                      </a:r>
                    </a:p>
                  </a:txBody>
                  <a:tcPr anchor="ctr">
                    <a:lnL>
                      <a:noFill/>
                    </a:lnL>
                    <a:lnR>
                      <a:noFill/>
                    </a:lnR>
                    <a:lnT>
                      <a:noFill/>
                    </a:lnT>
                    <a:lnB>
                      <a:noFill/>
                    </a:lnB>
                    <a:noFill/>
                  </a:tcPr>
                </a:tc>
                <a:extLst>
                  <a:ext uri="{0D108BD9-81ED-4DB2-BD59-A6C34878D82A}">
                    <a16:rowId xmlns:a16="http://schemas.microsoft.com/office/drawing/2014/main" val="926979457"/>
                  </a:ext>
                </a:extLst>
              </a:tr>
              <a:tr h="280632">
                <a:tc>
                  <a:txBody>
                    <a:bodyPr/>
                    <a:lstStyle/>
                    <a:p>
                      <a:pPr>
                        <a:buNone/>
                      </a:pPr>
                      <a:r>
                        <a:rPr lang="en-US" sz="1400" dirty="0"/>
                        <a:t>we</a:t>
                      </a:r>
                    </a:p>
                  </a:txBody>
                  <a:tcPr anchor="ctr">
                    <a:lnL>
                      <a:noFill/>
                    </a:lnL>
                    <a:lnR>
                      <a:noFill/>
                    </a:lnR>
                    <a:lnT>
                      <a:noFill/>
                    </a:lnT>
                    <a:lnB>
                      <a:noFill/>
                    </a:lnB>
                    <a:noFill/>
                  </a:tcPr>
                </a:tc>
                <a:tc>
                  <a:txBody>
                    <a:bodyPr/>
                    <a:lstStyle/>
                    <a:p>
                      <a:pPr>
                        <a:buNone/>
                      </a:pPr>
                      <a:r>
                        <a:rPr lang="en-US" sz="1400" dirty="0"/>
                        <a:t>0.125</a:t>
                      </a:r>
                    </a:p>
                  </a:txBody>
                  <a:tcPr anchor="ctr">
                    <a:lnL>
                      <a:noFill/>
                    </a:lnL>
                    <a:lnR>
                      <a:noFill/>
                    </a:lnR>
                    <a:lnT>
                      <a:noFill/>
                    </a:lnT>
                    <a:lnB>
                      <a:noFill/>
                    </a:lnB>
                    <a:noFill/>
                  </a:tcPr>
                </a:tc>
                <a:tc>
                  <a:txBody>
                    <a:bodyPr/>
                    <a:lstStyle/>
                    <a:p>
                      <a:pPr>
                        <a:buNone/>
                      </a:pPr>
                      <a:r>
                        <a:rPr lang="en-US" sz="1400" dirty="0"/>
                        <a:t>0.602</a:t>
                      </a:r>
                    </a:p>
                  </a:txBody>
                  <a:tcPr anchor="ctr">
                    <a:lnL>
                      <a:noFill/>
                    </a:lnL>
                    <a:lnR>
                      <a:noFill/>
                    </a:lnR>
                    <a:lnT>
                      <a:noFill/>
                    </a:lnT>
                    <a:lnB>
                      <a:noFill/>
                    </a:lnB>
                    <a:noFill/>
                  </a:tcPr>
                </a:tc>
                <a:tc>
                  <a:txBody>
                    <a:bodyPr/>
                    <a:lstStyle/>
                    <a:p>
                      <a:pPr>
                        <a:buNone/>
                      </a:pPr>
                      <a:r>
                        <a:rPr lang="en-US" sz="1400" b="1"/>
                        <a:t>0.075</a:t>
                      </a:r>
                      <a:endParaRPr lang="en-US" sz="1400"/>
                    </a:p>
                  </a:txBody>
                  <a:tcPr anchor="ctr">
                    <a:lnL>
                      <a:noFill/>
                    </a:lnL>
                    <a:lnR>
                      <a:noFill/>
                    </a:lnR>
                    <a:lnT>
                      <a:noFill/>
                    </a:lnT>
                    <a:lnB>
                      <a:noFill/>
                    </a:lnB>
                    <a:noFill/>
                  </a:tcPr>
                </a:tc>
                <a:extLst>
                  <a:ext uri="{0D108BD9-81ED-4DB2-BD59-A6C34878D82A}">
                    <a16:rowId xmlns:a16="http://schemas.microsoft.com/office/drawing/2014/main" val="403105290"/>
                  </a:ext>
                </a:extLst>
              </a:tr>
              <a:tr h="280632">
                <a:tc>
                  <a:txBody>
                    <a:bodyPr/>
                    <a:lstStyle/>
                    <a:p>
                      <a:pPr>
                        <a:buNone/>
                      </a:pPr>
                      <a:r>
                        <a:rPr lang="en-US" sz="1400"/>
                        <a:t>can</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dirty="0"/>
                        <a:t>0.602</a:t>
                      </a:r>
                    </a:p>
                  </a:txBody>
                  <a:tcPr anchor="ctr">
                    <a:lnL>
                      <a:noFill/>
                    </a:lnL>
                    <a:lnR>
                      <a:noFill/>
                    </a:lnR>
                    <a:lnT>
                      <a:noFill/>
                    </a:lnT>
                    <a:lnB>
                      <a:noFill/>
                    </a:lnB>
                    <a:noFill/>
                  </a:tcPr>
                </a:tc>
                <a:tc>
                  <a:txBody>
                    <a:bodyPr/>
                    <a:lstStyle/>
                    <a:p>
                      <a:pPr>
                        <a:buNone/>
                      </a:pPr>
                      <a:r>
                        <a:rPr lang="en-US" sz="1400" b="1"/>
                        <a:t>0.075</a:t>
                      </a:r>
                      <a:endParaRPr lang="en-US" sz="1400"/>
                    </a:p>
                  </a:txBody>
                  <a:tcPr anchor="ctr">
                    <a:lnL>
                      <a:noFill/>
                    </a:lnL>
                    <a:lnR>
                      <a:noFill/>
                    </a:lnR>
                    <a:lnT>
                      <a:noFill/>
                    </a:lnT>
                    <a:lnB>
                      <a:noFill/>
                    </a:lnB>
                    <a:noFill/>
                  </a:tcPr>
                </a:tc>
                <a:extLst>
                  <a:ext uri="{0D108BD9-81ED-4DB2-BD59-A6C34878D82A}">
                    <a16:rowId xmlns:a16="http://schemas.microsoft.com/office/drawing/2014/main" val="1740769619"/>
                  </a:ext>
                </a:extLst>
              </a:tr>
              <a:tr h="280632">
                <a:tc>
                  <a:txBody>
                    <a:bodyPr/>
                    <a:lstStyle/>
                    <a:p>
                      <a:pPr>
                        <a:buNone/>
                      </a:pPr>
                      <a:r>
                        <a:rPr lang="en-US" sz="1400"/>
                        <a:t>see</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dirty="0"/>
                        <a:t>0.602</a:t>
                      </a:r>
                    </a:p>
                  </a:txBody>
                  <a:tcPr anchor="ctr">
                    <a:lnL>
                      <a:noFill/>
                    </a:lnL>
                    <a:lnR>
                      <a:noFill/>
                    </a:lnR>
                    <a:lnT>
                      <a:noFill/>
                    </a:lnT>
                    <a:lnB>
                      <a:noFill/>
                    </a:lnB>
                    <a:noFill/>
                  </a:tcPr>
                </a:tc>
                <a:tc>
                  <a:txBody>
                    <a:bodyPr/>
                    <a:lstStyle/>
                    <a:p>
                      <a:pPr>
                        <a:buNone/>
                      </a:pPr>
                      <a:r>
                        <a:rPr lang="en-US" sz="1400" b="1"/>
                        <a:t>0.075</a:t>
                      </a:r>
                      <a:endParaRPr lang="en-US" sz="1400"/>
                    </a:p>
                  </a:txBody>
                  <a:tcPr anchor="ctr">
                    <a:lnL>
                      <a:noFill/>
                    </a:lnL>
                    <a:lnR>
                      <a:noFill/>
                    </a:lnR>
                    <a:lnT>
                      <a:noFill/>
                    </a:lnT>
                    <a:lnB>
                      <a:noFill/>
                    </a:lnB>
                    <a:noFill/>
                  </a:tcPr>
                </a:tc>
                <a:extLst>
                  <a:ext uri="{0D108BD9-81ED-4DB2-BD59-A6C34878D82A}">
                    <a16:rowId xmlns:a16="http://schemas.microsoft.com/office/drawing/2014/main" val="725636682"/>
                  </a:ext>
                </a:extLst>
              </a:tr>
              <a:tr h="280632">
                <a:tc>
                  <a:txBody>
                    <a:bodyPr/>
                    <a:lstStyle/>
                    <a:p>
                      <a:pPr>
                        <a:buNone/>
                      </a:pPr>
                      <a:r>
                        <a:rPr lang="en-US" sz="1400"/>
                        <a:t>shining</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dirty="0"/>
                        <a:t>0.602</a:t>
                      </a:r>
                    </a:p>
                  </a:txBody>
                  <a:tcPr anchor="ctr">
                    <a:lnL>
                      <a:noFill/>
                    </a:lnL>
                    <a:lnR>
                      <a:noFill/>
                    </a:lnR>
                    <a:lnT>
                      <a:noFill/>
                    </a:lnT>
                    <a:lnB>
                      <a:noFill/>
                    </a:lnB>
                    <a:noFill/>
                  </a:tcPr>
                </a:tc>
                <a:tc>
                  <a:txBody>
                    <a:bodyPr/>
                    <a:lstStyle/>
                    <a:p>
                      <a:pPr>
                        <a:buNone/>
                      </a:pPr>
                      <a:r>
                        <a:rPr lang="en-US" sz="1400" b="1"/>
                        <a:t>0.075</a:t>
                      </a:r>
                      <a:endParaRPr lang="en-US" sz="1400"/>
                    </a:p>
                  </a:txBody>
                  <a:tcPr anchor="ctr">
                    <a:lnL>
                      <a:noFill/>
                    </a:lnL>
                    <a:lnR>
                      <a:noFill/>
                    </a:lnR>
                    <a:lnT>
                      <a:noFill/>
                    </a:lnT>
                    <a:lnB>
                      <a:noFill/>
                    </a:lnB>
                    <a:noFill/>
                  </a:tcPr>
                </a:tc>
                <a:extLst>
                  <a:ext uri="{0D108BD9-81ED-4DB2-BD59-A6C34878D82A}">
                    <a16:rowId xmlns:a16="http://schemas.microsoft.com/office/drawing/2014/main" val="649890276"/>
                  </a:ext>
                </a:extLst>
              </a:tr>
              <a:tr h="280632">
                <a:tc>
                  <a:txBody>
                    <a:bodyPr/>
                    <a:lstStyle/>
                    <a:p>
                      <a:pPr>
                        <a:buNone/>
                      </a:pPr>
                      <a:r>
                        <a:rPr lang="en-US" sz="1400"/>
                        <a:t>sun</a:t>
                      </a:r>
                    </a:p>
                  </a:txBody>
                  <a:tcPr anchor="ctr">
                    <a:lnL>
                      <a:noFill/>
                    </a:lnL>
                    <a:lnR>
                      <a:noFill/>
                    </a:lnR>
                    <a:lnT>
                      <a:noFill/>
                    </a:lnT>
                    <a:lnB>
                      <a:noFill/>
                    </a:lnB>
                    <a:noFill/>
                  </a:tcPr>
                </a:tc>
                <a:tc>
                  <a:txBody>
                    <a:bodyPr/>
                    <a:lstStyle/>
                    <a:p>
                      <a:pPr>
                        <a:buNone/>
                      </a:pPr>
                      <a:r>
                        <a:rPr lang="en-US" sz="1400"/>
                        <a:t>0.25</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dirty="0"/>
                        <a:t>0.031</a:t>
                      </a:r>
                      <a:endParaRPr lang="en-US" sz="1400" dirty="0"/>
                    </a:p>
                  </a:txBody>
                  <a:tcPr anchor="ctr">
                    <a:lnL>
                      <a:noFill/>
                    </a:lnL>
                    <a:lnR>
                      <a:noFill/>
                    </a:lnR>
                    <a:lnT>
                      <a:noFill/>
                    </a:lnT>
                    <a:lnB>
                      <a:noFill/>
                    </a:lnB>
                    <a:noFill/>
                  </a:tcPr>
                </a:tc>
                <a:extLst>
                  <a:ext uri="{0D108BD9-81ED-4DB2-BD59-A6C34878D82A}">
                    <a16:rowId xmlns:a16="http://schemas.microsoft.com/office/drawing/2014/main" val="1499644641"/>
                  </a:ext>
                </a:extLst>
              </a:tr>
              <a:tr h="280632">
                <a:tc>
                  <a:txBody>
                    <a:bodyPr/>
                    <a:lstStyle/>
                    <a:p>
                      <a:pPr>
                        <a:buNone/>
                      </a:pPr>
                      <a:r>
                        <a:rPr lang="en-US" sz="1400"/>
                        <a:t>the</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a:t>0</a:t>
                      </a:r>
                    </a:p>
                  </a:txBody>
                  <a:tcPr anchor="ctr">
                    <a:lnL>
                      <a:noFill/>
                    </a:lnL>
                    <a:lnR>
                      <a:noFill/>
                    </a:lnR>
                    <a:lnT>
                      <a:noFill/>
                    </a:lnT>
                    <a:lnB>
                      <a:noFill/>
                    </a:lnB>
                    <a:noFill/>
                  </a:tcPr>
                </a:tc>
                <a:tc>
                  <a:txBody>
                    <a:bodyPr/>
                    <a:lstStyle/>
                    <a:p>
                      <a:pPr>
                        <a:buNone/>
                      </a:pPr>
                      <a:r>
                        <a:rPr lang="en-US" sz="1400" b="1" dirty="0"/>
                        <a:t>0</a:t>
                      </a:r>
                      <a:endParaRPr lang="en-US" sz="1400" dirty="0"/>
                    </a:p>
                  </a:txBody>
                  <a:tcPr anchor="ctr">
                    <a:lnL>
                      <a:noFill/>
                    </a:lnL>
                    <a:lnR>
                      <a:noFill/>
                    </a:lnR>
                    <a:lnT>
                      <a:noFill/>
                    </a:lnT>
                    <a:lnB>
                      <a:noFill/>
                    </a:lnB>
                    <a:noFill/>
                  </a:tcPr>
                </a:tc>
                <a:extLst>
                  <a:ext uri="{0D108BD9-81ED-4DB2-BD59-A6C34878D82A}">
                    <a16:rowId xmlns:a16="http://schemas.microsoft.com/office/drawing/2014/main" val="1032299820"/>
                  </a:ext>
                </a:extLst>
              </a:tr>
              <a:tr h="280632">
                <a:tc>
                  <a:txBody>
                    <a:bodyPr/>
                    <a:lstStyle/>
                    <a:p>
                      <a:pPr>
                        <a:buNone/>
                      </a:pPr>
                      <a:r>
                        <a:rPr lang="en-US" sz="1400"/>
                        <a:t>bright</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a:t>0.125</a:t>
                      </a:r>
                    </a:p>
                  </a:txBody>
                  <a:tcPr anchor="ctr">
                    <a:lnL>
                      <a:noFill/>
                    </a:lnL>
                    <a:lnR>
                      <a:noFill/>
                    </a:lnR>
                    <a:lnT>
                      <a:noFill/>
                    </a:lnT>
                    <a:lnB>
                      <a:noFill/>
                    </a:lnB>
                    <a:noFill/>
                  </a:tcPr>
                </a:tc>
                <a:tc>
                  <a:txBody>
                    <a:bodyPr/>
                    <a:lstStyle/>
                    <a:p>
                      <a:pPr>
                        <a:buNone/>
                      </a:pPr>
                      <a:r>
                        <a:rPr lang="en-US" sz="1400" b="1" dirty="0"/>
                        <a:t>0.016</a:t>
                      </a:r>
                      <a:endParaRPr lang="en-US" sz="1400" dirty="0"/>
                    </a:p>
                  </a:txBody>
                  <a:tcPr anchor="ctr">
                    <a:lnL>
                      <a:noFill/>
                    </a:lnL>
                    <a:lnR>
                      <a:noFill/>
                    </a:lnR>
                    <a:lnT>
                      <a:noFill/>
                    </a:lnT>
                    <a:lnB>
                      <a:noFill/>
                    </a:lnB>
                    <a:noFill/>
                  </a:tcPr>
                </a:tc>
                <a:extLst>
                  <a:ext uri="{0D108BD9-81ED-4DB2-BD59-A6C34878D82A}">
                    <a16:rowId xmlns:a16="http://schemas.microsoft.com/office/drawing/2014/main" val="148061387"/>
                  </a:ext>
                </a:extLst>
              </a:tr>
            </a:tbl>
          </a:graphicData>
        </a:graphic>
      </p:graphicFrame>
    </p:spTree>
    <p:extLst>
      <p:ext uri="{BB962C8B-B14F-4D97-AF65-F5344CB8AC3E}">
        <p14:creationId xmlns:p14="http://schemas.microsoft.com/office/powerpoint/2010/main" val="1787381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41B0C7-EB43-0428-0B48-B7D29A2171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1E217C-0C2E-42D8-96C4-B4BB39EC8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92FD337-0AD1-E92B-6013-73C282B4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948BA4-4CD7-E03B-E568-AE28DD7D6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2B60A77-3591-1B65-09BC-2E61F0DF4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D2619F-EFBC-FFD6-A74D-3F8772E0C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547225-79F1-749B-0F08-93C425813A9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D121FAEA-53F8-B38A-3244-9D92887671D6}"/>
              </a:ext>
            </a:extLst>
          </p:cNvPr>
          <p:cNvSpPr>
            <a:spLocks noGrp="1"/>
          </p:cNvSpPr>
          <p:nvPr>
            <p:ph idx="1"/>
          </p:nvPr>
        </p:nvSpPr>
        <p:spPr>
          <a:xfrm>
            <a:off x="1233982" y="1885279"/>
            <a:ext cx="9724031" cy="3683358"/>
          </a:xfrm>
        </p:spPr>
        <p:txBody>
          <a:bodyPr anchor="ctr">
            <a:normAutofit/>
          </a:bodyPr>
          <a:lstStyle/>
          <a:p>
            <a:pPr marL="0" indent="0">
              <a:buNone/>
            </a:pPr>
            <a:r>
              <a:rPr lang="en-US" sz="3200" b="1" dirty="0"/>
              <a:t>Final TF-IDF Scores:</a:t>
            </a:r>
          </a:p>
          <a:p>
            <a:r>
              <a:rPr lang="en-US" sz="2400" dirty="0"/>
              <a:t>d1{ 0, 0.075,0.031,0.151}</a:t>
            </a:r>
          </a:p>
          <a:p>
            <a:r>
              <a:rPr lang="en-US" sz="2400" dirty="0"/>
              <a:t>d2{0, 0.025, 0.025, 0.120}</a:t>
            </a:r>
          </a:p>
          <a:p>
            <a:r>
              <a:rPr lang="en-US" sz="2400" dirty="0"/>
              <a:t>d3{0, 0.021,0.100,0.050, 0.021, 0.021}</a:t>
            </a:r>
          </a:p>
          <a:p>
            <a:r>
              <a:rPr lang="en-US" sz="2400" dirty="0"/>
              <a:t>D4{ 0.075, 0.075, 0.075, 0.075, 0.031, 0, 0.016}</a:t>
            </a:r>
          </a:p>
          <a:p>
            <a:endParaRPr lang="en-US" sz="2000" dirty="0"/>
          </a:p>
        </p:txBody>
      </p:sp>
    </p:spTree>
    <p:extLst>
      <p:ext uri="{BB962C8B-B14F-4D97-AF65-F5344CB8AC3E}">
        <p14:creationId xmlns:p14="http://schemas.microsoft.com/office/powerpoint/2010/main" val="392751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DB96F8-1869-C3D6-B378-0F0B69444DB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D0C96DE-14EB-59F6-B471-D4B1C87FF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E306E3-1BF0-3647-61B3-9A2711CC48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F714EC-2F65-C508-613D-D137D3351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48780B-5CB9-0C59-A563-CFB739F4D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503C5C-7D1B-0510-2086-3020DDEFE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0DD2CF-73E9-5E8D-9870-CF334AF86EC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Word Embedding using TF-IDF </a:t>
            </a:r>
          </a:p>
        </p:txBody>
      </p:sp>
      <p:sp>
        <p:nvSpPr>
          <p:cNvPr id="3" name="Content Placeholder 2">
            <a:extLst>
              <a:ext uri="{FF2B5EF4-FFF2-40B4-BE49-F238E27FC236}">
                <a16:creationId xmlns:a16="http://schemas.microsoft.com/office/drawing/2014/main" id="{04D59A4F-6779-053F-CAEB-960F119531E2}"/>
              </a:ext>
            </a:extLst>
          </p:cNvPr>
          <p:cNvSpPr>
            <a:spLocks noGrp="1"/>
          </p:cNvSpPr>
          <p:nvPr>
            <p:ph idx="1"/>
          </p:nvPr>
        </p:nvSpPr>
        <p:spPr>
          <a:xfrm>
            <a:off x="1233982" y="1885279"/>
            <a:ext cx="9724031" cy="4569950"/>
          </a:xfrm>
        </p:spPr>
        <p:txBody>
          <a:bodyPr anchor="ctr">
            <a:normAutofit fontScale="92500" lnSpcReduction="10000"/>
          </a:bodyPr>
          <a:lstStyle/>
          <a:p>
            <a:r>
              <a:rPr lang="en-US" sz="3200" b="1" dirty="0"/>
              <a:t>Purpose of TF-IDF:</a:t>
            </a:r>
            <a:br>
              <a:rPr lang="en-US" sz="3200" dirty="0"/>
            </a:br>
            <a:r>
              <a:rPr lang="en-US" sz="3200" dirty="0"/>
              <a:t>TF-IDF is used to find how important a word is in a document compared to other documents.</a:t>
            </a:r>
          </a:p>
          <a:p>
            <a:r>
              <a:rPr lang="en-US" sz="3200" b="1" dirty="0"/>
              <a:t>Result of calculation:</a:t>
            </a:r>
            <a:br>
              <a:rPr lang="en-US" sz="3200" dirty="0"/>
            </a:br>
            <a:r>
              <a:rPr lang="en-US" sz="3200" dirty="0"/>
              <a:t>Common words like </a:t>
            </a:r>
            <a:r>
              <a:rPr lang="en-US" sz="3200" i="1" dirty="0"/>
              <a:t>“the”</a:t>
            </a:r>
            <a:r>
              <a:rPr lang="en-US" sz="3200" dirty="0"/>
              <a:t> get very low or zero scores, while unique words like </a:t>
            </a:r>
            <a:r>
              <a:rPr lang="en-US" sz="3200" i="1" dirty="0"/>
              <a:t>“blue”</a:t>
            </a:r>
            <a:r>
              <a:rPr lang="en-US" sz="3200" dirty="0"/>
              <a:t>, </a:t>
            </a:r>
            <a:r>
              <a:rPr lang="en-US" sz="3200" i="1" dirty="0"/>
              <a:t>“today”</a:t>
            </a:r>
            <a:r>
              <a:rPr lang="en-US" sz="3200" dirty="0"/>
              <a:t>, and </a:t>
            </a:r>
            <a:r>
              <a:rPr lang="en-US" sz="3200" i="1" dirty="0"/>
              <a:t>“shining”</a:t>
            </a:r>
            <a:r>
              <a:rPr lang="en-US" sz="3200" dirty="0"/>
              <a:t> get higher scores.</a:t>
            </a:r>
          </a:p>
          <a:p>
            <a:r>
              <a:rPr lang="en-US" sz="3200" b="1" dirty="0"/>
              <a:t>Conclusion:</a:t>
            </a:r>
            <a:br>
              <a:rPr lang="en-US" sz="3200" dirty="0"/>
            </a:br>
            <a:r>
              <a:rPr lang="en-US" sz="3200" dirty="0"/>
              <a:t>The final TF-IDF vectors represent each document using important words, which helps in document comparison and search.</a:t>
            </a:r>
          </a:p>
          <a:p>
            <a:endParaRPr lang="en-US" sz="2000" dirty="0"/>
          </a:p>
        </p:txBody>
      </p:sp>
    </p:spTree>
    <p:extLst>
      <p:ext uri="{BB962C8B-B14F-4D97-AF65-F5344CB8AC3E}">
        <p14:creationId xmlns:p14="http://schemas.microsoft.com/office/powerpoint/2010/main" val="585437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25AF8D-4EE7-8D39-B7D7-F5F79BEB77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20938-4DBB-E547-3CD6-14612017FACD}"/>
              </a:ext>
            </a:extLst>
          </p:cNvPr>
          <p:cNvSpPr>
            <a:spLocks noGrp="1"/>
          </p:cNvSpPr>
          <p:nvPr>
            <p:ph type="title"/>
          </p:nvPr>
        </p:nvSpPr>
        <p:spPr>
          <a:xfrm>
            <a:off x="686834" y="1153572"/>
            <a:ext cx="3200400" cy="4461163"/>
          </a:xfrm>
        </p:spPr>
        <p:txBody>
          <a:bodyPr>
            <a:normAutofit/>
          </a:bodyPr>
          <a:lstStyle/>
          <a:p>
            <a:r>
              <a:rPr lang="en-GB" b="1">
                <a:solidFill>
                  <a:srgbClr val="FFFFFF"/>
                </a:solidFill>
              </a:rPr>
              <a:t>Word2Vec</a:t>
            </a:r>
            <a:endParaRPr lang="en-PK"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Rectangle 1">
            <a:extLst>
              <a:ext uri="{FF2B5EF4-FFF2-40B4-BE49-F238E27FC236}">
                <a16:creationId xmlns:a16="http://schemas.microsoft.com/office/drawing/2014/main" id="{77E05B4B-CF15-8C2A-DBC5-457444E9D186}"/>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ct val="0"/>
              </a:spcAft>
            </a:pPr>
            <a:r>
              <a:rPr lang="en-GB" b="0" i="0" dirty="0">
                <a:effectLst/>
                <a:latin typeface="Arial" panose="020B0604020202020204" pitchFamily="34" charset="0"/>
                <a:cs typeface="Arial" panose="020B0604020202020204" pitchFamily="34" charset="0"/>
              </a:rPr>
              <a:t>Word2Vec (word to vector) is a technique used to convert words to vectors, thereby capturing their meaning, semantic similarity, and relationship with surrounding text. </a:t>
            </a:r>
          </a:p>
          <a:p>
            <a:pPr marL="0" indent="0" eaLnBrk="0" fontAlgn="base" hangingPunct="0">
              <a:spcBef>
                <a:spcPct val="0"/>
              </a:spcBef>
              <a:spcAft>
                <a:spcPct val="0"/>
              </a:spcAft>
              <a:buNone/>
            </a:pPr>
            <a:endParaRPr lang="en-GB" b="0" i="0" dirty="0">
              <a:effectLst/>
              <a:latin typeface="Arial" panose="020B0604020202020204" pitchFamily="34" charset="0"/>
              <a:cs typeface="Arial" panose="020B0604020202020204" pitchFamily="34" charset="0"/>
            </a:endParaRPr>
          </a:p>
          <a:p>
            <a:pPr eaLnBrk="0" fontAlgn="base" hangingPunct="0">
              <a:spcBef>
                <a:spcPct val="0"/>
              </a:spcBef>
              <a:spcAft>
                <a:spcPct val="0"/>
              </a:spcAft>
            </a:pPr>
            <a:r>
              <a:rPr lang="en-GB" b="0" i="0" dirty="0">
                <a:effectLst/>
                <a:latin typeface="Arial" panose="020B0604020202020204" pitchFamily="34" charset="0"/>
                <a:cs typeface="Arial" panose="020B0604020202020204" pitchFamily="34" charset="0"/>
              </a:rPr>
              <a:t>This method helps computers learn the context and association/ meaning of expressions and keywords from large text collections such as news articles and books.</a:t>
            </a:r>
          </a:p>
          <a:p>
            <a:pPr marL="0" marR="0" lvl="0" indent="0" defTabSz="914400" rtl="0" eaLnBrk="0" fontAlgn="base" latinLnBrk="0" hangingPunct="0">
              <a:spcBef>
                <a:spcPct val="0"/>
              </a:spcBef>
              <a:spcAft>
                <a:spcPct val="0"/>
              </a:spcAft>
              <a:buClrTx/>
              <a:buSzTx/>
              <a:buFontTx/>
              <a:buNone/>
              <a:tabLst/>
            </a:pPr>
            <a:endParaRPr lang="en-GB" sz="1700" b="0" i="0" dirty="0">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PK" altLang="en-PK" sz="1700" b="0" i="0" u="none" strike="noStrike" cap="none" normalizeH="0" baseline="0" dirty="0">
              <a:ln>
                <a:noFill/>
              </a:ln>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0747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D94AD6-B474-62DA-5E38-538CC531A3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1745E4-42A7-F00E-7759-E9F6891F6A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1010525-FC08-254D-02F6-5E2838869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BCDFC-4C54-7604-57AA-067DF59A9B87}"/>
              </a:ext>
            </a:extLst>
          </p:cNvPr>
          <p:cNvSpPr>
            <a:spLocks noGrp="1"/>
          </p:cNvSpPr>
          <p:nvPr>
            <p:ph type="title"/>
          </p:nvPr>
        </p:nvSpPr>
        <p:spPr>
          <a:xfrm>
            <a:off x="686834" y="1153572"/>
            <a:ext cx="3200400" cy="4461163"/>
          </a:xfrm>
        </p:spPr>
        <p:txBody>
          <a:bodyPr>
            <a:normAutofit/>
          </a:bodyPr>
          <a:lstStyle/>
          <a:p>
            <a:r>
              <a:rPr lang="en-GB" b="1">
                <a:solidFill>
                  <a:srgbClr val="FFFFFF"/>
                </a:solidFill>
              </a:rPr>
              <a:t>Word2Vec</a:t>
            </a:r>
            <a:endParaRPr lang="en-PK" b="1">
              <a:solidFill>
                <a:srgbClr val="FFFFFF"/>
              </a:solidFill>
            </a:endParaRPr>
          </a:p>
        </p:txBody>
      </p:sp>
      <p:sp>
        <p:nvSpPr>
          <p:cNvPr id="12" name="Arc 11">
            <a:extLst>
              <a:ext uri="{FF2B5EF4-FFF2-40B4-BE49-F238E27FC236}">
                <a16:creationId xmlns:a16="http://schemas.microsoft.com/office/drawing/2014/main" id="{C5DADA34-EAD2-43D0-58F8-882AEB1E0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Rectangle 1">
            <a:extLst>
              <a:ext uri="{FF2B5EF4-FFF2-40B4-BE49-F238E27FC236}">
                <a16:creationId xmlns:a16="http://schemas.microsoft.com/office/drawing/2014/main" id="{46FD3CBC-81C8-40D8-92A6-82809A41D2E0}"/>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indent="0">
              <a:buNone/>
            </a:pPr>
            <a:r>
              <a:rPr lang="en-GB" sz="3200" b="1" dirty="0"/>
              <a:t>How It Works</a:t>
            </a:r>
          </a:p>
          <a:p>
            <a:r>
              <a:rPr lang="en-GB" b="1" dirty="0"/>
              <a:t>Continuous Bag of Words (CBOW):</a:t>
            </a:r>
            <a:endParaRPr lang="en-GB" dirty="0"/>
          </a:p>
          <a:p>
            <a:pPr lvl="1"/>
            <a:r>
              <a:rPr lang="en-GB" sz="2800" dirty="0"/>
              <a:t>Predicts a word based on its surrounding context.</a:t>
            </a:r>
          </a:p>
          <a:p>
            <a:r>
              <a:rPr lang="en-GB" b="1" dirty="0"/>
              <a:t>Skip-Gram:</a:t>
            </a:r>
            <a:endParaRPr lang="en-GB" dirty="0"/>
          </a:p>
          <a:p>
            <a:pPr lvl="1"/>
            <a:r>
              <a:rPr lang="en-GB" sz="2800" dirty="0"/>
              <a:t>Predicts surrounding words given a single word.</a:t>
            </a:r>
          </a:p>
          <a:p>
            <a:pPr marL="0" marR="0" lvl="0" indent="0" defTabSz="914400" rtl="0" eaLnBrk="0" fontAlgn="base" latinLnBrk="0" hangingPunct="0">
              <a:spcBef>
                <a:spcPct val="0"/>
              </a:spcBef>
              <a:spcAft>
                <a:spcPct val="0"/>
              </a:spcAft>
              <a:buClrTx/>
              <a:buSzTx/>
              <a:buFontTx/>
              <a:buNone/>
              <a:tabLst/>
            </a:pPr>
            <a:endParaRPr lang="en-GB" sz="1700" b="0" i="0" dirty="0">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PK" altLang="en-PK" sz="1700" b="0" i="0" u="none" strike="noStrike" cap="none" normalizeH="0" baseline="0" dirty="0">
              <a:ln>
                <a:noFill/>
              </a:ln>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7712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62308B-2E03-307C-3809-DDB541199CAB}"/>
              </a:ext>
            </a:extLst>
          </p:cNvPr>
          <p:cNvSpPr>
            <a:spLocks noGrp="1"/>
          </p:cNvSpPr>
          <p:nvPr>
            <p:ph type="title"/>
          </p:nvPr>
        </p:nvSpPr>
        <p:spPr>
          <a:xfrm>
            <a:off x="1137034" y="609597"/>
            <a:ext cx="9392421" cy="1330841"/>
          </a:xfrm>
        </p:spPr>
        <p:txBody>
          <a:bodyPr>
            <a:normAutofit/>
          </a:bodyPr>
          <a:lstStyle/>
          <a:p>
            <a:r>
              <a:rPr lang="en-US" dirty="0"/>
              <a:t>Continuous bag-of-words (CBOW)</a:t>
            </a:r>
          </a:p>
        </p:txBody>
      </p:sp>
      <p:sp>
        <p:nvSpPr>
          <p:cNvPr id="3" name="Content Placeholder 2">
            <a:extLst>
              <a:ext uri="{FF2B5EF4-FFF2-40B4-BE49-F238E27FC236}">
                <a16:creationId xmlns:a16="http://schemas.microsoft.com/office/drawing/2014/main" id="{E2FC409E-1506-2CFB-CB10-C0E1FF43DBB8}"/>
              </a:ext>
            </a:extLst>
          </p:cNvPr>
          <p:cNvSpPr>
            <a:spLocks noGrp="1"/>
          </p:cNvSpPr>
          <p:nvPr>
            <p:ph idx="1"/>
          </p:nvPr>
        </p:nvSpPr>
        <p:spPr>
          <a:xfrm>
            <a:off x="301232" y="2176738"/>
            <a:ext cx="4958966" cy="3917773"/>
          </a:xfrm>
        </p:spPr>
        <p:txBody>
          <a:bodyPr>
            <a:normAutofit/>
          </a:bodyPr>
          <a:lstStyle/>
          <a:p>
            <a:r>
              <a:rPr lang="en-US" dirty="0"/>
              <a:t>The continuous bag-of-words model predicts the central word using the surrounding context words, which comprises a few words before and after the current word.</a:t>
            </a:r>
          </a:p>
        </p:txBody>
      </p:sp>
      <p:pic>
        <p:nvPicPr>
          <p:cNvPr id="4" name="Picture 3" descr="A screenshot of a computer&#10;&#10;AI-generated content may be incorrect.">
            <a:extLst>
              <a:ext uri="{FF2B5EF4-FFF2-40B4-BE49-F238E27FC236}">
                <a16:creationId xmlns:a16="http://schemas.microsoft.com/office/drawing/2014/main" id="{AFECAF37-B043-0725-FBD1-F31107127DEC}"/>
              </a:ext>
            </a:extLst>
          </p:cNvPr>
          <p:cNvPicPr>
            <a:picLocks noChangeAspect="1"/>
          </p:cNvPicPr>
          <p:nvPr/>
        </p:nvPicPr>
        <p:blipFill>
          <a:blip r:embed="rId2"/>
          <a:stretch>
            <a:fillRect/>
          </a:stretch>
        </p:blipFill>
        <p:spPr>
          <a:xfrm>
            <a:off x="5561429" y="1940438"/>
            <a:ext cx="6630570" cy="3961765"/>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9953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3C5B19-E0C4-63D7-27FE-A7C2F5A8957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AE6A8-B092-D6D3-61DD-C557E8877CE3}"/>
              </a:ext>
            </a:extLst>
          </p:cNvPr>
          <p:cNvSpPr>
            <a:spLocks noGrp="1"/>
          </p:cNvSpPr>
          <p:nvPr>
            <p:ph type="title" idx="4294967295"/>
          </p:nvPr>
        </p:nvSpPr>
        <p:spPr>
          <a:xfrm>
            <a:off x="699714" y="353160"/>
            <a:ext cx="7091300" cy="898581"/>
          </a:xfrm>
        </p:spPr>
        <p:txBody>
          <a:bodyPr vert="horz" lIns="91440" tIns="45720" rIns="91440" bIns="45720" rtlCol="0" anchor="ctr">
            <a:normAutofit/>
          </a:bodyPr>
          <a:lstStyle/>
          <a:p>
            <a:r>
              <a:rPr lang="en-US" sz="4000" b="1" dirty="0">
                <a:solidFill>
                  <a:srgbClr val="FFFFFF"/>
                </a:solidFill>
              </a:rPr>
              <a:t>Skip-gram</a:t>
            </a:r>
          </a:p>
        </p:txBody>
      </p:sp>
      <p:pic>
        <p:nvPicPr>
          <p:cNvPr id="6" name="Picture 5">
            <a:extLst>
              <a:ext uri="{FF2B5EF4-FFF2-40B4-BE49-F238E27FC236}">
                <a16:creationId xmlns:a16="http://schemas.microsoft.com/office/drawing/2014/main" id="{C5D46827-F297-4460-774B-22D5717B2895}"/>
              </a:ext>
            </a:extLst>
          </p:cNvPr>
          <p:cNvPicPr>
            <a:picLocks noChangeAspect="1"/>
          </p:cNvPicPr>
          <p:nvPr/>
        </p:nvPicPr>
        <p:blipFill>
          <a:blip r:embed="rId3"/>
          <a:stretch>
            <a:fillRect/>
          </a:stretch>
        </p:blipFill>
        <p:spPr>
          <a:xfrm>
            <a:off x="5404757" y="2060448"/>
            <a:ext cx="6506827" cy="4444391"/>
          </a:xfrm>
          <a:prstGeom prst="rect">
            <a:avLst/>
          </a:prstGeom>
        </p:spPr>
      </p:pic>
      <p:sp>
        <p:nvSpPr>
          <p:cNvPr id="5" name="TextBox 4">
            <a:extLst>
              <a:ext uri="{FF2B5EF4-FFF2-40B4-BE49-F238E27FC236}">
                <a16:creationId xmlns:a16="http://schemas.microsoft.com/office/drawing/2014/main" id="{5534B6F6-FDFD-671D-3801-2F90C07002E4}"/>
              </a:ext>
            </a:extLst>
          </p:cNvPr>
          <p:cNvSpPr txBox="1"/>
          <p:nvPr/>
        </p:nvSpPr>
        <p:spPr>
          <a:xfrm>
            <a:off x="280416" y="2060448"/>
            <a:ext cx="5303956" cy="4401205"/>
          </a:xfrm>
          <a:prstGeom prst="rect">
            <a:avLst/>
          </a:prstGeom>
          <a:noFill/>
        </p:spPr>
        <p:txBody>
          <a:bodyPr wrap="square">
            <a:spAutoFit/>
          </a:bodyPr>
          <a:lstStyle/>
          <a:p>
            <a:pPr marL="457200" indent="-457200">
              <a:buFont typeface="Arial" panose="020B0604020202020204" pitchFamily="34" charset="0"/>
              <a:buChar char="•"/>
            </a:pPr>
            <a:r>
              <a:rPr lang="en-US" sz="2800" b="0" i="0" dirty="0">
                <a:solidFill>
                  <a:srgbClr val="000000"/>
                </a:solidFill>
                <a:effectLst/>
              </a:rPr>
              <a:t>The skip-gram model architecture is designed to achieve the opposite of the CBOW model. </a:t>
            </a:r>
          </a:p>
          <a:p>
            <a:pPr marL="457200" indent="-457200">
              <a:buFont typeface="Arial" panose="020B0604020202020204" pitchFamily="34" charset="0"/>
              <a:buChar char="•"/>
            </a:pPr>
            <a:r>
              <a:rPr lang="en-US" sz="2800" b="0" i="0" dirty="0">
                <a:solidFill>
                  <a:srgbClr val="000000"/>
                </a:solidFill>
                <a:effectLst/>
              </a:rPr>
              <a:t>Instead of predicting the center word from the surrounding context words, it aims to predict the surrounding context words given the center word</a:t>
            </a:r>
            <a:r>
              <a:rPr lang="en-US" b="0" i="0" dirty="0">
                <a:solidFill>
                  <a:srgbClr val="000000"/>
                </a:solidFill>
                <a:effectLst/>
                <a:latin typeface="ProximaNova"/>
              </a:rPr>
              <a:t>.</a:t>
            </a:r>
            <a:endParaRPr lang="en-US" dirty="0"/>
          </a:p>
        </p:txBody>
      </p:sp>
    </p:spTree>
    <p:extLst>
      <p:ext uri="{BB962C8B-B14F-4D97-AF65-F5344CB8AC3E}">
        <p14:creationId xmlns:p14="http://schemas.microsoft.com/office/powerpoint/2010/main" val="464924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782B80-EE0E-1B6F-B9BA-4B62974487A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5CC1CD9-3E14-E258-CF5C-4B9C73806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86CEB27-CE6A-23F9-6413-8671D629A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029738-0E1B-9BEA-B574-2211D48C4E79}"/>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Explanation</a:t>
            </a:r>
            <a:br>
              <a:rPr lang="en-GB" b="1" dirty="0">
                <a:solidFill>
                  <a:srgbClr val="FFFFFF"/>
                </a:solidFill>
              </a:rPr>
            </a:br>
            <a:r>
              <a:rPr lang="en-GB" b="1" dirty="0">
                <a:solidFill>
                  <a:srgbClr val="FFFFFF"/>
                </a:solidFill>
              </a:rPr>
              <a:t>Continue </a:t>
            </a:r>
            <a:endParaRPr lang="en-PK" b="1" dirty="0">
              <a:solidFill>
                <a:srgbClr val="FFFFFF"/>
              </a:solidFill>
            </a:endParaRPr>
          </a:p>
        </p:txBody>
      </p:sp>
      <p:sp>
        <p:nvSpPr>
          <p:cNvPr id="17" name="Arc 16">
            <a:extLst>
              <a:ext uri="{FF2B5EF4-FFF2-40B4-BE49-F238E27FC236}">
                <a16:creationId xmlns:a16="http://schemas.microsoft.com/office/drawing/2014/main" id="{BAFFBA76-CEED-1500-9E7A-56E554A43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2">
            <a:extLst>
              <a:ext uri="{FF2B5EF4-FFF2-40B4-BE49-F238E27FC236}">
                <a16:creationId xmlns:a16="http://schemas.microsoft.com/office/drawing/2014/main" id="{26885F47-BE7E-E832-2724-198BFF932B31}"/>
              </a:ext>
            </a:extLst>
          </p:cNvPr>
          <p:cNvSpPr>
            <a:spLocks noGrp="1" noChangeArrowheads="1"/>
          </p:cNvSpPr>
          <p:nvPr>
            <p:ph idx="1"/>
          </p:nvPr>
        </p:nvSpPr>
        <p:spPr bwMode="auto">
          <a:xfrm>
            <a:off x="4446588" y="1728971"/>
            <a:ext cx="7058578" cy="33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it-IT" sz="3200" b="1" dirty="0"/>
              <a:t>Example:</a:t>
            </a:r>
          </a:p>
          <a:p>
            <a:pPr>
              <a:buFont typeface="Arial" panose="020B0604020202020204" pitchFamily="34" charset="0"/>
              <a:buChar char="•"/>
            </a:pPr>
            <a:r>
              <a:rPr lang="it-IT" sz="3200" dirty="0"/>
              <a:t>Input Sentence: "I love NLP."</a:t>
            </a:r>
          </a:p>
          <a:p>
            <a:pPr>
              <a:buFont typeface="Arial" panose="020B0604020202020204" pitchFamily="34" charset="0"/>
              <a:buChar char="•"/>
            </a:pPr>
            <a:r>
              <a:rPr lang="it-IT" sz="3200" dirty="0"/>
              <a:t>Output:</a:t>
            </a:r>
          </a:p>
          <a:p>
            <a:pPr marL="742950" lvl="1" indent="-285750">
              <a:buFont typeface="Arial" panose="020B0604020202020204" pitchFamily="34" charset="0"/>
              <a:buChar char="•"/>
            </a:pPr>
            <a:r>
              <a:rPr lang="it-IT" sz="2800" dirty="0"/>
              <a:t>"I" → [0.1, 0.3, 0.5]</a:t>
            </a:r>
          </a:p>
          <a:p>
            <a:pPr marL="742950" lvl="1" indent="-285750">
              <a:buFont typeface="Arial" panose="020B0604020202020204" pitchFamily="34" charset="0"/>
              <a:buChar char="•"/>
            </a:pPr>
            <a:r>
              <a:rPr lang="it-IT" sz="2800" dirty="0"/>
              <a:t>"love" → [0.2, 0.4, 0.6]</a:t>
            </a:r>
          </a:p>
          <a:p>
            <a:pPr marL="742950" lvl="1" indent="-285750">
              <a:buFont typeface="Arial" panose="020B0604020202020204" pitchFamily="34" charset="0"/>
              <a:buChar char="•"/>
            </a:pPr>
            <a:r>
              <a:rPr lang="it-IT" sz="2800" dirty="0"/>
              <a:t>"NLP" → [0.3, 0.5, 0.7].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6587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DD50D-95DE-337C-812D-A28B269E6031}"/>
              </a:ext>
            </a:extLst>
          </p:cNvPr>
          <p:cNvSpPr>
            <a:spLocks noGrp="1"/>
          </p:cNvSpPr>
          <p:nvPr>
            <p:ph type="title"/>
          </p:nvPr>
        </p:nvSpPr>
        <p:spPr>
          <a:xfrm>
            <a:off x="1371599" y="294538"/>
            <a:ext cx="9895951" cy="1033669"/>
          </a:xfrm>
        </p:spPr>
        <p:txBody>
          <a:bodyPr>
            <a:normAutofit/>
          </a:bodyPr>
          <a:lstStyle/>
          <a:p>
            <a:r>
              <a:rPr lang="en-GB" sz="4000" b="1">
                <a:solidFill>
                  <a:srgbClr val="FFFFFF"/>
                </a:solidFill>
              </a:rPr>
              <a:t>Text Classification with Word Embeddings</a:t>
            </a:r>
            <a:endParaRPr lang="en-PK" sz="4000" b="1">
              <a:solidFill>
                <a:srgbClr val="FFFFFF"/>
              </a:solidFill>
            </a:endParaRPr>
          </a:p>
        </p:txBody>
      </p:sp>
      <p:sp>
        <p:nvSpPr>
          <p:cNvPr id="4" name="Rectangle 1">
            <a:extLst>
              <a:ext uri="{FF2B5EF4-FFF2-40B4-BE49-F238E27FC236}">
                <a16:creationId xmlns:a16="http://schemas.microsoft.com/office/drawing/2014/main" id="{C9E43A83-3687-FD43-B9C8-ED80E321C753}"/>
              </a:ext>
            </a:extLst>
          </p:cNvPr>
          <p:cNvSpPr>
            <a:spLocks noGrp="1" noChangeArrowheads="1"/>
          </p:cNvSpPr>
          <p:nvPr>
            <p:ph idx="1"/>
          </p:nvPr>
        </p:nvSpPr>
        <p:spPr bwMode="auto">
          <a:xfrm>
            <a:off x="925975" y="1780032"/>
            <a:ext cx="10169655" cy="49743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marL="0" marR="0" lvl="0" indent="0" algn="just" defTabSz="914400" rtl="0" eaLnBrk="0" fontAlgn="base" latinLnBrk="0" hangingPunct="0">
              <a:spcBef>
                <a:spcPct val="0"/>
              </a:spcBef>
              <a:spcAft>
                <a:spcPts val="600"/>
              </a:spcAft>
              <a:buClrTx/>
              <a:buSzTx/>
              <a:buNone/>
              <a:tabLst/>
            </a:pPr>
            <a:r>
              <a:rPr kumimoji="0" lang="en-PK" altLang="en-PK" sz="2600" b="1" i="0" u="none" strike="noStrike" cap="none" normalizeH="0" baseline="0" dirty="0">
                <a:ln>
                  <a:noFill/>
                </a:ln>
                <a:effectLst/>
                <a:latin typeface="Arial" panose="020B0604020202020204" pitchFamily="34" charset="0"/>
              </a:rPr>
              <a:t>Problem:</a:t>
            </a:r>
            <a:endParaRPr kumimoji="0" lang="en-PK" altLang="en-PK" sz="2600" b="0" i="0" u="none" strike="noStrike" cap="none" normalizeH="0" baseline="0" dirty="0">
              <a:ln>
                <a:noFill/>
              </a:ln>
              <a:effectLst/>
              <a:latin typeface="Arial" panose="020B0604020202020204" pitchFamily="34" charset="0"/>
            </a:endParaRPr>
          </a:p>
          <a:p>
            <a:pPr algn="just" eaLnBrk="0" fontAlgn="base" hangingPunct="0">
              <a:spcBef>
                <a:spcPct val="0"/>
              </a:spcBef>
              <a:spcAft>
                <a:spcPts val="600"/>
              </a:spcAft>
            </a:pPr>
            <a:r>
              <a:rPr kumimoji="0" lang="en-PK" altLang="en-PK" sz="2600" b="0" i="0" u="none" strike="noStrike" cap="none" normalizeH="0" baseline="0" dirty="0">
                <a:ln>
                  <a:noFill/>
                </a:ln>
                <a:effectLst/>
                <a:latin typeface="Arial" panose="020B0604020202020204" pitchFamily="34" charset="0"/>
              </a:rPr>
              <a:t>Classify movie reviews as "Positive" or "Negative."</a:t>
            </a:r>
          </a:p>
          <a:p>
            <a:pPr marL="0" marR="0" lvl="0" indent="0" algn="just" defTabSz="914400" rtl="0" eaLnBrk="0" fontAlgn="base" latinLnBrk="0" hangingPunct="0">
              <a:spcBef>
                <a:spcPct val="0"/>
              </a:spcBef>
              <a:spcAft>
                <a:spcPts val="600"/>
              </a:spcAft>
              <a:buClrTx/>
              <a:buSzTx/>
              <a:buNone/>
              <a:tabLst/>
            </a:pPr>
            <a:r>
              <a:rPr kumimoji="0" lang="en-PK" altLang="en-PK" sz="2600" b="1" i="0" u="none" strike="noStrike" cap="none" normalizeH="0" baseline="0" dirty="0">
                <a:ln>
                  <a:noFill/>
                </a:ln>
                <a:effectLst/>
                <a:latin typeface="Arial" panose="020B0604020202020204" pitchFamily="34" charset="0"/>
              </a:rPr>
              <a:t>Steps:</a:t>
            </a:r>
            <a:endParaRPr kumimoji="0" lang="en-PK" altLang="en-PK" sz="2600" b="0" i="0" u="none" strike="noStrike" cap="none" normalizeH="0" baseline="0" dirty="0">
              <a:ln>
                <a:noFill/>
              </a:ln>
              <a:effectLst/>
              <a:latin typeface="Arial" panose="020B0604020202020204" pitchFamily="34" charset="0"/>
            </a:endParaRPr>
          </a:p>
          <a:p>
            <a:pPr algn="just" eaLnBrk="0" fontAlgn="base" hangingPunct="0">
              <a:spcBef>
                <a:spcPct val="0"/>
              </a:spcBef>
              <a:spcAft>
                <a:spcPts val="600"/>
              </a:spcAft>
            </a:pPr>
            <a:r>
              <a:rPr kumimoji="0" lang="en-PK" altLang="en-PK" sz="2600" b="1" i="0" u="none" strike="noStrike" cap="none" normalizeH="0" baseline="0" dirty="0">
                <a:ln>
                  <a:noFill/>
                </a:ln>
                <a:effectLst/>
                <a:latin typeface="Arial" panose="020B0604020202020204" pitchFamily="34" charset="0"/>
              </a:rPr>
              <a:t>Input:</a:t>
            </a:r>
            <a:r>
              <a:rPr kumimoji="0" lang="en-PK" altLang="en-PK" sz="2600" b="0" i="0" u="none" strike="noStrike" cap="none" normalizeH="0" baseline="0" dirty="0">
                <a:ln>
                  <a:noFill/>
                </a:ln>
                <a:effectLst/>
                <a:latin typeface="Arial" panose="020B0604020202020204" pitchFamily="34" charset="0"/>
              </a:rPr>
              <a:t> Reviews like "The movie was great."</a:t>
            </a:r>
          </a:p>
          <a:p>
            <a:pPr algn="just" eaLnBrk="0" fontAlgn="base" hangingPunct="0">
              <a:spcBef>
                <a:spcPct val="0"/>
              </a:spcBef>
              <a:spcAft>
                <a:spcPts val="600"/>
              </a:spcAft>
            </a:pPr>
            <a:r>
              <a:rPr kumimoji="0" lang="en-PK" altLang="en-PK" sz="2600" b="1" i="0" u="none" strike="noStrike" cap="none" normalizeH="0" baseline="0" dirty="0">
                <a:ln>
                  <a:noFill/>
                </a:ln>
                <a:effectLst/>
                <a:latin typeface="Arial" panose="020B0604020202020204" pitchFamily="34" charset="0"/>
              </a:rPr>
              <a:t>Preprocessing:</a:t>
            </a:r>
            <a:r>
              <a:rPr kumimoji="0" lang="en-PK" altLang="en-PK" sz="2600" b="0" i="0" u="none" strike="noStrike" cap="none" normalizeH="0" baseline="0" dirty="0">
                <a:ln>
                  <a:noFill/>
                </a:ln>
                <a:effectLst/>
                <a:latin typeface="Arial" panose="020B0604020202020204" pitchFamily="34" charset="0"/>
              </a:rPr>
              <a:t> Remove stop words, tokenize, and convert to embeddings.</a:t>
            </a:r>
          </a:p>
          <a:p>
            <a:pPr algn="just" eaLnBrk="0" fontAlgn="base" hangingPunct="0">
              <a:spcBef>
                <a:spcPct val="0"/>
              </a:spcBef>
              <a:spcAft>
                <a:spcPts val="600"/>
              </a:spcAft>
            </a:pPr>
            <a:r>
              <a:rPr kumimoji="0" lang="en-PK" altLang="en-PK" sz="2600" b="1" i="0" u="none" strike="noStrike" cap="none" normalizeH="0" baseline="0" dirty="0">
                <a:ln>
                  <a:noFill/>
                </a:ln>
                <a:effectLst/>
                <a:latin typeface="Arial" panose="020B0604020202020204" pitchFamily="34" charset="0"/>
              </a:rPr>
              <a:t>Feature Representation:</a:t>
            </a:r>
            <a:endParaRPr kumimoji="0" lang="en-PK" altLang="en-PK" sz="2600" b="0" i="0" u="none" strike="noStrike" cap="none" normalizeH="0" baseline="0" dirty="0">
              <a:ln>
                <a:noFill/>
              </a:ln>
              <a:effectLst/>
              <a:latin typeface="Arial" panose="020B0604020202020204" pitchFamily="34" charset="0"/>
            </a:endParaRPr>
          </a:p>
          <a:p>
            <a:pPr lvl="1" algn="just" eaLnBrk="0" fontAlgn="base" hangingPunct="0">
              <a:spcBef>
                <a:spcPct val="0"/>
              </a:spcBef>
              <a:spcAft>
                <a:spcPts val="600"/>
              </a:spcAft>
            </a:pPr>
            <a:r>
              <a:rPr kumimoji="0" lang="en-PK" altLang="en-PK" sz="2600" b="0" i="0" u="none" strike="noStrike" cap="none" normalizeH="0" baseline="0" dirty="0">
                <a:ln>
                  <a:noFill/>
                </a:ln>
                <a:effectLst/>
                <a:latin typeface="Arial" panose="020B0604020202020204" pitchFamily="34" charset="0"/>
              </a:rPr>
              <a:t>Word2Vec generates numerical vectors for words.</a:t>
            </a:r>
          </a:p>
          <a:p>
            <a:pPr algn="just" eaLnBrk="0" fontAlgn="base" hangingPunct="0">
              <a:spcBef>
                <a:spcPct val="0"/>
              </a:spcBef>
              <a:spcAft>
                <a:spcPts val="600"/>
              </a:spcAft>
            </a:pPr>
            <a:r>
              <a:rPr kumimoji="0" lang="en-PK" altLang="en-PK" sz="2600" b="1" i="0" u="none" strike="noStrike" cap="none" normalizeH="0" baseline="0" dirty="0">
                <a:ln>
                  <a:noFill/>
                </a:ln>
                <a:effectLst/>
                <a:latin typeface="Arial" panose="020B0604020202020204" pitchFamily="34" charset="0"/>
              </a:rPr>
              <a:t>Model Application:</a:t>
            </a:r>
            <a:endParaRPr kumimoji="0" lang="en-PK" altLang="en-PK" sz="2600" b="0" i="0" u="none" strike="noStrike" cap="none" normalizeH="0" baseline="0" dirty="0">
              <a:ln>
                <a:noFill/>
              </a:ln>
              <a:effectLst/>
              <a:latin typeface="Arial" panose="020B0604020202020204" pitchFamily="34" charset="0"/>
            </a:endParaRPr>
          </a:p>
          <a:p>
            <a:pPr lvl="1" algn="just" eaLnBrk="0" fontAlgn="base" hangingPunct="0">
              <a:spcBef>
                <a:spcPct val="0"/>
              </a:spcBef>
              <a:spcAft>
                <a:spcPts val="600"/>
              </a:spcAft>
            </a:pPr>
            <a:r>
              <a:rPr kumimoji="0" lang="en-PK" altLang="en-PK" sz="2600" b="0" i="0" u="none" strike="noStrike" cap="none" normalizeH="0" baseline="0" dirty="0">
                <a:ln>
                  <a:noFill/>
                </a:ln>
                <a:effectLst/>
                <a:latin typeface="Arial" panose="020B0604020202020204" pitchFamily="34" charset="0"/>
              </a:rPr>
              <a:t>Train an ML classifier (e.g., Logistic Regression) using embeddings.</a:t>
            </a:r>
          </a:p>
          <a:p>
            <a:pPr algn="just" eaLnBrk="0" fontAlgn="base" hangingPunct="0">
              <a:spcBef>
                <a:spcPct val="0"/>
              </a:spcBef>
              <a:spcAft>
                <a:spcPts val="600"/>
              </a:spcAft>
            </a:pPr>
            <a:r>
              <a:rPr kumimoji="0" lang="en-PK" altLang="en-PK" sz="2600" b="1" i="0" u="none" strike="noStrike" cap="none" normalizeH="0" baseline="0" dirty="0">
                <a:ln>
                  <a:noFill/>
                </a:ln>
                <a:effectLst/>
                <a:latin typeface="Arial" panose="020B0604020202020204" pitchFamily="34" charset="0"/>
              </a:rPr>
              <a:t>Output:</a:t>
            </a:r>
            <a:r>
              <a:rPr kumimoji="0" lang="en-PK" altLang="en-PK" sz="2600" b="0" i="0" u="none" strike="noStrike" cap="none" normalizeH="0" baseline="0" dirty="0">
                <a:ln>
                  <a:noFill/>
                </a:ln>
                <a:effectLst/>
                <a:latin typeface="Arial" panose="020B0604020202020204" pitchFamily="34" charset="0"/>
              </a:rPr>
              <a:t> Sentiment = Positive.</a:t>
            </a:r>
          </a:p>
          <a:p>
            <a:pPr marL="0" indent="0" algn="just" eaLnBrk="0" fontAlgn="base" hangingPunct="0">
              <a:spcBef>
                <a:spcPct val="0"/>
              </a:spcBef>
              <a:spcAft>
                <a:spcPts val="600"/>
              </a:spcAft>
              <a:buNone/>
            </a:pPr>
            <a:r>
              <a:rPr kumimoji="0" lang="en-PK" altLang="en-PK" sz="2600" b="1" i="0" u="none" strike="noStrike" cap="none" normalizeH="0" baseline="0" dirty="0">
                <a:ln>
                  <a:noFill/>
                </a:ln>
                <a:effectLst/>
                <a:latin typeface="Arial" panose="020B0604020202020204" pitchFamily="34" charset="0"/>
              </a:rPr>
              <a:t>Visualization:</a:t>
            </a:r>
            <a:endParaRPr kumimoji="0" lang="en-PK" altLang="en-PK" sz="26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spcBef>
                <a:spcPct val="0"/>
              </a:spcBef>
              <a:spcAft>
                <a:spcPts val="600"/>
              </a:spcAft>
              <a:buClrTx/>
              <a:buSzTx/>
              <a:buFontTx/>
              <a:buChar char="•"/>
              <a:tabLst/>
            </a:pPr>
            <a:r>
              <a:rPr kumimoji="0" lang="en-PK" altLang="en-PK" sz="2600" b="0" i="0" u="none" strike="noStrike" cap="none" normalizeH="0" baseline="0" dirty="0">
                <a:ln>
                  <a:noFill/>
                </a:ln>
                <a:effectLst/>
                <a:latin typeface="Arial" panose="020B0604020202020204" pitchFamily="34" charset="0"/>
              </a:rPr>
              <a:t>Show embeddings in a vector space.</a:t>
            </a:r>
          </a:p>
          <a:p>
            <a:pPr marL="0" marR="0" lvl="0" indent="0" defTabSz="914400" rtl="0" eaLnBrk="0" fontAlgn="base" latinLnBrk="0" hangingPunct="0">
              <a:spcBef>
                <a:spcPct val="0"/>
              </a:spcBef>
              <a:spcAft>
                <a:spcPts val="600"/>
              </a:spcAft>
              <a:buClrTx/>
              <a:buSzTx/>
              <a:buFontTx/>
              <a:buNone/>
              <a:tabLst/>
            </a:pPr>
            <a:endParaRPr kumimoji="0" lang="en-PK" altLang="en-PK"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648909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D380-E7FC-13BD-2285-515FFC71A58D}"/>
              </a:ext>
            </a:extLst>
          </p:cNvPr>
          <p:cNvSpPr>
            <a:spLocks noGrp="1"/>
          </p:cNvSpPr>
          <p:nvPr>
            <p:ph type="title"/>
          </p:nvPr>
        </p:nvSpPr>
        <p:spPr/>
        <p:txBody>
          <a:bodyPr/>
          <a:lstStyle/>
          <a:p>
            <a:r>
              <a:rPr lang="en-GB" dirty="0"/>
              <a:t>Applications of NLP with Machine Learning</a:t>
            </a:r>
            <a:endParaRPr lang="en-PK" dirty="0"/>
          </a:p>
        </p:txBody>
      </p:sp>
      <p:sp>
        <p:nvSpPr>
          <p:cNvPr id="4" name="Rectangle 1">
            <a:extLst>
              <a:ext uri="{FF2B5EF4-FFF2-40B4-BE49-F238E27FC236}">
                <a16:creationId xmlns:a16="http://schemas.microsoft.com/office/drawing/2014/main" id="{D1B20885-F716-EE4E-21E7-04E69BF23286}"/>
              </a:ext>
            </a:extLst>
          </p:cNvPr>
          <p:cNvSpPr>
            <a:spLocks noGrp="1" noChangeArrowheads="1"/>
          </p:cNvSpPr>
          <p:nvPr>
            <p:ph idx="1"/>
          </p:nvPr>
        </p:nvSpPr>
        <p:spPr bwMode="auto">
          <a:xfrm>
            <a:off x="838200" y="1785303"/>
            <a:ext cx="1088214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Applications</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Chatbots and Virtual Assistants</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Understand user queries and generate responses.</a:t>
            </a: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Spam Filtering</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Classify emails as spam or not.</a:t>
            </a: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Sentiment Analysis</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Gauge opinions from reviews.</a:t>
            </a: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Search Engines</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Cluster and rank results based on relevance.</a:t>
            </a:r>
          </a:p>
          <a:p>
            <a:pPr marL="0" marR="0" lvl="0" indent="0" algn="l"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Key Takeaway</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Combining NLP and ML makes language processing scalable and intelligent.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8461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96ACD-C069-7528-7A40-17B9EBE6CEE6}"/>
              </a:ext>
            </a:extLst>
          </p:cNvPr>
          <p:cNvSpPr>
            <a:spLocks noGrp="1"/>
          </p:cNvSpPr>
          <p:nvPr>
            <p:ph type="title"/>
          </p:nvPr>
        </p:nvSpPr>
        <p:spPr>
          <a:xfrm>
            <a:off x="838200" y="90411"/>
            <a:ext cx="10515600" cy="1325563"/>
          </a:xfrm>
        </p:spPr>
        <p:txBody>
          <a:bodyPr/>
          <a:lstStyle/>
          <a:p>
            <a:r>
              <a:rPr lang="en-GB" b="1" dirty="0"/>
              <a:t>Working Example: End-to-End Text Processing with Word2Vec</a:t>
            </a:r>
            <a:endParaRPr lang="en-PK" b="1" dirty="0"/>
          </a:p>
        </p:txBody>
      </p:sp>
      <p:sp>
        <p:nvSpPr>
          <p:cNvPr id="5" name="Rectangle 2">
            <a:extLst>
              <a:ext uri="{FF2B5EF4-FFF2-40B4-BE49-F238E27FC236}">
                <a16:creationId xmlns:a16="http://schemas.microsoft.com/office/drawing/2014/main" id="{9AD1CFE0-848D-4D54-B40C-54D5577394EE}"/>
              </a:ext>
            </a:extLst>
          </p:cNvPr>
          <p:cNvSpPr>
            <a:spLocks noGrp="1" noChangeArrowheads="1"/>
          </p:cNvSpPr>
          <p:nvPr>
            <p:ph idx="1"/>
          </p:nvPr>
        </p:nvSpPr>
        <p:spPr bwMode="auto">
          <a:xfrm>
            <a:off x="838200" y="1415974"/>
            <a:ext cx="5632048"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dirty="0">
                <a:ln>
                  <a:noFill/>
                </a:ln>
                <a:solidFill>
                  <a:schemeClr val="tx1"/>
                </a:solidFill>
                <a:effectLst/>
                <a:latin typeface="Arial" panose="020B0604020202020204" pitchFamily="34" charset="0"/>
              </a:rPr>
              <a:t>Step 1: Input and Preprocessing</a:t>
            </a: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Input Sentence:</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Unicode MS"/>
              </a:rPr>
              <a:t>"NLP is fun"</a:t>
            </a:r>
            <a:endParaRPr kumimoji="0" lang="en-PK" altLang="en-PK" sz="2400" b="1"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Preprocessing Steps:</a:t>
            </a: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Convert to Lowercase:</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panose="020B0604020202020204" pitchFamily="34" charset="0"/>
              </a:rPr>
              <a:t>Input → </a:t>
            </a:r>
            <a:r>
              <a:rPr kumimoji="0" lang="en-PK" altLang="en-PK" sz="2400" b="0" i="0" u="none" strike="noStrike" cap="none" normalizeH="0" baseline="0" dirty="0">
                <a:ln>
                  <a:noFill/>
                </a:ln>
                <a:solidFill>
                  <a:schemeClr val="tx1"/>
                </a:solidFill>
                <a:effectLst/>
                <a:latin typeface="Arial Unicode MS"/>
              </a:rPr>
              <a:t>"</a:t>
            </a:r>
            <a:r>
              <a:rPr kumimoji="0" lang="en-PK" altLang="en-PK" sz="2400" b="0" i="0" u="none" strike="noStrike" cap="none" normalizeH="0" baseline="0" dirty="0" err="1">
                <a:ln>
                  <a:noFill/>
                </a:ln>
                <a:solidFill>
                  <a:schemeClr val="tx1"/>
                </a:solidFill>
                <a:effectLst/>
                <a:latin typeface="Arial Unicode MS"/>
              </a:rPr>
              <a:t>nlp</a:t>
            </a:r>
            <a:r>
              <a:rPr kumimoji="0" lang="en-PK" altLang="en-PK" sz="2400" b="0" i="0" u="none" strike="noStrike" cap="none" normalizeH="0" baseline="0" dirty="0">
                <a:ln>
                  <a:noFill/>
                </a:ln>
                <a:solidFill>
                  <a:schemeClr val="tx1"/>
                </a:solidFill>
                <a:effectLst/>
                <a:latin typeface="Arial Unicode MS"/>
              </a:rPr>
              <a:t> is fun"</a:t>
            </a:r>
            <a:endParaRPr kumimoji="0" lang="en-PK" altLang="en-PK"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Tokenization:</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panose="020B0604020202020204" pitchFamily="34" charset="0"/>
              </a:rPr>
              <a:t>Split the sentence into words:</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panose="020B0604020202020204" pitchFamily="34" charset="0"/>
              </a:rPr>
              <a:t>Tokens → </a:t>
            </a:r>
            <a:r>
              <a:rPr kumimoji="0" lang="en-PK" altLang="en-PK" sz="2400" b="0" i="0" u="none" strike="noStrike" cap="none" normalizeH="0" baseline="0" dirty="0">
                <a:ln>
                  <a:noFill/>
                </a:ln>
                <a:solidFill>
                  <a:schemeClr val="tx1"/>
                </a:solidFill>
                <a:effectLst/>
                <a:latin typeface="Arial Unicode MS"/>
              </a:rPr>
              <a:t>["</a:t>
            </a:r>
            <a:r>
              <a:rPr kumimoji="0" lang="en-PK" altLang="en-PK" sz="2400" b="0" i="0" u="none" strike="noStrike" cap="none" normalizeH="0" baseline="0" dirty="0" err="1">
                <a:ln>
                  <a:noFill/>
                </a:ln>
                <a:solidFill>
                  <a:schemeClr val="tx1"/>
                </a:solidFill>
                <a:effectLst/>
                <a:latin typeface="Arial Unicode MS"/>
              </a:rPr>
              <a:t>nlp</a:t>
            </a:r>
            <a:r>
              <a:rPr kumimoji="0" lang="en-PK" altLang="en-PK" sz="2400" b="0" i="0" u="none" strike="noStrike" cap="none" normalizeH="0" baseline="0" dirty="0">
                <a:ln>
                  <a:noFill/>
                </a:ln>
                <a:solidFill>
                  <a:schemeClr val="tx1"/>
                </a:solidFill>
                <a:effectLst/>
                <a:latin typeface="Arial Unicode MS"/>
              </a:rPr>
              <a:t>", "is", "fun"]</a:t>
            </a:r>
            <a:endParaRPr kumimoji="0" lang="en-PK" altLang="en-PK"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PK" altLang="en-PK" sz="2400" b="1" i="0" u="none" strike="noStrike" cap="none" normalizeH="0" baseline="0" dirty="0">
                <a:ln>
                  <a:noFill/>
                </a:ln>
                <a:solidFill>
                  <a:schemeClr val="tx1"/>
                </a:solidFill>
                <a:effectLst/>
                <a:latin typeface="Arial" panose="020B0604020202020204" pitchFamily="34" charset="0"/>
              </a:rPr>
              <a:t>Remove Stop Words (if required):</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panose="020B0604020202020204" pitchFamily="34" charset="0"/>
              </a:rPr>
              <a:t>Common stop words like </a:t>
            </a:r>
            <a:r>
              <a:rPr kumimoji="0" lang="en-PK" altLang="en-PK" sz="2400" b="0" i="0" u="none" strike="noStrike" cap="none" normalizeH="0" baseline="0" dirty="0">
                <a:ln>
                  <a:noFill/>
                </a:ln>
                <a:solidFill>
                  <a:schemeClr val="tx1"/>
                </a:solidFill>
                <a:effectLst/>
                <a:latin typeface="Arial Unicode MS"/>
              </a:rPr>
              <a:t>"is"</a:t>
            </a:r>
            <a:r>
              <a:rPr kumimoji="0" lang="en-PK" altLang="en-PK" sz="2400" b="0" i="0" u="none" strike="noStrike" cap="none" normalizeH="0" baseline="0" dirty="0">
                <a:ln>
                  <a:noFill/>
                </a:ln>
                <a:solidFill>
                  <a:schemeClr val="tx1"/>
                </a:solidFill>
                <a:effectLst/>
              </a:rPr>
              <a:t> can be removed.</a:t>
            </a:r>
            <a:br>
              <a:rPr kumimoji="0" lang="en-PK" altLang="en-PK" sz="2400" b="0" i="0" u="none" strike="noStrike" cap="none" normalizeH="0" baseline="0" dirty="0">
                <a:ln>
                  <a:noFill/>
                </a:ln>
                <a:solidFill>
                  <a:schemeClr val="tx1"/>
                </a:solidFill>
                <a:effectLst/>
              </a:rPr>
            </a:br>
            <a:r>
              <a:rPr kumimoji="0" lang="en-PK" altLang="en-PK" sz="2400" b="0" i="0" u="none" strike="noStrike" cap="none" normalizeH="0" baseline="0" dirty="0">
                <a:ln>
                  <a:noFill/>
                </a:ln>
                <a:solidFill>
                  <a:schemeClr val="tx1"/>
                </a:solidFill>
                <a:effectLst/>
              </a:rPr>
              <a:t>Result → </a:t>
            </a:r>
            <a:r>
              <a:rPr kumimoji="0" lang="en-PK" altLang="en-PK" sz="2400" b="0" i="0" u="none" strike="noStrike" cap="none" normalizeH="0" baseline="0" dirty="0">
                <a:ln>
                  <a:noFill/>
                </a:ln>
                <a:solidFill>
                  <a:schemeClr val="tx1"/>
                </a:solidFill>
                <a:effectLst/>
                <a:latin typeface="Arial Unicode MS"/>
              </a:rPr>
              <a:t>["</a:t>
            </a:r>
            <a:r>
              <a:rPr kumimoji="0" lang="en-PK" altLang="en-PK" sz="2400" b="0" i="0" u="none" strike="noStrike" cap="none" normalizeH="0" baseline="0" dirty="0" err="1">
                <a:ln>
                  <a:noFill/>
                </a:ln>
                <a:solidFill>
                  <a:schemeClr val="tx1"/>
                </a:solidFill>
                <a:effectLst/>
                <a:latin typeface="Arial Unicode MS"/>
              </a:rPr>
              <a:t>nlp</a:t>
            </a:r>
            <a:r>
              <a:rPr kumimoji="0" lang="en-PK" altLang="en-PK" sz="2400" b="0" i="0" u="none" strike="noStrike" cap="none" normalizeH="0" baseline="0" dirty="0">
                <a:ln>
                  <a:noFill/>
                </a:ln>
                <a:solidFill>
                  <a:schemeClr val="tx1"/>
                </a:solidFill>
                <a:effectLst/>
                <a:latin typeface="Arial Unicode MS"/>
              </a:rPr>
              <a:t>", "fun"]</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15A19F95-B076-AD21-3A63-F2936D7ED3A2}"/>
              </a:ext>
            </a:extLst>
          </p:cNvPr>
          <p:cNvSpPr txBox="1"/>
          <p:nvPr/>
        </p:nvSpPr>
        <p:spPr>
          <a:xfrm>
            <a:off x="6539695" y="1415974"/>
            <a:ext cx="5393803" cy="3416320"/>
          </a:xfrm>
          <a:prstGeom prst="rect">
            <a:avLst/>
          </a:prstGeom>
          <a:noFill/>
        </p:spPr>
        <p:txBody>
          <a:bodyPr wrap="square">
            <a:spAutoFit/>
          </a:bodyPr>
          <a:lstStyle/>
          <a:p>
            <a:r>
              <a:rPr lang="en-GB" sz="2400" b="1" dirty="0"/>
              <a:t>Step 2: Generating Word Embeddings with Word2Vec</a:t>
            </a:r>
          </a:p>
          <a:p>
            <a:pPr marL="342900" indent="-342900" algn="just">
              <a:buFont typeface="Arial" panose="020B0604020202020204" pitchFamily="34" charset="0"/>
              <a:buChar char="•"/>
            </a:pPr>
            <a:r>
              <a:rPr lang="en-GB" sz="2400" dirty="0"/>
              <a:t>Word2Vec maps each word to a dense numerical vector based on its context in the corpus. </a:t>
            </a:r>
          </a:p>
          <a:p>
            <a:pPr marL="342900" indent="-342900" algn="just">
              <a:buFont typeface="Arial" panose="020B0604020202020204" pitchFamily="34" charset="0"/>
              <a:buChar char="•"/>
            </a:pPr>
            <a:r>
              <a:rPr lang="en-GB" sz="2400" dirty="0"/>
              <a:t>Assume a pre-trained Word2Vec model generates the following embeddings for each word</a:t>
            </a:r>
          </a:p>
          <a:p>
            <a:pPr marL="342900" indent="-342900">
              <a:buFont typeface="Arial" panose="020B0604020202020204" pitchFamily="34" charset="0"/>
              <a:buChar char="•"/>
            </a:pPr>
            <a:endParaRPr lang="en-PK" sz="2400" b="1" dirty="0"/>
          </a:p>
        </p:txBody>
      </p:sp>
      <p:graphicFrame>
        <p:nvGraphicFramePr>
          <p:cNvPr id="12" name="Table 11">
            <a:extLst>
              <a:ext uri="{FF2B5EF4-FFF2-40B4-BE49-F238E27FC236}">
                <a16:creationId xmlns:a16="http://schemas.microsoft.com/office/drawing/2014/main" id="{27223D96-6639-B518-9F23-FEFEE50B4023}"/>
              </a:ext>
            </a:extLst>
          </p:cNvPr>
          <p:cNvGraphicFramePr>
            <a:graphicFrameLocks noGrp="1"/>
          </p:cNvGraphicFramePr>
          <p:nvPr>
            <p:extLst>
              <p:ext uri="{D42A27DB-BD31-4B8C-83A1-F6EECF244321}">
                <p14:modId xmlns:p14="http://schemas.microsoft.com/office/powerpoint/2010/main" val="2122376613"/>
              </p:ext>
            </p:extLst>
          </p:nvPr>
        </p:nvGraphicFramePr>
        <p:xfrm>
          <a:off x="6813630" y="4476509"/>
          <a:ext cx="5119868" cy="2291080"/>
        </p:xfrm>
        <a:graphic>
          <a:graphicData uri="http://schemas.openxmlformats.org/drawingml/2006/table">
            <a:tbl>
              <a:tblPr firstRow="1" bandRow="1">
                <a:tableStyleId>{5940675A-B579-460E-94D1-54222C63F5DA}</a:tableStyleId>
              </a:tblPr>
              <a:tblGrid>
                <a:gridCol w="904756">
                  <a:extLst>
                    <a:ext uri="{9D8B030D-6E8A-4147-A177-3AD203B41FA5}">
                      <a16:colId xmlns:a16="http://schemas.microsoft.com/office/drawing/2014/main" val="928840896"/>
                    </a:ext>
                  </a:extLst>
                </a:gridCol>
                <a:gridCol w="4215112">
                  <a:extLst>
                    <a:ext uri="{9D8B030D-6E8A-4147-A177-3AD203B41FA5}">
                      <a16:colId xmlns:a16="http://schemas.microsoft.com/office/drawing/2014/main" val="3360228172"/>
                    </a:ext>
                  </a:extLst>
                </a:gridCol>
              </a:tblGrid>
              <a:tr h="320998">
                <a:tc>
                  <a:txBody>
                    <a:bodyPr/>
                    <a:lstStyle/>
                    <a:p>
                      <a:r>
                        <a:rPr lang="en-GB" sz="1800" b="1" dirty="0"/>
                        <a:t>Word	</a:t>
                      </a:r>
                      <a:endParaRPr lang="en-PK" sz="1800" b="1" dirty="0"/>
                    </a:p>
                  </a:txBody>
                  <a:tcPr/>
                </a:tc>
                <a:tc>
                  <a:txBody>
                    <a:bodyPr/>
                    <a:lstStyle/>
                    <a:p>
                      <a:r>
                        <a:rPr lang="en-GB" sz="1800" b="1" dirty="0"/>
                        <a:t>Embedding Vector (3D for simplicity)</a:t>
                      </a:r>
                    </a:p>
                  </a:txBody>
                  <a:tcPr/>
                </a:tc>
                <a:extLst>
                  <a:ext uri="{0D108BD9-81ED-4DB2-BD59-A6C34878D82A}">
                    <a16:rowId xmlns:a16="http://schemas.microsoft.com/office/drawing/2014/main" val="69419420"/>
                  </a:ext>
                </a:extLst>
              </a:tr>
              <a:tr h="370840">
                <a:tc>
                  <a:txBody>
                    <a:bodyPr/>
                    <a:lstStyle/>
                    <a:p>
                      <a:r>
                        <a:rPr lang="en-GB" sz="1800" b="1" dirty="0"/>
                        <a:t>NLP	</a:t>
                      </a:r>
                      <a:endParaRPr lang="en-PK" sz="1800" b="1" dirty="0"/>
                    </a:p>
                  </a:txBody>
                  <a:tcPr/>
                </a:tc>
                <a:tc>
                  <a:txBody>
                    <a:bodyPr/>
                    <a:lstStyle/>
                    <a:p>
                      <a:r>
                        <a:rPr lang="en-GB" sz="1800" dirty="0"/>
                        <a:t>[0.5, 0.1, 0.8]</a:t>
                      </a:r>
                    </a:p>
                  </a:txBody>
                  <a:tcPr/>
                </a:tc>
                <a:extLst>
                  <a:ext uri="{0D108BD9-81ED-4DB2-BD59-A6C34878D82A}">
                    <a16:rowId xmlns:a16="http://schemas.microsoft.com/office/drawing/2014/main" val="451599436"/>
                  </a:ext>
                </a:extLst>
              </a:tr>
              <a:tr h="370840">
                <a:tc>
                  <a:txBody>
                    <a:bodyPr/>
                    <a:lstStyle/>
                    <a:p>
                      <a:r>
                        <a:rPr lang="en-GB" sz="1800" b="1" dirty="0"/>
                        <a:t>is	</a:t>
                      </a:r>
                      <a:endParaRPr lang="en-PK" sz="1800" b="1" dirty="0"/>
                    </a:p>
                  </a:txBody>
                  <a:tcPr/>
                </a:tc>
                <a:tc>
                  <a:txBody>
                    <a:bodyPr/>
                    <a:lstStyle/>
                    <a:p>
                      <a:r>
                        <a:rPr lang="en-GB" sz="1800" dirty="0"/>
                        <a:t>[0.2, 0.6, 0.4]</a:t>
                      </a:r>
                    </a:p>
                  </a:txBody>
                  <a:tcPr/>
                </a:tc>
                <a:extLst>
                  <a:ext uri="{0D108BD9-81ED-4DB2-BD59-A6C34878D82A}">
                    <a16:rowId xmlns:a16="http://schemas.microsoft.com/office/drawing/2014/main" val="3772063285"/>
                  </a:ext>
                </a:extLst>
              </a:tr>
              <a:tr h="370840">
                <a:tc>
                  <a:txBody>
                    <a:bodyPr/>
                    <a:lstStyle/>
                    <a:p>
                      <a:r>
                        <a:rPr lang="en-GB" sz="1800" b="1" dirty="0"/>
                        <a:t>fun</a:t>
                      </a:r>
                      <a:endParaRPr lang="en-PK" sz="1800" b="1" dirty="0"/>
                    </a:p>
                  </a:txBody>
                  <a:tcPr/>
                </a:tc>
                <a:tc>
                  <a:txBody>
                    <a:bodyPr/>
                    <a:lstStyle/>
                    <a:p>
                      <a:r>
                        <a:rPr lang="en-GB" sz="1800" dirty="0"/>
                        <a:t>[0.9, 0.7, 0.3]</a:t>
                      </a:r>
                      <a:endParaRPr lang="en-PK" sz="1800" dirty="0"/>
                    </a:p>
                  </a:txBody>
                  <a:tcPr/>
                </a:tc>
                <a:extLst>
                  <a:ext uri="{0D108BD9-81ED-4DB2-BD59-A6C34878D82A}">
                    <a16:rowId xmlns:a16="http://schemas.microsoft.com/office/drawing/2014/main" val="64409654"/>
                  </a:ext>
                </a:extLst>
              </a:tr>
            </a:tbl>
          </a:graphicData>
        </a:graphic>
      </p:graphicFrame>
    </p:spTree>
    <p:extLst>
      <p:ext uri="{BB962C8B-B14F-4D97-AF65-F5344CB8AC3E}">
        <p14:creationId xmlns:p14="http://schemas.microsoft.com/office/powerpoint/2010/main" val="1327615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59BAA8-07C1-16F6-2CA6-7C96FBB5FAA2}"/>
              </a:ext>
            </a:extLst>
          </p:cNvPr>
          <p:cNvSpPr txBox="1"/>
          <p:nvPr/>
        </p:nvSpPr>
        <p:spPr>
          <a:xfrm>
            <a:off x="581629" y="403822"/>
            <a:ext cx="6062240" cy="2677656"/>
          </a:xfrm>
          <a:prstGeom prst="rect">
            <a:avLst/>
          </a:prstGeom>
          <a:noFill/>
        </p:spPr>
        <p:txBody>
          <a:bodyPr wrap="square">
            <a:spAutoFit/>
          </a:bodyPr>
          <a:lstStyle/>
          <a:p>
            <a:r>
              <a:rPr lang="it-IT" sz="2400" b="1" dirty="0"/>
              <a:t>Vector Representation for the Sentence:</a:t>
            </a:r>
          </a:p>
          <a:p>
            <a:pPr marL="285750" indent="-285750" algn="just">
              <a:buFont typeface="Arial" panose="020B0604020202020204" pitchFamily="34" charset="0"/>
              <a:buChar char="•"/>
            </a:pPr>
            <a:r>
              <a:rPr lang="it-IT" sz="2400" dirty="0"/>
              <a:t>Sentence Embedding → Combine word embeddings (e.g., by averaging): </a:t>
            </a:r>
          </a:p>
          <a:p>
            <a:pPr marL="285750" indent="-285750" algn="just">
              <a:buFont typeface="Arial" panose="020B0604020202020204" pitchFamily="34" charset="0"/>
              <a:buChar char="•"/>
            </a:pPr>
            <a:r>
              <a:rPr lang="it-IT" sz="2400" b="1" dirty="0"/>
              <a:t>Sentence Vector </a:t>
            </a:r>
            <a:r>
              <a:rPr lang="it-IT" sz="2400" dirty="0"/>
              <a:t>= (NLP+is+fun)/3</a:t>
            </a:r>
          </a:p>
          <a:p>
            <a:pPr marL="285750" indent="-285750">
              <a:buFont typeface="Arial" panose="020B0604020202020204" pitchFamily="34" charset="0"/>
              <a:buChar char="•"/>
            </a:pPr>
            <a:r>
              <a:rPr lang="it-IT" sz="2400" b="1" dirty="0"/>
              <a:t>Sentence Vector </a:t>
            </a:r>
            <a:r>
              <a:rPr lang="it-IT" sz="2400" dirty="0"/>
              <a:t>= ([0.5,0.1,0.8]+[0.2,0.6,0.4]+[0.9,0.7,0.3])/3</a:t>
            </a:r>
          </a:p>
          <a:p>
            <a:pPr marL="285750" indent="-285750" algn="just">
              <a:buFont typeface="Arial" panose="020B0604020202020204" pitchFamily="34" charset="0"/>
              <a:buChar char="•"/>
            </a:pPr>
            <a:r>
              <a:rPr lang="it-IT" sz="2400" b="1" dirty="0"/>
              <a:t>Sentence Vector </a:t>
            </a:r>
            <a:r>
              <a:rPr lang="it-IT" sz="2400" dirty="0"/>
              <a:t>= [0.53,0.47,0.5]</a:t>
            </a:r>
          </a:p>
        </p:txBody>
      </p:sp>
      <p:sp>
        <p:nvSpPr>
          <p:cNvPr id="6" name="Rectangle 1">
            <a:extLst>
              <a:ext uri="{FF2B5EF4-FFF2-40B4-BE49-F238E27FC236}">
                <a16:creationId xmlns:a16="http://schemas.microsoft.com/office/drawing/2014/main" id="{86BB8E2A-57AD-3EC2-F8E2-87F1D7143327}"/>
              </a:ext>
            </a:extLst>
          </p:cNvPr>
          <p:cNvSpPr>
            <a:spLocks noChangeArrowheads="1"/>
          </p:cNvSpPr>
          <p:nvPr/>
        </p:nvSpPr>
        <p:spPr bwMode="auto">
          <a:xfrm>
            <a:off x="581629" y="3591856"/>
            <a:ext cx="606224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1" i="0" u="none" strike="noStrike" cap="none" normalizeH="0" baseline="0" dirty="0">
                <a:ln>
                  <a:noFill/>
                </a:ln>
                <a:solidFill>
                  <a:schemeClr val="tx1"/>
                </a:solidFill>
                <a:effectLst/>
                <a:latin typeface="Arial" panose="020B0604020202020204" pitchFamily="34" charset="0"/>
              </a:rPr>
              <a:t>Step 3: Feature Extraction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The sentence embedding </a:t>
            </a:r>
            <a:r>
              <a:rPr kumimoji="0" lang="en-PK" altLang="en-PK" sz="2800" b="0" i="0" u="none" strike="noStrike" cap="none" normalizeH="0" baseline="0" dirty="0">
                <a:ln>
                  <a:noFill/>
                </a:ln>
                <a:solidFill>
                  <a:schemeClr val="tx1"/>
                </a:solidFill>
                <a:effectLst/>
                <a:latin typeface="Arial Unicode MS"/>
              </a:rPr>
              <a:t>[0.53, 0.47, 0.5]</a:t>
            </a:r>
            <a:r>
              <a:rPr kumimoji="0" lang="en-PK" altLang="en-PK" sz="2400" b="0" i="0" u="none" strike="noStrike" cap="none" normalizeH="0" baseline="0" dirty="0">
                <a:ln>
                  <a:noFill/>
                </a:ln>
                <a:solidFill>
                  <a:schemeClr val="tx1"/>
                </a:solidFill>
                <a:effectLst/>
              </a:rPr>
              <a:t> is the extracted feature representation for the entire sentence. These features can now be passed into a machine learning model for various tasks, such as classification or clustering.</a:t>
            </a:r>
            <a:endParaRPr kumimoji="0" lang="en-PK" altLang="en-PK" sz="5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53CFD776-309F-5831-09B1-86A240321F5D}"/>
              </a:ext>
            </a:extLst>
          </p:cNvPr>
          <p:cNvSpPr txBox="1"/>
          <p:nvPr/>
        </p:nvSpPr>
        <p:spPr>
          <a:xfrm>
            <a:off x="6921661" y="333137"/>
            <a:ext cx="5046562" cy="6524863"/>
          </a:xfrm>
          <a:prstGeom prst="rect">
            <a:avLst/>
          </a:prstGeom>
          <a:noFill/>
        </p:spPr>
        <p:txBody>
          <a:bodyPr wrap="square">
            <a:spAutoFit/>
          </a:bodyPr>
          <a:lstStyle/>
          <a:p>
            <a:r>
              <a:rPr lang="en-GB" sz="2200" b="1" dirty="0"/>
              <a:t>Step 4: Using a Model</a:t>
            </a:r>
          </a:p>
          <a:p>
            <a:r>
              <a:rPr lang="en-GB" sz="2200" b="1" dirty="0"/>
              <a:t>Example Task: </a:t>
            </a:r>
            <a:r>
              <a:rPr lang="en-GB" sz="2200" dirty="0"/>
              <a:t>Text Classification</a:t>
            </a:r>
          </a:p>
          <a:p>
            <a:pPr marL="342900" indent="-342900" algn="just">
              <a:buFont typeface="Arial" panose="020B0604020202020204" pitchFamily="34" charset="0"/>
              <a:buChar char="•"/>
            </a:pPr>
            <a:r>
              <a:rPr lang="en-GB" sz="2200" dirty="0"/>
              <a:t>Let’s assume the task is to classify the sentence as Positive or Negative.</a:t>
            </a:r>
          </a:p>
          <a:p>
            <a:pPr marL="342900" indent="-342900" algn="just">
              <a:buFont typeface="Arial" panose="020B0604020202020204" pitchFamily="34" charset="0"/>
              <a:buChar char="•"/>
            </a:pPr>
            <a:r>
              <a:rPr lang="en-GB" sz="2200" dirty="0"/>
              <a:t>Input to Model: Use the sentence embedding [0.53, 0.47, 0.5] as input to a classification model (e.g., Logistic Regression or Neural Network).</a:t>
            </a:r>
          </a:p>
          <a:p>
            <a:r>
              <a:rPr lang="en-GB" sz="2200" b="1" dirty="0"/>
              <a:t>Model Training:</a:t>
            </a:r>
          </a:p>
          <a:p>
            <a:pPr marL="342900" indent="-342900">
              <a:buFont typeface="Arial" panose="020B0604020202020204" pitchFamily="34" charset="0"/>
              <a:buChar char="•"/>
            </a:pPr>
            <a:r>
              <a:rPr lang="en-GB" sz="2200" b="1" dirty="0"/>
              <a:t>Training Data:</a:t>
            </a:r>
            <a:r>
              <a:rPr lang="en-GB" sz="2200" dirty="0"/>
              <a:t> Use labelled embeddings of sentences (e.g., embeddings of "I love NLP" → Positive, and "I hate this task" → Negative).</a:t>
            </a:r>
          </a:p>
          <a:p>
            <a:pPr marL="342900" indent="-342900">
              <a:buFont typeface="Arial" panose="020B0604020202020204" pitchFamily="34" charset="0"/>
              <a:buChar char="•"/>
            </a:pPr>
            <a:r>
              <a:rPr lang="en-GB" sz="2200" b="1" dirty="0"/>
              <a:t>Train:</a:t>
            </a:r>
            <a:r>
              <a:rPr lang="en-GB" sz="2200" dirty="0"/>
              <a:t> The model learns patterns in the embedding space that associate vectors with labels.</a:t>
            </a:r>
          </a:p>
          <a:p>
            <a:pPr marL="342900" indent="-342900">
              <a:buFont typeface="Arial" panose="020B0604020202020204" pitchFamily="34" charset="0"/>
              <a:buChar char="•"/>
            </a:pPr>
            <a:r>
              <a:rPr lang="en-GB" sz="2200" b="1" dirty="0"/>
              <a:t>Output: Positive</a:t>
            </a:r>
          </a:p>
        </p:txBody>
      </p:sp>
    </p:spTree>
    <p:extLst>
      <p:ext uri="{BB962C8B-B14F-4D97-AF65-F5344CB8AC3E}">
        <p14:creationId xmlns:p14="http://schemas.microsoft.com/office/powerpoint/2010/main" val="2532725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1040</TotalTime>
  <Words>2539</Words>
  <Application>Microsoft Office PowerPoint</Application>
  <PresentationFormat>Widescreen</PresentationFormat>
  <Paragraphs>430</Paragraphs>
  <Slides>34</Slides>
  <Notes>11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34</vt:i4>
      </vt:variant>
    </vt:vector>
  </HeadingPairs>
  <TitlesOfParts>
    <vt:vector size="47" baseType="lpstr">
      <vt:lpstr>Aptos</vt:lpstr>
      <vt:lpstr>Aptos Display</vt:lpstr>
      <vt:lpstr>Arial</vt:lpstr>
      <vt:lpstr>Arial Unicode MS</vt:lpstr>
      <vt:lpstr>ArialMT</vt:lpstr>
      <vt:lpstr>Calibri</vt:lpstr>
      <vt:lpstr>Cambria Math</vt:lpstr>
      <vt:lpstr>IBM Plex Sans</vt:lpstr>
      <vt:lpstr>ProximaNova</vt:lpstr>
      <vt:lpstr>Times New Roman</vt:lpstr>
      <vt:lpstr>Office Theme</vt:lpstr>
      <vt:lpstr>1_Office Theme</vt:lpstr>
      <vt:lpstr>2_Office Theme</vt:lpstr>
      <vt:lpstr>Artificial Intelligence CS-202</vt:lpstr>
      <vt:lpstr>Week-13 CLO’s</vt:lpstr>
      <vt:lpstr>CLO’s Mapping </vt:lpstr>
      <vt:lpstr>PowerPoint Presentation</vt:lpstr>
      <vt:lpstr> What is Machine Learning:  </vt:lpstr>
      <vt:lpstr>What is Machine Learning</vt:lpstr>
      <vt:lpstr>How does Machine Learning work</vt:lpstr>
      <vt:lpstr>Machine Learning Methods </vt:lpstr>
      <vt:lpstr>Features of Machine Learning</vt:lpstr>
      <vt:lpstr>Integrating NLP with Machine Learning</vt:lpstr>
      <vt:lpstr>Text Classification Techniques</vt:lpstr>
      <vt:lpstr>Text Classification</vt:lpstr>
      <vt:lpstr>PowerPoint Presentation</vt:lpstr>
      <vt:lpstr>Word Embeddings</vt:lpstr>
      <vt:lpstr>Word Embeddings</vt:lpstr>
      <vt:lpstr>Word Embeddings</vt:lpstr>
      <vt:lpstr>Techniques for Word Embeddings</vt:lpstr>
      <vt:lpstr>Sample Code Example</vt:lpstr>
      <vt:lpstr>Word Embedding using TF-IDF </vt:lpstr>
      <vt:lpstr>Word Embedding using TF-IDF </vt:lpstr>
      <vt:lpstr>Word Embedding using TF-IDF </vt:lpstr>
      <vt:lpstr>Word Embedding using TF-IDF </vt:lpstr>
      <vt:lpstr>Word Embedding using TF-IDF </vt:lpstr>
      <vt:lpstr>Word Embedding using TF-IDF </vt:lpstr>
      <vt:lpstr>Word Embedding using TF-IDF </vt:lpstr>
      <vt:lpstr>Word2Vec</vt:lpstr>
      <vt:lpstr>Word2Vec</vt:lpstr>
      <vt:lpstr>Continuous bag-of-words (CBOW)</vt:lpstr>
      <vt:lpstr>Skip-gram</vt:lpstr>
      <vt:lpstr>Explanation Continue </vt:lpstr>
      <vt:lpstr>Text Classification with Word Embeddings</vt:lpstr>
      <vt:lpstr>Applications of NLP with Machine Learning</vt:lpstr>
      <vt:lpstr>Working Example: End-to-End Text Processing with Word2Vec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203</cp:revision>
  <dcterms:created xsi:type="dcterms:W3CDTF">2024-12-10T05:09:36Z</dcterms:created>
  <dcterms:modified xsi:type="dcterms:W3CDTF">2026-02-02T05:02:27Z</dcterms:modified>
</cp:coreProperties>
</file>