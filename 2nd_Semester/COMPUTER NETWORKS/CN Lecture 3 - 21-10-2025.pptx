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17"/>
  </p:notesMasterIdLst>
  <p:sldIdLst>
    <p:sldId id="467" r:id="rId3"/>
    <p:sldId id="468" r:id="rId4"/>
    <p:sldId id="1235" r:id="rId5"/>
    <p:sldId id="1230" r:id="rId6"/>
    <p:sldId id="1219" r:id="rId7"/>
    <p:sldId id="1236" r:id="rId8"/>
    <p:sldId id="1237" r:id="rId9"/>
    <p:sldId id="956" r:id="rId10"/>
    <p:sldId id="1231" r:id="rId11"/>
    <p:sldId id="1238" r:id="rId12"/>
    <p:sldId id="1239" r:id="rId13"/>
    <p:sldId id="1240" r:id="rId14"/>
    <p:sldId id="1241" r:id="rId15"/>
    <p:sldId id="124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96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5533"/>
    <p:restoredTop sz="91153" autoAdjust="0"/>
  </p:normalViewPr>
  <p:slideViewPr>
    <p:cSldViewPr snapToGrid="0" snapToObjects="1">
      <p:cViewPr varScale="1">
        <p:scale>
          <a:sx n="88" d="100"/>
          <a:sy n="88" d="100"/>
        </p:scale>
        <p:origin x="-1157" y="-77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90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1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=""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61A290E-8EBF-436C-B1B4-B98742F199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4F398C82-384B-4EFD-B361-1B4D3BD7F48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335B2253-DB14-4475-86AC-AD1C1E21694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FA51D69B-6635-4662-A9FD-8F0540E169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990D7-4F9D-4B9E-B4C3-884162A76BC3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87F6179F-68C9-4DE3-95A3-33997A1D1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EBDDCC9D-4286-41B4-A647-19B99DE10B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7AFE09CB-427E-46AB-BBC4-915D26310F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33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E8A56788-FA0A-4B0D-BC38-B415308D8B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F3721-63F2-4F9F-B8EE-BA413F7F830A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45F960F-F8C6-4408-BAA2-E609B2734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982BB123-DB3F-48F9-837F-1776396D6D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69F9CB5-4FC7-442E-9515-321176A5E3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452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11313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611313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6E84CEE-BCB2-434F-9948-B4F4A78498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0C1770-CCD4-4358-BCE1-7D8778725F36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AF3EAA7-A1F8-4C2C-9199-7D85E2848E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CEBD2FA-0417-4163-8165-33EAE8D964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8F7CE375-6539-47B2-A453-6299379C5A0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79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CC73460B-DF98-409E-BF82-A111F21D85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3158C-7705-43BA-94C3-863C69B3EEC3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FD1DDA72-B4DC-4DCC-A085-0492F87E52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194F8EB2-788F-4115-84B4-5EBDC4C7E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06CDFF84-4982-42F4-B7E8-F69E2175B4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40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059A2001-1312-4F2D-AFB0-9C6D5D16D5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79741-BB86-424E-88BB-506C09771BC1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C4D5D56B-9366-4C43-9F53-1E2E42469A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D15A6875-F4D9-4701-93CE-2684E8D70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652C3CCE-7E44-4A22-B44B-C9679F0AC4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4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CB43123-AC37-4F74-B544-AAD728A4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887F-7195-4200-80CF-027FFE34AF22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2D5465E-EF5C-4660-B283-80A69121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E994D1-CAE0-4A1C-8397-27CF2D17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E53ABFC-8585-4428-AFD8-6AA8A97977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55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CCAE4A2-7A7F-4FDB-BA79-78682C01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D39E3-F3F6-4A07-A62D-515FF6A6095E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426CA53-A0DB-400D-BDA4-C09CC5FE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02F49F8-D47C-441A-A79A-46EF6FDF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1266EBC2-E0B3-4580-99B2-CB4731EF09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945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9001868-0B44-4AD7-B950-37D8C02CF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D9CB0-2B58-4FCB-B5A6-FB487F67CD3D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45C941A-68D4-44D4-9C18-F244EF26A9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2012B60-6D6A-4000-B333-CD8AA0649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2-</a:t>
            </a:r>
            <a:fld id="{F6228942-4819-4349-AED3-B31B9771858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437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0F5F94C-E4D2-4227-B03A-50180A82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42D16-C487-4B3B-A972-88D9D621C2EC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AECE029-B559-4FD3-A100-70BA2DED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2340DD-0110-4CE1-AC37-8285FE4F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FE26F2D-C11B-4675-AC6C-F402982C45D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539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83600" y="228601"/>
            <a:ext cx="25908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228601"/>
            <a:ext cx="75692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07D96E-D888-4DC9-B249-8D08605C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82F8C-E739-4F44-8C06-A29B748C33F7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BB0CF4F-692C-4EFA-8D89-2CC03199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F71BEDE-41B1-4490-9BB3-AB7122C3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3A8BF55-C931-4882-8796-FE260034388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9802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11313"/>
            <a:ext cx="508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94400" y="1611313"/>
            <a:ext cx="508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994400" y="4011613"/>
            <a:ext cx="508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1422DEBA-0B03-4B2B-A2D1-3DA11FB2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DA7AC-E19E-49F5-B58C-AE15474D22C2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6DF7DFB0-2D91-4159-82D3-9666C456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F5EAB21C-42A7-4F3D-9B3E-9A8CAA65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</a:t>
            </a:r>
            <a:fld id="{BB286D4D-CC48-4E4E-BDB1-E5EA0741F2E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964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68252D7C-BEA5-41E6-9F95-C0BCA13BC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4F5F156C-A498-45B1-AEC8-389382470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611313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EE438043-4C3F-4825-9494-B211507024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F45C1C4-3E85-45D9-9711-C21BDF7CDCA9}" type="datetime1">
              <a:rPr lang="en-US" altLang="en-US"/>
              <a:pPr>
                <a:defRPr/>
              </a:pPr>
              <a:t>10/20/2025</a:t>
            </a:fld>
            <a:endParaRPr lang="en-US" altLang="en-US"/>
          </a:p>
        </p:txBody>
      </p:sp>
      <p:sp>
        <p:nvSpPr>
          <p:cNvPr id="195589" name="Rectangle 5">
            <a:extLst>
              <a:ext uri="{FF2B5EF4-FFF2-40B4-BE49-F238E27FC236}">
                <a16:creationId xmlns="" xmlns:a16="http://schemas.microsoft.com/office/drawing/2014/main" id="{EA274E3D-E3AB-4E3D-B790-E09622E86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1" y="6467475"/>
            <a:ext cx="3860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="" xmlns:a16="http://schemas.microsoft.com/office/drawing/2014/main" id="{D607D888-9115-4EA9-BACA-1A72F855B5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1" y="6462714"/>
            <a:ext cx="901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2-</a:t>
            </a:r>
            <a:fld id="{83B1A1EA-5A56-4D52-930D-500226833BE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12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="" xmlns:a16="http://schemas.microsoft.com/office/drawing/2014/main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 smtClean="0"/>
              <a:t>Computer Networks (CS-241)</a:t>
            </a:r>
            <a:endParaRPr lang="en-US" altLang="en-US" dirty="0"/>
          </a:p>
        </p:txBody>
      </p:sp>
      <p:sp>
        <p:nvSpPr>
          <p:cNvPr id="10243" name="Subtitle 2">
            <a:extLst>
              <a:ext uri="{FF2B5EF4-FFF2-40B4-BE49-F238E27FC236}">
                <a16:creationId xmlns="" xmlns:a16="http://schemas.microsoft.com/office/drawing/2014/main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819400"/>
            <a:ext cx="8534400" cy="1028700"/>
          </a:xfrm>
        </p:spPr>
        <p:txBody>
          <a:bodyPr/>
          <a:lstStyle/>
          <a:p>
            <a:r>
              <a:rPr lang="en-US" altLang="en-US" dirty="0" smtClean="0"/>
              <a:t>Dr. Syed Muhammad Mohsin</a:t>
            </a:r>
            <a:endParaRPr lang="en-US" altLang="en-US" dirty="0"/>
          </a:p>
          <a:p>
            <a:r>
              <a:rPr lang="en-US" altLang="en-US" dirty="0" smtClean="0"/>
              <a:t>Department of Computer Science,</a:t>
            </a:r>
          </a:p>
          <a:p>
            <a:r>
              <a:rPr lang="en-US" altLang="en-US" dirty="0" smtClean="0"/>
              <a:t>University of Wah 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1D89A5-A209-4B52-BF77-E96A6C2997F3}"/>
              </a:ext>
            </a:extLst>
          </p:cNvPr>
          <p:cNvSpPr txBox="1"/>
          <p:nvPr/>
        </p:nvSpPr>
        <p:spPr>
          <a:xfrm>
            <a:off x="1710391" y="5252828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Adapted From:</a:t>
            </a:r>
          </a:p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</a:t>
            </a:r>
            <a:r>
              <a:rPr lang="en-US" altLang="en-US" sz="2800" i="1" dirty="0" smtClean="0">
                <a:solidFill>
                  <a:srgbClr val="0000A3"/>
                </a:solidFill>
                <a:latin typeface="+mn-lt"/>
              </a:rPr>
              <a:t> A </a:t>
            </a: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Top-Down Approach </a:t>
            </a:r>
            <a:r>
              <a:rPr lang="en-US" altLang="en-US" sz="2800" dirty="0">
                <a:solidFill>
                  <a:srgbClr val="008000"/>
                </a:solidFill>
                <a:latin typeface="+mn-lt"/>
              </a:rPr>
              <a:t/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edition: Jim Kurose, Keith Ross Pearson, 2020</a:t>
            </a:r>
            <a:endParaRPr lang="en-US" altLang="en-US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30BDB8-19A7-4821-A917-1991A5D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3151"/>
            <a:ext cx="7772400" cy="856142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Types of Computer Networks (1/3)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59921E7-168F-425F-840C-49DC145C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973559"/>
            <a:ext cx="11725276" cy="350355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PAN </a:t>
            </a:r>
            <a:r>
              <a:rPr lang="en-US" sz="1800" b="1" dirty="0"/>
              <a:t>– Personal Area Network</a:t>
            </a:r>
          </a:p>
          <a:p>
            <a:pPr marL="0" indent="0">
              <a:buNone/>
            </a:pPr>
            <a:r>
              <a:rPr lang="en-US" sz="1800" dirty="0" smtClean="0"/>
              <a:t>A </a:t>
            </a:r>
            <a:r>
              <a:rPr lang="en-US" sz="1800" dirty="0"/>
              <a:t>PAN is the smallest type of network, designed for a single person’s devices within a very small area (a few meters).</a:t>
            </a:r>
          </a:p>
          <a:p>
            <a:pPr marL="0" indent="0">
              <a:buNone/>
            </a:pPr>
            <a:r>
              <a:rPr lang="en-US" sz="1800" b="1" dirty="0"/>
              <a:t>Key Features:</a:t>
            </a:r>
            <a:endParaRPr lang="en-US" sz="1800" dirty="0"/>
          </a:p>
          <a:p>
            <a:r>
              <a:rPr lang="en-US" sz="1800" dirty="0"/>
              <a:t>Covers a few meters (like around a person’s desk)</a:t>
            </a:r>
          </a:p>
          <a:p>
            <a:r>
              <a:rPr lang="en-US" sz="1800" dirty="0"/>
              <a:t>Used for connecting personal devices such as laptops, smartphones, tablets, printers, etc.</a:t>
            </a:r>
          </a:p>
          <a:p>
            <a:pPr marL="0" indent="0">
              <a:buNone/>
            </a:pPr>
            <a:r>
              <a:rPr lang="en-US" sz="1800" b="1" dirty="0"/>
              <a:t>Examples:</a:t>
            </a:r>
            <a:endParaRPr lang="en-US" sz="1800" dirty="0"/>
          </a:p>
          <a:p>
            <a:r>
              <a:rPr lang="en-US" sz="1800" dirty="0"/>
              <a:t>Connecting a smartphone to a laptop via Bluetooth or hotspot.</a:t>
            </a:r>
          </a:p>
          <a:p>
            <a:r>
              <a:rPr lang="en-US" sz="1800" dirty="0"/>
              <a:t>A wireless headset connected to a mobile phone.</a:t>
            </a:r>
          </a:p>
          <a:p>
            <a:r>
              <a:rPr lang="en-US" sz="1800" dirty="0"/>
              <a:t>A USB-connected printer or mouse.</a:t>
            </a:r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r>
              <a:rPr lang="en-US" sz="1800" b="1" dirty="0" smtClean="0"/>
              <a:t>LAN </a:t>
            </a:r>
            <a:r>
              <a:rPr lang="en-US" sz="1800" b="1" dirty="0"/>
              <a:t>– Local Area </a:t>
            </a:r>
            <a:r>
              <a:rPr lang="en-US" sz="1800" b="1" dirty="0" smtClean="0"/>
              <a:t>Network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A LAN connects computers and devices in a limited geographical area such as a home, office, or </a:t>
            </a:r>
            <a:r>
              <a:rPr lang="en-US" sz="1800" dirty="0" smtClean="0"/>
              <a:t>building.</a:t>
            </a:r>
          </a:p>
          <a:p>
            <a:pPr marL="0" indent="0">
              <a:buNone/>
            </a:pPr>
            <a:r>
              <a:rPr lang="en-US" sz="1800" b="1" dirty="0" smtClean="0"/>
              <a:t>Key Features:</a:t>
            </a:r>
            <a:endParaRPr lang="en-US" sz="1800" dirty="0" smtClean="0"/>
          </a:p>
          <a:p>
            <a:r>
              <a:rPr lang="en-US" sz="1800" dirty="0" smtClean="0"/>
              <a:t>High </a:t>
            </a:r>
            <a:r>
              <a:rPr lang="en-US" sz="1800" dirty="0"/>
              <a:t>data transfer rates (up to 1 </a:t>
            </a:r>
            <a:r>
              <a:rPr lang="en-US" sz="1800" dirty="0" err="1"/>
              <a:t>Gbps</a:t>
            </a:r>
            <a:r>
              <a:rPr lang="en-US" sz="1800" dirty="0"/>
              <a:t> or more)</a:t>
            </a:r>
          </a:p>
          <a:p>
            <a:r>
              <a:rPr lang="en-US" sz="1800" dirty="0"/>
              <a:t>Privately owned and managed</a:t>
            </a:r>
          </a:p>
          <a:p>
            <a:r>
              <a:rPr lang="en-US" sz="1800" dirty="0"/>
              <a:t>Usually uses Ethernet cables or Wi-Fi</a:t>
            </a:r>
          </a:p>
          <a:p>
            <a:pPr marL="0" indent="0">
              <a:buNone/>
            </a:pPr>
            <a:r>
              <a:rPr lang="en-US" sz="1800" b="1" dirty="0"/>
              <a:t>Examples:</a:t>
            </a:r>
            <a:endParaRPr lang="en-US" sz="1800" dirty="0"/>
          </a:p>
          <a:p>
            <a:r>
              <a:rPr lang="en-US" sz="1800" dirty="0"/>
              <a:t>Computers connected in a university lab or office.</a:t>
            </a:r>
          </a:p>
          <a:p>
            <a:r>
              <a:rPr lang="en-US" sz="1800" dirty="0"/>
              <a:t>A Wi-Fi network in a home or school.</a:t>
            </a:r>
          </a:p>
          <a:p>
            <a:r>
              <a:rPr lang="en-US" sz="1800" dirty="0"/>
              <a:t>A small company’s internal </a:t>
            </a:r>
            <a:r>
              <a:rPr lang="en-US" sz="1800" dirty="0" smtClean="0"/>
              <a:t>network.</a:t>
            </a:r>
          </a:p>
        </p:txBody>
      </p:sp>
      <p:pic>
        <p:nvPicPr>
          <p:cNvPr id="2050" name="Picture 2" descr="C:\Users\UbaidComputers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449" y="4477110"/>
            <a:ext cx="2385197" cy="23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baidComputers\Desktop\Untitl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353" y="1595896"/>
            <a:ext cx="2432647" cy="243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30BDB8-19A7-4821-A917-1991A5D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-97065"/>
            <a:ext cx="7772400" cy="778552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Types of Computer Networks (2/3)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59921E7-168F-425F-840C-49DC145C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568137"/>
            <a:ext cx="11725276" cy="350355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MAN – </a:t>
            </a:r>
            <a:r>
              <a:rPr lang="en-US" sz="1800" b="1" dirty="0"/>
              <a:t>Metropolitan Area </a:t>
            </a:r>
            <a:r>
              <a:rPr lang="en-US" sz="1800" b="1" dirty="0" smtClean="0"/>
              <a:t>Network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A MAN covers a larger area than a LAN — typically a city or campus — and interconnects multiple LANs.</a:t>
            </a:r>
          </a:p>
          <a:p>
            <a:pPr marL="0" indent="0">
              <a:buNone/>
            </a:pPr>
            <a:r>
              <a:rPr lang="en-US" sz="1800" b="1" dirty="0"/>
              <a:t>Key Features:</a:t>
            </a:r>
            <a:endParaRPr lang="en-US" sz="1800" dirty="0"/>
          </a:p>
          <a:p>
            <a:r>
              <a:rPr lang="en-US" sz="1800" dirty="0"/>
              <a:t>Spans across a city or large campus</a:t>
            </a:r>
          </a:p>
          <a:p>
            <a:r>
              <a:rPr lang="en-US" sz="1800" dirty="0"/>
              <a:t>Can be owned by an organization or managed by an Internet Service Provider (ISP)</a:t>
            </a:r>
          </a:p>
          <a:p>
            <a:r>
              <a:rPr lang="en-US" sz="1800" dirty="0"/>
              <a:t>Uses high-speed fiber optic connections</a:t>
            </a:r>
          </a:p>
          <a:p>
            <a:pPr marL="0" indent="0">
              <a:buNone/>
            </a:pPr>
            <a:r>
              <a:rPr lang="en-US" sz="1800" b="1" dirty="0"/>
              <a:t>Examples:</a:t>
            </a:r>
            <a:endParaRPr lang="en-US" sz="1800" dirty="0"/>
          </a:p>
          <a:p>
            <a:r>
              <a:rPr lang="en-US" sz="1800" dirty="0"/>
              <a:t>A university’s campus network connecting different buildings.</a:t>
            </a:r>
          </a:p>
          <a:p>
            <a:r>
              <a:rPr lang="en-US" sz="1800" dirty="0"/>
              <a:t>City-wide Wi-Fi or cable TV networks.</a:t>
            </a:r>
          </a:p>
          <a:p>
            <a:r>
              <a:rPr lang="en-US" sz="1800" dirty="0"/>
              <a:t>A government department’s network across multiple city offices.</a:t>
            </a:r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r>
              <a:rPr lang="en-US" sz="1800" b="1" dirty="0" smtClean="0"/>
              <a:t>WAN </a:t>
            </a:r>
            <a:r>
              <a:rPr lang="en-US" sz="1800" b="1" dirty="0"/>
              <a:t>– Wide Area Network</a:t>
            </a:r>
          </a:p>
          <a:p>
            <a:pPr marL="0" indent="0">
              <a:buNone/>
            </a:pPr>
            <a:r>
              <a:rPr lang="en-US" sz="1800" dirty="0" smtClean="0"/>
              <a:t>A </a:t>
            </a:r>
            <a:r>
              <a:rPr lang="en-US" sz="1800" dirty="0"/>
              <a:t>WAN covers a very large geographical area — a country, continent, or even the whole world. It connects multiple MANs and LANs.</a:t>
            </a:r>
          </a:p>
          <a:p>
            <a:pPr marL="0" indent="0">
              <a:buNone/>
            </a:pPr>
            <a:r>
              <a:rPr lang="en-US" sz="1800" b="1" dirty="0"/>
              <a:t>Key Features:</a:t>
            </a:r>
            <a:endParaRPr lang="en-US" sz="1800" dirty="0"/>
          </a:p>
          <a:p>
            <a:r>
              <a:rPr lang="en-US" sz="1800" dirty="0"/>
              <a:t>Covers large distances</a:t>
            </a:r>
          </a:p>
          <a:p>
            <a:r>
              <a:rPr lang="en-US" sz="1800" dirty="0"/>
              <a:t>Uses satellite links, undersea cables, or leased telephone lines</a:t>
            </a:r>
          </a:p>
          <a:p>
            <a:r>
              <a:rPr lang="en-US" sz="1800" dirty="0"/>
              <a:t>Managed by multiple organizations or service </a:t>
            </a:r>
            <a:r>
              <a:rPr lang="en-US" sz="1800" dirty="0" smtClean="0"/>
              <a:t>providers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Examples:</a:t>
            </a:r>
            <a:endParaRPr lang="en-US" sz="1800" dirty="0"/>
          </a:p>
          <a:p>
            <a:r>
              <a:rPr lang="en-US" sz="1800" dirty="0"/>
              <a:t>The </a:t>
            </a:r>
            <a:r>
              <a:rPr lang="en-US" sz="1800" b="1" dirty="0"/>
              <a:t>Internet</a:t>
            </a:r>
            <a:r>
              <a:rPr lang="en-US" sz="1800" dirty="0"/>
              <a:t> (largest WAN in the world).</a:t>
            </a:r>
          </a:p>
          <a:p>
            <a:r>
              <a:rPr lang="en-US" sz="1800" dirty="0"/>
              <a:t>A multinational company’s private network connecting offices in different countries.</a:t>
            </a:r>
          </a:p>
          <a:p>
            <a:r>
              <a:rPr lang="en-US" sz="1800" dirty="0"/>
              <a:t>A bank’s inter-branch communication network.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3074" name="Picture 2" descr="C:\Users\UbaidComputers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943" y="1086928"/>
            <a:ext cx="2631057" cy="263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UbaidComputers\Desktop\Untitl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70" y="4235570"/>
            <a:ext cx="2622430" cy="262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20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675893"/>
              </p:ext>
            </p:extLst>
          </p:nvPr>
        </p:nvGraphicFramePr>
        <p:xfrm>
          <a:off x="168874" y="1504087"/>
          <a:ext cx="7793305" cy="4572000"/>
        </p:xfrm>
        <a:graphic>
          <a:graphicData uri="http://schemas.openxmlformats.org/drawingml/2006/table">
            <a:tbl>
              <a:tblPr/>
              <a:tblGrid>
                <a:gridCol w="1558661"/>
                <a:gridCol w="1558661"/>
                <a:gridCol w="1558661"/>
                <a:gridCol w="1558661"/>
                <a:gridCol w="1558661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Full Form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Coverage Area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Ownership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Personal Area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few 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Individual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Bluetooth between phone and 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Local Area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Building or campus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Office network, home 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Metropolitan Area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City or campus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Organization/ISP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University or city-wide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Wide Area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Country or global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organizations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Internet, corporate 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="" xmlns:a16="http://schemas.microsoft.com/office/drawing/2014/main" id="{EF30BDB8-19A7-4821-A917-1991A5D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35837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Types of Computer Networks (3/3)</a:t>
            </a:r>
            <a:endParaRPr lang="en-US" sz="3600" dirty="0"/>
          </a:p>
        </p:txBody>
      </p:sp>
      <p:pic>
        <p:nvPicPr>
          <p:cNvPr id="1026" name="Picture 2" descr="C:\Users\UbaidComputers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876" y="1814623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37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DDA591-0B8E-4A5A-B874-21F670FD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75" y="1457628"/>
            <a:ext cx="11767325" cy="208676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Data communication refers to the exchange of data between two devices through some transmission medium (like cables or wireless signals</a:t>
            </a:r>
            <a:r>
              <a:rPr lang="en-US" sz="2000" dirty="0" smtClean="0"/>
              <a:t>). The </a:t>
            </a:r>
            <a:r>
              <a:rPr lang="en-US" sz="2000" dirty="0"/>
              <a:t>direction in which data can flow between sender and receiver defines the type of communication</a:t>
            </a:r>
            <a:r>
              <a:rPr lang="en-US" sz="2000" dirty="0" smtClean="0"/>
              <a:t>.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 smtClean="0"/>
              <a:t>1. Simplex Communication </a:t>
            </a:r>
            <a:r>
              <a:rPr lang="en-US" sz="2000" dirty="0" smtClean="0"/>
              <a:t>(</a:t>
            </a:r>
            <a:r>
              <a:rPr lang="en-US" sz="2000" dirty="0"/>
              <a:t>Sender → Receiver</a:t>
            </a:r>
            <a:r>
              <a:rPr lang="en-US" sz="2000" dirty="0" smtClean="0"/>
              <a:t>):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In </a:t>
            </a:r>
            <a:r>
              <a:rPr lang="en-US" sz="2000" dirty="0"/>
              <a:t>Simplex, data flows only in one direction — from the sender to the receiver.</a:t>
            </a:r>
            <a:br>
              <a:rPr lang="en-US" sz="2000" dirty="0"/>
            </a:br>
            <a:r>
              <a:rPr lang="en-US" sz="2000" dirty="0"/>
              <a:t>The receiver cannot send back any data or response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Key Features:</a:t>
            </a:r>
          </a:p>
          <a:p>
            <a:r>
              <a:rPr lang="en-US" sz="2000" dirty="0"/>
              <a:t>One-way communication</a:t>
            </a:r>
          </a:p>
          <a:p>
            <a:r>
              <a:rPr lang="en-US" sz="2000" dirty="0"/>
              <a:t>Sender only transmits; receiver only receives</a:t>
            </a:r>
          </a:p>
          <a:p>
            <a:r>
              <a:rPr lang="en-US" sz="2000" dirty="0"/>
              <a:t>Used where no feedback is required</a:t>
            </a:r>
          </a:p>
          <a:p>
            <a:pPr marL="0" indent="0">
              <a:buNone/>
            </a:pPr>
            <a:r>
              <a:rPr lang="en-US" sz="2000" dirty="0"/>
              <a:t>Examples:</a:t>
            </a:r>
          </a:p>
          <a:p>
            <a:r>
              <a:rPr lang="en-US" sz="2000" dirty="0"/>
              <a:t>Keyboard → CPU</a:t>
            </a:r>
          </a:p>
          <a:p>
            <a:r>
              <a:rPr lang="en-US" sz="2000" dirty="0"/>
              <a:t>Monitor ← CPU (display output)</a:t>
            </a:r>
          </a:p>
          <a:p>
            <a:r>
              <a:rPr lang="en-US" sz="2000" dirty="0"/>
              <a:t>Television </a:t>
            </a:r>
            <a:r>
              <a:rPr lang="en-US" sz="2000" dirty="0" smtClean="0"/>
              <a:t>broadcasting</a:t>
            </a:r>
            <a:br>
              <a:rPr lang="en-US" sz="2000" dirty="0" smtClean="0"/>
            </a:br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199" y="396828"/>
            <a:ext cx="11412747" cy="78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ctr"/>
            <a:r>
              <a:rPr lang="en-US" sz="3600" dirty="0" smtClean="0"/>
              <a:t>Types of Data Communications (1/4)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790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DDA591-0B8E-4A5A-B874-21F670FD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75" y="1457628"/>
            <a:ext cx="11767325" cy="208676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2. Half Duplex </a:t>
            </a:r>
            <a:r>
              <a:rPr lang="en-US" sz="2000" b="1" dirty="0" smtClean="0"/>
              <a:t>Communi</a:t>
            </a:r>
            <a:r>
              <a:rPr lang="en-US" sz="2000" b="1" dirty="0"/>
              <a:t>cation (Sender ⇄ Receiver (but one at a time)):</a:t>
            </a:r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In Half Duplex, data flows in both directions, but only one direction at a </a:t>
            </a:r>
            <a:r>
              <a:rPr lang="en-US" sz="2000" dirty="0" smtClean="0"/>
              <a:t>time. The </a:t>
            </a:r>
            <a:r>
              <a:rPr lang="en-US" sz="2000" dirty="0"/>
              <a:t>sender and receiver take turns to send or receive data.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Key </a:t>
            </a:r>
            <a:r>
              <a:rPr lang="en-US" sz="2000" dirty="0"/>
              <a:t>Features:</a:t>
            </a:r>
          </a:p>
          <a:p>
            <a:r>
              <a:rPr lang="en-US" sz="2000" dirty="0"/>
              <a:t>Two-way communication, but not simultaneous</a:t>
            </a:r>
          </a:p>
          <a:p>
            <a:r>
              <a:rPr lang="en-US" sz="2000" dirty="0"/>
              <a:t>One device must wait while the other transmits</a:t>
            </a:r>
          </a:p>
          <a:p>
            <a:r>
              <a:rPr lang="en-US" sz="2000" dirty="0"/>
              <a:t>Reduces collisions but is slower than full duplex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Examples</a:t>
            </a:r>
            <a:r>
              <a:rPr lang="en-US" sz="2000" dirty="0"/>
              <a:t>:</a:t>
            </a:r>
          </a:p>
          <a:p>
            <a:r>
              <a:rPr lang="en-US" sz="2000" dirty="0"/>
              <a:t>Walkie-talkies (one speaks while the other listens)</a:t>
            </a:r>
          </a:p>
          <a:p>
            <a:r>
              <a:rPr lang="en-US" sz="2000" dirty="0"/>
              <a:t>Police radio systems</a:t>
            </a:r>
          </a:p>
          <a:p>
            <a:r>
              <a:rPr lang="en-US" sz="2000" dirty="0"/>
              <a:t>Traditional </a:t>
            </a:r>
            <a:r>
              <a:rPr lang="en-US" sz="2000" dirty="0" smtClean="0"/>
              <a:t>CB* </a:t>
            </a:r>
            <a:r>
              <a:rPr lang="en-US" sz="2000" dirty="0"/>
              <a:t>radio </a:t>
            </a:r>
            <a:r>
              <a:rPr lang="en-US" sz="2000" dirty="0" smtClean="0"/>
              <a:t>communication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1600" dirty="0" smtClean="0"/>
              <a:t>*CB (Citizens </a:t>
            </a:r>
            <a:r>
              <a:rPr lang="en-US" sz="1600" dirty="0"/>
              <a:t>Band) Radio is a two-way radio communication system that allows individuals to communicate over short distances using radio frequency channels </a:t>
            </a:r>
            <a:r>
              <a:rPr lang="en-US" sz="1600" dirty="0" smtClean="0"/>
              <a:t>without </a:t>
            </a:r>
            <a:r>
              <a:rPr lang="en-US" sz="1600" dirty="0"/>
              <a:t>needing a </a:t>
            </a:r>
            <a:r>
              <a:rPr lang="en-US" sz="1600" dirty="0" smtClean="0"/>
              <a:t>license.</a:t>
            </a:r>
            <a:endParaRPr lang="en-US" sz="16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199" y="250186"/>
            <a:ext cx="11412747" cy="78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ctr"/>
            <a:r>
              <a:rPr lang="en-US" sz="3600" dirty="0" smtClean="0"/>
              <a:t>Types of Data Communications (2/4)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231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DDA591-0B8E-4A5A-B874-21F670FD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75" y="1302360"/>
            <a:ext cx="11767325" cy="2086767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 smtClean="0"/>
              <a:t>3. </a:t>
            </a:r>
            <a:r>
              <a:rPr lang="en-US" sz="2000" b="1" dirty="0"/>
              <a:t>Full Duplex </a:t>
            </a:r>
            <a:r>
              <a:rPr lang="en-US" sz="2000" b="1" dirty="0" smtClean="0"/>
              <a:t>Communication (</a:t>
            </a:r>
            <a:r>
              <a:rPr lang="en-US" sz="2000" b="1" dirty="0"/>
              <a:t>Sender ⇄ Receiver (simultaneous</a:t>
            </a:r>
            <a:r>
              <a:rPr lang="en-US" sz="2000" b="1" dirty="0" smtClean="0"/>
              <a:t>)):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In Full Duplex, data flows in both directions </a:t>
            </a:r>
            <a:r>
              <a:rPr lang="en-US" sz="2000" dirty="0" smtClean="0"/>
              <a:t>simultaneously. Both </a:t>
            </a:r>
            <a:r>
              <a:rPr lang="en-US" sz="2000" dirty="0"/>
              <a:t>devices can send and receive data at the same time.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Key </a:t>
            </a:r>
            <a:r>
              <a:rPr lang="en-US" sz="2000" dirty="0"/>
              <a:t>Features:</a:t>
            </a:r>
          </a:p>
          <a:p>
            <a:r>
              <a:rPr lang="en-US" sz="2000" dirty="0"/>
              <a:t>Two-way communication at the same time</a:t>
            </a:r>
          </a:p>
          <a:p>
            <a:r>
              <a:rPr lang="en-US" sz="2000" dirty="0"/>
              <a:t>More efficient and faster than half duplex</a:t>
            </a:r>
          </a:p>
          <a:p>
            <a:r>
              <a:rPr lang="en-US" sz="2000" dirty="0"/>
              <a:t>Requires two separate communication channels (one for each direction)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Examples</a:t>
            </a:r>
            <a:r>
              <a:rPr lang="en-US" sz="2000" dirty="0"/>
              <a:t>:</a:t>
            </a:r>
          </a:p>
          <a:p>
            <a:r>
              <a:rPr lang="en-US" sz="2000" dirty="0"/>
              <a:t>Telephone conversations</a:t>
            </a:r>
          </a:p>
          <a:p>
            <a:r>
              <a:rPr lang="en-US" sz="2000" dirty="0"/>
              <a:t>Video calls</a:t>
            </a:r>
          </a:p>
          <a:p>
            <a:r>
              <a:rPr lang="en-US" sz="2000" dirty="0"/>
              <a:t>Modern computer networks (Ethernet, Wi-Fi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199" y="250186"/>
            <a:ext cx="11412747" cy="78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ctr"/>
            <a:r>
              <a:rPr lang="en-US" sz="3600" dirty="0" smtClean="0"/>
              <a:t>Types of Data Communications (3/4)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145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43758814"/>
              </p:ext>
            </p:extLst>
          </p:nvPr>
        </p:nvGraphicFramePr>
        <p:xfrm>
          <a:off x="838200" y="1794277"/>
          <a:ext cx="10005204" cy="3314224"/>
        </p:xfrm>
        <a:graphic>
          <a:graphicData uri="http://schemas.openxmlformats.org/drawingml/2006/table">
            <a:tbl>
              <a:tblPr/>
              <a:tblGrid>
                <a:gridCol w="2501301"/>
                <a:gridCol w="2501301"/>
                <a:gridCol w="2501301"/>
                <a:gridCol w="2501301"/>
              </a:tblGrid>
              <a:tr h="886522">
                <a:tc>
                  <a:txBody>
                    <a:bodyPr/>
                    <a:lstStyle/>
                    <a:p>
                      <a:r>
                        <a:rPr lang="en-US" sz="2000" b="1" dirty="0"/>
                        <a:t>Type</a:t>
                      </a:r>
                      <a:endParaRPr lang="en-US" sz="2000" dirty="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Direction of Data Flow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Simultaneous Communication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Examples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86522">
                <a:tc>
                  <a:txBody>
                    <a:bodyPr/>
                    <a:lstStyle/>
                    <a:p>
                      <a:r>
                        <a:rPr lang="en-US" sz="2000" b="1"/>
                        <a:t>Simplex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One-way only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Keyboard to CPU, Monitor display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5797">
                <a:tc>
                  <a:txBody>
                    <a:bodyPr/>
                    <a:lstStyle/>
                    <a:p>
                      <a:r>
                        <a:rPr lang="en-US" sz="2000" b="1"/>
                        <a:t>Half Duplex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Both ways (one at a time)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Walkie-talkie, CB radio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86522">
                <a:tc>
                  <a:txBody>
                    <a:bodyPr/>
                    <a:lstStyle/>
                    <a:p>
                      <a:r>
                        <a:rPr lang="en-US" sz="2000" b="1"/>
                        <a:t>Full Duplex</a:t>
                      </a:r>
                      <a:endParaRPr lang="en-US" sz="200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Both ways (simultaneous)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Telephone, Internet communication</a:t>
                      </a:r>
                    </a:p>
                  </a:txBody>
                  <a:tcPr marL="45057" marR="45057" marT="22529" marB="22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 bwMode="auto">
          <a:xfrm>
            <a:off x="457199" y="500340"/>
            <a:ext cx="11412747" cy="78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ctr"/>
            <a:r>
              <a:rPr lang="en-US" sz="3600" dirty="0" smtClean="0">
                <a:latin typeface="Gill Sans MT" pitchFamily="34" charset="0"/>
              </a:rPr>
              <a:t>Types of Data Communications (4/4)</a:t>
            </a:r>
            <a:endParaRPr lang="en-US" sz="3600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38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089586" y="341953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(1/6)</a:t>
            </a:r>
            <a:endParaRPr 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sz="half" idx="1"/>
          </p:nvPr>
        </p:nvSpPr>
        <p:spPr>
          <a:xfrm>
            <a:off x="163903" y="923098"/>
            <a:ext cx="11904452" cy="5727867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dirty="0"/>
              <a:t>A network topology refers to the physical or logical layout of how computers, cables, and other network devices are connected in a </a:t>
            </a:r>
            <a:r>
              <a:rPr lang="en-US" sz="2000" dirty="0" smtClean="0"/>
              <a:t>network. It </a:t>
            </a:r>
            <a:r>
              <a:rPr lang="en-US" sz="2000" dirty="0"/>
              <a:t>shows how data flows between nodes (devices</a:t>
            </a:r>
            <a:r>
              <a:rPr lang="en-US" sz="2000" dirty="0" smtClean="0"/>
              <a:t>).</a:t>
            </a:r>
            <a:r>
              <a:rPr lang="en-US" sz="2000" b="1" dirty="0"/>
              <a:t> </a:t>
            </a:r>
            <a:endParaRPr lang="en-US" sz="2000" b="1" dirty="0" smtClean="0"/>
          </a:p>
          <a:p>
            <a:pPr marL="130175" indent="0">
              <a:buNone/>
            </a:pPr>
            <a:r>
              <a:rPr lang="en-US" sz="2000" b="1" dirty="0" smtClean="0"/>
              <a:t>1</a:t>
            </a:r>
            <a:r>
              <a:rPr lang="en-US" sz="2000" b="1" dirty="0"/>
              <a:t>. </a:t>
            </a:r>
            <a:r>
              <a:rPr lang="en-US" sz="2000" b="1" dirty="0" smtClean="0"/>
              <a:t>Bus </a:t>
            </a:r>
            <a:r>
              <a:rPr lang="en-US" sz="2000" b="1" dirty="0"/>
              <a:t>Topology</a:t>
            </a:r>
          </a:p>
          <a:p>
            <a:pPr marL="130175" indent="0">
              <a:buNone/>
            </a:pPr>
            <a:r>
              <a:rPr lang="en-US" sz="2000" dirty="0" smtClean="0"/>
              <a:t>All </a:t>
            </a:r>
            <a:r>
              <a:rPr lang="en-US" sz="2000" dirty="0"/>
              <a:t>computers and devices are connected to a </a:t>
            </a:r>
            <a:r>
              <a:rPr lang="en-US" sz="2000" b="1" dirty="0"/>
              <a:t>single central cable</a:t>
            </a:r>
            <a:r>
              <a:rPr lang="en-US" sz="2000" dirty="0"/>
              <a:t> called the </a:t>
            </a:r>
            <a:r>
              <a:rPr lang="en-US" sz="2000" b="1" dirty="0"/>
              <a:t>bus</a:t>
            </a:r>
            <a:r>
              <a:rPr lang="en-US" sz="2000" dirty="0"/>
              <a:t> or </a:t>
            </a:r>
            <a:r>
              <a:rPr lang="en-US" sz="2000" b="1" dirty="0" smtClean="0"/>
              <a:t>backbone</a:t>
            </a:r>
            <a:r>
              <a:rPr lang="en-US" sz="2000" dirty="0" smtClean="0"/>
              <a:t>.</a:t>
            </a:r>
          </a:p>
          <a:p>
            <a:pPr marL="130175" indent="0">
              <a:buNone/>
            </a:pPr>
            <a:endParaRPr lang="en-US" sz="2000" dirty="0"/>
          </a:p>
          <a:p>
            <a:pPr marL="130175" indent="0">
              <a:buNone/>
            </a:pPr>
            <a:r>
              <a:rPr lang="en-US" sz="2000" b="1" dirty="0"/>
              <a:t>Advantages:</a:t>
            </a:r>
            <a:endParaRPr lang="en-US" sz="2000" dirty="0"/>
          </a:p>
          <a:p>
            <a:r>
              <a:rPr lang="en-US" sz="2000" dirty="0"/>
              <a:t>Easy to install and inexpensive (uses less cable)</a:t>
            </a:r>
          </a:p>
          <a:p>
            <a:r>
              <a:rPr lang="en-US" sz="2000" dirty="0"/>
              <a:t>Works well for small </a:t>
            </a:r>
            <a:r>
              <a:rPr lang="en-US" sz="2000" dirty="0" smtClean="0"/>
              <a:t>networks</a:t>
            </a:r>
            <a:endParaRPr lang="en-US" sz="2000" b="1" dirty="0" smtClean="0"/>
          </a:p>
          <a:p>
            <a:pPr marL="130175" indent="0">
              <a:buNone/>
            </a:pPr>
            <a:r>
              <a:rPr lang="en-US" sz="2000" b="1" dirty="0" smtClean="0"/>
              <a:t>Disadvantages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If the main cable fails, the entire network stops working</a:t>
            </a:r>
          </a:p>
          <a:p>
            <a:r>
              <a:rPr lang="en-US" sz="2000" dirty="0"/>
              <a:t>Data collisions can occur when two devices send data at the same time</a:t>
            </a:r>
          </a:p>
          <a:p>
            <a:r>
              <a:rPr lang="en-US" sz="2000" dirty="0"/>
              <a:t>Difficult to </a:t>
            </a:r>
            <a:r>
              <a:rPr lang="en-US" sz="2000" dirty="0" smtClean="0"/>
              <a:t>troubleshoot</a:t>
            </a:r>
            <a:endParaRPr lang="en-US" sz="2000" b="1" dirty="0" smtClean="0"/>
          </a:p>
          <a:p>
            <a:pPr marL="130175" indent="0">
              <a:buNone/>
            </a:pPr>
            <a:r>
              <a:rPr lang="en-US" sz="2000" b="1" dirty="0" smtClean="0"/>
              <a:t>Examples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Early Ethernet networks</a:t>
            </a:r>
          </a:p>
          <a:p>
            <a:r>
              <a:rPr lang="en-US" sz="2000" dirty="0"/>
              <a:t>Small temporary networks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9587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089586" y="341953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(2/6)</a:t>
            </a:r>
            <a:endParaRPr 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sz="half" idx="1"/>
          </p:nvPr>
        </p:nvSpPr>
        <p:spPr>
          <a:xfrm>
            <a:off x="163903" y="923098"/>
            <a:ext cx="11904452" cy="5727867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b="1" dirty="0" smtClean="0"/>
              <a:t>2. Star </a:t>
            </a:r>
            <a:r>
              <a:rPr lang="en-US" sz="2000" b="1" dirty="0"/>
              <a:t>Topology</a:t>
            </a:r>
          </a:p>
          <a:p>
            <a:pPr marL="130175" indent="0">
              <a:buNone/>
            </a:pPr>
            <a:r>
              <a:rPr lang="en-US" sz="2000" dirty="0" smtClean="0"/>
              <a:t>All </a:t>
            </a:r>
            <a:r>
              <a:rPr lang="en-US" sz="2000" dirty="0"/>
              <a:t>devices are connected to a </a:t>
            </a:r>
            <a:r>
              <a:rPr lang="en-US" sz="2000" b="1" dirty="0"/>
              <a:t>central hub or switch</a:t>
            </a:r>
            <a:r>
              <a:rPr lang="en-US" sz="2000" dirty="0"/>
              <a:t>. The hub acts as a repeater to transmit data between devices.</a:t>
            </a:r>
          </a:p>
          <a:p>
            <a:pPr marL="130175" indent="0">
              <a:buNone/>
            </a:pPr>
            <a:r>
              <a:rPr lang="en-US" sz="2000" b="1" dirty="0" smtClean="0"/>
              <a:t>Advantages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Easy to install and manage</a:t>
            </a:r>
          </a:p>
          <a:p>
            <a:r>
              <a:rPr lang="en-US" sz="2000" dirty="0"/>
              <a:t>Failure of one cable doesn’t affect others</a:t>
            </a:r>
          </a:p>
          <a:p>
            <a:r>
              <a:rPr lang="en-US" sz="2000" dirty="0"/>
              <a:t>Easy to add or remove devices</a:t>
            </a:r>
          </a:p>
          <a:p>
            <a:pPr marL="130175" indent="0">
              <a:buNone/>
            </a:pPr>
            <a:r>
              <a:rPr lang="en-US" sz="2000" b="1" dirty="0"/>
              <a:t>Disadvantages:</a:t>
            </a:r>
            <a:endParaRPr lang="en-US" sz="2000" dirty="0"/>
          </a:p>
          <a:p>
            <a:r>
              <a:rPr lang="en-US" sz="2000" dirty="0"/>
              <a:t>If the central hub/switch fails, the whole network goes down</a:t>
            </a:r>
          </a:p>
          <a:p>
            <a:r>
              <a:rPr lang="en-US" sz="2000" dirty="0"/>
              <a:t>Requires more cable length than bus topology</a:t>
            </a:r>
          </a:p>
          <a:p>
            <a:pPr marL="130175" indent="0"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r>
              <a:rPr lang="en-US" sz="2000" dirty="0"/>
              <a:t>Modern Ethernet networks in offices or homes</a:t>
            </a:r>
          </a:p>
          <a:p>
            <a:r>
              <a:rPr lang="en-US" sz="2000" dirty="0"/>
              <a:t>Wi-Fi networks using a router as a central point</a:t>
            </a:r>
          </a:p>
        </p:txBody>
      </p:sp>
    </p:spTree>
    <p:extLst>
      <p:ext uri="{BB962C8B-B14F-4D97-AF65-F5344CB8AC3E}">
        <p14:creationId xmlns:p14="http://schemas.microsoft.com/office/powerpoint/2010/main" val="35636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089586" y="341953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(3/6)</a:t>
            </a:r>
            <a:endParaRPr 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sz="half" idx="1"/>
          </p:nvPr>
        </p:nvSpPr>
        <p:spPr>
          <a:xfrm>
            <a:off x="163903" y="1242260"/>
            <a:ext cx="11904452" cy="4753083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b="1" dirty="0"/>
              <a:t>3. </a:t>
            </a:r>
            <a:r>
              <a:rPr lang="en-US" sz="2000" b="1" dirty="0" smtClean="0"/>
              <a:t>Ring </a:t>
            </a:r>
            <a:r>
              <a:rPr lang="en-US" sz="2000" b="1" dirty="0"/>
              <a:t>Topology</a:t>
            </a:r>
          </a:p>
          <a:p>
            <a:pPr marL="130175" indent="0">
              <a:buNone/>
            </a:pPr>
            <a:r>
              <a:rPr lang="en-US" sz="2000" dirty="0" smtClean="0"/>
              <a:t>Each </a:t>
            </a:r>
            <a:r>
              <a:rPr lang="en-US" sz="2000" dirty="0"/>
              <a:t>device is connected to </a:t>
            </a:r>
            <a:r>
              <a:rPr lang="en-US" sz="2000" b="1" dirty="0"/>
              <a:t>two other devices</a:t>
            </a:r>
            <a:r>
              <a:rPr lang="en-US" sz="2000" dirty="0"/>
              <a:t>, forming a </a:t>
            </a:r>
            <a:r>
              <a:rPr lang="en-US" sz="2000" b="1" dirty="0"/>
              <a:t>closed loop (ring)</a:t>
            </a:r>
            <a:r>
              <a:rPr lang="en-US" sz="2000" dirty="0"/>
              <a:t>. Data travels in </a:t>
            </a:r>
            <a:r>
              <a:rPr lang="en-US" sz="2000" b="1" dirty="0"/>
              <a:t>one direction</a:t>
            </a:r>
            <a:r>
              <a:rPr lang="en-US" sz="2000" dirty="0"/>
              <a:t> (or both in dual ring).</a:t>
            </a:r>
          </a:p>
          <a:p>
            <a:pPr marL="130175" indent="0">
              <a:buNone/>
            </a:pPr>
            <a:r>
              <a:rPr lang="en-US" sz="2000" b="1" dirty="0" smtClean="0"/>
              <a:t>Advantages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Data flows in an orderly manner (less collision)</a:t>
            </a:r>
          </a:p>
          <a:p>
            <a:r>
              <a:rPr lang="en-US" sz="2000" dirty="0"/>
              <a:t>Performs better under heavy load than bus topology</a:t>
            </a:r>
          </a:p>
          <a:p>
            <a:pPr marL="130175" indent="0">
              <a:buNone/>
            </a:pPr>
            <a:r>
              <a:rPr lang="en-US" sz="2000" b="1" dirty="0" smtClean="0"/>
              <a:t>Disadvantages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If one device or cable fails, the whole network may stop</a:t>
            </a:r>
          </a:p>
          <a:p>
            <a:r>
              <a:rPr lang="en-US" sz="2000" dirty="0"/>
              <a:t>Difficult to troubleshoot and modify</a:t>
            </a:r>
          </a:p>
          <a:p>
            <a:pPr marL="130175" indent="0">
              <a:buNone/>
            </a:pPr>
            <a:r>
              <a:rPr lang="en-US" sz="2000" b="1" dirty="0" smtClean="0"/>
              <a:t>Examples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Token Ring networks (IBM)</a:t>
            </a:r>
          </a:p>
          <a:p>
            <a:r>
              <a:rPr lang="en-US" sz="2000" dirty="0"/>
              <a:t>Some fiber-based MANs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636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089586" y="341953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(4/6)</a:t>
            </a:r>
            <a:endParaRPr 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sz="half" idx="1"/>
          </p:nvPr>
        </p:nvSpPr>
        <p:spPr>
          <a:xfrm>
            <a:off x="163903" y="1061115"/>
            <a:ext cx="11904452" cy="5391438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b="1" dirty="0"/>
              <a:t>4. </a:t>
            </a:r>
            <a:r>
              <a:rPr lang="en-US" sz="2000" b="1" dirty="0" smtClean="0"/>
              <a:t>Tree </a:t>
            </a:r>
            <a:r>
              <a:rPr lang="en-US" sz="2000" b="1" dirty="0"/>
              <a:t>Topology (Hierarchical Topology)</a:t>
            </a:r>
          </a:p>
          <a:p>
            <a:pPr marL="130175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 combination of </a:t>
            </a:r>
            <a:r>
              <a:rPr lang="en-US" sz="2000" b="1" dirty="0"/>
              <a:t>Star</a:t>
            </a:r>
            <a:r>
              <a:rPr lang="en-US" sz="2000" dirty="0"/>
              <a:t> and </a:t>
            </a:r>
            <a:r>
              <a:rPr lang="en-US" sz="2000" b="1" dirty="0"/>
              <a:t>Bus</a:t>
            </a:r>
            <a:r>
              <a:rPr lang="en-US" sz="2000" dirty="0"/>
              <a:t> topologies. Devices are arranged in a </a:t>
            </a:r>
            <a:r>
              <a:rPr lang="en-US" sz="2000" b="1" dirty="0"/>
              <a:t>hierarchical structure</a:t>
            </a:r>
            <a:r>
              <a:rPr lang="en-US" sz="2000" dirty="0"/>
              <a:t> — like branches of a tree — with a </a:t>
            </a:r>
            <a:r>
              <a:rPr lang="en-US" sz="2000" b="1" dirty="0"/>
              <a:t>root node</a:t>
            </a:r>
            <a:r>
              <a:rPr lang="en-US" sz="2000" dirty="0"/>
              <a:t> and sub-nodes.</a:t>
            </a:r>
          </a:p>
          <a:p>
            <a:pPr marL="130175" indent="0">
              <a:buNone/>
            </a:pPr>
            <a:r>
              <a:rPr lang="en-US" sz="2000" b="1" dirty="0" smtClean="0"/>
              <a:t>Advantages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Scalable and easy to expand</a:t>
            </a:r>
          </a:p>
          <a:p>
            <a:r>
              <a:rPr lang="en-US" sz="2000" dirty="0"/>
              <a:t>Easy to manage and detect faults</a:t>
            </a:r>
          </a:p>
          <a:p>
            <a:r>
              <a:rPr lang="en-US" sz="2000" dirty="0"/>
              <a:t>Supports large networks</a:t>
            </a:r>
          </a:p>
          <a:p>
            <a:pPr marL="130175" indent="0">
              <a:buNone/>
            </a:pPr>
            <a:r>
              <a:rPr lang="en-US" sz="2000" b="1" dirty="0"/>
              <a:t>Disadvantages:</a:t>
            </a:r>
            <a:endParaRPr lang="en-US" sz="2000" dirty="0"/>
          </a:p>
          <a:p>
            <a:r>
              <a:rPr lang="en-US" sz="2000" dirty="0"/>
              <a:t>If the main hub fails, the entire section goes down</a:t>
            </a:r>
          </a:p>
          <a:p>
            <a:r>
              <a:rPr lang="en-US" sz="2000" dirty="0"/>
              <a:t>Requires a lot of cables and hardware</a:t>
            </a:r>
          </a:p>
          <a:p>
            <a:pPr marL="130175" indent="0"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r>
              <a:rPr lang="en-US" sz="2000" dirty="0"/>
              <a:t>Corporate networks (universities, enterprises)</a:t>
            </a:r>
          </a:p>
          <a:p>
            <a:r>
              <a:rPr lang="en-US" sz="2000" dirty="0"/>
              <a:t>Used in Wide Area Networks (WANs)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636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089586" y="341953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(5/6)</a:t>
            </a:r>
            <a:endParaRPr 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sz="half" idx="1"/>
          </p:nvPr>
        </p:nvSpPr>
        <p:spPr>
          <a:xfrm>
            <a:off x="163903" y="923098"/>
            <a:ext cx="11904452" cy="5727867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b="1" dirty="0"/>
              <a:t>5. </a:t>
            </a:r>
            <a:r>
              <a:rPr lang="en-US" sz="2000" b="1" dirty="0" smtClean="0"/>
              <a:t>Mesh </a:t>
            </a:r>
            <a:r>
              <a:rPr lang="en-US" sz="2000" b="1" dirty="0"/>
              <a:t>Topology</a:t>
            </a:r>
          </a:p>
          <a:p>
            <a:pPr marL="130175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Every device is connected to </a:t>
            </a:r>
            <a:r>
              <a:rPr lang="en-US" sz="2000" b="1" dirty="0"/>
              <a:t>every other device</a:t>
            </a:r>
            <a:r>
              <a:rPr lang="en-US" sz="2000" dirty="0"/>
              <a:t> </a:t>
            </a:r>
            <a:r>
              <a:rPr lang="en-US" sz="2000" dirty="0" smtClean="0"/>
              <a:t>directly. There </a:t>
            </a:r>
            <a:r>
              <a:rPr lang="en-US" sz="2000" dirty="0"/>
              <a:t>are two types:</a:t>
            </a:r>
          </a:p>
          <a:p>
            <a:r>
              <a:rPr lang="en-US" sz="2000" b="1" dirty="0"/>
              <a:t>Full Mesh:</a:t>
            </a:r>
            <a:r>
              <a:rPr lang="en-US" sz="2000" dirty="0"/>
              <a:t> All devices interconnect directly.</a:t>
            </a:r>
          </a:p>
          <a:p>
            <a:r>
              <a:rPr lang="en-US" sz="2000" b="1" dirty="0"/>
              <a:t>Partial Mesh:</a:t>
            </a:r>
            <a:r>
              <a:rPr lang="en-US" sz="2000" dirty="0"/>
              <a:t> Only some devices are interconnected</a:t>
            </a:r>
            <a:r>
              <a:rPr lang="en-US" sz="2000" dirty="0" smtClean="0"/>
              <a:t>.</a:t>
            </a:r>
            <a:endParaRPr lang="en-US" sz="2000" dirty="0"/>
          </a:p>
          <a:p>
            <a:pPr marL="130175" indent="0">
              <a:buNone/>
            </a:pPr>
            <a:r>
              <a:rPr lang="en-US" sz="2000" b="1" dirty="0"/>
              <a:t>Advantages:</a:t>
            </a:r>
            <a:endParaRPr lang="en-US" sz="2000" dirty="0"/>
          </a:p>
          <a:p>
            <a:r>
              <a:rPr lang="en-US" sz="2000" dirty="0"/>
              <a:t>Very reliable — no single point of failure</a:t>
            </a:r>
          </a:p>
          <a:p>
            <a:r>
              <a:rPr lang="en-US" sz="2000" dirty="0"/>
              <a:t>Data can take multiple paths to reach destination</a:t>
            </a:r>
          </a:p>
          <a:p>
            <a:r>
              <a:rPr lang="en-US" sz="2000" dirty="0"/>
              <a:t>High performance and security</a:t>
            </a:r>
          </a:p>
          <a:p>
            <a:pPr marL="130175" indent="0">
              <a:buNone/>
            </a:pPr>
            <a:r>
              <a:rPr lang="en-US" sz="2000" b="1" dirty="0"/>
              <a:t>Disadvantages:</a:t>
            </a:r>
            <a:endParaRPr lang="en-US" sz="2000" dirty="0"/>
          </a:p>
          <a:p>
            <a:r>
              <a:rPr lang="en-US" sz="2000" dirty="0"/>
              <a:t>Expensive due to large cabling and configuration</a:t>
            </a:r>
          </a:p>
          <a:p>
            <a:r>
              <a:rPr lang="en-US" sz="2000" dirty="0"/>
              <a:t>Complex to manage</a:t>
            </a:r>
          </a:p>
          <a:p>
            <a:pPr marL="130175" indent="0"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r>
              <a:rPr lang="en-US" sz="2000" dirty="0"/>
              <a:t>Internet backbone connections</a:t>
            </a:r>
          </a:p>
          <a:p>
            <a:r>
              <a:rPr lang="en-US" sz="2000" dirty="0"/>
              <a:t>Military or mission-critical networks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636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339740" y="419587"/>
            <a:ext cx="5916292" cy="581145"/>
          </a:xfrm>
        </p:spPr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latin typeface="Gill Sans MT" pitchFamily="34" charset="0"/>
              </a:rPr>
              <a:t>Network Topologies (6/6)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5685122"/>
              </p:ext>
            </p:extLst>
          </p:nvPr>
        </p:nvGraphicFramePr>
        <p:xfrm>
          <a:off x="202469" y="1486341"/>
          <a:ext cx="7561305" cy="4389120"/>
        </p:xfrm>
        <a:graphic>
          <a:graphicData uri="http://schemas.openxmlformats.org/drawingml/2006/table">
            <a:tbl>
              <a:tblPr/>
              <a:tblGrid>
                <a:gridCol w="1512261"/>
                <a:gridCol w="1512261"/>
                <a:gridCol w="1512261"/>
                <a:gridCol w="1635669"/>
                <a:gridCol w="1388853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Topology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Layout 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Advantages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Disadvantages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Bus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backbone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Cheap, 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Cable failure affects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Early 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Star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devices connect to 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Easy to manage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Hub failure affects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Modern 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Devices in a closed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Orderly data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failure breaks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 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Tree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Hierarchical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Hub failure affects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University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Mesh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Devices interconnect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Reliable,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Expensive,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 backbone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099" name="Picture 3" descr="C:\Users\UbaidComputers\Desktop\Untitl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23" y="2638824"/>
            <a:ext cx="4549775" cy="242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24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8208</TotalTime>
  <Words>769</Words>
  <Application>Microsoft Office PowerPoint</Application>
  <PresentationFormat>Custom</PresentationFormat>
  <Paragraphs>240</Paragraphs>
  <Slides>14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12_Default Design</vt:lpstr>
      <vt:lpstr>Computer Networks (CS-241)</vt:lpstr>
      <vt:lpstr>Types of Computer Networks (1/3)</vt:lpstr>
      <vt:lpstr>Types of Computer Networks (2/3)</vt:lpstr>
      <vt:lpstr>Types of Computer Networks 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316</cp:revision>
  <dcterms:created xsi:type="dcterms:W3CDTF">2020-01-18T07:24:59Z</dcterms:created>
  <dcterms:modified xsi:type="dcterms:W3CDTF">2025-10-20T16:12:57Z</dcterms:modified>
</cp:coreProperties>
</file>