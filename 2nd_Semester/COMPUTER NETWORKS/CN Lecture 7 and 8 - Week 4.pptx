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1171" r:id="rId2"/>
    <p:sldId id="1058" r:id="rId3"/>
    <p:sldId id="1173" r:id="rId4"/>
    <p:sldId id="1174" r:id="rId5"/>
    <p:sldId id="1059" r:id="rId6"/>
    <p:sldId id="1175" r:id="rId7"/>
    <p:sldId id="1176" r:id="rId8"/>
    <p:sldId id="1061" r:id="rId9"/>
    <p:sldId id="1042" r:id="rId10"/>
    <p:sldId id="1068" r:id="rId11"/>
    <p:sldId id="1069" r:id="rId12"/>
    <p:sldId id="1070" r:id="rId13"/>
    <p:sldId id="1072" r:id="rId14"/>
    <p:sldId id="1073" r:id="rId15"/>
    <p:sldId id="1074" r:id="rId16"/>
    <p:sldId id="1075" r:id="rId17"/>
    <p:sldId id="1076" r:id="rId18"/>
    <p:sldId id="1077" r:id="rId19"/>
    <p:sldId id="1078" r:id="rId20"/>
    <p:sldId id="1079" r:id="rId21"/>
    <p:sldId id="1080" r:id="rId22"/>
    <p:sldId id="1081" r:id="rId23"/>
    <p:sldId id="1084" r:id="rId24"/>
    <p:sldId id="1085" r:id="rId25"/>
    <p:sldId id="1086" r:id="rId26"/>
    <p:sldId id="1087" r:id="rId27"/>
    <p:sldId id="1088" r:id="rId28"/>
    <p:sldId id="1097" r:id="rId29"/>
    <p:sldId id="1100" r:id="rId30"/>
    <p:sldId id="1160" r:id="rId31"/>
    <p:sldId id="1049" r:id="rId32"/>
    <p:sldId id="1101" r:id="rId33"/>
    <p:sldId id="1102" r:id="rId34"/>
    <p:sldId id="1103" r:id="rId35"/>
    <p:sldId id="1104" r:id="rId36"/>
    <p:sldId id="1106" r:id="rId37"/>
    <p:sldId id="1108" r:id="rId38"/>
    <p:sldId id="1109" r:id="rId39"/>
    <p:sldId id="1110" r:id="rId40"/>
    <p:sldId id="1177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104" userDrawn="1">
          <p15:clr>
            <a:srgbClr val="A4A3A4"/>
          </p15:clr>
        </p15:guide>
        <p15:guide id="2" pos="5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3"/>
    <a:srgbClr val="9CDFF9"/>
    <a:srgbClr val="010086"/>
    <a:srgbClr val="CCCCFF"/>
    <a:srgbClr val="3C6CDF"/>
    <a:srgbClr val="0000A8"/>
    <a:srgbClr val="C96B72"/>
    <a:srgbClr val="B8C2C9"/>
    <a:srgbClr val="D6DCE0"/>
    <a:srgbClr val="01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12" autoAdjust="0"/>
    <p:restoredTop sz="93349" autoAdjust="0"/>
  </p:normalViewPr>
  <p:slideViewPr>
    <p:cSldViewPr snapToGrid="0" snapToObjects="1">
      <p:cViewPr>
        <p:scale>
          <a:sx n="87" d="100"/>
          <a:sy n="87" d="100"/>
        </p:scale>
        <p:origin x="-115" y="-58"/>
      </p:cViewPr>
      <p:guideLst>
        <p:guide orient="horz" pos="1104"/>
        <p:guide pos="576"/>
      </p:guideLst>
    </p:cSldViewPr>
  </p:slideViewPr>
  <p:outlineViewPr>
    <p:cViewPr>
      <p:scale>
        <a:sx n="33" d="100"/>
        <a:sy n="33" d="100"/>
      </p:scale>
      <p:origin x="0" y="-415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590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07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054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124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6914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374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8737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072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8353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6489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3261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874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704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4049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3117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839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462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365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66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9742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8302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291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683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9891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1412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438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re:</a:t>
            </a:r>
            <a:r>
              <a:rPr lang="en-US" baseline="0" dirty="0"/>
              <a:t> poor content providers – like in real-estate, location is everything.  servers want to be close to 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044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894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284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9856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1064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750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6357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1670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04273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13733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52549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6449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4744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47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xmlns="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xmlns="" id="{014327ED-1729-4CF5-B0EF-DC2B5CF7137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720726"/>
            <a:ext cx="10363200" cy="1470025"/>
          </a:xfrm>
        </p:spPr>
        <p:txBody>
          <a:bodyPr/>
          <a:lstStyle/>
          <a:p>
            <a:pPr algn="ctr"/>
            <a:r>
              <a:rPr lang="en-US" altLang="en-US" dirty="0" smtClean="0"/>
              <a:t>Computer Networks (CS-241)</a:t>
            </a:r>
            <a:endParaRPr lang="en-US" altLang="en-US" dirty="0"/>
          </a:p>
        </p:txBody>
      </p:sp>
      <p:sp>
        <p:nvSpPr>
          <p:cNvPr id="10243" name="Subtitle 2">
            <a:extLst>
              <a:ext uri="{FF2B5EF4-FFF2-40B4-BE49-F238E27FC236}">
                <a16:creationId xmlns:a16="http://schemas.microsoft.com/office/drawing/2014/main" xmlns="" id="{B4C45B81-2463-4E90-93A3-F4551BFA524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28800" y="2819400"/>
            <a:ext cx="8534400" cy="1028700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dirty="0" err="1" smtClean="0"/>
              <a:t>Dr</a:t>
            </a:r>
            <a:r>
              <a:rPr lang="en-US" altLang="en-US" dirty="0" smtClean="0"/>
              <a:t> Syed </a:t>
            </a:r>
            <a:r>
              <a:rPr lang="en-US" altLang="en-US" smtClean="0"/>
              <a:t>Muhammad Mohsin</a:t>
            </a:r>
            <a:endParaRPr lang="en-US" altLang="en-US" dirty="0"/>
          </a:p>
          <a:p>
            <a:r>
              <a:rPr lang="en-US" altLang="en-US" dirty="0" smtClean="0"/>
              <a:t>Department of Computer Science,</a:t>
            </a:r>
          </a:p>
          <a:p>
            <a:r>
              <a:rPr lang="en-US" altLang="en-US" dirty="0" smtClean="0"/>
              <a:t>University of Wah </a:t>
            </a:r>
            <a:endParaRPr lang="en-US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71D89A5-A209-4B52-BF77-E96A6C2997F3}"/>
              </a:ext>
            </a:extLst>
          </p:cNvPr>
          <p:cNvSpPr txBox="1"/>
          <p:nvPr/>
        </p:nvSpPr>
        <p:spPr>
          <a:xfrm>
            <a:off x="1710391" y="5252828"/>
            <a:ext cx="9586259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800" i="1" dirty="0">
                <a:solidFill>
                  <a:srgbClr val="0000A3"/>
                </a:solidFill>
                <a:latin typeface="+mn-lt"/>
              </a:rPr>
              <a:t>Adapted From:</a:t>
            </a:r>
          </a:p>
          <a:p>
            <a:r>
              <a:rPr lang="en-US" altLang="en-US" sz="2800" i="1" dirty="0">
                <a:solidFill>
                  <a:srgbClr val="0000A3"/>
                </a:solidFill>
                <a:latin typeface="+mn-lt"/>
              </a:rPr>
              <a:t>Computer Networking: </a:t>
            </a:r>
            <a:r>
              <a:rPr lang="en-US" altLang="en-US" sz="2800" i="1" dirty="0" smtClean="0">
                <a:solidFill>
                  <a:srgbClr val="0000A3"/>
                </a:solidFill>
                <a:latin typeface="+mn-lt"/>
              </a:rPr>
              <a:t> A </a:t>
            </a:r>
            <a:r>
              <a:rPr lang="en-US" altLang="en-US" sz="2800" i="1" dirty="0">
                <a:solidFill>
                  <a:srgbClr val="0000A3"/>
                </a:solidFill>
                <a:latin typeface="+mn-lt"/>
              </a:rPr>
              <a:t>Top-Down Approach </a:t>
            </a:r>
            <a:r>
              <a:rPr lang="en-US" altLang="en-US" sz="2800" dirty="0">
                <a:solidFill>
                  <a:srgbClr val="008000"/>
                </a:solidFill>
                <a:latin typeface="+mn-lt"/>
              </a:rPr>
              <a:t/>
            </a:r>
            <a:br>
              <a:rPr lang="en-US" altLang="en-US" sz="28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1800" dirty="0">
                <a:latin typeface="+mn-lt"/>
              </a:rPr>
              <a:t>8</a:t>
            </a:r>
            <a:r>
              <a:rPr lang="en-US" altLang="en-US" sz="1800" baseline="30000" dirty="0">
                <a:latin typeface="+mn-lt"/>
              </a:rPr>
              <a:t>th</a:t>
            </a:r>
            <a:r>
              <a:rPr lang="en-US" altLang="en-US" sz="1800" dirty="0">
                <a:latin typeface="+mn-lt"/>
              </a:rPr>
              <a:t> edition: Jim Kurose, Keith Ross Pearson, 2020</a:t>
            </a:r>
            <a:endParaRPr lang="en-US" alt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7492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Processes communicating</a:t>
            </a:r>
            <a:endParaRPr lang="en-US" sz="44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xmlns="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606042" y="1584639"/>
            <a:ext cx="5850742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process:</a:t>
            </a:r>
            <a:r>
              <a:rPr lang="en-US" altLang="en-US" sz="3200" dirty="0">
                <a:ea typeface="ＭＳ Ｐゴシック" panose="020B0600070205080204" pitchFamily="34" charset="-128"/>
              </a:rPr>
              <a:t> program running within a </a:t>
            </a:r>
            <a:r>
              <a:rPr lang="en-US" altLang="en-US" sz="3200" dirty="0" smtClean="0">
                <a:ea typeface="ＭＳ Ｐゴシック" panose="020B0600070205080204" pitchFamily="34" charset="-128"/>
              </a:rPr>
              <a:t>host (executing version of a program)</a:t>
            </a:r>
            <a:endParaRPr lang="en-US" altLang="en-US" sz="3200" dirty="0">
              <a:ea typeface="ＭＳ Ｐゴシック" panose="020B0600070205080204" pitchFamily="34" charset="-128"/>
            </a:endParaRPr>
          </a:p>
          <a:p>
            <a:r>
              <a:rPr lang="en-US" sz="3200" dirty="0"/>
              <a:t>When two or more processes exchange data or messages to perform a task, this is called process communication.</a:t>
            </a:r>
            <a:endParaRPr lang="en-US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96562BEA-C84E-254B-BD55-56C2EB6C5088}"/>
              </a:ext>
            </a:extLst>
          </p:cNvPr>
          <p:cNvSpPr txBox="1">
            <a:spLocks noChangeArrowheads="1"/>
          </p:cNvSpPr>
          <p:nvPr/>
        </p:nvSpPr>
        <p:spPr>
          <a:xfrm>
            <a:off x="7025603" y="2022695"/>
            <a:ext cx="3989387" cy="2033587"/>
          </a:xfrm>
          <a:prstGeom prst="rect">
            <a:avLst/>
          </a:prstGeom>
          <a:noFill/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00"/>
              </a:spcBef>
              <a:buFont typeface="Wingdings" pitchFamily="2" charset="2"/>
              <a:buNone/>
            </a:pPr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client process: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sz="2400" dirty="0">
                <a:ea typeface="ＭＳ Ｐゴシック" panose="020B0600070205080204" pitchFamily="34" charset="-128"/>
              </a:rPr>
              <a:t>process that initiates communication</a:t>
            </a:r>
          </a:p>
          <a:p>
            <a:pPr>
              <a:spcBef>
                <a:spcPts val="400"/>
              </a:spcBef>
              <a:buFont typeface="Wingdings" pitchFamily="2" charset="2"/>
              <a:buNone/>
            </a:pPr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server process: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sz="2400" dirty="0">
                <a:ea typeface="ＭＳ Ｐゴシック" panose="020B0600070205080204" pitchFamily="34" charset="-128"/>
              </a:rPr>
              <a:t>process that waits to be contacted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xmlns="" id="{0414D3D5-1BB8-5844-8D2A-3C8E3E5DC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4010" y="1786951"/>
            <a:ext cx="4092575" cy="2062163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>
              <a:latin typeface="+mn-lt"/>
            </a:endParaRPr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xmlns="" id="{FAA5D4F0-1DCB-7C49-A07F-4729B9F9D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4660" y="1488501"/>
            <a:ext cx="2325688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800">
                <a:latin typeface="+mn-lt"/>
              </a:rPr>
              <a:t>clients, servers</a:t>
            </a:r>
          </a:p>
        </p:txBody>
      </p:sp>
    </p:spTree>
    <p:extLst>
      <p:ext uri="{BB962C8B-B14F-4D97-AF65-F5344CB8AC3E}">
        <p14:creationId xmlns:p14="http://schemas.microsoft.com/office/powerpoint/2010/main" val="2438834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/>
              <a:t>Types of Process Communication</a:t>
            </a:r>
            <a:endParaRPr lang="en-US" sz="44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xmlns="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606042" y="1584639"/>
            <a:ext cx="10437096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0">
              <a:lnSpc>
                <a:spcPct val="150000"/>
              </a:lnSpc>
              <a:buNone/>
            </a:pPr>
            <a:r>
              <a:rPr lang="en-US" sz="3200" b="1" dirty="0" smtClean="0"/>
              <a:t>1. Inter-Process </a:t>
            </a:r>
            <a:r>
              <a:rPr lang="en-US" sz="3200" b="1" dirty="0"/>
              <a:t>Communication (IPC) – Same Machine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Used when processes run on the </a:t>
            </a:r>
            <a:r>
              <a:rPr lang="en-US" sz="3200" b="1" dirty="0"/>
              <a:t>same system</a:t>
            </a:r>
            <a:r>
              <a:rPr lang="en-US" sz="32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3200" b="1" i="1" dirty="0"/>
              <a:t>Example: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dirty="0"/>
              <a:t>A text editor process sending data to a spell-checking process on the same computer.</a:t>
            </a:r>
          </a:p>
          <a:p>
            <a:endParaRPr lang="en-US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662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/>
              <a:t>Types of Process Communication</a:t>
            </a:r>
            <a:endParaRPr lang="en-US" sz="44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xmlns="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606042" y="1584639"/>
            <a:ext cx="10437096" cy="3817355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0">
              <a:lnSpc>
                <a:spcPct val="150000"/>
              </a:lnSpc>
              <a:buNone/>
            </a:pPr>
            <a:r>
              <a:rPr lang="en-US" sz="2400" b="1" dirty="0" smtClean="0"/>
              <a:t>2. Network </a:t>
            </a:r>
            <a:r>
              <a:rPr lang="en-US" sz="2400" b="1" dirty="0"/>
              <a:t>Process Communication – Across </a:t>
            </a:r>
            <a:r>
              <a:rPr lang="en-US" sz="2400" b="1" dirty="0" smtClean="0"/>
              <a:t>Machines</a:t>
            </a:r>
          </a:p>
          <a:p>
            <a:r>
              <a:rPr lang="en-US" dirty="0"/>
              <a:t>Happens over a </a:t>
            </a:r>
            <a:r>
              <a:rPr lang="en-US" b="1" dirty="0"/>
              <a:t>network</a:t>
            </a:r>
            <a:r>
              <a:rPr lang="en-US" dirty="0"/>
              <a:t> (like the Internet).</a:t>
            </a:r>
          </a:p>
          <a:p>
            <a:r>
              <a:rPr lang="en-US" dirty="0"/>
              <a:t>Processes use </a:t>
            </a:r>
            <a:r>
              <a:rPr lang="en-US" b="1" dirty="0"/>
              <a:t>sockets</a:t>
            </a:r>
            <a:r>
              <a:rPr lang="en-US" dirty="0"/>
              <a:t> to send and receive data through </a:t>
            </a:r>
            <a:r>
              <a:rPr lang="en-US" b="1" dirty="0"/>
              <a:t>ports</a:t>
            </a:r>
            <a:r>
              <a:rPr lang="en-US" dirty="0"/>
              <a:t>.</a:t>
            </a:r>
          </a:p>
          <a:p>
            <a:r>
              <a:rPr lang="en-US" dirty="0"/>
              <a:t>Relies on </a:t>
            </a:r>
            <a:r>
              <a:rPr lang="en-US" b="1" dirty="0"/>
              <a:t>client–server architecture</a:t>
            </a:r>
            <a:r>
              <a:rPr lang="en-US" dirty="0"/>
              <a:t> or </a:t>
            </a:r>
            <a:r>
              <a:rPr lang="en-US" b="1" dirty="0"/>
              <a:t>peer-to-peer</a:t>
            </a:r>
            <a:r>
              <a:rPr lang="en-US" dirty="0"/>
              <a:t> models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lvl="1"/>
            <a:r>
              <a:rPr lang="en-US" i="1" dirty="0" smtClean="0"/>
              <a:t>Example</a:t>
            </a:r>
            <a:r>
              <a:rPr lang="en-US" i="1" dirty="0"/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When you use </a:t>
            </a:r>
            <a:r>
              <a:rPr lang="en-US" b="1" dirty="0"/>
              <a:t>WhatsApp</a:t>
            </a:r>
            <a:r>
              <a:rPr lang="en-US" dirty="0"/>
              <a:t>, your phone’s app (client process) communicates with WhatsApp’s </a:t>
            </a:r>
            <a:r>
              <a:rPr lang="en-US" b="1" dirty="0"/>
              <a:t>server process</a:t>
            </a:r>
            <a:r>
              <a:rPr lang="en-US" dirty="0"/>
              <a:t> to send or receive messages.</a:t>
            </a:r>
          </a:p>
          <a:p>
            <a:pPr>
              <a:lnSpc>
                <a:spcPct val="150000"/>
              </a:lnSpc>
            </a:pPr>
            <a:endParaRPr lang="en-US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495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Sockets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8" name="Rectangle 3">
            <a:extLst>
              <a:ext uri="{FF2B5EF4-FFF2-40B4-BE49-F238E27FC236}">
                <a16:creationId xmlns:a16="http://schemas.microsoft.com/office/drawing/2014/main" xmlns="" id="{AE0F6699-BC13-C349-9AC1-8B36945FE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691" y="1407930"/>
            <a:ext cx="10965041" cy="1624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dirty="0">
                <a:latin typeface="+mn-lt"/>
                <a:ea typeface="+mn-ea"/>
                <a:cs typeface="+mn-cs"/>
              </a:rPr>
              <a:t>A socket is like a communication endpoint — it allows two processes (programs) to send and receive data across a </a:t>
            </a:r>
            <a:r>
              <a:rPr lang="en-US" dirty="0" smtClean="0">
                <a:latin typeface="+mn-lt"/>
                <a:ea typeface="+mn-ea"/>
                <a:cs typeface="+mn-cs"/>
              </a:rPr>
              <a:t>network.</a:t>
            </a:r>
          </a:p>
          <a:p>
            <a:r>
              <a:rPr lang="en-US" dirty="0" smtClean="0">
                <a:latin typeface="+mn-lt"/>
                <a:ea typeface="+mn-ea"/>
                <a:cs typeface="+mn-cs"/>
              </a:rPr>
              <a:t>Think </a:t>
            </a:r>
            <a:r>
              <a:rPr lang="en-US" dirty="0">
                <a:latin typeface="+mn-lt"/>
                <a:ea typeface="+mn-ea"/>
                <a:cs typeface="+mn-cs"/>
              </a:rPr>
              <a:t>of it as a door through which data enters or leaves your computer during communication.</a:t>
            </a:r>
            <a:endParaRPr lang="en-US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69" name="Freeform 66">
            <a:extLst>
              <a:ext uri="{FF2B5EF4-FFF2-40B4-BE49-F238E27FC236}">
                <a16:creationId xmlns:a16="http://schemas.microsoft.com/office/drawing/2014/main" xmlns="" id="{C55660F8-73B5-034B-A597-DD5D87ECF66A}"/>
              </a:ext>
            </a:extLst>
          </p:cNvPr>
          <p:cNvSpPr>
            <a:spLocks/>
          </p:cNvSpPr>
          <p:nvPr/>
        </p:nvSpPr>
        <p:spPr bwMode="auto">
          <a:xfrm>
            <a:off x="8482481" y="4098352"/>
            <a:ext cx="736600" cy="1998662"/>
          </a:xfrm>
          <a:custGeom>
            <a:avLst/>
            <a:gdLst>
              <a:gd name="T0" fmla="*/ 2147483647 w 464"/>
              <a:gd name="T1" fmla="*/ 2147483647 h 1259"/>
              <a:gd name="T2" fmla="*/ 0 w 464"/>
              <a:gd name="T3" fmla="*/ 0 h 1259"/>
              <a:gd name="T4" fmla="*/ 2147483647 w 464"/>
              <a:gd name="T5" fmla="*/ 2147483647 h 1259"/>
              <a:gd name="T6" fmla="*/ 2147483647 w 464"/>
              <a:gd name="T7" fmla="*/ 2147483647 h 1259"/>
              <a:gd name="T8" fmla="*/ 2147483647 w 464"/>
              <a:gd name="T9" fmla="*/ 2147483647 h 12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64"/>
              <a:gd name="T16" fmla="*/ 0 h 1259"/>
              <a:gd name="T17" fmla="*/ 464 w 464"/>
              <a:gd name="T18" fmla="*/ 1259 h 12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64" h="1259">
                <a:moveTo>
                  <a:pt x="464" y="1060"/>
                </a:moveTo>
                <a:lnTo>
                  <a:pt x="0" y="0"/>
                </a:lnTo>
                <a:lnTo>
                  <a:pt x="6" y="1258"/>
                </a:lnTo>
                <a:lnTo>
                  <a:pt x="382" y="1259"/>
                </a:lnTo>
                <a:lnTo>
                  <a:pt x="464" y="106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0" name="Freeform 7">
            <a:extLst>
              <a:ext uri="{FF2B5EF4-FFF2-40B4-BE49-F238E27FC236}">
                <a16:creationId xmlns:a16="http://schemas.microsoft.com/office/drawing/2014/main" xmlns="" id="{ABAB43B4-03FC-2A42-98B9-913DD8EC77B7}"/>
              </a:ext>
            </a:extLst>
          </p:cNvPr>
          <p:cNvSpPr>
            <a:spLocks/>
          </p:cNvSpPr>
          <p:nvPr/>
        </p:nvSpPr>
        <p:spPr bwMode="auto">
          <a:xfrm>
            <a:off x="5167781" y="5395339"/>
            <a:ext cx="1808162" cy="1031875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1" name="Text Box 51">
            <a:extLst>
              <a:ext uri="{FF2B5EF4-FFF2-40B4-BE49-F238E27FC236}">
                <a16:creationId xmlns:a16="http://schemas.microsoft.com/office/drawing/2014/main" xmlns="" id="{66AD3E16-6743-CC4C-9091-25C6B0A95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5931" y="5527102"/>
            <a:ext cx="8747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Internet</a:t>
            </a:r>
          </a:p>
        </p:txBody>
      </p:sp>
      <p:sp>
        <p:nvSpPr>
          <p:cNvPr id="72" name="Line 52">
            <a:extLst>
              <a:ext uri="{FF2B5EF4-FFF2-40B4-BE49-F238E27FC236}">
                <a16:creationId xmlns:a16="http://schemas.microsoft.com/office/drawing/2014/main" xmlns="" id="{2374F19B-E4B6-644E-AEE0-FC14C13C01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6481" y="5938264"/>
            <a:ext cx="22113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3" name="Text Box 53">
            <a:extLst>
              <a:ext uri="{FF2B5EF4-FFF2-40B4-BE49-F238E27FC236}">
                <a16:creationId xmlns:a16="http://schemas.microsoft.com/office/drawing/2014/main" xmlns="" id="{AD6E6CB7-7739-BE4D-84DA-1BBDF2D16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7618" y="5163564"/>
            <a:ext cx="10636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controlled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by OS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74" name="Text Box 56">
            <a:extLst>
              <a:ext uri="{FF2B5EF4-FFF2-40B4-BE49-F238E27FC236}">
                <a16:creationId xmlns:a16="http://schemas.microsoft.com/office/drawing/2014/main" xmlns="" id="{20BE946D-C7D0-4A45-83B1-1480163BA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5393" y="4263452"/>
            <a:ext cx="14700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controlled by</a:t>
            </a:r>
          </a:p>
          <a:p>
            <a:pPr marL="0" marR="0" lvl="0" indent="0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app developer</a:t>
            </a:r>
          </a:p>
        </p:txBody>
      </p:sp>
      <p:sp>
        <p:nvSpPr>
          <p:cNvPr id="75" name="Freeform 45">
            <a:extLst>
              <a:ext uri="{FF2B5EF4-FFF2-40B4-BE49-F238E27FC236}">
                <a16:creationId xmlns:a16="http://schemas.microsoft.com/office/drawing/2014/main" xmlns="" id="{6780AD31-F16D-1B4A-BC72-926F1B2A7FE8}"/>
              </a:ext>
            </a:extLst>
          </p:cNvPr>
          <p:cNvSpPr>
            <a:spLocks/>
          </p:cNvSpPr>
          <p:nvPr/>
        </p:nvSpPr>
        <p:spPr bwMode="auto">
          <a:xfrm>
            <a:off x="2742081" y="4161852"/>
            <a:ext cx="758825" cy="1997075"/>
          </a:xfrm>
          <a:custGeom>
            <a:avLst/>
            <a:gdLst>
              <a:gd name="T0" fmla="*/ 0 w 478"/>
              <a:gd name="T1" fmla="*/ 2147483647 h 1258"/>
              <a:gd name="T2" fmla="*/ 2147483647 w 478"/>
              <a:gd name="T3" fmla="*/ 0 h 1258"/>
              <a:gd name="T4" fmla="*/ 2147483647 w 478"/>
              <a:gd name="T5" fmla="*/ 2147483647 h 1258"/>
              <a:gd name="T6" fmla="*/ 2147483647 w 478"/>
              <a:gd name="T7" fmla="*/ 2147483647 h 1258"/>
              <a:gd name="T8" fmla="*/ 0 w 478"/>
              <a:gd name="T9" fmla="*/ 2147483647 h 125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8"/>
              <a:gd name="T16" fmla="*/ 0 h 1258"/>
              <a:gd name="T17" fmla="*/ 478 w 478"/>
              <a:gd name="T18" fmla="*/ 1258 h 125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8" h="1258">
                <a:moveTo>
                  <a:pt x="0" y="1040"/>
                </a:moveTo>
                <a:lnTo>
                  <a:pt x="478" y="0"/>
                </a:lnTo>
                <a:lnTo>
                  <a:pt x="472" y="1258"/>
                </a:lnTo>
                <a:lnTo>
                  <a:pt x="41" y="1246"/>
                </a:lnTo>
                <a:lnTo>
                  <a:pt x="0" y="104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6" name="Rectangle 23">
            <a:extLst>
              <a:ext uri="{FF2B5EF4-FFF2-40B4-BE49-F238E27FC236}">
                <a16:creationId xmlns:a16="http://schemas.microsoft.com/office/drawing/2014/main" xmlns="" id="{F7C1C383-CE46-7C44-B7F2-94606E877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5356" y="4117402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" name="Rectangle 24">
            <a:extLst>
              <a:ext uri="{FF2B5EF4-FFF2-40B4-BE49-F238E27FC236}">
                <a16:creationId xmlns:a16="http://schemas.microsoft.com/office/drawing/2014/main" xmlns="" id="{FD8D123C-B8FD-A64F-9AD3-86943A5D5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7256" y="4171377"/>
            <a:ext cx="1273175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78" name="Line 25">
            <a:extLst>
              <a:ext uri="{FF2B5EF4-FFF2-40B4-BE49-F238E27FC236}">
                <a16:creationId xmlns:a16="http://schemas.microsoft.com/office/drawing/2014/main" xmlns="" id="{A30BEE8C-0165-984E-888C-91DC647B6A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6781" y="4931789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9" name="Text Box 26">
            <a:extLst>
              <a:ext uri="{FF2B5EF4-FFF2-40B4-BE49-F238E27FC236}">
                <a16:creationId xmlns:a16="http://schemas.microsoft.com/office/drawing/2014/main" xmlns="" id="{4E5CE7E7-BE20-B242-B8AA-2C5D47992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3918" y="491432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solidFill>
                  <a:srgbClr val="969696"/>
                </a:solidFill>
                <a:latin typeface="Tahoma" panose="020B0604030504040204" pitchFamily="34" charset="0"/>
              </a:rPr>
              <a:t>transport</a:t>
            </a:r>
          </a:p>
        </p:txBody>
      </p:sp>
      <p:sp>
        <p:nvSpPr>
          <p:cNvPr id="80" name="Line 27">
            <a:extLst>
              <a:ext uri="{FF2B5EF4-FFF2-40B4-BE49-F238E27FC236}">
                <a16:creationId xmlns:a16="http://schemas.microsoft.com/office/drawing/2014/main" xmlns="" id="{9AB6E7C8-3093-D94D-9D3B-10F5749B73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4718" y="5252464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1" name="Line 28">
            <a:extLst>
              <a:ext uri="{FF2B5EF4-FFF2-40B4-BE49-F238E27FC236}">
                <a16:creationId xmlns:a16="http://schemas.microsoft.com/office/drawing/2014/main" xmlns="" id="{2F4C67B7-677F-C84F-B3B7-01AAFB2AD3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0431" y="5562027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2" name="Line 29">
            <a:extLst>
              <a:ext uri="{FF2B5EF4-FFF2-40B4-BE49-F238E27FC236}">
                <a16:creationId xmlns:a16="http://schemas.microsoft.com/office/drawing/2014/main" xmlns="" id="{3E1AB729-CEED-FF4B-AB94-DA2863E62F5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0431" y="5847777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3" name="Text Box 26">
            <a:extLst>
              <a:ext uri="{FF2B5EF4-FFF2-40B4-BE49-F238E27FC236}">
                <a16:creationId xmlns:a16="http://schemas.microsoft.com/office/drawing/2014/main" xmlns="" id="{B3BC3B01-336B-B648-9417-1795AE45E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843" y="416185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solidFill>
                  <a:srgbClr val="000000"/>
                </a:solidFill>
                <a:latin typeface="Tahoma" panose="020B0604030504040204" pitchFamily="34" charset="0"/>
              </a:rPr>
              <a:t>application</a:t>
            </a:r>
          </a:p>
        </p:txBody>
      </p:sp>
      <p:sp>
        <p:nvSpPr>
          <p:cNvPr id="84" name="Text Box 26">
            <a:extLst>
              <a:ext uri="{FF2B5EF4-FFF2-40B4-BE49-F238E27FC236}">
                <a16:creationId xmlns:a16="http://schemas.microsoft.com/office/drawing/2014/main" xmlns="" id="{DC97EC39-5ADE-8D46-9FEE-DBDD51FDB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4393" y="581920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solidFill>
                  <a:srgbClr val="969696"/>
                </a:solidFill>
                <a:latin typeface="Tahoma" panose="020B0604030504040204" pitchFamily="34" charset="0"/>
              </a:rPr>
              <a:t>physical</a:t>
            </a:r>
          </a:p>
        </p:txBody>
      </p:sp>
      <p:sp>
        <p:nvSpPr>
          <p:cNvPr id="85" name="Text Box 26">
            <a:extLst>
              <a:ext uri="{FF2B5EF4-FFF2-40B4-BE49-F238E27FC236}">
                <a16:creationId xmlns:a16="http://schemas.microsoft.com/office/drawing/2014/main" xmlns="" id="{8C832346-4F39-4844-8091-F736554D8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3443" y="553345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solidFill>
                  <a:srgbClr val="969696"/>
                </a:solidFill>
                <a:latin typeface="Tahoma" panose="020B0604030504040204" pitchFamily="34" charset="0"/>
              </a:rPr>
              <a:t>link</a:t>
            </a:r>
          </a:p>
        </p:txBody>
      </p:sp>
      <p:sp>
        <p:nvSpPr>
          <p:cNvPr id="86" name="Text Box 26">
            <a:extLst>
              <a:ext uri="{FF2B5EF4-FFF2-40B4-BE49-F238E27FC236}">
                <a16:creationId xmlns:a16="http://schemas.microsoft.com/office/drawing/2014/main" xmlns="" id="{68FADC82-2C08-DB43-951D-4FB06FD5E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3918" y="523817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solidFill>
                  <a:srgbClr val="969696"/>
                </a:solidFill>
                <a:latin typeface="Tahoma" panose="020B0604030504040204" pitchFamily="34" charset="0"/>
              </a:rPr>
              <a:t>network</a:t>
            </a:r>
          </a:p>
        </p:txBody>
      </p:sp>
      <p:sp>
        <p:nvSpPr>
          <p:cNvPr id="87" name="Oval 57">
            <a:extLst>
              <a:ext uri="{FF2B5EF4-FFF2-40B4-BE49-F238E27FC236}">
                <a16:creationId xmlns:a16="http://schemas.microsoft.com/office/drawing/2014/main" xmlns="" id="{FBC4E611-49B5-5546-8E93-C03CEF4C0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2193" y="4436489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process</a:t>
            </a:r>
          </a:p>
        </p:txBody>
      </p:sp>
      <p:grpSp>
        <p:nvGrpSpPr>
          <p:cNvPr id="88" name="Group 58">
            <a:extLst>
              <a:ext uri="{FF2B5EF4-FFF2-40B4-BE49-F238E27FC236}">
                <a16:creationId xmlns:a16="http://schemas.microsoft.com/office/drawing/2014/main" xmlns="" id="{BDB7A80F-EA2D-2740-83B7-DE5AFE13D157}"/>
              </a:ext>
            </a:extLst>
          </p:cNvPr>
          <p:cNvGrpSpPr>
            <a:grpSpLocks/>
          </p:cNvGrpSpPr>
          <p:nvPr/>
        </p:nvGrpSpPr>
        <p:grpSpPr bwMode="auto">
          <a:xfrm>
            <a:off x="3889843" y="4796852"/>
            <a:ext cx="546100" cy="225425"/>
            <a:chOff x="1287" y="2524"/>
            <a:chExt cx="260" cy="100"/>
          </a:xfrm>
        </p:grpSpPr>
        <p:sp>
          <p:nvSpPr>
            <p:cNvPr id="89" name="Rectangle 59">
              <a:extLst>
                <a:ext uri="{FF2B5EF4-FFF2-40B4-BE49-F238E27FC236}">
                  <a16:creationId xmlns:a16="http://schemas.microsoft.com/office/drawing/2014/main" xmlns="" id="{DE66C40C-3B9D-EF46-85B9-52614CA50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C96B7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0" name="Rectangle 60">
              <a:extLst>
                <a:ext uri="{FF2B5EF4-FFF2-40B4-BE49-F238E27FC236}">
                  <a16:creationId xmlns:a16="http://schemas.microsoft.com/office/drawing/2014/main" xmlns="" id="{BB035EC9-3E84-A147-B1F1-334CDBA3D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6" cy="7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1" name="Rectangle 61">
              <a:extLst>
                <a:ext uri="{FF2B5EF4-FFF2-40B4-BE49-F238E27FC236}">
                  <a16:creationId xmlns:a16="http://schemas.microsoft.com/office/drawing/2014/main" xmlns="" id="{A4F869EE-C3F1-524C-9E52-D9CF58C69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2" name="Rectangle 62">
              <a:extLst>
                <a:ext uri="{FF2B5EF4-FFF2-40B4-BE49-F238E27FC236}">
                  <a16:creationId xmlns:a16="http://schemas.microsoft.com/office/drawing/2014/main" xmlns="" id="{58E3BF21-8802-5F4C-9E24-B71F07259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6" cy="27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93" name="Rectangle 23">
            <a:extLst>
              <a:ext uri="{FF2B5EF4-FFF2-40B4-BE49-F238E27FC236}">
                <a16:creationId xmlns:a16="http://schemas.microsoft.com/office/drawing/2014/main" xmlns="" id="{EA6D85FB-86B2-B745-ADFD-3765EC14F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718" y="4088827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4" name="Rectangle 24">
            <a:extLst>
              <a:ext uri="{FF2B5EF4-FFF2-40B4-BE49-F238E27FC236}">
                <a16:creationId xmlns:a16="http://schemas.microsoft.com/office/drawing/2014/main" xmlns="" id="{A1355835-1546-1740-B9B8-CC9141EB3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9618" y="4142802"/>
            <a:ext cx="1273175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95" name="Line 25">
            <a:extLst>
              <a:ext uri="{FF2B5EF4-FFF2-40B4-BE49-F238E27FC236}">
                <a16:creationId xmlns:a16="http://schemas.microsoft.com/office/drawing/2014/main" xmlns="" id="{22344C4F-F96A-944B-9A5E-6962A9AC2F9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9143" y="4903214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6" name="Text Box 26">
            <a:extLst>
              <a:ext uri="{FF2B5EF4-FFF2-40B4-BE49-F238E27FC236}">
                <a16:creationId xmlns:a16="http://schemas.microsoft.com/office/drawing/2014/main" xmlns="" id="{93E8ABA8-42C2-C44C-8972-76E2C7AD8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6281" y="488575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solidFill>
                  <a:srgbClr val="969696"/>
                </a:solidFill>
                <a:latin typeface="Tahoma" panose="020B0604030504040204" pitchFamily="34" charset="0"/>
              </a:rPr>
              <a:t>transport</a:t>
            </a:r>
          </a:p>
        </p:txBody>
      </p:sp>
      <p:sp>
        <p:nvSpPr>
          <p:cNvPr id="97" name="Line 27">
            <a:extLst>
              <a:ext uri="{FF2B5EF4-FFF2-40B4-BE49-F238E27FC236}">
                <a16:creationId xmlns:a16="http://schemas.microsoft.com/office/drawing/2014/main" xmlns="" id="{4C22E15D-78C1-E143-93B3-4A31B8A2541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87081" y="5223889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8" name="Line 28">
            <a:extLst>
              <a:ext uri="{FF2B5EF4-FFF2-40B4-BE49-F238E27FC236}">
                <a16:creationId xmlns:a16="http://schemas.microsoft.com/office/drawing/2014/main" xmlns="" id="{5648F986-3546-E545-A6F7-3CF9C2DDADF0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2793" y="5533452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9" name="Line 29">
            <a:extLst>
              <a:ext uri="{FF2B5EF4-FFF2-40B4-BE49-F238E27FC236}">
                <a16:creationId xmlns:a16="http://schemas.microsoft.com/office/drawing/2014/main" xmlns="" id="{55B6D46E-D326-D64F-A181-AB7274FEB64E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2793" y="5819202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00" name="Text Box 26">
            <a:extLst>
              <a:ext uri="{FF2B5EF4-FFF2-40B4-BE49-F238E27FC236}">
                <a16:creationId xmlns:a16="http://schemas.microsoft.com/office/drawing/2014/main" xmlns="" id="{704444CB-075A-0948-9F82-6F49A25E3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1206" y="413327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solidFill>
                  <a:srgbClr val="000000"/>
                </a:solidFill>
                <a:latin typeface="Tahoma" panose="020B0604030504040204" pitchFamily="34" charset="0"/>
              </a:rPr>
              <a:t>application</a:t>
            </a:r>
          </a:p>
        </p:txBody>
      </p:sp>
      <p:sp>
        <p:nvSpPr>
          <p:cNvPr id="101" name="Text Box 26">
            <a:extLst>
              <a:ext uri="{FF2B5EF4-FFF2-40B4-BE49-F238E27FC236}">
                <a16:creationId xmlns:a16="http://schemas.microsoft.com/office/drawing/2014/main" xmlns="" id="{40B8469F-1FF4-FE40-9A71-D5EC33D37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6756" y="579062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solidFill>
                  <a:srgbClr val="969696"/>
                </a:solidFill>
                <a:latin typeface="Tahoma" panose="020B0604030504040204" pitchFamily="34" charset="0"/>
              </a:rPr>
              <a:t>physical</a:t>
            </a:r>
          </a:p>
        </p:txBody>
      </p:sp>
      <p:sp>
        <p:nvSpPr>
          <p:cNvPr id="102" name="Text Box 26">
            <a:extLst>
              <a:ext uri="{FF2B5EF4-FFF2-40B4-BE49-F238E27FC236}">
                <a16:creationId xmlns:a16="http://schemas.microsoft.com/office/drawing/2014/main" xmlns="" id="{713E03C4-58F2-5D42-92BD-0578A2D33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5806" y="550487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solidFill>
                  <a:srgbClr val="969696"/>
                </a:solidFill>
                <a:latin typeface="Tahoma" panose="020B0604030504040204" pitchFamily="34" charset="0"/>
              </a:rPr>
              <a:t>link</a:t>
            </a:r>
          </a:p>
        </p:txBody>
      </p:sp>
      <p:sp>
        <p:nvSpPr>
          <p:cNvPr id="103" name="Text Box 26">
            <a:extLst>
              <a:ext uri="{FF2B5EF4-FFF2-40B4-BE49-F238E27FC236}">
                <a16:creationId xmlns:a16="http://schemas.microsoft.com/office/drawing/2014/main" xmlns="" id="{76001FF3-4EB3-9E44-B006-298749345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6281" y="520960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solidFill>
                  <a:srgbClr val="969696"/>
                </a:solidFill>
                <a:latin typeface="Tahoma" panose="020B0604030504040204" pitchFamily="34" charset="0"/>
              </a:rPr>
              <a:t>network</a:t>
            </a:r>
          </a:p>
        </p:txBody>
      </p:sp>
      <p:sp>
        <p:nvSpPr>
          <p:cNvPr id="104" name="Oval 78">
            <a:extLst>
              <a:ext uri="{FF2B5EF4-FFF2-40B4-BE49-F238E27FC236}">
                <a16:creationId xmlns:a16="http://schemas.microsoft.com/office/drawing/2014/main" xmlns="" id="{8A13F36B-8768-0745-9E90-83E8FC5EE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4556" y="4407914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process</a:t>
            </a:r>
          </a:p>
        </p:txBody>
      </p:sp>
      <p:grpSp>
        <p:nvGrpSpPr>
          <p:cNvPr id="105" name="Group 79">
            <a:extLst>
              <a:ext uri="{FF2B5EF4-FFF2-40B4-BE49-F238E27FC236}">
                <a16:creationId xmlns:a16="http://schemas.microsoft.com/office/drawing/2014/main" xmlns="" id="{535443B2-390F-4D43-AFF5-FF5F8E34F3A9}"/>
              </a:ext>
            </a:extLst>
          </p:cNvPr>
          <p:cNvGrpSpPr>
            <a:grpSpLocks/>
          </p:cNvGrpSpPr>
          <p:nvPr/>
        </p:nvGrpSpPr>
        <p:grpSpPr bwMode="auto">
          <a:xfrm>
            <a:off x="7552206" y="4768277"/>
            <a:ext cx="546100" cy="225425"/>
            <a:chOff x="1287" y="2524"/>
            <a:chExt cx="260" cy="100"/>
          </a:xfrm>
        </p:grpSpPr>
        <p:sp>
          <p:nvSpPr>
            <p:cNvPr id="106" name="Rectangle 80">
              <a:extLst>
                <a:ext uri="{FF2B5EF4-FFF2-40B4-BE49-F238E27FC236}">
                  <a16:creationId xmlns:a16="http://schemas.microsoft.com/office/drawing/2014/main" xmlns="" id="{160B4F41-7E38-6E47-B7F6-C6AA76DC2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C96B7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07" name="Rectangle 81">
              <a:extLst>
                <a:ext uri="{FF2B5EF4-FFF2-40B4-BE49-F238E27FC236}">
                  <a16:creationId xmlns:a16="http://schemas.microsoft.com/office/drawing/2014/main" xmlns="" id="{28B3876F-4677-0D4D-AF89-6E06B2B3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6" cy="7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08" name="Rectangle 82">
              <a:extLst>
                <a:ext uri="{FF2B5EF4-FFF2-40B4-BE49-F238E27FC236}">
                  <a16:creationId xmlns:a16="http://schemas.microsoft.com/office/drawing/2014/main" xmlns="" id="{51611D2E-921B-804E-9775-6922F75F41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09" name="Rectangle 83">
              <a:extLst>
                <a:ext uri="{FF2B5EF4-FFF2-40B4-BE49-F238E27FC236}">
                  <a16:creationId xmlns:a16="http://schemas.microsoft.com/office/drawing/2014/main" xmlns="" id="{CBFB6CF2-1A50-F741-BAE7-97F8AF134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6" cy="27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110" name="Line 88">
            <a:extLst>
              <a:ext uri="{FF2B5EF4-FFF2-40B4-BE49-F238E27FC236}">
                <a16:creationId xmlns:a16="http://schemas.microsoft.com/office/drawing/2014/main" xmlns="" id="{EAAA0F7C-765D-CD49-B290-164DB9D3A1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61831" y="4539677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11" name="Line 89">
            <a:extLst>
              <a:ext uri="{FF2B5EF4-FFF2-40B4-BE49-F238E27FC236}">
                <a16:creationId xmlns:a16="http://schemas.microsoft.com/office/drawing/2014/main" xmlns="" id="{D2CD81D4-6282-5749-AF3E-B0E55816CDA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87256" y="4965127"/>
            <a:ext cx="0" cy="102235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12" name="Line 90">
            <a:extLst>
              <a:ext uri="{FF2B5EF4-FFF2-40B4-BE49-F238E27FC236}">
                <a16:creationId xmlns:a16="http://schemas.microsoft.com/office/drawing/2014/main" xmlns="" id="{86899CB5-FD7D-A644-9755-2DA9E5F4AA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11068" y="5465189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13" name="Text Box 56">
            <a:extLst>
              <a:ext uri="{FF2B5EF4-FFF2-40B4-BE49-F238E27FC236}">
                <a16:creationId xmlns:a16="http://schemas.microsoft.com/office/drawing/2014/main" xmlns="" id="{2CFC877C-1B09-8849-95D0-2EBA259C9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968" y="4220589"/>
            <a:ext cx="9175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socket</a:t>
            </a:r>
          </a:p>
        </p:txBody>
      </p:sp>
      <p:sp>
        <p:nvSpPr>
          <p:cNvPr id="114" name="Line 92">
            <a:extLst>
              <a:ext uri="{FF2B5EF4-FFF2-40B4-BE49-F238E27FC236}">
                <a16:creationId xmlns:a16="http://schemas.microsoft.com/office/drawing/2014/main" xmlns="" id="{F5883250-9436-014C-B8FA-7F184F4516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28018" y="4420614"/>
            <a:ext cx="968375" cy="4349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15" name="Line 93">
            <a:extLst>
              <a:ext uri="{FF2B5EF4-FFF2-40B4-BE49-F238E27FC236}">
                <a16:creationId xmlns:a16="http://schemas.microsoft.com/office/drawing/2014/main" xmlns="" id="{F83582A8-D082-E24D-9637-B677A079F01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63181" y="4409502"/>
            <a:ext cx="968375" cy="4349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16" name="Group 96">
            <a:extLst>
              <a:ext uri="{FF2B5EF4-FFF2-40B4-BE49-F238E27FC236}">
                <a16:creationId xmlns:a16="http://schemas.microsoft.com/office/drawing/2014/main" xmlns="" id="{A4EC689D-3AE5-AC42-8E9A-D41B31DF26A0}"/>
              </a:ext>
            </a:extLst>
          </p:cNvPr>
          <p:cNvGrpSpPr>
            <a:grpSpLocks/>
          </p:cNvGrpSpPr>
          <p:nvPr/>
        </p:nvGrpSpPr>
        <p:grpSpPr bwMode="auto">
          <a:xfrm>
            <a:off x="2318218" y="5474714"/>
            <a:ext cx="719138" cy="773113"/>
            <a:chOff x="-44" y="1473"/>
            <a:chExt cx="981" cy="1105"/>
          </a:xfrm>
        </p:grpSpPr>
        <p:pic>
          <p:nvPicPr>
            <p:cNvPr id="117" name="Picture 97" descr="desktop_computer_stylized_medium">
              <a:extLst>
                <a:ext uri="{FF2B5EF4-FFF2-40B4-BE49-F238E27FC236}">
                  <a16:creationId xmlns:a16="http://schemas.microsoft.com/office/drawing/2014/main" xmlns="" id="{4EAFAA9B-1FE4-8048-AEF5-4600C1CB33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8" name="Freeform 98">
              <a:extLst>
                <a:ext uri="{FF2B5EF4-FFF2-40B4-BE49-F238E27FC236}">
                  <a16:creationId xmlns:a16="http://schemas.microsoft.com/office/drawing/2014/main" xmlns="" id="{88B1BD01-DE89-6A4D-A050-0D8D405A8F9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19" name="Group 99">
            <a:extLst>
              <a:ext uri="{FF2B5EF4-FFF2-40B4-BE49-F238E27FC236}">
                <a16:creationId xmlns:a16="http://schemas.microsoft.com/office/drawing/2014/main" xmlns="" id="{13D0F484-888E-5342-9E3B-6B702B522B8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014293" y="5669977"/>
            <a:ext cx="719138" cy="773112"/>
            <a:chOff x="-44" y="1473"/>
            <a:chExt cx="981" cy="1105"/>
          </a:xfrm>
        </p:grpSpPr>
        <p:pic>
          <p:nvPicPr>
            <p:cNvPr id="120" name="Picture 100" descr="desktop_computer_stylized_medium">
              <a:extLst>
                <a:ext uri="{FF2B5EF4-FFF2-40B4-BE49-F238E27FC236}">
                  <a16:creationId xmlns:a16="http://schemas.microsoft.com/office/drawing/2014/main" xmlns="" id="{A3C739BC-E497-6E4F-8AF0-1E359C6228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1" name="Freeform 101">
              <a:extLst>
                <a:ext uri="{FF2B5EF4-FFF2-40B4-BE49-F238E27FC236}">
                  <a16:creationId xmlns:a16="http://schemas.microsoft.com/office/drawing/2014/main" xmlns="" id="{34D4BA65-175D-534B-96CE-35055DA62B6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2294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Sockets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8" name="Rectangle 3">
            <a:extLst>
              <a:ext uri="{FF2B5EF4-FFF2-40B4-BE49-F238E27FC236}">
                <a16:creationId xmlns:a16="http://schemas.microsoft.com/office/drawing/2014/main" xmlns="" id="{AE0F6699-BC13-C349-9AC1-8B36945FE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691" y="1183985"/>
            <a:ext cx="10965041" cy="5259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>
              <a:buNone/>
            </a:pPr>
            <a:r>
              <a:rPr lang="en-US" dirty="0" smtClean="0">
                <a:latin typeface="+mn-lt"/>
                <a:ea typeface="+mn-ea"/>
                <a:cs typeface="+mn-cs"/>
              </a:rPr>
              <a:t>A </a:t>
            </a:r>
            <a:r>
              <a:rPr lang="en-US" dirty="0">
                <a:latin typeface="+mn-lt"/>
                <a:ea typeface="+mn-ea"/>
                <a:cs typeface="+mn-cs"/>
              </a:rPr>
              <a:t>socket is an interface provided by the Operating System that enables communication between:</a:t>
            </a:r>
          </a:p>
          <a:p>
            <a:pPr marL="0" indent="0">
              <a:buNone/>
            </a:pPr>
            <a:endParaRPr lang="en-US" dirty="0">
              <a:latin typeface="+mn-lt"/>
              <a:ea typeface="+mn-ea"/>
              <a:cs typeface="+mn-cs"/>
            </a:endParaRPr>
          </a:p>
          <a:p>
            <a:r>
              <a:rPr lang="en-US" dirty="0">
                <a:latin typeface="+mn-lt"/>
                <a:ea typeface="+mn-ea"/>
                <a:cs typeface="+mn-cs"/>
              </a:rPr>
              <a:t>Processes on the same system (using IPC), or</a:t>
            </a:r>
          </a:p>
          <a:p>
            <a:r>
              <a:rPr lang="en-US" dirty="0">
                <a:latin typeface="+mn-lt"/>
                <a:ea typeface="+mn-ea"/>
                <a:cs typeface="+mn-cs"/>
              </a:rPr>
              <a:t>Processes on different systems connected over a network (using IP and ports</a:t>
            </a:r>
            <a:r>
              <a:rPr lang="en-US" dirty="0" smtClean="0">
                <a:latin typeface="+mn-lt"/>
                <a:ea typeface="+mn-ea"/>
                <a:cs typeface="+mn-cs"/>
              </a:rPr>
              <a:t>). A </a:t>
            </a:r>
            <a:r>
              <a:rPr lang="en-US" dirty="0">
                <a:latin typeface="+mn-lt"/>
                <a:ea typeface="+mn-ea"/>
                <a:cs typeface="+mn-cs"/>
              </a:rPr>
              <a:t>socket combines:</a:t>
            </a:r>
          </a:p>
          <a:p>
            <a:r>
              <a:rPr lang="en-US" dirty="0">
                <a:latin typeface="+mn-lt"/>
                <a:ea typeface="+mn-ea"/>
                <a:cs typeface="+mn-cs"/>
              </a:rPr>
              <a:t>IP address + Port number to uniquely identify a communication endpoint.</a:t>
            </a:r>
          </a:p>
          <a:p>
            <a:endParaRPr lang="en-US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dirty="0">
                <a:latin typeface="+mn-lt"/>
                <a:ea typeface="+mn-ea"/>
                <a:cs typeface="+mn-cs"/>
              </a:rPr>
              <a:t>Example:</a:t>
            </a:r>
          </a:p>
          <a:p>
            <a:r>
              <a:rPr lang="en-US" dirty="0">
                <a:latin typeface="+mn-lt"/>
                <a:ea typeface="+mn-ea"/>
                <a:cs typeface="+mn-cs"/>
              </a:rPr>
              <a:t>192.168.1.10 → IP address of the host</a:t>
            </a:r>
          </a:p>
          <a:p>
            <a:r>
              <a:rPr lang="en-US" dirty="0">
                <a:latin typeface="+mn-lt"/>
                <a:ea typeface="+mn-ea"/>
                <a:cs typeface="+mn-cs"/>
              </a:rPr>
              <a:t>80 → Port number for HTTP service</a:t>
            </a:r>
          </a:p>
          <a:p>
            <a:endParaRPr lang="en-US" altLang="en-US" sz="2800" kern="0" dirty="0">
              <a:latin typeface="+mn-lt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66850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86037"/>
            <a:ext cx="7123178" cy="894622"/>
          </a:xfrm>
        </p:spPr>
        <p:txBody>
          <a:bodyPr>
            <a:normAutofit/>
          </a:bodyPr>
          <a:lstStyle/>
          <a:p>
            <a:r>
              <a:rPr lang="en-US" dirty="0"/>
              <a:t>Real-Life Examples of Sockets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417800"/>
              </p:ext>
            </p:extLst>
          </p:nvPr>
        </p:nvGraphicFramePr>
        <p:xfrm>
          <a:off x="838200" y="1842864"/>
          <a:ext cx="10515600" cy="414997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xmlns="" val="5073256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xmlns="" val="298370248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xmlns="" val="1464361833"/>
                    </a:ext>
                  </a:extLst>
                </a:gridCol>
              </a:tblGrid>
              <a:tr h="691662">
                <a:tc>
                  <a:txBody>
                    <a:bodyPr/>
                    <a:lstStyle/>
                    <a:p>
                      <a:r>
                        <a:rPr lang="en-US" b="1"/>
                        <a:t>Application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Protocol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223575063"/>
                  </a:ext>
                </a:extLst>
              </a:tr>
              <a:tr h="691662">
                <a:tc>
                  <a:txBody>
                    <a:bodyPr/>
                    <a:lstStyle/>
                    <a:p>
                      <a:r>
                        <a:rPr lang="en-US" b="1"/>
                        <a:t>HTTP (Web)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TCP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554627299"/>
                  </a:ext>
                </a:extLst>
              </a:tr>
              <a:tr h="691662">
                <a:tc>
                  <a:txBody>
                    <a:bodyPr/>
                    <a:lstStyle/>
                    <a:p>
                      <a:r>
                        <a:rPr lang="en-US" b="1"/>
                        <a:t>HTTPS (Secure Web)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TCP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850124847"/>
                  </a:ext>
                </a:extLst>
              </a:tr>
              <a:tr h="691662">
                <a:tc>
                  <a:txBody>
                    <a:bodyPr/>
                    <a:lstStyle/>
                    <a:p>
                      <a:r>
                        <a:rPr lang="en-US" b="1"/>
                        <a:t>DNS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UDP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78336996"/>
                  </a:ext>
                </a:extLst>
              </a:tr>
              <a:tr h="691662">
                <a:tc>
                  <a:txBody>
                    <a:bodyPr/>
                    <a:lstStyle/>
                    <a:p>
                      <a:r>
                        <a:rPr lang="en-US" b="1"/>
                        <a:t>FTP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TCP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57128656"/>
                  </a:ext>
                </a:extLst>
              </a:tr>
              <a:tr h="691662">
                <a:tc>
                  <a:txBody>
                    <a:bodyPr/>
                    <a:lstStyle/>
                    <a:p>
                      <a:r>
                        <a:rPr lang="en-US" b="1" dirty="0"/>
                        <a:t>WhatsApp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Dynamic 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TCP/UDP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293113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8598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An application-layer </a:t>
            </a:r>
            <a:r>
              <a:rPr lang="en-US" altLang="en-US" dirty="0">
                <a:ea typeface="ＭＳ Ｐゴシック" panose="020B0600070205080204" pitchFamily="34" charset="-128"/>
              </a:rPr>
              <a:t>p</a:t>
            </a:r>
            <a:r>
              <a:rPr lang="en-US" altLang="en-US" sz="4400" dirty="0">
                <a:ea typeface="ＭＳ Ｐゴシック" panose="020B0600070205080204" pitchFamily="34" charset="-128"/>
              </a:rPr>
              <a:t>rotocol </a:t>
            </a:r>
            <a:r>
              <a:rPr lang="en-US" altLang="en-US" dirty="0">
                <a:ea typeface="ＭＳ Ｐゴシック" panose="020B0600070205080204" pitchFamily="34" charset="-128"/>
              </a:rPr>
              <a:t>d</a:t>
            </a:r>
            <a:r>
              <a:rPr lang="en-US" altLang="en-US" sz="4400" dirty="0">
                <a:ea typeface="ＭＳ Ｐゴシック" panose="020B0600070205080204" pitchFamily="34" charset="-128"/>
              </a:rPr>
              <a:t>efines: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8251B37A-10ED-6C4A-A5F1-4B1BE824E86A}"/>
              </a:ext>
            </a:extLst>
          </p:cNvPr>
          <p:cNvSpPr txBox="1">
            <a:spLocks noChangeArrowheads="1"/>
          </p:cNvSpPr>
          <p:nvPr/>
        </p:nvSpPr>
        <p:spPr>
          <a:xfrm>
            <a:off x="759182" y="1194239"/>
            <a:ext cx="5297309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types of messages exchanged, </a:t>
            </a:r>
          </a:p>
          <a:p>
            <a:pPr lvl="1"/>
            <a:r>
              <a:rPr lang="en-US" altLang="en-US" sz="2800" dirty="0">
                <a:ea typeface="ＭＳ Ｐゴシック" panose="020B0600070205080204" pitchFamily="34" charset="-128"/>
              </a:rPr>
              <a:t>e.g., request, response </a:t>
            </a:r>
          </a:p>
          <a:p>
            <a:r>
              <a:rPr lang="en-US" altLang="en-US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message syntax:</a:t>
            </a:r>
          </a:p>
          <a:p>
            <a:pPr lvl="1"/>
            <a:r>
              <a:rPr lang="en-US" altLang="en-US" sz="2800" dirty="0">
                <a:ea typeface="ＭＳ Ｐゴシック" panose="020B0600070205080204" pitchFamily="34" charset="-128"/>
              </a:rPr>
              <a:t>what fields in messages &amp; how fields are </a:t>
            </a:r>
            <a:r>
              <a:rPr lang="en-US" altLang="en-US" sz="2800" dirty="0" smtClean="0">
                <a:ea typeface="ＭＳ Ｐゴシック" panose="020B0600070205080204" pitchFamily="34" charset="-128"/>
              </a:rPr>
              <a:t>delineated (described)</a:t>
            </a:r>
            <a:endParaRPr lang="en-US" altLang="en-US" sz="2800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message semantics </a:t>
            </a:r>
          </a:p>
          <a:p>
            <a:pPr lvl="1"/>
            <a:r>
              <a:rPr lang="en-US" altLang="en-US" sz="2800" dirty="0">
                <a:ea typeface="ＭＳ Ｐゴシック" panose="020B0600070205080204" pitchFamily="34" charset="-128"/>
              </a:rPr>
              <a:t>meaning of information in fields</a:t>
            </a:r>
          </a:p>
          <a:p>
            <a:r>
              <a:rPr lang="en-US" altLang="en-US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rules</a:t>
            </a:r>
            <a:r>
              <a:rPr lang="en-US" altLang="en-US" dirty="0">
                <a:ea typeface="ＭＳ Ｐゴシック" panose="020B0600070205080204" pitchFamily="34" charset="-128"/>
              </a:rPr>
              <a:t> for when and how processes send &amp; respond to messages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E3FA004C-2235-334F-8814-1F36401D2A86}"/>
              </a:ext>
            </a:extLst>
          </p:cNvPr>
          <p:cNvSpPr txBox="1">
            <a:spLocks noChangeArrowheads="1"/>
          </p:cNvSpPr>
          <p:nvPr/>
        </p:nvSpPr>
        <p:spPr>
          <a:xfrm>
            <a:off x="6555631" y="1707945"/>
            <a:ext cx="4758660" cy="403972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dirty="0" smtClean="0">
                <a:solidFill>
                  <a:srgbClr val="C00000"/>
                </a:solidFill>
                <a:ea typeface="ＭＳ Ｐゴシック" panose="020B0600070205080204" pitchFamily="34" charset="-128"/>
              </a:rPr>
              <a:t>1. Open </a:t>
            </a:r>
            <a:r>
              <a:rPr lang="en-US" altLang="en-US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protocols: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defined in RFCs, everyone has access to protocol definition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allows for interoperability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e.g., HTTP, SMTP</a:t>
            </a:r>
          </a:p>
          <a:p>
            <a:pPr>
              <a:buFont typeface="Wingdings" pitchFamily="2" charset="2"/>
              <a:buNone/>
            </a:pPr>
            <a:r>
              <a:rPr lang="en-US" altLang="en-US" dirty="0" smtClean="0">
                <a:solidFill>
                  <a:srgbClr val="C00000"/>
                </a:solidFill>
                <a:ea typeface="ＭＳ Ｐゴシック" panose="020B0600070205080204" pitchFamily="34" charset="-128"/>
              </a:rPr>
              <a:t>2. Proprietary </a:t>
            </a:r>
            <a:r>
              <a:rPr lang="en-US" altLang="en-US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protocols: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e.g.,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Skype, Zoom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3737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Application layer: overview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xmlns="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809242" y="1870563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Principles of network applications</a:t>
            </a:r>
          </a:p>
          <a:p>
            <a:pPr marL="401638" indent="-401638">
              <a:defRPr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Web and HTTP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E-mail, SMTP, IMAP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Domain Name System DNS</a:t>
            </a:r>
          </a:p>
          <a:p>
            <a:endParaRPr lang="en-US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xmlns="" id="{5FE695BD-369F-8C4A-ACAD-42671E1C0719}"/>
              </a:ext>
            </a:extLst>
          </p:cNvPr>
          <p:cNvSpPr txBox="1">
            <a:spLocks noChangeArrowheads="1"/>
          </p:cNvSpPr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</p:spPr>
        <p:txBody>
          <a:bodyPr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P2P applications</a:t>
            </a:r>
          </a:p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video streaming and content distribution networks</a:t>
            </a:r>
          </a:p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socket programming with UDP and TCP</a:t>
            </a:r>
          </a:p>
          <a:p>
            <a:pPr>
              <a:buFont typeface="Wingdings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8" name="Picture 7" descr="Kurose&amp;Ross 8th edition photo">
            <a:extLst>
              <a:ext uri="{FF2B5EF4-FFF2-40B4-BE49-F238E27FC236}">
                <a16:creationId xmlns:a16="http://schemas.microsoft.com/office/drawing/2014/main" xmlns="" id="{95F7992F-0B40-8A40-9C6C-9B0007DB8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391" y="4125913"/>
            <a:ext cx="3087757" cy="231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837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Web and HTTP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xmlns="" id="{2AB7AFB9-05B7-8F45-B2AB-A2B2DBC22CCE}"/>
              </a:ext>
            </a:extLst>
          </p:cNvPr>
          <p:cNvSpPr txBox="1">
            <a:spLocks noChangeArrowheads="1"/>
          </p:cNvSpPr>
          <p:nvPr/>
        </p:nvSpPr>
        <p:spPr>
          <a:xfrm>
            <a:off x="669395" y="1559756"/>
            <a:ext cx="10774192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3200" i="1" dirty="0">
                <a:ea typeface="ＭＳ Ｐゴシック" panose="020B0600070205080204" pitchFamily="34" charset="-128"/>
              </a:rPr>
              <a:t>First, a quick review…</a:t>
            </a:r>
          </a:p>
          <a:p>
            <a:pPr marL="460375" indent="-330200"/>
            <a:r>
              <a:rPr lang="en-US" altLang="en-US" sz="3200" dirty="0">
                <a:ea typeface="ＭＳ Ｐゴシック" panose="020B0600070205080204" pitchFamily="34" charset="-128"/>
              </a:rPr>
              <a:t>web page consists of </a:t>
            </a:r>
            <a:r>
              <a:rPr lang="en-US" altLang="en-US" sz="3200" i="1" dirty="0" smtClean="0">
                <a:solidFill>
                  <a:srgbClr val="C00000"/>
                </a:solidFill>
                <a:ea typeface="ＭＳ Ｐゴシック" panose="020B0600070205080204" pitchFamily="34" charset="-128"/>
              </a:rPr>
              <a:t>objects, </a:t>
            </a:r>
            <a:r>
              <a:rPr lang="en-US" altLang="en-US" sz="3200" dirty="0">
                <a:ea typeface="ＭＳ Ｐゴシック" panose="020B0600070205080204" pitchFamily="34" charset="-128"/>
              </a:rPr>
              <a:t>each of</a:t>
            </a:r>
            <a:r>
              <a:rPr lang="en-US" altLang="en-US" sz="32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3200" dirty="0">
                <a:ea typeface="ＭＳ Ｐゴシック" panose="020B0600070205080204" pitchFamily="34" charset="-128"/>
              </a:rPr>
              <a:t>which can be stored on different Web servers</a:t>
            </a:r>
          </a:p>
          <a:p>
            <a:pPr marL="460375" indent="-330200"/>
            <a:r>
              <a:rPr lang="en-US" altLang="en-US" sz="3200" dirty="0">
                <a:ea typeface="ＭＳ Ｐゴシック" panose="020B0600070205080204" pitchFamily="34" charset="-128"/>
              </a:rPr>
              <a:t>object can be HTML file, JPEG image, Java applet, audio file,…</a:t>
            </a:r>
          </a:p>
          <a:p>
            <a:pPr marL="460375" indent="-330200"/>
            <a:r>
              <a:rPr lang="en-US" altLang="en-US" sz="3200" dirty="0">
                <a:ea typeface="ＭＳ Ｐゴシック" panose="020B0600070205080204" pitchFamily="34" charset="-128"/>
              </a:rPr>
              <a:t>web page consists of </a:t>
            </a: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base HTML-file</a:t>
            </a:r>
            <a:r>
              <a:rPr lang="en-US" altLang="en-US" sz="3200" dirty="0">
                <a:ea typeface="ＭＳ Ｐゴシック" panose="020B0600070205080204" pitchFamily="34" charset="-128"/>
              </a:rPr>
              <a:t> which includes </a:t>
            </a: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several referenced objects, each </a:t>
            </a:r>
            <a:r>
              <a:rPr lang="en-US" altLang="en-US" sz="3200" dirty="0">
                <a:ea typeface="ＭＳ Ｐゴシック" panose="020B0600070205080204" pitchFamily="34" charset="-128"/>
              </a:rPr>
              <a:t>addressable by a </a:t>
            </a: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URL, </a:t>
            </a:r>
            <a:r>
              <a:rPr lang="en-US" altLang="en-US" sz="3200" dirty="0">
                <a:ea typeface="ＭＳ Ｐゴシック" panose="020B0600070205080204" pitchFamily="34" charset="-128"/>
              </a:rPr>
              <a:t>e.g.,</a:t>
            </a:r>
          </a:p>
          <a:p>
            <a:pPr>
              <a:buFont typeface="Wingdings" pitchFamily="2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  <p:grpSp>
        <p:nvGrpSpPr>
          <p:cNvPr id="13" name="Group 10">
            <a:extLst>
              <a:ext uri="{FF2B5EF4-FFF2-40B4-BE49-F238E27FC236}">
                <a16:creationId xmlns:a16="http://schemas.microsoft.com/office/drawing/2014/main" xmlns="" id="{A0C8A734-DC35-F347-AF3E-C7E64B7D785E}"/>
              </a:ext>
            </a:extLst>
          </p:cNvPr>
          <p:cNvGrpSpPr>
            <a:grpSpLocks/>
          </p:cNvGrpSpPr>
          <p:nvPr/>
        </p:nvGrpSpPr>
        <p:grpSpPr bwMode="auto">
          <a:xfrm>
            <a:off x="2463366" y="4853073"/>
            <a:ext cx="6835775" cy="1144588"/>
            <a:chOff x="788" y="2955"/>
            <a:chExt cx="4306" cy="721"/>
          </a:xfrm>
        </p:grpSpPr>
        <p:sp>
          <p:nvSpPr>
            <p:cNvPr id="14" name="Text Box 5">
              <a:extLst>
                <a:ext uri="{FF2B5EF4-FFF2-40B4-BE49-F238E27FC236}">
                  <a16:creationId xmlns:a16="http://schemas.microsoft.com/office/drawing/2014/main" xmlns="" id="{07B49400-3628-264C-8D3A-69378F85C8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" y="2955"/>
              <a:ext cx="418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 err="1">
                  <a:latin typeface="Courier New" panose="02070309020205020404" pitchFamily="49" charset="0"/>
                </a:rPr>
                <a:t>www.someschool.edu</a:t>
              </a:r>
              <a:r>
                <a:rPr lang="en-US" altLang="en-US" sz="2400" dirty="0">
                  <a:latin typeface="Courier New" panose="02070309020205020404" pitchFamily="49" charset="0"/>
                </a:rPr>
                <a:t>/</a:t>
              </a:r>
              <a:r>
                <a:rPr lang="en-US" altLang="en-US" sz="2400" dirty="0" err="1">
                  <a:latin typeface="Courier New" panose="02070309020205020404" pitchFamily="49" charset="0"/>
                </a:rPr>
                <a:t>someDept</a:t>
              </a:r>
              <a:r>
                <a:rPr lang="en-US" altLang="en-US" sz="2400" dirty="0">
                  <a:latin typeface="Courier New" panose="02070309020205020404" pitchFamily="49" charset="0"/>
                </a:rPr>
                <a:t>/</a:t>
              </a:r>
              <a:r>
                <a:rPr lang="en-US" altLang="en-US" sz="2400" dirty="0" err="1">
                  <a:latin typeface="Courier New" panose="02070309020205020404" pitchFamily="49" charset="0"/>
                </a:rPr>
                <a:t>pic.gif</a:t>
              </a:r>
              <a:endParaRPr lang="en-US" altLang="en-US" sz="2400" dirty="0">
                <a:latin typeface="Courier New" panose="02070309020205020404" pitchFamily="49" charset="0"/>
              </a:endParaRPr>
            </a:p>
          </p:txBody>
        </p:sp>
        <p:sp>
          <p:nvSpPr>
            <p:cNvPr id="15" name="AutoShape 6">
              <a:extLst>
                <a:ext uri="{FF2B5EF4-FFF2-40B4-BE49-F238E27FC236}">
                  <a16:creationId xmlns:a16="http://schemas.microsoft.com/office/drawing/2014/main" xmlns="" id="{5B0BF68B-EFB6-904F-A81E-8D4DB716D3BA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1821" y="2281"/>
              <a:ext cx="57" cy="2083"/>
            </a:xfrm>
            <a:prstGeom prst="leftBrace">
              <a:avLst>
                <a:gd name="adj1" fmla="val 30453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>
                <a:latin typeface="Comic Sans MS" panose="030F0902030302020204" pitchFamily="66" charset="0"/>
              </a:endParaRPr>
            </a:p>
          </p:txBody>
        </p:sp>
        <p:sp>
          <p:nvSpPr>
            <p:cNvPr id="16" name="AutoShape 7">
              <a:extLst>
                <a:ext uri="{FF2B5EF4-FFF2-40B4-BE49-F238E27FC236}">
                  <a16:creationId xmlns:a16="http://schemas.microsoft.com/office/drawing/2014/main" xmlns="" id="{BF004AC2-43AC-6449-B799-0D73A5E5822D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4024" y="2277"/>
              <a:ext cx="57" cy="2083"/>
            </a:xfrm>
            <a:prstGeom prst="leftBrace">
              <a:avLst>
                <a:gd name="adj1" fmla="val 30453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>
                <a:latin typeface="Comic Sans MS" panose="030F0902030302020204" pitchFamily="66" charset="0"/>
              </a:endParaRPr>
            </a:p>
          </p:txBody>
        </p:sp>
        <p:sp>
          <p:nvSpPr>
            <p:cNvPr id="17" name="Text Box 8">
              <a:extLst>
                <a:ext uri="{FF2B5EF4-FFF2-40B4-BE49-F238E27FC236}">
                  <a16:creationId xmlns:a16="http://schemas.microsoft.com/office/drawing/2014/main" xmlns="" id="{4D5B851A-267A-1546-B45E-931C3F7AF0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9" y="3388"/>
              <a:ext cx="10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host name</a:t>
              </a:r>
            </a:p>
          </p:txBody>
        </p:sp>
        <p:sp>
          <p:nvSpPr>
            <p:cNvPr id="18" name="Text Box 9">
              <a:extLst>
                <a:ext uri="{FF2B5EF4-FFF2-40B4-BE49-F238E27FC236}">
                  <a16:creationId xmlns:a16="http://schemas.microsoft.com/office/drawing/2014/main" xmlns="" id="{4EA9C80E-6BB3-B44E-A522-3C7B027B4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5" y="3338"/>
              <a:ext cx="10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path</a:t>
              </a:r>
              <a:r>
                <a:rPr lang="en-US" altLang="en-US" sz="2400">
                  <a:latin typeface="Comic Sans MS" panose="030F0902030302020204" pitchFamily="66" charset="0"/>
                </a:rPr>
                <a:t> </a:t>
              </a:r>
              <a:r>
                <a:rPr lang="en-US" altLang="en-US" sz="2400"/>
                <a:t>name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1769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overview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1" name="Rectangle 3">
            <a:extLst>
              <a:ext uri="{FF2B5EF4-FFF2-40B4-BE49-F238E27FC236}">
                <a16:creationId xmlns:a16="http://schemas.microsoft.com/office/drawing/2014/main" xmlns="" id="{D0A9535F-9718-644A-A429-D02A2397C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849" y="1608374"/>
            <a:ext cx="5988172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75000"/>
              </a:lnSpc>
              <a:buFont typeface="Wingdings" pitchFamily="2" charset="2"/>
              <a:buNone/>
            </a:pPr>
            <a:r>
              <a:rPr lang="en-US" altLang="en-US" sz="3200" kern="0" dirty="0">
                <a:solidFill>
                  <a:srgbClr val="CC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HTTP: hypertext transfer protocol</a:t>
            </a:r>
          </a:p>
          <a:p>
            <a:pPr>
              <a:lnSpc>
                <a:spcPct val="75000"/>
              </a:lnSpc>
            </a:pPr>
            <a:r>
              <a:rPr lang="en-US" altLang="en-US" sz="3200" kern="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Web</a:t>
            </a:r>
            <a:r>
              <a:rPr lang="ja-JP" altLang="en-US" sz="3200" kern="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’</a:t>
            </a:r>
            <a:r>
              <a:rPr lang="en-US" altLang="ja-JP" sz="3200" kern="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 application layer protocol</a:t>
            </a:r>
          </a:p>
          <a:p>
            <a:pPr>
              <a:lnSpc>
                <a:spcPct val="75000"/>
              </a:lnSpc>
            </a:pPr>
            <a:r>
              <a:rPr lang="en-US" altLang="en-US" sz="3200" kern="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client/server model:</a:t>
            </a:r>
          </a:p>
          <a:p>
            <a:pPr marL="685800" lvl="1" indent="-228600">
              <a:lnSpc>
                <a:spcPct val="90000"/>
              </a:lnSpc>
            </a:pPr>
            <a:r>
              <a:rPr lang="en-US" altLang="en-US" sz="2800" i="1" kern="0" dirty="0">
                <a:solidFill>
                  <a:srgbClr val="CC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client</a:t>
            </a:r>
            <a:r>
              <a:rPr lang="en-US" altLang="en-US" sz="2800" i="1" kern="0" dirty="0">
                <a:solidFill>
                  <a:srgbClr val="FF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:</a:t>
            </a:r>
            <a:r>
              <a:rPr lang="en-US" altLang="en-US" sz="2800" kern="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browser </a:t>
            </a:r>
            <a:r>
              <a:rPr lang="en-US" altLang="en-US" sz="2800" kern="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(</a:t>
            </a:r>
            <a:r>
              <a:rPr lang="en-US" altLang="en-US" sz="2800" kern="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chorme</a:t>
            </a:r>
            <a:r>
              <a:rPr lang="en-US" altLang="en-US" sz="2800" kern="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, </a:t>
            </a:r>
            <a:r>
              <a:rPr lang="en-US" altLang="en-US" sz="2800" kern="0" dirty="0" err="1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firefox</a:t>
            </a:r>
            <a:r>
              <a:rPr lang="en-US" altLang="en-US" sz="2800" kern="0" dirty="0" smtClean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etc.) that </a:t>
            </a:r>
            <a:r>
              <a:rPr lang="en-US" altLang="en-US" sz="2800" kern="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requests, receives, (using HTTP protocol) and </a:t>
            </a:r>
            <a:r>
              <a:rPr lang="ja-JP" altLang="en-US" sz="2800" kern="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“</a:t>
            </a:r>
            <a:r>
              <a:rPr lang="en-US" altLang="ja-JP" sz="2800" kern="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displays</a:t>
            </a:r>
            <a:r>
              <a:rPr lang="ja-JP" altLang="en-US" sz="2800" kern="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”</a:t>
            </a:r>
            <a:r>
              <a:rPr lang="en-US" altLang="ja-JP" sz="2800" kern="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Web objects </a:t>
            </a:r>
          </a:p>
          <a:p>
            <a:pPr marL="685800" lvl="1" indent="-228600">
              <a:lnSpc>
                <a:spcPct val="90000"/>
              </a:lnSpc>
            </a:pPr>
            <a:r>
              <a:rPr lang="en-US" altLang="en-US" sz="2800" i="1" kern="0" dirty="0">
                <a:solidFill>
                  <a:srgbClr val="CC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server:</a:t>
            </a:r>
            <a:r>
              <a:rPr lang="en-US" altLang="en-US" sz="2800" kern="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Web server sends (using HTTP protocol) objects in response to requests</a:t>
            </a:r>
          </a:p>
          <a:p>
            <a:pPr>
              <a:lnSpc>
                <a:spcPct val="75000"/>
              </a:lnSpc>
              <a:buFont typeface="Wingdings" pitchFamily="2" charset="2"/>
              <a:buNone/>
            </a:pPr>
            <a:endParaRPr lang="en-US" altLang="en-US" sz="3200" kern="0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72" name="Text Box 7">
            <a:extLst>
              <a:ext uri="{FF2B5EF4-FFF2-40B4-BE49-F238E27FC236}">
                <a16:creationId xmlns:a16="http://schemas.microsoft.com/office/drawing/2014/main" xmlns="" id="{EE5DED9F-E1C4-F34D-899C-5E5BAFDAD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4832" y="2687077"/>
            <a:ext cx="227056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PC running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Firefox browser</a:t>
            </a: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ＭＳ Ｐゴシック" panose="020B0600070205080204" pitchFamily="34" charset="-128"/>
            </a:endParaRPr>
          </a:p>
        </p:txBody>
      </p:sp>
      <p:sp>
        <p:nvSpPr>
          <p:cNvPr id="73" name="Text Box 9">
            <a:extLst>
              <a:ext uri="{FF2B5EF4-FFF2-40B4-BE49-F238E27FC236}">
                <a16:creationId xmlns:a16="http://schemas.microsoft.com/office/drawing/2014/main" xmlns="" id="{1DB0406D-8424-A242-88CD-CF99DD0C8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5810" y="4162625"/>
            <a:ext cx="241454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server running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Apache Web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server</a:t>
            </a: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ＭＳ Ｐゴシック" panose="020B0600070205080204" pitchFamily="34" charset="-128"/>
            </a:endParaRPr>
          </a:p>
        </p:txBody>
      </p:sp>
      <p:sp>
        <p:nvSpPr>
          <p:cNvPr id="74" name="Text Box 23">
            <a:extLst>
              <a:ext uri="{FF2B5EF4-FFF2-40B4-BE49-F238E27FC236}">
                <a16:creationId xmlns:a16="http://schemas.microsoft.com/office/drawing/2014/main" xmlns="" id="{61B2A806-9EFC-9449-97BE-336492E83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475" y="5472455"/>
            <a:ext cx="221066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iPhone running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Safari browser</a:t>
            </a:r>
            <a:endParaRPr kumimoji="0" lang="en-US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ＭＳ Ｐゴシック" panose="020B0600070205080204" pitchFamily="34" charset="-128"/>
            </a:endParaRPr>
          </a:p>
        </p:txBody>
      </p:sp>
      <p:grpSp>
        <p:nvGrpSpPr>
          <p:cNvPr id="75" name="Group 35">
            <a:extLst>
              <a:ext uri="{FF2B5EF4-FFF2-40B4-BE49-F238E27FC236}">
                <a16:creationId xmlns:a16="http://schemas.microsoft.com/office/drawing/2014/main" xmlns="" id="{9F18C3DA-1F75-254F-8252-0752283DD6D8}"/>
              </a:ext>
            </a:extLst>
          </p:cNvPr>
          <p:cNvGrpSpPr>
            <a:grpSpLocks/>
          </p:cNvGrpSpPr>
          <p:nvPr/>
        </p:nvGrpSpPr>
        <p:grpSpPr bwMode="auto">
          <a:xfrm>
            <a:off x="8129954" y="2391117"/>
            <a:ext cx="2101850" cy="946150"/>
            <a:chOff x="3640" y="1346"/>
            <a:chExt cx="1324" cy="596"/>
          </a:xfrm>
        </p:grpSpPr>
        <p:sp>
          <p:nvSpPr>
            <p:cNvPr id="76" name="Line 19">
              <a:extLst>
                <a:ext uri="{FF2B5EF4-FFF2-40B4-BE49-F238E27FC236}">
                  <a16:creationId xmlns:a16="http://schemas.microsoft.com/office/drawing/2014/main" xmlns="" id="{32A5B725-224A-8641-84D7-5E247267A8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0" y="1346"/>
              <a:ext cx="1324" cy="59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7" name="Text Box 24">
              <a:extLst>
                <a:ext uri="{FF2B5EF4-FFF2-40B4-BE49-F238E27FC236}">
                  <a16:creationId xmlns:a16="http://schemas.microsoft.com/office/drawing/2014/main" xmlns="" id="{AFF1AA49-1EC5-FD4D-A4C7-4E97FBE86C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HTTP request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78" name="Group 36">
            <a:extLst>
              <a:ext uri="{FF2B5EF4-FFF2-40B4-BE49-F238E27FC236}">
                <a16:creationId xmlns:a16="http://schemas.microsoft.com/office/drawing/2014/main" xmlns="" id="{CCF7DC4F-F784-E14E-9279-0C9C13F3B891}"/>
              </a:ext>
            </a:extLst>
          </p:cNvPr>
          <p:cNvGrpSpPr>
            <a:grpSpLocks/>
          </p:cNvGrpSpPr>
          <p:nvPr/>
        </p:nvGrpSpPr>
        <p:grpSpPr bwMode="auto">
          <a:xfrm>
            <a:off x="8241079" y="2599080"/>
            <a:ext cx="1971675" cy="904875"/>
            <a:chOff x="4141" y="394"/>
            <a:chExt cx="1242" cy="570"/>
          </a:xfrm>
        </p:grpSpPr>
        <p:sp>
          <p:nvSpPr>
            <p:cNvPr id="79" name="Line 20">
              <a:extLst>
                <a:ext uri="{FF2B5EF4-FFF2-40B4-BE49-F238E27FC236}">
                  <a16:creationId xmlns:a16="http://schemas.microsoft.com/office/drawing/2014/main" xmlns="" id="{162E51BA-C1E2-004B-832B-C97F73DD43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41" y="394"/>
              <a:ext cx="1242" cy="57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0" name="Text Box 26">
              <a:extLst>
                <a:ext uri="{FF2B5EF4-FFF2-40B4-BE49-F238E27FC236}">
                  <a16:creationId xmlns:a16="http://schemas.microsoft.com/office/drawing/2014/main" xmlns="" id="{8A281BFE-8385-CA42-BA62-2631AB1C4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HTTP response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81" name="Group 37">
            <a:extLst>
              <a:ext uri="{FF2B5EF4-FFF2-40B4-BE49-F238E27FC236}">
                <a16:creationId xmlns:a16="http://schemas.microsoft.com/office/drawing/2014/main" xmlns="" id="{75AC8EC6-FB97-154F-8581-1A51362C9E51}"/>
              </a:ext>
            </a:extLst>
          </p:cNvPr>
          <p:cNvGrpSpPr>
            <a:grpSpLocks/>
          </p:cNvGrpSpPr>
          <p:nvPr/>
        </p:nvGrpSpPr>
        <p:grpSpPr bwMode="auto">
          <a:xfrm rot="-3183056">
            <a:off x="8106142" y="3884955"/>
            <a:ext cx="2101850" cy="946150"/>
            <a:chOff x="3640" y="1346"/>
            <a:chExt cx="1324" cy="596"/>
          </a:xfrm>
        </p:grpSpPr>
        <p:sp>
          <p:nvSpPr>
            <p:cNvPr id="82" name="Line 19">
              <a:extLst>
                <a:ext uri="{FF2B5EF4-FFF2-40B4-BE49-F238E27FC236}">
                  <a16:creationId xmlns:a16="http://schemas.microsoft.com/office/drawing/2014/main" xmlns="" id="{69FABD09-8D01-A244-A69C-7220481CAE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0" y="1346"/>
              <a:ext cx="1324" cy="59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3" name="Text Box 24">
              <a:extLst>
                <a:ext uri="{FF2B5EF4-FFF2-40B4-BE49-F238E27FC236}">
                  <a16:creationId xmlns:a16="http://schemas.microsoft.com/office/drawing/2014/main" xmlns="" id="{96F64D17-51D6-0A4A-BDA6-07C403F43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HTTP request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84" name="Group 40">
            <a:extLst>
              <a:ext uri="{FF2B5EF4-FFF2-40B4-BE49-F238E27FC236}">
                <a16:creationId xmlns:a16="http://schemas.microsoft.com/office/drawing/2014/main" xmlns="" id="{B9736B82-D8C5-DA43-B8F2-093DA6AB6E5D}"/>
              </a:ext>
            </a:extLst>
          </p:cNvPr>
          <p:cNvGrpSpPr>
            <a:grpSpLocks/>
          </p:cNvGrpSpPr>
          <p:nvPr/>
        </p:nvGrpSpPr>
        <p:grpSpPr bwMode="auto">
          <a:xfrm rot="-3264937">
            <a:off x="8152179" y="4124667"/>
            <a:ext cx="1971675" cy="904875"/>
            <a:chOff x="4141" y="394"/>
            <a:chExt cx="1242" cy="570"/>
          </a:xfrm>
        </p:grpSpPr>
        <p:sp>
          <p:nvSpPr>
            <p:cNvPr id="85" name="Line 20">
              <a:extLst>
                <a:ext uri="{FF2B5EF4-FFF2-40B4-BE49-F238E27FC236}">
                  <a16:creationId xmlns:a16="http://schemas.microsoft.com/office/drawing/2014/main" xmlns="" id="{1D55C3D5-A428-CC44-8B43-7C6CB47D04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41" y="394"/>
              <a:ext cx="1242" cy="57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6" name="Text Box 26">
              <a:extLst>
                <a:ext uri="{FF2B5EF4-FFF2-40B4-BE49-F238E27FC236}">
                  <a16:creationId xmlns:a16="http://schemas.microsoft.com/office/drawing/2014/main" xmlns="" id="{98847E99-AF68-1F43-AC46-9AD80D6458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HTTP response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pic>
        <p:nvPicPr>
          <p:cNvPr id="87" name="Picture 43" descr="iphone_stylized_small">
            <a:extLst>
              <a:ext uri="{FF2B5EF4-FFF2-40B4-BE49-F238E27FC236}">
                <a16:creationId xmlns:a16="http://schemas.microsoft.com/office/drawing/2014/main" xmlns="" id="{D1E934F1-FF6C-B341-A221-38110724A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4179" y="4540592"/>
            <a:ext cx="382588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8" name="Group 44">
            <a:extLst>
              <a:ext uri="{FF2B5EF4-FFF2-40B4-BE49-F238E27FC236}">
                <a16:creationId xmlns:a16="http://schemas.microsoft.com/office/drawing/2014/main" xmlns="" id="{9EAD6FC3-A72E-8241-AA6C-FE53B680C4A5}"/>
              </a:ext>
            </a:extLst>
          </p:cNvPr>
          <p:cNvGrpSpPr>
            <a:grpSpLocks/>
          </p:cNvGrpSpPr>
          <p:nvPr/>
        </p:nvGrpSpPr>
        <p:grpSpPr bwMode="auto">
          <a:xfrm>
            <a:off x="7109192" y="1722780"/>
            <a:ext cx="1066800" cy="1079500"/>
            <a:chOff x="-44" y="1473"/>
            <a:chExt cx="981" cy="1105"/>
          </a:xfrm>
        </p:grpSpPr>
        <p:pic>
          <p:nvPicPr>
            <p:cNvPr id="89" name="Picture 45" descr="desktop_computer_stylized_medium">
              <a:extLst>
                <a:ext uri="{FF2B5EF4-FFF2-40B4-BE49-F238E27FC236}">
                  <a16:creationId xmlns:a16="http://schemas.microsoft.com/office/drawing/2014/main" xmlns="" id="{1ADDC1FA-6D07-3F4E-8F74-21843504B2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" name="Freeform 46">
              <a:extLst>
                <a:ext uri="{FF2B5EF4-FFF2-40B4-BE49-F238E27FC236}">
                  <a16:creationId xmlns:a16="http://schemas.microsoft.com/office/drawing/2014/main" xmlns="" id="{42A6104A-05E4-B94E-8AC8-1F8524B85F7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91" name="Group 47">
            <a:extLst>
              <a:ext uri="{FF2B5EF4-FFF2-40B4-BE49-F238E27FC236}">
                <a16:creationId xmlns:a16="http://schemas.microsoft.com/office/drawing/2014/main" xmlns="" id="{1578750D-9ADE-FF47-A035-3F58F7F95E77}"/>
              </a:ext>
            </a:extLst>
          </p:cNvPr>
          <p:cNvGrpSpPr>
            <a:grpSpLocks/>
          </p:cNvGrpSpPr>
          <p:nvPr/>
        </p:nvGrpSpPr>
        <p:grpSpPr bwMode="auto">
          <a:xfrm>
            <a:off x="10230217" y="2888005"/>
            <a:ext cx="695325" cy="1282700"/>
            <a:chOff x="4140" y="429"/>
            <a:chExt cx="1425" cy="2396"/>
          </a:xfrm>
        </p:grpSpPr>
        <p:sp>
          <p:nvSpPr>
            <p:cNvPr id="92" name="Freeform 48">
              <a:extLst>
                <a:ext uri="{FF2B5EF4-FFF2-40B4-BE49-F238E27FC236}">
                  <a16:creationId xmlns:a16="http://schemas.microsoft.com/office/drawing/2014/main" xmlns="" id="{30FC1D0E-933E-6B40-9A42-0E97172384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3" name="Rectangle 49">
              <a:extLst>
                <a:ext uri="{FF2B5EF4-FFF2-40B4-BE49-F238E27FC236}">
                  <a16:creationId xmlns:a16="http://schemas.microsoft.com/office/drawing/2014/main" xmlns="" id="{B5655423-6CF0-CD49-B3A9-063B782C1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4" name="Freeform 50">
              <a:extLst>
                <a:ext uri="{FF2B5EF4-FFF2-40B4-BE49-F238E27FC236}">
                  <a16:creationId xmlns:a16="http://schemas.microsoft.com/office/drawing/2014/main" xmlns="" id="{A0AC0D67-FA58-B147-A1DC-191134726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5" name="Freeform 51">
              <a:extLst>
                <a:ext uri="{FF2B5EF4-FFF2-40B4-BE49-F238E27FC236}">
                  <a16:creationId xmlns:a16="http://schemas.microsoft.com/office/drawing/2014/main" xmlns="" id="{DE00B670-08D8-5142-A593-67DE6409B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6" name="Rectangle 52">
              <a:extLst>
                <a:ext uri="{FF2B5EF4-FFF2-40B4-BE49-F238E27FC236}">
                  <a16:creationId xmlns:a16="http://schemas.microsoft.com/office/drawing/2014/main" xmlns="" id="{C0F46C25-0562-1D41-A932-B4DCFBC60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97" name="Group 53">
              <a:extLst>
                <a:ext uri="{FF2B5EF4-FFF2-40B4-BE49-F238E27FC236}">
                  <a16:creationId xmlns:a16="http://schemas.microsoft.com/office/drawing/2014/main" xmlns="" id="{42D2ADD9-FBDF-B348-8727-B1428057A1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22" name="AutoShape 54">
                <a:extLst>
                  <a:ext uri="{FF2B5EF4-FFF2-40B4-BE49-F238E27FC236}">
                    <a16:creationId xmlns:a16="http://schemas.microsoft.com/office/drawing/2014/main" xmlns="" id="{B3A024BC-0571-B343-B957-96A9956CB1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7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23" name="AutoShape 55">
                <a:extLst>
                  <a:ext uri="{FF2B5EF4-FFF2-40B4-BE49-F238E27FC236}">
                    <a16:creationId xmlns:a16="http://schemas.microsoft.com/office/drawing/2014/main" xmlns="" id="{BCE631BE-5109-0446-9778-CCBD1DF0A6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4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98" name="Rectangle 56">
              <a:extLst>
                <a:ext uri="{FF2B5EF4-FFF2-40B4-BE49-F238E27FC236}">
                  <a16:creationId xmlns:a16="http://schemas.microsoft.com/office/drawing/2014/main" xmlns="" id="{5D3DFADC-1C8D-AF4C-85AA-0F7A2C55C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99" name="Group 57">
              <a:extLst>
                <a:ext uri="{FF2B5EF4-FFF2-40B4-BE49-F238E27FC236}">
                  <a16:creationId xmlns:a16="http://schemas.microsoft.com/office/drawing/2014/main" xmlns="" id="{C1D33EC1-1E29-8544-B98D-73191F02F7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20" name="AutoShape 58">
                <a:extLst>
                  <a:ext uri="{FF2B5EF4-FFF2-40B4-BE49-F238E27FC236}">
                    <a16:creationId xmlns:a16="http://schemas.microsoft.com/office/drawing/2014/main" xmlns="" id="{82D153A1-613C-9C4E-A2C0-B1C929BC01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9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21" name="AutoShape 59">
                <a:extLst>
                  <a:ext uri="{FF2B5EF4-FFF2-40B4-BE49-F238E27FC236}">
                    <a16:creationId xmlns:a16="http://schemas.microsoft.com/office/drawing/2014/main" xmlns="" id="{F147FCC4-6131-8F44-A906-F0D80C4D72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8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00" name="Rectangle 60">
              <a:extLst>
                <a:ext uri="{FF2B5EF4-FFF2-40B4-BE49-F238E27FC236}">
                  <a16:creationId xmlns:a16="http://schemas.microsoft.com/office/drawing/2014/main" xmlns="" id="{85C735FA-9571-F248-9BA5-6CDBDBE01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01" name="Rectangle 61">
              <a:extLst>
                <a:ext uri="{FF2B5EF4-FFF2-40B4-BE49-F238E27FC236}">
                  <a16:creationId xmlns:a16="http://schemas.microsoft.com/office/drawing/2014/main" xmlns="" id="{5812C6A4-3EC0-A249-9E63-F46527542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102" name="Group 62">
              <a:extLst>
                <a:ext uri="{FF2B5EF4-FFF2-40B4-BE49-F238E27FC236}">
                  <a16:creationId xmlns:a16="http://schemas.microsoft.com/office/drawing/2014/main" xmlns="" id="{7E620A9B-CBE1-F240-88FD-5855746633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8" name="AutoShape 63">
                <a:extLst>
                  <a:ext uri="{FF2B5EF4-FFF2-40B4-BE49-F238E27FC236}">
                    <a16:creationId xmlns:a16="http://schemas.microsoft.com/office/drawing/2014/main" xmlns="" id="{042898BA-1F4B-D343-83D2-32F6B871E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19" name="AutoShape 64">
                <a:extLst>
                  <a:ext uri="{FF2B5EF4-FFF2-40B4-BE49-F238E27FC236}">
                    <a16:creationId xmlns:a16="http://schemas.microsoft.com/office/drawing/2014/main" xmlns="" id="{43D7819E-9A5B-E741-ACC4-82E6487AE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03" name="Freeform 65">
              <a:extLst>
                <a:ext uri="{FF2B5EF4-FFF2-40B4-BE49-F238E27FC236}">
                  <a16:creationId xmlns:a16="http://schemas.microsoft.com/office/drawing/2014/main" xmlns="" id="{7CC2BA69-A482-5D4B-8CA5-B5AC73726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104" name="Group 66">
              <a:extLst>
                <a:ext uri="{FF2B5EF4-FFF2-40B4-BE49-F238E27FC236}">
                  <a16:creationId xmlns:a16="http://schemas.microsoft.com/office/drawing/2014/main" xmlns="" id="{F21B3CA3-EDB9-ED4A-9790-00B6351372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6" name="AutoShape 67">
                <a:extLst>
                  <a:ext uri="{FF2B5EF4-FFF2-40B4-BE49-F238E27FC236}">
                    <a16:creationId xmlns:a16="http://schemas.microsoft.com/office/drawing/2014/main" xmlns="" id="{9EDB1FCF-F653-F642-8D80-BF382D9E0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17" name="AutoShape 68">
                <a:extLst>
                  <a:ext uri="{FF2B5EF4-FFF2-40B4-BE49-F238E27FC236}">
                    <a16:creationId xmlns:a16="http://schemas.microsoft.com/office/drawing/2014/main" xmlns="" id="{609BFCAD-4861-EE43-8362-EA6C485563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05" name="Rectangle 69">
              <a:extLst>
                <a:ext uri="{FF2B5EF4-FFF2-40B4-BE49-F238E27FC236}">
                  <a16:creationId xmlns:a16="http://schemas.microsoft.com/office/drawing/2014/main" xmlns="" id="{5D47278C-43D3-204F-86FD-15B202090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32"/>
              <a:ext cx="68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06" name="Freeform 70">
              <a:extLst>
                <a:ext uri="{FF2B5EF4-FFF2-40B4-BE49-F238E27FC236}">
                  <a16:creationId xmlns:a16="http://schemas.microsoft.com/office/drawing/2014/main" xmlns="" id="{C4685EB6-AA09-4243-9AED-1759E88D18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07" name="Freeform 71">
              <a:extLst>
                <a:ext uri="{FF2B5EF4-FFF2-40B4-BE49-F238E27FC236}">
                  <a16:creationId xmlns:a16="http://schemas.microsoft.com/office/drawing/2014/main" xmlns="" id="{F8013113-6639-D746-8787-464D70E731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08" name="Oval 72">
              <a:extLst>
                <a:ext uri="{FF2B5EF4-FFF2-40B4-BE49-F238E27FC236}">
                  <a16:creationId xmlns:a16="http://schemas.microsoft.com/office/drawing/2014/main" xmlns="" id="{BAF4B182-B231-9044-AFF9-C80B2E27F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09" name="Freeform 73">
              <a:extLst>
                <a:ext uri="{FF2B5EF4-FFF2-40B4-BE49-F238E27FC236}">
                  <a16:creationId xmlns:a16="http://schemas.microsoft.com/office/drawing/2014/main" xmlns="" id="{5BF1720C-9B23-A442-9078-1CB2D3EAD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0" name="AutoShape 74">
              <a:extLst>
                <a:ext uri="{FF2B5EF4-FFF2-40B4-BE49-F238E27FC236}">
                  <a16:creationId xmlns:a16="http://schemas.microsoft.com/office/drawing/2014/main" xmlns="" id="{5C72D219-90B2-E948-8C51-2DF4C76E6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201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1" name="AutoShape 75">
              <a:extLst>
                <a:ext uri="{FF2B5EF4-FFF2-40B4-BE49-F238E27FC236}">
                  <a16:creationId xmlns:a16="http://schemas.microsoft.com/office/drawing/2014/main" xmlns="" id="{83107432-CCDD-3F4A-A673-5C965AB662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712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2" name="Oval 76">
              <a:extLst>
                <a:ext uri="{FF2B5EF4-FFF2-40B4-BE49-F238E27FC236}">
                  <a16:creationId xmlns:a16="http://schemas.microsoft.com/office/drawing/2014/main" xmlns="" id="{93D83AE9-CB35-4043-B0A0-1FFA79087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3" name="Oval 77">
              <a:extLst>
                <a:ext uri="{FF2B5EF4-FFF2-40B4-BE49-F238E27FC236}">
                  <a16:creationId xmlns:a16="http://schemas.microsoft.com/office/drawing/2014/main" xmlns="" id="{C8BA1D5C-380B-5844-9DFE-FB0350399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14" name="Oval 78">
              <a:extLst>
                <a:ext uri="{FF2B5EF4-FFF2-40B4-BE49-F238E27FC236}">
                  <a16:creationId xmlns:a16="http://schemas.microsoft.com/office/drawing/2014/main" xmlns="" id="{EF0EACD3-D07B-0F4F-BB94-4F2D63912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5" name="Rectangle 79">
              <a:extLst>
                <a:ext uri="{FF2B5EF4-FFF2-40B4-BE49-F238E27FC236}">
                  <a16:creationId xmlns:a16="http://schemas.microsoft.com/office/drawing/2014/main" xmlns="" id="{C545DB8D-EFCD-9A46-858D-A246B93C7B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253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overview (continued)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3" name="Rectangle 9">
            <a:extLst>
              <a:ext uri="{FF2B5EF4-FFF2-40B4-BE49-F238E27FC236}">
                <a16:creationId xmlns:a16="http://schemas.microsoft.com/office/drawing/2014/main" xmlns="" id="{74F3501A-F7F5-FD47-A745-1E00F8869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6403" y="3383184"/>
            <a:ext cx="828675" cy="2952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</a:pPr>
            <a:endParaRPr lang="en-US" altLang="en-US" sz="28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64" name="Rectangle 3">
            <a:extLst>
              <a:ext uri="{FF2B5EF4-FFF2-40B4-BE49-F238E27FC236}">
                <a16:creationId xmlns:a16="http://schemas.microsoft.com/office/drawing/2014/main" xmlns="" id="{FA4476ED-595B-8542-B50D-C134553D5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123" y="1381582"/>
            <a:ext cx="6364677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buFont typeface="Wingdings" charset="0"/>
              <a:buNone/>
              <a:defRPr/>
            </a:pPr>
            <a:r>
              <a:rPr lang="en-US" sz="3200" i="1" kern="0" dirty="0">
                <a:solidFill>
                  <a:srgbClr val="CC0000"/>
                </a:solidFill>
                <a:latin typeface="+mn-lt"/>
              </a:rPr>
              <a:t>HTTP uses </a:t>
            </a:r>
            <a:r>
              <a:rPr lang="en-US" sz="3200" i="1" kern="0" dirty="0" smtClean="0">
                <a:solidFill>
                  <a:srgbClr val="CC0000"/>
                </a:solidFill>
                <a:latin typeface="+mn-lt"/>
              </a:rPr>
              <a:t>TCP:</a:t>
            </a:r>
            <a:endParaRPr lang="en-US" sz="3200" i="1" kern="0" dirty="0">
              <a:solidFill>
                <a:srgbClr val="CC0000"/>
              </a:solidFill>
              <a:latin typeface="+mn-lt"/>
            </a:endParaRPr>
          </a:p>
          <a:p>
            <a:pPr marL="233363" indent="-233363">
              <a:lnSpc>
                <a:spcPct val="90000"/>
              </a:lnSpc>
              <a:buFont typeface="Wingdings" charset="2"/>
              <a:buChar char="§"/>
              <a:defRPr/>
            </a:pPr>
            <a:r>
              <a:rPr lang="en-US" kern="0" dirty="0">
                <a:latin typeface="+mn-lt"/>
              </a:rPr>
              <a:t>client initiates TCP connection (creates socket) to server,  port 80</a:t>
            </a:r>
          </a:p>
          <a:p>
            <a:pPr marL="233363" indent="-233363">
              <a:lnSpc>
                <a:spcPct val="90000"/>
              </a:lnSpc>
              <a:buFont typeface="Wingdings" charset="2"/>
              <a:buChar char="§"/>
              <a:defRPr/>
            </a:pPr>
            <a:r>
              <a:rPr lang="en-US" kern="0" dirty="0">
                <a:latin typeface="+mn-lt"/>
              </a:rPr>
              <a:t>server accepts TCP connection from client</a:t>
            </a:r>
          </a:p>
          <a:p>
            <a:pPr marL="233363" indent="-233363">
              <a:lnSpc>
                <a:spcPct val="90000"/>
              </a:lnSpc>
              <a:buFont typeface="Wingdings" charset="2"/>
              <a:buChar char="§"/>
              <a:defRPr/>
            </a:pPr>
            <a:r>
              <a:rPr lang="en-US" kern="0" dirty="0">
                <a:latin typeface="+mn-lt"/>
              </a:rPr>
              <a:t>HTTP messages (application-layer protocol messages) exchanged between browser (HTTP client) and Web server (HTTP server)</a:t>
            </a:r>
          </a:p>
          <a:p>
            <a:pPr marL="233363" indent="-233363">
              <a:lnSpc>
                <a:spcPct val="90000"/>
              </a:lnSpc>
              <a:buFont typeface="Wingdings" charset="2"/>
              <a:buChar char="§"/>
              <a:defRPr/>
            </a:pPr>
            <a:r>
              <a:rPr lang="en-US" kern="0" dirty="0">
                <a:latin typeface="+mn-lt"/>
              </a:rPr>
              <a:t>TCP connection </a:t>
            </a:r>
            <a:r>
              <a:rPr lang="en-US" kern="0" dirty="0" smtClean="0">
                <a:latin typeface="+mn-lt"/>
              </a:rPr>
              <a:t>closed</a:t>
            </a:r>
          </a:p>
          <a:p>
            <a:pPr marL="233363" indent="-233363">
              <a:lnSpc>
                <a:spcPct val="90000"/>
              </a:lnSpc>
              <a:buFont typeface="Wingdings" charset="2"/>
              <a:buChar char="§"/>
              <a:defRPr/>
            </a:pPr>
            <a:r>
              <a:rPr lang="en-US" kern="0" dirty="0" smtClean="0">
                <a:latin typeface="+mn-lt"/>
              </a:rPr>
              <a:t>Downloading multiple </a:t>
            </a:r>
            <a:r>
              <a:rPr lang="en-US" kern="0" dirty="0">
                <a:latin typeface="+mn-lt"/>
              </a:rPr>
              <a:t>o</a:t>
            </a:r>
            <a:r>
              <a:rPr lang="en-US" kern="0" dirty="0" smtClean="0">
                <a:latin typeface="+mn-lt"/>
              </a:rPr>
              <a:t>bjects requires multiple connections</a:t>
            </a:r>
            <a:endParaRPr lang="en-US" kern="0" dirty="0">
              <a:latin typeface="+mn-lt"/>
            </a:endParaRPr>
          </a:p>
        </p:txBody>
      </p:sp>
      <p:sp>
        <p:nvSpPr>
          <p:cNvPr id="65" name="Rectangle 4">
            <a:extLst>
              <a:ext uri="{FF2B5EF4-FFF2-40B4-BE49-F238E27FC236}">
                <a16:creationId xmlns:a16="http://schemas.microsoft.com/office/drawing/2014/main" xmlns="" id="{1CC4B9E5-1262-0749-B776-9A1B21976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9801" y="1582098"/>
            <a:ext cx="5053013" cy="1705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75000"/>
              </a:lnSpc>
              <a:buFont typeface="Wingdings" pitchFamily="2" charset="2"/>
              <a:buNone/>
            </a:pPr>
            <a:r>
              <a:rPr lang="en-US" altLang="en-US" sz="3200" i="1" kern="0" dirty="0">
                <a:solidFill>
                  <a:srgbClr val="CC0000"/>
                </a:solidFill>
                <a:latin typeface="+mn-lt"/>
                <a:ea typeface="ＭＳ Ｐゴシック" panose="020B0600070205080204" pitchFamily="34" charset="-128"/>
              </a:rPr>
              <a:t>HTTP is </a:t>
            </a:r>
            <a:r>
              <a:rPr lang="ja-JP" altLang="en-US" sz="3200" i="1" kern="0">
                <a:solidFill>
                  <a:srgbClr val="CC0000"/>
                </a:solidFill>
                <a:latin typeface="+mn-lt"/>
                <a:ea typeface="ＭＳ Ｐゴシック" panose="020B0600070205080204" pitchFamily="34" charset="-128"/>
              </a:rPr>
              <a:t>“</a:t>
            </a:r>
            <a:r>
              <a:rPr lang="en-US" altLang="ja-JP" sz="3200" i="1" kern="0" dirty="0">
                <a:solidFill>
                  <a:srgbClr val="CC0000"/>
                </a:solidFill>
                <a:latin typeface="+mn-lt"/>
                <a:ea typeface="ＭＳ Ｐゴシック" panose="020B0600070205080204" pitchFamily="34" charset="-128"/>
              </a:rPr>
              <a:t>stateless</a:t>
            </a:r>
            <a:r>
              <a:rPr lang="ja-JP" altLang="en-US" sz="3200" i="1" kern="0">
                <a:solidFill>
                  <a:srgbClr val="CC0000"/>
                </a:solidFill>
                <a:latin typeface="+mn-lt"/>
                <a:ea typeface="ＭＳ Ｐゴシック" panose="020B0600070205080204" pitchFamily="34" charset="-128"/>
              </a:rPr>
              <a:t>”</a:t>
            </a:r>
            <a:endParaRPr lang="en-US" altLang="ja-JP" sz="3200" i="1" kern="0" dirty="0">
              <a:solidFill>
                <a:srgbClr val="CC0000"/>
              </a:solidFill>
              <a:latin typeface="+mn-lt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kern="0" dirty="0">
                <a:latin typeface="+mn-lt"/>
                <a:ea typeface="ＭＳ Ｐゴシック" panose="020B0600070205080204" pitchFamily="34" charset="-128"/>
              </a:rPr>
              <a:t>server maintains</a:t>
            </a:r>
            <a:r>
              <a:rPr lang="en-US" altLang="en-US" i="1" kern="0" dirty="0">
                <a:latin typeface="+mn-lt"/>
                <a:ea typeface="ＭＳ Ｐゴシック" panose="020B0600070205080204" pitchFamily="34" charset="-128"/>
              </a:rPr>
              <a:t> no </a:t>
            </a:r>
            <a:r>
              <a:rPr lang="en-US" altLang="en-US" kern="0" dirty="0">
                <a:latin typeface="+mn-lt"/>
                <a:ea typeface="ＭＳ Ｐゴシック" panose="020B0600070205080204" pitchFamily="34" charset="-128"/>
              </a:rPr>
              <a:t>information about past client requests</a:t>
            </a:r>
          </a:p>
        </p:txBody>
      </p:sp>
      <p:sp>
        <p:nvSpPr>
          <p:cNvPr id="124" name="Rectangle 7">
            <a:extLst>
              <a:ext uri="{FF2B5EF4-FFF2-40B4-BE49-F238E27FC236}">
                <a16:creationId xmlns:a16="http://schemas.microsoft.com/office/drawing/2014/main" xmlns="" id="{21466037-84B8-2C47-8046-BD516C96C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9802" y="3449212"/>
            <a:ext cx="5053013" cy="2847974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</a:pPr>
            <a:endParaRPr lang="en-US" altLang="en-US" sz="28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25" name="Rectangle 9">
            <a:extLst>
              <a:ext uri="{FF2B5EF4-FFF2-40B4-BE49-F238E27FC236}">
                <a16:creationId xmlns:a16="http://schemas.microsoft.com/office/drawing/2014/main" xmlns="" id="{132EE02F-99A4-C148-8E27-84A38CF87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5878" y="3287287"/>
            <a:ext cx="828675" cy="2952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</a:pPr>
            <a:endParaRPr lang="en-US" altLang="en-US" sz="28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26" name="Rectangle 6">
            <a:extLst>
              <a:ext uri="{FF2B5EF4-FFF2-40B4-BE49-F238E27FC236}">
                <a16:creationId xmlns:a16="http://schemas.microsoft.com/office/drawing/2014/main" xmlns="" id="{64A41E8B-84D6-BE48-B3C9-3F388FD9B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8987" y="3609628"/>
            <a:ext cx="5053013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</a:pPr>
            <a:r>
              <a:rPr lang="en-US" altLang="en-US" sz="2800" dirty="0">
                <a:solidFill>
                  <a:srgbClr val="000099"/>
                </a:solidFill>
                <a:latin typeface="+mn-lt"/>
              </a:rPr>
              <a:t>protocols that maintain </a:t>
            </a:r>
            <a:r>
              <a:rPr lang="ja-JP" altLang="en-US" sz="2800">
                <a:solidFill>
                  <a:srgbClr val="000099"/>
                </a:solidFill>
                <a:latin typeface="+mn-lt"/>
              </a:rPr>
              <a:t>“</a:t>
            </a:r>
            <a:r>
              <a:rPr lang="en-US" altLang="ja-JP" sz="2800" dirty="0">
                <a:solidFill>
                  <a:srgbClr val="000099"/>
                </a:solidFill>
                <a:latin typeface="+mn-lt"/>
              </a:rPr>
              <a:t>state</a:t>
            </a:r>
            <a:r>
              <a:rPr lang="ja-JP" altLang="en-US" sz="2800">
                <a:solidFill>
                  <a:srgbClr val="000099"/>
                </a:solidFill>
                <a:latin typeface="+mn-lt"/>
              </a:rPr>
              <a:t>”</a:t>
            </a:r>
            <a:r>
              <a:rPr lang="en-US" altLang="ja-JP" sz="2800" dirty="0">
                <a:solidFill>
                  <a:srgbClr val="000099"/>
                </a:solidFill>
                <a:latin typeface="+mn-lt"/>
              </a:rPr>
              <a:t> are complex!</a:t>
            </a:r>
          </a:p>
          <a:p>
            <a:pPr eaLnBrk="0" fontAlgn="base" hangingPunct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past history (state) must be maintained</a:t>
            </a:r>
          </a:p>
          <a:p>
            <a:pPr eaLnBrk="0" fontAlgn="base" hangingPunct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if server/client crashes, their views of </a:t>
            </a:r>
            <a:r>
              <a:rPr lang="ja-JP" altLang="en-US" sz="2400">
                <a:solidFill>
                  <a:srgbClr val="000000"/>
                </a:solidFill>
                <a:latin typeface="+mn-lt"/>
              </a:rPr>
              <a:t>“</a:t>
            </a:r>
            <a:r>
              <a:rPr lang="en-US" altLang="ja-JP" sz="2400" dirty="0">
                <a:solidFill>
                  <a:srgbClr val="000000"/>
                </a:solidFill>
                <a:latin typeface="+mn-lt"/>
              </a:rPr>
              <a:t>state</a:t>
            </a:r>
            <a:r>
              <a:rPr lang="ja-JP" altLang="en-US" sz="2400">
                <a:solidFill>
                  <a:srgbClr val="000000"/>
                </a:solidFill>
                <a:latin typeface="+mn-lt"/>
              </a:rPr>
              <a:t>”</a:t>
            </a:r>
            <a:r>
              <a:rPr lang="en-US" altLang="ja-JP" sz="2400" dirty="0">
                <a:solidFill>
                  <a:srgbClr val="000000"/>
                </a:solidFill>
                <a:latin typeface="+mn-lt"/>
              </a:rPr>
              <a:t> may be inconsistent, must be reconciled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Char char="r"/>
            </a:pPr>
            <a:endParaRPr lang="en-US" altLang="en-US" sz="24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27" name="Text Box 8">
            <a:extLst>
              <a:ext uri="{FF2B5EF4-FFF2-40B4-BE49-F238E27FC236}">
                <a16:creationId xmlns:a16="http://schemas.microsoft.com/office/drawing/2014/main" xmlns="" id="{ADCE3EE0-3E4E-7741-A055-6E8599605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532" y="3209500"/>
            <a:ext cx="9460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i="1">
                <a:solidFill>
                  <a:srgbClr val="CC0000"/>
                </a:solidFill>
                <a:latin typeface="+mn-lt"/>
              </a:rPr>
              <a:t>aside</a:t>
            </a:r>
          </a:p>
        </p:txBody>
      </p:sp>
    </p:spTree>
    <p:extLst>
      <p:ext uri="{BB962C8B-B14F-4D97-AF65-F5344CB8AC3E}">
        <p14:creationId xmlns:p14="http://schemas.microsoft.com/office/powerpoint/2010/main" val="1031303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connections: two types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xmlns="" id="{D0F92E26-A453-3745-8C0F-BF92C1E3A8B6}"/>
              </a:ext>
            </a:extLst>
          </p:cNvPr>
          <p:cNvSpPr txBox="1">
            <a:spLocks noChangeArrowheads="1"/>
          </p:cNvSpPr>
          <p:nvPr/>
        </p:nvSpPr>
        <p:spPr>
          <a:xfrm>
            <a:off x="798690" y="1543086"/>
            <a:ext cx="5039401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Non-persistent HTTP</a:t>
            </a:r>
          </a:p>
          <a:p>
            <a:pPr marL="644525" indent="-514350">
              <a:buFont typeface="+mj-lt"/>
              <a:buAutoNum type="arabicPeriod"/>
            </a:pPr>
            <a:r>
              <a:rPr lang="en-US" altLang="en-US" sz="3200" dirty="0">
                <a:ea typeface="ＭＳ Ｐゴシック" panose="020B0600070205080204" pitchFamily="34" charset="-128"/>
              </a:rPr>
              <a:t>TCP connection opened</a:t>
            </a:r>
          </a:p>
          <a:p>
            <a:pPr marL="644525" indent="-514350">
              <a:buFont typeface="+mj-lt"/>
              <a:buAutoNum type="arabicPeriod"/>
            </a:pPr>
            <a:r>
              <a:rPr lang="en-US" altLang="en-US" sz="3200" dirty="0">
                <a:ea typeface="ＭＳ Ｐゴシック" panose="020B0600070205080204" pitchFamily="34" charset="-128"/>
              </a:rPr>
              <a:t>at most one object sent over TCP connection</a:t>
            </a:r>
          </a:p>
          <a:p>
            <a:pPr marL="644525" indent="-514350">
              <a:buFont typeface="+mj-lt"/>
              <a:buAutoNum type="arabicPeriod"/>
            </a:pPr>
            <a:r>
              <a:rPr lang="en-US" altLang="en-US" sz="3200" dirty="0">
                <a:ea typeface="ＭＳ Ｐゴシック" panose="020B0600070205080204" pitchFamily="34" charset="-128"/>
              </a:rPr>
              <a:t>TCP connection closed</a:t>
            </a:r>
          </a:p>
          <a:p>
            <a:pPr marL="130175" indent="0">
              <a:spcBef>
                <a:spcPts val="2200"/>
              </a:spcBef>
              <a:buNone/>
            </a:pPr>
            <a:r>
              <a:rPr lang="en-US" altLang="en-US" sz="3200" dirty="0">
                <a:ea typeface="ＭＳ Ｐゴシック" panose="020B0600070205080204" pitchFamily="34" charset="-128"/>
              </a:rPr>
              <a:t>downloading multiple objects required multiple connections</a:t>
            </a:r>
          </a:p>
          <a:p>
            <a:pPr>
              <a:buFont typeface="Wingdings" pitchFamily="2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xmlns="" id="{7E46F3CB-B7A2-6C4C-B085-55F383976BB8}"/>
              </a:ext>
            </a:extLst>
          </p:cNvPr>
          <p:cNvSpPr txBox="1">
            <a:spLocks noChangeArrowheads="1"/>
          </p:cNvSpPr>
          <p:nvPr/>
        </p:nvSpPr>
        <p:spPr>
          <a:xfrm>
            <a:off x="6781215" y="1543086"/>
            <a:ext cx="5039401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Persistent HTTP</a:t>
            </a:r>
          </a:p>
          <a:p>
            <a:r>
              <a:rPr lang="en-US" altLang="en-US" sz="3200" dirty="0">
                <a:ea typeface="ＭＳ Ｐゴシック" panose="020B0600070205080204" pitchFamily="34" charset="-128"/>
              </a:rPr>
              <a:t>TCP connection opened to a server</a:t>
            </a:r>
          </a:p>
          <a:p>
            <a:r>
              <a:rPr lang="en-US" altLang="en-US" sz="3200" dirty="0">
                <a:ea typeface="ＭＳ Ｐゴシック" panose="020B0600070205080204" pitchFamily="34" charset="-128"/>
              </a:rPr>
              <a:t>multiple objects can be sent over </a:t>
            </a:r>
            <a:r>
              <a:rPr lang="en-US" altLang="en-US" sz="3200" i="1" dirty="0">
                <a:ea typeface="ＭＳ Ｐゴシック" panose="020B0600070205080204" pitchFamily="34" charset="-128"/>
              </a:rPr>
              <a:t>single</a:t>
            </a:r>
            <a:r>
              <a:rPr lang="en-US" altLang="en-US" sz="3200" dirty="0">
                <a:ea typeface="ＭＳ Ｐゴシック" panose="020B0600070205080204" pitchFamily="34" charset="-128"/>
              </a:rPr>
              <a:t> TCP connection between client, and that server</a:t>
            </a:r>
          </a:p>
          <a:p>
            <a:r>
              <a:rPr lang="en-US" altLang="en-US" sz="3200" dirty="0">
                <a:ea typeface="ＭＳ Ｐゴシック" panose="020B0600070205080204" pitchFamily="34" charset="-128"/>
              </a:rPr>
              <a:t>TCP connection closed</a:t>
            </a:r>
          </a:p>
          <a:p>
            <a:endParaRPr lang="en-US" altLang="en-US" sz="3200" dirty="0"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1887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Non-persistent </a:t>
            </a:r>
            <a:r>
              <a:rPr lang="en-US" altLang="en-US" sz="4400" dirty="0" smtClean="0">
                <a:cs typeface="Calibri" panose="020F0502020204030204" pitchFamily="34" charset="0"/>
              </a:rPr>
              <a:t>HTTP in operation: </a:t>
            </a:r>
            <a:r>
              <a:rPr lang="en-US" altLang="en-US" sz="4400" dirty="0">
                <a:cs typeface="Calibri" panose="020F0502020204030204" pitchFamily="34" charset="0"/>
              </a:rPr>
              <a:t>example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Line 11">
            <a:extLst>
              <a:ext uri="{FF2B5EF4-FFF2-40B4-BE49-F238E27FC236}">
                <a16:creationId xmlns:a16="http://schemas.microsoft.com/office/drawing/2014/main" xmlns="" id="{67AC580C-18A4-D247-92B5-6D862101F771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691" y="2868166"/>
            <a:ext cx="10658" cy="3480471"/>
          </a:xfrm>
          <a:prstGeom prst="line">
            <a:avLst/>
          </a:prstGeom>
          <a:noFill/>
          <a:ln w="19050">
            <a:solidFill>
              <a:schemeClr val="bg1">
                <a:lumMod val="6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xmlns="" id="{1301A620-3B2F-B341-BCAC-A3E4F12C8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58" y="5641558"/>
            <a:ext cx="657225" cy="29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>
              <a:latin typeface="+mn-lt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xmlns="" id="{44008892-5F15-CD46-8B74-F28D8BF76E3B}"/>
              </a:ext>
            </a:extLst>
          </p:cNvPr>
          <p:cNvSpPr txBox="1">
            <a:spLocks noChangeArrowheads="1"/>
          </p:cNvSpPr>
          <p:nvPr/>
        </p:nvSpPr>
        <p:spPr>
          <a:xfrm>
            <a:off x="809349" y="1351435"/>
            <a:ext cx="7942262" cy="46672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User enters URL: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xmlns="" id="{8E22C996-6035-504C-97CC-082C3EAD4AF4}"/>
              </a:ext>
            </a:extLst>
          </p:cNvPr>
          <p:cNvSpPr txBox="1">
            <a:spLocks noChangeArrowheads="1"/>
          </p:cNvSpPr>
          <p:nvPr/>
        </p:nvSpPr>
        <p:spPr>
          <a:xfrm>
            <a:off x="944384" y="2447251"/>
            <a:ext cx="4850242" cy="19050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1a</a:t>
            </a:r>
            <a:r>
              <a:rPr lang="en-US" altLang="en-US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.</a:t>
            </a:r>
            <a:r>
              <a:rPr lang="en-US" altLang="en-US" sz="2400" dirty="0">
                <a:ea typeface="ＭＳ Ｐゴシック" panose="020B0600070205080204" pitchFamily="34" charset="-128"/>
              </a:rPr>
              <a:t> HTTP client initiates TCP connection to HTTP server (process) at </a:t>
            </a:r>
            <a:r>
              <a:rPr lang="en-US" altLang="en-US" sz="2000" dirty="0" err="1">
                <a:ea typeface="ＭＳ Ｐゴシック" panose="020B0600070205080204" pitchFamily="34" charset="-128"/>
              </a:rPr>
              <a:t>www.someSchool.edu</a:t>
            </a:r>
            <a:r>
              <a:rPr lang="en-US" altLang="en-US" sz="2000" dirty="0">
                <a:ea typeface="ＭＳ Ｐゴシック" panose="020B0600070205080204" pitchFamily="34" charset="-128"/>
              </a:rPr>
              <a:t> </a:t>
            </a:r>
            <a:r>
              <a:rPr lang="en-US" altLang="en-US" sz="2400" dirty="0">
                <a:ea typeface="ＭＳ Ｐゴシック" panose="020B0600070205080204" pitchFamily="34" charset="-128"/>
              </a:rPr>
              <a:t>on port 80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xmlns="" id="{4518B9B7-A17A-DD48-BBA8-A1AC04589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983" y="4077834"/>
            <a:ext cx="421653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dirty="0">
                <a:solidFill>
                  <a:srgbClr val="CC0000"/>
                </a:solidFill>
                <a:latin typeface="+mn-lt"/>
              </a:rPr>
              <a:t>2</a:t>
            </a:r>
            <a:r>
              <a:rPr lang="en-US" altLang="en-US" sz="2400" dirty="0">
                <a:solidFill>
                  <a:srgbClr val="FF0000"/>
                </a:solidFill>
                <a:latin typeface="+mn-lt"/>
              </a:rPr>
              <a:t>.</a:t>
            </a:r>
            <a:r>
              <a:rPr lang="en-US" altLang="en-US" sz="2400" dirty="0">
                <a:latin typeface="+mn-lt"/>
              </a:rPr>
              <a:t> HTTP client sends HTTP </a:t>
            </a:r>
            <a:r>
              <a:rPr lang="en-US" altLang="en-US" sz="2400" i="1" dirty="0">
                <a:solidFill>
                  <a:srgbClr val="000099"/>
                </a:solidFill>
                <a:latin typeface="+mn-lt"/>
              </a:rPr>
              <a:t>request message</a:t>
            </a:r>
            <a:r>
              <a:rPr lang="en-US" altLang="en-US" sz="2400" dirty="0">
                <a:latin typeface="+mn-lt"/>
              </a:rPr>
              <a:t> (containing URL) into TCP connection socket. Message indicates that client wants object </a:t>
            </a:r>
            <a:r>
              <a:rPr lang="en-US" altLang="en-US" dirty="0" err="1">
                <a:latin typeface="+mn-lt"/>
              </a:rPr>
              <a:t>someDepartment</a:t>
            </a:r>
            <a:r>
              <a:rPr lang="en-US" altLang="en-US" dirty="0">
                <a:latin typeface="+mn-lt"/>
              </a:rPr>
              <a:t>/</a:t>
            </a:r>
            <a:r>
              <a:rPr lang="en-US" altLang="en-US" dirty="0" err="1">
                <a:latin typeface="+mn-lt"/>
              </a:rPr>
              <a:t>home.index</a:t>
            </a:r>
            <a:endParaRPr lang="en-US" altLang="en-US" sz="2400" dirty="0">
              <a:latin typeface="+mn-lt"/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xmlns="" id="{AC1983CF-C4CB-FF47-A69D-3E65B8C96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7018" y="2733157"/>
            <a:ext cx="5389528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dirty="0">
                <a:solidFill>
                  <a:srgbClr val="CC0000"/>
                </a:solidFill>
                <a:latin typeface="+mn-lt"/>
              </a:rPr>
              <a:t>1b</a:t>
            </a:r>
            <a:r>
              <a:rPr lang="en-US" altLang="en-US" sz="2400" dirty="0">
                <a:solidFill>
                  <a:srgbClr val="FF0000"/>
                </a:solidFill>
                <a:latin typeface="+mn-lt"/>
              </a:rPr>
              <a:t>.</a:t>
            </a:r>
            <a:r>
              <a:rPr lang="en-US" altLang="en-US" sz="2400" dirty="0">
                <a:latin typeface="+mn-lt"/>
              </a:rPr>
              <a:t> HTTP server at host </a:t>
            </a:r>
            <a:r>
              <a:rPr lang="en-US" altLang="en-US" dirty="0" err="1">
                <a:latin typeface="+mn-lt"/>
              </a:rPr>
              <a:t>www.someSchool.edu</a:t>
            </a:r>
            <a:r>
              <a:rPr lang="en-US" altLang="en-US" dirty="0">
                <a:latin typeface="+mn-lt"/>
              </a:rPr>
              <a:t> </a:t>
            </a:r>
            <a:r>
              <a:rPr lang="en-US" altLang="en-US" sz="2400" dirty="0">
                <a:latin typeface="+mn-lt"/>
              </a:rPr>
              <a:t>waiting for TCP connection at port 80  </a:t>
            </a:r>
            <a:r>
              <a:rPr lang="ja-JP" altLang="en-US" sz="2400">
                <a:latin typeface="+mn-lt"/>
              </a:rPr>
              <a:t>“</a:t>
            </a:r>
            <a:r>
              <a:rPr lang="en-US" altLang="ja-JP" sz="2400" dirty="0">
                <a:latin typeface="+mn-lt"/>
              </a:rPr>
              <a:t>accepts</a:t>
            </a:r>
            <a:r>
              <a:rPr lang="ja-JP" altLang="en-US" sz="2400">
                <a:latin typeface="+mn-lt"/>
              </a:rPr>
              <a:t>”</a:t>
            </a:r>
            <a:r>
              <a:rPr lang="en-US" altLang="ja-JP" sz="2400" dirty="0">
                <a:latin typeface="+mn-lt"/>
              </a:rPr>
              <a:t> connection, notifying client</a:t>
            </a:r>
            <a:endParaRPr lang="en-US" altLang="en-US" sz="2400" dirty="0">
              <a:latin typeface="+mn-lt"/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xmlns="" id="{0B2B9504-D191-9144-8C84-929183C16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976" y="4739906"/>
            <a:ext cx="539487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dirty="0">
                <a:solidFill>
                  <a:srgbClr val="CC0000"/>
                </a:solidFill>
                <a:latin typeface="+mn-lt"/>
              </a:rPr>
              <a:t>3</a:t>
            </a:r>
            <a:r>
              <a:rPr lang="en-US" altLang="en-US" dirty="0">
                <a:solidFill>
                  <a:srgbClr val="FF0000"/>
                </a:solidFill>
                <a:latin typeface="+mn-lt"/>
              </a:rPr>
              <a:t>.</a:t>
            </a:r>
            <a:r>
              <a:rPr lang="en-US" altLang="en-US" dirty="0">
                <a:latin typeface="+mn-lt"/>
              </a:rPr>
              <a:t> </a:t>
            </a:r>
            <a:r>
              <a:rPr lang="en-US" altLang="en-US" sz="2400" dirty="0">
                <a:latin typeface="+mn-lt"/>
              </a:rPr>
              <a:t>HTTP server receives request message, forms </a:t>
            </a:r>
            <a:r>
              <a:rPr lang="en-US" altLang="en-US" sz="2400" i="1" dirty="0">
                <a:solidFill>
                  <a:srgbClr val="000099"/>
                </a:solidFill>
                <a:latin typeface="+mn-lt"/>
              </a:rPr>
              <a:t>response message</a:t>
            </a:r>
            <a:r>
              <a:rPr lang="en-US" altLang="en-US" sz="2400" dirty="0">
                <a:latin typeface="+mn-lt"/>
              </a:rPr>
              <a:t> containing requested object, and sends message into its socket</a:t>
            </a:r>
            <a:endParaRPr lang="en-US" altLang="en-US" dirty="0">
              <a:latin typeface="+mn-lt"/>
            </a:endParaRPr>
          </a:p>
        </p:txBody>
      </p:sp>
      <p:sp>
        <p:nvSpPr>
          <p:cNvPr id="16" name="Line 9">
            <a:extLst>
              <a:ext uri="{FF2B5EF4-FFF2-40B4-BE49-F238E27FC236}">
                <a16:creationId xmlns:a16="http://schemas.microsoft.com/office/drawing/2014/main" xmlns="" id="{B4DAFA34-3C73-6F47-8061-690804DAF2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2530" y="4961816"/>
            <a:ext cx="1800180" cy="60195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10">
            <a:extLst>
              <a:ext uri="{FF2B5EF4-FFF2-40B4-BE49-F238E27FC236}">
                <a16:creationId xmlns:a16="http://schemas.microsoft.com/office/drawing/2014/main" xmlns="" id="{0A9DB4DB-78BB-C14F-903C-4C820480B1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89517" y="5671992"/>
            <a:ext cx="1410287" cy="891868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Text Box 12">
            <a:extLst>
              <a:ext uri="{FF2B5EF4-FFF2-40B4-BE49-F238E27FC236}">
                <a16:creationId xmlns:a16="http://schemas.microsoft.com/office/drawing/2014/main" xmlns="" id="{27BF3D34-DFF2-A04F-84F9-CBAE80221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83" y="5563771"/>
            <a:ext cx="673100" cy="406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time</a:t>
            </a:r>
          </a:p>
        </p:txBody>
      </p:sp>
      <p:sp>
        <p:nvSpPr>
          <p:cNvPr id="19" name="Line 8">
            <a:extLst>
              <a:ext uri="{FF2B5EF4-FFF2-40B4-BE49-F238E27FC236}">
                <a16:creationId xmlns:a16="http://schemas.microsoft.com/office/drawing/2014/main" xmlns="" id="{8D8A0BF5-72E5-9E41-A2AE-DE0F79C9B1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6851" y="2779258"/>
            <a:ext cx="1551025" cy="523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14">
            <a:extLst>
              <a:ext uri="{FF2B5EF4-FFF2-40B4-BE49-F238E27FC236}">
                <a16:creationId xmlns:a16="http://schemas.microsoft.com/office/drawing/2014/main" xmlns="" id="{054521BF-054B-B342-A343-164F3CB503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2530" y="3366635"/>
            <a:ext cx="1551026" cy="1006986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Text Box 15">
            <a:extLst>
              <a:ext uri="{FF2B5EF4-FFF2-40B4-BE49-F238E27FC236}">
                <a16:creationId xmlns:a16="http://schemas.microsoft.com/office/drawing/2014/main" xmlns="" id="{B64D7167-BDDE-A148-84EB-4FB5D33E4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390" y="1660654"/>
            <a:ext cx="63784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+mn-lt"/>
              </a:rPr>
              <a:t>(containing text, references to 10 jpeg images)</a:t>
            </a:r>
            <a:endParaRPr lang="en-US" altLang="en-US" sz="2800" dirty="0">
              <a:latin typeface="+mn-lt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xmlns="" id="{E52A420B-2488-A04D-8D7F-CC71C334B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021" y="1414937"/>
            <a:ext cx="7942263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buClr>
                <a:srgbClr val="000099"/>
              </a:buClr>
              <a:buSzPct val="65000"/>
              <a:buFont typeface="Wingdings" pitchFamily="2" charset="2"/>
              <a:buNone/>
            </a:pPr>
            <a:r>
              <a:rPr lang="en-US" altLang="en-US" b="1" dirty="0" err="1">
                <a:latin typeface="Courier New" panose="02070309020205020404" pitchFamily="49" charset="0"/>
              </a:rPr>
              <a:t>www.someSchool.edu</a:t>
            </a:r>
            <a:r>
              <a:rPr lang="en-US" altLang="en-US" b="1" dirty="0">
                <a:latin typeface="Courier New" panose="02070309020205020404" pitchFamily="49" charset="0"/>
              </a:rPr>
              <a:t>/</a:t>
            </a:r>
            <a:r>
              <a:rPr lang="en-US" altLang="en-US" b="1" dirty="0" err="1">
                <a:latin typeface="Courier New" panose="02070309020205020404" pitchFamily="49" charset="0"/>
              </a:rPr>
              <a:t>someDepartment</a:t>
            </a:r>
            <a:r>
              <a:rPr lang="en-US" altLang="en-US" b="1" dirty="0">
                <a:latin typeface="Courier New" panose="02070309020205020404" pitchFamily="49" charset="0"/>
              </a:rPr>
              <a:t>/</a:t>
            </a:r>
            <a:r>
              <a:rPr lang="en-US" altLang="en-US" b="1" dirty="0" err="1">
                <a:latin typeface="Courier New" panose="02070309020205020404" pitchFamily="49" charset="0"/>
              </a:rPr>
              <a:t>home.index</a:t>
            </a:r>
            <a:endParaRPr lang="en-US" altLang="en-US" b="1" dirty="0">
              <a:latin typeface="Courier New" panose="02070309020205020404" pitchFamily="49" charset="0"/>
            </a:endParaRPr>
          </a:p>
        </p:txBody>
      </p:sp>
      <p:grpSp>
        <p:nvGrpSpPr>
          <p:cNvPr id="23" name="Group 44">
            <a:extLst>
              <a:ext uri="{FF2B5EF4-FFF2-40B4-BE49-F238E27FC236}">
                <a16:creationId xmlns:a16="http://schemas.microsoft.com/office/drawing/2014/main" xmlns="" id="{2394097B-A6BF-8042-8504-A7CA070914D8}"/>
              </a:ext>
            </a:extLst>
          </p:cNvPr>
          <p:cNvGrpSpPr>
            <a:grpSpLocks/>
          </p:cNvGrpSpPr>
          <p:nvPr/>
        </p:nvGrpSpPr>
        <p:grpSpPr bwMode="auto">
          <a:xfrm>
            <a:off x="371687" y="2060763"/>
            <a:ext cx="784845" cy="730423"/>
            <a:chOff x="-44" y="1473"/>
            <a:chExt cx="981" cy="1105"/>
          </a:xfrm>
        </p:grpSpPr>
        <p:pic>
          <p:nvPicPr>
            <p:cNvPr id="24" name="Picture 45" descr="desktop_computer_stylized_medium">
              <a:extLst>
                <a:ext uri="{FF2B5EF4-FFF2-40B4-BE49-F238E27FC236}">
                  <a16:creationId xmlns:a16="http://schemas.microsoft.com/office/drawing/2014/main" xmlns="" id="{807C0FED-FCBE-2D4E-A1F2-CBF2C81D34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Freeform 46">
              <a:extLst>
                <a:ext uri="{FF2B5EF4-FFF2-40B4-BE49-F238E27FC236}">
                  <a16:creationId xmlns:a16="http://schemas.microsoft.com/office/drawing/2014/main" xmlns="" id="{9119D5B0-5ADB-2048-9F8B-D683AC19EAE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26" name="Group 47">
            <a:extLst>
              <a:ext uri="{FF2B5EF4-FFF2-40B4-BE49-F238E27FC236}">
                <a16:creationId xmlns:a16="http://schemas.microsoft.com/office/drawing/2014/main" xmlns="" id="{DB78F20D-7762-EC45-A5F7-9DBB8F599433}"/>
              </a:ext>
            </a:extLst>
          </p:cNvPr>
          <p:cNvGrpSpPr>
            <a:grpSpLocks/>
          </p:cNvGrpSpPr>
          <p:nvPr/>
        </p:nvGrpSpPr>
        <p:grpSpPr bwMode="auto">
          <a:xfrm>
            <a:off x="6367322" y="2347016"/>
            <a:ext cx="286234" cy="640019"/>
            <a:chOff x="4140" y="429"/>
            <a:chExt cx="1425" cy="2396"/>
          </a:xfrm>
        </p:grpSpPr>
        <p:sp>
          <p:nvSpPr>
            <p:cNvPr id="27" name="Freeform 48">
              <a:extLst>
                <a:ext uri="{FF2B5EF4-FFF2-40B4-BE49-F238E27FC236}">
                  <a16:creationId xmlns:a16="http://schemas.microsoft.com/office/drawing/2014/main" xmlns="" id="{9F7835DE-1DB5-554B-9435-F21099237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8" name="Rectangle 49">
              <a:extLst>
                <a:ext uri="{FF2B5EF4-FFF2-40B4-BE49-F238E27FC236}">
                  <a16:creationId xmlns:a16="http://schemas.microsoft.com/office/drawing/2014/main" xmlns="" id="{D58C67CB-FC2C-6C45-A584-0EE3943CC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9" name="Freeform 50">
              <a:extLst>
                <a:ext uri="{FF2B5EF4-FFF2-40B4-BE49-F238E27FC236}">
                  <a16:creationId xmlns:a16="http://schemas.microsoft.com/office/drawing/2014/main" xmlns="" id="{2E7357FA-BE14-7B45-B9C8-D3AD131C8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0" name="Freeform 51">
              <a:extLst>
                <a:ext uri="{FF2B5EF4-FFF2-40B4-BE49-F238E27FC236}">
                  <a16:creationId xmlns:a16="http://schemas.microsoft.com/office/drawing/2014/main" xmlns="" id="{86D743E9-08EF-3443-A09F-9FD39BD6B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1" name="Rectangle 52">
              <a:extLst>
                <a:ext uri="{FF2B5EF4-FFF2-40B4-BE49-F238E27FC236}">
                  <a16:creationId xmlns:a16="http://schemas.microsoft.com/office/drawing/2014/main" xmlns="" id="{147C38BE-745B-5043-B214-0B9EA392B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2" name="Group 53">
              <a:extLst>
                <a:ext uri="{FF2B5EF4-FFF2-40B4-BE49-F238E27FC236}">
                  <a16:creationId xmlns:a16="http://schemas.microsoft.com/office/drawing/2014/main" xmlns="" id="{FBCFE8CA-D754-EF47-A59B-C987FE1020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7" name="AutoShape 54">
                <a:extLst>
                  <a:ext uri="{FF2B5EF4-FFF2-40B4-BE49-F238E27FC236}">
                    <a16:creationId xmlns:a16="http://schemas.microsoft.com/office/drawing/2014/main" xmlns="" id="{4CB48C03-464D-0344-AF93-DBB0CF131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7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58" name="AutoShape 55">
                <a:extLst>
                  <a:ext uri="{FF2B5EF4-FFF2-40B4-BE49-F238E27FC236}">
                    <a16:creationId xmlns:a16="http://schemas.microsoft.com/office/drawing/2014/main" xmlns="" id="{9545D198-3BD7-694B-B5DC-4ED4C79FCE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4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3" name="Rectangle 56">
              <a:extLst>
                <a:ext uri="{FF2B5EF4-FFF2-40B4-BE49-F238E27FC236}">
                  <a16:creationId xmlns:a16="http://schemas.microsoft.com/office/drawing/2014/main" xmlns="" id="{BB7A1A44-103A-4142-BB05-0C014EC72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4" name="Group 57">
              <a:extLst>
                <a:ext uri="{FF2B5EF4-FFF2-40B4-BE49-F238E27FC236}">
                  <a16:creationId xmlns:a16="http://schemas.microsoft.com/office/drawing/2014/main" xmlns="" id="{A7308D7F-AFED-CA43-852A-E750251C67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5" name="AutoShape 58">
                <a:extLst>
                  <a:ext uri="{FF2B5EF4-FFF2-40B4-BE49-F238E27FC236}">
                    <a16:creationId xmlns:a16="http://schemas.microsoft.com/office/drawing/2014/main" xmlns="" id="{72E4409D-5ADE-A147-AA65-DA44996316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9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56" name="AutoShape 59">
                <a:extLst>
                  <a:ext uri="{FF2B5EF4-FFF2-40B4-BE49-F238E27FC236}">
                    <a16:creationId xmlns:a16="http://schemas.microsoft.com/office/drawing/2014/main" xmlns="" id="{B7CA2B3C-6AEB-7A43-B3B4-4DF705769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8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5" name="Rectangle 60">
              <a:extLst>
                <a:ext uri="{FF2B5EF4-FFF2-40B4-BE49-F238E27FC236}">
                  <a16:creationId xmlns:a16="http://schemas.microsoft.com/office/drawing/2014/main" xmlns="" id="{BA20BEBE-68B5-1249-B593-1C7CD6B37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6" name="Rectangle 61">
              <a:extLst>
                <a:ext uri="{FF2B5EF4-FFF2-40B4-BE49-F238E27FC236}">
                  <a16:creationId xmlns:a16="http://schemas.microsoft.com/office/drawing/2014/main" xmlns="" id="{E5963EC5-6FAF-A14D-AB16-7FE0DA31D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7" name="Group 62">
              <a:extLst>
                <a:ext uri="{FF2B5EF4-FFF2-40B4-BE49-F238E27FC236}">
                  <a16:creationId xmlns:a16="http://schemas.microsoft.com/office/drawing/2014/main" xmlns="" id="{A8DEC631-5A58-7849-9209-1EB5AB5695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3" name="AutoShape 63">
                <a:extLst>
                  <a:ext uri="{FF2B5EF4-FFF2-40B4-BE49-F238E27FC236}">
                    <a16:creationId xmlns:a16="http://schemas.microsoft.com/office/drawing/2014/main" xmlns="" id="{6FBD34E3-C5B6-E944-B4E7-984347F693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54" name="AutoShape 64">
                <a:extLst>
                  <a:ext uri="{FF2B5EF4-FFF2-40B4-BE49-F238E27FC236}">
                    <a16:creationId xmlns:a16="http://schemas.microsoft.com/office/drawing/2014/main" xmlns="" id="{444700C5-DD16-7045-A6DF-957B4E655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8" name="Freeform 65">
              <a:extLst>
                <a:ext uri="{FF2B5EF4-FFF2-40B4-BE49-F238E27FC236}">
                  <a16:creationId xmlns:a16="http://schemas.microsoft.com/office/drawing/2014/main" xmlns="" id="{210F459F-9F66-B847-B785-6AE02157E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9" name="Group 66">
              <a:extLst>
                <a:ext uri="{FF2B5EF4-FFF2-40B4-BE49-F238E27FC236}">
                  <a16:creationId xmlns:a16="http://schemas.microsoft.com/office/drawing/2014/main" xmlns="" id="{07904654-EF90-4B4C-B348-E6F299ADAF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1" name="AutoShape 67">
                <a:extLst>
                  <a:ext uri="{FF2B5EF4-FFF2-40B4-BE49-F238E27FC236}">
                    <a16:creationId xmlns:a16="http://schemas.microsoft.com/office/drawing/2014/main" xmlns="" id="{927A6F56-7195-2A4B-A9FF-BD73015A7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52" name="AutoShape 68">
                <a:extLst>
                  <a:ext uri="{FF2B5EF4-FFF2-40B4-BE49-F238E27FC236}">
                    <a16:creationId xmlns:a16="http://schemas.microsoft.com/office/drawing/2014/main" xmlns="" id="{AE3156D8-7946-6043-B3B8-2B13B7293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40" name="Rectangle 69">
              <a:extLst>
                <a:ext uri="{FF2B5EF4-FFF2-40B4-BE49-F238E27FC236}">
                  <a16:creationId xmlns:a16="http://schemas.microsoft.com/office/drawing/2014/main" xmlns="" id="{CE18F5A0-5742-0B4F-982F-6BC169203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32"/>
              <a:ext cx="68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1" name="Freeform 70">
              <a:extLst>
                <a:ext uri="{FF2B5EF4-FFF2-40B4-BE49-F238E27FC236}">
                  <a16:creationId xmlns:a16="http://schemas.microsoft.com/office/drawing/2014/main" xmlns="" id="{2BD50CD9-1EF1-ED4C-AFCE-14AD1B90C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2" name="Freeform 71">
              <a:extLst>
                <a:ext uri="{FF2B5EF4-FFF2-40B4-BE49-F238E27FC236}">
                  <a16:creationId xmlns:a16="http://schemas.microsoft.com/office/drawing/2014/main" xmlns="" id="{577EA932-97EB-4149-8C8C-9011420A3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3" name="Oval 72">
              <a:extLst>
                <a:ext uri="{FF2B5EF4-FFF2-40B4-BE49-F238E27FC236}">
                  <a16:creationId xmlns:a16="http://schemas.microsoft.com/office/drawing/2014/main" xmlns="" id="{49966F96-01DC-0A43-BCBA-D06A3569E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4" name="Freeform 73">
              <a:extLst>
                <a:ext uri="{FF2B5EF4-FFF2-40B4-BE49-F238E27FC236}">
                  <a16:creationId xmlns:a16="http://schemas.microsoft.com/office/drawing/2014/main" xmlns="" id="{F1C686DE-B7D5-2148-BCC7-2FAC2C010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5" name="AutoShape 74">
              <a:extLst>
                <a:ext uri="{FF2B5EF4-FFF2-40B4-BE49-F238E27FC236}">
                  <a16:creationId xmlns:a16="http://schemas.microsoft.com/office/drawing/2014/main" xmlns="" id="{F82F43AD-BE0F-344E-BEE9-58D59D825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201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6" name="AutoShape 75">
              <a:extLst>
                <a:ext uri="{FF2B5EF4-FFF2-40B4-BE49-F238E27FC236}">
                  <a16:creationId xmlns:a16="http://schemas.microsoft.com/office/drawing/2014/main" xmlns="" id="{50B859D7-FD53-4C47-95AC-855D1B2F3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712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7" name="Oval 76">
              <a:extLst>
                <a:ext uri="{FF2B5EF4-FFF2-40B4-BE49-F238E27FC236}">
                  <a16:creationId xmlns:a16="http://schemas.microsoft.com/office/drawing/2014/main" xmlns="" id="{83896475-9FE1-9143-9428-50459AAB8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8" name="Oval 77">
              <a:extLst>
                <a:ext uri="{FF2B5EF4-FFF2-40B4-BE49-F238E27FC236}">
                  <a16:creationId xmlns:a16="http://schemas.microsoft.com/office/drawing/2014/main" xmlns="" id="{10EA96BE-EF36-2B49-A03B-AEC865105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" name="Oval 78">
              <a:extLst>
                <a:ext uri="{FF2B5EF4-FFF2-40B4-BE49-F238E27FC236}">
                  <a16:creationId xmlns:a16="http://schemas.microsoft.com/office/drawing/2014/main" xmlns="" id="{BE8642C4-0C45-D94F-821D-2190EC546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0" name="Rectangle 79">
              <a:extLst>
                <a:ext uri="{FF2B5EF4-FFF2-40B4-BE49-F238E27FC236}">
                  <a16:creationId xmlns:a16="http://schemas.microsoft.com/office/drawing/2014/main" xmlns="" id="{C9A770C5-A3F8-D845-B1BA-3D43D933C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6899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3" grpId="0"/>
      <p:bldP spid="1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Non-persistent </a:t>
            </a:r>
            <a:r>
              <a:rPr lang="en-US" altLang="en-US" sz="4400" dirty="0" smtClean="0">
                <a:cs typeface="Calibri" panose="020F0502020204030204" pitchFamily="34" charset="0"/>
              </a:rPr>
              <a:t>HTTP in operation: </a:t>
            </a:r>
            <a:r>
              <a:rPr lang="en-US" altLang="en-US" sz="4400" dirty="0">
                <a:cs typeface="Calibri" panose="020F0502020204030204" pitchFamily="34" charset="0"/>
              </a:rPr>
              <a:t>example (cont.)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xmlns="" id="{44008892-5F15-CD46-8B74-F28D8BF76E3B}"/>
              </a:ext>
            </a:extLst>
          </p:cNvPr>
          <p:cNvSpPr txBox="1">
            <a:spLocks noChangeArrowheads="1"/>
          </p:cNvSpPr>
          <p:nvPr/>
        </p:nvSpPr>
        <p:spPr>
          <a:xfrm>
            <a:off x="809349" y="1351435"/>
            <a:ext cx="7942262" cy="46672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User enters URL:</a:t>
            </a:r>
          </a:p>
        </p:txBody>
      </p:sp>
      <p:sp>
        <p:nvSpPr>
          <p:cNvPr id="21" name="Text Box 15">
            <a:extLst>
              <a:ext uri="{FF2B5EF4-FFF2-40B4-BE49-F238E27FC236}">
                <a16:creationId xmlns:a16="http://schemas.microsoft.com/office/drawing/2014/main" xmlns="" id="{B64D7167-BDDE-A148-84EB-4FB5D33E4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390" y="1660654"/>
            <a:ext cx="63784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+mn-lt"/>
              </a:rPr>
              <a:t>(containing text, references to 10 jpeg images)</a:t>
            </a:r>
            <a:endParaRPr lang="en-US" altLang="en-US" sz="2800" dirty="0">
              <a:latin typeface="+mn-lt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xmlns="" id="{E52A420B-2488-A04D-8D7F-CC71C334B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021" y="1414937"/>
            <a:ext cx="7942263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buClr>
                <a:srgbClr val="000099"/>
              </a:buClr>
              <a:buSzPct val="65000"/>
              <a:buFont typeface="Wingdings" pitchFamily="2" charset="2"/>
              <a:buNone/>
            </a:pPr>
            <a:r>
              <a:rPr lang="en-US" altLang="en-US" b="1" dirty="0" err="1">
                <a:latin typeface="Courier New" panose="02070309020205020404" pitchFamily="49" charset="0"/>
              </a:rPr>
              <a:t>www.someSchool.edu</a:t>
            </a:r>
            <a:r>
              <a:rPr lang="en-US" altLang="en-US" b="1" dirty="0">
                <a:latin typeface="Courier New" panose="02070309020205020404" pitchFamily="49" charset="0"/>
              </a:rPr>
              <a:t>/</a:t>
            </a:r>
            <a:r>
              <a:rPr lang="en-US" altLang="en-US" b="1" dirty="0" err="1">
                <a:latin typeface="Courier New" panose="02070309020205020404" pitchFamily="49" charset="0"/>
              </a:rPr>
              <a:t>someDepartment</a:t>
            </a:r>
            <a:r>
              <a:rPr lang="en-US" altLang="en-US" b="1" dirty="0">
                <a:latin typeface="Courier New" panose="02070309020205020404" pitchFamily="49" charset="0"/>
              </a:rPr>
              <a:t>/</a:t>
            </a:r>
            <a:r>
              <a:rPr lang="en-US" altLang="en-US" b="1" dirty="0" err="1">
                <a:latin typeface="Courier New" panose="02070309020205020404" pitchFamily="49" charset="0"/>
              </a:rPr>
              <a:t>home.index</a:t>
            </a:r>
            <a:endParaRPr lang="en-US" altLang="en-US" b="1" dirty="0">
              <a:latin typeface="Courier New" panose="02070309020205020404" pitchFamily="49" charset="0"/>
            </a:endParaRPr>
          </a:p>
        </p:txBody>
      </p:sp>
      <p:grpSp>
        <p:nvGrpSpPr>
          <p:cNvPr id="23" name="Group 44">
            <a:extLst>
              <a:ext uri="{FF2B5EF4-FFF2-40B4-BE49-F238E27FC236}">
                <a16:creationId xmlns:a16="http://schemas.microsoft.com/office/drawing/2014/main" xmlns="" id="{2394097B-A6BF-8042-8504-A7CA070914D8}"/>
              </a:ext>
            </a:extLst>
          </p:cNvPr>
          <p:cNvGrpSpPr>
            <a:grpSpLocks/>
          </p:cNvGrpSpPr>
          <p:nvPr/>
        </p:nvGrpSpPr>
        <p:grpSpPr bwMode="auto">
          <a:xfrm>
            <a:off x="371687" y="2060763"/>
            <a:ext cx="784845" cy="730423"/>
            <a:chOff x="-44" y="1473"/>
            <a:chExt cx="981" cy="1105"/>
          </a:xfrm>
        </p:grpSpPr>
        <p:pic>
          <p:nvPicPr>
            <p:cNvPr id="24" name="Picture 45" descr="desktop_computer_stylized_medium">
              <a:extLst>
                <a:ext uri="{FF2B5EF4-FFF2-40B4-BE49-F238E27FC236}">
                  <a16:creationId xmlns:a16="http://schemas.microsoft.com/office/drawing/2014/main" xmlns="" id="{807C0FED-FCBE-2D4E-A1F2-CBF2C81D34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Freeform 46">
              <a:extLst>
                <a:ext uri="{FF2B5EF4-FFF2-40B4-BE49-F238E27FC236}">
                  <a16:creationId xmlns:a16="http://schemas.microsoft.com/office/drawing/2014/main" xmlns="" id="{9119D5B0-5ADB-2048-9F8B-D683AC19EAE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26" name="Group 47">
            <a:extLst>
              <a:ext uri="{FF2B5EF4-FFF2-40B4-BE49-F238E27FC236}">
                <a16:creationId xmlns:a16="http://schemas.microsoft.com/office/drawing/2014/main" xmlns="" id="{DB78F20D-7762-EC45-A5F7-9DBB8F599433}"/>
              </a:ext>
            </a:extLst>
          </p:cNvPr>
          <p:cNvGrpSpPr>
            <a:grpSpLocks/>
          </p:cNvGrpSpPr>
          <p:nvPr/>
        </p:nvGrpSpPr>
        <p:grpSpPr bwMode="auto">
          <a:xfrm>
            <a:off x="6367322" y="2347016"/>
            <a:ext cx="286234" cy="640019"/>
            <a:chOff x="4140" y="429"/>
            <a:chExt cx="1425" cy="2396"/>
          </a:xfrm>
        </p:grpSpPr>
        <p:sp>
          <p:nvSpPr>
            <p:cNvPr id="27" name="Freeform 48">
              <a:extLst>
                <a:ext uri="{FF2B5EF4-FFF2-40B4-BE49-F238E27FC236}">
                  <a16:creationId xmlns:a16="http://schemas.microsoft.com/office/drawing/2014/main" xmlns="" id="{9F7835DE-1DB5-554B-9435-F21099237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8" name="Rectangle 49">
              <a:extLst>
                <a:ext uri="{FF2B5EF4-FFF2-40B4-BE49-F238E27FC236}">
                  <a16:creationId xmlns:a16="http://schemas.microsoft.com/office/drawing/2014/main" xmlns="" id="{D58C67CB-FC2C-6C45-A584-0EE3943CC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9" name="Freeform 50">
              <a:extLst>
                <a:ext uri="{FF2B5EF4-FFF2-40B4-BE49-F238E27FC236}">
                  <a16:creationId xmlns:a16="http://schemas.microsoft.com/office/drawing/2014/main" xmlns="" id="{2E7357FA-BE14-7B45-B9C8-D3AD131C8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0" name="Freeform 51">
              <a:extLst>
                <a:ext uri="{FF2B5EF4-FFF2-40B4-BE49-F238E27FC236}">
                  <a16:creationId xmlns:a16="http://schemas.microsoft.com/office/drawing/2014/main" xmlns="" id="{86D743E9-08EF-3443-A09F-9FD39BD6B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1" name="Rectangle 52">
              <a:extLst>
                <a:ext uri="{FF2B5EF4-FFF2-40B4-BE49-F238E27FC236}">
                  <a16:creationId xmlns:a16="http://schemas.microsoft.com/office/drawing/2014/main" xmlns="" id="{147C38BE-745B-5043-B214-0B9EA392B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2" name="Group 53">
              <a:extLst>
                <a:ext uri="{FF2B5EF4-FFF2-40B4-BE49-F238E27FC236}">
                  <a16:creationId xmlns:a16="http://schemas.microsoft.com/office/drawing/2014/main" xmlns="" id="{FBCFE8CA-D754-EF47-A59B-C987FE1020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7" name="AutoShape 54">
                <a:extLst>
                  <a:ext uri="{FF2B5EF4-FFF2-40B4-BE49-F238E27FC236}">
                    <a16:creationId xmlns:a16="http://schemas.microsoft.com/office/drawing/2014/main" xmlns="" id="{4CB48C03-464D-0344-AF93-DBB0CF131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7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58" name="AutoShape 55">
                <a:extLst>
                  <a:ext uri="{FF2B5EF4-FFF2-40B4-BE49-F238E27FC236}">
                    <a16:creationId xmlns:a16="http://schemas.microsoft.com/office/drawing/2014/main" xmlns="" id="{9545D198-3BD7-694B-B5DC-4ED4C79FCE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4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3" name="Rectangle 56">
              <a:extLst>
                <a:ext uri="{FF2B5EF4-FFF2-40B4-BE49-F238E27FC236}">
                  <a16:creationId xmlns:a16="http://schemas.microsoft.com/office/drawing/2014/main" xmlns="" id="{BB7A1A44-103A-4142-BB05-0C014EC72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4" name="Group 57">
              <a:extLst>
                <a:ext uri="{FF2B5EF4-FFF2-40B4-BE49-F238E27FC236}">
                  <a16:creationId xmlns:a16="http://schemas.microsoft.com/office/drawing/2014/main" xmlns="" id="{A7308D7F-AFED-CA43-852A-E750251C67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5" name="AutoShape 58">
                <a:extLst>
                  <a:ext uri="{FF2B5EF4-FFF2-40B4-BE49-F238E27FC236}">
                    <a16:creationId xmlns:a16="http://schemas.microsoft.com/office/drawing/2014/main" xmlns="" id="{72E4409D-5ADE-A147-AA65-DA44996316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9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56" name="AutoShape 59">
                <a:extLst>
                  <a:ext uri="{FF2B5EF4-FFF2-40B4-BE49-F238E27FC236}">
                    <a16:creationId xmlns:a16="http://schemas.microsoft.com/office/drawing/2014/main" xmlns="" id="{B7CA2B3C-6AEB-7A43-B3B4-4DF705769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8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5" name="Rectangle 60">
              <a:extLst>
                <a:ext uri="{FF2B5EF4-FFF2-40B4-BE49-F238E27FC236}">
                  <a16:creationId xmlns:a16="http://schemas.microsoft.com/office/drawing/2014/main" xmlns="" id="{BA20BEBE-68B5-1249-B593-1C7CD6B37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6" name="Rectangle 61">
              <a:extLst>
                <a:ext uri="{FF2B5EF4-FFF2-40B4-BE49-F238E27FC236}">
                  <a16:creationId xmlns:a16="http://schemas.microsoft.com/office/drawing/2014/main" xmlns="" id="{E5963EC5-6FAF-A14D-AB16-7FE0DA31D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7" name="Group 62">
              <a:extLst>
                <a:ext uri="{FF2B5EF4-FFF2-40B4-BE49-F238E27FC236}">
                  <a16:creationId xmlns:a16="http://schemas.microsoft.com/office/drawing/2014/main" xmlns="" id="{A8DEC631-5A58-7849-9209-1EB5AB5695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3" name="AutoShape 63">
                <a:extLst>
                  <a:ext uri="{FF2B5EF4-FFF2-40B4-BE49-F238E27FC236}">
                    <a16:creationId xmlns:a16="http://schemas.microsoft.com/office/drawing/2014/main" xmlns="" id="{6FBD34E3-C5B6-E944-B4E7-984347F693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54" name="AutoShape 64">
                <a:extLst>
                  <a:ext uri="{FF2B5EF4-FFF2-40B4-BE49-F238E27FC236}">
                    <a16:creationId xmlns:a16="http://schemas.microsoft.com/office/drawing/2014/main" xmlns="" id="{444700C5-DD16-7045-A6DF-957B4E655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8" name="Freeform 65">
              <a:extLst>
                <a:ext uri="{FF2B5EF4-FFF2-40B4-BE49-F238E27FC236}">
                  <a16:creationId xmlns:a16="http://schemas.microsoft.com/office/drawing/2014/main" xmlns="" id="{210F459F-9F66-B847-B785-6AE02157E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9" name="Group 66">
              <a:extLst>
                <a:ext uri="{FF2B5EF4-FFF2-40B4-BE49-F238E27FC236}">
                  <a16:creationId xmlns:a16="http://schemas.microsoft.com/office/drawing/2014/main" xmlns="" id="{07904654-EF90-4B4C-B348-E6F299ADAF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1" name="AutoShape 67">
                <a:extLst>
                  <a:ext uri="{FF2B5EF4-FFF2-40B4-BE49-F238E27FC236}">
                    <a16:creationId xmlns:a16="http://schemas.microsoft.com/office/drawing/2014/main" xmlns="" id="{927A6F56-7195-2A4B-A9FF-BD73015A7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52" name="AutoShape 68">
                <a:extLst>
                  <a:ext uri="{FF2B5EF4-FFF2-40B4-BE49-F238E27FC236}">
                    <a16:creationId xmlns:a16="http://schemas.microsoft.com/office/drawing/2014/main" xmlns="" id="{AE3156D8-7946-6043-B3B8-2B13B7293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40" name="Rectangle 69">
              <a:extLst>
                <a:ext uri="{FF2B5EF4-FFF2-40B4-BE49-F238E27FC236}">
                  <a16:creationId xmlns:a16="http://schemas.microsoft.com/office/drawing/2014/main" xmlns="" id="{CE18F5A0-5742-0B4F-982F-6BC169203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32"/>
              <a:ext cx="68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1" name="Freeform 70">
              <a:extLst>
                <a:ext uri="{FF2B5EF4-FFF2-40B4-BE49-F238E27FC236}">
                  <a16:creationId xmlns:a16="http://schemas.microsoft.com/office/drawing/2014/main" xmlns="" id="{2BD50CD9-1EF1-ED4C-AFCE-14AD1B90C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2" name="Freeform 71">
              <a:extLst>
                <a:ext uri="{FF2B5EF4-FFF2-40B4-BE49-F238E27FC236}">
                  <a16:creationId xmlns:a16="http://schemas.microsoft.com/office/drawing/2014/main" xmlns="" id="{577EA932-97EB-4149-8C8C-9011420A3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3" name="Oval 72">
              <a:extLst>
                <a:ext uri="{FF2B5EF4-FFF2-40B4-BE49-F238E27FC236}">
                  <a16:creationId xmlns:a16="http://schemas.microsoft.com/office/drawing/2014/main" xmlns="" id="{49966F96-01DC-0A43-BCBA-D06A3569E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4" name="Freeform 73">
              <a:extLst>
                <a:ext uri="{FF2B5EF4-FFF2-40B4-BE49-F238E27FC236}">
                  <a16:creationId xmlns:a16="http://schemas.microsoft.com/office/drawing/2014/main" xmlns="" id="{F1C686DE-B7D5-2148-BCC7-2FAC2C010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5" name="AutoShape 74">
              <a:extLst>
                <a:ext uri="{FF2B5EF4-FFF2-40B4-BE49-F238E27FC236}">
                  <a16:creationId xmlns:a16="http://schemas.microsoft.com/office/drawing/2014/main" xmlns="" id="{F82F43AD-BE0F-344E-BEE9-58D59D825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201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6" name="AutoShape 75">
              <a:extLst>
                <a:ext uri="{FF2B5EF4-FFF2-40B4-BE49-F238E27FC236}">
                  <a16:creationId xmlns:a16="http://schemas.microsoft.com/office/drawing/2014/main" xmlns="" id="{50B859D7-FD53-4C47-95AC-855D1B2F3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712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7" name="Oval 76">
              <a:extLst>
                <a:ext uri="{FF2B5EF4-FFF2-40B4-BE49-F238E27FC236}">
                  <a16:creationId xmlns:a16="http://schemas.microsoft.com/office/drawing/2014/main" xmlns="" id="{83896475-9FE1-9143-9428-50459AAB8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8" name="Oval 77">
              <a:extLst>
                <a:ext uri="{FF2B5EF4-FFF2-40B4-BE49-F238E27FC236}">
                  <a16:creationId xmlns:a16="http://schemas.microsoft.com/office/drawing/2014/main" xmlns="" id="{10EA96BE-EF36-2B49-A03B-AEC865105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" name="Oval 78">
              <a:extLst>
                <a:ext uri="{FF2B5EF4-FFF2-40B4-BE49-F238E27FC236}">
                  <a16:creationId xmlns:a16="http://schemas.microsoft.com/office/drawing/2014/main" xmlns="" id="{BE8642C4-0C45-D94F-821D-2190EC546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0" name="Rectangle 79">
              <a:extLst>
                <a:ext uri="{FF2B5EF4-FFF2-40B4-BE49-F238E27FC236}">
                  <a16:creationId xmlns:a16="http://schemas.microsoft.com/office/drawing/2014/main" xmlns="" id="{C9A770C5-A3F8-D845-B1BA-3D43D933C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59" name="Rectangle 6">
            <a:extLst>
              <a:ext uri="{FF2B5EF4-FFF2-40B4-BE49-F238E27FC236}">
                <a16:creationId xmlns:a16="http://schemas.microsoft.com/office/drawing/2014/main" xmlns="" id="{F5ECC14E-6AC7-4243-86F2-25BD5F2B8464}"/>
              </a:ext>
            </a:extLst>
          </p:cNvPr>
          <p:cNvSpPr txBox="1">
            <a:spLocks noChangeArrowheads="1"/>
          </p:cNvSpPr>
          <p:nvPr/>
        </p:nvSpPr>
        <p:spPr>
          <a:xfrm>
            <a:off x="798691" y="3200188"/>
            <a:ext cx="5085273" cy="201012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5</a:t>
            </a:r>
            <a:r>
              <a:rPr lang="en-US" altLang="en-US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.</a:t>
            </a:r>
            <a:r>
              <a:rPr lang="en-US" altLang="en-US" sz="2400" dirty="0">
                <a:ea typeface="ＭＳ Ｐゴシック" panose="020B0600070205080204" pitchFamily="34" charset="-128"/>
              </a:rPr>
              <a:t> HTTP client receives response message containing html file, displays html.  Parsing html file, finds 10 referenced jpeg  objects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60" name="Rectangle 7">
            <a:extLst>
              <a:ext uri="{FF2B5EF4-FFF2-40B4-BE49-F238E27FC236}">
                <a16:creationId xmlns:a16="http://schemas.microsoft.com/office/drawing/2014/main" xmlns="" id="{D3260771-3905-E24E-8B12-64D566C6B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480" y="4851930"/>
            <a:ext cx="381000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dirty="0">
                <a:solidFill>
                  <a:srgbClr val="CC0000"/>
                </a:solidFill>
                <a:latin typeface="+mn-lt"/>
              </a:rPr>
              <a:t>6.</a:t>
            </a:r>
            <a:r>
              <a:rPr lang="en-US" altLang="en-US" sz="2400" dirty="0">
                <a:latin typeface="+mn-lt"/>
              </a:rPr>
              <a:t> Steps 1-5 repeated for each of 10 jpeg objects</a:t>
            </a:r>
          </a:p>
        </p:txBody>
      </p:sp>
      <p:sp>
        <p:nvSpPr>
          <p:cNvPr id="61" name="Rectangle 8">
            <a:extLst>
              <a:ext uri="{FF2B5EF4-FFF2-40B4-BE49-F238E27FC236}">
                <a16:creationId xmlns:a16="http://schemas.microsoft.com/office/drawing/2014/main" xmlns="" id="{9E1B76BD-C8EB-7245-9B75-E2D499F3E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6580" y="2782360"/>
            <a:ext cx="38100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>
                <a:solidFill>
                  <a:srgbClr val="CC0000"/>
                </a:solidFill>
                <a:latin typeface="+mn-lt"/>
              </a:rPr>
              <a:t>4.</a:t>
            </a:r>
            <a:r>
              <a:rPr lang="en-US" altLang="en-US" sz="2400">
                <a:latin typeface="+mn-lt"/>
              </a:rPr>
              <a:t> HTTP server closes TCP connection. </a:t>
            </a:r>
          </a:p>
        </p:txBody>
      </p:sp>
      <p:sp>
        <p:nvSpPr>
          <p:cNvPr id="65" name="Line 17">
            <a:extLst>
              <a:ext uri="{FF2B5EF4-FFF2-40B4-BE49-F238E27FC236}">
                <a16:creationId xmlns:a16="http://schemas.microsoft.com/office/drawing/2014/main" xmlns="" id="{4F85C1F3-F91B-C04C-B746-8E5570895A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87465" y="3200187"/>
            <a:ext cx="1095375" cy="523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6" name="Line 11">
            <a:extLst>
              <a:ext uri="{FF2B5EF4-FFF2-40B4-BE49-F238E27FC236}">
                <a16:creationId xmlns:a16="http://schemas.microsoft.com/office/drawing/2014/main" xmlns="" id="{F8CE636E-DC4B-BA4E-A771-E70EE904FB2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691" y="2868166"/>
            <a:ext cx="10658" cy="3480471"/>
          </a:xfrm>
          <a:prstGeom prst="line">
            <a:avLst/>
          </a:prstGeom>
          <a:noFill/>
          <a:ln w="19050">
            <a:solidFill>
              <a:schemeClr val="bg1">
                <a:lumMod val="6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" name="Rectangle 13">
            <a:extLst>
              <a:ext uri="{FF2B5EF4-FFF2-40B4-BE49-F238E27FC236}">
                <a16:creationId xmlns:a16="http://schemas.microsoft.com/office/drawing/2014/main" xmlns="" id="{3787AF32-7BD3-C144-BD02-222C42900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58" y="5641558"/>
            <a:ext cx="657225" cy="29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>
              <a:latin typeface="+mn-lt"/>
            </a:endParaRPr>
          </a:p>
        </p:txBody>
      </p:sp>
      <p:sp>
        <p:nvSpPr>
          <p:cNvPr id="68" name="Text Box 12">
            <a:extLst>
              <a:ext uri="{FF2B5EF4-FFF2-40B4-BE49-F238E27FC236}">
                <a16:creationId xmlns:a16="http://schemas.microsoft.com/office/drawing/2014/main" xmlns="" id="{B3CFBAD8-5CBD-8B48-A941-3E86D5E65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83" y="5563771"/>
            <a:ext cx="673100" cy="406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632229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uild="p"/>
      <p:bldP spid="6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Non-persistent HTTP: response time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xmlns="" id="{6FDB6615-546D-6440-BBC8-3C06990BF0E4}"/>
              </a:ext>
            </a:extLst>
          </p:cNvPr>
          <p:cNvSpPr txBox="1">
            <a:spLocks noChangeArrowheads="1"/>
          </p:cNvSpPr>
          <p:nvPr/>
        </p:nvSpPr>
        <p:spPr>
          <a:xfrm>
            <a:off x="649307" y="1636150"/>
            <a:ext cx="5683502" cy="333733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RTT (definition):</a:t>
            </a:r>
            <a:r>
              <a:rPr lang="en-US" altLang="en-US" dirty="0">
                <a:ea typeface="ＭＳ Ｐゴシック" panose="020B0600070205080204" pitchFamily="34" charset="-128"/>
              </a:rPr>
              <a:t> time for a small packet to travel from client to server and back</a:t>
            </a:r>
          </a:p>
          <a:p>
            <a:pPr>
              <a:buFont typeface="Wingdings" pitchFamily="2" charset="2"/>
              <a:buNone/>
            </a:pP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HTTP response time (per object):</a:t>
            </a:r>
          </a:p>
          <a:p>
            <a:pPr marL="460375" indent="-215900">
              <a:spcBef>
                <a:spcPts val="400"/>
              </a:spcBef>
            </a:pPr>
            <a:r>
              <a:rPr lang="en-US" altLang="en-US" sz="2400" dirty="0">
                <a:ea typeface="ＭＳ Ｐゴシック" panose="020B0600070205080204" pitchFamily="34" charset="-128"/>
              </a:rPr>
              <a:t>one RTT to initiate TCP connection</a:t>
            </a:r>
          </a:p>
          <a:p>
            <a:pPr marL="460375" indent="-215900">
              <a:spcBef>
                <a:spcPts val="400"/>
              </a:spcBef>
            </a:pPr>
            <a:r>
              <a:rPr lang="en-US" altLang="en-US" sz="2400" dirty="0">
                <a:ea typeface="ＭＳ Ｐゴシック" panose="020B0600070205080204" pitchFamily="34" charset="-128"/>
              </a:rPr>
              <a:t>one RTT for HTTP request and first few bytes of HTTP response to return</a:t>
            </a:r>
          </a:p>
          <a:p>
            <a:pPr marL="460375" indent="-215900">
              <a:spcBef>
                <a:spcPts val="400"/>
              </a:spcBef>
            </a:pPr>
            <a:r>
              <a:rPr lang="en-US" altLang="en-US" sz="2400" dirty="0" err="1">
                <a:ea typeface="ＭＳ Ｐゴシック" panose="020B0600070205080204" pitchFamily="34" charset="-128"/>
              </a:rPr>
              <a:t>obect</a:t>
            </a:r>
            <a:r>
              <a:rPr lang="en-US" altLang="en-US" sz="2400" dirty="0">
                <a:ea typeface="ＭＳ Ｐゴシック" panose="020B0600070205080204" pitchFamily="34" charset="-128"/>
              </a:rPr>
              <a:t>/file transmission time</a:t>
            </a:r>
          </a:p>
          <a:p>
            <a:pPr>
              <a:buFont typeface="Wingdings" pitchFamily="2" charset="2"/>
              <a:buNone/>
            </a:pPr>
            <a:endParaRPr lang="en-US" altLang="en-US" sz="2400" dirty="0">
              <a:ea typeface="ＭＳ Ｐゴシック" panose="020B0600070205080204" pitchFamily="34" charset="-128"/>
            </a:endParaRPr>
          </a:p>
        </p:txBody>
      </p:sp>
      <p:sp>
        <p:nvSpPr>
          <p:cNvPr id="63" name="Line 15">
            <a:extLst>
              <a:ext uri="{FF2B5EF4-FFF2-40B4-BE49-F238E27FC236}">
                <a16:creationId xmlns:a16="http://schemas.microsoft.com/office/drawing/2014/main" xmlns="" id="{4929D219-0DD0-EE4D-B40F-3D0B3F80F653}"/>
              </a:ext>
            </a:extLst>
          </p:cNvPr>
          <p:cNvSpPr>
            <a:spLocks noChangeShapeType="1"/>
          </p:cNvSpPr>
          <p:nvPr/>
        </p:nvSpPr>
        <p:spPr bwMode="auto">
          <a:xfrm>
            <a:off x="8197229" y="2671284"/>
            <a:ext cx="0" cy="2832100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64" name="Line 16">
            <a:extLst>
              <a:ext uri="{FF2B5EF4-FFF2-40B4-BE49-F238E27FC236}">
                <a16:creationId xmlns:a16="http://schemas.microsoft.com/office/drawing/2014/main" xmlns="" id="{8CAAC30A-AACE-CA43-94F8-6356C7DBF909}"/>
              </a:ext>
            </a:extLst>
          </p:cNvPr>
          <p:cNvSpPr>
            <a:spLocks noChangeShapeType="1"/>
          </p:cNvSpPr>
          <p:nvPr/>
        </p:nvSpPr>
        <p:spPr bwMode="auto">
          <a:xfrm>
            <a:off x="9887916" y="2664934"/>
            <a:ext cx="0" cy="2881312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69" name="Line 17">
            <a:extLst>
              <a:ext uri="{FF2B5EF4-FFF2-40B4-BE49-F238E27FC236}">
                <a16:creationId xmlns:a16="http://schemas.microsoft.com/office/drawing/2014/main" xmlns="" id="{AF42B5BB-493F-1A4F-A479-A45F6B47212F}"/>
              </a:ext>
            </a:extLst>
          </p:cNvPr>
          <p:cNvSpPr>
            <a:spLocks noChangeShapeType="1"/>
          </p:cNvSpPr>
          <p:nvPr/>
        </p:nvSpPr>
        <p:spPr bwMode="auto">
          <a:xfrm>
            <a:off x="8211516" y="2903059"/>
            <a:ext cx="1684338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70" name="Line 18">
            <a:extLst>
              <a:ext uri="{FF2B5EF4-FFF2-40B4-BE49-F238E27FC236}">
                <a16:creationId xmlns:a16="http://schemas.microsoft.com/office/drawing/2014/main" xmlns="" id="{C9AE042D-B868-CC49-B9F2-374B1A84C6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7229" y="3341209"/>
            <a:ext cx="1673225" cy="403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71" name="Line 19">
            <a:extLst>
              <a:ext uri="{FF2B5EF4-FFF2-40B4-BE49-F238E27FC236}">
                <a16:creationId xmlns:a16="http://schemas.microsoft.com/office/drawing/2014/main" xmlns="" id="{99C22C7D-D82A-5C41-99D1-EA13F124371E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5166" y="3849209"/>
            <a:ext cx="1684338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73" name="AutoShape 21">
            <a:extLst>
              <a:ext uri="{FF2B5EF4-FFF2-40B4-BE49-F238E27FC236}">
                <a16:creationId xmlns:a16="http://schemas.microsoft.com/office/drawing/2014/main" xmlns="" id="{DD02DF36-65CF-F14E-88DF-53BB17EBFDA7}"/>
              </a:ext>
            </a:extLst>
          </p:cNvPr>
          <p:cNvSpPr>
            <a:spLocks/>
          </p:cNvSpPr>
          <p:nvPr/>
        </p:nvSpPr>
        <p:spPr bwMode="auto">
          <a:xfrm>
            <a:off x="9903942" y="4249143"/>
            <a:ext cx="99857" cy="161739"/>
          </a:xfrm>
          <a:prstGeom prst="rightBrace">
            <a:avLst>
              <a:gd name="adj1" fmla="val 2039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3200">
              <a:latin typeface="+mn-lt"/>
            </a:endParaRPr>
          </a:p>
        </p:txBody>
      </p:sp>
      <p:sp>
        <p:nvSpPr>
          <p:cNvPr id="74" name="Text Box 22">
            <a:extLst>
              <a:ext uri="{FF2B5EF4-FFF2-40B4-BE49-F238E27FC236}">
                <a16:creationId xmlns:a16="http://schemas.microsoft.com/office/drawing/2014/main" xmlns="" id="{CCB0A876-D266-4A45-A302-8A1ECD42C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7454" y="3944459"/>
            <a:ext cx="1123577" cy="879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CC0000"/>
                </a:solidFill>
                <a:latin typeface="+mn-lt"/>
              </a:rPr>
              <a:t>time to 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CC0000"/>
                </a:solidFill>
                <a:latin typeface="+mn-lt"/>
              </a:rPr>
              <a:t>transmit 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CC0000"/>
                </a:solidFill>
                <a:latin typeface="+mn-lt"/>
              </a:rPr>
              <a:t>file</a:t>
            </a:r>
          </a:p>
        </p:txBody>
      </p:sp>
      <p:sp>
        <p:nvSpPr>
          <p:cNvPr id="75" name="Line 23">
            <a:extLst>
              <a:ext uri="{FF2B5EF4-FFF2-40B4-BE49-F238E27FC236}">
                <a16:creationId xmlns:a16="http://schemas.microsoft.com/office/drawing/2014/main" xmlns="" id="{5718D752-EA30-EF40-828E-5D0FFEB1DBD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6704" y="2877659"/>
            <a:ext cx="3905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76" name="Text Box 24">
            <a:extLst>
              <a:ext uri="{FF2B5EF4-FFF2-40B4-BE49-F238E27FC236}">
                <a16:creationId xmlns:a16="http://schemas.microsoft.com/office/drawing/2014/main" xmlns="" id="{8BC58F30-FF48-FF4E-819B-1E40B9095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60" y="2563010"/>
            <a:ext cx="1363707" cy="617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solidFill>
                  <a:srgbClr val="CC0000"/>
                </a:solidFill>
                <a:latin typeface="+mn-lt"/>
              </a:rPr>
              <a:t>initiate TCP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solidFill>
                  <a:srgbClr val="CC0000"/>
                </a:solidFill>
                <a:latin typeface="+mn-lt"/>
              </a:rPr>
              <a:t>connection</a:t>
            </a:r>
          </a:p>
        </p:txBody>
      </p:sp>
      <p:sp>
        <p:nvSpPr>
          <p:cNvPr id="77" name="AutoShape 25">
            <a:extLst>
              <a:ext uri="{FF2B5EF4-FFF2-40B4-BE49-F238E27FC236}">
                <a16:creationId xmlns:a16="http://schemas.microsoft.com/office/drawing/2014/main" xmlns="" id="{1676996C-B2C6-6440-BDFC-70D850B75C3C}"/>
              </a:ext>
            </a:extLst>
          </p:cNvPr>
          <p:cNvSpPr>
            <a:spLocks/>
          </p:cNvSpPr>
          <p:nvPr/>
        </p:nvSpPr>
        <p:spPr bwMode="auto">
          <a:xfrm>
            <a:off x="7941641" y="2928459"/>
            <a:ext cx="128588" cy="803275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endParaRPr lang="en-US" altLang="en-US" sz="3200">
              <a:latin typeface="+mn-lt"/>
            </a:endParaRPr>
          </a:p>
        </p:txBody>
      </p:sp>
      <p:sp>
        <p:nvSpPr>
          <p:cNvPr id="78" name="Text Box 26">
            <a:extLst>
              <a:ext uri="{FF2B5EF4-FFF2-40B4-BE49-F238E27FC236}">
                <a16:creationId xmlns:a16="http://schemas.microsoft.com/office/drawing/2014/main" xmlns="" id="{86DB8643-EF07-8F4F-9625-5A4CA4A15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041" y="3139596"/>
            <a:ext cx="575222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latin typeface="+mn-lt"/>
              </a:rPr>
              <a:t>RTT</a:t>
            </a:r>
          </a:p>
        </p:txBody>
      </p:sp>
      <p:sp>
        <p:nvSpPr>
          <p:cNvPr id="79" name="Line 27">
            <a:extLst>
              <a:ext uri="{FF2B5EF4-FFF2-40B4-BE49-F238E27FC236}">
                <a16:creationId xmlns:a16="http://schemas.microsoft.com/office/drawing/2014/main" xmlns="" id="{981309A0-6209-8843-8011-139102021A7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5916" y="3782534"/>
            <a:ext cx="3540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80" name="Text Box 28">
            <a:extLst>
              <a:ext uri="{FF2B5EF4-FFF2-40B4-BE49-F238E27FC236}">
                <a16:creationId xmlns:a16="http://schemas.microsoft.com/office/drawing/2014/main" xmlns="" id="{F8F4F9A2-8F8A-0A49-A582-7B28C50C8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3113" y="3589815"/>
            <a:ext cx="1969956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solidFill>
                  <a:srgbClr val="CC0000"/>
                </a:solidFill>
                <a:latin typeface="+mn-lt"/>
              </a:rPr>
              <a:t>request file</a:t>
            </a:r>
          </a:p>
        </p:txBody>
      </p:sp>
      <p:sp>
        <p:nvSpPr>
          <p:cNvPr id="81" name="AutoShape 29">
            <a:extLst>
              <a:ext uri="{FF2B5EF4-FFF2-40B4-BE49-F238E27FC236}">
                <a16:creationId xmlns:a16="http://schemas.microsoft.com/office/drawing/2014/main" xmlns="" id="{38B5D7F5-BB3A-C042-A65C-E340A56B8131}"/>
              </a:ext>
            </a:extLst>
          </p:cNvPr>
          <p:cNvSpPr>
            <a:spLocks/>
          </p:cNvSpPr>
          <p:nvPr/>
        </p:nvSpPr>
        <p:spPr bwMode="auto">
          <a:xfrm>
            <a:off x="7947991" y="3838096"/>
            <a:ext cx="128588" cy="803275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endParaRPr lang="en-US" altLang="en-US" sz="3200">
              <a:latin typeface="+mn-lt"/>
            </a:endParaRPr>
          </a:p>
        </p:txBody>
      </p:sp>
      <p:sp>
        <p:nvSpPr>
          <p:cNvPr id="82" name="Text Box 30">
            <a:extLst>
              <a:ext uri="{FF2B5EF4-FFF2-40B4-BE49-F238E27FC236}">
                <a16:creationId xmlns:a16="http://schemas.microsoft.com/office/drawing/2014/main" xmlns="" id="{F6FF37B4-B442-4047-946B-77B07E91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8091" y="4061934"/>
            <a:ext cx="575222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latin typeface="+mn-lt"/>
              </a:rPr>
              <a:t>RTT</a:t>
            </a:r>
          </a:p>
        </p:txBody>
      </p:sp>
      <p:sp>
        <p:nvSpPr>
          <p:cNvPr id="83" name="Line 35">
            <a:extLst>
              <a:ext uri="{FF2B5EF4-FFF2-40B4-BE49-F238E27FC236}">
                <a16:creationId xmlns:a16="http://schemas.microsoft.com/office/drawing/2014/main" xmlns="" id="{1D97958B-3B35-E742-B7C6-848FC7C172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18988" y="4805006"/>
            <a:ext cx="361323" cy="2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84" name="Text Box 36">
            <a:extLst>
              <a:ext uri="{FF2B5EF4-FFF2-40B4-BE49-F238E27FC236}">
                <a16:creationId xmlns:a16="http://schemas.microsoft.com/office/drawing/2014/main" xmlns="" id="{24A3B2D9-8989-434A-9FC2-223A7BF47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5684" y="4617233"/>
            <a:ext cx="1647627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solidFill>
                  <a:srgbClr val="CC0000"/>
                </a:solidFill>
                <a:latin typeface="+mn-lt"/>
              </a:rPr>
              <a:t>file received</a:t>
            </a:r>
          </a:p>
        </p:txBody>
      </p:sp>
      <p:sp>
        <p:nvSpPr>
          <p:cNvPr id="85" name="Text Box 37">
            <a:extLst>
              <a:ext uri="{FF2B5EF4-FFF2-40B4-BE49-F238E27FC236}">
                <a16:creationId xmlns:a16="http://schemas.microsoft.com/office/drawing/2014/main" xmlns="" id="{5F7EC06B-E293-DF46-888B-439F61ED3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1804" y="5517671"/>
            <a:ext cx="663964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latin typeface="+mn-lt"/>
              </a:rPr>
              <a:t>time</a:t>
            </a:r>
          </a:p>
        </p:txBody>
      </p:sp>
      <p:sp>
        <p:nvSpPr>
          <p:cNvPr id="86" name="Text Box 38">
            <a:extLst>
              <a:ext uri="{FF2B5EF4-FFF2-40B4-BE49-F238E27FC236}">
                <a16:creationId xmlns:a16="http://schemas.microsoft.com/office/drawing/2014/main" xmlns="" id="{29F1D00D-DC1A-684B-8E6D-3829DD416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9791" y="5500209"/>
            <a:ext cx="6639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latin typeface="+mn-lt"/>
              </a:rPr>
              <a:t>time</a:t>
            </a:r>
          </a:p>
        </p:txBody>
      </p:sp>
      <p:grpSp>
        <p:nvGrpSpPr>
          <p:cNvPr id="87" name="Group 43">
            <a:extLst>
              <a:ext uri="{FF2B5EF4-FFF2-40B4-BE49-F238E27FC236}">
                <a16:creationId xmlns:a16="http://schemas.microsoft.com/office/drawing/2014/main" xmlns="" id="{541F6086-47C8-874D-8AA5-F7E42EE4D031}"/>
              </a:ext>
            </a:extLst>
          </p:cNvPr>
          <p:cNvGrpSpPr>
            <a:grpSpLocks/>
          </p:cNvGrpSpPr>
          <p:nvPr/>
        </p:nvGrpSpPr>
        <p:grpSpPr bwMode="auto">
          <a:xfrm>
            <a:off x="9687891" y="1898171"/>
            <a:ext cx="423863" cy="684213"/>
            <a:chOff x="4140" y="429"/>
            <a:chExt cx="1425" cy="2396"/>
          </a:xfrm>
        </p:grpSpPr>
        <p:sp>
          <p:nvSpPr>
            <p:cNvPr id="88" name="Freeform 44">
              <a:extLst>
                <a:ext uri="{FF2B5EF4-FFF2-40B4-BE49-F238E27FC236}">
                  <a16:creationId xmlns:a16="http://schemas.microsoft.com/office/drawing/2014/main" xmlns="" id="{6DAF6B62-B819-F74E-96B5-613320600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89" name="Rectangle 45">
              <a:extLst>
                <a:ext uri="{FF2B5EF4-FFF2-40B4-BE49-F238E27FC236}">
                  <a16:creationId xmlns:a16="http://schemas.microsoft.com/office/drawing/2014/main" xmlns="" id="{50F7D37B-F313-5C49-8576-42FF33D8D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800">
                <a:latin typeface="+mn-lt"/>
              </a:endParaRPr>
            </a:p>
          </p:txBody>
        </p:sp>
        <p:sp>
          <p:nvSpPr>
            <p:cNvPr id="90" name="Freeform 46">
              <a:extLst>
                <a:ext uri="{FF2B5EF4-FFF2-40B4-BE49-F238E27FC236}">
                  <a16:creationId xmlns:a16="http://schemas.microsoft.com/office/drawing/2014/main" xmlns="" id="{87E40F45-93DC-2B4E-ADDC-55D37D40B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91" name="Freeform 47">
              <a:extLst>
                <a:ext uri="{FF2B5EF4-FFF2-40B4-BE49-F238E27FC236}">
                  <a16:creationId xmlns:a16="http://schemas.microsoft.com/office/drawing/2014/main" xmlns="" id="{7B112D55-79F9-1F4D-B446-8C88751FF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92" name="Rectangle 48">
              <a:extLst>
                <a:ext uri="{FF2B5EF4-FFF2-40B4-BE49-F238E27FC236}">
                  <a16:creationId xmlns:a16="http://schemas.microsoft.com/office/drawing/2014/main" xmlns="" id="{956D8EF0-FF87-9E4B-887E-2B313EF77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800">
                <a:latin typeface="+mn-lt"/>
              </a:endParaRPr>
            </a:p>
          </p:txBody>
        </p:sp>
        <p:grpSp>
          <p:nvGrpSpPr>
            <p:cNvPr id="93" name="Group 49">
              <a:extLst>
                <a:ext uri="{FF2B5EF4-FFF2-40B4-BE49-F238E27FC236}">
                  <a16:creationId xmlns:a16="http://schemas.microsoft.com/office/drawing/2014/main" xmlns="" id="{66F581E1-4301-C04A-BC92-0FE36983E2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8" name="AutoShape 50">
                <a:extLst>
                  <a:ext uri="{FF2B5EF4-FFF2-40B4-BE49-F238E27FC236}">
                    <a16:creationId xmlns:a16="http://schemas.microsoft.com/office/drawing/2014/main" xmlns="" id="{060EE10F-40BB-F147-A18B-D592D49006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800">
                  <a:latin typeface="+mn-lt"/>
                </a:endParaRPr>
              </a:p>
            </p:txBody>
          </p:sp>
          <p:sp>
            <p:nvSpPr>
              <p:cNvPr id="119" name="AutoShape 51">
                <a:extLst>
                  <a:ext uri="{FF2B5EF4-FFF2-40B4-BE49-F238E27FC236}">
                    <a16:creationId xmlns:a16="http://schemas.microsoft.com/office/drawing/2014/main" xmlns="" id="{964C81AE-2600-6248-820C-48DB107C0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800">
                  <a:latin typeface="+mn-lt"/>
                </a:endParaRPr>
              </a:p>
            </p:txBody>
          </p:sp>
        </p:grpSp>
        <p:sp>
          <p:nvSpPr>
            <p:cNvPr id="94" name="Rectangle 52">
              <a:extLst>
                <a:ext uri="{FF2B5EF4-FFF2-40B4-BE49-F238E27FC236}">
                  <a16:creationId xmlns:a16="http://schemas.microsoft.com/office/drawing/2014/main" xmlns="" id="{0B3B5D85-0106-D947-B9AB-3DEF402BD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800">
                <a:latin typeface="+mn-lt"/>
              </a:endParaRPr>
            </a:p>
          </p:txBody>
        </p:sp>
        <p:grpSp>
          <p:nvGrpSpPr>
            <p:cNvPr id="95" name="Group 53">
              <a:extLst>
                <a:ext uri="{FF2B5EF4-FFF2-40B4-BE49-F238E27FC236}">
                  <a16:creationId xmlns:a16="http://schemas.microsoft.com/office/drawing/2014/main" xmlns="" id="{21E327E2-0D3F-BB45-88FA-94BE824723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6" name="AutoShape 54">
                <a:extLst>
                  <a:ext uri="{FF2B5EF4-FFF2-40B4-BE49-F238E27FC236}">
                    <a16:creationId xmlns:a16="http://schemas.microsoft.com/office/drawing/2014/main" xmlns="" id="{A09779CB-5E1C-FF46-9276-B827DEE6BD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800">
                  <a:latin typeface="+mn-lt"/>
                </a:endParaRPr>
              </a:p>
            </p:txBody>
          </p:sp>
          <p:sp>
            <p:nvSpPr>
              <p:cNvPr id="117" name="AutoShape 55">
                <a:extLst>
                  <a:ext uri="{FF2B5EF4-FFF2-40B4-BE49-F238E27FC236}">
                    <a16:creationId xmlns:a16="http://schemas.microsoft.com/office/drawing/2014/main" xmlns="" id="{67162A33-48AB-8447-8BA1-9899B1EFA7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800">
                  <a:latin typeface="+mn-lt"/>
                </a:endParaRPr>
              </a:p>
            </p:txBody>
          </p:sp>
        </p:grpSp>
        <p:sp>
          <p:nvSpPr>
            <p:cNvPr id="96" name="Rectangle 56">
              <a:extLst>
                <a:ext uri="{FF2B5EF4-FFF2-40B4-BE49-F238E27FC236}">
                  <a16:creationId xmlns:a16="http://schemas.microsoft.com/office/drawing/2014/main" xmlns="" id="{C0727CA6-9309-D04B-829F-614EF5BEA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800">
                <a:latin typeface="+mn-lt"/>
              </a:endParaRPr>
            </a:p>
          </p:txBody>
        </p:sp>
        <p:sp>
          <p:nvSpPr>
            <p:cNvPr id="97" name="Rectangle 57">
              <a:extLst>
                <a:ext uri="{FF2B5EF4-FFF2-40B4-BE49-F238E27FC236}">
                  <a16:creationId xmlns:a16="http://schemas.microsoft.com/office/drawing/2014/main" xmlns="" id="{17B7496E-619F-B745-A3B6-4EDDE39B5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800">
                <a:latin typeface="+mn-lt"/>
              </a:endParaRPr>
            </a:p>
          </p:txBody>
        </p:sp>
        <p:grpSp>
          <p:nvGrpSpPr>
            <p:cNvPr id="98" name="Group 58">
              <a:extLst>
                <a:ext uri="{FF2B5EF4-FFF2-40B4-BE49-F238E27FC236}">
                  <a16:creationId xmlns:a16="http://schemas.microsoft.com/office/drawing/2014/main" xmlns="" id="{B3F5CCBA-FB37-F741-A1BE-6A326312AB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4" name="AutoShape 59">
                <a:extLst>
                  <a:ext uri="{FF2B5EF4-FFF2-40B4-BE49-F238E27FC236}">
                    <a16:creationId xmlns:a16="http://schemas.microsoft.com/office/drawing/2014/main" xmlns="" id="{DEAAF06F-764B-A04C-A4F4-4AF808C89F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800">
                  <a:latin typeface="+mn-lt"/>
                </a:endParaRPr>
              </a:p>
            </p:txBody>
          </p:sp>
          <p:sp>
            <p:nvSpPr>
              <p:cNvPr id="115" name="AutoShape 60">
                <a:extLst>
                  <a:ext uri="{FF2B5EF4-FFF2-40B4-BE49-F238E27FC236}">
                    <a16:creationId xmlns:a16="http://schemas.microsoft.com/office/drawing/2014/main" xmlns="" id="{73A61CB6-ED08-FD4B-8F83-3336B8F82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800">
                  <a:latin typeface="+mn-lt"/>
                </a:endParaRPr>
              </a:p>
            </p:txBody>
          </p:sp>
        </p:grpSp>
        <p:sp>
          <p:nvSpPr>
            <p:cNvPr id="99" name="Freeform 61">
              <a:extLst>
                <a:ext uri="{FF2B5EF4-FFF2-40B4-BE49-F238E27FC236}">
                  <a16:creationId xmlns:a16="http://schemas.microsoft.com/office/drawing/2014/main" xmlns="" id="{1AB063BC-5497-FD41-9B58-4C27970B6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2400"/>
            </a:p>
          </p:txBody>
        </p:sp>
        <p:grpSp>
          <p:nvGrpSpPr>
            <p:cNvPr id="100" name="Group 62">
              <a:extLst>
                <a:ext uri="{FF2B5EF4-FFF2-40B4-BE49-F238E27FC236}">
                  <a16:creationId xmlns:a16="http://schemas.microsoft.com/office/drawing/2014/main" xmlns="" id="{20634D40-DCFD-8449-B684-70B31A9B35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2" name="AutoShape 63">
                <a:extLst>
                  <a:ext uri="{FF2B5EF4-FFF2-40B4-BE49-F238E27FC236}">
                    <a16:creationId xmlns:a16="http://schemas.microsoft.com/office/drawing/2014/main" xmlns="" id="{F58EC583-5702-1E4B-A6F2-1309BD877B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800">
                  <a:latin typeface="+mn-lt"/>
                </a:endParaRPr>
              </a:p>
            </p:txBody>
          </p:sp>
          <p:sp>
            <p:nvSpPr>
              <p:cNvPr id="113" name="AutoShape 64">
                <a:extLst>
                  <a:ext uri="{FF2B5EF4-FFF2-40B4-BE49-F238E27FC236}">
                    <a16:creationId xmlns:a16="http://schemas.microsoft.com/office/drawing/2014/main" xmlns="" id="{DB3DA62B-8007-4E4C-93B9-0F102F104C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800">
                  <a:latin typeface="+mn-lt"/>
                </a:endParaRPr>
              </a:p>
            </p:txBody>
          </p:sp>
        </p:grpSp>
        <p:sp>
          <p:nvSpPr>
            <p:cNvPr id="101" name="Rectangle 65">
              <a:extLst>
                <a:ext uri="{FF2B5EF4-FFF2-40B4-BE49-F238E27FC236}">
                  <a16:creationId xmlns:a16="http://schemas.microsoft.com/office/drawing/2014/main" xmlns="" id="{C31A2516-63E0-E740-AE1D-B59F6C976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800">
                <a:latin typeface="+mn-lt"/>
              </a:endParaRPr>
            </a:p>
          </p:txBody>
        </p:sp>
        <p:sp>
          <p:nvSpPr>
            <p:cNvPr id="102" name="Freeform 66">
              <a:extLst>
                <a:ext uri="{FF2B5EF4-FFF2-40B4-BE49-F238E27FC236}">
                  <a16:creationId xmlns:a16="http://schemas.microsoft.com/office/drawing/2014/main" xmlns="" id="{B8246D8C-6855-C044-A8BA-8F170062C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03" name="Freeform 67">
              <a:extLst>
                <a:ext uri="{FF2B5EF4-FFF2-40B4-BE49-F238E27FC236}">
                  <a16:creationId xmlns:a16="http://schemas.microsoft.com/office/drawing/2014/main" xmlns="" id="{924E847A-F4E0-DA4B-8D4E-A56FEAA69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04" name="Oval 68">
              <a:extLst>
                <a:ext uri="{FF2B5EF4-FFF2-40B4-BE49-F238E27FC236}">
                  <a16:creationId xmlns:a16="http://schemas.microsoft.com/office/drawing/2014/main" xmlns="" id="{8CAE9087-3C8E-F24B-A512-CEB1940F0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800">
                <a:latin typeface="+mn-lt"/>
              </a:endParaRPr>
            </a:p>
          </p:txBody>
        </p:sp>
        <p:sp>
          <p:nvSpPr>
            <p:cNvPr id="105" name="Freeform 69">
              <a:extLst>
                <a:ext uri="{FF2B5EF4-FFF2-40B4-BE49-F238E27FC236}">
                  <a16:creationId xmlns:a16="http://schemas.microsoft.com/office/drawing/2014/main" xmlns="" id="{2AB5FE84-419E-EB41-B46F-B90EA8215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06" name="AutoShape 70">
              <a:extLst>
                <a:ext uri="{FF2B5EF4-FFF2-40B4-BE49-F238E27FC236}">
                  <a16:creationId xmlns:a16="http://schemas.microsoft.com/office/drawing/2014/main" xmlns="" id="{5044997C-6434-1F4E-951A-58848E528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800">
                <a:latin typeface="+mn-lt"/>
              </a:endParaRPr>
            </a:p>
          </p:txBody>
        </p:sp>
        <p:sp>
          <p:nvSpPr>
            <p:cNvPr id="107" name="AutoShape 71">
              <a:extLst>
                <a:ext uri="{FF2B5EF4-FFF2-40B4-BE49-F238E27FC236}">
                  <a16:creationId xmlns:a16="http://schemas.microsoft.com/office/drawing/2014/main" xmlns="" id="{E0E22BAF-7B23-B44C-827B-153E00211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800">
                <a:latin typeface="+mn-lt"/>
              </a:endParaRPr>
            </a:p>
          </p:txBody>
        </p:sp>
        <p:sp>
          <p:nvSpPr>
            <p:cNvPr id="108" name="Oval 72">
              <a:extLst>
                <a:ext uri="{FF2B5EF4-FFF2-40B4-BE49-F238E27FC236}">
                  <a16:creationId xmlns:a16="http://schemas.microsoft.com/office/drawing/2014/main" xmlns="" id="{E772A220-7A72-DF4C-B4F3-72E6DDF1F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800">
                <a:latin typeface="+mn-lt"/>
              </a:endParaRPr>
            </a:p>
          </p:txBody>
        </p:sp>
        <p:sp>
          <p:nvSpPr>
            <p:cNvPr id="109" name="Oval 73">
              <a:extLst>
                <a:ext uri="{FF2B5EF4-FFF2-40B4-BE49-F238E27FC236}">
                  <a16:creationId xmlns:a16="http://schemas.microsoft.com/office/drawing/2014/main" xmlns="" id="{E52F28FE-19A0-E943-AE0B-DEEA92222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FF0000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10" name="Oval 74">
              <a:extLst>
                <a:ext uri="{FF2B5EF4-FFF2-40B4-BE49-F238E27FC236}">
                  <a16:creationId xmlns:a16="http://schemas.microsoft.com/office/drawing/2014/main" xmlns="" id="{679A21A4-960E-C240-991F-7A91E9D33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800">
                <a:latin typeface="+mn-lt"/>
              </a:endParaRPr>
            </a:p>
          </p:txBody>
        </p:sp>
        <p:sp>
          <p:nvSpPr>
            <p:cNvPr id="111" name="Rectangle 75">
              <a:extLst>
                <a:ext uri="{FF2B5EF4-FFF2-40B4-BE49-F238E27FC236}">
                  <a16:creationId xmlns:a16="http://schemas.microsoft.com/office/drawing/2014/main" xmlns="" id="{5FE7BC29-1F3A-FC4D-B0A8-E7C985E21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800">
                <a:latin typeface="+mn-lt"/>
              </a:endParaRPr>
            </a:p>
          </p:txBody>
        </p:sp>
      </p:grpSp>
      <p:grpSp>
        <p:nvGrpSpPr>
          <p:cNvPr id="120" name="Group 76">
            <a:extLst>
              <a:ext uri="{FF2B5EF4-FFF2-40B4-BE49-F238E27FC236}">
                <a16:creationId xmlns:a16="http://schemas.microsoft.com/office/drawing/2014/main" xmlns="" id="{ACB35F9B-E584-6A4C-A928-821626F2884C}"/>
              </a:ext>
            </a:extLst>
          </p:cNvPr>
          <p:cNvGrpSpPr>
            <a:grpSpLocks/>
          </p:cNvGrpSpPr>
          <p:nvPr/>
        </p:nvGrpSpPr>
        <p:grpSpPr bwMode="auto">
          <a:xfrm>
            <a:off x="7686054" y="1920396"/>
            <a:ext cx="698500" cy="709613"/>
            <a:chOff x="-44" y="1473"/>
            <a:chExt cx="981" cy="1105"/>
          </a:xfrm>
        </p:grpSpPr>
        <p:pic>
          <p:nvPicPr>
            <p:cNvPr id="121" name="Picture 77" descr="desktop_computer_stylized_medium">
              <a:extLst>
                <a:ext uri="{FF2B5EF4-FFF2-40B4-BE49-F238E27FC236}">
                  <a16:creationId xmlns:a16="http://schemas.microsoft.com/office/drawing/2014/main" xmlns="" id="{C2C6AD66-1148-CD4D-99F7-5C6A689E28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" name="Freeform 78">
              <a:extLst>
                <a:ext uri="{FF2B5EF4-FFF2-40B4-BE49-F238E27FC236}">
                  <a16:creationId xmlns:a16="http://schemas.microsoft.com/office/drawing/2014/main" xmlns="" id="{40C43405-EE8F-6348-9658-64CCF319FF4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2400"/>
            </a:p>
          </p:txBody>
        </p:sp>
      </p:grpSp>
      <p:sp>
        <p:nvSpPr>
          <p:cNvPr id="2" name="Freeform 1">
            <a:extLst>
              <a:ext uri="{FF2B5EF4-FFF2-40B4-BE49-F238E27FC236}">
                <a16:creationId xmlns:a16="http://schemas.microsoft.com/office/drawing/2014/main" xmlns="" id="{2D3ED81E-7823-0B47-8E02-97411E72ACFD}"/>
              </a:ext>
            </a:extLst>
          </p:cNvPr>
          <p:cNvSpPr/>
          <p:nvPr/>
        </p:nvSpPr>
        <p:spPr>
          <a:xfrm>
            <a:off x="8188984" y="4246818"/>
            <a:ext cx="1700270" cy="558188"/>
          </a:xfrm>
          <a:custGeom>
            <a:avLst/>
            <a:gdLst>
              <a:gd name="connsiteX0" fmla="*/ 0 w 1700270"/>
              <a:gd name="connsiteY0" fmla="*/ 389262 h 543498"/>
              <a:gd name="connsiteX1" fmla="*/ 1700270 w 1700270"/>
              <a:gd name="connsiteY1" fmla="*/ 0 h 543498"/>
              <a:gd name="connsiteX2" fmla="*/ 1696598 w 1700270"/>
              <a:gd name="connsiteY2" fmla="*/ 176269 h 543498"/>
              <a:gd name="connsiteX3" fmla="*/ 0 w 1700270"/>
              <a:gd name="connsiteY3" fmla="*/ 543498 h 543498"/>
              <a:gd name="connsiteX4" fmla="*/ 0 w 1700270"/>
              <a:gd name="connsiteY4" fmla="*/ 389262 h 543498"/>
              <a:gd name="connsiteX0" fmla="*/ 0 w 1700270"/>
              <a:gd name="connsiteY0" fmla="*/ 389262 h 558188"/>
              <a:gd name="connsiteX1" fmla="*/ 1700270 w 1700270"/>
              <a:gd name="connsiteY1" fmla="*/ 0 h 558188"/>
              <a:gd name="connsiteX2" fmla="*/ 1696598 w 1700270"/>
              <a:gd name="connsiteY2" fmla="*/ 176269 h 558188"/>
              <a:gd name="connsiteX3" fmla="*/ 7344 w 1700270"/>
              <a:gd name="connsiteY3" fmla="*/ 558188 h 558188"/>
              <a:gd name="connsiteX4" fmla="*/ 0 w 1700270"/>
              <a:gd name="connsiteY4" fmla="*/ 389262 h 558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00270" h="558188">
                <a:moveTo>
                  <a:pt x="0" y="389262"/>
                </a:moveTo>
                <a:lnTo>
                  <a:pt x="1700270" y="0"/>
                </a:lnTo>
                <a:lnTo>
                  <a:pt x="1696598" y="176269"/>
                </a:lnTo>
                <a:lnTo>
                  <a:pt x="7344" y="558188"/>
                </a:lnTo>
                <a:lnTo>
                  <a:pt x="0" y="389262"/>
                </a:lnTo>
                <a:close/>
              </a:path>
            </a:pathLst>
          </a:custGeom>
          <a:solidFill>
            <a:srgbClr val="0000A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AutoShape 21">
            <a:extLst>
              <a:ext uri="{FF2B5EF4-FFF2-40B4-BE49-F238E27FC236}">
                <a16:creationId xmlns:a16="http://schemas.microsoft.com/office/drawing/2014/main" xmlns="" id="{B46E8531-A1AB-F94F-83A6-88018FC274AE}"/>
              </a:ext>
            </a:extLst>
          </p:cNvPr>
          <p:cNvSpPr>
            <a:spLocks/>
          </p:cNvSpPr>
          <p:nvPr/>
        </p:nvSpPr>
        <p:spPr bwMode="auto">
          <a:xfrm flipH="1" flipV="1">
            <a:off x="8069711" y="4643267"/>
            <a:ext cx="99857" cy="161739"/>
          </a:xfrm>
          <a:prstGeom prst="rightBrace">
            <a:avLst>
              <a:gd name="adj1" fmla="val 2039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320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4BF7570-9992-2546-969B-3F60B086818E}"/>
              </a:ext>
            </a:extLst>
          </p:cNvPr>
          <p:cNvSpPr txBox="1"/>
          <p:nvPr/>
        </p:nvSpPr>
        <p:spPr>
          <a:xfrm>
            <a:off x="1056514" y="5919854"/>
            <a:ext cx="92572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i="1" dirty="0">
                <a:ea typeface="ＭＳ Ｐゴシック" panose="020B0600070205080204" pitchFamily="34" charset="-128"/>
              </a:rPr>
              <a:t>Non-persistent HTTP response time =  2RTT+ file transmission 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366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Persistent HTTP </a:t>
            </a:r>
            <a:r>
              <a:rPr lang="en-US" altLang="en-US" sz="3200" dirty="0">
                <a:cs typeface="Calibri" panose="020F0502020204030204" pitchFamily="34" charset="0"/>
              </a:rPr>
              <a:t>(HTTP 1.1)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xmlns="" id="{FB14C937-79C9-6642-8B0C-15F130B4AF98}"/>
              </a:ext>
            </a:extLst>
          </p:cNvPr>
          <p:cNvSpPr txBox="1">
            <a:spLocks noChangeArrowheads="1"/>
          </p:cNvSpPr>
          <p:nvPr/>
        </p:nvSpPr>
        <p:spPr>
          <a:xfrm>
            <a:off x="798691" y="1401764"/>
            <a:ext cx="5165547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188" indent="-215900">
              <a:buFont typeface="Wingdings" charset="0"/>
              <a:buNone/>
              <a:defRPr/>
            </a:pPr>
            <a:r>
              <a:rPr lang="en-US" sz="3200" i="1" dirty="0">
                <a:solidFill>
                  <a:srgbClr val="CC0000"/>
                </a:solidFill>
              </a:rPr>
              <a:t>Non-persistent HTTP issues:</a:t>
            </a:r>
          </a:p>
          <a:p>
            <a:pPr marL="346075" indent="-217488">
              <a:buFont typeface="Wingdings" charset="2"/>
              <a:buChar char="§"/>
              <a:defRPr/>
            </a:pPr>
            <a:r>
              <a:rPr lang="en-US" dirty="0"/>
              <a:t>requires 2 RTTs per object</a:t>
            </a:r>
          </a:p>
          <a:p>
            <a:pPr marL="346075" indent="-217488">
              <a:buFont typeface="Wingdings" charset="2"/>
              <a:buChar char="§"/>
              <a:defRPr/>
            </a:pPr>
            <a:r>
              <a:rPr lang="en-US" dirty="0"/>
              <a:t>OS overhead for </a:t>
            </a:r>
            <a:r>
              <a:rPr lang="en-US" i="1" dirty="0"/>
              <a:t>each</a:t>
            </a:r>
            <a:r>
              <a:rPr lang="en-US" dirty="0"/>
              <a:t> TCP connection</a:t>
            </a:r>
          </a:p>
          <a:p>
            <a:pPr marL="346075" indent="-217488">
              <a:buFont typeface="Wingdings" charset="2"/>
              <a:buChar char="§"/>
              <a:defRPr/>
            </a:pPr>
            <a:r>
              <a:rPr lang="en-US" dirty="0"/>
              <a:t>browsers often open multiple parallel TCP connections to fetch referenced objects in parallel</a:t>
            </a:r>
          </a:p>
          <a:p>
            <a:pPr>
              <a:buFont typeface="Wingdings" charset="0"/>
              <a:buNone/>
              <a:defRPr/>
            </a:pPr>
            <a:endParaRPr lang="en-US" sz="2400" dirty="0"/>
          </a:p>
          <a:p>
            <a:pPr>
              <a:buFont typeface="Wingdings" charset="2"/>
              <a:buChar char="§"/>
              <a:defRPr/>
            </a:pPr>
            <a:endParaRPr lang="en-US" sz="2000" dirty="0"/>
          </a:p>
          <a:p>
            <a:pPr>
              <a:buFont typeface="Wingdings" charset="2"/>
              <a:buChar char="§"/>
              <a:defRPr/>
            </a:pPr>
            <a:endParaRPr lang="en-US" sz="2000" dirty="0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xmlns="" id="{996C596E-CBDC-1641-AE54-06AC7ADF3759}"/>
              </a:ext>
            </a:extLst>
          </p:cNvPr>
          <p:cNvSpPr txBox="1">
            <a:spLocks noChangeArrowheads="1"/>
          </p:cNvSpPr>
          <p:nvPr/>
        </p:nvSpPr>
        <p:spPr>
          <a:xfrm>
            <a:off x="6227762" y="1414463"/>
            <a:ext cx="5735053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188" indent="-215900">
              <a:buFont typeface="Wingdings" charset="0"/>
              <a:buNone/>
              <a:defRPr/>
            </a:pPr>
            <a:r>
              <a:rPr lang="en-US" sz="3200" i="1" dirty="0">
                <a:solidFill>
                  <a:srgbClr val="CC0000"/>
                </a:solidFill>
              </a:rPr>
              <a:t>Persistent  HTTP </a:t>
            </a:r>
            <a:r>
              <a:rPr lang="en-US" sz="2400" i="1" dirty="0">
                <a:solidFill>
                  <a:srgbClr val="CC0000"/>
                </a:solidFill>
              </a:rPr>
              <a:t>(HTTP1.1):</a:t>
            </a:r>
            <a:endParaRPr lang="en-US" sz="3200" i="1" dirty="0">
              <a:solidFill>
                <a:srgbClr val="CC0000"/>
              </a:solidFill>
            </a:endParaRPr>
          </a:p>
          <a:p>
            <a:pPr marL="346075" indent="-217488">
              <a:buFont typeface="Wingdings" charset="2"/>
              <a:buChar char="§"/>
              <a:defRPr/>
            </a:pPr>
            <a:r>
              <a:rPr lang="en-US" dirty="0"/>
              <a:t>server leaves connection open after sending response</a:t>
            </a:r>
          </a:p>
          <a:p>
            <a:pPr marL="346075" indent="-217488">
              <a:buFont typeface="Wingdings" charset="2"/>
              <a:buChar char="§"/>
              <a:defRPr/>
            </a:pPr>
            <a:r>
              <a:rPr lang="en-US" dirty="0"/>
              <a:t>subsequent HTTP messages  between same client/server sent over open connection</a:t>
            </a:r>
          </a:p>
          <a:p>
            <a:pPr marL="346075" indent="-217488">
              <a:buFont typeface="Wingdings" charset="2"/>
              <a:buChar char="§"/>
              <a:defRPr/>
            </a:pPr>
            <a:r>
              <a:rPr lang="en-US" dirty="0"/>
              <a:t>client sends requests as soon as it encounters a referenced object</a:t>
            </a:r>
          </a:p>
          <a:p>
            <a:pPr marL="346075" indent="-217488">
              <a:buFont typeface="Wingdings" charset="2"/>
              <a:buChar char="§"/>
              <a:defRPr/>
            </a:pPr>
            <a:r>
              <a:rPr lang="en-US" dirty="0"/>
              <a:t>as little as one RTT for all the referenced objects (cutting response time in half)</a:t>
            </a:r>
          </a:p>
        </p:txBody>
      </p:sp>
    </p:spTree>
    <p:extLst>
      <p:ext uri="{BB962C8B-B14F-4D97-AF65-F5344CB8AC3E}">
        <p14:creationId xmlns:p14="http://schemas.microsoft.com/office/powerpoint/2010/main" val="699677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request </a:t>
            </a:r>
            <a:r>
              <a:rPr lang="en-US" altLang="en-US" dirty="0">
                <a:cs typeface="Calibri" panose="020F0502020204030204" pitchFamily="34" charset="0"/>
              </a:rPr>
              <a:t>m</a:t>
            </a:r>
            <a:r>
              <a:rPr lang="en-US" altLang="en-US" sz="4400" dirty="0">
                <a:cs typeface="Calibri" panose="020F0502020204030204" pitchFamily="34" charset="0"/>
              </a:rPr>
              <a:t>essage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xmlns="" id="{321ECE79-BBE4-B646-A84C-F451AD02B983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444625"/>
            <a:ext cx="11658600" cy="142920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363" indent="-233363"/>
            <a:r>
              <a:rPr lang="en-US" altLang="en-US" dirty="0">
                <a:ea typeface="ＭＳ Ｐゴシック" panose="020B0600070205080204" pitchFamily="34" charset="-128"/>
              </a:rPr>
              <a:t>two types of HTTP messages: </a:t>
            </a:r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1) </a:t>
            </a:r>
            <a:r>
              <a:rPr lang="en-US" altLang="en-US" i="1" dirty="0" smtClean="0">
                <a:solidFill>
                  <a:srgbClr val="CC0000"/>
                </a:solidFill>
                <a:ea typeface="ＭＳ Ｐゴシック" panose="020B0600070205080204" pitchFamily="34" charset="-128"/>
              </a:rPr>
              <a:t>request</a:t>
            </a: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dirty="0" smtClean="0">
                <a:solidFill>
                  <a:srgbClr val="CC0000"/>
                </a:solidFill>
                <a:ea typeface="ＭＳ Ｐゴシック" panose="020B0600070205080204" pitchFamily="34" charset="-128"/>
              </a:rPr>
              <a:t>and 2) </a:t>
            </a:r>
            <a:r>
              <a:rPr lang="en-US" altLang="en-US" i="1" dirty="0" smtClean="0">
                <a:solidFill>
                  <a:srgbClr val="CC0000"/>
                </a:solidFill>
                <a:ea typeface="ＭＳ Ｐゴシック" panose="020B0600070205080204" pitchFamily="34" charset="-128"/>
              </a:rPr>
              <a:t>response</a:t>
            </a:r>
            <a:endParaRPr lang="en-US" altLang="en-US" i="1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 marL="233363" indent="-233363"/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HTTP request message:</a:t>
            </a:r>
          </a:p>
          <a:p>
            <a:pPr marL="685800" lvl="1" indent="-228600"/>
            <a:r>
              <a:rPr lang="en-US" altLang="en-US" dirty="0">
                <a:ea typeface="ＭＳ Ｐゴシック" panose="020B0600070205080204" pitchFamily="34" charset="-128"/>
              </a:rPr>
              <a:t>ASCII (human-readable format)</a:t>
            </a:r>
            <a:endParaRPr lang="en-US" altLang="en-US" dirty="0">
              <a:solidFill>
                <a:schemeClr val="accent2"/>
              </a:solidFill>
              <a:ea typeface="ＭＳ Ｐゴシック" panose="020B0600070205080204" pitchFamily="34" charset="-12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4DD5DD9A-E127-8F43-9C99-9843ABB44763}"/>
              </a:ext>
            </a:extLst>
          </p:cNvPr>
          <p:cNvGrpSpPr/>
          <p:nvPr/>
        </p:nvGrpSpPr>
        <p:grpSpPr>
          <a:xfrm>
            <a:off x="304572" y="2554061"/>
            <a:ext cx="10054299" cy="4140199"/>
            <a:chOff x="304572" y="2554061"/>
            <a:chExt cx="10054299" cy="4140199"/>
          </a:xfrm>
        </p:grpSpPr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xmlns="" id="{B6C3DB56-846D-8E43-9453-A014201ECC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572" y="3050979"/>
              <a:ext cx="3163155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solidFill>
                    <a:srgbClr val="000099"/>
                  </a:solidFill>
                  <a:latin typeface="+mn-lt"/>
                </a:rPr>
                <a:t>request line (GET, POST,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solidFill>
                    <a:srgbClr val="000099"/>
                  </a:solidFill>
                  <a:latin typeface="+mn-lt"/>
                </a:rPr>
                <a:t>HEAD commands)</a:t>
              </a:r>
              <a:endParaRPr lang="en-US" altLang="en-US" sz="2800" dirty="0">
                <a:solidFill>
                  <a:srgbClr val="000099"/>
                </a:solidFill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xmlns="" id="{F99FE866-6980-924B-874D-1A6DA4392C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6709" y="3625624"/>
              <a:ext cx="149225" cy="1957387"/>
            </a:xfrm>
            <a:custGeom>
              <a:avLst/>
              <a:gdLst>
                <a:gd name="T0" fmla="*/ 2147483647 w 150"/>
                <a:gd name="T1" fmla="*/ 2147483647 h 924"/>
                <a:gd name="T2" fmla="*/ 0 w 150"/>
                <a:gd name="T3" fmla="*/ 0 h 924"/>
                <a:gd name="T4" fmla="*/ 0 w 150"/>
                <a:gd name="T5" fmla="*/ 2147483647 h 924"/>
                <a:gd name="T6" fmla="*/ 2147483647 w 150"/>
                <a:gd name="T7" fmla="*/ 2147483647 h 9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0"/>
                <a:gd name="T13" fmla="*/ 0 h 924"/>
                <a:gd name="T14" fmla="*/ 150 w 150"/>
                <a:gd name="T15" fmla="*/ 924 h 9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0" h="924">
                  <a:moveTo>
                    <a:pt x="122" y="6"/>
                  </a:moveTo>
                  <a:lnTo>
                    <a:pt x="0" y="0"/>
                  </a:lnTo>
                  <a:lnTo>
                    <a:pt x="0" y="924"/>
                  </a:lnTo>
                  <a:lnTo>
                    <a:pt x="150" y="918"/>
                  </a:lnTo>
                </a:path>
              </a:pathLst>
            </a:custGeom>
            <a:noFill/>
            <a:ln w="1905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8">
              <a:extLst>
                <a:ext uri="{FF2B5EF4-FFF2-40B4-BE49-F238E27FC236}">
                  <a16:creationId xmlns:a16="http://schemas.microsoft.com/office/drawing/2014/main" xmlns="" id="{9D189007-4005-564E-B421-909E89E9EF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3669" y="4143149"/>
              <a:ext cx="1071127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solidFill>
                    <a:srgbClr val="000099"/>
                  </a:solidFill>
                  <a:latin typeface="+mn-lt"/>
                </a:rPr>
                <a:t>header</a:t>
              </a:r>
            </a:p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solidFill>
                    <a:srgbClr val="000099"/>
                  </a:solidFill>
                  <a:latin typeface="+mn-lt"/>
                </a:rPr>
                <a:t> lines</a:t>
              </a:r>
              <a:endParaRPr lang="en-US" altLang="en-US" sz="2800" dirty="0">
                <a:solidFill>
                  <a:srgbClr val="000099"/>
                </a:solidFill>
                <a:latin typeface="+mn-lt"/>
              </a:endParaRPr>
            </a:p>
          </p:txBody>
        </p:sp>
        <p:sp>
          <p:nvSpPr>
            <p:cNvPr id="14" name="Line 10">
              <a:extLst>
                <a:ext uri="{FF2B5EF4-FFF2-40B4-BE49-F238E27FC236}">
                  <a16:creationId xmlns:a16="http://schemas.microsoft.com/office/drawing/2014/main" xmlns="" id="{6CA9B985-18B2-6347-8689-E6656C0254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9984" y="5710011"/>
              <a:ext cx="511175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Text Box 11">
              <a:extLst>
                <a:ext uri="{FF2B5EF4-FFF2-40B4-BE49-F238E27FC236}">
                  <a16:creationId xmlns:a16="http://schemas.microsoft.com/office/drawing/2014/main" xmlns="" id="{DED6E2F1-61E7-E241-8E2D-ADEC5E8A80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905" y="5548787"/>
              <a:ext cx="2771636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>
                  <a:solidFill>
                    <a:srgbClr val="000099"/>
                  </a:solidFill>
                  <a:latin typeface="+mn-lt"/>
                </a:rPr>
                <a:t>carriage return, line feed at start of line indicates end of header lines</a:t>
              </a:r>
              <a:endParaRPr lang="en-US" altLang="en-US" sz="2400" dirty="0">
                <a:solidFill>
                  <a:srgbClr val="000099"/>
                </a:solidFill>
                <a:latin typeface="+mn-lt"/>
              </a:endParaRPr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xmlns="" id="{BFD47085-0DF5-F849-923F-6D72DB7EBE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0046" y="3323999"/>
              <a:ext cx="6140450" cy="2589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altLang="en-US" sz="1800" b="1" dirty="0">
                  <a:latin typeface="Courier New" panose="02070309020205020404" pitchFamily="49" charset="0"/>
                </a:rPr>
                <a:t>GET /</a:t>
              </a:r>
              <a:r>
                <a:rPr lang="en-US" altLang="en-US" sz="1800" b="1" dirty="0" err="1">
                  <a:latin typeface="Courier New" panose="02070309020205020404" pitchFamily="49" charset="0"/>
                </a:rPr>
                <a:t>index.html</a:t>
              </a:r>
              <a:r>
                <a:rPr lang="en-US" altLang="en-US" sz="1800" b="1" dirty="0">
                  <a:latin typeface="Courier New" panose="02070309020205020404" pitchFamily="49" charset="0"/>
                </a:rPr>
                <a:t> HTTP/1.1\r\n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altLang="en-US" sz="1800" b="1" dirty="0">
                  <a:latin typeface="Courier New" panose="02070309020205020404" pitchFamily="49" charset="0"/>
                </a:rPr>
                <a:t>Host: www-</a:t>
              </a:r>
              <a:r>
                <a:rPr lang="en-US" altLang="en-US" sz="1800" b="1" dirty="0" err="1">
                  <a:latin typeface="Courier New" panose="02070309020205020404" pitchFamily="49" charset="0"/>
                </a:rPr>
                <a:t>net.cs.umass.edu</a:t>
              </a:r>
              <a:r>
                <a:rPr lang="en-US" altLang="en-US" sz="1800" b="1" dirty="0">
                  <a:latin typeface="Courier New" panose="02070309020205020404" pitchFamily="49" charset="0"/>
                </a:rPr>
                <a:t>\r\n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altLang="en-US" sz="1800" b="1" dirty="0">
                  <a:latin typeface="Courier New" panose="02070309020205020404" pitchFamily="49" charset="0"/>
                </a:rPr>
                <a:t>User-Agent: Firefox/3.6.10\r\n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altLang="en-US" sz="1800" b="1" dirty="0">
                  <a:latin typeface="Courier New" panose="02070309020205020404" pitchFamily="49" charset="0"/>
                </a:rPr>
                <a:t>Accept: text/</a:t>
              </a:r>
              <a:r>
                <a:rPr lang="en-US" altLang="en-US" sz="1800" b="1" dirty="0" err="1">
                  <a:latin typeface="Courier New" panose="02070309020205020404" pitchFamily="49" charset="0"/>
                </a:rPr>
                <a:t>html,application</a:t>
              </a:r>
              <a:r>
                <a:rPr lang="en-US" altLang="en-US" sz="1800" b="1" dirty="0">
                  <a:latin typeface="Courier New" panose="02070309020205020404" pitchFamily="49" charset="0"/>
                </a:rPr>
                <a:t>/</a:t>
              </a:r>
              <a:r>
                <a:rPr lang="en-US" altLang="en-US" sz="1800" b="1" dirty="0" err="1">
                  <a:latin typeface="Courier New" panose="02070309020205020404" pitchFamily="49" charset="0"/>
                </a:rPr>
                <a:t>xhtml+xml</a:t>
              </a:r>
              <a:r>
                <a:rPr lang="en-US" altLang="en-US" sz="1800" b="1" dirty="0">
                  <a:latin typeface="Courier New" panose="02070309020205020404" pitchFamily="49" charset="0"/>
                </a:rPr>
                <a:t>\r\n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altLang="en-US" sz="1800" b="1" dirty="0">
                  <a:latin typeface="Courier New" panose="02070309020205020404" pitchFamily="49" charset="0"/>
                </a:rPr>
                <a:t>Accept-Language: </a:t>
              </a:r>
              <a:r>
                <a:rPr lang="en-US" altLang="en-US" sz="1800" b="1" dirty="0" err="1">
                  <a:latin typeface="Courier New" panose="02070309020205020404" pitchFamily="49" charset="0"/>
                </a:rPr>
                <a:t>en-us,en;q</a:t>
              </a:r>
              <a:r>
                <a:rPr lang="en-US" altLang="en-US" sz="1800" b="1" dirty="0">
                  <a:latin typeface="Courier New" panose="02070309020205020404" pitchFamily="49" charset="0"/>
                </a:rPr>
                <a:t>=0.5\r\n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altLang="en-US" sz="1800" b="1" dirty="0">
                  <a:latin typeface="Courier New" panose="02070309020205020404" pitchFamily="49" charset="0"/>
                </a:rPr>
                <a:t>Accept-Encoding: </a:t>
              </a:r>
              <a:r>
                <a:rPr lang="en-US" altLang="en-US" sz="1800" b="1" dirty="0" err="1">
                  <a:latin typeface="Courier New" panose="02070309020205020404" pitchFamily="49" charset="0"/>
                </a:rPr>
                <a:t>gzip,deflate</a:t>
              </a:r>
              <a:r>
                <a:rPr lang="en-US" altLang="en-US" sz="1800" b="1" dirty="0">
                  <a:latin typeface="Courier New" panose="02070309020205020404" pitchFamily="49" charset="0"/>
                </a:rPr>
                <a:t>\r\n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altLang="en-US" sz="1800" b="1" dirty="0">
                  <a:latin typeface="Courier New" panose="02070309020205020404" pitchFamily="49" charset="0"/>
                </a:rPr>
                <a:t>Accept-Charset: ISO-8859-1,utf-8;q=0.7\r\n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altLang="en-US" sz="1800" b="1" dirty="0">
                  <a:latin typeface="Courier New" panose="02070309020205020404" pitchFamily="49" charset="0"/>
                </a:rPr>
                <a:t>Keep-Alive: 115\r\n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altLang="en-US" sz="1800" b="1" dirty="0">
                  <a:latin typeface="Courier New" panose="02070309020205020404" pitchFamily="49" charset="0"/>
                </a:rPr>
                <a:t>Connection: keep-alive\r\n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altLang="en-US" sz="1800" b="1" dirty="0">
                  <a:latin typeface="Courier New" panose="02070309020205020404" pitchFamily="49" charset="0"/>
                </a:rPr>
                <a:t>\r\n</a:t>
              </a:r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xmlns="" id="{3F48C300-763A-B54F-B0A7-01186DC913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24296" y="2841399"/>
              <a:ext cx="166688" cy="514350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xmlns="" id="{6AE4689D-D5B0-114C-898E-652FE11462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75096" y="2554061"/>
              <a:ext cx="278377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dirty="0">
                  <a:latin typeface="+mn-lt"/>
                </a:rPr>
                <a:t>carriage return character</a:t>
              </a:r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xmlns="" id="{BF17A6F8-488B-914D-8FD5-D0101F59C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7496" y="2850924"/>
              <a:ext cx="21493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dirty="0">
                  <a:latin typeface="+mn-lt"/>
                </a:rPr>
                <a:t>line-feed character</a:t>
              </a: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xmlns="" id="{36550CDC-D06A-104F-8EAA-1F14B32B7A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05284" y="3150961"/>
              <a:ext cx="80962" cy="252413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xmlns="" id="{1EF472D7-7102-3D4F-8FB9-8F68234EDD8D}"/>
                </a:ext>
              </a:extLst>
            </p:cNvPr>
            <p:cNvCxnSpPr>
              <a:cxnSpLocks/>
            </p:cNvCxnSpPr>
            <p:nvPr/>
          </p:nvCxnSpPr>
          <p:spPr>
            <a:xfrm>
              <a:off x="2558822" y="3471412"/>
              <a:ext cx="1436915" cy="0"/>
            </a:xfrm>
            <a:prstGeom prst="straightConnector1">
              <a:avLst/>
            </a:prstGeom>
            <a:ln w="19050"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1">
              <a:extLst>
                <a:ext uri="{FF2B5EF4-FFF2-40B4-BE49-F238E27FC236}">
                  <a16:creationId xmlns:a16="http://schemas.microsoft.com/office/drawing/2014/main" xmlns="" id="{EF5DEF07-DC95-F343-B9CA-F9BD40638A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0046" y="6171973"/>
              <a:ext cx="4506913" cy="522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400" dirty="0"/>
                <a:t>* Check out the online interactive exercises for more examples: h</a:t>
              </a:r>
              <a:r>
                <a:rPr lang="en-US" altLang="en-US" sz="1200" dirty="0"/>
                <a:t>ttp://</a:t>
              </a:r>
              <a:r>
                <a:rPr lang="en-US" altLang="en-US" sz="1200" dirty="0" err="1"/>
                <a:t>gaia.cs.umass.edu</a:t>
              </a:r>
              <a:r>
                <a:rPr lang="en-US" altLang="en-US" sz="1200" dirty="0"/>
                <a:t>/</a:t>
              </a:r>
              <a:r>
                <a:rPr lang="en-US" altLang="en-US" sz="1200" dirty="0" err="1"/>
                <a:t>kurose_ross</a:t>
              </a:r>
              <a:r>
                <a:rPr lang="en-US" altLang="en-US" sz="1200" dirty="0"/>
                <a:t>/interactive/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4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HTTP request message: general format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22" name="Text Box 9">
            <a:extLst>
              <a:ext uri="{FF2B5EF4-FFF2-40B4-BE49-F238E27FC236}">
                <a16:creationId xmlns:a16="http://schemas.microsoft.com/office/drawing/2014/main" xmlns="" id="{CAB95007-032C-1849-B460-3E4D66901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4472" y="1752600"/>
            <a:ext cx="1030287" cy="641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>
                <a:solidFill>
                  <a:srgbClr val="CC0000"/>
                </a:solidFill>
              </a:rPr>
              <a:t>request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>
                <a:solidFill>
                  <a:srgbClr val="CC0000"/>
                </a:solidFill>
              </a:rPr>
              <a:t>line</a:t>
            </a:r>
          </a:p>
        </p:txBody>
      </p:sp>
      <p:sp>
        <p:nvSpPr>
          <p:cNvPr id="23" name="Text Box 11">
            <a:extLst>
              <a:ext uri="{FF2B5EF4-FFF2-40B4-BE49-F238E27FC236}">
                <a16:creationId xmlns:a16="http://schemas.microsoft.com/office/drawing/2014/main" xmlns="" id="{0CB38CB5-45F7-C847-AE71-4F4C5B6FD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709" y="2768600"/>
            <a:ext cx="974725" cy="641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>
                <a:solidFill>
                  <a:srgbClr val="CC0000"/>
                </a:solidFill>
              </a:rPr>
              <a:t>header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>
                <a:solidFill>
                  <a:srgbClr val="CC0000"/>
                </a:solidFill>
              </a:rPr>
              <a:t>lines</a:t>
            </a: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xmlns="" id="{E645219C-0302-5E46-AE15-64BD65153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5534" y="2338387"/>
            <a:ext cx="346075" cy="1819275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xmlns="" id="{CAFB1EEC-4EBF-6E41-B9CB-E4B01F156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2184" y="2287587"/>
            <a:ext cx="290513" cy="2017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xmlns="" id="{009CBE09-CA75-A245-B675-9042959F1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0484" y="4394200"/>
            <a:ext cx="712788" cy="1216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7" name="Text Box 16">
            <a:extLst>
              <a:ext uri="{FF2B5EF4-FFF2-40B4-BE49-F238E27FC236}">
                <a16:creationId xmlns:a16="http://schemas.microsoft.com/office/drawing/2014/main" xmlns="" id="{548D8BC5-234B-1340-9AE4-2B7B4CCDF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1297" y="4959350"/>
            <a:ext cx="735012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>
                <a:solidFill>
                  <a:srgbClr val="CC0000"/>
                </a:solidFill>
              </a:rPr>
              <a:t>body</a:t>
            </a:r>
          </a:p>
        </p:txBody>
      </p:sp>
      <p:sp>
        <p:nvSpPr>
          <p:cNvPr id="28" name="Rectangle 20">
            <a:extLst>
              <a:ext uri="{FF2B5EF4-FFF2-40B4-BE49-F238E27FC236}">
                <a16:creationId xmlns:a16="http://schemas.microsoft.com/office/drawing/2014/main" xmlns="" id="{8BE22D39-29E3-DB4E-8BB7-B366225B4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9934" y="1789112"/>
            <a:ext cx="5638800" cy="44608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9" name="Line 22">
            <a:extLst>
              <a:ext uri="{FF2B5EF4-FFF2-40B4-BE49-F238E27FC236}">
                <a16:creationId xmlns:a16="http://schemas.microsoft.com/office/drawing/2014/main" xmlns="" id="{E517253E-A702-9F4B-B692-C2D297AE8C5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8034" y="179228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3">
            <a:extLst>
              <a:ext uri="{FF2B5EF4-FFF2-40B4-BE49-F238E27FC236}">
                <a16:creationId xmlns:a16="http://schemas.microsoft.com/office/drawing/2014/main" xmlns="" id="{9A3ED2FB-B252-C14F-B645-419D36E7F2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2534" y="179228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24">
            <a:extLst>
              <a:ext uri="{FF2B5EF4-FFF2-40B4-BE49-F238E27FC236}">
                <a16:creationId xmlns:a16="http://schemas.microsoft.com/office/drawing/2014/main" xmlns="" id="{B2B62443-11E1-2B43-9DCA-4AE37C7E46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0634" y="179228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25">
            <a:extLst>
              <a:ext uri="{FF2B5EF4-FFF2-40B4-BE49-F238E27FC236}">
                <a16:creationId xmlns:a16="http://schemas.microsoft.com/office/drawing/2014/main" xmlns="" id="{04CD6AC7-3A8A-D448-ACDB-A1CAAAE4584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6084" y="178593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26">
            <a:extLst>
              <a:ext uri="{FF2B5EF4-FFF2-40B4-BE49-F238E27FC236}">
                <a16:creationId xmlns:a16="http://schemas.microsoft.com/office/drawing/2014/main" xmlns="" id="{116D6361-9C6F-384A-940A-DBEE668B173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7834" y="179228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27">
            <a:extLst>
              <a:ext uri="{FF2B5EF4-FFF2-40B4-BE49-F238E27FC236}">
                <a16:creationId xmlns:a16="http://schemas.microsoft.com/office/drawing/2014/main" xmlns="" id="{66F44111-14E6-9047-91A5-35A207202184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5984" y="179228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Text Box 28">
            <a:extLst>
              <a:ext uri="{FF2B5EF4-FFF2-40B4-BE49-F238E27FC236}">
                <a16:creationId xmlns:a16="http://schemas.microsoft.com/office/drawing/2014/main" xmlns="" id="{101CD148-0CB6-B64C-B622-686BDB7E05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3759" y="1816100"/>
            <a:ext cx="1030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000099"/>
                </a:solidFill>
              </a:rPr>
              <a:t>method</a:t>
            </a:r>
          </a:p>
        </p:txBody>
      </p:sp>
      <p:sp>
        <p:nvSpPr>
          <p:cNvPr id="36" name="Text Box 29">
            <a:extLst>
              <a:ext uri="{FF2B5EF4-FFF2-40B4-BE49-F238E27FC236}">
                <a16:creationId xmlns:a16="http://schemas.microsoft.com/office/drawing/2014/main" xmlns="" id="{803519B0-4DBB-0446-BBAE-FAAA993CE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5809" y="1797050"/>
            <a:ext cx="452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sp</a:t>
            </a:r>
          </a:p>
        </p:txBody>
      </p:sp>
      <p:sp>
        <p:nvSpPr>
          <p:cNvPr id="37" name="Text Box 30">
            <a:extLst>
              <a:ext uri="{FF2B5EF4-FFF2-40B4-BE49-F238E27FC236}">
                <a16:creationId xmlns:a16="http://schemas.microsoft.com/office/drawing/2014/main" xmlns="" id="{2AE14B96-40BF-C44D-B226-47487039E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1109" y="1803400"/>
            <a:ext cx="452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sp</a:t>
            </a:r>
          </a:p>
        </p:txBody>
      </p:sp>
      <p:sp>
        <p:nvSpPr>
          <p:cNvPr id="38" name="Text Box 31">
            <a:extLst>
              <a:ext uri="{FF2B5EF4-FFF2-40B4-BE49-F238E27FC236}">
                <a16:creationId xmlns:a16="http://schemas.microsoft.com/office/drawing/2014/main" xmlns="" id="{499F11E0-2AAF-FC46-939A-844BDA8F3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709" y="1809750"/>
            <a:ext cx="403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cr</a:t>
            </a:r>
          </a:p>
        </p:txBody>
      </p:sp>
      <p:sp>
        <p:nvSpPr>
          <p:cNvPr id="39" name="Text Box 32">
            <a:extLst>
              <a:ext uri="{FF2B5EF4-FFF2-40B4-BE49-F238E27FC236}">
                <a16:creationId xmlns:a16="http://schemas.microsoft.com/office/drawing/2014/main" xmlns="" id="{74D4C75B-57F6-FC40-A95F-1EA89717E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609" y="1820862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lf</a:t>
            </a:r>
          </a:p>
        </p:txBody>
      </p:sp>
      <p:sp>
        <p:nvSpPr>
          <p:cNvPr id="40" name="Text Box 33">
            <a:extLst>
              <a:ext uri="{FF2B5EF4-FFF2-40B4-BE49-F238E27FC236}">
                <a16:creationId xmlns:a16="http://schemas.microsoft.com/office/drawing/2014/main" xmlns="" id="{D3CF33E6-800C-C34A-9A2F-34E6C60D7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1659" y="1803400"/>
            <a:ext cx="1003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000099"/>
                </a:solidFill>
              </a:rPr>
              <a:t>version</a:t>
            </a:r>
          </a:p>
        </p:txBody>
      </p:sp>
      <p:sp>
        <p:nvSpPr>
          <p:cNvPr id="41" name="Text Box 34">
            <a:extLst>
              <a:ext uri="{FF2B5EF4-FFF2-40B4-BE49-F238E27FC236}">
                <a16:creationId xmlns:a16="http://schemas.microsoft.com/office/drawing/2014/main" xmlns="" id="{064EF9BF-C55B-3041-B970-830A38934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6059" y="1816100"/>
            <a:ext cx="693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000099"/>
                </a:solidFill>
              </a:rPr>
              <a:t>URL</a:t>
            </a:r>
          </a:p>
        </p:txBody>
      </p:sp>
      <p:grpSp>
        <p:nvGrpSpPr>
          <p:cNvPr id="42" name="Group 45">
            <a:extLst>
              <a:ext uri="{FF2B5EF4-FFF2-40B4-BE49-F238E27FC236}">
                <a16:creationId xmlns:a16="http://schemas.microsoft.com/office/drawing/2014/main" xmlns="" id="{BF6F8085-A891-0844-94E6-578F3AFB50F3}"/>
              </a:ext>
            </a:extLst>
          </p:cNvPr>
          <p:cNvGrpSpPr>
            <a:grpSpLocks/>
          </p:cNvGrpSpPr>
          <p:nvPr/>
        </p:nvGrpSpPr>
        <p:grpSpPr bwMode="auto">
          <a:xfrm>
            <a:off x="2879934" y="2233612"/>
            <a:ext cx="4565650" cy="446088"/>
            <a:chOff x="192" y="1894"/>
            <a:chExt cx="2876" cy="281"/>
          </a:xfrm>
        </p:grpSpPr>
        <p:sp>
          <p:nvSpPr>
            <p:cNvPr id="43" name="Rectangle 35">
              <a:extLst>
                <a:ext uri="{FF2B5EF4-FFF2-40B4-BE49-F238E27FC236}">
                  <a16:creationId xmlns:a16="http://schemas.microsoft.com/office/drawing/2014/main" xmlns="" id="{37CAD855-2626-9B4A-87B5-BBFB2178C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894"/>
              <a:ext cx="2876" cy="2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4" name="Line 36">
              <a:extLst>
                <a:ext uri="{FF2B5EF4-FFF2-40B4-BE49-F238E27FC236}">
                  <a16:creationId xmlns:a16="http://schemas.microsoft.com/office/drawing/2014/main" xmlns="" id="{3882514C-0ADC-584D-AAA4-E4882A2DE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0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37">
              <a:extLst>
                <a:ext uri="{FF2B5EF4-FFF2-40B4-BE49-F238E27FC236}">
                  <a16:creationId xmlns:a16="http://schemas.microsoft.com/office/drawing/2014/main" xmlns="" id="{688D6AB7-0894-2D4A-9EE3-CF8BFFA306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2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39">
              <a:extLst>
                <a:ext uri="{FF2B5EF4-FFF2-40B4-BE49-F238E27FC236}">
                  <a16:creationId xmlns:a16="http://schemas.microsoft.com/office/drawing/2014/main" xmlns="" id="{8B2EC183-EB51-C64D-B126-461EEABB1E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40">
              <a:extLst>
                <a:ext uri="{FF2B5EF4-FFF2-40B4-BE49-F238E27FC236}">
                  <a16:creationId xmlns:a16="http://schemas.microsoft.com/office/drawing/2014/main" xmlns="" id="{4DE50D57-00F5-134E-8F40-FDF9648315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4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 Box 41">
              <a:extLst>
                <a:ext uri="{FF2B5EF4-FFF2-40B4-BE49-F238E27FC236}">
                  <a16:creationId xmlns:a16="http://schemas.microsoft.com/office/drawing/2014/main" xmlns="" id="{54D07A27-F429-7046-9310-3A09B05FC6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8" y="1907"/>
              <a:ext cx="25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/>
                <a:t>cr</a:t>
              </a:r>
            </a:p>
          </p:txBody>
        </p:sp>
        <p:sp>
          <p:nvSpPr>
            <p:cNvPr id="49" name="Text Box 42">
              <a:extLst>
                <a:ext uri="{FF2B5EF4-FFF2-40B4-BE49-F238E27FC236}">
                  <a16:creationId xmlns:a16="http://schemas.microsoft.com/office/drawing/2014/main" xmlns="" id="{C2EDB89B-2549-D34E-89E0-D083A1B07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4" y="191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/>
                <a:t>lf</a:t>
              </a:r>
            </a:p>
          </p:txBody>
        </p:sp>
        <p:sp>
          <p:nvSpPr>
            <p:cNvPr id="50" name="Text Box 43">
              <a:extLst>
                <a:ext uri="{FF2B5EF4-FFF2-40B4-BE49-F238E27FC236}">
                  <a16:creationId xmlns:a16="http://schemas.microsoft.com/office/drawing/2014/main" xmlns="" id="{C7C20190-6015-D24C-8172-D12AE7AC2A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2" y="1895"/>
              <a:ext cx="4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solidFill>
                    <a:srgbClr val="000099"/>
                  </a:solidFill>
                </a:rPr>
                <a:t>value</a:t>
              </a:r>
            </a:p>
          </p:txBody>
        </p:sp>
        <p:sp>
          <p:nvSpPr>
            <p:cNvPr id="51" name="Text Box 44">
              <a:extLst>
                <a:ext uri="{FF2B5EF4-FFF2-40B4-BE49-F238E27FC236}">
                  <a16:creationId xmlns:a16="http://schemas.microsoft.com/office/drawing/2014/main" xmlns="" id="{9D74CC94-6309-9D4E-AC17-7834303D29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" y="1903"/>
              <a:ext cx="13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solidFill>
                    <a:srgbClr val="000099"/>
                  </a:solidFill>
                </a:rPr>
                <a:t>header field name</a:t>
              </a:r>
            </a:p>
          </p:txBody>
        </p:sp>
      </p:grpSp>
      <p:grpSp>
        <p:nvGrpSpPr>
          <p:cNvPr id="52" name="Group 46">
            <a:extLst>
              <a:ext uri="{FF2B5EF4-FFF2-40B4-BE49-F238E27FC236}">
                <a16:creationId xmlns:a16="http://schemas.microsoft.com/office/drawing/2014/main" xmlns="" id="{F763EEE1-8E7B-574B-9B12-C02141AD6CEE}"/>
              </a:ext>
            </a:extLst>
          </p:cNvPr>
          <p:cNvGrpSpPr>
            <a:grpSpLocks/>
          </p:cNvGrpSpPr>
          <p:nvPr/>
        </p:nvGrpSpPr>
        <p:grpSpPr bwMode="auto">
          <a:xfrm>
            <a:off x="2876759" y="3709987"/>
            <a:ext cx="4565650" cy="446088"/>
            <a:chOff x="192" y="1894"/>
            <a:chExt cx="2876" cy="281"/>
          </a:xfrm>
        </p:grpSpPr>
        <p:sp>
          <p:nvSpPr>
            <p:cNvPr id="53" name="Rectangle 47">
              <a:extLst>
                <a:ext uri="{FF2B5EF4-FFF2-40B4-BE49-F238E27FC236}">
                  <a16:creationId xmlns:a16="http://schemas.microsoft.com/office/drawing/2014/main" xmlns="" id="{03037660-A975-AC41-9666-AFCCB3A0B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894"/>
              <a:ext cx="2876" cy="2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" name="Line 48">
              <a:extLst>
                <a:ext uri="{FF2B5EF4-FFF2-40B4-BE49-F238E27FC236}">
                  <a16:creationId xmlns:a16="http://schemas.microsoft.com/office/drawing/2014/main" xmlns="" id="{7DAB01D5-4A4C-0848-8E97-EACA6A36C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0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Line 49">
              <a:extLst>
                <a:ext uri="{FF2B5EF4-FFF2-40B4-BE49-F238E27FC236}">
                  <a16:creationId xmlns:a16="http://schemas.microsoft.com/office/drawing/2014/main" xmlns="" id="{12F13F26-AF12-FB44-9B51-D0B6944C6D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2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50">
              <a:extLst>
                <a:ext uri="{FF2B5EF4-FFF2-40B4-BE49-F238E27FC236}">
                  <a16:creationId xmlns:a16="http://schemas.microsoft.com/office/drawing/2014/main" xmlns="" id="{781CA89B-E86B-F843-A1BF-431E567922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51">
              <a:extLst>
                <a:ext uri="{FF2B5EF4-FFF2-40B4-BE49-F238E27FC236}">
                  <a16:creationId xmlns:a16="http://schemas.microsoft.com/office/drawing/2014/main" xmlns="" id="{74911CA3-EBEB-B142-B4CE-F45E577120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4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 Box 52">
              <a:extLst>
                <a:ext uri="{FF2B5EF4-FFF2-40B4-BE49-F238E27FC236}">
                  <a16:creationId xmlns:a16="http://schemas.microsoft.com/office/drawing/2014/main" xmlns="" id="{D0CB791B-5400-C244-A515-F158CF9A23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8" y="1907"/>
              <a:ext cx="25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/>
                <a:t>cr</a:t>
              </a:r>
            </a:p>
          </p:txBody>
        </p:sp>
        <p:sp>
          <p:nvSpPr>
            <p:cNvPr id="59" name="Text Box 53">
              <a:extLst>
                <a:ext uri="{FF2B5EF4-FFF2-40B4-BE49-F238E27FC236}">
                  <a16:creationId xmlns:a16="http://schemas.microsoft.com/office/drawing/2014/main" xmlns="" id="{E5D6E821-F80C-7046-BF97-7FA229C97D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4" y="191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/>
                <a:t>lf</a:t>
              </a:r>
            </a:p>
          </p:txBody>
        </p:sp>
        <p:sp>
          <p:nvSpPr>
            <p:cNvPr id="60" name="Text Box 54">
              <a:extLst>
                <a:ext uri="{FF2B5EF4-FFF2-40B4-BE49-F238E27FC236}">
                  <a16:creationId xmlns:a16="http://schemas.microsoft.com/office/drawing/2014/main" xmlns="" id="{5F6B0327-AD11-4545-B4F6-735084B855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2" y="1895"/>
              <a:ext cx="4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solidFill>
                    <a:srgbClr val="000099"/>
                  </a:solidFill>
                </a:rPr>
                <a:t>value</a:t>
              </a:r>
            </a:p>
          </p:txBody>
        </p:sp>
        <p:sp>
          <p:nvSpPr>
            <p:cNvPr id="61" name="Text Box 55">
              <a:extLst>
                <a:ext uri="{FF2B5EF4-FFF2-40B4-BE49-F238E27FC236}">
                  <a16:creationId xmlns:a16="http://schemas.microsoft.com/office/drawing/2014/main" xmlns="" id="{95580CF6-5A42-2640-82F1-B4775A0714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" y="1903"/>
              <a:ext cx="13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>
                  <a:solidFill>
                    <a:srgbClr val="000099"/>
                  </a:solidFill>
                </a:rPr>
                <a:t>header field name</a:t>
              </a:r>
            </a:p>
          </p:txBody>
        </p:sp>
      </p:grpSp>
      <p:sp>
        <p:nvSpPr>
          <p:cNvPr id="62" name="Line 56">
            <a:extLst>
              <a:ext uri="{FF2B5EF4-FFF2-40B4-BE49-F238E27FC236}">
                <a16:creationId xmlns:a16="http://schemas.microsoft.com/office/drawing/2014/main" xmlns="" id="{923CEA11-D6DF-1C46-A3A4-FD9F81E7CBE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9934" y="2681287"/>
            <a:ext cx="0" cy="1041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3" name="Group 61">
            <a:extLst>
              <a:ext uri="{FF2B5EF4-FFF2-40B4-BE49-F238E27FC236}">
                <a16:creationId xmlns:a16="http://schemas.microsoft.com/office/drawing/2014/main" xmlns="" id="{331FDA17-3586-0A4D-9D97-B7C360855EC7}"/>
              </a:ext>
            </a:extLst>
          </p:cNvPr>
          <p:cNvGrpSpPr>
            <a:grpSpLocks/>
          </p:cNvGrpSpPr>
          <p:nvPr/>
        </p:nvGrpSpPr>
        <p:grpSpPr bwMode="auto">
          <a:xfrm>
            <a:off x="2711659" y="2905125"/>
            <a:ext cx="331788" cy="461962"/>
            <a:chOff x="462" y="1727"/>
            <a:chExt cx="209" cy="291"/>
          </a:xfrm>
        </p:grpSpPr>
        <p:sp>
          <p:nvSpPr>
            <p:cNvPr id="64" name="Rectangle 59">
              <a:extLst>
                <a:ext uri="{FF2B5EF4-FFF2-40B4-BE49-F238E27FC236}">
                  <a16:creationId xmlns:a16="http://schemas.microsoft.com/office/drawing/2014/main" xmlns="" id="{C1850415-E4E6-744B-A59A-4CBBE0004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4"/>
              <a:ext cx="56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5" name="Text Box 57">
              <a:extLst>
                <a:ext uri="{FF2B5EF4-FFF2-40B4-BE49-F238E27FC236}">
                  <a16:creationId xmlns:a16="http://schemas.microsoft.com/office/drawing/2014/main" xmlns="" id="{26A802CD-661F-6548-9B20-03447D673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/>
                <a:t>~</a:t>
              </a:r>
            </a:p>
          </p:txBody>
        </p:sp>
        <p:sp>
          <p:nvSpPr>
            <p:cNvPr id="66" name="Text Box 58">
              <a:extLst>
                <a:ext uri="{FF2B5EF4-FFF2-40B4-BE49-F238E27FC236}">
                  <a16:creationId xmlns:a16="http://schemas.microsoft.com/office/drawing/2014/main" xmlns="" id="{5857CADE-C5FA-4D45-86A4-A527BB0999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/>
                <a:t>~</a:t>
              </a:r>
            </a:p>
          </p:txBody>
        </p:sp>
      </p:grpSp>
      <p:sp>
        <p:nvSpPr>
          <p:cNvPr id="67" name="Line 62">
            <a:extLst>
              <a:ext uri="{FF2B5EF4-FFF2-40B4-BE49-F238E27FC236}">
                <a16:creationId xmlns:a16="http://schemas.microsoft.com/office/drawing/2014/main" xmlns="" id="{4AD99966-51D9-144F-843E-CA57BB5A97E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3997" y="2668587"/>
            <a:ext cx="0" cy="1041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8" name="Group 63">
            <a:extLst>
              <a:ext uri="{FF2B5EF4-FFF2-40B4-BE49-F238E27FC236}">
                <a16:creationId xmlns:a16="http://schemas.microsoft.com/office/drawing/2014/main" xmlns="" id="{21BE7B05-C0E3-2847-AA19-1D559561D8E0}"/>
              </a:ext>
            </a:extLst>
          </p:cNvPr>
          <p:cNvGrpSpPr>
            <a:grpSpLocks/>
          </p:cNvGrpSpPr>
          <p:nvPr/>
        </p:nvGrpSpPr>
        <p:grpSpPr bwMode="auto">
          <a:xfrm>
            <a:off x="7275722" y="2892425"/>
            <a:ext cx="331787" cy="461962"/>
            <a:chOff x="462" y="1727"/>
            <a:chExt cx="209" cy="291"/>
          </a:xfrm>
        </p:grpSpPr>
        <p:sp>
          <p:nvSpPr>
            <p:cNvPr id="69" name="Rectangle 64">
              <a:extLst>
                <a:ext uri="{FF2B5EF4-FFF2-40B4-BE49-F238E27FC236}">
                  <a16:creationId xmlns:a16="http://schemas.microsoft.com/office/drawing/2014/main" xmlns="" id="{1068B7F8-AE57-0A4E-92E6-32182A78C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4"/>
              <a:ext cx="56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0" name="Text Box 65">
              <a:extLst>
                <a:ext uri="{FF2B5EF4-FFF2-40B4-BE49-F238E27FC236}">
                  <a16:creationId xmlns:a16="http://schemas.microsoft.com/office/drawing/2014/main" xmlns="" id="{304BAA75-EDF9-3049-8146-D4E3B77D4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/>
                <a:t>~</a:t>
              </a:r>
            </a:p>
          </p:txBody>
        </p:sp>
        <p:sp>
          <p:nvSpPr>
            <p:cNvPr id="71" name="Text Box 66">
              <a:extLst>
                <a:ext uri="{FF2B5EF4-FFF2-40B4-BE49-F238E27FC236}">
                  <a16:creationId xmlns:a16="http://schemas.microsoft.com/office/drawing/2014/main" xmlns="" id="{7B98EC85-B737-7A4A-B367-0CDBC6B02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/>
                <a:t>~</a:t>
              </a:r>
            </a:p>
          </p:txBody>
        </p:sp>
      </p:grpSp>
      <p:grpSp>
        <p:nvGrpSpPr>
          <p:cNvPr id="72" name="Group 77">
            <a:extLst>
              <a:ext uri="{FF2B5EF4-FFF2-40B4-BE49-F238E27FC236}">
                <a16:creationId xmlns:a16="http://schemas.microsoft.com/office/drawing/2014/main" xmlns="" id="{3F072947-4F12-CC4D-A114-F6AA680D477F}"/>
              </a:ext>
            </a:extLst>
          </p:cNvPr>
          <p:cNvGrpSpPr>
            <a:grpSpLocks/>
          </p:cNvGrpSpPr>
          <p:nvPr/>
        </p:nvGrpSpPr>
        <p:grpSpPr bwMode="auto">
          <a:xfrm>
            <a:off x="2875172" y="4156075"/>
            <a:ext cx="963612" cy="446087"/>
            <a:chOff x="3105" y="2650"/>
            <a:chExt cx="607" cy="281"/>
          </a:xfrm>
        </p:grpSpPr>
        <p:sp>
          <p:nvSpPr>
            <p:cNvPr id="73" name="Rectangle 68">
              <a:extLst>
                <a:ext uri="{FF2B5EF4-FFF2-40B4-BE49-F238E27FC236}">
                  <a16:creationId xmlns:a16="http://schemas.microsoft.com/office/drawing/2014/main" xmlns="" id="{B30322FD-E3EE-8748-B949-5646BF3FD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5" y="2650"/>
              <a:ext cx="607" cy="2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4" name="Line 72">
              <a:extLst>
                <a:ext uri="{FF2B5EF4-FFF2-40B4-BE49-F238E27FC236}">
                  <a16:creationId xmlns:a16="http://schemas.microsoft.com/office/drawing/2014/main" xmlns="" id="{48E1F9CF-9FEF-5347-B932-F18E52F7D0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6" y="2652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 Box 73">
              <a:extLst>
                <a:ext uri="{FF2B5EF4-FFF2-40B4-BE49-F238E27FC236}">
                  <a16:creationId xmlns:a16="http://schemas.microsoft.com/office/drawing/2014/main" xmlns="" id="{3F1DCBAA-5080-0B49-ADD4-12FFFAF8A8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0" y="2663"/>
              <a:ext cx="25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/>
                <a:t>cr</a:t>
              </a:r>
            </a:p>
          </p:txBody>
        </p:sp>
        <p:sp>
          <p:nvSpPr>
            <p:cNvPr id="76" name="Text Box 74">
              <a:extLst>
                <a:ext uri="{FF2B5EF4-FFF2-40B4-BE49-F238E27FC236}">
                  <a16:creationId xmlns:a16="http://schemas.microsoft.com/office/drawing/2014/main" xmlns="" id="{30F8DE49-8702-8242-B74B-8F1C10B8D2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6" y="2670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/>
                <a:t>lf</a:t>
              </a:r>
            </a:p>
          </p:txBody>
        </p:sp>
      </p:grpSp>
      <p:sp>
        <p:nvSpPr>
          <p:cNvPr id="77" name="Rectangle 78">
            <a:extLst>
              <a:ext uri="{FF2B5EF4-FFF2-40B4-BE49-F238E27FC236}">
                <a16:creationId xmlns:a16="http://schemas.microsoft.com/office/drawing/2014/main" xmlns="" id="{6229F0FB-98BB-B944-85C4-25A52FBA6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5172" y="4603750"/>
            <a:ext cx="5170487" cy="11207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78" name="Text Box 80">
            <a:extLst>
              <a:ext uri="{FF2B5EF4-FFF2-40B4-BE49-F238E27FC236}">
                <a16:creationId xmlns:a16="http://schemas.microsoft.com/office/drawing/2014/main" xmlns="" id="{15C2EA86-0F4F-3247-A569-CE038874C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1922" y="4927600"/>
            <a:ext cx="14112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000099"/>
                </a:solidFill>
              </a:rPr>
              <a:t>entity body</a:t>
            </a:r>
          </a:p>
        </p:txBody>
      </p:sp>
      <p:grpSp>
        <p:nvGrpSpPr>
          <p:cNvPr id="79" name="Group 81">
            <a:extLst>
              <a:ext uri="{FF2B5EF4-FFF2-40B4-BE49-F238E27FC236}">
                <a16:creationId xmlns:a16="http://schemas.microsoft.com/office/drawing/2014/main" xmlns="" id="{FBD71B37-ADDE-7A46-9420-5D7F558DE36A}"/>
              </a:ext>
            </a:extLst>
          </p:cNvPr>
          <p:cNvGrpSpPr>
            <a:grpSpLocks/>
          </p:cNvGrpSpPr>
          <p:nvPr/>
        </p:nvGrpSpPr>
        <p:grpSpPr bwMode="auto">
          <a:xfrm>
            <a:off x="2711659" y="4941887"/>
            <a:ext cx="331788" cy="461963"/>
            <a:chOff x="462" y="1727"/>
            <a:chExt cx="209" cy="291"/>
          </a:xfrm>
        </p:grpSpPr>
        <p:sp>
          <p:nvSpPr>
            <p:cNvPr id="80" name="Rectangle 82">
              <a:extLst>
                <a:ext uri="{FF2B5EF4-FFF2-40B4-BE49-F238E27FC236}">
                  <a16:creationId xmlns:a16="http://schemas.microsoft.com/office/drawing/2014/main" xmlns="" id="{EB685F5D-49A7-714D-B0CE-A681FE471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4"/>
              <a:ext cx="56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1" name="Text Box 83">
              <a:extLst>
                <a:ext uri="{FF2B5EF4-FFF2-40B4-BE49-F238E27FC236}">
                  <a16:creationId xmlns:a16="http://schemas.microsoft.com/office/drawing/2014/main" xmlns="" id="{F39503FA-5AF7-1343-97ED-74063A1F12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/>
                <a:t>~</a:t>
              </a:r>
            </a:p>
          </p:txBody>
        </p:sp>
        <p:sp>
          <p:nvSpPr>
            <p:cNvPr id="82" name="Text Box 84">
              <a:extLst>
                <a:ext uri="{FF2B5EF4-FFF2-40B4-BE49-F238E27FC236}">
                  <a16:creationId xmlns:a16="http://schemas.microsoft.com/office/drawing/2014/main" xmlns="" id="{65445F71-0392-1545-8E73-EFFA475F76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/>
                <a:t>~</a:t>
              </a:r>
            </a:p>
          </p:txBody>
        </p:sp>
      </p:grpSp>
      <p:grpSp>
        <p:nvGrpSpPr>
          <p:cNvPr id="83" name="Group 85">
            <a:extLst>
              <a:ext uri="{FF2B5EF4-FFF2-40B4-BE49-F238E27FC236}">
                <a16:creationId xmlns:a16="http://schemas.microsoft.com/office/drawing/2014/main" xmlns="" id="{948FB213-CBD1-754F-9A31-92B73ABB091D}"/>
              </a:ext>
            </a:extLst>
          </p:cNvPr>
          <p:cNvGrpSpPr>
            <a:grpSpLocks/>
          </p:cNvGrpSpPr>
          <p:nvPr/>
        </p:nvGrpSpPr>
        <p:grpSpPr bwMode="auto">
          <a:xfrm>
            <a:off x="7871034" y="4932362"/>
            <a:ext cx="331788" cy="461963"/>
            <a:chOff x="462" y="1727"/>
            <a:chExt cx="209" cy="291"/>
          </a:xfrm>
        </p:grpSpPr>
        <p:sp>
          <p:nvSpPr>
            <p:cNvPr id="84" name="Rectangle 86">
              <a:extLst>
                <a:ext uri="{FF2B5EF4-FFF2-40B4-BE49-F238E27FC236}">
                  <a16:creationId xmlns:a16="http://schemas.microsoft.com/office/drawing/2014/main" xmlns="" id="{2099BE28-2CBD-FA47-A576-86B1CF474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4"/>
              <a:ext cx="56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5" name="Text Box 87">
              <a:extLst>
                <a:ext uri="{FF2B5EF4-FFF2-40B4-BE49-F238E27FC236}">
                  <a16:creationId xmlns:a16="http://schemas.microsoft.com/office/drawing/2014/main" xmlns="" id="{94AB5515-CA17-A64C-8C42-F074102435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/>
                <a:t>~</a:t>
              </a:r>
            </a:p>
          </p:txBody>
        </p:sp>
        <p:sp>
          <p:nvSpPr>
            <p:cNvPr id="86" name="Text Box 88">
              <a:extLst>
                <a:ext uri="{FF2B5EF4-FFF2-40B4-BE49-F238E27FC236}">
                  <a16:creationId xmlns:a16="http://schemas.microsoft.com/office/drawing/2014/main" xmlns="" id="{157CE15D-905D-5B44-91B2-249371FA4B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/>
                <a:t>~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0082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Other HTTP request </a:t>
            </a:r>
            <a:r>
              <a:rPr lang="en-US" altLang="en-US" dirty="0">
                <a:ea typeface="ＭＳ Ｐゴシック" panose="020B0600070205080204" pitchFamily="34" charset="-128"/>
              </a:rPr>
              <a:t>m</a:t>
            </a:r>
            <a:r>
              <a:rPr lang="en-US" altLang="en-US" sz="4400" dirty="0">
                <a:ea typeface="ＭＳ Ｐゴシック" panose="020B0600070205080204" pitchFamily="34" charset="-128"/>
              </a:rPr>
              <a:t>essages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87" name="Rectangle 3">
            <a:extLst>
              <a:ext uri="{FF2B5EF4-FFF2-40B4-BE49-F238E27FC236}">
                <a16:creationId xmlns:a16="http://schemas.microsoft.com/office/drawing/2014/main" xmlns="" id="{25316CA5-99B5-7F45-AFB7-B3A2CBFABDDC}"/>
              </a:ext>
            </a:extLst>
          </p:cNvPr>
          <p:cNvSpPr txBox="1">
            <a:spLocks noChangeArrowheads="1"/>
          </p:cNvSpPr>
          <p:nvPr/>
        </p:nvSpPr>
        <p:spPr>
          <a:xfrm>
            <a:off x="685573" y="1727394"/>
            <a:ext cx="4684713" cy="17016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indent="0">
              <a:buFont typeface="Wingdings" charset="0"/>
              <a:buNone/>
              <a:defRPr/>
            </a:pPr>
            <a:r>
              <a:rPr lang="en-US" u="sng" dirty="0">
                <a:solidFill>
                  <a:srgbClr val="CC0000"/>
                </a:solidFill>
              </a:rPr>
              <a:t>POST method:</a:t>
            </a:r>
          </a:p>
          <a:p>
            <a:pPr marL="233363" indent="-233363">
              <a:spcBef>
                <a:spcPts val="400"/>
              </a:spcBef>
              <a:buFont typeface="Wingdings" charset="2"/>
              <a:buChar char="§"/>
              <a:defRPr/>
            </a:pPr>
            <a:r>
              <a:rPr lang="en-US" sz="2400" dirty="0"/>
              <a:t>web page often includes form input</a:t>
            </a:r>
          </a:p>
          <a:p>
            <a:pPr marL="233363" indent="-233363">
              <a:spcBef>
                <a:spcPts val="400"/>
              </a:spcBef>
              <a:buFont typeface="Wingdings" charset="2"/>
              <a:buChar char="§"/>
              <a:defRPr/>
            </a:pPr>
            <a:r>
              <a:rPr lang="en-US" sz="2400" dirty="0"/>
              <a:t>user input sent from client to server in entity body of HTTP POST request message</a:t>
            </a:r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xmlns="" id="{EC7D421B-4EDF-C343-AB2D-4624467F5415}"/>
              </a:ext>
            </a:extLst>
          </p:cNvPr>
          <p:cNvSpPr txBox="1">
            <a:spLocks noChangeArrowheads="1"/>
          </p:cNvSpPr>
          <p:nvPr/>
        </p:nvSpPr>
        <p:spPr>
          <a:xfrm>
            <a:off x="685573" y="4466964"/>
            <a:ext cx="5541055" cy="17016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indent="0">
              <a:buFont typeface="Wingdings" charset="0"/>
              <a:buNone/>
              <a:defRPr/>
            </a:pPr>
            <a:r>
              <a:rPr lang="en-US" u="sng" dirty="0">
                <a:solidFill>
                  <a:srgbClr val="CC0000"/>
                </a:solidFill>
              </a:rPr>
              <a:t>GET method </a:t>
            </a:r>
            <a:r>
              <a:rPr lang="en-US" sz="2400" dirty="0"/>
              <a:t>(for sending data to server):</a:t>
            </a:r>
            <a:endParaRPr lang="en-US" dirty="0"/>
          </a:p>
          <a:p>
            <a:pPr marL="233363" indent="-233363">
              <a:buFont typeface="Wingdings" charset="2"/>
              <a:buChar char="§"/>
              <a:defRPr/>
            </a:pPr>
            <a:r>
              <a:rPr lang="en-US" sz="2400" dirty="0"/>
              <a:t>include user data in URL field of HTTP GET request message (following a ‘?’):</a:t>
            </a:r>
          </a:p>
        </p:txBody>
      </p:sp>
      <p:sp>
        <p:nvSpPr>
          <p:cNvPr id="89" name="Text Box 5">
            <a:extLst>
              <a:ext uri="{FF2B5EF4-FFF2-40B4-BE49-F238E27FC236}">
                <a16:creationId xmlns:a16="http://schemas.microsoft.com/office/drawing/2014/main" xmlns="" id="{B785588B-2DEA-474F-89CA-2613413F7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692" y="5806133"/>
            <a:ext cx="6280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 err="1">
                <a:latin typeface="Courier New" panose="02070309020205020404" pitchFamily="49" charset="0"/>
              </a:rPr>
              <a:t>www.somesite.com</a:t>
            </a:r>
            <a:r>
              <a:rPr lang="en-US" altLang="en-US" sz="1800" b="1" dirty="0">
                <a:latin typeface="Courier New" panose="02070309020205020404" pitchFamily="49" charset="0"/>
              </a:rPr>
              <a:t>/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animalsearch?monkeys&amp;banana</a:t>
            </a:r>
            <a:endParaRPr lang="en-US" altLang="en-US" sz="1800" b="1" dirty="0">
              <a:latin typeface="Courier New" panose="02070309020205020404" pitchFamily="49" charset="0"/>
            </a:endParaRPr>
          </a:p>
        </p:txBody>
      </p:sp>
      <p:sp>
        <p:nvSpPr>
          <p:cNvPr id="90" name="Rectangle 3">
            <a:extLst>
              <a:ext uri="{FF2B5EF4-FFF2-40B4-BE49-F238E27FC236}">
                <a16:creationId xmlns:a16="http://schemas.microsoft.com/office/drawing/2014/main" xmlns="" id="{F9FB5262-4D63-A149-A391-3CDD424427AC}"/>
              </a:ext>
            </a:extLst>
          </p:cNvPr>
          <p:cNvSpPr txBox="1">
            <a:spLocks noChangeArrowheads="1"/>
          </p:cNvSpPr>
          <p:nvPr/>
        </p:nvSpPr>
        <p:spPr>
          <a:xfrm>
            <a:off x="6991758" y="1752600"/>
            <a:ext cx="4684713" cy="17016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indent="0">
              <a:buFont typeface="Wingdings" charset="0"/>
              <a:buNone/>
              <a:defRPr/>
            </a:pPr>
            <a:r>
              <a:rPr lang="en-US" u="sng" dirty="0">
                <a:solidFill>
                  <a:srgbClr val="CC0000"/>
                </a:solidFill>
              </a:rPr>
              <a:t>HEAD method:</a:t>
            </a:r>
          </a:p>
          <a:p>
            <a:pPr marL="233363" indent="-233363">
              <a:spcBef>
                <a:spcPts val="400"/>
              </a:spcBef>
              <a:buFont typeface="Wingdings" charset="2"/>
              <a:buChar char="§"/>
              <a:defRPr/>
            </a:pPr>
            <a:r>
              <a:rPr lang="en-US" sz="2400" dirty="0"/>
              <a:t>requests headers (only) that would be returned</a:t>
            </a:r>
            <a:r>
              <a:rPr lang="en-US" sz="2400" i="1" dirty="0"/>
              <a:t> if </a:t>
            </a:r>
            <a:r>
              <a:rPr lang="en-US" sz="2400" dirty="0"/>
              <a:t>specified URL were requested  with an HTTP GET method. </a:t>
            </a:r>
          </a:p>
        </p:txBody>
      </p:sp>
      <p:sp>
        <p:nvSpPr>
          <p:cNvPr id="91" name="Rectangle 3">
            <a:extLst>
              <a:ext uri="{FF2B5EF4-FFF2-40B4-BE49-F238E27FC236}">
                <a16:creationId xmlns:a16="http://schemas.microsoft.com/office/drawing/2014/main" xmlns="" id="{2D3C6453-B336-C04B-8A91-4E7D3B632FEB}"/>
              </a:ext>
            </a:extLst>
          </p:cNvPr>
          <p:cNvSpPr txBox="1">
            <a:spLocks noChangeArrowheads="1"/>
          </p:cNvSpPr>
          <p:nvPr/>
        </p:nvSpPr>
        <p:spPr>
          <a:xfrm>
            <a:off x="6993371" y="3839527"/>
            <a:ext cx="4684713" cy="17016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indent="0">
              <a:buFont typeface="Wingdings" charset="0"/>
              <a:buNone/>
              <a:defRPr/>
            </a:pPr>
            <a:r>
              <a:rPr lang="en-US" u="sng" dirty="0">
                <a:solidFill>
                  <a:srgbClr val="CC0000"/>
                </a:solidFill>
              </a:rPr>
              <a:t>PUT method:</a:t>
            </a:r>
          </a:p>
          <a:p>
            <a:pPr marL="233363" indent="-233363">
              <a:spcBef>
                <a:spcPts val="400"/>
              </a:spcBef>
              <a:buFont typeface="Wingdings" charset="2"/>
              <a:buChar char="§"/>
              <a:defRPr/>
            </a:pPr>
            <a:r>
              <a:rPr lang="en-US" sz="2400" dirty="0"/>
              <a:t>uploads new file (object) to server</a:t>
            </a:r>
          </a:p>
          <a:p>
            <a:pPr marL="233363" indent="-233363">
              <a:spcBef>
                <a:spcPts val="400"/>
              </a:spcBef>
              <a:buFont typeface="Wingdings" charset="2"/>
              <a:buChar char="§"/>
              <a:defRPr/>
            </a:pPr>
            <a:r>
              <a:rPr lang="en-US" sz="2400" dirty="0"/>
              <a:t>completely replaces file that exists at specified URL with content in entity body of POST HTTP request message</a:t>
            </a:r>
          </a:p>
        </p:txBody>
      </p:sp>
    </p:spTree>
    <p:extLst>
      <p:ext uri="{BB962C8B-B14F-4D97-AF65-F5344CB8AC3E}">
        <p14:creationId xmlns:p14="http://schemas.microsoft.com/office/powerpoint/2010/main" val="3554971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  <p:bldP spid="9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HTTP response </a:t>
            </a:r>
            <a:r>
              <a:rPr lang="en-US" altLang="en-US" dirty="0">
                <a:ea typeface="ＭＳ Ｐゴシック" panose="020B0600070205080204" pitchFamily="34" charset="-128"/>
              </a:rPr>
              <a:t>m</a:t>
            </a:r>
            <a:r>
              <a:rPr lang="en-US" altLang="en-US" sz="4400" dirty="0">
                <a:ea typeface="ＭＳ Ｐゴシック" panose="020B0600070205080204" pitchFamily="34" charset="-128"/>
              </a:rPr>
              <a:t>essage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87" name="Text Box 5">
            <a:extLst>
              <a:ext uri="{FF2B5EF4-FFF2-40B4-BE49-F238E27FC236}">
                <a16:creationId xmlns:a16="http://schemas.microsoft.com/office/drawing/2014/main" xmlns="" id="{A994AECC-DC16-7847-B8EE-F2F612ABB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630" y="1555730"/>
            <a:ext cx="405611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A3"/>
                </a:solidFill>
                <a:latin typeface="+mn-lt"/>
              </a:rPr>
              <a:t>status line (protocol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A3"/>
                </a:solidFill>
                <a:latin typeface="+mn-lt"/>
              </a:rPr>
              <a:t>status code status phrase)</a:t>
            </a:r>
            <a:endParaRPr lang="en-US" altLang="en-US" sz="2800" dirty="0">
              <a:solidFill>
                <a:srgbClr val="0000A3"/>
              </a:solidFill>
              <a:latin typeface="+mn-lt"/>
            </a:endParaRPr>
          </a:p>
        </p:txBody>
      </p:sp>
      <p:sp>
        <p:nvSpPr>
          <p:cNvPr id="89" name="Freeform 7">
            <a:extLst>
              <a:ext uri="{FF2B5EF4-FFF2-40B4-BE49-F238E27FC236}">
                <a16:creationId xmlns:a16="http://schemas.microsoft.com/office/drawing/2014/main" xmlns="" id="{CE30C96D-6890-834E-943D-561719CDCAE9}"/>
              </a:ext>
            </a:extLst>
          </p:cNvPr>
          <p:cNvSpPr>
            <a:spLocks/>
          </p:cNvSpPr>
          <p:nvPr/>
        </p:nvSpPr>
        <p:spPr bwMode="auto">
          <a:xfrm>
            <a:off x="4945743" y="1971229"/>
            <a:ext cx="257175" cy="2941638"/>
          </a:xfrm>
          <a:custGeom>
            <a:avLst/>
            <a:gdLst>
              <a:gd name="T0" fmla="*/ 2147483647 w 162"/>
              <a:gd name="T1" fmla="*/ 2147483647 h 1428"/>
              <a:gd name="T2" fmla="*/ 0 w 162"/>
              <a:gd name="T3" fmla="*/ 0 h 1428"/>
              <a:gd name="T4" fmla="*/ 0 w 162"/>
              <a:gd name="T5" fmla="*/ 2147483647 h 1428"/>
              <a:gd name="T6" fmla="*/ 2147483647 w 162"/>
              <a:gd name="T7" fmla="*/ 2147483647 h 1428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1428"/>
              <a:gd name="T14" fmla="*/ 162 w 162"/>
              <a:gd name="T15" fmla="*/ 1428 h 14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1428">
                <a:moveTo>
                  <a:pt x="132" y="9"/>
                </a:moveTo>
                <a:lnTo>
                  <a:pt x="0" y="0"/>
                </a:lnTo>
                <a:lnTo>
                  <a:pt x="0" y="1428"/>
                </a:lnTo>
                <a:lnTo>
                  <a:pt x="162" y="1425"/>
                </a:lnTo>
              </a:path>
            </a:pathLst>
          </a:custGeom>
          <a:noFill/>
          <a:ln w="19050">
            <a:solidFill>
              <a:srgbClr val="0000A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" name="Text Box 8">
            <a:extLst>
              <a:ext uri="{FF2B5EF4-FFF2-40B4-BE49-F238E27FC236}">
                <a16:creationId xmlns:a16="http://schemas.microsoft.com/office/drawing/2014/main" xmlns="" id="{9695B2A1-768B-CE41-87A1-8D564F953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5704" y="2952304"/>
            <a:ext cx="107112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A3"/>
                </a:solidFill>
                <a:latin typeface="+mn-lt"/>
              </a:rPr>
              <a:t>header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A3"/>
                </a:solidFill>
                <a:latin typeface="+mn-lt"/>
              </a:rPr>
              <a:t> lines</a:t>
            </a:r>
            <a:endParaRPr lang="en-US" altLang="en-US" sz="2800" dirty="0">
              <a:solidFill>
                <a:srgbClr val="0000A3"/>
              </a:solidFill>
              <a:latin typeface="+mn-lt"/>
            </a:endParaRPr>
          </a:p>
        </p:txBody>
      </p:sp>
      <p:sp>
        <p:nvSpPr>
          <p:cNvPr id="92" name="Text Box 10">
            <a:extLst>
              <a:ext uri="{FF2B5EF4-FFF2-40B4-BE49-F238E27FC236}">
                <a16:creationId xmlns:a16="http://schemas.microsoft.com/office/drawing/2014/main" xmlns="" id="{71D3CD43-9088-2144-992C-3A77F783A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12" y="4803102"/>
            <a:ext cx="36028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A3"/>
                </a:solidFill>
                <a:latin typeface="+mn-lt"/>
              </a:rPr>
              <a:t>data, e.g.,  requested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A3"/>
                </a:solidFill>
                <a:latin typeface="+mn-lt"/>
              </a:rPr>
              <a:t>HTML file</a:t>
            </a:r>
            <a:endParaRPr lang="en-US" altLang="en-US" sz="2800" dirty="0">
              <a:solidFill>
                <a:srgbClr val="0000A3"/>
              </a:solidFill>
              <a:latin typeface="+mn-lt"/>
            </a:endParaRPr>
          </a:p>
        </p:txBody>
      </p:sp>
      <p:sp>
        <p:nvSpPr>
          <p:cNvPr id="93" name="Rectangle 15">
            <a:extLst>
              <a:ext uri="{FF2B5EF4-FFF2-40B4-BE49-F238E27FC236}">
                <a16:creationId xmlns:a16="http://schemas.microsoft.com/office/drawing/2014/main" xmlns="" id="{AE1D96B5-48F4-B842-9424-43BC570F6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1481" y="1710879"/>
            <a:ext cx="6311900" cy="35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800" b="1">
                <a:latin typeface="Courier New" panose="02070309020205020404" pitchFamily="49" charset="0"/>
              </a:rPr>
              <a:t>HTTP/1.1 200 OK\r\n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800" b="1">
                <a:latin typeface="Courier New" panose="02070309020205020404" pitchFamily="49" charset="0"/>
              </a:rPr>
              <a:t>Date: Sun, 26 Sep 2010 20:09:20 GMT\r\n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800" b="1">
                <a:latin typeface="Courier New" panose="02070309020205020404" pitchFamily="49" charset="0"/>
              </a:rPr>
              <a:t>Server: Apache/2.0.52 (CentOS)\r\n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800" b="1">
                <a:latin typeface="Courier New" panose="02070309020205020404" pitchFamily="49" charset="0"/>
              </a:rPr>
              <a:t>Last-Modified: Tue, 30 Oct 2007 17:00:02 GMT\r\n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800" b="1">
                <a:latin typeface="Courier New" panose="02070309020205020404" pitchFamily="49" charset="0"/>
              </a:rPr>
              <a:t>ETag: "17dc6-a5c-bf716880"\r\n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800" b="1">
                <a:latin typeface="Courier New" panose="02070309020205020404" pitchFamily="49" charset="0"/>
              </a:rPr>
              <a:t>Accept-Ranges: bytes\r\n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800" b="1">
                <a:latin typeface="Courier New" panose="02070309020205020404" pitchFamily="49" charset="0"/>
              </a:rPr>
              <a:t>Content-Length: 2652\r\n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800" b="1">
                <a:latin typeface="Courier New" panose="02070309020205020404" pitchFamily="49" charset="0"/>
              </a:rPr>
              <a:t>Keep-Alive: timeout=10, max=100\r\n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800" b="1">
                <a:latin typeface="Courier New" panose="02070309020205020404" pitchFamily="49" charset="0"/>
              </a:rPr>
              <a:t>Connection: Keep-Alive\r\n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800" b="1">
                <a:latin typeface="Courier New" panose="02070309020205020404" pitchFamily="49" charset="0"/>
              </a:rPr>
              <a:t>Content-Type: text/html; charset=ISO-8859-1\r\n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800" b="1">
                <a:latin typeface="Courier New" panose="02070309020205020404" pitchFamily="49" charset="0"/>
              </a:rPr>
              <a:t>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it-IT" altLang="en-US" sz="1800" b="1">
                <a:latin typeface="Courier New" panose="02070309020205020404" pitchFamily="49" charset="0"/>
              </a:rPr>
              <a:t>data data data data data ... </a:t>
            </a:r>
            <a:endParaRPr lang="en-US" altLang="en-US" sz="1800" b="1">
              <a:latin typeface="Courier New" panose="02070309020205020404" pitchFamily="49" charset="0"/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xmlns="" id="{81248C33-8978-FA4A-B68D-07F7345C9C4D}"/>
              </a:ext>
            </a:extLst>
          </p:cNvPr>
          <p:cNvCxnSpPr>
            <a:cxnSpLocks/>
          </p:cNvCxnSpPr>
          <p:nvPr/>
        </p:nvCxnSpPr>
        <p:spPr>
          <a:xfrm>
            <a:off x="3593872" y="1845820"/>
            <a:ext cx="1436915" cy="0"/>
          </a:xfrm>
          <a:prstGeom prst="straightConnector1">
            <a:avLst/>
          </a:prstGeom>
          <a:ln w="19050">
            <a:solidFill>
              <a:srgbClr val="0000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xmlns="" id="{A1C1D39C-E830-C840-962A-5EF5A5C89548}"/>
              </a:ext>
            </a:extLst>
          </p:cNvPr>
          <p:cNvCxnSpPr>
            <a:cxnSpLocks/>
          </p:cNvCxnSpPr>
          <p:nvPr/>
        </p:nvCxnSpPr>
        <p:spPr>
          <a:xfrm>
            <a:off x="3593872" y="5046220"/>
            <a:ext cx="1436915" cy="0"/>
          </a:xfrm>
          <a:prstGeom prst="straightConnector1">
            <a:avLst/>
          </a:prstGeom>
          <a:ln w="19050">
            <a:solidFill>
              <a:srgbClr val="0000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1">
            <a:extLst>
              <a:ext uri="{FF2B5EF4-FFF2-40B4-BE49-F238E27FC236}">
                <a16:creationId xmlns:a16="http://schemas.microsoft.com/office/drawing/2014/main" xmlns="" id="{2551C779-9290-AD4E-91BD-E60A7E927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630" y="6155251"/>
            <a:ext cx="952137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 dirty="0"/>
              <a:t>* Check out the online interactive exercises for more examples: h</a:t>
            </a:r>
            <a:r>
              <a:rPr lang="en-US" altLang="en-US" sz="1200" dirty="0"/>
              <a:t>ttp://</a:t>
            </a:r>
            <a:r>
              <a:rPr lang="en-US" altLang="en-US" sz="1200" dirty="0" err="1"/>
              <a:t>gaia.cs.umass.edu</a:t>
            </a:r>
            <a:r>
              <a:rPr lang="en-US" altLang="en-US" sz="1200" dirty="0"/>
              <a:t>/</a:t>
            </a:r>
            <a:r>
              <a:rPr lang="en-US" altLang="en-US" sz="1200" dirty="0" err="1"/>
              <a:t>kurose_ross</a:t>
            </a:r>
            <a:r>
              <a:rPr lang="en-US" altLang="en-US" sz="1200" dirty="0"/>
              <a:t>/interactive/</a:t>
            </a:r>
          </a:p>
        </p:txBody>
      </p:sp>
    </p:spTree>
    <p:extLst>
      <p:ext uri="{BB962C8B-B14F-4D97-AF65-F5344CB8AC3E}">
        <p14:creationId xmlns:p14="http://schemas.microsoft.com/office/powerpoint/2010/main" val="19819057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HTTP response </a:t>
            </a:r>
            <a:r>
              <a:rPr lang="en-US" altLang="en-US" dirty="0">
                <a:ea typeface="ＭＳ Ｐゴシック" panose="020B0600070205080204" pitchFamily="34" charset="-128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</a:rPr>
              <a:t>tatus </a:t>
            </a:r>
            <a:r>
              <a:rPr lang="en-US" altLang="en-US" dirty="0">
                <a:ea typeface="ＭＳ Ｐゴシック" panose="020B0600070205080204" pitchFamily="34" charset="-128"/>
              </a:rPr>
              <a:t>c</a:t>
            </a:r>
            <a:r>
              <a:rPr lang="en-US" altLang="en-US" sz="4400" dirty="0">
                <a:ea typeface="ＭＳ Ｐゴシック" panose="020B0600070205080204" pitchFamily="34" charset="-128"/>
              </a:rPr>
              <a:t>odes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xmlns="" id="{D7D9FAF8-ACB6-2648-AF49-4F1CA2DD361E}"/>
              </a:ext>
            </a:extLst>
          </p:cNvPr>
          <p:cNvSpPr txBox="1">
            <a:spLocks noChangeArrowheads="1"/>
          </p:cNvSpPr>
          <p:nvPr/>
        </p:nvSpPr>
        <p:spPr>
          <a:xfrm>
            <a:off x="1179871" y="2274314"/>
            <a:ext cx="10678300" cy="41687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5000"/>
              </a:lnSpc>
              <a:spcBef>
                <a:spcPts val="4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200 OK</a:t>
            </a:r>
          </a:p>
          <a:p>
            <a:pPr lvl="1">
              <a:lnSpc>
                <a:spcPct val="95000"/>
              </a:lnSpc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request succeeded, requested object later in this message</a:t>
            </a:r>
          </a:p>
          <a:p>
            <a:pPr>
              <a:lnSpc>
                <a:spcPct val="95000"/>
              </a:lnSpc>
              <a:spcBef>
                <a:spcPts val="4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301 Moved Permanently</a:t>
            </a:r>
          </a:p>
          <a:p>
            <a:pPr lvl="1">
              <a:lnSpc>
                <a:spcPct val="95000"/>
              </a:lnSpc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requested object moved, new location specified later in this message (in Location: field)</a:t>
            </a:r>
          </a:p>
          <a:p>
            <a:pPr>
              <a:lnSpc>
                <a:spcPct val="95000"/>
              </a:lnSpc>
              <a:spcBef>
                <a:spcPts val="4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400 Bad Request</a:t>
            </a:r>
          </a:p>
          <a:p>
            <a:pPr lvl="1">
              <a:lnSpc>
                <a:spcPct val="95000"/>
              </a:lnSpc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request msg not understood by server</a:t>
            </a:r>
          </a:p>
          <a:p>
            <a:pPr>
              <a:lnSpc>
                <a:spcPct val="95000"/>
              </a:lnSpc>
              <a:spcBef>
                <a:spcPts val="4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404 Not Found</a:t>
            </a:r>
          </a:p>
          <a:p>
            <a:pPr lvl="1">
              <a:lnSpc>
                <a:spcPct val="95000"/>
              </a:lnSpc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requested document not found on this server</a:t>
            </a:r>
          </a:p>
          <a:p>
            <a:pPr>
              <a:lnSpc>
                <a:spcPct val="95000"/>
              </a:lnSpc>
              <a:spcBef>
                <a:spcPts val="4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505 HTTP Version Not Supported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xmlns="" id="{8C98F9E3-E57A-7844-89F3-A6331B046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691" y="1325562"/>
            <a:ext cx="1085628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50838" indent="-3508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800" dirty="0">
                <a:latin typeface="+mn-lt"/>
              </a:rPr>
              <a:t>status code appears in 1st line in server-to-client response message.</a:t>
            </a:r>
          </a:p>
          <a:p>
            <a:pPr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800" dirty="0">
                <a:latin typeface="+mn-lt"/>
              </a:rPr>
              <a:t>some sample codes</a:t>
            </a:r>
            <a:r>
              <a:rPr lang="en-US" altLang="en-US" sz="2400" dirty="0">
                <a:latin typeface="+mn-lt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643011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Maintaining user/server state: cookies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93" name="Rectangle 3">
            <a:extLst>
              <a:ext uri="{FF2B5EF4-FFF2-40B4-BE49-F238E27FC236}">
                <a16:creationId xmlns:a16="http://schemas.microsoft.com/office/drawing/2014/main" xmlns="" id="{044314F4-5E29-A342-9469-ED1D194C2BEE}"/>
              </a:ext>
            </a:extLst>
          </p:cNvPr>
          <p:cNvSpPr txBox="1">
            <a:spLocks noChangeArrowheads="1"/>
          </p:cNvSpPr>
          <p:nvPr/>
        </p:nvSpPr>
        <p:spPr>
          <a:xfrm>
            <a:off x="622608" y="1452389"/>
            <a:ext cx="6335547" cy="488791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3200" dirty="0">
                <a:ea typeface="ＭＳ Ｐゴシック" panose="020B0600070205080204" pitchFamily="34" charset="-128"/>
              </a:rPr>
              <a:t>Web sites and client browser  use </a:t>
            </a:r>
            <a:r>
              <a:rPr lang="en-US" altLang="en-US" sz="32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cookies</a:t>
            </a:r>
            <a:r>
              <a:rPr lang="en-US" altLang="en-US" sz="3200" dirty="0">
                <a:ea typeface="ＭＳ Ｐゴシック" panose="020B0600070205080204" pitchFamily="34" charset="-128"/>
              </a:rPr>
              <a:t> to maintain some state between transactions</a:t>
            </a:r>
          </a:p>
          <a:p>
            <a:pPr>
              <a:buFont typeface="Wingdings" pitchFamily="2" charset="2"/>
              <a:buNone/>
            </a:pPr>
            <a:r>
              <a:rPr lang="en-US" altLang="en-US" sz="3200" i="1" dirty="0">
                <a:solidFill>
                  <a:srgbClr val="0000A3"/>
                </a:solidFill>
                <a:ea typeface="ＭＳ Ｐゴシック" panose="020B0600070205080204" pitchFamily="34" charset="-128"/>
              </a:rPr>
              <a:t>four components:</a:t>
            </a:r>
          </a:p>
          <a:p>
            <a:pPr lvl="1">
              <a:buFont typeface="Wingdings" pitchFamily="2" charset="2"/>
              <a:buNone/>
            </a:pPr>
            <a:r>
              <a:rPr lang="en-US" altLang="en-US" sz="2800" dirty="0">
                <a:ea typeface="ＭＳ Ｐゴシック" panose="020B0600070205080204" pitchFamily="34" charset="-128"/>
              </a:rPr>
              <a:t>1) cookie header line of HTTP </a:t>
            </a:r>
            <a:r>
              <a:rPr lang="en-US" altLang="en-US" sz="2800" i="1" dirty="0">
                <a:ea typeface="ＭＳ Ｐゴシック" panose="020B0600070205080204" pitchFamily="34" charset="-128"/>
              </a:rPr>
              <a:t>response</a:t>
            </a:r>
            <a:r>
              <a:rPr lang="en-US" altLang="en-US" sz="2800" dirty="0">
                <a:ea typeface="ＭＳ Ｐゴシック" panose="020B0600070205080204" pitchFamily="34" charset="-128"/>
              </a:rPr>
              <a:t> message</a:t>
            </a:r>
          </a:p>
          <a:p>
            <a:pPr lvl="1">
              <a:buFont typeface="Wingdings" pitchFamily="2" charset="2"/>
              <a:buNone/>
            </a:pPr>
            <a:r>
              <a:rPr lang="en-US" altLang="en-US" sz="2800" dirty="0">
                <a:ea typeface="ＭＳ Ｐゴシック" panose="020B0600070205080204" pitchFamily="34" charset="-128"/>
              </a:rPr>
              <a:t>2) cookie header line in next HTTP </a:t>
            </a:r>
            <a:r>
              <a:rPr lang="en-US" altLang="en-US" sz="2800" i="1" dirty="0">
                <a:ea typeface="ＭＳ Ｐゴシック" panose="020B0600070205080204" pitchFamily="34" charset="-128"/>
              </a:rPr>
              <a:t>request</a:t>
            </a:r>
            <a:r>
              <a:rPr lang="en-US" altLang="en-US" sz="2800" dirty="0">
                <a:ea typeface="ＭＳ Ｐゴシック" panose="020B0600070205080204" pitchFamily="34" charset="-128"/>
              </a:rPr>
              <a:t> message</a:t>
            </a:r>
          </a:p>
          <a:p>
            <a:pPr lvl="1">
              <a:buFont typeface="Wingdings" pitchFamily="2" charset="2"/>
              <a:buNone/>
            </a:pPr>
            <a:r>
              <a:rPr lang="en-US" altLang="en-US" sz="2800" dirty="0">
                <a:ea typeface="ＭＳ Ｐゴシック" panose="020B0600070205080204" pitchFamily="34" charset="-128"/>
              </a:rPr>
              <a:t>3) cookie file kept on user</a:t>
            </a:r>
            <a:r>
              <a:rPr lang="ja-JP" altLang="en-US" sz="2800">
                <a:ea typeface="ＭＳ Ｐゴシック" panose="020B0600070205080204" pitchFamily="34" charset="-128"/>
              </a:rPr>
              <a:t>’</a:t>
            </a:r>
            <a:r>
              <a:rPr lang="en-US" altLang="ja-JP" sz="2800" dirty="0">
                <a:ea typeface="ＭＳ Ｐゴシック" panose="020B0600070205080204" pitchFamily="34" charset="-128"/>
              </a:rPr>
              <a:t>s host, managed by user</a:t>
            </a:r>
            <a:r>
              <a:rPr lang="ja-JP" altLang="en-US" sz="2800">
                <a:ea typeface="ＭＳ Ｐゴシック" panose="020B0600070205080204" pitchFamily="34" charset="-128"/>
              </a:rPr>
              <a:t>’</a:t>
            </a:r>
            <a:r>
              <a:rPr lang="en-US" altLang="ja-JP" sz="2800" dirty="0">
                <a:ea typeface="ＭＳ Ｐゴシック" panose="020B0600070205080204" pitchFamily="34" charset="-128"/>
              </a:rPr>
              <a:t>s browser</a:t>
            </a:r>
          </a:p>
          <a:p>
            <a:pPr lvl="1">
              <a:buFont typeface="Wingdings" pitchFamily="2" charset="2"/>
              <a:buNone/>
            </a:pPr>
            <a:r>
              <a:rPr lang="en-US" altLang="en-US" sz="2800" dirty="0">
                <a:ea typeface="ＭＳ Ｐゴシック" panose="020B0600070205080204" pitchFamily="34" charset="-128"/>
              </a:rPr>
              <a:t>4) back-end database at Web site</a:t>
            </a:r>
          </a:p>
        </p:txBody>
      </p:sp>
      <p:sp>
        <p:nvSpPr>
          <p:cNvPr id="94" name="Rectangle 4">
            <a:extLst>
              <a:ext uri="{FF2B5EF4-FFF2-40B4-BE49-F238E27FC236}">
                <a16:creationId xmlns:a16="http://schemas.microsoft.com/office/drawing/2014/main" xmlns="" id="{26408C84-4366-9C43-B55D-97AC8C9FA33A}"/>
              </a:ext>
            </a:extLst>
          </p:cNvPr>
          <p:cNvSpPr txBox="1">
            <a:spLocks noChangeArrowheads="1"/>
          </p:cNvSpPr>
          <p:nvPr/>
        </p:nvSpPr>
        <p:spPr>
          <a:xfrm>
            <a:off x="7599363" y="1452389"/>
            <a:ext cx="4363453" cy="502573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 indent="11113">
              <a:buFont typeface="Wingdings" charset="0"/>
              <a:buNone/>
              <a:defRPr/>
            </a:pPr>
            <a:r>
              <a:rPr lang="en-US" dirty="0">
                <a:solidFill>
                  <a:srgbClr val="0000A3"/>
                </a:solidFill>
              </a:rPr>
              <a:t>Example:</a:t>
            </a:r>
          </a:p>
          <a:p>
            <a:pPr marL="233363" indent="-233363">
              <a:spcBef>
                <a:spcPts val="600"/>
              </a:spcBef>
              <a:buFont typeface="Wingdings" charset="2"/>
              <a:buChar char="§"/>
              <a:defRPr/>
            </a:pPr>
            <a:r>
              <a:rPr lang="en-US" sz="2400" dirty="0"/>
              <a:t>Susan uses browser on laptop, visits specific e-commerce site for first time</a:t>
            </a:r>
          </a:p>
          <a:p>
            <a:pPr marL="233363" indent="-233363">
              <a:spcBef>
                <a:spcPts val="600"/>
              </a:spcBef>
              <a:buFont typeface="Wingdings" charset="2"/>
              <a:buChar char="§"/>
              <a:defRPr/>
            </a:pPr>
            <a:r>
              <a:rPr lang="en-US" sz="2400" dirty="0"/>
              <a:t>when initial HTTP requests arrives at site, site creates: </a:t>
            </a:r>
          </a:p>
          <a:p>
            <a:pPr marL="685800" lvl="1" indent="-228600">
              <a:spcBef>
                <a:spcPts val="600"/>
              </a:spcBef>
              <a:buFont typeface="Arial"/>
              <a:buChar char="•"/>
              <a:defRPr/>
            </a:pPr>
            <a:r>
              <a:rPr lang="en-US" dirty="0"/>
              <a:t>unique ID (aka “cookie”)</a:t>
            </a:r>
          </a:p>
          <a:p>
            <a:pPr marL="685800" lvl="1" indent="-228600">
              <a:spcBef>
                <a:spcPts val="600"/>
              </a:spcBef>
              <a:buFont typeface="Arial"/>
              <a:buChar char="•"/>
              <a:defRPr/>
            </a:pPr>
            <a:r>
              <a:rPr lang="en-US" dirty="0"/>
              <a:t>entry in backend database for ID</a:t>
            </a:r>
          </a:p>
          <a:p>
            <a:pPr marL="342900" indent="-228600">
              <a:spcBef>
                <a:spcPts val="600"/>
              </a:spcBef>
              <a:buFont typeface="Arial"/>
              <a:buChar char="•"/>
              <a:defRPr/>
            </a:pPr>
            <a:r>
              <a:rPr lang="en-US" sz="2400" dirty="0"/>
              <a:t>subsequent HTTP requests from Susan to this site will contain cookie ID value, allowing site to “identify” Susan</a:t>
            </a:r>
          </a:p>
        </p:txBody>
      </p:sp>
    </p:spTree>
    <p:extLst>
      <p:ext uri="{BB962C8B-B14F-4D97-AF65-F5344CB8AC3E}">
        <p14:creationId xmlns:p14="http://schemas.microsoft.com/office/powerpoint/2010/main" val="268088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Maintaining user/server state: cookies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96" name="Text Box 5">
            <a:extLst>
              <a:ext uri="{FF2B5EF4-FFF2-40B4-BE49-F238E27FC236}">
                <a16:creationId xmlns:a16="http://schemas.microsoft.com/office/drawing/2014/main" xmlns="" id="{BDD58876-57D5-6242-A5A0-1F4F57BBD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2674" y="1266659"/>
            <a:ext cx="8739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client</a:t>
            </a:r>
          </a:p>
        </p:txBody>
      </p:sp>
      <p:sp>
        <p:nvSpPr>
          <p:cNvPr id="97" name="Text Box 6">
            <a:extLst>
              <a:ext uri="{FF2B5EF4-FFF2-40B4-BE49-F238E27FC236}">
                <a16:creationId xmlns:a16="http://schemas.microsoft.com/office/drawing/2014/main" xmlns="" id="{2C7DB634-32FD-8242-867E-9B9E0867E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2999" y="1555531"/>
            <a:ext cx="9669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server</a:t>
            </a:r>
          </a:p>
        </p:txBody>
      </p:sp>
      <p:grpSp>
        <p:nvGrpSpPr>
          <p:cNvPr id="98" name="Group 90">
            <a:extLst>
              <a:ext uri="{FF2B5EF4-FFF2-40B4-BE49-F238E27FC236}">
                <a16:creationId xmlns:a16="http://schemas.microsoft.com/office/drawing/2014/main" xmlns="" id="{94011BFB-FD4F-E449-8218-8F0FBC795682}"/>
              </a:ext>
            </a:extLst>
          </p:cNvPr>
          <p:cNvGrpSpPr>
            <a:grpSpLocks/>
          </p:cNvGrpSpPr>
          <p:nvPr/>
        </p:nvGrpSpPr>
        <p:grpSpPr bwMode="auto">
          <a:xfrm>
            <a:off x="2996806" y="4057653"/>
            <a:ext cx="3873500" cy="458788"/>
            <a:chOff x="1414" y="2657"/>
            <a:chExt cx="2440" cy="289"/>
          </a:xfrm>
        </p:grpSpPr>
        <p:sp>
          <p:nvSpPr>
            <p:cNvPr id="99" name="Line 16">
              <a:extLst>
                <a:ext uri="{FF2B5EF4-FFF2-40B4-BE49-F238E27FC236}">
                  <a16:creationId xmlns:a16="http://schemas.microsoft.com/office/drawing/2014/main" xmlns="" id="{88BDB1BC-CF22-D740-8FD0-3286D32A2A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14" y="2657"/>
              <a:ext cx="2440" cy="24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</a:endParaRPr>
            </a:p>
          </p:txBody>
        </p:sp>
        <p:grpSp>
          <p:nvGrpSpPr>
            <p:cNvPr id="100" name="Group 17">
              <a:extLst>
                <a:ext uri="{FF2B5EF4-FFF2-40B4-BE49-F238E27FC236}">
                  <a16:creationId xmlns:a16="http://schemas.microsoft.com/office/drawing/2014/main" xmlns="" id="{1663D802-36E9-1C4C-BFE3-BD3D003350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3" y="2694"/>
              <a:ext cx="1897" cy="252"/>
              <a:chOff x="3268" y="2846"/>
              <a:chExt cx="1897" cy="252"/>
            </a:xfrm>
          </p:grpSpPr>
          <p:sp>
            <p:nvSpPr>
              <p:cNvPr id="101" name="Rectangle 18">
                <a:extLst>
                  <a:ext uri="{FF2B5EF4-FFF2-40B4-BE49-F238E27FC236}">
                    <a16:creationId xmlns:a16="http://schemas.microsoft.com/office/drawing/2014/main" xmlns="" id="{F3795387-184E-6040-B5E5-4A94444CF8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2" y="2856"/>
                <a:ext cx="1692" cy="19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02" name="Text Box 19">
                <a:extLst>
                  <a:ext uri="{FF2B5EF4-FFF2-40B4-BE49-F238E27FC236}">
                    <a16:creationId xmlns:a16="http://schemas.microsoft.com/office/drawing/2014/main" xmlns="" id="{1E8E6531-8FF1-1C40-8C70-630F4E1475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8" y="2846"/>
                <a:ext cx="1897" cy="25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usual HTTP response msg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</p:grpSp>
      <p:grpSp>
        <p:nvGrpSpPr>
          <p:cNvPr id="103" name="Group 94">
            <a:extLst>
              <a:ext uri="{FF2B5EF4-FFF2-40B4-BE49-F238E27FC236}">
                <a16:creationId xmlns:a16="http://schemas.microsoft.com/office/drawing/2014/main" xmlns="" id="{A02DFDF0-ACF5-0944-BB01-BEA857B2408F}"/>
              </a:ext>
            </a:extLst>
          </p:cNvPr>
          <p:cNvGrpSpPr>
            <a:grpSpLocks/>
          </p:cNvGrpSpPr>
          <p:nvPr/>
        </p:nvGrpSpPr>
        <p:grpSpPr bwMode="auto">
          <a:xfrm>
            <a:off x="3002432" y="5867498"/>
            <a:ext cx="3859213" cy="463549"/>
            <a:chOff x="1392" y="3579"/>
            <a:chExt cx="2431" cy="292"/>
          </a:xfrm>
        </p:grpSpPr>
        <p:sp>
          <p:nvSpPr>
            <p:cNvPr id="104" name="Line 24">
              <a:extLst>
                <a:ext uri="{FF2B5EF4-FFF2-40B4-BE49-F238E27FC236}">
                  <a16:creationId xmlns:a16="http://schemas.microsoft.com/office/drawing/2014/main" xmlns="" id="{EEB16C5E-89E3-9248-A0E9-068D3F51C4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3579"/>
              <a:ext cx="2431" cy="2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</a:endParaRPr>
            </a:p>
          </p:txBody>
        </p:sp>
        <p:sp>
          <p:nvSpPr>
            <p:cNvPr id="107" name="Text Box 27">
              <a:extLst>
                <a:ext uri="{FF2B5EF4-FFF2-40B4-BE49-F238E27FC236}">
                  <a16:creationId xmlns:a16="http://schemas.microsoft.com/office/drawing/2014/main" xmlns="" id="{474B7C25-022E-B449-BFB7-79520686A1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8" y="3619"/>
              <a:ext cx="1852" cy="2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usual HTTP response msg</a:t>
              </a: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108" name="Text Box 59">
            <a:extLst>
              <a:ext uri="{FF2B5EF4-FFF2-40B4-BE49-F238E27FC236}">
                <a16:creationId xmlns:a16="http://schemas.microsoft.com/office/drawing/2014/main" xmlns="" id="{8FCE1392-BEBB-7649-A72C-5DBA31761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3156" y="2293935"/>
            <a:ext cx="17875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cookie file</a:t>
            </a:r>
          </a:p>
        </p:txBody>
      </p:sp>
      <p:sp>
        <p:nvSpPr>
          <p:cNvPr id="109" name="Text Box 66">
            <a:extLst>
              <a:ext uri="{FF2B5EF4-FFF2-40B4-BE49-F238E27FC236}">
                <a16:creationId xmlns:a16="http://schemas.microsoft.com/office/drawing/2014/main" xmlns="" id="{0A6A1E02-F6BE-5D46-AD20-D1F7027FB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0772" y="4672055"/>
            <a:ext cx="181011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one week later:</a:t>
            </a:r>
          </a:p>
        </p:txBody>
      </p:sp>
      <p:grpSp>
        <p:nvGrpSpPr>
          <p:cNvPr id="110" name="Group 89">
            <a:extLst>
              <a:ext uri="{FF2B5EF4-FFF2-40B4-BE49-F238E27FC236}">
                <a16:creationId xmlns:a16="http://schemas.microsoft.com/office/drawing/2014/main" xmlns="" id="{40D8E44C-8C6C-D542-9BE7-10406B51CDF5}"/>
              </a:ext>
            </a:extLst>
          </p:cNvPr>
          <p:cNvGrpSpPr>
            <a:grpSpLocks/>
          </p:cNvGrpSpPr>
          <p:nvPr/>
        </p:nvGrpSpPr>
        <p:grpSpPr bwMode="auto">
          <a:xfrm>
            <a:off x="2998327" y="3429000"/>
            <a:ext cx="6777024" cy="1128713"/>
            <a:chOff x="1411" y="2261"/>
            <a:chExt cx="3533" cy="711"/>
          </a:xfrm>
        </p:grpSpPr>
        <p:sp>
          <p:nvSpPr>
            <p:cNvPr id="111" name="Line 12">
              <a:extLst>
                <a:ext uri="{FF2B5EF4-FFF2-40B4-BE49-F238E27FC236}">
                  <a16:creationId xmlns:a16="http://schemas.microsoft.com/office/drawing/2014/main" xmlns="" id="{153DBCD9-AEFE-0D4C-84B4-A29E1AAACC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1" y="2361"/>
              <a:ext cx="2016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</a:endParaRPr>
            </a:p>
          </p:txBody>
        </p:sp>
        <p:sp>
          <p:nvSpPr>
            <p:cNvPr id="112" name="Text Box 15">
              <a:extLst>
                <a:ext uri="{FF2B5EF4-FFF2-40B4-BE49-F238E27FC236}">
                  <a16:creationId xmlns:a16="http://schemas.microsoft.com/office/drawing/2014/main" xmlns="" id="{B4EE3ACA-27BC-0046-99A0-E10CEAF86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8" y="2261"/>
              <a:ext cx="1689" cy="4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usual HTTP request msg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cookie: 1678</a:t>
              </a:r>
            </a:p>
          </p:txBody>
        </p:sp>
        <p:sp>
          <p:nvSpPr>
            <p:cNvPr id="113" name="Text Box 28">
              <a:extLst>
                <a:ext uri="{FF2B5EF4-FFF2-40B4-BE49-F238E27FC236}">
                  <a16:creationId xmlns:a16="http://schemas.microsoft.com/office/drawing/2014/main" xmlns="" id="{E0C8E058-016B-9643-8EC4-38404A2A2E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9" y="2332"/>
              <a:ext cx="60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cookie-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specific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action</a:t>
              </a:r>
            </a:p>
          </p:txBody>
        </p:sp>
        <p:sp>
          <p:nvSpPr>
            <p:cNvPr id="114" name="Line 42">
              <a:extLst>
                <a:ext uri="{FF2B5EF4-FFF2-40B4-BE49-F238E27FC236}">
                  <a16:creationId xmlns:a16="http://schemas.microsoft.com/office/drawing/2014/main" xmlns="" id="{AEE1E959-6738-514B-BC11-A0C6268B08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2" y="2367"/>
              <a:ext cx="692" cy="2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</a:endParaRPr>
            </a:p>
          </p:txBody>
        </p:sp>
        <p:grpSp>
          <p:nvGrpSpPr>
            <p:cNvPr id="115" name="Group 83">
              <a:extLst>
                <a:ext uri="{FF2B5EF4-FFF2-40B4-BE49-F238E27FC236}">
                  <a16:creationId xmlns:a16="http://schemas.microsoft.com/office/drawing/2014/main" xmlns="" id="{B7857F88-08E3-E240-A20C-5162D29690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6" y="2363"/>
              <a:ext cx="539" cy="252"/>
              <a:chOff x="4306" y="2273"/>
              <a:chExt cx="539" cy="252"/>
            </a:xfrm>
          </p:grpSpPr>
          <p:sp>
            <p:nvSpPr>
              <p:cNvPr id="116" name="Rectangle 72">
                <a:extLst>
                  <a:ext uri="{FF2B5EF4-FFF2-40B4-BE49-F238E27FC236}">
                    <a16:creationId xmlns:a16="http://schemas.microsoft.com/office/drawing/2014/main" xmlns="" id="{597ACCEC-4FF2-6B40-8454-C2F1F6A7C1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9" y="2365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17" name="Text Box 43">
                <a:extLst>
                  <a:ext uri="{FF2B5EF4-FFF2-40B4-BE49-F238E27FC236}">
                    <a16:creationId xmlns:a16="http://schemas.microsoft.com/office/drawing/2014/main" xmlns="" id="{361D7D30-A4D4-5C44-878A-9FE3CEA441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06" y="2273"/>
                <a:ext cx="53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access</a:t>
                </a:r>
              </a:p>
            </p:txBody>
          </p:sp>
        </p:grpSp>
      </p:grpSp>
      <p:grpSp>
        <p:nvGrpSpPr>
          <p:cNvPr id="118" name="Group 81">
            <a:extLst>
              <a:ext uri="{FF2B5EF4-FFF2-40B4-BE49-F238E27FC236}">
                <a16:creationId xmlns:a16="http://schemas.microsoft.com/office/drawing/2014/main" xmlns="" id="{CCEC4E82-EFC9-4646-BCEE-C0B8C7E94B5A}"/>
              </a:ext>
            </a:extLst>
          </p:cNvPr>
          <p:cNvGrpSpPr>
            <a:grpSpLocks/>
          </p:cNvGrpSpPr>
          <p:nvPr/>
        </p:nvGrpSpPr>
        <p:grpSpPr bwMode="auto">
          <a:xfrm>
            <a:off x="1704581" y="1762123"/>
            <a:ext cx="1066800" cy="565150"/>
            <a:chOff x="527" y="1047"/>
            <a:chExt cx="855" cy="486"/>
          </a:xfrm>
        </p:grpSpPr>
        <p:sp>
          <p:nvSpPr>
            <p:cNvPr id="119" name="AutoShape 67">
              <a:extLst>
                <a:ext uri="{FF2B5EF4-FFF2-40B4-BE49-F238E27FC236}">
                  <a16:creationId xmlns:a16="http://schemas.microsoft.com/office/drawing/2014/main" xmlns="" id="{3FF0F743-E4ED-2B41-96D3-06A33C244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" y="1047"/>
              <a:ext cx="855" cy="486"/>
            </a:xfrm>
            <a:prstGeom prst="can">
              <a:avLst>
                <a:gd name="adj" fmla="val 25000"/>
              </a:avLst>
            </a:prstGeom>
            <a:solidFill>
              <a:srgbClr val="3333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endParaRPr>
            </a:p>
          </p:txBody>
        </p:sp>
        <p:sp>
          <p:nvSpPr>
            <p:cNvPr id="120" name="Text Box 60">
              <a:extLst>
                <a:ext uri="{FF2B5EF4-FFF2-40B4-BE49-F238E27FC236}">
                  <a16:creationId xmlns:a16="http://schemas.microsoft.com/office/drawing/2014/main" xmlns="" id="{6117DA15-C6DD-B847-B11A-0D6EFDBC12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" y="1193"/>
              <a:ext cx="805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ebay</a:t>
              </a:r>
              <a:r>
                <a:rPr kumimoji="0" lang="en-US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 8734</a:t>
              </a:r>
            </a:p>
          </p:txBody>
        </p:sp>
      </p:grpSp>
      <p:grpSp>
        <p:nvGrpSpPr>
          <p:cNvPr id="121" name="Group 95">
            <a:extLst>
              <a:ext uri="{FF2B5EF4-FFF2-40B4-BE49-F238E27FC236}">
                <a16:creationId xmlns:a16="http://schemas.microsoft.com/office/drawing/2014/main" xmlns="" id="{6419469C-19C4-3947-B461-0398BDE5A56E}"/>
              </a:ext>
            </a:extLst>
          </p:cNvPr>
          <p:cNvGrpSpPr>
            <a:grpSpLocks/>
          </p:cNvGrpSpPr>
          <p:nvPr/>
        </p:nvGrpSpPr>
        <p:grpSpPr bwMode="auto">
          <a:xfrm>
            <a:off x="2952356" y="1946272"/>
            <a:ext cx="6972540" cy="1301749"/>
            <a:chOff x="1386" y="1327"/>
            <a:chExt cx="3730" cy="820"/>
          </a:xfrm>
        </p:grpSpPr>
        <p:sp>
          <p:nvSpPr>
            <p:cNvPr id="122" name="Line 4">
              <a:extLst>
                <a:ext uri="{FF2B5EF4-FFF2-40B4-BE49-F238E27FC236}">
                  <a16:creationId xmlns:a16="http://schemas.microsoft.com/office/drawing/2014/main" xmlns="" id="{53358BBA-04B8-9D40-89A7-C1749138D1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6" y="1355"/>
              <a:ext cx="2082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</a:endParaRPr>
            </a:p>
          </p:txBody>
        </p:sp>
        <p:sp>
          <p:nvSpPr>
            <p:cNvPr id="123" name="Text Box 8">
              <a:extLst>
                <a:ext uri="{FF2B5EF4-FFF2-40B4-BE49-F238E27FC236}">
                  <a16:creationId xmlns:a16="http://schemas.microsoft.com/office/drawing/2014/main" xmlns="" id="{437463ED-2B74-A04D-85BF-36A6CD1ADB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4" y="1327"/>
              <a:ext cx="1689" cy="2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usual HTTP request msg</a:t>
              </a:r>
            </a:p>
          </p:txBody>
        </p:sp>
        <p:sp>
          <p:nvSpPr>
            <p:cNvPr id="124" name="Text Box 31">
              <a:extLst>
                <a:ext uri="{FF2B5EF4-FFF2-40B4-BE49-F238E27FC236}">
                  <a16:creationId xmlns:a16="http://schemas.microsoft.com/office/drawing/2014/main" xmlns="" id="{8689192D-F56C-1640-861C-3C443D419F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0" y="1390"/>
              <a:ext cx="848" cy="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Amazon server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creates ID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1678 for user</a:t>
              </a:r>
              <a:endPara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endParaRPr>
            </a:p>
          </p:txBody>
        </p:sp>
        <p:grpSp>
          <p:nvGrpSpPr>
            <p:cNvPr id="125" name="Group 82">
              <a:extLst>
                <a:ext uri="{FF2B5EF4-FFF2-40B4-BE49-F238E27FC236}">
                  <a16:creationId xmlns:a16="http://schemas.microsoft.com/office/drawing/2014/main" xmlns="" id="{03DF1B1A-A9A9-854D-8891-346BB0DBAA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77" y="1730"/>
              <a:ext cx="739" cy="417"/>
              <a:chOff x="4377" y="1640"/>
              <a:chExt cx="739" cy="417"/>
            </a:xfrm>
          </p:grpSpPr>
          <p:sp>
            <p:nvSpPr>
              <p:cNvPr id="126" name="Line 40">
                <a:extLst>
                  <a:ext uri="{FF2B5EF4-FFF2-40B4-BE49-F238E27FC236}">
                    <a16:creationId xmlns:a16="http://schemas.microsoft.com/office/drawing/2014/main" xmlns="" id="{52C051AD-65C2-504B-9A70-F8E72303C4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7" y="1640"/>
                <a:ext cx="659" cy="4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27" name="Rectangle 73">
                <a:extLst>
                  <a:ext uri="{FF2B5EF4-FFF2-40B4-BE49-F238E27FC236}">
                    <a16:creationId xmlns:a16="http://schemas.microsoft.com/office/drawing/2014/main" xmlns="" id="{7F34673E-5298-3241-9317-86EC3DD70F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0" y="1729"/>
                <a:ext cx="602" cy="24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28" name="Text Box 41">
                <a:extLst>
                  <a:ext uri="{FF2B5EF4-FFF2-40B4-BE49-F238E27FC236}">
                    <a16:creationId xmlns:a16="http://schemas.microsoft.com/office/drawing/2014/main" xmlns="" id="{F17F9C36-958E-4C47-BE78-4A1A5F0726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1" y="1702"/>
                <a:ext cx="735" cy="3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7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create</a:t>
                </a:r>
              </a:p>
              <a:p>
                <a:pPr marL="0" marR="0" lvl="0" indent="0" defTabSz="914400" eaLnBrk="0" fontAlgn="base" latinLnBrk="0" hangingPunct="0">
                  <a:lnSpc>
                    <a:spcPct val="7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    entry</a:t>
                </a:r>
              </a:p>
            </p:txBody>
          </p:sp>
        </p:grpSp>
      </p:grpSp>
      <p:grpSp>
        <p:nvGrpSpPr>
          <p:cNvPr id="129" name="Group 88">
            <a:extLst>
              <a:ext uri="{FF2B5EF4-FFF2-40B4-BE49-F238E27FC236}">
                <a16:creationId xmlns:a16="http://schemas.microsoft.com/office/drawing/2014/main" xmlns="" id="{7A1CD3F5-FA12-5E48-9AC5-0FFB79FB2A15}"/>
              </a:ext>
            </a:extLst>
          </p:cNvPr>
          <p:cNvGrpSpPr>
            <a:grpSpLocks/>
          </p:cNvGrpSpPr>
          <p:nvPr/>
        </p:nvGrpSpPr>
        <p:grpSpPr bwMode="auto">
          <a:xfrm>
            <a:off x="1675603" y="2474086"/>
            <a:ext cx="5151555" cy="890270"/>
            <a:chOff x="462" y="1603"/>
            <a:chExt cx="3550" cy="719"/>
          </a:xfrm>
        </p:grpSpPr>
        <p:sp>
          <p:nvSpPr>
            <p:cNvPr id="130" name="Line 9">
              <a:extLst>
                <a:ext uri="{FF2B5EF4-FFF2-40B4-BE49-F238E27FC236}">
                  <a16:creationId xmlns:a16="http://schemas.microsoft.com/office/drawing/2014/main" xmlns="" id="{34D0E0B7-0FCE-BB41-80D4-74036A2750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04" y="1603"/>
              <a:ext cx="2608" cy="2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</a:endParaRPr>
            </a:p>
          </p:txBody>
        </p:sp>
        <p:sp>
          <p:nvSpPr>
            <p:cNvPr id="131" name="Text Box 11">
              <a:extLst>
                <a:ext uri="{FF2B5EF4-FFF2-40B4-BE49-F238E27FC236}">
                  <a16:creationId xmlns:a16="http://schemas.microsoft.com/office/drawing/2014/main" xmlns="" id="{C2A582BF-35AD-EC42-8C5E-BCF7C4420C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2" y="1650"/>
              <a:ext cx="1665" cy="51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usual HTTP response 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set-cookie: 1678 </a:t>
              </a:r>
            </a:p>
          </p:txBody>
        </p:sp>
        <p:grpSp>
          <p:nvGrpSpPr>
            <p:cNvPr id="132" name="Group 76">
              <a:extLst>
                <a:ext uri="{FF2B5EF4-FFF2-40B4-BE49-F238E27FC236}">
                  <a16:creationId xmlns:a16="http://schemas.microsoft.com/office/drawing/2014/main" xmlns="" id="{9B50E41F-6BE8-5B41-B57A-83E988A059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2" y="1836"/>
              <a:ext cx="1004" cy="486"/>
              <a:chOff x="687" y="1746"/>
              <a:chExt cx="1004" cy="486"/>
            </a:xfrm>
          </p:grpSpPr>
          <p:sp>
            <p:nvSpPr>
              <p:cNvPr id="133" name="AutoShape 74">
                <a:extLst>
                  <a:ext uri="{FF2B5EF4-FFF2-40B4-BE49-F238E27FC236}">
                    <a16:creationId xmlns:a16="http://schemas.microsoft.com/office/drawing/2014/main" xmlns="" id="{0B53BA64-2104-564F-AC68-42F70CD18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2" y="1746"/>
                <a:ext cx="735" cy="486"/>
              </a:xfrm>
              <a:prstGeom prst="can">
                <a:avLst>
                  <a:gd name="adj" fmla="val 25000"/>
                </a:avLst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34" name="Text Box 75">
                <a:extLst>
                  <a:ext uri="{FF2B5EF4-FFF2-40B4-BE49-F238E27FC236}">
                    <a16:creationId xmlns:a16="http://schemas.microsoft.com/office/drawing/2014/main" xmlns="" id="{40EF6721-60A7-E646-8306-ACE2C580AA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7" y="1836"/>
                <a:ext cx="1004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ebay</a:t>
                </a:r>
                <a:r>
                  <a:rPr kumimoji="0" lang="en-US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 8734</a:t>
                </a:r>
              </a:p>
              <a:p>
                <a:pPr marL="0" marR="0" lvl="0" indent="0" defTabSz="91440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amazon 1678</a:t>
                </a:r>
              </a:p>
            </p:txBody>
          </p:sp>
        </p:grpSp>
      </p:grpSp>
      <p:grpSp>
        <p:nvGrpSpPr>
          <p:cNvPr id="135" name="Group 93">
            <a:extLst>
              <a:ext uri="{FF2B5EF4-FFF2-40B4-BE49-F238E27FC236}">
                <a16:creationId xmlns:a16="http://schemas.microsoft.com/office/drawing/2014/main" xmlns="" id="{3301D1A0-4332-D44D-9339-6985DCD61D45}"/>
              </a:ext>
            </a:extLst>
          </p:cNvPr>
          <p:cNvGrpSpPr>
            <a:grpSpLocks/>
          </p:cNvGrpSpPr>
          <p:nvPr/>
        </p:nvGrpSpPr>
        <p:grpSpPr bwMode="auto">
          <a:xfrm>
            <a:off x="2994226" y="4365354"/>
            <a:ext cx="6781125" cy="2001838"/>
            <a:chOff x="1406" y="2641"/>
            <a:chExt cx="3562" cy="1261"/>
          </a:xfrm>
        </p:grpSpPr>
        <p:sp>
          <p:nvSpPr>
            <p:cNvPr id="136" name="Line 20">
              <a:extLst>
                <a:ext uri="{FF2B5EF4-FFF2-40B4-BE49-F238E27FC236}">
                  <a16:creationId xmlns:a16="http://schemas.microsoft.com/office/drawing/2014/main" xmlns="" id="{27A08B61-84D4-974B-B631-032C83422C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3293"/>
              <a:ext cx="2032" cy="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</a:endParaRPr>
            </a:p>
          </p:txBody>
        </p:sp>
        <p:sp>
          <p:nvSpPr>
            <p:cNvPr id="137" name="Text Box 23">
              <a:extLst>
                <a:ext uri="{FF2B5EF4-FFF2-40B4-BE49-F238E27FC236}">
                  <a16:creationId xmlns:a16="http://schemas.microsoft.com/office/drawing/2014/main" xmlns="" id="{C0FE6E20-0831-D147-9963-B3CABC0FF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1" y="3171"/>
              <a:ext cx="1689" cy="4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usual HTTP request msg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cookie: 1678</a:t>
              </a:r>
            </a:p>
          </p:txBody>
        </p:sp>
        <p:sp>
          <p:nvSpPr>
            <p:cNvPr id="138" name="Text Box 29">
              <a:extLst>
                <a:ext uri="{FF2B5EF4-FFF2-40B4-BE49-F238E27FC236}">
                  <a16:creationId xmlns:a16="http://schemas.microsoft.com/office/drawing/2014/main" xmlns="" id="{8241B379-77A9-114B-8D91-05EAB5E6D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9" y="3262"/>
              <a:ext cx="60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cookie-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specific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action</a:t>
              </a:r>
            </a:p>
          </p:txBody>
        </p:sp>
        <p:sp>
          <p:nvSpPr>
            <p:cNvPr id="139" name="Line 44">
              <a:extLst>
                <a:ext uri="{FF2B5EF4-FFF2-40B4-BE49-F238E27FC236}">
                  <a16:creationId xmlns:a16="http://schemas.microsoft.com/office/drawing/2014/main" xmlns="" id="{E200A986-F657-7343-BB4C-41C023FA53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1" y="2641"/>
              <a:ext cx="787" cy="8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</a:endParaRPr>
            </a:p>
          </p:txBody>
        </p:sp>
        <p:sp>
          <p:nvSpPr>
            <p:cNvPr id="140" name="Text Box 71">
              <a:extLst>
                <a:ext uri="{FF2B5EF4-FFF2-40B4-BE49-F238E27FC236}">
                  <a16:creationId xmlns:a16="http://schemas.microsoft.com/office/drawing/2014/main" xmlns="" id="{CCBDD99D-1C5A-2749-9C7B-9D0A6E0A3C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7" y="2939"/>
              <a:ext cx="539" cy="2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access</a:t>
              </a:r>
            </a:p>
          </p:txBody>
        </p:sp>
      </p:grpSp>
      <p:grpSp>
        <p:nvGrpSpPr>
          <p:cNvPr id="141" name="Group 77">
            <a:extLst>
              <a:ext uri="{FF2B5EF4-FFF2-40B4-BE49-F238E27FC236}">
                <a16:creationId xmlns:a16="http://schemas.microsoft.com/office/drawing/2014/main" xmlns="" id="{147D74CA-2DA8-1241-A8E8-3EF2E932E88E}"/>
              </a:ext>
            </a:extLst>
          </p:cNvPr>
          <p:cNvGrpSpPr>
            <a:grpSpLocks/>
          </p:cNvGrpSpPr>
          <p:nvPr/>
        </p:nvGrpSpPr>
        <p:grpSpPr bwMode="auto">
          <a:xfrm>
            <a:off x="1655687" y="5113066"/>
            <a:ext cx="1389062" cy="633978"/>
            <a:chOff x="702" y="1746"/>
            <a:chExt cx="1004" cy="486"/>
          </a:xfrm>
        </p:grpSpPr>
        <p:sp>
          <p:nvSpPr>
            <p:cNvPr id="142" name="AutoShape 78">
              <a:extLst>
                <a:ext uri="{FF2B5EF4-FFF2-40B4-BE49-F238E27FC236}">
                  <a16:creationId xmlns:a16="http://schemas.microsoft.com/office/drawing/2014/main" xmlns="" id="{19C72BA2-8506-044E-A290-911BA7AE5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" y="1746"/>
              <a:ext cx="773" cy="486"/>
            </a:xfrm>
            <a:prstGeom prst="can">
              <a:avLst>
                <a:gd name="adj" fmla="val 25000"/>
              </a:avLst>
            </a:prstGeom>
            <a:solidFill>
              <a:srgbClr val="3333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endParaRPr>
            </a:p>
          </p:txBody>
        </p:sp>
        <p:sp>
          <p:nvSpPr>
            <p:cNvPr id="143" name="Text Box 79">
              <a:extLst>
                <a:ext uri="{FF2B5EF4-FFF2-40B4-BE49-F238E27FC236}">
                  <a16:creationId xmlns:a16="http://schemas.microsoft.com/office/drawing/2014/main" xmlns="" id="{DF0A1B9A-EFCF-7042-A14D-D22FE4D35A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" y="1851"/>
              <a:ext cx="100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ebay</a:t>
              </a:r>
              <a:r>
                <a:rPr kumimoji="0" lang="en-US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 8734</a:t>
              </a:r>
            </a:p>
            <a:p>
              <a:pPr marL="0" marR="0" lvl="0" indent="0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amazon 1678</a:t>
              </a:r>
              <a:endPara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144" name="Text Box 80">
            <a:extLst>
              <a:ext uri="{FF2B5EF4-FFF2-40B4-BE49-F238E27FC236}">
                <a16:creationId xmlns:a16="http://schemas.microsoft.com/office/drawing/2014/main" xmlns="" id="{EC583638-A99A-9144-B11A-E459DCDD4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34963" y="2582111"/>
            <a:ext cx="114005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backend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database</a:t>
            </a:r>
          </a:p>
        </p:txBody>
      </p:sp>
      <p:sp>
        <p:nvSpPr>
          <p:cNvPr id="145" name="AutoShape 327">
            <a:extLst>
              <a:ext uri="{FF2B5EF4-FFF2-40B4-BE49-F238E27FC236}">
                <a16:creationId xmlns:a16="http://schemas.microsoft.com/office/drawing/2014/main" xmlns="" id="{774E3BE6-BFC9-C849-B588-B56E574DA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4838" y="3202824"/>
            <a:ext cx="592138" cy="908050"/>
          </a:xfrm>
          <a:prstGeom prst="can">
            <a:avLst>
              <a:gd name="adj" fmla="val 31004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46" name="Group 63">
            <a:extLst>
              <a:ext uri="{FF2B5EF4-FFF2-40B4-BE49-F238E27FC236}">
                <a16:creationId xmlns:a16="http://schemas.microsoft.com/office/drawing/2014/main" xmlns="" id="{1D650FE6-EFAF-DA42-B6C3-89E2D30D6710}"/>
              </a:ext>
            </a:extLst>
          </p:cNvPr>
          <p:cNvGrpSpPr>
            <a:grpSpLocks/>
          </p:cNvGrpSpPr>
          <p:nvPr/>
        </p:nvGrpSpPr>
        <p:grpSpPr bwMode="auto">
          <a:xfrm>
            <a:off x="6709231" y="1274501"/>
            <a:ext cx="351110" cy="610396"/>
            <a:chOff x="4140" y="429"/>
            <a:chExt cx="1425" cy="2396"/>
          </a:xfrm>
        </p:grpSpPr>
        <p:sp>
          <p:nvSpPr>
            <p:cNvPr id="147" name="Freeform 64">
              <a:extLst>
                <a:ext uri="{FF2B5EF4-FFF2-40B4-BE49-F238E27FC236}">
                  <a16:creationId xmlns:a16="http://schemas.microsoft.com/office/drawing/2014/main" xmlns="" id="{23F46B7A-88B4-C64E-A298-064AE8ED2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</a:endParaRPr>
            </a:p>
          </p:txBody>
        </p:sp>
        <p:sp>
          <p:nvSpPr>
            <p:cNvPr id="148" name="Rectangle 65">
              <a:extLst>
                <a:ext uri="{FF2B5EF4-FFF2-40B4-BE49-F238E27FC236}">
                  <a16:creationId xmlns:a16="http://schemas.microsoft.com/office/drawing/2014/main" xmlns="" id="{932E7E2F-358A-204B-ACA1-ECA34C748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5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endParaRPr>
            </a:p>
          </p:txBody>
        </p:sp>
        <p:sp>
          <p:nvSpPr>
            <p:cNvPr id="149" name="Freeform 66">
              <a:extLst>
                <a:ext uri="{FF2B5EF4-FFF2-40B4-BE49-F238E27FC236}">
                  <a16:creationId xmlns:a16="http://schemas.microsoft.com/office/drawing/2014/main" xmlns="" id="{5AD2CC4E-2BC1-3742-B273-CCF955749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</a:endParaRPr>
            </a:p>
          </p:txBody>
        </p:sp>
        <p:sp>
          <p:nvSpPr>
            <p:cNvPr id="150" name="Freeform 67">
              <a:extLst>
                <a:ext uri="{FF2B5EF4-FFF2-40B4-BE49-F238E27FC236}">
                  <a16:creationId xmlns:a16="http://schemas.microsoft.com/office/drawing/2014/main" xmlns="" id="{1DBFB074-4990-854E-B454-9FF52C6C4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</a:endParaRPr>
            </a:p>
          </p:txBody>
        </p:sp>
        <p:sp>
          <p:nvSpPr>
            <p:cNvPr id="151" name="Rectangle 68">
              <a:extLst>
                <a:ext uri="{FF2B5EF4-FFF2-40B4-BE49-F238E27FC236}">
                  <a16:creationId xmlns:a16="http://schemas.microsoft.com/office/drawing/2014/main" xmlns="" id="{BE0EBEA8-CD1D-5047-B6F1-2FAA1FF32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5"/>
              <a:ext cx="594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endParaRPr>
            </a:p>
          </p:txBody>
        </p:sp>
        <p:grpSp>
          <p:nvGrpSpPr>
            <p:cNvPr id="152" name="Group 69">
              <a:extLst>
                <a:ext uri="{FF2B5EF4-FFF2-40B4-BE49-F238E27FC236}">
                  <a16:creationId xmlns:a16="http://schemas.microsoft.com/office/drawing/2014/main" xmlns="" id="{FB3D83DD-33C0-D64F-AEA3-0EDE478970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77" name="AutoShape 70">
                <a:extLst>
                  <a:ext uri="{FF2B5EF4-FFF2-40B4-BE49-F238E27FC236}">
                    <a16:creationId xmlns:a16="http://schemas.microsoft.com/office/drawing/2014/main" xmlns="" id="{9F58D14A-E308-6E43-8765-29117CEB2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78" name="AutoShape 71">
                <a:extLst>
                  <a:ext uri="{FF2B5EF4-FFF2-40B4-BE49-F238E27FC236}">
                    <a16:creationId xmlns:a16="http://schemas.microsoft.com/office/drawing/2014/main" xmlns="" id="{990E0E9A-D7D4-F540-994A-F5A32D42A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0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53" name="Rectangle 72">
              <a:extLst>
                <a:ext uri="{FF2B5EF4-FFF2-40B4-BE49-F238E27FC236}">
                  <a16:creationId xmlns:a16="http://schemas.microsoft.com/office/drawing/2014/main" xmlns="" id="{914BF847-475C-7C47-96A4-CAFCCACEC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21"/>
              <a:ext cx="600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endParaRPr>
            </a:p>
          </p:txBody>
        </p:sp>
        <p:grpSp>
          <p:nvGrpSpPr>
            <p:cNvPr id="154" name="Group 73">
              <a:extLst>
                <a:ext uri="{FF2B5EF4-FFF2-40B4-BE49-F238E27FC236}">
                  <a16:creationId xmlns:a16="http://schemas.microsoft.com/office/drawing/2014/main" xmlns="" id="{A276F146-AB6A-8C4E-BD8B-856A510CB0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75" name="AutoShape 74">
                <a:extLst>
                  <a:ext uri="{FF2B5EF4-FFF2-40B4-BE49-F238E27FC236}">
                    <a16:creationId xmlns:a16="http://schemas.microsoft.com/office/drawing/2014/main" xmlns="" id="{FB783255-C8AF-CD4E-84DF-1573DF917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76" name="AutoShape 75">
                <a:extLst>
                  <a:ext uri="{FF2B5EF4-FFF2-40B4-BE49-F238E27FC236}">
                    <a16:creationId xmlns:a16="http://schemas.microsoft.com/office/drawing/2014/main" xmlns="" id="{46E81119-BF44-D945-96D2-7A6A2F19EC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5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55" name="Rectangle 76">
              <a:extLst>
                <a:ext uri="{FF2B5EF4-FFF2-40B4-BE49-F238E27FC236}">
                  <a16:creationId xmlns:a16="http://schemas.microsoft.com/office/drawing/2014/main" xmlns="" id="{823BB60D-416A-0746-BBEF-9DC4528B9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6"/>
              <a:ext cx="594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endParaRPr>
            </a:p>
          </p:txBody>
        </p:sp>
        <p:sp>
          <p:nvSpPr>
            <p:cNvPr id="156" name="Rectangle 77">
              <a:extLst>
                <a:ext uri="{FF2B5EF4-FFF2-40B4-BE49-F238E27FC236}">
                  <a16:creationId xmlns:a16="http://schemas.microsoft.com/office/drawing/2014/main" xmlns="" id="{500EA440-64F5-FE43-A9CD-EC38855A5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7"/>
              <a:ext cx="594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endParaRPr>
            </a:p>
          </p:txBody>
        </p:sp>
        <p:grpSp>
          <p:nvGrpSpPr>
            <p:cNvPr id="157" name="Group 78">
              <a:extLst>
                <a:ext uri="{FF2B5EF4-FFF2-40B4-BE49-F238E27FC236}">
                  <a16:creationId xmlns:a16="http://schemas.microsoft.com/office/drawing/2014/main" xmlns="" id="{014CE493-B3CF-454F-97A3-BF80992E34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73" name="AutoShape 79">
                <a:extLst>
                  <a:ext uri="{FF2B5EF4-FFF2-40B4-BE49-F238E27FC236}">
                    <a16:creationId xmlns:a16="http://schemas.microsoft.com/office/drawing/2014/main" xmlns="" id="{40259673-2628-3C41-9A32-A9512F4B29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7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74" name="AutoShape 80">
                <a:extLst>
                  <a:ext uri="{FF2B5EF4-FFF2-40B4-BE49-F238E27FC236}">
                    <a16:creationId xmlns:a16="http://schemas.microsoft.com/office/drawing/2014/main" xmlns="" id="{F5B75204-14D3-4949-85E6-E03DC06378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2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58" name="Freeform 81">
              <a:extLst>
                <a:ext uri="{FF2B5EF4-FFF2-40B4-BE49-F238E27FC236}">
                  <a16:creationId xmlns:a16="http://schemas.microsoft.com/office/drawing/2014/main" xmlns="" id="{C088528D-4021-6642-8A80-03351DCF2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</a:endParaRPr>
            </a:p>
          </p:txBody>
        </p:sp>
        <p:grpSp>
          <p:nvGrpSpPr>
            <p:cNvPr id="159" name="Group 82">
              <a:extLst>
                <a:ext uri="{FF2B5EF4-FFF2-40B4-BE49-F238E27FC236}">
                  <a16:creationId xmlns:a16="http://schemas.microsoft.com/office/drawing/2014/main" xmlns="" id="{1859255F-C0C6-124B-9F92-5E236F8BD3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71" name="AutoShape 83">
                <a:extLst>
                  <a:ext uri="{FF2B5EF4-FFF2-40B4-BE49-F238E27FC236}">
                    <a16:creationId xmlns:a16="http://schemas.microsoft.com/office/drawing/2014/main" xmlns="" id="{C035ED52-DDB2-C843-9FFF-5BC45A6C06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72" name="AutoShape 84">
                <a:extLst>
                  <a:ext uri="{FF2B5EF4-FFF2-40B4-BE49-F238E27FC236}">
                    <a16:creationId xmlns:a16="http://schemas.microsoft.com/office/drawing/2014/main" xmlns="" id="{E3C20259-037C-3641-A789-24D0DCCDCA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60" name="Rectangle 85">
              <a:extLst>
                <a:ext uri="{FF2B5EF4-FFF2-40B4-BE49-F238E27FC236}">
                  <a16:creationId xmlns:a16="http://schemas.microsoft.com/office/drawing/2014/main" xmlns="" id="{AAA45EA2-DB28-264A-8894-70368F48D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endParaRPr>
            </a:p>
          </p:txBody>
        </p:sp>
        <p:sp>
          <p:nvSpPr>
            <p:cNvPr id="161" name="Freeform 86">
              <a:extLst>
                <a:ext uri="{FF2B5EF4-FFF2-40B4-BE49-F238E27FC236}">
                  <a16:creationId xmlns:a16="http://schemas.microsoft.com/office/drawing/2014/main" xmlns="" id="{056A9634-8A28-174F-BB52-3C9B4E969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</a:endParaRPr>
            </a:p>
          </p:txBody>
        </p:sp>
        <p:sp>
          <p:nvSpPr>
            <p:cNvPr id="162" name="Freeform 87">
              <a:extLst>
                <a:ext uri="{FF2B5EF4-FFF2-40B4-BE49-F238E27FC236}">
                  <a16:creationId xmlns:a16="http://schemas.microsoft.com/office/drawing/2014/main" xmlns="" id="{28B4EE70-3F36-D84A-BBF7-26FCDCAB2C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</a:endParaRPr>
            </a:p>
          </p:txBody>
        </p:sp>
        <p:sp>
          <p:nvSpPr>
            <p:cNvPr id="163" name="Oval 88">
              <a:extLst>
                <a:ext uri="{FF2B5EF4-FFF2-40B4-BE49-F238E27FC236}">
                  <a16:creationId xmlns:a16="http://schemas.microsoft.com/office/drawing/2014/main" xmlns="" id="{AFA23CDD-2C19-364F-8CB6-E34A3A50A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3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endParaRPr>
            </a:p>
          </p:txBody>
        </p:sp>
        <p:sp>
          <p:nvSpPr>
            <p:cNvPr id="164" name="Freeform 89">
              <a:extLst>
                <a:ext uri="{FF2B5EF4-FFF2-40B4-BE49-F238E27FC236}">
                  <a16:creationId xmlns:a16="http://schemas.microsoft.com/office/drawing/2014/main" xmlns="" id="{C80FF08C-B05A-5742-B82B-9D6BFBFA2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</a:endParaRPr>
            </a:p>
          </p:txBody>
        </p:sp>
        <p:sp>
          <p:nvSpPr>
            <p:cNvPr id="165" name="AutoShape 90">
              <a:extLst>
                <a:ext uri="{FF2B5EF4-FFF2-40B4-BE49-F238E27FC236}">
                  <a16:creationId xmlns:a16="http://schemas.microsoft.com/office/drawing/2014/main" xmlns="" id="{D46EF758-7531-924C-8A33-5AC571E08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endParaRPr>
            </a:p>
          </p:txBody>
        </p:sp>
        <p:sp>
          <p:nvSpPr>
            <p:cNvPr id="166" name="AutoShape 91">
              <a:extLst>
                <a:ext uri="{FF2B5EF4-FFF2-40B4-BE49-F238E27FC236}">
                  <a16:creationId xmlns:a16="http://schemas.microsoft.com/office/drawing/2014/main" xmlns="" id="{E252E208-3522-884B-9DE7-7EB157685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2"/>
              <a:ext cx="1067" cy="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endParaRPr>
            </a:p>
          </p:txBody>
        </p:sp>
        <p:sp>
          <p:nvSpPr>
            <p:cNvPr id="167" name="Oval 92">
              <a:extLst>
                <a:ext uri="{FF2B5EF4-FFF2-40B4-BE49-F238E27FC236}">
                  <a16:creationId xmlns:a16="http://schemas.microsoft.com/office/drawing/2014/main" xmlns="" id="{957DD520-6280-3E4E-BAD7-651F51413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" y="2381"/>
              <a:ext cx="154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endParaRPr>
            </a:p>
          </p:txBody>
        </p:sp>
        <p:sp>
          <p:nvSpPr>
            <p:cNvPr id="168" name="Oval 93">
              <a:extLst>
                <a:ext uri="{FF2B5EF4-FFF2-40B4-BE49-F238E27FC236}">
                  <a16:creationId xmlns:a16="http://schemas.microsoft.com/office/drawing/2014/main" xmlns="" id="{ECF80637-5F56-1F4E-A6A8-ED0FA8AC5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69" name="Oval 94">
              <a:extLst>
                <a:ext uri="{FF2B5EF4-FFF2-40B4-BE49-F238E27FC236}">
                  <a16:creationId xmlns:a16="http://schemas.microsoft.com/office/drawing/2014/main" xmlns="" id="{FFEB5237-B81D-9B45-A444-21BB499020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1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endParaRPr>
            </a:p>
          </p:txBody>
        </p:sp>
        <p:sp>
          <p:nvSpPr>
            <p:cNvPr id="170" name="Rectangle 95">
              <a:extLst>
                <a:ext uri="{FF2B5EF4-FFF2-40B4-BE49-F238E27FC236}">
                  <a16:creationId xmlns:a16="http://schemas.microsoft.com/office/drawing/2014/main" xmlns="" id="{8C2A523A-6ED6-094A-8260-B51956D79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4"/>
              <a:ext cx="83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79" name="Group 96">
            <a:extLst>
              <a:ext uri="{FF2B5EF4-FFF2-40B4-BE49-F238E27FC236}">
                <a16:creationId xmlns:a16="http://schemas.microsoft.com/office/drawing/2014/main" xmlns="" id="{079DFC6E-4E8A-7B4D-8113-190A0989D0FB}"/>
              </a:ext>
            </a:extLst>
          </p:cNvPr>
          <p:cNvGrpSpPr>
            <a:grpSpLocks/>
          </p:cNvGrpSpPr>
          <p:nvPr/>
        </p:nvGrpSpPr>
        <p:grpSpPr bwMode="auto">
          <a:xfrm>
            <a:off x="2734523" y="1369488"/>
            <a:ext cx="667783" cy="586047"/>
            <a:chOff x="-44" y="1473"/>
            <a:chExt cx="981" cy="1105"/>
          </a:xfrm>
        </p:grpSpPr>
        <p:pic>
          <p:nvPicPr>
            <p:cNvPr id="180" name="Picture 97" descr="desktop_computer_stylized_medium">
              <a:extLst>
                <a:ext uri="{FF2B5EF4-FFF2-40B4-BE49-F238E27FC236}">
                  <a16:creationId xmlns:a16="http://schemas.microsoft.com/office/drawing/2014/main" xmlns="" id="{FB14A9C2-A921-3747-8B81-81EE51820A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" name="Freeform 98">
              <a:extLst>
                <a:ext uri="{FF2B5EF4-FFF2-40B4-BE49-F238E27FC236}">
                  <a16:creationId xmlns:a16="http://schemas.microsoft.com/office/drawing/2014/main" xmlns="" id="{9C2960BD-B3C9-AE44-9E68-217EF326BFC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88" name="Line 15">
            <a:extLst>
              <a:ext uri="{FF2B5EF4-FFF2-40B4-BE49-F238E27FC236}">
                <a16:creationId xmlns:a16="http://schemas.microsoft.com/office/drawing/2014/main" xmlns="" id="{9030FA43-2615-A74C-949D-871EDD5258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99897" y="1993139"/>
            <a:ext cx="510" cy="4465805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89" name="Text Box 37">
            <a:extLst>
              <a:ext uri="{FF2B5EF4-FFF2-40B4-BE49-F238E27FC236}">
                <a16:creationId xmlns:a16="http://schemas.microsoft.com/office/drawing/2014/main" xmlns="" id="{7717F97B-37DE-2442-8F9E-81FB9F33A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707" y="6459827"/>
            <a:ext cx="5196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time</a:t>
            </a: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xmlns="" id="{6E5A588C-0539-7140-B8E3-80735DCD2D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67352" y="2001551"/>
            <a:ext cx="510" cy="4465805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91" name="Text Box 37">
            <a:extLst>
              <a:ext uri="{FF2B5EF4-FFF2-40B4-BE49-F238E27FC236}">
                <a16:creationId xmlns:a16="http://schemas.microsoft.com/office/drawing/2014/main" xmlns="" id="{716E4165-7532-204E-993F-D649CD871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4162" y="6468239"/>
            <a:ext cx="5196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4152592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3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  <p:bldP spid="10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HTTP cookies: comments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xmlns="" id="{7CD5F1C3-47BC-1645-A288-078B99127C22}"/>
              </a:ext>
            </a:extLst>
          </p:cNvPr>
          <p:cNvSpPr txBox="1">
            <a:spLocks noChangeArrowheads="1"/>
          </p:cNvSpPr>
          <p:nvPr/>
        </p:nvSpPr>
        <p:spPr>
          <a:xfrm>
            <a:off x="648049" y="1556443"/>
            <a:ext cx="6034668" cy="26416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5000"/>
              </a:lnSpc>
              <a:buFont typeface="Wingdings" pitchFamily="2" charset="2"/>
              <a:buNone/>
            </a:pPr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What cookies can be used for:</a:t>
            </a:r>
          </a:p>
          <a:p>
            <a:pPr>
              <a:lnSpc>
                <a:spcPct val="75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authorization</a:t>
            </a:r>
          </a:p>
          <a:p>
            <a:pPr>
              <a:lnSpc>
                <a:spcPct val="75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shopping carts</a:t>
            </a:r>
          </a:p>
          <a:p>
            <a:pPr>
              <a:lnSpc>
                <a:spcPct val="75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recommendations</a:t>
            </a:r>
          </a:p>
          <a:p>
            <a:pPr>
              <a:lnSpc>
                <a:spcPct val="75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user session state (Web e-mail)</a:t>
            </a:r>
          </a:p>
        </p:txBody>
      </p:sp>
      <p:sp>
        <p:nvSpPr>
          <p:cNvPr id="89" name="Rectangle 13">
            <a:extLst>
              <a:ext uri="{FF2B5EF4-FFF2-40B4-BE49-F238E27FC236}">
                <a16:creationId xmlns:a16="http://schemas.microsoft.com/office/drawing/2014/main" xmlns="" id="{BC2253F6-EA38-7C47-9CAD-4C2EC6BB2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291" y="1568189"/>
            <a:ext cx="3810000" cy="3553646"/>
          </a:xfrm>
          <a:prstGeom prst="rect">
            <a:avLst/>
          </a:prstGeom>
          <a:noFill/>
          <a:ln w="1905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i="1" dirty="0">
                <a:solidFill>
                  <a:srgbClr val="CC0000"/>
                </a:solidFill>
                <a:latin typeface="+mn-lt"/>
              </a:rPr>
              <a:t>cookies and privacy:</a:t>
            </a:r>
          </a:p>
          <a:p>
            <a:pPr>
              <a:lnSpc>
                <a:spcPct val="90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400" dirty="0">
                <a:latin typeface="+mn-lt"/>
              </a:rPr>
              <a:t>cookies permit sites to </a:t>
            </a:r>
            <a:r>
              <a:rPr lang="en-US" altLang="en-US" sz="2400" i="1" dirty="0">
                <a:latin typeface="+mn-lt"/>
              </a:rPr>
              <a:t>learn</a:t>
            </a:r>
            <a:r>
              <a:rPr lang="en-US" altLang="en-US" sz="2400" dirty="0">
                <a:latin typeface="+mn-lt"/>
              </a:rPr>
              <a:t> a lot about you on their site.</a:t>
            </a:r>
          </a:p>
          <a:p>
            <a:pPr>
              <a:lnSpc>
                <a:spcPct val="90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400" dirty="0">
                <a:latin typeface="+mn-lt"/>
              </a:rPr>
              <a:t>third party persistent cookies (tracking cookies) allow common identity (cookie value) to be tracked across multiple web sites</a:t>
            </a:r>
          </a:p>
        </p:txBody>
      </p:sp>
      <p:sp>
        <p:nvSpPr>
          <p:cNvPr id="90" name="Text Box 14">
            <a:extLst>
              <a:ext uri="{FF2B5EF4-FFF2-40B4-BE49-F238E27FC236}">
                <a16:creationId xmlns:a16="http://schemas.microsoft.com/office/drawing/2014/main" xmlns="" id="{D023EC46-D7D8-D04C-9048-D7EFE18FF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9568" y="1325611"/>
            <a:ext cx="838691" cy="4616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99"/>
                </a:solidFill>
                <a:latin typeface="+mn-lt"/>
              </a:rPr>
              <a:t>aside</a:t>
            </a:r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xmlns="" id="{2C2FE22D-B17F-7C44-AE2F-824976586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562" y="3980757"/>
            <a:ext cx="6689454" cy="264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800" i="1" dirty="0">
                <a:solidFill>
                  <a:srgbClr val="CC0000"/>
                </a:solidFill>
                <a:latin typeface="+mn-lt"/>
              </a:rPr>
              <a:t>Challenge: How to keep </a:t>
            </a:r>
            <a:r>
              <a:rPr lang="en-US" altLang="ja-JP" sz="2800" i="1" dirty="0">
                <a:solidFill>
                  <a:srgbClr val="CC0000"/>
                </a:solidFill>
                <a:latin typeface="+mn-lt"/>
              </a:rPr>
              <a:t>state:</a:t>
            </a:r>
          </a:p>
          <a:p>
            <a:pPr>
              <a:lnSpc>
                <a:spcPct val="90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400" dirty="0">
                <a:latin typeface="+mn-lt"/>
              </a:rPr>
              <a:t>protocol endpoints: maintain state at sender/receiver over multiple transactions</a:t>
            </a:r>
          </a:p>
          <a:p>
            <a:pPr>
              <a:lnSpc>
                <a:spcPct val="90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400" dirty="0">
                <a:latin typeface="+mn-lt"/>
              </a:rPr>
              <a:t>cookies: HTTP messages carry state</a:t>
            </a:r>
          </a:p>
        </p:txBody>
      </p:sp>
    </p:spTree>
    <p:extLst>
      <p:ext uri="{BB962C8B-B14F-4D97-AF65-F5344CB8AC3E}">
        <p14:creationId xmlns:p14="http://schemas.microsoft.com/office/powerpoint/2010/main" val="40777243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Web caches (proxy servers)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  <p:grpSp>
        <p:nvGrpSpPr>
          <p:cNvPr id="8" name="Group 171">
            <a:extLst>
              <a:ext uri="{FF2B5EF4-FFF2-40B4-BE49-F238E27FC236}">
                <a16:creationId xmlns:a16="http://schemas.microsoft.com/office/drawing/2014/main" xmlns="" id="{E76E25C6-83D0-304F-B3E3-A37D3DAE7B5C}"/>
              </a:ext>
            </a:extLst>
          </p:cNvPr>
          <p:cNvGrpSpPr>
            <a:grpSpLocks/>
          </p:cNvGrpSpPr>
          <p:nvPr/>
        </p:nvGrpSpPr>
        <p:grpSpPr bwMode="auto">
          <a:xfrm>
            <a:off x="6272213" y="2445088"/>
            <a:ext cx="687387" cy="763588"/>
            <a:chOff x="-44" y="1473"/>
            <a:chExt cx="981" cy="1105"/>
          </a:xfrm>
        </p:grpSpPr>
        <p:pic>
          <p:nvPicPr>
            <p:cNvPr id="10" name="Picture 172" descr="desktop_computer_stylized_medium">
              <a:extLst>
                <a:ext uri="{FF2B5EF4-FFF2-40B4-BE49-F238E27FC236}">
                  <a16:creationId xmlns:a16="http://schemas.microsoft.com/office/drawing/2014/main" xmlns="" id="{CB2AE99F-D134-A74A-947C-5E7B017C1D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Freeform 173">
              <a:extLst>
                <a:ext uri="{FF2B5EF4-FFF2-40B4-BE49-F238E27FC236}">
                  <a16:creationId xmlns:a16="http://schemas.microsoft.com/office/drawing/2014/main" xmlns="" id="{CC3CBC7E-C664-ED4A-8BFE-4C6C0A390F2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2" name="Group 102">
            <a:extLst>
              <a:ext uri="{FF2B5EF4-FFF2-40B4-BE49-F238E27FC236}">
                <a16:creationId xmlns:a16="http://schemas.microsoft.com/office/drawing/2014/main" xmlns="" id="{341AE079-CB6E-AE4A-A6CF-6667D0BCC3A6}"/>
              </a:ext>
            </a:extLst>
          </p:cNvPr>
          <p:cNvGrpSpPr>
            <a:grpSpLocks/>
          </p:cNvGrpSpPr>
          <p:nvPr/>
        </p:nvGrpSpPr>
        <p:grpSpPr bwMode="auto">
          <a:xfrm>
            <a:off x="6337300" y="4318338"/>
            <a:ext cx="687388" cy="763588"/>
            <a:chOff x="-44" y="1473"/>
            <a:chExt cx="981" cy="1105"/>
          </a:xfrm>
        </p:grpSpPr>
        <p:pic>
          <p:nvPicPr>
            <p:cNvPr id="13" name="Picture 103" descr="desktop_computer_stylized_medium">
              <a:extLst>
                <a:ext uri="{FF2B5EF4-FFF2-40B4-BE49-F238E27FC236}">
                  <a16:creationId xmlns:a16="http://schemas.microsoft.com/office/drawing/2014/main" xmlns="" id="{0F7D667F-14F5-8947-8466-5A2508D1FF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Freeform 104">
              <a:extLst>
                <a:ext uri="{FF2B5EF4-FFF2-40B4-BE49-F238E27FC236}">
                  <a16:creationId xmlns:a16="http://schemas.microsoft.com/office/drawing/2014/main" xmlns="" id="{1CCE495C-FE29-374C-9BCD-5BFBA55DE77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5" name="Group 138">
            <a:extLst>
              <a:ext uri="{FF2B5EF4-FFF2-40B4-BE49-F238E27FC236}">
                <a16:creationId xmlns:a16="http://schemas.microsoft.com/office/drawing/2014/main" xmlns="" id="{BCAE7764-70F3-6C4D-BAB2-DE0B7C89D816}"/>
              </a:ext>
            </a:extLst>
          </p:cNvPr>
          <p:cNvGrpSpPr>
            <a:grpSpLocks/>
          </p:cNvGrpSpPr>
          <p:nvPr/>
        </p:nvGrpSpPr>
        <p:grpSpPr bwMode="auto">
          <a:xfrm>
            <a:off x="8475663" y="3207088"/>
            <a:ext cx="400050" cy="715963"/>
            <a:chOff x="4140" y="429"/>
            <a:chExt cx="1425" cy="2396"/>
          </a:xfrm>
        </p:grpSpPr>
        <p:sp>
          <p:nvSpPr>
            <p:cNvPr id="16" name="Freeform 139">
              <a:extLst>
                <a:ext uri="{FF2B5EF4-FFF2-40B4-BE49-F238E27FC236}">
                  <a16:creationId xmlns:a16="http://schemas.microsoft.com/office/drawing/2014/main" xmlns="" id="{F1B2DFA0-F79D-7B41-AEB4-30CE9076E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140">
              <a:extLst>
                <a:ext uri="{FF2B5EF4-FFF2-40B4-BE49-F238E27FC236}">
                  <a16:creationId xmlns:a16="http://schemas.microsoft.com/office/drawing/2014/main" xmlns="" id="{C5E2EFBB-BBC5-9A42-BB0E-E6D6D2C22E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18" name="Freeform 141">
              <a:extLst>
                <a:ext uri="{FF2B5EF4-FFF2-40B4-BE49-F238E27FC236}">
                  <a16:creationId xmlns:a16="http://schemas.microsoft.com/office/drawing/2014/main" xmlns="" id="{55529617-AF40-4A4A-B8BE-0A1D9AFF9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42">
              <a:extLst>
                <a:ext uri="{FF2B5EF4-FFF2-40B4-BE49-F238E27FC236}">
                  <a16:creationId xmlns:a16="http://schemas.microsoft.com/office/drawing/2014/main" xmlns="" id="{CD96A818-3AB4-9749-B364-C94B61E39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Rectangle 143">
              <a:extLst>
                <a:ext uri="{FF2B5EF4-FFF2-40B4-BE49-F238E27FC236}">
                  <a16:creationId xmlns:a16="http://schemas.microsoft.com/office/drawing/2014/main" xmlns="" id="{6CB7A8CB-28B7-454A-B6FA-0B497C6EA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5"/>
              <a:ext cx="594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grpSp>
          <p:nvGrpSpPr>
            <p:cNvPr id="21" name="Group 144">
              <a:extLst>
                <a:ext uri="{FF2B5EF4-FFF2-40B4-BE49-F238E27FC236}">
                  <a16:creationId xmlns:a16="http://schemas.microsoft.com/office/drawing/2014/main" xmlns="" id="{B151228D-C4D6-FC47-B4C4-E4FEAAC8EB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6" name="AutoShape 145">
                <a:extLst>
                  <a:ext uri="{FF2B5EF4-FFF2-40B4-BE49-F238E27FC236}">
                    <a16:creationId xmlns:a16="http://schemas.microsoft.com/office/drawing/2014/main" xmlns="" id="{581E8E47-6DB1-F54B-9476-01B6F2E300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  <p:sp>
            <p:nvSpPr>
              <p:cNvPr id="47" name="AutoShape 146">
                <a:extLst>
                  <a:ext uri="{FF2B5EF4-FFF2-40B4-BE49-F238E27FC236}">
                    <a16:creationId xmlns:a16="http://schemas.microsoft.com/office/drawing/2014/main" xmlns="" id="{7F2D9B2C-626D-344A-83E2-C990F84150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7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</p:grpSp>
        <p:sp>
          <p:nvSpPr>
            <p:cNvPr id="22" name="Rectangle 147">
              <a:extLst>
                <a:ext uri="{FF2B5EF4-FFF2-40B4-BE49-F238E27FC236}">
                  <a16:creationId xmlns:a16="http://schemas.microsoft.com/office/drawing/2014/main" xmlns="" id="{06A6E158-AA9B-7643-9927-3F063660D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4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grpSp>
          <p:nvGrpSpPr>
            <p:cNvPr id="23" name="Group 148">
              <a:extLst>
                <a:ext uri="{FF2B5EF4-FFF2-40B4-BE49-F238E27FC236}">
                  <a16:creationId xmlns:a16="http://schemas.microsoft.com/office/drawing/2014/main" xmlns="" id="{24564C8A-097F-5447-B760-9CD6285FD6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4" name="AutoShape 149">
                <a:extLst>
                  <a:ext uri="{FF2B5EF4-FFF2-40B4-BE49-F238E27FC236}">
                    <a16:creationId xmlns:a16="http://schemas.microsoft.com/office/drawing/2014/main" xmlns="" id="{04C4FA5A-4748-2D42-BA0D-06AFE4DAEE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  <p:sp>
            <p:nvSpPr>
              <p:cNvPr id="45" name="AutoShape 150">
                <a:extLst>
                  <a:ext uri="{FF2B5EF4-FFF2-40B4-BE49-F238E27FC236}">
                    <a16:creationId xmlns:a16="http://schemas.microsoft.com/office/drawing/2014/main" xmlns="" id="{84E1D8C6-7DEE-484B-99EE-B608D1AEB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2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</p:grpSp>
        <p:sp>
          <p:nvSpPr>
            <p:cNvPr id="24" name="Rectangle 151">
              <a:extLst>
                <a:ext uri="{FF2B5EF4-FFF2-40B4-BE49-F238E27FC236}">
                  <a16:creationId xmlns:a16="http://schemas.microsoft.com/office/drawing/2014/main" xmlns="" id="{454AD9D8-054B-E244-8A65-C00DC300D6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59"/>
              <a:ext cx="594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25" name="Rectangle 152">
              <a:extLst>
                <a:ext uri="{FF2B5EF4-FFF2-40B4-BE49-F238E27FC236}">
                  <a16:creationId xmlns:a16="http://schemas.microsoft.com/office/drawing/2014/main" xmlns="" id="{40C54BAB-9592-ED4B-80E1-874156D7B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6"/>
              <a:ext cx="594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grpSp>
          <p:nvGrpSpPr>
            <p:cNvPr id="26" name="Group 153">
              <a:extLst>
                <a:ext uri="{FF2B5EF4-FFF2-40B4-BE49-F238E27FC236}">
                  <a16:creationId xmlns:a16="http://schemas.microsoft.com/office/drawing/2014/main" xmlns="" id="{64CB2613-6494-6C4A-AC96-EDE0548984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" name="AutoShape 154">
                <a:extLst>
                  <a:ext uri="{FF2B5EF4-FFF2-40B4-BE49-F238E27FC236}">
                    <a16:creationId xmlns:a16="http://schemas.microsoft.com/office/drawing/2014/main" xmlns="" id="{A27D1399-0ADF-5D43-8B09-BCD5BD0CD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6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  <p:sp>
            <p:nvSpPr>
              <p:cNvPr id="43" name="AutoShape 155">
                <a:extLst>
                  <a:ext uri="{FF2B5EF4-FFF2-40B4-BE49-F238E27FC236}">
                    <a16:creationId xmlns:a16="http://schemas.microsoft.com/office/drawing/2014/main" xmlns="" id="{20A4C850-89B5-6B44-820C-B66073B752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</p:grpSp>
        <p:sp>
          <p:nvSpPr>
            <p:cNvPr id="27" name="Freeform 156">
              <a:extLst>
                <a:ext uri="{FF2B5EF4-FFF2-40B4-BE49-F238E27FC236}">
                  <a16:creationId xmlns:a16="http://schemas.microsoft.com/office/drawing/2014/main" xmlns="" id="{69CA70FC-8D55-3C40-9230-BB1B319F0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8" name="Group 157">
              <a:extLst>
                <a:ext uri="{FF2B5EF4-FFF2-40B4-BE49-F238E27FC236}">
                  <a16:creationId xmlns:a16="http://schemas.microsoft.com/office/drawing/2014/main" xmlns="" id="{592B4F87-8FD7-004F-9CBD-2E07936D76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0" name="AutoShape 158">
                <a:extLst>
                  <a:ext uri="{FF2B5EF4-FFF2-40B4-BE49-F238E27FC236}">
                    <a16:creationId xmlns:a16="http://schemas.microsoft.com/office/drawing/2014/main" xmlns="" id="{52452D42-BA3E-B548-9F26-4F10DEBFFC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  <p:sp>
            <p:nvSpPr>
              <p:cNvPr id="41" name="AutoShape 159">
                <a:extLst>
                  <a:ext uri="{FF2B5EF4-FFF2-40B4-BE49-F238E27FC236}">
                    <a16:creationId xmlns:a16="http://schemas.microsoft.com/office/drawing/2014/main" xmlns="" id="{2E496C07-9C8C-B34F-8201-DBF2AB09E8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0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</p:grpSp>
        <p:sp>
          <p:nvSpPr>
            <p:cNvPr id="29" name="Rectangle 160">
              <a:extLst>
                <a:ext uri="{FF2B5EF4-FFF2-40B4-BE49-F238E27FC236}">
                  <a16:creationId xmlns:a16="http://schemas.microsoft.com/office/drawing/2014/main" xmlns="" id="{507783BC-460D-F943-9047-6C6F897FE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30" name="Freeform 161">
              <a:extLst>
                <a:ext uri="{FF2B5EF4-FFF2-40B4-BE49-F238E27FC236}">
                  <a16:creationId xmlns:a16="http://schemas.microsoft.com/office/drawing/2014/main" xmlns="" id="{88257E4A-4830-E644-BAF7-847C2053B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62">
              <a:extLst>
                <a:ext uri="{FF2B5EF4-FFF2-40B4-BE49-F238E27FC236}">
                  <a16:creationId xmlns:a16="http://schemas.microsoft.com/office/drawing/2014/main" xmlns="" id="{24A3F621-17CD-4645-A51D-7042FE22E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Oval 163">
              <a:extLst>
                <a:ext uri="{FF2B5EF4-FFF2-40B4-BE49-F238E27FC236}">
                  <a16:creationId xmlns:a16="http://schemas.microsoft.com/office/drawing/2014/main" xmlns="" id="{EA7A271B-C672-7748-BB6C-4320F9AE91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2612"/>
              <a:ext cx="45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33" name="Freeform 164">
              <a:extLst>
                <a:ext uri="{FF2B5EF4-FFF2-40B4-BE49-F238E27FC236}">
                  <a16:creationId xmlns:a16="http://schemas.microsoft.com/office/drawing/2014/main" xmlns="" id="{BF246A84-BFE7-3049-922B-DD8B6EA2E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AutoShape 165">
              <a:extLst>
                <a:ext uri="{FF2B5EF4-FFF2-40B4-BE49-F238E27FC236}">
                  <a16:creationId xmlns:a16="http://schemas.microsoft.com/office/drawing/2014/main" xmlns="" id="{A85BFA7C-936F-3A41-9B80-F269D0D81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199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35" name="AutoShape 166">
              <a:extLst>
                <a:ext uri="{FF2B5EF4-FFF2-40B4-BE49-F238E27FC236}">
                  <a16:creationId xmlns:a16="http://schemas.microsoft.com/office/drawing/2014/main" xmlns="" id="{143F5A2C-3FCC-214E-B1DD-37354850C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9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36" name="Oval 167">
              <a:extLst>
                <a:ext uri="{FF2B5EF4-FFF2-40B4-BE49-F238E27FC236}">
                  <a16:creationId xmlns:a16="http://schemas.microsoft.com/office/drawing/2014/main" xmlns="" id="{9F154E92-095E-194F-B02E-9A00467A0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4"/>
              <a:ext cx="158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37" name="Oval 168">
              <a:extLst>
                <a:ext uri="{FF2B5EF4-FFF2-40B4-BE49-F238E27FC236}">
                  <a16:creationId xmlns:a16="http://schemas.microsoft.com/office/drawing/2014/main" xmlns="" id="{9D1FEADC-3D9C-A84B-8B87-2D971178E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4"/>
              <a:ext cx="158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8" name="Oval 169">
              <a:extLst>
                <a:ext uri="{FF2B5EF4-FFF2-40B4-BE49-F238E27FC236}">
                  <a16:creationId xmlns:a16="http://schemas.microsoft.com/office/drawing/2014/main" xmlns="" id="{4E9E3512-C0DF-9C4B-84D2-8F5465E6D8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79"/>
              <a:ext cx="158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39" name="Rectangle 170">
              <a:extLst>
                <a:ext uri="{FF2B5EF4-FFF2-40B4-BE49-F238E27FC236}">
                  <a16:creationId xmlns:a16="http://schemas.microsoft.com/office/drawing/2014/main" xmlns="" id="{4D132F38-B955-6A4E-A501-5DB6D9BF9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</p:grpSp>
      <p:grpSp>
        <p:nvGrpSpPr>
          <p:cNvPr id="48" name="Group 105">
            <a:extLst>
              <a:ext uri="{FF2B5EF4-FFF2-40B4-BE49-F238E27FC236}">
                <a16:creationId xmlns:a16="http://schemas.microsoft.com/office/drawing/2014/main" xmlns="" id="{713D2680-FE84-BF45-82AB-42E37E22BD97}"/>
              </a:ext>
            </a:extLst>
          </p:cNvPr>
          <p:cNvGrpSpPr>
            <a:grpSpLocks/>
          </p:cNvGrpSpPr>
          <p:nvPr/>
        </p:nvGrpSpPr>
        <p:grpSpPr bwMode="auto">
          <a:xfrm>
            <a:off x="10423525" y="2586376"/>
            <a:ext cx="433388" cy="715962"/>
            <a:chOff x="4140" y="429"/>
            <a:chExt cx="1425" cy="2396"/>
          </a:xfrm>
        </p:grpSpPr>
        <p:sp>
          <p:nvSpPr>
            <p:cNvPr id="49" name="Freeform 106">
              <a:extLst>
                <a:ext uri="{FF2B5EF4-FFF2-40B4-BE49-F238E27FC236}">
                  <a16:creationId xmlns:a16="http://schemas.microsoft.com/office/drawing/2014/main" xmlns="" id="{F351644B-40EC-1643-B55C-BD6490B42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Rectangle 107">
              <a:extLst>
                <a:ext uri="{FF2B5EF4-FFF2-40B4-BE49-F238E27FC236}">
                  <a16:creationId xmlns:a16="http://schemas.microsoft.com/office/drawing/2014/main" xmlns="" id="{C431E1A6-A308-714C-9DB4-CD66A6C1E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51" name="Freeform 108">
              <a:extLst>
                <a:ext uri="{FF2B5EF4-FFF2-40B4-BE49-F238E27FC236}">
                  <a16:creationId xmlns:a16="http://schemas.microsoft.com/office/drawing/2014/main" xmlns="" id="{31CFCE65-E538-0841-8EF3-0F63DB894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09">
              <a:extLst>
                <a:ext uri="{FF2B5EF4-FFF2-40B4-BE49-F238E27FC236}">
                  <a16:creationId xmlns:a16="http://schemas.microsoft.com/office/drawing/2014/main" xmlns="" id="{ECC9C409-7630-F84A-B584-5C94715A6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Rectangle 110">
              <a:extLst>
                <a:ext uri="{FF2B5EF4-FFF2-40B4-BE49-F238E27FC236}">
                  <a16:creationId xmlns:a16="http://schemas.microsoft.com/office/drawing/2014/main" xmlns="" id="{F46717B0-272A-7C4F-B732-92EEC8E77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grpSp>
          <p:nvGrpSpPr>
            <p:cNvPr id="54" name="Group 111">
              <a:extLst>
                <a:ext uri="{FF2B5EF4-FFF2-40B4-BE49-F238E27FC236}">
                  <a16:creationId xmlns:a16="http://schemas.microsoft.com/office/drawing/2014/main" xmlns="" id="{F4ACB840-83DF-404B-A66F-DEBB071861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" name="AutoShape 112">
                <a:extLst>
                  <a:ext uri="{FF2B5EF4-FFF2-40B4-BE49-F238E27FC236}">
                    <a16:creationId xmlns:a16="http://schemas.microsoft.com/office/drawing/2014/main" xmlns="" id="{A911B0DC-A8C2-124C-9C82-2A735A79B9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  <p:sp>
            <p:nvSpPr>
              <p:cNvPr id="80" name="AutoShape 113">
                <a:extLst>
                  <a:ext uri="{FF2B5EF4-FFF2-40B4-BE49-F238E27FC236}">
                    <a16:creationId xmlns:a16="http://schemas.microsoft.com/office/drawing/2014/main" xmlns="" id="{9F0B8CE7-288A-EE43-A6E4-C3D97C626F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</p:grpSp>
        <p:sp>
          <p:nvSpPr>
            <p:cNvPr id="55" name="Rectangle 114">
              <a:extLst>
                <a:ext uri="{FF2B5EF4-FFF2-40B4-BE49-F238E27FC236}">
                  <a16:creationId xmlns:a16="http://schemas.microsoft.com/office/drawing/2014/main" xmlns="" id="{766D4B94-8E57-804B-B018-819DFD6CD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grpSp>
          <p:nvGrpSpPr>
            <p:cNvPr id="56" name="Group 115">
              <a:extLst>
                <a:ext uri="{FF2B5EF4-FFF2-40B4-BE49-F238E27FC236}">
                  <a16:creationId xmlns:a16="http://schemas.microsoft.com/office/drawing/2014/main" xmlns="" id="{D994FF4C-7626-D748-A12D-5D1C5FEE1A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7" name="AutoShape 116">
                <a:extLst>
                  <a:ext uri="{FF2B5EF4-FFF2-40B4-BE49-F238E27FC236}">
                    <a16:creationId xmlns:a16="http://schemas.microsoft.com/office/drawing/2014/main" xmlns="" id="{198A1BC7-4B65-BC4C-8A29-B983D8E1F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  <p:sp>
            <p:nvSpPr>
              <p:cNvPr id="78" name="AutoShape 117">
                <a:extLst>
                  <a:ext uri="{FF2B5EF4-FFF2-40B4-BE49-F238E27FC236}">
                    <a16:creationId xmlns:a16="http://schemas.microsoft.com/office/drawing/2014/main" xmlns="" id="{40DD27E4-9779-CF42-BFDD-6696DFFFA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</p:grpSp>
        <p:sp>
          <p:nvSpPr>
            <p:cNvPr id="57" name="Rectangle 118">
              <a:extLst>
                <a:ext uri="{FF2B5EF4-FFF2-40B4-BE49-F238E27FC236}">
                  <a16:creationId xmlns:a16="http://schemas.microsoft.com/office/drawing/2014/main" xmlns="" id="{ACA44148-7C10-3C49-BB35-5101746C9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58" name="Rectangle 119">
              <a:extLst>
                <a:ext uri="{FF2B5EF4-FFF2-40B4-BE49-F238E27FC236}">
                  <a16:creationId xmlns:a16="http://schemas.microsoft.com/office/drawing/2014/main" xmlns="" id="{4E7711E0-C3F4-3F44-939E-C5EB99D29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grpSp>
          <p:nvGrpSpPr>
            <p:cNvPr id="59" name="Group 120">
              <a:extLst>
                <a:ext uri="{FF2B5EF4-FFF2-40B4-BE49-F238E27FC236}">
                  <a16:creationId xmlns:a16="http://schemas.microsoft.com/office/drawing/2014/main" xmlns="" id="{67EE5E5B-A672-4948-A190-6619EF0F40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5" name="AutoShape 121">
                <a:extLst>
                  <a:ext uri="{FF2B5EF4-FFF2-40B4-BE49-F238E27FC236}">
                    <a16:creationId xmlns:a16="http://schemas.microsoft.com/office/drawing/2014/main" xmlns="" id="{05F4D1D6-814A-6E46-A67F-0AB27A8D1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  <p:sp>
            <p:nvSpPr>
              <p:cNvPr id="76" name="AutoShape 122">
                <a:extLst>
                  <a:ext uri="{FF2B5EF4-FFF2-40B4-BE49-F238E27FC236}">
                    <a16:creationId xmlns:a16="http://schemas.microsoft.com/office/drawing/2014/main" xmlns="" id="{B26FB4DB-5CE0-0547-A9EF-8F3F889E2A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</p:grpSp>
        <p:sp>
          <p:nvSpPr>
            <p:cNvPr id="60" name="Freeform 123">
              <a:extLst>
                <a:ext uri="{FF2B5EF4-FFF2-40B4-BE49-F238E27FC236}">
                  <a16:creationId xmlns:a16="http://schemas.microsoft.com/office/drawing/2014/main" xmlns="" id="{06773D0F-8045-BA4B-A438-853ED5C1E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1" name="Group 124">
              <a:extLst>
                <a:ext uri="{FF2B5EF4-FFF2-40B4-BE49-F238E27FC236}">
                  <a16:creationId xmlns:a16="http://schemas.microsoft.com/office/drawing/2014/main" xmlns="" id="{2289418B-58E5-6F41-8BA5-C30F733D8B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3" name="AutoShape 125">
                <a:extLst>
                  <a:ext uri="{FF2B5EF4-FFF2-40B4-BE49-F238E27FC236}">
                    <a16:creationId xmlns:a16="http://schemas.microsoft.com/office/drawing/2014/main" xmlns="" id="{38E6EBDC-7542-364B-BAB0-D30286482B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  <p:sp>
            <p:nvSpPr>
              <p:cNvPr id="74" name="AutoShape 126">
                <a:extLst>
                  <a:ext uri="{FF2B5EF4-FFF2-40B4-BE49-F238E27FC236}">
                    <a16:creationId xmlns:a16="http://schemas.microsoft.com/office/drawing/2014/main" xmlns="" id="{54B2EB69-B7C9-EC42-B99F-19CC17D5EA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</p:grpSp>
        <p:sp>
          <p:nvSpPr>
            <p:cNvPr id="62" name="Rectangle 127">
              <a:extLst>
                <a:ext uri="{FF2B5EF4-FFF2-40B4-BE49-F238E27FC236}">
                  <a16:creationId xmlns:a16="http://schemas.microsoft.com/office/drawing/2014/main" xmlns="" id="{08BCE1F3-76AF-E441-89A0-DA57E700E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63" name="Freeform 128">
              <a:extLst>
                <a:ext uri="{FF2B5EF4-FFF2-40B4-BE49-F238E27FC236}">
                  <a16:creationId xmlns:a16="http://schemas.microsoft.com/office/drawing/2014/main" xmlns="" id="{4B174135-D9EA-854A-9853-AC5CCDD44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129">
              <a:extLst>
                <a:ext uri="{FF2B5EF4-FFF2-40B4-BE49-F238E27FC236}">
                  <a16:creationId xmlns:a16="http://schemas.microsoft.com/office/drawing/2014/main" xmlns="" id="{927D55DC-6C82-634A-B79C-B427EAAD4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Oval 130">
              <a:extLst>
                <a:ext uri="{FF2B5EF4-FFF2-40B4-BE49-F238E27FC236}">
                  <a16:creationId xmlns:a16="http://schemas.microsoft.com/office/drawing/2014/main" xmlns="" id="{3BB31101-2EB7-F44D-8AA6-0366039E9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66" name="Freeform 131">
              <a:extLst>
                <a:ext uri="{FF2B5EF4-FFF2-40B4-BE49-F238E27FC236}">
                  <a16:creationId xmlns:a16="http://schemas.microsoft.com/office/drawing/2014/main" xmlns="" id="{79253978-26CE-7249-A74C-F9743D4FB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AutoShape 132">
              <a:extLst>
                <a:ext uri="{FF2B5EF4-FFF2-40B4-BE49-F238E27FC236}">
                  <a16:creationId xmlns:a16="http://schemas.microsoft.com/office/drawing/2014/main" xmlns="" id="{D2E63390-A569-3942-9FC4-1FAF9A9C7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68" name="AutoShape 133">
              <a:extLst>
                <a:ext uri="{FF2B5EF4-FFF2-40B4-BE49-F238E27FC236}">
                  <a16:creationId xmlns:a16="http://schemas.microsoft.com/office/drawing/2014/main" xmlns="" id="{76E84029-5A5D-0B43-A027-68F72A0B1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69" name="Oval 134">
              <a:extLst>
                <a:ext uri="{FF2B5EF4-FFF2-40B4-BE49-F238E27FC236}">
                  <a16:creationId xmlns:a16="http://schemas.microsoft.com/office/drawing/2014/main" xmlns="" id="{3E213C1D-2C02-AD4C-9E3D-D83B7E9B8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70" name="Oval 135">
              <a:extLst>
                <a:ext uri="{FF2B5EF4-FFF2-40B4-BE49-F238E27FC236}">
                  <a16:creationId xmlns:a16="http://schemas.microsoft.com/office/drawing/2014/main" xmlns="" id="{8AAFA532-A081-384C-AB75-218BDC209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71" name="Oval 136">
              <a:extLst>
                <a:ext uri="{FF2B5EF4-FFF2-40B4-BE49-F238E27FC236}">
                  <a16:creationId xmlns:a16="http://schemas.microsoft.com/office/drawing/2014/main" xmlns="" id="{56B5635A-EB88-0440-8FBB-410A578DE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72" name="Rectangle 137">
              <a:extLst>
                <a:ext uri="{FF2B5EF4-FFF2-40B4-BE49-F238E27FC236}">
                  <a16:creationId xmlns:a16="http://schemas.microsoft.com/office/drawing/2014/main" xmlns="" id="{DB35C1A6-F8F8-A34C-83A8-1C5F2BC02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</p:grpSp>
      <p:sp>
        <p:nvSpPr>
          <p:cNvPr id="81" name="Rectangle 3">
            <a:extLst>
              <a:ext uri="{FF2B5EF4-FFF2-40B4-BE49-F238E27FC236}">
                <a16:creationId xmlns:a16="http://schemas.microsoft.com/office/drawing/2014/main" xmlns="" id="{0E93D937-D6CD-8B48-B770-F30B1D0D993E}"/>
              </a:ext>
            </a:extLst>
          </p:cNvPr>
          <p:cNvSpPr txBox="1">
            <a:spLocks noChangeArrowheads="1"/>
          </p:cNvSpPr>
          <p:nvPr/>
        </p:nvSpPr>
        <p:spPr>
          <a:xfrm>
            <a:off x="817755" y="2025650"/>
            <a:ext cx="4394625" cy="37623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363" indent="-233363"/>
            <a:r>
              <a:rPr lang="en-US" altLang="en-US" sz="2400" dirty="0">
                <a:ea typeface="ＭＳ Ｐゴシック" panose="020B0600070205080204" pitchFamily="34" charset="-128"/>
              </a:rPr>
              <a:t>user configures browser to point to a </a:t>
            </a:r>
            <a:r>
              <a:rPr lang="en-US" altLang="en-US" sz="24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Web cache</a:t>
            </a:r>
          </a:p>
          <a:p>
            <a:pPr marL="233363" indent="-233363"/>
            <a:r>
              <a:rPr lang="en-US" altLang="en-US" sz="2400" dirty="0">
                <a:ea typeface="ＭＳ Ｐゴシック" panose="020B0600070205080204" pitchFamily="34" charset="-128"/>
              </a:rPr>
              <a:t>browser sends all HTTP requests to cache</a:t>
            </a:r>
          </a:p>
          <a:p>
            <a:pPr marL="685800" lvl="1" indent="-228600"/>
            <a:r>
              <a:rPr lang="en-US" altLang="en-US" i="1" dirty="0">
                <a:solidFill>
                  <a:srgbClr val="0000A3"/>
                </a:solidFill>
                <a:ea typeface="ＭＳ Ｐゴシック" panose="020B0600070205080204" pitchFamily="34" charset="-128"/>
              </a:rPr>
              <a:t>if</a:t>
            </a:r>
            <a:r>
              <a:rPr lang="en-US" altLang="en-US" dirty="0">
                <a:ea typeface="ＭＳ Ｐゴシック" panose="020B0600070205080204" pitchFamily="34" charset="-128"/>
              </a:rPr>
              <a:t> object in cache: cache returns object to client</a:t>
            </a:r>
          </a:p>
          <a:p>
            <a:pPr marL="685800" lvl="1" indent="-228600"/>
            <a:r>
              <a:rPr lang="en-US" altLang="en-US" i="1" dirty="0">
                <a:solidFill>
                  <a:srgbClr val="0000A3"/>
                </a:solidFill>
                <a:ea typeface="ＭＳ Ｐゴシック" panose="020B0600070205080204" pitchFamily="34" charset="-128"/>
              </a:rPr>
              <a:t>else</a:t>
            </a:r>
            <a:r>
              <a:rPr lang="en-US" altLang="en-US" dirty="0">
                <a:ea typeface="ＭＳ Ｐゴシック" panose="020B0600070205080204" pitchFamily="34" charset="-128"/>
              </a:rPr>
              <a:t> cache requests object from origin server, caches received object, then returns object to client</a:t>
            </a:r>
          </a:p>
        </p:txBody>
      </p:sp>
      <p:sp>
        <p:nvSpPr>
          <p:cNvPr id="82" name="Rectangle 4">
            <a:extLst>
              <a:ext uri="{FF2B5EF4-FFF2-40B4-BE49-F238E27FC236}">
                <a16:creationId xmlns:a16="http://schemas.microsoft.com/office/drawing/2014/main" xmlns="" id="{333F1EEA-A155-1C41-80CD-10E94B830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381" y="1333500"/>
            <a:ext cx="875030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800" i="1" dirty="0">
                <a:solidFill>
                  <a:srgbClr val="CC0000"/>
                </a:solidFill>
                <a:latin typeface="+mn-lt"/>
              </a:rPr>
              <a:t>Goal:</a:t>
            </a:r>
            <a:r>
              <a:rPr lang="en-US" altLang="en-US" sz="2800" dirty="0">
                <a:latin typeface="+mn-lt"/>
              </a:rPr>
              <a:t> satisfy client request without involving origin server</a:t>
            </a:r>
          </a:p>
        </p:txBody>
      </p:sp>
      <p:sp>
        <p:nvSpPr>
          <p:cNvPr id="83" name="Text Box 6">
            <a:extLst>
              <a:ext uri="{FF2B5EF4-FFF2-40B4-BE49-F238E27FC236}">
                <a16:creationId xmlns:a16="http://schemas.microsoft.com/office/drawing/2014/main" xmlns="" id="{70E92C74-86C4-E048-AD53-D4201EAFC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6675" y="3118188"/>
            <a:ext cx="657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+mn-lt"/>
              </a:rPr>
              <a:t>client</a:t>
            </a:r>
            <a:endParaRPr lang="en-US" altLang="en-US" sz="2400">
              <a:latin typeface="+mn-lt"/>
            </a:endParaRPr>
          </a:p>
        </p:txBody>
      </p:sp>
      <p:sp>
        <p:nvSpPr>
          <p:cNvPr id="84" name="Text Box 8">
            <a:extLst>
              <a:ext uri="{FF2B5EF4-FFF2-40B4-BE49-F238E27FC236}">
                <a16:creationId xmlns:a16="http://schemas.microsoft.com/office/drawing/2014/main" xmlns="" id="{5DE1E660-E2FD-8848-B0BB-84A037DCC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8633" y="2524463"/>
            <a:ext cx="83695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+mn-lt"/>
              </a:rPr>
              <a:t>proxy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+mn-lt"/>
              </a:rPr>
              <a:t>server</a:t>
            </a:r>
            <a:endParaRPr lang="en-US" altLang="en-US" sz="2400" dirty="0">
              <a:latin typeface="+mn-lt"/>
            </a:endParaRPr>
          </a:p>
        </p:txBody>
      </p:sp>
      <p:sp>
        <p:nvSpPr>
          <p:cNvPr id="85" name="Text Box 21">
            <a:extLst>
              <a:ext uri="{FF2B5EF4-FFF2-40B4-BE49-F238E27FC236}">
                <a16:creationId xmlns:a16="http://schemas.microsoft.com/office/drawing/2014/main" xmlns="" id="{E15405A8-0743-624D-A374-AA89B476D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5089863"/>
            <a:ext cx="657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+mn-lt"/>
              </a:rPr>
              <a:t>client</a:t>
            </a:r>
            <a:endParaRPr lang="en-US" altLang="en-US" sz="2400">
              <a:latin typeface="+mn-lt"/>
            </a:endParaRPr>
          </a:p>
        </p:txBody>
      </p:sp>
      <p:grpSp>
        <p:nvGrpSpPr>
          <p:cNvPr id="86" name="Group 53">
            <a:extLst>
              <a:ext uri="{FF2B5EF4-FFF2-40B4-BE49-F238E27FC236}">
                <a16:creationId xmlns:a16="http://schemas.microsoft.com/office/drawing/2014/main" xmlns="" id="{006A4F95-0B3D-AC43-A627-71A7FD2195DC}"/>
              </a:ext>
            </a:extLst>
          </p:cNvPr>
          <p:cNvGrpSpPr>
            <a:grpSpLocks/>
          </p:cNvGrpSpPr>
          <p:nvPr/>
        </p:nvGrpSpPr>
        <p:grpSpPr bwMode="auto">
          <a:xfrm>
            <a:off x="6915150" y="3845263"/>
            <a:ext cx="1490663" cy="760413"/>
            <a:chOff x="2942" y="2580"/>
            <a:chExt cx="939" cy="479"/>
          </a:xfrm>
        </p:grpSpPr>
        <p:sp>
          <p:nvSpPr>
            <p:cNvPr id="87" name="Line 19">
              <a:extLst>
                <a:ext uri="{FF2B5EF4-FFF2-40B4-BE49-F238E27FC236}">
                  <a16:creationId xmlns:a16="http://schemas.microsoft.com/office/drawing/2014/main" xmlns="" id="{C4FCDE12-2844-E249-88D6-1248CC2CE8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8" y="2580"/>
              <a:ext cx="883" cy="479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" name="Text Box 23">
              <a:extLst>
                <a:ext uri="{FF2B5EF4-FFF2-40B4-BE49-F238E27FC236}">
                  <a16:creationId xmlns:a16="http://schemas.microsoft.com/office/drawing/2014/main" xmlns="" id="{BDF0B946-2F1F-B54D-8334-894004430B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907361">
              <a:off x="2942" y="2645"/>
              <a:ext cx="82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CC0000"/>
                  </a:solidFill>
                  <a:latin typeface="+mn-lt"/>
                </a:rPr>
                <a:t>HTTP request</a:t>
              </a:r>
              <a:endParaRPr lang="en-US" altLang="en-US" sz="2400">
                <a:solidFill>
                  <a:srgbClr val="CC0000"/>
                </a:solidFill>
                <a:latin typeface="+mn-lt"/>
              </a:endParaRPr>
            </a:p>
          </p:txBody>
        </p:sp>
      </p:grpSp>
      <p:grpSp>
        <p:nvGrpSpPr>
          <p:cNvPr id="93" name="Group 54">
            <a:extLst>
              <a:ext uri="{FF2B5EF4-FFF2-40B4-BE49-F238E27FC236}">
                <a16:creationId xmlns:a16="http://schemas.microsoft.com/office/drawing/2014/main" xmlns="" id="{0430DB37-F13E-FB4C-8461-73427AD15541}"/>
              </a:ext>
            </a:extLst>
          </p:cNvPr>
          <p:cNvGrpSpPr>
            <a:grpSpLocks/>
          </p:cNvGrpSpPr>
          <p:nvPr/>
        </p:nvGrpSpPr>
        <p:grpSpPr bwMode="auto">
          <a:xfrm>
            <a:off x="7054850" y="3932576"/>
            <a:ext cx="1487488" cy="785812"/>
            <a:chOff x="3030" y="2635"/>
            <a:chExt cx="937" cy="495"/>
          </a:xfrm>
        </p:grpSpPr>
        <p:sp>
          <p:nvSpPr>
            <p:cNvPr id="94" name="Line 20">
              <a:extLst>
                <a:ext uri="{FF2B5EF4-FFF2-40B4-BE49-F238E27FC236}">
                  <a16:creationId xmlns:a16="http://schemas.microsoft.com/office/drawing/2014/main" xmlns="" id="{68522646-1C6E-6141-85AF-6F21328BDB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30" y="2635"/>
              <a:ext cx="884" cy="495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" name="Text Box 25">
              <a:extLst>
                <a:ext uri="{FF2B5EF4-FFF2-40B4-BE49-F238E27FC236}">
                  <a16:creationId xmlns:a16="http://schemas.microsoft.com/office/drawing/2014/main" xmlns="" id="{497C49B3-B78E-EF40-9F30-9D168B831D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862217">
              <a:off x="3069" y="2846"/>
              <a:ext cx="89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CC0000"/>
                  </a:solidFill>
                  <a:latin typeface="+mn-lt"/>
                </a:rPr>
                <a:t>HTTP response</a:t>
              </a:r>
              <a:endParaRPr lang="en-US" altLang="en-US" sz="2400">
                <a:solidFill>
                  <a:srgbClr val="CC0000"/>
                </a:solidFill>
                <a:latin typeface="+mn-lt"/>
              </a:endParaRPr>
            </a:p>
          </p:txBody>
        </p:sp>
      </p:grpSp>
      <p:grpSp>
        <p:nvGrpSpPr>
          <p:cNvPr id="96" name="Group 49">
            <a:extLst>
              <a:ext uri="{FF2B5EF4-FFF2-40B4-BE49-F238E27FC236}">
                <a16:creationId xmlns:a16="http://schemas.microsoft.com/office/drawing/2014/main" xmlns="" id="{8EC23EE2-3572-4749-B83B-56A3E22AF760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2873713"/>
            <a:ext cx="3251200" cy="730250"/>
            <a:chOff x="3002" y="1979"/>
            <a:chExt cx="2048" cy="460"/>
          </a:xfrm>
        </p:grpSpPr>
        <p:sp>
          <p:nvSpPr>
            <p:cNvPr id="97" name="Freeform 18">
              <a:extLst>
                <a:ext uri="{FF2B5EF4-FFF2-40B4-BE49-F238E27FC236}">
                  <a16:creationId xmlns:a16="http://schemas.microsoft.com/office/drawing/2014/main" xmlns="" id="{B3BFA12B-AF52-444A-9C8D-FD235EBCD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1979"/>
              <a:ext cx="2048" cy="460"/>
            </a:xfrm>
            <a:custGeom>
              <a:avLst/>
              <a:gdLst>
                <a:gd name="T0" fmla="*/ 0 w 2048"/>
                <a:gd name="T1" fmla="*/ 2 h 460"/>
                <a:gd name="T2" fmla="*/ 1011 w 2048"/>
                <a:gd name="T3" fmla="*/ 460 h 460"/>
                <a:gd name="T4" fmla="*/ 2048 w 2048"/>
                <a:gd name="T5" fmla="*/ 0 h 460"/>
                <a:gd name="T6" fmla="*/ 0 60000 65536"/>
                <a:gd name="T7" fmla="*/ 0 60000 65536"/>
                <a:gd name="T8" fmla="*/ 0 60000 65536"/>
                <a:gd name="T9" fmla="*/ 0 w 2048"/>
                <a:gd name="T10" fmla="*/ 0 h 460"/>
                <a:gd name="T11" fmla="*/ 2048 w 2048"/>
                <a:gd name="T12" fmla="*/ 460 h 4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8" h="460">
                  <a:moveTo>
                    <a:pt x="0" y="2"/>
                  </a:moveTo>
                  <a:lnTo>
                    <a:pt x="1011" y="460"/>
                  </a:lnTo>
                  <a:lnTo>
                    <a:pt x="2048" y="0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8" name="Text Box 22">
              <a:extLst>
                <a:ext uri="{FF2B5EF4-FFF2-40B4-BE49-F238E27FC236}">
                  <a16:creationId xmlns:a16="http://schemas.microsoft.com/office/drawing/2014/main" xmlns="" id="{5DC9736F-EB13-904A-A584-847C86859C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22049">
              <a:off x="3129" y="2005"/>
              <a:ext cx="82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CC0000"/>
                  </a:solidFill>
                  <a:latin typeface="+mn-lt"/>
                </a:rPr>
                <a:t>HTTP request</a:t>
              </a:r>
              <a:endParaRPr lang="en-US" altLang="en-US" sz="2400">
                <a:solidFill>
                  <a:srgbClr val="CC0000"/>
                </a:solidFill>
                <a:latin typeface="+mn-lt"/>
              </a:endParaRPr>
            </a:p>
          </p:txBody>
        </p:sp>
        <p:sp>
          <p:nvSpPr>
            <p:cNvPr id="99" name="Text Box 45">
              <a:extLst>
                <a:ext uri="{FF2B5EF4-FFF2-40B4-BE49-F238E27FC236}">
                  <a16:creationId xmlns:a16="http://schemas.microsoft.com/office/drawing/2014/main" xmlns="" id="{5F201396-3496-B54A-87C0-83E69A7B87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180032">
              <a:off x="4160" y="2015"/>
              <a:ext cx="82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CC0000"/>
                  </a:solidFill>
                  <a:latin typeface="+mn-lt"/>
                </a:rPr>
                <a:t>HTTP request</a:t>
              </a:r>
              <a:endParaRPr lang="en-US" altLang="en-US" sz="2400">
                <a:solidFill>
                  <a:srgbClr val="CC0000"/>
                </a:solidFill>
                <a:latin typeface="+mn-lt"/>
              </a:endParaRPr>
            </a:p>
          </p:txBody>
        </p:sp>
      </p:grpSp>
      <p:sp>
        <p:nvSpPr>
          <p:cNvPr id="100" name="Text Box 47">
            <a:extLst>
              <a:ext uri="{FF2B5EF4-FFF2-40B4-BE49-F238E27FC236}">
                <a16:creationId xmlns:a16="http://schemas.microsoft.com/office/drawing/2014/main" xmlns="" id="{637E5EE1-9119-8E49-9490-A2EECF4B5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64364" y="5228882"/>
            <a:ext cx="708848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+mn-lt"/>
              </a:rPr>
              <a:t>origin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+mn-lt"/>
              </a:rPr>
              <a:t>server</a:t>
            </a:r>
            <a:endParaRPr lang="en-US" altLang="en-US" sz="2400" dirty="0">
              <a:latin typeface="+mn-lt"/>
            </a:endParaRPr>
          </a:p>
        </p:txBody>
      </p:sp>
      <p:sp>
        <p:nvSpPr>
          <p:cNvPr id="101" name="Text Box 48">
            <a:extLst>
              <a:ext uri="{FF2B5EF4-FFF2-40B4-BE49-F238E27FC236}">
                <a16:creationId xmlns:a16="http://schemas.microsoft.com/office/drawing/2014/main" xmlns="" id="{53C0E2C7-E328-094F-86C2-7FF28BDF9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1826" y="3292132"/>
            <a:ext cx="708848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+mn-lt"/>
              </a:rPr>
              <a:t>origin 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+mn-lt"/>
              </a:rPr>
              <a:t>server</a:t>
            </a:r>
            <a:endParaRPr lang="en-US" altLang="en-US" sz="2400" dirty="0">
              <a:latin typeface="+mn-lt"/>
            </a:endParaRPr>
          </a:p>
        </p:txBody>
      </p:sp>
      <p:sp>
        <p:nvSpPr>
          <p:cNvPr id="102" name="Rectangle 55">
            <a:extLst>
              <a:ext uri="{FF2B5EF4-FFF2-40B4-BE49-F238E27FC236}">
                <a16:creationId xmlns:a16="http://schemas.microsoft.com/office/drawing/2014/main" xmlns="" id="{34262177-3A90-E847-B2EC-55D3A7E8E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1625" y="4099263"/>
            <a:ext cx="4064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>
              <a:latin typeface="+mn-lt"/>
            </a:endParaRPr>
          </a:p>
        </p:txBody>
      </p:sp>
      <p:pic>
        <p:nvPicPr>
          <p:cNvPr id="103" name="Picture 56">
            <a:extLst>
              <a:ext uri="{FF2B5EF4-FFF2-40B4-BE49-F238E27FC236}">
                <a16:creationId xmlns:a16="http://schemas.microsoft.com/office/drawing/2014/main" xmlns="" id="{D1860A46-FB8D-2145-A291-FDFCD300B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2588" y="2381588"/>
            <a:ext cx="52705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4" name="Group 60">
            <a:extLst>
              <a:ext uri="{FF2B5EF4-FFF2-40B4-BE49-F238E27FC236}">
                <a16:creationId xmlns:a16="http://schemas.microsoft.com/office/drawing/2014/main" xmlns="" id="{1E55489F-3411-D147-A30E-37C79E67D16D}"/>
              </a:ext>
            </a:extLst>
          </p:cNvPr>
          <p:cNvGrpSpPr>
            <a:grpSpLocks/>
          </p:cNvGrpSpPr>
          <p:nvPr/>
        </p:nvGrpSpPr>
        <p:grpSpPr bwMode="auto">
          <a:xfrm>
            <a:off x="6237288" y="2421276"/>
            <a:ext cx="4110038" cy="1814512"/>
            <a:chOff x="2515" y="1687"/>
            <a:chExt cx="2589" cy="1143"/>
          </a:xfrm>
        </p:grpSpPr>
        <p:sp>
          <p:nvSpPr>
            <p:cNvPr id="105" name="Freeform 44">
              <a:extLst>
                <a:ext uri="{FF2B5EF4-FFF2-40B4-BE49-F238E27FC236}">
                  <a16:creationId xmlns:a16="http://schemas.microsoft.com/office/drawing/2014/main" xmlns="" id="{AD023CD7-2DF4-0047-A0A8-EE7C8FDF2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2026"/>
              <a:ext cx="2119" cy="476"/>
            </a:xfrm>
            <a:custGeom>
              <a:avLst/>
              <a:gdLst>
                <a:gd name="T0" fmla="*/ 2119 w 2119"/>
                <a:gd name="T1" fmla="*/ 0 h 476"/>
                <a:gd name="T2" fmla="*/ 1020 w 2119"/>
                <a:gd name="T3" fmla="*/ 476 h 476"/>
                <a:gd name="T4" fmla="*/ 0 w 2119"/>
                <a:gd name="T5" fmla="*/ 8 h 476"/>
                <a:gd name="T6" fmla="*/ 0 60000 65536"/>
                <a:gd name="T7" fmla="*/ 0 60000 65536"/>
                <a:gd name="T8" fmla="*/ 0 60000 65536"/>
                <a:gd name="T9" fmla="*/ 0 w 2119"/>
                <a:gd name="T10" fmla="*/ 0 h 476"/>
                <a:gd name="T11" fmla="*/ 2119 w 2119"/>
                <a:gd name="T12" fmla="*/ 476 h 4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19" h="476">
                  <a:moveTo>
                    <a:pt x="2119" y="0"/>
                  </a:moveTo>
                  <a:lnTo>
                    <a:pt x="1020" y="476"/>
                  </a:lnTo>
                  <a:lnTo>
                    <a:pt x="0" y="8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" name="Text Box 24">
              <a:extLst>
                <a:ext uri="{FF2B5EF4-FFF2-40B4-BE49-F238E27FC236}">
                  <a16:creationId xmlns:a16="http://schemas.microsoft.com/office/drawing/2014/main" xmlns="" id="{3A73F75B-5403-E34F-8197-7456A76E7D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11598">
              <a:off x="2963" y="2243"/>
              <a:ext cx="89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CC0000"/>
                  </a:solidFill>
                  <a:latin typeface="+mn-lt"/>
                </a:rPr>
                <a:t>HTTP response</a:t>
              </a:r>
              <a:endParaRPr lang="en-US" altLang="en-US" sz="2400">
                <a:solidFill>
                  <a:srgbClr val="CC0000"/>
                </a:solidFill>
                <a:latin typeface="+mn-lt"/>
              </a:endParaRPr>
            </a:p>
          </p:txBody>
        </p:sp>
        <p:sp>
          <p:nvSpPr>
            <p:cNvPr id="107" name="Text Box 46">
              <a:extLst>
                <a:ext uri="{FF2B5EF4-FFF2-40B4-BE49-F238E27FC236}">
                  <a16:creationId xmlns:a16="http://schemas.microsoft.com/office/drawing/2014/main" xmlns="" id="{84D34D31-F002-7644-A66C-387CC45D7E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184211">
              <a:off x="4193" y="2231"/>
              <a:ext cx="89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CC0000"/>
                  </a:solidFill>
                  <a:latin typeface="+mn-lt"/>
                </a:rPr>
                <a:t>HTTP response</a:t>
              </a:r>
              <a:endParaRPr lang="en-US" altLang="en-US" sz="2400">
                <a:solidFill>
                  <a:srgbClr val="CC0000"/>
                </a:solidFill>
                <a:latin typeface="+mn-lt"/>
              </a:endParaRPr>
            </a:p>
          </p:txBody>
        </p:sp>
        <p:pic>
          <p:nvPicPr>
            <p:cNvPr id="108" name="Picture 57">
              <a:extLst>
                <a:ext uri="{FF2B5EF4-FFF2-40B4-BE49-F238E27FC236}">
                  <a16:creationId xmlns:a16="http://schemas.microsoft.com/office/drawing/2014/main" xmlns="" id="{AAE983CF-984C-9D4D-815F-5073893D27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9" y="2557"/>
              <a:ext cx="33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9" name="Picture 59">
              <a:extLst>
                <a:ext uri="{FF2B5EF4-FFF2-40B4-BE49-F238E27FC236}">
                  <a16:creationId xmlns:a16="http://schemas.microsoft.com/office/drawing/2014/main" xmlns="" id="{24961BA7-6903-124E-955A-AEDC5B6FBE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5" y="1687"/>
              <a:ext cx="33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0" name="Picture 61">
            <a:extLst>
              <a:ext uri="{FF2B5EF4-FFF2-40B4-BE49-F238E27FC236}">
                <a16:creationId xmlns:a16="http://schemas.microsoft.com/office/drawing/2014/main" xmlns="" id="{DB808EFC-F790-0C46-B5F2-BCC2B49C4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913" y="4362788"/>
            <a:ext cx="52705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1" name="Group 69">
            <a:extLst>
              <a:ext uri="{FF2B5EF4-FFF2-40B4-BE49-F238E27FC236}">
                <a16:creationId xmlns:a16="http://schemas.microsoft.com/office/drawing/2014/main" xmlns="" id="{695335D9-4B5E-E746-93FF-954FC244FD37}"/>
              </a:ext>
            </a:extLst>
          </p:cNvPr>
          <p:cNvGrpSpPr>
            <a:grpSpLocks/>
          </p:cNvGrpSpPr>
          <p:nvPr/>
        </p:nvGrpSpPr>
        <p:grpSpPr bwMode="auto">
          <a:xfrm>
            <a:off x="10356850" y="4513601"/>
            <a:ext cx="433388" cy="715962"/>
            <a:chOff x="4140" y="429"/>
            <a:chExt cx="1425" cy="2396"/>
          </a:xfrm>
        </p:grpSpPr>
        <p:sp>
          <p:nvSpPr>
            <p:cNvPr id="112" name="Freeform 70">
              <a:extLst>
                <a:ext uri="{FF2B5EF4-FFF2-40B4-BE49-F238E27FC236}">
                  <a16:creationId xmlns:a16="http://schemas.microsoft.com/office/drawing/2014/main" xmlns="" id="{913873A1-A3E6-344E-AAF4-6A4E4B701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Rectangle 71">
              <a:extLst>
                <a:ext uri="{FF2B5EF4-FFF2-40B4-BE49-F238E27FC236}">
                  <a16:creationId xmlns:a16="http://schemas.microsoft.com/office/drawing/2014/main" xmlns="" id="{F9479AFE-E174-9A43-9DF7-1B7F16C2E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114" name="Freeform 72">
              <a:extLst>
                <a:ext uri="{FF2B5EF4-FFF2-40B4-BE49-F238E27FC236}">
                  <a16:creationId xmlns:a16="http://schemas.microsoft.com/office/drawing/2014/main" xmlns="" id="{23E9FAF3-B381-7C4C-A7D3-7EB568DF1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73">
              <a:extLst>
                <a:ext uri="{FF2B5EF4-FFF2-40B4-BE49-F238E27FC236}">
                  <a16:creationId xmlns:a16="http://schemas.microsoft.com/office/drawing/2014/main" xmlns="" id="{53F58983-234E-A246-9555-A7C2DEFF2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Rectangle 74">
              <a:extLst>
                <a:ext uri="{FF2B5EF4-FFF2-40B4-BE49-F238E27FC236}">
                  <a16:creationId xmlns:a16="http://schemas.microsoft.com/office/drawing/2014/main" xmlns="" id="{3E1E54F4-C6E4-444F-8A9A-F150210FA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grpSp>
          <p:nvGrpSpPr>
            <p:cNvPr id="117" name="Group 75">
              <a:extLst>
                <a:ext uri="{FF2B5EF4-FFF2-40B4-BE49-F238E27FC236}">
                  <a16:creationId xmlns:a16="http://schemas.microsoft.com/office/drawing/2014/main" xmlns="" id="{A4CBA219-D73A-F84C-9124-6F08F973F5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42" name="AutoShape 76">
                <a:extLst>
                  <a:ext uri="{FF2B5EF4-FFF2-40B4-BE49-F238E27FC236}">
                    <a16:creationId xmlns:a16="http://schemas.microsoft.com/office/drawing/2014/main" xmlns="" id="{0FE32417-DCCC-5442-8FE3-CEC797686D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  <p:sp>
            <p:nvSpPr>
              <p:cNvPr id="143" name="AutoShape 77">
                <a:extLst>
                  <a:ext uri="{FF2B5EF4-FFF2-40B4-BE49-F238E27FC236}">
                    <a16:creationId xmlns:a16="http://schemas.microsoft.com/office/drawing/2014/main" xmlns="" id="{B9BB341D-6B92-CC44-B3D2-27C02C9063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</p:grpSp>
        <p:sp>
          <p:nvSpPr>
            <p:cNvPr id="118" name="Rectangle 78">
              <a:extLst>
                <a:ext uri="{FF2B5EF4-FFF2-40B4-BE49-F238E27FC236}">
                  <a16:creationId xmlns:a16="http://schemas.microsoft.com/office/drawing/2014/main" xmlns="" id="{7B4093AD-CF24-BB4D-873D-B07BE93D74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grpSp>
          <p:nvGrpSpPr>
            <p:cNvPr id="119" name="Group 79">
              <a:extLst>
                <a:ext uri="{FF2B5EF4-FFF2-40B4-BE49-F238E27FC236}">
                  <a16:creationId xmlns:a16="http://schemas.microsoft.com/office/drawing/2014/main" xmlns="" id="{5DE31E60-75E5-0842-8115-088E7A8460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40" name="AutoShape 80">
                <a:extLst>
                  <a:ext uri="{FF2B5EF4-FFF2-40B4-BE49-F238E27FC236}">
                    <a16:creationId xmlns:a16="http://schemas.microsoft.com/office/drawing/2014/main" xmlns="" id="{A7775AA5-23E4-804B-A04F-3193163E72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  <p:sp>
            <p:nvSpPr>
              <p:cNvPr id="141" name="AutoShape 81">
                <a:extLst>
                  <a:ext uri="{FF2B5EF4-FFF2-40B4-BE49-F238E27FC236}">
                    <a16:creationId xmlns:a16="http://schemas.microsoft.com/office/drawing/2014/main" xmlns="" id="{547F9DB6-DB83-AC42-B51A-070244A3D1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</p:grpSp>
        <p:sp>
          <p:nvSpPr>
            <p:cNvPr id="120" name="Rectangle 82">
              <a:extLst>
                <a:ext uri="{FF2B5EF4-FFF2-40B4-BE49-F238E27FC236}">
                  <a16:creationId xmlns:a16="http://schemas.microsoft.com/office/drawing/2014/main" xmlns="" id="{49E7E0E3-CAD5-694A-B97C-46D96020F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121" name="Rectangle 83">
              <a:extLst>
                <a:ext uri="{FF2B5EF4-FFF2-40B4-BE49-F238E27FC236}">
                  <a16:creationId xmlns:a16="http://schemas.microsoft.com/office/drawing/2014/main" xmlns="" id="{AF3E0759-38A3-914A-8FF9-3A7CD9DA8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grpSp>
          <p:nvGrpSpPr>
            <p:cNvPr id="122" name="Group 84">
              <a:extLst>
                <a:ext uri="{FF2B5EF4-FFF2-40B4-BE49-F238E27FC236}">
                  <a16:creationId xmlns:a16="http://schemas.microsoft.com/office/drawing/2014/main" xmlns="" id="{EB79E284-FD62-3143-AA65-B127E9F6D9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38" name="AutoShape 85">
                <a:extLst>
                  <a:ext uri="{FF2B5EF4-FFF2-40B4-BE49-F238E27FC236}">
                    <a16:creationId xmlns:a16="http://schemas.microsoft.com/office/drawing/2014/main" xmlns="" id="{2C0C8BB4-8BF9-B741-AF20-9A03AB77B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  <p:sp>
            <p:nvSpPr>
              <p:cNvPr id="139" name="AutoShape 86">
                <a:extLst>
                  <a:ext uri="{FF2B5EF4-FFF2-40B4-BE49-F238E27FC236}">
                    <a16:creationId xmlns:a16="http://schemas.microsoft.com/office/drawing/2014/main" xmlns="" id="{F72720FC-B0AA-A84E-A686-35E8C4524E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</p:grpSp>
        <p:sp>
          <p:nvSpPr>
            <p:cNvPr id="123" name="Freeform 87">
              <a:extLst>
                <a:ext uri="{FF2B5EF4-FFF2-40B4-BE49-F238E27FC236}">
                  <a16:creationId xmlns:a16="http://schemas.microsoft.com/office/drawing/2014/main" xmlns="" id="{D65F7AB8-77F0-D74F-8AE2-D73E317AB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4" name="Group 88">
              <a:extLst>
                <a:ext uri="{FF2B5EF4-FFF2-40B4-BE49-F238E27FC236}">
                  <a16:creationId xmlns:a16="http://schemas.microsoft.com/office/drawing/2014/main" xmlns="" id="{9C3676B6-DD2E-4C4C-8B2D-1DCDA62C82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36" name="AutoShape 89">
                <a:extLst>
                  <a:ext uri="{FF2B5EF4-FFF2-40B4-BE49-F238E27FC236}">
                    <a16:creationId xmlns:a16="http://schemas.microsoft.com/office/drawing/2014/main" xmlns="" id="{0F2E9EB7-A170-774D-A4E2-360F52DBC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  <p:sp>
            <p:nvSpPr>
              <p:cNvPr id="137" name="AutoShape 90">
                <a:extLst>
                  <a:ext uri="{FF2B5EF4-FFF2-40B4-BE49-F238E27FC236}">
                    <a16:creationId xmlns:a16="http://schemas.microsoft.com/office/drawing/2014/main" xmlns="" id="{273D0D93-64F6-E749-8F59-3740282431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</p:grpSp>
        <p:sp>
          <p:nvSpPr>
            <p:cNvPr id="125" name="Rectangle 91">
              <a:extLst>
                <a:ext uri="{FF2B5EF4-FFF2-40B4-BE49-F238E27FC236}">
                  <a16:creationId xmlns:a16="http://schemas.microsoft.com/office/drawing/2014/main" xmlns="" id="{8086F60F-6926-E949-AF71-568526A13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126" name="Freeform 92">
              <a:extLst>
                <a:ext uri="{FF2B5EF4-FFF2-40B4-BE49-F238E27FC236}">
                  <a16:creationId xmlns:a16="http://schemas.microsoft.com/office/drawing/2014/main" xmlns="" id="{AA04C650-C3D7-6047-BC50-96F547A798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93">
              <a:extLst>
                <a:ext uri="{FF2B5EF4-FFF2-40B4-BE49-F238E27FC236}">
                  <a16:creationId xmlns:a16="http://schemas.microsoft.com/office/drawing/2014/main" xmlns="" id="{B620A447-F22A-1047-AB55-6D3FC6793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Oval 94">
              <a:extLst>
                <a:ext uri="{FF2B5EF4-FFF2-40B4-BE49-F238E27FC236}">
                  <a16:creationId xmlns:a16="http://schemas.microsoft.com/office/drawing/2014/main" xmlns="" id="{D18C1BAC-54EB-2C4D-96E0-DCBA8825D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129" name="Freeform 95">
              <a:extLst>
                <a:ext uri="{FF2B5EF4-FFF2-40B4-BE49-F238E27FC236}">
                  <a16:creationId xmlns:a16="http://schemas.microsoft.com/office/drawing/2014/main" xmlns="" id="{AE9B61EF-DC95-BD4B-8A95-97E504A283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AutoShape 96">
              <a:extLst>
                <a:ext uri="{FF2B5EF4-FFF2-40B4-BE49-F238E27FC236}">
                  <a16:creationId xmlns:a16="http://schemas.microsoft.com/office/drawing/2014/main" xmlns="" id="{AEFFD9A1-A7DB-9741-8160-339984971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131" name="AutoShape 97">
              <a:extLst>
                <a:ext uri="{FF2B5EF4-FFF2-40B4-BE49-F238E27FC236}">
                  <a16:creationId xmlns:a16="http://schemas.microsoft.com/office/drawing/2014/main" xmlns="" id="{4CF0FD3C-4FEA-C74E-B036-01248AA0D0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132" name="Oval 98">
              <a:extLst>
                <a:ext uri="{FF2B5EF4-FFF2-40B4-BE49-F238E27FC236}">
                  <a16:creationId xmlns:a16="http://schemas.microsoft.com/office/drawing/2014/main" xmlns="" id="{0CD0CEC4-6C5A-3848-912A-E20E61971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133" name="Oval 99">
              <a:extLst>
                <a:ext uri="{FF2B5EF4-FFF2-40B4-BE49-F238E27FC236}">
                  <a16:creationId xmlns:a16="http://schemas.microsoft.com/office/drawing/2014/main" xmlns="" id="{E813B2FF-58DB-E94B-AA5D-719819E1A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34" name="Oval 100">
              <a:extLst>
                <a:ext uri="{FF2B5EF4-FFF2-40B4-BE49-F238E27FC236}">
                  <a16:creationId xmlns:a16="http://schemas.microsoft.com/office/drawing/2014/main" xmlns="" id="{7FE7A801-184A-CA4F-8BDE-540520412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135" name="Rectangle 101">
              <a:extLst>
                <a:ext uri="{FF2B5EF4-FFF2-40B4-BE49-F238E27FC236}">
                  <a16:creationId xmlns:a16="http://schemas.microsoft.com/office/drawing/2014/main" xmlns="" id="{601DD256-57BB-F948-8A59-299CE2830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464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2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Web caches (proxy servers)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44" name="Rectangle 3">
            <a:extLst>
              <a:ext uri="{FF2B5EF4-FFF2-40B4-BE49-F238E27FC236}">
                <a16:creationId xmlns:a16="http://schemas.microsoft.com/office/drawing/2014/main" xmlns="" id="{7B8521C1-7DCD-9344-8BCE-E617E0E93A48}"/>
              </a:ext>
            </a:extLst>
          </p:cNvPr>
          <p:cNvSpPr txBox="1">
            <a:spLocks noChangeArrowheads="1"/>
          </p:cNvSpPr>
          <p:nvPr/>
        </p:nvSpPr>
        <p:spPr>
          <a:xfrm>
            <a:off x="600308" y="1534695"/>
            <a:ext cx="4752277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7988" indent="-277813"/>
            <a:r>
              <a:rPr lang="en-US" altLang="en-US" sz="3200" dirty="0">
                <a:ea typeface="ＭＳ Ｐゴシック" panose="020B0600070205080204" pitchFamily="34" charset="-128"/>
              </a:rPr>
              <a:t>Web cache acts as both client and server</a:t>
            </a:r>
          </a:p>
          <a:p>
            <a:pPr lvl="1"/>
            <a:r>
              <a:rPr lang="en-US" altLang="en-US" sz="2800" dirty="0">
                <a:ea typeface="ＭＳ Ｐゴシック" panose="020B0600070205080204" pitchFamily="34" charset="-128"/>
              </a:rPr>
              <a:t>server for original requesting client</a:t>
            </a:r>
          </a:p>
          <a:p>
            <a:pPr lvl="1"/>
            <a:r>
              <a:rPr lang="en-US" altLang="en-US" sz="2800" dirty="0">
                <a:ea typeface="ＭＳ Ｐゴシック" panose="020B0600070205080204" pitchFamily="34" charset="-128"/>
              </a:rPr>
              <a:t>client to origin server</a:t>
            </a:r>
          </a:p>
          <a:p>
            <a:pPr marL="407988" indent="-277813"/>
            <a:r>
              <a:rPr lang="en-US" altLang="en-US" sz="3200" dirty="0">
                <a:ea typeface="ＭＳ Ｐゴシック" panose="020B0600070205080204" pitchFamily="34" charset="-128"/>
              </a:rPr>
              <a:t>typically cache is installed by ISP (university, company, residential ISP)</a:t>
            </a:r>
          </a:p>
        </p:txBody>
      </p:sp>
      <p:sp>
        <p:nvSpPr>
          <p:cNvPr id="145" name="Rectangle 4">
            <a:extLst>
              <a:ext uri="{FF2B5EF4-FFF2-40B4-BE49-F238E27FC236}">
                <a16:creationId xmlns:a16="http://schemas.microsoft.com/office/drawing/2014/main" xmlns="" id="{F6AE5A0B-A69D-B948-BD0F-B69E446252C4}"/>
              </a:ext>
            </a:extLst>
          </p:cNvPr>
          <p:cNvSpPr txBox="1">
            <a:spLocks noChangeArrowheads="1"/>
          </p:cNvSpPr>
          <p:nvPr/>
        </p:nvSpPr>
        <p:spPr>
          <a:xfrm>
            <a:off x="5544015" y="1534695"/>
            <a:ext cx="6047678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Why </a:t>
            </a:r>
            <a:r>
              <a:rPr lang="en-US" altLang="en-US" sz="3200" dirty="0">
                <a:ea typeface="ＭＳ Ｐゴシック" panose="020B0600070205080204" pitchFamily="34" charset="-128"/>
              </a:rPr>
              <a:t>Web caching?</a:t>
            </a:r>
          </a:p>
          <a:p>
            <a:pPr marL="407988" indent="-287338"/>
            <a:r>
              <a:rPr lang="en-US" altLang="en-US" sz="3200" dirty="0">
                <a:ea typeface="ＭＳ Ｐゴシック" panose="020B0600070205080204" pitchFamily="34" charset="-128"/>
              </a:rPr>
              <a:t>reduce response time for client request </a:t>
            </a:r>
          </a:p>
          <a:p>
            <a:pPr marL="750888" lvl="1" indent="-287338"/>
            <a:r>
              <a:rPr lang="en-US" altLang="en-US" sz="2800" dirty="0">
                <a:ea typeface="ＭＳ Ｐゴシック" panose="020B0600070205080204" pitchFamily="34" charset="-128"/>
              </a:rPr>
              <a:t>cache is closer to client</a:t>
            </a:r>
          </a:p>
          <a:p>
            <a:pPr marL="407988" indent="-287338"/>
            <a:r>
              <a:rPr lang="en-US" altLang="en-US" sz="3200" dirty="0">
                <a:ea typeface="ＭＳ Ｐゴシック" panose="020B0600070205080204" pitchFamily="34" charset="-128"/>
              </a:rPr>
              <a:t>reduce traffic on an institution</a:t>
            </a:r>
            <a:r>
              <a:rPr lang="ja-JP" altLang="en-US" sz="3200">
                <a:ea typeface="ＭＳ Ｐゴシック" panose="020B0600070205080204" pitchFamily="34" charset="-128"/>
              </a:rPr>
              <a:t>’</a:t>
            </a:r>
            <a:r>
              <a:rPr lang="en-US" altLang="ja-JP" sz="3200" dirty="0">
                <a:ea typeface="ＭＳ Ｐゴシック" panose="020B0600070205080204" pitchFamily="34" charset="-128"/>
              </a:rPr>
              <a:t>s access link</a:t>
            </a:r>
          </a:p>
          <a:p>
            <a:pPr marL="407988" indent="-287338"/>
            <a:r>
              <a:rPr lang="en-US" altLang="en-US" sz="3200" dirty="0">
                <a:ea typeface="ＭＳ Ｐゴシック" panose="020B0600070205080204" pitchFamily="34" charset="-128"/>
              </a:rPr>
              <a:t>Internet is dense with caches </a:t>
            </a:r>
          </a:p>
          <a:p>
            <a:pPr marL="750888" lvl="1" indent="-287338"/>
            <a:r>
              <a:rPr lang="en-US" altLang="en-US" sz="2800" dirty="0">
                <a:ea typeface="ＭＳ Ｐゴシック" panose="020B0600070205080204" pitchFamily="34" charset="-128"/>
              </a:rPr>
              <a:t>enables “</a:t>
            </a:r>
            <a:r>
              <a:rPr lang="en-US" altLang="ja-JP" sz="2800" dirty="0">
                <a:ea typeface="ＭＳ Ｐゴシック" panose="020B0600070205080204" pitchFamily="34" charset="-128"/>
              </a:rPr>
              <a:t>poor” content providers to more effectively deliver content</a:t>
            </a:r>
            <a:endParaRPr lang="en-US" altLang="en-US" sz="28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452665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17" y="223762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HTTP/2</a:t>
            </a:r>
            <a:endParaRPr lang="en-US" sz="4400" dirty="0"/>
          </a:p>
        </p:txBody>
      </p:sp>
      <p:sp>
        <p:nvSpPr>
          <p:cNvPr id="272" name="Rectangle 3">
            <a:extLst>
              <a:ext uri="{FF2B5EF4-FFF2-40B4-BE49-F238E27FC236}">
                <a16:creationId xmlns:a16="http://schemas.microsoft.com/office/drawing/2014/main" xmlns="" id="{8CBA4EFF-1AC8-A245-B998-4DDACE8C36D2}"/>
              </a:ext>
            </a:extLst>
          </p:cNvPr>
          <p:cNvSpPr txBox="1">
            <a:spLocks noChangeArrowheads="1"/>
          </p:cNvSpPr>
          <p:nvPr/>
        </p:nvSpPr>
        <p:spPr>
          <a:xfrm>
            <a:off x="673719" y="1118384"/>
            <a:ext cx="11117107" cy="50330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0" algn="ctr">
              <a:buNone/>
            </a:pPr>
            <a:r>
              <a:rPr lang="en-US" altLang="en-US" i="1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Key goal: </a:t>
            </a:r>
            <a:r>
              <a:rPr lang="en-US" altLang="en-US" dirty="0">
                <a:ea typeface="ＭＳ Ｐゴシック" panose="020B0600070205080204" pitchFamily="34" charset="-128"/>
              </a:rPr>
              <a:t>decreased delay in multi-object </a:t>
            </a:r>
            <a:r>
              <a:rPr lang="en-US" altLang="en-US">
                <a:ea typeface="ＭＳ Ｐゴシック" panose="020B0600070205080204" pitchFamily="34" charset="-128"/>
              </a:rPr>
              <a:t>HTTP requests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xmlns="" id="{FB527882-F34C-8945-BA16-5C2965DA6310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752600"/>
            <a:ext cx="10654118" cy="3930449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 indent="0">
              <a:buNone/>
            </a:pPr>
            <a:r>
              <a:rPr lang="en-US" altLang="en-US" sz="3200" i="1" u="sng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HTTP1.1:</a:t>
            </a:r>
            <a:r>
              <a:rPr lang="en-US" altLang="en-US" sz="3200" u="sng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3200" dirty="0">
                <a:ea typeface="ＭＳ Ｐゴシック" panose="020B0600070205080204" pitchFamily="34" charset="-128"/>
              </a:rPr>
              <a:t>introduced </a:t>
            </a:r>
            <a:r>
              <a:rPr lang="en-US" altLang="en-US" sz="3200" dirty="0">
                <a:solidFill>
                  <a:srgbClr val="0000A3"/>
                </a:solidFill>
                <a:ea typeface="ＭＳ Ｐゴシック" panose="020B0600070205080204" pitchFamily="34" charset="-128"/>
              </a:rPr>
              <a:t>multiple, pipelined GETs</a:t>
            </a:r>
            <a:r>
              <a:rPr lang="en-US" altLang="en-US" sz="3200" dirty="0">
                <a:ea typeface="ＭＳ Ｐゴシック" panose="020B0600070205080204" pitchFamily="34" charset="-128"/>
              </a:rPr>
              <a:t> over single TCP connection</a:t>
            </a:r>
            <a:endParaRPr lang="en-US" altLang="en-US" sz="3200" b="1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server responds </a:t>
            </a:r>
            <a:r>
              <a:rPr lang="en-US" altLang="en-US" i="1" dirty="0">
                <a:ea typeface="ＭＳ Ｐゴシック" panose="020B0600070205080204" pitchFamily="34" charset="-128"/>
              </a:rPr>
              <a:t>in-order</a:t>
            </a:r>
            <a:r>
              <a:rPr lang="en-US" altLang="en-US" dirty="0">
                <a:ea typeface="ＭＳ Ｐゴシック" panose="020B0600070205080204" pitchFamily="34" charset="-128"/>
              </a:rPr>
              <a:t> (FCFS: first-come-first-served scheduling) to GET requests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with FCFS, small object may have to wait for transmission  (</a:t>
            </a:r>
            <a:r>
              <a:rPr lang="en-US" altLang="en-US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head-of-line (HOL) blocking</a:t>
            </a:r>
            <a:r>
              <a:rPr lang="en-US" altLang="en-US" dirty="0">
                <a:ea typeface="ＭＳ Ｐゴシック" panose="020B0600070205080204" pitchFamily="34" charset="-128"/>
              </a:rPr>
              <a:t>) behind large object(s)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loss recovery (retransmitting lost TCP segments) stalls object transmission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xmlns="" id="{1525AA11-641B-8146-AFF2-E882C5878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4074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17" y="223762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HTTP/2</a:t>
            </a:r>
            <a:endParaRPr lang="en-US" sz="4400" dirty="0"/>
          </a:p>
        </p:txBody>
      </p:sp>
      <p:sp>
        <p:nvSpPr>
          <p:cNvPr id="272" name="Rectangle 3">
            <a:extLst>
              <a:ext uri="{FF2B5EF4-FFF2-40B4-BE49-F238E27FC236}">
                <a16:creationId xmlns:a16="http://schemas.microsoft.com/office/drawing/2014/main" xmlns="" id="{8CBA4EFF-1AC8-A245-B998-4DDACE8C36D2}"/>
              </a:ext>
            </a:extLst>
          </p:cNvPr>
          <p:cNvSpPr txBox="1">
            <a:spLocks noChangeArrowheads="1"/>
          </p:cNvSpPr>
          <p:nvPr/>
        </p:nvSpPr>
        <p:spPr>
          <a:xfrm>
            <a:off x="673719" y="1118384"/>
            <a:ext cx="11117107" cy="50330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0" algn="ctr">
              <a:buNone/>
            </a:pPr>
            <a:r>
              <a:rPr lang="en-US" altLang="en-US" i="1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Key goal: </a:t>
            </a:r>
            <a:r>
              <a:rPr lang="en-US" altLang="en-US" dirty="0">
                <a:ea typeface="ＭＳ Ｐゴシック" panose="020B0600070205080204" pitchFamily="34" charset="-128"/>
              </a:rPr>
              <a:t>decreased delay in multi-object </a:t>
            </a:r>
            <a:r>
              <a:rPr lang="en-US" altLang="en-US">
                <a:ea typeface="ＭＳ Ｐゴシック" panose="020B0600070205080204" pitchFamily="34" charset="-128"/>
              </a:rPr>
              <a:t>HTTP requests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xmlns="" id="{9A8B785A-4E29-F546-8152-139D7CF7C8F9}"/>
              </a:ext>
            </a:extLst>
          </p:cNvPr>
          <p:cNvSpPr txBox="1">
            <a:spLocks noChangeArrowheads="1"/>
          </p:cNvSpPr>
          <p:nvPr/>
        </p:nvSpPr>
        <p:spPr>
          <a:xfrm>
            <a:off x="1003084" y="2048927"/>
            <a:ext cx="10458375" cy="448727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 indent="0">
              <a:buNone/>
            </a:pPr>
            <a:r>
              <a:rPr lang="en-US" altLang="en-US" sz="3200" i="1" u="sng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HTTP/2:</a:t>
            </a:r>
            <a:r>
              <a:rPr lang="en-US" altLang="en-US" sz="3200" dirty="0">
                <a:ea typeface="ＭＳ Ｐゴシック" panose="020B0600070205080204" pitchFamily="34" charset="-128"/>
              </a:rPr>
              <a:t> </a:t>
            </a:r>
            <a:r>
              <a:rPr lang="en-US" altLang="en-US" sz="2000" dirty="0">
                <a:ea typeface="ＭＳ Ｐゴシック" panose="020B0600070205080204" pitchFamily="34" charset="-128"/>
              </a:rPr>
              <a:t>[RFC 7540, 2015] </a:t>
            </a:r>
            <a:r>
              <a:rPr lang="en-US" altLang="en-US" sz="3200" dirty="0">
                <a:ea typeface="ＭＳ Ｐゴシック" panose="020B0600070205080204" pitchFamily="34" charset="-128"/>
              </a:rPr>
              <a:t>increased flexibility at </a:t>
            </a:r>
            <a:r>
              <a:rPr lang="en-US" altLang="en-US" sz="3200" i="1" dirty="0">
                <a:ea typeface="ＭＳ Ｐゴシック" panose="020B0600070205080204" pitchFamily="34" charset="-128"/>
              </a:rPr>
              <a:t>server</a:t>
            </a:r>
            <a:r>
              <a:rPr lang="en-US" altLang="en-US" sz="3200" dirty="0">
                <a:ea typeface="ＭＳ Ｐゴシック" panose="020B0600070205080204" pitchFamily="34" charset="-128"/>
              </a:rPr>
              <a:t> in sending objects to client:</a:t>
            </a:r>
          </a:p>
          <a:p>
            <a:pPr marL="346075" indent="-280988"/>
            <a:r>
              <a:rPr lang="en-US" altLang="en-US" dirty="0">
                <a:ea typeface="ＭＳ Ｐゴシック" panose="020B0600070205080204" pitchFamily="34" charset="-128"/>
              </a:rPr>
              <a:t>methods, status codes, most header fields unchanged from HTTP 1.1</a:t>
            </a:r>
          </a:p>
          <a:p>
            <a:pPr marL="346075" indent="-280988"/>
            <a:r>
              <a:rPr lang="en-US" altLang="en-US" dirty="0">
                <a:ea typeface="ＭＳ Ｐゴシック" panose="020B0600070205080204" pitchFamily="34" charset="-128"/>
              </a:rPr>
              <a:t>transmission order of requested objects based on client-specified object priority </a:t>
            </a:r>
            <a:r>
              <a:rPr lang="en-US" altLang="en-US" sz="2400" dirty="0">
                <a:ea typeface="ＭＳ Ｐゴシック" panose="020B0600070205080204" pitchFamily="34" charset="-128"/>
              </a:rPr>
              <a:t>(not necessarily FCFS)</a:t>
            </a:r>
          </a:p>
          <a:p>
            <a:pPr marL="346075" indent="-280988"/>
            <a:r>
              <a:rPr lang="en-US" altLang="en-US" i="1" dirty="0">
                <a:ea typeface="ＭＳ Ｐゴシック" panose="020B0600070205080204" pitchFamily="34" charset="-128"/>
              </a:rPr>
              <a:t>push</a:t>
            </a:r>
            <a:r>
              <a:rPr lang="en-US" altLang="en-US" dirty="0">
                <a:ea typeface="ＭＳ Ｐゴシック" panose="020B0600070205080204" pitchFamily="34" charset="-128"/>
              </a:rPr>
              <a:t> unrequested objects to client</a:t>
            </a:r>
          </a:p>
          <a:p>
            <a:pPr marL="346075" indent="-280988"/>
            <a:r>
              <a:rPr lang="en-US" altLang="en-US" dirty="0">
                <a:ea typeface="ＭＳ Ｐゴシック" panose="020B0600070205080204" pitchFamily="34" charset="-128"/>
              </a:rPr>
              <a:t>divide objects into frames, schedule frames to mitigate HOL blocking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xmlns="" id="{11978295-803F-FC46-BFCF-47BC5B6560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177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17" y="223762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HTTP/2 to HTTP/3</a:t>
            </a:r>
            <a:endParaRPr lang="en-US" sz="4400" dirty="0"/>
          </a:p>
        </p:txBody>
      </p:sp>
      <p:sp>
        <p:nvSpPr>
          <p:cNvPr id="272" name="Rectangle 3">
            <a:extLst>
              <a:ext uri="{FF2B5EF4-FFF2-40B4-BE49-F238E27FC236}">
                <a16:creationId xmlns:a16="http://schemas.microsoft.com/office/drawing/2014/main" xmlns="" id="{8CBA4EFF-1AC8-A245-B998-4DDACE8C36D2}"/>
              </a:ext>
            </a:extLst>
          </p:cNvPr>
          <p:cNvSpPr txBox="1">
            <a:spLocks noChangeArrowheads="1"/>
          </p:cNvSpPr>
          <p:nvPr/>
        </p:nvSpPr>
        <p:spPr>
          <a:xfrm>
            <a:off x="673719" y="1118384"/>
            <a:ext cx="11117107" cy="50330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0" algn="ctr">
              <a:buNone/>
            </a:pPr>
            <a:r>
              <a:rPr lang="en-US" altLang="en-US" i="1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Key goal: </a:t>
            </a:r>
            <a:r>
              <a:rPr lang="en-US" altLang="en-US" dirty="0">
                <a:ea typeface="ＭＳ Ｐゴシック" panose="020B0600070205080204" pitchFamily="34" charset="-128"/>
              </a:rPr>
              <a:t>decreased delay in multi-object </a:t>
            </a:r>
            <a:r>
              <a:rPr lang="en-US" altLang="en-US">
                <a:ea typeface="ＭＳ Ｐゴシック" panose="020B0600070205080204" pitchFamily="34" charset="-128"/>
              </a:rPr>
              <a:t>HTTP requests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xmlns="" id="{9A8B785A-4E29-F546-8152-139D7CF7C8F9}"/>
              </a:ext>
            </a:extLst>
          </p:cNvPr>
          <p:cNvSpPr txBox="1">
            <a:spLocks noChangeArrowheads="1"/>
          </p:cNvSpPr>
          <p:nvPr/>
        </p:nvSpPr>
        <p:spPr>
          <a:xfrm>
            <a:off x="1003084" y="2048927"/>
            <a:ext cx="10458375" cy="448727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5087" indent="0">
              <a:buNone/>
            </a:pPr>
            <a:r>
              <a:rPr lang="en-US" altLang="en-US" sz="3200" dirty="0">
                <a:ea typeface="ＭＳ Ｐゴシック" panose="020B0600070205080204" pitchFamily="34" charset="-128"/>
              </a:rPr>
              <a:t>HTTP/2 over single TCP connection means:</a:t>
            </a:r>
          </a:p>
          <a:p>
            <a:pPr marL="346075" indent="-280988"/>
            <a:r>
              <a:rPr lang="en-US" altLang="en-US" sz="3200" dirty="0">
                <a:ea typeface="ＭＳ Ｐゴシック" panose="020B0600070205080204" pitchFamily="34" charset="-128"/>
              </a:rPr>
              <a:t>recovery from packet loss still stalls all object transmissions</a:t>
            </a:r>
          </a:p>
          <a:p>
            <a:pPr marL="688975" lvl="1" indent="-280988"/>
            <a:r>
              <a:rPr lang="en-US" altLang="en-US" sz="2800" dirty="0">
                <a:ea typeface="ＭＳ Ｐゴシック" panose="020B0600070205080204" pitchFamily="34" charset="-128"/>
              </a:rPr>
              <a:t>as in HTTP 1.1, browsers have incentive to open multiple parallel TCP connections to reduce stalling, increase overall throughput</a:t>
            </a:r>
          </a:p>
          <a:p>
            <a:pPr marL="346075" indent="-280988"/>
            <a:r>
              <a:rPr lang="en-US" altLang="en-US" sz="3200" dirty="0">
                <a:ea typeface="ＭＳ Ｐゴシック" panose="020B0600070205080204" pitchFamily="34" charset="-128"/>
              </a:rPr>
              <a:t>no security over vanilla TCP connection</a:t>
            </a:r>
          </a:p>
          <a:p>
            <a:pPr marL="346075" indent="-280988"/>
            <a:r>
              <a:rPr lang="en-US" altLang="en-US" sz="3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HTTP/3: </a:t>
            </a:r>
            <a:r>
              <a:rPr lang="en-US" altLang="en-US" sz="3200" dirty="0">
                <a:ea typeface="ＭＳ Ｐゴシック" panose="020B0600070205080204" pitchFamily="34" charset="-128"/>
              </a:rPr>
              <a:t>adds security , per object error- and congestion-control (more pipelining) over UDP</a:t>
            </a:r>
          </a:p>
          <a:p>
            <a:pPr marL="688975" lvl="1" indent="-280988"/>
            <a:r>
              <a:rPr lang="en-US" altLang="en-US" sz="2800" dirty="0">
                <a:ea typeface="ＭＳ Ｐゴシック" panose="020B0600070205080204" pitchFamily="34" charset="-128"/>
              </a:rPr>
              <a:t>more on HTTP/3 in transport layer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xmlns="" id="{11978295-803F-FC46-BFCF-47BC5B6560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283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Application layer: overview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xmlns="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809242" y="1870563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Principles of network applications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 and HTTP</a:t>
            </a:r>
          </a:p>
          <a:p>
            <a:pPr marL="401638" indent="-401638">
              <a:buClr>
                <a:srgbClr val="0000A8"/>
              </a:buClr>
              <a:defRPr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E-mail, SMTP, IMAP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Domain Name System DNS</a:t>
            </a:r>
          </a:p>
          <a:p>
            <a:endParaRPr lang="en-US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xmlns="" id="{5FE695BD-369F-8C4A-ACAD-42671E1C0719}"/>
              </a:ext>
            </a:extLst>
          </p:cNvPr>
          <p:cNvSpPr txBox="1">
            <a:spLocks noChangeArrowheads="1"/>
          </p:cNvSpPr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</p:spPr>
        <p:txBody>
          <a:bodyPr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P2P applications</a:t>
            </a:r>
          </a:p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video streaming and content distribution networks</a:t>
            </a:r>
          </a:p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socket programming with UDP and TCP</a:t>
            </a:r>
          </a:p>
          <a:p>
            <a:pPr>
              <a:buFont typeface="Wingdings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7" name="Picture 6" descr="Kurose&amp;Ross 8th edition photo">
            <a:extLst>
              <a:ext uri="{FF2B5EF4-FFF2-40B4-BE49-F238E27FC236}">
                <a16:creationId xmlns:a16="http://schemas.microsoft.com/office/drawing/2014/main" xmlns="" id="{1483A316-B08E-574D-B36E-624819972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391" y="4125913"/>
            <a:ext cx="3087757" cy="231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1005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E-mail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xmlns="" id="{21810D1F-B21D-4B49-9104-1DDE54C093AE}"/>
              </a:ext>
            </a:extLst>
          </p:cNvPr>
          <p:cNvSpPr txBox="1">
            <a:spLocks noChangeArrowheads="1"/>
          </p:cNvSpPr>
          <p:nvPr/>
        </p:nvSpPr>
        <p:spPr>
          <a:xfrm>
            <a:off x="544512" y="1366838"/>
            <a:ext cx="7119031" cy="48768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32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Three major components: </a:t>
            </a:r>
          </a:p>
          <a:p>
            <a:pPr marL="460375" indent="-215900"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user agents </a:t>
            </a:r>
          </a:p>
          <a:p>
            <a:pPr marL="460375" indent="-215900"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mail servers </a:t>
            </a:r>
          </a:p>
          <a:p>
            <a:pPr marL="460375" indent="-215900">
              <a:spcBef>
                <a:spcPts val="400"/>
              </a:spcBef>
              <a:spcAft>
                <a:spcPct val="75000"/>
              </a:spcAft>
            </a:pPr>
            <a:r>
              <a:rPr lang="en-US" altLang="en-US" dirty="0">
                <a:ea typeface="ＭＳ Ｐゴシック" panose="020B0600070205080204" pitchFamily="34" charset="-128"/>
              </a:rPr>
              <a:t>simple mail transfer protocol: SMTP</a:t>
            </a:r>
          </a:p>
          <a:p>
            <a:pPr>
              <a:buFont typeface="Wingdings" pitchFamily="2" charset="2"/>
              <a:buNone/>
            </a:pPr>
            <a:r>
              <a:rPr lang="en-US" altLang="en-US" sz="36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User Agent</a:t>
            </a:r>
          </a:p>
          <a:p>
            <a:pPr marL="460375" indent="-215900"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a.k.a. “</a:t>
            </a:r>
            <a:r>
              <a:rPr lang="en-US" altLang="ja-JP" dirty="0">
                <a:ea typeface="ＭＳ Ｐゴシック" panose="020B0600070205080204" pitchFamily="34" charset="-128"/>
              </a:rPr>
              <a:t>mail reader”</a:t>
            </a:r>
          </a:p>
          <a:p>
            <a:pPr marL="460375" indent="-215900"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composing, editing, reading mail messages</a:t>
            </a:r>
          </a:p>
          <a:p>
            <a:pPr marL="460375" indent="-215900"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e.g., Outlook, iPhone mail client</a:t>
            </a:r>
          </a:p>
          <a:p>
            <a:pPr marL="460375" indent="-215900"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outgoing, incoming messages stored on server</a:t>
            </a:r>
          </a:p>
        </p:txBody>
      </p:sp>
      <p:sp>
        <p:nvSpPr>
          <p:cNvPr id="223" name="Rectangle 280">
            <a:extLst>
              <a:ext uri="{FF2B5EF4-FFF2-40B4-BE49-F238E27FC236}">
                <a16:creationId xmlns:a16="http://schemas.microsoft.com/office/drawing/2014/main" xmlns="" id="{00D5BD5B-D26A-D34A-98C8-091AA10DD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9775" y="406072"/>
            <a:ext cx="1828800" cy="9810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ＭＳ Ｐゴシック" panose="020B0600070205080204" pitchFamily="34" charset="-128"/>
            </a:endParaRPr>
          </a:p>
        </p:txBody>
      </p:sp>
      <p:grpSp>
        <p:nvGrpSpPr>
          <p:cNvPr id="224" name="Group 279">
            <a:extLst>
              <a:ext uri="{FF2B5EF4-FFF2-40B4-BE49-F238E27FC236}">
                <a16:creationId xmlns:a16="http://schemas.microsoft.com/office/drawing/2014/main" xmlns="" id="{85ECCB70-4CBD-8D41-8867-9839284C0E92}"/>
              </a:ext>
            </a:extLst>
          </p:cNvPr>
          <p:cNvGrpSpPr>
            <a:grpSpLocks/>
          </p:cNvGrpSpPr>
          <p:nvPr/>
        </p:nvGrpSpPr>
        <p:grpSpPr bwMode="auto">
          <a:xfrm>
            <a:off x="9726613" y="353688"/>
            <a:ext cx="1736725" cy="989013"/>
            <a:chOff x="4458" y="3335"/>
            <a:chExt cx="1094" cy="623"/>
          </a:xfrm>
        </p:grpSpPr>
        <p:sp>
          <p:nvSpPr>
            <p:cNvPr id="225" name="Text Box 263">
              <a:extLst>
                <a:ext uri="{FF2B5EF4-FFF2-40B4-BE49-F238E27FC236}">
                  <a16:creationId xmlns:a16="http://schemas.microsoft.com/office/drawing/2014/main" xmlns="" id="{735C70AA-4D0B-3E4D-B47F-55C95E7B48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3" y="3725"/>
              <a:ext cx="87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user mailbox</a:t>
              </a:r>
              <a:endParaRPr kumimoji="0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endParaRPr>
            </a:p>
          </p:txBody>
        </p:sp>
        <p:grpSp>
          <p:nvGrpSpPr>
            <p:cNvPr id="226" name="Group 278">
              <a:extLst>
                <a:ext uri="{FF2B5EF4-FFF2-40B4-BE49-F238E27FC236}">
                  <a16:creationId xmlns:a16="http://schemas.microsoft.com/office/drawing/2014/main" xmlns="" id="{E130EDE1-DE49-BC4D-9A74-CEDC9FFF3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229" name="Rectangle 264">
                <a:extLst>
                  <a:ext uri="{FF2B5EF4-FFF2-40B4-BE49-F238E27FC236}">
                    <a16:creationId xmlns:a16="http://schemas.microsoft.com/office/drawing/2014/main" xmlns="" id="{D8ED0CFE-E76B-584D-BA7F-B64E112A3A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30" name="Line 265">
                <a:extLst>
                  <a:ext uri="{FF2B5EF4-FFF2-40B4-BE49-F238E27FC236}">
                    <a16:creationId xmlns:a16="http://schemas.microsoft.com/office/drawing/2014/main" xmlns="" id="{076E3A0A-DC0D-234E-ACFD-ED8D3EBB28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3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31" name="Line 266">
                <a:extLst>
                  <a:ext uri="{FF2B5EF4-FFF2-40B4-BE49-F238E27FC236}">
                    <a16:creationId xmlns:a16="http://schemas.microsoft.com/office/drawing/2014/main" xmlns="" id="{FAE63733-4DC0-C740-915D-E91FC7FD9E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72" y="3471"/>
                <a:ext cx="6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32" name="Line 267">
                <a:extLst>
                  <a:ext uri="{FF2B5EF4-FFF2-40B4-BE49-F238E27FC236}">
                    <a16:creationId xmlns:a16="http://schemas.microsoft.com/office/drawing/2014/main" xmlns="" id="{9432E742-E38D-324E-8AE4-F24CFDAF4B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27" y="347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33" name="Line 268">
                <a:extLst>
                  <a:ext uri="{FF2B5EF4-FFF2-40B4-BE49-F238E27FC236}">
                    <a16:creationId xmlns:a16="http://schemas.microsoft.com/office/drawing/2014/main" xmlns="" id="{BFE1C87F-4841-9248-85BA-C4E3AF7F1E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4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34" name="Line 269">
                <a:extLst>
                  <a:ext uri="{FF2B5EF4-FFF2-40B4-BE49-F238E27FC236}">
                    <a16:creationId xmlns:a16="http://schemas.microsoft.com/office/drawing/2014/main" xmlns="" id="{856416DF-3745-DB4A-BFC9-169A063914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45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35" name="Line 270">
                <a:extLst>
                  <a:ext uri="{FF2B5EF4-FFF2-40B4-BE49-F238E27FC236}">
                    <a16:creationId xmlns:a16="http://schemas.microsoft.com/office/drawing/2014/main" xmlns="" id="{0DB9FDA2-2EA5-034B-903A-EBC13BC40F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1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36" name="Line 271">
                <a:extLst>
                  <a:ext uri="{FF2B5EF4-FFF2-40B4-BE49-F238E27FC236}">
                    <a16:creationId xmlns:a16="http://schemas.microsoft.com/office/drawing/2014/main" xmlns="" id="{F94A5742-E1B7-A64E-A807-9A41FFB1D4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27" name="Rectangle 272">
              <a:extLst>
                <a:ext uri="{FF2B5EF4-FFF2-40B4-BE49-F238E27FC236}">
                  <a16:creationId xmlns:a16="http://schemas.microsoft.com/office/drawing/2014/main" xmlns="" id="{FA709473-06C4-C847-B23D-5962F6EF8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endParaRPr>
            </a:p>
          </p:txBody>
        </p:sp>
        <p:sp>
          <p:nvSpPr>
            <p:cNvPr id="228" name="Text Box 277">
              <a:extLst>
                <a:ext uri="{FF2B5EF4-FFF2-40B4-BE49-F238E27FC236}">
                  <a16:creationId xmlns:a16="http://schemas.microsoft.com/office/drawing/2014/main" xmlns="" id="{6E499AE9-BC96-AA43-8A92-BB907E72E5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4" y="3335"/>
              <a:ext cx="1038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outgoing </a:t>
              </a:r>
            </a:p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message queue</a:t>
              </a:r>
              <a:endParaRPr kumimoji="0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237" name="Group 454">
            <a:extLst>
              <a:ext uri="{FF2B5EF4-FFF2-40B4-BE49-F238E27FC236}">
                <a16:creationId xmlns:a16="http://schemas.microsoft.com/office/drawing/2014/main" xmlns="" id="{FE2C87B1-0D29-6946-B29A-95FF8E6A0A50}"/>
              </a:ext>
            </a:extLst>
          </p:cNvPr>
          <p:cNvGrpSpPr>
            <a:grpSpLocks/>
          </p:cNvGrpSpPr>
          <p:nvPr/>
        </p:nvGrpSpPr>
        <p:grpSpPr bwMode="auto">
          <a:xfrm>
            <a:off x="7335838" y="1183947"/>
            <a:ext cx="4311650" cy="5118100"/>
            <a:chOff x="2941" y="886"/>
            <a:chExt cx="2716" cy="3224"/>
          </a:xfrm>
        </p:grpSpPr>
        <p:grpSp>
          <p:nvGrpSpPr>
            <p:cNvPr id="238" name="Group 389">
              <a:extLst>
                <a:ext uri="{FF2B5EF4-FFF2-40B4-BE49-F238E27FC236}">
                  <a16:creationId xmlns:a16="http://schemas.microsoft.com/office/drawing/2014/main" xmlns="" id="{A13CA913-E4B3-254A-A935-ADB3F9E6EA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6" y="1756"/>
              <a:ext cx="301" cy="451"/>
              <a:chOff x="4140" y="429"/>
              <a:chExt cx="1425" cy="2396"/>
            </a:xfrm>
          </p:grpSpPr>
          <p:sp>
            <p:nvSpPr>
              <p:cNvPr id="401" name="Freeform 390">
                <a:extLst>
                  <a:ext uri="{FF2B5EF4-FFF2-40B4-BE49-F238E27FC236}">
                    <a16:creationId xmlns:a16="http://schemas.microsoft.com/office/drawing/2014/main" xmlns="" id="{6CCFD9B8-8C88-C24F-8883-4CF6367F46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02" name="Rectangle 391">
                <a:extLst>
                  <a:ext uri="{FF2B5EF4-FFF2-40B4-BE49-F238E27FC236}">
                    <a16:creationId xmlns:a16="http://schemas.microsoft.com/office/drawing/2014/main" xmlns="" id="{43B4C051-EEAE-814E-99DE-21C8B8D479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03" name="Freeform 392">
                <a:extLst>
                  <a:ext uri="{FF2B5EF4-FFF2-40B4-BE49-F238E27FC236}">
                    <a16:creationId xmlns:a16="http://schemas.microsoft.com/office/drawing/2014/main" xmlns="" id="{2BC8E3DE-CCCA-1344-8BA5-2A15D443A8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04" name="Freeform 393">
                <a:extLst>
                  <a:ext uri="{FF2B5EF4-FFF2-40B4-BE49-F238E27FC236}">
                    <a16:creationId xmlns:a16="http://schemas.microsoft.com/office/drawing/2014/main" xmlns="" id="{E0152158-7133-BA4C-A8F5-ADB2FFBFF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05" name="Rectangle 394">
                <a:extLst>
                  <a:ext uri="{FF2B5EF4-FFF2-40B4-BE49-F238E27FC236}">
                    <a16:creationId xmlns:a16="http://schemas.microsoft.com/office/drawing/2014/main" xmlns="" id="{E5FA410D-74EF-7742-BB99-1CFEB8EDEE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406" name="Group 395">
                <a:extLst>
                  <a:ext uri="{FF2B5EF4-FFF2-40B4-BE49-F238E27FC236}">
                    <a16:creationId xmlns:a16="http://schemas.microsoft.com/office/drawing/2014/main" xmlns="" id="{AF72D040-96B4-8540-B83D-471812640A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31" name="AutoShape 396">
                  <a:extLst>
                    <a:ext uri="{FF2B5EF4-FFF2-40B4-BE49-F238E27FC236}">
                      <a16:creationId xmlns:a16="http://schemas.microsoft.com/office/drawing/2014/main" xmlns="" id="{F18E39D5-A4BF-264B-B7EA-F621A57FAD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432" name="AutoShape 397">
                  <a:extLst>
                    <a:ext uri="{FF2B5EF4-FFF2-40B4-BE49-F238E27FC236}">
                      <a16:creationId xmlns:a16="http://schemas.microsoft.com/office/drawing/2014/main" xmlns="" id="{39716169-1014-2547-9B50-032A17A0DF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407" name="Rectangle 398">
                <a:extLst>
                  <a:ext uri="{FF2B5EF4-FFF2-40B4-BE49-F238E27FC236}">
                    <a16:creationId xmlns:a16="http://schemas.microsoft.com/office/drawing/2014/main" xmlns="" id="{28879B2B-7691-B842-8771-94E870C3EE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408" name="Group 399">
                <a:extLst>
                  <a:ext uri="{FF2B5EF4-FFF2-40B4-BE49-F238E27FC236}">
                    <a16:creationId xmlns:a16="http://schemas.microsoft.com/office/drawing/2014/main" xmlns="" id="{2D972829-8A16-6E47-B717-3364C7BD92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29" name="AutoShape 400">
                  <a:extLst>
                    <a:ext uri="{FF2B5EF4-FFF2-40B4-BE49-F238E27FC236}">
                      <a16:creationId xmlns:a16="http://schemas.microsoft.com/office/drawing/2014/main" xmlns="" id="{E60C4025-90B9-A647-863C-1FEFBD8A41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430" name="AutoShape 401">
                  <a:extLst>
                    <a:ext uri="{FF2B5EF4-FFF2-40B4-BE49-F238E27FC236}">
                      <a16:creationId xmlns:a16="http://schemas.microsoft.com/office/drawing/2014/main" xmlns="" id="{5C30FC9A-5758-C543-9950-783F68617D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409" name="Rectangle 402">
                <a:extLst>
                  <a:ext uri="{FF2B5EF4-FFF2-40B4-BE49-F238E27FC236}">
                    <a16:creationId xmlns:a16="http://schemas.microsoft.com/office/drawing/2014/main" xmlns="" id="{8DDE3471-A288-6245-884A-B0607E1F64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10" name="Rectangle 403">
                <a:extLst>
                  <a:ext uri="{FF2B5EF4-FFF2-40B4-BE49-F238E27FC236}">
                    <a16:creationId xmlns:a16="http://schemas.microsoft.com/office/drawing/2014/main" xmlns="" id="{7B5A163C-1F88-0443-87E9-51D1B2C39E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411" name="Group 404">
                <a:extLst>
                  <a:ext uri="{FF2B5EF4-FFF2-40B4-BE49-F238E27FC236}">
                    <a16:creationId xmlns:a16="http://schemas.microsoft.com/office/drawing/2014/main" xmlns="" id="{D7C44D5A-AB33-A744-B633-909E75E589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27" name="AutoShape 405">
                  <a:extLst>
                    <a:ext uri="{FF2B5EF4-FFF2-40B4-BE49-F238E27FC236}">
                      <a16:creationId xmlns:a16="http://schemas.microsoft.com/office/drawing/2014/main" xmlns="" id="{BB140094-DC4B-CC48-B901-9AF64D80BC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428" name="AutoShape 406">
                  <a:extLst>
                    <a:ext uri="{FF2B5EF4-FFF2-40B4-BE49-F238E27FC236}">
                      <a16:creationId xmlns:a16="http://schemas.microsoft.com/office/drawing/2014/main" xmlns="" id="{43B72EE6-71A8-E947-8E6C-0468656DDA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412" name="Freeform 407">
                <a:extLst>
                  <a:ext uri="{FF2B5EF4-FFF2-40B4-BE49-F238E27FC236}">
                    <a16:creationId xmlns:a16="http://schemas.microsoft.com/office/drawing/2014/main" xmlns="" id="{D8EE526A-D741-074E-8520-BBA303937B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413" name="Group 408">
                <a:extLst>
                  <a:ext uri="{FF2B5EF4-FFF2-40B4-BE49-F238E27FC236}">
                    <a16:creationId xmlns:a16="http://schemas.microsoft.com/office/drawing/2014/main" xmlns="" id="{8DC6A1FE-670A-8F4C-B521-23ECDDF7E0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25" name="AutoShape 409">
                  <a:extLst>
                    <a:ext uri="{FF2B5EF4-FFF2-40B4-BE49-F238E27FC236}">
                      <a16:creationId xmlns:a16="http://schemas.microsoft.com/office/drawing/2014/main" xmlns="" id="{0F0B48EC-30B0-2447-9BE4-237A0F1D6C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426" name="AutoShape 410">
                  <a:extLst>
                    <a:ext uri="{FF2B5EF4-FFF2-40B4-BE49-F238E27FC236}">
                      <a16:creationId xmlns:a16="http://schemas.microsoft.com/office/drawing/2014/main" xmlns="" id="{9C1B49B1-17F4-994D-8ECA-C396B76F72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414" name="Rectangle 411">
                <a:extLst>
                  <a:ext uri="{FF2B5EF4-FFF2-40B4-BE49-F238E27FC236}">
                    <a16:creationId xmlns:a16="http://schemas.microsoft.com/office/drawing/2014/main" xmlns="" id="{A0980C94-D527-BA41-8507-6B28776A9C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15" name="Freeform 412">
                <a:extLst>
                  <a:ext uri="{FF2B5EF4-FFF2-40B4-BE49-F238E27FC236}">
                    <a16:creationId xmlns:a16="http://schemas.microsoft.com/office/drawing/2014/main" xmlns="" id="{F0295E91-976F-C148-BFB3-59549C5388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16" name="Freeform 413">
                <a:extLst>
                  <a:ext uri="{FF2B5EF4-FFF2-40B4-BE49-F238E27FC236}">
                    <a16:creationId xmlns:a16="http://schemas.microsoft.com/office/drawing/2014/main" xmlns="" id="{2C2F1597-CAE7-5248-BDE8-D6B16C5286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17" name="Oval 414">
                <a:extLst>
                  <a:ext uri="{FF2B5EF4-FFF2-40B4-BE49-F238E27FC236}">
                    <a16:creationId xmlns:a16="http://schemas.microsoft.com/office/drawing/2014/main" xmlns="" id="{914741F1-D3EA-3645-9C4D-9E5B4C9531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18" name="Freeform 415">
                <a:extLst>
                  <a:ext uri="{FF2B5EF4-FFF2-40B4-BE49-F238E27FC236}">
                    <a16:creationId xmlns:a16="http://schemas.microsoft.com/office/drawing/2014/main" xmlns="" id="{079F15E3-5A9F-844C-92CA-F9CBADE82E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19" name="AutoShape 416">
                <a:extLst>
                  <a:ext uri="{FF2B5EF4-FFF2-40B4-BE49-F238E27FC236}">
                    <a16:creationId xmlns:a16="http://schemas.microsoft.com/office/drawing/2014/main" xmlns="" id="{25F2967B-CA00-2D49-B406-7209F80FB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20" name="AutoShape 417">
                <a:extLst>
                  <a:ext uri="{FF2B5EF4-FFF2-40B4-BE49-F238E27FC236}">
                    <a16:creationId xmlns:a16="http://schemas.microsoft.com/office/drawing/2014/main" xmlns="" id="{60A760B4-92D7-954E-A584-1C2A30FC6A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21" name="Oval 418">
                <a:extLst>
                  <a:ext uri="{FF2B5EF4-FFF2-40B4-BE49-F238E27FC236}">
                    <a16:creationId xmlns:a16="http://schemas.microsoft.com/office/drawing/2014/main" xmlns="" id="{A94E8FB4-D219-2843-94C1-6710451B9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22" name="Oval 419">
                <a:extLst>
                  <a:ext uri="{FF2B5EF4-FFF2-40B4-BE49-F238E27FC236}">
                    <a16:creationId xmlns:a16="http://schemas.microsoft.com/office/drawing/2014/main" xmlns="" id="{CBBF0878-886F-8240-BCA7-1F50627F0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23" name="Oval 420">
                <a:extLst>
                  <a:ext uri="{FF2B5EF4-FFF2-40B4-BE49-F238E27FC236}">
                    <a16:creationId xmlns:a16="http://schemas.microsoft.com/office/drawing/2014/main" xmlns="" id="{722EEBED-10FC-6E4D-AABD-99355D3828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24" name="Rectangle 421">
                <a:extLst>
                  <a:ext uri="{FF2B5EF4-FFF2-40B4-BE49-F238E27FC236}">
                    <a16:creationId xmlns:a16="http://schemas.microsoft.com/office/drawing/2014/main" xmlns="" id="{92E23A4D-5618-484A-93AD-2343A39775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39" name="Group 356">
              <a:extLst>
                <a:ext uri="{FF2B5EF4-FFF2-40B4-BE49-F238E27FC236}">
                  <a16:creationId xmlns:a16="http://schemas.microsoft.com/office/drawing/2014/main" xmlns="" id="{0FAAD616-9809-0F47-9C32-F28BCE96C4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91" y="2634"/>
              <a:ext cx="301" cy="451"/>
              <a:chOff x="4140" y="429"/>
              <a:chExt cx="1425" cy="2396"/>
            </a:xfrm>
          </p:grpSpPr>
          <p:sp>
            <p:nvSpPr>
              <p:cNvPr id="369" name="Freeform 357">
                <a:extLst>
                  <a:ext uri="{FF2B5EF4-FFF2-40B4-BE49-F238E27FC236}">
                    <a16:creationId xmlns:a16="http://schemas.microsoft.com/office/drawing/2014/main" xmlns="" id="{2EB65E56-496B-EE43-A5BA-0034EDBB89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70" name="Rectangle 358">
                <a:extLst>
                  <a:ext uri="{FF2B5EF4-FFF2-40B4-BE49-F238E27FC236}">
                    <a16:creationId xmlns:a16="http://schemas.microsoft.com/office/drawing/2014/main" xmlns="" id="{E623A3D2-E041-CF4A-AEB9-0E88006BF3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71" name="Freeform 359">
                <a:extLst>
                  <a:ext uri="{FF2B5EF4-FFF2-40B4-BE49-F238E27FC236}">
                    <a16:creationId xmlns:a16="http://schemas.microsoft.com/office/drawing/2014/main" xmlns="" id="{06D96649-1A4B-D349-BD4A-B3CA1C3571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72" name="Freeform 360">
                <a:extLst>
                  <a:ext uri="{FF2B5EF4-FFF2-40B4-BE49-F238E27FC236}">
                    <a16:creationId xmlns:a16="http://schemas.microsoft.com/office/drawing/2014/main" xmlns="" id="{8CB236BD-E7A4-F54C-A810-99FD583B41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73" name="Rectangle 361">
                <a:extLst>
                  <a:ext uri="{FF2B5EF4-FFF2-40B4-BE49-F238E27FC236}">
                    <a16:creationId xmlns:a16="http://schemas.microsoft.com/office/drawing/2014/main" xmlns="" id="{92C08DD8-675E-D34D-A84F-65A2DE10FF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374" name="Group 362">
                <a:extLst>
                  <a:ext uri="{FF2B5EF4-FFF2-40B4-BE49-F238E27FC236}">
                    <a16:creationId xmlns:a16="http://schemas.microsoft.com/office/drawing/2014/main" xmlns="" id="{168D1B37-2023-2A4F-AEFF-7BCC580296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99" name="AutoShape 363">
                  <a:extLst>
                    <a:ext uri="{FF2B5EF4-FFF2-40B4-BE49-F238E27FC236}">
                      <a16:creationId xmlns:a16="http://schemas.microsoft.com/office/drawing/2014/main" xmlns="" id="{697647FE-4187-6C41-95DB-62B96522DA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400" name="AutoShape 364">
                  <a:extLst>
                    <a:ext uri="{FF2B5EF4-FFF2-40B4-BE49-F238E27FC236}">
                      <a16:creationId xmlns:a16="http://schemas.microsoft.com/office/drawing/2014/main" xmlns="" id="{64F362C9-3CBA-504B-95A3-38E06F0678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375" name="Rectangle 365">
                <a:extLst>
                  <a:ext uri="{FF2B5EF4-FFF2-40B4-BE49-F238E27FC236}">
                    <a16:creationId xmlns:a16="http://schemas.microsoft.com/office/drawing/2014/main" xmlns="" id="{94D546CA-749A-BC48-B20F-57C5A8077E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376" name="Group 366">
                <a:extLst>
                  <a:ext uri="{FF2B5EF4-FFF2-40B4-BE49-F238E27FC236}">
                    <a16:creationId xmlns:a16="http://schemas.microsoft.com/office/drawing/2014/main" xmlns="" id="{1812EEBE-2662-1E46-B90F-2E97DD6FED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97" name="AutoShape 367">
                  <a:extLst>
                    <a:ext uri="{FF2B5EF4-FFF2-40B4-BE49-F238E27FC236}">
                      <a16:creationId xmlns:a16="http://schemas.microsoft.com/office/drawing/2014/main" xmlns="" id="{5354875B-2A6A-B040-9309-A4A5A50F3B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98" name="AutoShape 368">
                  <a:extLst>
                    <a:ext uri="{FF2B5EF4-FFF2-40B4-BE49-F238E27FC236}">
                      <a16:creationId xmlns:a16="http://schemas.microsoft.com/office/drawing/2014/main" xmlns="" id="{7085F58B-EEE8-BE46-B008-54CF97C607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377" name="Rectangle 369">
                <a:extLst>
                  <a:ext uri="{FF2B5EF4-FFF2-40B4-BE49-F238E27FC236}">
                    <a16:creationId xmlns:a16="http://schemas.microsoft.com/office/drawing/2014/main" xmlns="" id="{AB889316-958A-3944-8776-456DA75AA7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78" name="Rectangle 370">
                <a:extLst>
                  <a:ext uri="{FF2B5EF4-FFF2-40B4-BE49-F238E27FC236}">
                    <a16:creationId xmlns:a16="http://schemas.microsoft.com/office/drawing/2014/main" xmlns="" id="{28A61210-9BA6-1B42-99F0-0AA063137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379" name="Group 371">
                <a:extLst>
                  <a:ext uri="{FF2B5EF4-FFF2-40B4-BE49-F238E27FC236}">
                    <a16:creationId xmlns:a16="http://schemas.microsoft.com/office/drawing/2014/main" xmlns="" id="{2D18D821-27B1-1C41-BCE9-F6BAA81749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95" name="AutoShape 372">
                  <a:extLst>
                    <a:ext uri="{FF2B5EF4-FFF2-40B4-BE49-F238E27FC236}">
                      <a16:creationId xmlns:a16="http://schemas.microsoft.com/office/drawing/2014/main" xmlns="" id="{B58EE831-7F05-9245-A127-DD8BBE0CAE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96" name="AutoShape 373">
                  <a:extLst>
                    <a:ext uri="{FF2B5EF4-FFF2-40B4-BE49-F238E27FC236}">
                      <a16:creationId xmlns:a16="http://schemas.microsoft.com/office/drawing/2014/main" xmlns="" id="{85C001D1-A6CB-AF4D-AEBE-CA0F781AAC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380" name="Freeform 374">
                <a:extLst>
                  <a:ext uri="{FF2B5EF4-FFF2-40B4-BE49-F238E27FC236}">
                    <a16:creationId xmlns:a16="http://schemas.microsoft.com/office/drawing/2014/main" xmlns="" id="{B8F2D608-6D10-E648-961C-502BF52F29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381" name="Group 375">
                <a:extLst>
                  <a:ext uri="{FF2B5EF4-FFF2-40B4-BE49-F238E27FC236}">
                    <a16:creationId xmlns:a16="http://schemas.microsoft.com/office/drawing/2014/main" xmlns="" id="{EA90B984-0232-2446-8671-DE7D838676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93" name="AutoShape 376">
                  <a:extLst>
                    <a:ext uri="{FF2B5EF4-FFF2-40B4-BE49-F238E27FC236}">
                      <a16:creationId xmlns:a16="http://schemas.microsoft.com/office/drawing/2014/main" xmlns="" id="{6EB17013-082B-8046-B555-12F5A15CDD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94" name="AutoShape 377">
                  <a:extLst>
                    <a:ext uri="{FF2B5EF4-FFF2-40B4-BE49-F238E27FC236}">
                      <a16:creationId xmlns:a16="http://schemas.microsoft.com/office/drawing/2014/main" xmlns="" id="{A70DD0EF-6EE9-E241-AB7E-EB4BDADA2E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382" name="Rectangle 378">
                <a:extLst>
                  <a:ext uri="{FF2B5EF4-FFF2-40B4-BE49-F238E27FC236}">
                    <a16:creationId xmlns:a16="http://schemas.microsoft.com/office/drawing/2014/main" xmlns="" id="{06B18518-E7AE-2941-AC96-4C9A6B0F0A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83" name="Freeform 379">
                <a:extLst>
                  <a:ext uri="{FF2B5EF4-FFF2-40B4-BE49-F238E27FC236}">
                    <a16:creationId xmlns:a16="http://schemas.microsoft.com/office/drawing/2014/main" xmlns="" id="{C884ECAB-FBB2-1146-9BA8-9234C10762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84" name="Freeform 380">
                <a:extLst>
                  <a:ext uri="{FF2B5EF4-FFF2-40B4-BE49-F238E27FC236}">
                    <a16:creationId xmlns:a16="http://schemas.microsoft.com/office/drawing/2014/main" xmlns="" id="{86ACC5C0-75DC-D644-9593-987029E24B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85" name="Oval 381">
                <a:extLst>
                  <a:ext uri="{FF2B5EF4-FFF2-40B4-BE49-F238E27FC236}">
                    <a16:creationId xmlns:a16="http://schemas.microsoft.com/office/drawing/2014/main" xmlns="" id="{8F3063A0-8C29-3F4C-BBB6-E5C3DB2046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86" name="Freeform 382">
                <a:extLst>
                  <a:ext uri="{FF2B5EF4-FFF2-40B4-BE49-F238E27FC236}">
                    <a16:creationId xmlns:a16="http://schemas.microsoft.com/office/drawing/2014/main" xmlns="" id="{458BBF01-F7B3-7C4A-9F9B-C150FEACFE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87" name="AutoShape 383">
                <a:extLst>
                  <a:ext uri="{FF2B5EF4-FFF2-40B4-BE49-F238E27FC236}">
                    <a16:creationId xmlns:a16="http://schemas.microsoft.com/office/drawing/2014/main" xmlns="" id="{F09EBB6E-D725-9948-A7CD-454E0B2D09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88" name="AutoShape 384">
                <a:extLst>
                  <a:ext uri="{FF2B5EF4-FFF2-40B4-BE49-F238E27FC236}">
                    <a16:creationId xmlns:a16="http://schemas.microsoft.com/office/drawing/2014/main" xmlns="" id="{02BBEBA8-A2A8-6940-9840-37361C65A6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89" name="Oval 385">
                <a:extLst>
                  <a:ext uri="{FF2B5EF4-FFF2-40B4-BE49-F238E27FC236}">
                    <a16:creationId xmlns:a16="http://schemas.microsoft.com/office/drawing/2014/main" xmlns="" id="{6CD76452-9A37-284A-AC19-94EAEBD638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90" name="Oval 386">
                <a:extLst>
                  <a:ext uri="{FF2B5EF4-FFF2-40B4-BE49-F238E27FC236}">
                    <a16:creationId xmlns:a16="http://schemas.microsoft.com/office/drawing/2014/main" xmlns="" id="{1E726A08-C3CF-E243-B6EC-2B48F6CD7C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91" name="Oval 387">
                <a:extLst>
                  <a:ext uri="{FF2B5EF4-FFF2-40B4-BE49-F238E27FC236}">
                    <a16:creationId xmlns:a16="http://schemas.microsoft.com/office/drawing/2014/main" xmlns="" id="{EA8C927A-FBE1-A045-983E-D27E291B72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92" name="Rectangle 388">
                <a:extLst>
                  <a:ext uri="{FF2B5EF4-FFF2-40B4-BE49-F238E27FC236}">
                    <a16:creationId xmlns:a16="http://schemas.microsoft.com/office/drawing/2014/main" xmlns="" id="{C8D6AC43-68AF-D54D-86AA-678153092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40" name="Group 320">
              <a:extLst>
                <a:ext uri="{FF2B5EF4-FFF2-40B4-BE49-F238E27FC236}">
                  <a16:creationId xmlns:a16="http://schemas.microsoft.com/office/drawing/2014/main" xmlns="" id="{BCA856A3-13D3-2047-A080-FFDA86B41E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05" y="1159"/>
              <a:ext cx="301" cy="451"/>
              <a:chOff x="4140" y="429"/>
              <a:chExt cx="1425" cy="2396"/>
            </a:xfrm>
          </p:grpSpPr>
          <p:sp>
            <p:nvSpPr>
              <p:cNvPr id="337" name="Freeform 321">
                <a:extLst>
                  <a:ext uri="{FF2B5EF4-FFF2-40B4-BE49-F238E27FC236}">
                    <a16:creationId xmlns:a16="http://schemas.microsoft.com/office/drawing/2014/main" xmlns="" id="{E9C36205-9E0D-2941-8A7D-957488780F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8" name="Rectangle 322">
                <a:extLst>
                  <a:ext uri="{FF2B5EF4-FFF2-40B4-BE49-F238E27FC236}">
                    <a16:creationId xmlns:a16="http://schemas.microsoft.com/office/drawing/2014/main" xmlns="" id="{DC6B3BB4-B3F9-6649-8059-F6509EF98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9" name="Freeform 323">
                <a:extLst>
                  <a:ext uri="{FF2B5EF4-FFF2-40B4-BE49-F238E27FC236}">
                    <a16:creationId xmlns:a16="http://schemas.microsoft.com/office/drawing/2014/main" xmlns="" id="{95CD3C72-5158-C545-A42A-E0769B687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40" name="Freeform 324">
                <a:extLst>
                  <a:ext uri="{FF2B5EF4-FFF2-40B4-BE49-F238E27FC236}">
                    <a16:creationId xmlns:a16="http://schemas.microsoft.com/office/drawing/2014/main" xmlns="" id="{1090F3E0-60AF-444E-8E42-17F66B71A6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41" name="Rectangle 325">
                <a:extLst>
                  <a:ext uri="{FF2B5EF4-FFF2-40B4-BE49-F238E27FC236}">
                    <a16:creationId xmlns:a16="http://schemas.microsoft.com/office/drawing/2014/main" xmlns="" id="{3E522ADC-77DE-624F-87AA-FAECC92070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342" name="Group 326">
                <a:extLst>
                  <a:ext uri="{FF2B5EF4-FFF2-40B4-BE49-F238E27FC236}">
                    <a16:creationId xmlns:a16="http://schemas.microsoft.com/office/drawing/2014/main" xmlns="" id="{9A881071-53C4-854C-B41F-14CD734AB8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67" name="AutoShape 327">
                  <a:extLst>
                    <a:ext uri="{FF2B5EF4-FFF2-40B4-BE49-F238E27FC236}">
                      <a16:creationId xmlns:a16="http://schemas.microsoft.com/office/drawing/2014/main" xmlns="" id="{5EC42EDF-C001-704E-BAAE-2375ABBC88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68" name="AutoShape 328">
                  <a:extLst>
                    <a:ext uri="{FF2B5EF4-FFF2-40B4-BE49-F238E27FC236}">
                      <a16:creationId xmlns:a16="http://schemas.microsoft.com/office/drawing/2014/main" xmlns="" id="{D887905D-58B1-9A4E-A16A-32F0BF16C0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343" name="Rectangle 329">
                <a:extLst>
                  <a:ext uri="{FF2B5EF4-FFF2-40B4-BE49-F238E27FC236}">
                    <a16:creationId xmlns:a16="http://schemas.microsoft.com/office/drawing/2014/main" xmlns="" id="{36A11B0A-F86E-BE46-B4B2-5F605E896F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344" name="Group 330">
                <a:extLst>
                  <a:ext uri="{FF2B5EF4-FFF2-40B4-BE49-F238E27FC236}">
                    <a16:creationId xmlns:a16="http://schemas.microsoft.com/office/drawing/2014/main" xmlns="" id="{0D898D3E-53D5-FA42-B3ED-1A902F5545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65" name="AutoShape 331">
                  <a:extLst>
                    <a:ext uri="{FF2B5EF4-FFF2-40B4-BE49-F238E27FC236}">
                      <a16:creationId xmlns:a16="http://schemas.microsoft.com/office/drawing/2014/main" xmlns="" id="{140CF4C1-2936-734F-BC64-690AD15BC6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66" name="AutoShape 332">
                  <a:extLst>
                    <a:ext uri="{FF2B5EF4-FFF2-40B4-BE49-F238E27FC236}">
                      <a16:creationId xmlns:a16="http://schemas.microsoft.com/office/drawing/2014/main" xmlns="" id="{25379ADE-E4A2-3644-A2E3-CEB92CF3E1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345" name="Rectangle 333">
                <a:extLst>
                  <a:ext uri="{FF2B5EF4-FFF2-40B4-BE49-F238E27FC236}">
                    <a16:creationId xmlns:a16="http://schemas.microsoft.com/office/drawing/2014/main" xmlns="" id="{58B982F1-2C06-C64E-8596-9111059744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46" name="Rectangle 334">
                <a:extLst>
                  <a:ext uri="{FF2B5EF4-FFF2-40B4-BE49-F238E27FC236}">
                    <a16:creationId xmlns:a16="http://schemas.microsoft.com/office/drawing/2014/main" xmlns="" id="{EC5379D6-711E-1046-B80F-16F89DE4F0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347" name="Group 335">
                <a:extLst>
                  <a:ext uri="{FF2B5EF4-FFF2-40B4-BE49-F238E27FC236}">
                    <a16:creationId xmlns:a16="http://schemas.microsoft.com/office/drawing/2014/main" xmlns="" id="{62B6A9C1-9ECF-E740-8210-537B54075D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63" name="AutoShape 336">
                  <a:extLst>
                    <a:ext uri="{FF2B5EF4-FFF2-40B4-BE49-F238E27FC236}">
                      <a16:creationId xmlns:a16="http://schemas.microsoft.com/office/drawing/2014/main" xmlns="" id="{9D8FBAA6-1137-6844-B6C0-8AE8A997B6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64" name="AutoShape 337">
                  <a:extLst>
                    <a:ext uri="{FF2B5EF4-FFF2-40B4-BE49-F238E27FC236}">
                      <a16:creationId xmlns:a16="http://schemas.microsoft.com/office/drawing/2014/main" xmlns="" id="{69F4B76F-7829-E94B-BEA3-FD8D128BDF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348" name="Freeform 338">
                <a:extLst>
                  <a:ext uri="{FF2B5EF4-FFF2-40B4-BE49-F238E27FC236}">
                    <a16:creationId xmlns:a16="http://schemas.microsoft.com/office/drawing/2014/main" xmlns="" id="{22A5C20A-B311-014E-A689-CAD61456A3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349" name="Group 339">
                <a:extLst>
                  <a:ext uri="{FF2B5EF4-FFF2-40B4-BE49-F238E27FC236}">
                    <a16:creationId xmlns:a16="http://schemas.microsoft.com/office/drawing/2014/main" xmlns="" id="{925CE1AB-BA57-3848-BF71-4F28A97B45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61" name="AutoShape 340">
                  <a:extLst>
                    <a:ext uri="{FF2B5EF4-FFF2-40B4-BE49-F238E27FC236}">
                      <a16:creationId xmlns:a16="http://schemas.microsoft.com/office/drawing/2014/main" xmlns="" id="{B07E1427-3B3F-6340-A5C6-DEFB2FDEA8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62" name="AutoShape 341">
                  <a:extLst>
                    <a:ext uri="{FF2B5EF4-FFF2-40B4-BE49-F238E27FC236}">
                      <a16:creationId xmlns:a16="http://schemas.microsoft.com/office/drawing/2014/main" xmlns="" id="{E9341EDB-352E-324A-895B-0C91268DFA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350" name="Rectangle 342">
                <a:extLst>
                  <a:ext uri="{FF2B5EF4-FFF2-40B4-BE49-F238E27FC236}">
                    <a16:creationId xmlns:a16="http://schemas.microsoft.com/office/drawing/2014/main" xmlns="" id="{11D2D091-BAD4-0641-8566-710F8617E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51" name="Freeform 343">
                <a:extLst>
                  <a:ext uri="{FF2B5EF4-FFF2-40B4-BE49-F238E27FC236}">
                    <a16:creationId xmlns:a16="http://schemas.microsoft.com/office/drawing/2014/main" xmlns="" id="{3E9A5AE3-2D61-1346-98F1-082A92E96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52" name="Freeform 344">
                <a:extLst>
                  <a:ext uri="{FF2B5EF4-FFF2-40B4-BE49-F238E27FC236}">
                    <a16:creationId xmlns:a16="http://schemas.microsoft.com/office/drawing/2014/main" xmlns="" id="{C88A9B02-44A8-734D-A285-32FD607BA8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53" name="Oval 345">
                <a:extLst>
                  <a:ext uri="{FF2B5EF4-FFF2-40B4-BE49-F238E27FC236}">
                    <a16:creationId xmlns:a16="http://schemas.microsoft.com/office/drawing/2014/main" xmlns="" id="{F7E578EC-80CB-5240-8CD1-30DCB3549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54" name="Freeform 346">
                <a:extLst>
                  <a:ext uri="{FF2B5EF4-FFF2-40B4-BE49-F238E27FC236}">
                    <a16:creationId xmlns:a16="http://schemas.microsoft.com/office/drawing/2014/main" xmlns="" id="{01251E70-248C-C54E-995F-050E4B38D1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55" name="AutoShape 347">
                <a:extLst>
                  <a:ext uri="{FF2B5EF4-FFF2-40B4-BE49-F238E27FC236}">
                    <a16:creationId xmlns:a16="http://schemas.microsoft.com/office/drawing/2014/main" xmlns="" id="{8EDCF461-339C-BE45-B223-F7FF2FF530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56" name="AutoShape 348">
                <a:extLst>
                  <a:ext uri="{FF2B5EF4-FFF2-40B4-BE49-F238E27FC236}">
                    <a16:creationId xmlns:a16="http://schemas.microsoft.com/office/drawing/2014/main" xmlns="" id="{41BCC026-3C31-E047-BE6D-95F125EFBE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57" name="Oval 349">
                <a:extLst>
                  <a:ext uri="{FF2B5EF4-FFF2-40B4-BE49-F238E27FC236}">
                    <a16:creationId xmlns:a16="http://schemas.microsoft.com/office/drawing/2014/main" xmlns="" id="{BDE395A6-533C-B447-98EC-373FD11B49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58" name="Oval 350">
                <a:extLst>
                  <a:ext uri="{FF2B5EF4-FFF2-40B4-BE49-F238E27FC236}">
                    <a16:creationId xmlns:a16="http://schemas.microsoft.com/office/drawing/2014/main" xmlns="" id="{B4DADC3A-2C8C-F346-B8B8-136C0D22C4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59" name="Oval 351">
                <a:extLst>
                  <a:ext uri="{FF2B5EF4-FFF2-40B4-BE49-F238E27FC236}">
                    <a16:creationId xmlns:a16="http://schemas.microsoft.com/office/drawing/2014/main" xmlns="" id="{38987EEB-88F2-1244-9E1C-2C362707F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60" name="Rectangle 352">
                <a:extLst>
                  <a:ext uri="{FF2B5EF4-FFF2-40B4-BE49-F238E27FC236}">
                    <a16:creationId xmlns:a16="http://schemas.microsoft.com/office/drawing/2014/main" xmlns="" id="{AAD9CA5F-C3CC-4E40-B45E-D06325400A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41" name="Line 9">
              <a:extLst>
                <a:ext uri="{FF2B5EF4-FFF2-40B4-BE49-F238E27FC236}">
                  <a16:creationId xmlns:a16="http://schemas.microsoft.com/office/drawing/2014/main" xmlns="" id="{9E3D4712-7ACE-524B-B065-8A439F0D26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4" y="1642"/>
              <a:ext cx="708" cy="49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</a:endParaRPr>
            </a:p>
          </p:txBody>
        </p:sp>
        <p:grpSp>
          <p:nvGrpSpPr>
            <p:cNvPr id="242" name="Group 19">
              <a:extLst>
                <a:ext uri="{FF2B5EF4-FFF2-40B4-BE49-F238E27FC236}">
                  <a16:creationId xmlns:a16="http://schemas.microsoft.com/office/drawing/2014/main" xmlns="" id="{B7732DA7-70D9-1240-BF36-777385ECC6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6" y="1881"/>
              <a:ext cx="510" cy="661"/>
              <a:chOff x="4296" y="2627"/>
              <a:chExt cx="510" cy="661"/>
            </a:xfrm>
          </p:grpSpPr>
          <p:sp>
            <p:nvSpPr>
              <p:cNvPr id="322" name="Rectangle 20">
                <a:extLst>
                  <a:ext uri="{FF2B5EF4-FFF2-40B4-BE49-F238E27FC236}">
                    <a16:creationId xmlns:a16="http://schemas.microsoft.com/office/drawing/2014/main" xmlns="" id="{7EF39355-B61B-E84C-B3EA-87B8386C9C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23" name="Text Box 21">
                <a:extLst>
                  <a:ext uri="{FF2B5EF4-FFF2-40B4-BE49-F238E27FC236}">
                    <a16:creationId xmlns:a16="http://schemas.microsoft.com/office/drawing/2014/main" xmlns="" id="{26712A7D-44B8-304E-A5C8-D984194E69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mail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server</a:t>
                </a: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24" name="Rectangle 22">
                <a:extLst>
                  <a:ext uri="{FF2B5EF4-FFF2-40B4-BE49-F238E27FC236}">
                    <a16:creationId xmlns:a16="http://schemas.microsoft.com/office/drawing/2014/main" xmlns="" id="{7D10463C-95E2-7A40-B36D-B52E7D083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25" name="Line 23">
                <a:extLst>
                  <a:ext uri="{FF2B5EF4-FFF2-40B4-BE49-F238E27FC236}">
                    <a16:creationId xmlns:a16="http://schemas.microsoft.com/office/drawing/2014/main" xmlns="" id="{68F9A836-2CFD-7B42-A92E-BE9292B82A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26" name="Line 24">
                <a:extLst>
                  <a:ext uri="{FF2B5EF4-FFF2-40B4-BE49-F238E27FC236}">
                    <a16:creationId xmlns:a16="http://schemas.microsoft.com/office/drawing/2014/main" xmlns="" id="{1779996E-0F2D-8442-BDA2-3F87ED9983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27" name="Line 25">
                <a:extLst>
                  <a:ext uri="{FF2B5EF4-FFF2-40B4-BE49-F238E27FC236}">
                    <a16:creationId xmlns:a16="http://schemas.microsoft.com/office/drawing/2014/main" xmlns="" id="{40E69C7B-2F1A-5E44-95A1-0FA6ED8558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28" name="Line 26">
                <a:extLst>
                  <a:ext uri="{FF2B5EF4-FFF2-40B4-BE49-F238E27FC236}">
                    <a16:creationId xmlns:a16="http://schemas.microsoft.com/office/drawing/2014/main" xmlns="" id="{CFC35C20-DD29-644F-933D-922B8557DB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29" name="Line 27">
                <a:extLst>
                  <a:ext uri="{FF2B5EF4-FFF2-40B4-BE49-F238E27FC236}">
                    <a16:creationId xmlns:a16="http://schemas.microsoft.com/office/drawing/2014/main" xmlns="" id="{43DE343D-639B-8043-A638-7551BBFABD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0" name="Line 28">
                <a:extLst>
                  <a:ext uri="{FF2B5EF4-FFF2-40B4-BE49-F238E27FC236}">
                    <a16:creationId xmlns:a16="http://schemas.microsoft.com/office/drawing/2014/main" xmlns="" id="{73CAB6AE-7763-9144-9C11-A01FC53341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1" name="Line 29">
                <a:extLst>
                  <a:ext uri="{FF2B5EF4-FFF2-40B4-BE49-F238E27FC236}">
                    <a16:creationId xmlns:a16="http://schemas.microsoft.com/office/drawing/2014/main" xmlns="" id="{04D1B335-C850-7F4C-B4D0-A23B2568D0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2" name="Rectangle 30">
                <a:extLst>
                  <a:ext uri="{FF2B5EF4-FFF2-40B4-BE49-F238E27FC236}">
                    <a16:creationId xmlns:a16="http://schemas.microsoft.com/office/drawing/2014/main" xmlns="" id="{D75BC7AF-5CB3-C249-8C45-6520E20D06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3" name="Rectangle 31">
                <a:extLst>
                  <a:ext uri="{FF2B5EF4-FFF2-40B4-BE49-F238E27FC236}">
                    <a16:creationId xmlns:a16="http://schemas.microsoft.com/office/drawing/2014/main" xmlns="" id="{74DAAAB9-27DF-DA4B-872B-8B29FE6DD3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4" name="Rectangle 32">
                <a:extLst>
                  <a:ext uri="{FF2B5EF4-FFF2-40B4-BE49-F238E27FC236}">
                    <a16:creationId xmlns:a16="http://schemas.microsoft.com/office/drawing/2014/main" xmlns="" id="{5F99C941-D513-9148-ABE9-3B9B588B29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5" name="Rectangle 33">
                <a:extLst>
                  <a:ext uri="{FF2B5EF4-FFF2-40B4-BE49-F238E27FC236}">
                    <a16:creationId xmlns:a16="http://schemas.microsoft.com/office/drawing/2014/main" xmlns="" id="{3651F20B-728B-344C-B4AD-749B1DEAC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6" name="Rectangle 34">
                <a:extLst>
                  <a:ext uri="{FF2B5EF4-FFF2-40B4-BE49-F238E27FC236}">
                    <a16:creationId xmlns:a16="http://schemas.microsoft.com/office/drawing/2014/main" xmlns="" id="{7164AE9B-5D5E-3949-A3F4-DED08F720F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43" name="Group 60">
              <a:extLst>
                <a:ext uri="{FF2B5EF4-FFF2-40B4-BE49-F238E27FC236}">
                  <a16:creationId xmlns:a16="http://schemas.microsoft.com/office/drawing/2014/main" xmlns="" id="{5A333144-1730-0C4F-A832-56ED7E3B8D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6" y="2763"/>
              <a:ext cx="510" cy="661"/>
              <a:chOff x="4296" y="2627"/>
              <a:chExt cx="510" cy="661"/>
            </a:xfrm>
          </p:grpSpPr>
          <p:sp>
            <p:nvSpPr>
              <p:cNvPr id="307" name="Rectangle 61">
                <a:extLst>
                  <a:ext uri="{FF2B5EF4-FFF2-40B4-BE49-F238E27FC236}">
                    <a16:creationId xmlns:a16="http://schemas.microsoft.com/office/drawing/2014/main" xmlns="" id="{9395864E-A9B4-5342-82A1-DE3B8AFE92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08" name="Text Box 62">
                <a:extLst>
                  <a:ext uri="{FF2B5EF4-FFF2-40B4-BE49-F238E27FC236}">
                    <a16:creationId xmlns:a16="http://schemas.microsoft.com/office/drawing/2014/main" xmlns="" id="{5AACD721-3312-0F4C-BAF3-B6F1B5616C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mail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server</a:t>
                </a: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09" name="Rectangle 63">
                <a:extLst>
                  <a:ext uri="{FF2B5EF4-FFF2-40B4-BE49-F238E27FC236}">
                    <a16:creationId xmlns:a16="http://schemas.microsoft.com/office/drawing/2014/main" xmlns="" id="{93B2530E-F2E5-1041-B7D2-9465CE4EAD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10" name="Line 64">
                <a:extLst>
                  <a:ext uri="{FF2B5EF4-FFF2-40B4-BE49-F238E27FC236}">
                    <a16:creationId xmlns:a16="http://schemas.microsoft.com/office/drawing/2014/main" xmlns="" id="{894E865A-3431-FD4B-96A5-C97DAAC7A6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11" name="Line 65">
                <a:extLst>
                  <a:ext uri="{FF2B5EF4-FFF2-40B4-BE49-F238E27FC236}">
                    <a16:creationId xmlns:a16="http://schemas.microsoft.com/office/drawing/2014/main" xmlns="" id="{3CA43AF7-D356-4142-A618-06DCB23282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12" name="Line 66">
                <a:extLst>
                  <a:ext uri="{FF2B5EF4-FFF2-40B4-BE49-F238E27FC236}">
                    <a16:creationId xmlns:a16="http://schemas.microsoft.com/office/drawing/2014/main" xmlns="" id="{4F8E4FC5-0A2A-4849-97E6-425A5D2E6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13" name="Line 67">
                <a:extLst>
                  <a:ext uri="{FF2B5EF4-FFF2-40B4-BE49-F238E27FC236}">
                    <a16:creationId xmlns:a16="http://schemas.microsoft.com/office/drawing/2014/main" xmlns="" id="{343125A4-6A3A-F943-89E3-12B16C09D2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14" name="Line 68">
                <a:extLst>
                  <a:ext uri="{FF2B5EF4-FFF2-40B4-BE49-F238E27FC236}">
                    <a16:creationId xmlns:a16="http://schemas.microsoft.com/office/drawing/2014/main" xmlns="" id="{D4CB6017-5831-FA48-815B-BE92970244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15" name="Line 69">
                <a:extLst>
                  <a:ext uri="{FF2B5EF4-FFF2-40B4-BE49-F238E27FC236}">
                    <a16:creationId xmlns:a16="http://schemas.microsoft.com/office/drawing/2014/main" xmlns="" id="{E4754EF7-D910-814B-8B41-2FD2BAA878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16" name="Line 70">
                <a:extLst>
                  <a:ext uri="{FF2B5EF4-FFF2-40B4-BE49-F238E27FC236}">
                    <a16:creationId xmlns:a16="http://schemas.microsoft.com/office/drawing/2014/main" xmlns="" id="{F137C288-EF55-D540-A997-85FA917D73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17" name="Rectangle 71">
                <a:extLst>
                  <a:ext uri="{FF2B5EF4-FFF2-40B4-BE49-F238E27FC236}">
                    <a16:creationId xmlns:a16="http://schemas.microsoft.com/office/drawing/2014/main" xmlns="" id="{F56FC77C-FB59-7F4E-B825-2A488EF8C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18" name="Rectangle 72">
                <a:extLst>
                  <a:ext uri="{FF2B5EF4-FFF2-40B4-BE49-F238E27FC236}">
                    <a16:creationId xmlns:a16="http://schemas.microsoft.com/office/drawing/2014/main" xmlns="" id="{F41D8631-6A74-BA42-8A05-01D02E0EA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19" name="Rectangle 73">
                <a:extLst>
                  <a:ext uri="{FF2B5EF4-FFF2-40B4-BE49-F238E27FC236}">
                    <a16:creationId xmlns:a16="http://schemas.microsoft.com/office/drawing/2014/main" xmlns="" id="{C73BF6A9-3054-FB43-A0C0-EB576EBF15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20" name="Rectangle 74">
                <a:extLst>
                  <a:ext uri="{FF2B5EF4-FFF2-40B4-BE49-F238E27FC236}">
                    <a16:creationId xmlns:a16="http://schemas.microsoft.com/office/drawing/2014/main" xmlns="" id="{944FDC84-5A12-CC42-9A23-A92DDF6AE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21" name="Rectangle 75">
                <a:extLst>
                  <a:ext uri="{FF2B5EF4-FFF2-40B4-BE49-F238E27FC236}">
                    <a16:creationId xmlns:a16="http://schemas.microsoft.com/office/drawing/2014/main" xmlns="" id="{88D6DBF9-99B2-4544-BF6D-329E89DCB6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44" name="Group 96">
              <a:extLst>
                <a:ext uri="{FF2B5EF4-FFF2-40B4-BE49-F238E27FC236}">
                  <a16:creationId xmlns:a16="http://schemas.microsoft.com/office/drawing/2014/main" xmlns="" id="{57000094-DC40-484B-A0CA-146FA733FE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6" y="1347"/>
              <a:ext cx="510" cy="661"/>
              <a:chOff x="4296" y="2627"/>
              <a:chExt cx="510" cy="661"/>
            </a:xfrm>
          </p:grpSpPr>
          <p:sp>
            <p:nvSpPr>
              <p:cNvPr id="292" name="Rectangle 97">
                <a:extLst>
                  <a:ext uri="{FF2B5EF4-FFF2-40B4-BE49-F238E27FC236}">
                    <a16:creationId xmlns:a16="http://schemas.microsoft.com/office/drawing/2014/main" xmlns="" id="{23688015-1451-B649-A136-19DFE598C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3" name="Text Box 98">
                <a:extLst>
                  <a:ext uri="{FF2B5EF4-FFF2-40B4-BE49-F238E27FC236}">
                    <a16:creationId xmlns:a16="http://schemas.microsoft.com/office/drawing/2014/main" xmlns="" id="{8D2FAA41-802D-714B-9684-49001E0C16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mail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server</a:t>
                </a: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4" name="Rectangle 99">
                <a:extLst>
                  <a:ext uri="{FF2B5EF4-FFF2-40B4-BE49-F238E27FC236}">
                    <a16:creationId xmlns:a16="http://schemas.microsoft.com/office/drawing/2014/main" xmlns="" id="{A4CCD107-61E7-3242-85D1-3EAFC1B479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5" name="Line 100">
                <a:extLst>
                  <a:ext uri="{FF2B5EF4-FFF2-40B4-BE49-F238E27FC236}">
                    <a16:creationId xmlns:a16="http://schemas.microsoft.com/office/drawing/2014/main" xmlns="" id="{2743033E-E6A8-F646-99FA-C57B67EFD0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6" name="Line 101">
                <a:extLst>
                  <a:ext uri="{FF2B5EF4-FFF2-40B4-BE49-F238E27FC236}">
                    <a16:creationId xmlns:a16="http://schemas.microsoft.com/office/drawing/2014/main" xmlns="" id="{2C5C87C8-3EB9-C345-8455-9601CC8BF2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7" name="Line 102">
                <a:extLst>
                  <a:ext uri="{FF2B5EF4-FFF2-40B4-BE49-F238E27FC236}">
                    <a16:creationId xmlns:a16="http://schemas.microsoft.com/office/drawing/2014/main" xmlns="" id="{61F561F5-A8AF-F046-8A1B-EB72756DC9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8" name="Line 103">
                <a:extLst>
                  <a:ext uri="{FF2B5EF4-FFF2-40B4-BE49-F238E27FC236}">
                    <a16:creationId xmlns:a16="http://schemas.microsoft.com/office/drawing/2014/main" xmlns="" id="{189B5DCD-C8CD-4049-BF55-784B4932C7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9" name="Line 104">
                <a:extLst>
                  <a:ext uri="{FF2B5EF4-FFF2-40B4-BE49-F238E27FC236}">
                    <a16:creationId xmlns:a16="http://schemas.microsoft.com/office/drawing/2014/main" xmlns="" id="{51E021BF-BE11-C748-8956-6CE4588C2A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00" name="Line 105">
                <a:extLst>
                  <a:ext uri="{FF2B5EF4-FFF2-40B4-BE49-F238E27FC236}">
                    <a16:creationId xmlns:a16="http://schemas.microsoft.com/office/drawing/2014/main" xmlns="" id="{4B929A3B-B815-E441-922D-EA14E8C14C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01" name="Line 106">
                <a:extLst>
                  <a:ext uri="{FF2B5EF4-FFF2-40B4-BE49-F238E27FC236}">
                    <a16:creationId xmlns:a16="http://schemas.microsoft.com/office/drawing/2014/main" xmlns="" id="{5A282BD2-5338-3E4D-8636-9D489C73E7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02" name="Rectangle 107">
                <a:extLst>
                  <a:ext uri="{FF2B5EF4-FFF2-40B4-BE49-F238E27FC236}">
                    <a16:creationId xmlns:a16="http://schemas.microsoft.com/office/drawing/2014/main" xmlns="" id="{8E194D1F-5621-4E4F-9797-A2C32D688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03" name="Rectangle 108">
                <a:extLst>
                  <a:ext uri="{FF2B5EF4-FFF2-40B4-BE49-F238E27FC236}">
                    <a16:creationId xmlns:a16="http://schemas.microsoft.com/office/drawing/2014/main" xmlns="" id="{AD50D80A-F8D2-514C-87E9-4ACA4207A6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04" name="Rectangle 109">
                <a:extLst>
                  <a:ext uri="{FF2B5EF4-FFF2-40B4-BE49-F238E27FC236}">
                    <a16:creationId xmlns:a16="http://schemas.microsoft.com/office/drawing/2014/main" xmlns="" id="{2275F6D3-E63F-C04C-A0DE-16B4A4842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05" name="Rectangle 110">
                <a:extLst>
                  <a:ext uri="{FF2B5EF4-FFF2-40B4-BE49-F238E27FC236}">
                    <a16:creationId xmlns:a16="http://schemas.microsoft.com/office/drawing/2014/main" xmlns="" id="{48706195-34DD-A541-88E3-15F1D1F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06" name="Rectangle 111">
                <a:extLst>
                  <a:ext uri="{FF2B5EF4-FFF2-40B4-BE49-F238E27FC236}">
                    <a16:creationId xmlns:a16="http://schemas.microsoft.com/office/drawing/2014/main" xmlns="" id="{3F644955-990A-3D46-8B8D-8C68D095DA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45" name="Line 117">
              <a:extLst>
                <a:ext uri="{FF2B5EF4-FFF2-40B4-BE49-F238E27FC236}">
                  <a16:creationId xmlns:a16="http://schemas.microsoft.com/office/drawing/2014/main" xmlns="" id="{14A97E77-F498-9E42-8702-8B7F5D1AC5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4" y="2350"/>
              <a:ext cx="708" cy="684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</a:endParaRPr>
            </a:p>
          </p:txBody>
        </p:sp>
        <p:sp>
          <p:nvSpPr>
            <p:cNvPr id="246" name="Line 118">
              <a:extLst>
                <a:ext uri="{FF2B5EF4-FFF2-40B4-BE49-F238E27FC236}">
                  <a16:creationId xmlns:a16="http://schemas.microsoft.com/office/drawing/2014/main" xmlns="" id="{32DA8ECF-6761-E64E-A313-7489BEF95F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66" y="2020"/>
              <a:ext cx="0" cy="78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</a:endParaRPr>
            </a:p>
          </p:txBody>
        </p:sp>
        <p:grpSp>
          <p:nvGrpSpPr>
            <p:cNvPr id="247" name="Group 119">
              <a:extLst>
                <a:ext uri="{FF2B5EF4-FFF2-40B4-BE49-F238E27FC236}">
                  <a16:creationId xmlns:a16="http://schemas.microsoft.com/office/drawing/2014/main" xmlns="" id="{BA52A921-FC7C-6043-901B-3544177346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9" y="2535"/>
              <a:ext cx="641" cy="330"/>
              <a:chOff x="3749" y="2537"/>
              <a:chExt cx="641" cy="330"/>
            </a:xfrm>
          </p:grpSpPr>
          <p:sp>
            <p:nvSpPr>
              <p:cNvPr id="290" name="Rectangle 120">
                <a:extLst>
                  <a:ext uri="{FF2B5EF4-FFF2-40B4-BE49-F238E27FC236}">
                    <a16:creationId xmlns:a16="http://schemas.microsoft.com/office/drawing/2014/main" xmlns="" id="{0C8E9259-98F2-604F-A4C6-3A7F488FCC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1" name="Text Box 121">
                <a:extLst>
                  <a:ext uri="{FF2B5EF4-FFF2-40B4-BE49-F238E27FC236}">
                    <a16:creationId xmlns:a16="http://schemas.microsoft.com/office/drawing/2014/main" xmlns="" id="{211C72D2-CB25-324F-AB81-6EE0282F0E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SMTP</a:t>
                </a:r>
              </a:p>
            </p:txBody>
          </p:sp>
        </p:grpSp>
        <p:grpSp>
          <p:nvGrpSpPr>
            <p:cNvPr id="248" name="Group 122">
              <a:extLst>
                <a:ext uri="{FF2B5EF4-FFF2-40B4-BE49-F238E27FC236}">
                  <a16:creationId xmlns:a16="http://schemas.microsoft.com/office/drawing/2014/main" xmlns="" id="{0C8CF91C-30A4-724C-9B71-2A06A29487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5" y="1743"/>
              <a:ext cx="641" cy="330"/>
              <a:chOff x="3749" y="2537"/>
              <a:chExt cx="641" cy="330"/>
            </a:xfrm>
          </p:grpSpPr>
          <p:sp>
            <p:nvSpPr>
              <p:cNvPr id="288" name="Rectangle 123">
                <a:extLst>
                  <a:ext uri="{FF2B5EF4-FFF2-40B4-BE49-F238E27FC236}">
                    <a16:creationId xmlns:a16="http://schemas.microsoft.com/office/drawing/2014/main" xmlns="" id="{FCECD58F-F77F-CE4B-B35E-A96DEDC7E6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89" name="Text Box 124">
                <a:extLst>
                  <a:ext uri="{FF2B5EF4-FFF2-40B4-BE49-F238E27FC236}">
                    <a16:creationId xmlns:a16="http://schemas.microsoft.com/office/drawing/2014/main" xmlns="" id="{AF84BA8D-FF6F-3247-901E-8E6B18720F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SMTP</a:t>
                </a:r>
              </a:p>
            </p:txBody>
          </p:sp>
        </p:grpSp>
        <p:grpSp>
          <p:nvGrpSpPr>
            <p:cNvPr id="249" name="Group 125">
              <a:extLst>
                <a:ext uri="{FF2B5EF4-FFF2-40B4-BE49-F238E27FC236}">
                  <a16:creationId xmlns:a16="http://schemas.microsoft.com/office/drawing/2014/main" xmlns="" id="{58DC277B-7AA7-2E40-B727-BF4769AC13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1" y="2193"/>
              <a:ext cx="641" cy="330"/>
              <a:chOff x="3749" y="2537"/>
              <a:chExt cx="641" cy="330"/>
            </a:xfrm>
          </p:grpSpPr>
          <p:sp>
            <p:nvSpPr>
              <p:cNvPr id="286" name="Rectangle 126">
                <a:extLst>
                  <a:ext uri="{FF2B5EF4-FFF2-40B4-BE49-F238E27FC236}">
                    <a16:creationId xmlns:a16="http://schemas.microsoft.com/office/drawing/2014/main" xmlns="" id="{2816DCBF-A1AF-E048-B956-3F1809C0D7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87" name="Text Box 127">
                <a:extLst>
                  <a:ext uri="{FF2B5EF4-FFF2-40B4-BE49-F238E27FC236}">
                    <a16:creationId xmlns:a16="http://schemas.microsoft.com/office/drawing/2014/main" xmlns="" id="{63B15CD0-9983-6A4B-9279-804A5439A9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SMTP</a:t>
                </a:r>
              </a:p>
            </p:txBody>
          </p:sp>
        </p:grpSp>
        <p:grpSp>
          <p:nvGrpSpPr>
            <p:cNvPr id="250" name="Group 423">
              <a:extLst>
                <a:ext uri="{FF2B5EF4-FFF2-40B4-BE49-F238E27FC236}">
                  <a16:creationId xmlns:a16="http://schemas.microsoft.com/office/drawing/2014/main" xmlns="" id="{30BA0251-F53A-8C4F-97BA-8DC51407C8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9" y="886"/>
              <a:ext cx="583" cy="664"/>
              <a:chOff x="3566" y="550"/>
              <a:chExt cx="583" cy="664"/>
            </a:xfrm>
          </p:grpSpPr>
          <p:grpSp>
            <p:nvGrpSpPr>
              <p:cNvPr id="281" name="Group 353">
                <a:extLst>
                  <a:ext uri="{FF2B5EF4-FFF2-40B4-BE49-F238E27FC236}">
                    <a16:creationId xmlns:a16="http://schemas.microsoft.com/office/drawing/2014/main" xmlns="" id="{08E25960-F839-D945-AEB0-EBA43385ED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84" name="Picture 354" descr="desktop_computer_stylized_medium">
                  <a:extLst>
                    <a:ext uri="{FF2B5EF4-FFF2-40B4-BE49-F238E27FC236}">
                      <a16:creationId xmlns:a16="http://schemas.microsoft.com/office/drawing/2014/main" xmlns="" id="{A8E24158-A20D-2643-9568-7E2B6A9A8F7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85" name="Freeform 355">
                  <a:extLst>
                    <a:ext uri="{FF2B5EF4-FFF2-40B4-BE49-F238E27FC236}">
                      <a16:creationId xmlns:a16="http://schemas.microsoft.com/office/drawing/2014/main" xmlns="" id="{7C66E8C3-2156-B443-A62B-AB5FE62DD4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282" name="Rectangle 115">
                <a:extLst>
                  <a:ext uri="{FF2B5EF4-FFF2-40B4-BE49-F238E27FC236}">
                    <a16:creationId xmlns:a16="http://schemas.microsoft.com/office/drawing/2014/main" xmlns="" id="{A8808CF7-A20F-6048-A5C3-5948802EC1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83" name="Text Box 116">
                <a:extLst>
                  <a:ext uri="{FF2B5EF4-FFF2-40B4-BE49-F238E27FC236}">
                    <a16:creationId xmlns:a16="http://schemas.microsoft.com/office/drawing/2014/main" xmlns="" id="{3615B133-7ADF-B149-A5EF-D48A09950B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user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agent</a:t>
                </a: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51" name="Group 424">
              <a:extLst>
                <a:ext uri="{FF2B5EF4-FFF2-40B4-BE49-F238E27FC236}">
                  <a16:creationId xmlns:a16="http://schemas.microsoft.com/office/drawing/2014/main" xmlns="" id="{45EE4567-07D2-9B44-B152-A79DBA1430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2" y="1400"/>
              <a:ext cx="583" cy="664"/>
              <a:chOff x="3566" y="550"/>
              <a:chExt cx="583" cy="664"/>
            </a:xfrm>
          </p:grpSpPr>
          <p:grpSp>
            <p:nvGrpSpPr>
              <p:cNvPr id="276" name="Group 425">
                <a:extLst>
                  <a:ext uri="{FF2B5EF4-FFF2-40B4-BE49-F238E27FC236}">
                    <a16:creationId xmlns:a16="http://schemas.microsoft.com/office/drawing/2014/main" xmlns="" id="{E722A2E6-A5F4-6C41-B802-1B3176A542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79" name="Picture 426" descr="desktop_computer_stylized_medium">
                  <a:extLst>
                    <a:ext uri="{FF2B5EF4-FFF2-40B4-BE49-F238E27FC236}">
                      <a16:creationId xmlns:a16="http://schemas.microsoft.com/office/drawing/2014/main" xmlns="" id="{8B6EAA10-F9D8-724F-94C8-D4E4B57A04F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80" name="Freeform 427">
                  <a:extLst>
                    <a:ext uri="{FF2B5EF4-FFF2-40B4-BE49-F238E27FC236}">
                      <a16:creationId xmlns:a16="http://schemas.microsoft.com/office/drawing/2014/main" xmlns="" id="{1E93A55D-6DF6-C544-9512-0E02D9C496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277" name="Rectangle 115">
                <a:extLst>
                  <a:ext uri="{FF2B5EF4-FFF2-40B4-BE49-F238E27FC236}">
                    <a16:creationId xmlns:a16="http://schemas.microsoft.com/office/drawing/2014/main" xmlns="" id="{1B535841-0794-1B43-AB50-A8A2B89E46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78" name="Text Box 116">
                <a:extLst>
                  <a:ext uri="{FF2B5EF4-FFF2-40B4-BE49-F238E27FC236}">
                    <a16:creationId xmlns:a16="http://schemas.microsoft.com/office/drawing/2014/main" xmlns="" id="{08BD580D-BB58-674F-BF51-73AD02F8ED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user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agent</a:t>
                </a: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52" name="Group 430">
              <a:extLst>
                <a:ext uri="{FF2B5EF4-FFF2-40B4-BE49-F238E27FC236}">
                  <a16:creationId xmlns:a16="http://schemas.microsoft.com/office/drawing/2014/main" xmlns="" id="{34A2D0BA-C196-4942-B7CA-678581CB51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74" y="1880"/>
              <a:ext cx="583" cy="664"/>
              <a:chOff x="3566" y="550"/>
              <a:chExt cx="583" cy="664"/>
            </a:xfrm>
          </p:grpSpPr>
          <p:grpSp>
            <p:nvGrpSpPr>
              <p:cNvPr id="271" name="Group 431">
                <a:extLst>
                  <a:ext uri="{FF2B5EF4-FFF2-40B4-BE49-F238E27FC236}">
                    <a16:creationId xmlns:a16="http://schemas.microsoft.com/office/drawing/2014/main" xmlns="" id="{BE03D0A5-F5D7-9948-B7EA-FA5E6ADA2B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74" name="Picture 432" descr="desktop_computer_stylized_medium">
                  <a:extLst>
                    <a:ext uri="{FF2B5EF4-FFF2-40B4-BE49-F238E27FC236}">
                      <a16:creationId xmlns:a16="http://schemas.microsoft.com/office/drawing/2014/main" xmlns="" id="{CE464295-B889-1B47-A8D7-3556B2AAAD0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75" name="Freeform 433">
                  <a:extLst>
                    <a:ext uri="{FF2B5EF4-FFF2-40B4-BE49-F238E27FC236}">
                      <a16:creationId xmlns:a16="http://schemas.microsoft.com/office/drawing/2014/main" xmlns="" id="{C77332B6-93C9-A042-A591-13DCD23AA5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272" name="Rectangle 115">
                <a:extLst>
                  <a:ext uri="{FF2B5EF4-FFF2-40B4-BE49-F238E27FC236}">
                    <a16:creationId xmlns:a16="http://schemas.microsoft.com/office/drawing/2014/main" xmlns="" id="{F6E9263B-5B99-914A-B779-F129D9C756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73" name="Text Box 116">
                <a:extLst>
                  <a:ext uri="{FF2B5EF4-FFF2-40B4-BE49-F238E27FC236}">
                    <a16:creationId xmlns:a16="http://schemas.microsoft.com/office/drawing/2014/main" xmlns="" id="{E6ADB34B-0590-DF41-A12D-070F82E8AE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user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agent</a:t>
                </a: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53" name="Group 436">
              <a:extLst>
                <a:ext uri="{FF2B5EF4-FFF2-40B4-BE49-F238E27FC236}">
                  <a16:creationId xmlns:a16="http://schemas.microsoft.com/office/drawing/2014/main" xmlns="" id="{1E0B8E86-E363-7347-AAB0-795D10C2D2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1" y="2540"/>
              <a:ext cx="583" cy="664"/>
              <a:chOff x="3566" y="550"/>
              <a:chExt cx="583" cy="664"/>
            </a:xfrm>
          </p:grpSpPr>
          <p:grpSp>
            <p:nvGrpSpPr>
              <p:cNvPr id="266" name="Group 437">
                <a:extLst>
                  <a:ext uri="{FF2B5EF4-FFF2-40B4-BE49-F238E27FC236}">
                    <a16:creationId xmlns:a16="http://schemas.microsoft.com/office/drawing/2014/main" xmlns="" id="{AC5F831C-0C35-C549-B51D-4296B8B8B9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69" name="Picture 438" descr="desktop_computer_stylized_medium">
                  <a:extLst>
                    <a:ext uri="{FF2B5EF4-FFF2-40B4-BE49-F238E27FC236}">
                      <a16:creationId xmlns:a16="http://schemas.microsoft.com/office/drawing/2014/main" xmlns="" id="{AD14A203-3912-324B-BE4F-9D6A4285CEC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70" name="Freeform 439">
                  <a:extLst>
                    <a:ext uri="{FF2B5EF4-FFF2-40B4-BE49-F238E27FC236}">
                      <a16:creationId xmlns:a16="http://schemas.microsoft.com/office/drawing/2014/main" xmlns="" id="{9E88436B-4E0D-D149-A214-D937D45DEA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267" name="Rectangle 115">
                <a:extLst>
                  <a:ext uri="{FF2B5EF4-FFF2-40B4-BE49-F238E27FC236}">
                    <a16:creationId xmlns:a16="http://schemas.microsoft.com/office/drawing/2014/main" xmlns="" id="{0DEA31A9-2C76-564E-B16F-DBD697177E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68" name="Text Box 116">
                <a:extLst>
                  <a:ext uri="{FF2B5EF4-FFF2-40B4-BE49-F238E27FC236}">
                    <a16:creationId xmlns:a16="http://schemas.microsoft.com/office/drawing/2014/main" xmlns="" id="{7655A215-ADF5-8C47-8D04-DDBF56AFD7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user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agent</a:t>
                </a: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54" name="Group 442">
              <a:extLst>
                <a:ext uri="{FF2B5EF4-FFF2-40B4-BE49-F238E27FC236}">
                  <a16:creationId xmlns:a16="http://schemas.microsoft.com/office/drawing/2014/main" xmlns="" id="{30600299-25CF-4A4E-8A3B-15590AC954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6" y="3446"/>
              <a:ext cx="583" cy="664"/>
              <a:chOff x="3566" y="550"/>
              <a:chExt cx="583" cy="664"/>
            </a:xfrm>
          </p:grpSpPr>
          <p:grpSp>
            <p:nvGrpSpPr>
              <p:cNvPr id="261" name="Group 443">
                <a:extLst>
                  <a:ext uri="{FF2B5EF4-FFF2-40B4-BE49-F238E27FC236}">
                    <a16:creationId xmlns:a16="http://schemas.microsoft.com/office/drawing/2014/main" xmlns="" id="{116521D6-39B6-ED4D-BF9D-4EDC84BB43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64" name="Picture 444" descr="desktop_computer_stylized_medium">
                  <a:extLst>
                    <a:ext uri="{FF2B5EF4-FFF2-40B4-BE49-F238E27FC236}">
                      <a16:creationId xmlns:a16="http://schemas.microsoft.com/office/drawing/2014/main" xmlns="" id="{B764D5A2-AAF9-6F4A-AD12-7AF1E69A921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65" name="Freeform 445">
                  <a:extLst>
                    <a:ext uri="{FF2B5EF4-FFF2-40B4-BE49-F238E27FC236}">
                      <a16:creationId xmlns:a16="http://schemas.microsoft.com/office/drawing/2014/main" xmlns="" id="{1CF12910-951A-5444-81F3-DDC16C9510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262" name="Rectangle 115">
                <a:extLst>
                  <a:ext uri="{FF2B5EF4-FFF2-40B4-BE49-F238E27FC236}">
                    <a16:creationId xmlns:a16="http://schemas.microsoft.com/office/drawing/2014/main" xmlns="" id="{E6B060FF-D007-3348-A6C9-A56534FB0E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63" name="Text Box 116">
                <a:extLst>
                  <a:ext uri="{FF2B5EF4-FFF2-40B4-BE49-F238E27FC236}">
                    <a16:creationId xmlns:a16="http://schemas.microsoft.com/office/drawing/2014/main" xmlns="" id="{D67C13D0-AC42-8E4B-9B42-5CEAC13028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user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agent</a:t>
                </a: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55" name="Group 448">
              <a:extLst>
                <a:ext uri="{FF2B5EF4-FFF2-40B4-BE49-F238E27FC236}">
                  <a16:creationId xmlns:a16="http://schemas.microsoft.com/office/drawing/2014/main" xmlns="" id="{8E0DD129-7A33-3E4A-8455-FC51B1CF67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5" y="3056"/>
              <a:ext cx="583" cy="664"/>
              <a:chOff x="3566" y="550"/>
              <a:chExt cx="583" cy="664"/>
            </a:xfrm>
          </p:grpSpPr>
          <p:grpSp>
            <p:nvGrpSpPr>
              <p:cNvPr id="256" name="Group 449">
                <a:extLst>
                  <a:ext uri="{FF2B5EF4-FFF2-40B4-BE49-F238E27FC236}">
                    <a16:creationId xmlns:a16="http://schemas.microsoft.com/office/drawing/2014/main" xmlns="" id="{90AB032A-A3B7-3748-9489-8C4F915581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59" name="Picture 450" descr="desktop_computer_stylized_medium">
                  <a:extLst>
                    <a:ext uri="{FF2B5EF4-FFF2-40B4-BE49-F238E27FC236}">
                      <a16:creationId xmlns:a16="http://schemas.microsoft.com/office/drawing/2014/main" xmlns="" id="{DE476DC9-0E4F-314D-82DF-D6027FE6D11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60" name="Freeform 451">
                  <a:extLst>
                    <a:ext uri="{FF2B5EF4-FFF2-40B4-BE49-F238E27FC236}">
                      <a16:creationId xmlns:a16="http://schemas.microsoft.com/office/drawing/2014/main" xmlns="" id="{234ABE2F-A8B4-8542-94E8-78DDE67E3E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257" name="Rectangle 115">
                <a:extLst>
                  <a:ext uri="{FF2B5EF4-FFF2-40B4-BE49-F238E27FC236}">
                    <a16:creationId xmlns:a16="http://schemas.microsoft.com/office/drawing/2014/main" xmlns="" id="{B0E02959-4482-944E-9351-976262974C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58" name="Text Box 116">
                <a:extLst>
                  <a:ext uri="{FF2B5EF4-FFF2-40B4-BE49-F238E27FC236}">
                    <a16:creationId xmlns:a16="http://schemas.microsoft.com/office/drawing/2014/main" xmlns="" id="{53D455CA-494C-3941-B909-EFE07A9B71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user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agent</a:t>
                </a: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744569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E-mail: mail servers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223" name="Rectangle 280">
            <a:extLst>
              <a:ext uri="{FF2B5EF4-FFF2-40B4-BE49-F238E27FC236}">
                <a16:creationId xmlns:a16="http://schemas.microsoft.com/office/drawing/2014/main" xmlns="" id="{00D5BD5B-D26A-D34A-98C8-091AA10DD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9775" y="406072"/>
            <a:ext cx="1828800" cy="9810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ＭＳ Ｐゴシック" panose="020B0600070205080204" pitchFamily="34" charset="-128"/>
            </a:endParaRPr>
          </a:p>
        </p:txBody>
      </p:sp>
      <p:grpSp>
        <p:nvGrpSpPr>
          <p:cNvPr id="224" name="Group 279">
            <a:extLst>
              <a:ext uri="{FF2B5EF4-FFF2-40B4-BE49-F238E27FC236}">
                <a16:creationId xmlns:a16="http://schemas.microsoft.com/office/drawing/2014/main" xmlns="" id="{85ECCB70-4CBD-8D41-8867-9839284C0E92}"/>
              </a:ext>
            </a:extLst>
          </p:cNvPr>
          <p:cNvGrpSpPr>
            <a:grpSpLocks/>
          </p:cNvGrpSpPr>
          <p:nvPr/>
        </p:nvGrpSpPr>
        <p:grpSpPr bwMode="auto">
          <a:xfrm>
            <a:off x="9726613" y="353688"/>
            <a:ext cx="1736725" cy="989013"/>
            <a:chOff x="4458" y="3335"/>
            <a:chExt cx="1094" cy="623"/>
          </a:xfrm>
        </p:grpSpPr>
        <p:sp>
          <p:nvSpPr>
            <p:cNvPr id="225" name="Text Box 263">
              <a:extLst>
                <a:ext uri="{FF2B5EF4-FFF2-40B4-BE49-F238E27FC236}">
                  <a16:creationId xmlns:a16="http://schemas.microsoft.com/office/drawing/2014/main" xmlns="" id="{735C70AA-4D0B-3E4D-B47F-55C95E7B48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3" y="3725"/>
              <a:ext cx="87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user mailbox</a:t>
              </a:r>
              <a:endParaRPr kumimoji="0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endParaRPr>
            </a:p>
          </p:txBody>
        </p:sp>
        <p:grpSp>
          <p:nvGrpSpPr>
            <p:cNvPr id="226" name="Group 278">
              <a:extLst>
                <a:ext uri="{FF2B5EF4-FFF2-40B4-BE49-F238E27FC236}">
                  <a16:creationId xmlns:a16="http://schemas.microsoft.com/office/drawing/2014/main" xmlns="" id="{E130EDE1-DE49-BC4D-9A74-CEDC9FFF3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229" name="Rectangle 264">
                <a:extLst>
                  <a:ext uri="{FF2B5EF4-FFF2-40B4-BE49-F238E27FC236}">
                    <a16:creationId xmlns:a16="http://schemas.microsoft.com/office/drawing/2014/main" xmlns="" id="{D8ED0CFE-E76B-584D-BA7F-B64E112A3A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30" name="Line 265">
                <a:extLst>
                  <a:ext uri="{FF2B5EF4-FFF2-40B4-BE49-F238E27FC236}">
                    <a16:creationId xmlns:a16="http://schemas.microsoft.com/office/drawing/2014/main" xmlns="" id="{076E3A0A-DC0D-234E-ACFD-ED8D3EBB28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3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31" name="Line 266">
                <a:extLst>
                  <a:ext uri="{FF2B5EF4-FFF2-40B4-BE49-F238E27FC236}">
                    <a16:creationId xmlns:a16="http://schemas.microsoft.com/office/drawing/2014/main" xmlns="" id="{FAE63733-4DC0-C740-915D-E91FC7FD9E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72" y="3471"/>
                <a:ext cx="6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32" name="Line 267">
                <a:extLst>
                  <a:ext uri="{FF2B5EF4-FFF2-40B4-BE49-F238E27FC236}">
                    <a16:creationId xmlns:a16="http://schemas.microsoft.com/office/drawing/2014/main" xmlns="" id="{9432E742-E38D-324E-8AE4-F24CFDAF4B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27" y="347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33" name="Line 268">
                <a:extLst>
                  <a:ext uri="{FF2B5EF4-FFF2-40B4-BE49-F238E27FC236}">
                    <a16:creationId xmlns:a16="http://schemas.microsoft.com/office/drawing/2014/main" xmlns="" id="{BFE1C87F-4841-9248-85BA-C4E3AF7F1E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4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34" name="Line 269">
                <a:extLst>
                  <a:ext uri="{FF2B5EF4-FFF2-40B4-BE49-F238E27FC236}">
                    <a16:creationId xmlns:a16="http://schemas.microsoft.com/office/drawing/2014/main" xmlns="" id="{856416DF-3745-DB4A-BFC9-169A063914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45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35" name="Line 270">
                <a:extLst>
                  <a:ext uri="{FF2B5EF4-FFF2-40B4-BE49-F238E27FC236}">
                    <a16:creationId xmlns:a16="http://schemas.microsoft.com/office/drawing/2014/main" xmlns="" id="{0DB9FDA2-2EA5-034B-903A-EBC13BC40F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1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36" name="Line 271">
                <a:extLst>
                  <a:ext uri="{FF2B5EF4-FFF2-40B4-BE49-F238E27FC236}">
                    <a16:creationId xmlns:a16="http://schemas.microsoft.com/office/drawing/2014/main" xmlns="" id="{F94A5742-E1B7-A64E-A807-9A41FFB1D4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27" name="Rectangle 272">
              <a:extLst>
                <a:ext uri="{FF2B5EF4-FFF2-40B4-BE49-F238E27FC236}">
                  <a16:creationId xmlns:a16="http://schemas.microsoft.com/office/drawing/2014/main" xmlns="" id="{FA709473-06C4-C847-B23D-5962F6EF8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endParaRPr>
            </a:p>
          </p:txBody>
        </p:sp>
        <p:sp>
          <p:nvSpPr>
            <p:cNvPr id="228" name="Text Box 277">
              <a:extLst>
                <a:ext uri="{FF2B5EF4-FFF2-40B4-BE49-F238E27FC236}">
                  <a16:creationId xmlns:a16="http://schemas.microsoft.com/office/drawing/2014/main" xmlns="" id="{6E499AE9-BC96-AA43-8A92-BB907E72E5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4" y="3335"/>
              <a:ext cx="1038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outgoing </a:t>
              </a:r>
            </a:p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rPr>
                <a:t>message queue</a:t>
              </a:r>
              <a:endParaRPr kumimoji="0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237" name="Group 454">
            <a:extLst>
              <a:ext uri="{FF2B5EF4-FFF2-40B4-BE49-F238E27FC236}">
                <a16:creationId xmlns:a16="http://schemas.microsoft.com/office/drawing/2014/main" xmlns="" id="{FE2C87B1-0D29-6946-B29A-95FF8E6A0A50}"/>
              </a:ext>
            </a:extLst>
          </p:cNvPr>
          <p:cNvGrpSpPr>
            <a:grpSpLocks/>
          </p:cNvGrpSpPr>
          <p:nvPr/>
        </p:nvGrpSpPr>
        <p:grpSpPr bwMode="auto">
          <a:xfrm>
            <a:off x="7335838" y="1183947"/>
            <a:ext cx="4311650" cy="5118100"/>
            <a:chOff x="2941" y="886"/>
            <a:chExt cx="2716" cy="3224"/>
          </a:xfrm>
        </p:grpSpPr>
        <p:grpSp>
          <p:nvGrpSpPr>
            <p:cNvPr id="238" name="Group 389">
              <a:extLst>
                <a:ext uri="{FF2B5EF4-FFF2-40B4-BE49-F238E27FC236}">
                  <a16:creationId xmlns:a16="http://schemas.microsoft.com/office/drawing/2014/main" xmlns="" id="{A13CA913-E4B3-254A-A935-ADB3F9E6EA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6" y="1756"/>
              <a:ext cx="301" cy="451"/>
              <a:chOff x="4140" y="429"/>
              <a:chExt cx="1425" cy="2396"/>
            </a:xfrm>
          </p:grpSpPr>
          <p:sp>
            <p:nvSpPr>
              <p:cNvPr id="401" name="Freeform 390">
                <a:extLst>
                  <a:ext uri="{FF2B5EF4-FFF2-40B4-BE49-F238E27FC236}">
                    <a16:creationId xmlns:a16="http://schemas.microsoft.com/office/drawing/2014/main" xmlns="" id="{6CCFD9B8-8C88-C24F-8883-4CF6367F46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02" name="Rectangle 391">
                <a:extLst>
                  <a:ext uri="{FF2B5EF4-FFF2-40B4-BE49-F238E27FC236}">
                    <a16:creationId xmlns:a16="http://schemas.microsoft.com/office/drawing/2014/main" xmlns="" id="{43B4C051-EEAE-814E-99DE-21C8B8D479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03" name="Freeform 392">
                <a:extLst>
                  <a:ext uri="{FF2B5EF4-FFF2-40B4-BE49-F238E27FC236}">
                    <a16:creationId xmlns:a16="http://schemas.microsoft.com/office/drawing/2014/main" xmlns="" id="{2BC8E3DE-CCCA-1344-8BA5-2A15D443A8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04" name="Freeform 393">
                <a:extLst>
                  <a:ext uri="{FF2B5EF4-FFF2-40B4-BE49-F238E27FC236}">
                    <a16:creationId xmlns:a16="http://schemas.microsoft.com/office/drawing/2014/main" xmlns="" id="{E0152158-7133-BA4C-A8F5-ADB2FFBFF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05" name="Rectangle 394">
                <a:extLst>
                  <a:ext uri="{FF2B5EF4-FFF2-40B4-BE49-F238E27FC236}">
                    <a16:creationId xmlns:a16="http://schemas.microsoft.com/office/drawing/2014/main" xmlns="" id="{E5FA410D-74EF-7742-BB99-1CFEB8EDEE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406" name="Group 395">
                <a:extLst>
                  <a:ext uri="{FF2B5EF4-FFF2-40B4-BE49-F238E27FC236}">
                    <a16:creationId xmlns:a16="http://schemas.microsoft.com/office/drawing/2014/main" xmlns="" id="{AF72D040-96B4-8540-B83D-471812640A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31" name="AutoShape 396">
                  <a:extLst>
                    <a:ext uri="{FF2B5EF4-FFF2-40B4-BE49-F238E27FC236}">
                      <a16:creationId xmlns:a16="http://schemas.microsoft.com/office/drawing/2014/main" xmlns="" id="{F18E39D5-A4BF-264B-B7EA-F621A57FAD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432" name="AutoShape 397">
                  <a:extLst>
                    <a:ext uri="{FF2B5EF4-FFF2-40B4-BE49-F238E27FC236}">
                      <a16:creationId xmlns:a16="http://schemas.microsoft.com/office/drawing/2014/main" xmlns="" id="{39716169-1014-2547-9B50-032A17A0DF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407" name="Rectangle 398">
                <a:extLst>
                  <a:ext uri="{FF2B5EF4-FFF2-40B4-BE49-F238E27FC236}">
                    <a16:creationId xmlns:a16="http://schemas.microsoft.com/office/drawing/2014/main" xmlns="" id="{28879B2B-7691-B842-8771-94E870C3EE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408" name="Group 399">
                <a:extLst>
                  <a:ext uri="{FF2B5EF4-FFF2-40B4-BE49-F238E27FC236}">
                    <a16:creationId xmlns:a16="http://schemas.microsoft.com/office/drawing/2014/main" xmlns="" id="{2D972829-8A16-6E47-B717-3364C7BD92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29" name="AutoShape 400">
                  <a:extLst>
                    <a:ext uri="{FF2B5EF4-FFF2-40B4-BE49-F238E27FC236}">
                      <a16:creationId xmlns:a16="http://schemas.microsoft.com/office/drawing/2014/main" xmlns="" id="{E60C4025-90B9-A647-863C-1FEFBD8A41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430" name="AutoShape 401">
                  <a:extLst>
                    <a:ext uri="{FF2B5EF4-FFF2-40B4-BE49-F238E27FC236}">
                      <a16:creationId xmlns:a16="http://schemas.microsoft.com/office/drawing/2014/main" xmlns="" id="{5C30FC9A-5758-C543-9950-783F68617D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409" name="Rectangle 402">
                <a:extLst>
                  <a:ext uri="{FF2B5EF4-FFF2-40B4-BE49-F238E27FC236}">
                    <a16:creationId xmlns:a16="http://schemas.microsoft.com/office/drawing/2014/main" xmlns="" id="{8DDE3471-A288-6245-884A-B0607E1F64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10" name="Rectangle 403">
                <a:extLst>
                  <a:ext uri="{FF2B5EF4-FFF2-40B4-BE49-F238E27FC236}">
                    <a16:creationId xmlns:a16="http://schemas.microsoft.com/office/drawing/2014/main" xmlns="" id="{7B5A163C-1F88-0443-87E9-51D1B2C39E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411" name="Group 404">
                <a:extLst>
                  <a:ext uri="{FF2B5EF4-FFF2-40B4-BE49-F238E27FC236}">
                    <a16:creationId xmlns:a16="http://schemas.microsoft.com/office/drawing/2014/main" xmlns="" id="{D7C44D5A-AB33-A744-B633-909E75E589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27" name="AutoShape 405">
                  <a:extLst>
                    <a:ext uri="{FF2B5EF4-FFF2-40B4-BE49-F238E27FC236}">
                      <a16:creationId xmlns:a16="http://schemas.microsoft.com/office/drawing/2014/main" xmlns="" id="{BB140094-DC4B-CC48-B901-9AF64D80BC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428" name="AutoShape 406">
                  <a:extLst>
                    <a:ext uri="{FF2B5EF4-FFF2-40B4-BE49-F238E27FC236}">
                      <a16:creationId xmlns:a16="http://schemas.microsoft.com/office/drawing/2014/main" xmlns="" id="{43B72EE6-71A8-E947-8E6C-0468656DDA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412" name="Freeform 407">
                <a:extLst>
                  <a:ext uri="{FF2B5EF4-FFF2-40B4-BE49-F238E27FC236}">
                    <a16:creationId xmlns:a16="http://schemas.microsoft.com/office/drawing/2014/main" xmlns="" id="{D8EE526A-D741-074E-8520-BBA303937B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413" name="Group 408">
                <a:extLst>
                  <a:ext uri="{FF2B5EF4-FFF2-40B4-BE49-F238E27FC236}">
                    <a16:creationId xmlns:a16="http://schemas.microsoft.com/office/drawing/2014/main" xmlns="" id="{8DC6A1FE-670A-8F4C-B521-23ECDDF7E0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25" name="AutoShape 409">
                  <a:extLst>
                    <a:ext uri="{FF2B5EF4-FFF2-40B4-BE49-F238E27FC236}">
                      <a16:creationId xmlns:a16="http://schemas.microsoft.com/office/drawing/2014/main" xmlns="" id="{0F0B48EC-30B0-2447-9BE4-237A0F1D6C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426" name="AutoShape 410">
                  <a:extLst>
                    <a:ext uri="{FF2B5EF4-FFF2-40B4-BE49-F238E27FC236}">
                      <a16:creationId xmlns:a16="http://schemas.microsoft.com/office/drawing/2014/main" xmlns="" id="{9C1B49B1-17F4-994D-8ECA-C396B76F72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414" name="Rectangle 411">
                <a:extLst>
                  <a:ext uri="{FF2B5EF4-FFF2-40B4-BE49-F238E27FC236}">
                    <a16:creationId xmlns:a16="http://schemas.microsoft.com/office/drawing/2014/main" xmlns="" id="{A0980C94-D527-BA41-8507-6B28776A9C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15" name="Freeform 412">
                <a:extLst>
                  <a:ext uri="{FF2B5EF4-FFF2-40B4-BE49-F238E27FC236}">
                    <a16:creationId xmlns:a16="http://schemas.microsoft.com/office/drawing/2014/main" xmlns="" id="{F0295E91-976F-C148-BFB3-59549C5388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16" name="Freeform 413">
                <a:extLst>
                  <a:ext uri="{FF2B5EF4-FFF2-40B4-BE49-F238E27FC236}">
                    <a16:creationId xmlns:a16="http://schemas.microsoft.com/office/drawing/2014/main" xmlns="" id="{2C2F1597-CAE7-5248-BDE8-D6B16C5286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17" name="Oval 414">
                <a:extLst>
                  <a:ext uri="{FF2B5EF4-FFF2-40B4-BE49-F238E27FC236}">
                    <a16:creationId xmlns:a16="http://schemas.microsoft.com/office/drawing/2014/main" xmlns="" id="{914741F1-D3EA-3645-9C4D-9E5B4C9531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18" name="Freeform 415">
                <a:extLst>
                  <a:ext uri="{FF2B5EF4-FFF2-40B4-BE49-F238E27FC236}">
                    <a16:creationId xmlns:a16="http://schemas.microsoft.com/office/drawing/2014/main" xmlns="" id="{079F15E3-5A9F-844C-92CA-F9CBADE82E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19" name="AutoShape 416">
                <a:extLst>
                  <a:ext uri="{FF2B5EF4-FFF2-40B4-BE49-F238E27FC236}">
                    <a16:creationId xmlns:a16="http://schemas.microsoft.com/office/drawing/2014/main" xmlns="" id="{25F2967B-CA00-2D49-B406-7209F80FB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20" name="AutoShape 417">
                <a:extLst>
                  <a:ext uri="{FF2B5EF4-FFF2-40B4-BE49-F238E27FC236}">
                    <a16:creationId xmlns:a16="http://schemas.microsoft.com/office/drawing/2014/main" xmlns="" id="{60A760B4-92D7-954E-A584-1C2A30FC6A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21" name="Oval 418">
                <a:extLst>
                  <a:ext uri="{FF2B5EF4-FFF2-40B4-BE49-F238E27FC236}">
                    <a16:creationId xmlns:a16="http://schemas.microsoft.com/office/drawing/2014/main" xmlns="" id="{A94E8FB4-D219-2843-94C1-6710451B9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22" name="Oval 419">
                <a:extLst>
                  <a:ext uri="{FF2B5EF4-FFF2-40B4-BE49-F238E27FC236}">
                    <a16:creationId xmlns:a16="http://schemas.microsoft.com/office/drawing/2014/main" xmlns="" id="{CBBF0878-886F-8240-BCA7-1F50627F0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23" name="Oval 420">
                <a:extLst>
                  <a:ext uri="{FF2B5EF4-FFF2-40B4-BE49-F238E27FC236}">
                    <a16:creationId xmlns:a16="http://schemas.microsoft.com/office/drawing/2014/main" xmlns="" id="{722EEBED-10FC-6E4D-AABD-99355D3828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24" name="Rectangle 421">
                <a:extLst>
                  <a:ext uri="{FF2B5EF4-FFF2-40B4-BE49-F238E27FC236}">
                    <a16:creationId xmlns:a16="http://schemas.microsoft.com/office/drawing/2014/main" xmlns="" id="{92E23A4D-5618-484A-93AD-2343A39775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39" name="Group 356">
              <a:extLst>
                <a:ext uri="{FF2B5EF4-FFF2-40B4-BE49-F238E27FC236}">
                  <a16:creationId xmlns:a16="http://schemas.microsoft.com/office/drawing/2014/main" xmlns="" id="{0FAAD616-9809-0F47-9C32-F28BCE96C4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91" y="2634"/>
              <a:ext cx="301" cy="451"/>
              <a:chOff x="4140" y="429"/>
              <a:chExt cx="1425" cy="2396"/>
            </a:xfrm>
          </p:grpSpPr>
          <p:sp>
            <p:nvSpPr>
              <p:cNvPr id="369" name="Freeform 357">
                <a:extLst>
                  <a:ext uri="{FF2B5EF4-FFF2-40B4-BE49-F238E27FC236}">
                    <a16:creationId xmlns:a16="http://schemas.microsoft.com/office/drawing/2014/main" xmlns="" id="{2EB65E56-496B-EE43-A5BA-0034EDBB89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70" name="Rectangle 358">
                <a:extLst>
                  <a:ext uri="{FF2B5EF4-FFF2-40B4-BE49-F238E27FC236}">
                    <a16:creationId xmlns:a16="http://schemas.microsoft.com/office/drawing/2014/main" xmlns="" id="{E623A3D2-E041-CF4A-AEB9-0E88006BF3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71" name="Freeform 359">
                <a:extLst>
                  <a:ext uri="{FF2B5EF4-FFF2-40B4-BE49-F238E27FC236}">
                    <a16:creationId xmlns:a16="http://schemas.microsoft.com/office/drawing/2014/main" xmlns="" id="{06D96649-1A4B-D349-BD4A-B3CA1C3571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72" name="Freeform 360">
                <a:extLst>
                  <a:ext uri="{FF2B5EF4-FFF2-40B4-BE49-F238E27FC236}">
                    <a16:creationId xmlns:a16="http://schemas.microsoft.com/office/drawing/2014/main" xmlns="" id="{8CB236BD-E7A4-F54C-A810-99FD583B41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73" name="Rectangle 361">
                <a:extLst>
                  <a:ext uri="{FF2B5EF4-FFF2-40B4-BE49-F238E27FC236}">
                    <a16:creationId xmlns:a16="http://schemas.microsoft.com/office/drawing/2014/main" xmlns="" id="{92C08DD8-675E-D34D-A84F-65A2DE10FF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374" name="Group 362">
                <a:extLst>
                  <a:ext uri="{FF2B5EF4-FFF2-40B4-BE49-F238E27FC236}">
                    <a16:creationId xmlns:a16="http://schemas.microsoft.com/office/drawing/2014/main" xmlns="" id="{168D1B37-2023-2A4F-AEFF-7BCC580296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99" name="AutoShape 363">
                  <a:extLst>
                    <a:ext uri="{FF2B5EF4-FFF2-40B4-BE49-F238E27FC236}">
                      <a16:creationId xmlns:a16="http://schemas.microsoft.com/office/drawing/2014/main" xmlns="" id="{697647FE-4187-6C41-95DB-62B96522DA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400" name="AutoShape 364">
                  <a:extLst>
                    <a:ext uri="{FF2B5EF4-FFF2-40B4-BE49-F238E27FC236}">
                      <a16:creationId xmlns:a16="http://schemas.microsoft.com/office/drawing/2014/main" xmlns="" id="{64F362C9-3CBA-504B-95A3-38E06F0678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375" name="Rectangle 365">
                <a:extLst>
                  <a:ext uri="{FF2B5EF4-FFF2-40B4-BE49-F238E27FC236}">
                    <a16:creationId xmlns:a16="http://schemas.microsoft.com/office/drawing/2014/main" xmlns="" id="{94D546CA-749A-BC48-B20F-57C5A8077E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376" name="Group 366">
                <a:extLst>
                  <a:ext uri="{FF2B5EF4-FFF2-40B4-BE49-F238E27FC236}">
                    <a16:creationId xmlns:a16="http://schemas.microsoft.com/office/drawing/2014/main" xmlns="" id="{1812EEBE-2662-1E46-B90F-2E97DD6FED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97" name="AutoShape 367">
                  <a:extLst>
                    <a:ext uri="{FF2B5EF4-FFF2-40B4-BE49-F238E27FC236}">
                      <a16:creationId xmlns:a16="http://schemas.microsoft.com/office/drawing/2014/main" xmlns="" id="{5354875B-2A6A-B040-9309-A4A5A50F3B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98" name="AutoShape 368">
                  <a:extLst>
                    <a:ext uri="{FF2B5EF4-FFF2-40B4-BE49-F238E27FC236}">
                      <a16:creationId xmlns:a16="http://schemas.microsoft.com/office/drawing/2014/main" xmlns="" id="{7085F58B-EEE8-BE46-B008-54CF97C607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377" name="Rectangle 369">
                <a:extLst>
                  <a:ext uri="{FF2B5EF4-FFF2-40B4-BE49-F238E27FC236}">
                    <a16:creationId xmlns:a16="http://schemas.microsoft.com/office/drawing/2014/main" xmlns="" id="{AB889316-958A-3944-8776-456DA75AA7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78" name="Rectangle 370">
                <a:extLst>
                  <a:ext uri="{FF2B5EF4-FFF2-40B4-BE49-F238E27FC236}">
                    <a16:creationId xmlns:a16="http://schemas.microsoft.com/office/drawing/2014/main" xmlns="" id="{28A61210-9BA6-1B42-99F0-0AA063137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379" name="Group 371">
                <a:extLst>
                  <a:ext uri="{FF2B5EF4-FFF2-40B4-BE49-F238E27FC236}">
                    <a16:creationId xmlns:a16="http://schemas.microsoft.com/office/drawing/2014/main" xmlns="" id="{2D18D821-27B1-1C41-BCE9-F6BAA81749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95" name="AutoShape 372">
                  <a:extLst>
                    <a:ext uri="{FF2B5EF4-FFF2-40B4-BE49-F238E27FC236}">
                      <a16:creationId xmlns:a16="http://schemas.microsoft.com/office/drawing/2014/main" xmlns="" id="{B58EE831-7F05-9245-A127-DD8BBE0CAE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96" name="AutoShape 373">
                  <a:extLst>
                    <a:ext uri="{FF2B5EF4-FFF2-40B4-BE49-F238E27FC236}">
                      <a16:creationId xmlns:a16="http://schemas.microsoft.com/office/drawing/2014/main" xmlns="" id="{85C001D1-A6CB-AF4D-AEBE-CA0F781AAC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380" name="Freeform 374">
                <a:extLst>
                  <a:ext uri="{FF2B5EF4-FFF2-40B4-BE49-F238E27FC236}">
                    <a16:creationId xmlns:a16="http://schemas.microsoft.com/office/drawing/2014/main" xmlns="" id="{B8F2D608-6D10-E648-961C-502BF52F29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381" name="Group 375">
                <a:extLst>
                  <a:ext uri="{FF2B5EF4-FFF2-40B4-BE49-F238E27FC236}">
                    <a16:creationId xmlns:a16="http://schemas.microsoft.com/office/drawing/2014/main" xmlns="" id="{EA90B984-0232-2446-8671-DE7D838676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93" name="AutoShape 376">
                  <a:extLst>
                    <a:ext uri="{FF2B5EF4-FFF2-40B4-BE49-F238E27FC236}">
                      <a16:creationId xmlns:a16="http://schemas.microsoft.com/office/drawing/2014/main" xmlns="" id="{6EB17013-082B-8046-B555-12F5A15CDD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94" name="AutoShape 377">
                  <a:extLst>
                    <a:ext uri="{FF2B5EF4-FFF2-40B4-BE49-F238E27FC236}">
                      <a16:creationId xmlns:a16="http://schemas.microsoft.com/office/drawing/2014/main" xmlns="" id="{A70DD0EF-6EE9-E241-AB7E-EB4BDADA2E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382" name="Rectangle 378">
                <a:extLst>
                  <a:ext uri="{FF2B5EF4-FFF2-40B4-BE49-F238E27FC236}">
                    <a16:creationId xmlns:a16="http://schemas.microsoft.com/office/drawing/2014/main" xmlns="" id="{06B18518-E7AE-2941-AC96-4C9A6B0F0A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83" name="Freeform 379">
                <a:extLst>
                  <a:ext uri="{FF2B5EF4-FFF2-40B4-BE49-F238E27FC236}">
                    <a16:creationId xmlns:a16="http://schemas.microsoft.com/office/drawing/2014/main" xmlns="" id="{C884ECAB-FBB2-1146-9BA8-9234C10762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84" name="Freeform 380">
                <a:extLst>
                  <a:ext uri="{FF2B5EF4-FFF2-40B4-BE49-F238E27FC236}">
                    <a16:creationId xmlns:a16="http://schemas.microsoft.com/office/drawing/2014/main" xmlns="" id="{86ACC5C0-75DC-D644-9593-987029E24B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85" name="Oval 381">
                <a:extLst>
                  <a:ext uri="{FF2B5EF4-FFF2-40B4-BE49-F238E27FC236}">
                    <a16:creationId xmlns:a16="http://schemas.microsoft.com/office/drawing/2014/main" xmlns="" id="{8F3063A0-8C29-3F4C-BBB6-E5C3DB2046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86" name="Freeform 382">
                <a:extLst>
                  <a:ext uri="{FF2B5EF4-FFF2-40B4-BE49-F238E27FC236}">
                    <a16:creationId xmlns:a16="http://schemas.microsoft.com/office/drawing/2014/main" xmlns="" id="{458BBF01-F7B3-7C4A-9F9B-C150FEACFE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87" name="AutoShape 383">
                <a:extLst>
                  <a:ext uri="{FF2B5EF4-FFF2-40B4-BE49-F238E27FC236}">
                    <a16:creationId xmlns:a16="http://schemas.microsoft.com/office/drawing/2014/main" xmlns="" id="{F09EBB6E-D725-9948-A7CD-454E0B2D09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88" name="AutoShape 384">
                <a:extLst>
                  <a:ext uri="{FF2B5EF4-FFF2-40B4-BE49-F238E27FC236}">
                    <a16:creationId xmlns:a16="http://schemas.microsoft.com/office/drawing/2014/main" xmlns="" id="{02BBEBA8-A2A8-6940-9840-37361C65A6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89" name="Oval 385">
                <a:extLst>
                  <a:ext uri="{FF2B5EF4-FFF2-40B4-BE49-F238E27FC236}">
                    <a16:creationId xmlns:a16="http://schemas.microsoft.com/office/drawing/2014/main" xmlns="" id="{6CD76452-9A37-284A-AC19-94EAEBD638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90" name="Oval 386">
                <a:extLst>
                  <a:ext uri="{FF2B5EF4-FFF2-40B4-BE49-F238E27FC236}">
                    <a16:creationId xmlns:a16="http://schemas.microsoft.com/office/drawing/2014/main" xmlns="" id="{1E726A08-C3CF-E243-B6EC-2B48F6CD7C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91" name="Oval 387">
                <a:extLst>
                  <a:ext uri="{FF2B5EF4-FFF2-40B4-BE49-F238E27FC236}">
                    <a16:creationId xmlns:a16="http://schemas.microsoft.com/office/drawing/2014/main" xmlns="" id="{EA8C927A-FBE1-A045-983E-D27E291B72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92" name="Rectangle 388">
                <a:extLst>
                  <a:ext uri="{FF2B5EF4-FFF2-40B4-BE49-F238E27FC236}">
                    <a16:creationId xmlns:a16="http://schemas.microsoft.com/office/drawing/2014/main" xmlns="" id="{C8D6AC43-68AF-D54D-86AA-678153092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40" name="Group 320">
              <a:extLst>
                <a:ext uri="{FF2B5EF4-FFF2-40B4-BE49-F238E27FC236}">
                  <a16:creationId xmlns:a16="http://schemas.microsoft.com/office/drawing/2014/main" xmlns="" id="{BCA856A3-13D3-2047-A080-FFDA86B41E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05" y="1159"/>
              <a:ext cx="301" cy="451"/>
              <a:chOff x="4140" y="429"/>
              <a:chExt cx="1425" cy="2396"/>
            </a:xfrm>
          </p:grpSpPr>
          <p:sp>
            <p:nvSpPr>
              <p:cNvPr id="337" name="Freeform 321">
                <a:extLst>
                  <a:ext uri="{FF2B5EF4-FFF2-40B4-BE49-F238E27FC236}">
                    <a16:creationId xmlns:a16="http://schemas.microsoft.com/office/drawing/2014/main" xmlns="" id="{E9C36205-9E0D-2941-8A7D-957488780F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8" name="Rectangle 322">
                <a:extLst>
                  <a:ext uri="{FF2B5EF4-FFF2-40B4-BE49-F238E27FC236}">
                    <a16:creationId xmlns:a16="http://schemas.microsoft.com/office/drawing/2014/main" xmlns="" id="{DC6B3BB4-B3F9-6649-8059-F6509EF98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9" name="Freeform 323">
                <a:extLst>
                  <a:ext uri="{FF2B5EF4-FFF2-40B4-BE49-F238E27FC236}">
                    <a16:creationId xmlns:a16="http://schemas.microsoft.com/office/drawing/2014/main" xmlns="" id="{95CD3C72-5158-C545-A42A-E0769B687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40" name="Freeform 324">
                <a:extLst>
                  <a:ext uri="{FF2B5EF4-FFF2-40B4-BE49-F238E27FC236}">
                    <a16:creationId xmlns:a16="http://schemas.microsoft.com/office/drawing/2014/main" xmlns="" id="{1090F3E0-60AF-444E-8E42-17F66B71A6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41" name="Rectangle 325">
                <a:extLst>
                  <a:ext uri="{FF2B5EF4-FFF2-40B4-BE49-F238E27FC236}">
                    <a16:creationId xmlns:a16="http://schemas.microsoft.com/office/drawing/2014/main" xmlns="" id="{3E522ADC-77DE-624F-87AA-FAECC92070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342" name="Group 326">
                <a:extLst>
                  <a:ext uri="{FF2B5EF4-FFF2-40B4-BE49-F238E27FC236}">
                    <a16:creationId xmlns:a16="http://schemas.microsoft.com/office/drawing/2014/main" xmlns="" id="{9A881071-53C4-854C-B41F-14CD734AB8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67" name="AutoShape 327">
                  <a:extLst>
                    <a:ext uri="{FF2B5EF4-FFF2-40B4-BE49-F238E27FC236}">
                      <a16:creationId xmlns:a16="http://schemas.microsoft.com/office/drawing/2014/main" xmlns="" id="{5EC42EDF-C001-704E-BAAE-2375ABBC88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68" name="AutoShape 328">
                  <a:extLst>
                    <a:ext uri="{FF2B5EF4-FFF2-40B4-BE49-F238E27FC236}">
                      <a16:creationId xmlns:a16="http://schemas.microsoft.com/office/drawing/2014/main" xmlns="" id="{D887905D-58B1-9A4E-A16A-32F0BF16C0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343" name="Rectangle 329">
                <a:extLst>
                  <a:ext uri="{FF2B5EF4-FFF2-40B4-BE49-F238E27FC236}">
                    <a16:creationId xmlns:a16="http://schemas.microsoft.com/office/drawing/2014/main" xmlns="" id="{36A11B0A-F86E-BE46-B4B2-5F605E896F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344" name="Group 330">
                <a:extLst>
                  <a:ext uri="{FF2B5EF4-FFF2-40B4-BE49-F238E27FC236}">
                    <a16:creationId xmlns:a16="http://schemas.microsoft.com/office/drawing/2014/main" xmlns="" id="{0D898D3E-53D5-FA42-B3ED-1A902F5545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65" name="AutoShape 331">
                  <a:extLst>
                    <a:ext uri="{FF2B5EF4-FFF2-40B4-BE49-F238E27FC236}">
                      <a16:creationId xmlns:a16="http://schemas.microsoft.com/office/drawing/2014/main" xmlns="" id="{140CF4C1-2936-734F-BC64-690AD15BC6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66" name="AutoShape 332">
                  <a:extLst>
                    <a:ext uri="{FF2B5EF4-FFF2-40B4-BE49-F238E27FC236}">
                      <a16:creationId xmlns:a16="http://schemas.microsoft.com/office/drawing/2014/main" xmlns="" id="{25379ADE-E4A2-3644-A2E3-CEB92CF3E1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345" name="Rectangle 333">
                <a:extLst>
                  <a:ext uri="{FF2B5EF4-FFF2-40B4-BE49-F238E27FC236}">
                    <a16:creationId xmlns:a16="http://schemas.microsoft.com/office/drawing/2014/main" xmlns="" id="{58B982F1-2C06-C64E-8596-9111059744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46" name="Rectangle 334">
                <a:extLst>
                  <a:ext uri="{FF2B5EF4-FFF2-40B4-BE49-F238E27FC236}">
                    <a16:creationId xmlns:a16="http://schemas.microsoft.com/office/drawing/2014/main" xmlns="" id="{EC5379D6-711E-1046-B80F-16F89DE4F0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347" name="Group 335">
                <a:extLst>
                  <a:ext uri="{FF2B5EF4-FFF2-40B4-BE49-F238E27FC236}">
                    <a16:creationId xmlns:a16="http://schemas.microsoft.com/office/drawing/2014/main" xmlns="" id="{62B6A9C1-9ECF-E740-8210-537B54075D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63" name="AutoShape 336">
                  <a:extLst>
                    <a:ext uri="{FF2B5EF4-FFF2-40B4-BE49-F238E27FC236}">
                      <a16:creationId xmlns:a16="http://schemas.microsoft.com/office/drawing/2014/main" xmlns="" id="{9D8FBAA6-1137-6844-B6C0-8AE8A997B6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64" name="AutoShape 337">
                  <a:extLst>
                    <a:ext uri="{FF2B5EF4-FFF2-40B4-BE49-F238E27FC236}">
                      <a16:creationId xmlns:a16="http://schemas.microsoft.com/office/drawing/2014/main" xmlns="" id="{69F4B76F-7829-E94B-BEA3-FD8D128BDF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348" name="Freeform 338">
                <a:extLst>
                  <a:ext uri="{FF2B5EF4-FFF2-40B4-BE49-F238E27FC236}">
                    <a16:creationId xmlns:a16="http://schemas.microsoft.com/office/drawing/2014/main" xmlns="" id="{22A5C20A-B311-014E-A689-CAD61456A3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349" name="Group 339">
                <a:extLst>
                  <a:ext uri="{FF2B5EF4-FFF2-40B4-BE49-F238E27FC236}">
                    <a16:creationId xmlns:a16="http://schemas.microsoft.com/office/drawing/2014/main" xmlns="" id="{925CE1AB-BA57-3848-BF71-4F28A97B45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61" name="AutoShape 340">
                  <a:extLst>
                    <a:ext uri="{FF2B5EF4-FFF2-40B4-BE49-F238E27FC236}">
                      <a16:creationId xmlns:a16="http://schemas.microsoft.com/office/drawing/2014/main" xmlns="" id="{B07E1427-3B3F-6340-A5C6-DEFB2FDEA8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62" name="AutoShape 341">
                  <a:extLst>
                    <a:ext uri="{FF2B5EF4-FFF2-40B4-BE49-F238E27FC236}">
                      <a16:creationId xmlns:a16="http://schemas.microsoft.com/office/drawing/2014/main" xmlns="" id="{E9341EDB-352E-324A-895B-0C91268DFA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350" name="Rectangle 342">
                <a:extLst>
                  <a:ext uri="{FF2B5EF4-FFF2-40B4-BE49-F238E27FC236}">
                    <a16:creationId xmlns:a16="http://schemas.microsoft.com/office/drawing/2014/main" xmlns="" id="{11D2D091-BAD4-0641-8566-710F8617E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51" name="Freeform 343">
                <a:extLst>
                  <a:ext uri="{FF2B5EF4-FFF2-40B4-BE49-F238E27FC236}">
                    <a16:creationId xmlns:a16="http://schemas.microsoft.com/office/drawing/2014/main" xmlns="" id="{3E9A5AE3-2D61-1346-98F1-082A92E96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52" name="Freeform 344">
                <a:extLst>
                  <a:ext uri="{FF2B5EF4-FFF2-40B4-BE49-F238E27FC236}">
                    <a16:creationId xmlns:a16="http://schemas.microsoft.com/office/drawing/2014/main" xmlns="" id="{C88A9B02-44A8-734D-A285-32FD607BA8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53" name="Oval 345">
                <a:extLst>
                  <a:ext uri="{FF2B5EF4-FFF2-40B4-BE49-F238E27FC236}">
                    <a16:creationId xmlns:a16="http://schemas.microsoft.com/office/drawing/2014/main" xmlns="" id="{F7E578EC-80CB-5240-8CD1-30DCB3549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54" name="Freeform 346">
                <a:extLst>
                  <a:ext uri="{FF2B5EF4-FFF2-40B4-BE49-F238E27FC236}">
                    <a16:creationId xmlns:a16="http://schemas.microsoft.com/office/drawing/2014/main" xmlns="" id="{01251E70-248C-C54E-995F-050E4B38D1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55" name="AutoShape 347">
                <a:extLst>
                  <a:ext uri="{FF2B5EF4-FFF2-40B4-BE49-F238E27FC236}">
                    <a16:creationId xmlns:a16="http://schemas.microsoft.com/office/drawing/2014/main" xmlns="" id="{8EDCF461-339C-BE45-B223-F7FF2FF530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56" name="AutoShape 348">
                <a:extLst>
                  <a:ext uri="{FF2B5EF4-FFF2-40B4-BE49-F238E27FC236}">
                    <a16:creationId xmlns:a16="http://schemas.microsoft.com/office/drawing/2014/main" xmlns="" id="{41BCC026-3C31-E047-BE6D-95F125EFBE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57" name="Oval 349">
                <a:extLst>
                  <a:ext uri="{FF2B5EF4-FFF2-40B4-BE49-F238E27FC236}">
                    <a16:creationId xmlns:a16="http://schemas.microsoft.com/office/drawing/2014/main" xmlns="" id="{BDE395A6-533C-B447-98EC-373FD11B49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58" name="Oval 350">
                <a:extLst>
                  <a:ext uri="{FF2B5EF4-FFF2-40B4-BE49-F238E27FC236}">
                    <a16:creationId xmlns:a16="http://schemas.microsoft.com/office/drawing/2014/main" xmlns="" id="{B4DADC3A-2C8C-F346-B8B8-136C0D22C4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59" name="Oval 351">
                <a:extLst>
                  <a:ext uri="{FF2B5EF4-FFF2-40B4-BE49-F238E27FC236}">
                    <a16:creationId xmlns:a16="http://schemas.microsoft.com/office/drawing/2014/main" xmlns="" id="{38987EEB-88F2-1244-9E1C-2C362707F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60" name="Rectangle 352">
                <a:extLst>
                  <a:ext uri="{FF2B5EF4-FFF2-40B4-BE49-F238E27FC236}">
                    <a16:creationId xmlns:a16="http://schemas.microsoft.com/office/drawing/2014/main" xmlns="" id="{AAD9CA5F-C3CC-4E40-B45E-D06325400A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41" name="Line 9">
              <a:extLst>
                <a:ext uri="{FF2B5EF4-FFF2-40B4-BE49-F238E27FC236}">
                  <a16:creationId xmlns:a16="http://schemas.microsoft.com/office/drawing/2014/main" xmlns="" id="{9E3D4712-7ACE-524B-B065-8A439F0D26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4" y="1642"/>
              <a:ext cx="708" cy="49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</a:endParaRPr>
            </a:p>
          </p:txBody>
        </p:sp>
        <p:grpSp>
          <p:nvGrpSpPr>
            <p:cNvPr id="242" name="Group 19">
              <a:extLst>
                <a:ext uri="{FF2B5EF4-FFF2-40B4-BE49-F238E27FC236}">
                  <a16:creationId xmlns:a16="http://schemas.microsoft.com/office/drawing/2014/main" xmlns="" id="{B7732DA7-70D9-1240-BF36-777385ECC6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6" y="1881"/>
              <a:ext cx="510" cy="661"/>
              <a:chOff x="4296" y="2627"/>
              <a:chExt cx="510" cy="661"/>
            </a:xfrm>
          </p:grpSpPr>
          <p:sp>
            <p:nvSpPr>
              <p:cNvPr id="322" name="Rectangle 20">
                <a:extLst>
                  <a:ext uri="{FF2B5EF4-FFF2-40B4-BE49-F238E27FC236}">
                    <a16:creationId xmlns:a16="http://schemas.microsoft.com/office/drawing/2014/main" xmlns="" id="{7EF39355-B61B-E84C-B3EA-87B8386C9C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23" name="Text Box 21">
                <a:extLst>
                  <a:ext uri="{FF2B5EF4-FFF2-40B4-BE49-F238E27FC236}">
                    <a16:creationId xmlns:a16="http://schemas.microsoft.com/office/drawing/2014/main" xmlns="" id="{26712A7D-44B8-304E-A5C8-D984194E69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mail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server</a:t>
                </a: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24" name="Rectangle 22">
                <a:extLst>
                  <a:ext uri="{FF2B5EF4-FFF2-40B4-BE49-F238E27FC236}">
                    <a16:creationId xmlns:a16="http://schemas.microsoft.com/office/drawing/2014/main" xmlns="" id="{7D10463C-95E2-7A40-B36D-B52E7D083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25" name="Line 23">
                <a:extLst>
                  <a:ext uri="{FF2B5EF4-FFF2-40B4-BE49-F238E27FC236}">
                    <a16:creationId xmlns:a16="http://schemas.microsoft.com/office/drawing/2014/main" xmlns="" id="{68F9A836-2CFD-7B42-A92E-BE9292B82A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26" name="Line 24">
                <a:extLst>
                  <a:ext uri="{FF2B5EF4-FFF2-40B4-BE49-F238E27FC236}">
                    <a16:creationId xmlns:a16="http://schemas.microsoft.com/office/drawing/2014/main" xmlns="" id="{1779996E-0F2D-8442-BDA2-3F87ED9983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27" name="Line 25">
                <a:extLst>
                  <a:ext uri="{FF2B5EF4-FFF2-40B4-BE49-F238E27FC236}">
                    <a16:creationId xmlns:a16="http://schemas.microsoft.com/office/drawing/2014/main" xmlns="" id="{40E69C7B-2F1A-5E44-95A1-0FA6ED8558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28" name="Line 26">
                <a:extLst>
                  <a:ext uri="{FF2B5EF4-FFF2-40B4-BE49-F238E27FC236}">
                    <a16:creationId xmlns:a16="http://schemas.microsoft.com/office/drawing/2014/main" xmlns="" id="{CFC35C20-DD29-644F-933D-922B8557DB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29" name="Line 27">
                <a:extLst>
                  <a:ext uri="{FF2B5EF4-FFF2-40B4-BE49-F238E27FC236}">
                    <a16:creationId xmlns:a16="http://schemas.microsoft.com/office/drawing/2014/main" xmlns="" id="{43DE343D-639B-8043-A638-7551BBFABD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0" name="Line 28">
                <a:extLst>
                  <a:ext uri="{FF2B5EF4-FFF2-40B4-BE49-F238E27FC236}">
                    <a16:creationId xmlns:a16="http://schemas.microsoft.com/office/drawing/2014/main" xmlns="" id="{73CAB6AE-7763-9144-9C11-A01FC53341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1" name="Line 29">
                <a:extLst>
                  <a:ext uri="{FF2B5EF4-FFF2-40B4-BE49-F238E27FC236}">
                    <a16:creationId xmlns:a16="http://schemas.microsoft.com/office/drawing/2014/main" xmlns="" id="{04D1B335-C850-7F4C-B4D0-A23B2568D0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2" name="Rectangle 30">
                <a:extLst>
                  <a:ext uri="{FF2B5EF4-FFF2-40B4-BE49-F238E27FC236}">
                    <a16:creationId xmlns:a16="http://schemas.microsoft.com/office/drawing/2014/main" xmlns="" id="{D75BC7AF-5CB3-C249-8C45-6520E20D06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3" name="Rectangle 31">
                <a:extLst>
                  <a:ext uri="{FF2B5EF4-FFF2-40B4-BE49-F238E27FC236}">
                    <a16:creationId xmlns:a16="http://schemas.microsoft.com/office/drawing/2014/main" xmlns="" id="{74DAAAB9-27DF-DA4B-872B-8B29FE6DD3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4" name="Rectangle 32">
                <a:extLst>
                  <a:ext uri="{FF2B5EF4-FFF2-40B4-BE49-F238E27FC236}">
                    <a16:creationId xmlns:a16="http://schemas.microsoft.com/office/drawing/2014/main" xmlns="" id="{5F99C941-D513-9148-ABE9-3B9B588B29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5" name="Rectangle 33">
                <a:extLst>
                  <a:ext uri="{FF2B5EF4-FFF2-40B4-BE49-F238E27FC236}">
                    <a16:creationId xmlns:a16="http://schemas.microsoft.com/office/drawing/2014/main" xmlns="" id="{3651F20B-728B-344C-B4AD-749B1DEAC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6" name="Rectangle 34">
                <a:extLst>
                  <a:ext uri="{FF2B5EF4-FFF2-40B4-BE49-F238E27FC236}">
                    <a16:creationId xmlns:a16="http://schemas.microsoft.com/office/drawing/2014/main" xmlns="" id="{7164AE9B-5D5E-3949-A3F4-DED08F720F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43" name="Group 60">
              <a:extLst>
                <a:ext uri="{FF2B5EF4-FFF2-40B4-BE49-F238E27FC236}">
                  <a16:creationId xmlns:a16="http://schemas.microsoft.com/office/drawing/2014/main" xmlns="" id="{5A333144-1730-0C4F-A832-56ED7E3B8D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6" y="2763"/>
              <a:ext cx="510" cy="661"/>
              <a:chOff x="4296" y="2627"/>
              <a:chExt cx="510" cy="661"/>
            </a:xfrm>
          </p:grpSpPr>
          <p:sp>
            <p:nvSpPr>
              <p:cNvPr id="307" name="Rectangle 61">
                <a:extLst>
                  <a:ext uri="{FF2B5EF4-FFF2-40B4-BE49-F238E27FC236}">
                    <a16:creationId xmlns:a16="http://schemas.microsoft.com/office/drawing/2014/main" xmlns="" id="{9395864E-A9B4-5342-82A1-DE3B8AFE92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08" name="Text Box 62">
                <a:extLst>
                  <a:ext uri="{FF2B5EF4-FFF2-40B4-BE49-F238E27FC236}">
                    <a16:creationId xmlns:a16="http://schemas.microsoft.com/office/drawing/2014/main" xmlns="" id="{5AACD721-3312-0F4C-BAF3-B6F1B5616C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mail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server</a:t>
                </a: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09" name="Rectangle 63">
                <a:extLst>
                  <a:ext uri="{FF2B5EF4-FFF2-40B4-BE49-F238E27FC236}">
                    <a16:creationId xmlns:a16="http://schemas.microsoft.com/office/drawing/2014/main" xmlns="" id="{93B2530E-F2E5-1041-B7D2-9465CE4EAD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10" name="Line 64">
                <a:extLst>
                  <a:ext uri="{FF2B5EF4-FFF2-40B4-BE49-F238E27FC236}">
                    <a16:creationId xmlns:a16="http://schemas.microsoft.com/office/drawing/2014/main" xmlns="" id="{894E865A-3431-FD4B-96A5-C97DAAC7A6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11" name="Line 65">
                <a:extLst>
                  <a:ext uri="{FF2B5EF4-FFF2-40B4-BE49-F238E27FC236}">
                    <a16:creationId xmlns:a16="http://schemas.microsoft.com/office/drawing/2014/main" xmlns="" id="{3CA43AF7-D356-4142-A618-06DCB23282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12" name="Line 66">
                <a:extLst>
                  <a:ext uri="{FF2B5EF4-FFF2-40B4-BE49-F238E27FC236}">
                    <a16:creationId xmlns:a16="http://schemas.microsoft.com/office/drawing/2014/main" xmlns="" id="{4F8E4FC5-0A2A-4849-97E6-425A5D2E6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13" name="Line 67">
                <a:extLst>
                  <a:ext uri="{FF2B5EF4-FFF2-40B4-BE49-F238E27FC236}">
                    <a16:creationId xmlns:a16="http://schemas.microsoft.com/office/drawing/2014/main" xmlns="" id="{343125A4-6A3A-F943-89E3-12B16C09D2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14" name="Line 68">
                <a:extLst>
                  <a:ext uri="{FF2B5EF4-FFF2-40B4-BE49-F238E27FC236}">
                    <a16:creationId xmlns:a16="http://schemas.microsoft.com/office/drawing/2014/main" xmlns="" id="{D4CB6017-5831-FA48-815B-BE92970244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15" name="Line 69">
                <a:extLst>
                  <a:ext uri="{FF2B5EF4-FFF2-40B4-BE49-F238E27FC236}">
                    <a16:creationId xmlns:a16="http://schemas.microsoft.com/office/drawing/2014/main" xmlns="" id="{E4754EF7-D910-814B-8B41-2FD2BAA878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16" name="Line 70">
                <a:extLst>
                  <a:ext uri="{FF2B5EF4-FFF2-40B4-BE49-F238E27FC236}">
                    <a16:creationId xmlns:a16="http://schemas.microsoft.com/office/drawing/2014/main" xmlns="" id="{F137C288-EF55-D540-A997-85FA917D73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17" name="Rectangle 71">
                <a:extLst>
                  <a:ext uri="{FF2B5EF4-FFF2-40B4-BE49-F238E27FC236}">
                    <a16:creationId xmlns:a16="http://schemas.microsoft.com/office/drawing/2014/main" xmlns="" id="{F56FC77C-FB59-7F4E-B825-2A488EF8C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18" name="Rectangle 72">
                <a:extLst>
                  <a:ext uri="{FF2B5EF4-FFF2-40B4-BE49-F238E27FC236}">
                    <a16:creationId xmlns:a16="http://schemas.microsoft.com/office/drawing/2014/main" xmlns="" id="{F41D8631-6A74-BA42-8A05-01D02E0EA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19" name="Rectangle 73">
                <a:extLst>
                  <a:ext uri="{FF2B5EF4-FFF2-40B4-BE49-F238E27FC236}">
                    <a16:creationId xmlns:a16="http://schemas.microsoft.com/office/drawing/2014/main" xmlns="" id="{C73BF6A9-3054-FB43-A0C0-EB576EBF15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20" name="Rectangle 74">
                <a:extLst>
                  <a:ext uri="{FF2B5EF4-FFF2-40B4-BE49-F238E27FC236}">
                    <a16:creationId xmlns:a16="http://schemas.microsoft.com/office/drawing/2014/main" xmlns="" id="{944FDC84-5A12-CC42-9A23-A92DDF6AE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21" name="Rectangle 75">
                <a:extLst>
                  <a:ext uri="{FF2B5EF4-FFF2-40B4-BE49-F238E27FC236}">
                    <a16:creationId xmlns:a16="http://schemas.microsoft.com/office/drawing/2014/main" xmlns="" id="{88D6DBF9-99B2-4544-BF6D-329E89DCB6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44" name="Group 96">
              <a:extLst>
                <a:ext uri="{FF2B5EF4-FFF2-40B4-BE49-F238E27FC236}">
                  <a16:creationId xmlns:a16="http://schemas.microsoft.com/office/drawing/2014/main" xmlns="" id="{57000094-DC40-484B-A0CA-146FA733FE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6" y="1347"/>
              <a:ext cx="510" cy="661"/>
              <a:chOff x="4296" y="2627"/>
              <a:chExt cx="510" cy="661"/>
            </a:xfrm>
          </p:grpSpPr>
          <p:sp>
            <p:nvSpPr>
              <p:cNvPr id="292" name="Rectangle 97">
                <a:extLst>
                  <a:ext uri="{FF2B5EF4-FFF2-40B4-BE49-F238E27FC236}">
                    <a16:creationId xmlns:a16="http://schemas.microsoft.com/office/drawing/2014/main" xmlns="" id="{23688015-1451-B649-A136-19DFE598C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3" name="Text Box 98">
                <a:extLst>
                  <a:ext uri="{FF2B5EF4-FFF2-40B4-BE49-F238E27FC236}">
                    <a16:creationId xmlns:a16="http://schemas.microsoft.com/office/drawing/2014/main" xmlns="" id="{8D2FAA41-802D-714B-9684-49001E0C16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mail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server</a:t>
                </a: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4" name="Rectangle 99">
                <a:extLst>
                  <a:ext uri="{FF2B5EF4-FFF2-40B4-BE49-F238E27FC236}">
                    <a16:creationId xmlns:a16="http://schemas.microsoft.com/office/drawing/2014/main" xmlns="" id="{A4CCD107-61E7-3242-85D1-3EAFC1B479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5" name="Line 100">
                <a:extLst>
                  <a:ext uri="{FF2B5EF4-FFF2-40B4-BE49-F238E27FC236}">
                    <a16:creationId xmlns:a16="http://schemas.microsoft.com/office/drawing/2014/main" xmlns="" id="{2743033E-E6A8-F646-99FA-C57B67EFD0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6" name="Line 101">
                <a:extLst>
                  <a:ext uri="{FF2B5EF4-FFF2-40B4-BE49-F238E27FC236}">
                    <a16:creationId xmlns:a16="http://schemas.microsoft.com/office/drawing/2014/main" xmlns="" id="{2C5C87C8-3EB9-C345-8455-9601CC8BF2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7" name="Line 102">
                <a:extLst>
                  <a:ext uri="{FF2B5EF4-FFF2-40B4-BE49-F238E27FC236}">
                    <a16:creationId xmlns:a16="http://schemas.microsoft.com/office/drawing/2014/main" xmlns="" id="{61F561F5-A8AF-F046-8A1B-EB72756DC9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8" name="Line 103">
                <a:extLst>
                  <a:ext uri="{FF2B5EF4-FFF2-40B4-BE49-F238E27FC236}">
                    <a16:creationId xmlns:a16="http://schemas.microsoft.com/office/drawing/2014/main" xmlns="" id="{189B5DCD-C8CD-4049-BF55-784B4932C7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9" name="Line 104">
                <a:extLst>
                  <a:ext uri="{FF2B5EF4-FFF2-40B4-BE49-F238E27FC236}">
                    <a16:creationId xmlns:a16="http://schemas.microsoft.com/office/drawing/2014/main" xmlns="" id="{51E021BF-BE11-C748-8956-6CE4588C2A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00" name="Line 105">
                <a:extLst>
                  <a:ext uri="{FF2B5EF4-FFF2-40B4-BE49-F238E27FC236}">
                    <a16:creationId xmlns:a16="http://schemas.microsoft.com/office/drawing/2014/main" xmlns="" id="{4B929A3B-B815-E441-922D-EA14E8C14C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01" name="Line 106">
                <a:extLst>
                  <a:ext uri="{FF2B5EF4-FFF2-40B4-BE49-F238E27FC236}">
                    <a16:creationId xmlns:a16="http://schemas.microsoft.com/office/drawing/2014/main" xmlns="" id="{5A282BD2-5338-3E4D-8636-9D489C73E7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02" name="Rectangle 107">
                <a:extLst>
                  <a:ext uri="{FF2B5EF4-FFF2-40B4-BE49-F238E27FC236}">
                    <a16:creationId xmlns:a16="http://schemas.microsoft.com/office/drawing/2014/main" xmlns="" id="{8E194D1F-5621-4E4F-9797-A2C32D688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03" name="Rectangle 108">
                <a:extLst>
                  <a:ext uri="{FF2B5EF4-FFF2-40B4-BE49-F238E27FC236}">
                    <a16:creationId xmlns:a16="http://schemas.microsoft.com/office/drawing/2014/main" xmlns="" id="{AD50D80A-F8D2-514C-87E9-4ACA4207A6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04" name="Rectangle 109">
                <a:extLst>
                  <a:ext uri="{FF2B5EF4-FFF2-40B4-BE49-F238E27FC236}">
                    <a16:creationId xmlns:a16="http://schemas.microsoft.com/office/drawing/2014/main" xmlns="" id="{2275F6D3-E63F-C04C-A0DE-16B4A4842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05" name="Rectangle 110">
                <a:extLst>
                  <a:ext uri="{FF2B5EF4-FFF2-40B4-BE49-F238E27FC236}">
                    <a16:creationId xmlns:a16="http://schemas.microsoft.com/office/drawing/2014/main" xmlns="" id="{48706195-34DD-A541-88E3-15F1D1F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06" name="Rectangle 111">
                <a:extLst>
                  <a:ext uri="{FF2B5EF4-FFF2-40B4-BE49-F238E27FC236}">
                    <a16:creationId xmlns:a16="http://schemas.microsoft.com/office/drawing/2014/main" xmlns="" id="{3F644955-990A-3D46-8B8D-8C68D095DA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45" name="Line 117">
              <a:extLst>
                <a:ext uri="{FF2B5EF4-FFF2-40B4-BE49-F238E27FC236}">
                  <a16:creationId xmlns:a16="http://schemas.microsoft.com/office/drawing/2014/main" xmlns="" id="{14A97E77-F498-9E42-8702-8B7F5D1AC5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4" y="2350"/>
              <a:ext cx="708" cy="684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</a:endParaRPr>
            </a:p>
          </p:txBody>
        </p:sp>
        <p:sp>
          <p:nvSpPr>
            <p:cNvPr id="246" name="Line 118">
              <a:extLst>
                <a:ext uri="{FF2B5EF4-FFF2-40B4-BE49-F238E27FC236}">
                  <a16:creationId xmlns:a16="http://schemas.microsoft.com/office/drawing/2014/main" xmlns="" id="{32DA8ECF-6761-E64E-A313-7489BEF95F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66" y="2020"/>
              <a:ext cx="0" cy="78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</a:endParaRPr>
            </a:p>
          </p:txBody>
        </p:sp>
        <p:grpSp>
          <p:nvGrpSpPr>
            <p:cNvPr id="247" name="Group 119">
              <a:extLst>
                <a:ext uri="{FF2B5EF4-FFF2-40B4-BE49-F238E27FC236}">
                  <a16:creationId xmlns:a16="http://schemas.microsoft.com/office/drawing/2014/main" xmlns="" id="{BA52A921-FC7C-6043-901B-3544177346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9" y="2535"/>
              <a:ext cx="641" cy="330"/>
              <a:chOff x="3749" y="2537"/>
              <a:chExt cx="641" cy="330"/>
            </a:xfrm>
          </p:grpSpPr>
          <p:sp>
            <p:nvSpPr>
              <p:cNvPr id="290" name="Rectangle 120">
                <a:extLst>
                  <a:ext uri="{FF2B5EF4-FFF2-40B4-BE49-F238E27FC236}">
                    <a16:creationId xmlns:a16="http://schemas.microsoft.com/office/drawing/2014/main" xmlns="" id="{0C8E9259-98F2-604F-A4C6-3A7F488FCC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1" name="Text Box 121">
                <a:extLst>
                  <a:ext uri="{FF2B5EF4-FFF2-40B4-BE49-F238E27FC236}">
                    <a16:creationId xmlns:a16="http://schemas.microsoft.com/office/drawing/2014/main" xmlns="" id="{211C72D2-CB25-324F-AB81-6EE0282F0E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SMTP</a:t>
                </a:r>
              </a:p>
            </p:txBody>
          </p:sp>
        </p:grpSp>
        <p:grpSp>
          <p:nvGrpSpPr>
            <p:cNvPr id="248" name="Group 122">
              <a:extLst>
                <a:ext uri="{FF2B5EF4-FFF2-40B4-BE49-F238E27FC236}">
                  <a16:creationId xmlns:a16="http://schemas.microsoft.com/office/drawing/2014/main" xmlns="" id="{0C8CF91C-30A4-724C-9B71-2A06A29487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5" y="1743"/>
              <a:ext cx="641" cy="330"/>
              <a:chOff x="3749" y="2537"/>
              <a:chExt cx="641" cy="330"/>
            </a:xfrm>
          </p:grpSpPr>
          <p:sp>
            <p:nvSpPr>
              <p:cNvPr id="288" name="Rectangle 123">
                <a:extLst>
                  <a:ext uri="{FF2B5EF4-FFF2-40B4-BE49-F238E27FC236}">
                    <a16:creationId xmlns:a16="http://schemas.microsoft.com/office/drawing/2014/main" xmlns="" id="{FCECD58F-F77F-CE4B-B35E-A96DEDC7E6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89" name="Text Box 124">
                <a:extLst>
                  <a:ext uri="{FF2B5EF4-FFF2-40B4-BE49-F238E27FC236}">
                    <a16:creationId xmlns:a16="http://schemas.microsoft.com/office/drawing/2014/main" xmlns="" id="{AF84BA8D-FF6F-3247-901E-8E6B18720F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SMTP</a:t>
                </a:r>
              </a:p>
            </p:txBody>
          </p:sp>
        </p:grpSp>
        <p:grpSp>
          <p:nvGrpSpPr>
            <p:cNvPr id="249" name="Group 125">
              <a:extLst>
                <a:ext uri="{FF2B5EF4-FFF2-40B4-BE49-F238E27FC236}">
                  <a16:creationId xmlns:a16="http://schemas.microsoft.com/office/drawing/2014/main" xmlns="" id="{58DC277B-7AA7-2E40-B727-BF4769AC13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1" y="2193"/>
              <a:ext cx="641" cy="330"/>
              <a:chOff x="3749" y="2537"/>
              <a:chExt cx="641" cy="330"/>
            </a:xfrm>
          </p:grpSpPr>
          <p:sp>
            <p:nvSpPr>
              <p:cNvPr id="286" name="Rectangle 126">
                <a:extLst>
                  <a:ext uri="{FF2B5EF4-FFF2-40B4-BE49-F238E27FC236}">
                    <a16:creationId xmlns:a16="http://schemas.microsoft.com/office/drawing/2014/main" xmlns="" id="{2816DCBF-A1AF-E048-B956-3F1809C0D7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87" name="Text Box 127">
                <a:extLst>
                  <a:ext uri="{FF2B5EF4-FFF2-40B4-BE49-F238E27FC236}">
                    <a16:creationId xmlns:a16="http://schemas.microsoft.com/office/drawing/2014/main" xmlns="" id="{63B15CD0-9983-6A4B-9279-804A5439A9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SMTP</a:t>
                </a:r>
              </a:p>
            </p:txBody>
          </p:sp>
        </p:grpSp>
        <p:grpSp>
          <p:nvGrpSpPr>
            <p:cNvPr id="250" name="Group 423">
              <a:extLst>
                <a:ext uri="{FF2B5EF4-FFF2-40B4-BE49-F238E27FC236}">
                  <a16:creationId xmlns:a16="http://schemas.microsoft.com/office/drawing/2014/main" xmlns="" id="{30BA0251-F53A-8C4F-97BA-8DC51407C8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9" y="886"/>
              <a:ext cx="583" cy="664"/>
              <a:chOff x="3566" y="550"/>
              <a:chExt cx="583" cy="664"/>
            </a:xfrm>
          </p:grpSpPr>
          <p:grpSp>
            <p:nvGrpSpPr>
              <p:cNvPr id="281" name="Group 353">
                <a:extLst>
                  <a:ext uri="{FF2B5EF4-FFF2-40B4-BE49-F238E27FC236}">
                    <a16:creationId xmlns:a16="http://schemas.microsoft.com/office/drawing/2014/main" xmlns="" id="{08E25960-F839-D945-AEB0-EBA43385ED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84" name="Picture 354" descr="desktop_computer_stylized_medium">
                  <a:extLst>
                    <a:ext uri="{FF2B5EF4-FFF2-40B4-BE49-F238E27FC236}">
                      <a16:creationId xmlns:a16="http://schemas.microsoft.com/office/drawing/2014/main" xmlns="" id="{A8E24158-A20D-2643-9568-7E2B6A9A8F7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85" name="Freeform 355">
                  <a:extLst>
                    <a:ext uri="{FF2B5EF4-FFF2-40B4-BE49-F238E27FC236}">
                      <a16:creationId xmlns:a16="http://schemas.microsoft.com/office/drawing/2014/main" xmlns="" id="{7C66E8C3-2156-B443-A62B-AB5FE62DD4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282" name="Rectangle 115">
                <a:extLst>
                  <a:ext uri="{FF2B5EF4-FFF2-40B4-BE49-F238E27FC236}">
                    <a16:creationId xmlns:a16="http://schemas.microsoft.com/office/drawing/2014/main" xmlns="" id="{A8808CF7-A20F-6048-A5C3-5948802EC1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83" name="Text Box 116">
                <a:extLst>
                  <a:ext uri="{FF2B5EF4-FFF2-40B4-BE49-F238E27FC236}">
                    <a16:creationId xmlns:a16="http://schemas.microsoft.com/office/drawing/2014/main" xmlns="" id="{3615B133-7ADF-B149-A5EF-D48A09950B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user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agent</a:t>
                </a: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51" name="Group 424">
              <a:extLst>
                <a:ext uri="{FF2B5EF4-FFF2-40B4-BE49-F238E27FC236}">
                  <a16:creationId xmlns:a16="http://schemas.microsoft.com/office/drawing/2014/main" xmlns="" id="{45EE4567-07D2-9B44-B152-A79DBA1430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2" y="1400"/>
              <a:ext cx="583" cy="664"/>
              <a:chOff x="3566" y="550"/>
              <a:chExt cx="583" cy="664"/>
            </a:xfrm>
          </p:grpSpPr>
          <p:grpSp>
            <p:nvGrpSpPr>
              <p:cNvPr id="276" name="Group 425">
                <a:extLst>
                  <a:ext uri="{FF2B5EF4-FFF2-40B4-BE49-F238E27FC236}">
                    <a16:creationId xmlns:a16="http://schemas.microsoft.com/office/drawing/2014/main" xmlns="" id="{E722A2E6-A5F4-6C41-B802-1B3176A542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79" name="Picture 426" descr="desktop_computer_stylized_medium">
                  <a:extLst>
                    <a:ext uri="{FF2B5EF4-FFF2-40B4-BE49-F238E27FC236}">
                      <a16:creationId xmlns:a16="http://schemas.microsoft.com/office/drawing/2014/main" xmlns="" id="{8B6EAA10-F9D8-724F-94C8-D4E4B57A04F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80" name="Freeform 427">
                  <a:extLst>
                    <a:ext uri="{FF2B5EF4-FFF2-40B4-BE49-F238E27FC236}">
                      <a16:creationId xmlns:a16="http://schemas.microsoft.com/office/drawing/2014/main" xmlns="" id="{1E93A55D-6DF6-C544-9512-0E02D9C496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277" name="Rectangle 115">
                <a:extLst>
                  <a:ext uri="{FF2B5EF4-FFF2-40B4-BE49-F238E27FC236}">
                    <a16:creationId xmlns:a16="http://schemas.microsoft.com/office/drawing/2014/main" xmlns="" id="{1B535841-0794-1B43-AB50-A8A2B89E46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78" name="Text Box 116">
                <a:extLst>
                  <a:ext uri="{FF2B5EF4-FFF2-40B4-BE49-F238E27FC236}">
                    <a16:creationId xmlns:a16="http://schemas.microsoft.com/office/drawing/2014/main" xmlns="" id="{08BD580D-BB58-674F-BF51-73AD02F8ED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user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agent</a:t>
                </a: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52" name="Group 430">
              <a:extLst>
                <a:ext uri="{FF2B5EF4-FFF2-40B4-BE49-F238E27FC236}">
                  <a16:creationId xmlns:a16="http://schemas.microsoft.com/office/drawing/2014/main" xmlns="" id="{34A2D0BA-C196-4942-B7CA-678581CB51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74" y="1880"/>
              <a:ext cx="583" cy="664"/>
              <a:chOff x="3566" y="550"/>
              <a:chExt cx="583" cy="664"/>
            </a:xfrm>
          </p:grpSpPr>
          <p:grpSp>
            <p:nvGrpSpPr>
              <p:cNvPr id="271" name="Group 431">
                <a:extLst>
                  <a:ext uri="{FF2B5EF4-FFF2-40B4-BE49-F238E27FC236}">
                    <a16:creationId xmlns:a16="http://schemas.microsoft.com/office/drawing/2014/main" xmlns="" id="{BE03D0A5-F5D7-9948-B7EA-FA5E6ADA2B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74" name="Picture 432" descr="desktop_computer_stylized_medium">
                  <a:extLst>
                    <a:ext uri="{FF2B5EF4-FFF2-40B4-BE49-F238E27FC236}">
                      <a16:creationId xmlns:a16="http://schemas.microsoft.com/office/drawing/2014/main" xmlns="" id="{CE464295-B889-1B47-A8D7-3556B2AAAD0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75" name="Freeform 433">
                  <a:extLst>
                    <a:ext uri="{FF2B5EF4-FFF2-40B4-BE49-F238E27FC236}">
                      <a16:creationId xmlns:a16="http://schemas.microsoft.com/office/drawing/2014/main" xmlns="" id="{C77332B6-93C9-A042-A591-13DCD23AA5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272" name="Rectangle 115">
                <a:extLst>
                  <a:ext uri="{FF2B5EF4-FFF2-40B4-BE49-F238E27FC236}">
                    <a16:creationId xmlns:a16="http://schemas.microsoft.com/office/drawing/2014/main" xmlns="" id="{F6E9263B-5B99-914A-B779-F129D9C756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73" name="Text Box 116">
                <a:extLst>
                  <a:ext uri="{FF2B5EF4-FFF2-40B4-BE49-F238E27FC236}">
                    <a16:creationId xmlns:a16="http://schemas.microsoft.com/office/drawing/2014/main" xmlns="" id="{E6ADB34B-0590-DF41-A12D-070F82E8AE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user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agent</a:t>
                </a: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53" name="Group 436">
              <a:extLst>
                <a:ext uri="{FF2B5EF4-FFF2-40B4-BE49-F238E27FC236}">
                  <a16:creationId xmlns:a16="http://schemas.microsoft.com/office/drawing/2014/main" xmlns="" id="{1E0B8E86-E363-7347-AAB0-795D10C2D2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1" y="2540"/>
              <a:ext cx="583" cy="664"/>
              <a:chOff x="3566" y="550"/>
              <a:chExt cx="583" cy="664"/>
            </a:xfrm>
          </p:grpSpPr>
          <p:grpSp>
            <p:nvGrpSpPr>
              <p:cNvPr id="266" name="Group 437">
                <a:extLst>
                  <a:ext uri="{FF2B5EF4-FFF2-40B4-BE49-F238E27FC236}">
                    <a16:creationId xmlns:a16="http://schemas.microsoft.com/office/drawing/2014/main" xmlns="" id="{AC5F831C-0C35-C549-B51D-4296B8B8B9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69" name="Picture 438" descr="desktop_computer_stylized_medium">
                  <a:extLst>
                    <a:ext uri="{FF2B5EF4-FFF2-40B4-BE49-F238E27FC236}">
                      <a16:creationId xmlns:a16="http://schemas.microsoft.com/office/drawing/2014/main" xmlns="" id="{AD14A203-3912-324B-BE4F-9D6A4285CEC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70" name="Freeform 439">
                  <a:extLst>
                    <a:ext uri="{FF2B5EF4-FFF2-40B4-BE49-F238E27FC236}">
                      <a16:creationId xmlns:a16="http://schemas.microsoft.com/office/drawing/2014/main" xmlns="" id="{9E88436B-4E0D-D149-A214-D937D45DEA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267" name="Rectangle 115">
                <a:extLst>
                  <a:ext uri="{FF2B5EF4-FFF2-40B4-BE49-F238E27FC236}">
                    <a16:creationId xmlns:a16="http://schemas.microsoft.com/office/drawing/2014/main" xmlns="" id="{0DEA31A9-2C76-564E-B16F-DBD697177E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68" name="Text Box 116">
                <a:extLst>
                  <a:ext uri="{FF2B5EF4-FFF2-40B4-BE49-F238E27FC236}">
                    <a16:creationId xmlns:a16="http://schemas.microsoft.com/office/drawing/2014/main" xmlns="" id="{7655A215-ADF5-8C47-8D04-DDBF56AFD7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user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agent</a:t>
                </a: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54" name="Group 442">
              <a:extLst>
                <a:ext uri="{FF2B5EF4-FFF2-40B4-BE49-F238E27FC236}">
                  <a16:creationId xmlns:a16="http://schemas.microsoft.com/office/drawing/2014/main" xmlns="" id="{30600299-25CF-4A4E-8A3B-15590AC954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6" y="3446"/>
              <a:ext cx="583" cy="664"/>
              <a:chOff x="3566" y="550"/>
              <a:chExt cx="583" cy="664"/>
            </a:xfrm>
          </p:grpSpPr>
          <p:grpSp>
            <p:nvGrpSpPr>
              <p:cNvPr id="261" name="Group 443">
                <a:extLst>
                  <a:ext uri="{FF2B5EF4-FFF2-40B4-BE49-F238E27FC236}">
                    <a16:creationId xmlns:a16="http://schemas.microsoft.com/office/drawing/2014/main" xmlns="" id="{116521D6-39B6-ED4D-BF9D-4EDC84BB43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64" name="Picture 444" descr="desktop_computer_stylized_medium">
                  <a:extLst>
                    <a:ext uri="{FF2B5EF4-FFF2-40B4-BE49-F238E27FC236}">
                      <a16:creationId xmlns:a16="http://schemas.microsoft.com/office/drawing/2014/main" xmlns="" id="{B764D5A2-AAF9-6F4A-AD12-7AF1E69A921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65" name="Freeform 445">
                  <a:extLst>
                    <a:ext uri="{FF2B5EF4-FFF2-40B4-BE49-F238E27FC236}">
                      <a16:creationId xmlns:a16="http://schemas.microsoft.com/office/drawing/2014/main" xmlns="" id="{1CF12910-951A-5444-81F3-DDC16C9510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262" name="Rectangle 115">
                <a:extLst>
                  <a:ext uri="{FF2B5EF4-FFF2-40B4-BE49-F238E27FC236}">
                    <a16:creationId xmlns:a16="http://schemas.microsoft.com/office/drawing/2014/main" xmlns="" id="{E6B060FF-D007-3348-A6C9-A56534FB0E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63" name="Text Box 116">
                <a:extLst>
                  <a:ext uri="{FF2B5EF4-FFF2-40B4-BE49-F238E27FC236}">
                    <a16:creationId xmlns:a16="http://schemas.microsoft.com/office/drawing/2014/main" xmlns="" id="{D67C13D0-AC42-8E4B-9B42-5CEAC13028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user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agent</a:t>
                </a: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55" name="Group 448">
              <a:extLst>
                <a:ext uri="{FF2B5EF4-FFF2-40B4-BE49-F238E27FC236}">
                  <a16:creationId xmlns:a16="http://schemas.microsoft.com/office/drawing/2014/main" xmlns="" id="{8E0DD129-7A33-3E4A-8455-FC51B1CF67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5" y="3056"/>
              <a:ext cx="583" cy="664"/>
              <a:chOff x="3566" y="550"/>
              <a:chExt cx="583" cy="664"/>
            </a:xfrm>
          </p:grpSpPr>
          <p:grpSp>
            <p:nvGrpSpPr>
              <p:cNvPr id="256" name="Group 449">
                <a:extLst>
                  <a:ext uri="{FF2B5EF4-FFF2-40B4-BE49-F238E27FC236}">
                    <a16:creationId xmlns:a16="http://schemas.microsoft.com/office/drawing/2014/main" xmlns="" id="{90AB032A-A3B7-3748-9489-8C4F915581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59" name="Picture 450" descr="desktop_computer_stylized_medium">
                  <a:extLst>
                    <a:ext uri="{FF2B5EF4-FFF2-40B4-BE49-F238E27FC236}">
                      <a16:creationId xmlns:a16="http://schemas.microsoft.com/office/drawing/2014/main" xmlns="" id="{DE476DC9-0E4F-314D-82DF-D6027FE6D11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60" name="Freeform 451">
                  <a:extLst>
                    <a:ext uri="{FF2B5EF4-FFF2-40B4-BE49-F238E27FC236}">
                      <a16:creationId xmlns:a16="http://schemas.microsoft.com/office/drawing/2014/main" xmlns="" id="{234ABE2F-A8B4-8542-94E8-78DDE67E3E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257" name="Rectangle 115">
                <a:extLst>
                  <a:ext uri="{FF2B5EF4-FFF2-40B4-BE49-F238E27FC236}">
                    <a16:creationId xmlns:a16="http://schemas.microsoft.com/office/drawing/2014/main" xmlns="" id="{B0E02959-4482-944E-9351-976262974C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58" name="Text Box 116">
                <a:extLst>
                  <a:ext uri="{FF2B5EF4-FFF2-40B4-BE49-F238E27FC236}">
                    <a16:creationId xmlns:a16="http://schemas.microsoft.com/office/drawing/2014/main" xmlns="" id="{53D455CA-494C-3941-B909-EFE07A9B71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user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panose="020B0600070205080204" pitchFamily="34" charset="-128"/>
                  </a:rPr>
                  <a:t>agent</a:t>
                </a: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</a:endParaRPr>
              </a:p>
            </p:txBody>
          </p:sp>
        </p:grpSp>
      </p:grpSp>
      <p:sp>
        <p:nvSpPr>
          <p:cNvPr id="216" name="Rectangle 3">
            <a:extLst>
              <a:ext uri="{FF2B5EF4-FFF2-40B4-BE49-F238E27FC236}">
                <a16:creationId xmlns:a16="http://schemas.microsoft.com/office/drawing/2014/main" xmlns="" id="{D5E2CE3F-09DC-EA40-ABE5-ED6ACF8FB8D5}"/>
              </a:ext>
            </a:extLst>
          </p:cNvPr>
          <p:cNvSpPr txBox="1">
            <a:spLocks noChangeArrowheads="1"/>
          </p:cNvSpPr>
          <p:nvPr/>
        </p:nvSpPr>
        <p:spPr>
          <a:xfrm>
            <a:off x="660265" y="1387147"/>
            <a:ext cx="5406569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32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mail servers:</a:t>
            </a:r>
          </a:p>
          <a:p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mailbox</a:t>
            </a:r>
            <a:r>
              <a:rPr lang="en-US" altLang="en-US" dirty="0">
                <a:ea typeface="ＭＳ Ｐゴシック" panose="020B0600070205080204" pitchFamily="34" charset="-128"/>
              </a:rPr>
              <a:t> contains incoming messages for user</a:t>
            </a:r>
          </a:p>
          <a:p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message queue</a:t>
            </a:r>
            <a:r>
              <a:rPr lang="en-US" altLang="en-US" dirty="0">
                <a:ea typeface="ＭＳ Ｐゴシック" panose="020B0600070205080204" pitchFamily="34" charset="-128"/>
              </a:rPr>
              <a:t> of outgoing (to be sent) mail messages</a:t>
            </a:r>
          </a:p>
          <a:p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SMTP protocol</a:t>
            </a:r>
            <a:r>
              <a:rPr lang="en-US" altLang="en-US" dirty="0">
                <a:ea typeface="ＭＳ Ｐゴシック" panose="020B0600070205080204" pitchFamily="34" charset="-128"/>
              </a:rPr>
              <a:t> between mail servers to send email messages</a:t>
            </a:r>
          </a:p>
          <a:p>
            <a:pPr lvl="1"/>
            <a:r>
              <a:rPr lang="en-US" altLang="en-US" sz="2800" dirty="0">
                <a:ea typeface="ＭＳ Ｐゴシック" panose="020B0600070205080204" pitchFamily="34" charset="-128"/>
              </a:rPr>
              <a:t>client: sending mail server</a:t>
            </a:r>
          </a:p>
          <a:p>
            <a:pPr lvl="1"/>
            <a:r>
              <a:rPr lang="en-US" altLang="ja-JP" sz="2800" dirty="0">
                <a:ea typeface="ＭＳ Ｐゴシック" panose="020B0600070205080204" pitchFamily="34" charset="-128"/>
              </a:rPr>
              <a:t>“server”: receiving mail server</a:t>
            </a:r>
            <a:endParaRPr lang="en-US" altLang="en-US" sz="28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916211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E-mail: the </a:t>
            </a:r>
            <a:r>
              <a:rPr lang="en-US" altLang="en-US" dirty="0">
                <a:cs typeface="Calibri" panose="020F0502020204030204" pitchFamily="34" charset="0"/>
              </a:rPr>
              <a:t>RFC </a:t>
            </a:r>
            <a:r>
              <a:rPr lang="en-US" altLang="en-US" sz="3200" dirty="0">
                <a:cs typeface="Calibri" panose="020F0502020204030204" pitchFamily="34" charset="0"/>
              </a:rPr>
              <a:t>(5321)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215" name="Rectangle 3">
            <a:extLst>
              <a:ext uri="{FF2B5EF4-FFF2-40B4-BE49-F238E27FC236}">
                <a16:creationId xmlns:a16="http://schemas.microsoft.com/office/drawing/2014/main" xmlns="" id="{38D73E7D-6683-3B49-B9F1-F60777D45BFB}"/>
              </a:ext>
            </a:extLst>
          </p:cNvPr>
          <p:cNvSpPr txBox="1">
            <a:spLocks noChangeArrowheads="1"/>
          </p:cNvSpPr>
          <p:nvPr/>
        </p:nvSpPr>
        <p:spPr>
          <a:xfrm>
            <a:off x="693827" y="1364343"/>
            <a:ext cx="10725328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uses TCP to reliably transfer email message from client (mail server initiating connection) to server, port 25</a:t>
            </a:r>
          </a:p>
          <a:p>
            <a:pPr>
              <a:spcBef>
                <a:spcPts val="6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direct transfer: sending server (acting like client) to receiving server</a:t>
            </a:r>
          </a:p>
          <a:p>
            <a:pPr>
              <a:spcBef>
                <a:spcPts val="6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three phases of transfer</a:t>
            </a:r>
          </a:p>
          <a:p>
            <a:pPr lvl="1">
              <a:spcBef>
                <a:spcPts val="6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handshaking (greeting)</a:t>
            </a:r>
          </a:p>
          <a:p>
            <a:pPr lvl="1">
              <a:spcBef>
                <a:spcPts val="6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transfer of messages</a:t>
            </a:r>
          </a:p>
          <a:p>
            <a:pPr lvl="1">
              <a:spcBef>
                <a:spcPts val="6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closure</a:t>
            </a:r>
          </a:p>
          <a:p>
            <a:pPr>
              <a:spcBef>
                <a:spcPts val="6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command/response interaction (like HTTP)</a:t>
            </a:r>
            <a:endParaRPr lang="en-US" altLang="en-US" dirty="0">
              <a:solidFill>
                <a:schemeClr val="accent2"/>
              </a:solidFill>
              <a:ea typeface="ＭＳ Ｐゴシック" panose="020B0600070205080204" pitchFamily="34" charset="-128"/>
            </a:endParaRPr>
          </a:p>
          <a:p>
            <a:pPr lvl="1">
              <a:spcBef>
                <a:spcPts val="600"/>
              </a:spcBef>
            </a:pPr>
            <a:r>
              <a:rPr lang="en-US" altLang="en-US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commands:</a:t>
            </a:r>
            <a:r>
              <a:rPr lang="en-US" altLang="en-US" dirty="0">
                <a:ea typeface="ＭＳ Ｐゴシック" panose="020B0600070205080204" pitchFamily="34" charset="-128"/>
              </a:rPr>
              <a:t> ASCII text</a:t>
            </a:r>
          </a:p>
          <a:p>
            <a:pPr lvl="1">
              <a:spcBef>
                <a:spcPts val="600"/>
              </a:spcBef>
            </a:pPr>
            <a:r>
              <a:rPr lang="en-US" altLang="en-US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response:</a:t>
            </a:r>
            <a:r>
              <a:rPr lang="en-US" altLang="en-US" dirty="0">
                <a:ea typeface="ＭＳ Ｐゴシック" panose="020B0600070205080204" pitchFamily="34" charset="-128"/>
              </a:rPr>
              <a:t> status code and phrase</a:t>
            </a:r>
          </a:p>
          <a:p>
            <a:pPr>
              <a:spcBef>
                <a:spcPts val="6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messages must be in 7-bit ASCI</a:t>
            </a:r>
            <a:endParaRPr lang="en-US" altLang="en-US" sz="3200" dirty="0"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596155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Scenario: Alice sends e-mail to Bob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78" name="Rectangle 3">
            <a:extLst>
              <a:ext uri="{FF2B5EF4-FFF2-40B4-BE49-F238E27FC236}">
                <a16:creationId xmlns:a16="http://schemas.microsoft.com/office/drawing/2014/main" xmlns="" id="{2933C95F-5827-EE44-BCBB-0C3F4EACA630}"/>
              </a:ext>
            </a:extLst>
          </p:cNvPr>
          <p:cNvSpPr txBox="1">
            <a:spLocks noChangeArrowheads="1"/>
          </p:cNvSpPr>
          <p:nvPr/>
        </p:nvSpPr>
        <p:spPr>
          <a:xfrm>
            <a:off x="707567" y="1371600"/>
            <a:ext cx="5071156" cy="115388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1) Alice uses UA to compose e-mail message “</a:t>
            </a:r>
            <a:r>
              <a:rPr lang="en-US" altLang="ja-JP" sz="2400" dirty="0">
                <a:ea typeface="ＭＳ Ｐゴシック" panose="020B0600070205080204" pitchFamily="34" charset="-128"/>
              </a:rPr>
              <a:t>to” </a:t>
            </a:r>
            <a:r>
              <a:rPr lang="en-US" altLang="ja-JP" sz="2400" dirty="0" err="1">
                <a:ea typeface="ＭＳ Ｐゴシック" panose="020B0600070205080204" pitchFamily="34" charset="-128"/>
              </a:rPr>
              <a:t>bob@someschool.edu</a:t>
            </a:r>
            <a:endParaRPr lang="en-US" altLang="ja-JP" sz="2400" dirty="0"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en-US" sz="2200" dirty="0">
              <a:ea typeface="ＭＳ Ｐゴシック" panose="020B0600070205080204" pitchFamily="34" charset="-128"/>
            </a:endParaRPr>
          </a:p>
        </p:txBody>
      </p:sp>
      <p:sp>
        <p:nvSpPr>
          <p:cNvPr id="79" name="Rectangle 4">
            <a:extLst>
              <a:ext uri="{FF2B5EF4-FFF2-40B4-BE49-F238E27FC236}">
                <a16:creationId xmlns:a16="http://schemas.microsoft.com/office/drawing/2014/main" xmlns="" id="{00C4C8B9-B23B-0F45-80BC-6C453604E658}"/>
              </a:ext>
            </a:extLst>
          </p:cNvPr>
          <p:cNvSpPr txBox="1">
            <a:spLocks noChangeArrowheads="1"/>
          </p:cNvSpPr>
          <p:nvPr/>
        </p:nvSpPr>
        <p:spPr>
          <a:xfrm>
            <a:off x="6638017" y="1329168"/>
            <a:ext cx="5071155" cy="94639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4) SMTP client sends Alice’</a:t>
            </a:r>
            <a:r>
              <a:rPr lang="en-US" altLang="ja-JP" sz="2400" dirty="0">
                <a:ea typeface="ＭＳ Ｐゴシック" panose="020B0600070205080204" pitchFamily="34" charset="-128"/>
              </a:rPr>
              <a:t>s message over the TCP </a:t>
            </a:r>
            <a:r>
              <a:rPr lang="en-US" altLang="ja-JP" dirty="0">
                <a:ea typeface="ＭＳ Ｐゴシック" panose="020B0600070205080204" pitchFamily="34" charset="-128"/>
                <a:cs typeface="Calibri" panose="020F0502020204030204" pitchFamily="34" charset="0"/>
              </a:rPr>
              <a:t>connection</a:t>
            </a:r>
            <a:endParaRPr lang="en-US" altLang="en-US" sz="24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  <p:grpSp>
        <p:nvGrpSpPr>
          <p:cNvPr id="255" name="Group 163">
            <a:extLst>
              <a:ext uri="{FF2B5EF4-FFF2-40B4-BE49-F238E27FC236}">
                <a16:creationId xmlns:a16="http://schemas.microsoft.com/office/drawing/2014/main" xmlns="" id="{08B09F9F-6FE5-BF42-B610-1A1E41F8BEC8}"/>
              </a:ext>
            </a:extLst>
          </p:cNvPr>
          <p:cNvGrpSpPr>
            <a:grpSpLocks/>
          </p:cNvGrpSpPr>
          <p:nvPr/>
        </p:nvGrpSpPr>
        <p:grpSpPr bwMode="auto">
          <a:xfrm>
            <a:off x="2304142" y="4981175"/>
            <a:ext cx="912813" cy="1054100"/>
            <a:chOff x="3574" y="550"/>
            <a:chExt cx="575" cy="664"/>
          </a:xfrm>
        </p:grpSpPr>
        <p:grpSp>
          <p:nvGrpSpPr>
            <p:cNvPr id="256" name="Group 164">
              <a:extLst>
                <a:ext uri="{FF2B5EF4-FFF2-40B4-BE49-F238E27FC236}">
                  <a16:creationId xmlns:a16="http://schemas.microsoft.com/office/drawing/2014/main" xmlns="" id="{CD93400A-6D0D-684A-BBBD-FEAE608B92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59" name="Picture 165" descr="desktop_computer_stylized_medium">
                <a:extLst>
                  <a:ext uri="{FF2B5EF4-FFF2-40B4-BE49-F238E27FC236}">
                    <a16:creationId xmlns:a16="http://schemas.microsoft.com/office/drawing/2014/main" xmlns="" id="{1D1523A8-A1B8-B44C-A152-2078AE01C6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0" name="Freeform 166">
                <a:extLst>
                  <a:ext uri="{FF2B5EF4-FFF2-40B4-BE49-F238E27FC236}">
                    <a16:creationId xmlns:a16="http://schemas.microsoft.com/office/drawing/2014/main" xmlns="" id="{A1C82B36-BF01-F24C-877C-0E2759BF1A5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57" name="Rectangle 115">
              <a:extLst>
                <a:ext uri="{FF2B5EF4-FFF2-40B4-BE49-F238E27FC236}">
                  <a16:creationId xmlns:a16="http://schemas.microsoft.com/office/drawing/2014/main" xmlns="" id="{D073CDC3-856E-F34F-AD4D-EDC68C2D2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58" name="Text Box 116">
              <a:extLst>
                <a:ext uri="{FF2B5EF4-FFF2-40B4-BE49-F238E27FC236}">
                  <a16:creationId xmlns:a16="http://schemas.microsoft.com/office/drawing/2014/main" xmlns="" id="{4645B38D-9175-AD49-B83F-C3999FDDBD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user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agent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261" name="Group 130">
            <a:extLst>
              <a:ext uri="{FF2B5EF4-FFF2-40B4-BE49-F238E27FC236}">
                <a16:creationId xmlns:a16="http://schemas.microsoft.com/office/drawing/2014/main" xmlns="" id="{13EDFF6E-21A5-9348-B003-C5417A1E00C5}"/>
              </a:ext>
            </a:extLst>
          </p:cNvPr>
          <p:cNvGrpSpPr>
            <a:grpSpLocks/>
          </p:cNvGrpSpPr>
          <p:nvPr/>
        </p:nvGrpSpPr>
        <p:grpSpPr bwMode="auto">
          <a:xfrm>
            <a:off x="6014130" y="4712887"/>
            <a:ext cx="511175" cy="693738"/>
            <a:chOff x="4140" y="429"/>
            <a:chExt cx="1425" cy="2396"/>
          </a:xfrm>
        </p:grpSpPr>
        <p:sp>
          <p:nvSpPr>
            <p:cNvPr id="262" name="Freeform 131">
              <a:extLst>
                <a:ext uri="{FF2B5EF4-FFF2-40B4-BE49-F238E27FC236}">
                  <a16:creationId xmlns:a16="http://schemas.microsoft.com/office/drawing/2014/main" xmlns="" id="{61FD7F4A-FEC8-9A47-901F-32CC32BCA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63" name="Rectangle 132">
              <a:extLst>
                <a:ext uri="{FF2B5EF4-FFF2-40B4-BE49-F238E27FC236}">
                  <a16:creationId xmlns:a16="http://schemas.microsoft.com/office/drawing/2014/main" xmlns="" id="{EB17B35A-AE03-6345-8385-2A3ECEF18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64" name="Freeform 133">
              <a:extLst>
                <a:ext uri="{FF2B5EF4-FFF2-40B4-BE49-F238E27FC236}">
                  <a16:creationId xmlns:a16="http://schemas.microsoft.com/office/drawing/2014/main" xmlns="" id="{C8ABAA8F-E55F-F847-A050-27D27A3D3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65" name="Freeform 134">
              <a:extLst>
                <a:ext uri="{FF2B5EF4-FFF2-40B4-BE49-F238E27FC236}">
                  <a16:creationId xmlns:a16="http://schemas.microsoft.com/office/drawing/2014/main" xmlns="" id="{CB3506B1-1B76-2B4F-92ED-0581496CD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66" name="Rectangle 135">
              <a:extLst>
                <a:ext uri="{FF2B5EF4-FFF2-40B4-BE49-F238E27FC236}">
                  <a16:creationId xmlns:a16="http://schemas.microsoft.com/office/drawing/2014/main" xmlns="" id="{C29141DC-E1CD-CA47-AA6E-3F36A18F8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267" name="Group 136">
              <a:extLst>
                <a:ext uri="{FF2B5EF4-FFF2-40B4-BE49-F238E27FC236}">
                  <a16:creationId xmlns:a16="http://schemas.microsoft.com/office/drawing/2014/main" xmlns="" id="{EAB3ACB3-470F-C840-AA24-17BBD7FD58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92" name="AutoShape 137">
                <a:extLst>
                  <a:ext uri="{FF2B5EF4-FFF2-40B4-BE49-F238E27FC236}">
                    <a16:creationId xmlns:a16="http://schemas.microsoft.com/office/drawing/2014/main" xmlns="" id="{C020859C-D00D-7B45-962D-E8E3647B9B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3" name="AutoShape 138">
                <a:extLst>
                  <a:ext uri="{FF2B5EF4-FFF2-40B4-BE49-F238E27FC236}">
                    <a16:creationId xmlns:a16="http://schemas.microsoft.com/office/drawing/2014/main" xmlns="" id="{60E64D16-745C-7C42-81A9-0C7B93AE07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68" name="Rectangle 139">
              <a:extLst>
                <a:ext uri="{FF2B5EF4-FFF2-40B4-BE49-F238E27FC236}">
                  <a16:creationId xmlns:a16="http://schemas.microsoft.com/office/drawing/2014/main" xmlns="" id="{F1D855D2-71AC-984F-9A72-50E8ABC1B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269" name="Group 140">
              <a:extLst>
                <a:ext uri="{FF2B5EF4-FFF2-40B4-BE49-F238E27FC236}">
                  <a16:creationId xmlns:a16="http://schemas.microsoft.com/office/drawing/2014/main" xmlns="" id="{20BB9E40-6067-8049-AD58-FBE8FE00A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90" name="AutoShape 141">
                <a:extLst>
                  <a:ext uri="{FF2B5EF4-FFF2-40B4-BE49-F238E27FC236}">
                    <a16:creationId xmlns:a16="http://schemas.microsoft.com/office/drawing/2014/main" xmlns="" id="{2B68BE35-A43A-9149-A03B-07B187ED18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1" name="AutoShape 142">
                <a:extLst>
                  <a:ext uri="{FF2B5EF4-FFF2-40B4-BE49-F238E27FC236}">
                    <a16:creationId xmlns:a16="http://schemas.microsoft.com/office/drawing/2014/main" xmlns="" id="{43D29C0B-DA7B-C74E-A16B-88D6DA5FC3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70" name="Rectangle 143">
              <a:extLst>
                <a:ext uri="{FF2B5EF4-FFF2-40B4-BE49-F238E27FC236}">
                  <a16:creationId xmlns:a16="http://schemas.microsoft.com/office/drawing/2014/main" xmlns="" id="{0F5C4F7B-5FAA-1840-9009-D9D57F79D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71" name="Rectangle 144">
              <a:extLst>
                <a:ext uri="{FF2B5EF4-FFF2-40B4-BE49-F238E27FC236}">
                  <a16:creationId xmlns:a16="http://schemas.microsoft.com/office/drawing/2014/main" xmlns="" id="{BF7A105A-0D0F-D945-913B-9DE9C972C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272" name="Group 145">
              <a:extLst>
                <a:ext uri="{FF2B5EF4-FFF2-40B4-BE49-F238E27FC236}">
                  <a16:creationId xmlns:a16="http://schemas.microsoft.com/office/drawing/2014/main" xmlns="" id="{10CBB227-95A4-914B-BF9A-A9635D613B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88" name="AutoShape 146">
                <a:extLst>
                  <a:ext uri="{FF2B5EF4-FFF2-40B4-BE49-F238E27FC236}">
                    <a16:creationId xmlns:a16="http://schemas.microsoft.com/office/drawing/2014/main" xmlns="" id="{DB5D7EB6-D073-2D4B-B3BB-04D89CC597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89" name="AutoShape 147">
                <a:extLst>
                  <a:ext uri="{FF2B5EF4-FFF2-40B4-BE49-F238E27FC236}">
                    <a16:creationId xmlns:a16="http://schemas.microsoft.com/office/drawing/2014/main" xmlns="" id="{A0CFD582-078B-8445-A2D9-CF20F92CDD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73" name="Freeform 148">
              <a:extLst>
                <a:ext uri="{FF2B5EF4-FFF2-40B4-BE49-F238E27FC236}">
                  <a16:creationId xmlns:a16="http://schemas.microsoft.com/office/drawing/2014/main" xmlns="" id="{947FD5AC-F03D-0B44-BCDE-4549BC612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274" name="Group 149">
              <a:extLst>
                <a:ext uri="{FF2B5EF4-FFF2-40B4-BE49-F238E27FC236}">
                  <a16:creationId xmlns:a16="http://schemas.microsoft.com/office/drawing/2014/main" xmlns="" id="{9B44B04A-F8ED-0347-ADCB-1B8E61433E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86" name="AutoShape 150">
                <a:extLst>
                  <a:ext uri="{FF2B5EF4-FFF2-40B4-BE49-F238E27FC236}">
                    <a16:creationId xmlns:a16="http://schemas.microsoft.com/office/drawing/2014/main" xmlns="" id="{636BD840-6281-2248-803C-E55A27601C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87" name="AutoShape 151">
                <a:extLst>
                  <a:ext uri="{FF2B5EF4-FFF2-40B4-BE49-F238E27FC236}">
                    <a16:creationId xmlns:a16="http://schemas.microsoft.com/office/drawing/2014/main" xmlns="" id="{03A123BA-E3B3-1D47-9672-817DDBA916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75" name="Rectangle 152">
              <a:extLst>
                <a:ext uri="{FF2B5EF4-FFF2-40B4-BE49-F238E27FC236}">
                  <a16:creationId xmlns:a16="http://schemas.microsoft.com/office/drawing/2014/main" xmlns="" id="{4D20038F-2D96-1F44-8783-5BAADC6A3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76" name="Freeform 153">
              <a:extLst>
                <a:ext uri="{FF2B5EF4-FFF2-40B4-BE49-F238E27FC236}">
                  <a16:creationId xmlns:a16="http://schemas.microsoft.com/office/drawing/2014/main" xmlns="" id="{ACF47485-E420-FE49-A587-FD7E91369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77" name="Freeform 154">
              <a:extLst>
                <a:ext uri="{FF2B5EF4-FFF2-40B4-BE49-F238E27FC236}">
                  <a16:creationId xmlns:a16="http://schemas.microsoft.com/office/drawing/2014/main" xmlns="" id="{28316736-14D9-7F43-A8EA-196B79863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78" name="Oval 155">
              <a:extLst>
                <a:ext uri="{FF2B5EF4-FFF2-40B4-BE49-F238E27FC236}">
                  <a16:creationId xmlns:a16="http://schemas.microsoft.com/office/drawing/2014/main" xmlns="" id="{2722AD07-821C-CB4C-9B0B-DAF52F981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79" name="Freeform 156">
              <a:extLst>
                <a:ext uri="{FF2B5EF4-FFF2-40B4-BE49-F238E27FC236}">
                  <a16:creationId xmlns:a16="http://schemas.microsoft.com/office/drawing/2014/main" xmlns="" id="{AB77166F-9EFA-304A-B417-50C6912B7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80" name="AutoShape 157">
              <a:extLst>
                <a:ext uri="{FF2B5EF4-FFF2-40B4-BE49-F238E27FC236}">
                  <a16:creationId xmlns:a16="http://schemas.microsoft.com/office/drawing/2014/main" xmlns="" id="{D3E26CDB-2B77-8541-94DF-35B22CFF7E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81" name="AutoShape 158">
              <a:extLst>
                <a:ext uri="{FF2B5EF4-FFF2-40B4-BE49-F238E27FC236}">
                  <a16:creationId xmlns:a16="http://schemas.microsoft.com/office/drawing/2014/main" xmlns="" id="{FF893C65-60BF-8948-93D4-F47C74AAB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82" name="Oval 159">
              <a:extLst>
                <a:ext uri="{FF2B5EF4-FFF2-40B4-BE49-F238E27FC236}">
                  <a16:creationId xmlns:a16="http://schemas.microsoft.com/office/drawing/2014/main" xmlns="" id="{DD307CA4-5E6F-9742-9FA0-4ABF90FAE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83" name="Oval 160">
              <a:extLst>
                <a:ext uri="{FF2B5EF4-FFF2-40B4-BE49-F238E27FC236}">
                  <a16:creationId xmlns:a16="http://schemas.microsoft.com/office/drawing/2014/main" xmlns="" id="{3A77FE5B-B51A-4746-8BEB-840D217B5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84" name="Oval 161">
              <a:extLst>
                <a:ext uri="{FF2B5EF4-FFF2-40B4-BE49-F238E27FC236}">
                  <a16:creationId xmlns:a16="http://schemas.microsoft.com/office/drawing/2014/main" xmlns="" id="{B7459A07-79C7-4A4E-8631-AD543B812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85" name="Rectangle 162">
              <a:extLst>
                <a:ext uri="{FF2B5EF4-FFF2-40B4-BE49-F238E27FC236}">
                  <a16:creationId xmlns:a16="http://schemas.microsoft.com/office/drawing/2014/main" xmlns="" id="{D905B9A3-8633-4345-B7CC-84D2E540F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294" name="Group 97">
            <a:extLst>
              <a:ext uri="{FF2B5EF4-FFF2-40B4-BE49-F238E27FC236}">
                <a16:creationId xmlns:a16="http://schemas.microsoft.com/office/drawing/2014/main" xmlns="" id="{ADB3DE3D-4165-3B46-BB9B-5858B8FFA369}"/>
              </a:ext>
            </a:extLst>
          </p:cNvPr>
          <p:cNvGrpSpPr>
            <a:grpSpLocks/>
          </p:cNvGrpSpPr>
          <p:nvPr/>
        </p:nvGrpSpPr>
        <p:grpSpPr bwMode="auto">
          <a:xfrm>
            <a:off x="3836080" y="4768450"/>
            <a:ext cx="511175" cy="693737"/>
            <a:chOff x="4140" y="429"/>
            <a:chExt cx="1425" cy="2396"/>
          </a:xfrm>
        </p:grpSpPr>
        <p:sp>
          <p:nvSpPr>
            <p:cNvPr id="295" name="Freeform 98">
              <a:extLst>
                <a:ext uri="{FF2B5EF4-FFF2-40B4-BE49-F238E27FC236}">
                  <a16:creationId xmlns:a16="http://schemas.microsoft.com/office/drawing/2014/main" xmlns="" id="{03202765-8544-C841-9C63-3A1DA333E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96" name="Rectangle 99">
              <a:extLst>
                <a:ext uri="{FF2B5EF4-FFF2-40B4-BE49-F238E27FC236}">
                  <a16:creationId xmlns:a16="http://schemas.microsoft.com/office/drawing/2014/main" xmlns="" id="{CAE8C355-09FA-4C47-BBAF-D5EDAD329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97" name="Freeform 100">
              <a:extLst>
                <a:ext uri="{FF2B5EF4-FFF2-40B4-BE49-F238E27FC236}">
                  <a16:creationId xmlns:a16="http://schemas.microsoft.com/office/drawing/2014/main" xmlns="" id="{1813AF87-1962-CC41-9EA2-E9AAF9C15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98" name="Freeform 101">
              <a:extLst>
                <a:ext uri="{FF2B5EF4-FFF2-40B4-BE49-F238E27FC236}">
                  <a16:creationId xmlns:a16="http://schemas.microsoft.com/office/drawing/2014/main" xmlns="" id="{635DA424-468C-B74D-A71E-8D5238607F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99" name="Rectangle 102">
              <a:extLst>
                <a:ext uri="{FF2B5EF4-FFF2-40B4-BE49-F238E27FC236}">
                  <a16:creationId xmlns:a16="http://schemas.microsoft.com/office/drawing/2014/main" xmlns="" id="{D1116DD3-4725-3F42-9140-A650EBC88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00" name="Group 103">
              <a:extLst>
                <a:ext uri="{FF2B5EF4-FFF2-40B4-BE49-F238E27FC236}">
                  <a16:creationId xmlns:a16="http://schemas.microsoft.com/office/drawing/2014/main" xmlns="" id="{96E3F381-15B8-1B49-A258-044D4112E7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5" name="AutoShape 104">
                <a:extLst>
                  <a:ext uri="{FF2B5EF4-FFF2-40B4-BE49-F238E27FC236}">
                    <a16:creationId xmlns:a16="http://schemas.microsoft.com/office/drawing/2014/main" xmlns="" id="{D6B0BF9E-9CBE-1549-B2D8-839D9B2C5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26" name="AutoShape 105">
                <a:extLst>
                  <a:ext uri="{FF2B5EF4-FFF2-40B4-BE49-F238E27FC236}">
                    <a16:creationId xmlns:a16="http://schemas.microsoft.com/office/drawing/2014/main" xmlns="" id="{A0661E37-0B6D-1049-81DE-EB828721F1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01" name="Rectangle 106">
              <a:extLst>
                <a:ext uri="{FF2B5EF4-FFF2-40B4-BE49-F238E27FC236}">
                  <a16:creationId xmlns:a16="http://schemas.microsoft.com/office/drawing/2014/main" xmlns="" id="{BAB9B843-66F5-2248-A3E2-DF01D3325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02" name="Group 107">
              <a:extLst>
                <a:ext uri="{FF2B5EF4-FFF2-40B4-BE49-F238E27FC236}">
                  <a16:creationId xmlns:a16="http://schemas.microsoft.com/office/drawing/2014/main" xmlns="" id="{6518B94D-305C-3E4D-8DCB-3FC99FAF96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3" name="AutoShape 108">
                <a:extLst>
                  <a:ext uri="{FF2B5EF4-FFF2-40B4-BE49-F238E27FC236}">
                    <a16:creationId xmlns:a16="http://schemas.microsoft.com/office/drawing/2014/main" xmlns="" id="{515F809F-C8CD-E74B-A09F-05D4DAD5C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24" name="AutoShape 109">
                <a:extLst>
                  <a:ext uri="{FF2B5EF4-FFF2-40B4-BE49-F238E27FC236}">
                    <a16:creationId xmlns:a16="http://schemas.microsoft.com/office/drawing/2014/main" xmlns="" id="{1541720E-86CE-9D4E-B90E-2C12EBF7C8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03" name="Rectangle 110">
              <a:extLst>
                <a:ext uri="{FF2B5EF4-FFF2-40B4-BE49-F238E27FC236}">
                  <a16:creationId xmlns:a16="http://schemas.microsoft.com/office/drawing/2014/main" xmlns="" id="{F81C1D2B-CFBB-FE4E-BEAF-3C01C171C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04" name="Rectangle 111">
              <a:extLst>
                <a:ext uri="{FF2B5EF4-FFF2-40B4-BE49-F238E27FC236}">
                  <a16:creationId xmlns:a16="http://schemas.microsoft.com/office/drawing/2014/main" xmlns="" id="{7BD2FBC8-D08A-B246-BE8D-016678697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05" name="Group 112">
              <a:extLst>
                <a:ext uri="{FF2B5EF4-FFF2-40B4-BE49-F238E27FC236}">
                  <a16:creationId xmlns:a16="http://schemas.microsoft.com/office/drawing/2014/main" xmlns="" id="{D3D80363-2E2A-2849-972A-EE8ED7BFA4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21" name="AutoShape 113">
                <a:extLst>
                  <a:ext uri="{FF2B5EF4-FFF2-40B4-BE49-F238E27FC236}">
                    <a16:creationId xmlns:a16="http://schemas.microsoft.com/office/drawing/2014/main" xmlns="" id="{0BD3B318-134A-A84C-96F2-1BDB9863DC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22" name="AutoShape 114">
                <a:extLst>
                  <a:ext uri="{FF2B5EF4-FFF2-40B4-BE49-F238E27FC236}">
                    <a16:creationId xmlns:a16="http://schemas.microsoft.com/office/drawing/2014/main" xmlns="" id="{27120C70-DCE9-2E4D-B0C9-DD055D0981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06" name="Freeform 115">
              <a:extLst>
                <a:ext uri="{FF2B5EF4-FFF2-40B4-BE49-F238E27FC236}">
                  <a16:creationId xmlns:a16="http://schemas.microsoft.com/office/drawing/2014/main" xmlns="" id="{32116D06-1E4E-6E40-B6AE-33AC57583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07" name="Group 116">
              <a:extLst>
                <a:ext uri="{FF2B5EF4-FFF2-40B4-BE49-F238E27FC236}">
                  <a16:creationId xmlns:a16="http://schemas.microsoft.com/office/drawing/2014/main" xmlns="" id="{5BCFC18E-7FE4-8B45-A160-7D7B86F88D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9" name="AutoShape 117">
                <a:extLst>
                  <a:ext uri="{FF2B5EF4-FFF2-40B4-BE49-F238E27FC236}">
                    <a16:creationId xmlns:a16="http://schemas.microsoft.com/office/drawing/2014/main" xmlns="" id="{A5FD1A90-49C4-2948-9007-9990A218BE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20" name="AutoShape 118">
                <a:extLst>
                  <a:ext uri="{FF2B5EF4-FFF2-40B4-BE49-F238E27FC236}">
                    <a16:creationId xmlns:a16="http://schemas.microsoft.com/office/drawing/2014/main" xmlns="" id="{AD5A551B-E827-BE40-871C-2FE9EA42BC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08" name="Rectangle 119">
              <a:extLst>
                <a:ext uri="{FF2B5EF4-FFF2-40B4-BE49-F238E27FC236}">
                  <a16:creationId xmlns:a16="http://schemas.microsoft.com/office/drawing/2014/main" xmlns="" id="{9E89F03E-4741-2E45-BBF4-F9CEAC095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09" name="Freeform 120">
              <a:extLst>
                <a:ext uri="{FF2B5EF4-FFF2-40B4-BE49-F238E27FC236}">
                  <a16:creationId xmlns:a16="http://schemas.microsoft.com/office/drawing/2014/main" xmlns="" id="{5B36F789-D673-924A-B6E2-89FF2E71B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10" name="Freeform 121">
              <a:extLst>
                <a:ext uri="{FF2B5EF4-FFF2-40B4-BE49-F238E27FC236}">
                  <a16:creationId xmlns:a16="http://schemas.microsoft.com/office/drawing/2014/main" xmlns="" id="{575FFFE5-59E8-454D-8E1B-8661926F3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11" name="Oval 122">
              <a:extLst>
                <a:ext uri="{FF2B5EF4-FFF2-40B4-BE49-F238E27FC236}">
                  <a16:creationId xmlns:a16="http://schemas.microsoft.com/office/drawing/2014/main" xmlns="" id="{01273880-520A-0D47-94ED-5792308AEE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12" name="Freeform 123">
              <a:extLst>
                <a:ext uri="{FF2B5EF4-FFF2-40B4-BE49-F238E27FC236}">
                  <a16:creationId xmlns:a16="http://schemas.microsoft.com/office/drawing/2014/main" xmlns="" id="{20B4A8A9-719B-B94A-84E0-FEDC33E21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13" name="AutoShape 124">
              <a:extLst>
                <a:ext uri="{FF2B5EF4-FFF2-40B4-BE49-F238E27FC236}">
                  <a16:creationId xmlns:a16="http://schemas.microsoft.com/office/drawing/2014/main" xmlns="" id="{E2C42425-B3EE-8146-91D1-2DD406A09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14" name="AutoShape 125">
              <a:extLst>
                <a:ext uri="{FF2B5EF4-FFF2-40B4-BE49-F238E27FC236}">
                  <a16:creationId xmlns:a16="http://schemas.microsoft.com/office/drawing/2014/main" xmlns="" id="{4F76F24A-FC5D-6A4F-9463-E77748FD5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15" name="Oval 126">
              <a:extLst>
                <a:ext uri="{FF2B5EF4-FFF2-40B4-BE49-F238E27FC236}">
                  <a16:creationId xmlns:a16="http://schemas.microsoft.com/office/drawing/2014/main" xmlns="" id="{1D9B7E36-CAB9-0E4B-B681-F76708058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16" name="Oval 127">
              <a:extLst>
                <a:ext uri="{FF2B5EF4-FFF2-40B4-BE49-F238E27FC236}">
                  <a16:creationId xmlns:a16="http://schemas.microsoft.com/office/drawing/2014/main" xmlns="" id="{E3545956-0C42-C345-87E7-B325418ED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17" name="Oval 128">
              <a:extLst>
                <a:ext uri="{FF2B5EF4-FFF2-40B4-BE49-F238E27FC236}">
                  <a16:creationId xmlns:a16="http://schemas.microsoft.com/office/drawing/2014/main" xmlns="" id="{E67EEB31-8E9F-7949-9AEE-953592735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18" name="Rectangle 129">
              <a:extLst>
                <a:ext uri="{FF2B5EF4-FFF2-40B4-BE49-F238E27FC236}">
                  <a16:creationId xmlns:a16="http://schemas.microsoft.com/office/drawing/2014/main" xmlns="" id="{5E38596A-D6EE-8A43-B103-6CC1A20DB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27" name="Group 20">
            <a:extLst>
              <a:ext uri="{FF2B5EF4-FFF2-40B4-BE49-F238E27FC236}">
                <a16:creationId xmlns:a16="http://schemas.microsoft.com/office/drawing/2014/main" xmlns="" id="{6B376882-67D1-6642-B577-EE5384FDD0DA}"/>
              </a:ext>
            </a:extLst>
          </p:cNvPr>
          <p:cNvGrpSpPr>
            <a:grpSpLocks/>
          </p:cNvGrpSpPr>
          <p:nvPr/>
        </p:nvGrpSpPr>
        <p:grpSpPr bwMode="auto">
          <a:xfrm>
            <a:off x="3969430" y="5055787"/>
            <a:ext cx="809625" cy="1049338"/>
            <a:chOff x="4296" y="2627"/>
            <a:chExt cx="510" cy="661"/>
          </a:xfrm>
        </p:grpSpPr>
        <p:sp>
          <p:nvSpPr>
            <p:cNvPr id="328" name="Rectangle 21">
              <a:extLst>
                <a:ext uri="{FF2B5EF4-FFF2-40B4-BE49-F238E27FC236}">
                  <a16:creationId xmlns:a16="http://schemas.microsoft.com/office/drawing/2014/main" xmlns="" id="{CC5D394C-77F3-944C-B991-14BF75531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29" name="Text Box 22">
              <a:extLst>
                <a:ext uri="{FF2B5EF4-FFF2-40B4-BE49-F238E27FC236}">
                  <a16:creationId xmlns:a16="http://schemas.microsoft.com/office/drawing/2014/main" xmlns="" id="{EE677E13-F5D8-F64B-8BF4-7DF73BB03D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mail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server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0" name="Rectangle 23">
              <a:extLst>
                <a:ext uri="{FF2B5EF4-FFF2-40B4-BE49-F238E27FC236}">
                  <a16:creationId xmlns:a16="http://schemas.microsoft.com/office/drawing/2014/main" xmlns="" id="{7D15F646-E03A-774B-A508-1EF0B3C4C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1" name="Line 24">
              <a:extLst>
                <a:ext uri="{FF2B5EF4-FFF2-40B4-BE49-F238E27FC236}">
                  <a16:creationId xmlns:a16="http://schemas.microsoft.com/office/drawing/2014/main" xmlns="" id="{AE3EF45E-8540-9B48-AAEF-B5B93F92C2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2" name="Line 25">
              <a:extLst>
                <a:ext uri="{FF2B5EF4-FFF2-40B4-BE49-F238E27FC236}">
                  <a16:creationId xmlns:a16="http://schemas.microsoft.com/office/drawing/2014/main" xmlns="" id="{9A3B4EF6-63F2-0947-B7B6-7FADC44E64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3" name="Line 26">
              <a:extLst>
                <a:ext uri="{FF2B5EF4-FFF2-40B4-BE49-F238E27FC236}">
                  <a16:creationId xmlns:a16="http://schemas.microsoft.com/office/drawing/2014/main" xmlns="" id="{28713178-2168-3342-8EA0-1EFAEB77CF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4" name="Line 27">
              <a:extLst>
                <a:ext uri="{FF2B5EF4-FFF2-40B4-BE49-F238E27FC236}">
                  <a16:creationId xmlns:a16="http://schemas.microsoft.com/office/drawing/2014/main" xmlns="" id="{7F512291-0783-2C4D-A8BC-E711760A29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5" name="Line 28">
              <a:extLst>
                <a:ext uri="{FF2B5EF4-FFF2-40B4-BE49-F238E27FC236}">
                  <a16:creationId xmlns:a16="http://schemas.microsoft.com/office/drawing/2014/main" xmlns="" id="{C7F7AFBC-09B9-1A4A-B167-5E31466A0B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6" name="Line 29">
              <a:extLst>
                <a:ext uri="{FF2B5EF4-FFF2-40B4-BE49-F238E27FC236}">
                  <a16:creationId xmlns:a16="http://schemas.microsoft.com/office/drawing/2014/main" xmlns="" id="{36AD3A7A-6001-B248-909D-97FF4FEC88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7" name="Line 30">
              <a:extLst>
                <a:ext uri="{FF2B5EF4-FFF2-40B4-BE49-F238E27FC236}">
                  <a16:creationId xmlns:a16="http://schemas.microsoft.com/office/drawing/2014/main" xmlns="" id="{AAD9F1B0-F0AE-1E4A-9E8B-7B0411EAF1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8" name="Rectangle 31">
              <a:extLst>
                <a:ext uri="{FF2B5EF4-FFF2-40B4-BE49-F238E27FC236}">
                  <a16:creationId xmlns:a16="http://schemas.microsoft.com/office/drawing/2014/main" xmlns="" id="{3F9EB85C-0662-2944-B53C-B5C5F284A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9" name="Rectangle 32">
              <a:extLst>
                <a:ext uri="{FF2B5EF4-FFF2-40B4-BE49-F238E27FC236}">
                  <a16:creationId xmlns:a16="http://schemas.microsoft.com/office/drawing/2014/main" xmlns="" id="{E9D294E7-8C79-5A40-B5A2-9B0D1E8C6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40" name="Rectangle 33">
              <a:extLst>
                <a:ext uri="{FF2B5EF4-FFF2-40B4-BE49-F238E27FC236}">
                  <a16:creationId xmlns:a16="http://schemas.microsoft.com/office/drawing/2014/main" xmlns="" id="{1ECAEAF4-8B77-874F-AE38-AF22ED262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41" name="Rectangle 34">
              <a:extLst>
                <a:ext uri="{FF2B5EF4-FFF2-40B4-BE49-F238E27FC236}">
                  <a16:creationId xmlns:a16="http://schemas.microsoft.com/office/drawing/2014/main" xmlns="" id="{DA0B2421-1373-8547-9A4B-4EF52BDE0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42" name="Rectangle 35">
              <a:extLst>
                <a:ext uri="{FF2B5EF4-FFF2-40B4-BE49-F238E27FC236}">
                  <a16:creationId xmlns:a16="http://schemas.microsoft.com/office/drawing/2014/main" xmlns="" id="{7C2F1B41-189C-4A43-BEF6-C6BE6D5D3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pic>
        <p:nvPicPr>
          <p:cNvPr id="343" name="Picture 36" descr="Alice">
            <a:extLst>
              <a:ext uri="{FF2B5EF4-FFF2-40B4-BE49-F238E27FC236}">
                <a16:creationId xmlns:a16="http://schemas.microsoft.com/office/drawing/2014/main" xmlns="" id="{63AFF8CB-097F-3846-84FD-E89880F62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367" y="5220887"/>
            <a:ext cx="561975" cy="69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4" name="Picture 37" descr="Bob">
            <a:extLst>
              <a:ext uri="{FF2B5EF4-FFF2-40B4-BE49-F238E27FC236}">
                <a16:creationId xmlns:a16="http://schemas.microsoft.com/office/drawing/2014/main" xmlns="" id="{67A94867-6C86-964D-8B53-832FD2915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4180" y="5125637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45" name="Group 48">
            <a:extLst>
              <a:ext uri="{FF2B5EF4-FFF2-40B4-BE49-F238E27FC236}">
                <a16:creationId xmlns:a16="http://schemas.microsoft.com/office/drawing/2014/main" xmlns="" id="{EEADEB4C-0DE5-7A47-B0C1-F7A8830D9591}"/>
              </a:ext>
            </a:extLst>
          </p:cNvPr>
          <p:cNvGrpSpPr>
            <a:grpSpLocks/>
          </p:cNvGrpSpPr>
          <p:nvPr/>
        </p:nvGrpSpPr>
        <p:grpSpPr bwMode="auto">
          <a:xfrm>
            <a:off x="6160180" y="5001812"/>
            <a:ext cx="809625" cy="1049338"/>
            <a:chOff x="4296" y="2627"/>
            <a:chExt cx="510" cy="661"/>
          </a:xfrm>
        </p:grpSpPr>
        <p:sp>
          <p:nvSpPr>
            <p:cNvPr id="346" name="Rectangle 49">
              <a:extLst>
                <a:ext uri="{FF2B5EF4-FFF2-40B4-BE49-F238E27FC236}">
                  <a16:creationId xmlns:a16="http://schemas.microsoft.com/office/drawing/2014/main" xmlns="" id="{4564DF36-9849-6946-BAA4-346D46ED3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47" name="Text Box 50">
              <a:extLst>
                <a:ext uri="{FF2B5EF4-FFF2-40B4-BE49-F238E27FC236}">
                  <a16:creationId xmlns:a16="http://schemas.microsoft.com/office/drawing/2014/main" xmlns="" id="{95B494F8-B148-1E44-ABE8-6EC09DFF7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mail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server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48" name="Rectangle 51">
              <a:extLst>
                <a:ext uri="{FF2B5EF4-FFF2-40B4-BE49-F238E27FC236}">
                  <a16:creationId xmlns:a16="http://schemas.microsoft.com/office/drawing/2014/main" xmlns="" id="{1B9214B0-3A96-5243-BB24-2F3F43E20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49" name="Line 52">
              <a:extLst>
                <a:ext uri="{FF2B5EF4-FFF2-40B4-BE49-F238E27FC236}">
                  <a16:creationId xmlns:a16="http://schemas.microsoft.com/office/drawing/2014/main" xmlns="" id="{D4C180E7-B105-D24F-9DB1-1A50C299AE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50" name="Line 53">
              <a:extLst>
                <a:ext uri="{FF2B5EF4-FFF2-40B4-BE49-F238E27FC236}">
                  <a16:creationId xmlns:a16="http://schemas.microsoft.com/office/drawing/2014/main" xmlns="" id="{165FB39B-14E6-9043-A51D-266CB4D4D8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51" name="Line 54">
              <a:extLst>
                <a:ext uri="{FF2B5EF4-FFF2-40B4-BE49-F238E27FC236}">
                  <a16:creationId xmlns:a16="http://schemas.microsoft.com/office/drawing/2014/main" xmlns="" id="{B0C3A7D7-CF8F-CD41-B9DD-E546D2C03D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52" name="Line 55">
              <a:extLst>
                <a:ext uri="{FF2B5EF4-FFF2-40B4-BE49-F238E27FC236}">
                  <a16:creationId xmlns:a16="http://schemas.microsoft.com/office/drawing/2014/main" xmlns="" id="{079A54A6-69B3-6245-A536-821615DFA1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53" name="Line 56">
              <a:extLst>
                <a:ext uri="{FF2B5EF4-FFF2-40B4-BE49-F238E27FC236}">
                  <a16:creationId xmlns:a16="http://schemas.microsoft.com/office/drawing/2014/main" xmlns="" id="{50C02768-BE49-0E48-AB58-3ED05EA97C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54" name="Line 57">
              <a:extLst>
                <a:ext uri="{FF2B5EF4-FFF2-40B4-BE49-F238E27FC236}">
                  <a16:creationId xmlns:a16="http://schemas.microsoft.com/office/drawing/2014/main" xmlns="" id="{5765AB2A-57FC-9647-A5F1-3A42797BED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55" name="Line 58">
              <a:extLst>
                <a:ext uri="{FF2B5EF4-FFF2-40B4-BE49-F238E27FC236}">
                  <a16:creationId xmlns:a16="http://schemas.microsoft.com/office/drawing/2014/main" xmlns="" id="{1D662A5A-250B-5C43-A940-153B333F9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56" name="Rectangle 59">
              <a:extLst>
                <a:ext uri="{FF2B5EF4-FFF2-40B4-BE49-F238E27FC236}">
                  <a16:creationId xmlns:a16="http://schemas.microsoft.com/office/drawing/2014/main" xmlns="" id="{C467817D-72BB-304A-907C-15078ACB9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57" name="Rectangle 60">
              <a:extLst>
                <a:ext uri="{FF2B5EF4-FFF2-40B4-BE49-F238E27FC236}">
                  <a16:creationId xmlns:a16="http://schemas.microsoft.com/office/drawing/2014/main" xmlns="" id="{C8B9E0B3-EA63-0E42-BAC5-67850547E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58" name="Rectangle 61">
              <a:extLst>
                <a:ext uri="{FF2B5EF4-FFF2-40B4-BE49-F238E27FC236}">
                  <a16:creationId xmlns:a16="http://schemas.microsoft.com/office/drawing/2014/main" xmlns="" id="{43E44E4D-C23B-D34F-9AD2-5DFAD5B50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59" name="Rectangle 62">
              <a:extLst>
                <a:ext uri="{FF2B5EF4-FFF2-40B4-BE49-F238E27FC236}">
                  <a16:creationId xmlns:a16="http://schemas.microsoft.com/office/drawing/2014/main" xmlns="" id="{34AACE8E-FCF4-2846-85E1-B707176DB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60" name="Rectangle 63">
              <a:extLst>
                <a:ext uri="{FF2B5EF4-FFF2-40B4-BE49-F238E27FC236}">
                  <a16:creationId xmlns:a16="http://schemas.microsoft.com/office/drawing/2014/main" xmlns="" id="{C6EFAB4C-6FC0-5A44-9BD5-6EF789ED3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361" name="Line 69">
            <a:extLst>
              <a:ext uri="{FF2B5EF4-FFF2-40B4-BE49-F238E27FC236}">
                <a16:creationId xmlns:a16="http://schemas.microsoft.com/office/drawing/2014/main" xmlns="" id="{B12BA932-5325-874B-B19A-B088808F43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9955" y="5593950"/>
            <a:ext cx="892175" cy="146050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2" name="Line 70">
            <a:extLst>
              <a:ext uri="{FF2B5EF4-FFF2-40B4-BE49-F238E27FC236}">
                <a16:creationId xmlns:a16="http://schemas.microsoft.com/office/drawing/2014/main" xmlns="" id="{9B0EC571-15F5-F54A-9590-2FC0C5F8726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5880" y="5728887"/>
            <a:ext cx="1379537" cy="219075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3" name="Line 71">
            <a:extLst>
              <a:ext uri="{FF2B5EF4-FFF2-40B4-BE49-F238E27FC236}">
                <a16:creationId xmlns:a16="http://schemas.microsoft.com/office/drawing/2014/main" xmlns="" id="{0CC82D8C-ED1C-6E42-9BF1-DA1481F0EE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06317" y="5508225"/>
            <a:ext cx="1027113" cy="427037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4" name="Oval 72">
            <a:extLst>
              <a:ext uri="{FF2B5EF4-FFF2-40B4-BE49-F238E27FC236}">
                <a16:creationId xmlns:a16="http://schemas.microsoft.com/office/drawing/2014/main" xmlns="" id="{0B743518-B7A3-D649-BBB1-081C12DD5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005" y="5043087"/>
            <a:ext cx="292100" cy="2444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5" name="Oval 74">
            <a:extLst>
              <a:ext uri="{FF2B5EF4-FFF2-40B4-BE49-F238E27FC236}">
                <a16:creationId xmlns:a16="http://schemas.microsoft.com/office/drawing/2014/main" xmlns="" id="{DC2768BB-DD45-4E4B-BBD1-C179D968F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9667" y="5538387"/>
            <a:ext cx="292100" cy="2444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6" name="Oval 75">
            <a:extLst>
              <a:ext uri="{FF2B5EF4-FFF2-40B4-BE49-F238E27FC236}">
                <a16:creationId xmlns:a16="http://schemas.microsoft.com/office/drawing/2014/main" xmlns="" id="{FC69D002-21E2-4843-8E47-2D7A1DFF3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1205" y="5617762"/>
            <a:ext cx="292100" cy="2444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3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7" name="Oval 76">
            <a:extLst>
              <a:ext uri="{FF2B5EF4-FFF2-40B4-BE49-F238E27FC236}">
                <a16:creationId xmlns:a16="http://schemas.microsoft.com/office/drawing/2014/main" xmlns="" id="{81E42442-3779-D54A-9503-408605D98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2455" y="5703487"/>
            <a:ext cx="292100" cy="2444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4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8" name="Oval 77">
            <a:extLst>
              <a:ext uri="{FF2B5EF4-FFF2-40B4-BE49-F238E27FC236}">
                <a16:creationId xmlns:a16="http://schemas.microsoft.com/office/drawing/2014/main" xmlns="" id="{B036CC3D-838C-C54C-AC10-70245E28B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7355" y="6035275"/>
            <a:ext cx="292100" cy="2444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5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9" name="Oval 78">
            <a:extLst>
              <a:ext uri="{FF2B5EF4-FFF2-40B4-BE49-F238E27FC236}">
                <a16:creationId xmlns:a16="http://schemas.microsoft.com/office/drawing/2014/main" xmlns="" id="{09AB63F1-4A13-9347-B64D-46DAF636F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9692" y="5605062"/>
            <a:ext cx="292100" cy="2444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6</a:t>
            </a: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70" name="Text Box 95">
            <a:extLst>
              <a:ext uri="{FF2B5EF4-FFF2-40B4-BE49-F238E27FC236}">
                <a16:creationId xmlns:a16="http://schemas.microsoft.com/office/drawing/2014/main" xmlns="" id="{9D22DFF5-0D8D-6349-BC46-AB22D2F2B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5242" y="6168625"/>
            <a:ext cx="1819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Alice</a:t>
            </a:r>
            <a:r>
              <a:rPr kumimoji="0" lang="ja-JP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kumimoji="0" lang="en-US" altLang="ja-JP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s mail server</a:t>
            </a: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71" name="Text Box 96">
            <a:extLst>
              <a:ext uri="{FF2B5EF4-FFF2-40B4-BE49-F238E27FC236}">
                <a16:creationId xmlns:a16="http://schemas.microsoft.com/office/drawing/2014/main" xmlns="" id="{3CCDA2E2-AC99-0045-BA7F-F3C92F51C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0130" y="6232125"/>
            <a:ext cx="17414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Bob</a:t>
            </a:r>
            <a:r>
              <a:rPr kumimoji="0" lang="ja-JP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kumimoji="0" lang="en-US" altLang="ja-JP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s mail server</a:t>
            </a: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372" name="Group 169">
            <a:extLst>
              <a:ext uri="{FF2B5EF4-FFF2-40B4-BE49-F238E27FC236}">
                <a16:creationId xmlns:a16="http://schemas.microsoft.com/office/drawing/2014/main" xmlns="" id="{6766002A-66B6-B64B-AAEB-F427F3791233}"/>
              </a:ext>
            </a:extLst>
          </p:cNvPr>
          <p:cNvGrpSpPr>
            <a:grpSpLocks/>
          </p:cNvGrpSpPr>
          <p:nvPr/>
        </p:nvGrpSpPr>
        <p:grpSpPr bwMode="auto">
          <a:xfrm>
            <a:off x="7833405" y="4908150"/>
            <a:ext cx="912812" cy="1054100"/>
            <a:chOff x="3574" y="550"/>
            <a:chExt cx="575" cy="664"/>
          </a:xfrm>
        </p:grpSpPr>
        <p:grpSp>
          <p:nvGrpSpPr>
            <p:cNvPr id="373" name="Group 170">
              <a:extLst>
                <a:ext uri="{FF2B5EF4-FFF2-40B4-BE49-F238E27FC236}">
                  <a16:creationId xmlns:a16="http://schemas.microsoft.com/office/drawing/2014/main" xmlns="" id="{95D43423-E726-764E-8062-2A3551E095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376" name="Picture 171" descr="desktop_computer_stylized_medium">
                <a:extLst>
                  <a:ext uri="{FF2B5EF4-FFF2-40B4-BE49-F238E27FC236}">
                    <a16:creationId xmlns:a16="http://schemas.microsoft.com/office/drawing/2014/main" xmlns="" id="{5015A0EC-AAF7-5845-870F-AC72079C9D3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7" name="Freeform 172">
                <a:extLst>
                  <a:ext uri="{FF2B5EF4-FFF2-40B4-BE49-F238E27FC236}">
                    <a16:creationId xmlns:a16="http://schemas.microsoft.com/office/drawing/2014/main" xmlns="" id="{85F221FD-96E4-6C47-B178-8A95ACD6B79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74" name="Rectangle 115">
              <a:extLst>
                <a:ext uri="{FF2B5EF4-FFF2-40B4-BE49-F238E27FC236}">
                  <a16:creationId xmlns:a16="http://schemas.microsoft.com/office/drawing/2014/main" xmlns="" id="{3D96246A-1605-AF45-A4B0-F085DAAC3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75" name="Text Box 116">
              <a:extLst>
                <a:ext uri="{FF2B5EF4-FFF2-40B4-BE49-F238E27FC236}">
                  <a16:creationId xmlns:a16="http://schemas.microsoft.com/office/drawing/2014/main" xmlns="" id="{5136D042-DF2A-484C-9882-7FBDD96447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user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agent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378" name="Rectangle 3">
            <a:extLst>
              <a:ext uri="{FF2B5EF4-FFF2-40B4-BE49-F238E27FC236}">
                <a16:creationId xmlns:a16="http://schemas.microsoft.com/office/drawing/2014/main" xmlns="" id="{9BFC42AA-8BB5-8E46-A741-D3C4DA9BB457}"/>
              </a:ext>
            </a:extLst>
          </p:cNvPr>
          <p:cNvSpPr txBox="1">
            <a:spLocks noChangeArrowheads="1"/>
          </p:cNvSpPr>
          <p:nvPr/>
        </p:nvSpPr>
        <p:spPr>
          <a:xfrm>
            <a:off x="728885" y="2279968"/>
            <a:ext cx="5071156" cy="110336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2) Alice’</a:t>
            </a:r>
            <a:r>
              <a:rPr lang="en-US" altLang="ja-JP" sz="2400" dirty="0">
                <a:ea typeface="ＭＳ Ｐゴシック" panose="020B0600070205080204" pitchFamily="34" charset="-128"/>
              </a:rPr>
              <a:t>s UA sends message to her mail server; message placed in message queue</a:t>
            </a:r>
          </a:p>
        </p:txBody>
      </p:sp>
      <p:sp>
        <p:nvSpPr>
          <p:cNvPr id="379" name="Rectangle 3">
            <a:extLst>
              <a:ext uri="{FF2B5EF4-FFF2-40B4-BE49-F238E27FC236}">
                <a16:creationId xmlns:a16="http://schemas.microsoft.com/office/drawing/2014/main" xmlns="" id="{F0BDE075-A22F-B64C-827B-4198952A13ED}"/>
              </a:ext>
            </a:extLst>
          </p:cNvPr>
          <p:cNvSpPr txBox="1">
            <a:spLocks noChangeArrowheads="1"/>
          </p:cNvSpPr>
          <p:nvPr/>
        </p:nvSpPr>
        <p:spPr>
          <a:xfrm>
            <a:off x="739565" y="3432318"/>
            <a:ext cx="5448733" cy="1089177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3) client side of SMTP opens TCP connection with Bob’</a:t>
            </a:r>
            <a:r>
              <a:rPr lang="en-US" altLang="ja-JP" sz="2400" dirty="0">
                <a:ea typeface="ＭＳ Ｐゴシック" panose="020B0600070205080204" pitchFamily="34" charset="-128"/>
              </a:rPr>
              <a:t>s mail server</a:t>
            </a:r>
            <a:endParaRPr lang="en-US" altLang="en-US" sz="2400" dirty="0">
              <a:ea typeface="ＭＳ Ｐゴシック" panose="020B0600070205080204" pitchFamily="34" charset="-128"/>
            </a:endParaRPr>
          </a:p>
        </p:txBody>
      </p:sp>
      <p:sp>
        <p:nvSpPr>
          <p:cNvPr id="380" name="Rectangle 4">
            <a:extLst>
              <a:ext uri="{FF2B5EF4-FFF2-40B4-BE49-F238E27FC236}">
                <a16:creationId xmlns:a16="http://schemas.microsoft.com/office/drawing/2014/main" xmlns="" id="{DFD69930-AC55-F14B-9151-A849CFC023A8}"/>
              </a:ext>
            </a:extLst>
          </p:cNvPr>
          <p:cNvSpPr txBox="1">
            <a:spLocks noChangeArrowheads="1"/>
          </p:cNvSpPr>
          <p:nvPr/>
        </p:nvSpPr>
        <p:spPr>
          <a:xfrm>
            <a:off x="6633422" y="2275557"/>
            <a:ext cx="3810000" cy="8286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5) Bob’</a:t>
            </a:r>
            <a:r>
              <a:rPr lang="en-US" altLang="ja-JP" sz="2400" dirty="0">
                <a:ea typeface="ＭＳ Ｐゴシック" panose="020B0600070205080204" pitchFamily="34" charset="-128"/>
              </a:rPr>
              <a:t>s mail server places the message in Bob’s mailbox</a:t>
            </a:r>
          </a:p>
          <a:p>
            <a:pPr>
              <a:buFont typeface="Wingdings" pitchFamily="2" charset="2"/>
              <a:buNone/>
            </a:pPr>
            <a:endParaRPr lang="en-US" altLang="en-US" sz="24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  <p:sp>
        <p:nvSpPr>
          <p:cNvPr id="381" name="Rectangle 4">
            <a:extLst>
              <a:ext uri="{FF2B5EF4-FFF2-40B4-BE49-F238E27FC236}">
                <a16:creationId xmlns:a16="http://schemas.microsoft.com/office/drawing/2014/main" xmlns="" id="{66D50C27-F2A0-6446-B161-62594C2D18D6}"/>
              </a:ext>
            </a:extLst>
          </p:cNvPr>
          <p:cNvSpPr txBox="1">
            <a:spLocks noChangeArrowheads="1"/>
          </p:cNvSpPr>
          <p:nvPr/>
        </p:nvSpPr>
        <p:spPr>
          <a:xfrm>
            <a:off x="6630762" y="3460095"/>
            <a:ext cx="3810000" cy="8286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6) Bob invokes his user agent to read message</a:t>
            </a:r>
          </a:p>
          <a:p>
            <a:pPr>
              <a:buFont typeface="Wingdings" pitchFamily="2" charset="2"/>
              <a:buNone/>
            </a:pPr>
            <a:endParaRPr lang="en-US" altLang="en-US" sz="22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95147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361" grpId="0" animBg="1"/>
      <p:bldP spid="362" grpId="0" animBg="1"/>
      <p:bldP spid="363" grpId="0" animBg="1"/>
      <p:bldP spid="365" grpId="0" animBg="1"/>
      <p:bldP spid="366" grpId="0" animBg="1"/>
      <p:bldP spid="367" grpId="0" animBg="1"/>
      <p:bldP spid="368" grpId="0" animBg="1"/>
      <p:bldP spid="369" grpId="0" animBg="1"/>
      <p:bldP spid="378" grpId="0"/>
      <p:bldP spid="379" grpId="0"/>
      <p:bldP spid="380" grpId="0"/>
      <p:bldP spid="38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Sample SMTP interaction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133" name="Rectangle 3">
            <a:extLst>
              <a:ext uri="{FF2B5EF4-FFF2-40B4-BE49-F238E27FC236}">
                <a16:creationId xmlns:a16="http://schemas.microsoft.com/office/drawing/2014/main" xmlns="" id="{D5CD8C7F-9F1D-3848-BEE3-38D59C403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995" y="1183947"/>
            <a:ext cx="9870010" cy="517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</a:t>
            </a:r>
            <a:r>
              <a:rPr lang="en-US" altLang="en-US" sz="2200" b="1" dirty="0">
                <a:latin typeface="Courier New" panose="02070309020205020404" pitchFamily="49" charset="0"/>
              </a:rPr>
              <a:t>S: 220 </a:t>
            </a:r>
            <a:r>
              <a:rPr lang="en-US" altLang="en-US" sz="2200" b="1" dirty="0" err="1">
                <a:latin typeface="Courier New" panose="02070309020205020404" pitchFamily="49" charset="0"/>
              </a:rPr>
              <a:t>hamburger.edu</a:t>
            </a:r>
            <a:r>
              <a:rPr lang="en-US" altLang="en-US" sz="2200" b="1" dirty="0"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b="1" dirty="0">
                <a:latin typeface="Courier New" panose="02070309020205020404" pitchFamily="49" charset="0"/>
              </a:rPr>
              <a:t>     C: HELO </a:t>
            </a:r>
            <a:r>
              <a:rPr lang="en-US" altLang="en-US" sz="2200" b="1" dirty="0" err="1">
                <a:latin typeface="Courier New" panose="02070309020205020404" pitchFamily="49" charset="0"/>
              </a:rPr>
              <a:t>crepes.fr</a:t>
            </a:r>
            <a:r>
              <a:rPr lang="en-US" altLang="en-US" sz="2200" b="1" dirty="0"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b="1" dirty="0">
                <a:latin typeface="Courier New" panose="02070309020205020404" pitchFamily="49" charset="0"/>
              </a:rPr>
              <a:t>     S: 250  Hello </a:t>
            </a:r>
            <a:r>
              <a:rPr lang="en-US" altLang="en-US" sz="2200" b="1" dirty="0" err="1">
                <a:latin typeface="Courier New" panose="02070309020205020404" pitchFamily="49" charset="0"/>
              </a:rPr>
              <a:t>crepes.fr</a:t>
            </a:r>
            <a:r>
              <a:rPr lang="en-US" altLang="en-US" sz="2200" b="1" dirty="0">
                <a:latin typeface="Courier New" panose="02070309020205020404" pitchFamily="49" charset="0"/>
              </a:rPr>
              <a:t>, pleased to meet you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b="1" dirty="0">
                <a:latin typeface="Courier New" panose="02070309020205020404" pitchFamily="49" charset="0"/>
              </a:rPr>
              <a:t>     C: MAIL FROM: &lt;</a:t>
            </a:r>
            <a:r>
              <a:rPr lang="en-US" altLang="en-US" sz="2200" b="1" dirty="0" err="1">
                <a:latin typeface="Courier New" panose="02070309020205020404" pitchFamily="49" charset="0"/>
              </a:rPr>
              <a:t>alice@crepes.fr</a:t>
            </a:r>
            <a:r>
              <a:rPr lang="en-US" altLang="en-US" sz="2200" b="1" dirty="0">
                <a:latin typeface="Courier New" panose="02070309020205020404" pitchFamily="49" charset="0"/>
              </a:rPr>
              <a:t>&gt;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b="1" dirty="0">
                <a:latin typeface="Courier New" panose="02070309020205020404" pitchFamily="49" charset="0"/>
              </a:rPr>
              <a:t>     S: 250 </a:t>
            </a:r>
            <a:r>
              <a:rPr lang="en-US" altLang="en-US" sz="2200" b="1" dirty="0" err="1">
                <a:latin typeface="Courier New" panose="02070309020205020404" pitchFamily="49" charset="0"/>
              </a:rPr>
              <a:t>alice@crepes.fr</a:t>
            </a:r>
            <a:r>
              <a:rPr lang="en-US" altLang="en-US" sz="2200" b="1" dirty="0">
                <a:latin typeface="Courier New" panose="02070309020205020404" pitchFamily="49" charset="0"/>
              </a:rPr>
              <a:t>... Sender ok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b="1" dirty="0">
                <a:latin typeface="Courier New" panose="02070309020205020404" pitchFamily="49" charset="0"/>
              </a:rPr>
              <a:t>     C: RCPT TO: &lt;</a:t>
            </a:r>
            <a:r>
              <a:rPr lang="en-US" altLang="en-US" sz="2200" b="1" dirty="0" err="1">
                <a:latin typeface="Courier New" panose="02070309020205020404" pitchFamily="49" charset="0"/>
              </a:rPr>
              <a:t>bob@hamburger.edu</a:t>
            </a:r>
            <a:r>
              <a:rPr lang="en-US" altLang="en-US" sz="2200" b="1" dirty="0">
                <a:latin typeface="Courier New" panose="02070309020205020404" pitchFamily="49" charset="0"/>
              </a:rPr>
              <a:t>&gt;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b="1" dirty="0">
                <a:latin typeface="Courier New" panose="02070309020205020404" pitchFamily="49" charset="0"/>
              </a:rPr>
              <a:t>     S: 250 </a:t>
            </a:r>
            <a:r>
              <a:rPr lang="en-US" altLang="en-US" sz="2200" b="1" dirty="0" err="1">
                <a:latin typeface="Courier New" panose="02070309020205020404" pitchFamily="49" charset="0"/>
              </a:rPr>
              <a:t>bob@hamburger.edu</a:t>
            </a:r>
            <a:r>
              <a:rPr lang="en-US" altLang="en-US" sz="2200" b="1" dirty="0">
                <a:latin typeface="Courier New" panose="02070309020205020404" pitchFamily="49" charset="0"/>
              </a:rPr>
              <a:t> ... Recipient ok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b="1" dirty="0">
                <a:latin typeface="Courier New" panose="02070309020205020404" pitchFamily="49" charset="0"/>
              </a:rPr>
              <a:t>     C: DATA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b="1" dirty="0">
                <a:latin typeface="Courier New" panose="02070309020205020404" pitchFamily="49" charset="0"/>
              </a:rPr>
              <a:t>     S: 354 Enter mail, end with "." on a line by itself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b="1" dirty="0">
                <a:latin typeface="Courier New" panose="02070309020205020404" pitchFamily="49" charset="0"/>
              </a:rPr>
              <a:t>     C: Do you like ketchup?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b="1" dirty="0">
                <a:latin typeface="Courier New" panose="02070309020205020404" pitchFamily="49" charset="0"/>
              </a:rPr>
              <a:t>     C: How about pickles?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b="1" dirty="0">
                <a:latin typeface="Courier New" panose="02070309020205020404" pitchFamily="49" charset="0"/>
              </a:rPr>
              <a:t>     C: .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b="1" dirty="0">
                <a:latin typeface="Courier New" panose="02070309020205020404" pitchFamily="49" charset="0"/>
              </a:rPr>
              <a:t>     S: 250 Message accepted for delivery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b="1" dirty="0">
                <a:latin typeface="Courier New" panose="02070309020205020404" pitchFamily="49" charset="0"/>
              </a:rPr>
              <a:t>     C: QUIT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b="1" dirty="0">
                <a:latin typeface="Courier New" panose="02070309020205020404" pitchFamily="49" charset="0"/>
              </a:rPr>
              <a:t>     S: 221 </a:t>
            </a:r>
            <a:r>
              <a:rPr lang="en-US" altLang="en-US" sz="2200" b="1" dirty="0" err="1">
                <a:latin typeface="Courier New" panose="02070309020205020404" pitchFamily="49" charset="0"/>
              </a:rPr>
              <a:t>hamburger.edu</a:t>
            </a:r>
            <a:r>
              <a:rPr lang="en-US" altLang="en-US" sz="2200" b="1" dirty="0">
                <a:latin typeface="Courier New" panose="02070309020205020404" pitchFamily="49" charset="0"/>
              </a:rPr>
              <a:t> closing connection</a:t>
            </a:r>
            <a:endParaRPr lang="en-US" altLang="en-US" sz="22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4109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SMTP: closing observations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xmlns="" id="{E677454B-F21D-4441-9BDE-50D84F4D93FA}"/>
              </a:ext>
            </a:extLst>
          </p:cNvPr>
          <p:cNvSpPr txBox="1">
            <a:spLocks noChangeArrowheads="1"/>
          </p:cNvSpPr>
          <p:nvPr/>
        </p:nvSpPr>
        <p:spPr>
          <a:xfrm>
            <a:off x="7119664" y="1518446"/>
            <a:ext cx="4194627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>
                <a:ea typeface="ＭＳ Ｐゴシック" panose="020B0600070205080204" pitchFamily="34" charset="-128"/>
              </a:rPr>
              <a:t>SMTP uses persistent connections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SMTP requires message (header &amp; body) to be in 7-bit ASCII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SMTP server uses CRLF.CRLF to determine end of message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xmlns="" id="{3E733DCA-2522-E341-8697-49ADE10A3FA3}"/>
              </a:ext>
            </a:extLst>
          </p:cNvPr>
          <p:cNvSpPr txBox="1">
            <a:spLocks noChangeArrowheads="1"/>
          </p:cNvSpPr>
          <p:nvPr/>
        </p:nvSpPr>
        <p:spPr>
          <a:xfrm>
            <a:off x="651330" y="1460390"/>
            <a:ext cx="6183084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comparison with HTTP:</a:t>
            </a:r>
          </a:p>
          <a:p>
            <a:pPr marL="576263" indent="-317500">
              <a:spcBef>
                <a:spcPct val="500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HTTP: pull</a:t>
            </a:r>
          </a:p>
          <a:p>
            <a:pPr marL="576263" indent="-317500">
              <a:spcAft>
                <a:spcPct val="50000"/>
              </a:spcAft>
            </a:pPr>
            <a:r>
              <a:rPr lang="en-US" altLang="en-US" dirty="0">
                <a:ea typeface="ＭＳ Ｐゴシック" panose="020B0600070205080204" pitchFamily="34" charset="-128"/>
              </a:rPr>
              <a:t>SMTP: push</a:t>
            </a:r>
          </a:p>
          <a:p>
            <a:pPr marL="576263" indent="-317500">
              <a:spcAft>
                <a:spcPct val="50000"/>
              </a:spcAft>
            </a:pPr>
            <a:r>
              <a:rPr lang="en-US" altLang="en-US" dirty="0">
                <a:ea typeface="ＭＳ Ｐゴシック" panose="020B0600070205080204" pitchFamily="34" charset="-128"/>
              </a:rPr>
              <a:t>both have ASCII command/response interaction, status codes</a:t>
            </a:r>
          </a:p>
          <a:p>
            <a:pPr marL="576263" indent="-317500"/>
            <a:r>
              <a:rPr lang="en-US" altLang="en-US" dirty="0">
                <a:ea typeface="ＭＳ Ｐゴシック" panose="020B0600070205080204" pitchFamily="34" charset="-128"/>
              </a:rPr>
              <a:t>HTTP: each object encapsulated in its own response message</a:t>
            </a:r>
          </a:p>
          <a:p>
            <a:pPr marL="576263" indent="-317500"/>
            <a:r>
              <a:rPr lang="en-US" altLang="en-US" dirty="0">
                <a:ea typeface="ＭＳ Ｐゴシック" panose="020B0600070205080204" pitchFamily="34" charset="-128"/>
              </a:rPr>
              <a:t>SMTP: multiple objects sent in multipart message</a:t>
            </a:r>
          </a:p>
        </p:txBody>
      </p:sp>
    </p:spTree>
    <p:extLst>
      <p:ext uri="{BB962C8B-B14F-4D97-AF65-F5344CB8AC3E}">
        <p14:creationId xmlns:p14="http://schemas.microsoft.com/office/powerpoint/2010/main" val="23122858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Mail message format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xmlns="" id="{81957B58-E235-B248-9DD8-EB83AEA89A77}"/>
              </a:ext>
            </a:extLst>
          </p:cNvPr>
          <p:cNvSpPr txBox="1">
            <a:spLocks noChangeArrowheads="1"/>
          </p:cNvSpPr>
          <p:nvPr/>
        </p:nvSpPr>
        <p:spPr>
          <a:xfrm>
            <a:off x="819955" y="1518446"/>
            <a:ext cx="6379126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indent="0">
              <a:buFont typeface="Wingdings" pitchFamily="2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SMTP: protocol for exchanging e-mail messages, defined in RFC 531 (like HTTP)</a:t>
            </a:r>
          </a:p>
          <a:p>
            <a:pPr marL="14288" indent="0">
              <a:buFont typeface="Wingdings" pitchFamily="2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RFC 822 defines </a:t>
            </a:r>
            <a:r>
              <a:rPr lang="en-US" altLang="en-US" i="1" dirty="0">
                <a:ea typeface="ＭＳ Ｐゴシック" panose="020B0600070205080204" pitchFamily="34" charset="-128"/>
              </a:rPr>
              <a:t>syntax</a:t>
            </a:r>
            <a:r>
              <a:rPr lang="en-US" altLang="en-US" dirty="0">
                <a:ea typeface="ＭＳ Ｐゴシック" panose="020B0600070205080204" pitchFamily="34" charset="-128"/>
              </a:rPr>
              <a:t> for e-mail message itself (like HTML)</a:t>
            </a:r>
          </a:p>
          <a:p>
            <a:pPr marL="346075" indent="-217488"/>
            <a:r>
              <a:rPr lang="en-US" altLang="en-US" sz="2400" dirty="0">
                <a:ea typeface="ＭＳ Ｐゴシック" panose="020B0600070205080204" pitchFamily="34" charset="-128"/>
              </a:rPr>
              <a:t>header lines, e.g.,</a:t>
            </a:r>
          </a:p>
          <a:p>
            <a:pPr marL="635000" lvl="1" indent="-288925"/>
            <a:r>
              <a:rPr lang="en-US" altLang="en-US" sz="2000" dirty="0">
                <a:ea typeface="ＭＳ Ｐゴシック" panose="020B0600070205080204" pitchFamily="34" charset="-128"/>
              </a:rPr>
              <a:t>To:</a:t>
            </a:r>
          </a:p>
          <a:p>
            <a:pPr marL="635000" lvl="1" indent="-288925"/>
            <a:r>
              <a:rPr lang="en-US" altLang="en-US" sz="2000" dirty="0">
                <a:ea typeface="ＭＳ Ｐゴシック" panose="020B0600070205080204" pitchFamily="34" charset="-128"/>
              </a:rPr>
              <a:t>From:</a:t>
            </a:r>
          </a:p>
          <a:p>
            <a:pPr marL="635000" lvl="1" indent="-288925"/>
            <a:r>
              <a:rPr lang="en-US" altLang="en-US" sz="2000" dirty="0">
                <a:ea typeface="ＭＳ Ｐゴシック" panose="020B0600070205080204" pitchFamily="34" charset="-128"/>
              </a:rPr>
              <a:t>Subject:</a:t>
            </a:r>
          </a:p>
          <a:p>
            <a:pPr marL="403225" lvl="1" indent="0">
              <a:buFont typeface="Wingdings" pitchFamily="2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these lines, within the body of the email message area different from </a:t>
            </a:r>
            <a:r>
              <a:rPr lang="en-US" altLang="en-US" sz="2200" dirty="0">
                <a:ea typeface="ＭＳ Ｐゴシック" panose="020B0600070205080204" pitchFamily="34" charset="-128"/>
              </a:rPr>
              <a:t>SMTP MAIL FROM:, RCPT TO:</a:t>
            </a:r>
            <a:r>
              <a:rPr lang="en-US" altLang="en-US" dirty="0">
                <a:ea typeface="ＭＳ Ｐゴシック" panose="020B0600070205080204" pitchFamily="34" charset="-128"/>
              </a:rPr>
              <a:t> commands!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Body: the “</a:t>
            </a:r>
            <a:r>
              <a:rPr lang="en-US" altLang="ja-JP" sz="2400" dirty="0">
                <a:ea typeface="ＭＳ Ｐゴシック" panose="020B0600070205080204" pitchFamily="34" charset="-128"/>
              </a:rPr>
              <a:t>message” , </a:t>
            </a:r>
            <a:r>
              <a:rPr lang="en-US" altLang="en-US" sz="2400" dirty="0">
                <a:ea typeface="ＭＳ Ｐゴシック" panose="020B0600070205080204" pitchFamily="34" charset="-128"/>
              </a:rPr>
              <a:t>ASCII characters only</a:t>
            </a:r>
            <a:endParaRPr lang="en-US" altLang="en-US" sz="2000" dirty="0">
              <a:ea typeface="ＭＳ Ｐゴシック" panose="020B0600070205080204" pitchFamily="34" charset="-128"/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xmlns="" id="{90AB71C4-0C4F-CA48-A7D0-41E1DC5A2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1539" y="3317071"/>
            <a:ext cx="2832100" cy="431800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header</a:t>
            </a:r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xmlns="" id="{CDEC6892-2B97-054E-BBD0-0613AB282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1539" y="4129871"/>
            <a:ext cx="2832100" cy="1739900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body</a:t>
            </a:r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xmlns="" id="{C0E3FED1-4363-5F4D-B639-F7151E3E3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8339" y="3202771"/>
            <a:ext cx="3238500" cy="30734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1" name="Line 11">
            <a:extLst>
              <a:ext uri="{FF2B5EF4-FFF2-40B4-BE49-F238E27FC236}">
                <a16:creationId xmlns:a16="http://schemas.microsoft.com/office/drawing/2014/main" xmlns="" id="{86B4C984-46A5-C043-8ED7-4BFCACE5EF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67314" y="5094521"/>
            <a:ext cx="6544225" cy="8127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22" name="Text Box 13">
            <a:extLst>
              <a:ext uri="{FF2B5EF4-FFF2-40B4-BE49-F238E27FC236}">
                <a16:creationId xmlns:a16="http://schemas.microsoft.com/office/drawing/2014/main" xmlns="" id="{C5431D6F-96A3-734C-8517-99FCE98FA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2252" y="3537734"/>
            <a:ext cx="7921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blank</a:t>
            </a: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line</a:t>
            </a:r>
          </a:p>
        </p:txBody>
      </p:sp>
      <p:sp>
        <p:nvSpPr>
          <p:cNvPr id="23" name="Line 14">
            <a:extLst>
              <a:ext uri="{FF2B5EF4-FFF2-40B4-BE49-F238E27FC236}">
                <a16:creationId xmlns:a16="http://schemas.microsoft.com/office/drawing/2014/main" xmlns="" id="{EC853BB6-31B4-4243-A729-4094617E6D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384839" y="3977471"/>
            <a:ext cx="9652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xmlns="" id="{18B4D68C-13CF-8640-BB04-F138B198C88E}"/>
              </a:ext>
            </a:extLst>
          </p:cNvPr>
          <p:cNvCxnSpPr>
            <a:cxnSpLocks/>
          </p:cNvCxnSpPr>
          <p:nvPr/>
        </p:nvCxnSpPr>
        <p:spPr>
          <a:xfrm>
            <a:off x="3614057" y="3531161"/>
            <a:ext cx="4424912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28657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Mail access protocols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39</a:t>
            </a:fld>
            <a:endParaRPr lang="en-US" dirty="0"/>
          </a:p>
        </p:txBody>
      </p:sp>
      <p:grpSp>
        <p:nvGrpSpPr>
          <p:cNvPr id="261" name="Group 260">
            <a:extLst>
              <a:ext uri="{FF2B5EF4-FFF2-40B4-BE49-F238E27FC236}">
                <a16:creationId xmlns:a16="http://schemas.microsoft.com/office/drawing/2014/main" xmlns="" id="{E5CF0878-A5CD-8C42-B5CD-2EEF6065E344}"/>
              </a:ext>
            </a:extLst>
          </p:cNvPr>
          <p:cNvGrpSpPr/>
          <p:nvPr/>
        </p:nvGrpSpPr>
        <p:grpSpPr>
          <a:xfrm>
            <a:off x="1933753" y="1424214"/>
            <a:ext cx="8245475" cy="1826169"/>
            <a:chOff x="444500" y="1308100"/>
            <a:chExt cx="8245475" cy="1826169"/>
          </a:xfrm>
        </p:grpSpPr>
        <p:grpSp>
          <p:nvGrpSpPr>
            <p:cNvPr id="262" name="Group 133">
              <a:extLst>
                <a:ext uri="{FF2B5EF4-FFF2-40B4-BE49-F238E27FC236}">
                  <a16:creationId xmlns:a16="http://schemas.microsoft.com/office/drawing/2014/main" xmlns="" id="{962D0EED-8EC0-D944-8706-78D65ED758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2275" y="1577975"/>
              <a:ext cx="511175" cy="693738"/>
              <a:chOff x="4140" y="429"/>
              <a:chExt cx="1425" cy="2396"/>
            </a:xfrm>
          </p:grpSpPr>
          <p:sp>
            <p:nvSpPr>
              <p:cNvPr id="351" name="Freeform 134">
                <a:extLst>
                  <a:ext uri="{FF2B5EF4-FFF2-40B4-BE49-F238E27FC236}">
                    <a16:creationId xmlns:a16="http://schemas.microsoft.com/office/drawing/2014/main" xmlns="" id="{DCB7F2F1-B08C-9D42-9A9B-C0CA8CC2DF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52" name="Rectangle 135">
                <a:extLst>
                  <a:ext uri="{FF2B5EF4-FFF2-40B4-BE49-F238E27FC236}">
                    <a16:creationId xmlns:a16="http://schemas.microsoft.com/office/drawing/2014/main" xmlns="" id="{E057BFF5-9E6F-4743-A805-44D1354D72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4" cy="228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53" name="Freeform 136">
                <a:extLst>
                  <a:ext uri="{FF2B5EF4-FFF2-40B4-BE49-F238E27FC236}">
                    <a16:creationId xmlns:a16="http://schemas.microsoft.com/office/drawing/2014/main" xmlns="" id="{794C2025-779C-7143-89C2-171CFB018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54" name="Freeform 137">
                <a:extLst>
                  <a:ext uri="{FF2B5EF4-FFF2-40B4-BE49-F238E27FC236}">
                    <a16:creationId xmlns:a16="http://schemas.microsoft.com/office/drawing/2014/main" xmlns="" id="{A80FAE7D-8D21-BC47-907D-F96620BB90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55" name="Rectangle 138">
                <a:extLst>
                  <a:ext uri="{FF2B5EF4-FFF2-40B4-BE49-F238E27FC236}">
                    <a16:creationId xmlns:a16="http://schemas.microsoft.com/office/drawing/2014/main" xmlns="" id="{616938A0-6228-6140-BCFA-473AB9A592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2"/>
                <a:ext cx="597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356" name="Group 139">
                <a:extLst>
                  <a:ext uri="{FF2B5EF4-FFF2-40B4-BE49-F238E27FC236}">
                    <a16:creationId xmlns:a16="http://schemas.microsoft.com/office/drawing/2014/main" xmlns="" id="{87FBA1B9-AC0E-BF4F-A5C2-F38DA460D1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81" name="AutoShape 140">
                  <a:extLst>
                    <a:ext uri="{FF2B5EF4-FFF2-40B4-BE49-F238E27FC236}">
                      <a16:creationId xmlns:a16="http://schemas.microsoft.com/office/drawing/2014/main" xmlns="" id="{84143FD8-E0F9-DF48-B4AF-0D12414A3C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3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82" name="AutoShape 141">
                  <a:extLst>
                    <a:ext uri="{FF2B5EF4-FFF2-40B4-BE49-F238E27FC236}">
                      <a16:creationId xmlns:a16="http://schemas.microsoft.com/office/drawing/2014/main" xmlns="" id="{F75D69FA-178C-FF48-AF93-8D22328C70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2586"/>
                  <a:ext cx="690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357" name="Rectangle 142">
                <a:extLst>
                  <a:ext uri="{FF2B5EF4-FFF2-40B4-BE49-F238E27FC236}">
                    <a16:creationId xmlns:a16="http://schemas.microsoft.com/office/drawing/2014/main" xmlns="" id="{79EE47BA-DDCB-AE42-849E-EAA9A961AC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021"/>
                <a:ext cx="597" cy="44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358" name="Group 143">
                <a:extLst>
                  <a:ext uri="{FF2B5EF4-FFF2-40B4-BE49-F238E27FC236}">
                    <a16:creationId xmlns:a16="http://schemas.microsoft.com/office/drawing/2014/main" xmlns="" id="{52DF3659-7462-174D-BF79-583260D649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79" name="AutoShape 144">
                  <a:extLst>
                    <a:ext uri="{FF2B5EF4-FFF2-40B4-BE49-F238E27FC236}">
                      <a16:creationId xmlns:a16="http://schemas.microsoft.com/office/drawing/2014/main" xmlns="" id="{9E1E1420-2718-EE4C-9DB5-D20E625D4D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8"/>
                  <a:ext cx="718" cy="13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80" name="AutoShape 145">
                  <a:extLst>
                    <a:ext uri="{FF2B5EF4-FFF2-40B4-BE49-F238E27FC236}">
                      <a16:creationId xmlns:a16="http://schemas.microsoft.com/office/drawing/2014/main" xmlns="" id="{311E1D1D-C4BA-C14B-AB5E-7D9E9CB99C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5"/>
                  <a:ext cx="690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359" name="Rectangle 146">
                <a:extLst>
                  <a:ext uri="{FF2B5EF4-FFF2-40B4-BE49-F238E27FC236}">
                    <a16:creationId xmlns:a16="http://schemas.microsoft.com/office/drawing/2014/main" xmlns="" id="{A208931F-C1D7-4D44-9151-6D63CB811A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5" y="1356"/>
                <a:ext cx="597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60" name="Rectangle 147">
                <a:extLst>
                  <a:ext uri="{FF2B5EF4-FFF2-40B4-BE49-F238E27FC236}">
                    <a16:creationId xmlns:a16="http://schemas.microsoft.com/office/drawing/2014/main" xmlns="" id="{85597E8B-CF6B-C244-96B8-D967A88BD6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9" y="1657"/>
                <a:ext cx="597" cy="44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361" name="Group 148">
                <a:extLst>
                  <a:ext uri="{FF2B5EF4-FFF2-40B4-BE49-F238E27FC236}">
                    <a16:creationId xmlns:a16="http://schemas.microsoft.com/office/drawing/2014/main" xmlns="" id="{13DDD94F-DFC2-E744-ADF7-A896AEDA93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77" name="AutoShape 149">
                  <a:extLst>
                    <a:ext uri="{FF2B5EF4-FFF2-40B4-BE49-F238E27FC236}">
                      <a16:creationId xmlns:a16="http://schemas.microsoft.com/office/drawing/2014/main" xmlns="" id="{3E8C962F-C7BD-B44F-978E-C803F54525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81"/>
                  <a:ext cx="728" cy="12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78" name="AutoShape 150">
                  <a:extLst>
                    <a:ext uri="{FF2B5EF4-FFF2-40B4-BE49-F238E27FC236}">
                      <a16:creationId xmlns:a16="http://schemas.microsoft.com/office/drawing/2014/main" xmlns="" id="{E65F62EE-08D0-BF46-9BB6-23FEA82DDB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6"/>
                  <a:ext cx="695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362" name="Freeform 151">
                <a:extLst>
                  <a:ext uri="{FF2B5EF4-FFF2-40B4-BE49-F238E27FC236}">
                    <a16:creationId xmlns:a16="http://schemas.microsoft.com/office/drawing/2014/main" xmlns="" id="{60E83399-FCB4-324A-B4BD-B8F2365959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363" name="Group 152">
                <a:extLst>
                  <a:ext uri="{FF2B5EF4-FFF2-40B4-BE49-F238E27FC236}">
                    <a16:creationId xmlns:a16="http://schemas.microsoft.com/office/drawing/2014/main" xmlns="" id="{87A9E3BB-3D7B-8247-845C-C0F0EBB963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75" name="AutoShape 153">
                  <a:extLst>
                    <a:ext uri="{FF2B5EF4-FFF2-40B4-BE49-F238E27FC236}">
                      <a16:creationId xmlns:a16="http://schemas.microsoft.com/office/drawing/2014/main" xmlns="" id="{7C75A8D8-585C-B74B-A8B7-1BE5B53785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69"/>
                  <a:ext cx="728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76" name="AutoShape 154">
                  <a:extLst>
                    <a:ext uri="{FF2B5EF4-FFF2-40B4-BE49-F238E27FC236}">
                      <a16:creationId xmlns:a16="http://schemas.microsoft.com/office/drawing/2014/main" xmlns="" id="{22C9496F-6ACA-5348-BD7C-54B2C4BDD1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6"/>
                  <a:ext cx="695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364" name="Rectangle 155">
                <a:extLst>
                  <a:ext uri="{FF2B5EF4-FFF2-40B4-BE49-F238E27FC236}">
                    <a16:creationId xmlns:a16="http://schemas.microsoft.com/office/drawing/2014/main" xmlns="" id="{3A93ED27-82F2-8540-8D23-33AD2D2EE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1" y="429"/>
                <a:ext cx="66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65" name="Freeform 156">
                <a:extLst>
                  <a:ext uri="{FF2B5EF4-FFF2-40B4-BE49-F238E27FC236}">
                    <a16:creationId xmlns:a16="http://schemas.microsoft.com/office/drawing/2014/main" xmlns="" id="{0292C05A-662A-5445-B8CB-FAA09E805A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66" name="Freeform 157">
                <a:extLst>
                  <a:ext uri="{FF2B5EF4-FFF2-40B4-BE49-F238E27FC236}">
                    <a16:creationId xmlns:a16="http://schemas.microsoft.com/office/drawing/2014/main" xmlns="" id="{4AA45BB6-3C27-E64E-8383-C80FAEA53A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67" name="Oval 158">
                <a:extLst>
                  <a:ext uri="{FF2B5EF4-FFF2-40B4-BE49-F238E27FC236}">
                    <a16:creationId xmlns:a16="http://schemas.microsoft.com/office/drawing/2014/main" xmlns="" id="{95B86A35-1D75-5C49-936B-687C0ACE7F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" y="2611"/>
                <a:ext cx="49" cy="93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68" name="Freeform 159">
                <a:extLst>
                  <a:ext uri="{FF2B5EF4-FFF2-40B4-BE49-F238E27FC236}">
                    <a16:creationId xmlns:a16="http://schemas.microsoft.com/office/drawing/2014/main" xmlns="" id="{1EEE46FE-29EC-9D4E-A9F0-12F15C389E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69" name="AutoShape 160">
                <a:extLst>
                  <a:ext uri="{FF2B5EF4-FFF2-40B4-BE49-F238E27FC236}">
                    <a16:creationId xmlns:a16="http://schemas.microsoft.com/office/drawing/2014/main" xmlns="" id="{77C78D76-E4BF-FC4E-85A3-25D74AAE0F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199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70" name="AutoShape 161">
                <a:extLst>
                  <a:ext uri="{FF2B5EF4-FFF2-40B4-BE49-F238E27FC236}">
                    <a16:creationId xmlns:a16="http://schemas.microsoft.com/office/drawing/2014/main" xmlns="" id="{1A647E10-4CD3-9C49-9E7D-932D482508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0"/>
                <a:ext cx="1071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71" name="Oval 162">
                <a:extLst>
                  <a:ext uri="{FF2B5EF4-FFF2-40B4-BE49-F238E27FC236}">
                    <a16:creationId xmlns:a16="http://schemas.microsoft.com/office/drawing/2014/main" xmlns="" id="{43EFA142-8DAD-3D46-A09E-08B75C8DF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1"/>
                <a:ext cx="159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72" name="Oval 163">
                <a:extLst>
                  <a:ext uri="{FF2B5EF4-FFF2-40B4-BE49-F238E27FC236}">
                    <a16:creationId xmlns:a16="http://schemas.microsoft.com/office/drawing/2014/main" xmlns="" id="{A31EBF34-4197-3041-BA0D-DA86EAB8CB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5" y="2386"/>
                <a:ext cx="159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73" name="Oval 164">
                <a:extLst>
                  <a:ext uri="{FF2B5EF4-FFF2-40B4-BE49-F238E27FC236}">
                    <a16:creationId xmlns:a16="http://schemas.microsoft.com/office/drawing/2014/main" xmlns="" id="{C69F2F21-A598-194E-8061-42E20C1329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2" y="2381"/>
                <a:ext cx="159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74" name="Rectangle 165">
                <a:extLst>
                  <a:ext uri="{FF2B5EF4-FFF2-40B4-BE49-F238E27FC236}">
                    <a16:creationId xmlns:a16="http://schemas.microsoft.com/office/drawing/2014/main" xmlns="" id="{C6C7B11F-80C5-CE4C-8737-FB4903EEBC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0" y="1833"/>
                <a:ext cx="89" cy="76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63" name="Group 100">
              <a:extLst>
                <a:ext uri="{FF2B5EF4-FFF2-40B4-BE49-F238E27FC236}">
                  <a16:creationId xmlns:a16="http://schemas.microsoft.com/office/drawing/2014/main" xmlns="" id="{425D51F3-48C9-9A40-B992-AE005FAB2C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48200" y="1587500"/>
              <a:ext cx="511175" cy="693738"/>
              <a:chOff x="4140" y="429"/>
              <a:chExt cx="1425" cy="2396"/>
            </a:xfrm>
          </p:grpSpPr>
          <p:sp>
            <p:nvSpPr>
              <p:cNvPr id="319" name="Freeform 101">
                <a:extLst>
                  <a:ext uri="{FF2B5EF4-FFF2-40B4-BE49-F238E27FC236}">
                    <a16:creationId xmlns:a16="http://schemas.microsoft.com/office/drawing/2014/main" xmlns="" id="{4DE11FE1-ABE4-5449-9F07-FF92B12037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20" name="Rectangle 102">
                <a:extLst>
                  <a:ext uri="{FF2B5EF4-FFF2-40B4-BE49-F238E27FC236}">
                    <a16:creationId xmlns:a16="http://schemas.microsoft.com/office/drawing/2014/main" xmlns="" id="{F28617B4-246C-4142-9D1A-885008483B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4" cy="228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21" name="Freeform 103">
                <a:extLst>
                  <a:ext uri="{FF2B5EF4-FFF2-40B4-BE49-F238E27FC236}">
                    <a16:creationId xmlns:a16="http://schemas.microsoft.com/office/drawing/2014/main" xmlns="" id="{695E4127-E30B-0140-BBC3-EE8AA864D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22" name="Freeform 104">
                <a:extLst>
                  <a:ext uri="{FF2B5EF4-FFF2-40B4-BE49-F238E27FC236}">
                    <a16:creationId xmlns:a16="http://schemas.microsoft.com/office/drawing/2014/main" xmlns="" id="{107A5B24-681B-3348-B947-27500FBE7E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23" name="Rectangle 105">
                <a:extLst>
                  <a:ext uri="{FF2B5EF4-FFF2-40B4-BE49-F238E27FC236}">
                    <a16:creationId xmlns:a16="http://schemas.microsoft.com/office/drawing/2014/main" xmlns="" id="{3B9FBC9B-DB47-3440-A3A7-D9397DA36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2"/>
                <a:ext cx="597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324" name="Group 106">
                <a:extLst>
                  <a:ext uri="{FF2B5EF4-FFF2-40B4-BE49-F238E27FC236}">
                    <a16:creationId xmlns:a16="http://schemas.microsoft.com/office/drawing/2014/main" xmlns="" id="{D4DB1272-AC30-B740-A818-112B7B0161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49" name="AutoShape 107">
                  <a:extLst>
                    <a:ext uri="{FF2B5EF4-FFF2-40B4-BE49-F238E27FC236}">
                      <a16:creationId xmlns:a16="http://schemas.microsoft.com/office/drawing/2014/main" xmlns="" id="{E4E7D8BF-C451-2149-AB56-5952A4BC1E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3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50" name="AutoShape 108">
                  <a:extLst>
                    <a:ext uri="{FF2B5EF4-FFF2-40B4-BE49-F238E27FC236}">
                      <a16:creationId xmlns:a16="http://schemas.microsoft.com/office/drawing/2014/main" xmlns="" id="{CA9F9DDC-D2E0-9445-8E09-E2A450486D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2586"/>
                  <a:ext cx="690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325" name="Rectangle 109">
                <a:extLst>
                  <a:ext uri="{FF2B5EF4-FFF2-40B4-BE49-F238E27FC236}">
                    <a16:creationId xmlns:a16="http://schemas.microsoft.com/office/drawing/2014/main" xmlns="" id="{8B4A1DB1-B64D-E342-AC38-F13AC2BB24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021"/>
                <a:ext cx="597" cy="44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326" name="Group 110">
                <a:extLst>
                  <a:ext uri="{FF2B5EF4-FFF2-40B4-BE49-F238E27FC236}">
                    <a16:creationId xmlns:a16="http://schemas.microsoft.com/office/drawing/2014/main" xmlns="" id="{8699E1EB-58F7-EB4A-BE56-52A7A29FB7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47" name="AutoShape 111">
                  <a:extLst>
                    <a:ext uri="{FF2B5EF4-FFF2-40B4-BE49-F238E27FC236}">
                      <a16:creationId xmlns:a16="http://schemas.microsoft.com/office/drawing/2014/main" xmlns="" id="{8755B864-D5D9-3F48-B106-5195BC4797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8"/>
                  <a:ext cx="718" cy="13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48" name="AutoShape 112">
                  <a:extLst>
                    <a:ext uri="{FF2B5EF4-FFF2-40B4-BE49-F238E27FC236}">
                      <a16:creationId xmlns:a16="http://schemas.microsoft.com/office/drawing/2014/main" xmlns="" id="{5EA94929-40C1-1844-A278-8A7EB9C8F3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5"/>
                  <a:ext cx="690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327" name="Rectangle 113">
                <a:extLst>
                  <a:ext uri="{FF2B5EF4-FFF2-40B4-BE49-F238E27FC236}">
                    <a16:creationId xmlns:a16="http://schemas.microsoft.com/office/drawing/2014/main" xmlns="" id="{C3CA31E7-43E9-C54B-B13E-E2E8356B1B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5" y="1356"/>
                <a:ext cx="597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28" name="Rectangle 114">
                <a:extLst>
                  <a:ext uri="{FF2B5EF4-FFF2-40B4-BE49-F238E27FC236}">
                    <a16:creationId xmlns:a16="http://schemas.microsoft.com/office/drawing/2014/main" xmlns="" id="{70DE4D48-FE2E-9C45-9782-5C8939C4A5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9" y="1657"/>
                <a:ext cx="597" cy="44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329" name="Group 115">
                <a:extLst>
                  <a:ext uri="{FF2B5EF4-FFF2-40B4-BE49-F238E27FC236}">
                    <a16:creationId xmlns:a16="http://schemas.microsoft.com/office/drawing/2014/main" xmlns="" id="{BEDE8AC0-C09D-314C-9CF4-3B49C79D83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45" name="AutoShape 116">
                  <a:extLst>
                    <a:ext uri="{FF2B5EF4-FFF2-40B4-BE49-F238E27FC236}">
                      <a16:creationId xmlns:a16="http://schemas.microsoft.com/office/drawing/2014/main" xmlns="" id="{53CFCEA6-E422-E24C-91CC-6AB2DA5B98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81"/>
                  <a:ext cx="728" cy="12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46" name="AutoShape 117">
                  <a:extLst>
                    <a:ext uri="{FF2B5EF4-FFF2-40B4-BE49-F238E27FC236}">
                      <a16:creationId xmlns:a16="http://schemas.microsoft.com/office/drawing/2014/main" xmlns="" id="{FEFA7192-E9ED-D345-AC92-ED008077B3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6"/>
                  <a:ext cx="695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330" name="Freeform 118">
                <a:extLst>
                  <a:ext uri="{FF2B5EF4-FFF2-40B4-BE49-F238E27FC236}">
                    <a16:creationId xmlns:a16="http://schemas.microsoft.com/office/drawing/2014/main" xmlns="" id="{5FD6018C-4C2B-5147-9A4D-0850B214BB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331" name="Group 119">
                <a:extLst>
                  <a:ext uri="{FF2B5EF4-FFF2-40B4-BE49-F238E27FC236}">
                    <a16:creationId xmlns:a16="http://schemas.microsoft.com/office/drawing/2014/main" xmlns="" id="{0147FEBF-9B07-DB4D-80F0-28CFAFB175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43" name="AutoShape 120">
                  <a:extLst>
                    <a:ext uri="{FF2B5EF4-FFF2-40B4-BE49-F238E27FC236}">
                      <a16:creationId xmlns:a16="http://schemas.microsoft.com/office/drawing/2014/main" xmlns="" id="{6BEC5FCB-A0E4-2B4D-99A9-AF75102E89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69"/>
                  <a:ext cx="728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44" name="AutoShape 121">
                  <a:extLst>
                    <a:ext uri="{FF2B5EF4-FFF2-40B4-BE49-F238E27FC236}">
                      <a16:creationId xmlns:a16="http://schemas.microsoft.com/office/drawing/2014/main" xmlns="" id="{DFB1EE8C-1279-5544-ADC0-B00F802A67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6"/>
                  <a:ext cx="695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332" name="Rectangle 122">
                <a:extLst>
                  <a:ext uri="{FF2B5EF4-FFF2-40B4-BE49-F238E27FC236}">
                    <a16:creationId xmlns:a16="http://schemas.microsoft.com/office/drawing/2014/main" xmlns="" id="{24E8BD47-F206-7A48-B906-69B10A9FFC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1" y="429"/>
                <a:ext cx="66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3" name="Freeform 123">
                <a:extLst>
                  <a:ext uri="{FF2B5EF4-FFF2-40B4-BE49-F238E27FC236}">
                    <a16:creationId xmlns:a16="http://schemas.microsoft.com/office/drawing/2014/main" xmlns="" id="{3A63ACAE-F7D6-334D-BAC6-EB19E7953C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4" name="Freeform 124">
                <a:extLst>
                  <a:ext uri="{FF2B5EF4-FFF2-40B4-BE49-F238E27FC236}">
                    <a16:creationId xmlns:a16="http://schemas.microsoft.com/office/drawing/2014/main" xmlns="" id="{DBB6882F-25A8-7942-8AB7-E4F1E8EF4C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5" name="Oval 125">
                <a:extLst>
                  <a:ext uri="{FF2B5EF4-FFF2-40B4-BE49-F238E27FC236}">
                    <a16:creationId xmlns:a16="http://schemas.microsoft.com/office/drawing/2014/main" xmlns="" id="{1A751CBC-1E6B-3447-89A8-B6CA004222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" y="2611"/>
                <a:ext cx="49" cy="93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6" name="Freeform 126">
                <a:extLst>
                  <a:ext uri="{FF2B5EF4-FFF2-40B4-BE49-F238E27FC236}">
                    <a16:creationId xmlns:a16="http://schemas.microsoft.com/office/drawing/2014/main" xmlns="" id="{EC930019-7A9E-2D4F-9037-E4F5C26D89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7" name="AutoShape 127">
                <a:extLst>
                  <a:ext uri="{FF2B5EF4-FFF2-40B4-BE49-F238E27FC236}">
                    <a16:creationId xmlns:a16="http://schemas.microsoft.com/office/drawing/2014/main" xmlns="" id="{7F4290BB-A0B2-F146-87B4-626DAAD2FA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199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8" name="AutoShape 128">
                <a:extLst>
                  <a:ext uri="{FF2B5EF4-FFF2-40B4-BE49-F238E27FC236}">
                    <a16:creationId xmlns:a16="http://schemas.microsoft.com/office/drawing/2014/main" xmlns="" id="{DE6D89A2-6ADB-E042-9FB2-932318D01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0"/>
                <a:ext cx="1071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39" name="Oval 129">
                <a:extLst>
                  <a:ext uri="{FF2B5EF4-FFF2-40B4-BE49-F238E27FC236}">
                    <a16:creationId xmlns:a16="http://schemas.microsoft.com/office/drawing/2014/main" xmlns="" id="{8747708C-8EE0-5C44-BC67-5ACC5185A5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1"/>
                <a:ext cx="159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40" name="Oval 130">
                <a:extLst>
                  <a:ext uri="{FF2B5EF4-FFF2-40B4-BE49-F238E27FC236}">
                    <a16:creationId xmlns:a16="http://schemas.microsoft.com/office/drawing/2014/main" xmlns="" id="{7C3FDD54-230D-8547-8BCF-E82A928424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5" y="2386"/>
                <a:ext cx="159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41" name="Oval 131">
                <a:extLst>
                  <a:ext uri="{FF2B5EF4-FFF2-40B4-BE49-F238E27FC236}">
                    <a16:creationId xmlns:a16="http://schemas.microsoft.com/office/drawing/2014/main" xmlns="" id="{42133DC7-7C21-C149-A374-F81A9E0D91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2" y="2381"/>
                <a:ext cx="159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42" name="Rectangle 132">
                <a:extLst>
                  <a:ext uri="{FF2B5EF4-FFF2-40B4-BE49-F238E27FC236}">
                    <a16:creationId xmlns:a16="http://schemas.microsoft.com/office/drawing/2014/main" xmlns="" id="{9CA18ACF-5AE2-944A-999A-0A4945D54C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0" y="1833"/>
                <a:ext cx="89" cy="76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64" name="Group 158">
              <a:extLst>
                <a:ext uri="{FF2B5EF4-FFF2-40B4-BE49-F238E27FC236}">
                  <a16:creationId xmlns:a16="http://schemas.microsoft.com/office/drawing/2014/main" xmlns="" id="{989EFA5C-2337-B14C-91A8-83B54EA43E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70176" y="1987551"/>
              <a:ext cx="1689101" cy="1133476"/>
              <a:chOff x="1716" y="1206"/>
              <a:chExt cx="1064" cy="714"/>
            </a:xfrm>
          </p:grpSpPr>
          <p:sp>
            <p:nvSpPr>
              <p:cNvPr id="303" name="Text Box 95">
                <a:extLst>
                  <a:ext uri="{FF2B5EF4-FFF2-40B4-BE49-F238E27FC236}">
                    <a16:creationId xmlns:a16="http://schemas.microsoft.com/office/drawing/2014/main" xmlns="" id="{C009C226-FBA8-DB48-ABF5-333250A76D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6" y="1583"/>
                <a:ext cx="1064" cy="3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sender</a:t>
                </a:r>
                <a:r>
                  <a:rPr kumimoji="0" lang="ja-JP" alt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’</a:t>
                </a:r>
                <a:r>
                  <a:rPr kumimoji="0" lang="en-US" altLang="ja-JP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s e-mail 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server</a:t>
                </a: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304" name="Group 157">
                <a:extLst>
                  <a:ext uri="{FF2B5EF4-FFF2-40B4-BE49-F238E27FC236}">
                    <a16:creationId xmlns:a16="http://schemas.microsoft.com/office/drawing/2014/main" xmlns="" id="{619BE879-9F0A-604B-B005-9F7E471C17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92" y="1206"/>
                <a:ext cx="510" cy="354"/>
                <a:chOff x="2070" y="2004"/>
                <a:chExt cx="510" cy="354"/>
              </a:xfrm>
            </p:grpSpPr>
            <p:sp>
              <p:nvSpPr>
                <p:cNvPr id="305" name="Rectangle 94">
                  <a:extLst>
                    <a:ext uri="{FF2B5EF4-FFF2-40B4-BE49-F238E27FC236}">
                      <a16:creationId xmlns:a16="http://schemas.microsoft.com/office/drawing/2014/main" xmlns="" id="{5B36F236-9C70-9F4F-A0BB-DDEC73A677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0" y="2004"/>
                  <a:ext cx="510" cy="354"/>
                </a:xfrm>
                <a:prstGeom prst="rect">
                  <a:avLst/>
                </a:prstGeom>
                <a:solidFill>
                  <a:srgbClr val="CCCC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902030302020204" pitchFamily="66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06" name="Rectangle 96">
                  <a:extLst>
                    <a:ext uri="{FF2B5EF4-FFF2-40B4-BE49-F238E27FC236}">
                      <a16:creationId xmlns:a16="http://schemas.microsoft.com/office/drawing/2014/main" xmlns="" id="{474FF8AD-41AD-5B4D-B9AF-317E032001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94" y="207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902030302020204" pitchFamily="66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07" name="Line 97">
                  <a:extLst>
                    <a:ext uri="{FF2B5EF4-FFF2-40B4-BE49-F238E27FC236}">
                      <a16:creationId xmlns:a16="http://schemas.microsoft.com/office/drawing/2014/main" xmlns="" id="{A863854B-58B3-0746-BB05-4CC473ACCC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43" y="210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08" name="Line 98">
                  <a:extLst>
                    <a:ext uri="{FF2B5EF4-FFF2-40B4-BE49-F238E27FC236}">
                      <a16:creationId xmlns:a16="http://schemas.microsoft.com/office/drawing/2014/main" xmlns="" id="{45A3AD01-9B9C-1044-8CC4-2FA6945C9D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52" y="210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09" name="Line 99">
                  <a:extLst>
                    <a:ext uri="{FF2B5EF4-FFF2-40B4-BE49-F238E27FC236}">
                      <a16:creationId xmlns:a16="http://schemas.microsoft.com/office/drawing/2014/main" xmlns="" id="{A8A7F303-C29D-8048-8A22-5E010224F7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7" y="2105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10" name="Line 100">
                  <a:extLst>
                    <a:ext uri="{FF2B5EF4-FFF2-40B4-BE49-F238E27FC236}">
                      <a16:creationId xmlns:a16="http://schemas.microsoft.com/office/drawing/2014/main" xmlns="" id="{7423CFF1-7D3B-404B-908C-EF2DF44B8A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64" y="210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11" name="Line 101">
                  <a:extLst>
                    <a:ext uri="{FF2B5EF4-FFF2-40B4-BE49-F238E27FC236}">
                      <a16:creationId xmlns:a16="http://schemas.microsoft.com/office/drawing/2014/main" xmlns="" id="{9B55CC56-B162-3641-8907-ACAE4544AC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25" y="210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12" name="Line 102">
                  <a:extLst>
                    <a:ext uri="{FF2B5EF4-FFF2-40B4-BE49-F238E27FC236}">
                      <a16:creationId xmlns:a16="http://schemas.microsoft.com/office/drawing/2014/main" xmlns="" id="{E4EF0706-3A6D-5C49-AA93-B27D0DBD3D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81" y="210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13" name="Line 103">
                  <a:extLst>
                    <a:ext uri="{FF2B5EF4-FFF2-40B4-BE49-F238E27FC236}">
                      <a16:creationId xmlns:a16="http://schemas.microsoft.com/office/drawing/2014/main" xmlns="" id="{43AD1883-A082-A241-BB8E-52956E25AC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96" y="210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14" name="Rectangle 104">
                  <a:extLst>
                    <a:ext uri="{FF2B5EF4-FFF2-40B4-BE49-F238E27FC236}">
                      <a16:creationId xmlns:a16="http://schemas.microsoft.com/office/drawing/2014/main" xmlns="" id="{CB654EBC-DFE6-7844-BECE-DAF45E418A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02" y="224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902030302020204" pitchFamily="66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15" name="Rectangle 105">
                  <a:extLst>
                    <a:ext uri="{FF2B5EF4-FFF2-40B4-BE49-F238E27FC236}">
                      <a16:creationId xmlns:a16="http://schemas.microsoft.com/office/drawing/2014/main" xmlns="" id="{43DD0923-D124-3D47-A27E-DA7522CBC5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8" y="224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902030302020204" pitchFamily="66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16" name="Rectangle 106">
                  <a:extLst>
                    <a:ext uri="{FF2B5EF4-FFF2-40B4-BE49-F238E27FC236}">
                      <a16:creationId xmlns:a16="http://schemas.microsoft.com/office/drawing/2014/main" xmlns="" id="{0CC3197A-47DF-3249-89A6-6A5C29D7B5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74" y="224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902030302020204" pitchFamily="66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17" name="Rectangle 107">
                  <a:extLst>
                    <a:ext uri="{FF2B5EF4-FFF2-40B4-BE49-F238E27FC236}">
                      <a16:creationId xmlns:a16="http://schemas.microsoft.com/office/drawing/2014/main" xmlns="" id="{B9DC67EE-6FEB-9E4F-91F2-78466630CE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71" y="224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902030302020204" pitchFamily="66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18" name="Rectangle 108">
                  <a:extLst>
                    <a:ext uri="{FF2B5EF4-FFF2-40B4-BE49-F238E27FC236}">
                      <a16:creationId xmlns:a16="http://schemas.microsoft.com/office/drawing/2014/main" xmlns="" id="{C7A7D96F-C671-7844-AFFA-9CA6B5108A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67" y="224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anose="030F0902030302020204" pitchFamily="66" charset="0"/>
                    <a:ea typeface="ＭＳ Ｐゴシック" panose="020B0600070205080204" pitchFamily="34" charset="-128"/>
                  </a:endParaRPr>
                </a:p>
              </p:txBody>
            </p:sp>
          </p:grpSp>
        </p:grpSp>
        <p:sp>
          <p:nvSpPr>
            <p:cNvPr id="265" name="Text Box 121">
              <a:extLst>
                <a:ext uri="{FF2B5EF4-FFF2-40B4-BE49-F238E27FC236}">
                  <a16:creationId xmlns:a16="http://schemas.microsoft.com/office/drawing/2014/main" xmlns="" id="{C86F78FC-21D9-8E40-B3EC-9E551DA5CB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888" y="1466850"/>
              <a:ext cx="89058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SMTP</a:t>
              </a:r>
            </a:p>
          </p:txBody>
        </p:sp>
        <p:sp>
          <p:nvSpPr>
            <p:cNvPr id="266" name="Rectangle 153">
              <a:extLst>
                <a:ext uri="{FF2B5EF4-FFF2-40B4-BE49-F238E27FC236}">
                  <a16:creationId xmlns:a16="http://schemas.microsoft.com/office/drawing/2014/main" xmlns="" id="{C9F65152-882D-5B49-B9E9-532D284A8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1425" y="1457325"/>
              <a:ext cx="85725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67" name="Text Box 154">
              <a:extLst>
                <a:ext uri="{FF2B5EF4-FFF2-40B4-BE49-F238E27FC236}">
                  <a16:creationId xmlns:a16="http://schemas.microsoft.com/office/drawing/2014/main" xmlns="" id="{53E42ABE-038D-0049-93D4-9EC2E3234B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2675" y="1477963"/>
              <a:ext cx="89058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SMTP</a:t>
              </a:r>
            </a:p>
          </p:txBody>
        </p:sp>
        <p:sp>
          <p:nvSpPr>
            <p:cNvPr id="268" name="Text Box 156">
              <a:extLst>
                <a:ext uri="{FF2B5EF4-FFF2-40B4-BE49-F238E27FC236}">
                  <a16:creationId xmlns:a16="http://schemas.microsoft.com/office/drawing/2014/main" xmlns="" id="{7317FD5B-CED0-1249-AB7C-DF94D68153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9999" y="1308100"/>
              <a:ext cx="1786114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e-mail access</a:t>
              </a:r>
            </a:p>
            <a:p>
              <a:pPr marL="0" marR="0" lvl="0" indent="0" algn="ctr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protocol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69" name="Text Box 160">
              <a:extLst>
                <a:ext uri="{FF2B5EF4-FFF2-40B4-BE49-F238E27FC236}">
                  <a16:creationId xmlns:a16="http://schemas.microsoft.com/office/drawing/2014/main" xmlns="" id="{629C8856-7516-C14B-9215-6EA637A93B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4880" y="2598738"/>
              <a:ext cx="1792478" cy="53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receiver</a:t>
              </a:r>
              <a:r>
                <a:rPr kumimoji="0" lang="ja-JP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’</a:t>
              </a:r>
              <a:r>
                <a:rPr kumimoji="0" lang="en-US" altLang="ja-JP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s e-mail </a:t>
              </a:r>
            </a:p>
            <a:p>
              <a:pPr marL="0" marR="0" lvl="0" indent="0" algn="ct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server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270" name="Group 161">
              <a:extLst>
                <a:ext uri="{FF2B5EF4-FFF2-40B4-BE49-F238E27FC236}">
                  <a16:creationId xmlns:a16="http://schemas.microsoft.com/office/drawing/2014/main" xmlns="" id="{D048FD00-5924-9447-B3B8-0AC35A063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0600" y="2000250"/>
              <a:ext cx="809625" cy="561975"/>
              <a:chOff x="2070" y="2004"/>
              <a:chExt cx="510" cy="354"/>
            </a:xfrm>
          </p:grpSpPr>
          <p:sp>
            <p:nvSpPr>
              <p:cNvPr id="289" name="Rectangle 162">
                <a:extLst>
                  <a:ext uri="{FF2B5EF4-FFF2-40B4-BE49-F238E27FC236}">
                    <a16:creationId xmlns:a16="http://schemas.microsoft.com/office/drawing/2014/main" xmlns="" id="{F2A0FCDF-5941-FB4C-9E1D-DFD5B6C69C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0" y="2004"/>
                <a:ext cx="510" cy="354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0" name="Rectangle 163">
                <a:extLst>
                  <a:ext uri="{FF2B5EF4-FFF2-40B4-BE49-F238E27FC236}">
                    <a16:creationId xmlns:a16="http://schemas.microsoft.com/office/drawing/2014/main" xmlns="" id="{A6B8C913-36F9-824E-8C78-BFC7B3CDCF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4" y="207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1" name="Line 164">
                <a:extLst>
                  <a:ext uri="{FF2B5EF4-FFF2-40B4-BE49-F238E27FC236}">
                    <a16:creationId xmlns:a16="http://schemas.microsoft.com/office/drawing/2014/main" xmlns="" id="{3013A95D-A281-0C49-810B-3C864F7A46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3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2" name="Line 165">
                <a:extLst>
                  <a:ext uri="{FF2B5EF4-FFF2-40B4-BE49-F238E27FC236}">
                    <a16:creationId xmlns:a16="http://schemas.microsoft.com/office/drawing/2014/main" xmlns="" id="{7277D88A-E3AC-5446-9FCD-10B5C085D7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2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3" name="Line 166">
                <a:extLst>
                  <a:ext uri="{FF2B5EF4-FFF2-40B4-BE49-F238E27FC236}">
                    <a16:creationId xmlns:a16="http://schemas.microsoft.com/office/drawing/2014/main" xmlns="" id="{04850398-3936-B842-A3EB-78E3F18C8D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7" y="2105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4" name="Line 167">
                <a:extLst>
                  <a:ext uri="{FF2B5EF4-FFF2-40B4-BE49-F238E27FC236}">
                    <a16:creationId xmlns:a16="http://schemas.microsoft.com/office/drawing/2014/main" xmlns="" id="{E54B2FAE-3B2C-BA4E-89DE-F17808A850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4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5" name="Line 168">
                <a:extLst>
                  <a:ext uri="{FF2B5EF4-FFF2-40B4-BE49-F238E27FC236}">
                    <a16:creationId xmlns:a16="http://schemas.microsoft.com/office/drawing/2014/main" xmlns="" id="{0321206D-71C9-A044-BC0F-A09851EF78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5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6" name="Line 169">
                <a:extLst>
                  <a:ext uri="{FF2B5EF4-FFF2-40B4-BE49-F238E27FC236}">
                    <a16:creationId xmlns:a16="http://schemas.microsoft.com/office/drawing/2014/main" xmlns="" id="{74EEC85C-DBEF-B746-945E-539B17DF96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1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7" name="Line 170">
                <a:extLst>
                  <a:ext uri="{FF2B5EF4-FFF2-40B4-BE49-F238E27FC236}">
                    <a16:creationId xmlns:a16="http://schemas.microsoft.com/office/drawing/2014/main" xmlns="" id="{A1C2C0B2-5E64-FE46-9C1E-5AB91616FB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96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8" name="Rectangle 171">
                <a:extLst>
                  <a:ext uri="{FF2B5EF4-FFF2-40B4-BE49-F238E27FC236}">
                    <a16:creationId xmlns:a16="http://schemas.microsoft.com/office/drawing/2014/main" xmlns="" id="{18F1DECA-4FA1-D549-80DB-068E1D6FF7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2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9" name="Rectangle 172">
                <a:extLst>
                  <a:ext uri="{FF2B5EF4-FFF2-40B4-BE49-F238E27FC236}">
                    <a16:creationId xmlns:a16="http://schemas.microsoft.com/office/drawing/2014/main" xmlns="" id="{6B4E18DF-65E1-F447-8367-4528F7700F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00" name="Rectangle 173">
                <a:extLst>
                  <a:ext uri="{FF2B5EF4-FFF2-40B4-BE49-F238E27FC236}">
                    <a16:creationId xmlns:a16="http://schemas.microsoft.com/office/drawing/2014/main" xmlns="" id="{BE1B5DC5-88E8-A649-93B6-EBAE42FDEF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4" y="224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01" name="Rectangle 174">
                <a:extLst>
                  <a:ext uri="{FF2B5EF4-FFF2-40B4-BE49-F238E27FC236}">
                    <a16:creationId xmlns:a16="http://schemas.microsoft.com/office/drawing/2014/main" xmlns="" id="{EEC64261-B933-2A4B-B45A-6E28963DC5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1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02" name="Rectangle 175">
                <a:extLst>
                  <a:ext uri="{FF2B5EF4-FFF2-40B4-BE49-F238E27FC236}">
                    <a16:creationId xmlns:a16="http://schemas.microsoft.com/office/drawing/2014/main" xmlns="" id="{EE1004C2-A311-414F-8E80-B4092CDDCD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7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</a:endParaRPr>
              </a:p>
            </p:txBody>
          </p:sp>
        </p:grpSp>
        <p:pic>
          <p:nvPicPr>
            <p:cNvPr id="271" name="Picture 176" descr="Alice">
              <a:extLst>
                <a:ext uri="{FF2B5EF4-FFF2-40B4-BE49-F238E27FC236}">
                  <a16:creationId xmlns:a16="http://schemas.microsoft.com/office/drawing/2014/main" xmlns="" id="{D76D5E82-5D05-6842-89F0-A930ADA6FC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500" y="1557338"/>
              <a:ext cx="561975" cy="693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2" name="Picture 179" descr="Bob">
              <a:extLst>
                <a:ext uri="{FF2B5EF4-FFF2-40B4-BE49-F238E27FC236}">
                  <a16:creationId xmlns:a16="http://schemas.microsoft.com/office/drawing/2014/main" xmlns="" id="{8989F6E0-4E76-1C42-A3BD-A635A4955F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3700" y="1571625"/>
              <a:ext cx="676275" cy="690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3" name="Line 94">
              <a:extLst>
                <a:ext uri="{FF2B5EF4-FFF2-40B4-BE49-F238E27FC236}">
                  <a16:creationId xmlns:a16="http://schemas.microsoft.com/office/drawing/2014/main" xmlns="" id="{29F99540-FD3E-AE4C-A57E-1A20C6E30E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3425" y="1905000"/>
              <a:ext cx="903288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74" name="Line 95">
              <a:extLst>
                <a:ext uri="{FF2B5EF4-FFF2-40B4-BE49-F238E27FC236}">
                  <a16:creationId xmlns:a16="http://schemas.microsoft.com/office/drawing/2014/main" xmlns="" id="{C981B998-3615-AE47-86C8-57BFFA2D7D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3788" y="1901825"/>
              <a:ext cx="903287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75" name="Line 96">
              <a:extLst>
                <a:ext uri="{FF2B5EF4-FFF2-40B4-BE49-F238E27FC236}">
                  <a16:creationId xmlns:a16="http://schemas.microsoft.com/office/drawing/2014/main" xmlns="" id="{CF977160-74FD-0442-823B-6C2520914C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3038" y="1898650"/>
              <a:ext cx="1697037" cy="158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76" name="Text Box 156">
              <a:extLst>
                <a:ext uri="{FF2B5EF4-FFF2-40B4-BE49-F238E27FC236}">
                  <a16:creationId xmlns:a16="http://schemas.microsoft.com/office/drawing/2014/main" xmlns="" id="{FA9F06E0-5873-0E44-A9D6-E6DD02F2E3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5478" y="1927225"/>
              <a:ext cx="1450797" cy="563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(e.g.,</a:t>
              </a:r>
              <a:r>
                <a:rPr kumimoji="0" lang="en-US" altLang="en-US" sz="16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 IMAP, HTTP</a:t>
              </a:r>
              <a:r>
                <a:rPr kumimoji="0" lang="en-US" altLang="en-US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)</a:t>
              </a:r>
            </a:p>
          </p:txBody>
        </p:sp>
        <p:grpSp>
          <p:nvGrpSpPr>
            <p:cNvPr id="277" name="Group 166">
              <a:extLst>
                <a:ext uri="{FF2B5EF4-FFF2-40B4-BE49-F238E27FC236}">
                  <a16:creationId xmlns:a16="http://schemas.microsoft.com/office/drawing/2014/main" xmlns="" id="{F8002D43-E860-6845-AF7E-87A1A94D62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6800" y="1419225"/>
              <a:ext cx="912813" cy="1054100"/>
              <a:chOff x="3574" y="550"/>
              <a:chExt cx="575" cy="664"/>
            </a:xfrm>
          </p:grpSpPr>
          <p:grpSp>
            <p:nvGrpSpPr>
              <p:cNvPr id="284" name="Group 167">
                <a:extLst>
                  <a:ext uri="{FF2B5EF4-FFF2-40B4-BE49-F238E27FC236}">
                    <a16:creationId xmlns:a16="http://schemas.microsoft.com/office/drawing/2014/main" xmlns="" id="{BE8CFCE0-FC41-0748-A6E7-4600DF924D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87" name="Picture 168" descr="desktop_computer_stylized_medium">
                  <a:extLst>
                    <a:ext uri="{FF2B5EF4-FFF2-40B4-BE49-F238E27FC236}">
                      <a16:creationId xmlns:a16="http://schemas.microsoft.com/office/drawing/2014/main" xmlns="" id="{C00F7CE5-DF44-7248-ABAB-405A73E21C5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88" name="Freeform 169">
                  <a:extLst>
                    <a:ext uri="{FF2B5EF4-FFF2-40B4-BE49-F238E27FC236}">
                      <a16:creationId xmlns:a16="http://schemas.microsoft.com/office/drawing/2014/main" xmlns="" id="{B502B1B8-E322-AA40-A3FB-263ECFA0F8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285" name="Rectangle 115">
                <a:extLst>
                  <a:ext uri="{FF2B5EF4-FFF2-40B4-BE49-F238E27FC236}">
                    <a16:creationId xmlns:a16="http://schemas.microsoft.com/office/drawing/2014/main" xmlns="" id="{39E4CD50-3462-8441-ACC2-01559D9DD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86" name="Text Box 116">
                <a:extLst>
                  <a:ext uri="{FF2B5EF4-FFF2-40B4-BE49-F238E27FC236}">
                    <a16:creationId xmlns:a16="http://schemas.microsoft.com/office/drawing/2014/main" xmlns="" id="{7198B7C8-8E18-3B4E-9F4D-DCC4D4D7D2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user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agent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78" name="Group 172">
              <a:extLst>
                <a:ext uri="{FF2B5EF4-FFF2-40B4-BE49-F238E27FC236}">
                  <a16:creationId xmlns:a16="http://schemas.microsoft.com/office/drawing/2014/main" xmlns="" id="{2F25B33E-FEB9-404E-8162-D03D8D9966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67538" y="1422400"/>
              <a:ext cx="912812" cy="1054100"/>
              <a:chOff x="3574" y="550"/>
              <a:chExt cx="575" cy="664"/>
            </a:xfrm>
          </p:grpSpPr>
          <p:grpSp>
            <p:nvGrpSpPr>
              <p:cNvPr id="279" name="Group 173">
                <a:extLst>
                  <a:ext uri="{FF2B5EF4-FFF2-40B4-BE49-F238E27FC236}">
                    <a16:creationId xmlns:a16="http://schemas.microsoft.com/office/drawing/2014/main" xmlns="" id="{375D5E0D-2C70-F544-89E4-5E4F1AA9FD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82" name="Picture 174" descr="desktop_computer_stylized_medium">
                  <a:extLst>
                    <a:ext uri="{FF2B5EF4-FFF2-40B4-BE49-F238E27FC236}">
                      <a16:creationId xmlns:a16="http://schemas.microsoft.com/office/drawing/2014/main" xmlns="" id="{B288CD06-BF42-AC48-84ED-106FF7671F8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83" name="Freeform 175">
                  <a:extLst>
                    <a:ext uri="{FF2B5EF4-FFF2-40B4-BE49-F238E27FC236}">
                      <a16:creationId xmlns:a16="http://schemas.microsoft.com/office/drawing/2014/main" xmlns="" id="{4067DFC9-14ED-1F46-8DB5-99B637F872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280" name="Rectangle 115">
                <a:extLst>
                  <a:ext uri="{FF2B5EF4-FFF2-40B4-BE49-F238E27FC236}">
                    <a16:creationId xmlns:a16="http://schemas.microsoft.com/office/drawing/2014/main" xmlns="" id="{37808C5A-E4DA-234C-AD81-DC4AD2416C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81" name="Text Box 116">
                <a:extLst>
                  <a:ext uri="{FF2B5EF4-FFF2-40B4-BE49-F238E27FC236}">
                    <a16:creationId xmlns:a16="http://schemas.microsoft.com/office/drawing/2014/main" xmlns="" id="{BE906C48-2C97-234D-A7D2-2162D242FA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user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agent</a:t>
                </a: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</p:grpSp>
      <p:sp>
        <p:nvSpPr>
          <p:cNvPr id="384" name="Rectangle 3">
            <a:extLst>
              <a:ext uri="{FF2B5EF4-FFF2-40B4-BE49-F238E27FC236}">
                <a16:creationId xmlns:a16="http://schemas.microsoft.com/office/drawing/2014/main" xmlns="" id="{34528512-2985-154D-9CDE-10220B10DEDE}"/>
              </a:ext>
            </a:extLst>
          </p:cNvPr>
          <p:cNvSpPr txBox="1">
            <a:spLocks noChangeArrowheads="1"/>
          </p:cNvSpPr>
          <p:nvPr/>
        </p:nvSpPr>
        <p:spPr>
          <a:xfrm>
            <a:off x="478971" y="3418624"/>
            <a:ext cx="11248571" cy="31500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SMTP:</a:t>
            </a:r>
            <a:r>
              <a:rPr lang="en-US" altLang="en-US" dirty="0">
                <a:ea typeface="ＭＳ Ｐゴシック" panose="020B0600070205080204" pitchFamily="34" charset="-128"/>
              </a:rPr>
              <a:t> delivery/storage of e-mail messages to receiver’</a:t>
            </a:r>
            <a:r>
              <a:rPr lang="en-US" altLang="ja-JP" dirty="0">
                <a:ea typeface="ＭＳ Ｐゴシック" panose="020B0600070205080204" pitchFamily="34" charset="-128"/>
              </a:rPr>
              <a:t>s server</a:t>
            </a:r>
          </a:p>
          <a:p>
            <a:pPr>
              <a:lnSpc>
                <a:spcPct val="10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mail access protocol: retrieval from server</a:t>
            </a:r>
          </a:p>
          <a:p>
            <a:pPr lvl="1">
              <a:lnSpc>
                <a:spcPct val="100000"/>
              </a:lnSpc>
            </a:pP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IMAP:</a:t>
            </a:r>
            <a:r>
              <a:rPr lang="en-US" altLang="en-US" dirty="0">
                <a:ea typeface="ＭＳ Ｐゴシック" panose="020B0600070205080204" pitchFamily="34" charset="-128"/>
              </a:rPr>
              <a:t> Internet Mail Access Protocol [RFC 3501]: messages stored on server, IMAP provides retrieval, deletion, folders of stored messages on server</a:t>
            </a:r>
          </a:p>
          <a:p>
            <a:pPr marL="346075" indent="-288925">
              <a:lnSpc>
                <a:spcPct val="100000"/>
              </a:lnSpc>
            </a:pP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HTTP: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dirty="0" err="1">
                <a:ea typeface="ＭＳ Ｐゴシック" panose="020B0600070205080204" pitchFamily="34" charset="-128"/>
              </a:rPr>
              <a:t>gmail</a:t>
            </a:r>
            <a:r>
              <a:rPr lang="en-US" altLang="en-US" dirty="0">
                <a:ea typeface="ＭＳ Ｐゴシック" panose="020B0600070205080204" pitchFamily="34" charset="-128"/>
              </a:rPr>
              <a:t>, Hotmail, </a:t>
            </a:r>
            <a:r>
              <a:rPr lang="en-US" altLang="en-US" dirty="0" err="1">
                <a:ea typeface="ＭＳ Ｐゴシック" panose="020B0600070205080204" pitchFamily="34" charset="-128"/>
              </a:rPr>
              <a:t>Yahoo!Mail</a:t>
            </a:r>
            <a:r>
              <a:rPr lang="en-US" altLang="en-US" dirty="0">
                <a:ea typeface="ＭＳ Ｐゴシック" panose="020B0600070205080204" pitchFamily="34" charset="-128"/>
              </a:rPr>
              <a:t>, etc. provides web-based interface on top of STMP (to send), IMAP (or POP) to retrieve e-mail messages</a:t>
            </a:r>
          </a:p>
          <a:p>
            <a:pPr lvl="1"/>
            <a:endParaRPr lang="en-US" altLang="en-US" sz="22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069543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 smtClean="0"/>
              <a:t>File </a:t>
            </a:r>
            <a:r>
              <a:rPr lang="en-US" dirty="0"/>
              <a:t>Transfer Protocol (FTP) 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384" name="Rectangle 3">
            <a:extLst>
              <a:ext uri="{FF2B5EF4-FFF2-40B4-BE49-F238E27FC236}">
                <a16:creationId xmlns:a16="http://schemas.microsoft.com/office/drawing/2014/main" xmlns="" id="{34528512-2985-154D-9CDE-10220B10DEDE}"/>
              </a:ext>
            </a:extLst>
          </p:cNvPr>
          <p:cNvSpPr txBox="1">
            <a:spLocks noChangeArrowheads="1"/>
          </p:cNvSpPr>
          <p:nvPr/>
        </p:nvSpPr>
        <p:spPr>
          <a:xfrm>
            <a:off x="45492" y="1098758"/>
            <a:ext cx="8006308" cy="31500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dirty="0" smtClean="0">
                <a:solidFill>
                  <a:srgbClr val="CC0000"/>
                </a:solidFill>
                <a:ea typeface="ＭＳ Ｐゴシック" panose="020B0600070205080204" pitchFamily="34" charset="-128"/>
              </a:rPr>
              <a:t>FTP</a:t>
            </a: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: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It </a:t>
            </a:r>
            <a:r>
              <a:rPr lang="en-US" altLang="en-US" dirty="0">
                <a:ea typeface="ＭＳ Ｐゴシック" panose="020B0600070205080204" pitchFamily="34" charset="-128"/>
              </a:rPr>
              <a:t>enables users to upload, download, delete, rename, move, and copy files on a remote server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.</a:t>
            </a:r>
          </a:p>
          <a:p>
            <a:r>
              <a:rPr lang="en-US" dirty="0"/>
              <a:t>The client (your computer) connects to an FTP server using login credentials (username and password, or anonymously).</a:t>
            </a:r>
          </a:p>
          <a:p>
            <a:r>
              <a:rPr lang="en-US" dirty="0"/>
              <a:t>Once connected, the user can browse directories and transfer files between the local and remote </a:t>
            </a:r>
            <a:r>
              <a:rPr lang="en-US" dirty="0" smtClean="0"/>
              <a:t>systems. FTP </a:t>
            </a:r>
            <a:r>
              <a:rPr lang="en-US" dirty="0"/>
              <a:t>uses two communication channels:</a:t>
            </a:r>
          </a:p>
          <a:p>
            <a:r>
              <a:rPr lang="en-US" dirty="0"/>
              <a:t>Command Channel (Port 21): Used for sending commands and responses.</a:t>
            </a:r>
          </a:p>
          <a:p>
            <a:r>
              <a:rPr lang="en-US" dirty="0"/>
              <a:t>Data Channel (Port 20 or other): Used for actual file transfer.</a:t>
            </a:r>
          </a:p>
          <a:p>
            <a:pPr>
              <a:lnSpc>
                <a:spcPct val="100000"/>
              </a:lnSpc>
            </a:pPr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  <p:sp>
        <p:nvSpPr>
          <p:cNvPr id="4" name="AutoShape 2" descr="https://chatgpt.com/backend-api/estuary/content?id=file_000000000afc7207aa412e4e30042b65&amp;ts=489544&amp;p=fs&amp;cid=1&amp;sig=ea01c95994c44f329d1e49daa89e16c5a20b235486c8fb0537ef195b17495a51&amp;v=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5" descr="https://chatgpt.com/backend-api/estuary/content?id=file_000000000afc7207aa412e4e30042b65&amp;ts=489544&amp;p=fs&amp;cid=1&amp;sig=ea01c95994c44f329d1e49daa89e16c5a20b235486c8fb0537ef195b17495a51&amp;v=0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7" descr="Generated image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7133" y="803835"/>
            <a:ext cx="4154162" cy="410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460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9970</TotalTime>
  <Words>3164</Words>
  <Application>Microsoft Office PowerPoint</Application>
  <PresentationFormat>Custom</PresentationFormat>
  <Paragraphs>659</Paragraphs>
  <Slides>40</Slides>
  <Notes>40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Computer Networks (CS-241)</vt:lpstr>
      <vt:lpstr>Processes communicating</vt:lpstr>
      <vt:lpstr>Types of Process Communication</vt:lpstr>
      <vt:lpstr>Types of Process Communication</vt:lpstr>
      <vt:lpstr>Sockets</vt:lpstr>
      <vt:lpstr>Sockets</vt:lpstr>
      <vt:lpstr>Real-Life Examples of Sockets</vt:lpstr>
      <vt:lpstr>An application-layer protocol defines:</vt:lpstr>
      <vt:lpstr>Application layer: overview</vt:lpstr>
      <vt:lpstr>Web and HTTP</vt:lpstr>
      <vt:lpstr>HTTP overview</vt:lpstr>
      <vt:lpstr>HTTP overview (continued)</vt:lpstr>
      <vt:lpstr>HTTP connections: two types</vt:lpstr>
      <vt:lpstr>Non-persistent HTTP in operation: example</vt:lpstr>
      <vt:lpstr>Non-persistent HTTP in operation: example (cont.)</vt:lpstr>
      <vt:lpstr>Non-persistent HTTP: response time</vt:lpstr>
      <vt:lpstr>Persistent HTTP (HTTP 1.1)</vt:lpstr>
      <vt:lpstr>HTTP request message</vt:lpstr>
      <vt:lpstr>HTTP request message: general format</vt:lpstr>
      <vt:lpstr>Other HTTP request messages</vt:lpstr>
      <vt:lpstr>HTTP response message</vt:lpstr>
      <vt:lpstr>HTTP response status codes</vt:lpstr>
      <vt:lpstr>Maintaining user/server state: cookies</vt:lpstr>
      <vt:lpstr>Maintaining user/server state: cookies</vt:lpstr>
      <vt:lpstr>HTTP cookies: comments</vt:lpstr>
      <vt:lpstr>Web caches (proxy servers)</vt:lpstr>
      <vt:lpstr>Web caches (proxy servers)</vt:lpstr>
      <vt:lpstr>HTTP/2</vt:lpstr>
      <vt:lpstr>HTTP/2</vt:lpstr>
      <vt:lpstr>HTTP/2 to HTTP/3</vt:lpstr>
      <vt:lpstr>Application layer: overview</vt:lpstr>
      <vt:lpstr>E-mail</vt:lpstr>
      <vt:lpstr>E-mail: mail servers</vt:lpstr>
      <vt:lpstr>E-mail: the RFC (5321)</vt:lpstr>
      <vt:lpstr>Scenario: Alice sends e-mail to Bob</vt:lpstr>
      <vt:lpstr>Sample SMTP interaction</vt:lpstr>
      <vt:lpstr>SMTP: closing observations</vt:lpstr>
      <vt:lpstr>Mail message format</vt:lpstr>
      <vt:lpstr>Mail access protocols</vt:lpstr>
      <vt:lpstr>File Transfer Protocol (FTP)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UbaidComputers</cp:lastModifiedBy>
  <cp:revision>404</cp:revision>
  <dcterms:created xsi:type="dcterms:W3CDTF">2020-01-18T07:24:59Z</dcterms:created>
  <dcterms:modified xsi:type="dcterms:W3CDTF">2025-11-06T03:19:22Z</dcterms:modified>
</cp:coreProperties>
</file>