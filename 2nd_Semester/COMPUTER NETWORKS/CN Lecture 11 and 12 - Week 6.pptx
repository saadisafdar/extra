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1204" r:id="rId2"/>
    <p:sldId id="1044" r:id="rId3"/>
    <p:sldId id="1205" r:id="rId4"/>
    <p:sldId id="1206" r:id="rId5"/>
    <p:sldId id="1096" r:id="rId6"/>
    <p:sldId id="1203" r:id="rId7"/>
    <p:sldId id="1098" r:id="rId8"/>
    <p:sldId id="1099" r:id="rId9"/>
    <p:sldId id="1100" r:id="rId10"/>
    <p:sldId id="1101" r:id="rId11"/>
    <p:sldId id="1102" r:id="rId12"/>
    <p:sldId id="1104" r:id="rId13"/>
    <p:sldId id="1106" r:id="rId14"/>
    <p:sldId id="1107" r:id="rId15"/>
    <p:sldId id="111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A3"/>
    <a:srgbClr val="3C6CDF"/>
    <a:srgbClr val="ED356A"/>
    <a:srgbClr val="E40000"/>
    <a:srgbClr val="FFB3D3"/>
    <a:srgbClr val="FA376E"/>
    <a:srgbClr val="9CDFF9"/>
    <a:srgbClr val="0000A8"/>
    <a:srgbClr val="B8C2C9"/>
    <a:srgbClr val="D6DC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7931"/>
    <p:restoredTop sz="95934"/>
  </p:normalViewPr>
  <p:slideViewPr>
    <p:cSldViewPr snapToGrid="0" snapToObjects="1">
      <p:cViewPr>
        <p:scale>
          <a:sx n="87" d="100"/>
          <a:sy n="87" d="100"/>
        </p:scale>
        <p:origin x="-115" y="-110"/>
      </p:cViewPr>
      <p:guideLst>
        <p:guide orient="horz" pos="2160"/>
        <p:guide pos="3840"/>
      </p:guideLst>
    </p:cSldViewPr>
  </p:slideViewPr>
  <p:outlineViewPr>
    <p:cViewPr>
      <p:scale>
        <a:sx n="33" d="100"/>
        <a:sy n="33" d="100"/>
      </p:scale>
      <p:origin x="0" y="-2574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11/19/2025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dirty="0"/>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06082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a:t>
            </a:fld>
            <a:endParaRPr lang="en-US" dirty="0"/>
          </a:p>
        </p:txBody>
      </p:sp>
    </p:spTree>
    <p:extLst>
      <p:ext uri="{BB962C8B-B14F-4D97-AF65-F5344CB8AC3E}">
        <p14:creationId xmlns:p14="http://schemas.microsoft.com/office/powerpoint/2010/main" val="388260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496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a:t>
            </a:fld>
            <a:endParaRPr lang="en-US"/>
          </a:p>
        </p:txBody>
      </p:sp>
    </p:spTree>
    <p:extLst>
      <p:ext uri="{BB962C8B-B14F-4D97-AF65-F5344CB8AC3E}">
        <p14:creationId xmlns:p14="http://schemas.microsoft.com/office/powerpoint/2010/main" val="2616235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MSS is 1460 bytes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35840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33942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9887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thing to note here is that the ACK number (43) on the B-to-A segment is one more than the sequence number (42) on the A-to-B segment that triggered that ACK</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Similarly, the ACK number (80) on the last A-to-B segment is one more than the sequence number (79) on the B-to-A segment that triggered that ACK</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4182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36266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This is how TCP re-computes the estimated RTT each time a new SampleRTT is taken.</a:t>
            </a:r>
          </a:p>
          <a:p>
            <a:r>
              <a:rPr lang="en-US" dirty="0"/>
              <a:t>The process is knows as an exponentially weighted moving average, shown by the equation here.</a:t>
            </a:r>
          </a:p>
          <a:p>
            <a:r>
              <a:rPr lang="en-US" dirty="0"/>
              <a:t>&lt;say it&gt;</a:t>
            </a:r>
          </a:p>
          <a:p>
            <a:r>
              <a:rPr lang="en-US" dirty="0"/>
              <a:t>Where alpha reflects the influence of the most recent measurements on the estimated RTT; a typical value of alpha used in implementations is .125</a:t>
            </a:r>
          </a:p>
          <a:p>
            <a:endParaRPr lang="en-US" dirty="0"/>
          </a:p>
          <a:p>
            <a:r>
              <a:rPr lang="en-US" dirty="0"/>
              <a:t>The graph at the bottom show measured RTTs between a host in the Massachusetts and a host in France, as well as the estimated, “smoothed”  RTT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43563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this value of the estimated RTT, TCP computes the timeout interval to be the estimated RTT plus a “safety margin”</a:t>
            </a:r>
          </a:p>
          <a:p>
            <a:r>
              <a:rPr lang="en-US" dirty="0"/>
              <a:t> </a:t>
            </a:r>
          </a:p>
          <a:p>
            <a:r>
              <a:rPr lang="en-US" dirty="0"/>
              <a:t>And the intuition is that if we are seeing a large variation in SAMPLERTT – the RTT estimates are fluctuating a lot - then we’ll want a larger safety margin</a:t>
            </a:r>
          </a:p>
          <a:p>
            <a:endParaRPr lang="en-US" dirty="0"/>
          </a:p>
          <a:p>
            <a:r>
              <a:rPr lang="en-US" dirty="0"/>
              <a:t>So TCP computes the Timeout interval to be the Estimated RTT plus 4 times a measure of deviation in the RTT.</a:t>
            </a:r>
          </a:p>
          <a:p>
            <a:endParaRPr lang="en-US" dirty="0"/>
          </a:p>
          <a:p>
            <a:r>
              <a:rPr lang="en-US" dirty="0"/>
              <a:t>The deviation in the RTT is computed as the eWMA of the difference between the most recently measured SampleRTT from the Estimated RTT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0075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Given these details of TCP sequence numbers, acks, and timers, we can now describe the big picture view of how the TCP sender and receiver operate</a:t>
            </a:r>
          </a:p>
          <a:p>
            <a:endParaRPr lang="en-US" dirty="0"/>
          </a:p>
          <a:p>
            <a:r>
              <a:rPr lang="en-US" dirty="0"/>
              <a:t>You can check out FSMs in book; let’s just give an English text description here and let’s start with the sender.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89377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cement our understanding of TCP reliability, let’s look a a few retransmission scenarios</a:t>
            </a:r>
          </a:p>
          <a:p>
            <a:endParaRPr lang="en-US" dirty="0"/>
          </a:p>
          <a:p>
            <a:r>
              <a:rPr lang="en-US" dirty="0"/>
              <a:t>In the first case a TCP segments is transmitted and the ACK is lost, and the TCP timeout mechanism results in another copy of being transmitted and then re-ACKed a the sender</a:t>
            </a:r>
          </a:p>
          <a:p>
            <a:endParaRPr lang="en-US" dirty="0"/>
          </a:p>
          <a:p>
            <a:r>
              <a:rPr lang="en-US" dirty="0"/>
              <a:t>In the second example two segments are sent and acknowledged, but there is a premature timeout e for the first segment, which is retransmitted.  Note that when this retransmitted segment is received, the receiver has already received the first two segments, and so resends a cumulative ACK for both segments received so far, rather than an ACK for just this fist segment.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70587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in this last example, two segments are again transmitted, the first ACK is lost but the second ACK, a cumulative ACK arrives at the sender, which then can transmit a third segment, knowing that the first two have arrived, even though the ACK for the first segment was lost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43433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up our study of TCP reliability by discussing an optimization to the original TCP known as TCP fast retransmit,</a:t>
            </a:r>
          </a:p>
          <a:p>
            <a:endParaRPr lang="en-US" dirty="0"/>
          </a:p>
          <a:p>
            <a:r>
              <a:rPr lang="en-US" dirty="0"/>
              <a:t>Take a look at this example on the right where 5 segments are transmitted and the second segment is lost.  In this case the TCP receiver sends an ACK 100 acknowledging the first received segment.</a:t>
            </a:r>
          </a:p>
          <a:p>
            <a:r>
              <a:rPr lang="en-US" dirty="0"/>
              <a:t>When the third segment arrives at the receiver, the TCP receiver sends another ACK 100 since the second segment has not arrived. And similarly for the 4</a:t>
            </a:r>
            <a:r>
              <a:rPr lang="en-US" baseline="30000" dirty="0"/>
              <a:t>th</a:t>
            </a:r>
            <a:r>
              <a:rPr lang="en-US" dirty="0"/>
              <a:t> and 5</a:t>
            </a:r>
            <a:r>
              <a:rPr lang="en-US" baseline="30000" dirty="0"/>
              <a:t>th</a:t>
            </a:r>
            <a:r>
              <a:rPr lang="en-US" dirty="0"/>
              <a:t> segments to arrive.</a:t>
            </a:r>
          </a:p>
          <a:p>
            <a:endParaRPr lang="en-US" dirty="0"/>
          </a:p>
          <a:p>
            <a:r>
              <a:rPr lang="en-US" dirty="0"/>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p>
          <a:p>
            <a:endParaRPr lang="en-US" dirty="0"/>
          </a:p>
          <a:p>
            <a:r>
              <a:rPr lang="en-US" dirty="0"/>
              <a:t>With fast retransmit, the arrival of three duplicate ACK causes the sender to retransmit its oldest unACKed segment, without waiting for a timeout event.  This allows TCP to recover more quickly from what is very likely a loss event</a:t>
            </a:r>
          </a:p>
          <a:p>
            <a:endParaRPr lang="en-US" dirty="0"/>
          </a:p>
          <a:p>
            <a:r>
              <a:rPr lang="en-US" dirty="0"/>
              <a:t>specifically that the second segment has been lost, since three higher -numbered segments were received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8102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xmlns=""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Slide Number Placeholder 5">
            <a:extLst>
              <a:ext uri="{FF2B5EF4-FFF2-40B4-BE49-F238E27FC236}">
                <a16:creationId xmlns:a16="http://schemas.microsoft.com/office/drawing/2014/main" xmlns="" id="{F7F1199A-45E4-9E4D-95C0-396A8A9C6FF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3393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xmlns=""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xmlns=""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187844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xmlns="" id="{2E873D4E-4EDA-1349-AB14-5DC995BFCD3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127395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xmlns=""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37621316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xmlns=""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xmlns="" id="{B87C6EBB-9D5E-E84A-9BCA-EA7E05FD1C0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Lst>
  <p:hf hdr="0" ftr="0" dt="0"/>
  <p:txStyles>
    <p:titleStyle>
      <a:lvl1pPr algn="l" defTabSz="914400" rtl="0" eaLnBrk="1" latinLnBrk="0" hangingPunct="1">
        <a:lnSpc>
          <a:spcPct val="90000"/>
        </a:lnSpc>
        <a:spcBef>
          <a:spcPct val="0"/>
        </a:spcBef>
        <a:buNone/>
        <a:defRPr sz="4000" b="1" kern="1200">
          <a:solidFill>
            <a:srgbClr val="0000A3"/>
          </a:solidFill>
          <a:latin typeface="+mn-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 xmlns:a16="http://schemas.microsoft.com/office/drawing/2014/main" id="{014327ED-1729-4CF5-B0EF-DC2B5CF71371}"/>
              </a:ext>
            </a:extLst>
          </p:cNvPr>
          <p:cNvSpPr>
            <a:spLocks noGrp="1" noChangeArrowheads="1"/>
          </p:cNvSpPr>
          <p:nvPr>
            <p:ph type="ctrTitle"/>
          </p:nvPr>
        </p:nvSpPr>
        <p:spPr>
          <a:xfrm>
            <a:off x="914400" y="720726"/>
            <a:ext cx="10363200" cy="1470025"/>
          </a:xfrm>
        </p:spPr>
        <p:txBody>
          <a:bodyPr/>
          <a:lstStyle/>
          <a:p>
            <a:pPr algn="ctr"/>
            <a:r>
              <a:rPr lang="en-US" altLang="en-US" dirty="0" smtClean="0"/>
              <a:t>Computer Networks (CS-241)</a:t>
            </a:r>
            <a:endParaRPr lang="en-US" altLang="en-US" dirty="0"/>
          </a:p>
        </p:txBody>
      </p:sp>
      <p:sp>
        <p:nvSpPr>
          <p:cNvPr id="10243" name="Subtitle 2">
            <a:extLst>
              <a:ext uri="{FF2B5EF4-FFF2-40B4-BE49-F238E27FC236}">
                <a16:creationId xmlns="" xmlns:a16="http://schemas.microsoft.com/office/drawing/2014/main" id="{B4C45B81-2463-4E90-93A3-F4551BFA5245}"/>
              </a:ext>
            </a:extLst>
          </p:cNvPr>
          <p:cNvSpPr>
            <a:spLocks noGrp="1" noChangeArrowheads="1"/>
          </p:cNvSpPr>
          <p:nvPr>
            <p:ph type="subTitle" idx="1"/>
          </p:nvPr>
        </p:nvSpPr>
        <p:spPr>
          <a:xfrm>
            <a:off x="1828800" y="2819400"/>
            <a:ext cx="8534400" cy="1028700"/>
          </a:xfrm>
        </p:spPr>
        <p:txBody>
          <a:bodyPr>
            <a:normAutofit fontScale="85000" lnSpcReduction="20000"/>
          </a:bodyPr>
          <a:lstStyle/>
          <a:p>
            <a:r>
              <a:rPr lang="en-US" altLang="en-US" dirty="0" err="1" smtClean="0"/>
              <a:t>Dr</a:t>
            </a:r>
            <a:r>
              <a:rPr lang="en-US" altLang="en-US" dirty="0" smtClean="0"/>
              <a:t> Syed Muhammad Mohsin</a:t>
            </a:r>
            <a:endParaRPr lang="en-US" altLang="en-US" dirty="0"/>
          </a:p>
          <a:p>
            <a:r>
              <a:rPr lang="en-US" altLang="en-US" dirty="0" smtClean="0"/>
              <a:t>Department of Computer Science,</a:t>
            </a:r>
          </a:p>
          <a:p>
            <a:r>
              <a:rPr lang="en-US" altLang="en-US" dirty="0" smtClean="0"/>
              <a:t>University of Wah </a:t>
            </a:r>
            <a:endParaRPr lang="en-US" altLang="en-US" dirty="0"/>
          </a:p>
        </p:txBody>
      </p:sp>
      <p:sp>
        <p:nvSpPr>
          <p:cNvPr id="4" name="TextBox 3">
            <a:extLst>
              <a:ext uri="{FF2B5EF4-FFF2-40B4-BE49-F238E27FC236}">
                <a16:creationId xmlns="" xmlns:a16="http://schemas.microsoft.com/office/drawing/2014/main" id="{E71D89A5-A209-4B52-BF77-E96A6C2997F3}"/>
              </a:ext>
            </a:extLst>
          </p:cNvPr>
          <p:cNvSpPr txBox="1"/>
          <p:nvPr/>
        </p:nvSpPr>
        <p:spPr>
          <a:xfrm>
            <a:off x="1571243" y="4964593"/>
            <a:ext cx="9586259" cy="123110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1" u="none" strike="noStrike" kern="1200" cap="none" spc="0" normalizeH="0" baseline="0" noProof="0" dirty="0">
                <a:ln>
                  <a:noFill/>
                </a:ln>
                <a:solidFill>
                  <a:srgbClr val="0000A3"/>
                </a:solidFill>
                <a:effectLst/>
                <a:uLnTx/>
                <a:uFillTx/>
                <a:latin typeface="Calibri"/>
                <a:ea typeface="+mn-ea"/>
                <a:cs typeface="+mn-cs"/>
              </a:rPr>
              <a:t>Adapted From: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1" u="none" strike="noStrike" kern="1200" cap="none" spc="0" normalizeH="0" baseline="0" noProof="0" dirty="0">
                <a:ln>
                  <a:noFill/>
                </a:ln>
                <a:solidFill>
                  <a:srgbClr val="0000A3"/>
                </a:solidFill>
                <a:effectLst/>
                <a:uLnTx/>
                <a:uFillTx/>
                <a:latin typeface="Calibri"/>
                <a:ea typeface="+mn-ea"/>
                <a:cs typeface="+mn-cs"/>
              </a:rPr>
              <a:t>Computer Networking: </a:t>
            </a:r>
            <a:r>
              <a:rPr kumimoji="0" lang="en-US" altLang="en-US" sz="2800" b="0" i="1" u="none" strike="noStrike" kern="1200" cap="none" spc="0" normalizeH="0" baseline="0" noProof="0" dirty="0" smtClean="0">
                <a:ln>
                  <a:noFill/>
                </a:ln>
                <a:solidFill>
                  <a:srgbClr val="0000A3"/>
                </a:solidFill>
                <a:effectLst/>
                <a:uLnTx/>
                <a:uFillTx/>
                <a:latin typeface="Calibri"/>
                <a:ea typeface="+mn-ea"/>
                <a:cs typeface="+mn-cs"/>
              </a:rPr>
              <a:t> A </a:t>
            </a:r>
            <a:r>
              <a:rPr kumimoji="0" lang="en-US" altLang="en-US" sz="2800" b="0" i="1" u="none" strike="noStrike" kern="1200" cap="none" spc="0" normalizeH="0" baseline="0" noProof="0" dirty="0">
                <a:ln>
                  <a:noFill/>
                </a:ln>
                <a:solidFill>
                  <a:srgbClr val="0000A3"/>
                </a:solidFill>
                <a:effectLst/>
                <a:uLnTx/>
                <a:uFillTx/>
                <a:latin typeface="Calibri"/>
                <a:ea typeface="+mn-ea"/>
                <a:cs typeface="+mn-cs"/>
              </a:rPr>
              <a:t>Top-Down Approach </a:t>
            </a:r>
            <a:r>
              <a:rPr kumimoji="0" lang="en-US" altLang="en-US" sz="2800" b="0" i="0" u="none" strike="noStrike" kern="1200" cap="none" spc="0" normalizeH="0" baseline="0" noProof="0" dirty="0">
                <a:ln>
                  <a:noFill/>
                </a:ln>
                <a:solidFill>
                  <a:srgbClr val="008000"/>
                </a:solidFill>
                <a:effectLst/>
                <a:uLnTx/>
                <a:uFillTx/>
                <a:latin typeface="Calibri"/>
                <a:ea typeface="+mn-ea"/>
                <a:cs typeface="+mn-cs"/>
              </a:rPr>
              <a:t/>
            </a:r>
            <a:br>
              <a:rPr kumimoji="0" lang="en-US" altLang="en-US" sz="2800" b="0" i="0" u="none" strike="noStrike" kern="1200" cap="none" spc="0" normalizeH="0" baseline="0" noProof="0" dirty="0">
                <a:ln>
                  <a:noFill/>
                </a:ln>
                <a:solidFill>
                  <a:srgbClr val="008000"/>
                </a:solidFill>
                <a:effectLst/>
                <a:uLnTx/>
                <a:uFillTx/>
                <a:latin typeface="Calibri"/>
                <a:ea typeface="+mn-ea"/>
                <a:cs typeface="+mn-cs"/>
              </a:rPr>
            </a:br>
            <a:r>
              <a:rPr kumimoji="0" lang="en-US" altLang="en-US" sz="1800" b="0" i="0" u="none" strike="noStrike" kern="1200" cap="none" spc="0" normalizeH="0" baseline="0" noProof="0" dirty="0">
                <a:ln>
                  <a:noFill/>
                </a:ln>
                <a:solidFill>
                  <a:prstClr val="black"/>
                </a:solidFill>
                <a:effectLst/>
                <a:uLnTx/>
                <a:uFillTx/>
                <a:latin typeface="Calibri"/>
                <a:ea typeface="+mn-ea"/>
                <a:cs typeface="+mn-cs"/>
              </a:rPr>
              <a:t>8</a:t>
            </a:r>
            <a:r>
              <a:rPr kumimoji="0" lang="en-US" altLang="en-US" sz="1800" b="0" i="0" u="none" strike="noStrike" kern="1200" cap="none" spc="0" normalizeH="0" baseline="30000" noProof="0" dirty="0">
                <a:ln>
                  <a:noFill/>
                </a:ln>
                <a:solidFill>
                  <a:prstClr val="black"/>
                </a:solidFill>
                <a:effectLst/>
                <a:uLnTx/>
                <a:uFillTx/>
                <a:latin typeface="Calibri"/>
                <a:ea typeface="+mn-ea"/>
                <a:cs typeface="+mn-cs"/>
              </a:rPr>
              <a:t>th</a:t>
            </a:r>
            <a:r>
              <a:rPr kumimoji="0" lang="en-US" altLang="en-US" sz="1800" b="0" i="0" u="none" strike="noStrike" kern="1200" cap="none" spc="0" normalizeH="0" baseline="0" noProof="0" dirty="0">
                <a:ln>
                  <a:noFill/>
                </a:ln>
                <a:solidFill>
                  <a:prstClr val="black"/>
                </a:solidFill>
                <a:effectLst/>
                <a:uLnTx/>
                <a:uFillTx/>
                <a:latin typeface="Calibri"/>
                <a:ea typeface="+mn-ea"/>
                <a:cs typeface="+mn-cs"/>
              </a:rPr>
              <a:t> edition: Jim Kurose, Keith Ross Pearson, 2020</a:t>
            </a:r>
            <a:endParaRPr kumimoji="0" lang="en-US" altLang="en-US" sz="20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459149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xmlns="" id="{55AB9D8D-7F05-094B-8DA6-3095A7A7A096}"/>
              </a:ext>
            </a:extLst>
          </p:cNvPr>
          <p:cNvSpPr>
            <a:spLocks noGrp="1" noChangeArrowheads="1"/>
          </p:cNvSpPr>
          <p:nvPr>
            <p:ph sz="half" idx="2"/>
          </p:nvPr>
        </p:nvSpPr>
        <p:spPr>
          <a:xfrm>
            <a:off x="798690" y="1183946"/>
            <a:ext cx="6618109" cy="5624267"/>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Multiplexing and demultiplexing</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Principles of reliable data transfer </a:t>
            </a:r>
          </a:p>
          <a:p>
            <a:pPr marL="403225" indent="-285750">
              <a:spcBef>
                <a:spcPts val="800"/>
              </a:spcBef>
            </a:pPr>
            <a:r>
              <a:rPr lang="en-US" sz="3200" dirty="0"/>
              <a:t>Connection-oriented transport: TCP</a:t>
            </a:r>
          </a:p>
          <a:p>
            <a:pPr marL="746125" lvl="1" indent="-288925">
              <a:buFont typeface="Arial"/>
              <a:buChar char="•"/>
              <a:defRPr/>
            </a:pPr>
            <a:r>
              <a:rPr lang="en-US" dirty="0"/>
              <a:t>segment structure</a:t>
            </a:r>
          </a:p>
          <a:p>
            <a:pPr marL="746125" lvl="1" indent="-288925">
              <a:buFont typeface="Arial"/>
              <a:buChar char="•"/>
              <a:defRPr/>
            </a:pPr>
            <a:r>
              <a:rPr lang="en-US" dirty="0"/>
              <a:t>reliable data transfer</a:t>
            </a:r>
          </a:p>
          <a:p>
            <a:pPr marL="746125" lvl="1" indent="-288925">
              <a:buFont typeface="Arial"/>
              <a:buChar char="•"/>
              <a:defRPr/>
            </a:pPr>
            <a:r>
              <a:rPr lang="en-US" dirty="0"/>
              <a:t>flow control</a:t>
            </a:r>
          </a:p>
          <a:p>
            <a:pPr marL="746125" lvl="1" indent="-288925">
              <a:buFont typeface="Arial"/>
              <a:buChar char="•"/>
              <a:defRPr/>
            </a:pPr>
            <a:r>
              <a:rPr lang="en-US" dirty="0"/>
              <a:t>connection management</a:t>
            </a:r>
            <a:endParaRPr lang="en-US" sz="3200" dirty="0"/>
          </a:p>
          <a:p>
            <a:pPr marL="403225" indent="-285750">
              <a:spcBef>
                <a:spcPts val="800"/>
              </a:spcBef>
              <a:buClr>
                <a:schemeClr val="bg1">
                  <a:lumMod val="75000"/>
                </a:schemeClr>
              </a:buClr>
            </a:pPr>
            <a:r>
              <a:rPr lang="en-US" sz="3200" dirty="0">
                <a:solidFill>
                  <a:schemeClr val="bg1">
                    <a:lumMod val="75000"/>
                  </a:schemeClr>
                </a:solidFill>
              </a:rPr>
              <a:t>Principles of congestion control</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xmlns="" id="{006FDDC9-958A-FA4C-8403-56ABF73A6F8E}"/>
              </a:ext>
            </a:extLst>
          </p:cNvPr>
          <p:cNvSpPr>
            <a:spLocks noGrp="1"/>
          </p:cNvSpPr>
          <p:nvPr>
            <p:ph type="sldNum" sz="quarter" idx="4"/>
          </p:nvPr>
        </p:nvSpPr>
        <p:spPr/>
        <p:txBody>
          <a:bodyPr/>
          <a:lstStyle/>
          <a:p>
            <a:r>
              <a:rPr lang="en-US" dirty="0"/>
              <a:t>Transport Layer: 3-</a:t>
            </a:r>
            <a:fld id="{C4204591-24BD-A542-B9D5-F8D8A88D2FEE}" type="slidenum">
              <a:rPr lang="en-US" smtClean="0"/>
              <a:pPr/>
              <a:t>2</a:t>
            </a:fld>
            <a:endParaRPr lang="en-US" dirty="0"/>
          </a:p>
        </p:txBody>
      </p:sp>
      <p:pic>
        <p:nvPicPr>
          <p:cNvPr id="6" name="Picture 5">
            <a:extLst>
              <a:ext uri="{FF2B5EF4-FFF2-40B4-BE49-F238E27FC236}">
                <a16:creationId xmlns:a16="http://schemas.microsoft.com/office/drawing/2014/main" xmlns="" id="{BC34935B-A6B2-0C48-9638-656FA430E71C}"/>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1327162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825267" y="291947"/>
            <a:ext cx="10515600" cy="894622"/>
          </a:xfrm>
        </p:spPr>
        <p:txBody>
          <a:bodyPr>
            <a:normAutofit/>
          </a:bodyPr>
          <a:lstStyle/>
          <a:p>
            <a:r>
              <a:rPr lang="en-US" dirty="0" smtClean="0"/>
              <a:t>Recap</a:t>
            </a:r>
            <a:r>
              <a:rPr lang="en-US" altLang="en-US" sz="4400" dirty="0" smtClean="0">
                <a:ea typeface="ＭＳ Ｐゴシック" panose="020B0600070205080204" pitchFamily="34" charset="-128"/>
              </a:rPr>
              <a:t>: </a:t>
            </a:r>
            <a:r>
              <a:rPr lang="en-US" altLang="en-US" sz="4400" dirty="0" smtClean="0">
                <a:ea typeface="ＭＳ Ｐゴシック" panose="020B0600070205080204" pitchFamily="34" charset="-128"/>
              </a:rPr>
              <a:t>Layered TCP/IP </a:t>
            </a:r>
            <a:r>
              <a:rPr lang="en-US" altLang="en-US" dirty="0" smtClean="0">
                <a:ea typeface="ＭＳ Ｐゴシック" panose="020B0600070205080204" pitchFamily="34" charset="-128"/>
              </a:rPr>
              <a:t>s</a:t>
            </a:r>
            <a:r>
              <a:rPr lang="en-US" altLang="en-US" sz="4400" dirty="0" smtClean="0">
                <a:ea typeface="ＭＳ Ｐゴシック" panose="020B0600070205080204" pitchFamily="34" charset="-128"/>
              </a:rPr>
              <a:t>tack (1/3)</a:t>
            </a:r>
            <a:endParaRPr lang="en-US" sz="4400" dirty="0"/>
          </a:p>
        </p:txBody>
      </p:sp>
      <p:sp>
        <p:nvSpPr>
          <p:cNvPr id="17" name="Rectangle 5">
            <a:extLst>
              <a:ext uri="{FF2B5EF4-FFF2-40B4-BE49-F238E27FC236}">
                <a16:creationId xmlns:a16="http://schemas.microsoft.com/office/drawing/2014/main" xmlns="" id="{921D3CC3-7FC4-4346-86E8-F841A7674F2D}"/>
              </a:ext>
            </a:extLst>
          </p:cNvPr>
          <p:cNvSpPr txBox="1">
            <a:spLocks noChangeArrowheads="1"/>
          </p:cNvSpPr>
          <p:nvPr/>
        </p:nvSpPr>
        <p:spPr>
          <a:xfrm>
            <a:off x="979383" y="1472008"/>
            <a:ext cx="7368749" cy="492270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application:</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supporting network applications</a:t>
            </a:r>
          </a:p>
          <a:p>
            <a:pPr marL="682625" marR="0" lvl="1" indent="-225425" algn="l" defTabSz="914400" rtl="0" eaLnBrk="1" fontAlgn="auto" latinLnBrk="0" hangingPunct="1">
              <a:lnSpc>
                <a:spcPct val="8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Arial" panose="020B0604020202020204" pitchFamily="34" charset="0"/>
                <a:cs typeface="+mn-cs"/>
              </a:rPr>
              <a:t>HTTP, IMAP, SMTP, DNS</a:t>
            </a: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transport:</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process-process data transfer</a:t>
            </a:r>
          </a:p>
          <a:p>
            <a:pPr marL="682625" marR="0" lvl="1" indent="-225425" algn="l" defTabSz="914400" rtl="0" eaLnBrk="1" fontAlgn="auto" latinLnBrk="0" hangingPunct="1">
              <a:lnSpc>
                <a:spcPct val="8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Arial" panose="020B0604020202020204" pitchFamily="34" charset="0"/>
                <a:cs typeface="+mn-cs"/>
              </a:rPr>
              <a:t>TCP, UDP</a:t>
            </a: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network:</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routing of datagrams from source to destination</a:t>
            </a:r>
          </a:p>
          <a:p>
            <a:pPr marL="682625" marR="0" lvl="1" indent="-225425" algn="l" defTabSz="914400" rtl="0" eaLnBrk="1" fontAlgn="auto" latinLnBrk="0" hangingPunct="1">
              <a:lnSpc>
                <a:spcPct val="8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Arial" panose="020B0604020202020204" pitchFamily="34" charset="0"/>
                <a:cs typeface="+mn-cs"/>
              </a:rPr>
              <a:t>IP, routing protocols</a:t>
            </a: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link:</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data transfer between neighboring  network elements</a:t>
            </a:r>
          </a:p>
          <a:p>
            <a:pPr marL="682625" marR="0" lvl="1" indent="-225425" algn="l" defTabSz="914400" rtl="0" eaLnBrk="1" fontAlgn="auto" latinLnBrk="0" hangingPunct="1">
              <a:lnSpc>
                <a:spcPct val="8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Arial" panose="020B0604020202020204" pitchFamily="34" charset="0"/>
                <a:cs typeface="+mn-cs"/>
              </a:rPr>
              <a:t>Ethernet, 802.11 (WiFi), PPP</a:t>
            </a:r>
          </a:p>
          <a:p>
            <a:pPr marL="287338" marR="0" lvl="0" indent="-28733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physical:</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bits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 the wire”</a:t>
            </a:r>
          </a:p>
        </p:txBody>
      </p:sp>
      <p:sp>
        <p:nvSpPr>
          <p:cNvPr id="8" name="Rectangle 6">
            <a:extLst>
              <a:ext uri="{FF2B5EF4-FFF2-40B4-BE49-F238E27FC236}">
                <a16:creationId xmlns:a16="http://schemas.microsoft.com/office/drawing/2014/main" xmlns="" id="{7FC87645-22AD-8040-8C83-BC2F64C5D928}"/>
              </a:ext>
            </a:extLst>
          </p:cNvPr>
          <p:cNvSpPr>
            <a:spLocks noChangeArrowheads="1"/>
          </p:cNvSpPr>
          <p:nvPr/>
        </p:nvSpPr>
        <p:spPr bwMode="auto">
          <a:xfrm>
            <a:off x="8913284" y="1902006"/>
            <a:ext cx="1892300" cy="3530600"/>
          </a:xfrm>
          <a:prstGeom prst="rect">
            <a:avLst/>
          </a:prstGeom>
          <a:solidFill>
            <a:schemeClr val="bg1"/>
          </a:solidFill>
          <a:ln w="38100">
            <a:solidFill>
              <a:schemeClr val="tx1"/>
            </a:solidFill>
            <a:miter lim="800000"/>
            <a:headEnd/>
            <a:tailEnd/>
          </a:ln>
          <a:effectLst>
            <a:outerShdw blurRad="304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9" name="Text Box 7">
            <a:extLst>
              <a:ext uri="{FF2B5EF4-FFF2-40B4-BE49-F238E27FC236}">
                <a16:creationId xmlns:a16="http://schemas.microsoft.com/office/drawing/2014/main" xmlns="" id="{8C032AE1-21C7-1541-9531-59DC0E0F6A64}"/>
              </a:ext>
            </a:extLst>
          </p:cNvPr>
          <p:cNvSpPr txBox="1">
            <a:spLocks noChangeArrowheads="1"/>
          </p:cNvSpPr>
          <p:nvPr/>
        </p:nvSpPr>
        <p:spPr bwMode="auto">
          <a:xfrm>
            <a:off x="9503820" y="4217549"/>
            <a:ext cx="70083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link</a:t>
            </a:r>
          </a:p>
        </p:txBody>
      </p:sp>
      <p:sp>
        <p:nvSpPr>
          <p:cNvPr id="10" name="Line 8">
            <a:extLst>
              <a:ext uri="{FF2B5EF4-FFF2-40B4-BE49-F238E27FC236}">
                <a16:creationId xmlns:a16="http://schemas.microsoft.com/office/drawing/2014/main" xmlns="" id="{2FF6CB9E-FC16-794F-9F97-8FE4CC7DA95C}"/>
              </a:ext>
            </a:extLst>
          </p:cNvPr>
          <p:cNvSpPr>
            <a:spLocks noChangeShapeType="1"/>
          </p:cNvSpPr>
          <p:nvPr/>
        </p:nvSpPr>
        <p:spPr bwMode="auto">
          <a:xfrm>
            <a:off x="8906934" y="2637698"/>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Line 9">
            <a:extLst>
              <a:ext uri="{FF2B5EF4-FFF2-40B4-BE49-F238E27FC236}">
                <a16:creationId xmlns:a16="http://schemas.microsoft.com/office/drawing/2014/main" xmlns="" id="{E0C842E9-2804-A24B-90F5-1E76ED56B971}"/>
              </a:ext>
            </a:extLst>
          </p:cNvPr>
          <p:cNvSpPr>
            <a:spLocks noChangeShapeType="1"/>
          </p:cNvSpPr>
          <p:nvPr/>
        </p:nvSpPr>
        <p:spPr bwMode="auto">
          <a:xfrm>
            <a:off x="8906934" y="3342548"/>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Line 10">
            <a:extLst>
              <a:ext uri="{FF2B5EF4-FFF2-40B4-BE49-F238E27FC236}">
                <a16:creationId xmlns:a16="http://schemas.microsoft.com/office/drawing/2014/main" xmlns="" id="{80C10F46-6CD7-F647-A004-85EB56C772DF}"/>
              </a:ext>
            </a:extLst>
          </p:cNvPr>
          <p:cNvSpPr>
            <a:spLocks noChangeShapeType="1"/>
          </p:cNvSpPr>
          <p:nvPr/>
        </p:nvSpPr>
        <p:spPr bwMode="auto">
          <a:xfrm>
            <a:off x="8906934" y="4053748"/>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Line 11">
            <a:extLst>
              <a:ext uri="{FF2B5EF4-FFF2-40B4-BE49-F238E27FC236}">
                <a16:creationId xmlns:a16="http://schemas.microsoft.com/office/drawing/2014/main" xmlns="" id="{264B0C4A-9518-2F45-BBDA-97BCDD99E256}"/>
              </a:ext>
            </a:extLst>
          </p:cNvPr>
          <p:cNvSpPr>
            <a:spLocks noChangeShapeType="1"/>
          </p:cNvSpPr>
          <p:nvPr/>
        </p:nvSpPr>
        <p:spPr bwMode="auto">
          <a:xfrm>
            <a:off x="8906934" y="4764948"/>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Box 7">
            <a:extLst>
              <a:ext uri="{FF2B5EF4-FFF2-40B4-BE49-F238E27FC236}">
                <a16:creationId xmlns:a16="http://schemas.microsoft.com/office/drawing/2014/main" xmlns="" id="{A1409CBF-F5BE-6642-ACCF-440DA30E3B86}"/>
              </a:ext>
            </a:extLst>
          </p:cNvPr>
          <p:cNvSpPr txBox="1">
            <a:spLocks noChangeArrowheads="1"/>
          </p:cNvSpPr>
          <p:nvPr/>
        </p:nvSpPr>
        <p:spPr bwMode="auto">
          <a:xfrm>
            <a:off x="8942478" y="2070093"/>
            <a:ext cx="179581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application</a:t>
            </a:r>
          </a:p>
        </p:txBody>
      </p:sp>
      <p:sp>
        <p:nvSpPr>
          <p:cNvPr id="15" name="Text Box 7">
            <a:extLst>
              <a:ext uri="{FF2B5EF4-FFF2-40B4-BE49-F238E27FC236}">
                <a16:creationId xmlns:a16="http://schemas.microsoft.com/office/drawing/2014/main" xmlns="" id="{4C8F71E2-C149-F549-B200-0E64A6F67591}"/>
              </a:ext>
            </a:extLst>
          </p:cNvPr>
          <p:cNvSpPr txBox="1">
            <a:spLocks noChangeArrowheads="1"/>
          </p:cNvSpPr>
          <p:nvPr/>
        </p:nvSpPr>
        <p:spPr bwMode="auto">
          <a:xfrm>
            <a:off x="9139934" y="3510968"/>
            <a:ext cx="1400896"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network</a:t>
            </a:r>
          </a:p>
        </p:txBody>
      </p:sp>
      <p:sp>
        <p:nvSpPr>
          <p:cNvPr id="16" name="Text Box 7">
            <a:extLst>
              <a:ext uri="{FF2B5EF4-FFF2-40B4-BE49-F238E27FC236}">
                <a16:creationId xmlns:a16="http://schemas.microsoft.com/office/drawing/2014/main" xmlns="" id="{565AE4AB-C1CB-3E4C-B30F-33A869485DEC}"/>
              </a:ext>
            </a:extLst>
          </p:cNvPr>
          <p:cNvSpPr txBox="1">
            <a:spLocks noChangeArrowheads="1"/>
          </p:cNvSpPr>
          <p:nvPr/>
        </p:nvSpPr>
        <p:spPr bwMode="auto">
          <a:xfrm>
            <a:off x="9024889" y="2776676"/>
            <a:ext cx="1547860"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transport</a:t>
            </a:r>
          </a:p>
        </p:txBody>
      </p:sp>
      <p:sp>
        <p:nvSpPr>
          <p:cNvPr id="18" name="Text Box 7">
            <a:extLst>
              <a:ext uri="{FF2B5EF4-FFF2-40B4-BE49-F238E27FC236}">
                <a16:creationId xmlns:a16="http://schemas.microsoft.com/office/drawing/2014/main" xmlns="" id="{0C3D0051-24D3-9542-BC28-EF8E74513E07}"/>
              </a:ext>
            </a:extLst>
          </p:cNvPr>
          <p:cNvSpPr txBox="1">
            <a:spLocks noChangeArrowheads="1"/>
          </p:cNvSpPr>
          <p:nvPr/>
        </p:nvSpPr>
        <p:spPr bwMode="auto">
          <a:xfrm>
            <a:off x="9197943" y="4884466"/>
            <a:ext cx="1340302"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physical</a:t>
            </a:r>
          </a:p>
        </p:txBody>
      </p:sp>
      <p:grpSp>
        <p:nvGrpSpPr>
          <p:cNvPr id="4" name="Group 3">
            <a:extLst>
              <a:ext uri="{FF2B5EF4-FFF2-40B4-BE49-F238E27FC236}">
                <a16:creationId xmlns:a16="http://schemas.microsoft.com/office/drawing/2014/main" xmlns="" id="{0D5C6DD9-E1C8-9A47-B128-964947A9BCA1}"/>
              </a:ext>
            </a:extLst>
          </p:cNvPr>
          <p:cNvGrpSpPr/>
          <p:nvPr/>
        </p:nvGrpSpPr>
        <p:grpSpPr>
          <a:xfrm>
            <a:off x="8931728" y="1894114"/>
            <a:ext cx="1877786" cy="734786"/>
            <a:chOff x="8980714" y="751114"/>
            <a:chExt cx="1877786" cy="734786"/>
          </a:xfrm>
        </p:grpSpPr>
        <p:sp>
          <p:nvSpPr>
            <p:cNvPr id="3" name="Rectangle 2">
              <a:extLst>
                <a:ext uri="{FF2B5EF4-FFF2-40B4-BE49-F238E27FC236}">
                  <a16:creationId xmlns:a16="http://schemas.microsoft.com/office/drawing/2014/main" xmlns="" id="{A763C0FF-36B6-664F-90B3-14AB76C3338D}"/>
                </a:ext>
              </a:extLst>
            </p:cNvPr>
            <p:cNvSpPr/>
            <p:nvPr/>
          </p:nvSpPr>
          <p:spPr>
            <a:xfrm>
              <a:off x="8980714" y="751114"/>
              <a:ext cx="1877786" cy="73478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Box 7">
              <a:extLst>
                <a:ext uri="{FF2B5EF4-FFF2-40B4-BE49-F238E27FC236}">
                  <a16:creationId xmlns:a16="http://schemas.microsoft.com/office/drawing/2014/main" xmlns="" id="{D1D9D12F-41D2-1C43-BE10-20C3B18B6C74}"/>
                </a:ext>
              </a:extLst>
            </p:cNvPr>
            <p:cNvSpPr txBox="1">
              <a:spLocks noChangeArrowheads="1"/>
            </p:cNvSpPr>
            <p:nvPr/>
          </p:nvSpPr>
          <p:spPr bwMode="auto">
            <a:xfrm>
              <a:off x="9029564" y="899878"/>
              <a:ext cx="179581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chemeClr val="bg1"/>
                  </a:solidFill>
                  <a:effectLst/>
                  <a:uLnTx/>
                  <a:uFillTx/>
                  <a:latin typeface="Calibri" panose="020F0502020204030204"/>
                  <a:ea typeface="ＭＳ Ｐゴシック" panose="020B0600070205080204" pitchFamily="34" charset="-128"/>
                  <a:cs typeface="+mn-cs"/>
                </a:rPr>
                <a:t>application</a:t>
              </a:r>
            </a:p>
          </p:txBody>
        </p:sp>
      </p:grpSp>
      <p:grpSp>
        <p:nvGrpSpPr>
          <p:cNvPr id="20" name="Group 19">
            <a:extLst>
              <a:ext uri="{FF2B5EF4-FFF2-40B4-BE49-F238E27FC236}">
                <a16:creationId xmlns:a16="http://schemas.microsoft.com/office/drawing/2014/main" xmlns="" id="{FBC066ED-EC5C-E148-85B2-CE56D9C40F28}"/>
              </a:ext>
            </a:extLst>
          </p:cNvPr>
          <p:cNvGrpSpPr/>
          <p:nvPr/>
        </p:nvGrpSpPr>
        <p:grpSpPr>
          <a:xfrm>
            <a:off x="8933979" y="2649498"/>
            <a:ext cx="1861418" cy="688224"/>
            <a:chOff x="8993850" y="766270"/>
            <a:chExt cx="1861418" cy="688224"/>
          </a:xfrm>
        </p:grpSpPr>
        <p:sp>
          <p:nvSpPr>
            <p:cNvPr id="21" name="Rectangle 20">
              <a:extLst>
                <a:ext uri="{FF2B5EF4-FFF2-40B4-BE49-F238E27FC236}">
                  <a16:creationId xmlns:a16="http://schemas.microsoft.com/office/drawing/2014/main" xmlns="" id="{173E1221-1527-4744-A110-60E3BD72A69D}"/>
                </a:ext>
              </a:extLst>
            </p:cNvPr>
            <p:cNvSpPr/>
            <p:nvPr/>
          </p:nvSpPr>
          <p:spPr>
            <a:xfrm>
              <a:off x="8993850" y="766270"/>
              <a:ext cx="1861418" cy="68822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 Box 7">
              <a:extLst>
                <a:ext uri="{FF2B5EF4-FFF2-40B4-BE49-F238E27FC236}">
                  <a16:creationId xmlns:a16="http://schemas.microsoft.com/office/drawing/2014/main" xmlns="" id="{5D7E6050-1C4A-AC42-9C80-455BF3E89624}"/>
                </a:ext>
              </a:extLst>
            </p:cNvPr>
            <p:cNvSpPr txBox="1">
              <a:spLocks noChangeArrowheads="1"/>
            </p:cNvSpPr>
            <p:nvPr/>
          </p:nvSpPr>
          <p:spPr bwMode="auto">
            <a:xfrm>
              <a:off x="9153542" y="899878"/>
              <a:ext cx="1547860"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chemeClr val="bg1"/>
                  </a:solidFill>
                  <a:effectLst/>
                  <a:uLnTx/>
                  <a:uFillTx/>
                  <a:latin typeface="Calibri" panose="020F0502020204030204"/>
                  <a:ea typeface="ＭＳ Ｐゴシック" panose="020B0600070205080204" pitchFamily="34" charset="-128"/>
                  <a:cs typeface="+mn-cs"/>
                </a:rPr>
                <a:t>transport</a:t>
              </a:r>
            </a:p>
          </p:txBody>
        </p:sp>
      </p:grpSp>
      <p:grpSp>
        <p:nvGrpSpPr>
          <p:cNvPr id="23" name="Group 22">
            <a:extLst>
              <a:ext uri="{FF2B5EF4-FFF2-40B4-BE49-F238E27FC236}">
                <a16:creationId xmlns:a16="http://schemas.microsoft.com/office/drawing/2014/main" xmlns="" id="{A118D44F-D234-294A-9DFB-5BF4D5E069AC}"/>
              </a:ext>
            </a:extLst>
          </p:cNvPr>
          <p:cNvGrpSpPr/>
          <p:nvPr/>
        </p:nvGrpSpPr>
        <p:grpSpPr>
          <a:xfrm>
            <a:off x="8931286" y="3357646"/>
            <a:ext cx="1861418" cy="677992"/>
            <a:chOff x="8993850" y="766270"/>
            <a:chExt cx="1861418" cy="677992"/>
          </a:xfrm>
        </p:grpSpPr>
        <p:sp>
          <p:nvSpPr>
            <p:cNvPr id="24" name="Rectangle 23">
              <a:extLst>
                <a:ext uri="{FF2B5EF4-FFF2-40B4-BE49-F238E27FC236}">
                  <a16:creationId xmlns:a16="http://schemas.microsoft.com/office/drawing/2014/main" xmlns="" id="{5BB6D480-0EF6-9743-B8C0-63D799A0402B}"/>
                </a:ext>
              </a:extLst>
            </p:cNvPr>
            <p:cNvSpPr/>
            <p:nvPr/>
          </p:nvSpPr>
          <p:spPr>
            <a:xfrm>
              <a:off x="8993850" y="766270"/>
              <a:ext cx="1861418" cy="67799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 Box 7">
              <a:extLst>
                <a:ext uri="{FF2B5EF4-FFF2-40B4-BE49-F238E27FC236}">
                  <a16:creationId xmlns:a16="http://schemas.microsoft.com/office/drawing/2014/main" xmlns="" id="{2D6CC9E9-4EB8-C148-99C7-DE21615E7DBD}"/>
                </a:ext>
              </a:extLst>
            </p:cNvPr>
            <p:cNvSpPr txBox="1">
              <a:spLocks noChangeArrowheads="1"/>
            </p:cNvSpPr>
            <p:nvPr/>
          </p:nvSpPr>
          <p:spPr bwMode="auto">
            <a:xfrm>
              <a:off x="9227024" y="899878"/>
              <a:ext cx="1400896"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chemeClr val="bg1"/>
                  </a:solidFill>
                  <a:effectLst/>
                  <a:uLnTx/>
                  <a:uFillTx/>
                  <a:latin typeface="Calibri" panose="020F0502020204030204"/>
                  <a:ea typeface="ＭＳ Ｐゴシック" panose="020B0600070205080204" pitchFamily="34" charset="-128"/>
                  <a:cs typeface="+mn-cs"/>
                </a:rPr>
                <a:t>network</a:t>
              </a:r>
            </a:p>
          </p:txBody>
        </p:sp>
      </p:grpSp>
      <p:grpSp>
        <p:nvGrpSpPr>
          <p:cNvPr id="26" name="Group 25">
            <a:extLst>
              <a:ext uri="{FF2B5EF4-FFF2-40B4-BE49-F238E27FC236}">
                <a16:creationId xmlns:a16="http://schemas.microsoft.com/office/drawing/2014/main" xmlns="" id="{AC9AAF3B-AED3-A449-97D4-F0291249333B}"/>
              </a:ext>
            </a:extLst>
          </p:cNvPr>
          <p:cNvGrpSpPr/>
          <p:nvPr/>
        </p:nvGrpSpPr>
        <p:grpSpPr>
          <a:xfrm>
            <a:off x="8931824" y="4072257"/>
            <a:ext cx="1861418" cy="677992"/>
            <a:chOff x="8993850" y="766270"/>
            <a:chExt cx="1861418" cy="677992"/>
          </a:xfrm>
        </p:grpSpPr>
        <p:sp>
          <p:nvSpPr>
            <p:cNvPr id="27" name="Rectangle 26">
              <a:extLst>
                <a:ext uri="{FF2B5EF4-FFF2-40B4-BE49-F238E27FC236}">
                  <a16:creationId xmlns:a16="http://schemas.microsoft.com/office/drawing/2014/main" xmlns="" id="{821B1C9B-1511-9048-954A-42C526FFA552}"/>
                </a:ext>
              </a:extLst>
            </p:cNvPr>
            <p:cNvSpPr/>
            <p:nvPr/>
          </p:nvSpPr>
          <p:spPr>
            <a:xfrm>
              <a:off x="8993850" y="766270"/>
              <a:ext cx="1861418" cy="67799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 Box 7">
              <a:extLst>
                <a:ext uri="{FF2B5EF4-FFF2-40B4-BE49-F238E27FC236}">
                  <a16:creationId xmlns:a16="http://schemas.microsoft.com/office/drawing/2014/main" xmlns="" id="{94F6A773-D867-F74F-B5C6-8190F112DD55}"/>
                </a:ext>
              </a:extLst>
            </p:cNvPr>
            <p:cNvSpPr txBox="1">
              <a:spLocks noChangeArrowheads="1"/>
            </p:cNvSpPr>
            <p:nvPr/>
          </p:nvSpPr>
          <p:spPr bwMode="auto">
            <a:xfrm>
              <a:off x="9577056" y="899878"/>
              <a:ext cx="700834"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chemeClr val="bg1"/>
                  </a:solidFill>
                  <a:effectLst/>
                  <a:uLnTx/>
                  <a:uFillTx/>
                  <a:latin typeface="Calibri" panose="020F0502020204030204"/>
                  <a:ea typeface="ＭＳ Ｐゴシック" panose="020B0600070205080204" pitchFamily="34" charset="-128"/>
                  <a:cs typeface="+mn-cs"/>
                </a:rPr>
                <a:t>link</a:t>
              </a:r>
            </a:p>
          </p:txBody>
        </p:sp>
      </p:grpSp>
      <p:grpSp>
        <p:nvGrpSpPr>
          <p:cNvPr id="29" name="Group 28">
            <a:extLst>
              <a:ext uri="{FF2B5EF4-FFF2-40B4-BE49-F238E27FC236}">
                <a16:creationId xmlns:a16="http://schemas.microsoft.com/office/drawing/2014/main" xmlns="" id="{5725BE4D-F37D-9C4B-B89A-22367E8DCDC6}"/>
              </a:ext>
            </a:extLst>
          </p:cNvPr>
          <p:cNvGrpSpPr/>
          <p:nvPr/>
        </p:nvGrpSpPr>
        <p:grpSpPr>
          <a:xfrm>
            <a:off x="8925900" y="4785252"/>
            <a:ext cx="1861418" cy="639758"/>
            <a:chOff x="8993850" y="784041"/>
            <a:chExt cx="1861418" cy="639758"/>
          </a:xfrm>
        </p:grpSpPr>
        <p:sp>
          <p:nvSpPr>
            <p:cNvPr id="30" name="Rectangle 29">
              <a:extLst>
                <a:ext uri="{FF2B5EF4-FFF2-40B4-BE49-F238E27FC236}">
                  <a16:creationId xmlns:a16="http://schemas.microsoft.com/office/drawing/2014/main" xmlns="" id="{0D53E4D4-FAC6-1E4B-882F-3AD5F8C274EF}"/>
                </a:ext>
              </a:extLst>
            </p:cNvPr>
            <p:cNvSpPr/>
            <p:nvPr/>
          </p:nvSpPr>
          <p:spPr>
            <a:xfrm>
              <a:off x="8993850" y="784041"/>
              <a:ext cx="1861418" cy="6397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 Box 7">
              <a:extLst>
                <a:ext uri="{FF2B5EF4-FFF2-40B4-BE49-F238E27FC236}">
                  <a16:creationId xmlns:a16="http://schemas.microsoft.com/office/drawing/2014/main" xmlns="" id="{2F3023D6-375B-E04C-A47A-CBC847CE62DB}"/>
                </a:ext>
              </a:extLst>
            </p:cNvPr>
            <p:cNvSpPr txBox="1">
              <a:spLocks noChangeArrowheads="1"/>
            </p:cNvSpPr>
            <p:nvPr/>
          </p:nvSpPr>
          <p:spPr bwMode="auto">
            <a:xfrm>
              <a:off x="9257324" y="899878"/>
              <a:ext cx="134030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chemeClr val="bg1"/>
                  </a:solidFill>
                  <a:effectLst/>
                  <a:uLnTx/>
                  <a:uFillTx/>
                  <a:latin typeface="Calibri" panose="020F0502020204030204"/>
                  <a:ea typeface="ＭＳ Ｐゴシック" panose="020B0600070205080204" pitchFamily="34" charset="-128"/>
                  <a:cs typeface="+mn-cs"/>
                </a:rPr>
                <a:t>physical</a:t>
              </a:r>
            </a:p>
          </p:txBody>
        </p:sp>
      </p:grpSp>
      <p:sp>
        <p:nvSpPr>
          <p:cNvPr id="32" name="Slide Number Placeholder 5">
            <a:extLst>
              <a:ext uri="{FF2B5EF4-FFF2-40B4-BE49-F238E27FC236}">
                <a16:creationId xmlns:a16="http://schemas.microsoft.com/office/drawing/2014/main" xmlns="" id="{BD8DF8F4-5414-EF4A-839E-C45585257CE0}"/>
              </a:ext>
            </a:extLst>
          </p:cNvPr>
          <p:cNvSpPr>
            <a:spLocks noGrp="1"/>
          </p:cNvSpPr>
          <p:nvPr>
            <p:ph type="sldNum" sz="quarter" idx="4"/>
          </p:nvPr>
        </p:nvSpPr>
        <p:spPr>
          <a:xfrm>
            <a:off x="9219616" y="6443089"/>
            <a:ext cx="2743200" cy="365125"/>
          </a:xfrm>
        </p:spPr>
        <p:txBody>
          <a:bodyPr/>
          <a:lstStyle/>
          <a:p>
            <a:r>
              <a:rPr lang="en-US" dirty="0"/>
              <a:t>Introduction: 1-</a:t>
            </a:r>
            <a:fld id="{C4204591-24BD-A542-B9D5-F8D8A88D2FEE}" type="slidenum">
              <a:rPr lang="en-US" smtClean="0"/>
              <a:pPr/>
              <a:t>3</a:t>
            </a:fld>
            <a:endParaRPr lang="en-US" dirty="0"/>
          </a:p>
        </p:txBody>
      </p:sp>
    </p:spTree>
    <p:extLst>
      <p:ext uri="{BB962C8B-B14F-4D97-AF65-F5344CB8AC3E}">
        <p14:creationId xmlns:p14="http://schemas.microsoft.com/office/powerpoint/2010/main" val="1886804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dissolve">
                                      <p:cBhvr>
                                        <p:cTn id="7" dur="500"/>
                                        <p:tgtEl>
                                          <p:spTgt spid="17">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7">
                                            <p:txEl>
                                              <p:pRg st="1" end="1"/>
                                            </p:txEl>
                                          </p:spTgt>
                                        </p:tgtEl>
                                        <p:attrNameLst>
                                          <p:attrName>style.visibility</p:attrName>
                                        </p:attrNameLst>
                                      </p:cBhvr>
                                      <p:to>
                                        <p:strVal val="visible"/>
                                      </p:to>
                                    </p:set>
                                    <p:animEffect transition="in" filter="dissolve">
                                      <p:cBhvr>
                                        <p:cTn id="10" dur="500"/>
                                        <p:tgtEl>
                                          <p:spTgt spid="17">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7">
                                            <p:txEl>
                                              <p:pRg st="2" end="2"/>
                                            </p:txEl>
                                          </p:spTgt>
                                        </p:tgtEl>
                                        <p:attrNameLst>
                                          <p:attrName>style.visibility</p:attrName>
                                        </p:attrNameLst>
                                      </p:cBhvr>
                                      <p:to>
                                        <p:strVal val="visible"/>
                                      </p:to>
                                    </p:set>
                                    <p:animEffect transition="in" filter="dissolve">
                                      <p:cBhvr>
                                        <p:cTn id="18" dur="500"/>
                                        <p:tgtEl>
                                          <p:spTgt spid="17">
                                            <p:txEl>
                                              <p:pRg st="2" end="2"/>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17">
                                            <p:txEl>
                                              <p:pRg st="3" end="3"/>
                                            </p:txEl>
                                          </p:spTgt>
                                        </p:tgtEl>
                                        <p:attrNameLst>
                                          <p:attrName>style.visibility</p:attrName>
                                        </p:attrNameLst>
                                      </p:cBhvr>
                                      <p:to>
                                        <p:strVal val="visible"/>
                                      </p:to>
                                    </p:set>
                                    <p:animEffect transition="in" filter="dissolve">
                                      <p:cBhvr>
                                        <p:cTn id="21" dur="500"/>
                                        <p:tgtEl>
                                          <p:spTgt spid="17">
                                            <p:txEl>
                                              <p:pRg st="3" end="3"/>
                                            </p:txEl>
                                          </p:spTgt>
                                        </p:tgtEl>
                                      </p:cBhvr>
                                    </p:animEffect>
                                  </p:childTnLst>
                                </p:cTn>
                              </p:par>
                              <p:par>
                                <p:cTn id="22" presetID="9" presetClass="exit" presetSubtype="0" fill="hold" nodeType="withEffect">
                                  <p:stCondLst>
                                    <p:cond delay="0"/>
                                  </p:stCondLst>
                                  <p:childTnLst>
                                    <p:animEffect transition="out" filter="dissolve">
                                      <p:cBhvr>
                                        <p:cTn id="23" dur="500"/>
                                        <p:tgtEl>
                                          <p:spTgt spid="4"/>
                                        </p:tgtEl>
                                      </p:cBhvr>
                                    </p:animEffect>
                                    <p:set>
                                      <p:cBhvr>
                                        <p:cTn id="24" dur="1" fill="hold">
                                          <p:stCondLst>
                                            <p:cond delay="499"/>
                                          </p:stCondLst>
                                        </p:cTn>
                                        <p:tgtEl>
                                          <p:spTgt spid="4"/>
                                        </p:tgtEl>
                                        <p:attrNameLst>
                                          <p:attrName>style.visibility</p:attrName>
                                        </p:attrNameLst>
                                      </p:cBhvr>
                                      <p:to>
                                        <p:strVal val="hidden"/>
                                      </p:to>
                                    </p:set>
                                  </p:childTnLst>
                                </p:cTn>
                              </p:par>
                              <p:par>
                                <p:cTn id="25" presetID="9"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dissolv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7">
                                            <p:txEl>
                                              <p:pRg st="4" end="4"/>
                                            </p:txEl>
                                          </p:spTgt>
                                        </p:tgtEl>
                                        <p:attrNameLst>
                                          <p:attrName>style.visibility</p:attrName>
                                        </p:attrNameLst>
                                      </p:cBhvr>
                                      <p:to>
                                        <p:strVal val="visible"/>
                                      </p:to>
                                    </p:set>
                                    <p:animEffect transition="in" filter="dissolve">
                                      <p:cBhvr>
                                        <p:cTn id="32" dur="500"/>
                                        <p:tgtEl>
                                          <p:spTgt spid="17">
                                            <p:txEl>
                                              <p:pRg st="4" end="4"/>
                                            </p:txEl>
                                          </p:spTgt>
                                        </p:tgtEl>
                                      </p:cBhvr>
                                    </p:animEffect>
                                  </p:childTnLst>
                                </p:cTn>
                              </p:par>
                              <p:par>
                                <p:cTn id="33" presetID="9" presetClass="entr" presetSubtype="0" fill="hold" nodeType="withEffect">
                                  <p:stCondLst>
                                    <p:cond delay="0"/>
                                  </p:stCondLst>
                                  <p:childTnLst>
                                    <p:set>
                                      <p:cBhvr>
                                        <p:cTn id="34" dur="1" fill="hold">
                                          <p:stCondLst>
                                            <p:cond delay="0"/>
                                          </p:stCondLst>
                                        </p:cTn>
                                        <p:tgtEl>
                                          <p:spTgt spid="17">
                                            <p:txEl>
                                              <p:pRg st="5" end="5"/>
                                            </p:txEl>
                                          </p:spTgt>
                                        </p:tgtEl>
                                        <p:attrNameLst>
                                          <p:attrName>style.visibility</p:attrName>
                                        </p:attrNameLst>
                                      </p:cBhvr>
                                      <p:to>
                                        <p:strVal val="visible"/>
                                      </p:to>
                                    </p:set>
                                    <p:animEffect transition="in" filter="dissolve">
                                      <p:cBhvr>
                                        <p:cTn id="35" dur="500"/>
                                        <p:tgtEl>
                                          <p:spTgt spid="17">
                                            <p:txEl>
                                              <p:pRg st="5" end="5"/>
                                            </p:txEl>
                                          </p:spTgt>
                                        </p:tgtEl>
                                      </p:cBhvr>
                                    </p:animEffect>
                                  </p:childTnLst>
                                </p:cTn>
                              </p:par>
                              <p:par>
                                <p:cTn id="36" presetID="9" presetClass="exit" presetSubtype="0" fill="hold" nodeType="withEffect">
                                  <p:stCondLst>
                                    <p:cond delay="0"/>
                                  </p:stCondLst>
                                  <p:childTnLst>
                                    <p:animEffect transition="out" filter="dissolve">
                                      <p:cBhvr>
                                        <p:cTn id="37" dur="500"/>
                                        <p:tgtEl>
                                          <p:spTgt spid="20"/>
                                        </p:tgtEl>
                                      </p:cBhvr>
                                    </p:animEffect>
                                    <p:set>
                                      <p:cBhvr>
                                        <p:cTn id="38" dur="1" fill="hold">
                                          <p:stCondLst>
                                            <p:cond delay="499"/>
                                          </p:stCondLst>
                                        </p:cTn>
                                        <p:tgtEl>
                                          <p:spTgt spid="20"/>
                                        </p:tgtEl>
                                        <p:attrNameLst>
                                          <p:attrName>style.visibility</p:attrName>
                                        </p:attrNameLst>
                                      </p:cBhvr>
                                      <p:to>
                                        <p:strVal val="hidden"/>
                                      </p:to>
                                    </p:set>
                                  </p:childTnLst>
                                </p:cTn>
                              </p:par>
                              <p:par>
                                <p:cTn id="39" presetID="9"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dissolve">
                                      <p:cBhvr>
                                        <p:cTn id="41" dur="500"/>
                                        <p:tgtEl>
                                          <p:spTgt spid="23"/>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17">
                                            <p:txEl>
                                              <p:pRg st="6" end="6"/>
                                            </p:txEl>
                                          </p:spTgt>
                                        </p:tgtEl>
                                        <p:attrNameLst>
                                          <p:attrName>style.visibility</p:attrName>
                                        </p:attrNameLst>
                                      </p:cBhvr>
                                      <p:to>
                                        <p:strVal val="visible"/>
                                      </p:to>
                                    </p:set>
                                    <p:animEffect transition="in" filter="dissolve">
                                      <p:cBhvr>
                                        <p:cTn id="46" dur="500"/>
                                        <p:tgtEl>
                                          <p:spTgt spid="17">
                                            <p:txEl>
                                              <p:pRg st="6" end="6"/>
                                            </p:txEl>
                                          </p:spTgt>
                                        </p:tgtEl>
                                      </p:cBhvr>
                                    </p:animEffect>
                                  </p:childTnLst>
                                </p:cTn>
                              </p:par>
                              <p:par>
                                <p:cTn id="47" presetID="9" presetClass="entr" presetSubtype="0" fill="hold" nodeType="withEffect">
                                  <p:stCondLst>
                                    <p:cond delay="0"/>
                                  </p:stCondLst>
                                  <p:childTnLst>
                                    <p:set>
                                      <p:cBhvr>
                                        <p:cTn id="48" dur="1" fill="hold">
                                          <p:stCondLst>
                                            <p:cond delay="0"/>
                                          </p:stCondLst>
                                        </p:cTn>
                                        <p:tgtEl>
                                          <p:spTgt spid="17">
                                            <p:txEl>
                                              <p:pRg st="7" end="7"/>
                                            </p:txEl>
                                          </p:spTgt>
                                        </p:tgtEl>
                                        <p:attrNameLst>
                                          <p:attrName>style.visibility</p:attrName>
                                        </p:attrNameLst>
                                      </p:cBhvr>
                                      <p:to>
                                        <p:strVal val="visible"/>
                                      </p:to>
                                    </p:set>
                                    <p:animEffect transition="in" filter="dissolve">
                                      <p:cBhvr>
                                        <p:cTn id="49" dur="500"/>
                                        <p:tgtEl>
                                          <p:spTgt spid="17">
                                            <p:txEl>
                                              <p:pRg st="7" end="7"/>
                                            </p:txEl>
                                          </p:spTgt>
                                        </p:tgtEl>
                                      </p:cBhvr>
                                    </p:animEffect>
                                  </p:childTnLst>
                                </p:cTn>
                              </p:par>
                              <p:par>
                                <p:cTn id="50" presetID="9" presetClass="exit" presetSubtype="0" fill="hold" nodeType="withEffect">
                                  <p:stCondLst>
                                    <p:cond delay="0"/>
                                  </p:stCondLst>
                                  <p:childTnLst>
                                    <p:animEffect transition="out" filter="dissolve">
                                      <p:cBhvr>
                                        <p:cTn id="51" dur="500"/>
                                        <p:tgtEl>
                                          <p:spTgt spid="23"/>
                                        </p:tgtEl>
                                      </p:cBhvr>
                                    </p:animEffect>
                                    <p:set>
                                      <p:cBhvr>
                                        <p:cTn id="52" dur="1" fill="hold">
                                          <p:stCondLst>
                                            <p:cond delay="499"/>
                                          </p:stCondLst>
                                        </p:cTn>
                                        <p:tgtEl>
                                          <p:spTgt spid="23"/>
                                        </p:tgtEl>
                                        <p:attrNameLst>
                                          <p:attrName>style.visibility</p:attrName>
                                        </p:attrNameLst>
                                      </p:cBhvr>
                                      <p:to>
                                        <p:strVal val="hidden"/>
                                      </p:to>
                                    </p:set>
                                  </p:childTnLst>
                                </p:cTn>
                              </p:par>
                              <p:par>
                                <p:cTn id="53" presetID="9"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dissolve">
                                      <p:cBhvr>
                                        <p:cTn id="55" dur="500"/>
                                        <p:tgtEl>
                                          <p:spTgt spid="26"/>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nodeType="clickEffect">
                                  <p:stCondLst>
                                    <p:cond delay="0"/>
                                  </p:stCondLst>
                                  <p:childTnLst>
                                    <p:set>
                                      <p:cBhvr>
                                        <p:cTn id="59" dur="1" fill="hold">
                                          <p:stCondLst>
                                            <p:cond delay="0"/>
                                          </p:stCondLst>
                                        </p:cTn>
                                        <p:tgtEl>
                                          <p:spTgt spid="17">
                                            <p:txEl>
                                              <p:pRg st="8" end="8"/>
                                            </p:txEl>
                                          </p:spTgt>
                                        </p:tgtEl>
                                        <p:attrNameLst>
                                          <p:attrName>style.visibility</p:attrName>
                                        </p:attrNameLst>
                                      </p:cBhvr>
                                      <p:to>
                                        <p:strVal val="visible"/>
                                      </p:to>
                                    </p:set>
                                    <p:animEffect transition="in" filter="dissolve">
                                      <p:cBhvr>
                                        <p:cTn id="60" dur="500"/>
                                        <p:tgtEl>
                                          <p:spTgt spid="17">
                                            <p:txEl>
                                              <p:pRg st="8" end="8"/>
                                            </p:txEl>
                                          </p:spTgt>
                                        </p:tgtEl>
                                      </p:cBhvr>
                                    </p:animEffect>
                                  </p:childTnLst>
                                </p:cTn>
                              </p:par>
                              <p:par>
                                <p:cTn id="61" presetID="9" presetClass="exit" presetSubtype="0" fill="hold" nodeType="withEffect">
                                  <p:stCondLst>
                                    <p:cond delay="0"/>
                                  </p:stCondLst>
                                  <p:childTnLst>
                                    <p:animEffect transition="out" filter="dissolve">
                                      <p:cBhvr>
                                        <p:cTn id="62" dur="500"/>
                                        <p:tgtEl>
                                          <p:spTgt spid="26"/>
                                        </p:tgtEl>
                                      </p:cBhvr>
                                    </p:animEffect>
                                    <p:set>
                                      <p:cBhvr>
                                        <p:cTn id="63" dur="1" fill="hold">
                                          <p:stCondLst>
                                            <p:cond delay="499"/>
                                          </p:stCondLst>
                                        </p:cTn>
                                        <p:tgtEl>
                                          <p:spTgt spid="26"/>
                                        </p:tgtEl>
                                        <p:attrNameLst>
                                          <p:attrName>style.visibility</p:attrName>
                                        </p:attrNameLst>
                                      </p:cBhvr>
                                      <p:to>
                                        <p:strVal val="hidden"/>
                                      </p:to>
                                    </p:set>
                                  </p:childTnLst>
                                </p:cTn>
                              </p:par>
                              <p:par>
                                <p:cTn id="64" presetID="9" presetClass="entr" presetSubtype="0" fill="hold" nodeType="with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dissolve">
                                      <p:cBhvr>
                                        <p:cTn id="6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Transport layer: overview</a:t>
            </a:r>
            <a:endParaRPr lang="en-US" sz="4400" dirty="0"/>
          </a:p>
        </p:txBody>
      </p:sp>
      <p:sp>
        <p:nvSpPr>
          <p:cNvPr id="4" name="Content Placeholder 3">
            <a:extLst>
              <a:ext uri="{FF2B5EF4-FFF2-40B4-BE49-F238E27FC236}">
                <a16:creationId xmlns="" xmlns:a16="http://schemas.microsoft.com/office/drawing/2014/main" id="{F6E2ACD2-5E28-0840-A1E8-F9AB901FE8BC}"/>
              </a:ext>
            </a:extLst>
          </p:cNvPr>
          <p:cNvSpPr>
            <a:spLocks noGrp="1"/>
          </p:cNvSpPr>
          <p:nvPr>
            <p:ph sz="half" idx="1"/>
          </p:nvPr>
        </p:nvSpPr>
        <p:spPr>
          <a:xfrm>
            <a:off x="781763" y="1253331"/>
            <a:ext cx="4842088" cy="4351338"/>
          </a:xfrm>
        </p:spPr>
        <p:txBody>
          <a:bodyPr>
            <a:noAutofit/>
          </a:bodyPr>
          <a:lstStyle/>
          <a:p>
            <a:pPr marL="11113" indent="0">
              <a:buNone/>
            </a:pPr>
            <a:r>
              <a:rPr lang="en-US" altLang="en-US" sz="3200" i="1" dirty="0">
                <a:solidFill>
                  <a:srgbClr val="CC0000"/>
                </a:solidFill>
                <a:latin typeface="Calibri" panose="020F0502020204030204" pitchFamily="34" charset="0"/>
                <a:cs typeface="Calibri" panose="020F0502020204030204" pitchFamily="34" charset="0"/>
              </a:rPr>
              <a:t>Our goal:</a:t>
            </a:r>
            <a:r>
              <a:rPr lang="en-US" altLang="en-US" sz="3200" i="1" dirty="0">
                <a:latin typeface="Calibri" panose="020F0502020204030204" pitchFamily="34" charset="0"/>
                <a:cs typeface="Calibri" panose="020F0502020204030204" pitchFamily="34" charset="0"/>
              </a:rPr>
              <a:t> </a:t>
            </a:r>
          </a:p>
          <a:p>
            <a:pPr marL="400050" indent="-285750">
              <a:buFont typeface="Wingdings" charset="2"/>
              <a:buChar char="§"/>
              <a:defRPr/>
            </a:pPr>
            <a:r>
              <a:rPr lang="en-US" sz="3200" dirty="0"/>
              <a:t>understand principles behind transport layer services:</a:t>
            </a:r>
          </a:p>
          <a:p>
            <a:pPr lvl="1">
              <a:buFont typeface="Arial"/>
              <a:buChar char="•"/>
              <a:defRPr/>
            </a:pPr>
            <a:r>
              <a:rPr lang="en-US" sz="2800" dirty="0"/>
              <a:t>multiplexing, demultiplexing</a:t>
            </a:r>
          </a:p>
          <a:p>
            <a:pPr lvl="1">
              <a:buFont typeface="Arial"/>
              <a:buChar char="•"/>
              <a:defRPr/>
            </a:pPr>
            <a:r>
              <a:rPr lang="en-US" sz="2800" dirty="0"/>
              <a:t>reliable data transfer</a:t>
            </a:r>
          </a:p>
          <a:p>
            <a:pPr lvl="1">
              <a:buFont typeface="Arial"/>
              <a:buChar char="•"/>
              <a:defRPr/>
            </a:pPr>
            <a:r>
              <a:rPr lang="en-US" sz="2800" dirty="0"/>
              <a:t>flow control</a:t>
            </a:r>
          </a:p>
          <a:p>
            <a:pPr lvl="1">
              <a:buFont typeface="Arial"/>
              <a:buChar char="•"/>
              <a:defRPr/>
            </a:pPr>
            <a:r>
              <a:rPr lang="en-US" sz="2800" dirty="0"/>
              <a:t>congestion control</a:t>
            </a:r>
            <a:endParaRPr lang="en-US" sz="3200" dirty="0"/>
          </a:p>
          <a:p>
            <a:endParaRPr lang="en-US" dirty="0"/>
          </a:p>
        </p:txBody>
      </p:sp>
      <p:sp>
        <p:nvSpPr>
          <p:cNvPr id="9" name="Rectangle 4">
            <a:extLst>
              <a:ext uri="{FF2B5EF4-FFF2-40B4-BE49-F238E27FC236}">
                <a16:creationId xmlns="" xmlns:a16="http://schemas.microsoft.com/office/drawing/2014/main" id="{55AB9D8D-7F05-094B-8DA6-3095A7A7A096}"/>
              </a:ext>
            </a:extLst>
          </p:cNvPr>
          <p:cNvSpPr>
            <a:spLocks noGrp="1" noChangeArrowheads="1"/>
          </p:cNvSpPr>
          <p:nvPr>
            <p:ph sz="half" idx="2"/>
          </p:nvPr>
        </p:nvSpPr>
        <p:spPr>
          <a:xfrm>
            <a:off x="5968416" y="1815962"/>
            <a:ext cx="5994400" cy="4799013"/>
          </a:xfrm>
        </p:spPr>
        <p:txBody>
          <a:bodyPr>
            <a:normAutofit/>
          </a:bodyPr>
          <a:lstStyle/>
          <a:p>
            <a:pPr marL="457200" indent="-285750">
              <a:buFont typeface="Wingdings" charset="2"/>
              <a:buChar char="§"/>
              <a:defRPr/>
            </a:pPr>
            <a:r>
              <a:rPr lang="en-US" sz="3200" dirty="0"/>
              <a:t>learn about Internet transport layer protocols:</a:t>
            </a:r>
          </a:p>
          <a:p>
            <a:pPr lvl="1">
              <a:buFont typeface="Arial"/>
              <a:buChar char="•"/>
              <a:defRPr/>
            </a:pPr>
            <a:r>
              <a:rPr lang="en-US" sz="2800" dirty="0"/>
              <a:t>UDP: connectionless transport</a:t>
            </a:r>
          </a:p>
          <a:p>
            <a:pPr lvl="1">
              <a:buFont typeface="Arial"/>
              <a:buChar char="•"/>
              <a:defRPr/>
            </a:pPr>
            <a:r>
              <a:rPr lang="en-US" sz="2800" dirty="0"/>
              <a:t>TCP: connection-oriented reliable transport</a:t>
            </a:r>
          </a:p>
          <a:p>
            <a:pPr lvl="1">
              <a:buFont typeface="Arial"/>
              <a:buChar char="•"/>
              <a:defRPr/>
            </a:pPr>
            <a:r>
              <a:rPr lang="en-US" sz="2800" dirty="0"/>
              <a:t>TCP congestion control</a:t>
            </a:r>
            <a:endParaRPr lang="en-US" dirty="0"/>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 xmlns:a16="http://schemas.microsoft.com/office/drawing/2014/main" id="{11084F46-D79C-3048-9B21-CEBC66650819}"/>
              </a:ext>
            </a:extLst>
          </p:cNvPr>
          <p:cNvSpPr>
            <a:spLocks noGrp="1"/>
          </p:cNvSpPr>
          <p:nvPr>
            <p:ph type="sldNum" sz="quarter" idx="4"/>
          </p:nvPr>
        </p:nvSpPr>
        <p:spPr>
          <a:xfrm>
            <a:off x="9219616" y="6454664"/>
            <a:ext cx="2743200" cy="365125"/>
          </a:xfrm>
        </p:spPr>
        <p:txBody>
          <a:bodyPr/>
          <a:lstStyle/>
          <a:p>
            <a:r>
              <a:rPr lang="en-US" dirty="0"/>
              <a:t>Transport Layer: 3-</a:t>
            </a:r>
            <a:fld id="{C4204591-24BD-A542-B9D5-F8D8A88D2FEE}" type="slidenum">
              <a:rPr lang="en-US" smtClean="0"/>
              <a:pPr/>
              <a:t>4</a:t>
            </a:fld>
            <a:endParaRPr lang="en-US" dirty="0"/>
          </a:p>
        </p:txBody>
      </p:sp>
    </p:spTree>
    <p:extLst>
      <p:ext uri="{BB962C8B-B14F-4D97-AF65-F5344CB8AC3E}">
        <p14:creationId xmlns:p14="http://schemas.microsoft.com/office/powerpoint/2010/main" val="26664076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overview  </a:t>
            </a:r>
            <a:r>
              <a:rPr lang="en-US" sz="3200" b="0" dirty="0"/>
              <a:t>RFCs: 793,1122, 2018, 5681, 7323</a:t>
            </a:r>
            <a:endParaRPr lang="en-US" sz="4400" b="0" dirty="0"/>
          </a:p>
        </p:txBody>
      </p:sp>
      <p:sp>
        <p:nvSpPr>
          <p:cNvPr id="70" name="Rectangle 3">
            <a:extLst>
              <a:ext uri="{FF2B5EF4-FFF2-40B4-BE49-F238E27FC236}">
                <a16:creationId xmlns:a16="http://schemas.microsoft.com/office/drawing/2014/main" xmlns="" id="{BE7365D6-3297-0A41-9B2B-91B801F95815}"/>
              </a:ext>
            </a:extLst>
          </p:cNvPr>
          <p:cNvSpPr txBox="1">
            <a:spLocks noChangeArrowheads="1"/>
          </p:cNvSpPr>
          <p:nvPr/>
        </p:nvSpPr>
        <p:spPr>
          <a:xfrm>
            <a:off x="5949863" y="1322613"/>
            <a:ext cx="6012953" cy="553538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cumulative ACKs</a:t>
            </a:r>
          </a:p>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pipelining:</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TCP congestion and flow control set window size</a:t>
            </a:r>
            <a:endParaRPr kumimoji="0" lang="en-US" altLang="en-US" sz="28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connection-oriented: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handshaking (exchange of control messages) initializes sender, receiver state before data exchange</a:t>
            </a: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flow controlled:</a:t>
            </a:r>
          </a:p>
          <a:p>
            <a:pPr marL="695325" marR="0" lvl="1" indent="-231775" algn="l" defTabSz="914400" rtl="0" eaLnBrk="1" fontAlgn="auto" latinLnBrk="0" hangingPunct="1">
              <a:lnSpc>
                <a:spcPct val="90000"/>
              </a:lnSpc>
              <a:spcBef>
                <a:spcPts val="4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will not overwhelm receiver</a:t>
            </a:r>
          </a:p>
        </p:txBody>
      </p:sp>
      <p:sp>
        <p:nvSpPr>
          <p:cNvPr id="71" name="Rectangle 4">
            <a:extLst>
              <a:ext uri="{FF2B5EF4-FFF2-40B4-BE49-F238E27FC236}">
                <a16:creationId xmlns:a16="http://schemas.microsoft.com/office/drawing/2014/main" xmlns="" id="{B36C086D-3E3E-F04F-BB50-EE7FE6F1A87A}"/>
              </a:ext>
            </a:extLst>
          </p:cNvPr>
          <p:cNvSpPr txBox="1">
            <a:spLocks noChangeArrowheads="1"/>
          </p:cNvSpPr>
          <p:nvPr/>
        </p:nvSpPr>
        <p:spPr>
          <a:xfrm>
            <a:off x="687960" y="1322613"/>
            <a:ext cx="5382987"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point-to-point</a:t>
            </a: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one sender, one receiver</a:t>
            </a:r>
            <a:r>
              <a:rPr kumimoji="0" lang="en-US" altLang="en-US" sz="28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p>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reliable, in-order </a:t>
            </a:r>
            <a:r>
              <a:rPr kumimoji="0" lang="en-US" altLang="en-US" sz="32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byte steam:</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message boundaries"</a:t>
            </a: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a:ea typeface="+mn-ea"/>
                <a:cs typeface="+mn-cs"/>
              </a:rPr>
              <a:t>full duplex data:</a:t>
            </a:r>
          </a:p>
          <a:p>
            <a:pPr marL="695325" marR="0" lvl="1" indent="-231775" algn="l" defTabSz="914400" rtl="0" eaLnBrk="1" fontAlgn="auto" latinLnBrk="0" hangingPunct="1">
              <a:lnSpc>
                <a:spcPct val="90000"/>
              </a:lnSpc>
              <a:spcBef>
                <a:spcPts val="4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bi-directional data flow in same </a:t>
            </a:r>
            <a:r>
              <a:rPr kumimoji="0" lang="en-US" sz="2800" b="0" i="0" u="none" strike="noStrike" kern="1200" cap="none" spc="0" normalizeH="0" baseline="0" noProof="0" dirty="0" smtClean="0">
                <a:ln>
                  <a:noFill/>
                </a:ln>
                <a:solidFill>
                  <a:prstClr val="black"/>
                </a:solidFill>
                <a:effectLst/>
                <a:uLnTx/>
                <a:uFillTx/>
                <a:latin typeface="Calibri"/>
                <a:ea typeface="+mn-ea"/>
                <a:cs typeface="+mn-cs"/>
              </a:rPr>
              <a:t>connection</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 name="Slide Number Placeholder 2">
            <a:extLst>
              <a:ext uri="{FF2B5EF4-FFF2-40B4-BE49-F238E27FC236}">
                <a16:creationId xmlns:a16="http://schemas.microsoft.com/office/drawing/2014/main" xmlns="" id="{D9F10C56-26D5-5C45-B097-EE8A4653997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a:t>
            </a:fld>
            <a:endParaRPr lang="en-US" dirty="0"/>
          </a:p>
        </p:txBody>
      </p:sp>
    </p:spTree>
    <p:extLst>
      <p:ext uri="{BB962C8B-B14F-4D97-AF65-F5344CB8AC3E}">
        <p14:creationId xmlns:p14="http://schemas.microsoft.com/office/powerpoint/2010/main" val="155591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segment structure</a:t>
            </a:r>
            <a:endParaRPr lang="en-US" sz="4400" b="0" dirty="0"/>
          </a:p>
        </p:txBody>
      </p:sp>
      <p:sp>
        <p:nvSpPr>
          <p:cNvPr id="60" name="Rectangle 4">
            <a:extLst>
              <a:ext uri="{FF2B5EF4-FFF2-40B4-BE49-F238E27FC236}">
                <a16:creationId xmlns:a16="http://schemas.microsoft.com/office/drawing/2014/main" xmlns="" id="{1438C6A7-F9CB-854D-92BB-74AFAE175928}"/>
              </a:ext>
            </a:extLst>
          </p:cNvPr>
          <p:cNvSpPr>
            <a:spLocks noChangeArrowheads="1"/>
          </p:cNvSpPr>
          <p:nvPr/>
        </p:nvSpPr>
        <p:spPr bwMode="auto">
          <a:xfrm>
            <a:off x="4432073" y="1560062"/>
            <a:ext cx="3951287" cy="4824412"/>
          </a:xfrm>
          <a:prstGeom prst="rect">
            <a:avLst/>
          </a:prstGeom>
          <a:solidFill>
            <a:srgbClr val="000099"/>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61" name="Rectangle 5">
            <a:extLst>
              <a:ext uri="{FF2B5EF4-FFF2-40B4-BE49-F238E27FC236}">
                <a16:creationId xmlns:a16="http://schemas.microsoft.com/office/drawing/2014/main" xmlns="" id="{21D47CEF-020C-9C44-AB75-DA719011CBEF}"/>
              </a:ext>
            </a:extLst>
          </p:cNvPr>
          <p:cNvSpPr>
            <a:spLocks noChangeArrowheads="1"/>
          </p:cNvSpPr>
          <p:nvPr/>
        </p:nvSpPr>
        <p:spPr bwMode="auto">
          <a:xfrm>
            <a:off x="4346348" y="1675949"/>
            <a:ext cx="3951287" cy="4805363"/>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4" name="Group 3">
            <a:extLst>
              <a:ext uri="{FF2B5EF4-FFF2-40B4-BE49-F238E27FC236}">
                <a16:creationId xmlns:a16="http://schemas.microsoft.com/office/drawing/2014/main" xmlns="" id="{A0F66122-9E4A-7644-B40C-189BABEA3388}"/>
              </a:ext>
            </a:extLst>
          </p:cNvPr>
          <p:cNvGrpSpPr/>
          <p:nvPr/>
        </p:nvGrpSpPr>
        <p:grpSpPr>
          <a:xfrm>
            <a:off x="4495573" y="1661303"/>
            <a:ext cx="3450544" cy="401997"/>
            <a:chOff x="4495573" y="1661303"/>
            <a:chExt cx="3450544" cy="401997"/>
          </a:xfrm>
        </p:grpSpPr>
        <p:sp>
          <p:nvSpPr>
            <p:cNvPr id="62" name="Text Box 6">
              <a:extLst>
                <a:ext uri="{FF2B5EF4-FFF2-40B4-BE49-F238E27FC236}">
                  <a16:creationId xmlns:a16="http://schemas.microsoft.com/office/drawing/2014/main" xmlns="" id="{A183A89B-2122-E141-9DF3-203A60EFF295}"/>
                </a:ext>
              </a:extLst>
            </p:cNvPr>
            <p:cNvSpPr txBox="1">
              <a:spLocks noChangeArrowheads="1"/>
            </p:cNvSpPr>
            <p:nvPr/>
          </p:nvSpPr>
          <p:spPr bwMode="auto">
            <a:xfrm>
              <a:off x="4495573" y="1661303"/>
              <a:ext cx="16637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source port #</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63" name="Text Box 7">
              <a:extLst>
                <a:ext uri="{FF2B5EF4-FFF2-40B4-BE49-F238E27FC236}">
                  <a16:creationId xmlns:a16="http://schemas.microsoft.com/office/drawing/2014/main" xmlns="" id="{E52BAEBA-8AEA-B545-A35F-AEB6190843E5}"/>
                </a:ext>
              </a:extLst>
            </p:cNvPr>
            <p:cNvSpPr txBox="1">
              <a:spLocks noChangeArrowheads="1"/>
            </p:cNvSpPr>
            <p:nvPr/>
          </p:nvSpPr>
          <p:spPr bwMode="auto">
            <a:xfrm>
              <a:off x="6564992" y="1666425"/>
              <a:ext cx="138112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dest port #</a:t>
              </a: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64" name="Line 8">
            <a:extLst>
              <a:ext uri="{FF2B5EF4-FFF2-40B4-BE49-F238E27FC236}">
                <a16:creationId xmlns:a16="http://schemas.microsoft.com/office/drawing/2014/main" xmlns="" id="{BDC40F37-DD1A-6848-AB76-2EA7683B9566}"/>
              </a:ext>
            </a:extLst>
          </p:cNvPr>
          <p:cNvSpPr>
            <a:spLocks noChangeShapeType="1"/>
          </p:cNvSpPr>
          <p:nvPr/>
        </p:nvSpPr>
        <p:spPr bwMode="auto">
          <a:xfrm>
            <a:off x="4349523" y="2050599"/>
            <a:ext cx="3946525" cy="476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5" name="Line 9">
            <a:extLst>
              <a:ext uri="{FF2B5EF4-FFF2-40B4-BE49-F238E27FC236}">
                <a16:creationId xmlns:a16="http://schemas.microsoft.com/office/drawing/2014/main" xmlns="" id="{92C91585-33BC-084B-A3CF-F5A7CD082B67}"/>
              </a:ext>
            </a:extLst>
          </p:cNvPr>
          <p:cNvSpPr>
            <a:spLocks noChangeShapeType="1"/>
          </p:cNvSpPr>
          <p:nvPr/>
        </p:nvSpPr>
        <p:spPr bwMode="auto">
          <a:xfrm flipV="1">
            <a:off x="4343173" y="2430012"/>
            <a:ext cx="395128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 name="Group 11">
            <a:extLst>
              <a:ext uri="{FF2B5EF4-FFF2-40B4-BE49-F238E27FC236}">
                <a16:creationId xmlns:a16="http://schemas.microsoft.com/office/drawing/2014/main" xmlns="" id="{8552304C-19AC-C84B-842E-CBCC3EA9E153}"/>
              </a:ext>
            </a:extLst>
          </p:cNvPr>
          <p:cNvGrpSpPr/>
          <p:nvPr/>
        </p:nvGrpSpPr>
        <p:grpSpPr>
          <a:xfrm>
            <a:off x="4324123" y="1145724"/>
            <a:ext cx="3935412" cy="366713"/>
            <a:chOff x="4324123" y="1145724"/>
            <a:chExt cx="3935412" cy="366713"/>
          </a:xfrm>
        </p:grpSpPr>
        <p:sp>
          <p:nvSpPr>
            <p:cNvPr id="67" name="Text Box 11">
              <a:extLst>
                <a:ext uri="{FF2B5EF4-FFF2-40B4-BE49-F238E27FC236}">
                  <a16:creationId xmlns:a16="http://schemas.microsoft.com/office/drawing/2014/main" xmlns="" id="{D7A6E153-CAA2-2E43-9742-982E16926734}"/>
                </a:ext>
              </a:extLst>
            </p:cNvPr>
            <p:cNvSpPr txBox="1">
              <a:spLocks noChangeArrowheads="1"/>
            </p:cNvSpPr>
            <p:nvPr/>
          </p:nvSpPr>
          <p:spPr bwMode="auto">
            <a:xfrm>
              <a:off x="5832248" y="1145724"/>
              <a:ext cx="8572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32 bits</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68" name="Line 12">
              <a:extLst>
                <a:ext uri="{FF2B5EF4-FFF2-40B4-BE49-F238E27FC236}">
                  <a16:creationId xmlns:a16="http://schemas.microsoft.com/office/drawing/2014/main" xmlns="" id="{C28AE80D-AED7-BB43-AEEF-9A3E95D70A42}"/>
                </a:ext>
              </a:extLst>
            </p:cNvPr>
            <p:cNvSpPr>
              <a:spLocks noChangeShapeType="1"/>
            </p:cNvSpPr>
            <p:nvPr/>
          </p:nvSpPr>
          <p:spPr bwMode="auto">
            <a:xfrm>
              <a:off x="6832373" y="1391787"/>
              <a:ext cx="1427162" cy="476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9" name="Line 13">
              <a:extLst>
                <a:ext uri="{FF2B5EF4-FFF2-40B4-BE49-F238E27FC236}">
                  <a16:creationId xmlns:a16="http://schemas.microsoft.com/office/drawing/2014/main" xmlns="" id="{0FE91D57-DF52-A948-8B79-BE2C69D24056}"/>
                </a:ext>
              </a:extLst>
            </p:cNvPr>
            <p:cNvSpPr>
              <a:spLocks noChangeShapeType="1"/>
            </p:cNvSpPr>
            <p:nvPr/>
          </p:nvSpPr>
          <p:spPr bwMode="auto">
            <a:xfrm rot="10800000">
              <a:off x="4324123" y="1402899"/>
              <a:ext cx="1341437"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74" name="Line 16">
            <a:extLst>
              <a:ext uri="{FF2B5EF4-FFF2-40B4-BE49-F238E27FC236}">
                <a16:creationId xmlns:a16="http://schemas.microsoft.com/office/drawing/2014/main" xmlns="" id="{ADBC9EF8-B51B-F249-8F7B-C16F5F07A21E}"/>
              </a:ext>
            </a:extLst>
          </p:cNvPr>
          <p:cNvSpPr>
            <a:spLocks noChangeShapeType="1"/>
          </p:cNvSpPr>
          <p:nvPr/>
        </p:nvSpPr>
        <p:spPr bwMode="auto">
          <a:xfrm flipV="1">
            <a:off x="4352698" y="2811012"/>
            <a:ext cx="395128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6" name="Line 18">
            <a:extLst>
              <a:ext uri="{FF2B5EF4-FFF2-40B4-BE49-F238E27FC236}">
                <a16:creationId xmlns:a16="http://schemas.microsoft.com/office/drawing/2014/main" xmlns="" id="{32231029-9349-864B-ABF1-0D56E55824BB}"/>
              </a:ext>
            </a:extLst>
          </p:cNvPr>
          <p:cNvSpPr>
            <a:spLocks noChangeShapeType="1"/>
          </p:cNvSpPr>
          <p:nvPr/>
        </p:nvSpPr>
        <p:spPr bwMode="auto">
          <a:xfrm flipV="1">
            <a:off x="4347935" y="3206299"/>
            <a:ext cx="395128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7" name="Line 19">
            <a:extLst>
              <a:ext uri="{FF2B5EF4-FFF2-40B4-BE49-F238E27FC236}">
                <a16:creationId xmlns:a16="http://schemas.microsoft.com/office/drawing/2014/main" xmlns="" id="{F2503E28-C28E-B541-932B-7E2993655C9A}"/>
              </a:ext>
            </a:extLst>
          </p:cNvPr>
          <p:cNvSpPr>
            <a:spLocks noChangeShapeType="1"/>
          </p:cNvSpPr>
          <p:nvPr/>
        </p:nvSpPr>
        <p:spPr bwMode="auto">
          <a:xfrm flipV="1">
            <a:off x="4343173" y="3596824"/>
            <a:ext cx="395128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8" name="Line 20">
            <a:extLst>
              <a:ext uri="{FF2B5EF4-FFF2-40B4-BE49-F238E27FC236}">
                <a16:creationId xmlns:a16="http://schemas.microsoft.com/office/drawing/2014/main" xmlns="" id="{10D5BEAE-CBC6-5040-B37E-6D12FC20E9CB}"/>
              </a:ext>
            </a:extLst>
          </p:cNvPr>
          <p:cNvSpPr>
            <a:spLocks noChangeShapeType="1"/>
          </p:cNvSpPr>
          <p:nvPr/>
        </p:nvSpPr>
        <p:spPr bwMode="auto">
          <a:xfrm flipV="1">
            <a:off x="4343173" y="4158799"/>
            <a:ext cx="395128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9" name="Line 21">
            <a:extLst>
              <a:ext uri="{FF2B5EF4-FFF2-40B4-BE49-F238E27FC236}">
                <a16:creationId xmlns:a16="http://schemas.microsoft.com/office/drawing/2014/main" xmlns="" id="{A186AEBD-F0F5-494B-9D24-09B9888787CD}"/>
              </a:ext>
            </a:extLst>
          </p:cNvPr>
          <p:cNvSpPr>
            <a:spLocks noChangeShapeType="1"/>
          </p:cNvSpPr>
          <p:nvPr/>
        </p:nvSpPr>
        <p:spPr bwMode="auto">
          <a:xfrm flipH="1" flipV="1">
            <a:off x="6303735" y="2814187"/>
            <a:ext cx="4763" cy="77787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7" name="Line 29">
            <a:extLst>
              <a:ext uri="{FF2B5EF4-FFF2-40B4-BE49-F238E27FC236}">
                <a16:creationId xmlns:a16="http://schemas.microsoft.com/office/drawing/2014/main" xmlns="" id="{B0BB3064-7239-A344-B7D3-3350540CF7AA}"/>
              </a:ext>
            </a:extLst>
          </p:cNvPr>
          <p:cNvSpPr>
            <a:spLocks noChangeShapeType="1"/>
          </p:cNvSpPr>
          <p:nvPr/>
        </p:nvSpPr>
        <p:spPr bwMode="auto">
          <a:xfrm flipV="1">
            <a:off x="5668735" y="2814187"/>
            <a:ext cx="0" cy="39211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sp>
        <p:nvSpPr>
          <p:cNvPr id="88" name="Line 30">
            <a:extLst>
              <a:ext uri="{FF2B5EF4-FFF2-40B4-BE49-F238E27FC236}">
                <a16:creationId xmlns:a16="http://schemas.microsoft.com/office/drawing/2014/main" xmlns="" id="{22FDEDB0-0202-4C4C-9B34-FF72CC278D77}"/>
              </a:ext>
            </a:extLst>
          </p:cNvPr>
          <p:cNvSpPr>
            <a:spLocks noChangeShapeType="1"/>
          </p:cNvSpPr>
          <p:nvPr/>
        </p:nvSpPr>
        <p:spPr bwMode="auto">
          <a:xfrm flipV="1">
            <a:off x="5514748" y="2809424"/>
            <a:ext cx="0" cy="392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sp>
        <p:nvSpPr>
          <p:cNvPr id="89" name="Line 31">
            <a:extLst>
              <a:ext uri="{FF2B5EF4-FFF2-40B4-BE49-F238E27FC236}">
                <a16:creationId xmlns:a16="http://schemas.microsoft.com/office/drawing/2014/main" xmlns="" id="{9AF172E8-0A6A-6644-BD77-F1EE190D4ADE}"/>
              </a:ext>
            </a:extLst>
          </p:cNvPr>
          <p:cNvSpPr>
            <a:spLocks noChangeShapeType="1"/>
          </p:cNvSpPr>
          <p:nvPr/>
        </p:nvSpPr>
        <p:spPr bwMode="auto">
          <a:xfrm flipV="1">
            <a:off x="5355998" y="2818949"/>
            <a:ext cx="0" cy="392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sp>
        <p:nvSpPr>
          <p:cNvPr id="96" name="Text Box 38">
            <a:extLst>
              <a:ext uri="{FF2B5EF4-FFF2-40B4-BE49-F238E27FC236}">
                <a16:creationId xmlns:a16="http://schemas.microsoft.com/office/drawing/2014/main" xmlns="" id="{A4AA77C6-3CD5-F642-BD90-B898C462C724}"/>
              </a:ext>
            </a:extLst>
          </p:cNvPr>
          <p:cNvSpPr txBox="1">
            <a:spLocks noChangeArrowheads="1"/>
          </p:cNvSpPr>
          <p:nvPr/>
        </p:nvSpPr>
        <p:spPr bwMode="auto">
          <a:xfrm>
            <a:off x="4636966" y="2822952"/>
            <a:ext cx="482824" cy="4076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not</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used</a:t>
            </a:r>
            <a:endPar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7" name="Line 39">
            <a:extLst>
              <a:ext uri="{FF2B5EF4-FFF2-40B4-BE49-F238E27FC236}">
                <a16:creationId xmlns:a16="http://schemas.microsoft.com/office/drawing/2014/main" xmlns="" id="{356A6247-1FB1-3845-A2C5-956708DFFBCF}"/>
              </a:ext>
            </a:extLst>
          </p:cNvPr>
          <p:cNvSpPr>
            <a:spLocks noChangeShapeType="1"/>
          </p:cNvSpPr>
          <p:nvPr/>
        </p:nvSpPr>
        <p:spPr bwMode="auto">
          <a:xfrm flipV="1">
            <a:off x="4713766" y="2809424"/>
            <a:ext cx="0" cy="392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grpSp>
        <p:nvGrpSpPr>
          <p:cNvPr id="115" name="Group 114">
            <a:extLst>
              <a:ext uri="{FF2B5EF4-FFF2-40B4-BE49-F238E27FC236}">
                <a16:creationId xmlns:a16="http://schemas.microsoft.com/office/drawing/2014/main" xmlns="" id="{25F3ABB6-FC22-8E45-923B-C272F3E47C12}"/>
              </a:ext>
            </a:extLst>
          </p:cNvPr>
          <p:cNvGrpSpPr/>
          <p:nvPr/>
        </p:nvGrpSpPr>
        <p:grpSpPr>
          <a:xfrm>
            <a:off x="6405335" y="2817362"/>
            <a:ext cx="5252586" cy="731484"/>
            <a:chOff x="6405335" y="2817362"/>
            <a:chExt cx="5252586" cy="731484"/>
          </a:xfrm>
        </p:grpSpPr>
        <p:sp>
          <p:nvSpPr>
            <p:cNvPr id="80" name="Text Box 22">
              <a:extLst>
                <a:ext uri="{FF2B5EF4-FFF2-40B4-BE49-F238E27FC236}">
                  <a16:creationId xmlns:a16="http://schemas.microsoft.com/office/drawing/2014/main" xmlns="" id="{C121B465-E333-C34D-A9B1-4EC95AB29663}"/>
                </a:ext>
              </a:extLst>
            </p:cNvPr>
            <p:cNvSpPr txBox="1">
              <a:spLocks noChangeArrowheads="1"/>
            </p:cNvSpPr>
            <p:nvPr/>
          </p:nvSpPr>
          <p:spPr bwMode="auto">
            <a:xfrm>
              <a:off x="6405335" y="2817362"/>
              <a:ext cx="17462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receive window</a:t>
              </a:r>
            </a:p>
          </p:txBody>
        </p:sp>
        <p:sp>
          <p:nvSpPr>
            <p:cNvPr id="107" name="Text Box 49">
              <a:extLst>
                <a:ext uri="{FF2B5EF4-FFF2-40B4-BE49-F238E27FC236}">
                  <a16:creationId xmlns:a16="http://schemas.microsoft.com/office/drawing/2014/main" xmlns="" id="{C1196D10-63E5-F146-A338-FB6B53C00F42}"/>
                </a:ext>
              </a:extLst>
            </p:cNvPr>
            <p:cNvSpPr txBox="1">
              <a:spLocks noChangeArrowheads="1"/>
            </p:cNvSpPr>
            <p:nvPr/>
          </p:nvSpPr>
          <p:spPr bwMode="auto">
            <a:xfrm>
              <a:off x="8724900" y="2847115"/>
              <a:ext cx="2933021" cy="701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flow control: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bytes receiver willing to accept</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1" name="Line 53">
              <a:extLst>
                <a:ext uri="{FF2B5EF4-FFF2-40B4-BE49-F238E27FC236}">
                  <a16:creationId xmlns:a16="http://schemas.microsoft.com/office/drawing/2014/main" xmlns="" id="{AF202832-D8A0-CC44-AEC9-474E90CA4102}"/>
                </a:ext>
              </a:extLst>
            </p:cNvPr>
            <p:cNvSpPr>
              <a:spLocks noChangeShapeType="1"/>
            </p:cNvSpPr>
            <p:nvPr/>
          </p:nvSpPr>
          <p:spPr bwMode="auto">
            <a:xfrm flipH="1">
              <a:off x="8142852" y="3044701"/>
              <a:ext cx="582048" cy="0"/>
            </a:xfrm>
            <a:prstGeom prst="line">
              <a:avLst/>
            </a:prstGeom>
            <a:noFill/>
            <a:ln w="190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6" name="Group 5">
            <a:extLst>
              <a:ext uri="{FF2B5EF4-FFF2-40B4-BE49-F238E27FC236}">
                <a16:creationId xmlns:a16="http://schemas.microsoft.com/office/drawing/2014/main" xmlns="" id="{9EBAA956-8E89-0A4A-A4BC-91B08D93CC59}"/>
              </a:ext>
            </a:extLst>
          </p:cNvPr>
          <p:cNvGrpSpPr/>
          <p:nvPr/>
        </p:nvGrpSpPr>
        <p:grpSpPr>
          <a:xfrm>
            <a:off x="4979760" y="1674436"/>
            <a:ext cx="7040433" cy="1034129"/>
            <a:chOff x="4979760" y="1674436"/>
            <a:chExt cx="7040433" cy="1034129"/>
          </a:xfrm>
        </p:grpSpPr>
        <p:sp>
          <p:nvSpPr>
            <p:cNvPr id="73" name="Text Box 15">
              <a:extLst>
                <a:ext uri="{FF2B5EF4-FFF2-40B4-BE49-F238E27FC236}">
                  <a16:creationId xmlns:a16="http://schemas.microsoft.com/office/drawing/2014/main" xmlns="" id="{2925631F-CA45-E24E-A2A3-36475CE0E0E7}"/>
                </a:ext>
              </a:extLst>
            </p:cNvPr>
            <p:cNvSpPr txBox="1">
              <a:spLocks noChangeArrowheads="1"/>
            </p:cNvSpPr>
            <p:nvPr/>
          </p:nvSpPr>
          <p:spPr bwMode="auto">
            <a:xfrm>
              <a:off x="4979760" y="2029962"/>
              <a:ext cx="248602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sequence number</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108" name="Text Box 50">
              <a:extLst>
                <a:ext uri="{FF2B5EF4-FFF2-40B4-BE49-F238E27FC236}">
                  <a16:creationId xmlns:a16="http://schemas.microsoft.com/office/drawing/2014/main" xmlns="" id="{62087231-CA89-9F46-9993-D5CE4726B8FD}"/>
                </a:ext>
              </a:extLst>
            </p:cNvPr>
            <p:cNvSpPr txBox="1">
              <a:spLocks noChangeArrowheads="1"/>
            </p:cNvSpPr>
            <p:nvPr/>
          </p:nvSpPr>
          <p:spPr bwMode="auto">
            <a:xfrm>
              <a:off x="8724900" y="1674436"/>
              <a:ext cx="3295293" cy="1034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segment seq  #: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counting bytes of data</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into bytestream</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(not segments!)</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3" name="Line 55">
              <a:extLst>
                <a:ext uri="{FF2B5EF4-FFF2-40B4-BE49-F238E27FC236}">
                  <a16:creationId xmlns:a16="http://schemas.microsoft.com/office/drawing/2014/main" xmlns="" id="{69F8FE7B-57A5-CA45-A15F-AB7CA1D8D54F}"/>
                </a:ext>
              </a:extLst>
            </p:cNvPr>
            <p:cNvSpPr>
              <a:spLocks noChangeShapeType="1"/>
            </p:cNvSpPr>
            <p:nvPr/>
          </p:nvSpPr>
          <p:spPr bwMode="auto">
            <a:xfrm flipH="1" flipV="1">
              <a:off x="7924797" y="2244436"/>
              <a:ext cx="800102" cy="0"/>
            </a:xfrm>
            <a:prstGeom prst="line">
              <a:avLst/>
            </a:prstGeom>
            <a:noFill/>
            <a:ln w="190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29" name="Group 128">
            <a:extLst>
              <a:ext uri="{FF2B5EF4-FFF2-40B4-BE49-F238E27FC236}">
                <a16:creationId xmlns:a16="http://schemas.microsoft.com/office/drawing/2014/main" xmlns="" id="{33475873-1909-F649-A643-DFFF77ECF966}"/>
              </a:ext>
            </a:extLst>
          </p:cNvPr>
          <p:cNvGrpSpPr/>
          <p:nvPr/>
        </p:nvGrpSpPr>
        <p:grpSpPr>
          <a:xfrm>
            <a:off x="5398860" y="4614412"/>
            <a:ext cx="5770816" cy="1113459"/>
            <a:chOff x="5398860" y="4614412"/>
            <a:chExt cx="5770816" cy="1113459"/>
          </a:xfrm>
        </p:grpSpPr>
        <p:sp>
          <p:nvSpPr>
            <p:cNvPr id="72" name="Text Box 14">
              <a:extLst>
                <a:ext uri="{FF2B5EF4-FFF2-40B4-BE49-F238E27FC236}">
                  <a16:creationId xmlns:a16="http://schemas.microsoft.com/office/drawing/2014/main" xmlns="" id="{394540FC-9B80-C049-964F-3AEAF7A4BA2D}"/>
                </a:ext>
              </a:extLst>
            </p:cNvPr>
            <p:cNvSpPr txBox="1">
              <a:spLocks noChangeArrowheads="1"/>
            </p:cNvSpPr>
            <p:nvPr/>
          </p:nvSpPr>
          <p:spPr bwMode="auto">
            <a:xfrm>
              <a:off x="5398860" y="4614412"/>
              <a:ext cx="2005013"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data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(variable length)</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125" name="TextBox 124">
              <a:extLst>
                <a:ext uri="{FF2B5EF4-FFF2-40B4-BE49-F238E27FC236}">
                  <a16:creationId xmlns:a16="http://schemas.microsoft.com/office/drawing/2014/main" xmlns="" id="{5CEFBFE2-D6C5-6C4B-85CD-C2B1704479E4}"/>
                </a:ext>
              </a:extLst>
            </p:cNvPr>
            <p:cNvSpPr txBox="1"/>
            <p:nvPr/>
          </p:nvSpPr>
          <p:spPr>
            <a:xfrm>
              <a:off x="8980285" y="4638342"/>
              <a:ext cx="2189391" cy="1089529"/>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data sent by application into TCP socket</a:t>
              </a:r>
            </a:p>
          </p:txBody>
        </p:sp>
        <p:cxnSp>
          <p:nvCxnSpPr>
            <p:cNvPr id="127" name="Straight Connector 126">
              <a:extLst>
                <a:ext uri="{FF2B5EF4-FFF2-40B4-BE49-F238E27FC236}">
                  <a16:creationId xmlns:a16="http://schemas.microsoft.com/office/drawing/2014/main" xmlns="" id="{C6493B77-D766-824F-B26A-A73B9CE92231}"/>
                </a:ext>
              </a:extLst>
            </p:cNvPr>
            <p:cNvCxnSpPr>
              <a:cxnSpLocks/>
            </p:cNvCxnSpPr>
            <p:nvPr/>
          </p:nvCxnSpPr>
          <p:spPr>
            <a:xfrm>
              <a:off x="6727821" y="5150307"/>
              <a:ext cx="2149479"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xmlns="" id="{BF59DCBE-5CE4-3C4C-AE43-7FF674B5D23E}"/>
              </a:ext>
            </a:extLst>
          </p:cNvPr>
          <p:cNvGrpSpPr/>
          <p:nvPr/>
        </p:nvGrpSpPr>
        <p:grpSpPr>
          <a:xfrm>
            <a:off x="230393" y="1952743"/>
            <a:ext cx="7771793" cy="1241280"/>
            <a:chOff x="230393" y="1952743"/>
            <a:chExt cx="7771793" cy="1241280"/>
          </a:xfrm>
        </p:grpSpPr>
        <p:sp>
          <p:nvSpPr>
            <p:cNvPr id="137" name="Text Box 35">
              <a:extLst>
                <a:ext uri="{FF2B5EF4-FFF2-40B4-BE49-F238E27FC236}">
                  <a16:creationId xmlns:a16="http://schemas.microsoft.com/office/drawing/2014/main" xmlns="" id="{56F627F0-D04E-AD42-8864-F7B517B4A587}"/>
                </a:ext>
              </a:extLst>
            </p:cNvPr>
            <p:cNvSpPr txBox="1">
              <a:spLocks noChangeArrowheads="1"/>
            </p:cNvSpPr>
            <p:nvPr/>
          </p:nvSpPr>
          <p:spPr bwMode="auto">
            <a:xfrm>
              <a:off x="5447297" y="2855469"/>
              <a:ext cx="303288"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A</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nvGrpSpPr>
            <p:cNvPr id="15" name="Group 14">
              <a:extLst>
                <a:ext uri="{FF2B5EF4-FFF2-40B4-BE49-F238E27FC236}">
                  <a16:creationId xmlns:a16="http://schemas.microsoft.com/office/drawing/2014/main" xmlns="" id="{3379D87E-87A4-BA4A-B25D-D60B162F998C}"/>
                </a:ext>
              </a:extLst>
            </p:cNvPr>
            <p:cNvGrpSpPr/>
            <p:nvPr/>
          </p:nvGrpSpPr>
          <p:grpSpPr>
            <a:xfrm>
              <a:off x="230393" y="1952743"/>
              <a:ext cx="7771793" cy="971860"/>
              <a:chOff x="217867" y="1965269"/>
              <a:chExt cx="7771793" cy="971860"/>
            </a:xfrm>
          </p:grpSpPr>
          <p:sp>
            <p:nvSpPr>
              <p:cNvPr id="75" name="Text Box 17">
                <a:extLst>
                  <a:ext uri="{FF2B5EF4-FFF2-40B4-BE49-F238E27FC236}">
                    <a16:creationId xmlns:a16="http://schemas.microsoft.com/office/drawing/2014/main" xmlns="" id="{0864898F-71F3-8C4E-ACBC-273A8F765CF5}"/>
                  </a:ext>
                </a:extLst>
              </p:cNvPr>
              <p:cNvSpPr txBox="1">
                <a:spLocks noChangeArrowheads="1"/>
              </p:cNvSpPr>
              <p:nvPr/>
            </p:nvSpPr>
            <p:spPr bwMode="auto">
              <a:xfrm>
                <a:off x="4579710" y="2430012"/>
                <a:ext cx="34099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acknowledgement number</a:t>
                </a:r>
              </a:p>
            </p:txBody>
          </p:sp>
          <p:sp>
            <p:nvSpPr>
              <p:cNvPr id="119" name="Text Box 42">
                <a:extLst>
                  <a:ext uri="{FF2B5EF4-FFF2-40B4-BE49-F238E27FC236}">
                    <a16:creationId xmlns:a16="http://schemas.microsoft.com/office/drawing/2014/main" xmlns="" id="{C0762B76-1537-D346-8718-8BAF6E1F14E0}"/>
                  </a:ext>
                </a:extLst>
              </p:cNvPr>
              <p:cNvSpPr txBox="1">
                <a:spLocks noChangeArrowheads="1"/>
              </p:cNvSpPr>
              <p:nvPr/>
            </p:nvSpPr>
            <p:spPr bwMode="auto">
              <a:xfrm>
                <a:off x="217867" y="1965269"/>
                <a:ext cx="3287333" cy="701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ACK: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seq # of next expected byte; A bit: this is an ACK</a:t>
                </a:r>
                <a:endParaRPr kumimoji="0" lang="en-US" sz="11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30" name="Line 46">
                <a:extLst>
                  <a:ext uri="{FF2B5EF4-FFF2-40B4-BE49-F238E27FC236}">
                    <a16:creationId xmlns:a16="http://schemas.microsoft.com/office/drawing/2014/main" xmlns="" id="{412FF679-1D4F-2847-94BC-15BFC61FB4F3}"/>
                  </a:ext>
                </a:extLst>
              </p:cNvPr>
              <p:cNvSpPr>
                <a:spLocks noChangeShapeType="1"/>
              </p:cNvSpPr>
              <p:nvPr/>
            </p:nvSpPr>
            <p:spPr bwMode="auto">
              <a:xfrm>
                <a:off x="3505200" y="2417523"/>
                <a:ext cx="2076276" cy="519606"/>
              </a:xfrm>
              <a:custGeom>
                <a:avLst/>
                <a:gdLst>
                  <a:gd name="connsiteX0" fmla="*/ 0 w 2082626"/>
                  <a:gd name="connsiteY0" fmla="*/ 0 h 560881"/>
                  <a:gd name="connsiteX1" fmla="*/ 2082626 w 2082626"/>
                  <a:gd name="connsiteY1" fmla="*/ 560881 h 560881"/>
                  <a:gd name="connsiteX0" fmla="*/ 0 w 2076276"/>
                  <a:gd name="connsiteY0" fmla="*/ 0 h 519606"/>
                  <a:gd name="connsiteX1" fmla="*/ 2076276 w 2076276"/>
                  <a:gd name="connsiteY1" fmla="*/ 519606 h 519606"/>
                </a:gdLst>
                <a:ahLst/>
                <a:cxnLst>
                  <a:cxn ang="0">
                    <a:pos x="connsiteX0" y="connsiteY0"/>
                  </a:cxn>
                  <a:cxn ang="0">
                    <a:pos x="connsiteX1" y="connsiteY1"/>
                  </a:cxn>
                </a:cxnLst>
                <a:rect l="l" t="t" r="r" b="b"/>
                <a:pathLst>
                  <a:path w="2076276" h="519606">
                    <a:moveTo>
                      <a:pt x="0" y="0"/>
                    </a:moveTo>
                    <a:cubicBezTo>
                      <a:pt x="694209" y="186960"/>
                      <a:pt x="1382067" y="332646"/>
                      <a:pt x="2076276" y="519606"/>
                    </a:cubicBezTo>
                  </a:path>
                </a:pathLst>
              </a:custGeom>
              <a:noFill/>
              <a:ln w="190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39" name="Line 46">
                <a:extLst>
                  <a:ext uri="{FF2B5EF4-FFF2-40B4-BE49-F238E27FC236}">
                    <a16:creationId xmlns:a16="http://schemas.microsoft.com/office/drawing/2014/main" xmlns="" id="{EB8BFD18-324C-2547-AC63-1A0429ECFF56}"/>
                  </a:ext>
                </a:extLst>
              </p:cNvPr>
              <p:cNvSpPr>
                <a:spLocks noChangeShapeType="1"/>
              </p:cNvSpPr>
              <p:nvPr/>
            </p:nvSpPr>
            <p:spPr bwMode="auto">
              <a:xfrm>
                <a:off x="3505200" y="2404996"/>
                <a:ext cx="1263476" cy="215853"/>
              </a:xfrm>
              <a:prstGeom prst="line">
                <a:avLst/>
              </a:prstGeom>
              <a:noFill/>
              <a:ln w="19050">
                <a:solidFill>
                  <a:srgbClr val="C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19" name="Group 18">
            <a:extLst>
              <a:ext uri="{FF2B5EF4-FFF2-40B4-BE49-F238E27FC236}">
                <a16:creationId xmlns:a16="http://schemas.microsoft.com/office/drawing/2014/main" xmlns="" id="{953AA9D9-F43E-B546-80D0-95A95FF3FD84}"/>
              </a:ext>
            </a:extLst>
          </p:cNvPr>
          <p:cNvGrpSpPr/>
          <p:nvPr/>
        </p:nvGrpSpPr>
        <p:grpSpPr>
          <a:xfrm>
            <a:off x="1895418" y="3659802"/>
            <a:ext cx="5828956" cy="1090980"/>
            <a:chOff x="1895418" y="3659802"/>
            <a:chExt cx="5828956" cy="1090980"/>
          </a:xfrm>
        </p:grpSpPr>
        <p:sp>
          <p:nvSpPr>
            <p:cNvPr id="98" name="Text Box 40">
              <a:extLst>
                <a:ext uri="{FF2B5EF4-FFF2-40B4-BE49-F238E27FC236}">
                  <a16:creationId xmlns:a16="http://schemas.microsoft.com/office/drawing/2014/main" xmlns="" id="{CF922213-3DD4-4C4D-B198-ADF3A29EDBE7}"/>
                </a:ext>
              </a:extLst>
            </p:cNvPr>
            <p:cNvSpPr txBox="1">
              <a:spLocks noChangeArrowheads="1"/>
            </p:cNvSpPr>
            <p:nvPr/>
          </p:nvSpPr>
          <p:spPr bwMode="auto">
            <a:xfrm>
              <a:off x="4830361" y="3659802"/>
              <a:ext cx="2894013"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options (variable length)</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99" name="Text Box 42">
              <a:extLst>
                <a:ext uri="{FF2B5EF4-FFF2-40B4-BE49-F238E27FC236}">
                  <a16:creationId xmlns:a16="http://schemas.microsoft.com/office/drawing/2014/main" xmlns="" id="{0BC58028-06B7-1A4E-8510-AE6EC1534B60}"/>
                </a:ext>
              </a:extLst>
            </p:cNvPr>
            <p:cNvSpPr txBox="1">
              <a:spLocks noChangeArrowheads="1"/>
            </p:cNvSpPr>
            <p:nvPr/>
          </p:nvSpPr>
          <p:spPr bwMode="auto">
            <a:xfrm>
              <a:off x="1895418" y="4326050"/>
              <a:ext cx="1688926" cy="4247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TCP</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options</a:t>
              </a: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cxnSp>
          <p:nvCxnSpPr>
            <p:cNvPr id="7" name="Straight Connector 6">
              <a:extLst>
                <a:ext uri="{FF2B5EF4-FFF2-40B4-BE49-F238E27FC236}">
                  <a16:creationId xmlns:a16="http://schemas.microsoft.com/office/drawing/2014/main" xmlns="" id="{163A6281-16AF-5F4C-91CB-DC46FB513501}"/>
                </a:ext>
              </a:extLst>
            </p:cNvPr>
            <p:cNvCxnSpPr>
              <a:cxnSpLocks/>
              <a:stCxn id="99" idx="3"/>
              <a:endCxn id="98" idx="1"/>
            </p:cNvCxnSpPr>
            <p:nvPr/>
          </p:nvCxnSpPr>
          <p:spPr>
            <a:xfrm flipV="1">
              <a:off x="3584344" y="3859857"/>
              <a:ext cx="1246017" cy="67855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xmlns="" id="{F2A3E3DD-D73E-3547-B33E-7D97BEE9201E}"/>
              </a:ext>
            </a:extLst>
          </p:cNvPr>
          <p:cNvGrpSpPr/>
          <p:nvPr/>
        </p:nvGrpSpPr>
        <p:grpSpPr>
          <a:xfrm>
            <a:off x="318075" y="2819126"/>
            <a:ext cx="4456458" cy="424732"/>
            <a:chOff x="318075" y="2819126"/>
            <a:chExt cx="4456458" cy="424732"/>
          </a:xfrm>
        </p:grpSpPr>
        <p:sp>
          <p:nvSpPr>
            <p:cNvPr id="95" name="Text Box 37">
              <a:extLst>
                <a:ext uri="{FF2B5EF4-FFF2-40B4-BE49-F238E27FC236}">
                  <a16:creationId xmlns:a16="http://schemas.microsoft.com/office/drawing/2014/main" xmlns="" id="{71EB8016-A1DB-1C48-954C-FFBE5CF06DD6}"/>
                </a:ext>
              </a:extLst>
            </p:cNvPr>
            <p:cNvSpPr txBox="1">
              <a:spLocks noChangeArrowheads="1"/>
            </p:cNvSpPr>
            <p:nvPr/>
          </p:nvSpPr>
          <p:spPr bwMode="auto">
            <a:xfrm>
              <a:off x="4278884" y="2826980"/>
              <a:ext cx="495649" cy="4076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head</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len</a:t>
              </a:r>
              <a:endPar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3" name="Text Box 42">
              <a:extLst>
                <a:ext uri="{FF2B5EF4-FFF2-40B4-BE49-F238E27FC236}">
                  <a16:creationId xmlns:a16="http://schemas.microsoft.com/office/drawing/2014/main" xmlns="" id="{23616F6F-F6F8-274A-8F63-2AC8E94CAB0A}"/>
                </a:ext>
              </a:extLst>
            </p:cNvPr>
            <p:cNvSpPr txBox="1">
              <a:spLocks noChangeArrowheads="1"/>
            </p:cNvSpPr>
            <p:nvPr/>
          </p:nvSpPr>
          <p:spPr bwMode="auto">
            <a:xfrm>
              <a:off x="318075" y="2819126"/>
              <a:ext cx="3287333" cy="4247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length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(of TCP header)</a:t>
              </a:r>
            </a:p>
          </p:txBody>
        </p:sp>
        <p:cxnSp>
          <p:nvCxnSpPr>
            <p:cNvPr id="100" name="Straight Connector 99">
              <a:extLst>
                <a:ext uri="{FF2B5EF4-FFF2-40B4-BE49-F238E27FC236}">
                  <a16:creationId xmlns:a16="http://schemas.microsoft.com/office/drawing/2014/main" xmlns="" id="{D004F6AA-C795-934B-B4F0-CA6FD9652FA1}"/>
                </a:ext>
              </a:extLst>
            </p:cNvPr>
            <p:cNvCxnSpPr>
              <a:cxnSpLocks/>
            </p:cNvCxnSpPr>
            <p:nvPr/>
          </p:nvCxnSpPr>
          <p:spPr>
            <a:xfrm>
              <a:off x="3544867" y="3031480"/>
              <a:ext cx="78388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xmlns="" id="{B36175C2-99D1-404D-ADB0-0C09C4338566}"/>
              </a:ext>
            </a:extLst>
          </p:cNvPr>
          <p:cNvGrpSpPr/>
          <p:nvPr/>
        </p:nvGrpSpPr>
        <p:grpSpPr>
          <a:xfrm>
            <a:off x="-24878" y="3174115"/>
            <a:ext cx="6031751" cy="424732"/>
            <a:chOff x="-24878" y="3174115"/>
            <a:chExt cx="6031751" cy="424732"/>
          </a:xfrm>
        </p:grpSpPr>
        <p:sp>
          <p:nvSpPr>
            <p:cNvPr id="82" name="Text Box 24">
              <a:extLst>
                <a:ext uri="{FF2B5EF4-FFF2-40B4-BE49-F238E27FC236}">
                  <a16:creationId xmlns:a16="http://schemas.microsoft.com/office/drawing/2014/main" xmlns="" id="{DA04993C-122C-384A-9568-6515DE95D883}"/>
                </a:ext>
              </a:extLst>
            </p:cNvPr>
            <p:cNvSpPr txBox="1">
              <a:spLocks noChangeArrowheads="1"/>
            </p:cNvSpPr>
            <p:nvPr/>
          </p:nvSpPr>
          <p:spPr bwMode="auto">
            <a:xfrm>
              <a:off x="4794023" y="3203124"/>
              <a:ext cx="12128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checksum</a:t>
              </a:r>
            </a:p>
          </p:txBody>
        </p:sp>
        <p:sp>
          <p:nvSpPr>
            <p:cNvPr id="109" name="Text Box 51">
              <a:extLst>
                <a:ext uri="{FF2B5EF4-FFF2-40B4-BE49-F238E27FC236}">
                  <a16:creationId xmlns:a16="http://schemas.microsoft.com/office/drawing/2014/main" xmlns="" id="{CE090396-5F4D-6E4E-AA9C-2778A62E73B2}"/>
                </a:ext>
              </a:extLst>
            </p:cNvPr>
            <p:cNvSpPr txBox="1">
              <a:spLocks noChangeArrowheads="1"/>
            </p:cNvSpPr>
            <p:nvPr/>
          </p:nvSpPr>
          <p:spPr bwMode="auto">
            <a:xfrm>
              <a:off x="-24878" y="3174115"/>
              <a:ext cx="3595495" cy="4247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Internet</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checksum</a:t>
              </a:r>
            </a:p>
          </p:txBody>
        </p:sp>
        <p:cxnSp>
          <p:nvCxnSpPr>
            <p:cNvPr id="101" name="Straight Connector 100">
              <a:extLst>
                <a:ext uri="{FF2B5EF4-FFF2-40B4-BE49-F238E27FC236}">
                  <a16:creationId xmlns:a16="http://schemas.microsoft.com/office/drawing/2014/main" xmlns="" id="{4F87AC36-0055-DB45-A995-89129C5BB34A}"/>
                </a:ext>
              </a:extLst>
            </p:cNvPr>
            <p:cNvCxnSpPr>
              <a:cxnSpLocks/>
              <a:stCxn id="109" idx="3"/>
              <a:endCxn id="82" idx="1"/>
            </p:cNvCxnSpPr>
            <p:nvPr/>
          </p:nvCxnSpPr>
          <p:spPr>
            <a:xfrm>
              <a:off x="3570617" y="3386481"/>
              <a:ext cx="122340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6" name="Line 10">
            <a:extLst>
              <a:ext uri="{FF2B5EF4-FFF2-40B4-BE49-F238E27FC236}">
                <a16:creationId xmlns:a16="http://schemas.microsoft.com/office/drawing/2014/main" xmlns="" id="{A7BD37B6-D73B-A04D-BDC5-AC47A5470DF4}"/>
              </a:ext>
            </a:extLst>
          </p:cNvPr>
          <p:cNvSpPr>
            <a:spLocks noChangeShapeType="1"/>
          </p:cNvSpPr>
          <p:nvPr/>
        </p:nvSpPr>
        <p:spPr bwMode="auto">
          <a:xfrm flipH="1" flipV="1">
            <a:off x="6289447" y="1679374"/>
            <a:ext cx="1761" cy="36518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4" name="Line 26">
            <a:extLst>
              <a:ext uri="{FF2B5EF4-FFF2-40B4-BE49-F238E27FC236}">
                <a16:creationId xmlns:a16="http://schemas.microsoft.com/office/drawing/2014/main" xmlns="" id="{E9E32468-C9DF-C94D-9DAD-F82B75D02C08}"/>
              </a:ext>
            </a:extLst>
          </p:cNvPr>
          <p:cNvSpPr>
            <a:spLocks noChangeShapeType="1"/>
          </p:cNvSpPr>
          <p:nvPr/>
        </p:nvSpPr>
        <p:spPr bwMode="auto">
          <a:xfrm flipV="1">
            <a:off x="6150711" y="2804662"/>
            <a:ext cx="0" cy="39211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sp>
        <p:nvSpPr>
          <p:cNvPr id="85" name="Line 27">
            <a:extLst>
              <a:ext uri="{FF2B5EF4-FFF2-40B4-BE49-F238E27FC236}">
                <a16:creationId xmlns:a16="http://schemas.microsoft.com/office/drawing/2014/main" xmlns="" id="{595D2D86-0F8D-4945-A03B-3D969A9DA275}"/>
              </a:ext>
            </a:extLst>
          </p:cNvPr>
          <p:cNvSpPr>
            <a:spLocks noChangeShapeType="1"/>
          </p:cNvSpPr>
          <p:nvPr/>
        </p:nvSpPr>
        <p:spPr bwMode="auto">
          <a:xfrm flipV="1">
            <a:off x="5992924" y="2809424"/>
            <a:ext cx="0" cy="392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sp>
        <p:nvSpPr>
          <p:cNvPr id="86" name="Line 28">
            <a:extLst>
              <a:ext uri="{FF2B5EF4-FFF2-40B4-BE49-F238E27FC236}">
                <a16:creationId xmlns:a16="http://schemas.microsoft.com/office/drawing/2014/main" xmlns="" id="{480E04C4-4E6B-614E-B6E0-47722F1E738E}"/>
              </a:ext>
            </a:extLst>
          </p:cNvPr>
          <p:cNvSpPr>
            <a:spLocks noChangeShapeType="1"/>
          </p:cNvSpPr>
          <p:nvPr/>
        </p:nvSpPr>
        <p:spPr bwMode="auto">
          <a:xfrm flipV="1">
            <a:off x="5830374" y="2809424"/>
            <a:ext cx="0" cy="392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grpSp>
        <p:nvGrpSpPr>
          <p:cNvPr id="28" name="Group 27">
            <a:extLst>
              <a:ext uri="{FF2B5EF4-FFF2-40B4-BE49-F238E27FC236}">
                <a16:creationId xmlns:a16="http://schemas.microsoft.com/office/drawing/2014/main" xmlns="" id="{D7BB42C1-3F72-AF44-97A0-27D00776292C}"/>
              </a:ext>
            </a:extLst>
          </p:cNvPr>
          <p:cNvGrpSpPr/>
          <p:nvPr/>
        </p:nvGrpSpPr>
        <p:grpSpPr>
          <a:xfrm>
            <a:off x="172543" y="2863949"/>
            <a:ext cx="6190466" cy="2660551"/>
            <a:chOff x="172543" y="2863949"/>
            <a:chExt cx="6190466" cy="2660551"/>
          </a:xfrm>
        </p:grpSpPr>
        <p:sp>
          <p:nvSpPr>
            <p:cNvPr id="102" name="Text Box 44">
              <a:extLst>
                <a:ext uri="{FF2B5EF4-FFF2-40B4-BE49-F238E27FC236}">
                  <a16:creationId xmlns:a16="http://schemas.microsoft.com/office/drawing/2014/main" xmlns="" id="{26B4BE77-FB6F-AB48-BDB1-C2E23D5564F9}"/>
                </a:ext>
              </a:extLst>
            </p:cNvPr>
            <p:cNvSpPr txBox="1">
              <a:spLocks noChangeArrowheads="1"/>
            </p:cNvSpPr>
            <p:nvPr/>
          </p:nvSpPr>
          <p:spPr bwMode="auto">
            <a:xfrm>
              <a:off x="172543" y="4822769"/>
              <a:ext cx="3419248" cy="701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RST, </a:t>
              </a:r>
              <a:r>
                <a:rPr kumimoji="0" lang="en-US" sz="2400" b="0" i="0" u="none" strike="noStrike" kern="1200" cap="none" spc="0" normalizeH="0" baseline="0" noProof="0" dirty="0" smtClean="0">
                  <a:ln>
                    <a:noFill/>
                  </a:ln>
                  <a:solidFill>
                    <a:srgbClr val="000000"/>
                  </a:solidFill>
                  <a:effectLst/>
                  <a:uLnTx/>
                  <a:uFillTx/>
                  <a:latin typeface="Calibri" panose="020F0502020204030204"/>
                  <a:ea typeface="ＭＳ Ｐゴシック" charset="0"/>
                  <a:cs typeface="+mn-cs"/>
                </a:rPr>
                <a:t>SYN: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connection management</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06" name="Freeform 48">
              <a:extLst>
                <a:ext uri="{FF2B5EF4-FFF2-40B4-BE49-F238E27FC236}">
                  <a16:creationId xmlns:a16="http://schemas.microsoft.com/office/drawing/2014/main" xmlns="" id="{60B1CDA3-93F4-6C43-A635-618B9929B512}"/>
                </a:ext>
              </a:extLst>
            </p:cNvPr>
            <p:cNvSpPr>
              <a:spLocks/>
            </p:cNvSpPr>
            <p:nvPr/>
          </p:nvSpPr>
          <p:spPr bwMode="auto">
            <a:xfrm>
              <a:off x="3558336" y="3152325"/>
              <a:ext cx="2678659" cy="2026938"/>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877"/>
                <a:gd name="connsiteY0" fmla="*/ 32885 h 32885"/>
                <a:gd name="connsiteX1" fmla="*/ 10451 w 11877"/>
                <a:gd name="connsiteY1" fmla="*/ 0 h 32885"/>
                <a:gd name="connsiteX2" fmla="*/ 11877 w 11877"/>
                <a:gd name="connsiteY2" fmla="*/ 0 h 32885"/>
                <a:gd name="connsiteX0" fmla="*/ 0 w 11573"/>
                <a:gd name="connsiteY0" fmla="*/ 32885 h 32885"/>
                <a:gd name="connsiteX1" fmla="*/ 10147 w 11573"/>
                <a:gd name="connsiteY1" fmla="*/ 0 h 32885"/>
                <a:gd name="connsiteX2" fmla="*/ 11573 w 11573"/>
                <a:gd name="connsiteY2" fmla="*/ 0 h 32885"/>
                <a:gd name="connsiteX0" fmla="*/ 0 w 11573"/>
                <a:gd name="connsiteY0" fmla="*/ 28757 h 28757"/>
                <a:gd name="connsiteX1" fmla="*/ 10147 w 11573"/>
                <a:gd name="connsiteY1" fmla="*/ 0 h 28757"/>
                <a:gd name="connsiteX2" fmla="*/ 11573 w 11573"/>
                <a:gd name="connsiteY2" fmla="*/ 0 h 28757"/>
              </a:gdLst>
              <a:ahLst/>
              <a:cxnLst>
                <a:cxn ang="0">
                  <a:pos x="connsiteX0" y="connsiteY0"/>
                </a:cxn>
                <a:cxn ang="0">
                  <a:pos x="connsiteX1" y="connsiteY1"/>
                </a:cxn>
                <a:cxn ang="0">
                  <a:pos x="connsiteX2" y="connsiteY2"/>
                </a:cxn>
              </a:cxnLst>
              <a:rect l="l" t="t" r="r" b="b"/>
              <a:pathLst>
                <a:path w="11573" h="28757">
                  <a:moveTo>
                    <a:pt x="0" y="28757"/>
                  </a:moveTo>
                  <a:lnTo>
                    <a:pt x="10147" y="0"/>
                  </a:lnTo>
                  <a:lnTo>
                    <a:pt x="11573"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7" name="Group 26">
              <a:extLst>
                <a:ext uri="{FF2B5EF4-FFF2-40B4-BE49-F238E27FC236}">
                  <a16:creationId xmlns:a16="http://schemas.microsoft.com/office/drawing/2014/main" xmlns="" id="{879AF9A6-0FEF-B247-BE32-9C9E788D06B7}"/>
                </a:ext>
              </a:extLst>
            </p:cNvPr>
            <p:cNvGrpSpPr/>
            <p:nvPr/>
          </p:nvGrpSpPr>
          <p:grpSpPr>
            <a:xfrm>
              <a:off x="5775299" y="2863949"/>
              <a:ext cx="587710" cy="339181"/>
              <a:chOff x="5775299" y="2863949"/>
              <a:chExt cx="587710" cy="339181"/>
            </a:xfrm>
          </p:grpSpPr>
          <p:sp>
            <p:nvSpPr>
              <p:cNvPr id="104" name="Text Box 25">
                <a:extLst>
                  <a:ext uri="{FF2B5EF4-FFF2-40B4-BE49-F238E27FC236}">
                    <a16:creationId xmlns:a16="http://schemas.microsoft.com/office/drawing/2014/main" xmlns="" id="{1E9027CA-7A6A-B448-891E-3892BD3436EF}"/>
                  </a:ext>
                </a:extLst>
              </p:cNvPr>
              <p:cNvSpPr txBox="1">
                <a:spLocks noChangeArrowheads="1"/>
              </p:cNvSpPr>
              <p:nvPr/>
            </p:nvSpPr>
            <p:spPr bwMode="auto">
              <a:xfrm>
                <a:off x="6083766" y="2864576"/>
                <a:ext cx="279243"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F</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105" name="Text Box 32">
                <a:extLst>
                  <a:ext uri="{FF2B5EF4-FFF2-40B4-BE49-F238E27FC236}">
                    <a16:creationId xmlns:a16="http://schemas.microsoft.com/office/drawing/2014/main" xmlns="" id="{BF401CFD-599A-5C4B-A029-67CB6B08DBD3}"/>
                  </a:ext>
                </a:extLst>
              </p:cNvPr>
              <p:cNvSpPr txBox="1">
                <a:spLocks noChangeArrowheads="1"/>
              </p:cNvSpPr>
              <p:nvPr/>
            </p:nvSpPr>
            <p:spPr bwMode="auto">
              <a:xfrm>
                <a:off x="5939184" y="2863949"/>
                <a:ext cx="279243"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S</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112" name="Text Box 33">
                <a:extLst>
                  <a:ext uri="{FF2B5EF4-FFF2-40B4-BE49-F238E27FC236}">
                    <a16:creationId xmlns:a16="http://schemas.microsoft.com/office/drawing/2014/main" xmlns="" id="{4835EFCA-3EC6-3040-AA54-B10AD772E111}"/>
                  </a:ext>
                </a:extLst>
              </p:cNvPr>
              <p:cNvSpPr txBox="1">
                <a:spLocks noChangeArrowheads="1"/>
              </p:cNvSpPr>
              <p:nvPr/>
            </p:nvSpPr>
            <p:spPr bwMode="auto">
              <a:xfrm>
                <a:off x="5775299" y="2863950"/>
                <a:ext cx="296876"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R</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grpSp>
      <p:grpSp>
        <p:nvGrpSpPr>
          <p:cNvPr id="25" name="Group 24">
            <a:extLst>
              <a:ext uri="{FF2B5EF4-FFF2-40B4-BE49-F238E27FC236}">
                <a16:creationId xmlns:a16="http://schemas.microsoft.com/office/drawing/2014/main" xmlns="" id="{3AF86AF7-F0A9-0D49-BD66-0BCBA2EFC273}"/>
              </a:ext>
            </a:extLst>
          </p:cNvPr>
          <p:cNvGrpSpPr/>
          <p:nvPr/>
        </p:nvGrpSpPr>
        <p:grpSpPr>
          <a:xfrm>
            <a:off x="5277007" y="2859957"/>
            <a:ext cx="2976178" cy="719405"/>
            <a:chOff x="5277007" y="2859957"/>
            <a:chExt cx="2976178" cy="719405"/>
          </a:xfrm>
        </p:grpSpPr>
        <p:sp>
          <p:nvSpPr>
            <p:cNvPr id="81" name="Text Box 23">
              <a:extLst>
                <a:ext uri="{FF2B5EF4-FFF2-40B4-BE49-F238E27FC236}">
                  <a16:creationId xmlns:a16="http://schemas.microsoft.com/office/drawing/2014/main" xmlns="" id="{81D77D1D-D542-E748-880E-847E52816584}"/>
                </a:ext>
              </a:extLst>
            </p:cNvPr>
            <p:cNvSpPr txBox="1">
              <a:spLocks noChangeArrowheads="1"/>
            </p:cNvSpPr>
            <p:nvPr/>
          </p:nvSpPr>
          <p:spPr bwMode="auto">
            <a:xfrm>
              <a:off x="6430735" y="3212649"/>
              <a:ext cx="18224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Arial" charset="0"/>
                  <a:ea typeface="ＭＳ Ｐゴシック" charset="0"/>
                  <a:cs typeface="+mn-cs"/>
                </a:rPr>
                <a:t>Urg data pointer</a:t>
              </a:r>
            </a:p>
          </p:txBody>
        </p:sp>
        <p:grpSp>
          <p:nvGrpSpPr>
            <p:cNvPr id="20" name="Group 19">
              <a:extLst>
                <a:ext uri="{FF2B5EF4-FFF2-40B4-BE49-F238E27FC236}">
                  <a16:creationId xmlns:a16="http://schemas.microsoft.com/office/drawing/2014/main" xmlns="" id="{B4F94C5D-E8AA-B440-8C55-70C383D81C15}"/>
                </a:ext>
              </a:extLst>
            </p:cNvPr>
            <p:cNvGrpSpPr/>
            <p:nvPr/>
          </p:nvGrpSpPr>
          <p:grpSpPr>
            <a:xfrm>
              <a:off x="5277007" y="2859957"/>
              <a:ext cx="627836" cy="345695"/>
              <a:chOff x="5527528" y="3067992"/>
              <a:chExt cx="627836" cy="345695"/>
            </a:xfrm>
          </p:grpSpPr>
          <p:sp>
            <p:nvSpPr>
              <p:cNvPr id="114" name="Text Box 34">
                <a:extLst>
                  <a:ext uri="{FF2B5EF4-FFF2-40B4-BE49-F238E27FC236}">
                    <a16:creationId xmlns:a16="http://schemas.microsoft.com/office/drawing/2014/main" xmlns="" id="{7FD0470F-0A1F-AA4D-A333-01EBF41CDBEA}"/>
                  </a:ext>
                </a:extLst>
              </p:cNvPr>
              <p:cNvSpPr txBox="1">
                <a:spLocks noChangeArrowheads="1"/>
              </p:cNvSpPr>
              <p:nvPr/>
            </p:nvSpPr>
            <p:spPr bwMode="auto">
              <a:xfrm>
                <a:off x="5864900" y="3067992"/>
                <a:ext cx="290464"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rPr>
                  <a:t>P</a:t>
                </a:r>
                <a:endParaRPr kumimoji="0" lang="en-US" sz="24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endParaRPr>
              </a:p>
            </p:txBody>
          </p:sp>
          <p:sp>
            <p:nvSpPr>
              <p:cNvPr id="120" name="Text Box 36">
                <a:extLst>
                  <a:ext uri="{FF2B5EF4-FFF2-40B4-BE49-F238E27FC236}">
                    <a16:creationId xmlns:a16="http://schemas.microsoft.com/office/drawing/2014/main" xmlns="" id="{B48CC928-18A3-8E4E-944E-47C0F754B01D}"/>
                  </a:ext>
                </a:extLst>
              </p:cNvPr>
              <p:cNvSpPr txBox="1">
                <a:spLocks noChangeArrowheads="1"/>
              </p:cNvSpPr>
              <p:nvPr/>
            </p:nvSpPr>
            <p:spPr bwMode="auto">
              <a:xfrm>
                <a:off x="5527528" y="3075133"/>
                <a:ext cx="316112"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rPr>
                  <a:t>U</a:t>
                </a:r>
                <a:endParaRPr kumimoji="0" lang="en-US" sz="24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endParaRPr>
              </a:p>
            </p:txBody>
          </p:sp>
        </p:grpSp>
      </p:grpSp>
      <p:sp>
        <p:nvSpPr>
          <p:cNvPr id="83" name="Line 39">
            <a:extLst>
              <a:ext uri="{FF2B5EF4-FFF2-40B4-BE49-F238E27FC236}">
                <a16:creationId xmlns:a16="http://schemas.microsoft.com/office/drawing/2014/main" xmlns="" id="{392B7123-3C26-1749-8AFA-C33B254E566D}"/>
              </a:ext>
            </a:extLst>
          </p:cNvPr>
          <p:cNvSpPr>
            <a:spLocks noChangeShapeType="1"/>
          </p:cNvSpPr>
          <p:nvPr/>
        </p:nvSpPr>
        <p:spPr bwMode="auto">
          <a:xfrm flipV="1">
            <a:off x="5038305" y="2821148"/>
            <a:ext cx="0" cy="392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sp>
        <p:nvSpPr>
          <p:cNvPr id="90" name="Line 39">
            <a:extLst>
              <a:ext uri="{FF2B5EF4-FFF2-40B4-BE49-F238E27FC236}">
                <a16:creationId xmlns:a16="http://schemas.microsoft.com/office/drawing/2014/main" xmlns="" id="{7076B497-C69A-EF44-9C73-7365E43E17C4}"/>
              </a:ext>
            </a:extLst>
          </p:cNvPr>
          <p:cNvSpPr>
            <a:spLocks noChangeShapeType="1"/>
          </p:cNvSpPr>
          <p:nvPr/>
        </p:nvSpPr>
        <p:spPr bwMode="auto">
          <a:xfrm flipV="1">
            <a:off x="5198693" y="2812182"/>
            <a:ext cx="0" cy="3921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grpSp>
        <p:nvGrpSpPr>
          <p:cNvPr id="21" name="Group 20">
            <a:extLst>
              <a:ext uri="{FF2B5EF4-FFF2-40B4-BE49-F238E27FC236}">
                <a16:creationId xmlns:a16="http://schemas.microsoft.com/office/drawing/2014/main" xmlns="" id="{EDC6B1EF-A64F-C94C-81C5-7457A0FFD99A}"/>
              </a:ext>
            </a:extLst>
          </p:cNvPr>
          <p:cNvGrpSpPr/>
          <p:nvPr/>
        </p:nvGrpSpPr>
        <p:grpSpPr>
          <a:xfrm>
            <a:off x="182880" y="2863950"/>
            <a:ext cx="5235245" cy="1334674"/>
            <a:chOff x="182880" y="2863950"/>
            <a:chExt cx="5235245" cy="1334674"/>
          </a:xfrm>
        </p:grpSpPr>
        <p:grpSp>
          <p:nvGrpSpPr>
            <p:cNvPr id="18" name="Group 17">
              <a:extLst>
                <a:ext uri="{FF2B5EF4-FFF2-40B4-BE49-F238E27FC236}">
                  <a16:creationId xmlns:a16="http://schemas.microsoft.com/office/drawing/2014/main" xmlns="" id="{A2C55822-331C-DB41-AB07-59E5BF177405}"/>
                </a:ext>
              </a:extLst>
            </p:cNvPr>
            <p:cNvGrpSpPr/>
            <p:nvPr/>
          </p:nvGrpSpPr>
          <p:grpSpPr>
            <a:xfrm>
              <a:off x="4962499" y="2863950"/>
              <a:ext cx="455626" cy="338554"/>
              <a:chOff x="4962499" y="2863950"/>
              <a:chExt cx="455626" cy="338554"/>
            </a:xfrm>
          </p:grpSpPr>
          <p:sp>
            <p:nvSpPr>
              <p:cNvPr id="91" name="Text Box 33">
                <a:extLst>
                  <a:ext uri="{FF2B5EF4-FFF2-40B4-BE49-F238E27FC236}">
                    <a16:creationId xmlns:a16="http://schemas.microsoft.com/office/drawing/2014/main" xmlns="" id="{C85C82AE-5A3B-EC47-8EA4-C0FA0727D048}"/>
                  </a:ext>
                </a:extLst>
              </p:cNvPr>
              <p:cNvSpPr txBox="1">
                <a:spLocks noChangeArrowheads="1"/>
              </p:cNvSpPr>
              <p:nvPr/>
            </p:nvSpPr>
            <p:spPr bwMode="auto">
              <a:xfrm>
                <a:off x="4962499" y="2863950"/>
                <a:ext cx="296876"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C</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2" name="Text Box 33">
                <a:extLst>
                  <a:ext uri="{FF2B5EF4-FFF2-40B4-BE49-F238E27FC236}">
                    <a16:creationId xmlns:a16="http://schemas.microsoft.com/office/drawing/2014/main" xmlns="" id="{D8D1B074-0355-2942-9977-4413DF7E41C7}"/>
                  </a:ext>
                </a:extLst>
              </p:cNvPr>
              <p:cNvSpPr txBox="1">
                <a:spLocks noChangeArrowheads="1"/>
              </p:cNvSpPr>
              <p:nvPr/>
            </p:nvSpPr>
            <p:spPr bwMode="auto">
              <a:xfrm>
                <a:off x="5121249" y="2863950"/>
                <a:ext cx="296876"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E</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sp>
          <p:nvSpPr>
            <p:cNvPr id="103" name="Text Box 44">
              <a:extLst>
                <a:ext uri="{FF2B5EF4-FFF2-40B4-BE49-F238E27FC236}">
                  <a16:creationId xmlns:a16="http://schemas.microsoft.com/office/drawing/2014/main" xmlns="" id="{8DAB804F-166B-0D4B-8089-4B58E3A0811F}"/>
                </a:ext>
              </a:extLst>
            </p:cNvPr>
            <p:cNvSpPr txBox="1">
              <a:spLocks noChangeArrowheads="1"/>
            </p:cNvSpPr>
            <p:nvPr/>
          </p:nvSpPr>
          <p:spPr bwMode="auto">
            <a:xfrm>
              <a:off x="182880" y="3829292"/>
              <a:ext cx="3384479"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000" b="0" i="0" u="none" strike="noStrike" kern="1200" cap="none" spc="0" normalizeH="0" baseline="0" noProof="0" dirty="0" smtClean="0">
                  <a:ln>
                    <a:noFill/>
                  </a:ln>
                  <a:solidFill>
                    <a:srgbClr val="000000"/>
                  </a:solidFill>
                  <a:effectLst/>
                  <a:uLnTx/>
                  <a:uFillTx/>
                  <a:latin typeface="Calibri" panose="020F0502020204030204"/>
                  <a:ea typeface="ＭＳ Ｐゴシック" charset="0"/>
                  <a:cs typeface="+mn-cs"/>
                </a:rPr>
                <a:t>congestion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notification</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0" name="Freeform 48">
              <a:extLst>
                <a:ext uri="{FF2B5EF4-FFF2-40B4-BE49-F238E27FC236}">
                  <a16:creationId xmlns:a16="http://schemas.microsoft.com/office/drawing/2014/main" xmlns="" id="{7103D547-1AEC-9743-8B26-22B579AF1CE1}"/>
                </a:ext>
              </a:extLst>
            </p:cNvPr>
            <p:cNvSpPr>
              <a:spLocks/>
            </p:cNvSpPr>
            <p:nvPr/>
          </p:nvSpPr>
          <p:spPr bwMode="auto">
            <a:xfrm>
              <a:off x="3573195" y="3136684"/>
              <a:ext cx="1749482" cy="914811"/>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391"/>
                <a:gd name="connsiteY0" fmla="*/ 28743 h 28743"/>
                <a:gd name="connsiteX1" fmla="*/ 6388 w 11391"/>
                <a:gd name="connsiteY1" fmla="*/ 0 h 28743"/>
                <a:gd name="connsiteX2" fmla="*/ 11391 w 11391"/>
                <a:gd name="connsiteY2" fmla="*/ 49 h 28743"/>
                <a:gd name="connsiteX0" fmla="*/ 0 w 7455"/>
                <a:gd name="connsiteY0" fmla="*/ 28792 h 28792"/>
                <a:gd name="connsiteX1" fmla="*/ 6388 w 7455"/>
                <a:gd name="connsiteY1" fmla="*/ 49 h 28792"/>
                <a:gd name="connsiteX2" fmla="*/ 7455 w 7455"/>
                <a:gd name="connsiteY2" fmla="*/ 0 h 28792"/>
                <a:gd name="connsiteX0" fmla="*/ 0 w 9679"/>
                <a:gd name="connsiteY0" fmla="*/ 9983 h 9983"/>
                <a:gd name="connsiteX1" fmla="*/ 8569 w 9679"/>
                <a:gd name="connsiteY1" fmla="*/ 0 h 9983"/>
                <a:gd name="connsiteX2" fmla="*/ 9679 w 9679"/>
                <a:gd name="connsiteY2" fmla="*/ 34 h 9983"/>
                <a:gd name="connsiteX0" fmla="*/ 0 w 10062"/>
                <a:gd name="connsiteY0" fmla="*/ 10017 h 10017"/>
                <a:gd name="connsiteX1" fmla="*/ 8853 w 10062"/>
                <a:gd name="connsiteY1" fmla="*/ 17 h 10017"/>
                <a:gd name="connsiteX2" fmla="*/ 10062 w 10062"/>
                <a:gd name="connsiteY2" fmla="*/ 0 h 10017"/>
              </a:gdLst>
              <a:ahLst/>
              <a:cxnLst>
                <a:cxn ang="0">
                  <a:pos x="connsiteX0" y="connsiteY0"/>
                </a:cxn>
                <a:cxn ang="0">
                  <a:pos x="connsiteX1" y="connsiteY1"/>
                </a:cxn>
                <a:cxn ang="0">
                  <a:pos x="connsiteX2" y="connsiteY2"/>
                </a:cxn>
              </a:cxnLst>
              <a:rect l="l" t="t" r="r" b="b"/>
              <a:pathLst>
                <a:path w="10062" h="10017">
                  <a:moveTo>
                    <a:pt x="0" y="10017"/>
                  </a:moveTo>
                  <a:lnTo>
                    <a:pt x="8853" y="17"/>
                  </a:lnTo>
                  <a:lnTo>
                    <a:pt x="10062"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94" name="Slide Number Placeholder 2">
            <a:extLst>
              <a:ext uri="{FF2B5EF4-FFF2-40B4-BE49-F238E27FC236}">
                <a16:creationId xmlns:a16="http://schemas.microsoft.com/office/drawing/2014/main" xmlns="" id="{A3EE5CD7-E8F0-2F4B-B766-7EC8F235C30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a:t>
            </a:fld>
            <a:endParaRPr lang="en-US" dirty="0"/>
          </a:p>
        </p:txBody>
      </p:sp>
    </p:spTree>
    <p:extLst>
      <p:ext uri="{BB962C8B-B14F-4D97-AF65-F5344CB8AC3E}">
        <p14:creationId xmlns:p14="http://schemas.microsoft.com/office/powerpoint/2010/main" val="1761510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dissolv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9"/>
                                        </p:tgtEl>
                                        <p:attrNameLst>
                                          <p:attrName>style.visibility</p:attrName>
                                        </p:attrNameLst>
                                      </p:cBhvr>
                                      <p:to>
                                        <p:strVal val="visible"/>
                                      </p:to>
                                    </p:set>
                                    <p:animEffect transition="in" filter="dissolve">
                                      <p:cBhvr>
                                        <p:cTn id="22" dur="500"/>
                                        <p:tgtEl>
                                          <p:spTgt spid="12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dissolv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dissolv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15"/>
                                        </p:tgtEl>
                                        <p:attrNameLst>
                                          <p:attrName>style.visibility</p:attrName>
                                        </p:attrNameLst>
                                      </p:cBhvr>
                                      <p:to>
                                        <p:strVal val="visible"/>
                                      </p:to>
                                    </p:set>
                                    <p:animEffect transition="in" filter="dissolve">
                                      <p:cBhvr>
                                        <p:cTn id="47" dur="500"/>
                                        <p:tgtEl>
                                          <p:spTgt spid="11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dissolve">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dissolv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sequence numbers, ACKs</a:t>
            </a:r>
            <a:endParaRPr lang="en-US" sz="4400" b="0" dirty="0"/>
          </a:p>
        </p:txBody>
      </p:sp>
      <p:sp>
        <p:nvSpPr>
          <p:cNvPr id="223" name="Rectangle 5">
            <a:extLst>
              <a:ext uri="{FF2B5EF4-FFF2-40B4-BE49-F238E27FC236}">
                <a16:creationId xmlns:a16="http://schemas.microsoft.com/office/drawing/2014/main" xmlns="" id="{D2976065-03BB-9A44-9CEB-93BE9CAA88A6}"/>
              </a:ext>
            </a:extLst>
          </p:cNvPr>
          <p:cNvSpPr txBox="1">
            <a:spLocks noChangeArrowheads="1"/>
          </p:cNvSpPr>
          <p:nvPr/>
        </p:nvSpPr>
        <p:spPr bwMode="auto">
          <a:xfrm>
            <a:off x="715171" y="1355712"/>
            <a:ext cx="5096669" cy="1311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en-US" sz="28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Sequence numbers:</a:t>
            </a:r>
          </a:p>
          <a:p>
            <a:pPr marL="635000" marR="0" lvl="1" indent="-277813"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byte stream “</a:t>
            </a:r>
            <a:r>
              <a:rPr kumimoji="0" lang="en-US" altLang="ja-JP"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number” of first byte in segment’s data</a:t>
            </a:r>
            <a:endParaRPr kumimoji="0" lang="en-US" altLang="ja-JP"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224" name="Group 192">
            <a:extLst>
              <a:ext uri="{FF2B5EF4-FFF2-40B4-BE49-F238E27FC236}">
                <a16:creationId xmlns:a16="http://schemas.microsoft.com/office/drawing/2014/main" xmlns="" id="{9FCDCC73-BB43-8046-8E2C-1100B11E1F9D}"/>
              </a:ext>
            </a:extLst>
          </p:cNvPr>
          <p:cNvGrpSpPr>
            <a:grpSpLocks/>
          </p:cNvGrpSpPr>
          <p:nvPr/>
        </p:nvGrpSpPr>
        <p:grpSpPr bwMode="auto">
          <a:xfrm>
            <a:off x="7783528" y="3989281"/>
            <a:ext cx="3086106" cy="2541588"/>
            <a:chOff x="3520" y="2404"/>
            <a:chExt cx="1944" cy="1601"/>
          </a:xfrm>
        </p:grpSpPr>
        <p:sp>
          <p:nvSpPr>
            <p:cNvPr id="225" name="Rectangle 167">
              <a:extLst>
                <a:ext uri="{FF2B5EF4-FFF2-40B4-BE49-F238E27FC236}">
                  <a16:creationId xmlns:a16="http://schemas.microsoft.com/office/drawing/2014/main" xmlns="" id="{9463A16E-CF3F-744B-B6DB-33800BAB4519}"/>
                </a:ext>
              </a:extLst>
            </p:cNvPr>
            <p:cNvSpPr>
              <a:spLocks noChangeArrowheads="1"/>
            </p:cNvSpPr>
            <p:nvPr/>
          </p:nvSpPr>
          <p:spPr bwMode="auto">
            <a:xfrm>
              <a:off x="3755" y="3589"/>
              <a:ext cx="1202" cy="13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26" name="Group 148">
              <a:extLst>
                <a:ext uri="{FF2B5EF4-FFF2-40B4-BE49-F238E27FC236}">
                  <a16:creationId xmlns:a16="http://schemas.microsoft.com/office/drawing/2014/main" xmlns="" id="{841F4166-2762-C948-9842-0D47AF0FC7F8}"/>
                </a:ext>
              </a:extLst>
            </p:cNvPr>
            <p:cNvGrpSpPr>
              <a:grpSpLocks/>
            </p:cNvGrpSpPr>
            <p:nvPr/>
          </p:nvGrpSpPr>
          <p:grpSpPr bwMode="auto">
            <a:xfrm>
              <a:off x="3731" y="3291"/>
              <a:ext cx="1252" cy="714"/>
              <a:chOff x="1974" y="2984"/>
              <a:chExt cx="1252" cy="714"/>
            </a:xfrm>
          </p:grpSpPr>
          <p:sp>
            <p:nvSpPr>
              <p:cNvPr id="229" name="Rectangle 149">
                <a:extLst>
                  <a:ext uri="{FF2B5EF4-FFF2-40B4-BE49-F238E27FC236}">
                    <a16:creationId xmlns:a16="http://schemas.microsoft.com/office/drawing/2014/main" xmlns="" id="{6E7D0693-0288-9A4A-9FBC-6B90B9B96584}"/>
                  </a:ext>
                </a:extLst>
              </p:cNvPr>
              <p:cNvSpPr>
                <a:spLocks noChangeArrowheads="1"/>
              </p:cNvSpPr>
              <p:nvPr/>
            </p:nvSpPr>
            <p:spPr bwMode="auto">
              <a:xfrm>
                <a:off x="1994" y="2995"/>
                <a:ext cx="1210" cy="70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0" name="Text Box 150">
                <a:extLst>
                  <a:ext uri="{FF2B5EF4-FFF2-40B4-BE49-F238E27FC236}">
                    <a16:creationId xmlns:a16="http://schemas.microsoft.com/office/drawing/2014/main" xmlns="" id="{62697352-4BED-A64F-8830-504FE043B5D0}"/>
                  </a:ext>
                </a:extLst>
              </p:cNvPr>
              <p:cNvSpPr txBox="1">
                <a:spLocks noChangeArrowheads="1"/>
              </p:cNvSpPr>
              <p:nvPr/>
            </p:nvSpPr>
            <p:spPr bwMode="auto">
              <a:xfrm>
                <a:off x="2001" y="2984"/>
                <a:ext cx="580"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source port #</a:t>
                </a:r>
              </a:p>
            </p:txBody>
          </p:sp>
          <p:sp>
            <p:nvSpPr>
              <p:cNvPr id="231" name="Text Box 151">
                <a:extLst>
                  <a:ext uri="{FF2B5EF4-FFF2-40B4-BE49-F238E27FC236}">
                    <a16:creationId xmlns:a16="http://schemas.microsoft.com/office/drawing/2014/main" xmlns="" id="{2C0BFF63-7DCB-6D4D-AF9A-56894AAAD824}"/>
                  </a:ext>
                </a:extLst>
              </p:cNvPr>
              <p:cNvSpPr txBox="1">
                <a:spLocks noChangeArrowheads="1"/>
              </p:cNvSpPr>
              <p:nvPr/>
            </p:nvSpPr>
            <p:spPr bwMode="auto">
              <a:xfrm>
                <a:off x="2648" y="2987"/>
                <a:ext cx="491"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dest port #</a:t>
                </a:r>
              </a:p>
            </p:txBody>
          </p:sp>
          <p:sp>
            <p:nvSpPr>
              <p:cNvPr id="232" name="Text Box 152">
                <a:extLst>
                  <a:ext uri="{FF2B5EF4-FFF2-40B4-BE49-F238E27FC236}">
                    <a16:creationId xmlns:a16="http://schemas.microsoft.com/office/drawing/2014/main" xmlns="" id="{69698EB5-AC5E-124A-AB12-0B1B72742F02}"/>
                  </a:ext>
                </a:extLst>
              </p:cNvPr>
              <p:cNvSpPr txBox="1">
                <a:spLocks noChangeArrowheads="1"/>
              </p:cNvSpPr>
              <p:nvPr/>
            </p:nvSpPr>
            <p:spPr bwMode="auto">
              <a:xfrm>
                <a:off x="2154" y="3117"/>
                <a:ext cx="912"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sequence number</a:t>
                </a:r>
              </a:p>
            </p:txBody>
          </p:sp>
          <p:sp>
            <p:nvSpPr>
              <p:cNvPr id="233" name="Text Box 153">
                <a:extLst>
                  <a:ext uri="{FF2B5EF4-FFF2-40B4-BE49-F238E27FC236}">
                    <a16:creationId xmlns:a16="http://schemas.microsoft.com/office/drawing/2014/main" xmlns="" id="{697ADB2B-E096-7A41-ACDA-9E058B2EFF5D}"/>
                  </a:ext>
                </a:extLst>
              </p:cNvPr>
              <p:cNvSpPr txBox="1">
                <a:spLocks noChangeArrowheads="1"/>
              </p:cNvSpPr>
              <p:nvPr/>
            </p:nvSpPr>
            <p:spPr bwMode="auto">
              <a:xfrm>
                <a:off x="1974" y="3257"/>
                <a:ext cx="1252"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charset="0"/>
                    <a:ea typeface="ＭＳ Ｐゴシック" charset="0"/>
                    <a:cs typeface="+mn-cs"/>
                  </a:rPr>
                  <a:t>acknowledgement number</a:t>
                </a:r>
              </a:p>
            </p:txBody>
          </p:sp>
          <p:sp>
            <p:nvSpPr>
              <p:cNvPr id="234" name="Text Box 154">
                <a:extLst>
                  <a:ext uri="{FF2B5EF4-FFF2-40B4-BE49-F238E27FC236}">
                    <a16:creationId xmlns:a16="http://schemas.microsoft.com/office/drawing/2014/main" xmlns="" id="{FD66858C-8D5E-8443-9F2A-57EB759D3EFB}"/>
                  </a:ext>
                </a:extLst>
              </p:cNvPr>
              <p:cNvSpPr txBox="1">
                <a:spLocks noChangeArrowheads="1"/>
              </p:cNvSpPr>
              <p:nvPr/>
            </p:nvSpPr>
            <p:spPr bwMode="auto">
              <a:xfrm>
                <a:off x="2053" y="3544"/>
                <a:ext cx="475"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checksum</a:t>
                </a:r>
              </a:p>
            </p:txBody>
          </p:sp>
          <p:sp>
            <p:nvSpPr>
              <p:cNvPr id="235" name="Line 155">
                <a:extLst>
                  <a:ext uri="{FF2B5EF4-FFF2-40B4-BE49-F238E27FC236}">
                    <a16:creationId xmlns:a16="http://schemas.microsoft.com/office/drawing/2014/main" xmlns="" id="{3FFD0288-879C-5D4E-AB0C-3445A5A97975}"/>
                  </a:ext>
                </a:extLst>
              </p:cNvPr>
              <p:cNvSpPr>
                <a:spLocks noChangeShapeType="1"/>
              </p:cNvSpPr>
              <p:nvPr/>
            </p:nvSpPr>
            <p:spPr bwMode="auto">
              <a:xfrm>
                <a:off x="1994" y="3138"/>
                <a:ext cx="121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6" name="Line 156">
                <a:extLst>
                  <a:ext uri="{FF2B5EF4-FFF2-40B4-BE49-F238E27FC236}">
                    <a16:creationId xmlns:a16="http://schemas.microsoft.com/office/drawing/2014/main" xmlns="" id="{258401F9-F43D-C344-A200-772A5E1E1CB6}"/>
                  </a:ext>
                </a:extLst>
              </p:cNvPr>
              <p:cNvSpPr>
                <a:spLocks noChangeShapeType="1"/>
              </p:cNvSpPr>
              <p:nvPr/>
            </p:nvSpPr>
            <p:spPr bwMode="auto">
              <a:xfrm>
                <a:off x="1994" y="3274"/>
                <a:ext cx="121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7" name="Line 157">
                <a:extLst>
                  <a:ext uri="{FF2B5EF4-FFF2-40B4-BE49-F238E27FC236}">
                    <a16:creationId xmlns:a16="http://schemas.microsoft.com/office/drawing/2014/main" xmlns="" id="{1E8AD451-7070-4243-A92C-2F6573F9406B}"/>
                  </a:ext>
                </a:extLst>
              </p:cNvPr>
              <p:cNvSpPr>
                <a:spLocks noChangeShapeType="1"/>
              </p:cNvSpPr>
              <p:nvPr/>
            </p:nvSpPr>
            <p:spPr bwMode="auto">
              <a:xfrm>
                <a:off x="1992" y="3414"/>
                <a:ext cx="121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8" name="Line 158">
                <a:extLst>
                  <a:ext uri="{FF2B5EF4-FFF2-40B4-BE49-F238E27FC236}">
                    <a16:creationId xmlns:a16="http://schemas.microsoft.com/office/drawing/2014/main" xmlns="" id="{A4BD4C96-4E2A-074E-8E46-E4BF76EDD858}"/>
                  </a:ext>
                </a:extLst>
              </p:cNvPr>
              <p:cNvSpPr>
                <a:spLocks noChangeShapeType="1"/>
              </p:cNvSpPr>
              <p:nvPr/>
            </p:nvSpPr>
            <p:spPr bwMode="auto">
              <a:xfrm>
                <a:off x="2588" y="2994"/>
                <a:ext cx="0" cy="14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9" name="Line 159">
                <a:extLst>
                  <a:ext uri="{FF2B5EF4-FFF2-40B4-BE49-F238E27FC236}">
                    <a16:creationId xmlns:a16="http://schemas.microsoft.com/office/drawing/2014/main" xmlns="" id="{2153A22B-2E95-B947-A87C-50991B8DBA5D}"/>
                  </a:ext>
                </a:extLst>
              </p:cNvPr>
              <p:cNvSpPr>
                <a:spLocks noChangeShapeType="1"/>
              </p:cNvSpPr>
              <p:nvPr/>
            </p:nvSpPr>
            <p:spPr bwMode="auto">
              <a:xfrm>
                <a:off x="2588" y="3416"/>
                <a:ext cx="0" cy="2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0" name="Line 160">
                <a:extLst>
                  <a:ext uri="{FF2B5EF4-FFF2-40B4-BE49-F238E27FC236}">
                    <a16:creationId xmlns:a16="http://schemas.microsoft.com/office/drawing/2014/main" xmlns="" id="{BE256B00-4CFB-254F-8432-198CA45B2CAE}"/>
                  </a:ext>
                </a:extLst>
              </p:cNvPr>
              <p:cNvSpPr>
                <a:spLocks noChangeShapeType="1"/>
              </p:cNvSpPr>
              <p:nvPr/>
            </p:nvSpPr>
            <p:spPr bwMode="auto">
              <a:xfrm>
                <a:off x="1994" y="3548"/>
                <a:ext cx="121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1" name="Text Box 161">
                <a:extLst>
                  <a:ext uri="{FF2B5EF4-FFF2-40B4-BE49-F238E27FC236}">
                    <a16:creationId xmlns:a16="http://schemas.microsoft.com/office/drawing/2014/main" xmlns="" id="{B0718275-925B-4143-80DA-87B335709565}"/>
                  </a:ext>
                </a:extLst>
              </p:cNvPr>
              <p:cNvSpPr txBox="1">
                <a:spLocks noChangeArrowheads="1"/>
              </p:cNvSpPr>
              <p:nvPr/>
            </p:nvSpPr>
            <p:spPr bwMode="auto">
              <a:xfrm>
                <a:off x="2708" y="3390"/>
                <a:ext cx="323"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rwnd</a:t>
                </a:r>
              </a:p>
            </p:txBody>
          </p:sp>
          <p:sp>
            <p:nvSpPr>
              <p:cNvPr id="242" name="Text Box 162">
                <a:extLst>
                  <a:ext uri="{FF2B5EF4-FFF2-40B4-BE49-F238E27FC236}">
                    <a16:creationId xmlns:a16="http://schemas.microsoft.com/office/drawing/2014/main" xmlns="" id="{539F6CE1-CE5E-234B-9AFA-A6F230193072}"/>
                  </a:ext>
                </a:extLst>
              </p:cNvPr>
              <p:cNvSpPr txBox="1">
                <a:spLocks noChangeArrowheads="1"/>
              </p:cNvSpPr>
              <p:nvPr/>
            </p:nvSpPr>
            <p:spPr bwMode="auto">
              <a:xfrm>
                <a:off x="2651" y="3544"/>
                <a:ext cx="496"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urg pointer</a:t>
                </a:r>
              </a:p>
            </p:txBody>
          </p:sp>
          <p:sp>
            <p:nvSpPr>
              <p:cNvPr id="243" name="Line 163">
                <a:extLst>
                  <a:ext uri="{FF2B5EF4-FFF2-40B4-BE49-F238E27FC236}">
                    <a16:creationId xmlns:a16="http://schemas.microsoft.com/office/drawing/2014/main" xmlns="" id="{6A1FC325-C1C9-E145-AB86-EB4CA77AB42D}"/>
                  </a:ext>
                </a:extLst>
              </p:cNvPr>
              <p:cNvSpPr>
                <a:spLocks noChangeShapeType="1"/>
              </p:cNvSpPr>
              <p:nvPr/>
            </p:nvSpPr>
            <p:spPr bwMode="auto">
              <a:xfrm>
                <a:off x="2398" y="3413"/>
                <a:ext cx="0" cy="13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4" name="Line 164">
                <a:extLst>
                  <a:ext uri="{FF2B5EF4-FFF2-40B4-BE49-F238E27FC236}">
                    <a16:creationId xmlns:a16="http://schemas.microsoft.com/office/drawing/2014/main" xmlns="" id="{A57D4AEC-EA9B-6441-B943-116E0B65541F}"/>
                  </a:ext>
                </a:extLst>
              </p:cNvPr>
              <p:cNvSpPr>
                <a:spLocks noChangeShapeType="1"/>
              </p:cNvSpPr>
              <p:nvPr/>
            </p:nvSpPr>
            <p:spPr bwMode="auto">
              <a:xfrm>
                <a:off x="2143" y="3412"/>
                <a:ext cx="0" cy="13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27" name="Text Box 166">
              <a:extLst>
                <a:ext uri="{FF2B5EF4-FFF2-40B4-BE49-F238E27FC236}">
                  <a16:creationId xmlns:a16="http://schemas.microsoft.com/office/drawing/2014/main" xmlns="" id="{A11A42A2-3DE7-8749-BEFC-4B12DFD4E911}"/>
                </a:ext>
              </a:extLst>
            </p:cNvPr>
            <p:cNvSpPr txBox="1">
              <a:spLocks noChangeArrowheads="1"/>
            </p:cNvSpPr>
            <p:nvPr/>
          </p:nvSpPr>
          <p:spPr bwMode="auto">
            <a:xfrm>
              <a:off x="3520" y="3092"/>
              <a:ext cx="194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outgoing segment from receiver</a:t>
              </a:r>
            </a:p>
          </p:txBody>
        </p:sp>
        <p:sp>
          <p:nvSpPr>
            <p:cNvPr id="228" name="Freeform 168">
              <a:extLst>
                <a:ext uri="{FF2B5EF4-FFF2-40B4-BE49-F238E27FC236}">
                  <a16:creationId xmlns:a16="http://schemas.microsoft.com/office/drawing/2014/main" xmlns="" id="{06FB8DE4-FF8B-2A4C-9587-9B7067BCC3D8}"/>
                </a:ext>
              </a:extLst>
            </p:cNvPr>
            <p:cNvSpPr>
              <a:spLocks/>
            </p:cNvSpPr>
            <p:nvPr/>
          </p:nvSpPr>
          <p:spPr bwMode="auto">
            <a:xfrm flipH="1" flipV="1">
              <a:off x="3599" y="2404"/>
              <a:ext cx="107" cy="1194"/>
            </a:xfrm>
            <a:custGeom>
              <a:avLst/>
              <a:gdLst>
                <a:gd name="T0" fmla="*/ 0 w 107"/>
                <a:gd name="T1" fmla="*/ 0 h 910"/>
                <a:gd name="T2" fmla="*/ 107 w 107"/>
                <a:gd name="T3" fmla="*/ 0 h 910"/>
                <a:gd name="T4" fmla="*/ 107 w 107"/>
                <a:gd name="T5" fmla="*/ 13768 h 910"/>
                <a:gd name="T6" fmla="*/ 0 60000 65536"/>
                <a:gd name="T7" fmla="*/ 0 60000 65536"/>
                <a:gd name="T8" fmla="*/ 0 60000 65536"/>
              </a:gdLst>
              <a:ahLst/>
              <a:cxnLst>
                <a:cxn ang="T6">
                  <a:pos x="T0" y="T1"/>
                </a:cxn>
                <a:cxn ang="T7">
                  <a:pos x="T2" y="T3"/>
                </a:cxn>
                <a:cxn ang="T8">
                  <a:pos x="T4" y="T5"/>
                </a:cxn>
              </a:cxnLst>
              <a:rect l="0" t="0" r="r" b="b"/>
              <a:pathLst>
                <a:path w="107" h="910">
                  <a:moveTo>
                    <a:pt x="0" y="0"/>
                  </a:moveTo>
                  <a:lnTo>
                    <a:pt x="107" y="0"/>
                  </a:lnTo>
                  <a:lnTo>
                    <a:pt x="107" y="910"/>
                  </a:lnTo>
                </a:path>
              </a:pathLst>
            </a:custGeom>
            <a:noFill/>
            <a:ln w="952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45" name="Group 195">
            <a:extLst>
              <a:ext uri="{FF2B5EF4-FFF2-40B4-BE49-F238E27FC236}">
                <a16:creationId xmlns:a16="http://schemas.microsoft.com/office/drawing/2014/main" xmlns="" id="{B37D7216-C212-C843-A667-53A7C0B847CF}"/>
              </a:ext>
            </a:extLst>
          </p:cNvPr>
          <p:cNvGrpSpPr>
            <a:grpSpLocks/>
          </p:cNvGrpSpPr>
          <p:nvPr/>
        </p:nvGrpSpPr>
        <p:grpSpPr bwMode="auto">
          <a:xfrm>
            <a:off x="8685214" y="6022869"/>
            <a:ext cx="358775" cy="304800"/>
            <a:chOff x="5144" y="3677"/>
            <a:chExt cx="226" cy="192"/>
          </a:xfrm>
        </p:grpSpPr>
        <p:sp>
          <p:nvSpPr>
            <p:cNvPr id="246" name="Rectangle 194">
              <a:extLst>
                <a:ext uri="{FF2B5EF4-FFF2-40B4-BE49-F238E27FC236}">
                  <a16:creationId xmlns:a16="http://schemas.microsoft.com/office/drawing/2014/main" xmlns="" id="{43AFBFF1-B1C6-C147-BB51-D67A053105CA}"/>
                </a:ext>
              </a:extLst>
            </p:cNvPr>
            <p:cNvSpPr>
              <a:spLocks noChangeArrowheads="1"/>
            </p:cNvSpPr>
            <p:nvPr/>
          </p:nvSpPr>
          <p:spPr bwMode="auto">
            <a:xfrm>
              <a:off x="5212" y="3716"/>
              <a:ext cx="88" cy="13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47" name="Text Box 193">
              <a:extLst>
                <a:ext uri="{FF2B5EF4-FFF2-40B4-BE49-F238E27FC236}">
                  <a16:creationId xmlns:a16="http://schemas.microsoft.com/office/drawing/2014/main" xmlns="" id="{BF6FCEAE-49B5-A041-A298-4CB690E54688}"/>
                </a:ext>
              </a:extLst>
            </p:cNvPr>
            <p:cNvSpPr txBox="1">
              <a:spLocks noChangeArrowheads="1"/>
            </p:cNvSpPr>
            <p:nvPr/>
          </p:nvSpPr>
          <p:spPr bwMode="auto">
            <a:xfrm>
              <a:off x="5144" y="3677"/>
              <a:ext cx="22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charset="0"/>
                  <a:ea typeface="ＭＳ Ｐゴシック" charset="0"/>
                  <a:cs typeface="+mn-cs"/>
                </a:rPr>
                <a:t>A</a:t>
              </a:r>
            </a:p>
          </p:txBody>
        </p:sp>
      </p:grpSp>
      <p:sp>
        <p:nvSpPr>
          <p:cNvPr id="248" name="Rectangle 37">
            <a:extLst>
              <a:ext uri="{FF2B5EF4-FFF2-40B4-BE49-F238E27FC236}">
                <a16:creationId xmlns:a16="http://schemas.microsoft.com/office/drawing/2014/main" xmlns="" id="{A8678432-C6E0-9045-9DFE-9E95FBC24301}"/>
              </a:ext>
            </a:extLst>
          </p:cNvPr>
          <p:cNvSpPr>
            <a:spLocks noChangeArrowheads="1"/>
          </p:cNvSpPr>
          <p:nvPr/>
        </p:nvSpPr>
        <p:spPr bwMode="auto">
          <a:xfrm>
            <a:off x="6835777" y="3123626"/>
            <a:ext cx="65087" cy="622300"/>
          </a:xfrm>
          <a:prstGeom prst="rect">
            <a:avLst/>
          </a:prstGeom>
          <a:gradFill rotWithShape="1">
            <a:gsLst>
              <a:gs pos="0">
                <a:srgbClr val="FFFFFF"/>
              </a:gs>
              <a:gs pos="100000">
                <a:srgbClr val="33CC33"/>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9" name="Rectangle 39">
            <a:extLst>
              <a:ext uri="{FF2B5EF4-FFF2-40B4-BE49-F238E27FC236}">
                <a16:creationId xmlns:a16="http://schemas.microsoft.com/office/drawing/2014/main" xmlns="" id="{92ADD221-F1C3-B645-92EB-9D1C9315A58A}"/>
              </a:ext>
            </a:extLst>
          </p:cNvPr>
          <p:cNvSpPr>
            <a:spLocks noChangeArrowheads="1"/>
          </p:cNvSpPr>
          <p:nvPr/>
        </p:nvSpPr>
        <p:spPr bwMode="auto">
          <a:xfrm>
            <a:off x="6932614" y="3125214"/>
            <a:ext cx="65088" cy="622300"/>
          </a:xfrm>
          <a:prstGeom prst="rect">
            <a:avLst/>
          </a:prstGeom>
          <a:solidFill>
            <a:srgbClr val="33CC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0" name="Rectangle 40">
            <a:extLst>
              <a:ext uri="{FF2B5EF4-FFF2-40B4-BE49-F238E27FC236}">
                <a16:creationId xmlns:a16="http://schemas.microsoft.com/office/drawing/2014/main" xmlns="" id="{BB8D0EB3-2337-2A41-9EFC-CC44292E23D6}"/>
              </a:ext>
            </a:extLst>
          </p:cNvPr>
          <p:cNvSpPr>
            <a:spLocks noChangeArrowheads="1"/>
          </p:cNvSpPr>
          <p:nvPr/>
        </p:nvSpPr>
        <p:spPr bwMode="auto">
          <a:xfrm>
            <a:off x="7031039" y="3123626"/>
            <a:ext cx="65088" cy="622300"/>
          </a:xfrm>
          <a:prstGeom prst="rect">
            <a:avLst/>
          </a:prstGeom>
          <a:solidFill>
            <a:srgbClr val="33CC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1" name="Rectangle 41">
            <a:extLst>
              <a:ext uri="{FF2B5EF4-FFF2-40B4-BE49-F238E27FC236}">
                <a16:creationId xmlns:a16="http://schemas.microsoft.com/office/drawing/2014/main" xmlns="" id="{08B40AAE-C4F3-B24B-A758-0CBE422C11F5}"/>
              </a:ext>
            </a:extLst>
          </p:cNvPr>
          <p:cNvSpPr>
            <a:spLocks noChangeArrowheads="1"/>
          </p:cNvSpPr>
          <p:nvPr/>
        </p:nvSpPr>
        <p:spPr bwMode="auto">
          <a:xfrm>
            <a:off x="7127877" y="3123626"/>
            <a:ext cx="65087" cy="622300"/>
          </a:xfrm>
          <a:prstGeom prst="rect">
            <a:avLst/>
          </a:prstGeom>
          <a:solidFill>
            <a:srgbClr val="33CC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2" name="Rectangle 42">
            <a:extLst>
              <a:ext uri="{FF2B5EF4-FFF2-40B4-BE49-F238E27FC236}">
                <a16:creationId xmlns:a16="http://schemas.microsoft.com/office/drawing/2014/main" xmlns="" id="{1B696D21-4399-C041-91DC-701FB61A0E4C}"/>
              </a:ext>
            </a:extLst>
          </p:cNvPr>
          <p:cNvSpPr>
            <a:spLocks noChangeArrowheads="1"/>
          </p:cNvSpPr>
          <p:nvPr/>
        </p:nvSpPr>
        <p:spPr bwMode="auto">
          <a:xfrm>
            <a:off x="7223127" y="3123626"/>
            <a:ext cx="65087" cy="622300"/>
          </a:xfrm>
          <a:prstGeom prst="rect">
            <a:avLst/>
          </a:prstGeom>
          <a:solidFill>
            <a:srgbClr val="33CC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3" name="Rectangle 43">
            <a:extLst>
              <a:ext uri="{FF2B5EF4-FFF2-40B4-BE49-F238E27FC236}">
                <a16:creationId xmlns:a16="http://schemas.microsoft.com/office/drawing/2014/main" xmlns="" id="{2CEBC228-9E7F-7E48-9C85-63629AFC09AA}"/>
              </a:ext>
            </a:extLst>
          </p:cNvPr>
          <p:cNvSpPr>
            <a:spLocks noChangeArrowheads="1"/>
          </p:cNvSpPr>
          <p:nvPr/>
        </p:nvSpPr>
        <p:spPr bwMode="auto">
          <a:xfrm>
            <a:off x="7319964" y="3123626"/>
            <a:ext cx="65088" cy="622300"/>
          </a:xfrm>
          <a:prstGeom prst="rect">
            <a:avLst/>
          </a:prstGeom>
          <a:solidFill>
            <a:srgbClr val="33CC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4" name="Rectangle 45">
            <a:extLst>
              <a:ext uri="{FF2B5EF4-FFF2-40B4-BE49-F238E27FC236}">
                <a16:creationId xmlns:a16="http://schemas.microsoft.com/office/drawing/2014/main" xmlns="" id="{499D6101-0E72-764D-90A9-65FA5E9288DF}"/>
              </a:ext>
            </a:extLst>
          </p:cNvPr>
          <p:cNvSpPr>
            <a:spLocks noChangeArrowheads="1"/>
          </p:cNvSpPr>
          <p:nvPr/>
        </p:nvSpPr>
        <p:spPr bwMode="auto">
          <a:xfrm>
            <a:off x="7412039" y="3123626"/>
            <a:ext cx="65088" cy="622300"/>
          </a:xfrm>
          <a:prstGeom prst="rect">
            <a:avLst/>
          </a:prstGeom>
          <a:solidFill>
            <a:srgbClr val="33CC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5" name="Rectangle 46">
            <a:extLst>
              <a:ext uri="{FF2B5EF4-FFF2-40B4-BE49-F238E27FC236}">
                <a16:creationId xmlns:a16="http://schemas.microsoft.com/office/drawing/2014/main" xmlns="" id="{69025D46-11EA-C34F-8D0D-7B789A5DBC95}"/>
              </a:ext>
            </a:extLst>
          </p:cNvPr>
          <p:cNvSpPr>
            <a:spLocks noChangeArrowheads="1"/>
          </p:cNvSpPr>
          <p:nvPr/>
        </p:nvSpPr>
        <p:spPr bwMode="auto">
          <a:xfrm>
            <a:off x="7507289" y="3123626"/>
            <a:ext cx="65088" cy="622300"/>
          </a:xfrm>
          <a:prstGeom prst="rect">
            <a:avLst/>
          </a:prstGeom>
          <a:solidFill>
            <a:srgbClr val="33CC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6" name="Rectangle 47">
            <a:extLst>
              <a:ext uri="{FF2B5EF4-FFF2-40B4-BE49-F238E27FC236}">
                <a16:creationId xmlns:a16="http://schemas.microsoft.com/office/drawing/2014/main" xmlns="" id="{097282D2-CB09-6743-BD88-978413D66230}"/>
              </a:ext>
            </a:extLst>
          </p:cNvPr>
          <p:cNvSpPr>
            <a:spLocks noChangeArrowheads="1"/>
          </p:cNvSpPr>
          <p:nvPr/>
        </p:nvSpPr>
        <p:spPr bwMode="auto">
          <a:xfrm>
            <a:off x="7602539" y="3123626"/>
            <a:ext cx="65088" cy="622300"/>
          </a:xfrm>
          <a:prstGeom prst="rect">
            <a:avLst/>
          </a:prstGeom>
          <a:solidFill>
            <a:srgbClr val="33CC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7" name="Rectangle 50">
            <a:extLst>
              <a:ext uri="{FF2B5EF4-FFF2-40B4-BE49-F238E27FC236}">
                <a16:creationId xmlns:a16="http://schemas.microsoft.com/office/drawing/2014/main" xmlns="" id="{C44BBA4A-C75F-6344-A7C0-80FA59F967B5}"/>
              </a:ext>
            </a:extLst>
          </p:cNvPr>
          <p:cNvSpPr>
            <a:spLocks noChangeArrowheads="1"/>
          </p:cNvSpPr>
          <p:nvPr/>
        </p:nvSpPr>
        <p:spPr bwMode="auto">
          <a:xfrm>
            <a:off x="7708902" y="3123626"/>
            <a:ext cx="65087" cy="622300"/>
          </a:xfrm>
          <a:prstGeom prst="rect">
            <a:avLst/>
          </a:prstGeom>
          <a:solidFill>
            <a:srgbClr val="33CC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8" name="Rectangle 51">
            <a:extLst>
              <a:ext uri="{FF2B5EF4-FFF2-40B4-BE49-F238E27FC236}">
                <a16:creationId xmlns:a16="http://schemas.microsoft.com/office/drawing/2014/main" xmlns="" id="{660EEC78-FF50-7445-8190-34F20263528D}"/>
              </a:ext>
            </a:extLst>
          </p:cNvPr>
          <p:cNvSpPr>
            <a:spLocks noChangeArrowheads="1"/>
          </p:cNvSpPr>
          <p:nvPr/>
        </p:nvSpPr>
        <p:spPr bwMode="auto">
          <a:xfrm>
            <a:off x="7807327" y="3125214"/>
            <a:ext cx="65087" cy="6223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9" name="Rectangle 52">
            <a:extLst>
              <a:ext uri="{FF2B5EF4-FFF2-40B4-BE49-F238E27FC236}">
                <a16:creationId xmlns:a16="http://schemas.microsoft.com/office/drawing/2014/main" xmlns="" id="{BF1D4EAF-3E48-E64D-A9F0-800C14DE416B}"/>
              </a:ext>
            </a:extLst>
          </p:cNvPr>
          <p:cNvSpPr>
            <a:spLocks noChangeArrowheads="1"/>
          </p:cNvSpPr>
          <p:nvPr/>
        </p:nvSpPr>
        <p:spPr bwMode="auto">
          <a:xfrm>
            <a:off x="7904164" y="3123626"/>
            <a:ext cx="65088" cy="6223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0" name="Rectangle 53">
            <a:extLst>
              <a:ext uri="{FF2B5EF4-FFF2-40B4-BE49-F238E27FC236}">
                <a16:creationId xmlns:a16="http://schemas.microsoft.com/office/drawing/2014/main" xmlns="" id="{7F7F3BD0-061B-0346-BC6C-7C752F28EF13}"/>
              </a:ext>
            </a:extLst>
          </p:cNvPr>
          <p:cNvSpPr>
            <a:spLocks noChangeArrowheads="1"/>
          </p:cNvSpPr>
          <p:nvPr/>
        </p:nvSpPr>
        <p:spPr bwMode="auto">
          <a:xfrm>
            <a:off x="8001002" y="3123626"/>
            <a:ext cx="65087" cy="6223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1" name="Rectangle 54">
            <a:extLst>
              <a:ext uri="{FF2B5EF4-FFF2-40B4-BE49-F238E27FC236}">
                <a16:creationId xmlns:a16="http://schemas.microsoft.com/office/drawing/2014/main" xmlns="" id="{1419AB61-44E3-7B43-ADE9-9DF5C9E18D93}"/>
              </a:ext>
            </a:extLst>
          </p:cNvPr>
          <p:cNvSpPr>
            <a:spLocks noChangeArrowheads="1"/>
          </p:cNvSpPr>
          <p:nvPr/>
        </p:nvSpPr>
        <p:spPr bwMode="auto">
          <a:xfrm>
            <a:off x="8097839" y="3123626"/>
            <a:ext cx="65088" cy="6223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2" name="Rectangle 55">
            <a:extLst>
              <a:ext uri="{FF2B5EF4-FFF2-40B4-BE49-F238E27FC236}">
                <a16:creationId xmlns:a16="http://schemas.microsoft.com/office/drawing/2014/main" xmlns="" id="{FA07924E-D97C-9E4F-9629-377D86F65D54}"/>
              </a:ext>
            </a:extLst>
          </p:cNvPr>
          <p:cNvSpPr>
            <a:spLocks noChangeArrowheads="1"/>
          </p:cNvSpPr>
          <p:nvPr/>
        </p:nvSpPr>
        <p:spPr bwMode="auto">
          <a:xfrm>
            <a:off x="8193089" y="3123626"/>
            <a:ext cx="65088" cy="6223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3" name="Rectangle 56">
            <a:extLst>
              <a:ext uri="{FF2B5EF4-FFF2-40B4-BE49-F238E27FC236}">
                <a16:creationId xmlns:a16="http://schemas.microsoft.com/office/drawing/2014/main" xmlns="" id="{78BBA4C2-77BF-7140-8522-72AA5C9FF7DA}"/>
              </a:ext>
            </a:extLst>
          </p:cNvPr>
          <p:cNvSpPr>
            <a:spLocks noChangeArrowheads="1"/>
          </p:cNvSpPr>
          <p:nvPr/>
        </p:nvSpPr>
        <p:spPr bwMode="auto">
          <a:xfrm>
            <a:off x="8285164" y="3123626"/>
            <a:ext cx="65088" cy="6223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4" name="Rectangle 57">
            <a:extLst>
              <a:ext uri="{FF2B5EF4-FFF2-40B4-BE49-F238E27FC236}">
                <a16:creationId xmlns:a16="http://schemas.microsoft.com/office/drawing/2014/main" xmlns="" id="{8C781153-D0D1-4F49-A7D5-E9E0E02C7481}"/>
              </a:ext>
            </a:extLst>
          </p:cNvPr>
          <p:cNvSpPr>
            <a:spLocks noChangeArrowheads="1"/>
          </p:cNvSpPr>
          <p:nvPr/>
        </p:nvSpPr>
        <p:spPr bwMode="auto">
          <a:xfrm>
            <a:off x="8380414" y="3123626"/>
            <a:ext cx="65088" cy="6223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5" name="Rectangle 58">
            <a:extLst>
              <a:ext uri="{FF2B5EF4-FFF2-40B4-BE49-F238E27FC236}">
                <a16:creationId xmlns:a16="http://schemas.microsoft.com/office/drawing/2014/main" xmlns="" id="{1252424B-0051-8B4E-8014-7CDFA89980FC}"/>
              </a:ext>
            </a:extLst>
          </p:cNvPr>
          <p:cNvSpPr>
            <a:spLocks noChangeArrowheads="1"/>
          </p:cNvSpPr>
          <p:nvPr/>
        </p:nvSpPr>
        <p:spPr bwMode="auto">
          <a:xfrm>
            <a:off x="8477252" y="3123626"/>
            <a:ext cx="65087" cy="6223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6" name="Rectangle 59">
            <a:extLst>
              <a:ext uri="{FF2B5EF4-FFF2-40B4-BE49-F238E27FC236}">
                <a16:creationId xmlns:a16="http://schemas.microsoft.com/office/drawing/2014/main" xmlns="" id="{FA783663-FBFD-1D4F-94E0-8E07864896AD}"/>
              </a:ext>
            </a:extLst>
          </p:cNvPr>
          <p:cNvSpPr>
            <a:spLocks noChangeArrowheads="1"/>
          </p:cNvSpPr>
          <p:nvPr/>
        </p:nvSpPr>
        <p:spPr bwMode="auto">
          <a:xfrm>
            <a:off x="8566152" y="3123626"/>
            <a:ext cx="65087" cy="6223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7" name="Rectangle 60">
            <a:extLst>
              <a:ext uri="{FF2B5EF4-FFF2-40B4-BE49-F238E27FC236}">
                <a16:creationId xmlns:a16="http://schemas.microsoft.com/office/drawing/2014/main" xmlns="" id="{9A20FCBA-A9E2-494E-8A95-747703BA2FAA}"/>
              </a:ext>
            </a:extLst>
          </p:cNvPr>
          <p:cNvSpPr>
            <a:spLocks noChangeArrowheads="1"/>
          </p:cNvSpPr>
          <p:nvPr/>
        </p:nvSpPr>
        <p:spPr bwMode="auto">
          <a:xfrm>
            <a:off x="8661402" y="3123626"/>
            <a:ext cx="65087" cy="6223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8" name="Rectangle 61">
            <a:extLst>
              <a:ext uri="{FF2B5EF4-FFF2-40B4-BE49-F238E27FC236}">
                <a16:creationId xmlns:a16="http://schemas.microsoft.com/office/drawing/2014/main" xmlns="" id="{BD15B2FA-70B2-F44B-A21B-EE69A9B05DC8}"/>
              </a:ext>
            </a:extLst>
          </p:cNvPr>
          <p:cNvSpPr>
            <a:spLocks noChangeArrowheads="1"/>
          </p:cNvSpPr>
          <p:nvPr/>
        </p:nvSpPr>
        <p:spPr bwMode="auto">
          <a:xfrm>
            <a:off x="8755064" y="3122039"/>
            <a:ext cx="65088" cy="622300"/>
          </a:xfrm>
          <a:prstGeom prst="rect">
            <a:avLst/>
          </a:prstGeom>
          <a:solidFill>
            <a:srgbClr val="00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9" name="Rectangle 62">
            <a:extLst>
              <a:ext uri="{FF2B5EF4-FFF2-40B4-BE49-F238E27FC236}">
                <a16:creationId xmlns:a16="http://schemas.microsoft.com/office/drawing/2014/main" xmlns="" id="{FCC59CFB-2A58-CB44-B886-3040D9E44C77}"/>
              </a:ext>
            </a:extLst>
          </p:cNvPr>
          <p:cNvSpPr>
            <a:spLocks noChangeArrowheads="1"/>
          </p:cNvSpPr>
          <p:nvPr/>
        </p:nvSpPr>
        <p:spPr bwMode="auto">
          <a:xfrm>
            <a:off x="8847139" y="3122039"/>
            <a:ext cx="65088" cy="622300"/>
          </a:xfrm>
          <a:prstGeom prst="rect">
            <a:avLst/>
          </a:prstGeom>
          <a:solidFill>
            <a:srgbClr val="00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70" name="Rectangle 63">
            <a:extLst>
              <a:ext uri="{FF2B5EF4-FFF2-40B4-BE49-F238E27FC236}">
                <a16:creationId xmlns:a16="http://schemas.microsoft.com/office/drawing/2014/main" xmlns="" id="{C2CEED62-895E-984B-A8A4-247D41CE7E93}"/>
              </a:ext>
            </a:extLst>
          </p:cNvPr>
          <p:cNvSpPr>
            <a:spLocks noChangeArrowheads="1"/>
          </p:cNvSpPr>
          <p:nvPr/>
        </p:nvSpPr>
        <p:spPr bwMode="auto">
          <a:xfrm>
            <a:off x="8943977" y="3122039"/>
            <a:ext cx="65087" cy="622300"/>
          </a:xfrm>
          <a:prstGeom prst="rect">
            <a:avLst/>
          </a:prstGeom>
          <a:solidFill>
            <a:srgbClr val="00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71" name="Rectangle 64">
            <a:extLst>
              <a:ext uri="{FF2B5EF4-FFF2-40B4-BE49-F238E27FC236}">
                <a16:creationId xmlns:a16="http://schemas.microsoft.com/office/drawing/2014/main" xmlns="" id="{A927D859-82EA-9A4A-9764-093C53E03753}"/>
              </a:ext>
            </a:extLst>
          </p:cNvPr>
          <p:cNvSpPr>
            <a:spLocks noChangeArrowheads="1"/>
          </p:cNvSpPr>
          <p:nvPr/>
        </p:nvSpPr>
        <p:spPr bwMode="auto">
          <a:xfrm>
            <a:off x="9039227" y="3122039"/>
            <a:ext cx="65087" cy="622300"/>
          </a:xfrm>
          <a:prstGeom prst="rect">
            <a:avLst/>
          </a:prstGeom>
          <a:solidFill>
            <a:srgbClr val="00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72" name="Rectangle 65">
            <a:extLst>
              <a:ext uri="{FF2B5EF4-FFF2-40B4-BE49-F238E27FC236}">
                <a16:creationId xmlns:a16="http://schemas.microsoft.com/office/drawing/2014/main" xmlns="" id="{F473CF44-260A-E04B-8696-E13EFF7EE281}"/>
              </a:ext>
            </a:extLst>
          </p:cNvPr>
          <p:cNvSpPr>
            <a:spLocks noChangeArrowheads="1"/>
          </p:cNvSpPr>
          <p:nvPr/>
        </p:nvSpPr>
        <p:spPr bwMode="auto">
          <a:xfrm>
            <a:off x="9128127" y="3122039"/>
            <a:ext cx="65087" cy="622300"/>
          </a:xfrm>
          <a:prstGeom prst="rect">
            <a:avLst/>
          </a:prstGeom>
          <a:solidFill>
            <a:srgbClr val="00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73" name="Rectangle 66">
            <a:extLst>
              <a:ext uri="{FF2B5EF4-FFF2-40B4-BE49-F238E27FC236}">
                <a16:creationId xmlns:a16="http://schemas.microsoft.com/office/drawing/2014/main" xmlns="" id="{489A018C-E3FF-AC42-A61C-40BC11AD79CE}"/>
              </a:ext>
            </a:extLst>
          </p:cNvPr>
          <p:cNvSpPr>
            <a:spLocks noChangeArrowheads="1"/>
          </p:cNvSpPr>
          <p:nvPr/>
        </p:nvSpPr>
        <p:spPr bwMode="auto">
          <a:xfrm>
            <a:off x="9223377" y="3122039"/>
            <a:ext cx="65087" cy="622300"/>
          </a:xfrm>
          <a:prstGeom prst="rect">
            <a:avLst/>
          </a:prstGeom>
          <a:solidFill>
            <a:srgbClr val="00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74" name="Rectangle 68">
            <a:extLst>
              <a:ext uri="{FF2B5EF4-FFF2-40B4-BE49-F238E27FC236}">
                <a16:creationId xmlns:a16="http://schemas.microsoft.com/office/drawing/2014/main" xmlns="" id="{15DBA7E3-2A55-A347-8398-5FF2E190C152}"/>
              </a:ext>
            </a:extLst>
          </p:cNvPr>
          <p:cNvSpPr>
            <a:spLocks noChangeArrowheads="1"/>
          </p:cNvSpPr>
          <p:nvPr/>
        </p:nvSpPr>
        <p:spPr bwMode="auto">
          <a:xfrm>
            <a:off x="9320214" y="3123626"/>
            <a:ext cx="65088" cy="6223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5" name="Rectangle 69">
            <a:extLst>
              <a:ext uri="{FF2B5EF4-FFF2-40B4-BE49-F238E27FC236}">
                <a16:creationId xmlns:a16="http://schemas.microsoft.com/office/drawing/2014/main" xmlns="" id="{C41C2999-2C3A-6B42-BFD4-461D81F336F2}"/>
              </a:ext>
            </a:extLst>
          </p:cNvPr>
          <p:cNvSpPr>
            <a:spLocks noChangeArrowheads="1"/>
          </p:cNvSpPr>
          <p:nvPr/>
        </p:nvSpPr>
        <p:spPr bwMode="auto">
          <a:xfrm>
            <a:off x="9417052" y="3125214"/>
            <a:ext cx="65087" cy="6223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6" name="Rectangle 70">
            <a:extLst>
              <a:ext uri="{FF2B5EF4-FFF2-40B4-BE49-F238E27FC236}">
                <a16:creationId xmlns:a16="http://schemas.microsoft.com/office/drawing/2014/main" xmlns="" id="{C31E0892-5A99-CC4B-9267-B95157619AAA}"/>
              </a:ext>
            </a:extLst>
          </p:cNvPr>
          <p:cNvSpPr>
            <a:spLocks noChangeArrowheads="1"/>
          </p:cNvSpPr>
          <p:nvPr/>
        </p:nvSpPr>
        <p:spPr bwMode="auto">
          <a:xfrm>
            <a:off x="9513889" y="3123626"/>
            <a:ext cx="65088" cy="6223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7" name="Rectangle 71">
            <a:extLst>
              <a:ext uri="{FF2B5EF4-FFF2-40B4-BE49-F238E27FC236}">
                <a16:creationId xmlns:a16="http://schemas.microsoft.com/office/drawing/2014/main" xmlns="" id="{F4A34BCF-97FE-9043-BC3E-A64DDF0FE4E2}"/>
              </a:ext>
            </a:extLst>
          </p:cNvPr>
          <p:cNvSpPr>
            <a:spLocks noChangeArrowheads="1"/>
          </p:cNvSpPr>
          <p:nvPr/>
        </p:nvSpPr>
        <p:spPr bwMode="auto">
          <a:xfrm>
            <a:off x="9612314" y="3123626"/>
            <a:ext cx="65088" cy="6223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8" name="Rectangle 72">
            <a:extLst>
              <a:ext uri="{FF2B5EF4-FFF2-40B4-BE49-F238E27FC236}">
                <a16:creationId xmlns:a16="http://schemas.microsoft.com/office/drawing/2014/main" xmlns="" id="{AF39E66A-9553-3344-9AD6-6EDA216F2880}"/>
              </a:ext>
            </a:extLst>
          </p:cNvPr>
          <p:cNvSpPr>
            <a:spLocks noChangeArrowheads="1"/>
          </p:cNvSpPr>
          <p:nvPr/>
        </p:nvSpPr>
        <p:spPr bwMode="auto">
          <a:xfrm>
            <a:off x="9707564" y="3123626"/>
            <a:ext cx="65088" cy="6223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9" name="Rectangle 73">
            <a:extLst>
              <a:ext uri="{FF2B5EF4-FFF2-40B4-BE49-F238E27FC236}">
                <a16:creationId xmlns:a16="http://schemas.microsoft.com/office/drawing/2014/main" xmlns="" id="{ECFAFFA1-A372-CF41-884A-8A8C27CFE0C1}"/>
              </a:ext>
            </a:extLst>
          </p:cNvPr>
          <p:cNvSpPr>
            <a:spLocks noChangeArrowheads="1"/>
          </p:cNvSpPr>
          <p:nvPr/>
        </p:nvSpPr>
        <p:spPr bwMode="auto">
          <a:xfrm>
            <a:off x="9802814" y="3123626"/>
            <a:ext cx="65088" cy="6223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0" name="Rectangle 74">
            <a:extLst>
              <a:ext uri="{FF2B5EF4-FFF2-40B4-BE49-F238E27FC236}">
                <a16:creationId xmlns:a16="http://schemas.microsoft.com/office/drawing/2014/main" xmlns="" id="{3C3828F5-F0A3-9B49-AB1D-346F1948CC97}"/>
              </a:ext>
            </a:extLst>
          </p:cNvPr>
          <p:cNvSpPr>
            <a:spLocks noChangeArrowheads="1"/>
          </p:cNvSpPr>
          <p:nvPr/>
        </p:nvSpPr>
        <p:spPr bwMode="auto">
          <a:xfrm>
            <a:off x="9894889" y="3123626"/>
            <a:ext cx="65088" cy="6223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1" name="Rectangle 75">
            <a:extLst>
              <a:ext uri="{FF2B5EF4-FFF2-40B4-BE49-F238E27FC236}">
                <a16:creationId xmlns:a16="http://schemas.microsoft.com/office/drawing/2014/main" xmlns="" id="{E047C25C-F28E-9A40-9394-4DFA7C5CF236}"/>
              </a:ext>
            </a:extLst>
          </p:cNvPr>
          <p:cNvSpPr>
            <a:spLocks noChangeArrowheads="1"/>
          </p:cNvSpPr>
          <p:nvPr/>
        </p:nvSpPr>
        <p:spPr bwMode="auto">
          <a:xfrm>
            <a:off x="9991727" y="3123626"/>
            <a:ext cx="65087" cy="6223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2" name="Rectangle 76">
            <a:extLst>
              <a:ext uri="{FF2B5EF4-FFF2-40B4-BE49-F238E27FC236}">
                <a16:creationId xmlns:a16="http://schemas.microsoft.com/office/drawing/2014/main" xmlns="" id="{95AB1F8C-60E0-6E4E-BBC9-6AFCA871BF9F}"/>
              </a:ext>
            </a:extLst>
          </p:cNvPr>
          <p:cNvSpPr>
            <a:spLocks noChangeArrowheads="1"/>
          </p:cNvSpPr>
          <p:nvPr/>
        </p:nvSpPr>
        <p:spPr bwMode="auto">
          <a:xfrm>
            <a:off x="10086977" y="3123626"/>
            <a:ext cx="65087" cy="622300"/>
          </a:xfrm>
          <a:prstGeom prst="rect">
            <a:avLst/>
          </a:pr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3" name="Rectangle 78">
            <a:extLst>
              <a:ext uri="{FF2B5EF4-FFF2-40B4-BE49-F238E27FC236}">
                <a16:creationId xmlns:a16="http://schemas.microsoft.com/office/drawing/2014/main" xmlns="" id="{4C4E8CF6-C760-5B4C-9C8B-724BC7EC9D27}"/>
              </a:ext>
            </a:extLst>
          </p:cNvPr>
          <p:cNvSpPr>
            <a:spLocks noChangeArrowheads="1"/>
          </p:cNvSpPr>
          <p:nvPr/>
        </p:nvSpPr>
        <p:spPr bwMode="auto">
          <a:xfrm>
            <a:off x="6792914" y="3861814"/>
            <a:ext cx="3408363" cy="889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4" name="Rectangle 79">
            <a:extLst>
              <a:ext uri="{FF2B5EF4-FFF2-40B4-BE49-F238E27FC236}">
                <a16:creationId xmlns:a16="http://schemas.microsoft.com/office/drawing/2014/main" xmlns="" id="{19F096B9-3111-7D40-B5B1-AE181A6D6D1D}"/>
              </a:ext>
            </a:extLst>
          </p:cNvPr>
          <p:cNvSpPr>
            <a:spLocks noChangeArrowheads="1"/>
          </p:cNvSpPr>
          <p:nvPr/>
        </p:nvSpPr>
        <p:spPr bwMode="auto">
          <a:xfrm>
            <a:off x="6878639" y="3014089"/>
            <a:ext cx="3408363" cy="889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5" name="Line 80">
            <a:extLst>
              <a:ext uri="{FF2B5EF4-FFF2-40B4-BE49-F238E27FC236}">
                <a16:creationId xmlns:a16="http://schemas.microsoft.com/office/drawing/2014/main" xmlns="" id="{E753CF95-7893-FD4E-BE3D-215F410E8408}"/>
              </a:ext>
            </a:extLst>
          </p:cNvPr>
          <p:cNvSpPr>
            <a:spLocks noChangeShapeType="1"/>
          </p:cNvSpPr>
          <p:nvPr/>
        </p:nvSpPr>
        <p:spPr bwMode="auto">
          <a:xfrm>
            <a:off x="6900864" y="3976114"/>
            <a:ext cx="868363"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86" name="Line 82">
            <a:extLst>
              <a:ext uri="{FF2B5EF4-FFF2-40B4-BE49-F238E27FC236}">
                <a16:creationId xmlns:a16="http://schemas.microsoft.com/office/drawing/2014/main" xmlns="" id="{A84B4DF1-EC9A-7F46-AA18-AD952AC6BF0E}"/>
              </a:ext>
            </a:extLst>
          </p:cNvPr>
          <p:cNvSpPr>
            <a:spLocks noChangeShapeType="1"/>
          </p:cNvSpPr>
          <p:nvPr/>
        </p:nvSpPr>
        <p:spPr bwMode="auto">
          <a:xfrm>
            <a:off x="7835902" y="3977701"/>
            <a:ext cx="868362"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87" name="Line 83">
            <a:extLst>
              <a:ext uri="{FF2B5EF4-FFF2-40B4-BE49-F238E27FC236}">
                <a16:creationId xmlns:a16="http://schemas.microsoft.com/office/drawing/2014/main" xmlns="" id="{F05D6B54-06E8-3340-AF49-E2A2D7CDBC38}"/>
              </a:ext>
            </a:extLst>
          </p:cNvPr>
          <p:cNvSpPr>
            <a:spLocks noChangeShapeType="1"/>
          </p:cNvSpPr>
          <p:nvPr/>
        </p:nvSpPr>
        <p:spPr bwMode="auto">
          <a:xfrm>
            <a:off x="9329739" y="3976114"/>
            <a:ext cx="801688"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88" name="Line 84">
            <a:extLst>
              <a:ext uri="{FF2B5EF4-FFF2-40B4-BE49-F238E27FC236}">
                <a16:creationId xmlns:a16="http://schemas.microsoft.com/office/drawing/2014/main" xmlns="" id="{B41A428C-2E0E-ED49-9C7F-ADDB6951A77B}"/>
              </a:ext>
            </a:extLst>
          </p:cNvPr>
          <p:cNvSpPr>
            <a:spLocks noChangeShapeType="1"/>
          </p:cNvSpPr>
          <p:nvPr/>
        </p:nvSpPr>
        <p:spPr bwMode="auto">
          <a:xfrm>
            <a:off x="8759827" y="3977701"/>
            <a:ext cx="528637"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89" name="Line 87">
            <a:extLst>
              <a:ext uri="{FF2B5EF4-FFF2-40B4-BE49-F238E27FC236}">
                <a16:creationId xmlns:a16="http://schemas.microsoft.com/office/drawing/2014/main" xmlns="" id="{F10E82D1-86EA-0A43-A26B-826B8C65625C}"/>
              </a:ext>
            </a:extLst>
          </p:cNvPr>
          <p:cNvSpPr>
            <a:spLocks noChangeShapeType="1"/>
          </p:cNvSpPr>
          <p:nvPr/>
        </p:nvSpPr>
        <p:spPr bwMode="auto">
          <a:xfrm>
            <a:off x="6992939" y="3999926"/>
            <a:ext cx="0" cy="233363"/>
          </a:xfrm>
          <a:prstGeom prst="line">
            <a:avLst/>
          </a:prstGeom>
          <a:noFill/>
          <a:ln w="952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90" name="Line 88">
            <a:extLst>
              <a:ext uri="{FF2B5EF4-FFF2-40B4-BE49-F238E27FC236}">
                <a16:creationId xmlns:a16="http://schemas.microsoft.com/office/drawing/2014/main" xmlns="" id="{849D7775-1F0E-F446-AFC3-AB4363FCD990}"/>
              </a:ext>
            </a:extLst>
          </p:cNvPr>
          <p:cNvSpPr>
            <a:spLocks noChangeShapeType="1"/>
          </p:cNvSpPr>
          <p:nvPr/>
        </p:nvSpPr>
        <p:spPr bwMode="auto">
          <a:xfrm>
            <a:off x="8221664" y="3995164"/>
            <a:ext cx="0" cy="233362"/>
          </a:xfrm>
          <a:prstGeom prst="line">
            <a:avLst/>
          </a:prstGeom>
          <a:noFill/>
          <a:ln w="952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91" name="Line 89">
            <a:extLst>
              <a:ext uri="{FF2B5EF4-FFF2-40B4-BE49-F238E27FC236}">
                <a16:creationId xmlns:a16="http://schemas.microsoft.com/office/drawing/2014/main" xmlns="" id="{0E0B871C-6367-774B-BA58-EF11B16FA4E2}"/>
              </a:ext>
            </a:extLst>
          </p:cNvPr>
          <p:cNvSpPr>
            <a:spLocks noChangeShapeType="1"/>
          </p:cNvSpPr>
          <p:nvPr/>
        </p:nvSpPr>
        <p:spPr bwMode="auto">
          <a:xfrm>
            <a:off x="9040814" y="3995164"/>
            <a:ext cx="0" cy="233362"/>
          </a:xfrm>
          <a:prstGeom prst="line">
            <a:avLst/>
          </a:prstGeom>
          <a:noFill/>
          <a:ln w="952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92" name="Line 90">
            <a:extLst>
              <a:ext uri="{FF2B5EF4-FFF2-40B4-BE49-F238E27FC236}">
                <a16:creationId xmlns:a16="http://schemas.microsoft.com/office/drawing/2014/main" xmlns="" id="{C09F078D-04FC-E640-8A03-2400CC0F0B8A}"/>
              </a:ext>
            </a:extLst>
          </p:cNvPr>
          <p:cNvSpPr>
            <a:spLocks noChangeShapeType="1"/>
          </p:cNvSpPr>
          <p:nvPr/>
        </p:nvSpPr>
        <p:spPr bwMode="auto">
          <a:xfrm>
            <a:off x="9698039" y="3995164"/>
            <a:ext cx="0" cy="233362"/>
          </a:xfrm>
          <a:prstGeom prst="line">
            <a:avLst/>
          </a:prstGeom>
          <a:noFill/>
          <a:ln w="952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93" name="Text Box 91">
            <a:extLst>
              <a:ext uri="{FF2B5EF4-FFF2-40B4-BE49-F238E27FC236}">
                <a16:creationId xmlns:a16="http://schemas.microsoft.com/office/drawing/2014/main" xmlns="" id="{39A723B2-B4B0-634D-AE9D-8AC58218E734}"/>
              </a:ext>
            </a:extLst>
          </p:cNvPr>
          <p:cNvSpPr txBox="1">
            <a:spLocks noChangeArrowheads="1"/>
          </p:cNvSpPr>
          <p:nvPr/>
        </p:nvSpPr>
        <p:spPr bwMode="auto">
          <a:xfrm>
            <a:off x="6869114" y="4223764"/>
            <a:ext cx="693738"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ACKed</a:t>
            </a:r>
          </a:p>
        </p:txBody>
      </p:sp>
      <p:sp>
        <p:nvSpPr>
          <p:cNvPr id="294" name="Text Box 92">
            <a:extLst>
              <a:ext uri="{FF2B5EF4-FFF2-40B4-BE49-F238E27FC236}">
                <a16:creationId xmlns:a16="http://schemas.microsoft.com/office/drawing/2014/main" xmlns="" id="{3B367685-832F-A24C-8E10-9208FC23187F}"/>
              </a:ext>
            </a:extLst>
          </p:cNvPr>
          <p:cNvSpPr txBox="1">
            <a:spLocks noChangeArrowheads="1"/>
          </p:cNvSpPr>
          <p:nvPr/>
        </p:nvSpPr>
        <p:spPr bwMode="auto">
          <a:xfrm>
            <a:off x="7850188" y="4230114"/>
            <a:ext cx="1139821" cy="684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sent, not-yet ACKed</a:t>
            </a:r>
          </a:p>
          <a:p>
            <a:pPr marL="0" marR="0" lvl="0" indent="0" algn="l" defTabSz="914400" rtl="0" eaLnBrk="0" fontAlgn="base" latinLnBrk="0" hangingPunct="0">
              <a:lnSpc>
                <a:spcPct val="90000"/>
              </a:lnSpc>
              <a:spcBef>
                <a:spcPts val="30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t>
            </a:r>
            <a:r>
              <a:rPr kumimoji="0" lang="en-US" altLang="ja-JP"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in-flight”)</a:t>
            </a:r>
            <a:endParaRPr kumimoji="0" lang="en-US" altLang="en-US"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5" name="Text Box 93">
            <a:extLst>
              <a:ext uri="{FF2B5EF4-FFF2-40B4-BE49-F238E27FC236}">
                <a16:creationId xmlns:a16="http://schemas.microsoft.com/office/drawing/2014/main" xmlns="" id="{81CC0B14-ECA5-7042-90A8-A3D1691D8277}"/>
              </a:ext>
            </a:extLst>
          </p:cNvPr>
          <p:cNvSpPr txBox="1">
            <a:spLocks noChangeArrowheads="1"/>
          </p:cNvSpPr>
          <p:nvPr/>
        </p:nvSpPr>
        <p:spPr bwMode="auto">
          <a:xfrm>
            <a:off x="8829677" y="4225351"/>
            <a:ext cx="1066800"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usable</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but not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yet sent</a:t>
            </a:r>
          </a:p>
        </p:txBody>
      </p:sp>
      <p:sp>
        <p:nvSpPr>
          <p:cNvPr id="296" name="Text Box 94">
            <a:extLst>
              <a:ext uri="{FF2B5EF4-FFF2-40B4-BE49-F238E27FC236}">
                <a16:creationId xmlns:a16="http://schemas.microsoft.com/office/drawing/2014/main" xmlns="" id="{AA04402D-D3B0-AD47-B91F-3AC1C3E2066A}"/>
              </a:ext>
            </a:extLst>
          </p:cNvPr>
          <p:cNvSpPr txBox="1">
            <a:spLocks noChangeArrowheads="1"/>
          </p:cNvSpPr>
          <p:nvPr/>
        </p:nvSpPr>
        <p:spPr bwMode="auto">
          <a:xfrm>
            <a:off x="9586914" y="4230114"/>
            <a:ext cx="81915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not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usable</a:t>
            </a:r>
          </a:p>
        </p:txBody>
      </p:sp>
      <p:sp>
        <p:nvSpPr>
          <p:cNvPr id="297" name="Text Box 96">
            <a:extLst>
              <a:ext uri="{FF2B5EF4-FFF2-40B4-BE49-F238E27FC236}">
                <a16:creationId xmlns:a16="http://schemas.microsoft.com/office/drawing/2014/main" xmlns="" id="{7BC9AF2B-9067-6D40-8AD6-38C8B0980442}"/>
              </a:ext>
            </a:extLst>
          </p:cNvPr>
          <p:cNvSpPr txBox="1">
            <a:spLocks noChangeArrowheads="1"/>
          </p:cNvSpPr>
          <p:nvPr/>
        </p:nvSpPr>
        <p:spPr bwMode="auto">
          <a:xfrm>
            <a:off x="7929564" y="2658489"/>
            <a:ext cx="1131888"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window size</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1" u="none" strike="noStrike" kern="0" cap="none" spc="0" normalizeH="0" baseline="0" noProof="0" dirty="0">
                <a:ln>
                  <a:noFill/>
                </a:ln>
                <a:solidFill>
                  <a:srgbClr val="000000"/>
                </a:solidFill>
                <a:effectLst/>
                <a:uLnTx/>
                <a:uFillTx/>
                <a:latin typeface="Tahoma" charset="0"/>
                <a:ea typeface="ＭＳ Ｐゴシック" charset="0"/>
                <a:cs typeface="+mn-cs"/>
              </a:rPr>
              <a:t> N</a:t>
            </a:r>
          </a:p>
        </p:txBody>
      </p:sp>
      <p:grpSp>
        <p:nvGrpSpPr>
          <p:cNvPr id="298" name="Group 99">
            <a:extLst>
              <a:ext uri="{FF2B5EF4-FFF2-40B4-BE49-F238E27FC236}">
                <a16:creationId xmlns:a16="http://schemas.microsoft.com/office/drawing/2014/main" xmlns="" id="{24BD0429-57C9-5949-A0FA-36C1FBC99776}"/>
              </a:ext>
            </a:extLst>
          </p:cNvPr>
          <p:cNvGrpSpPr>
            <a:grpSpLocks/>
          </p:cNvGrpSpPr>
          <p:nvPr/>
        </p:nvGrpSpPr>
        <p:grpSpPr bwMode="auto">
          <a:xfrm>
            <a:off x="8696327" y="2882326"/>
            <a:ext cx="593725" cy="136525"/>
            <a:chOff x="4250" y="1692"/>
            <a:chExt cx="374" cy="86"/>
          </a:xfrm>
        </p:grpSpPr>
        <p:sp>
          <p:nvSpPr>
            <p:cNvPr id="299" name="Line 97">
              <a:extLst>
                <a:ext uri="{FF2B5EF4-FFF2-40B4-BE49-F238E27FC236}">
                  <a16:creationId xmlns:a16="http://schemas.microsoft.com/office/drawing/2014/main" xmlns="" id="{A02E02EA-0929-104A-BF00-5ADA492F2B7C}"/>
                </a:ext>
              </a:extLst>
            </p:cNvPr>
            <p:cNvSpPr>
              <a:spLocks noChangeShapeType="1"/>
            </p:cNvSpPr>
            <p:nvPr/>
          </p:nvSpPr>
          <p:spPr bwMode="auto">
            <a:xfrm>
              <a:off x="4250" y="1738"/>
              <a:ext cx="374"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00" name="Line 98">
              <a:extLst>
                <a:ext uri="{FF2B5EF4-FFF2-40B4-BE49-F238E27FC236}">
                  <a16:creationId xmlns:a16="http://schemas.microsoft.com/office/drawing/2014/main" xmlns="" id="{BBA1422E-A86D-8048-8C6A-CBCE03DB28AC}"/>
                </a:ext>
              </a:extLst>
            </p:cNvPr>
            <p:cNvSpPr>
              <a:spLocks noChangeShapeType="1"/>
            </p:cNvSpPr>
            <p:nvPr/>
          </p:nvSpPr>
          <p:spPr bwMode="auto">
            <a:xfrm>
              <a:off x="4622" y="1692"/>
              <a:ext cx="0" cy="86"/>
            </a:xfrm>
            <a:prstGeom prst="line">
              <a:avLst/>
            </a:prstGeom>
            <a:noFill/>
            <a:ln w="952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01" name="Group 100">
            <a:extLst>
              <a:ext uri="{FF2B5EF4-FFF2-40B4-BE49-F238E27FC236}">
                <a16:creationId xmlns:a16="http://schemas.microsoft.com/office/drawing/2014/main" xmlns="" id="{953BBB09-1247-E749-B041-4AB4BC053F15}"/>
              </a:ext>
            </a:extLst>
          </p:cNvPr>
          <p:cNvGrpSpPr>
            <a:grpSpLocks/>
          </p:cNvGrpSpPr>
          <p:nvPr/>
        </p:nvGrpSpPr>
        <p:grpSpPr bwMode="auto">
          <a:xfrm rot="10800000">
            <a:off x="7804152" y="2907726"/>
            <a:ext cx="593725" cy="136525"/>
            <a:chOff x="4250" y="1692"/>
            <a:chExt cx="374" cy="86"/>
          </a:xfrm>
        </p:grpSpPr>
        <p:sp>
          <p:nvSpPr>
            <p:cNvPr id="302" name="Line 101">
              <a:extLst>
                <a:ext uri="{FF2B5EF4-FFF2-40B4-BE49-F238E27FC236}">
                  <a16:creationId xmlns:a16="http://schemas.microsoft.com/office/drawing/2014/main" xmlns="" id="{3C66FDCF-F2B7-8447-A6D6-18D719B215CF}"/>
                </a:ext>
              </a:extLst>
            </p:cNvPr>
            <p:cNvSpPr>
              <a:spLocks noChangeShapeType="1"/>
            </p:cNvSpPr>
            <p:nvPr/>
          </p:nvSpPr>
          <p:spPr bwMode="auto">
            <a:xfrm>
              <a:off x="4257" y="1745"/>
              <a:ext cx="374"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03" name="Line 102">
              <a:extLst>
                <a:ext uri="{FF2B5EF4-FFF2-40B4-BE49-F238E27FC236}">
                  <a16:creationId xmlns:a16="http://schemas.microsoft.com/office/drawing/2014/main" xmlns="" id="{3E685C18-38D0-2242-B6E7-6B45955EA4D6}"/>
                </a:ext>
              </a:extLst>
            </p:cNvPr>
            <p:cNvSpPr>
              <a:spLocks noChangeShapeType="1"/>
            </p:cNvSpPr>
            <p:nvPr/>
          </p:nvSpPr>
          <p:spPr bwMode="auto">
            <a:xfrm>
              <a:off x="4629" y="1699"/>
              <a:ext cx="0" cy="86"/>
            </a:xfrm>
            <a:prstGeom prst="line">
              <a:avLst/>
            </a:prstGeom>
            <a:noFill/>
            <a:ln w="952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04" name="Text Box 196">
            <a:extLst>
              <a:ext uri="{FF2B5EF4-FFF2-40B4-BE49-F238E27FC236}">
                <a16:creationId xmlns:a16="http://schemas.microsoft.com/office/drawing/2014/main" xmlns="" id="{8A4318F8-8B4B-BA46-9E7C-C771B9AFC315}"/>
              </a:ext>
            </a:extLst>
          </p:cNvPr>
          <p:cNvSpPr txBox="1">
            <a:spLocks noChangeArrowheads="1"/>
          </p:cNvSpPr>
          <p:nvPr/>
        </p:nvSpPr>
        <p:spPr bwMode="auto">
          <a:xfrm>
            <a:off x="7085014" y="3677664"/>
            <a:ext cx="31781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defRPr sz="1600">
                <a:solidFill>
                  <a:schemeClr val="tx1"/>
                </a:solidFill>
                <a:latin typeface="Tahoma" charset="0"/>
                <a:ea typeface="ＭＳ Ｐゴシック" charset="0"/>
              </a:defRPr>
            </a:lvl1pPr>
            <a:lvl2pPr>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1" indent="0" algn="ctr" defTabSz="914400" rtl="0" eaLnBrk="0" fontAlgn="base" latinLnBrk="0" hangingPunct="0">
              <a:lnSpc>
                <a:spcPct val="100000"/>
              </a:lnSpc>
              <a:spcBef>
                <a:spcPct val="0"/>
              </a:spcBef>
              <a:spcAft>
                <a:spcPct val="0"/>
              </a:spcAft>
              <a:buClrTx/>
              <a:buSzTx/>
              <a:buFontTx/>
              <a:buNone/>
              <a:tabLst/>
              <a:defRPr/>
            </a:pPr>
            <a:r>
              <a:rPr kumimoji="0" lang="en-US" sz="1400" b="0" i="1" u="none" strike="noStrike" kern="0" cap="none" spc="0" normalizeH="0" baseline="0" noProof="0" dirty="0">
                <a:ln>
                  <a:noFill/>
                </a:ln>
                <a:solidFill>
                  <a:srgbClr val="000000"/>
                </a:solidFill>
                <a:effectLst/>
                <a:uLnTx/>
                <a:uFillTx/>
                <a:latin typeface="Tahoma" charset="0"/>
                <a:ea typeface="ＭＳ Ｐゴシック" charset="0"/>
                <a:cs typeface="+mn-cs"/>
              </a:rPr>
              <a:t>sender sequence number space </a:t>
            </a:r>
          </a:p>
        </p:txBody>
      </p:sp>
      <p:grpSp>
        <p:nvGrpSpPr>
          <p:cNvPr id="305" name="Group 199">
            <a:extLst>
              <a:ext uri="{FF2B5EF4-FFF2-40B4-BE49-F238E27FC236}">
                <a16:creationId xmlns:a16="http://schemas.microsoft.com/office/drawing/2014/main" xmlns="" id="{17C79495-9E5E-D743-8F6F-313B7597C3E0}"/>
              </a:ext>
            </a:extLst>
          </p:cNvPr>
          <p:cNvGrpSpPr>
            <a:grpSpLocks/>
          </p:cNvGrpSpPr>
          <p:nvPr/>
        </p:nvGrpSpPr>
        <p:grpSpPr bwMode="auto">
          <a:xfrm>
            <a:off x="6321427" y="1140839"/>
            <a:ext cx="2952750" cy="1966912"/>
            <a:chOff x="2600" y="665"/>
            <a:chExt cx="1860" cy="1239"/>
          </a:xfrm>
        </p:grpSpPr>
        <p:sp>
          <p:nvSpPr>
            <p:cNvPr id="306" name="Rectangle 171">
              <a:extLst>
                <a:ext uri="{FF2B5EF4-FFF2-40B4-BE49-F238E27FC236}">
                  <a16:creationId xmlns:a16="http://schemas.microsoft.com/office/drawing/2014/main" xmlns="" id="{1EAF4F70-21E7-C34E-8873-423E3B1E6A8A}"/>
                </a:ext>
              </a:extLst>
            </p:cNvPr>
            <p:cNvSpPr>
              <a:spLocks noChangeArrowheads="1"/>
            </p:cNvSpPr>
            <p:nvPr/>
          </p:nvSpPr>
          <p:spPr bwMode="auto">
            <a:xfrm>
              <a:off x="2840" y="1028"/>
              <a:ext cx="1202" cy="13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07" name="Group 172">
              <a:extLst>
                <a:ext uri="{FF2B5EF4-FFF2-40B4-BE49-F238E27FC236}">
                  <a16:creationId xmlns:a16="http://schemas.microsoft.com/office/drawing/2014/main" xmlns="" id="{DEE85BA8-BC48-F24A-B3C5-A13DD502AF23}"/>
                </a:ext>
              </a:extLst>
            </p:cNvPr>
            <p:cNvGrpSpPr>
              <a:grpSpLocks/>
            </p:cNvGrpSpPr>
            <p:nvPr/>
          </p:nvGrpSpPr>
          <p:grpSpPr bwMode="auto">
            <a:xfrm>
              <a:off x="2820" y="872"/>
              <a:ext cx="1252" cy="714"/>
              <a:chOff x="1976" y="2984"/>
              <a:chExt cx="1252" cy="714"/>
            </a:xfrm>
          </p:grpSpPr>
          <p:sp>
            <p:nvSpPr>
              <p:cNvPr id="310" name="Rectangle 173">
                <a:extLst>
                  <a:ext uri="{FF2B5EF4-FFF2-40B4-BE49-F238E27FC236}">
                    <a16:creationId xmlns:a16="http://schemas.microsoft.com/office/drawing/2014/main" xmlns="" id="{512EC936-B599-4C42-A3CB-F206B3359FAC}"/>
                  </a:ext>
                </a:extLst>
              </p:cNvPr>
              <p:cNvSpPr>
                <a:spLocks noChangeArrowheads="1"/>
              </p:cNvSpPr>
              <p:nvPr/>
            </p:nvSpPr>
            <p:spPr bwMode="auto">
              <a:xfrm>
                <a:off x="1994" y="2995"/>
                <a:ext cx="1210" cy="70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1" name="Text Box 174">
                <a:extLst>
                  <a:ext uri="{FF2B5EF4-FFF2-40B4-BE49-F238E27FC236}">
                    <a16:creationId xmlns:a16="http://schemas.microsoft.com/office/drawing/2014/main" xmlns="" id="{D1A37C4D-C221-B944-960D-5E1AC157A7DE}"/>
                  </a:ext>
                </a:extLst>
              </p:cNvPr>
              <p:cNvSpPr txBox="1">
                <a:spLocks noChangeArrowheads="1"/>
              </p:cNvSpPr>
              <p:nvPr/>
            </p:nvSpPr>
            <p:spPr bwMode="auto">
              <a:xfrm>
                <a:off x="2001" y="2984"/>
                <a:ext cx="580"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source port #</a:t>
                </a:r>
              </a:p>
            </p:txBody>
          </p:sp>
          <p:sp>
            <p:nvSpPr>
              <p:cNvPr id="312" name="Text Box 175">
                <a:extLst>
                  <a:ext uri="{FF2B5EF4-FFF2-40B4-BE49-F238E27FC236}">
                    <a16:creationId xmlns:a16="http://schemas.microsoft.com/office/drawing/2014/main" xmlns="" id="{DC506D04-4DCA-2A42-8A11-92D274739497}"/>
                  </a:ext>
                </a:extLst>
              </p:cNvPr>
              <p:cNvSpPr txBox="1">
                <a:spLocks noChangeArrowheads="1"/>
              </p:cNvSpPr>
              <p:nvPr/>
            </p:nvSpPr>
            <p:spPr bwMode="auto">
              <a:xfrm>
                <a:off x="2648" y="2987"/>
                <a:ext cx="491"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dest port #</a:t>
                </a:r>
              </a:p>
            </p:txBody>
          </p:sp>
          <p:sp>
            <p:nvSpPr>
              <p:cNvPr id="313" name="Text Box 176">
                <a:extLst>
                  <a:ext uri="{FF2B5EF4-FFF2-40B4-BE49-F238E27FC236}">
                    <a16:creationId xmlns:a16="http://schemas.microsoft.com/office/drawing/2014/main" xmlns="" id="{E9E72ACF-7C4B-3247-896D-D6CDE3C1CEE4}"/>
                  </a:ext>
                </a:extLst>
              </p:cNvPr>
              <p:cNvSpPr txBox="1">
                <a:spLocks noChangeArrowheads="1"/>
              </p:cNvSpPr>
              <p:nvPr/>
            </p:nvSpPr>
            <p:spPr bwMode="auto">
              <a:xfrm>
                <a:off x="2154" y="3117"/>
                <a:ext cx="912"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charset="0"/>
                    <a:ea typeface="ＭＳ Ｐゴシック" charset="0"/>
                    <a:cs typeface="+mn-cs"/>
                  </a:rPr>
                  <a:t>sequence number</a:t>
                </a:r>
              </a:p>
            </p:txBody>
          </p:sp>
          <p:sp>
            <p:nvSpPr>
              <p:cNvPr id="314" name="Text Box 177">
                <a:extLst>
                  <a:ext uri="{FF2B5EF4-FFF2-40B4-BE49-F238E27FC236}">
                    <a16:creationId xmlns:a16="http://schemas.microsoft.com/office/drawing/2014/main" xmlns="" id="{4A1EA7EA-E261-2540-A61F-14F1D3C62770}"/>
                  </a:ext>
                </a:extLst>
              </p:cNvPr>
              <p:cNvSpPr txBox="1">
                <a:spLocks noChangeArrowheads="1"/>
              </p:cNvSpPr>
              <p:nvPr/>
            </p:nvSpPr>
            <p:spPr bwMode="auto">
              <a:xfrm>
                <a:off x="1976" y="3257"/>
                <a:ext cx="1252"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acknowledgement number</a:t>
                </a:r>
              </a:p>
            </p:txBody>
          </p:sp>
          <p:sp>
            <p:nvSpPr>
              <p:cNvPr id="315" name="Text Box 178">
                <a:extLst>
                  <a:ext uri="{FF2B5EF4-FFF2-40B4-BE49-F238E27FC236}">
                    <a16:creationId xmlns:a16="http://schemas.microsoft.com/office/drawing/2014/main" xmlns="" id="{14D444FC-B976-4B43-AF8C-651999F1EAD7}"/>
                  </a:ext>
                </a:extLst>
              </p:cNvPr>
              <p:cNvSpPr txBox="1">
                <a:spLocks noChangeArrowheads="1"/>
              </p:cNvSpPr>
              <p:nvPr/>
            </p:nvSpPr>
            <p:spPr bwMode="auto">
              <a:xfrm>
                <a:off x="2053" y="3544"/>
                <a:ext cx="475"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checksum</a:t>
                </a:r>
              </a:p>
            </p:txBody>
          </p:sp>
          <p:sp>
            <p:nvSpPr>
              <p:cNvPr id="316" name="Line 179">
                <a:extLst>
                  <a:ext uri="{FF2B5EF4-FFF2-40B4-BE49-F238E27FC236}">
                    <a16:creationId xmlns:a16="http://schemas.microsoft.com/office/drawing/2014/main" xmlns="" id="{03CA3683-10CF-2D45-855C-D741CB3E84FC}"/>
                  </a:ext>
                </a:extLst>
              </p:cNvPr>
              <p:cNvSpPr>
                <a:spLocks noChangeShapeType="1"/>
              </p:cNvSpPr>
              <p:nvPr/>
            </p:nvSpPr>
            <p:spPr bwMode="auto">
              <a:xfrm>
                <a:off x="1994" y="3138"/>
                <a:ext cx="121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7" name="Line 180">
                <a:extLst>
                  <a:ext uri="{FF2B5EF4-FFF2-40B4-BE49-F238E27FC236}">
                    <a16:creationId xmlns:a16="http://schemas.microsoft.com/office/drawing/2014/main" xmlns="" id="{4427CEC2-BFD3-0543-AAB5-E40DA49DCF81}"/>
                  </a:ext>
                </a:extLst>
              </p:cNvPr>
              <p:cNvSpPr>
                <a:spLocks noChangeShapeType="1"/>
              </p:cNvSpPr>
              <p:nvPr/>
            </p:nvSpPr>
            <p:spPr bwMode="auto">
              <a:xfrm>
                <a:off x="1994" y="3274"/>
                <a:ext cx="121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8" name="Line 181">
                <a:extLst>
                  <a:ext uri="{FF2B5EF4-FFF2-40B4-BE49-F238E27FC236}">
                    <a16:creationId xmlns:a16="http://schemas.microsoft.com/office/drawing/2014/main" xmlns="" id="{83A31360-0241-B24B-9A5B-5DF36A70BB1A}"/>
                  </a:ext>
                </a:extLst>
              </p:cNvPr>
              <p:cNvSpPr>
                <a:spLocks noChangeShapeType="1"/>
              </p:cNvSpPr>
              <p:nvPr/>
            </p:nvSpPr>
            <p:spPr bwMode="auto">
              <a:xfrm>
                <a:off x="1992" y="3414"/>
                <a:ext cx="121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9" name="Line 182">
                <a:extLst>
                  <a:ext uri="{FF2B5EF4-FFF2-40B4-BE49-F238E27FC236}">
                    <a16:creationId xmlns:a16="http://schemas.microsoft.com/office/drawing/2014/main" xmlns="" id="{E2E74D6E-689D-3E49-A5CA-1EB053F0D115}"/>
                  </a:ext>
                </a:extLst>
              </p:cNvPr>
              <p:cNvSpPr>
                <a:spLocks noChangeShapeType="1"/>
              </p:cNvSpPr>
              <p:nvPr/>
            </p:nvSpPr>
            <p:spPr bwMode="auto">
              <a:xfrm>
                <a:off x="2588" y="2994"/>
                <a:ext cx="0" cy="14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20" name="Line 183">
                <a:extLst>
                  <a:ext uri="{FF2B5EF4-FFF2-40B4-BE49-F238E27FC236}">
                    <a16:creationId xmlns:a16="http://schemas.microsoft.com/office/drawing/2014/main" xmlns="" id="{34408127-C1C4-5142-81BC-0772E406AF42}"/>
                  </a:ext>
                </a:extLst>
              </p:cNvPr>
              <p:cNvSpPr>
                <a:spLocks noChangeShapeType="1"/>
              </p:cNvSpPr>
              <p:nvPr/>
            </p:nvSpPr>
            <p:spPr bwMode="auto">
              <a:xfrm>
                <a:off x="2588" y="3416"/>
                <a:ext cx="0" cy="2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21" name="Line 184">
                <a:extLst>
                  <a:ext uri="{FF2B5EF4-FFF2-40B4-BE49-F238E27FC236}">
                    <a16:creationId xmlns:a16="http://schemas.microsoft.com/office/drawing/2014/main" xmlns="" id="{AF6C4EF8-1ED8-1A4B-B94D-F145C940A384}"/>
                  </a:ext>
                </a:extLst>
              </p:cNvPr>
              <p:cNvSpPr>
                <a:spLocks noChangeShapeType="1"/>
              </p:cNvSpPr>
              <p:nvPr/>
            </p:nvSpPr>
            <p:spPr bwMode="auto">
              <a:xfrm>
                <a:off x="1994" y="3548"/>
                <a:ext cx="121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22" name="Text Box 185">
                <a:extLst>
                  <a:ext uri="{FF2B5EF4-FFF2-40B4-BE49-F238E27FC236}">
                    <a16:creationId xmlns:a16="http://schemas.microsoft.com/office/drawing/2014/main" xmlns="" id="{8F8508CA-EE38-AF4E-A97C-1BE94735E56E}"/>
                  </a:ext>
                </a:extLst>
              </p:cNvPr>
              <p:cNvSpPr txBox="1">
                <a:spLocks noChangeArrowheads="1"/>
              </p:cNvSpPr>
              <p:nvPr/>
            </p:nvSpPr>
            <p:spPr bwMode="auto">
              <a:xfrm>
                <a:off x="2708" y="3390"/>
                <a:ext cx="323"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rwnd</a:t>
                </a:r>
              </a:p>
            </p:txBody>
          </p:sp>
          <p:sp>
            <p:nvSpPr>
              <p:cNvPr id="323" name="Text Box 186">
                <a:extLst>
                  <a:ext uri="{FF2B5EF4-FFF2-40B4-BE49-F238E27FC236}">
                    <a16:creationId xmlns:a16="http://schemas.microsoft.com/office/drawing/2014/main" xmlns="" id="{88BEC28D-C62B-B54E-A090-DF6809C9E835}"/>
                  </a:ext>
                </a:extLst>
              </p:cNvPr>
              <p:cNvSpPr txBox="1">
                <a:spLocks noChangeArrowheads="1"/>
              </p:cNvSpPr>
              <p:nvPr/>
            </p:nvSpPr>
            <p:spPr bwMode="auto">
              <a:xfrm>
                <a:off x="2651" y="3544"/>
                <a:ext cx="496"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urg pointer</a:t>
                </a:r>
              </a:p>
            </p:txBody>
          </p:sp>
          <p:sp>
            <p:nvSpPr>
              <p:cNvPr id="324" name="Line 187">
                <a:extLst>
                  <a:ext uri="{FF2B5EF4-FFF2-40B4-BE49-F238E27FC236}">
                    <a16:creationId xmlns:a16="http://schemas.microsoft.com/office/drawing/2014/main" xmlns="" id="{8CC1CABE-C086-144F-8F1F-A7D004A1EA6E}"/>
                  </a:ext>
                </a:extLst>
              </p:cNvPr>
              <p:cNvSpPr>
                <a:spLocks noChangeShapeType="1"/>
              </p:cNvSpPr>
              <p:nvPr/>
            </p:nvSpPr>
            <p:spPr bwMode="auto">
              <a:xfrm>
                <a:off x="2398" y="3413"/>
                <a:ext cx="0" cy="13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25" name="Line 188">
                <a:extLst>
                  <a:ext uri="{FF2B5EF4-FFF2-40B4-BE49-F238E27FC236}">
                    <a16:creationId xmlns:a16="http://schemas.microsoft.com/office/drawing/2014/main" xmlns="" id="{061C4173-FBA5-7749-BCE1-9EBD070DBA3D}"/>
                  </a:ext>
                </a:extLst>
              </p:cNvPr>
              <p:cNvSpPr>
                <a:spLocks noChangeShapeType="1"/>
              </p:cNvSpPr>
              <p:nvPr/>
            </p:nvSpPr>
            <p:spPr bwMode="auto">
              <a:xfrm>
                <a:off x="2143" y="3412"/>
                <a:ext cx="0" cy="13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08" name="Text Box 189">
              <a:extLst>
                <a:ext uri="{FF2B5EF4-FFF2-40B4-BE49-F238E27FC236}">
                  <a16:creationId xmlns:a16="http://schemas.microsoft.com/office/drawing/2014/main" xmlns="" id="{961ADE6B-9EA8-FA44-92C6-6941117B3BDE}"/>
                </a:ext>
              </a:extLst>
            </p:cNvPr>
            <p:cNvSpPr txBox="1">
              <a:spLocks noChangeArrowheads="1"/>
            </p:cNvSpPr>
            <p:nvPr/>
          </p:nvSpPr>
          <p:spPr bwMode="auto">
            <a:xfrm>
              <a:off x="2600" y="665"/>
              <a:ext cx="186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outgoing segment from sender</a:t>
              </a:r>
            </a:p>
          </p:txBody>
        </p:sp>
        <p:sp>
          <p:nvSpPr>
            <p:cNvPr id="309" name="Freeform 190">
              <a:extLst>
                <a:ext uri="{FF2B5EF4-FFF2-40B4-BE49-F238E27FC236}">
                  <a16:creationId xmlns:a16="http://schemas.microsoft.com/office/drawing/2014/main" xmlns="" id="{ECB9422A-F7AA-6143-8673-CA97EE9D620B}"/>
                </a:ext>
              </a:extLst>
            </p:cNvPr>
            <p:cNvSpPr>
              <a:spLocks/>
            </p:cNvSpPr>
            <p:nvPr/>
          </p:nvSpPr>
          <p:spPr bwMode="auto">
            <a:xfrm>
              <a:off x="4050" y="1080"/>
              <a:ext cx="107" cy="824"/>
            </a:xfrm>
            <a:custGeom>
              <a:avLst/>
              <a:gdLst>
                <a:gd name="T0" fmla="*/ 0 w 107"/>
                <a:gd name="T1" fmla="*/ 0 h 910"/>
                <a:gd name="T2" fmla="*/ 107 w 107"/>
                <a:gd name="T3" fmla="*/ 0 h 910"/>
                <a:gd name="T4" fmla="*/ 107 w 107"/>
                <a:gd name="T5" fmla="*/ 337 h 910"/>
                <a:gd name="T6" fmla="*/ 0 60000 65536"/>
                <a:gd name="T7" fmla="*/ 0 60000 65536"/>
                <a:gd name="T8" fmla="*/ 0 60000 65536"/>
              </a:gdLst>
              <a:ahLst/>
              <a:cxnLst>
                <a:cxn ang="T6">
                  <a:pos x="T0" y="T1"/>
                </a:cxn>
                <a:cxn ang="T7">
                  <a:pos x="T2" y="T3"/>
                </a:cxn>
                <a:cxn ang="T8">
                  <a:pos x="T4" y="T5"/>
                </a:cxn>
              </a:cxnLst>
              <a:rect l="0" t="0" r="r" b="b"/>
              <a:pathLst>
                <a:path w="107" h="910">
                  <a:moveTo>
                    <a:pt x="0" y="0"/>
                  </a:moveTo>
                  <a:lnTo>
                    <a:pt x="107" y="0"/>
                  </a:lnTo>
                  <a:lnTo>
                    <a:pt x="107" y="910"/>
                  </a:lnTo>
                </a:path>
              </a:pathLst>
            </a:custGeom>
            <a:noFill/>
            <a:ln w="952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07" name="Rectangle 5">
            <a:extLst>
              <a:ext uri="{FF2B5EF4-FFF2-40B4-BE49-F238E27FC236}">
                <a16:creationId xmlns:a16="http://schemas.microsoft.com/office/drawing/2014/main" xmlns="" id="{6C3FDCE7-5731-3B49-B3F0-A28BEE20C1DD}"/>
              </a:ext>
            </a:extLst>
          </p:cNvPr>
          <p:cNvSpPr txBox="1">
            <a:spLocks noChangeArrowheads="1"/>
          </p:cNvSpPr>
          <p:nvPr/>
        </p:nvSpPr>
        <p:spPr bwMode="auto">
          <a:xfrm>
            <a:off x="740571" y="2803512"/>
            <a:ext cx="5096669" cy="176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en-US" sz="28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Acknowledgements</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t>
            </a:r>
            <a:endPar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endParaRP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seq # of next byte expected from other side</a:t>
            </a: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cumulative ACK</a:t>
            </a:r>
          </a:p>
        </p:txBody>
      </p:sp>
      <p:sp>
        <p:nvSpPr>
          <p:cNvPr id="108" name="Rectangle 5">
            <a:extLst>
              <a:ext uri="{FF2B5EF4-FFF2-40B4-BE49-F238E27FC236}">
                <a16:creationId xmlns:a16="http://schemas.microsoft.com/office/drawing/2014/main" xmlns="" id="{845D3A7B-C2B2-5F46-AC88-0FE1A562E0B2}"/>
              </a:ext>
            </a:extLst>
          </p:cNvPr>
          <p:cNvSpPr txBox="1">
            <a:spLocks noChangeArrowheads="1"/>
          </p:cNvSpPr>
          <p:nvPr/>
        </p:nvSpPr>
        <p:spPr bwMode="auto">
          <a:xfrm>
            <a:off x="651671" y="4633906"/>
            <a:ext cx="5096669" cy="173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ts val="1900"/>
              </a:spcBef>
              <a:spcAft>
                <a:spcPct val="0"/>
              </a:spcAft>
              <a:buClr>
                <a:srgbClr val="000099"/>
              </a:buClr>
              <a:buSzPct val="100000"/>
              <a:buFont typeface="Wingdings" pitchFamily="2" charset="2"/>
              <a:buNone/>
              <a:tabLst/>
              <a:defRPr/>
            </a:pPr>
            <a:r>
              <a:rPr kumimoji="0" lang="en-US" altLang="en-US" sz="2800" b="0" i="1"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Q</a:t>
            </a:r>
            <a:r>
              <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 how receiver handles out-of-order segments</a:t>
            </a: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1" u="sng" strike="noStrike" kern="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A: </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TCP spec doesn</a:t>
            </a:r>
            <a:r>
              <a:rPr kumimoji="0" lang="en-US" altLang="ja-JP"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say, - up to implementor</a:t>
            </a:r>
            <a:endPar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09" name="Slide Number Placeholder 2">
            <a:extLst>
              <a:ext uri="{FF2B5EF4-FFF2-40B4-BE49-F238E27FC236}">
                <a16:creationId xmlns:a16="http://schemas.microsoft.com/office/drawing/2014/main" xmlns="" id="{471D7C94-F1DF-F240-884F-FBFDCBF8355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7</a:t>
            </a:fld>
            <a:endParaRPr lang="en-US" dirty="0"/>
          </a:p>
        </p:txBody>
      </p:sp>
    </p:spTree>
    <p:extLst>
      <p:ext uri="{BB962C8B-B14F-4D97-AF65-F5344CB8AC3E}">
        <p14:creationId xmlns:p14="http://schemas.microsoft.com/office/powerpoint/2010/main" val="1655807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5"/>
                                        </p:tgtEl>
                                        <p:attrNameLst>
                                          <p:attrName>style.visibility</p:attrName>
                                        </p:attrNameLst>
                                      </p:cBhvr>
                                      <p:to>
                                        <p:strVal val="visible"/>
                                      </p:to>
                                    </p:set>
                                    <p:animEffect transition="in" filter="dissolve">
                                      <p:cBhvr>
                                        <p:cTn id="7" dur="500"/>
                                        <p:tgtEl>
                                          <p:spTgt spid="30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4"/>
                                        </p:tgtEl>
                                        <p:attrNameLst>
                                          <p:attrName>style.visibility</p:attrName>
                                        </p:attrNameLst>
                                      </p:cBhvr>
                                      <p:to>
                                        <p:strVal val="visible"/>
                                      </p:to>
                                    </p:set>
                                    <p:animEffect transition="in" filter="dissolve">
                                      <p:cBhvr>
                                        <p:cTn id="12" dur="500"/>
                                        <p:tgtEl>
                                          <p:spTgt spid="224"/>
                                        </p:tgtEl>
                                      </p:cBhvr>
                                    </p:animEffect>
                                  </p:childTnLst>
                                </p:cTn>
                              </p:par>
                              <p:par>
                                <p:cTn id="13" presetID="9" presetClass="entr" presetSubtype="0" fill="hold" nodeType="withEffect">
                                  <p:stCondLst>
                                    <p:cond delay="0"/>
                                  </p:stCondLst>
                                  <p:childTnLst>
                                    <p:set>
                                      <p:cBhvr>
                                        <p:cTn id="14" dur="1" fill="hold">
                                          <p:stCondLst>
                                            <p:cond delay="0"/>
                                          </p:stCondLst>
                                        </p:cTn>
                                        <p:tgtEl>
                                          <p:spTgt spid="245"/>
                                        </p:tgtEl>
                                        <p:attrNameLst>
                                          <p:attrName>style.visibility</p:attrName>
                                        </p:attrNameLst>
                                      </p:cBhvr>
                                      <p:to>
                                        <p:strVal val="visible"/>
                                      </p:to>
                                    </p:set>
                                    <p:animEffect transition="in" filter="dissolve">
                                      <p:cBhvr>
                                        <p:cTn id="15" dur="500"/>
                                        <p:tgtEl>
                                          <p:spTgt spid="24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07"/>
                                        </p:tgtEl>
                                        <p:attrNameLst>
                                          <p:attrName>style.visibility</p:attrName>
                                        </p:attrNameLst>
                                      </p:cBhvr>
                                      <p:to>
                                        <p:strVal val="visible"/>
                                      </p:to>
                                    </p:set>
                                    <p:animEffect transition="in" filter="dissolve">
                                      <p:cBhvr>
                                        <p:cTn id="18" dur="500"/>
                                        <p:tgtEl>
                                          <p:spTgt spid="10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08"/>
                                        </p:tgtEl>
                                        <p:attrNameLst>
                                          <p:attrName>style.visibility</p:attrName>
                                        </p:attrNameLst>
                                      </p:cBhvr>
                                      <p:to>
                                        <p:strVal val="visible"/>
                                      </p:to>
                                    </p:set>
                                    <p:animEffect transition="in" filter="dissolve">
                                      <p:cBhvr>
                                        <p:cTn id="23"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10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sequence numbers, ACKs</a:t>
            </a:r>
            <a:endParaRPr lang="en-US" sz="4400" b="0" dirty="0"/>
          </a:p>
        </p:txBody>
      </p:sp>
      <p:sp>
        <p:nvSpPr>
          <p:cNvPr id="133" name="Text Box 8">
            <a:extLst>
              <a:ext uri="{FF2B5EF4-FFF2-40B4-BE49-F238E27FC236}">
                <a16:creationId xmlns:a16="http://schemas.microsoft.com/office/drawing/2014/main" xmlns="" id="{4BFA7F94-ECDC-4F4E-BAAE-2F377F89AF1C}"/>
              </a:ext>
            </a:extLst>
          </p:cNvPr>
          <p:cNvSpPr txBox="1">
            <a:spLocks noChangeArrowheads="1"/>
          </p:cNvSpPr>
          <p:nvPr/>
        </p:nvSpPr>
        <p:spPr bwMode="auto">
          <a:xfrm>
            <a:off x="1661117" y="4011734"/>
            <a:ext cx="2519185" cy="7571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host ACKs receipt of echoed </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4" name="Text Box 9">
            <a:extLst>
              <a:ext uri="{FF2B5EF4-FFF2-40B4-BE49-F238E27FC236}">
                <a16:creationId xmlns:a16="http://schemas.microsoft.com/office/drawing/2014/main" xmlns="" id="{6F6C270A-95D4-3B45-95CD-2E7A27820BF0}"/>
              </a:ext>
            </a:extLst>
          </p:cNvPr>
          <p:cNvSpPr txBox="1">
            <a:spLocks noChangeArrowheads="1"/>
          </p:cNvSpPr>
          <p:nvPr/>
        </p:nvSpPr>
        <p:spPr bwMode="auto">
          <a:xfrm>
            <a:off x="7229477" y="3001865"/>
            <a:ext cx="3187212"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host ACKs receipt of</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echoes </a:t>
            </a: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back </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6" name="Text Box 11">
            <a:extLst>
              <a:ext uri="{FF2B5EF4-FFF2-40B4-BE49-F238E27FC236}">
                <a16:creationId xmlns:a16="http://schemas.microsoft.com/office/drawing/2014/main" xmlns="" id="{7AB83FEF-E6C5-3C4E-8F11-410822AB937A}"/>
              </a:ext>
            </a:extLst>
          </p:cNvPr>
          <p:cNvSpPr txBox="1">
            <a:spLocks noChangeArrowheads="1"/>
          </p:cNvSpPr>
          <p:nvPr/>
        </p:nvSpPr>
        <p:spPr bwMode="auto">
          <a:xfrm>
            <a:off x="3961011" y="5644479"/>
            <a:ext cx="3401893"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0" cap="none" spc="0" normalizeH="0" baseline="0" noProof="0" dirty="0">
                <a:ln>
                  <a:noFill/>
                </a:ln>
                <a:solidFill>
                  <a:srgbClr val="000099"/>
                </a:solidFill>
                <a:effectLst/>
                <a:uLnTx/>
                <a:uFillTx/>
                <a:latin typeface="Calibri" panose="020F0502020204030204"/>
                <a:ea typeface="ＭＳ Ｐゴシック" charset="0"/>
                <a:cs typeface="+mn-cs"/>
              </a:rPr>
              <a:t>simple telnet scenario</a:t>
            </a:r>
            <a:endParaRPr kumimoji="0" lang="en-US" sz="1200" b="0" i="0" u="none" strike="noStrike" kern="0" cap="none" spc="0" normalizeH="0" baseline="0" noProof="0" dirty="0">
              <a:ln>
                <a:noFill/>
              </a:ln>
              <a:solidFill>
                <a:srgbClr val="000099"/>
              </a:solidFill>
              <a:effectLst/>
              <a:uLnTx/>
              <a:uFillTx/>
              <a:latin typeface="Calibri" panose="020F0502020204030204"/>
              <a:ea typeface="ＭＳ Ｐゴシック" charset="0"/>
              <a:cs typeface="+mn-cs"/>
            </a:endParaRPr>
          </a:p>
        </p:txBody>
      </p:sp>
      <p:sp>
        <p:nvSpPr>
          <p:cNvPr id="137" name="Text Box 13">
            <a:extLst>
              <a:ext uri="{FF2B5EF4-FFF2-40B4-BE49-F238E27FC236}">
                <a16:creationId xmlns:a16="http://schemas.microsoft.com/office/drawing/2014/main" xmlns="" id="{0851DEB2-88A4-C849-8DEA-02D53E9ABCBD}"/>
              </a:ext>
            </a:extLst>
          </p:cNvPr>
          <p:cNvSpPr txBox="1">
            <a:spLocks noChangeArrowheads="1"/>
          </p:cNvSpPr>
          <p:nvPr/>
        </p:nvSpPr>
        <p:spPr bwMode="auto">
          <a:xfrm>
            <a:off x="7129672" y="1492971"/>
            <a:ext cx="99738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B</a:t>
            </a:r>
          </a:p>
        </p:txBody>
      </p:sp>
      <p:sp>
        <p:nvSpPr>
          <p:cNvPr id="138" name="Text Box 17">
            <a:extLst>
              <a:ext uri="{FF2B5EF4-FFF2-40B4-BE49-F238E27FC236}">
                <a16:creationId xmlns:a16="http://schemas.microsoft.com/office/drawing/2014/main" xmlns="" id="{847A8C2E-C7AE-5B45-9FFE-DE39BC581384}"/>
              </a:ext>
            </a:extLst>
          </p:cNvPr>
          <p:cNvSpPr txBox="1">
            <a:spLocks noChangeArrowheads="1"/>
          </p:cNvSpPr>
          <p:nvPr/>
        </p:nvSpPr>
        <p:spPr bwMode="auto">
          <a:xfrm>
            <a:off x="3204390" y="1459336"/>
            <a:ext cx="100861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A</a:t>
            </a:r>
          </a:p>
        </p:txBody>
      </p:sp>
      <p:grpSp>
        <p:nvGrpSpPr>
          <p:cNvPr id="4" name="Group 3">
            <a:extLst>
              <a:ext uri="{FF2B5EF4-FFF2-40B4-BE49-F238E27FC236}">
                <a16:creationId xmlns:a16="http://schemas.microsoft.com/office/drawing/2014/main" xmlns="" id="{89152BC9-BFE2-2C4F-B7CF-DD705BF09468}"/>
              </a:ext>
            </a:extLst>
          </p:cNvPr>
          <p:cNvGrpSpPr/>
          <p:nvPr/>
        </p:nvGrpSpPr>
        <p:grpSpPr>
          <a:xfrm>
            <a:off x="1499000" y="2541021"/>
            <a:ext cx="5581275" cy="780392"/>
            <a:chOff x="1499000" y="2541021"/>
            <a:chExt cx="5581275" cy="780392"/>
          </a:xfrm>
        </p:grpSpPr>
        <p:sp>
          <p:nvSpPr>
            <p:cNvPr id="131" name="Line 4">
              <a:extLst>
                <a:ext uri="{FF2B5EF4-FFF2-40B4-BE49-F238E27FC236}">
                  <a16:creationId xmlns:a16="http://schemas.microsoft.com/office/drawing/2014/main" xmlns="" id="{4E48AD8B-7F93-B847-8494-F0B86AABA007}"/>
                </a:ext>
              </a:extLst>
            </p:cNvPr>
            <p:cNvSpPr>
              <a:spLocks noChangeShapeType="1"/>
            </p:cNvSpPr>
            <p:nvPr/>
          </p:nvSpPr>
          <p:spPr bwMode="auto">
            <a:xfrm>
              <a:off x="4354237" y="2749913"/>
              <a:ext cx="2586037"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32" name="Text Box 7">
              <a:extLst>
                <a:ext uri="{FF2B5EF4-FFF2-40B4-BE49-F238E27FC236}">
                  <a16:creationId xmlns:a16="http://schemas.microsoft.com/office/drawing/2014/main" xmlns="" id="{B9E9C219-DA90-8A41-A18D-4DF67A2B1B94}"/>
                </a:ext>
              </a:extLst>
            </p:cNvPr>
            <p:cNvSpPr txBox="1">
              <a:spLocks noChangeArrowheads="1"/>
            </p:cNvSpPr>
            <p:nvPr/>
          </p:nvSpPr>
          <p:spPr bwMode="auto">
            <a:xfrm>
              <a:off x="1499000" y="2541021"/>
              <a:ext cx="2725007" cy="4247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 types</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9" name="Rectangle 18">
              <a:extLst>
                <a:ext uri="{FF2B5EF4-FFF2-40B4-BE49-F238E27FC236}">
                  <a16:creationId xmlns:a16="http://schemas.microsoft.com/office/drawing/2014/main" xmlns="" id="{35BA661F-5A22-C84E-B47D-9147B3088598}"/>
                </a:ext>
              </a:extLst>
            </p:cNvPr>
            <p:cNvSpPr>
              <a:spLocks noChangeArrowheads="1"/>
            </p:cNvSpPr>
            <p:nvPr/>
          </p:nvSpPr>
          <p:spPr bwMode="auto">
            <a:xfrm>
              <a:off x="5167037" y="2841988"/>
              <a:ext cx="814387" cy="37941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40" name="Text Box 19">
              <a:extLst>
                <a:ext uri="{FF2B5EF4-FFF2-40B4-BE49-F238E27FC236}">
                  <a16:creationId xmlns:a16="http://schemas.microsoft.com/office/drawing/2014/main" xmlns="" id="{880D64B6-5AB7-0245-B925-5A511DDE93D7}"/>
                </a:ext>
              </a:extLst>
            </p:cNvPr>
            <p:cNvSpPr txBox="1">
              <a:spLocks noChangeArrowheads="1"/>
            </p:cNvSpPr>
            <p:nvPr/>
          </p:nvSpPr>
          <p:spPr bwMode="auto">
            <a:xfrm>
              <a:off x="4260272" y="2854620"/>
              <a:ext cx="2820003"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Seq=42, ACK=79, data = </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xmlns="" id="{30581A9F-48A7-D546-AB16-5A259024E309}"/>
              </a:ext>
            </a:extLst>
          </p:cNvPr>
          <p:cNvGrpSpPr/>
          <p:nvPr/>
        </p:nvGrpSpPr>
        <p:grpSpPr>
          <a:xfrm>
            <a:off x="4264368" y="3523026"/>
            <a:ext cx="2813399" cy="800100"/>
            <a:chOff x="4264368" y="3523026"/>
            <a:chExt cx="2813399" cy="800100"/>
          </a:xfrm>
        </p:grpSpPr>
        <p:sp>
          <p:nvSpPr>
            <p:cNvPr id="135" name="Line 10">
              <a:extLst>
                <a:ext uri="{FF2B5EF4-FFF2-40B4-BE49-F238E27FC236}">
                  <a16:creationId xmlns:a16="http://schemas.microsoft.com/office/drawing/2014/main" xmlns="" id="{7C681F4C-24E8-5D43-BE10-D3949F61CDFA}"/>
                </a:ext>
              </a:extLst>
            </p:cNvPr>
            <p:cNvSpPr>
              <a:spLocks noChangeShapeType="1"/>
            </p:cNvSpPr>
            <p:nvPr/>
          </p:nvSpPr>
          <p:spPr bwMode="auto">
            <a:xfrm flipH="1">
              <a:off x="4344712" y="3523026"/>
              <a:ext cx="2554287" cy="8001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41" name="Rectangle 20">
              <a:extLst>
                <a:ext uri="{FF2B5EF4-FFF2-40B4-BE49-F238E27FC236}">
                  <a16:creationId xmlns:a16="http://schemas.microsoft.com/office/drawing/2014/main" xmlns="" id="{E3E3363E-9511-1A43-912C-05D171708B3A}"/>
                </a:ext>
              </a:extLst>
            </p:cNvPr>
            <p:cNvSpPr>
              <a:spLocks noChangeArrowheads="1"/>
            </p:cNvSpPr>
            <p:nvPr/>
          </p:nvSpPr>
          <p:spPr bwMode="auto">
            <a:xfrm>
              <a:off x="5201962" y="3800838"/>
              <a:ext cx="823912" cy="2460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42" name="Text Box 21">
              <a:extLst>
                <a:ext uri="{FF2B5EF4-FFF2-40B4-BE49-F238E27FC236}">
                  <a16:creationId xmlns:a16="http://schemas.microsoft.com/office/drawing/2014/main" xmlns="" id="{18709FF4-595B-2F4F-9697-F2C14F760728}"/>
                </a:ext>
              </a:extLst>
            </p:cNvPr>
            <p:cNvSpPr txBox="1">
              <a:spLocks noChangeArrowheads="1"/>
            </p:cNvSpPr>
            <p:nvPr/>
          </p:nvSpPr>
          <p:spPr bwMode="auto">
            <a:xfrm>
              <a:off x="4264368" y="3736718"/>
              <a:ext cx="2813399"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Seq=79, ACK=43, data = </a:t>
              </a:r>
              <a:r>
                <a:rPr kumimoji="0" lang="ja-JP" altLang="en-US" sz="1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1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1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6" name="Group 5">
            <a:extLst>
              <a:ext uri="{FF2B5EF4-FFF2-40B4-BE49-F238E27FC236}">
                <a16:creationId xmlns:a16="http://schemas.microsoft.com/office/drawing/2014/main" xmlns="" id="{9A6C1350-9453-1E48-8790-F100F9587769}"/>
              </a:ext>
            </a:extLst>
          </p:cNvPr>
          <p:cNvGrpSpPr/>
          <p:nvPr/>
        </p:nvGrpSpPr>
        <p:grpSpPr>
          <a:xfrm>
            <a:off x="4339949" y="4518388"/>
            <a:ext cx="2590800" cy="506413"/>
            <a:chOff x="4339949" y="4518388"/>
            <a:chExt cx="2590800" cy="506413"/>
          </a:xfrm>
        </p:grpSpPr>
        <p:sp>
          <p:nvSpPr>
            <p:cNvPr id="130" name="Line 3">
              <a:extLst>
                <a:ext uri="{FF2B5EF4-FFF2-40B4-BE49-F238E27FC236}">
                  <a16:creationId xmlns:a16="http://schemas.microsoft.com/office/drawing/2014/main" xmlns="" id="{21939EAE-12FE-4B4B-8477-DA966E53E581}"/>
                </a:ext>
              </a:extLst>
            </p:cNvPr>
            <p:cNvSpPr>
              <a:spLocks noChangeShapeType="1"/>
            </p:cNvSpPr>
            <p:nvPr/>
          </p:nvSpPr>
          <p:spPr bwMode="auto">
            <a:xfrm>
              <a:off x="4339949" y="4518388"/>
              <a:ext cx="2590800" cy="50641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43" name="Rectangle 22">
              <a:extLst>
                <a:ext uri="{FF2B5EF4-FFF2-40B4-BE49-F238E27FC236}">
                  <a16:creationId xmlns:a16="http://schemas.microsoft.com/office/drawing/2014/main" xmlns="" id="{36373196-F0F3-9041-A157-0DFF0B56BE41}"/>
                </a:ext>
              </a:extLst>
            </p:cNvPr>
            <p:cNvSpPr>
              <a:spLocks noChangeArrowheads="1"/>
            </p:cNvSpPr>
            <p:nvPr/>
          </p:nvSpPr>
          <p:spPr bwMode="auto">
            <a:xfrm>
              <a:off x="5268637" y="4648563"/>
              <a:ext cx="958850" cy="3571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44" name="Text Box 23">
              <a:extLst>
                <a:ext uri="{FF2B5EF4-FFF2-40B4-BE49-F238E27FC236}">
                  <a16:creationId xmlns:a16="http://schemas.microsoft.com/office/drawing/2014/main" xmlns="" id="{2C94660D-0BE1-434B-85A6-BB22849908C7}"/>
                </a:ext>
              </a:extLst>
            </p:cNvPr>
            <p:cNvSpPr txBox="1">
              <a:spLocks noChangeArrowheads="1"/>
            </p:cNvSpPr>
            <p:nvPr/>
          </p:nvSpPr>
          <p:spPr bwMode="auto">
            <a:xfrm>
              <a:off x="4934710" y="4609843"/>
              <a:ext cx="171226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Seq=43, ACK=80</a:t>
              </a:r>
              <a:endParaRPr kumimoji="0" lang="en-US" sz="11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145" name="Line 24">
            <a:extLst>
              <a:ext uri="{FF2B5EF4-FFF2-40B4-BE49-F238E27FC236}">
                <a16:creationId xmlns:a16="http://schemas.microsoft.com/office/drawing/2014/main" xmlns="" id="{4198420A-33F5-1542-B39F-616C0F629FE7}"/>
              </a:ext>
            </a:extLst>
          </p:cNvPr>
          <p:cNvSpPr>
            <a:spLocks noChangeShapeType="1"/>
          </p:cNvSpPr>
          <p:nvPr/>
        </p:nvSpPr>
        <p:spPr bwMode="auto">
          <a:xfrm>
            <a:off x="4332012" y="2508613"/>
            <a:ext cx="0" cy="2587625"/>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46" name="Line 25">
            <a:extLst>
              <a:ext uri="{FF2B5EF4-FFF2-40B4-BE49-F238E27FC236}">
                <a16:creationId xmlns:a16="http://schemas.microsoft.com/office/drawing/2014/main" xmlns="" id="{C59AD6B4-1F7E-D046-AE58-B0A2143452E4}"/>
              </a:ext>
            </a:extLst>
          </p:cNvPr>
          <p:cNvSpPr>
            <a:spLocks noChangeShapeType="1"/>
          </p:cNvSpPr>
          <p:nvPr/>
        </p:nvSpPr>
        <p:spPr bwMode="auto">
          <a:xfrm>
            <a:off x="6994249" y="2561001"/>
            <a:ext cx="0" cy="2587625"/>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nvGrpSpPr>
          <p:cNvPr id="147" name="Group 27">
            <a:extLst>
              <a:ext uri="{FF2B5EF4-FFF2-40B4-BE49-F238E27FC236}">
                <a16:creationId xmlns:a16="http://schemas.microsoft.com/office/drawing/2014/main" xmlns="" id="{78A4C821-5D3D-F049-95FB-64A6C2EFC29B}"/>
              </a:ext>
            </a:extLst>
          </p:cNvPr>
          <p:cNvGrpSpPr>
            <a:grpSpLocks/>
          </p:cNvGrpSpPr>
          <p:nvPr/>
        </p:nvGrpSpPr>
        <p:grpSpPr bwMode="auto">
          <a:xfrm>
            <a:off x="3824012" y="1687876"/>
            <a:ext cx="755650" cy="782637"/>
            <a:chOff x="-44" y="1473"/>
            <a:chExt cx="981" cy="1105"/>
          </a:xfrm>
        </p:grpSpPr>
        <p:pic>
          <p:nvPicPr>
            <p:cNvPr id="148" name="Picture 28" descr="desktop_computer_stylized_medium">
              <a:extLst>
                <a:ext uri="{FF2B5EF4-FFF2-40B4-BE49-F238E27FC236}">
                  <a16:creationId xmlns:a16="http://schemas.microsoft.com/office/drawing/2014/main" xmlns="" id="{37E197D2-A990-E643-BBEF-3FDB8B30E8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 name="Freeform 29">
              <a:extLst>
                <a:ext uri="{FF2B5EF4-FFF2-40B4-BE49-F238E27FC236}">
                  <a16:creationId xmlns:a16="http://schemas.microsoft.com/office/drawing/2014/main" xmlns="" id="{B63C2E39-A8CB-1F4B-B3CA-E65FF2976D4E}"/>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150" name="Group 30">
            <a:extLst>
              <a:ext uri="{FF2B5EF4-FFF2-40B4-BE49-F238E27FC236}">
                <a16:creationId xmlns:a16="http://schemas.microsoft.com/office/drawing/2014/main" xmlns="" id="{AEA67504-808C-2C43-80AA-6BED564C9A22}"/>
              </a:ext>
            </a:extLst>
          </p:cNvPr>
          <p:cNvGrpSpPr>
            <a:grpSpLocks/>
          </p:cNvGrpSpPr>
          <p:nvPr/>
        </p:nvGrpSpPr>
        <p:grpSpPr bwMode="auto">
          <a:xfrm flipH="1">
            <a:off x="6686274" y="1727563"/>
            <a:ext cx="788988" cy="862013"/>
            <a:chOff x="-44" y="1473"/>
            <a:chExt cx="981" cy="1105"/>
          </a:xfrm>
        </p:grpSpPr>
        <p:pic>
          <p:nvPicPr>
            <p:cNvPr id="151" name="Picture 31" descr="desktop_computer_stylized_medium">
              <a:extLst>
                <a:ext uri="{FF2B5EF4-FFF2-40B4-BE49-F238E27FC236}">
                  <a16:creationId xmlns:a16="http://schemas.microsoft.com/office/drawing/2014/main" xmlns="" id="{0B37A6B2-9E4A-114B-85F9-5E3DF6205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 name="Freeform 32">
              <a:extLst>
                <a:ext uri="{FF2B5EF4-FFF2-40B4-BE49-F238E27FC236}">
                  <a16:creationId xmlns:a16="http://schemas.microsoft.com/office/drawing/2014/main" xmlns="" id="{100E17DE-5CEE-AB45-8E97-F0E8B661790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9" name="Group 8">
            <a:extLst>
              <a:ext uri="{FF2B5EF4-FFF2-40B4-BE49-F238E27FC236}">
                <a16:creationId xmlns:a16="http://schemas.microsoft.com/office/drawing/2014/main" xmlns="" id="{178778AE-4599-7841-B71E-D835F9A5393E}"/>
              </a:ext>
            </a:extLst>
          </p:cNvPr>
          <p:cNvGrpSpPr/>
          <p:nvPr/>
        </p:nvGrpSpPr>
        <p:grpSpPr>
          <a:xfrm>
            <a:off x="4692316" y="2815389"/>
            <a:ext cx="1388485" cy="1371600"/>
            <a:chOff x="4692316" y="2815389"/>
            <a:chExt cx="1388485" cy="1371600"/>
          </a:xfrm>
        </p:grpSpPr>
        <p:sp>
          <p:nvSpPr>
            <p:cNvPr id="3" name="Oval 2">
              <a:extLst>
                <a:ext uri="{FF2B5EF4-FFF2-40B4-BE49-F238E27FC236}">
                  <a16:creationId xmlns:a16="http://schemas.microsoft.com/office/drawing/2014/main" xmlns="" id="{AB715EF6-F294-3449-96CB-B6947A099ADE}"/>
                </a:ext>
              </a:extLst>
            </p:cNvPr>
            <p:cNvSpPr/>
            <p:nvPr/>
          </p:nvSpPr>
          <p:spPr>
            <a:xfrm>
              <a:off x="5566610" y="3721768"/>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1" name="Oval 30">
              <a:extLst>
                <a:ext uri="{FF2B5EF4-FFF2-40B4-BE49-F238E27FC236}">
                  <a16:creationId xmlns:a16="http://schemas.microsoft.com/office/drawing/2014/main" xmlns="" id="{7D783624-80C6-2148-8502-F1C29047872A}"/>
                </a:ext>
              </a:extLst>
            </p:cNvPr>
            <p:cNvSpPr/>
            <p:nvPr/>
          </p:nvSpPr>
          <p:spPr>
            <a:xfrm>
              <a:off x="4692316" y="2815389"/>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8" name="Straight Arrow Connector 7">
              <a:extLst>
                <a:ext uri="{FF2B5EF4-FFF2-40B4-BE49-F238E27FC236}">
                  <a16:creationId xmlns:a16="http://schemas.microsoft.com/office/drawing/2014/main" xmlns="" id="{907B7D31-A373-0B4B-A1B5-F4FD39A2F3C3}"/>
                </a:ext>
              </a:extLst>
            </p:cNvPr>
            <p:cNvCxnSpPr/>
            <p:nvPr/>
          </p:nvCxnSpPr>
          <p:spPr>
            <a:xfrm flipH="1" flipV="1">
              <a:off x="5117431" y="3224463"/>
              <a:ext cx="513348" cy="513348"/>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xmlns="" id="{A45AF06C-D673-CA4F-A51B-93240818CB9A}"/>
              </a:ext>
            </a:extLst>
          </p:cNvPr>
          <p:cNvGrpSpPr/>
          <p:nvPr/>
        </p:nvGrpSpPr>
        <p:grpSpPr>
          <a:xfrm>
            <a:off x="4684295" y="3737810"/>
            <a:ext cx="1982043" cy="1307432"/>
            <a:chOff x="4692316" y="2815389"/>
            <a:chExt cx="1982043" cy="1307432"/>
          </a:xfrm>
        </p:grpSpPr>
        <p:sp>
          <p:nvSpPr>
            <p:cNvPr id="36" name="Oval 35">
              <a:extLst>
                <a:ext uri="{FF2B5EF4-FFF2-40B4-BE49-F238E27FC236}">
                  <a16:creationId xmlns:a16="http://schemas.microsoft.com/office/drawing/2014/main" xmlns="" id="{6B1B5065-4044-F742-9CE7-C6C1E51A71E8}"/>
                </a:ext>
              </a:extLst>
            </p:cNvPr>
            <p:cNvSpPr/>
            <p:nvPr/>
          </p:nvSpPr>
          <p:spPr>
            <a:xfrm>
              <a:off x="6160168" y="3657600"/>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7" name="Oval 36">
              <a:extLst>
                <a:ext uri="{FF2B5EF4-FFF2-40B4-BE49-F238E27FC236}">
                  <a16:creationId xmlns:a16="http://schemas.microsoft.com/office/drawing/2014/main" xmlns="" id="{C5F4BEC1-9A8B-BA47-BC77-A5A357B8A4B6}"/>
                </a:ext>
              </a:extLst>
            </p:cNvPr>
            <p:cNvSpPr/>
            <p:nvPr/>
          </p:nvSpPr>
          <p:spPr>
            <a:xfrm>
              <a:off x="4692316" y="2815389"/>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38" name="Straight Arrow Connector 37">
              <a:extLst>
                <a:ext uri="{FF2B5EF4-FFF2-40B4-BE49-F238E27FC236}">
                  <a16:creationId xmlns:a16="http://schemas.microsoft.com/office/drawing/2014/main" xmlns="" id="{1894C7DC-0B9B-5648-ACEB-7945930EE55B}"/>
                </a:ext>
              </a:extLst>
            </p:cNvPr>
            <p:cNvCxnSpPr>
              <a:cxnSpLocks/>
            </p:cNvCxnSpPr>
            <p:nvPr/>
          </p:nvCxnSpPr>
          <p:spPr>
            <a:xfrm flipH="1" flipV="1">
              <a:off x="5165557" y="3224463"/>
              <a:ext cx="970548" cy="521369"/>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39" name="Slide Number Placeholder 2">
            <a:extLst>
              <a:ext uri="{FF2B5EF4-FFF2-40B4-BE49-F238E27FC236}">
                <a16:creationId xmlns:a16="http://schemas.microsoft.com/office/drawing/2014/main" xmlns="" id="{951C5C48-402B-A744-B23C-9DA42D7A6E17}"/>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8</a:t>
            </a:fld>
            <a:endParaRPr lang="en-US" dirty="0"/>
          </a:p>
        </p:txBody>
      </p:sp>
    </p:spTree>
    <p:extLst>
      <p:ext uri="{BB962C8B-B14F-4D97-AF65-F5344CB8AC3E}">
        <p14:creationId xmlns:p14="http://schemas.microsoft.com/office/powerpoint/2010/main" val="2677503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4"/>
                                        </p:tgtEl>
                                        <p:attrNameLst>
                                          <p:attrName>style.visibility</p:attrName>
                                        </p:attrNameLst>
                                      </p:cBhvr>
                                      <p:to>
                                        <p:strVal val="visible"/>
                                      </p:to>
                                    </p:set>
                                    <p:animEffect transition="in" filter="dissolve">
                                      <p:cBhvr>
                                        <p:cTn id="11" dur="500"/>
                                        <p:tgtEl>
                                          <p:spTgt spid="134"/>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righ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33"/>
                                        </p:tgtEl>
                                        <p:attrNameLst>
                                          <p:attrName>style.visibility</p:attrName>
                                        </p:attrNameLst>
                                      </p:cBhvr>
                                      <p:to>
                                        <p:strVal val="visible"/>
                                      </p:to>
                                    </p:set>
                                    <p:animEffect transition="in" filter="dissolve">
                                      <p:cBhvr>
                                        <p:cTn id="19" dur="500"/>
                                        <p:tgtEl>
                                          <p:spTgt spid="133"/>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dissolv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xit" presetSubtype="0" fill="hold" nodeType="clickEffect">
                                  <p:stCondLst>
                                    <p:cond delay="0"/>
                                  </p:stCondLst>
                                  <p:childTnLst>
                                    <p:animEffect transition="out" filter="dissolve">
                                      <p:cBhvr>
                                        <p:cTn id="32" dur="500"/>
                                        <p:tgtEl>
                                          <p:spTgt spid="9"/>
                                        </p:tgtEl>
                                      </p:cBhvr>
                                    </p:animEffect>
                                    <p:set>
                                      <p:cBhvr>
                                        <p:cTn id="33" dur="1" fill="hold">
                                          <p:stCondLst>
                                            <p:cond delay="499"/>
                                          </p:stCondLst>
                                        </p:cTn>
                                        <p:tgtEl>
                                          <p:spTgt spid="9"/>
                                        </p:tgtEl>
                                        <p:attrNameLst>
                                          <p:attrName>style.visibility</p:attrName>
                                        </p:attrNameLst>
                                      </p:cBhvr>
                                      <p:to>
                                        <p:strVal val="hidden"/>
                                      </p:to>
                                    </p:set>
                                  </p:childTnLst>
                                </p:cTn>
                              </p:par>
                              <p:par>
                                <p:cTn id="34" presetID="9" presetClass="entr" presetSubtype="0" fill="hold"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dissolve">
                                      <p:cBhvr>
                                        <p:cTn id="3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p:bldP spid="1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round trip time, timeout</a:t>
            </a:r>
            <a:endParaRPr lang="en-US" sz="4400" b="0" dirty="0"/>
          </a:p>
        </p:txBody>
      </p:sp>
      <p:sp>
        <p:nvSpPr>
          <p:cNvPr id="29" name="Rectangle 1027">
            <a:extLst>
              <a:ext uri="{FF2B5EF4-FFF2-40B4-BE49-F238E27FC236}">
                <a16:creationId xmlns:a16="http://schemas.microsoft.com/office/drawing/2014/main" xmlns="" id="{E2121436-377D-9943-817E-B014539AAB14}"/>
              </a:ext>
            </a:extLst>
          </p:cNvPr>
          <p:cNvSpPr txBox="1">
            <a:spLocks noChangeArrowheads="1"/>
          </p:cNvSpPr>
          <p:nvPr/>
        </p:nvSpPr>
        <p:spPr>
          <a:xfrm>
            <a:off x="673789" y="1393136"/>
            <a:ext cx="5213444"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1" u="sng" strike="noStrike" kern="1200" cap="none" spc="0" normalizeH="0" baseline="0" noProof="0" dirty="0">
                <a:ln>
                  <a:noFill/>
                </a:ln>
                <a:solidFill>
                  <a:srgbClr val="C00000"/>
                </a:solidFill>
                <a:effectLst/>
                <a:uLnTx/>
                <a:uFillTx/>
                <a:latin typeface="Calibri" panose="020F0502020204030204"/>
                <a:ea typeface="+mn-ea"/>
                <a:cs typeface="+mn-cs"/>
              </a:rPr>
              <a:t>Q:</a:t>
            </a:r>
            <a:r>
              <a:rPr kumimoji="0" lang="en-US" sz="3200" b="0" i="1"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how to set TCP timeout value?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longer than RTT, but RTT varies!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too short:</a:t>
            </a: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premature timeout, unnecessary retransmissions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too long:</a:t>
            </a: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slow reaction to segment loss</a:t>
            </a:r>
          </a:p>
        </p:txBody>
      </p:sp>
      <p:sp>
        <p:nvSpPr>
          <p:cNvPr id="30" name="Rectangle 1028">
            <a:extLst>
              <a:ext uri="{FF2B5EF4-FFF2-40B4-BE49-F238E27FC236}">
                <a16:creationId xmlns:a16="http://schemas.microsoft.com/office/drawing/2014/main" xmlns="" id="{EBDCCB72-DE33-3D44-BBEA-E4C6F08C3D8E}"/>
              </a:ext>
            </a:extLst>
          </p:cNvPr>
          <p:cNvSpPr txBox="1">
            <a:spLocks noChangeArrowheads="1"/>
          </p:cNvSpPr>
          <p:nvPr/>
        </p:nvSpPr>
        <p:spPr>
          <a:xfrm>
            <a:off x="6258838" y="1393136"/>
            <a:ext cx="5565913"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sng"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Q</a:t>
            </a:r>
            <a:r>
              <a:rPr kumimoji="0" lang="en-US" altLang="en-US" sz="3200" b="0" i="0" u="sng"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a:t>
            </a: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how to estimate RTT?</a:t>
            </a:r>
          </a:p>
          <a:p>
            <a:pPr marL="352425" marR="0" lvl="0" indent="-2222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000099"/>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SampleRTT: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measured time from segment transmission until ACK receipt</a:t>
            </a: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ignore retransmissions</a:t>
            </a:r>
          </a:p>
          <a:p>
            <a:pPr marL="352425" marR="0" lvl="0" indent="-2222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0000A3"/>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SampleRTT</a:t>
            </a:r>
            <a:r>
              <a:rPr kumimoji="0" lang="en-US" altLang="en-US" sz="2800" b="0" i="0" u="none" strike="noStrike" kern="1200" cap="none" spc="0" normalizeH="0" baseline="0" noProof="0" dirty="0">
                <a:ln>
                  <a:noFill/>
                </a:ln>
                <a:solidFill>
                  <a:srgbClr val="0000A8"/>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will vary, want estimated RTT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smoother</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endPar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average several </a:t>
            </a:r>
            <a:r>
              <a:rPr kumimoji="0" lang="en-US" altLang="en-US" sz="24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recent</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measurements, not just current </a:t>
            </a:r>
            <a:r>
              <a:rPr kumimoji="0" lang="en-US" altLang="en-US" sz="2400" b="0" i="0" u="none" strike="noStrike" kern="1200" cap="none" spc="0" normalizeH="0" baseline="0" noProof="0" dirty="0">
                <a:ln>
                  <a:noFill/>
                </a:ln>
                <a:solidFill>
                  <a:srgbClr val="0000A3"/>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SampleRTT</a:t>
            </a:r>
          </a:p>
        </p:txBody>
      </p:sp>
      <p:sp>
        <p:nvSpPr>
          <p:cNvPr id="5" name="Slide Number Placeholder 2">
            <a:extLst>
              <a:ext uri="{FF2B5EF4-FFF2-40B4-BE49-F238E27FC236}">
                <a16:creationId xmlns:a16="http://schemas.microsoft.com/office/drawing/2014/main" xmlns="" id="{969C69A2-4389-474B-8FF4-E0D66DDE428E}"/>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9</a:t>
            </a:fld>
            <a:endParaRPr lang="en-US" dirty="0"/>
          </a:p>
        </p:txBody>
      </p:sp>
    </p:spTree>
    <p:extLst>
      <p:ext uri="{BB962C8B-B14F-4D97-AF65-F5344CB8AC3E}">
        <p14:creationId xmlns:p14="http://schemas.microsoft.com/office/powerpoint/2010/main" val="414990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xmlns="" id="{3F844AE2-7CBB-B241-ABD8-7F7D48828D4B}"/>
              </a:ext>
            </a:extLst>
          </p:cNvPr>
          <p:cNvSpPr/>
          <p:nvPr/>
        </p:nvSpPr>
        <p:spPr>
          <a:xfrm>
            <a:off x="876300" y="1261543"/>
            <a:ext cx="8974869" cy="46166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round trip time, timeout</a:t>
            </a:r>
            <a:endParaRPr lang="en-US" sz="4400" b="0" dirty="0"/>
          </a:p>
        </p:txBody>
      </p:sp>
      <p:sp>
        <p:nvSpPr>
          <p:cNvPr id="28" name="Text Box 3">
            <a:extLst>
              <a:ext uri="{FF2B5EF4-FFF2-40B4-BE49-F238E27FC236}">
                <a16:creationId xmlns:a16="http://schemas.microsoft.com/office/drawing/2014/main" xmlns="" id="{6466E19A-B1DF-1A42-B002-F49CA04A4C03}"/>
              </a:ext>
            </a:extLst>
          </p:cNvPr>
          <p:cNvSpPr txBox="1">
            <a:spLocks noChangeArrowheads="1"/>
          </p:cNvSpPr>
          <p:nvPr/>
        </p:nvSpPr>
        <p:spPr bwMode="auto">
          <a:xfrm>
            <a:off x="876300" y="1246817"/>
            <a:ext cx="905247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EstimatedRTT = (1- </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)*EstimatedRTT + </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*SampleRTT</a:t>
            </a:r>
          </a:p>
        </p:txBody>
      </p:sp>
      <p:sp>
        <p:nvSpPr>
          <p:cNvPr id="31" name="Rectangle 4">
            <a:extLst>
              <a:ext uri="{FF2B5EF4-FFF2-40B4-BE49-F238E27FC236}">
                <a16:creationId xmlns:a16="http://schemas.microsoft.com/office/drawing/2014/main" xmlns="" id="{4A4474B4-4EC5-0C4B-8B43-3433BA1CD706}"/>
              </a:ext>
            </a:extLst>
          </p:cNvPr>
          <p:cNvSpPr>
            <a:spLocks noChangeArrowheads="1"/>
          </p:cNvSpPr>
          <p:nvPr/>
        </p:nvSpPr>
        <p:spPr bwMode="auto">
          <a:xfrm>
            <a:off x="951602" y="1857328"/>
            <a:ext cx="7067550" cy="142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292100" marR="0" lvl="0" indent="-2921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e</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xponential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w</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eighted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m</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oving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a</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verage (EWMA)</a:t>
            </a:r>
          </a:p>
          <a:p>
            <a:pPr marL="292100" marR="0" lvl="0" indent="-2921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influence of past sample decreases exponentially fast</a:t>
            </a:r>
          </a:p>
          <a:p>
            <a:pPr marL="292100" marR="0" lvl="0" indent="-2921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typical value: </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sym typeface="Symbol" charset="0"/>
              </a:rPr>
              <a:t> </a:t>
            </a:r>
            <a:r>
              <a:rPr kumimoji="0" lang="en-US" sz="2400" b="1"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sym typeface="Symbol" charset="0"/>
              </a:rPr>
              <a:t>=</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0.125</a:t>
            </a:r>
          </a:p>
        </p:txBody>
      </p:sp>
      <p:grpSp>
        <p:nvGrpSpPr>
          <p:cNvPr id="5" name="Group 4">
            <a:extLst>
              <a:ext uri="{FF2B5EF4-FFF2-40B4-BE49-F238E27FC236}">
                <a16:creationId xmlns:a16="http://schemas.microsoft.com/office/drawing/2014/main" xmlns="" id="{F081A723-2F83-4149-BCD6-BF02F3F3BE24}"/>
              </a:ext>
            </a:extLst>
          </p:cNvPr>
          <p:cNvGrpSpPr/>
          <p:nvPr/>
        </p:nvGrpSpPr>
        <p:grpSpPr>
          <a:xfrm>
            <a:off x="4673229" y="2443135"/>
            <a:ext cx="6448425" cy="4292600"/>
            <a:chOff x="1531938" y="2565400"/>
            <a:chExt cx="6448425" cy="4292600"/>
          </a:xfrm>
        </p:grpSpPr>
        <p:grpSp>
          <p:nvGrpSpPr>
            <p:cNvPr id="25" name="Group 14">
              <a:extLst>
                <a:ext uri="{FF2B5EF4-FFF2-40B4-BE49-F238E27FC236}">
                  <a16:creationId xmlns:a16="http://schemas.microsoft.com/office/drawing/2014/main" xmlns="" id="{B47CB747-71BF-F246-8D51-35EDB4E56B20}"/>
                </a:ext>
              </a:extLst>
            </p:cNvPr>
            <p:cNvGrpSpPr>
              <a:grpSpLocks/>
            </p:cNvGrpSpPr>
            <p:nvPr/>
          </p:nvGrpSpPr>
          <p:grpSpPr bwMode="auto">
            <a:xfrm>
              <a:off x="1708150" y="2565400"/>
              <a:ext cx="6272213" cy="4292600"/>
              <a:chOff x="782" y="1865"/>
              <a:chExt cx="3951" cy="2704"/>
            </a:xfrm>
          </p:grpSpPr>
          <p:pic>
            <p:nvPicPr>
              <p:cNvPr id="26" name="Picture 12">
                <a:extLst>
                  <a:ext uri="{FF2B5EF4-FFF2-40B4-BE49-F238E27FC236}">
                    <a16:creationId xmlns:a16="http://schemas.microsoft.com/office/drawing/2014/main" xmlns="" id="{1B79C964-96AD-AA4A-B4CF-C6377C29E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 y="1865"/>
                <a:ext cx="3951" cy="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13">
                <a:extLst>
                  <a:ext uri="{FF2B5EF4-FFF2-40B4-BE49-F238E27FC236}">
                    <a16:creationId xmlns:a16="http://schemas.microsoft.com/office/drawing/2014/main" xmlns="" id="{92FABEFD-E51C-0A49-A008-5D94B930D232}"/>
                  </a:ext>
                </a:extLst>
              </p:cNvPr>
              <p:cNvSpPr>
                <a:spLocks noChangeArrowheads="1"/>
              </p:cNvSpPr>
              <p:nvPr/>
            </p:nvSpPr>
            <p:spPr bwMode="auto">
              <a:xfrm>
                <a:off x="2070" y="1926"/>
                <a:ext cx="1404" cy="16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2" name="Text Box 18">
              <a:extLst>
                <a:ext uri="{FF2B5EF4-FFF2-40B4-BE49-F238E27FC236}">
                  <a16:creationId xmlns:a16="http://schemas.microsoft.com/office/drawing/2014/main" xmlns="" id="{F9CA757D-88CC-BF41-8C8F-6A16BC6C043B}"/>
                </a:ext>
              </a:extLst>
            </p:cNvPr>
            <p:cNvSpPr txBox="1">
              <a:spLocks noChangeArrowheads="1"/>
            </p:cNvSpPr>
            <p:nvPr/>
          </p:nvSpPr>
          <p:spPr bwMode="auto">
            <a:xfrm rot="10800000">
              <a:off x="1531938" y="3535363"/>
              <a:ext cx="428625" cy="17478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RTT (milliseconds)</a:t>
              </a:r>
            </a:p>
          </p:txBody>
        </p:sp>
        <p:sp>
          <p:nvSpPr>
            <p:cNvPr id="33" name="Text Box 19">
              <a:extLst>
                <a:ext uri="{FF2B5EF4-FFF2-40B4-BE49-F238E27FC236}">
                  <a16:creationId xmlns:a16="http://schemas.microsoft.com/office/drawing/2014/main" xmlns="" id="{5783915F-0896-D04A-9D0B-BE930F53923F}"/>
                </a:ext>
              </a:extLst>
            </p:cNvPr>
            <p:cNvSpPr txBox="1">
              <a:spLocks noChangeArrowheads="1"/>
            </p:cNvSpPr>
            <p:nvPr/>
          </p:nvSpPr>
          <p:spPr bwMode="auto">
            <a:xfrm>
              <a:off x="2265363" y="3168650"/>
              <a:ext cx="386715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RTT:</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gaia.cs.umass.edu</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to</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fantasia.eurecom.fr</a:t>
              </a:r>
            </a:p>
          </p:txBody>
        </p:sp>
        <p:sp>
          <p:nvSpPr>
            <p:cNvPr id="34" name="Text Box 20">
              <a:extLst>
                <a:ext uri="{FF2B5EF4-FFF2-40B4-BE49-F238E27FC236}">
                  <a16:creationId xmlns:a16="http://schemas.microsoft.com/office/drawing/2014/main" xmlns="" id="{FDF3CC5E-05FF-9348-AFEA-B37BF0709D00}"/>
                </a:ext>
              </a:extLst>
            </p:cNvPr>
            <p:cNvSpPr txBox="1">
              <a:spLocks noChangeArrowheads="1"/>
            </p:cNvSpPr>
            <p:nvPr/>
          </p:nvSpPr>
          <p:spPr bwMode="auto">
            <a:xfrm>
              <a:off x="6221413" y="5230813"/>
              <a:ext cx="11811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sampleRTT</a:t>
              </a:r>
            </a:p>
          </p:txBody>
        </p:sp>
        <p:sp>
          <p:nvSpPr>
            <p:cNvPr id="35" name="Text Box 21">
              <a:extLst>
                <a:ext uri="{FF2B5EF4-FFF2-40B4-BE49-F238E27FC236}">
                  <a16:creationId xmlns:a16="http://schemas.microsoft.com/office/drawing/2014/main" xmlns="" id="{F17B9932-059C-5C46-AFDC-5141617F4B50}"/>
                </a:ext>
              </a:extLst>
            </p:cNvPr>
            <p:cNvSpPr txBox="1">
              <a:spLocks noChangeArrowheads="1"/>
            </p:cNvSpPr>
            <p:nvPr/>
          </p:nvSpPr>
          <p:spPr bwMode="auto">
            <a:xfrm>
              <a:off x="6215063" y="5548313"/>
              <a:ext cx="1431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EstimatedRTT</a:t>
              </a:r>
            </a:p>
          </p:txBody>
        </p:sp>
        <p:sp>
          <p:nvSpPr>
            <p:cNvPr id="36" name="AutoShape 22">
              <a:extLst>
                <a:ext uri="{FF2B5EF4-FFF2-40B4-BE49-F238E27FC236}">
                  <a16:creationId xmlns:a16="http://schemas.microsoft.com/office/drawing/2014/main" xmlns="" id="{5C984DD6-69E3-6841-B32A-69B38C890B14}"/>
                </a:ext>
              </a:extLst>
            </p:cNvPr>
            <p:cNvSpPr>
              <a:spLocks noChangeArrowheads="1"/>
            </p:cNvSpPr>
            <p:nvPr/>
          </p:nvSpPr>
          <p:spPr bwMode="auto">
            <a:xfrm>
              <a:off x="6005513" y="5343525"/>
              <a:ext cx="147637" cy="142875"/>
            </a:xfrm>
            <a:prstGeom prst="diamond">
              <a:avLst/>
            </a:prstGeom>
            <a:solidFill>
              <a:srgbClr val="00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7" name="AutoShape 23">
              <a:extLst>
                <a:ext uri="{FF2B5EF4-FFF2-40B4-BE49-F238E27FC236}">
                  <a16:creationId xmlns:a16="http://schemas.microsoft.com/office/drawing/2014/main" xmlns="" id="{949FCF6B-A257-E540-8887-09B596633DCF}"/>
                </a:ext>
              </a:extLst>
            </p:cNvPr>
            <p:cNvSpPr>
              <a:spLocks noChangeArrowheads="1"/>
            </p:cNvSpPr>
            <p:nvPr/>
          </p:nvSpPr>
          <p:spPr bwMode="auto">
            <a:xfrm rot="2776382">
              <a:off x="6011069" y="5633244"/>
              <a:ext cx="147637" cy="142875"/>
            </a:xfrm>
            <a:prstGeom prst="diamond">
              <a:avLst/>
            </a:prstGeom>
            <a:solidFill>
              <a:srgbClr val="FF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8" name="Rectangle 24">
              <a:extLst>
                <a:ext uri="{FF2B5EF4-FFF2-40B4-BE49-F238E27FC236}">
                  <a16:creationId xmlns:a16="http://schemas.microsoft.com/office/drawing/2014/main" xmlns="" id="{1C4D877B-9F3D-6342-9DFB-B8DAC5F2E1C6}"/>
                </a:ext>
              </a:extLst>
            </p:cNvPr>
            <p:cNvSpPr>
              <a:spLocks noChangeArrowheads="1"/>
            </p:cNvSpPr>
            <p:nvPr/>
          </p:nvSpPr>
          <p:spPr bwMode="auto">
            <a:xfrm>
              <a:off x="4108450" y="6389688"/>
              <a:ext cx="1863725" cy="46831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9" name="Group 15">
              <a:extLst>
                <a:ext uri="{FF2B5EF4-FFF2-40B4-BE49-F238E27FC236}">
                  <a16:creationId xmlns:a16="http://schemas.microsoft.com/office/drawing/2014/main" xmlns="" id="{46A7C35C-F55E-D448-9F19-A868DE731AA0}"/>
                </a:ext>
              </a:extLst>
            </p:cNvPr>
            <p:cNvGrpSpPr>
              <a:grpSpLocks/>
            </p:cNvGrpSpPr>
            <p:nvPr/>
          </p:nvGrpSpPr>
          <p:grpSpPr bwMode="auto">
            <a:xfrm>
              <a:off x="4041775" y="6386513"/>
              <a:ext cx="1512888" cy="336550"/>
              <a:chOff x="2343" y="3645"/>
              <a:chExt cx="953" cy="212"/>
            </a:xfrm>
          </p:grpSpPr>
          <p:sp>
            <p:nvSpPr>
              <p:cNvPr id="40" name="Rectangle 16">
                <a:extLst>
                  <a:ext uri="{FF2B5EF4-FFF2-40B4-BE49-F238E27FC236}">
                    <a16:creationId xmlns:a16="http://schemas.microsoft.com/office/drawing/2014/main" xmlns="" id="{76A5B688-5F66-A646-903E-26608C06EFAA}"/>
                  </a:ext>
                </a:extLst>
              </p:cNvPr>
              <p:cNvSpPr>
                <a:spLocks noChangeArrowheads="1"/>
              </p:cNvSpPr>
              <p:nvPr/>
            </p:nvSpPr>
            <p:spPr bwMode="auto">
              <a:xfrm>
                <a:off x="2592" y="3695"/>
                <a:ext cx="527" cy="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 name="Text Box 17">
                <a:extLst>
                  <a:ext uri="{FF2B5EF4-FFF2-40B4-BE49-F238E27FC236}">
                    <a16:creationId xmlns:a16="http://schemas.microsoft.com/office/drawing/2014/main" xmlns="" id="{9530FDC0-AF61-1C41-8AC4-6B29BC1A8D3C}"/>
                  </a:ext>
                </a:extLst>
              </p:cNvPr>
              <p:cNvSpPr txBox="1">
                <a:spLocks noChangeArrowheads="1"/>
              </p:cNvSpPr>
              <p:nvPr/>
            </p:nvSpPr>
            <p:spPr bwMode="auto">
              <a:xfrm>
                <a:off x="2343" y="3645"/>
                <a:ext cx="953"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time (seconds)</a:t>
                </a:r>
              </a:p>
            </p:txBody>
          </p:sp>
        </p:grpSp>
      </p:grpSp>
      <p:sp>
        <p:nvSpPr>
          <p:cNvPr id="20" name="Slide Number Placeholder 2">
            <a:extLst>
              <a:ext uri="{FF2B5EF4-FFF2-40B4-BE49-F238E27FC236}">
                <a16:creationId xmlns:a16="http://schemas.microsoft.com/office/drawing/2014/main" xmlns="" id="{80D2031C-D174-0C4C-B2D2-3D6ED624031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10</a:t>
            </a:fld>
            <a:endParaRPr lang="en-US" dirty="0"/>
          </a:p>
        </p:txBody>
      </p:sp>
    </p:spTree>
    <p:extLst>
      <p:ext uri="{BB962C8B-B14F-4D97-AF65-F5344CB8AC3E}">
        <p14:creationId xmlns:p14="http://schemas.microsoft.com/office/powerpoint/2010/main" val="3889836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round trip time, timeout</a:t>
            </a:r>
            <a:endParaRPr lang="en-US" sz="4400" b="0" dirty="0"/>
          </a:p>
        </p:txBody>
      </p:sp>
      <p:sp>
        <p:nvSpPr>
          <p:cNvPr id="59" name="Rectangle 5">
            <a:extLst>
              <a:ext uri="{FF2B5EF4-FFF2-40B4-BE49-F238E27FC236}">
                <a16:creationId xmlns:a16="http://schemas.microsoft.com/office/drawing/2014/main" xmlns="" id="{818E497C-5ADD-8648-BF4A-762A1B89120F}"/>
              </a:ext>
            </a:extLst>
          </p:cNvPr>
          <p:cNvSpPr txBox="1">
            <a:spLocks noChangeArrowheads="1"/>
          </p:cNvSpPr>
          <p:nvPr/>
        </p:nvSpPr>
        <p:spPr>
          <a:xfrm>
            <a:off x="635138" y="1537841"/>
            <a:ext cx="11327678" cy="112916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timeout interval:</a:t>
            </a:r>
            <a:r>
              <a:rPr kumimoji="0" lang="en-US" altLang="en-US" sz="2800" b="1"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EstimatedRTT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plus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safety margin”</a:t>
            </a:r>
          </a:p>
          <a:p>
            <a:pPr marL="695325" marR="0" lvl="1" indent="-231775" algn="l" defTabSz="914400" rtl="0" eaLnBrk="1" fontAlgn="auto" latinLnBrk="0" hangingPunct="1">
              <a:lnSpc>
                <a:spcPct val="90000"/>
              </a:lnSpc>
              <a:spcBef>
                <a:spcPts val="10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large variation in  </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EstimatedRTT: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want a larger safety margin</a:t>
            </a:r>
          </a:p>
        </p:txBody>
      </p:sp>
      <p:grpSp>
        <p:nvGrpSpPr>
          <p:cNvPr id="5" name="Group 4">
            <a:extLst>
              <a:ext uri="{FF2B5EF4-FFF2-40B4-BE49-F238E27FC236}">
                <a16:creationId xmlns:a16="http://schemas.microsoft.com/office/drawing/2014/main" xmlns="" id="{98DFD149-D3B6-7049-8FD3-A4E0D481C064}"/>
              </a:ext>
            </a:extLst>
          </p:cNvPr>
          <p:cNvGrpSpPr/>
          <p:nvPr/>
        </p:nvGrpSpPr>
        <p:grpSpPr>
          <a:xfrm>
            <a:off x="1061454" y="2679700"/>
            <a:ext cx="9532485" cy="1193800"/>
            <a:chOff x="858254" y="2667000"/>
            <a:chExt cx="9532485" cy="1193800"/>
          </a:xfrm>
        </p:grpSpPr>
        <p:sp>
          <p:nvSpPr>
            <p:cNvPr id="70" name="Rectangle 69">
              <a:extLst>
                <a:ext uri="{FF2B5EF4-FFF2-40B4-BE49-F238E27FC236}">
                  <a16:creationId xmlns:a16="http://schemas.microsoft.com/office/drawing/2014/main" xmlns="" id="{6D78BD41-D638-4D4B-B561-317912C0037E}"/>
                </a:ext>
              </a:extLst>
            </p:cNvPr>
            <p:cNvSpPr/>
            <p:nvPr/>
          </p:nvSpPr>
          <p:spPr>
            <a:xfrm>
              <a:off x="858254" y="2667000"/>
              <a:ext cx="9532485" cy="46166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2" name="Rectangle 13">
              <a:extLst>
                <a:ext uri="{FF2B5EF4-FFF2-40B4-BE49-F238E27FC236}">
                  <a16:creationId xmlns:a16="http://schemas.microsoft.com/office/drawing/2014/main" xmlns="" id="{13338CC9-61FA-4847-87D5-4B4830DB87F4}"/>
                </a:ext>
              </a:extLst>
            </p:cNvPr>
            <p:cNvSpPr>
              <a:spLocks noChangeArrowheads="1"/>
            </p:cNvSpPr>
            <p:nvPr/>
          </p:nvSpPr>
          <p:spPr bwMode="auto">
            <a:xfrm>
              <a:off x="859979" y="2701243"/>
              <a:ext cx="7918450"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TimeoutInterval = EstimatedRTT + 4*DevRTT</a:t>
              </a:r>
            </a:p>
          </p:txBody>
        </p:sp>
        <p:sp>
          <p:nvSpPr>
            <p:cNvPr id="63" name="Text Box 14">
              <a:extLst>
                <a:ext uri="{FF2B5EF4-FFF2-40B4-BE49-F238E27FC236}">
                  <a16:creationId xmlns:a16="http://schemas.microsoft.com/office/drawing/2014/main" xmlns="" id="{29ECD817-A810-F04B-85CA-8D6E49B8D6DC}"/>
                </a:ext>
              </a:extLst>
            </p:cNvPr>
            <p:cNvSpPr txBox="1">
              <a:spLocks noChangeArrowheads="1"/>
            </p:cNvSpPr>
            <p:nvPr/>
          </p:nvSpPr>
          <p:spPr bwMode="auto">
            <a:xfrm>
              <a:off x="4304854" y="3442606"/>
              <a:ext cx="1811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99"/>
                  </a:solidFill>
                  <a:effectLst/>
                  <a:uLnTx/>
                  <a:uFillTx/>
                  <a:latin typeface="Tahoma" charset="0"/>
                  <a:ea typeface="ＭＳ Ｐゴシック" charset="0"/>
                  <a:cs typeface="+mn-cs"/>
                </a:rPr>
                <a:t>estimated RTT</a:t>
              </a:r>
            </a:p>
          </p:txBody>
        </p:sp>
        <p:sp>
          <p:nvSpPr>
            <p:cNvPr id="64" name="Text Box 16">
              <a:extLst>
                <a:ext uri="{FF2B5EF4-FFF2-40B4-BE49-F238E27FC236}">
                  <a16:creationId xmlns:a16="http://schemas.microsoft.com/office/drawing/2014/main" xmlns="" id="{B6E79AC7-559E-CA4D-B400-169E15D6448A}"/>
                </a:ext>
              </a:extLst>
            </p:cNvPr>
            <p:cNvSpPr txBox="1">
              <a:spLocks noChangeArrowheads="1"/>
            </p:cNvSpPr>
            <p:nvPr/>
          </p:nvSpPr>
          <p:spPr bwMode="auto">
            <a:xfrm>
              <a:off x="6736904" y="3461656"/>
              <a:ext cx="1917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a:t>
              </a:r>
              <a:r>
                <a:rPr kumimoji="0" lang="en-US" altLang="ja-JP" sz="2000" b="0" i="0" u="none" strike="noStrike" kern="1200" cap="none" spc="0" normalizeH="0" baseline="0" noProof="0" dirty="0">
                  <a:ln>
                    <a:noFill/>
                  </a:ln>
                  <a:solidFill>
                    <a:srgbClr val="000099"/>
                  </a:solidFill>
                  <a:effectLst/>
                  <a:uLnTx/>
                  <a:uFillTx/>
                  <a:latin typeface="Tahoma" panose="020B0604030504040204" pitchFamily="34" charset="0"/>
                  <a:ea typeface="ＭＳ Ｐゴシック" panose="020B0600070205080204" pitchFamily="34" charset="-128"/>
                  <a:cs typeface="+mn-cs"/>
                </a:rPr>
                <a:t>safety margin</a:t>
              </a:r>
              <a:r>
                <a:rPr kumimoji="0" lang="ja-JP"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a:t>
              </a:r>
              <a:endParaRPr kumimoji="0" lang="en-US" altLang="en-US" sz="2000" b="0" i="0" u="none" strike="noStrike" kern="1200" cap="none" spc="0" normalizeH="0" baseline="0" noProof="0" dirty="0">
                <a:ln>
                  <a:noFill/>
                </a:ln>
                <a:solidFill>
                  <a:srgbClr val="000099"/>
                </a:solidFill>
                <a:effectLst/>
                <a:uLnTx/>
                <a:uFillTx/>
                <a:latin typeface="Tahoma" panose="020B0604030504040204" pitchFamily="34" charset="0"/>
                <a:ea typeface="ＭＳ Ｐゴシック" panose="020B0600070205080204" pitchFamily="34" charset="-128"/>
                <a:cs typeface="+mn-cs"/>
              </a:endParaRPr>
            </a:p>
          </p:txBody>
        </p:sp>
        <p:sp>
          <p:nvSpPr>
            <p:cNvPr id="65" name="Line 17">
              <a:extLst>
                <a:ext uri="{FF2B5EF4-FFF2-40B4-BE49-F238E27FC236}">
                  <a16:creationId xmlns:a16="http://schemas.microsoft.com/office/drawing/2014/main" xmlns="" id="{FF049043-4FEA-C546-ADC2-E314E7D23CA5}"/>
                </a:ext>
              </a:extLst>
            </p:cNvPr>
            <p:cNvSpPr>
              <a:spLocks noChangeShapeType="1"/>
            </p:cNvSpPr>
            <p:nvPr/>
          </p:nvSpPr>
          <p:spPr bwMode="auto">
            <a:xfrm flipV="1">
              <a:off x="5101779" y="3082243"/>
              <a:ext cx="0" cy="446088"/>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66" name="Line 19">
              <a:extLst>
                <a:ext uri="{FF2B5EF4-FFF2-40B4-BE49-F238E27FC236}">
                  <a16:creationId xmlns:a16="http://schemas.microsoft.com/office/drawing/2014/main" xmlns="" id="{F55903EC-FD0A-654A-913F-52F13FFBE690}"/>
                </a:ext>
              </a:extLst>
            </p:cNvPr>
            <p:cNvSpPr>
              <a:spLocks noChangeShapeType="1"/>
            </p:cNvSpPr>
            <p:nvPr/>
          </p:nvSpPr>
          <p:spPr bwMode="auto">
            <a:xfrm flipV="1">
              <a:off x="7673529" y="3088593"/>
              <a:ext cx="0" cy="446088"/>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pic>
          <p:nvPicPr>
            <p:cNvPr id="67" name="Picture 20" descr="alarm_clock_ringing">
              <a:extLst>
                <a:ext uri="{FF2B5EF4-FFF2-40B4-BE49-F238E27FC236}">
                  <a16:creationId xmlns:a16="http://schemas.microsoft.com/office/drawing/2014/main" xmlns="" id="{DF906935-706B-2B43-B876-CAD3FE51C7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5043" y="3238052"/>
              <a:ext cx="646558" cy="622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8" name="TextBox 1">
            <a:extLst>
              <a:ext uri="{FF2B5EF4-FFF2-40B4-BE49-F238E27FC236}">
                <a16:creationId xmlns:a16="http://schemas.microsoft.com/office/drawing/2014/main" xmlns="" id="{04CEDEED-587A-DF46-A338-0F70AC9A28A9}"/>
              </a:ext>
            </a:extLst>
          </p:cNvPr>
          <p:cNvSpPr txBox="1">
            <a:spLocks noChangeArrowheads="1"/>
          </p:cNvSpPr>
          <p:nvPr/>
        </p:nvSpPr>
        <p:spPr bwMode="auto">
          <a:xfrm>
            <a:off x="876300" y="6343507"/>
            <a:ext cx="100186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Check out the online interactive exercises for more examples: h</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ttp://gaia.cs.umass.edu/kurose_ross/interactive/</a:t>
            </a:r>
          </a:p>
        </p:txBody>
      </p:sp>
      <p:grpSp>
        <p:nvGrpSpPr>
          <p:cNvPr id="4" name="Group 3">
            <a:extLst>
              <a:ext uri="{FF2B5EF4-FFF2-40B4-BE49-F238E27FC236}">
                <a16:creationId xmlns:a16="http://schemas.microsoft.com/office/drawing/2014/main" xmlns="" id="{32E77073-7604-A04F-8597-12BF5941CCE7}"/>
              </a:ext>
            </a:extLst>
          </p:cNvPr>
          <p:cNvGrpSpPr/>
          <p:nvPr/>
        </p:nvGrpSpPr>
        <p:grpSpPr>
          <a:xfrm>
            <a:off x="1304479" y="4827690"/>
            <a:ext cx="10446405" cy="940044"/>
            <a:chOff x="1837879" y="3151290"/>
            <a:chExt cx="10446405" cy="940044"/>
          </a:xfrm>
        </p:grpSpPr>
        <p:sp>
          <p:nvSpPr>
            <p:cNvPr id="69" name="Rectangle 68">
              <a:extLst>
                <a:ext uri="{FF2B5EF4-FFF2-40B4-BE49-F238E27FC236}">
                  <a16:creationId xmlns:a16="http://schemas.microsoft.com/office/drawing/2014/main" xmlns="" id="{6D88E7C6-ABA1-FA45-A2D5-10F964EB5DB8}"/>
                </a:ext>
              </a:extLst>
            </p:cNvPr>
            <p:cNvSpPr/>
            <p:nvPr/>
          </p:nvSpPr>
          <p:spPr>
            <a:xfrm>
              <a:off x="1837879" y="3151290"/>
              <a:ext cx="9532486" cy="52228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Text Box 7">
              <a:extLst>
                <a:ext uri="{FF2B5EF4-FFF2-40B4-BE49-F238E27FC236}">
                  <a16:creationId xmlns:a16="http://schemas.microsoft.com/office/drawing/2014/main" xmlns="" id="{2F6AE672-95B4-DF44-B435-567781B49E2D}"/>
                </a:ext>
              </a:extLst>
            </p:cNvPr>
            <p:cNvSpPr txBox="1">
              <a:spLocks noChangeArrowheads="1"/>
            </p:cNvSpPr>
            <p:nvPr/>
          </p:nvSpPr>
          <p:spPr bwMode="auto">
            <a:xfrm>
              <a:off x="1837879" y="3151831"/>
              <a:ext cx="1001864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ＭＳ Ｐゴシック" charset="0"/>
                  <a:cs typeface="+mn-cs"/>
                </a:rPr>
                <a:t>DevRTT = </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(1-</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)*DevRTT + </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*|SampleRTT-EstimatedRTT|</a:t>
              </a:r>
            </a:p>
          </p:txBody>
        </p:sp>
        <p:sp>
          <p:nvSpPr>
            <p:cNvPr id="61" name="Text Box 12">
              <a:extLst>
                <a:ext uri="{FF2B5EF4-FFF2-40B4-BE49-F238E27FC236}">
                  <a16:creationId xmlns:a16="http://schemas.microsoft.com/office/drawing/2014/main" xmlns="" id="{D33A459F-5B30-B942-A281-437341BBF16B}"/>
                </a:ext>
              </a:extLst>
            </p:cNvPr>
            <p:cNvSpPr txBox="1">
              <a:spLocks noChangeArrowheads="1"/>
            </p:cNvSpPr>
            <p:nvPr/>
          </p:nvSpPr>
          <p:spPr bwMode="auto">
            <a:xfrm>
              <a:off x="8898147" y="3694459"/>
              <a:ext cx="3386137"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(typically, </a:t>
              </a:r>
              <a:r>
                <a:rPr kumimoji="0" lang="en-US" sz="2000" b="0"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0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 </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sym typeface="Symbol" charset="0"/>
                </a:rPr>
                <a:t>= 0.25)</a:t>
              </a:r>
            </a:p>
          </p:txBody>
        </p:sp>
      </p:grpSp>
      <p:sp>
        <p:nvSpPr>
          <p:cNvPr id="16" name="Rectangle 5">
            <a:extLst>
              <a:ext uri="{FF2B5EF4-FFF2-40B4-BE49-F238E27FC236}">
                <a16:creationId xmlns:a16="http://schemas.microsoft.com/office/drawing/2014/main" xmlns="" id="{4DBD9BE8-0206-984D-9734-DB015980BF63}"/>
              </a:ext>
            </a:extLst>
          </p:cNvPr>
          <p:cNvSpPr txBox="1">
            <a:spLocks noChangeArrowheads="1"/>
          </p:cNvSpPr>
          <p:nvPr/>
        </p:nvSpPr>
        <p:spPr>
          <a:xfrm>
            <a:off x="660538" y="4192141"/>
            <a:ext cx="11327678" cy="54496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DevRTT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EWMA of </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SampleRTT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deviation from </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EstimatedRTT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p>
        </p:txBody>
      </p:sp>
      <p:sp>
        <p:nvSpPr>
          <p:cNvPr id="18" name="Slide Number Placeholder 2">
            <a:extLst>
              <a:ext uri="{FF2B5EF4-FFF2-40B4-BE49-F238E27FC236}">
                <a16:creationId xmlns:a16="http://schemas.microsoft.com/office/drawing/2014/main" xmlns="" id="{0FC6F86E-C16B-C949-B055-1DD32A860108}"/>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11</a:t>
            </a:fld>
            <a:endParaRPr lang="en-US" dirty="0"/>
          </a:p>
        </p:txBody>
      </p:sp>
    </p:spTree>
    <p:extLst>
      <p:ext uri="{BB962C8B-B14F-4D97-AF65-F5344CB8AC3E}">
        <p14:creationId xmlns:p14="http://schemas.microsoft.com/office/powerpoint/2010/main" val="1392302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Sender </a:t>
            </a:r>
            <a:r>
              <a:rPr lang="en-US" sz="3600" dirty="0"/>
              <a:t>(simplified)</a:t>
            </a:r>
            <a:endParaRPr lang="en-US" sz="4400" b="0" dirty="0"/>
          </a:p>
        </p:txBody>
      </p:sp>
      <p:sp>
        <p:nvSpPr>
          <p:cNvPr id="6" name="Rectangle 3">
            <a:extLst>
              <a:ext uri="{FF2B5EF4-FFF2-40B4-BE49-F238E27FC236}">
                <a16:creationId xmlns:a16="http://schemas.microsoft.com/office/drawing/2014/main" xmlns="" id="{93E50F9F-34A2-434D-9CCF-7D058EEE958D}"/>
              </a:ext>
            </a:extLst>
          </p:cNvPr>
          <p:cNvSpPr txBox="1">
            <a:spLocks noChangeArrowheads="1"/>
          </p:cNvSpPr>
          <p:nvPr/>
        </p:nvSpPr>
        <p:spPr>
          <a:xfrm>
            <a:off x="798690" y="1384386"/>
            <a:ext cx="4953000"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event: data received from application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create segment with seq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seq # is byte-stream number of first data byte in  segment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start timer if not already running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think of timer as for oldest unACKed segment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expiration interval: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TimeOutInterval</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4">
            <a:extLst>
              <a:ext uri="{FF2B5EF4-FFF2-40B4-BE49-F238E27FC236}">
                <a16:creationId xmlns:a16="http://schemas.microsoft.com/office/drawing/2014/main" xmlns="" id="{DA35D0F5-641B-DD43-98AE-2CF2FD980706}"/>
              </a:ext>
            </a:extLst>
          </p:cNvPr>
          <p:cNvSpPr txBox="1">
            <a:spLocks noChangeArrowheads="1"/>
          </p:cNvSpPr>
          <p:nvPr/>
        </p:nvSpPr>
        <p:spPr>
          <a:xfrm>
            <a:off x="6728208" y="1446144"/>
            <a:ext cx="3810000" cy="1943100"/>
          </a:xfrm>
          <a:prstGeom prst="rect">
            <a:avLst/>
          </a:prstGeom>
        </p:spPr>
        <p:txBody>
          <a:bodyPr vert="horz" lIns="91440" tIns="45720" rIns="91440" bIns="45720" rtlCol="0">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000" b="0" i="1" u="none" strike="noStrike" kern="1200" cap="none" spc="0" normalizeH="0" baseline="0" noProof="0" dirty="0">
                <a:ln>
                  <a:noFill/>
                </a:ln>
                <a:solidFill>
                  <a:srgbClr val="CC0000"/>
                </a:solidFill>
                <a:effectLst/>
                <a:uLnTx/>
                <a:uFillTx/>
                <a:latin typeface="Calibri" panose="020F0502020204030204"/>
                <a:ea typeface="+mn-ea"/>
                <a:cs typeface="+mn-cs"/>
              </a:rPr>
              <a:t>event: timeout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retransmit segment that caused timeout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restart timer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
        <p:nvSpPr>
          <p:cNvPr id="8" name="Rectangle 4">
            <a:extLst>
              <a:ext uri="{FF2B5EF4-FFF2-40B4-BE49-F238E27FC236}">
                <a16:creationId xmlns:a16="http://schemas.microsoft.com/office/drawing/2014/main" xmlns="" id="{7626FEA2-2ED1-6640-83D4-E13C73302CE0}"/>
              </a:ext>
            </a:extLst>
          </p:cNvPr>
          <p:cNvSpPr txBox="1">
            <a:spLocks noChangeArrowheads="1"/>
          </p:cNvSpPr>
          <p:nvPr/>
        </p:nvSpPr>
        <p:spPr>
          <a:xfrm>
            <a:off x="6728208" y="3392552"/>
            <a:ext cx="4920453" cy="319377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event: ACK received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if ACK acknowledges previously unACKed segments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update what is known to be ACKed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start timer if there are  still unACKed segments</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lide Number Placeholder 2">
            <a:extLst>
              <a:ext uri="{FF2B5EF4-FFF2-40B4-BE49-F238E27FC236}">
                <a16:creationId xmlns:a16="http://schemas.microsoft.com/office/drawing/2014/main" xmlns="" id="{F7A5BD9A-E49F-7E4D-A1AC-729448A7B15E}"/>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12</a:t>
            </a:fld>
            <a:endParaRPr lang="en-US" dirty="0"/>
          </a:p>
        </p:txBody>
      </p:sp>
    </p:spTree>
    <p:extLst>
      <p:ext uri="{BB962C8B-B14F-4D97-AF65-F5344CB8AC3E}">
        <p14:creationId xmlns:p14="http://schemas.microsoft.com/office/powerpoint/2010/main" val="4220746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retransmission scenarios</a:t>
            </a:r>
            <a:endParaRPr lang="en-US" sz="4400" b="0" dirty="0"/>
          </a:p>
        </p:txBody>
      </p:sp>
      <p:sp>
        <p:nvSpPr>
          <p:cNvPr id="169" name="Text Box 105">
            <a:extLst>
              <a:ext uri="{FF2B5EF4-FFF2-40B4-BE49-F238E27FC236}">
                <a16:creationId xmlns:a16="http://schemas.microsoft.com/office/drawing/2014/main" xmlns="" id="{BFF25F7B-7978-5140-B991-E71AA865A711}"/>
              </a:ext>
            </a:extLst>
          </p:cNvPr>
          <p:cNvSpPr txBox="1">
            <a:spLocks noChangeArrowheads="1"/>
          </p:cNvSpPr>
          <p:nvPr/>
        </p:nvSpPr>
        <p:spPr bwMode="auto">
          <a:xfrm>
            <a:off x="2236856" y="5873422"/>
            <a:ext cx="1922463"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lost ACK scenario</a:t>
            </a:r>
            <a:endParaRPr kumimoji="0" lang="en-US" sz="10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3" name="Text Box 107">
            <a:extLst>
              <a:ext uri="{FF2B5EF4-FFF2-40B4-BE49-F238E27FC236}">
                <a16:creationId xmlns:a16="http://schemas.microsoft.com/office/drawing/2014/main" xmlns="" id="{F3A3ACB5-362A-6544-B734-58B0D301B082}"/>
              </a:ext>
            </a:extLst>
          </p:cNvPr>
          <p:cNvSpPr txBox="1">
            <a:spLocks noChangeArrowheads="1"/>
          </p:cNvSpPr>
          <p:nvPr/>
        </p:nvSpPr>
        <p:spPr bwMode="auto">
          <a:xfrm>
            <a:off x="3970406" y="1183947"/>
            <a:ext cx="77311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174" name="Text Box 111">
            <a:extLst>
              <a:ext uri="{FF2B5EF4-FFF2-40B4-BE49-F238E27FC236}">
                <a16:creationId xmlns:a16="http://schemas.microsoft.com/office/drawing/2014/main" xmlns="" id="{C335325B-B5CF-6043-990C-413A908C3855}"/>
              </a:ext>
            </a:extLst>
          </p:cNvPr>
          <p:cNvSpPr txBox="1">
            <a:spLocks noChangeArrowheads="1"/>
          </p:cNvSpPr>
          <p:nvPr/>
        </p:nvSpPr>
        <p:spPr bwMode="auto">
          <a:xfrm>
            <a:off x="1636781" y="1201410"/>
            <a:ext cx="776288"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grpSp>
        <p:nvGrpSpPr>
          <p:cNvPr id="4" name="Group 3">
            <a:extLst>
              <a:ext uri="{FF2B5EF4-FFF2-40B4-BE49-F238E27FC236}">
                <a16:creationId xmlns:a16="http://schemas.microsoft.com/office/drawing/2014/main" xmlns="" id="{47AB30F9-BD3F-264E-8DF5-3B4B9CA352A7}"/>
              </a:ext>
            </a:extLst>
          </p:cNvPr>
          <p:cNvGrpSpPr/>
          <p:nvPr/>
        </p:nvGrpSpPr>
        <p:grpSpPr>
          <a:xfrm>
            <a:off x="2032069" y="2342822"/>
            <a:ext cx="2346325" cy="571500"/>
            <a:chOff x="2032069" y="2342822"/>
            <a:chExt cx="2346325" cy="571500"/>
          </a:xfrm>
        </p:grpSpPr>
        <p:sp>
          <p:nvSpPr>
            <p:cNvPr id="171" name="Line 100">
              <a:extLst>
                <a:ext uri="{FF2B5EF4-FFF2-40B4-BE49-F238E27FC236}">
                  <a16:creationId xmlns:a16="http://schemas.microsoft.com/office/drawing/2014/main" xmlns="" id="{9BCB851E-085B-9D4B-8A34-064757F2C932}"/>
                </a:ext>
              </a:extLst>
            </p:cNvPr>
            <p:cNvSpPr>
              <a:spLocks noChangeShapeType="1"/>
            </p:cNvSpPr>
            <p:nvPr/>
          </p:nvSpPr>
          <p:spPr bwMode="auto">
            <a:xfrm>
              <a:off x="2032069" y="2342822"/>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5" name="Rectangle 112">
              <a:extLst>
                <a:ext uri="{FF2B5EF4-FFF2-40B4-BE49-F238E27FC236}">
                  <a16:creationId xmlns:a16="http://schemas.microsoft.com/office/drawing/2014/main" xmlns="" id="{B9ED3E7B-3C38-A24B-9528-FA547DDE0CDC}"/>
                </a:ext>
              </a:extLst>
            </p:cNvPr>
            <p:cNvSpPr>
              <a:spLocks noChangeArrowheads="1"/>
            </p:cNvSpPr>
            <p:nvPr/>
          </p:nvSpPr>
          <p:spPr bwMode="auto">
            <a:xfrm>
              <a:off x="2735331" y="2423785"/>
              <a:ext cx="869950" cy="4016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6" name="Text Box 113">
              <a:extLst>
                <a:ext uri="{FF2B5EF4-FFF2-40B4-BE49-F238E27FC236}">
                  <a16:creationId xmlns:a16="http://schemas.microsoft.com/office/drawing/2014/main" xmlns="" id="{08010453-6652-E348-AC57-7E9E8D356969}"/>
                </a:ext>
              </a:extLst>
            </p:cNvPr>
            <p:cNvSpPr txBox="1">
              <a:spLocks noChangeArrowheads="1"/>
            </p:cNvSpPr>
            <p:nvPr/>
          </p:nvSpPr>
          <p:spPr bwMode="auto">
            <a:xfrm>
              <a:off x="2176531" y="2476172"/>
              <a:ext cx="208597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grpSp>
      <p:sp>
        <p:nvSpPr>
          <p:cNvPr id="179" name="Line 118">
            <a:extLst>
              <a:ext uri="{FF2B5EF4-FFF2-40B4-BE49-F238E27FC236}">
                <a16:creationId xmlns:a16="http://schemas.microsoft.com/office/drawing/2014/main" xmlns="" id="{5429E427-16E3-344A-A034-DAE0253AB97D}"/>
              </a:ext>
            </a:extLst>
          </p:cNvPr>
          <p:cNvSpPr>
            <a:spLocks noChangeShapeType="1"/>
          </p:cNvSpPr>
          <p:nvPr/>
        </p:nvSpPr>
        <p:spPr bwMode="auto">
          <a:xfrm>
            <a:off x="2011431" y="2101522"/>
            <a:ext cx="0" cy="3525838"/>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0" name="Line 119">
            <a:extLst>
              <a:ext uri="{FF2B5EF4-FFF2-40B4-BE49-F238E27FC236}">
                <a16:creationId xmlns:a16="http://schemas.microsoft.com/office/drawing/2014/main" xmlns="" id="{B685EEAE-4766-CE43-A2A6-32288A3FE5E9}"/>
              </a:ext>
            </a:extLst>
          </p:cNvPr>
          <p:cNvSpPr>
            <a:spLocks noChangeShapeType="1"/>
          </p:cNvSpPr>
          <p:nvPr/>
        </p:nvSpPr>
        <p:spPr bwMode="auto">
          <a:xfrm>
            <a:off x="4438719" y="2096760"/>
            <a:ext cx="0" cy="353853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8" name="Group 7">
            <a:extLst>
              <a:ext uri="{FF2B5EF4-FFF2-40B4-BE49-F238E27FC236}">
                <a16:creationId xmlns:a16="http://schemas.microsoft.com/office/drawing/2014/main" xmlns="" id="{F2169BDB-26D4-794C-AF29-1EBFE13D6C8F}"/>
              </a:ext>
            </a:extLst>
          </p:cNvPr>
          <p:cNvGrpSpPr/>
          <p:nvPr/>
        </p:nvGrpSpPr>
        <p:grpSpPr>
          <a:xfrm>
            <a:off x="2019369" y="4104947"/>
            <a:ext cx="2351087" cy="512763"/>
            <a:chOff x="2019369" y="4104947"/>
            <a:chExt cx="2351087" cy="512763"/>
          </a:xfrm>
        </p:grpSpPr>
        <p:sp>
          <p:nvSpPr>
            <p:cNvPr id="170" name="Line 99">
              <a:extLst>
                <a:ext uri="{FF2B5EF4-FFF2-40B4-BE49-F238E27FC236}">
                  <a16:creationId xmlns:a16="http://schemas.microsoft.com/office/drawing/2014/main" xmlns="" id="{79B38498-1004-6944-956A-ECE43F5BF0A1}"/>
                </a:ext>
              </a:extLst>
            </p:cNvPr>
            <p:cNvSpPr>
              <a:spLocks noChangeShapeType="1"/>
            </p:cNvSpPr>
            <p:nvPr/>
          </p:nvSpPr>
          <p:spPr bwMode="auto">
            <a:xfrm>
              <a:off x="2019369" y="4111297"/>
              <a:ext cx="2351087" cy="50641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1" name="Rectangle 122">
              <a:extLst>
                <a:ext uri="{FF2B5EF4-FFF2-40B4-BE49-F238E27FC236}">
                  <a16:creationId xmlns:a16="http://schemas.microsoft.com/office/drawing/2014/main" xmlns="" id="{60DDB655-86B1-2D4B-9108-1CEBCFF76AC9}"/>
                </a:ext>
              </a:extLst>
            </p:cNvPr>
            <p:cNvSpPr>
              <a:spLocks noChangeArrowheads="1"/>
            </p:cNvSpPr>
            <p:nvPr/>
          </p:nvSpPr>
          <p:spPr bwMode="auto">
            <a:xfrm>
              <a:off x="2628969" y="4104947"/>
              <a:ext cx="989012" cy="43021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2" name="Text Box 123">
              <a:extLst>
                <a:ext uri="{FF2B5EF4-FFF2-40B4-BE49-F238E27FC236}">
                  <a16:creationId xmlns:a16="http://schemas.microsoft.com/office/drawing/2014/main" xmlns="" id="{FB31845A-BC05-2942-A23F-7101518E3BF6}"/>
                </a:ext>
              </a:extLst>
            </p:cNvPr>
            <p:cNvSpPr txBox="1">
              <a:spLocks noChangeArrowheads="1"/>
            </p:cNvSpPr>
            <p:nvPr/>
          </p:nvSpPr>
          <p:spPr bwMode="auto">
            <a:xfrm>
              <a:off x="2165419" y="4185910"/>
              <a:ext cx="208597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grpSp>
      <p:grpSp>
        <p:nvGrpSpPr>
          <p:cNvPr id="6" name="Group 5">
            <a:extLst>
              <a:ext uri="{FF2B5EF4-FFF2-40B4-BE49-F238E27FC236}">
                <a16:creationId xmlns:a16="http://schemas.microsoft.com/office/drawing/2014/main" xmlns="" id="{BDFBEB0F-AD33-9841-96A8-08332FBAA960}"/>
              </a:ext>
            </a:extLst>
          </p:cNvPr>
          <p:cNvGrpSpPr/>
          <p:nvPr/>
        </p:nvGrpSpPr>
        <p:grpSpPr>
          <a:xfrm>
            <a:off x="2857569" y="3004810"/>
            <a:ext cx="1484312" cy="628650"/>
            <a:chOff x="2857569" y="3004810"/>
            <a:chExt cx="1484312" cy="628650"/>
          </a:xfrm>
        </p:grpSpPr>
        <p:sp>
          <p:nvSpPr>
            <p:cNvPr id="172" name="Line 104">
              <a:extLst>
                <a:ext uri="{FF2B5EF4-FFF2-40B4-BE49-F238E27FC236}">
                  <a16:creationId xmlns:a16="http://schemas.microsoft.com/office/drawing/2014/main" xmlns="" id="{CDD77362-C693-4645-AF99-2BBCF441D31A}"/>
                </a:ext>
              </a:extLst>
            </p:cNvPr>
            <p:cNvSpPr>
              <a:spLocks noChangeShapeType="1"/>
            </p:cNvSpPr>
            <p:nvPr/>
          </p:nvSpPr>
          <p:spPr bwMode="auto">
            <a:xfrm flipH="1">
              <a:off x="3068706" y="3004810"/>
              <a:ext cx="1273175" cy="4270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7" name="Rectangle 114">
              <a:extLst>
                <a:ext uri="{FF2B5EF4-FFF2-40B4-BE49-F238E27FC236}">
                  <a16:creationId xmlns:a16="http://schemas.microsoft.com/office/drawing/2014/main" xmlns="" id="{8B525616-75BA-9C49-973A-BD0F57E70412}"/>
                </a:ext>
              </a:extLst>
            </p:cNvPr>
            <p:cNvSpPr>
              <a:spLocks noChangeArrowheads="1"/>
            </p:cNvSpPr>
            <p:nvPr/>
          </p:nvSpPr>
          <p:spPr bwMode="auto">
            <a:xfrm>
              <a:off x="3303656" y="3090535"/>
              <a:ext cx="747713" cy="2460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8" name="Text Box 115">
              <a:extLst>
                <a:ext uri="{FF2B5EF4-FFF2-40B4-BE49-F238E27FC236}">
                  <a16:creationId xmlns:a16="http://schemas.microsoft.com/office/drawing/2014/main" xmlns="" id="{F3EC555B-6627-3C46-9C43-7AB97835B780}"/>
                </a:ext>
              </a:extLst>
            </p:cNvPr>
            <p:cNvSpPr txBox="1">
              <a:spLocks noChangeArrowheads="1"/>
            </p:cNvSpPr>
            <p:nvPr/>
          </p:nvSpPr>
          <p:spPr bwMode="auto">
            <a:xfrm>
              <a:off x="3224281" y="3046085"/>
              <a:ext cx="94932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183" name="Text Box 124">
              <a:extLst>
                <a:ext uri="{FF2B5EF4-FFF2-40B4-BE49-F238E27FC236}">
                  <a16:creationId xmlns:a16="http://schemas.microsoft.com/office/drawing/2014/main" xmlns="" id="{41BA4870-FF33-4142-991E-EDDE2B5293A4}"/>
                </a:ext>
              </a:extLst>
            </p:cNvPr>
            <p:cNvSpPr txBox="1">
              <a:spLocks noChangeArrowheads="1"/>
            </p:cNvSpPr>
            <p:nvPr/>
          </p:nvSpPr>
          <p:spPr bwMode="auto">
            <a:xfrm>
              <a:off x="2857569" y="3236585"/>
              <a:ext cx="3587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grpSp>
      <p:grpSp>
        <p:nvGrpSpPr>
          <p:cNvPr id="9" name="Group 8">
            <a:extLst>
              <a:ext uri="{FF2B5EF4-FFF2-40B4-BE49-F238E27FC236}">
                <a16:creationId xmlns:a16="http://schemas.microsoft.com/office/drawing/2014/main" xmlns="" id="{CA465D82-8FEB-3440-B371-2468D04E80CF}"/>
              </a:ext>
            </a:extLst>
          </p:cNvPr>
          <p:cNvGrpSpPr/>
          <p:nvPr/>
        </p:nvGrpSpPr>
        <p:grpSpPr>
          <a:xfrm>
            <a:off x="2008256" y="4703435"/>
            <a:ext cx="2338388" cy="782637"/>
            <a:chOff x="2008256" y="4703435"/>
            <a:chExt cx="2338388" cy="782637"/>
          </a:xfrm>
        </p:grpSpPr>
        <p:sp>
          <p:nvSpPr>
            <p:cNvPr id="185" name="Line 127">
              <a:extLst>
                <a:ext uri="{FF2B5EF4-FFF2-40B4-BE49-F238E27FC236}">
                  <a16:creationId xmlns:a16="http://schemas.microsoft.com/office/drawing/2014/main" xmlns="" id="{6B2D3167-D859-5D44-BBF6-C9AD75BFE46D}"/>
                </a:ext>
              </a:extLst>
            </p:cNvPr>
            <p:cNvSpPr>
              <a:spLocks noChangeShapeType="1"/>
            </p:cNvSpPr>
            <p:nvPr/>
          </p:nvSpPr>
          <p:spPr bwMode="auto">
            <a:xfrm flipH="1">
              <a:off x="2008256" y="4703435"/>
              <a:ext cx="2338388" cy="7826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6" name="Rectangle 128">
              <a:extLst>
                <a:ext uri="{FF2B5EF4-FFF2-40B4-BE49-F238E27FC236}">
                  <a16:creationId xmlns:a16="http://schemas.microsoft.com/office/drawing/2014/main" xmlns="" id="{37A3DBF6-24FE-EF4F-8D6C-4ABC3854148F}"/>
                </a:ext>
              </a:extLst>
            </p:cNvPr>
            <p:cNvSpPr>
              <a:spLocks noChangeArrowheads="1"/>
            </p:cNvSpPr>
            <p:nvPr/>
          </p:nvSpPr>
          <p:spPr bwMode="auto">
            <a:xfrm>
              <a:off x="2841694" y="4960610"/>
              <a:ext cx="747712" cy="2460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7" name="Text Box 129">
              <a:extLst>
                <a:ext uri="{FF2B5EF4-FFF2-40B4-BE49-F238E27FC236}">
                  <a16:creationId xmlns:a16="http://schemas.microsoft.com/office/drawing/2014/main" xmlns="" id="{06DE42B2-117E-D241-8A87-B070A56CDFEA}"/>
                </a:ext>
              </a:extLst>
            </p:cNvPr>
            <p:cNvSpPr txBox="1">
              <a:spLocks noChangeArrowheads="1"/>
            </p:cNvSpPr>
            <p:nvPr/>
          </p:nvSpPr>
          <p:spPr bwMode="auto">
            <a:xfrm>
              <a:off x="2762319" y="4916160"/>
              <a:ext cx="94932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nvGrpSpPr>
          <p:cNvPr id="7" name="Group 6">
            <a:extLst>
              <a:ext uri="{FF2B5EF4-FFF2-40B4-BE49-F238E27FC236}">
                <a16:creationId xmlns:a16="http://schemas.microsoft.com/office/drawing/2014/main" xmlns="" id="{9218D318-345A-1343-9E16-E2157D9EC9CA}"/>
              </a:ext>
            </a:extLst>
          </p:cNvPr>
          <p:cNvGrpSpPr/>
          <p:nvPr/>
        </p:nvGrpSpPr>
        <p:grpSpPr>
          <a:xfrm>
            <a:off x="1638369" y="2347585"/>
            <a:ext cx="396875" cy="1751012"/>
            <a:chOff x="1638369" y="2347585"/>
            <a:chExt cx="396875" cy="1751012"/>
          </a:xfrm>
        </p:grpSpPr>
        <p:sp>
          <p:nvSpPr>
            <p:cNvPr id="184" name="Text Box 126">
              <a:extLst>
                <a:ext uri="{FF2B5EF4-FFF2-40B4-BE49-F238E27FC236}">
                  <a16:creationId xmlns:a16="http://schemas.microsoft.com/office/drawing/2014/main" xmlns="" id="{708F4626-9140-0E43-9D62-AA0567E12965}"/>
                </a:ext>
              </a:extLst>
            </p:cNvPr>
            <p:cNvSpPr txBox="1">
              <a:spLocks noChangeArrowheads="1"/>
            </p:cNvSpPr>
            <p:nvPr/>
          </p:nvSpPr>
          <p:spPr bwMode="auto">
            <a:xfrm rot="10800000">
              <a:off x="1638369" y="2890510"/>
              <a:ext cx="396875" cy="68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188" name="Group 134">
              <a:extLst>
                <a:ext uri="{FF2B5EF4-FFF2-40B4-BE49-F238E27FC236}">
                  <a16:creationId xmlns:a16="http://schemas.microsoft.com/office/drawing/2014/main" xmlns="" id="{A9BA4A8C-06E2-9D49-BA1F-308DB5A5179B}"/>
                </a:ext>
              </a:extLst>
            </p:cNvPr>
            <p:cNvGrpSpPr>
              <a:grpSpLocks/>
            </p:cNvGrpSpPr>
            <p:nvPr/>
          </p:nvGrpSpPr>
          <p:grpSpPr bwMode="auto">
            <a:xfrm>
              <a:off x="1779656" y="2347585"/>
              <a:ext cx="104775" cy="508000"/>
              <a:chOff x="3099" y="1749"/>
              <a:chExt cx="66" cy="320"/>
            </a:xfrm>
          </p:grpSpPr>
          <p:sp>
            <p:nvSpPr>
              <p:cNvPr id="189" name="Line 132">
                <a:extLst>
                  <a:ext uri="{FF2B5EF4-FFF2-40B4-BE49-F238E27FC236}">
                    <a16:creationId xmlns:a16="http://schemas.microsoft.com/office/drawing/2014/main" xmlns="" id="{9EFE05E8-2CD9-1641-9F8B-2FBC570F2364}"/>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0" name="Line 133">
                <a:extLst>
                  <a:ext uri="{FF2B5EF4-FFF2-40B4-BE49-F238E27FC236}">
                    <a16:creationId xmlns:a16="http://schemas.microsoft.com/office/drawing/2014/main" xmlns="" id="{65E827A8-0207-644E-85CB-90C7657D1F32}"/>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91" name="Group 135">
              <a:extLst>
                <a:ext uri="{FF2B5EF4-FFF2-40B4-BE49-F238E27FC236}">
                  <a16:creationId xmlns:a16="http://schemas.microsoft.com/office/drawing/2014/main" xmlns="" id="{0EF52FA7-3D6C-FA40-A158-75B80E576A89}"/>
                </a:ext>
              </a:extLst>
            </p:cNvPr>
            <p:cNvGrpSpPr>
              <a:grpSpLocks/>
            </p:cNvGrpSpPr>
            <p:nvPr/>
          </p:nvGrpSpPr>
          <p:grpSpPr bwMode="auto">
            <a:xfrm rot="10800000">
              <a:off x="1774894" y="3590597"/>
              <a:ext cx="104775" cy="508000"/>
              <a:chOff x="3099" y="1749"/>
              <a:chExt cx="66" cy="320"/>
            </a:xfrm>
          </p:grpSpPr>
          <p:sp>
            <p:nvSpPr>
              <p:cNvPr id="192" name="Line 136">
                <a:extLst>
                  <a:ext uri="{FF2B5EF4-FFF2-40B4-BE49-F238E27FC236}">
                    <a16:creationId xmlns:a16="http://schemas.microsoft.com/office/drawing/2014/main" xmlns="" id="{5229B570-0DC5-A34A-9912-9DC1EC3AF608}"/>
                  </a:ext>
                </a:extLst>
              </p:cNvPr>
              <p:cNvSpPr>
                <a:spLocks noChangeShapeType="1"/>
              </p:cNvSpPr>
              <p:nvPr/>
            </p:nvSpPr>
            <p:spPr bwMode="auto">
              <a:xfrm flipV="1">
                <a:off x="3136" y="1756"/>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3" name="Line 137">
                <a:extLst>
                  <a:ext uri="{FF2B5EF4-FFF2-40B4-BE49-F238E27FC236}">
                    <a16:creationId xmlns:a16="http://schemas.microsoft.com/office/drawing/2014/main" xmlns="" id="{F842F667-D30F-4D4B-9510-3CA19042994E}"/>
                  </a:ext>
                </a:extLst>
              </p:cNvPr>
              <p:cNvSpPr>
                <a:spLocks noChangeShapeType="1"/>
              </p:cNvSpPr>
              <p:nvPr/>
            </p:nvSpPr>
            <p:spPr bwMode="auto">
              <a:xfrm>
                <a:off x="3106" y="1759"/>
                <a:ext cx="6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sp>
        <p:nvSpPr>
          <p:cNvPr id="194" name="Text Box 172">
            <a:extLst>
              <a:ext uri="{FF2B5EF4-FFF2-40B4-BE49-F238E27FC236}">
                <a16:creationId xmlns:a16="http://schemas.microsoft.com/office/drawing/2014/main" xmlns="" id="{5B3CEA4D-B0D0-D04E-ADE8-909B1EDA7441}"/>
              </a:ext>
            </a:extLst>
          </p:cNvPr>
          <p:cNvSpPr txBox="1">
            <a:spLocks noChangeArrowheads="1"/>
          </p:cNvSpPr>
          <p:nvPr/>
        </p:nvSpPr>
        <p:spPr bwMode="auto">
          <a:xfrm>
            <a:off x="7759116" y="5873422"/>
            <a:ext cx="2073275"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premature timeout</a:t>
            </a:r>
            <a:endParaRPr kumimoji="0" lang="en-US" sz="10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8" name="Text Box 177">
            <a:extLst>
              <a:ext uri="{FF2B5EF4-FFF2-40B4-BE49-F238E27FC236}">
                <a16:creationId xmlns:a16="http://schemas.microsoft.com/office/drawing/2014/main" xmlns="" id="{970D57D0-6509-F14E-A7FF-FFA09672DA95}"/>
              </a:ext>
            </a:extLst>
          </p:cNvPr>
          <p:cNvSpPr txBox="1">
            <a:spLocks noChangeArrowheads="1"/>
          </p:cNvSpPr>
          <p:nvPr/>
        </p:nvSpPr>
        <p:spPr bwMode="auto">
          <a:xfrm>
            <a:off x="9567278" y="1183947"/>
            <a:ext cx="77311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199" name="Text Box 181">
            <a:extLst>
              <a:ext uri="{FF2B5EF4-FFF2-40B4-BE49-F238E27FC236}">
                <a16:creationId xmlns:a16="http://schemas.microsoft.com/office/drawing/2014/main" xmlns="" id="{5C9181D9-76B4-1547-B4C6-C03AC2F11CD9}"/>
              </a:ext>
            </a:extLst>
          </p:cNvPr>
          <p:cNvSpPr txBox="1">
            <a:spLocks noChangeArrowheads="1"/>
          </p:cNvSpPr>
          <p:nvPr/>
        </p:nvSpPr>
        <p:spPr bwMode="auto">
          <a:xfrm>
            <a:off x="7233653" y="1201410"/>
            <a:ext cx="776288"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sp>
        <p:nvSpPr>
          <p:cNvPr id="205" name="Line 186">
            <a:extLst>
              <a:ext uri="{FF2B5EF4-FFF2-40B4-BE49-F238E27FC236}">
                <a16:creationId xmlns:a16="http://schemas.microsoft.com/office/drawing/2014/main" xmlns="" id="{DCFF6781-2E36-E241-A5F5-C0B04BC7CABB}"/>
              </a:ext>
            </a:extLst>
          </p:cNvPr>
          <p:cNvSpPr>
            <a:spLocks noChangeShapeType="1"/>
          </p:cNvSpPr>
          <p:nvPr/>
        </p:nvSpPr>
        <p:spPr bwMode="auto">
          <a:xfrm>
            <a:off x="7608303" y="2101522"/>
            <a:ext cx="0" cy="3525838"/>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6" name="Line 187">
            <a:extLst>
              <a:ext uri="{FF2B5EF4-FFF2-40B4-BE49-F238E27FC236}">
                <a16:creationId xmlns:a16="http://schemas.microsoft.com/office/drawing/2014/main" xmlns="" id="{9C6DC5B3-2960-3047-BC8D-684B3D849A13}"/>
              </a:ext>
            </a:extLst>
          </p:cNvPr>
          <p:cNvSpPr>
            <a:spLocks noChangeShapeType="1"/>
          </p:cNvSpPr>
          <p:nvPr/>
        </p:nvSpPr>
        <p:spPr bwMode="auto">
          <a:xfrm>
            <a:off x="10013366" y="2096760"/>
            <a:ext cx="0" cy="353853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7" name="Rectangle 188">
            <a:extLst>
              <a:ext uri="{FF2B5EF4-FFF2-40B4-BE49-F238E27FC236}">
                <a16:creationId xmlns:a16="http://schemas.microsoft.com/office/drawing/2014/main" xmlns="" id="{C15D63E4-15E1-BA4A-9606-42B07BDE7490}"/>
              </a:ext>
            </a:extLst>
          </p:cNvPr>
          <p:cNvSpPr>
            <a:spLocks noChangeArrowheads="1"/>
          </p:cNvSpPr>
          <p:nvPr/>
        </p:nvSpPr>
        <p:spPr bwMode="auto">
          <a:xfrm>
            <a:off x="8621128" y="4228772"/>
            <a:ext cx="1057275" cy="508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3" name="Group 12">
            <a:extLst>
              <a:ext uri="{FF2B5EF4-FFF2-40B4-BE49-F238E27FC236}">
                <a16:creationId xmlns:a16="http://schemas.microsoft.com/office/drawing/2014/main" xmlns="" id="{B716CABB-9429-2844-BE7D-347FDDC00473}"/>
              </a:ext>
            </a:extLst>
          </p:cNvPr>
          <p:cNvGrpSpPr/>
          <p:nvPr/>
        </p:nvGrpSpPr>
        <p:grpSpPr>
          <a:xfrm>
            <a:off x="7595603" y="4111297"/>
            <a:ext cx="2441575" cy="668338"/>
            <a:chOff x="7595603" y="4111297"/>
            <a:chExt cx="2441575" cy="668338"/>
          </a:xfrm>
        </p:grpSpPr>
        <p:sp>
          <p:nvSpPr>
            <p:cNvPr id="195" name="Line 173">
              <a:extLst>
                <a:ext uri="{FF2B5EF4-FFF2-40B4-BE49-F238E27FC236}">
                  <a16:creationId xmlns:a16="http://schemas.microsoft.com/office/drawing/2014/main" xmlns="" id="{3966F5D7-3131-A64E-88FC-C5DD67C3305E}"/>
                </a:ext>
              </a:extLst>
            </p:cNvPr>
            <p:cNvSpPr>
              <a:spLocks noChangeShapeType="1"/>
            </p:cNvSpPr>
            <p:nvPr/>
          </p:nvSpPr>
          <p:spPr bwMode="auto">
            <a:xfrm>
              <a:off x="7595603" y="4111297"/>
              <a:ext cx="2441575" cy="66516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8" name="Text Box 189">
              <a:extLst>
                <a:ext uri="{FF2B5EF4-FFF2-40B4-BE49-F238E27FC236}">
                  <a16:creationId xmlns:a16="http://schemas.microsoft.com/office/drawing/2014/main" xmlns="" id="{3EE494A8-6A2C-9F45-AA30-D5C659A717EE}"/>
                </a:ext>
              </a:extLst>
            </p:cNvPr>
            <p:cNvSpPr txBox="1">
              <a:spLocks noChangeArrowheads="1"/>
            </p:cNvSpPr>
            <p:nvPr/>
          </p:nvSpPr>
          <p:spPr bwMode="auto">
            <a:xfrm>
              <a:off x="8541753" y="4262110"/>
              <a:ext cx="1212850"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bytes of data</a:t>
              </a:r>
            </a:p>
          </p:txBody>
        </p:sp>
      </p:grpSp>
      <p:sp>
        <p:nvSpPr>
          <p:cNvPr id="211" name="Rectangle 193">
            <a:extLst>
              <a:ext uri="{FF2B5EF4-FFF2-40B4-BE49-F238E27FC236}">
                <a16:creationId xmlns:a16="http://schemas.microsoft.com/office/drawing/2014/main" xmlns="" id="{1BAF70E7-D466-2441-88C5-22FFEB1CAF5E}"/>
              </a:ext>
            </a:extLst>
          </p:cNvPr>
          <p:cNvSpPr>
            <a:spLocks noChangeArrowheads="1"/>
          </p:cNvSpPr>
          <p:nvPr/>
        </p:nvSpPr>
        <p:spPr bwMode="auto">
          <a:xfrm>
            <a:off x="8460791" y="5071735"/>
            <a:ext cx="747712" cy="2460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5" name="Group 14">
            <a:extLst>
              <a:ext uri="{FF2B5EF4-FFF2-40B4-BE49-F238E27FC236}">
                <a16:creationId xmlns:a16="http://schemas.microsoft.com/office/drawing/2014/main" xmlns="" id="{9E6A0178-9B0F-8A48-942B-60D872AAAD83}"/>
              </a:ext>
            </a:extLst>
          </p:cNvPr>
          <p:cNvGrpSpPr/>
          <p:nvPr/>
        </p:nvGrpSpPr>
        <p:grpSpPr>
          <a:xfrm>
            <a:off x="7627353" y="4814560"/>
            <a:ext cx="2338388" cy="782637"/>
            <a:chOff x="7627353" y="4814560"/>
            <a:chExt cx="2338388" cy="782637"/>
          </a:xfrm>
        </p:grpSpPr>
        <p:sp>
          <p:nvSpPr>
            <p:cNvPr id="210" name="Line 192">
              <a:extLst>
                <a:ext uri="{FF2B5EF4-FFF2-40B4-BE49-F238E27FC236}">
                  <a16:creationId xmlns:a16="http://schemas.microsoft.com/office/drawing/2014/main" xmlns="" id="{3827C940-37F6-2042-821B-DC7FC5969C64}"/>
                </a:ext>
              </a:extLst>
            </p:cNvPr>
            <p:cNvSpPr>
              <a:spLocks noChangeShapeType="1"/>
            </p:cNvSpPr>
            <p:nvPr/>
          </p:nvSpPr>
          <p:spPr bwMode="auto">
            <a:xfrm flipH="1">
              <a:off x="7627353" y="4814560"/>
              <a:ext cx="2338388" cy="7826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2" name="Text Box 194">
              <a:extLst>
                <a:ext uri="{FF2B5EF4-FFF2-40B4-BE49-F238E27FC236}">
                  <a16:creationId xmlns:a16="http://schemas.microsoft.com/office/drawing/2014/main" xmlns="" id="{7D3D6198-BDB0-DC4C-B2A5-2DBD9359B868}"/>
                </a:ext>
              </a:extLst>
            </p:cNvPr>
            <p:cNvSpPr txBox="1">
              <a:spLocks noChangeArrowheads="1"/>
            </p:cNvSpPr>
            <p:nvPr/>
          </p:nvSpPr>
          <p:spPr bwMode="auto">
            <a:xfrm>
              <a:off x="8381416" y="5027285"/>
              <a:ext cx="94932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ACK=120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nvGrpSpPr>
          <p:cNvPr id="10" name="Group 9">
            <a:extLst>
              <a:ext uri="{FF2B5EF4-FFF2-40B4-BE49-F238E27FC236}">
                <a16:creationId xmlns:a16="http://schemas.microsoft.com/office/drawing/2014/main" xmlns="" id="{31CBCB81-D9E2-8D44-8B58-3A8203D0290F}"/>
              </a:ext>
            </a:extLst>
          </p:cNvPr>
          <p:cNvGrpSpPr/>
          <p:nvPr/>
        </p:nvGrpSpPr>
        <p:grpSpPr>
          <a:xfrm>
            <a:off x="7235241" y="2347585"/>
            <a:ext cx="396875" cy="1751012"/>
            <a:chOff x="7235241" y="2347585"/>
            <a:chExt cx="396875" cy="1751012"/>
          </a:xfrm>
        </p:grpSpPr>
        <p:sp>
          <p:nvSpPr>
            <p:cNvPr id="209" name="Text Box 191">
              <a:extLst>
                <a:ext uri="{FF2B5EF4-FFF2-40B4-BE49-F238E27FC236}">
                  <a16:creationId xmlns:a16="http://schemas.microsoft.com/office/drawing/2014/main" xmlns="" id="{D65DE059-0ADE-BA43-86FA-261D968382D9}"/>
                </a:ext>
              </a:extLst>
            </p:cNvPr>
            <p:cNvSpPr txBox="1">
              <a:spLocks noChangeArrowheads="1"/>
            </p:cNvSpPr>
            <p:nvPr/>
          </p:nvSpPr>
          <p:spPr bwMode="auto">
            <a:xfrm rot="10800000">
              <a:off x="7235241" y="2890510"/>
              <a:ext cx="396875" cy="68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213" name="Group 195">
              <a:extLst>
                <a:ext uri="{FF2B5EF4-FFF2-40B4-BE49-F238E27FC236}">
                  <a16:creationId xmlns:a16="http://schemas.microsoft.com/office/drawing/2014/main" xmlns="" id="{FD63DE3D-F3EB-7747-87C5-F31E049B82E4}"/>
                </a:ext>
              </a:extLst>
            </p:cNvPr>
            <p:cNvGrpSpPr>
              <a:grpSpLocks/>
            </p:cNvGrpSpPr>
            <p:nvPr/>
          </p:nvGrpSpPr>
          <p:grpSpPr bwMode="auto">
            <a:xfrm>
              <a:off x="7376528" y="2347585"/>
              <a:ext cx="104775" cy="508000"/>
              <a:chOff x="3099" y="1749"/>
              <a:chExt cx="66" cy="320"/>
            </a:xfrm>
          </p:grpSpPr>
          <p:sp>
            <p:nvSpPr>
              <p:cNvPr id="214" name="Line 196">
                <a:extLst>
                  <a:ext uri="{FF2B5EF4-FFF2-40B4-BE49-F238E27FC236}">
                    <a16:creationId xmlns:a16="http://schemas.microsoft.com/office/drawing/2014/main" xmlns="" id="{F7116EE1-F7FA-8E4C-BC16-6BA1240EF8FC}"/>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5" name="Line 197">
                <a:extLst>
                  <a:ext uri="{FF2B5EF4-FFF2-40B4-BE49-F238E27FC236}">
                    <a16:creationId xmlns:a16="http://schemas.microsoft.com/office/drawing/2014/main" xmlns="" id="{057CB57E-4B2F-8C47-97F5-D0924F70DC97}"/>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16" name="Group 198">
              <a:extLst>
                <a:ext uri="{FF2B5EF4-FFF2-40B4-BE49-F238E27FC236}">
                  <a16:creationId xmlns:a16="http://schemas.microsoft.com/office/drawing/2014/main" xmlns="" id="{2E37771D-0A96-C34C-9C6B-504E80416ADC}"/>
                </a:ext>
              </a:extLst>
            </p:cNvPr>
            <p:cNvGrpSpPr>
              <a:grpSpLocks/>
            </p:cNvGrpSpPr>
            <p:nvPr/>
          </p:nvGrpSpPr>
          <p:grpSpPr bwMode="auto">
            <a:xfrm rot="10800000">
              <a:off x="7371766" y="3590597"/>
              <a:ext cx="104775" cy="508000"/>
              <a:chOff x="3099" y="1749"/>
              <a:chExt cx="66" cy="320"/>
            </a:xfrm>
          </p:grpSpPr>
          <p:sp>
            <p:nvSpPr>
              <p:cNvPr id="217" name="Line 199">
                <a:extLst>
                  <a:ext uri="{FF2B5EF4-FFF2-40B4-BE49-F238E27FC236}">
                    <a16:creationId xmlns:a16="http://schemas.microsoft.com/office/drawing/2014/main" xmlns="" id="{8E20D991-E195-FF4D-88F7-684DF42E9E14}"/>
                  </a:ext>
                </a:extLst>
              </p:cNvPr>
              <p:cNvSpPr>
                <a:spLocks noChangeShapeType="1"/>
              </p:cNvSpPr>
              <p:nvPr/>
            </p:nvSpPr>
            <p:spPr bwMode="auto">
              <a:xfrm flipV="1">
                <a:off x="3137" y="1756"/>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8" name="Line 200">
                <a:extLst>
                  <a:ext uri="{FF2B5EF4-FFF2-40B4-BE49-F238E27FC236}">
                    <a16:creationId xmlns:a16="http://schemas.microsoft.com/office/drawing/2014/main" xmlns="" id="{22C60B84-78BE-7345-BBC2-2490BC4DEFD3}"/>
                  </a:ext>
                </a:extLst>
              </p:cNvPr>
              <p:cNvSpPr>
                <a:spLocks noChangeShapeType="1"/>
              </p:cNvSpPr>
              <p:nvPr/>
            </p:nvSpPr>
            <p:spPr bwMode="auto">
              <a:xfrm>
                <a:off x="3107" y="1759"/>
                <a:ext cx="6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12" name="Group 11">
            <a:extLst>
              <a:ext uri="{FF2B5EF4-FFF2-40B4-BE49-F238E27FC236}">
                <a16:creationId xmlns:a16="http://schemas.microsoft.com/office/drawing/2014/main" xmlns="" id="{A4259714-F109-3243-BC51-888D64DBCE91}"/>
              </a:ext>
            </a:extLst>
          </p:cNvPr>
          <p:cNvGrpSpPr/>
          <p:nvPr/>
        </p:nvGrpSpPr>
        <p:grpSpPr>
          <a:xfrm>
            <a:off x="7603541" y="3004810"/>
            <a:ext cx="2339975" cy="1944687"/>
            <a:chOff x="7603541" y="3004810"/>
            <a:chExt cx="2339975" cy="1944687"/>
          </a:xfrm>
        </p:grpSpPr>
        <p:sp>
          <p:nvSpPr>
            <p:cNvPr id="197" name="Line 175">
              <a:extLst>
                <a:ext uri="{FF2B5EF4-FFF2-40B4-BE49-F238E27FC236}">
                  <a16:creationId xmlns:a16="http://schemas.microsoft.com/office/drawing/2014/main" xmlns="" id="{C6151221-64CD-0A4D-8DCC-7243A0014631}"/>
                </a:ext>
              </a:extLst>
            </p:cNvPr>
            <p:cNvSpPr>
              <a:spLocks noChangeShapeType="1"/>
            </p:cNvSpPr>
            <p:nvPr/>
          </p:nvSpPr>
          <p:spPr bwMode="auto">
            <a:xfrm flipH="1">
              <a:off x="7603541" y="3004810"/>
              <a:ext cx="2335212" cy="158908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2" name="Group 202">
              <a:extLst>
                <a:ext uri="{FF2B5EF4-FFF2-40B4-BE49-F238E27FC236}">
                  <a16:creationId xmlns:a16="http://schemas.microsoft.com/office/drawing/2014/main" xmlns="" id="{D30CD59C-C944-CF4F-B17A-64886A573C0F}"/>
                </a:ext>
              </a:extLst>
            </p:cNvPr>
            <p:cNvGrpSpPr>
              <a:grpSpLocks/>
            </p:cNvGrpSpPr>
            <p:nvPr/>
          </p:nvGrpSpPr>
          <p:grpSpPr bwMode="auto">
            <a:xfrm>
              <a:off x="8505241" y="3496935"/>
              <a:ext cx="949325" cy="304800"/>
              <a:chOff x="4215" y="2253"/>
              <a:chExt cx="598" cy="192"/>
            </a:xfrm>
          </p:grpSpPr>
          <p:sp>
            <p:nvSpPr>
              <p:cNvPr id="203" name="Rectangle 184">
                <a:extLst>
                  <a:ext uri="{FF2B5EF4-FFF2-40B4-BE49-F238E27FC236}">
                    <a16:creationId xmlns:a16="http://schemas.microsoft.com/office/drawing/2014/main" xmlns="" id="{38FC2E88-8043-CE4C-A502-AFA317824443}"/>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4" name="Text Box 185">
                <a:extLst>
                  <a:ext uri="{FF2B5EF4-FFF2-40B4-BE49-F238E27FC236}">
                    <a16:creationId xmlns:a16="http://schemas.microsoft.com/office/drawing/2014/main" xmlns="" id="{7BF7DF1E-2F02-9D41-B7BC-991A51E982F6}"/>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223" name="Line 207">
              <a:extLst>
                <a:ext uri="{FF2B5EF4-FFF2-40B4-BE49-F238E27FC236}">
                  <a16:creationId xmlns:a16="http://schemas.microsoft.com/office/drawing/2014/main" xmlns="" id="{00ED8980-6CB4-9148-B161-8172F2430A06}"/>
                </a:ext>
              </a:extLst>
            </p:cNvPr>
            <p:cNvSpPr>
              <a:spLocks noChangeShapeType="1"/>
            </p:cNvSpPr>
            <p:nvPr/>
          </p:nvSpPr>
          <p:spPr bwMode="auto">
            <a:xfrm flipH="1">
              <a:off x="7608303" y="3360410"/>
              <a:ext cx="2335213" cy="158908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24" name="Group 208">
              <a:extLst>
                <a:ext uri="{FF2B5EF4-FFF2-40B4-BE49-F238E27FC236}">
                  <a16:creationId xmlns:a16="http://schemas.microsoft.com/office/drawing/2014/main" xmlns="" id="{6EE49A40-BE68-654E-AAC3-24E6E2BB625A}"/>
                </a:ext>
              </a:extLst>
            </p:cNvPr>
            <p:cNvGrpSpPr>
              <a:grpSpLocks/>
            </p:cNvGrpSpPr>
            <p:nvPr/>
          </p:nvGrpSpPr>
          <p:grpSpPr bwMode="auto">
            <a:xfrm>
              <a:off x="8744953" y="3773160"/>
              <a:ext cx="949325" cy="304800"/>
              <a:chOff x="4215" y="2253"/>
              <a:chExt cx="598" cy="192"/>
            </a:xfrm>
          </p:grpSpPr>
          <p:sp>
            <p:nvSpPr>
              <p:cNvPr id="225" name="Rectangle 209">
                <a:extLst>
                  <a:ext uri="{FF2B5EF4-FFF2-40B4-BE49-F238E27FC236}">
                    <a16:creationId xmlns:a16="http://schemas.microsoft.com/office/drawing/2014/main" xmlns="" id="{25CA1210-B468-0040-9898-13C2587BDB0D}"/>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6" name="Text Box 210">
                <a:extLst>
                  <a:ext uri="{FF2B5EF4-FFF2-40B4-BE49-F238E27FC236}">
                    <a16:creationId xmlns:a16="http://schemas.microsoft.com/office/drawing/2014/main" xmlns="" id="{8918B79C-3FE7-FC4C-B606-5C7CA33715A9}"/>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ACK=120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grpSp>
        <p:nvGrpSpPr>
          <p:cNvPr id="14" name="Group 13">
            <a:extLst>
              <a:ext uri="{FF2B5EF4-FFF2-40B4-BE49-F238E27FC236}">
                <a16:creationId xmlns:a16="http://schemas.microsoft.com/office/drawing/2014/main" xmlns="" id="{CD914285-EBDF-1947-9C97-6E8CD760020F}"/>
              </a:ext>
            </a:extLst>
          </p:cNvPr>
          <p:cNvGrpSpPr/>
          <p:nvPr/>
        </p:nvGrpSpPr>
        <p:grpSpPr>
          <a:xfrm>
            <a:off x="6241466" y="4416097"/>
            <a:ext cx="1382712" cy="646113"/>
            <a:chOff x="6241466" y="4416097"/>
            <a:chExt cx="1382712" cy="646113"/>
          </a:xfrm>
        </p:grpSpPr>
        <p:sp>
          <p:nvSpPr>
            <p:cNvPr id="227" name="Text Box 211">
              <a:extLst>
                <a:ext uri="{FF2B5EF4-FFF2-40B4-BE49-F238E27FC236}">
                  <a16:creationId xmlns:a16="http://schemas.microsoft.com/office/drawing/2014/main" xmlns="" id="{1E82E105-7918-0E47-A934-825752F52D6B}"/>
                </a:ext>
              </a:extLst>
            </p:cNvPr>
            <p:cNvSpPr txBox="1">
              <a:spLocks noChangeArrowheads="1"/>
            </p:cNvSpPr>
            <p:nvPr/>
          </p:nvSpPr>
          <p:spPr bwMode="auto">
            <a:xfrm>
              <a:off x="6241466" y="4416097"/>
              <a:ext cx="13636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SendBase=100</a:t>
              </a:r>
            </a:p>
          </p:txBody>
        </p:sp>
        <p:sp>
          <p:nvSpPr>
            <p:cNvPr id="228" name="Text Box 212">
              <a:extLst>
                <a:ext uri="{FF2B5EF4-FFF2-40B4-BE49-F238E27FC236}">
                  <a16:creationId xmlns:a16="http://schemas.microsoft.com/office/drawing/2014/main" xmlns="" id="{387E9E87-069A-FA4A-9F20-9DB5B471A427}"/>
                </a:ext>
              </a:extLst>
            </p:cNvPr>
            <p:cNvSpPr txBox="1">
              <a:spLocks noChangeArrowheads="1"/>
            </p:cNvSpPr>
            <p:nvPr/>
          </p:nvSpPr>
          <p:spPr bwMode="auto">
            <a:xfrm>
              <a:off x="6260516" y="4757410"/>
              <a:ext cx="13636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SendBase=120</a:t>
              </a:r>
            </a:p>
          </p:txBody>
        </p:sp>
      </p:grpSp>
      <p:sp>
        <p:nvSpPr>
          <p:cNvPr id="229" name="Text Box 213">
            <a:extLst>
              <a:ext uri="{FF2B5EF4-FFF2-40B4-BE49-F238E27FC236}">
                <a16:creationId xmlns:a16="http://schemas.microsoft.com/office/drawing/2014/main" xmlns="" id="{31AD8D03-5F21-0F49-8D71-B6031900CD41}"/>
              </a:ext>
            </a:extLst>
          </p:cNvPr>
          <p:cNvSpPr txBox="1">
            <a:spLocks noChangeArrowheads="1"/>
          </p:cNvSpPr>
          <p:nvPr/>
        </p:nvSpPr>
        <p:spPr bwMode="auto">
          <a:xfrm>
            <a:off x="6279566" y="5432097"/>
            <a:ext cx="13636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SendBase=120</a:t>
            </a:r>
          </a:p>
        </p:txBody>
      </p:sp>
      <p:grpSp>
        <p:nvGrpSpPr>
          <p:cNvPr id="11" name="Group 10">
            <a:extLst>
              <a:ext uri="{FF2B5EF4-FFF2-40B4-BE49-F238E27FC236}">
                <a16:creationId xmlns:a16="http://schemas.microsoft.com/office/drawing/2014/main" xmlns="" id="{5474E6BB-CCA6-CC47-8617-346673F363BD}"/>
              </a:ext>
            </a:extLst>
          </p:cNvPr>
          <p:cNvGrpSpPr/>
          <p:nvPr/>
        </p:nvGrpSpPr>
        <p:grpSpPr>
          <a:xfrm>
            <a:off x="6306553" y="2187247"/>
            <a:ext cx="3668713" cy="1112838"/>
            <a:chOff x="6306553" y="2187247"/>
            <a:chExt cx="3668713" cy="1112838"/>
          </a:xfrm>
        </p:grpSpPr>
        <p:sp>
          <p:nvSpPr>
            <p:cNvPr id="196" name="Line 174">
              <a:extLst>
                <a:ext uri="{FF2B5EF4-FFF2-40B4-BE49-F238E27FC236}">
                  <a16:creationId xmlns:a16="http://schemas.microsoft.com/office/drawing/2014/main" xmlns="" id="{FF81BD19-4683-8144-8837-5193B3691D8F}"/>
                </a:ext>
              </a:extLst>
            </p:cNvPr>
            <p:cNvSpPr>
              <a:spLocks noChangeShapeType="1"/>
            </p:cNvSpPr>
            <p:nvPr/>
          </p:nvSpPr>
          <p:spPr bwMode="auto">
            <a:xfrm>
              <a:off x="7628941" y="2342822"/>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0" name="Rectangle 182">
              <a:extLst>
                <a:ext uri="{FF2B5EF4-FFF2-40B4-BE49-F238E27FC236}">
                  <a16:creationId xmlns:a16="http://schemas.microsoft.com/office/drawing/2014/main" xmlns="" id="{C74BFDE4-D3AE-5C4E-B670-449D49B67C22}"/>
                </a:ext>
              </a:extLst>
            </p:cNvPr>
            <p:cNvSpPr>
              <a:spLocks noChangeArrowheads="1"/>
            </p:cNvSpPr>
            <p:nvPr/>
          </p:nvSpPr>
          <p:spPr bwMode="auto">
            <a:xfrm>
              <a:off x="8332203" y="2423785"/>
              <a:ext cx="869950" cy="4016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1" name="Text Box 183">
              <a:extLst>
                <a:ext uri="{FF2B5EF4-FFF2-40B4-BE49-F238E27FC236}">
                  <a16:creationId xmlns:a16="http://schemas.microsoft.com/office/drawing/2014/main" xmlns="" id="{B8140015-E345-EE4A-90B6-3552DAC43E5C}"/>
                </a:ext>
              </a:extLst>
            </p:cNvPr>
            <p:cNvSpPr txBox="1">
              <a:spLocks noChangeArrowheads="1"/>
            </p:cNvSpPr>
            <p:nvPr/>
          </p:nvSpPr>
          <p:spPr bwMode="auto">
            <a:xfrm>
              <a:off x="7773403" y="2476172"/>
              <a:ext cx="208597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grpSp>
          <p:nvGrpSpPr>
            <p:cNvPr id="219" name="Group 206">
              <a:extLst>
                <a:ext uri="{FF2B5EF4-FFF2-40B4-BE49-F238E27FC236}">
                  <a16:creationId xmlns:a16="http://schemas.microsoft.com/office/drawing/2014/main" xmlns="" id="{C3DB656C-371F-854E-81A2-904083BC4AF6}"/>
                </a:ext>
              </a:extLst>
            </p:cNvPr>
            <p:cNvGrpSpPr>
              <a:grpSpLocks/>
            </p:cNvGrpSpPr>
            <p:nvPr/>
          </p:nvGrpSpPr>
          <p:grpSpPr bwMode="auto">
            <a:xfrm>
              <a:off x="7614653" y="2728585"/>
              <a:ext cx="2346325" cy="571500"/>
              <a:chOff x="3759" y="1622"/>
              <a:chExt cx="1478" cy="360"/>
            </a:xfrm>
          </p:grpSpPr>
          <p:sp>
            <p:nvSpPr>
              <p:cNvPr id="220" name="Line 203">
                <a:extLst>
                  <a:ext uri="{FF2B5EF4-FFF2-40B4-BE49-F238E27FC236}">
                    <a16:creationId xmlns:a16="http://schemas.microsoft.com/office/drawing/2014/main" xmlns="" id="{90E12E5A-5437-8944-A28F-2F13C852A4D2}"/>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1" name="Rectangle 204">
                <a:extLst>
                  <a:ext uri="{FF2B5EF4-FFF2-40B4-BE49-F238E27FC236}">
                    <a16:creationId xmlns:a16="http://schemas.microsoft.com/office/drawing/2014/main" xmlns="" id="{7550E74D-2DAE-BC48-88DC-FF5E0936D8AA}"/>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2" name="Text Box 205">
                <a:extLst>
                  <a:ext uri="{FF2B5EF4-FFF2-40B4-BE49-F238E27FC236}">
                    <a16:creationId xmlns:a16="http://schemas.microsoft.com/office/drawing/2014/main" xmlns="" id="{1863CB88-8ADD-294C-BE46-8D80EEB9E9FE}"/>
                  </a:ext>
                </a:extLst>
              </p:cNvPr>
              <p:cNvSpPr txBox="1">
                <a:spLocks noChangeArrowheads="1"/>
              </p:cNvSpPr>
              <p:nvPr/>
            </p:nvSpPr>
            <p:spPr bwMode="auto">
              <a:xfrm>
                <a:off x="3790" y="1706"/>
                <a:ext cx="143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sp>
          <p:nvSpPr>
            <p:cNvPr id="230" name="Text Box 214">
              <a:extLst>
                <a:ext uri="{FF2B5EF4-FFF2-40B4-BE49-F238E27FC236}">
                  <a16:creationId xmlns:a16="http://schemas.microsoft.com/office/drawing/2014/main" xmlns="" id="{8333BF3A-4F52-4F44-921F-4BAD57A4119A}"/>
                </a:ext>
              </a:extLst>
            </p:cNvPr>
            <p:cNvSpPr txBox="1">
              <a:spLocks noChangeArrowheads="1"/>
            </p:cNvSpPr>
            <p:nvPr/>
          </p:nvSpPr>
          <p:spPr bwMode="auto">
            <a:xfrm>
              <a:off x="6306553" y="2187247"/>
              <a:ext cx="1266825" cy="3048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SendBase=92</a:t>
              </a:r>
            </a:p>
          </p:txBody>
        </p:sp>
      </p:grpSp>
      <p:grpSp>
        <p:nvGrpSpPr>
          <p:cNvPr id="231" name="Group 219">
            <a:extLst>
              <a:ext uri="{FF2B5EF4-FFF2-40B4-BE49-F238E27FC236}">
                <a16:creationId xmlns:a16="http://schemas.microsoft.com/office/drawing/2014/main" xmlns="" id="{2259D372-4B08-6D4E-A450-9719B81C5E51}"/>
              </a:ext>
            </a:extLst>
          </p:cNvPr>
          <p:cNvGrpSpPr>
            <a:grpSpLocks/>
          </p:cNvGrpSpPr>
          <p:nvPr/>
        </p:nvGrpSpPr>
        <p:grpSpPr bwMode="auto">
          <a:xfrm>
            <a:off x="7186028" y="1463347"/>
            <a:ext cx="630238" cy="533400"/>
            <a:chOff x="-44" y="1473"/>
            <a:chExt cx="981" cy="1105"/>
          </a:xfrm>
        </p:grpSpPr>
        <p:pic>
          <p:nvPicPr>
            <p:cNvPr id="232" name="Picture 220" descr="desktop_computer_stylized_medium">
              <a:extLst>
                <a:ext uri="{FF2B5EF4-FFF2-40B4-BE49-F238E27FC236}">
                  <a16:creationId xmlns:a16="http://schemas.microsoft.com/office/drawing/2014/main" xmlns="" id="{2D27C27D-9556-884F-AE7C-167179E6E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 name="Freeform 221">
              <a:extLst>
                <a:ext uri="{FF2B5EF4-FFF2-40B4-BE49-F238E27FC236}">
                  <a16:creationId xmlns:a16="http://schemas.microsoft.com/office/drawing/2014/main" xmlns="" id="{7E825289-4A0B-4346-8F90-2D5646E5B4C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34" name="Group 225">
            <a:extLst>
              <a:ext uri="{FF2B5EF4-FFF2-40B4-BE49-F238E27FC236}">
                <a16:creationId xmlns:a16="http://schemas.microsoft.com/office/drawing/2014/main" xmlns="" id="{E20B8076-92C2-A04F-B618-A3527994FF6A}"/>
              </a:ext>
            </a:extLst>
          </p:cNvPr>
          <p:cNvGrpSpPr>
            <a:grpSpLocks/>
          </p:cNvGrpSpPr>
          <p:nvPr/>
        </p:nvGrpSpPr>
        <p:grpSpPr bwMode="auto">
          <a:xfrm flipH="1">
            <a:off x="9753016" y="1469697"/>
            <a:ext cx="631825" cy="622300"/>
            <a:chOff x="-44" y="1473"/>
            <a:chExt cx="981" cy="1105"/>
          </a:xfrm>
        </p:grpSpPr>
        <p:pic>
          <p:nvPicPr>
            <p:cNvPr id="235" name="Picture 226" descr="desktop_computer_stylized_medium">
              <a:extLst>
                <a:ext uri="{FF2B5EF4-FFF2-40B4-BE49-F238E27FC236}">
                  <a16:creationId xmlns:a16="http://schemas.microsoft.com/office/drawing/2014/main" xmlns="" id="{892509C8-70E3-9344-BECE-67F22233D0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6" name="Freeform 227">
              <a:extLst>
                <a:ext uri="{FF2B5EF4-FFF2-40B4-BE49-F238E27FC236}">
                  <a16:creationId xmlns:a16="http://schemas.microsoft.com/office/drawing/2014/main" xmlns="" id="{36FE986B-8994-0941-B989-B811ADDEEE3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37" name="Group 228">
            <a:extLst>
              <a:ext uri="{FF2B5EF4-FFF2-40B4-BE49-F238E27FC236}">
                <a16:creationId xmlns:a16="http://schemas.microsoft.com/office/drawing/2014/main" xmlns="" id="{F8939732-2442-144E-A5BB-23D63EE09D71}"/>
              </a:ext>
            </a:extLst>
          </p:cNvPr>
          <p:cNvGrpSpPr>
            <a:grpSpLocks/>
          </p:cNvGrpSpPr>
          <p:nvPr/>
        </p:nvGrpSpPr>
        <p:grpSpPr bwMode="auto">
          <a:xfrm>
            <a:off x="1601856" y="1474460"/>
            <a:ext cx="630238" cy="533400"/>
            <a:chOff x="-44" y="1473"/>
            <a:chExt cx="981" cy="1105"/>
          </a:xfrm>
        </p:grpSpPr>
        <p:pic>
          <p:nvPicPr>
            <p:cNvPr id="238" name="Picture 229" descr="desktop_computer_stylized_medium">
              <a:extLst>
                <a:ext uri="{FF2B5EF4-FFF2-40B4-BE49-F238E27FC236}">
                  <a16:creationId xmlns:a16="http://schemas.microsoft.com/office/drawing/2014/main" xmlns="" id="{D7F5765B-05B0-5245-99DA-1820CD6FB8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 name="Freeform 230">
              <a:extLst>
                <a:ext uri="{FF2B5EF4-FFF2-40B4-BE49-F238E27FC236}">
                  <a16:creationId xmlns:a16="http://schemas.microsoft.com/office/drawing/2014/main" xmlns="" id="{D897DE15-A97F-F848-8C0A-B28F47B3323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40" name="Group 231">
            <a:extLst>
              <a:ext uri="{FF2B5EF4-FFF2-40B4-BE49-F238E27FC236}">
                <a16:creationId xmlns:a16="http://schemas.microsoft.com/office/drawing/2014/main" xmlns="" id="{E145A84A-1570-9C46-A817-B68A25E966D9}"/>
              </a:ext>
            </a:extLst>
          </p:cNvPr>
          <p:cNvGrpSpPr>
            <a:grpSpLocks/>
          </p:cNvGrpSpPr>
          <p:nvPr/>
        </p:nvGrpSpPr>
        <p:grpSpPr bwMode="auto">
          <a:xfrm flipH="1">
            <a:off x="4179956" y="1458585"/>
            <a:ext cx="709613" cy="600075"/>
            <a:chOff x="-44" y="1473"/>
            <a:chExt cx="981" cy="1105"/>
          </a:xfrm>
        </p:grpSpPr>
        <p:pic>
          <p:nvPicPr>
            <p:cNvPr id="241" name="Picture 232" descr="desktop_computer_stylized_medium">
              <a:extLst>
                <a:ext uri="{FF2B5EF4-FFF2-40B4-BE49-F238E27FC236}">
                  <a16:creationId xmlns:a16="http://schemas.microsoft.com/office/drawing/2014/main" xmlns="" id="{332C004D-ED3A-7348-8EC0-DF65AFEC6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2" name="Freeform 233">
              <a:extLst>
                <a:ext uri="{FF2B5EF4-FFF2-40B4-BE49-F238E27FC236}">
                  <a16:creationId xmlns:a16="http://schemas.microsoft.com/office/drawing/2014/main" xmlns="" id="{A74C9FB1-2D29-F14B-8569-8E203840CFB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9" name="TextBox 18">
            <a:extLst>
              <a:ext uri="{FF2B5EF4-FFF2-40B4-BE49-F238E27FC236}">
                <a16:creationId xmlns:a16="http://schemas.microsoft.com/office/drawing/2014/main" xmlns="" id="{8C70D25B-261A-724E-991C-E91D345300FB}"/>
              </a:ext>
            </a:extLst>
          </p:cNvPr>
          <p:cNvSpPr txBox="1"/>
          <p:nvPr/>
        </p:nvSpPr>
        <p:spPr>
          <a:xfrm>
            <a:off x="9973410" y="4508500"/>
            <a:ext cx="1591398" cy="535531"/>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alibri"/>
                <a:ea typeface="+mn-ea"/>
                <a:cs typeface="+mn-cs"/>
              </a:rPr>
              <a:t>send cumulative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alibri"/>
                <a:ea typeface="+mn-ea"/>
                <a:cs typeface="+mn-cs"/>
              </a:rPr>
              <a:t>ACK for 120</a:t>
            </a:r>
          </a:p>
        </p:txBody>
      </p:sp>
      <p:sp>
        <p:nvSpPr>
          <p:cNvPr id="89" name="Slide Number Placeholder 2">
            <a:extLst>
              <a:ext uri="{FF2B5EF4-FFF2-40B4-BE49-F238E27FC236}">
                <a16:creationId xmlns:a16="http://schemas.microsoft.com/office/drawing/2014/main" xmlns="" id="{9219ABA9-4F40-D04C-A34A-87A2AE31AF28}"/>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13</a:t>
            </a:fld>
            <a:endParaRPr lang="en-US" dirty="0"/>
          </a:p>
        </p:txBody>
      </p:sp>
    </p:spTree>
    <p:extLst>
      <p:ext uri="{BB962C8B-B14F-4D97-AF65-F5344CB8AC3E}">
        <p14:creationId xmlns:p14="http://schemas.microsoft.com/office/powerpoint/2010/main" val="423881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righ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par>
                          <p:cTn id="21" fill="hold">
                            <p:stCondLst>
                              <p:cond delay="1000"/>
                            </p:stCondLst>
                            <p:childTnLst>
                              <p:par>
                                <p:cTn id="22" presetID="22" presetClass="entr" presetSubtype="2"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right)">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par>
                          <p:cTn id="30" fill="hold">
                            <p:stCondLst>
                              <p:cond delay="500"/>
                            </p:stCondLst>
                            <p:childTnLst>
                              <p:par>
                                <p:cTn id="31" presetID="22" presetClass="entr" presetSubtype="2"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right)">
                                      <p:cBhvr>
                                        <p:cTn id="33" dur="500"/>
                                        <p:tgtEl>
                                          <p:spTgt spid="12"/>
                                        </p:tgtEl>
                                      </p:cBhvr>
                                    </p:animEffect>
                                  </p:childTnLst>
                                </p:cTn>
                              </p:par>
                            </p:childTnLst>
                          </p:cTn>
                        </p:par>
                        <p:par>
                          <p:cTn id="34" fill="hold">
                            <p:stCondLst>
                              <p:cond delay="1000"/>
                            </p:stCondLst>
                            <p:childTnLst>
                              <p:par>
                                <p:cTn id="35" presetID="9" presetClass="entr" presetSubtype="0"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dissolve">
                                      <p:cBhvr>
                                        <p:cTn id="42" dur="500"/>
                                        <p:tgtEl>
                                          <p:spTgt spid="10"/>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500"/>
                                        <p:tgtEl>
                                          <p:spTgt spid="13"/>
                                        </p:tgtEl>
                                      </p:cBhvr>
                                    </p:animEffect>
                                  </p:childTnLst>
                                </p:cTn>
                              </p:par>
                            </p:childTnLst>
                          </p:cTn>
                        </p:par>
                        <p:par>
                          <p:cTn id="47" fill="hold">
                            <p:stCondLst>
                              <p:cond delay="1000"/>
                            </p:stCondLst>
                            <p:childTnLst>
                              <p:par>
                                <p:cTn id="48" presetID="9" presetClass="entr" presetSubtype="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dissolve">
                                      <p:cBhvr>
                                        <p:cTn id="50" dur="500"/>
                                        <p:tgtEl>
                                          <p:spTgt spid="19"/>
                                        </p:tgtEl>
                                      </p:cBhvr>
                                    </p:animEffect>
                                  </p:childTnLst>
                                </p:cTn>
                              </p:par>
                            </p:childTnLst>
                          </p:cTn>
                        </p:par>
                        <p:par>
                          <p:cTn id="51" fill="hold">
                            <p:stCondLst>
                              <p:cond delay="1500"/>
                            </p:stCondLst>
                            <p:childTnLst>
                              <p:par>
                                <p:cTn id="52" presetID="22" presetClass="entr" presetSubtype="2" fill="hold"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right)">
                                      <p:cBhvr>
                                        <p:cTn id="54" dur="500"/>
                                        <p:tgtEl>
                                          <p:spTgt spid="15"/>
                                        </p:tgtEl>
                                      </p:cBhvr>
                                    </p:animEffect>
                                  </p:childTnLst>
                                </p:cTn>
                              </p:par>
                            </p:childTnLst>
                          </p:cTn>
                        </p:par>
                        <p:par>
                          <p:cTn id="55" fill="hold">
                            <p:stCondLst>
                              <p:cond delay="2000"/>
                            </p:stCondLst>
                            <p:childTnLst>
                              <p:par>
                                <p:cTn id="56" presetID="9" presetClass="entr" presetSubtype="0" fill="hold" grpId="0" nodeType="afterEffect">
                                  <p:stCondLst>
                                    <p:cond delay="0"/>
                                  </p:stCondLst>
                                  <p:childTnLst>
                                    <p:set>
                                      <p:cBhvr>
                                        <p:cTn id="57" dur="1" fill="hold">
                                          <p:stCondLst>
                                            <p:cond delay="0"/>
                                          </p:stCondLst>
                                        </p:cTn>
                                        <p:tgtEl>
                                          <p:spTgt spid="229"/>
                                        </p:tgtEl>
                                        <p:attrNameLst>
                                          <p:attrName>style.visibility</p:attrName>
                                        </p:attrNameLst>
                                      </p:cBhvr>
                                      <p:to>
                                        <p:strVal val="visible"/>
                                      </p:to>
                                    </p:set>
                                    <p:animEffect transition="in" filter="dissolve">
                                      <p:cBhvr>
                                        <p:cTn id="58" dur="5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retransmission scenarios</a:t>
            </a:r>
            <a:endParaRPr lang="en-US" sz="4400" b="0" dirty="0"/>
          </a:p>
        </p:txBody>
      </p:sp>
      <p:sp>
        <p:nvSpPr>
          <p:cNvPr id="119" name="Text Box 34">
            <a:extLst>
              <a:ext uri="{FF2B5EF4-FFF2-40B4-BE49-F238E27FC236}">
                <a16:creationId xmlns:a16="http://schemas.microsoft.com/office/drawing/2014/main" xmlns="" id="{ADFB94EB-2205-5C4D-A60C-0BE52074D9EF}"/>
              </a:ext>
            </a:extLst>
          </p:cNvPr>
          <p:cNvSpPr txBox="1">
            <a:spLocks noChangeArrowheads="1"/>
          </p:cNvSpPr>
          <p:nvPr/>
        </p:nvSpPr>
        <p:spPr bwMode="auto">
          <a:xfrm>
            <a:off x="1902139" y="5486400"/>
            <a:ext cx="2542862"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cumulative ACK covers for earlier lost ACK</a:t>
            </a:r>
            <a:endParaRPr kumimoji="0" lang="en-US" sz="10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1" name="Line 36">
            <a:extLst>
              <a:ext uri="{FF2B5EF4-FFF2-40B4-BE49-F238E27FC236}">
                <a16:creationId xmlns:a16="http://schemas.microsoft.com/office/drawing/2014/main" xmlns="" id="{CCBE06AD-8A86-F04F-8691-D7894B915278}"/>
              </a:ext>
            </a:extLst>
          </p:cNvPr>
          <p:cNvSpPr>
            <a:spLocks noChangeShapeType="1"/>
          </p:cNvSpPr>
          <p:nvPr/>
        </p:nvSpPr>
        <p:spPr bwMode="auto">
          <a:xfrm>
            <a:off x="2039800" y="2349049"/>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3" name="Text Box 39">
            <a:extLst>
              <a:ext uri="{FF2B5EF4-FFF2-40B4-BE49-F238E27FC236}">
                <a16:creationId xmlns:a16="http://schemas.microsoft.com/office/drawing/2014/main" xmlns="" id="{97669ECF-79A1-4D41-8748-0027E9432529}"/>
              </a:ext>
            </a:extLst>
          </p:cNvPr>
          <p:cNvSpPr txBox="1">
            <a:spLocks noChangeArrowheads="1"/>
          </p:cNvSpPr>
          <p:nvPr/>
        </p:nvSpPr>
        <p:spPr bwMode="auto">
          <a:xfrm>
            <a:off x="3965437" y="1177474"/>
            <a:ext cx="77311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124" name="Text Box 43">
            <a:extLst>
              <a:ext uri="{FF2B5EF4-FFF2-40B4-BE49-F238E27FC236}">
                <a16:creationId xmlns:a16="http://schemas.microsoft.com/office/drawing/2014/main" xmlns="" id="{0992C83B-4206-984D-AB17-6BDBF1D64593}"/>
              </a:ext>
            </a:extLst>
          </p:cNvPr>
          <p:cNvSpPr txBox="1">
            <a:spLocks noChangeArrowheads="1"/>
          </p:cNvSpPr>
          <p:nvPr/>
        </p:nvSpPr>
        <p:spPr bwMode="auto">
          <a:xfrm>
            <a:off x="1644512" y="1207637"/>
            <a:ext cx="776288"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sp>
        <p:nvSpPr>
          <p:cNvPr id="125" name="Rectangle 44">
            <a:extLst>
              <a:ext uri="{FF2B5EF4-FFF2-40B4-BE49-F238E27FC236}">
                <a16:creationId xmlns:a16="http://schemas.microsoft.com/office/drawing/2014/main" xmlns="" id="{831F8853-027A-294B-AA6D-ACCABA945CDE}"/>
              </a:ext>
            </a:extLst>
          </p:cNvPr>
          <p:cNvSpPr>
            <a:spLocks noChangeArrowheads="1"/>
          </p:cNvSpPr>
          <p:nvPr/>
        </p:nvSpPr>
        <p:spPr bwMode="auto">
          <a:xfrm>
            <a:off x="2743062" y="2430012"/>
            <a:ext cx="869950" cy="4016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6" name="Text Box 45">
            <a:extLst>
              <a:ext uri="{FF2B5EF4-FFF2-40B4-BE49-F238E27FC236}">
                <a16:creationId xmlns:a16="http://schemas.microsoft.com/office/drawing/2014/main" xmlns="" id="{8D027E41-059B-A348-B661-6F2DD0666670}"/>
              </a:ext>
            </a:extLst>
          </p:cNvPr>
          <p:cNvSpPr txBox="1">
            <a:spLocks noChangeArrowheads="1"/>
          </p:cNvSpPr>
          <p:nvPr/>
        </p:nvSpPr>
        <p:spPr bwMode="auto">
          <a:xfrm>
            <a:off x="2184262" y="2482399"/>
            <a:ext cx="208597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sp>
        <p:nvSpPr>
          <p:cNvPr id="130" name="Line 49">
            <a:extLst>
              <a:ext uri="{FF2B5EF4-FFF2-40B4-BE49-F238E27FC236}">
                <a16:creationId xmlns:a16="http://schemas.microsoft.com/office/drawing/2014/main" xmlns="" id="{7554A1BA-7B17-9947-9957-0D23896F869A}"/>
              </a:ext>
            </a:extLst>
          </p:cNvPr>
          <p:cNvSpPr>
            <a:spLocks noChangeShapeType="1"/>
          </p:cNvSpPr>
          <p:nvPr/>
        </p:nvSpPr>
        <p:spPr bwMode="auto">
          <a:xfrm>
            <a:off x="2019162" y="2107749"/>
            <a:ext cx="0" cy="3525838"/>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1" name="Line 50">
            <a:extLst>
              <a:ext uri="{FF2B5EF4-FFF2-40B4-BE49-F238E27FC236}">
                <a16:creationId xmlns:a16="http://schemas.microsoft.com/office/drawing/2014/main" xmlns="" id="{CBDA8AA8-732F-A344-BAE1-68752D7E6D4A}"/>
              </a:ext>
            </a:extLst>
          </p:cNvPr>
          <p:cNvSpPr>
            <a:spLocks noChangeShapeType="1"/>
          </p:cNvSpPr>
          <p:nvPr/>
        </p:nvSpPr>
        <p:spPr bwMode="auto">
          <a:xfrm>
            <a:off x="4424225" y="2102987"/>
            <a:ext cx="0" cy="3538537"/>
          </a:xfrm>
          <a:prstGeom prst="line">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xmlns="" id="{15CBAF7E-F641-074E-A960-6453A9AD2BBF}"/>
              </a:ext>
            </a:extLst>
          </p:cNvPr>
          <p:cNvGrpSpPr/>
          <p:nvPr/>
        </p:nvGrpSpPr>
        <p:grpSpPr>
          <a:xfrm>
            <a:off x="2009637" y="4431849"/>
            <a:ext cx="2652713" cy="879475"/>
            <a:chOff x="2035037" y="4444549"/>
            <a:chExt cx="2652713" cy="879475"/>
          </a:xfrm>
        </p:grpSpPr>
        <p:sp>
          <p:nvSpPr>
            <p:cNvPr id="120" name="Line 35">
              <a:extLst>
                <a:ext uri="{FF2B5EF4-FFF2-40B4-BE49-F238E27FC236}">
                  <a16:creationId xmlns:a16="http://schemas.microsoft.com/office/drawing/2014/main" xmlns="" id="{2F729834-AA00-3F49-9DAA-5799D25FBE77}"/>
                </a:ext>
              </a:extLst>
            </p:cNvPr>
            <p:cNvSpPr>
              <a:spLocks noChangeShapeType="1"/>
            </p:cNvSpPr>
            <p:nvPr/>
          </p:nvSpPr>
          <p:spPr bwMode="auto">
            <a:xfrm>
              <a:off x="2063612" y="4444549"/>
              <a:ext cx="2441575" cy="66516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2" name="Rectangle 51">
              <a:extLst>
                <a:ext uri="{FF2B5EF4-FFF2-40B4-BE49-F238E27FC236}">
                  <a16:creationId xmlns:a16="http://schemas.microsoft.com/office/drawing/2014/main" xmlns="" id="{5452ECDA-B3E0-374F-AC96-350658E75BBD}"/>
                </a:ext>
              </a:extLst>
            </p:cNvPr>
            <p:cNvSpPr>
              <a:spLocks noChangeArrowheads="1"/>
            </p:cNvSpPr>
            <p:nvPr/>
          </p:nvSpPr>
          <p:spPr bwMode="auto">
            <a:xfrm>
              <a:off x="2760525" y="4517574"/>
              <a:ext cx="933450" cy="508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3" name="Text Box 52">
              <a:extLst>
                <a:ext uri="{FF2B5EF4-FFF2-40B4-BE49-F238E27FC236}">
                  <a16:creationId xmlns:a16="http://schemas.microsoft.com/office/drawing/2014/main" xmlns="" id="{CE55EEB5-1B37-394C-A536-E0960B386C84}"/>
                </a:ext>
              </a:extLst>
            </p:cNvPr>
            <p:cNvSpPr txBox="1">
              <a:spLocks noChangeArrowheads="1"/>
            </p:cNvSpPr>
            <p:nvPr/>
          </p:nvSpPr>
          <p:spPr bwMode="auto">
            <a:xfrm>
              <a:off x="2035037" y="4604887"/>
              <a:ext cx="265271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Seq=120,  15 bytes of data</a:t>
              </a:r>
            </a:p>
          </p:txBody>
        </p:sp>
        <p:sp>
          <p:nvSpPr>
            <p:cNvPr id="134" name="Rectangle 55">
              <a:extLst>
                <a:ext uri="{FF2B5EF4-FFF2-40B4-BE49-F238E27FC236}">
                  <a16:creationId xmlns:a16="http://schemas.microsoft.com/office/drawing/2014/main" xmlns="" id="{448E8CE2-468E-C147-BBB6-851B8973F0A4}"/>
                </a:ext>
              </a:extLst>
            </p:cNvPr>
            <p:cNvSpPr>
              <a:spLocks noChangeArrowheads="1"/>
            </p:cNvSpPr>
            <p:nvPr/>
          </p:nvSpPr>
          <p:spPr bwMode="auto">
            <a:xfrm>
              <a:off x="2871650" y="5077962"/>
              <a:ext cx="747712" cy="2460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43" name="Group 63">
            <a:extLst>
              <a:ext uri="{FF2B5EF4-FFF2-40B4-BE49-F238E27FC236}">
                <a16:creationId xmlns:a16="http://schemas.microsoft.com/office/drawing/2014/main" xmlns="" id="{C3C010AE-BE43-6F47-963B-D6CB3155D42B}"/>
              </a:ext>
            </a:extLst>
          </p:cNvPr>
          <p:cNvGrpSpPr>
            <a:grpSpLocks/>
          </p:cNvGrpSpPr>
          <p:nvPr/>
        </p:nvGrpSpPr>
        <p:grpSpPr bwMode="auto">
          <a:xfrm>
            <a:off x="2025512" y="2734812"/>
            <a:ext cx="2346325" cy="571500"/>
            <a:chOff x="3759" y="1622"/>
            <a:chExt cx="1478" cy="360"/>
          </a:xfrm>
        </p:grpSpPr>
        <p:sp>
          <p:nvSpPr>
            <p:cNvPr id="144" name="Line 64">
              <a:extLst>
                <a:ext uri="{FF2B5EF4-FFF2-40B4-BE49-F238E27FC236}">
                  <a16:creationId xmlns:a16="http://schemas.microsoft.com/office/drawing/2014/main" xmlns="" id="{1530CC4E-B289-DB44-8685-B440E2B60DE1}"/>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5" name="Rectangle 65">
              <a:extLst>
                <a:ext uri="{FF2B5EF4-FFF2-40B4-BE49-F238E27FC236}">
                  <a16:creationId xmlns:a16="http://schemas.microsoft.com/office/drawing/2014/main" xmlns="" id="{FE817F64-FB48-EB47-B984-31AC87976FF4}"/>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6" name="Text Box 66">
              <a:extLst>
                <a:ext uri="{FF2B5EF4-FFF2-40B4-BE49-F238E27FC236}">
                  <a16:creationId xmlns:a16="http://schemas.microsoft.com/office/drawing/2014/main" xmlns="" id="{F1525CD3-6EAD-8B46-AE7B-D63A2D957330}"/>
                </a:ext>
              </a:extLst>
            </p:cNvPr>
            <p:cNvSpPr txBox="1">
              <a:spLocks noChangeArrowheads="1"/>
            </p:cNvSpPr>
            <p:nvPr/>
          </p:nvSpPr>
          <p:spPr bwMode="auto">
            <a:xfrm>
              <a:off x="3790" y="1706"/>
              <a:ext cx="143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4" name="Group 3">
            <a:extLst>
              <a:ext uri="{FF2B5EF4-FFF2-40B4-BE49-F238E27FC236}">
                <a16:creationId xmlns:a16="http://schemas.microsoft.com/office/drawing/2014/main" xmlns="" id="{AEA8CEC7-4316-034E-9A10-D1758AB5C1E8}"/>
              </a:ext>
            </a:extLst>
          </p:cNvPr>
          <p:cNvGrpSpPr/>
          <p:nvPr/>
        </p:nvGrpSpPr>
        <p:grpSpPr>
          <a:xfrm>
            <a:off x="2030275" y="3011037"/>
            <a:ext cx="2324100" cy="1381125"/>
            <a:chOff x="2030275" y="3011037"/>
            <a:chExt cx="2324100" cy="1381125"/>
          </a:xfrm>
        </p:grpSpPr>
        <p:sp>
          <p:nvSpPr>
            <p:cNvPr id="118" name="Text Box 22">
              <a:extLst>
                <a:ext uri="{FF2B5EF4-FFF2-40B4-BE49-F238E27FC236}">
                  <a16:creationId xmlns:a16="http://schemas.microsoft.com/office/drawing/2014/main" xmlns="" id="{26DC4EAE-1D60-F74E-A59A-4591BEF7DB8A}"/>
                </a:ext>
              </a:extLst>
            </p:cNvPr>
            <p:cNvSpPr txBox="1">
              <a:spLocks noChangeArrowheads="1"/>
            </p:cNvSpPr>
            <p:nvPr/>
          </p:nvSpPr>
          <p:spPr bwMode="auto">
            <a:xfrm>
              <a:off x="2654162" y="3372987"/>
              <a:ext cx="3587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sp>
          <p:nvSpPr>
            <p:cNvPr id="122" name="Line 37">
              <a:extLst>
                <a:ext uri="{FF2B5EF4-FFF2-40B4-BE49-F238E27FC236}">
                  <a16:creationId xmlns:a16="http://schemas.microsoft.com/office/drawing/2014/main" xmlns="" id="{F82F123D-402E-6549-ACF5-E00DB455230B}"/>
                </a:ext>
              </a:extLst>
            </p:cNvPr>
            <p:cNvSpPr>
              <a:spLocks noChangeShapeType="1"/>
            </p:cNvSpPr>
            <p:nvPr/>
          </p:nvSpPr>
          <p:spPr bwMode="auto">
            <a:xfrm flipH="1">
              <a:off x="2917687" y="3011037"/>
              <a:ext cx="1431925" cy="57308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7" name="Group 46">
              <a:extLst>
                <a:ext uri="{FF2B5EF4-FFF2-40B4-BE49-F238E27FC236}">
                  <a16:creationId xmlns:a16="http://schemas.microsoft.com/office/drawing/2014/main" xmlns="" id="{324855DF-61E7-B748-8BCC-0D83D44C7E23}"/>
                </a:ext>
              </a:extLst>
            </p:cNvPr>
            <p:cNvGrpSpPr>
              <a:grpSpLocks/>
            </p:cNvGrpSpPr>
            <p:nvPr/>
          </p:nvGrpSpPr>
          <p:grpSpPr bwMode="auto">
            <a:xfrm>
              <a:off x="2939912" y="3211062"/>
              <a:ext cx="949325" cy="304800"/>
              <a:chOff x="4215" y="2253"/>
              <a:chExt cx="598" cy="192"/>
            </a:xfrm>
          </p:grpSpPr>
          <p:sp>
            <p:nvSpPr>
              <p:cNvPr id="128" name="Rectangle 47">
                <a:extLst>
                  <a:ext uri="{FF2B5EF4-FFF2-40B4-BE49-F238E27FC236}">
                    <a16:creationId xmlns:a16="http://schemas.microsoft.com/office/drawing/2014/main" xmlns="" id="{9FB09B08-6C10-9344-B5F2-19059A82D4DA}"/>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9" name="Text Box 48">
                <a:extLst>
                  <a:ext uri="{FF2B5EF4-FFF2-40B4-BE49-F238E27FC236}">
                    <a16:creationId xmlns:a16="http://schemas.microsoft.com/office/drawing/2014/main" xmlns="" id="{53E02B34-B365-F741-81B4-3CC6B76EE9BD}"/>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147" name="Line 67">
              <a:extLst>
                <a:ext uri="{FF2B5EF4-FFF2-40B4-BE49-F238E27FC236}">
                  <a16:creationId xmlns:a16="http://schemas.microsoft.com/office/drawing/2014/main" xmlns="" id="{3A9C7800-3C25-D246-B475-A10782D1A42F}"/>
                </a:ext>
              </a:extLst>
            </p:cNvPr>
            <p:cNvSpPr>
              <a:spLocks noChangeShapeType="1"/>
            </p:cNvSpPr>
            <p:nvPr/>
          </p:nvSpPr>
          <p:spPr bwMode="auto">
            <a:xfrm flipH="1">
              <a:off x="2030275" y="3366637"/>
              <a:ext cx="2324100" cy="1025525"/>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48" name="Group 68">
              <a:extLst>
                <a:ext uri="{FF2B5EF4-FFF2-40B4-BE49-F238E27FC236}">
                  <a16:creationId xmlns:a16="http://schemas.microsoft.com/office/drawing/2014/main" xmlns="" id="{17041CF4-B3BE-AC4C-8F4D-F6EFAD312E20}"/>
                </a:ext>
              </a:extLst>
            </p:cNvPr>
            <p:cNvGrpSpPr>
              <a:grpSpLocks/>
            </p:cNvGrpSpPr>
            <p:nvPr/>
          </p:nvGrpSpPr>
          <p:grpSpPr bwMode="auto">
            <a:xfrm>
              <a:off x="2673212" y="3768274"/>
              <a:ext cx="949325" cy="304800"/>
              <a:chOff x="4215" y="2253"/>
              <a:chExt cx="598" cy="192"/>
            </a:xfrm>
          </p:grpSpPr>
          <p:sp>
            <p:nvSpPr>
              <p:cNvPr id="149" name="Rectangle 69">
                <a:extLst>
                  <a:ext uri="{FF2B5EF4-FFF2-40B4-BE49-F238E27FC236}">
                    <a16:creationId xmlns:a16="http://schemas.microsoft.com/office/drawing/2014/main" xmlns="" id="{3AAC76A6-2B0F-6244-8FEC-36E70DA156CD}"/>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0" name="Text Box 70">
                <a:extLst>
                  <a:ext uri="{FF2B5EF4-FFF2-40B4-BE49-F238E27FC236}">
                    <a16:creationId xmlns:a16="http://schemas.microsoft.com/office/drawing/2014/main" xmlns="" id="{821F7D19-F8C8-AE45-80AF-5153ED6D8304}"/>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ACK=120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grpSp>
        <p:nvGrpSpPr>
          <p:cNvPr id="151" name="Group 84">
            <a:extLst>
              <a:ext uri="{FF2B5EF4-FFF2-40B4-BE49-F238E27FC236}">
                <a16:creationId xmlns:a16="http://schemas.microsoft.com/office/drawing/2014/main" xmlns="" id="{A513F213-614E-9644-8CDB-349CE9C0E465}"/>
              </a:ext>
            </a:extLst>
          </p:cNvPr>
          <p:cNvGrpSpPr>
            <a:grpSpLocks/>
          </p:cNvGrpSpPr>
          <p:nvPr/>
        </p:nvGrpSpPr>
        <p:grpSpPr bwMode="auto">
          <a:xfrm>
            <a:off x="1598475" y="1469574"/>
            <a:ext cx="630237" cy="533400"/>
            <a:chOff x="-44" y="1473"/>
            <a:chExt cx="981" cy="1105"/>
          </a:xfrm>
        </p:grpSpPr>
        <p:pic>
          <p:nvPicPr>
            <p:cNvPr id="152" name="Picture 85" descr="desktop_computer_stylized_medium">
              <a:extLst>
                <a:ext uri="{FF2B5EF4-FFF2-40B4-BE49-F238E27FC236}">
                  <a16:creationId xmlns:a16="http://schemas.microsoft.com/office/drawing/2014/main" xmlns="" id="{9BBAD69B-B04A-1542-BCB4-1BBB280A5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 name="Freeform 86">
              <a:extLst>
                <a:ext uri="{FF2B5EF4-FFF2-40B4-BE49-F238E27FC236}">
                  <a16:creationId xmlns:a16="http://schemas.microsoft.com/office/drawing/2014/main" xmlns="" id="{B7171269-7915-9C4F-B3F9-C51F59FC719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54" name="Group 87">
            <a:extLst>
              <a:ext uri="{FF2B5EF4-FFF2-40B4-BE49-F238E27FC236}">
                <a16:creationId xmlns:a16="http://schemas.microsoft.com/office/drawing/2014/main" xmlns="" id="{C16FC996-18F5-D44A-B06A-968A8827AE39}"/>
              </a:ext>
            </a:extLst>
          </p:cNvPr>
          <p:cNvGrpSpPr>
            <a:grpSpLocks/>
          </p:cNvGrpSpPr>
          <p:nvPr/>
        </p:nvGrpSpPr>
        <p:grpSpPr bwMode="auto">
          <a:xfrm flipH="1">
            <a:off x="4176575" y="1464812"/>
            <a:ext cx="674687" cy="590550"/>
            <a:chOff x="-44" y="1473"/>
            <a:chExt cx="981" cy="1105"/>
          </a:xfrm>
        </p:grpSpPr>
        <p:pic>
          <p:nvPicPr>
            <p:cNvPr id="155" name="Picture 88" descr="desktop_computer_stylized_medium">
              <a:extLst>
                <a:ext uri="{FF2B5EF4-FFF2-40B4-BE49-F238E27FC236}">
                  <a16:creationId xmlns:a16="http://schemas.microsoft.com/office/drawing/2014/main" xmlns="" id="{DD8C1025-5742-124A-A45D-17C092AE9E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6" name="Freeform 89">
              <a:extLst>
                <a:ext uri="{FF2B5EF4-FFF2-40B4-BE49-F238E27FC236}">
                  <a16:creationId xmlns:a16="http://schemas.microsoft.com/office/drawing/2014/main" xmlns="" id="{29DD3896-6A51-A043-8276-55B2A1834AB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6" name="Slide Number Placeholder 2">
            <a:extLst>
              <a:ext uri="{FF2B5EF4-FFF2-40B4-BE49-F238E27FC236}">
                <a16:creationId xmlns:a16="http://schemas.microsoft.com/office/drawing/2014/main" xmlns="" id="{F42F4D6B-59A3-9047-BAC8-F69D80AB687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14</a:t>
            </a:fld>
            <a:endParaRPr lang="en-US" dirty="0"/>
          </a:p>
        </p:txBody>
      </p:sp>
    </p:spTree>
    <p:extLst>
      <p:ext uri="{BB962C8B-B14F-4D97-AF65-F5344CB8AC3E}">
        <p14:creationId xmlns:p14="http://schemas.microsoft.com/office/powerpoint/2010/main" val="314396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wipe(left)">
                                      <p:cBhvr>
                                        <p:cTn id="7" dur="500"/>
                                        <p:tgtEl>
                                          <p:spTgt spid="12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5"/>
                                        </p:tgtEl>
                                        <p:attrNameLst>
                                          <p:attrName>style.visibility</p:attrName>
                                        </p:attrNameLst>
                                      </p:cBhvr>
                                      <p:to>
                                        <p:strVal val="visible"/>
                                      </p:to>
                                    </p:set>
                                    <p:animEffect transition="in" filter="wipe(left)">
                                      <p:cBhvr>
                                        <p:cTn id="10" dur="500"/>
                                        <p:tgtEl>
                                          <p:spTgt spid="12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26"/>
                                        </p:tgtEl>
                                        <p:attrNameLst>
                                          <p:attrName>style.visibility</p:attrName>
                                        </p:attrNameLst>
                                      </p:cBhvr>
                                      <p:to>
                                        <p:strVal val="visible"/>
                                      </p:to>
                                    </p:set>
                                    <p:animEffect transition="in" filter="wipe(left)">
                                      <p:cBhvr>
                                        <p:cTn id="13" dur="500"/>
                                        <p:tgtEl>
                                          <p:spTgt spid="126"/>
                                        </p:tgtEl>
                                      </p:cBhvr>
                                    </p:animEffect>
                                  </p:childTnLst>
                                </p:cTn>
                              </p:par>
                              <p:par>
                                <p:cTn id="14" presetID="22" presetClass="entr" presetSubtype="8" fill="hold" nodeType="withEffect">
                                  <p:stCondLst>
                                    <p:cond delay="0"/>
                                  </p:stCondLst>
                                  <p:childTnLst>
                                    <p:set>
                                      <p:cBhvr>
                                        <p:cTn id="15" dur="1" fill="hold">
                                          <p:stCondLst>
                                            <p:cond delay="0"/>
                                          </p:stCondLst>
                                        </p:cTn>
                                        <p:tgtEl>
                                          <p:spTgt spid="143"/>
                                        </p:tgtEl>
                                        <p:attrNameLst>
                                          <p:attrName>style.visibility</p:attrName>
                                        </p:attrNameLst>
                                      </p:cBhvr>
                                      <p:to>
                                        <p:strVal val="visible"/>
                                      </p:to>
                                    </p:set>
                                    <p:animEffect transition="in" filter="wipe(left)">
                                      <p:cBhvr>
                                        <p:cTn id="16" dur="500"/>
                                        <p:tgtEl>
                                          <p:spTgt spid="143"/>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righ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P spid="125" grpId="0" animBg="1"/>
      <p:bldP spid="12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fast retransmit</a:t>
            </a:r>
            <a:endParaRPr lang="en-US" sz="4400" b="0" dirty="0"/>
          </a:p>
        </p:txBody>
      </p:sp>
      <p:sp>
        <p:nvSpPr>
          <p:cNvPr id="62" name="Line 10">
            <a:extLst>
              <a:ext uri="{FF2B5EF4-FFF2-40B4-BE49-F238E27FC236}">
                <a16:creationId xmlns:a16="http://schemas.microsoft.com/office/drawing/2014/main" xmlns="" id="{D5DBB1B8-3A7B-2149-A7A5-727E44799BF4}"/>
              </a:ext>
            </a:extLst>
          </p:cNvPr>
          <p:cNvSpPr>
            <a:spLocks noChangeShapeType="1"/>
          </p:cNvSpPr>
          <p:nvPr/>
        </p:nvSpPr>
        <p:spPr bwMode="auto">
          <a:xfrm flipH="1">
            <a:off x="7137251" y="1928015"/>
            <a:ext cx="0" cy="441347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3" name="Line 11">
            <a:extLst>
              <a:ext uri="{FF2B5EF4-FFF2-40B4-BE49-F238E27FC236}">
                <a16:creationId xmlns:a16="http://schemas.microsoft.com/office/drawing/2014/main" xmlns="" id="{689C7DF6-5B6C-F34C-B350-3B553A4C7C71}"/>
              </a:ext>
            </a:extLst>
          </p:cNvPr>
          <p:cNvSpPr>
            <a:spLocks noChangeShapeType="1"/>
          </p:cNvSpPr>
          <p:nvPr/>
        </p:nvSpPr>
        <p:spPr bwMode="auto">
          <a:xfrm>
            <a:off x="10614518" y="2016469"/>
            <a:ext cx="14666" cy="43250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4" name="Text Box 34">
            <a:extLst>
              <a:ext uri="{FF2B5EF4-FFF2-40B4-BE49-F238E27FC236}">
                <a16:creationId xmlns:a16="http://schemas.microsoft.com/office/drawing/2014/main" xmlns="" id="{7F373F6A-C03C-9348-95D5-6812428E4AB9}"/>
              </a:ext>
            </a:extLst>
          </p:cNvPr>
          <p:cNvSpPr txBox="1">
            <a:spLocks noChangeArrowheads="1"/>
          </p:cNvSpPr>
          <p:nvPr/>
        </p:nvSpPr>
        <p:spPr bwMode="auto">
          <a:xfrm>
            <a:off x="9960336" y="1045159"/>
            <a:ext cx="1069083" cy="3906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75" name="Text Box 38">
            <a:extLst>
              <a:ext uri="{FF2B5EF4-FFF2-40B4-BE49-F238E27FC236}">
                <a16:creationId xmlns:a16="http://schemas.microsoft.com/office/drawing/2014/main" xmlns="" id="{DAC7237E-4C51-2843-8070-FFEA26334B0E}"/>
              </a:ext>
            </a:extLst>
          </p:cNvPr>
          <p:cNvSpPr txBox="1">
            <a:spLocks noChangeArrowheads="1"/>
          </p:cNvSpPr>
          <p:nvPr/>
        </p:nvSpPr>
        <p:spPr bwMode="auto">
          <a:xfrm>
            <a:off x="6733327" y="1065430"/>
            <a:ext cx="1073474" cy="3906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grpSp>
        <p:nvGrpSpPr>
          <p:cNvPr id="80" name="Group 78">
            <a:extLst>
              <a:ext uri="{FF2B5EF4-FFF2-40B4-BE49-F238E27FC236}">
                <a16:creationId xmlns:a16="http://schemas.microsoft.com/office/drawing/2014/main" xmlns="" id="{BFB3AB37-E716-1346-A8BA-2EFF122E1DFB}"/>
              </a:ext>
            </a:extLst>
          </p:cNvPr>
          <p:cNvGrpSpPr>
            <a:grpSpLocks/>
          </p:cNvGrpSpPr>
          <p:nvPr/>
        </p:nvGrpSpPr>
        <p:grpSpPr bwMode="auto">
          <a:xfrm>
            <a:off x="6606003" y="2250502"/>
            <a:ext cx="548811" cy="4090987"/>
            <a:chOff x="397" y="868"/>
            <a:chExt cx="250" cy="2220"/>
          </a:xfrm>
        </p:grpSpPr>
        <p:sp>
          <p:nvSpPr>
            <p:cNvPr id="81" name="Text Box 50">
              <a:extLst>
                <a:ext uri="{FF2B5EF4-FFF2-40B4-BE49-F238E27FC236}">
                  <a16:creationId xmlns:a16="http://schemas.microsoft.com/office/drawing/2014/main" xmlns="" id="{20D2BEC4-83BC-594C-9709-4963DF5C652E}"/>
                </a:ext>
              </a:extLst>
            </p:cNvPr>
            <p:cNvSpPr txBox="1">
              <a:spLocks noChangeArrowheads="1"/>
            </p:cNvSpPr>
            <p:nvPr/>
          </p:nvSpPr>
          <p:spPr bwMode="auto">
            <a:xfrm rot="10800000">
              <a:off x="397" y="1778"/>
              <a:ext cx="250" cy="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82" name="Group 51">
              <a:extLst>
                <a:ext uri="{FF2B5EF4-FFF2-40B4-BE49-F238E27FC236}">
                  <a16:creationId xmlns:a16="http://schemas.microsoft.com/office/drawing/2014/main" xmlns="" id="{EDCC85C1-CBD8-CF48-BE14-AB550ACC9CD9}"/>
                </a:ext>
              </a:extLst>
            </p:cNvPr>
            <p:cNvGrpSpPr>
              <a:grpSpLocks/>
            </p:cNvGrpSpPr>
            <p:nvPr/>
          </p:nvGrpSpPr>
          <p:grpSpPr bwMode="auto">
            <a:xfrm>
              <a:off x="488" y="868"/>
              <a:ext cx="66" cy="893"/>
              <a:chOff x="3099" y="1749"/>
              <a:chExt cx="66" cy="320"/>
            </a:xfrm>
          </p:grpSpPr>
          <p:sp>
            <p:nvSpPr>
              <p:cNvPr id="86" name="Line 52">
                <a:extLst>
                  <a:ext uri="{FF2B5EF4-FFF2-40B4-BE49-F238E27FC236}">
                    <a16:creationId xmlns:a16="http://schemas.microsoft.com/office/drawing/2014/main" xmlns="" id="{F5C3CCA7-42E1-5E4B-B134-3ADAAE25F478}"/>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7" name="Line 53">
                <a:extLst>
                  <a:ext uri="{FF2B5EF4-FFF2-40B4-BE49-F238E27FC236}">
                    <a16:creationId xmlns:a16="http://schemas.microsoft.com/office/drawing/2014/main" xmlns="" id="{8E5A8D16-FBBC-D14E-8BAD-251BDDCBBDB1}"/>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83" name="Group 54">
              <a:extLst>
                <a:ext uri="{FF2B5EF4-FFF2-40B4-BE49-F238E27FC236}">
                  <a16:creationId xmlns:a16="http://schemas.microsoft.com/office/drawing/2014/main" xmlns="" id="{21D50596-28D4-5A43-9FB1-7BBC7387FCE9}"/>
                </a:ext>
              </a:extLst>
            </p:cNvPr>
            <p:cNvGrpSpPr>
              <a:grpSpLocks/>
            </p:cNvGrpSpPr>
            <p:nvPr/>
          </p:nvGrpSpPr>
          <p:grpSpPr bwMode="auto">
            <a:xfrm rot="10800000">
              <a:off x="485" y="2224"/>
              <a:ext cx="66" cy="864"/>
              <a:chOff x="3099" y="1749"/>
              <a:chExt cx="66" cy="320"/>
            </a:xfrm>
          </p:grpSpPr>
          <p:sp>
            <p:nvSpPr>
              <p:cNvPr id="84" name="Line 55">
                <a:extLst>
                  <a:ext uri="{FF2B5EF4-FFF2-40B4-BE49-F238E27FC236}">
                    <a16:creationId xmlns:a16="http://schemas.microsoft.com/office/drawing/2014/main" xmlns="" id="{80D32A34-44D9-C043-A214-A031ADF68922}"/>
                  </a:ext>
                </a:extLst>
              </p:cNvPr>
              <p:cNvSpPr>
                <a:spLocks noChangeShapeType="1"/>
              </p:cNvSpPr>
              <p:nvPr/>
            </p:nvSpPr>
            <p:spPr bwMode="auto">
              <a:xfrm flipV="1">
                <a:off x="3132"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5" name="Line 56">
                <a:extLst>
                  <a:ext uri="{FF2B5EF4-FFF2-40B4-BE49-F238E27FC236}">
                    <a16:creationId xmlns:a16="http://schemas.microsoft.com/office/drawing/2014/main" xmlns="" id="{AE50FFCD-888F-5F49-95EA-1422F4F92DA1}"/>
                  </a:ext>
                </a:extLst>
              </p:cNvPr>
              <p:cNvSpPr>
                <a:spLocks noChangeShapeType="1"/>
              </p:cNvSpPr>
              <p:nvPr/>
            </p:nvSpPr>
            <p:spPr bwMode="auto">
              <a:xfrm>
                <a:off x="3106" y="1752"/>
                <a:ext cx="6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5" name="Group 4">
            <a:extLst>
              <a:ext uri="{FF2B5EF4-FFF2-40B4-BE49-F238E27FC236}">
                <a16:creationId xmlns:a16="http://schemas.microsoft.com/office/drawing/2014/main" xmlns="" id="{DFEC346A-D192-A745-962D-2F7187BE2EBA}"/>
              </a:ext>
            </a:extLst>
          </p:cNvPr>
          <p:cNvGrpSpPr/>
          <p:nvPr/>
        </p:nvGrpSpPr>
        <p:grpSpPr>
          <a:xfrm>
            <a:off x="7013299" y="3003106"/>
            <a:ext cx="3612455" cy="2092660"/>
            <a:chOff x="7013299" y="3003106"/>
            <a:chExt cx="3612455" cy="2092660"/>
          </a:xfrm>
        </p:grpSpPr>
        <p:sp>
          <p:nvSpPr>
            <p:cNvPr id="64" name="Line 12">
              <a:extLst>
                <a:ext uri="{FF2B5EF4-FFF2-40B4-BE49-F238E27FC236}">
                  <a16:creationId xmlns:a16="http://schemas.microsoft.com/office/drawing/2014/main" xmlns="" id="{95AEFD21-3019-6045-8B8C-F134C817BFAE}"/>
                </a:ext>
              </a:extLst>
            </p:cNvPr>
            <p:cNvSpPr>
              <a:spLocks noChangeShapeType="1"/>
            </p:cNvSpPr>
            <p:nvPr/>
          </p:nvSpPr>
          <p:spPr bwMode="auto">
            <a:xfrm flipH="1">
              <a:off x="7124339" y="3003106"/>
              <a:ext cx="3483853" cy="939821"/>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8" name="Line 17">
              <a:extLst>
                <a:ext uri="{FF2B5EF4-FFF2-40B4-BE49-F238E27FC236}">
                  <a16:creationId xmlns:a16="http://schemas.microsoft.com/office/drawing/2014/main" xmlns="" id="{D424C827-C61B-5F47-A8EF-11555EB430C0}"/>
                </a:ext>
              </a:extLst>
            </p:cNvPr>
            <p:cNvSpPr>
              <a:spLocks noChangeShapeType="1"/>
            </p:cNvSpPr>
            <p:nvPr/>
          </p:nvSpPr>
          <p:spPr bwMode="auto">
            <a:xfrm flipH="1">
              <a:off x="7126535" y="3495131"/>
              <a:ext cx="3499219" cy="96377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9" name="Line 18">
              <a:extLst>
                <a:ext uri="{FF2B5EF4-FFF2-40B4-BE49-F238E27FC236}">
                  <a16:creationId xmlns:a16="http://schemas.microsoft.com/office/drawing/2014/main" xmlns="" id="{E299C9DA-59E0-D740-8F25-10DD099B646A}"/>
                </a:ext>
              </a:extLst>
            </p:cNvPr>
            <p:cNvSpPr>
              <a:spLocks noChangeShapeType="1"/>
            </p:cNvSpPr>
            <p:nvPr/>
          </p:nvSpPr>
          <p:spPr bwMode="auto">
            <a:xfrm flipH="1">
              <a:off x="7137252" y="3785544"/>
              <a:ext cx="3466289" cy="10301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0" name="Line 19">
              <a:extLst>
                <a:ext uri="{FF2B5EF4-FFF2-40B4-BE49-F238E27FC236}">
                  <a16:creationId xmlns:a16="http://schemas.microsoft.com/office/drawing/2014/main" xmlns="" id="{5BBCCA9A-EE48-4F4D-B1C7-EAC125089125}"/>
                </a:ext>
              </a:extLst>
            </p:cNvPr>
            <p:cNvSpPr>
              <a:spLocks noChangeShapeType="1"/>
            </p:cNvSpPr>
            <p:nvPr/>
          </p:nvSpPr>
          <p:spPr bwMode="auto">
            <a:xfrm flipH="1">
              <a:off x="7137252" y="4050906"/>
              <a:ext cx="3450923" cy="104486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9" name="Text Box 43">
              <a:extLst>
                <a:ext uri="{FF2B5EF4-FFF2-40B4-BE49-F238E27FC236}">
                  <a16:creationId xmlns:a16="http://schemas.microsoft.com/office/drawing/2014/main" xmlns="" id="{239E35BD-73CE-0B47-977F-0F2E0F1170FF}"/>
                </a:ext>
              </a:extLst>
            </p:cNvPr>
            <p:cNvSpPr txBox="1">
              <a:spLocks noChangeArrowheads="1"/>
            </p:cNvSpPr>
            <p:nvPr/>
          </p:nvSpPr>
          <p:spPr bwMode="auto">
            <a:xfrm rot="20736981">
              <a:off x="7013299" y="3540991"/>
              <a:ext cx="1312756" cy="3538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0" name="Text Box 67">
              <a:extLst>
                <a:ext uri="{FF2B5EF4-FFF2-40B4-BE49-F238E27FC236}">
                  <a16:creationId xmlns:a16="http://schemas.microsoft.com/office/drawing/2014/main" xmlns="" id="{0D263B80-AF59-D348-84FD-932DC45167E5}"/>
                </a:ext>
              </a:extLst>
            </p:cNvPr>
            <p:cNvSpPr txBox="1">
              <a:spLocks noChangeArrowheads="1"/>
            </p:cNvSpPr>
            <p:nvPr/>
          </p:nvSpPr>
          <p:spPr bwMode="auto">
            <a:xfrm rot="20635106">
              <a:off x="7025762" y="4030047"/>
              <a:ext cx="1312756" cy="3538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3" name="Text Box 74">
              <a:extLst>
                <a:ext uri="{FF2B5EF4-FFF2-40B4-BE49-F238E27FC236}">
                  <a16:creationId xmlns:a16="http://schemas.microsoft.com/office/drawing/2014/main" xmlns="" id="{8EFF23A0-366A-E64A-A6E3-90FD7CB3D7C0}"/>
                </a:ext>
              </a:extLst>
            </p:cNvPr>
            <p:cNvSpPr txBox="1">
              <a:spLocks noChangeArrowheads="1"/>
            </p:cNvSpPr>
            <p:nvPr/>
          </p:nvSpPr>
          <p:spPr bwMode="auto">
            <a:xfrm rot="20657108">
              <a:off x="7017491" y="4400415"/>
              <a:ext cx="1312756" cy="3538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6" name="Text Box 77">
              <a:extLst>
                <a:ext uri="{FF2B5EF4-FFF2-40B4-BE49-F238E27FC236}">
                  <a16:creationId xmlns:a16="http://schemas.microsoft.com/office/drawing/2014/main" xmlns="" id="{589E2F0E-5EA2-944C-B543-F8CCDFFE3457}"/>
                </a:ext>
              </a:extLst>
            </p:cNvPr>
            <p:cNvSpPr txBox="1">
              <a:spLocks noChangeArrowheads="1"/>
            </p:cNvSpPr>
            <p:nvPr/>
          </p:nvSpPr>
          <p:spPr bwMode="auto">
            <a:xfrm rot="20628354">
              <a:off x="7020313" y="4687228"/>
              <a:ext cx="1312756" cy="3538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97" name="Rectangle 84">
            <a:extLst>
              <a:ext uri="{FF2B5EF4-FFF2-40B4-BE49-F238E27FC236}">
                <a16:creationId xmlns:a16="http://schemas.microsoft.com/office/drawing/2014/main" xmlns="" id="{DDC13008-E549-D946-9386-1DAF70895444}"/>
              </a:ext>
            </a:extLst>
          </p:cNvPr>
          <p:cNvSpPr>
            <a:spLocks noChangeArrowheads="1"/>
          </p:cNvSpPr>
          <p:nvPr/>
        </p:nvSpPr>
        <p:spPr bwMode="auto">
          <a:xfrm>
            <a:off x="7435805" y="2563776"/>
            <a:ext cx="1047131" cy="26167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 name="Group 3">
            <a:extLst>
              <a:ext uri="{FF2B5EF4-FFF2-40B4-BE49-F238E27FC236}">
                <a16:creationId xmlns:a16="http://schemas.microsoft.com/office/drawing/2014/main" xmlns="" id="{A410A887-ABC6-3C43-BE7B-AF0C2FBB6C93}"/>
              </a:ext>
            </a:extLst>
          </p:cNvPr>
          <p:cNvGrpSpPr/>
          <p:nvPr/>
        </p:nvGrpSpPr>
        <p:grpSpPr>
          <a:xfrm>
            <a:off x="7137252" y="2219051"/>
            <a:ext cx="3503609" cy="1809741"/>
            <a:chOff x="7137252" y="2219051"/>
            <a:chExt cx="3503609" cy="1809741"/>
          </a:xfrm>
        </p:grpSpPr>
        <p:sp>
          <p:nvSpPr>
            <p:cNvPr id="60" name="Line 3">
              <a:extLst>
                <a:ext uri="{FF2B5EF4-FFF2-40B4-BE49-F238E27FC236}">
                  <a16:creationId xmlns:a16="http://schemas.microsoft.com/office/drawing/2014/main" xmlns="" id="{2DDEC3DE-B6A8-CB4A-8854-325CA53758C5}"/>
                </a:ext>
              </a:extLst>
            </p:cNvPr>
            <p:cNvSpPr>
              <a:spLocks noChangeShapeType="1"/>
            </p:cNvSpPr>
            <p:nvPr/>
          </p:nvSpPr>
          <p:spPr bwMode="auto">
            <a:xfrm>
              <a:off x="7137252" y="2281830"/>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1" name="Line 9">
              <a:extLst>
                <a:ext uri="{FF2B5EF4-FFF2-40B4-BE49-F238E27FC236}">
                  <a16:creationId xmlns:a16="http://schemas.microsoft.com/office/drawing/2014/main" xmlns="" id="{7443982D-7E67-3541-8BDB-FB3F54B4C262}"/>
                </a:ext>
              </a:extLst>
            </p:cNvPr>
            <p:cNvSpPr>
              <a:spLocks noChangeShapeType="1"/>
            </p:cNvSpPr>
            <p:nvPr/>
          </p:nvSpPr>
          <p:spPr bwMode="auto">
            <a:xfrm>
              <a:off x="7137252" y="2547191"/>
              <a:ext cx="2430134" cy="48096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5" name="Line 14">
              <a:extLst>
                <a:ext uri="{FF2B5EF4-FFF2-40B4-BE49-F238E27FC236}">
                  <a16:creationId xmlns:a16="http://schemas.microsoft.com/office/drawing/2014/main" xmlns="" id="{45E4DCDF-3370-7840-AFF3-2F4DBC2FB6CD}"/>
                </a:ext>
              </a:extLst>
            </p:cNvPr>
            <p:cNvSpPr>
              <a:spLocks noChangeShapeType="1"/>
            </p:cNvSpPr>
            <p:nvPr/>
          </p:nvSpPr>
          <p:spPr bwMode="auto">
            <a:xfrm>
              <a:off x="7137252" y="2812553"/>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6" name="Line 15">
              <a:extLst>
                <a:ext uri="{FF2B5EF4-FFF2-40B4-BE49-F238E27FC236}">
                  <a16:creationId xmlns:a16="http://schemas.microsoft.com/office/drawing/2014/main" xmlns="" id="{99432412-7F47-DD4A-A770-DACE51980B08}"/>
                </a:ext>
              </a:extLst>
            </p:cNvPr>
            <p:cNvSpPr>
              <a:spLocks noChangeShapeType="1"/>
            </p:cNvSpPr>
            <p:nvPr/>
          </p:nvSpPr>
          <p:spPr bwMode="auto">
            <a:xfrm>
              <a:off x="7137252" y="3343275"/>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7" name="Line 16">
              <a:extLst>
                <a:ext uri="{FF2B5EF4-FFF2-40B4-BE49-F238E27FC236}">
                  <a16:creationId xmlns:a16="http://schemas.microsoft.com/office/drawing/2014/main" xmlns="" id="{D5993C48-F14C-2044-846C-9FEC391300A9}"/>
                </a:ext>
              </a:extLst>
            </p:cNvPr>
            <p:cNvSpPr>
              <a:spLocks noChangeShapeType="1"/>
            </p:cNvSpPr>
            <p:nvPr/>
          </p:nvSpPr>
          <p:spPr bwMode="auto">
            <a:xfrm>
              <a:off x="7137252" y="3077914"/>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1" name="Text Box 20">
              <a:extLst>
                <a:ext uri="{FF2B5EF4-FFF2-40B4-BE49-F238E27FC236}">
                  <a16:creationId xmlns:a16="http://schemas.microsoft.com/office/drawing/2014/main" xmlns="" id="{E876EFCF-EFAF-7745-82C0-69510059A681}"/>
                </a:ext>
              </a:extLst>
            </p:cNvPr>
            <p:cNvSpPr txBox="1">
              <a:spLocks noChangeArrowheads="1"/>
            </p:cNvSpPr>
            <p:nvPr/>
          </p:nvSpPr>
          <p:spPr bwMode="auto">
            <a:xfrm>
              <a:off x="9451039" y="2740684"/>
              <a:ext cx="390753" cy="5307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Arial" charset="0"/>
                  <a:ea typeface="ＭＳ Ｐゴシック" charset="0"/>
                  <a:cs typeface="+mn-cs"/>
                </a:rPr>
                <a:t>X</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76" name="Text Box 40">
              <a:extLst>
                <a:ext uri="{FF2B5EF4-FFF2-40B4-BE49-F238E27FC236}">
                  <a16:creationId xmlns:a16="http://schemas.microsoft.com/office/drawing/2014/main" xmlns="" id="{9B99FD84-14B7-6845-8B4C-03596E083BDE}"/>
                </a:ext>
              </a:extLst>
            </p:cNvPr>
            <p:cNvSpPr txBox="1">
              <a:spLocks noChangeArrowheads="1"/>
            </p:cNvSpPr>
            <p:nvPr/>
          </p:nvSpPr>
          <p:spPr bwMode="auto">
            <a:xfrm rot="584648">
              <a:off x="7273253" y="2219051"/>
              <a:ext cx="2122193" cy="3077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sp>
          <p:nvSpPr>
            <p:cNvPr id="98" name="Text Box 83">
              <a:extLst>
                <a:ext uri="{FF2B5EF4-FFF2-40B4-BE49-F238E27FC236}">
                  <a16:creationId xmlns:a16="http://schemas.microsoft.com/office/drawing/2014/main" xmlns="" id="{677E8A81-661D-AA46-A7ED-6BC634EAB244}"/>
                </a:ext>
              </a:extLst>
            </p:cNvPr>
            <p:cNvSpPr txBox="1">
              <a:spLocks noChangeArrowheads="1"/>
            </p:cNvSpPr>
            <p:nvPr/>
          </p:nvSpPr>
          <p:spPr bwMode="auto">
            <a:xfrm rot="665764">
              <a:off x="7287508" y="2545419"/>
              <a:ext cx="2313691"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8" name="Group 7">
            <a:extLst>
              <a:ext uri="{FF2B5EF4-FFF2-40B4-BE49-F238E27FC236}">
                <a16:creationId xmlns:a16="http://schemas.microsoft.com/office/drawing/2014/main" xmlns="" id="{13A0E61A-342C-6348-8A8F-CA25838E85CE}"/>
              </a:ext>
            </a:extLst>
          </p:cNvPr>
          <p:cNvGrpSpPr/>
          <p:nvPr/>
        </p:nvGrpSpPr>
        <p:grpSpPr>
          <a:xfrm>
            <a:off x="6842436" y="5132585"/>
            <a:ext cx="3833549" cy="696610"/>
            <a:chOff x="6842436" y="5132585"/>
            <a:chExt cx="3833549" cy="696610"/>
          </a:xfrm>
        </p:grpSpPr>
        <p:sp>
          <p:nvSpPr>
            <p:cNvPr id="72" name="Line 24">
              <a:extLst>
                <a:ext uri="{FF2B5EF4-FFF2-40B4-BE49-F238E27FC236}">
                  <a16:creationId xmlns:a16="http://schemas.microsoft.com/office/drawing/2014/main" xmlns="" id="{A22F562A-B278-CF40-B0A2-08D7E895698A}"/>
                </a:ext>
              </a:extLst>
            </p:cNvPr>
            <p:cNvSpPr>
              <a:spLocks noChangeShapeType="1"/>
            </p:cNvSpPr>
            <p:nvPr/>
          </p:nvSpPr>
          <p:spPr bwMode="auto">
            <a:xfrm>
              <a:off x="7172376" y="5143678"/>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9" name="Rectangle 85">
              <a:extLst>
                <a:ext uri="{FF2B5EF4-FFF2-40B4-BE49-F238E27FC236}">
                  <a16:creationId xmlns:a16="http://schemas.microsoft.com/office/drawing/2014/main" xmlns="" id="{C18ABD18-73AE-1540-89A2-73F2330E4BCD}"/>
                </a:ext>
              </a:extLst>
            </p:cNvPr>
            <p:cNvSpPr>
              <a:spLocks noChangeArrowheads="1"/>
            </p:cNvSpPr>
            <p:nvPr/>
          </p:nvSpPr>
          <p:spPr bwMode="auto">
            <a:xfrm>
              <a:off x="7408171" y="5224724"/>
              <a:ext cx="1047131" cy="26167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0" name="Text Box 86">
              <a:extLst>
                <a:ext uri="{FF2B5EF4-FFF2-40B4-BE49-F238E27FC236}">
                  <a16:creationId xmlns:a16="http://schemas.microsoft.com/office/drawing/2014/main" xmlns="" id="{DDF60828-DFE2-734F-A384-4D3CA07DDADD}"/>
                </a:ext>
              </a:extLst>
            </p:cNvPr>
            <p:cNvSpPr txBox="1">
              <a:spLocks noChangeArrowheads="1"/>
            </p:cNvSpPr>
            <p:nvPr/>
          </p:nvSpPr>
          <p:spPr bwMode="auto">
            <a:xfrm>
              <a:off x="6842436" y="5132585"/>
              <a:ext cx="3154565" cy="35381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101" name="Group 93">
            <a:extLst>
              <a:ext uri="{FF2B5EF4-FFF2-40B4-BE49-F238E27FC236}">
                <a16:creationId xmlns:a16="http://schemas.microsoft.com/office/drawing/2014/main" xmlns="" id="{90980625-BCFD-F546-BD95-6CC80FC48859}"/>
              </a:ext>
            </a:extLst>
          </p:cNvPr>
          <p:cNvGrpSpPr>
            <a:grpSpLocks/>
          </p:cNvGrpSpPr>
          <p:nvPr/>
        </p:nvGrpSpPr>
        <p:grpSpPr bwMode="auto">
          <a:xfrm>
            <a:off x="6608198" y="1343690"/>
            <a:ext cx="810044" cy="619176"/>
            <a:chOff x="-44" y="1473"/>
            <a:chExt cx="981" cy="1105"/>
          </a:xfrm>
        </p:grpSpPr>
        <p:pic>
          <p:nvPicPr>
            <p:cNvPr id="102" name="Picture 94" descr="desktop_computer_stylized_medium">
              <a:extLst>
                <a:ext uri="{FF2B5EF4-FFF2-40B4-BE49-F238E27FC236}">
                  <a16:creationId xmlns:a16="http://schemas.microsoft.com/office/drawing/2014/main" xmlns="" id="{6FD17C8F-7985-B64F-82A4-84E39A7C7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Freeform 95">
              <a:extLst>
                <a:ext uri="{FF2B5EF4-FFF2-40B4-BE49-F238E27FC236}">
                  <a16:creationId xmlns:a16="http://schemas.microsoft.com/office/drawing/2014/main" xmlns="" id="{F7BDE405-F464-BB4E-8D0F-F82DE05FCBE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4" name="Group 96">
            <a:extLst>
              <a:ext uri="{FF2B5EF4-FFF2-40B4-BE49-F238E27FC236}">
                <a16:creationId xmlns:a16="http://schemas.microsoft.com/office/drawing/2014/main" xmlns="" id="{30D13886-717C-5C49-84EB-DD7C28AC75E9}"/>
              </a:ext>
            </a:extLst>
          </p:cNvPr>
          <p:cNvGrpSpPr>
            <a:grpSpLocks/>
          </p:cNvGrpSpPr>
          <p:nvPr/>
        </p:nvGrpSpPr>
        <p:grpSpPr bwMode="auto">
          <a:xfrm flipH="1">
            <a:off x="10328620" y="1375018"/>
            <a:ext cx="749093" cy="672617"/>
            <a:chOff x="-44" y="1473"/>
            <a:chExt cx="981" cy="1105"/>
          </a:xfrm>
        </p:grpSpPr>
        <p:pic>
          <p:nvPicPr>
            <p:cNvPr id="105" name="Picture 97" descr="desktop_computer_stylized_medium">
              <a:extLst>
                <a:ext uri="{FF2B5EF4-FFF2-40B4-BE49-F238E27FC236}">
                  <a16:creationId xmlns:a16="http://schemas.microsoft.com/office/drawing/2014/main" xmlns="" id="{5EB3C43B-1013-9A41-8AA9-8D6C5A281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Freeform 98">
              <a:extLst>
                <a:ext uri="{FF2B5EF4-FFF2-40B4-BE49-F238E27FC236}">
                  <a16:creationId xmlns:a16="http://schemas.microsoft.com/office/drawing/2014/main" xmlns="" id="{1D800635-1037-4C4C-A3B0-794CE30A50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7" name="Group 6">
            <a:extLst>
              <a:ext uri="{FF2B5EF4-FFF2-40B4-BE49-F238E27FC236}">
                <a16:creationId xmlns:a16="http://schemas.microsoft.com/office/drawing/2014/main" xmlns="" id="{96BABFE7-C970-8E4B-A16C-A7D788B9DA23}"/>
              </a:ext>
            </a:extLst>
          </p:cNvPr>
          <p:cNvGrpSpPr/>
          <p:nvPr/>
        </p:nvGrpSpPr>
        <p:grpSpPr>
          <a:xfrm>
            <a:off x="1803400" y="4591050"/>
            <a:ext cx="5319534" cy="1606314"/>
            <a:chOff x="1803400" y="4591050"/>
            <a:chExt cx="5319534" cy="1606314"/>
          </a:xfrm>
        </p:grpSpPr>
        <p:pic>
          <p:nvPicPr>
            <p:cNvPr id="52" name="Picture 2" descr="Image result for light bulb icon">
              <a:extLst>
                <a:ext uri="{FF2B5EF4-FFF2-40B4-BE49-F238E27FC236}">
                  <a16:creationId xmlns:a16="http://schemas.microsoft.com/office/drawing/2014/main" xmlns="" id="{F30DA35F-A671-6D4D-9DD4-D0D5E13E1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400" y="4591050"/>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73" name="Text Box 29">
              <a:extLst>
                <a:ext uri="{FF2B5EF4-FFF2-40B4-BE49-F238E27FC236}">
                  <a16:creationId xmlns:a16="http://schemas.microsoft.com/office/drawing/2014/main" xmlns="" id="{34AAC8DC-F059-7445-99BF-80AECC3E6614}"/>
                </a:ext>
              </a:extLst>
            </p:cNvPr>
            <p:cNvSpPr txBox="1">
              <a:spLocks noChangeArrowheads="1"/>
            </p:cNvSpPr>
            <p:nvPr/>
          </p:nvSpPr>
          <p:spPr bwMode="auto">
            <a:xfrm>
              <a:off x="2235200" y="4775436"/>
              <a:ext cx="4145527" cy="14219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a:ea typeface="ＭＳ Ｐゴシック" charset="0"/>
                  <a:cs typeface="+mn-cs"/>
                </a:rPr>
                <a:t>Receipt of three duplicate ACKs indicates 3 segments received after a missing segment – lost segment is likely. So retransmit!</a:t>
              </a:r>
              <a:endParaRPr kumimoji="0" lang="en-US" sz="11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cxnSp>
          <p:nvCxnSpPr>
            <p:cNvPr id="6" name="Straight Connector 5">
              <a:extLst>
                <a:ext uri="{FF2B5EF4-FFF2-40B4-BE49-F238E27FC236}">
                  <a16:creationId xmlns:a16="http://schemas.microsoft.com/office/drawing/2014/main" xmlns="" id="{CD551B68-D8DE-9043-B6CA-9F2F28DD2CA6}"/>
                </a:ext>
              </a:extLst>
            </p:cNvPr>
            <p:cNvCxnSpPr>
              <a:cxnSpLocks/>
            </p:cNvCxnSpPr>
            <p:nvPr/>
          </p:nvCxnSpPr>
          <p:spPr>
            <a:xfrm>
              <a:off x="6359939" y="5143678"/>
              <a:ext cx="762995"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xmlns="" id="{34962C80-D280-E449-81BD-84D3E53124DD}"/>
              </a:ext>
            </a:extLst>
          </p:cNvPr>
          <p:cNvGrpSpPr/>
          <p:nvPr/>
        </p:nvGrpSpPr>
        <p:grpSpPr>
          <a:xfrm>
            <a:off x="790711" y="1227535"/>
            <a:ext cx="5214977" cy="2878929"/>
            <a:chOff x="7089911" y="1681505"/>
            <a:chExt cx="5214977" cy="2878929"/>
          </a:xfrm>
        </p:grpSpPr>
        <p:sp>
          <p:nvSpPr>
            <p:cNvPr id="58" name="Rectangle 5">
              <a:extLst>
                <a:ext uri="{FF2B5EF4-FFF2-40B4-BE49-F238E27FC236}">
                  <a16:creationId xmlns:a16="http://schemas.microsoft.com/office/drawing/2014/main" xmlns="" id="{F5C10379-FA54-C34D-B355-F07F5DA409A8}"/>
                </a:ext>
              </a:extLst>
            </p:cNvPr>
            <p:cNvSpPr>
              <a:spLocks noChangeArrowheads="1"/>
            </p:cNvSpPr>
            <p:nvPr/>
          </p:nvSpPr>
          <p:spPr bwMode="auto">
            <a:xfrm>
              <a:off x="7360355" y="2207758"/>
              <a:ext cx="4809067" cy="22637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463550" indent="-238125">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if sender receives 3 additional ACKs for same data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triple duplicate ACKs”),</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resend unACKed segment with smallest seq #</a:t>
              </a:r>
            </a:p>
            <a:p>
              <a:pPr marL="463550" marR="0" lvl="1" indent="-23812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likely that unACKed segment lost, so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wait for timeout</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9" name="Rectangle 6">
              <a:extLst>
                <a:ext uri="{FF2B5EF4-FFF2-40B4-BE49-F238E27FC236}">
                  <a16:creationId xmlns:a16="http://schemas.microsoft.com/office/drawing/2014/main" xmlns="" id="{8A365B45-4FD3-5C46-85AD-12CD5EA2110A}"/>
                </a:ext>
              </a:extLst>
            </p:cNvPr>
            <p:cNvSpPr>
              <a:spLocks noChangeArrowheads="1"/>
            </p:cNvSpPr>
            <p:nvPr/>
          </p:nvSpPr>
          <p:spPr bwMode="auto">
            <a:xfrm>
              <a:off x="7089911" y="1910106"/>
              <a:ext cx="5214977" cy="2650328"/>
            </a:xfrm>
            <a:prstGeom prst="rect">
              <a:avLst/>
            </a:prstGeom>
            <a:noFill/>
            <a:ln w="19050">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07" name="Text Box 7">
              <a:extLst>
                <a:ext uri="{FF2B5EF4-FFF2-40B4-BE49-F238E27FC236}">
                  <a16:creationId xmlns:a16="http://schemas.microsoft.com/office/drawing/2014/main" xmlns="" id="{F5EE31CA-1C9B-9E4F-8E15-A0B0919A3B54}"/>
                </a:ext>
              </a:extLst>
            </p:cNvPr>
            <p:cNvSpPr txBox="1">
              <a:spLocks noChangeArrowheads="1"/>
            </p:cNvSpPr>
            <p:nvPr/>
          </p:nvSpPr>
          <p:spPr bwMode="auto">
            <a:xfrm>
              <a:off x="7348953" y="1681505"/>
              <a:ext cx="2773363"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C0000"/>
                  </a:solidFill>
                  <a:effectLst/>
                  <a:uLnTx/>
                  <a:uFillTx/>
                  <a:latin typeface="Tahoma" charset="0"/>
                  <a:ea typeface="ＭＳ Ｐゴシック" charset="0"/>
                  <a:cs typeface="+mn-cs"/>
                </a:rPr>
                <a:t>TCP fast retransmit</a:t>
              </a:r>
            </a:p>
          </p:txBody>
        </p:sp>
      </p:grpSp>
      <p:sp>
        <p:nvSpPr>
          <p:cNvPr id="53" name="Slide Number Placeholder 2">
            <a:extLst>
              <a:ext uri="{FF2B5EF4-FFF2-40B4-BE49-F238E27FC236}">
                <a16:creationId xmlns:a16="http://schemas.microsoft.com/office/drawing/2014/main" xmlns="" id="{16A9B416-8E8B-FD4A-BF46-FBBC16EEB4F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15</a:t>
            </a:fld>
            <a:endParaRPr lang="en-US" dirty="0"/>
          </a:p>
        </p:txBody>
      </p:sp>
    </p:spTree>
    <p:extLst>
      <p:ext uri="{BB962C8B-B14F-4D97-AF65-F5344CB8AC3E}">
        <p14:creationId xmlns:p14="http://schemas.microsoft.com/office/powerpoint/2010/main" val="1196614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dissolve">
                                      <p:cBhvr>
                                        <p:cTn id="2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10033</TotalTime>
  <Words>1817</Words>
  <Application>Microsoft Office PowerPoint</Application>
  <PresentationFormat>Custom</PresentationFormat>
  <Paragraphs>309</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Computer Networks (CS-241)</vt:lpstr>
      <vt:lpstr>Chapter 3: roadmap</vt:lpstr>
      <vt:lpstr>Recap: Layered TCP/IP stack (1/3)</vt:lpstr>
      <vt:lpstr>Transport layer: overview</vt:lpstr>
      <vt:lpstr>TCP: overview  RFCs: 793,1122, 2018, 5681, 7323</vt:lpstr>
      <vt:lpstr>TCP segment structure</vt:lpstr>
      <vt:lpstr>TCP sequence numbers, ACKs</vt:lpstr>
      <vt:lpstr>TCP sequence numbers, ACKs</vt:lpstr>
      <vt:lpstr>TCP round trip time, timeout</vt:lpstr>
      <vt:lpstr>TCP round trip time, timeout</vt:lpstr>
      <vt:lpstr>TCP round trip time, timeout</vt:lpstr>
      <vt:lpstr>TCP Sender (simplified)</vt:lpstr>
      <vt:lpstr>TCP: retransmission scenarios</vt:lpstr>
      <vt:lpstr>TCP: retransmission scenarios</vt:lpstr>
      <vt:lpstr>TCP fast retransmit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UbaidComputers</cp:lastModifiedBy>
  <cp:revision>413</cp:revision>
  <dcterms:created xsi:type="dcterms:W3CDTF">2020-01-18T07:24:59Z</dcterms:created>
  <dcterms:modified xsi:type="dcterms:W3CDTF">2025-11-20T03:20:59Z</dcterms:modified>
</cp:coreProperties>
</file>