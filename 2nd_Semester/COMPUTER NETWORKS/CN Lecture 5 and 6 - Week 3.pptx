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1171" r:id="rId2"/>
    <p:sldId id="1175" r:id="rId3"/>
    <p:sldId id="1174" r:id="rId4"/>
    <p:sldId id="1173" r:id="rId5"/>
    <p:sldId id="1161" r:id="rId6"/>
    <p:sldId id="1055" r:id="rId7"/>
    <p:sldId id="965" r:id="rId8"/>
    <p:sldId id="1056" r:id="rId9"/>
    <p:sldId id="1178" r:id="rId10"/>
    <p:sldId id="1162" r:id="rId11"/>
    <p:sldId id="1177" r:id="rId12"/>
    <p:sldId id="1163" r:id="rId13"/>
    <p:sldId id="1164" r:id="rId14"/>
    <p:sldId id="1165" r:id="rId15"/>
    <p:sldId id="1166" r:id="rId16"/>
    <p:sldId id="1176" r:id="rId17"/>
    <p:sldId id="1179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1104" userDrawn="1">
          <p15:clr>
            <a:srgbClr val="A4A3A4"/>
          </p15:clr>
        </p15:guide>
        <p15:guide id="2" pos="5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A3"/>
    <a:srgbClr val="9CDFF9"/>
    <a:srgbClr val="010086"/>
    <a:srgbClr val="CCCCFF"/>
    <a:srgbClr val="3C6CDF"/>
    <a:srgbClr val="0000A8"/>
    <a:srgbClr val="C96B72"/>
    <a:srgbClr val="B8C2C9"/>
    <a:srgbClr val="D6DCE0"/>
    <a:srgbClr val="01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8331"/>
    <p:restoredTop sz="93349" autoAdjust="0"/>
  </p:normalViewPr>
  <p:slideViewPr>
    <p:cSldViewPr snapToGrid="0" snapToObjects="1">
      <p:cViewPr varScale="1">
        <p:scale>
          <a:sx n="82" d="100"/>
          <a:sy n="82" d="100"/>
        </p:scale>
        <p:origin x="-307" y="-91"/>
      </p:cViewPr>
      <p:guideLst>
        <p:guide orient="horz" pos="1104"/>
        <p:guide pos="576"/>
      </p:guideLst>
    </p:cSldViewPr>
  </p:slideViewPr>
  <p:outlineViewPr>
    <p:cViewPr>
      <p:scale>
        <a:sx n="33" d="100"/>
        <a:sy n="33" d="100"/>
      </p:scale>
      <p:origin x="0" y="-4152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5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53024D-5FCD-D142-BBE1-7B391F60AD88}" type="datetimeFigureOut">
              <a:rPr lang="en-US" smtClean="0"/>
              <a:t>10/31/2025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D91EEAC-CFEF-9647-876F-EABC6B8338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5561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55900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8355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835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835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08355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435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06393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185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8185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735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73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973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989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417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98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988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98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15EC686-8429-2E40-81FA-5EC9C4AB3C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CC2C238-9334-5D47-BE46-7DBB933E48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F7F1199A-45E4-9E4D-95C0-396A8A9C6F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365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DA2846C-3DC3-2A4C-84E1-3E3C50231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24027"/>
            <a:ext cx="10515600" cy="435133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xmlns="" id="{F32235DD-B99A-7744-92BB-36CB49B43B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41717D89-2D64-4E49-A8B8-D7B9326607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84461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0E48D4C-6954-CC4D-A491-4B78BF548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ABE2032-3F11-1945-8A1D-25EC80CF91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ADCF1CB-5DBA-8B49-A839-F079E4BF43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xmlns="" id="{2E873D4E-4EDA-1349-AB14-5DC995BFCD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73958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EC2B102D-EC4F-B64D-BB0A-3CBBCEE21B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xmlns="" id="{80DCD8E0-36D6-2D43-9C3A-92DC921E1D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131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186D5FD2-E0BC-9B4A-8B69-BFD8F956C7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7A987CFD-1EF3-634C-B854-216A26AC23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B87C6EBB-9D5E-E84A-9BCA-EA7E05FD1C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 dirty="0"/>
              <a:t>Application Layer: 2-</a:t>
            </a:r>
            <a:fld id="{C4204591-24BD-A542-B9D5-F8D8A88D2FE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5165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rgbClr val="0000A3"/>
          </a:solidFill>
          <a:latin typeface="+mj-lt"/>
          <a:ea typeface="+mj-ea"/>
          <a:cs typeface="+mj-cs"/>
        </a:defRPr>
      </a:lvl1pPr>
    </p:titleStyle>
    <p:bodyStyle>
      <a:lvl1pPr marL="352425" indent="-222250" algn="l" defTabSz="914400" rtl="0" eaLnBrk="1" latinLnBrk="0" hangingPunct="1">
        <a:lnSpc>
          <a:spcPct val="90000"/>
        </a:lnSpc>
        <a:spcBef>
          <a:spcPts val="1000"/>
        </a:spcBef>
        <a:buClr>
          <a:srgbClr val="0000A3"/>
        </a:buClr>
        <a:buFont typeface="Wingdings" pitchFamily="2" charset="2"/>
        <a:buChar char="§"/>
        <a:tabLst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95325" indent="-231775" algn="l" defTabSz="914400" rtl="0" eaLnBrk="1" latinLnBrk="0" hangingPunct="1">
        <a:lnSpc>
          <a:spcPct val="90000"/>
        </a:lnSpc>
        <a:spcBef>
          <a:spcPts val="500"/>
        </a:spcBef>
        <a:buClr>
          <a:srgbClr val="0000A8"/>
        </a:buClr>
        <a:buFont typeface="Arial" panose="020B0604020202020204" pitchFamily="34" charset="0"/>
        <a:buChar char="•"/>
        <a:tabLst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21" Type="http://schemas.openxmlformats.org/officeDocument/2006/relationships/image" Target="../media/image19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10" Type="http://schemas.openxmlformats.org/officeDocument/2006/relationships/image" Target="../media/image8.png"/><Relationship Id="rId19" Type="http://schemas.openxmlformats.org/officeDocument/2006/relationships/image" Target="../media/image17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Relationship Id="rId22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2.png"/><Relationship Id="rId18" Type="http://schemas.openxmlformats.org/officeDocument/2006/relationships/image" Target="../media/image18.png"/><Relationship Id="rId3" Type="http://schemas.openxmlformats.org/officeDocument/2006/relationships/image" Target="../media/image1.png"/><Relationship Id="rId21" Type="http://schemas.openxmlformats.org/officeDocument/2006/relationships/image" Target="../media/image21.png"/><Relationship Id="rId7" Type="http://schemas.openxmlformats.org/officeDocument/2006/relationships/image" Target="../media/image5.png"/><Relationship Id="rId12" Type="http://schemas.openxmlformats.org/officeDocument/2006/relationships/image" Target="../media/image11.png"/><Relationship Id="rId17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5" Type="http://schemas.openxmlformats.org/officeDocument/2006/relationships/image" Target="../media/image3.png"/><Relationship Id="rId15" Type="http://schemas.openxmlformats.org/officeDocument/2006/relationships/image" Target="../media/image15.png"/><Relationship Id="rId23" Type="http://schemas.openxmlformats.org/officeDocument/2006/relationships/image" Target="../media/image13.png"/><Relationship Id="rId10" Type="http://schemas.openxmlformats.org/officeDocument/2006/relationships/image" Target="../media/image8.png"/><Relationship Id="rId19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4.png"/><Relationship Id="rId22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5.emf"/><Relationship Id="rId4" Type="http://schemas.openxmlformats.org/officeDocument/2006/relationships/oleObject" Target="../embeddings/oleObject1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>
            <a:extLst>
              <a:ext uri="{FF2B5EF4-FFF2-40B4-BE49-F238E27FC236}">
                <a16:creationId xmlns:a16="http://schemas.microsoft.com/office/drawing/2014/main" xmlns="" id="{014327ED-1729-4CF5-B0EF-DC2B5CF71371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720726"/>
            <a:ext cx="10363200" cy="1470025"/>
          </a:xfrm>
        </p:spPr>
        <p:txBody>
          <a:bodyPr/>
          <a:lstStyle/>
          <a:p>
            <a:pPr algn="ctr"/>
            <a:r>
              <a:rPr lang="en-US" altLang="en-US" dirty="0" smtClean="0"/>
              <a:t>Computer Networks (CS-241)</a:t>
            </a:r>
            <a:endParaRPr lang="en-US" altLang="en-US" dirty="0"/>
          </a:p>
        </p:txBody>
      </p:sp>
      <p:sp>
        <p:nvSpPr>
          <p:cNvPr id="10243" name="Subtitle 2">
            <a:extLst>
              <a:ext uri="{FF2B5EF4-FFF2-40B4-BE49-F238E27FC236}">
                <a16:creationId xmlns:a16="http://schemas.microsoft.com/office/drawing/2014/main" xmlns="" id="{B4C45B81-2463-4E90-93A3-F4551BFA52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828800" y="2819400"/>
            <a:ext cx="8534400" cy="1028700"/>
          </a:xfrm>
        </p:spPr>
        <p:txBody>
          <a:bodyPr>
            <a:normAutofit fontScale="85000" lnSpcReduction="20000"/>
          </a:bodyPr>
          <a:lstStyle/>
          <a:p>
            <a:r>
              <a:rPr lang="en-US" altLang="en-US" dirty="0" smtClean="0"/>
              <a:t>Dr. Syed Muhammad Mohsin</a:t>
            </a:r>
            <a:endParaRPr lang="en-US" altLang="en-US" dirty="0"/>
          </a:p>
          <a:p>
            <a:r>
              <a:rPr lang="en-US" altLang="en-US" dirty="0" smtClean="0"/>
              <a:t>Department of Computer Science,</a:t>
            </a:r>
          </a:p>
          <a:p>
            <a:r>
              <a:rPr lang="en-US" altLang="en-US" dirty="0" smtClean="0"/>
              <a:t>University of Wah </a:t>
            </a:r>
            <a:endParaRPr lang="en-US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71D89A5-A209-4B52-BF77-E96A6C2997F3}"/>
              </a:ext>
            </a:extLst>
          </p:cNvPr>
          <p:cNvSpPr txBox="1"/>
          <p:nvPr/>
        </p:nvSpPr>
        <p:spPr>
          <a:xfrm>
            <a:off x="1710391" y="5252828"/>
            <a:ext cx="9586259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Adapted From:</a:t>
            </a:r>
          </a:p>
          <a:p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Computer Networking: </a:t>
            </a:r>
            <a:r>
              <a:rPr lang="en-US" altLang="en-US" sz="2800" i="1" dirty="0" smtClean="0">
                <a:solidFill>
                  <a:srgbClr val="0000A3"/>
                </a:solidFill>
                <a:latin typeface="+mn-lt"/>
              </a:rPr>
              <a:t> A </a:t>
            </a:r>
            <a:r>
              <a:rPr lang="en-US" altLang="en-US" sz="2800" i="1" dirty="0">
                <a:solidFill>
                  <a:srgbClr val="0000A3"/>
                </a:solidFill>
                <a:latin typeface="+mn-lt"/>
              </a:rPr>
              <a:t>Top-Down Approach </a:t>
            </a:r>
            <a:r>
              <a:rPr lang="en-US" altLang="en-US" sz="2800" dirty="0">
                <a:solidFill>
                  <a:srgbClr val="008000"/>
                </a:solidFill>
                <a:latin typeface="+mn-lt"/>
              </a:rPr>
              <a:t/>
            </a:r>
            <a:br>
              <a:rPr lang="en-US" altLang="en-US" sz="2800" dirty="0">
                <a:solidFill>
                  <a:srgbClr val="008000"/>
                </a:solidFill>
                <a:latin typeface="+mn-lt"/>
              </a:rPr>
            </a:br>
            <a:r>
              <a:rPr lang="en-US" altLang="en-US" sz="1800" dirty="0">
                <a:latin typeface="+mn-lt"/>
              </a:rPr>
              <a:t>8</a:t>
            </a:r>
            <a:r>
              <a:rPr lang="en-US" altLang="en-US" sz="1800" baseline="30000" dirty="0">
                <a:latin typeface="+mn-lt"/>
              </a:rPr>
              <a:t>th</a:t>
            </a:r>
            <a:r>
              <a:rPr lang="en-US" altLang="en-US" sz="1800" dirty="0">
                <a:latin typeface="+mn-lt"/>
              </a:rPr>
              <a:t> edition: Jim Kurose, Keith Ross Pearson, 2020</a:t>
            </a:r>
            <a:endParaRPr lang="en-US" altLang="en-US" sz="20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674924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 smtClean="0"/>
              <a:t>Topics to be covered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96686" y="2584634"/>
            <a:ext cx="11038113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itchFamily="34" charset="0"/>
              <a:buChar char="•"/>
            </a:pPr>
            <a:r>
              <a:rPr lang="en-US" sz="2400" dirty="0"/>
              <a:t>Application </a:t>
            </a:r>
            <a:r>
              <a:rPr lang="en-US" sz="2400" dirty="0" smtClean="0"/>
              <a:t>Layer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Principles </a:t>
            </a:r>
            <a:r>
              <a:rPr lang="en-US" sz="2400" dirty="0"/>
              <a:t>of Network </a:t>
            </a:r>
            <a:r>
              <a:rPr lang="en-US" sz="2400" dirty="0" smtClean="0"/>
              <a:t>Applications</a:t>
            </a:r>
          </a:p>
          <a:p>
            <a:pPr marL="342900" indent="-342900">
              <a:buFont typeface="Arial" pitchFamily="34" charset="0"/>
              <a:buChar char="•"/>
            </a:pPr>
            <a:endParaRPr lang="en-US" sz="2400" dirty="0" smtClean="0"/>
          </a:p>
          <a:p>
            <a:pPr marL="342900" indent="-342900">
              <a:buFont typeface="Arial" pitchFamily="34" charset="0"/>
              <a:buChar char="•"/>
            </a:pPr>
            <a:r>
              <a:rPr lang="en-US" sz="2400" dirty="0" smtClean="0"/>
              <a:t>Network </a:t>
            </a:r>
            <a:r>
              <a:rPr lang="en-US" sz="2400" dirty="0"/>
              <a:t>Application </a:t>
            </a:r>
            <a:r>
              <a:rPr lang="en-US" sz="2400" dirty="0" smtClean="0"/>
              <a:t>Architectures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897345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/>
              <a:t>Application layer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96687" y="1446252"/>
            <a:ext cx="9277738" cy="48936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Application Layer is the topmost layer of the OSI (Open Systems Interconnection) </a:t>
            </a:r>
            <a:r>
              <a:rPr lang="en-US" sz="2400" dirty="0" smtClean="0"/>
              <a:t>model. It </a:t>
            </a:r>
            <a:r>
              <a:rPr lang="en-US" sz="2400" dirty="0"/>
              <a:t>provides services and interfaces that allow end users and applications to access the network</a:t>
            </a:r>
            <a:r>
              <a:rPr lang="en-US" sz="2400" dirty="0" smtClean="0"/>
              <a:t>. Key responsibilities of application layer are mentioned below. </a:t>
            </a:r>
          </a:p>
          <a:p>
            <a:endParaRPr lang="en-US" sz="2400" dirty="0"/>
          </a:p>
          <a:p>
            <a:r>
              <a:rPr lang="en-US" sz="2400" b="1" dirty="0"/>
              <a:t>Network services for </a:t>
            </a:r>
            <a:r>
              <a:rPr lang="en-US" sz="2400" b="1" dirty="0" smtClean="0"/>
              <a:t>applications: </a:t>
            </a:r>
            <a:r>
              <a:rPr lang="en-US" sz="2400" dirty="0" smtClean="0"/>
              <a:t>Provides </a:t>
            </a:r>
            <a:r>
              <a:rPr lang="en-US" sz="2400" dirty="0"/>
              <a:t>protocols and services for user-level network interactions.</a:t>
            </a:r>
          </a:p>
          <a:p>
            <a:r>
              <a:rPr lang="en-US" sz="2400" b="1" dirty="0"/>
              <a:t>Data formatting and </a:t>
            </a:r>
            <a:r>
              <a:rPr lang="en-US" sz="2400" b="1" dirty="0" smtClean="0"/>
              <a:t>translation: </a:t>
            </a:r>
            <a:r>
              <a:rPr lang="en-US" sz="2400" dirty="0" smtClean="0"/>
              <a:t>Converts </a:t>
            </a:r>
            <a:r>
              <a:rPr lang="en-US" sz="2400" dirty="0"/>
              <a:t>data from application formats into network formats (and vice versa).</a:t>
            </a:r>
          </a:p>
          <a:p>
            <a:r>
              <a:rPr lang="en-US" sz="2400" b="1" dirty="0"/>
              <a:t>Resource sharing and remote </a:t>
            </a:r>
            <a:r>
              <a:rPr lang="en-US" sz="2400" b="1" dirty="0" smtClean="0"/>
              <a:t>access: </a:t>
            </a:r>
            <a:r>
              <a:rPr lang="en-US" sz="2400" dirty="0" smtClean="0"/>
              <a:t>Allows </a:t>
            </a:r>
            <a:r>
              <a:rPr lang="en-US" sz="2400" dirty="0"/>
              <a:t>sharing of files, printers, and other network resources.</a:t>
            </a:r>
          </a:p>
          <a:p>
            <a:r>
              <a:rPr lang="en-US" sz="2400" b="1" dirty="0"/>
              <a:t>User authentication and </a:t>
            </a:r>
            <a:r>
              <a:rPr lang="en-US" sz="2400" b="1" dirty="0" smtClean="0"/>
              <a:t>privacy: </a:t>
            </a:r>
            <a:r>
              <a:rPr lang="en-US" sz="2400" dirty="0" smtClean="0"/>
              <a:t>Supports </a:t>
            </a:r>
            <a:r>
              <a:rPr lang="en-US" sz="2400" dirty="0"/>
              <a:t>security features such as logins, encryption, and session control.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="" xmlns:a16="http://schemas.microsoft.com/office/drawing/2014/main" id="{439FC83A-3010-6E44-80DA-A0B478A25D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31535" y="1550193"/>
            <a:ext cx="1892300" cy="3586163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dirty="0">
              <a:latin typeface="Times New Roman" panose="02020603050405020304" pitchFamily="18" charset="0"/>
            </a:endParaRPr>
          </a:p>
        </p:txBody>
      </p:sp>
      <p:sp>
        <p:nvSpPr>
          <p:cNvPr id="6" name="Text Box 7">
            <a:extLst>
              <a:ext uri="{FF2B5EF4-FFF2-40B4-BE49-F238E27FC236}">
                <a16:creationId xmlns="" xmlns:a16="http://schemas.microsoft.com/office/drawing/2014/main" id="{02AF1634-8914-FF4A-8ACB-58E0BABFE6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088673" y="1721643"/>
            <a:ext cx="1982787" cy="3414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lnSpc>
                <a:spcPct val="70000"/>
              </a:lnSpc>
            </a:pPr>
            <a:r>
              <a:rPr lang="en-US" altLang="en-US" dirty="0"/>
              <a:t>application</a:t>
            </a:r>
          </a:p>
          <a:p>
            <a:pPr algn="ctr">
              <a:lnSpc>
                <a:spcPct val="70000"/>
              </a:lnSpc>
            </a:pPr>
            <a:endParaRPr lang="en-US" altLang="en-US" dirty="0"/>
          </a:p>
          <a:p>
            <a:pPr algn="ctr">
              <a:lnSpc>
                <a:spcPct val="70000"/>
              </a:lnSpc>
            </a:pPr>
            <a:r>
              <a:rPr lang="en-US" altLang="en-US" dirty="0"/>
              <a:t>presentation</a:t>
            </a:r>
          </a:p>
          <a:p>
            <a:pPr algn="ctr">
              <a:lnSpc>
                <a:spcPct val="70000"/>
              </a:lnSpc>
            </a:pPr>
            <a:endParaRPr lang="en-US" altLang="en-US" dirty="0"/>
          </a:p>
          <a:p>
            <a:pPr algn="ctr">
              <a:lnSpc>
                <a:spcPct val="70000"/>
              </a:lnSpc>
            </a:pPr>
            <a:r>
              <a:rPr lang="en-US" altLang="en-US" dirty="0"/>
              <a:t>session</a:t>
            </a:r>
          </a:p>
          <a:p>
            <a:pPr algn="ctr">
              <a:lnSpc>
                <a:spcPct val="70000"/>
              </a:lnSpc>
            </a:pPr>
            <a:endParaRPr lang="en-US" altLang="en-US" dirty="0"/>
          </a:p>
          <a:p>
            <a:pPr algn="ctr">
              <a:lnSpc>
                <a:spcPct val="70000"/>
              </a:lnSpc>
            </a:pPr>
            <a:r>
              <a:rPr lang="en-US" altLang="en-US" dirty="0"/>
              <a:t>transport</a:t>
            </a:r>
          </a:p>
          <a:p>
            <a:pPr algn="ctr">
              <a:lnSpc>
                <a:spcPct val="70000"/>
              </a:lnSpc>
            </a:pPr>
            <a:endParaRPr lang="en-US" altLang="en-US" dirty="0"/>
          </a:p>
          <a:p>
            <a:pPr algn="ctr">
              <a:lnSpc>
                <a:spcPct val="70000"/>
              </a:lnSpc>
            </a:pPr>
            <a:r>
              <a:rPr lang="en-US" altLang="en-US" dirty="0"/>
              <a:t>network</a:t>
            </a:r>
          </a:p>
          <a:p>
            <a:pPr algn="ctr">
              <a:lnSpc>
                <a:spcPct val="70000"/>
              </a:lnSpc>
            </a:pPr>
            <a:endParaRPr lang="en-US" altLang="en-US" dirty="0"/>
          </a:p>
          <a:p>
            <a:pPr algn="ctr">
              <a:lnSpc>
                <a:spcPct val="70000"/>
              </a:lnSpc>
            </a:pPr>
            <a:r>
              <a:rPr lang="en-US" altLang="en-US" dirty="0"/>
              <a:t>link</a:t>
            </a:r>
          </a:p>
          <a:p>
            <a:pPr algn="ctr">
              <a:lnSpc>
                <a:spcPct val="70000"/>
              </a:lnSpc>
            </a:pPr>
            <a:endParaRPr lang="en-US" altLang="en-US" dirty="0"/>
          </a:p>
          <a:p>
            <a:pPr algn="ctr">
              <a:lnSpc>
                <a:spcPct val="70000"/>
              </a:lnSpc>
            </a:pPr>
            <a:r>
              <a:rPr lang="en-US" altLang="en-US" dirty="0"/>
              <a:t>physical</a:t>
            </a:r>
          </a:p>
        </p:txBody>
      </p:sp>
      <p:sp>
        <p:nvSpPr>
          <p:cNvPr id="7" name="Line 8">
            <a:extLst>
              <a:ext uri="{FF2B5EF4-FFF2-40B4-BE49-F238E27FC236}">
                <a16:creationId xmlns="" xmlns:a16="http://schemas.microsoft.com/office/drawing/2014/main" id="{2A989D6F-FA45-8C4E-9BBC-741936AB29C5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10898" y="2142331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8" name="Line 9">
            <a:extLst>
              <a:ext uri="{FF2B5EF4-FFF2-40B4-BE49-F238E27FC236}">
                <a16:creationId xmlns="" xmlns:a16="http://schemas.microsoft.com/office/drawing/2014/main" id="{15317A6D-8DDE-594B-9C31-D329305C5300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5185" y="311864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0" name="Line 10">
            <a:extLst>
              <a:ext uri="{FF2B5EF4-FFF2-40B4-BE49-F238E27FC236}">
                <a16:creationId xmlns="" xmlns:a16="http://schemas.microsoft.com/office/drawing/2014/main" id="{4C0565FC-B6A4-1C41-A3C7-95333C728091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5185" y="365839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1" name="Line 11">
            <a:extLst>
              <a:ext uri="{FF2B5EF4-FFF2-40B4-BE49-F238E27FC236}">
                <a16:creationId xmlns="" xmlns:a16="http://schemas.microsoft.com/office/drawing/2014/main" id="{CB8177A7-EC5F-054E-9BF4-6807B276EB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26773" y="467439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2" name="Line 12">
            <a:extLst>
              <a:ext uri="{FF2B5EF4-FFF2-40B4-BE49-F238E27FC236}">
                <a16:creationId xmlns="" xmlns:a16="http://schemas.microsoft.com/office/drawing/2014/main" id="{E3C788FC-704D-5B46-BAF8-D2E15950C61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10898" y="419179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3" name="Line 13">
            <a:extLst>
              <a:ext uri="{FF2B5EF4-FFF2-40B4-BE49-F238E27FC236}">
                <a16:creationId xmlns="" xmlns:a16="http://schemas.microsoft.com/office/drawing/2014/main" id="{50AC6633-E0EA-2542-8345-CA3634789CDF}"/>
              </a:ext>
            </a:extLst>
          </p:cNvPr>
          <p:cNvSpPr>
            <a:spLocks noChangeShapeType="1"/>
          </p:cNvSpPr>
          <p:nvPr/>
        </p:nvSpPr>
        <p:spPr bwMode="auto">
          <a:xfrm>
            <a:off x="10109310" y="2661443"/>
            <a:ext cx="188595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="" xmlns:a16="http://schemas.microsoft.com/office/drawing/2014/main" id="{1E944C3F-C77B-9A49-ACB6-EDB2E17C9D3A}"/>
              </a:ext>
            </a:extLst>
          </p:cNvPr>
          <p:cNvSpPr txBox="1"/>
          <p:nvPr/>
        </p:nvSpPr>
        <p:spPr>
          <a:xfrm>
            <a:off x="10209286" y="5352939"/>
            <a:ext cx="173214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 smtClean="0"/>
              <a:t>7 layer </a:t>
            </a:r>
            <a:r>
              <a:rPr lang="en-US" dirty="0"/>
              <a:t>OSI/ISO </a:t>
            </a:r>
          </a:p>
          <a:p>
            <a:pPr algn="ctr"/>
            <a:r>
              <a:rPr lang="en-US" dirty="0"/>
              <a:t>reference model</a:t>
            </a:r>
          </a:p>
        </p:txBody>
      </p:sp>
    </p:spTree>
    <p:extLst>
      <p:ext uri="{BB962C8B-B14F-4D97-AF65-F5344CB8AC3E}">
        <p14:creationId xmlns:p14="http://schemas.microsoft.com/office/powerpoint/2010/main" val="30120995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 smtClean="0"/>
              <a:t>Application layer</a:t>
            </a:r>
            <a:endParaRPr lang="en-US" sz="4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7318168"/>
              </p:ext>
            </p:extLst>
          </p:nvPr>
        </p:nvGraphicFramePr>
        <p:xfrm>
          <a:off x="494521" y="1504364"/>
          <a:ext cx="11224727" cy="4206240"/>
        </p:xfrm>
        <a:graphic>
          <a:graphicData uri="http://schemas.openxmlformats.org/drawingml/2006/table">
            <a:tbl>
              <a:tblPr/>
              <a:tblGrid>
                <a:gridCol w="3238604"/>
                <a:gridCol w="7986123"/>
              </a:tblGrid>
              <a:tr h="0">
                <a:tc>
                  <a:txBody>
                    <a:bodyPr/>
                    <a:lstStyle/>
                    <a:p>
                      <a:r>
                        <a:rPr lang="en-US" sz="2400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b="1" dirty="0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/>
                        <a:t>Layer number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7 (top layer of OSI)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/>
                        <a:t>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Provides network services directly to user </a:t>
                      </a:r>
                      <a:r>
                        <a:rPr lang="en-US" sz="2400" dirty="0" smtClean="0"/>
                        <a:t>applications (software programs that people directly interact with)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/>
                        <a:t>Data unit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Message such as </a:t>
                      </a:r>
                      <a:r>
                        <a:rPr lang="fr-FR" sz="2400" dirty="0" smtClean="0"/>
                        <a:t>HTTP </a:t>
                      </a:r>
                      <a:r>
                        <a:rPr lang="fr-FR" sz="2400" dirty="0" err="1" smtClean="0"/>
                        <a:t>request</a:t>
                      </a:r>
                      <a:r>
                        <a:rPr lang="fr-FR" sz="2400" dirty="0" smtClean="0"/>
                        <a:t>,</a:t>
                      </a:r>
                      <a:r>
                        <a:rPr lang="fr-FR" sz="2400" baseline="0" dirty="0" smtClean="0"/>
                        <a:t> </a:t>
                      </a:r>
                      <a:r>
                        <a:rPr lang="fr-FR" sz="2400" dirty="0" smtClean="0"/>
                        <a:t>Email, DNS </a:t>
                      </a:r>
                      <a:r>
                        <a:rPr lang="fr-FR" sz="2400" dirty="0" err="1" smtClean="0"/>
                        <a:t>query</a:t>
                      </a:r>
                      <a:r>
                        <a:rPr lang="fr-FR" sz="2400" dirty="0" smtClean="0"/>
                        <a:t> etc. 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 smtClean="0"/>
                        <a:t>Common</a:t>
                      </a:r>
                      <a:r>
                        <a:rPr lang="en-US" sz="2400" b="0" baseline="0" dirty="0" smtClean="0"/>
                        <a:t> p</a:t>
                      </a:r>
                      <a:r>
                        <a:rPr lang="en-US" sz="2400" b="0" dirty="0" smtClean="0"/>
                        <a:t>rotocols</a:t>
                      </a:r>
                      <a:endParaRPr lang="en-US" sz="2400" b="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 smtClean="0"/>
                        <a:t>HTTP/HTTPs (Web browsing), FTP (File upload/download), DNS (Translating domain names to IP addresses), SMTP (Sending emails), SNMP (Network device monitoring), Telnet/SSH (Remote access to devices), IMAP (Receiving emails)</a:t>
                      </a:r>
                      <a:endParaRPr lang="en-US" sz="24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sz="2400" b="0" dirty="0"/>
                        <a:t>End users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Web browsers, email clients, file transfer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945355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 smtClean="0"/>
              <a:t>Principles </a:t>
            </a:r>
            <a:r>
              <a:rPr lang="en-US" dirty="0"/>
              <a:t>of Network </a:t>
            </a:r>
            <a:r>
              <a:rPr lang="en-US" dirty="0" smtClean="0"/>
              <a:t>Applications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1" y="3427261"/>
            <a:ext cx="10642529" cy="2712290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defRPr/>
            </a:pPr>
            <a:r>
              <a:rPr lang="en-US" sz="3200" dirty="0">
                <a:solidFill>
                  <a:srgbClr val="CC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744538" lvl="1" indent="-401638">
              <a:defRPr/>
            </a:pPr>
            <a:r>
              <a:rPr lang="en-US" dirty="0" smtClean="0"/>
              <a:t>Architecture Model</a:t>
            </a:r>
          </a:p>
          <a:p>
            <a:pPr marL="744538" lvl="1" indent="-401638">
              <a:defRPr/>
            </a:pPr>
            <a:r>
              <a:rPr lang="en-US" dirty="0"/>
              <a:t>Process </a:t>
            </a:r>
            <a:r>
              <a:rPr lang="en-US" dirty="0" smtClean="0"/>
              <a:t>Communication</a:t>
            </a:r>
          </a:p>
          <a:p>
            <a:pPr marL="744538" lvl="1" indent="-401638">
              <a:defRPr/>
            </a:pPr>
            <a:r>
              <a:rPr lang="en-US" dirty="0"/>
              <a:t>Application </a:t>
            </a:r>
            <a:r>
              <a:rPr lang="en-US" dirty="0" smtClean="0"/>
              <a:t>Protocols (</a:t>
            </a:r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E-mail, SMTP, </a:t>
            </a:r>
            <a:r>
              <a:rPr lang="en-US" dirty="0" smtClean="0">
                <a:latin typeface="Calibri" panose="020F0502020204030204" pitchFamily="34" charset="0"/>
                <a:cs typeface="Calibri" panose="020F0502020204030204" pitchFamily="34" charset="0"/>
              </a:rPr>
              <a:t>IMAP, FTP</a:t>
            </a:r>
            <a:r>
              <a:rPr lang="en-US" dirty="0" smtClean="0"/>
              <a:t>)</a:t>
            </a:r>
          </a:p>
          <a:p>
            <a:pPr marL="744538" lvl="1" indent="-401638">
              <a:defRPr/>
            </a:pPr>
            <a:r>
              <a:rPr lang="en-US" dirty="0"/>
              <a:t>Addressing &amp; </a:t>
            </a:r>
            <a:r>
              <a:rPr lang="en-US" dirty="0" smtClean="0"/>
              <a:t>Naming (DNS)</a:t>
            </a:r>
          </a:p>
          <a:p>
            <a:pPr marL="744538" lvl="1" indent="-401638">
              <a:defRPr/>
            </a:pPr>
            <a:r>
              <a:rPr lang="en-US" dirty="0" smtClean="0"/>
              <a:t>Reliability (TCP </a:t>
            </a:r>
            <a:r>
              <a:rPr lang="en-US" dirty="0" err="1" smtClean="0"/>
              <a:t>vs</a:t>
            </a:r>
            <a:r>
              <a:rPr lang="en-US" dirty="0" smtClean="0"/>
              <a:t> UDP) etc.</a:t>
            </a:r>
          </a:p>
          <a:p>
            <a:pPr marL="401638" indent="-401638">
              <a:defRPr/>
            </a:pPr>
            <a:endParaRPr lang="en-US" sz="3200" dirty="0" smtClean="0"/>
          </a:p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2" name="Rectangle 1"/>
          <p:cNvSpPr/>
          <p:nvPr/>
        </p:nvSpPr>
        <p:spPr>
          <a:xfrm>
            <a:off x="696686" y="1688858"/>
            <a:ext cx="11038113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/>
              <a:t>The principles of network applications describe the core concepts and design guidelines used to develop applications that communicate over computer networks (like the Internet</a:t>
            </a:r>
            <a:r>
              <a:rPr lang="en-US" sz="2200" dirty="0" smtClean="0"/>
              <a:t>). These </a:t>
            </a:r>
            <a:r>
              <a:rPr lang="en-US" sz="2200" dirty="0"/>
              <a:t>principles help ensure that network applications are efficient, scalable, reliable, and secure.</a:t>
            </a:r>
          </a:p>
        </p:txBody>
      </p:sp>
    </p:spTree>
    <p:extLst>
      <p:ext uri="{BB962C8B-B14F-4D97-AF65-F5344CB8AC3E}">
        <p14:creationId xmlns:p14="http://schemas.microsoft.com/office/powerpoint/2010/main" val="17358302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xmlns="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Some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 apps</a:t>
            </a:r>
            <a:endParaRPr lang="en-US" sz="4400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xmlns="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914400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social networking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Web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text messaging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e-mail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multi-user network games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streaming stored video (YouTube, Hulu, Netflix) 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P2P file sharing</a:t>
            </a:r>
          </a:p>
          <a:p>
            <a:endParaRPr lang="en-US" sz="36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xmlns="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xmlns="" id="{8EDF5219-071B-3D4F-9DD6-1CD36C0FFD4F}"/>
              </a:ext>
            </a:extLst>
          </p:cNvPr>
          <p:cNvSpPr txBox="1">
            <a:spLocks/>
          </p:cNvSpPr>
          <p:nvPr/>
        </p:nvSpPr>
        <p:spPr>
          <a:xfrm>
            <a:off x="6468101" y="1456928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voice over IP (e.g., Skype)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real-time video conferencing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Internet search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remote login</a:t>
            </a:r>
          </a:p>
          <a:p>
            <a:pPr marL="346075" indent="-331788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…</a:t>
            </a:r>
          </a:p>
          <a:p>
            <a:pPr marL="14287" indent="0">
              <a:buClr>
                <a:srgbClr val="0000A8"/>
              </a:buClr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319910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9430" y="653234"/>
            <a:ext cx="7318942" cy="894622"/>
          </a:xfrm>
        </p:spPr>
        <p:txBody>
          <a:bodyPr>
            <a:normAutofit fontScale="90000"/>
          </a:bodyPr>
          <a:lstStyle/>
          <a:p>
            <a:r>
              <a:rPr lang="en-US" dirty="0"/>
              <a:t>Network Application </a:t>
            </a:r>
            <a:r>
              <a:rPr lang="en-US" dirty="0" smtClean="0"/>
              <a:t>Architectures</a:t>
            </a:r>
            <a:br>
              <a:rPr lang="en-US" dirty="0" smtClean="0"/>
            </a:b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xmlns="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424544" y="1662248"/>
            <a:ext cx="11332028" cy="3338995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14300" indent="0">
              <a:buNone/>
            </a:pPr>
            <a:r>
              <a:rPr lang="en-US" sz="2400" dirty="0"/>
              <a:t>Network application architecture defines how application components (processes, clients, and servers) are organized and how they communicate over a network</a:t>
            </a:r>
            <a:r>
              <a:rPr lang="en-US" sz="2400" dirty="0" smtClean="0"/>
              <a:t>.</a:t>
            </a:r>
          </a:p>
          <a:p>
            <a:pPr marL="114300" indent="0">
              <a:buNone/>
            </a:pPr>
            <a:r>
              <a:rPr lang="en-US" altLang="en-US" sz="2400" dirty="0" smtClean="0">
                <a:ea typeface="ＭＳ Ｐゴシック" panose="020B0600070205080204" pitchFamily="34" charset="-128"/>
              </a:rPr>
              <a:t>How </a:t>
            </a:r>
            <a:r>
              <a:rPr lang="en-US" altLang="en-US" sz="2400" dirty="0">
                <a:ea typeface="ＭＳ Ｐゴシック" panose="020B0600070205080204" pitchFamily="34" charset="-128"/>
              </a:rPr>
              <a:t>the pieces of network applications are going to interact with each other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?</a:t>
            </a:r>
          </a:p>
          <a:p>
            <a:pPr marL="114300" indent="0">
              <a:buNone/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  <a:p>
            <a:r>
              <a:rPr lang="en-US" altLang="en-US" sz="2400" dirty="0" smtClean="0">
                <a:ea typeface="ＭＳ Ｐゴシック" panose="020B0600070205080204" pitchFamily="34" charset="-128"/>
              </a:rPr>
              <a:t>Client-server paradigm</a:t>
            </a:r>
          </a:p>
          <a:p>
            <a:r>
              <a:rPr lang="en-US" altLang="en-US" sz="2400" dirty="0" smtClean="0">
                <a:ea typeface="ＭＳ Ｐゴシック" panose="020B0600070205080204" pitchFamily="34" charset="-128"/>
              </a:rPr>
              <a:t>Peer-to-peer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(P2P) 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architecture</a:t>
            </a:r>
          </a:p>
          <a:p>
            <a:r>
              <a:rPr lang="en-US" sz="2400" dirty="0" smtClean="0"/>
              <a:t>Hybrid Architecture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225403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xmlns="" id="{21662630-62BB-AE4A-A779-AEACD21E6D7C}"/>
              </a:ext>
            </a:extLst>
          </p:cNvPr>
          <p:cNvSpPr/>
          <p:nvPr/>
        </p:nvSpPr>
        <p:spPr>
          <a:xfrm>
            <a:off x="8985188" y="3299053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xmlns="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2059310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grpSp>
        <p:nvGrpSpPr>
          <p:cNvPr id="14" name="Group 418">
            <a:extLst>
              <a:ext uri="{FF2B5EF4-FFF2-40B4-BE49-F238E27FC236}">
                <a16:creationId xmlns:a16="http://schemas.microsoft.com/office/drawing/2014/main" xmlns="" id="{BE0D451A-5CE4-4C4B-B3DF-A408288EDA0C}"/>
              </a:ext>
            </a:extLst>
          </p:cNvPr>
          <p:cNvGrpSpPr>
            <a:grpSpLocks/>
          </p:cNvGrpSpPr>
          <p:nvPr/>
        </p:nvGrpSpPr>
        <p:grpSpPr bwMode="auto">
          <a:xfrm>
            <a:off x="7205350" y="3522526"/>
            <a:ext cx="1458912" cy="933450"/>
            <a:chOff x="2889" y="1631"/>
            <a:chExt cx="980" cy="743"/>
          </a:xfrm>
        </p:grpSpPr>
        <p:sp>
          <p:nvSpPr>
            <p:cNvPr id="369" name="Rectangle 419">
              <a:extLst>
                <a:ext uri="{FF2B5EF4-FFF2-40B4-BE49-F238E27FC236}">
                  <a16:creationId xmlns:a16="http://schemas.microsoft.com/office/drawing/2014/main" xmlns="" id="{F39DA03D-3BDA-2344-B3D3-3A95FB5EE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370" name="AutoShape 420">
              <a:extLst>
                <a:ext uri="{FF2B5EF4-FFF2-40B4-BE49-F238E27FC236}">
                  <a16:creationId xmlns:a16="http://schemas.microsoft.com/office/drawing/2014/main" xmlns="" id="{579866B0-F884-A84A-B74A-EFEA50EBF8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3"/>
            </a:xfrm>
            <a:prstGeom prst="triangle">
              <a:avLst>
                <a:gd name="adj" fmla="val 50000"/>
              </a:avLst>
            </a:prstGeom>
            <a:solidFill>
              <a:srgbClr val="9CDF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rgbClr val="00CCFF"/>
                </a:solidFill>
                <a:latin typeface="Arial" panose="020B0604020202020204" pitchFamily="34" charset="0"/>
              </a:endParaRPr>
            </a:p>
          </p:txBody>
        </p:sp>
      </p:grpSp>
      <p:sp>
        <p:nvSpPr>
          <p:cNvPr id="21" name="Freeform 427">
            <a:extLst>
              <a:ext uri="{FF2B5EF4-FFF2-40B4-BE49-F238E27FC236}">
                <a16:creationId xmlns:a16="http://schemas.microsoft.com/office/drawing/2014/main" xmlns="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916409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xmlns="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3992" y="1731067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xmlns="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425197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xmlns="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6013050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xmlns="" id="{C89E7C56-1DE4-7143-8EEB-E5965035CC42}"/>
              </a:ext>
            </a:extLst>
          </p:cNvPr>
          <p:cNvSpPr/>
          <p:nvPr/>
        </p:nvSpPr>
        <p:spPr>
          <a:xfrm>
            <a:off x="10222146" y="3412815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xmlns="" id="{96BCCD85-1D07-EF4E-A878-EC23CD23096A}"/>
              </a:ext>
            </a:extLst>
          </p:cNvPr>
          <p:cNvGrpSpPr/>
          <p:nvPr/>
        </p:nvGrpSpPr>
        <p:grpSpPr>
          <a:xfrm>
            <a:off x="10837700" y="4161325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xmlns="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xmlns="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xmlns="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xmlns="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xmlns="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xmlns="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xmlns="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xmlns="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xmlns="" id="{BDA3EF41-5873-7D4B-8A04-F8D62DFD2DB6}"/>
              </a:ext>
            </a:extLst>
          </p:cNvPr>
          <p:cNvGrpSpPr/>
          <p:nvPr/>
        </p:nvGrpSpPr>
        <p:grpSpPr>
          <a:xfrm>
            <a:off x="10771171" y="3427446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xmlns="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xmlns="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xmlns="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xmlns="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xmlns="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xmlns="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xmlns="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xmlns="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xmlns="" id="{BE088278-C41B-3E4A-87CE-FD65749FA13D}"/>
              </a:ext>
            </a:extLst>
          </p:cNvPr>
          <p:cNvSpPr/>
          <p:nvPr/>
        </p:nvSpPr>
        <p:spPr>
          <a:xfrm>
            <a:off x="9540813" y="2015317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xmlns="" id="{59DB778E-F23D-6C41-8A2D-8F08BD46CBCB}"/>
              </a:ext>
            </a:extLst>
          </p:cNvPr>
          <p:cNvSpPr txBox="1"/>
          <p:nvPr/>
        </p:nvSpPr>
        <p:spPr>
          <a:xfrm>
            <a:off x="9427201" y="2084470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xmlns="" id="{2DCB9395-41DC-D844-A0B1-59B5BDD3151F}"/>
              </a:ext>
            </a:extLst>
          </p:cNvPr>
          <p:cNvSpPr/>
          <p:nvPr/>
        </p:nvSpPr>
        <p:spPr>
          <a:xfrm>
            <a:off x="9279068" y="3911183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xmlns="" id="{C34CA97E-4007-3540-925A-3C739C254049}"/>
              </a:ext>
            </a:extLst>
          </p:cNvPr>
          <p:cNvSpPr txBox="1"/>
          <p:nvPr/>
        </p:nvSpPr>
        <p:spPr>
          <a:xfrm>
            <a:off x="8766162" y="3681194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xmlns="" id="{7DCF99E9-1DFC-0241-B2E7-471998268663}"/>
              </a:ext>
            </a:extLst>
          </p:cNvPr>
          <p:cNvSpPr txBox="1"/>
          <p:nvPr/>
        </p:nvSpPr>
        <p:spPr>
          <a:xfrm>
            <a:off x="10917767" y="4855226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xmlns="" id="{173BD163-3F4D-944E-B86B-3275B779D5A8}"/>
              </a:ext>
            </a:extLst>
          </p:cNvPr>
          <p:cNvSpPr txBox="1"/>
          <p:nvPr/>
        </p:nvSpPr>
        <p:spPr>
          <a:xfrm>
            <a:off x="10063018" y="4461523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network</a:t>
            </a:r>
            <a:endParaRPr lang="en-US" sz="1000" dirty="0"/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xmlns="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813400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xmlns="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873959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xmlns="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866696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xmlns="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828171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xmlns="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304917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xmlns="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321017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xmlns="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321017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xmlns="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740947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xmlns="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740947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xmlns="" id="{F9A85AAA-3DAA-6946-B559-D97F731B61D5}"/>
              </a:ext>
            </a:extLst>
          </p:cNvPr>
          <p:cNvCxnSpPr/>
          <p:nvPr/>
        </p:nvCxnSpPr>
        <p:spPr>
          <a:xfrm>
            <a:off x="10137668" y="2987967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xmlns="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928288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xmlns="" id="{4429D23B-C424-D54E-A99F-D3FC646B3D08}"/>
              </a:ext>
            </a:extLst>
          </p:cNvPr>
          <p:cNvGrpSpPr/>
          <p:nvPr/>
        </p:nvGrpSpPr>
        <p:grpSpPr>
          <a:xfrm>
            <a:off x="7562238" y="2360600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xmlns="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xmlns="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xmlns="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xmlns="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xmlns="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xmlns="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xmlns="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xmlns="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xmlns="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xmlns="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xmlns="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xmlns="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xmlns="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xmlns="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xmlns="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xmlns="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xmlns="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xmlns="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xmlns="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xmlns="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xmlns="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xmlns="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xmlns="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xmlns="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xmlns="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xmlns="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xmlns="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xmlns="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xmlns="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xmlns="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933634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xmlns="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542651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xmlns="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xmlns="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xmlns="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xmlns="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xmlns="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xmlns="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xmlns="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xmlns="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xmlns="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xmlns="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xmlns="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xmlns="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xmlns="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xmlns="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xmlns="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xmlns="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4095174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xmlns="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757507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xmlns="" id="{DE035BC7-2762-3044-BE80-C91EC827E65C}"/>
              </a:ext>
            </a:extLst>
          </p:cNvPr>
          <p:cNvGrpSpPr/>
          <p:nvPr/>
        </p:nvGrpSpPr>
        <p:grpSpPr>
          <a:xfrm>
            <a:off x="9783558" y="5223258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xmlns="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xmlns="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xmlns="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xmlns="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xmlns="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xmlns="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xmlns="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xmlns="" id="{60B6F784-668B-5D4B-A622-66CCE6350B84}"/>
              </a:ext>
            </a:extLst>
          </p:cNvPr>
          <p:cNvGrpSpPr/>
          <p:nvPr/>
        </p:nvGrpSpPr>
        <p:grpSpPr>
          <a:xfrm>
            <a:off x="9849365" y="5572312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xmlns="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xmlns="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xmlns="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xmlns="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xmlns="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xmlns="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xmlns="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xmlns="" id="{11A03BFE-097D-3B42-AA2B-11FFEA70FF5B}"/>
              </a:ext>
            </a:extLst>
          </p:cNvPr>
          <p:cNvGrpSpPr/>
          <p:nvPr/>
        </p:nvGrpSpPr>
        <p:grpSpPr>
          <a:xfrm>
            <a:off x="8676619" y="5200695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xmlns="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xmlns="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xmlns="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xmlns="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xmlns="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xmlns="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xmlns="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xmlns="" id="{DE45D3AB-47E3-364E-81D6-324D69CE101C}"/>
              </a:ext>
            </a:extLst>
          </p:cNvPr>
          <p:cNvGrpSpPr/>
          <p:nvPr/>
        </p:nvGrpSpPr>
        <p:grpSpPr>
          <a:xfrm>
            <a:off x="8311520" y="5427708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xmlns="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xmlns="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xmlns="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xmlns="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xmlns="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xmlns="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xmlns="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xmlns="" id="{CBD7A282-C22D-714A-88F1-C7D4EDD107F8}"/>
              </a:ext>
            </a:extLst>
          </p:cNvPr>
          <p:cNvGrpSpPr/>
          <p:nvPr/>
        </p:nvGrpSpPr>
        <p:grpSpPr>
          <a:xfrm>
            <a:off x="8439827" y="3045584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xmlns="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xmlns="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xmlns="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xmlns="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xmlns="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xmlns="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xmlns="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xmlns="" id="{F0DE4078-0801-A244-9A82-F7502B8B24A0}"/>
              </a:ext>
            </a:extLst>
          </p:cNvPr>
          <p:cNvGrpSpPr/>
          <p:nvPr/>
        </p:nvGrpSpPr>
        <p:grpSpPr>
          <a:xfrm>
            <a:off x="8050070" y="4199269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xmlns="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xmlns="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xmlns="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xmlns="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xmlns="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xmlns="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xmlns="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xmlns="" id="{52B7B73B-1125-084D-8669-C68CC371DDC6}"/>
              </a:ext>
            </a:extLst>
          </p:cNvPr>
          <p:cNvGrpSpPr/>
          <p:nvPr/>
        </p:nvGrpSpPr>
        <p:grpSpPr>
          <a:xfrm>
            <a:off x="10884085" y="3834640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xmlns="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xmlns="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xmlns="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xmlns="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xmlns="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xmlns="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xmlns="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xmlns="" id="{E166183D-5423-4E4A-AD63-A361EDE184C0}"/>
              </a:ext>
            </a:extLst>
          </p:cNvPr>
          <p:cNvGrpSpPr/>
          <p:nvPr/>
        </p:nvGrpSpPr>
        <p:grpSpPr>
          <a:xfrm>
            <a:off x="10410609" y="3729413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xmlns="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xmlns="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xmlns="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xmlns="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xmlns="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xmlns="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xmlns="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xmlns="" id="{C471E59B-7A0B-AE4F-95D6-F76514D2D55A}"/>
              </a:ext>
            </a:extLst>
          </p:cNvPr>
          <p:cNvGrpSpPr/>
          <p:nvPr/>
        </p:nvGrpSpPr>
        <p:grpSpPr>
          <a:xfrm>
            <a:off x="9948724" y="2435567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xmlns="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xmlns="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xmlns="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xmlns="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xmlns="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xmlns="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xmlns="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xmlns="" id="{7BF36121-B4F6-2447-9F5B-F29B627F3B2A}"/>
              </a:ext>
            </a:extLst>
          </p:cNvPr>
          <p:cNvGrpSpPr/>
          <p:nvPr/>
        </p:nvGrpSpPr>
        <p:grpSpPr>
          <a:xfrm>
            <a:off x="10527214" y="2846642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xmlns="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xmlns="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xmlns="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xmlns="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xmlns="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xmlns="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xmlns="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xmlns="" id="{187A607B-CA61-BE46-8032-8E34596E7689}"/>
              </a:ext>
            </a:extLst>
          </p:cNvPr>
          <p:cNvGrpSpPr/>
          <p:nvPr/>
        </p:nvGrpSpPr>
        <p:grpSpPr>
          <a:xfrm>
            <a:off x="10643825" y="2341238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xmlns="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xmlns="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xmlns="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xmlns="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xmlns="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xmlns="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xmlns="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xmlns="" id="{7CCD8656-0FD3-B844-BC6C-33CE0577598D}"/>
              </a:ext>
            </a:extLst>
          </p:cNvPr>
          <p:cNvGrpSpPr/>
          <p:nvPr/>
        </p:nvGrpSpPr>
        <p:grpSpPr>
          <a:xfrm>
            <a:off x="9098788" y="4189899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xmlns="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xmlns="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xmlns="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xmlns="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xmlns="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xmlns="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xmlns="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xmlns="" id="{1A0C1583-3B4A-E44D-BB19-B20517502EBD}"/>
              </a:ext>
            </a:extLst>
          </p:cNvPr>
          <p:cNvGrpSpPr/>
          <p:nvPr/>
        </p:nvGrpSpPr>
        <p:grpSpPr>
          <a:xfrm>
            <a:off x="9980126" y="2894840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xmlns="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xmlns="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xmlns="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xmlns="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xmlns="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xmlns="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xmlns="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xmlns="" id="{158E5A4C-7065-8643-BDC2-3A235B56FEA4}"/>
              </a:ext>
            </a:extLst>
          </p:cNvPr>
          <p:cNvGrpSpPr/>
          <p:nvPr/>
        </p:nvGrpSpPr>
        <p:grpSpPr>
          <a:xfrm>
            <a:off x="9497138" y="3627307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xmlns="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xmlns="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xmlns="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xmlns="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xmlns="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xmlns="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xmlns="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xmlns="" id="{4DAC2AB4-F1E4-D740-A4AF-07EE55303854}"/>
              </a:ext>
            </a:extLst>
          </p:cNvPr>
          <p:cNvGrpSpPr/>
          <p:nvPr/>
        </p:nvGrpSpPr>
        <p:grpSpPr>
          <a:xfrm>
            <a:off x="9601554" y="4233038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xmlns="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xmlns="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xmlns="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xmlns="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xmlns="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xmlns="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xmlns="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xmlns="" id="{EA34A94C-D92D-084C-BFEA-F4C8DF0AD275}"/>
              </a:ext>
            </a:extLst>
          </p:cNvPr>
          <p:cNvGrpSpPr/>
          <p:nvPr/>
        </p:nvGrpSpPr>
        <p:grpSpPr>
          <a:xfrm>
            <a:off x="10375259" y="4225600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xmlns="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xmlns="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xmlns="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xmlns="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xmlns="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xmlns="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xmlns="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xmlns="" id="{A8C4B740-B92E-8942-8EF4-347710C32F2C}"/>
              </a:ext>
            </a:extLst>
          </p:cNvPr>
          <p:cNvGrpSpPr/>
          <p:nvPr/>
        </p:nvGrpSpPr>
        <p:grpSpPr>
          <a:xfrm>
            <a:off x="9247893" y="5008961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xmlns="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xmlns="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xmlns="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xmlns="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xmlns="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xmlns="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xmlns="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xmlns="" id="{314E0C43-2359-9440-BEF9-9E1924BED605}"/>
              </a:ext>
            </a:extLst>
          </p:cNvPr>
          <p:cNvGrpSpPr/>
          <p:nvPr/>
        </p:nvGrpSpPr>
        <p:grpSpPr>
          <a:xfrm>
            <a:off x="10925982" y="4602400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xmlns="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xmlns="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xmlns="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xmlns="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xmlns="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xmlns="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xmlns="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xmlns="" id="{91E02B81-5B35-4545-A954-B7E923AB7286}"/>
              </a:ext>
            </a:extLst>
          </p:cNvPr>
          <p:cNvGrpSpPr/>
          <p:nvPr/>
        </p:nvGrpSpPr>
        <p:grpSpPr>
          <a:xfrm>
            <a:off x="7439074" y="2589888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xmlns="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xmlns="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xmlns="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xmlns="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xmlns="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xmlns="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xmlns="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xmlns="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xmlns="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xmlns="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xmlns="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xmlns="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xmlns="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xmlns="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xmlns="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xmlns="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xmlns="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xmlns="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xmlns="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xmlns="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xmlns="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xmlns="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xmlns="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xmlns="" id="{504BAA5F-BBD8-8242-BC48-7D0E761F340A}"/>
              </a:ext>
            </a:extLst>
          </p:cNvPr>
          <p:cNvGrpSpPr/>
          <p:nvPr/>
        </p:nvGrpSpPr>
        <p:grpSpPr>
          <a:xfrm>
            <a:off x="8637781" y="2553002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xmlns="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xmlns="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xmlns="" id="{46F998A3-3B85-214A-927A-3BF067B7C2A0}"/>
              </a:ext>
            </a:extLst>
          </p:cNvPr>
          <p:cNvGrpSpPr/>
          <p:nvPr/>
        </p:nvGrpSpPr>
        <p:grpSpPr>
          <a:xfrm>
            <a:off x="8499539" y="2292399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xmlns="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xmlns="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3" name="Group 792">
            <a:extLst>
              <a:ext uri="{FF2B5EF4-FFF2-40B4-BE49-F238E27FC236}">
                <a16:creationId xmlns:a16="http://schemas.microsoft.com/office/drawing/2014/main" xmlns="" id="{93351559-0D4C-F04C-928E-5CDA57B5EB47}"/>
              </a:ext>
            </a:extLst>
          </p:cNvPr>
          <p:cNvGrpSpPr/>
          <p:nvPr/>
        </p:nvGrpSpPr>
        <p:grpSpPr>
          <a:xfrm>
            <a:off x="7493518" y="3558699"/>
            <a:ext cx="857739" cy="583764"/>
            <a:chOff x="7487144" y="3296104"/>
            <a:chExt cx="857739" cy="583764"/>
          </a:xfrm>
        </p:grpSpPr>
        <p:grpSp>
          <p:nvGrpSpPr>
            <p:cNvPr id="792" name="Group 791">
              <a:extLst>
                <a:ext uri="{FF2B5EF4-FFF2-40B4-BE49-F238E27FC236}">
                  <a16:creationId xmlns:a16="http://schemas.microsoft.com/office/drawing/2014/main" xmlns="" id="{084B6293-559E-5D43-AF2B-4CB5E09EC6C5}"/>
                </a:ext>
              </a:extLst>
            </p:cNvPr>
            <p:cNvGrpSpPr/>
            <p:nvPr/>
          </p:nvGrpSpPr>
          <p:grpSpPr>
            <a:xfrm>
              <a:off x="7487144" y="3389820"/>
              <a:ext cx="350807" cy="305517"/>
              <a:chOff x="7487144" y="3389820"/>
              <a:chExt cx="350807" cy="305517"/>
            </a:xfrm>
          </p:grpSpPr>
          <p:pic>
            <p:nvPicPr>
              <p:cNvPr id="91" name="Picture 1115" descr="antenna_stylized">
                <a:extLst>
                  <a:ext uri="{FF2B5EF4-FFF2-40B4-BE49-F238E27FC236}">
                    <a16:creationId xmlns:a16="http://schemas.microsoft.com/office/drawing/2014/main" xmlns="" id="{1821BC3E-6137-D844-92B9-4BA4CFF41F6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87144" y="3389820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92" name="Picture 1116" descr="laptop_keyboard">
                <a:extLst>
                  <a:ext uri="{FF2B5EF4-FFF2-40B4-BE49-F238E27FC236}">
                    <a16:creationId xmlns:a16="http://schemas.microsoft.com/office/drawing/2014/main" xmlns="" id="{7F05CE3B-E67B-1B40-9D5B-2914F0B9BFB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09064" flipH="1">
                <a:off x="7504001" y="3575889"/>
                <a:ext cx="286699" cy="11944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3" name="Freeform 1117">
                <a:extLst>
                  <a:ext uri="{FF2B5EF4-FFF2-40B4-BE49-F238E27FC236}">
                    <a16:creationId xmlns:a16="http://schemas.microsoft.com/office/drawing/2014/main" xmlns="" id="{B52A07C5-D801-5B41-BD20-C20958925D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9014" y="3459979"/>
                <a:ext cx="230764" cy="155883"/>
              </a:xfrm>
              <a:custGeom>
                <a:avLst/>
                <a:gdLst>
                  <a:gd name="T0" fmla="*/ 143665061 w 2982"/>
                  <a:gd name="T1" fmla="*/ 0 h 2442"/>
                  <a:gd name="T2" fmla="*/ 0 w 2982"/>
                  <a:gd name="T3" fmla="*/ 66329557 h 2442"/>
                  <a:gd name="T4" fmla="*/ 573719931 w 2982"/>
                  <a:gd name="T5" fmla="*/ 82975142 h 2442"/>
                  <a:gd name="T6" fmla="*/ 717384993 w 2982"/>
                  <a:gd name="T7" fmla="*/ 16645585 h 2442"/>
                  <a:gd name="T8" fmla="*/ 143665061 w 2982"/>
                  <a:gd name="T9" fmla="*/ 0 h 24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82"/>
                  <a:gd name="T16" fmla="*/ 0 h 2442"/>
                  <a:gd name="T17" fmla="*/ 2982 w 2982"/>
                  <a:gd name="T18" fmla="*/ 2442 h 24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82" h="2442">
                    <a:moveTo>
                      <a:pt x="540" y="0"/>
                    </a:moveTo>
                    <a:lnTo>
                      <a:pt x="0" y="1734"/>
                    </a:lnTo>
                    <a:lnTo>
                      <a:pt x="2394" y="2442"/>
                    </a:lnTo>
                    <a:lnTo>
                      <a:pt x="2982" y="318"/>
                    </a:lnTo>
                    <a:lnTo>
                      <a:pt x="540" y="0"/>
                    </a:lnTo>
                    <a:close/>
                  </a:path>
                </a:pathLst>
              </a:cu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pic>
            <p:nvPicPr>
              <p:cNvPr id="94" name="Picture 1118" descr="screen">
                <a:extLst>
                  <a:ext uri="{FF2B5EF4-FFF2-40B4-BE49-F238E27FC236}">
                    <a16:creationId xmlns:a16="http://schemas.microsoft.com/office/drawing/2014/main" xmlns="" id="{2EA30B4E-5447-0340-8DAD-349A843F2AC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610380" y="3463988"/>
                <a:ext cx="209692" cy="1418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95" name="Freeform 1119">
                <a:extLst>
                  <a:ext uri="{FF2B5EF4-FFF2-40B4-BE49-F238E27FC236}">
                    <a16:creationId xmlns:a16="http://schemas.microsoft.com/office/drawing/2014/main" xmlns="" id="{1137F6C6-A7C9-9A4D-BCE3-048DB90EF7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641029" y="3455381"/>
                <a:ext cx="195517" cy="29007"/>
              </a:xfrm>
              <a:custGeom>
                <a:avLst/>
                <a:gdLst>
                  <a:gd name="T0" fmla="*/ 35620212 w 2528"/>
                  <a:gd name="T1" fmla="*/ 0 h 455"/>
                  <a:gd name="T2" fmla="*/ 608343257 w 2528"/>
                  <a:gd name="T3" fmla="*/ 16582250 h 455"/>
                  <a:gd name="T4" fmla="*/ 572256449 w 2528"/>
                  <a:gd name="T5" fmla="*/ 16582250 h 455"/>
                  <a:gd name="T6" fmla="*/ 0 w 2528"/>
                  <a:gd name="T7" fmla="*/ 16582250 h 455"/>
                  <a:gd name="T8" fmla="*/ 35620212 w 2528"/>
                  <a:gd name="T9" fmla="*/ 0 h 4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28"/>
                  <a:gd name="T16" fmla="*/ 0 h 455"/>
                  <a:gd name="T17" fmla="*/ 2528 w 2528"/>
                  <a:gd name="T18" fmla="*/ 455 h 45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28" h="455">
                    <a:moveTo>
                      <a:pt x="14" y="0"/>
                    </a:moveTo>
                    <a:lnTo>
                      <a:pt x="2528" y="341"/>
                    </a:lnTo>
                    <a:lnTo>
                      <a:pt x="2480" y="455"/>
                    </a:lnTo>
                    <a:lnTo>
                      <a:pt x="0" y="86"/>
                    </a:lnTo>
                    <a:lnTo>
                      <a:pt x="14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EAEAEA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6" name="Freeform 1120">
                <a:extLst>
                  <a:ext uri="{FF2B5EF4-FFF2-40B4-BE49-F238E27FC236}">
                    <a16:creationId xmlns:a16="http://schemas.microsoft.com/office/drawing/2014/main" xmlns="" id="{7A0060E2-767D-1545-8656-29ED1A47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971" y="3455145"/>
                <a:ext cx="54275" cy="120745"/>
              </a:xfrm>
              <a:custGeom>
                <a:avLst/>
                <a:gdLst>
                  <a:gd name="T0" fmla="*/ 142804406 w 702"/>
                  <a:gd name="T1" fmla="*/ 0 h 1893"/>
                  <a:gd name="T2" fmla="*/ 0 w 702"/>
                  <a:gd name="T3" fmla="*/ 66174575 h 1893"/>
                  <a:gd name="T4" fmla="*/ 35584530 w 702"/>
                  <a:gd name="T5" fmla="*/ 66174575 h 1893"/>
                  <a:gd name="T6" fmla="*/ 178855222 w 702"/>
                  <a:gd name="T7" fmla="*/ 16607700 h 1893"/>
                  <a:gd name="T8" fmla="*/ 142804406 w 702"/>
                  <a:gd name="T9" fmla="*/ 0 h 189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02"/>
                  <a:gd name="T16" fmla="*/ 0 h 1893"/>
                  <a:gd name="T17" fmla="*/ 702 w 702"/>
                  <a:gd name="T18" fmla="*/ 1893 h 189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02" h="1893">
                    <a:moveTo>
                      <a:pt x="579" y="0"/>
                    </a:moveTo>
                    <a:lnTo>
                      <a:pt x="0" y="1869"/>
                    </a:lnTo>
                    <a:lnTo>
                      <a:pt x="114" y="1893"/>
                    </a:lnTo>
                    <a:lnTo>
                      <a:pt x="702" y="51"/>
                    </a:lnTo>
                    <a:lnTo>
                      <a:pt x="579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Freeform 1121">
                <a:extLst>
                  <a:ext uri="{FF2B5EF4-FFF2-40B4-BE49-F238E27FC236}">
                    <a16:creationId xmlns:a16="http://schemas.microsoft.com/office/drawing/2014/main" xmlns="" id="{15790F5A-ABAC-8D49-A4F9-E2F576550D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76652" y="3476723"/>
                <a:ext cx="58489" cy="139375"/>
              </a:xfrm>
              <a:custGeom>
                <a:avLst/>
                <a:gdLst>
                  <a:gd name="T0" fmla="*/ 179213623 w 756"/>
                  <a:gd name="T1" fmla="*/ 0 h 2184"/>
                  <a:gd name="T2" fmla="*/ 35656008 w 756"/>
                  <a:gd name="T3" fmla="*/ 82904513 h 2184"/>
                  <a:gd name="T4" fmla="*/ 0 w 756"/>
                  <a:gd name="T5" fmla="*/ 82904513 h 2184"/>
                  <a:gd name="T6" fmla="*/ 143090785 w 756"/>
                  <a:gd name="T7" fmla="*/ 16632211 h 2184"/>
                  <a:gd name="T8" fmla="*/ 179213623 w 756"/>
                  <a:gd name="T9" fmla="*/ 0 h 218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6"/>
                  <a:gd name="T16" fmla="*/ 0 h 2184"/>
                  <a:gd name="T17" fmla="*/ 756 w 756"/>
                  <a:gd name="T18" fmla="*/ 2184 h 218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6" h="2184">
                    <a:moveTo>
                      <a:pt x="756" y="0"/>
                    </a:moveTo>
                    <a:lnTo>
                      <a:pt x="138" y="2184"/>
                    </a:lnTo>
                    <a:lnTo>
                      <a:pt x="0" y="2148"/>
                    </a:lnTo>
                    <a:lnTo>
                      <a:pt x="606" y="78"/>
                    </a:lnTo>
                    <a:lnTo>
                      <a:pt x="756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chemeClr val="bg1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Freeform 1122">
                <a:extLst>
                  <a:ext uri="{FF2B5EF4-FFF2-40B4-BE49-F238E27FC236}">
                    <a16:creationId xmlns:a16="http://schemas.microsoft.com/office/drawing/2014/main" xmlns="" id="{8898B7ED-5BCF-8C4E-B1AA-B82AD50FD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332" y="3569758"/>
                <a:ext cx="214545" cy="47048"/>
              </a:xfrm>
              <a:custGeom>
                <a:avLst/>
                <a:gdLst>
                  <a:gd name="T0" fmla="*/ 35658648 w 2773"/>
                  <a:gd name="T1" fmla="*/ 0 h 738"/>
                  <a:gd name="T2" fmla="*/ 0 w 2773"/>
                  <a:gd name="T3" fmla="*/ 16581742 h 738"/>
                  <a:gd name="T4" fmla="*/ 573357470 w 2773"/>
                  <a:gd name="T5" fmla="*/ 33163485 h 738"/>
                  <a:gd name="T6" fmla="*/ 573357470 w 2773"/>
                  <a:gd name="T7" fmla="*/ 16581742 h 738"/>
                  <a:gd name="T8" fmla="*/ 35658648 w 2773"/>
                  <a:gd name="T9" fmla="*/ 0 h 73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73"/>
                  <a:gd name="T16" fmla="*/ 0 h 738"/>
                  <a:gd name="T17" fmla="*/ 2773 w 2773"/>
                  <a:gd name="T18" fmla="*/ 738 h 73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73" h="738">
                    <a:moveTo>
                      <a:pt x="33" y="0"/>
                    </a:moveTo>
                    <a:lnTo>
                      <a:pt x="0" y="99"/>
                    </a:lnTo>
                    <a:lnTo>
                      <a:pt x="2436" y="738"/>
                    </a:lnTo>
                    <a:cubicBezTo>
                      <a:pt x="2499" y="501"/>
                      <a:pt x="2773" y="727"/>
                      <a:pt x="2373" y="603"/>
                    </a:cubicBezTo>
                    <a:lnTo>
                      <a:pt x="3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CC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9" name="Freeform 1123">
                <a:extLst>
                  <a:ext uri="{FF2B5EF4-FFF2-40B4-BE49-F238E27FC236}">
                    <a16:creationId xmlns:a16="http://schemas.microsoft.com/office/drawing/2014/main" xmlns="" id="{5A7F91EF-AD6B-D64E-B73E-C762D73A7A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83165" y="3477902"/>
                <a:ext cx="54786" cy="139965"/>
              </a:xfrm>
              <a:custGeom>
                <a:avLst/>
                <a:gdLst>
                  <a:gd name="T0" fmla="*/ 656550006 w 637"/>
                  <a:gd name="T1" fmla="*/ 0 h 1659"/>
                  <a:gd name="T2" fmla="*/ 656550006 w 637"/>
                  <a:gd name="T3" fmla="*/ 0 h 1659"/>
                  <a:gd name="T4" fmla="*/ 54716163 w 637"/>
                  <a:gd name="T5" fmla="*/ 2147483646 h 1659"/>
                  <a:gd name="T6" fmla="*/ 0 w 637"/>
                  <a:gd name="T7" fmla="*/ 2147483646 h 1659"/>
                  <a:gd name="T8" fmla="*/ 656550006 w 637"/>
                  <a:gd name="T9" fmla="*/ 0 h 16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37"/>
                  <a:gd name="T16" fmla="*/ 0 h 1659"/>
                  <a:gd name="T17" fmla="*/ 637 w 637"/>
                  <a:gd name="T18" fmla="*/ 1659 h 165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37" h="1659">
                    <a:moveTo>
                      <a:pt x="615" y="0"/>
                    </a:moveTo>
                    <a:lnTo>
                      <a:pt x="637" y="0"/>
                    </a:lnTo>
                    <a:lnTo>
                      <a:pt x="68" y="1659"/>
                    </a:lnTo>
                    <a:lnTo>
                      <a:pt x="0" y="1647"/>
                    </a:lnTo>
                    <a:lnTo>
                      <a:pt x="615" y="0"/>
                    </a:lnTo>
                    <a:close/>
                  </a:path>
                </a:pathLst>
              </a:custGeom>
              <a:solidFill>
                <a:srgbClr val="4D4D4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0" name="Freeform 1124">
                <a:extLst>
                  <a:ext uri="{FF2B5EF4-FFF2-40B4-BE49-F238E27FC236}">
                    <a16:creationId xmlns:a16="http://schemas.microsoft.com/office/drawing/2014/main" xmlns="" id="{BBB1B153-2E6F-7246-9B11-B68D01DF60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96588" y="3576007"/>
                <a:ext cx="190792" cy="46458"/>
              </a:xfrm>
              <a:custGeom>
                <a:avLst/>
                <a:gdLst>
                  <a:gd name="T0" fmla="*/ 0 w 2216"/>
                  <a:gd name="T1" fmla="*/ 0 h 550"/>
                  <a:gd name="T2" fmla="*/ 54884212 w 2216"/>
                  <a:gd name="T3" fmla="*/ 101852492 h 550"/>
                  <a:gd name="T4" fmla="*/ 2147483646 w 2216"/>
                  <a:gd name="T5" fmla="*/ 1017940055 h 550"/>
                  <a:gd name="T6" fmla="*/ 2147483646 w 2216"/>
                  <a:gd name="T7" fmla="*/ 865464562 h 550"/>
                  <a:gd name="T8" fmla="*/ 0 w 2216"/>
                  <a:gd name="T9" fmla="*/ 0 h 5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216"/>
                  <a:gd name="T16" fmla="*/ 0 h 550"/>
                  <a:gd name="T17" fmla="*/ 2216 w 2216"/>
                  <a:gd name="T18" fmla="*/ 550 h 55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216" h="550">
                    <a:moveTo>
                      <a:pt x="0" y="0"/>
                    </a:moveTo>
                    <a:lnTo>
                      <a:pt x="9" y="57"/>
                    </a:lnTo>
                    <a:lnTo>
                      <a:pt x="2164" y="550"/>
                    </a:lnTo>
                    <a:lnTo>
                      <a:pt x="2216" y="496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101" name="Group 1125">
                <a:extLst>
                  <a:ext uri="{FF2B5EF4-FFF2-40B4-BE49-F238E27FC236}">
                    <a16:creationId xmlns:a16="http://schemas.microsoft.com/office/drawing/2014/main" xmlns="" id="{57060979-075D-9D4D-B12E-DA0CCD4C6B8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593395" y="3625649"/>
                <a:ext cx="64747" cy="27592"/>
                <a:chOff x="1740" y="2642"/>
                <a:chExt cx="752" cy="327"/>
              </a:xfrm>
            </p:grpSpPr>
            <p:sp>
              <p:nvSpPr>
                <p:cNvPr id="140" name="Freeform 1126">
                  <a:extLst>
                    <a:ext uri="{FF2B5EF4-FFF2-40B4-BE49-F238E27FC236}">
                      <a16:creationId xmlns:a16="http://schemas.microsoft.com/office/drawing/2014/main" xmlns="" id="{8DFFF656-1361-C546-8336-177F79E469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40" y="2642"/>
                  <a:ext cx="752" cy="327"/>
                </a:xfrm>
                <a:custGeom>
                  <a:avLst/>
                  <a:gdLst>
                    <a:gd name="T0" fmla="*/ 293 w 752"/>
                    <a:gd name="T1" fmla="*/ 0 h 327"/>
                    <a:gd name="T2" fmla="*/ 752 w 752"/>
                    <a:gd name="T3" fmla="*/ 124 h 327"/>
                    <a:gd name="T4" fmla="*/ 470 w 752"/>
                    <a:gd name="T5" fmla="*/ 327 h 327"/>
                    <a:gd name="T6" fmla="*/ 0 w 752"/>
                    <a:gd name="T7" fmla="*/ 183 h 327"/>
                    <a:gd name="T8" fmla="*/ 293 w 752"/>
                    <a:gd name="T9" fmla="*/ 0 h 327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52"/>
                    <a:gd name="T16" fmla="*/ 0 h 327"/>
                    <a:gd name="T17" fmla="*/ 752 w 752"/>
                    <a:gd name="T18" fmla="*/ 327 h 327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52" h="327">
                      <a:moveTo>
                        <a:pt x="293" y="0"/>
                      </a:moveTo>
                      <a:lnTo>
                        <a:pt x="752" y="124"/>
                      </a:lnTo>
                      <a:lnTo>
                        <a:pt x="470" y="327"/>
                      </a:lnTo>
                      <a:lnTo>
                        <a:pt x="0" y="183"/>
                      </a:lnTo>
                      <a:lnTo>
                        <a:pt x="293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1" name="Freeform 1127">
                  <a:extLst>
                    <a:ext uri="{FF2B5EF4-FFF2-40B4-BE49-F238E27FC236}">
                      <a16:creationId xmlns:a16="http://schemas.microsoft.com/office/drawing/2014/main" xmlns="" id="{60C6C6B3-72DE-664B-B4DE-3C04B0C5BFE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54" y="2649"/>
                  <a:ext cx="726" cy="311"/>
                </a:xfrm>
                <a:custGeom>
                  <a:avLst/>
                  <a:gdLst>
                    <a:gd name="T0" fmla="*/ 282 w 726"/>
                    <a:gd name="T1" fmla="*/ 0 h 311"/>
                    <a:gd name="T2" fmla="*/ 726 w 726"/>
                    <a:gd name="T3" fmla="*/ 119 h 311"/>
                    <a:gd name="T4" fmla="*/ 457 w 726"/>
                    <a:gd name="T5" fmla="*/ 311 h 311"/>
                    <a:gd name="T6" fmla="*/ 0 w 726"/>
                    <a:gd name="T7" fmla="*/ 173 h 311"/>
                    <a:gd name="T8" fmla="*/ 282 w 726"/>
                    <a:gd name="T9" fmla="*/ 0 h 311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726"/>
                    <a:gd name="T16" fmla="*/ 0 h 311"/>
                    <a:gd name="T17" fmla="*/ 726 w 726"/>
                    <a:gd name="T18" fmla="*/ 311 h 311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726" h="311">
                      <a:moveTo>
                        <a:pt x="282" y="0"/>
                      </a:moveTo>
                      <a:lnTo>
                        <a:pt x="726" y="119"/>
                      </a:lnTo>
                      <a:lnTo>
                        <a:pt x="457" y="311"/>
                      </a:lnTo>
                      <a:lnTo>
                        <a:pt x="0" y="173"/>
                      </a:lnTo>
                      <a:lnTo>
                        <a:pt x="282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4D4D4D"/>
                    </a:gs>
                    <a:gs pos="100000">
                      <a:srgbClr val="DDDDDD"/>
                    </a:gs>
                  </a:gsLst>
                  <a:lin ang="1890000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2" name="Freeform 1128">
                  <a:extLst>
                    <a:ext uri="{FF2B5EF4-FFF2-40B4-BE49-F238E27FC236}">
                      <a16:creationId xmlns:a16="http://schemas.microsoft.com/office/drawing/2014/main" xmlns="" id="{0D48292A-917D-D046-A974-043CEE5A414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808" y="2770"/>
                  <a:ext cx="258" cy="100"/>
                </a:xfrm>
                <a:custGeom>
                  <a:avLst/>
                  <a:gdLst>
                    <a:gd name="T0" fmla="*/ 0 w 258"/>
                    <a:gd name="T1" fmla="*/ 44 h 100"/>
                    <a:gd name="T2" fmla="*/ 75 w 258"/>
                    <a:gd name="T3" fmla="*/ 0 h 100"/>
                    <a:gd name="T4" fmla="*/ 258 w 258"/>
                    <a:gd name="T5" fmla="*/ 50 h 100"/>
                    <a:gd name="T6" fmla="*/ 183 w 258"/>
                    <a:gd name="T7" fmla="*/ 100 h 100"/>
                    <a:gd name="T8" fmla="*/ 0 w 258"/>
                    <a:gd name="T9" fmla="*/ 44 h 10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0"/>
                    <a:gd name="T17" fmla="*/ 258 w 258"/>
                    <a:gd name="T18" fmla="*/ 100 h 10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0">
                      <a:moveTo>
                        <a:pt x="0" y="44"/>
                      </a:moveTo>
                      <a:lnTo>
                        <a:pt x="75" y="0"/>
                      </a:lnTo>
                      <a:lnTo>
                        <a:pt x="258" y="50"/>
                      </a:lnTo>
                      <a:lnTo>
                        <a:pt x="183" y="100"/>
                      </a:lnTo>
                      <a:lnTo>
                        <a:pt x="0" y="44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3" name="Freeform 1129">
                  <a:extLst>
                    <a:ext uri="{FF2B5EF4-FFF2-40B4-BE49-F238E27FC236}">
                      <a16:creationId xmlns:a16="http://schemas.microsoft.com/office/drawing/2014/main" xmlns="" id="{DB6BAAEB-BADD-0A4F-8A9D-D72AFCA99A5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1799" y="2816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4" name="Freeform 1130">
                  <a:extLst>
                    <a:ext uri="{FF2B5EF4-FFF2-40B4-BE49-F238E27FC236}">
                      <a16:creationId xmlns:a16="http://schemas.microsoft.com/office/drawing/2014/main" xmlns="" id="{05D5969F-F3B9-414D-975E-A6700098F2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20" y="2834"/>
                  <a:ext cx="258" cy="102"/>
                </a:xfrm>
                <a:custGeom>
                  <a:avLst/>
                  <a:gdLst>
                    <a:gd name="T0" fmla="*/ 0 w 258"/>
                    <a:gd name="T1" fmla="*/ 46 h 102"/>
                    <a:gd name="T2" fmla="*/ 71 w 258"/>
                    <a:gd name="T3" fmla="*/ 0 h 102"/>
                    <a:gd name="T4" fmla="*/ 258 w 258"/>
                    <a:gd name="T5" fmla="*/ 52 h 102"/>
                    <a:gd name="T6" fmla="*/ 183 w 258"/>
                    <a:gd name="T7" fmla="*/ 102 h 102"/>
                    <a:gd name="T8" fmla="*/ 0 w 258"/>
                    <a:gd name="T9" fmla="*/ 46 h 10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58"/>
                    <a:gd name="T16" fmla="*/ 0 h 102"/>
                    <a:gd name="T17" fmla="*/ 258 w 258"/>
                    <a:gd name="T18" fmla="*/ 102 h 10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58" h="102">
                      <a:moveTo>
                        <a:pt x="0" y="46"/>
                      </a:moveTo>
                      <a:lnTo>
                        <a:pt x="71" y="0"/>
                      </a:lnTo>
                      <a:lnTo>
                        <a:pt x="258" y="52"/>
                      </a:lnTo>
                      <a:lnTo>
                        <a:pt x="183" y="102"/>
                      </a:lnTo>
                      <a:lnTo>
                        <a:pt x="0" y="46"/>
                      </a:ln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145" name="Freeform 1131">
                  <a:extLst>
                    <a:ext uri="{FF2B5EF4-FFF2-40B4-BE49-F238E27FC236}">
                      <a16:creationId xmlns:a16="http://schemas.microsoft.com/office/drawing/2014/main" xmlns="" id="{41BB174D-6019-384D-A5AC-1B4D92D938B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011" y="2882"/>
                  <a:ext cx="194" cy="63"/>
                </a:xfrm>
                <a:custGeom>
                  <a:avLst/>
                  <a:gdLst>
                    <a:gd name="T0" fmla="*/ 12 w 194"/>
                    <a:gd name="T1" fmla="*/ 0 h 63"/>
                    <a:gd name="T2" fmla="*/ 194 w 194"/>
                    <a:gd name="T3" fmla="*/ 53 h 63"/>
                    <a:gd name="T4" fmla="*/ 180 w 194"/>
                    <a:gd name="T5" fmla="*/ 63 h 63"/>
                    <a:gd name="T6" fmla="*/ 0 w 194"/>
                    <a:gd name="T7" fmla="*/ 9 h 63"/>
                    <a:gd name="T8" fmla="*/ 12 w 194"/>
                    <a:gd name="T9" fmla="*/ 0 h 63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194"/>
                    <a:gd name="T16" fmla="*/ 0 h 63"/>
                    <a:gd name="T17" fmla="*/ 194 w 194"/>
                    <a:gd name="T18" fmla="*/ 63 h 63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194" h="63">
                      <a:moveTo>
                        <a:pt x="12" y="0"/>
                      </a:moveTo>
                      <a:lnTo>
                        <a:pt x="194" y="53"/>
                      </a:lnTo>
                      <a:lnTo>
                        <a:pt x="180" y="63"/>
                      </a:lnTo>
                      <a:lnTo>
                        <a:pt x="0" y="9"/>
                      </a:lnTo>
                      <a:lnTo>
                        <a:pt x="12" y="0"/>
                      </a:lnTo>
                      <a:close/>
                    </a:path>
                  </a:pathLst>
                </a:custGeom>
                <a:solidFill>
                  <a:srgbClr val="000099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  <p:sp>
            <p:nvSpPr>
              <p:cNvPr id="102" name="Freeform 1132">
                <a:extLst>
                  <a:ext uri="{FF2B5EF4-FFF2-40B4-BE49-F238E27FC236}">
                    <a16:creationId xmlns:a16="http://schemas.microsoft.com/office/drawing/2014/main" xmlns="" id="{F8739864-4836-E447-8FC8-5886923FF4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704243" y="3629776"/>
                <a:ext cx="78411" cy="60608"/>
              </a:xfrm>
              <a:custGeom>
                <a:avLst/>
                <a:gdLst>
                  <a:gd name="T0" fmla="*/ 39250883 w 990"/>
                  <a:gd name="T1" fmla="*/ 342828616 h 792"/>
                  <a:gd name="T2" fmla="*/ 354255671 w 990"/>
                  <a:gd name="T3" fmla="*/ 0 h 792"/>
                  <a:gd name="T4" fmla="*/ 354255671 w 990"/>
                  <a:gd name="T5" fmla="*/ 34504242 h 792"/>
                  <a:gd name="T6" fmla="*/ 0 w 990"/>
                  <a:gd name="T7" fmla="*/ 342828616 h 792"/>
                  <a:gd name="T8" fmla="*/ 39250883 w 990"/>
                  <a:gd name="T9" fmla="*/ 342828616 h 79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990"/>
                  <a:gd name="T16" fmla="*/ 0 h 792"/>
                  <a:gd name="T17" fmla="*/ 990 w 990"/>
                  <a:gd name="T18" fmla="*/ 792 h 79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990" h="792">
                    <a:moveTo>
                      <a:pt x="3" y="738"/>
                    </a:moveTo>
                    <a:lnTo>
                      <a:pt x="990" y="0"/>
                    </a:lnTo>
                    <a:lnTo>
                      <a:pt x="987" y="60"/>
                    </a:lnTo>
                    <a:lnTo>
                      <a:pt x="0" y="792"/>
                    </a:lnTo>
                    <a:lnTo>
                      <a:pt x="3" y="738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3" name="Freeform 1133">
                <a:extLst>
                  <a:ext uri="{FF2B5EF4-FFF2-40B4-BE49-F238E27FC236}">
                    <a16:creationId xmlns:a16="http://schemas.microsoft.com/office/drawing/2014/main" xmlns="" id="{C59CADF3-CD09-FB48-A672-C2C50B66CE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129" y="3634611"/>
                <a:ext cx="200625" cy="55302"/>
              </a:xfrm>
              <a:custGeom>
                <a:avLst/>
                <a:gdLst>
                  <a:gd name="T0" fmla="*/ 39302216 w 2532"/>
                  <a:gd name="T1" fmla="*/ 0 h 723"/>
                  <a:gd name="T2" fmla="*/ 39302216 w 2532"/>
                  <a:gd name="T3" fmla="*/ 0 h 723"/>
                  <a:gd name="T4" fmla="*/ 867084690 w 2532"/>
                  <a:gd name="T5" fmla="*/ 307891170 h 723"/>
                  <a:gd name="T6" fmla="*/ 867084690 w 2532"/>
                  <a:gd name="T7" fmla="*/ 342351506 h 723"/>
                  <a:gd name="T8" fmla="*/ 0 w 2532"/>
                  <a:gd name="T9" fmla="*/ 34009889 h 723"/>
                  <a:gd name="T10" fmla="*/ 39302216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4" name="Freeform 1134">
                <a:extLst>
                  <a:ext uri="{FF2B5EF4-FFF2-40B4-BE49-F238E27FC236}">
                    <a16:creationId xmlns:a16="http://schemas.microsoft.com/office/drawing/2014/main" xmlns="" id="{628AB6FD-35F6-0345-BD13-22EAAF9EC2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257" y="3624470"/>
                <a:ext cx="2171" cy="11202"/>
              </a:xfrm>
              <a:custGeom>
                <a:avLst/>
                <a:gdLst>
                  <a:gd name="T0" fmla="*/ 48903362 w 26"/>
                  <a:gd name="T1" fmla="*/ 33634500 h 147"/>
                  <a:gd name="T2" fmla="*/ 48903362 w 26"/>
                  <a:gd name="T3" fmla="*/ 67263209 h 147"/>
                  <a:gd name="T4" fmla="*/ 0 w 26"/>
                  <a:gd name="T5" fmla="*/ 67263209 h 147"/>
                  <a:gd name="T6" fmla="*/ 48903362 w 26"/>
                  <a:gd name="T7" fmla="*/ 0 h 147"/>
                  <a:gd name="T8" fmla="*/ 48903362 w 26"/>
                  <a:gd name="T9" fmla="*/ 33634500 h 14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6"/>
                  <a:gd name="T16" fmla="*/ 0 h 147"/>
                  <a:gd name="T17" fmla="*/ 26 w 26"/>
                  <a:gd name="T18" fmla="*/ 147 h 14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6" h="147">
                    <a:moveTo>
                      <a:pt x="26" y="10"/>
                    </a:moveTo>
                    <a:lnTo>
                      <a:pt x="23" y="147"/>
                    </a:lnTo>
                    <a:lnTo>
                      <a:pt x="0" y="144"/>
                    </a:lnTo>
                    <a:lnTo>
                      <a:pt x="3" y="0"/>
                    </a:lnTo>
                    <a:lnTo>
                      <a:pt x="26" y="1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5" name="Freeform 1135">
                <a:extLst>
                  <a:ext uri="{FF2B5EF4-FFF2-40B4-BE49-F238E27FC236}">
                    <a16:creationId xmlns:a16="http://schemas.microsoft.com/office/drawing/2014/main" xmlns="" id="{76529D44-B4FD-DE4D-812E-E461A0FCC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04384" y="3578837"/>
                <a:ext cx="93225" cy="46340"/>
              </a:xfrm>
              <a:custGeom>
                <a:avLst/>
                <a:gdLst>
                  <a:gd name="T0" fmla="*/ 395043791 w 1176"/>
                  <a:gd name="T1" fmla="*/ 0 h 606"/>
                  <a:gd name="T2" fmla="*/ 0 w 1176"/>
                  <a:gd name="T3" fmla="*/ 273654982 h 606"/>
                  <a:gd name="T4" fmla="*/ 39357994 w 1176"/>
                  <a:gd name="T5" fmla="*/ 273654982 h 606"/>
                  <a:gd name="T6" fmla="*/ 395043791 w 1176"/>
                  <a:gd name="T7" fmla="*/ 33985420 h 606"/>
                  <a:gd name="T8" fmla="*/ 395043791 w 1176"/>
                  <a:gd name="T9" fmla="*/ 0 h 6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76"/>
                  <a:gd name="T16" fmla="*/ 0 h 606"/>
                  <a:gd name="T17" fmla="*/ 1176 w 1176"/>
                  <a:gd name="T18" fmla="*/ 606 h 6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76" h="606">
                    <a:moveTo>
                      <a:pt x="1170" y="0"/>
                    </a:moveTo>
                    <a:lnTo>
                      <a:pt x="0" y="597"/>
                    </a:lnTo>
                    <a:lnTo>
                      <a:pt x="30" y="606"/>
                    </a:lnTo>
                    <a:lnTo>
                      <a:pt x="1176" y="18"/>
                    </a:lnTo>
                    <a:lnTo>
                      <a:pt x="1170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6" name="Freeform 1136">
                <a:extLst>
                  <a:ext uri="{FF2B5EF4-FFF2-40B4-BE49-F238E27FC236}">
                    <a16:creationId xmlns:a16="http://schemas.microsoft.com/office/drawing/2014/main" xmlns="" id="{44CD9A89-0E3B-2C40-8436-71B7526BA6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7510642" y="3626829"/>
                <a:ext cx="190281" cy="53180"/>
              </a:xfrm>
              <a:custGeom>
                <a:avLst/>
                <a:gdLst>
                  <a:gd name="T0" fmla="*/ 31829833 w 2532"/>
                  <a:gd name="T1" fmla="*/ 0 h 723"/>
                  <a:gd name="T2" fmla="*/ 31829833 w 2532"/>
                  <a:gd name="T3" fmla="*/ 0 h 723"/>
                  <a:gd name="T4" fmla="*/ 382827787 w 2532"/>
                  <a:gd name="T5" fmla="*/ 175498781 h 723"/>
                  <a:gd name="T6" fmla="*/ 382827787 w 2532"/>
                  <a:gd name="T7" fmla="*/ 175498781 h 723"/>
                  <a:gd name="T8" fmla="*/ 0 w 2532"/>
                  <a:gd name="T9" fmla="*/ 29448186 h 723"/>
                  <a:gd name="T10" fmla="*/ 31829833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07" name="Freeform 1137">
                <a:extLst>
                  <a:ext uri="{FF2B5EF4-FFF2-40B4-BE49-F238E27FC236}">
                    <a16:creationId xmlns:a16="http://schemas.microsoft.com/office/drawing/2014/main" xmlns="" id="{92BF681C-02FC-8F49-A2CD-8F3446ECE5D3}"/>
                  </a:ext>
                </a:extLst>
              </p:cNvPr>
              <p:cNvSpPr>
                <a:spLocks/>
              </p:cNvSpPr>
              <p:nvPr/>
            </p:nvSpPr>
            <p:spPr bwMode="auto">
              <a:xfrm flipV="1">
                <a:off x="7700668" y="3623055"/>
                <a:ext cx="77645" cy="55066"/>
              </a:xfrm>
              <a:custGeom>
                <a:avLst/>
                <a:gdLst>
                  <a:gd name="T0" fmla="*/ 0 w 2532"/>
                  <a:gd name="T1" fmla="*/ 0 h 723"/>
                  <a:gd name="T2" fmla="*/ 0 w 2532"/>
                  <a:gd name="T3" fmla="*/ 0 h 723"/>
                  <a:gd name="T4" fmla="*/ 0 w 2532"/>
                  <a:gd name="T5" fmla="*/ 302641137 h 723"/>
                  <a:gd name="T6" fmla="*/ 0 w 2532"/>
                  <a:gd name="T7" fmla="*/ 302641137 h 723"/>
                  <a:gd name="T8" fmla="*/ 0 w 2532"/>
                  <a:gd name="T9" fmla="*/ 33575256 h 723"/>
                  <a:gd name="T10" fmla="*/ 0 w 2532"/>
                  <a:gd name="T11" fmla="*/ 0 h 72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532"/>
                  <a:gd name="T19" fmla="*/ 0 h 723"/>
                  <a:gd name="T20" fmla="*/ 2532 w 2532"/>
                  <a:gd name="T21" fmla="*/ 723 h 72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532" h="723">
                    <a:moveTo>
                      <a:pt x="6" y="0"/>
                    </a:moveTo>
                    <a:cubicBezTo>
                      <a:pt x="16" y="0"/>
                      <a:pt x="26" y="0"/>
                      <a:pt x="36" y="0"/>
                    </a:cubicBezTo>
                    <a:lnTo>
                      <a:pt x="2532" y="678"/>
                    </a:lnTo>
                    <a:lnTo>
                      <a:pt x="2529" y="723"/>
                    </a:lnTo>
                    <a:lnTo>
                      <a:pt x="0" y="24"/>
                    </a:lnTo>
                    <a:lnTo>
                      <a:pt x="6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8" name="Group 1139">
              <a:extLst>
                <a:ext uri="{FF2B5EF4-FFF2-40B4-BE49-F238E27FC236}">
                  <a16:creationId xmlns:a16="http://schemas.microsoft.com/office/drawing/2014/main" xmlns="" id="{904B7C12-C509-8641-BB63-56DEDB95F95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5622" y="3537823"/>
              <a:ext cx="359261" cy="342045"/>
              <a:chOff x="2839" y="3501"/>
              <a:chExt cx="755" cy="803"/>
            </a:xfrm>
          </p:grpSpPr>
          <p:pic>
            <p:nvPicPr>
              <p:cNvPr id="138" name="Picture 1140" descr="desktop_computer_stylized_medium">
                <a:extLst>
                  <a:ext uri="{FF2B5EF4-FFF2-40B4-BE49-F238E27FC236}">
                    <a16:creationId xmlns:a16="http://schemas.microsoft.com/office/drawing/2014/main" xmlns="" id="{BDC7F552-21C9-C942-90FF-0162099A3D5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39" name="Freeform 1141">
                <a:extLst>
                  <a:ext uri="{FF2B5EF4-FFF2-40B4-BE49-F238E27FC236}">
                    <a16:creationId xmlns:a16="http://schemas.microsoft.com/office/drawing/2014/main" xmlns="" id="{654B43BA-608E-5D4D-B11B-71762CFBE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grpSp>
          <p:nvGrpSpPr>
            <p:cNvPr id="694" name="Group 693">
              <a:extLst>
                <a:ext uri="{FF2B5EF4-FFF2-40B4-BE49-F238E27FC236}">
                  <a16:creationId xmlns:a16="http://schemas.microsoft.com/office/drawing/2014/main" xmlns="" id="{14715B6C-9A50-FE4B-A8D2-1E669BF891E3}"/>
                </a:ext>
              </a:extLst>
            </p:cNvPr>
            <p:cNvGrpSpPr/>
            <p:nvPr/>
          </p:nvGrpSpPr>
          <p:grpSpPr>
            <a:xfrm>
              <a:off x="7797061" y="3296104"/>
              <a:ext cx="347997" cy="396620"/>
              <a:chOff x="7797061" y="3296104"/>
              <a:chExt cx="347997" cy="396620"/>
            </a:xfrm>
          </p:grpSpPr>
          <p:pic>
            <p:nvPicPr>
              <p:cNvPr id="113" name="Picture 571" descr="fridge2.png">
                <a:extLst>
                  <a:ext uri="{FF2B5EF4-FFF2-40B4-BE49-F238E27FC236}">
                    <a16:creationId xmlns:a16="http://schemas.microsoft.com/office/drawing/2014/main" xmlns="" id="{29DD0F98-F93B-0145-A925-F4125ED490D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96825" y="3355697"/>
                <a:ext cx="189578" cy="3370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14" name="Picture 1115" descr="antenna_stylized">
                <a:extLst>
                  <a:ext uri="{FF2B5EF4-FFF2-40B4-BE49-F238E27FC236}">
                    <a16:creationId xmlns:a16="http://schemas.microsoft.com/office/drawing/2014/main" xmlns="" id="{C1A64F68-4D16-AE4F-AB60-09D2C0CF0E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97061" y="3296104"/>
                <a:ext cx="347997" cy="16755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xmlns="" id="{AF73DE4B-526E-9C4F-9242-9BC0D43F8CBA}"/>
              </a:ext>
            </a:extLst>
          </p:cNvPr>
          <p:cNvGrpSpPr/>
          <p:nvPr/>
        </p:nvGrpSpPr>
        <p:grpSpPr>
          <a:xfrm>
            <a:off x="11064947" y="3661760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xmlns="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xmlns="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xmlns="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xmlns="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xmlns="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xmlns="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xmlns="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xmlns="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xmlns="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xmlns="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xmlns="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xmlns="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7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xmlns="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507226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xmlns="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xmlns="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xmlns="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xmlns="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xmlns="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xmlns="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xmlns="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xmlns="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xmlns="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xmlns="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xmlns="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xmlns="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xmlns="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xmlns="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xmlns="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xmlns="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xmlns="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xmlns="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xmlns="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xmlns="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xmlns="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xmlns="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xmlns="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xmlns="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xmlns="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xmlns="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xmlns="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xmlns="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xmlns="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xmlns="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xmlns="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xmlns="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xmlns="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5133436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xmlns="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xmlns="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xmlns="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6086084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xmlns="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xmlns="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xmlns="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xmlns="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xmlns="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xmlns="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xmlns="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xmlns="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xmlns="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xmlns="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xmlns="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xmlns="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xmlns="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xmlns="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xmlns="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xmlns="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xmlns="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xmlns="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xmlns="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xmlns="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xmlns="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xmlns="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xmlns="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xmlns="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737932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xmlns="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xmlns="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xmlns="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759405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xmlns="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xmlns="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xmlns="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6028413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xmlns="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xmlns="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xmlns="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xmlns="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xmlns="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xmlns="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xmlns="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xmlns="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xmlns="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xmlns="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xmlns="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xmlns="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xmlns="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xmlns="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xmlns="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xmlns="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xmlns="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xmlns="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xmlns="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xmlns="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xmlns="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xmlns="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xmlns="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xmlns="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870246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xmlns="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890198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xmlns="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6046028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xmlns="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07674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xmlns="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904470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xmlns="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xmlns="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xmlns="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95602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xmlns="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951947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xmlns="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xmlns="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xmlns="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600437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xmlns="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6048213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xmlns="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6044135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xmlns="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xmlns="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xmlns="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6004376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xmlns="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6000444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xmlns="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xmlns="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xmlns="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869663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xmlns="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953841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xmlns="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906218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xmlns="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6187441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xmlns="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6187878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xmlns="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6196762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xmlns="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6202441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xmlns="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6154090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xmlns="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6154090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xmlns="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6154090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xmlns="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6074719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xmlns="" id="{41AB30C9-9641-104B-9006-CB16D4919778}"/>
              </a:ext>
            </a:extLst>
          </p:cNvPr>
          <p:cNvGrpSpPr/>
          <p:nvPr/>
        </p:nvGrpSpPr>
        <p:grpSpPr>
          <a:xfrm>
            <a:off x="7680324" y="2047446"/>
            <a:ext cx="2755429" cy="4250670"/>
            <a:chOff x="7680324" y="1814171"/>
            <a:chExt cx="2755429" cy="4250670"/>
          </a:xfrm>
        </p:grpSpPr>
        <p:grpSp>
          <p:nvGrpSpPr>
            <p:cNvPr id="49" name="Group 652">
              <a:extLst>
                <a:ext uri="{FF2B5EF4-FFF2-40B4-BE49-F238E27FC236}">
                  <a16:creationId xmlns:a16="http://schemas.microsoft.com/office/drawing/2014/main" xmlns="" id="{F4E63F52-683B-8244-A48E-D8CF833CC08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50224" y="1859725"/>
              <a:ext cx="415925" cy="385763"/>
              <a:chOff x="2751" y="1851"/>
              <a:chExt cx="462" cy="478"/>
            </a:xfrm>
          </p:grpSpPr>
          <p:pic>
            <p:nvPicPr>
              <p:cNvPr id="359" name="Picture 653" descr="iphone_stylized_small">
                <a:extLst>
                  <a:ext uri="{FF2B5EF4-FFF2-40B4-BE49-F238E27FC236}">
                    <a16:creationId xmlns:a16="http://schemas.microsoft.com/office/drawing/2014/main" xmlns="" id="{EDF1EC93-A6E5-964F-B0D6-EE56B282AEB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928" y="1922"/>
                <a:ext cx="152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360" name="Picture 654" descr="antenna_radiation_stylized">
                <a:extLst>
                  <a:ext uri="{FF2B5EF4-FFF2-40B4-BE49-F238E27FC236}">
                    <a16:creationId xmlns:a16="http://schemas.microsoft.com/office/drawing/2014/main" xmlns="" id="{0A17C594-505E-6F41-AEEB-272A31DFD2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751" y="1851"/>
                <a:ext cx="462" cy="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487" name="Group 590">
              <a:extLst>
                <a:ext uri="{FF2B5EF4-FFF2-40B4-BE49-F238E27FC236}">
                  <a16:creationId xmlns:a16="http://schemas.microsoft.com/office/drawing/2014/main" xmlns="" id="{B2AAF0C3-BD73-634D-B492-B7CCF9735ED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73981" y="5281060"/>
              <a:ext cx="345630" cy="320302"/>
              <a:chOff x="2839" y="3501"/>
              <a:chExt cx="755" cy="803"/>
            </a:xfrm>
          </p:grpSpPr>
          <p:pic>
            <p:nvPicPr>
              <p:cNvPr id="488" name="Picture 591" descr="desktop_computer_stylized_medium">
                <a:extLst>
                  <a:ext uri="{FF2B5EF4-FFF2-40B4-BE49-F238E27FC236}">
                    <a16:creationId xmlns:a16="http://schemas.microsoft.com/office/drawing/2014/main" xmlns="" id="{1B000E5D-AA79-9741-93EF-69776E79DCF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8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839" y="3501"/>
                <a:ext cx="755" cy="8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489" name="Freeform 592">
                <a:extLst>
                  <a:ext uri="{FF2B5EF4-FFF2-40B4-BE49-F238E27FC236}">
                    <a16:creationId xmlns:a16="http://schemas.microsoft.com/office/drawing/2014/main" xmlns="" id="{E285DBFE-A1C0-DE49-94FA-3F8D49F9AA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3578"/>
                <a:ext cx="356" cy="368"/>
              </a:xfrm>
              <a:custGeom>
                <a:avLst/>
                <a:gdLst>
                  <a:gd name="T0" fmla="*/ 0 w 356"/>
                  <a:gd name="T1" fmla="*/ 0 h 368"/>
                  <a:gd name="T2" fmla="*/ 300 w 356"/>
                  <a:gd name="T3" fmla="*/ 14 h 368"/>
                  <a:gd name="T4" fmla="*/ 356 w 356"/>
                  <a:gd name="T5" fmla="*/ 294 h 368"/>
                  <a:gd name="T6" fmla="*/ 78 w 356"/>
                  <a:gd name="T7" fmla="*/ 368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/>
              </a:p>
            </p:txBody>
          </p:sp>
        </p:grpSp>
        <p:sp>
          <p:nvSpPr>
            <p:cNvPr id="612" name="Oval 611">
              <a:extLst>
                <a:ext uri="{FF2B5EF4-FFF2-40B4-BE49-F238E27FC236}">
                  <a16:creationId xmlns:a16="http://schemas.microsoft.com/office/drawing/2014/main" xmlns="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xmlns="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8" name="Oval 637">
              <a:extLst>
                <a:ext uri="{FF2B5EF4-FFF2-40B4-BE49-F238E27FC236}">
                  <a16:creationId xmlns:a16="http://schemas.microsoft.com/office/drawing/2014/main" xmlns="" id="{C1E7801D-A747-164C-BE12-1FDEB3DFE743}"/>
                </a:ext>
              </a:extLst>
            </p:cNvPr>
            <p:cNvSpPr/>
            <p:nvPr/>
          </p:nvSpPr>
          <p:spPr>
            <a:xfrm>
              <a:off x="9823450" y="5554772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51" name="Line 913">
            <a:extLst>
              <a:ext uri="{FF2B5EF4-FFF2-40B4-BE49-F238E27FC236}">
                <a16:creationId xmlns:a16="http://schemas.microsoft.com/office/drawing/2014/main" xmlns="" id="{47A3D5AF-94CC-B24F-922A-C603CC0A5A25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9044" y="2575657"/>
            <a:ext cx="7403" cy="2772905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2" name="Line 911">
            <a:extLst>
              <a:ext uri="{FF2B5EF4-FFF2-40B4-BE49-F238E27FC236}">
                <a16:creationId xmlns:a16="http://schemas.microsoft.com/office/drawing/2014/main" xmlns="" id="{8E6A54E5-62F1-544B-AE41-5137E62BFCE9}"/>
              </a:ext>
            </a:extLst>
          </p:cNvPr>
          <p:cNvSpPr>
            <a:spLocks noChangeShapeType="1"/>
          </p:cNvSpPr>
          <p:nvPr/>
        </p:nvSpPr>
        <p:spPr bwMode="auto">
          <a:xfrm>
            <a:off x="8370450" y="2531243"/>
            <a:ext cx="1700212" cy="3386138"/>
          </a:xfrm>
          <a:prstGeom prst="line">
            <a:avLst/>
          </a:prstGeom>
          <a:noFill/>
          <a:ln w="76200">
            <a:solidFill>
              <a:srgbClr val="CC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99" y="46719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ea typeface="ＭＳ Ｐゴシック" panose="020B0600070205080204" pitchFamily="34" charset="-128"/>
              </a:rPr>
              <a:t>1. Client-server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aradigm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xmlns="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186612" y="913348"/>
            <a:ext cx="7087464" cy="5321696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None/>
            </a:pPr>
            <a:r>
              <a:rPr lang="en-US" sz="2400" dirty="0" smtClean="0"/>
              <a:t>	A </a:t>
            </a:r>
            <a:r>
              <a:rPr lang="en-US" sz="2400" dirty="0"/>
              <a:t>centralized model in which a server </a:t>
            </a:r>
            <a:r>
              <a:rPr lang="en-US" sz="2400" dirty="0" smtClean="0"/>
              <a:t>provides services </a:t>
            </a:r>
            <a:r>
              <a:rPr lang="en-US" sz="2400" dirty="0"/>
              <a:t>and a client requests them. For e.g., Web (HTTP: browser → web server), Email (SMTP, IMAP), Database applications</a:t>
            </a:r>
            <a:r>
              <a:rPr lang="en-US" sz="2400" dirty="0">
                <a:ea typeface="ＭＳ Ｐゴシック" panose="020B0600070205080204" pitchFamily="34" charset="-128"/>
              </a:rPr>
              <a:t>.</a:t>
            </a:r>
            <a:endParaRPr lang="en-US" altLang="en-US" sz="2400" dirty="0">
              <a:ea typeface="ＭＳ Ｐゴシック" panose="020B0600070205080204" pitchFamily="34" charset="-128"/>
            </a:endParaRPr>
          </a:p>
          <a:p>
            <a:pPr>
              <a:buNone/>
            </a:pPr>
            <a:r>
              <a:rPr lang="en-US" altLang="en-US" sz="2400" dirty="0" smtClean="0">
                <a:solidFill>
                  <a:srgbClr val="CC0000"/>
                </a:solidFill>
                <a:ea typeface="ＭＳ Ｐゴシック" panose="020B0600070205080204" pitchFamily="34" charset="-128"/>
              </a:rPr>
              <a:t>server</a:t>
            </a:r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: </a:t>
            </a:r>
          </a:p>
          <a:p>
            <a:pPr marL="466725" indent="-233363"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always-on host</a:t>
            </a:r>
          </a:p>
          <a:p>
            <a:pPr marL="466725" indent="-233363"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permanent IP address</a:t>
            </a:r>
          </a:p>
          <a:p>
            <a:pPr marL="466725" indent="-233363"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often in data centers, for scaling</a:t>
            </a:r>
          </a:p>
          <a:p>
            <a:pPr>
              <a:spcBef>
                <a:spcPct val="75000"/>
              </a:spcBef>
              <a:buNone/>
            </a:pPr>
            <a:r>
              <a:rPr lang="en-US" altLang="en-US" sz="24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clients:</a:t>
            </a:r>
          </a:p>
          <a:p>
            <a:pPr marL="466725" indent="-233363"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contact, communicate with server</a:t>
            </a:r>
          </a:p>
          <a:p>
            <a:pPr marL="466725" indent="-233363"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may be intermittently connected</a:t>
            </a:r>
          </a:p>
          <a:p>
            <a:pPr marL="466725" indent="-233363"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may have dynamic IP addresses</a:t>
            </a:r>
          </a:p>
          <a:p>
            <a:pPr marL="466725" indent="-233363"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do 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not</a:t>
            </a:r>
            <a:r>
              <a:rPr lang="en-US" altLang="en-US" sz="2400" dirty="0">
                <a:ea typeface="ＭＳ Ｐゴシック" panose="020B0600070205080204" pitchFamily="34" charset="-128"/>
              </a:rPr>
              <a:t> communicate directly with each other</a:t>
            </a:r>
          </a:p>
          <a:p>
            <a:r>
              <a:rPr lang="en-US" sz="2400" dirty="0"/>
              <a:t>examples: HTTP, IMAP, FTP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xmlns="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849675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xmlns="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xmlns="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xmlns="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xmlns="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xmlns="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xmlns="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xmlns="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xmlns="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xmlns="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xmlns="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xmlns="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xmlns="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xmlns="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xmlns="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xmlns="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xmlns="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xmlns="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xmlns="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xmlns="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xmlns="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xmlns="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xmlns="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xmlns="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xmlns="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xmlns="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xmlns="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xmlns="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xmlns="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xmlns="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xmlns="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xmlns="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xmlns="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571" name="Slide Number Placeholder 2">
            <a:extLst>
              <a:ext uri="{FF2B5EF4-FFF2-40B4-BE49-F238E27FC236}">
                <a16:creationId xmlns:a16="http://schemas.microsoft.com/office/drawing/2014/main" xmlns="" id="{11C947C3-A18E-7342-B385-B637BB8FD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62605" y="-5975"/>
            <a:ext cx="3429000" cy="1905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4560532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99" y="-1859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ea typeface="ＭＳ Ｐゴシック" panose="020B0600070205080204" pitchFamily="34" charset="-128"/>
              </a:rPr>
              <a:t>1. Client-server </a:t>
            </a:r>
            <a:r>
              <a:rPr lang="en-US" altLang="en-US" dirty="0">
                <a:ea typeface="ＭＳ Ｐゴシック" panose="020B0600070205080204" pitchFamily="34" charset="-128"/>
              </a:rPr>
              <a:t>p</a:t>
            </a:r>
            <a:r>
              <a:rPr lang="en-US" altLang="en-US" sz="4400" dirty="0">
                <a:ea typeface="ＭＳ Ｐゴシック" panose="020B0600070205080204" pitchFamily="34" charset="-128"/>
              </a:rPr>
              <a:t>aradigm</a:t>
            </a:r>
            <a:endParaRPr lang="en-US" sz="4400" dirty="0"/>
          </a:p>
        </p:txBody>
      </p:sp>
      <p:sp>
        <p:nvSpPr>
          <p:cNvPr id="571" name="Slide Number Placeholder 2">
            <a:extLst>
              <a:ext uri="{FF2B5EF4-FFF2-40B4-BE49-F238E27FC236}">
                <a16:creationId xmlns:a16="http://schemas.microsoft.com/office/drawing/2014/main" xmlns="" id="{11C947C3-A18E-7342-B385-B637BB8FD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361332"/>
              </p:ext>
            </p:extLst>
          </p:nvPr>
        </p:nvGraphicFramePr>
        <p:xfrm>
          <a:off x="214604" y="737620"/>
          <a:ext cx="11588620" cy="3070668"/>
        </p:xfrm>
        <a:graphic>
          <a:graphicData uri="http://schemas.openxmlformats.org/drawingml/2006/table">
            <a:tbl>
              <a:tblPr/>
              <a:tblGrid>
                <a:gridCol w="2789853"/>
                <a:gridCol w="8798767"/>
              </a:tblGrid>
              <a:tr h="277900">
                <a:tc>
                  <a:txBody>
                    <a:bodyPr/>
                    <a:lstStyle/>
                    <a:p>
                      <a:r>
                        <a:rPr lang="en-US" sz="1600" b="1" dirty="0"/>
                        <a:t>Advantages</a:t>
                      </a:r>
                      <a:endParaRPr lang="en-US" sz="1600" dirty="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Description</a:t>
                      </a:r>
                      <a:endParaRPr lang="en-US" sz="1600" dirty="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2104">
                <a:tc>
                  <a:txBody>
                    <a:bodyPr/>
                    <a:lstStyle/>
                    <a:p>
                      <a:r>
                        <a:rPr lang="en-US" sz="1600" b="0" dirty="0"/>
                        <a:t>Centralized control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All data, files, and resources are managed from a central server, improving organization and security.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2104">
                <a:tc>
                  <a:txBody>
                    <a:bodyPr/>
                    <a:lstStyle/>
                    <a:p>
                      <a:r>
                        <a:rPr lang="en-US" sz="1600" b="0" dirty="0"/>
                        <a:t>Improved security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Access rights and permissions are controlled by the server, reducing unauthorized access.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2104">
                <a:tc>
                  <a:txBody>
                    <a:bodyPr/>
                    <a:lstStyle/>
                    <a:p>
                      <a:r>
                        <a:rPr lang="en-US" sz="1600" b="0" dirty="0"/>
                        <a:t>Data backup and recovery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Centralized storage allows easy and regular data backup and recovery.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2104">
                <a:tc>
                  <a:txBody>
                    <a:bodyPr/>
                    <a:lstStyle/>
                    <a:p>
                      <a:r>
                        <a:rPr lang="en-US" sz="1600" b="0" dirty="0"/>
                        <a:t>Efficient resource sharing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Printers, files, and applications can be shared efficiently through the server.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2104">
                <a:tc>
                  <a:txBody>
                    <a:bodyPr/>
                    <a:lstStyle/>
                    <a:p>
                      <a:r>
                        <a:rPr lang="en-US" sz="1600" b="0" dirty="0"/>
                        <a:t>Scalability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New clients (computers) can be </a:t>
                      </a:r>
                      <a:r>
                        <a:rPr lang="en-US" sz="1600" dirty="0" smtClean="0"/>
                        <a:t>added </a:t>
                      </a:r>
                      <a:r>
                        <a:rPr lang="en-US" sz="1600" dirty="0"/>
                        <a:t>easily without major reconfiguration.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2104">
                <a:tc>
                  <a:txBody>
                    <a:bodyPr/>
                    <a:lstStyle/>
                    <a:p>
                      <a:r>
                        <a:rPr lang="en-US" sz="1600" b="0" dirty="0"/>
                        <a:t>Reliability and performance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Servers are often high-performance machines that can handle multiple requests simultaneously.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92104">
                <a:tc>
                  <a:txBody>
                    <a:bodyPr/>
                    <a:lstStyle/>
                    <a:p>
                      <a:r>
                        <a:rPr lang="en-US" sz="1600" b="0" dirty="0"/>
                        <a:t>Centralized updates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Software and security updates can be applied centrally to all connected clients.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7239442"/>
              </p:ext>
            </p:extLst>
          </p:nvPr>
        </p:nvGraphicFramePr>
        <p:xfrm>
          <a:off x="214604" y="3918031"/>
          <a:ext cx="11588620" cy="2692080"/>
        </p:xfrm>
        <a:graphic>
          <a:graphicData uri="http://schemas.openxmlformats.org/drawingml/2006/table">
            <a:tbl>
              <a:tblPr/>
              <a:tblGrid>
                <a:gridCol w="2808514"/>
                <a:gridCol w="8780106"/>
              </a:tblGrid>
              <a:tr h="331173">
                <a:tc>
                  <a:txBody>
                    <a:bodyPr/>
                    <a:lstStyle/>
                    <a:p>
                      <a:r>
                        <a:rPr lang="en-US" sz="1600" b="1" dirty="0"/>
                        <a:t>Disadvantages</a:t>
                      </a:r>
                      <a:endParaRPr lang="en-US" sz="16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Description</a:t>
                      </a:r>
                      <a:endParaRPr lang="en-US" sz="16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350">
                <a:tc>
                  <a:txBody>
                    <a:bodyPr/>
                    <a:lstStyle/>
                    <a:p>
                      <a:r>
                        <a:rPr lang="en-US" sz="1600" b="0" dirty="0"/>
                        <a:t>High cost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Requires investment in dedicated server hardware and maintenance.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36127">
                <a:tc>
                  <a:txBody>
                    <a:bodyPr/>
                    <a:lstStyle/>
                    <a:p>
                      <a:r>
                        <a:rPr lang="en-US" sz="1600" b="0" dirty="0"/>
                        <a:t>Requires technical expertise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Setup, configuration, and management need trained network administrators.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350">
                <a:tc>
                  <a:txBody>
                    <a:bodyPr/>
                    <a:lstStyle/>
                    <a:p>
                      <a:r>
                        <a:rPr lang="en-US" sz="1600" b="0" dirty="0"/>
                        <a:t>Server dependency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If the server fails, clients may lose access to network resources.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79553">
                <a:tc>
                  <a:txBody>
                    <a:bodyPr/>
                    <a:lstStyle/>
                    <a:p>
                      <a:r>
                        <a:rPr lang="en-US" sz="1600" b="0" dirty="0"/>
                        <a:t>Maintenance overhead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Regular updates, monitoring, and backups are necessary to keep the server </a:t>
                      </a:r>
                      <a:r>
                        <a:rPr lang="en-US" sz="1600" dirty="0" smtClean="0"/>
                        <a:t>running efficiently</a:t>
                      </a:r>
                      <a:r>
                        <a:rPr lang="en-US" sz="1600" dirty="0"/>
                        <a:t>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350">
                <a:tc>
                  <a:txBody>
                    <a:bodyPr/>
                    <a:lstStyle/>
                    <a:p>
                      <a:r>
                        <a:rPr lang="en-US" sz="1600" b="0" dirty="0"/>
                        <a:t>Network congestion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Heavy load on the server or network can slow down performance for all clients.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33350">
                <a:tc>
                  <a:txBody>
                    <a:bodyPr/>
                    <a:lstStyle/>
                    <a:p>
                      <a:r>
                        <a:rPr lang="en-US" sz="1600" b="0" dirty="0"/>
                        <a:t>Security risks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A compromised server can expose the entire network’s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48832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xmlns="" id="{21662630-62BB-AE4A-A779-AEACD21E6D7C}"/>
              </a:ext>
            </a:extLst>
          </p:cNvPr>
          <p:cNvSpPr/>
          <p:nvPr/>
        </p:nvSpPr>
        <p:spPr>
          <a:xfrm>
            <a:off x="8985188" y="3485673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xmlns="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2245930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9" name="Rectangle 419">
            <a:extLst>
              <a:ext uri="{FF2B5EF4-FFF2-40B4-BE49-F238E27FC236}">
                <a16:creationId xmlns:a16="http://schemas.microsoft.com/office/drawing/2014/main" xmlns="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74" y="3972974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xmlns="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350" y="3709146"/>
            <a:ext cx="1458912" cy="317850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xmlns="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5103029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xmlns="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908356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xmlns="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611817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xmlns="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6199670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xmlns="" id="{C89E7C56-1DE4-7143-8EEB-E5965035CC42}"/>
              </a:ext>
            </a:extLst>
          </p:cNvPr>
          <p:cNvSpPr/>
          <p:nvPr/>
        </p:nvSpPr>
        <p:spPr>
          <a:xfrm>
            <a:off x="10222146" y="3599435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xmlns="" id="{96BCCD85-1D07-EF4E-A878-EC23CD23096A}"/>
              </a:ext>
            </a:extLst>
          </p:cNvPr>
          <p:cNvGrpSpPr/>
          <p:nvPr/>
        </p:nvGrpSpPr>
        <p:grpSpPr>
          <a:xfrm>
            <a:off x="10837700" y="4347945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xmlns="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xmlns="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xmlns="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xmlns="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xmlns="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xmlns="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xmlns="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xmlns="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xmlns="" id="{BDA3EF41-5873-7D4B-8A04-F8D62DFD2DB6}"/>
              </a:ext>
            </a:extLst>
          </p:cNvPr>
          <p:cNvGrpSpPr/>
          <p:nvPr/>
        </p:nvGrpSpPr>
        <p:grpSpPr>
          <a:xfrm>
            <a:off x="10771171" y="3614066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xmlns="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xmlns="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xmlns="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xmlns="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xmlns="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xmlns="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xmlns="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xmlns="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xmlns="" id="{BE088278-C41B-3E4A-87CE-FD65749FA13D}"/>
              </a:ext>
            </a:extLst>
          </p:cNvPr>
          <p:cNvSpPr/>
          <p:nvPr/>
        </p:nvSpPr>
        <p:spPr>
          <a:xfrm>
            <a:off x="9540813" y="2201937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xmlns="" id="{59DB778E-F23D-6C41-8A2D-8F08BD46CBCB}"/>
              </a:ext>
            </a:extLst>
          </p:cNvPr>
          <p:cNvSpPr txBox="1"/>
          <p:nvPr/>
        </p:nvSpPr>
        <p:spPr>
          <a:xfrm>
            <a:off x="9427201" y="2271090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xmlns="" id="{2DCB9395-41DC-D844-A0B1-59B5BDD3151F}"/>
              </a:ext>
            </a:extLst>
          </p:cNvPr>
          <p:cNvSpPr/>
          <p:nvPr/>
        </p:nvSpPr>
        <p:spPr>
          <a:xfrm>
            <a:off x="9279068" y="4097803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xmlns="" id="{C34CA97E-4007-3540-925A-3C739C254049}"/>
              </a:ext>
            </a:extLst>
          </p:cNvPr>
          <p:cNvSpPr txBox="1"/>
          <p:nvPr/>
        </p:nvSpPr>
        <p:spPr>
          <a:xfrm>
            <a:off x="8766162" y="3867814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xmlns="" id="{7DCF99E9-1DFC-0241-B2E7-471998268663}"/>
              </a:ext>
            </a:extLst>
          </p:cNvPr>
          <p:cNvSpPr txBox="1"/>
          <p:nvPr/>
        </p:nvSpPr>
        <p:spPr>
          <a:xfrm>
            <a:off x="10917767" y="5097832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xmlns="" id="{173BD163-3F4D-944E-B86B-3275B779D5A8}"/>
              </a:ext>
            </a:extLst>
          </p:cNvPr>
          <p:cNvSpPr txBox="1"/>
          <p:nvPr/>
        </p:nvSpPr>
        <p:spPr>
          <a:xfrm>
            <a:off x="10063018" y="4648143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network</a:t>
            </a:r>
            <a:endParaRPr lang="en-US" sz="1000" dirty="0"/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xmlns="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4000020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xmlns="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4060579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xmlns="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4053316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xmlns="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4014791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xmlns="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491537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xmlns="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507637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xmlns="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507637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xmlns="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927567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xmlns="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927567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xmlns="" id="{F9A85AAA-3DAA-6946-B559-D97F731B61D5}"/>
              </a:ext>
            </a:extLst>
          </p:cNvPr>
          <p:cNvCxnSpPr/>
          <p:nvPr/>
        </p:nvCxnSpPr>
        <p:spPr>
          <a:xfrm>
            <a:off x="10137668" y="3174587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xmlns="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3114908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xmlns="" id="{4429D23B-C424-D54E-A99F-D3FC646B3D08}"/>
              </a:ext>
            </a:extLst>
          </p:cNvPr>
          <p:cNvGrpSpPr/>
          <p:nvPr/>
        </p:nvGrpSpPr>
        <p:grpSpPr>
          <a:xfrm>
            <a:off x="7562238" y="2547220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xmlns="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xmlns="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xmlns="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xmlns="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xmlns="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xmlns="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xmlns="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xmlns="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xmlns="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xmlns="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xmlns="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xmlns="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xmlns="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xmlns="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xmlns="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xmlns="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xmlns="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xmlns="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xmlns="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xmlns="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xmlns="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xmlns="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xmlns="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xmlns="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xmlns="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xmlns="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xmlns="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xmlns="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xmlns="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xmlns="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3120254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xmlns="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729271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xmlns="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xmlns="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xmlns="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xmlns="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xmlns="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xmlns="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xmlns="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xmlns="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xmlns="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xmlns="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xmlns="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xmlns="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xmlns="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xmlns="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xmlns="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xmlns="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4281794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xmlns="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944127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xmlns="" id="{DE035BC7-2762-3044-BE80-C91EC827E65C}"/>
              </a:ext>
            </a:extLst>
          </p:cNvPr>
          <p:cNvGrpSpPr/>
          <p:nvPr/>
        </p:nvGrpSpPr>
        <p:grpSpPr>
          <a:xfrm>
            <a:off x="9783558" y="5409878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xmlns="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xmlns="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xmlns="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xmlns="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xmlns="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xmlns="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xmlns="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xmlns="" id="{60B6F784-668B-5D4B-A622-66CCE6350B84}"/>
              </a:ext>
            </a:extLst>
          </p:cNvPr>
          <p:cNvGrpSpPr/>
          <p:nvPr/>
        </p:nvGrpSpPr>
        <p:grpSpPr>
          <a:xfrm>
            <a:off x="9849365" y="5758932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xmlns="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xmlns="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xmlns="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xmlns="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xmlns="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xmlns="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xmlns="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xmlns="" id="{11A03BFE-097D-3B42-AA2B-11FFEA70FF5B}"/>
              </a:ext>
            </a:extLst>
          </p:cNvPr>
          <p:cNvGrpSpPr/>
          <p:nvPr/>
        </p:nvGrpSpPr>
        <p:grpSpPr>
          <a:xfrm>
            <a:off x="8676619" y="5387315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xmlns="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xmlns="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xmlns="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xmlns="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xmlns="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xmlns="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xmlns="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xmlns="" id="{DE45D3AB-47E3-364E-81D6-324D69CE101C}"/>
              </a:ext>
            </a:extLst>
          </p:cNvPr>
          <p:cNvGrpSpPr/>
          <p:nvPr/>
        </p:nvGrpSpPr>
        <p:grpSpPr>
          <a:xfrm>
            <a:off x="8311520" y="5614328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xmlns="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xmlns="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xmlns="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xmlns="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xmlns="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xmlns="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xmlns="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xmlns="" id="{CBD7A282-C22D-714A-88F1-C7D4EDD107F8}"/>
              </a:ext>
            </a:extLst>
          </p:cNvPr>
          <p:cNvGrpSpPr/>
          <p:nvPr/>
        </p:nvGrpSpPr>
        <p:grpSpPr>
          <a:xfrm>
            <a:off x="8439827" y="3232204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xmlns="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xmlns="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xmlns="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xmlns="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xmlns="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xmlns="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xmlns="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xmlns="" id="{F0DE4078-0801-A244-9A82-F7502B8B24A0}"/>
              </a:ext>
            </a:extLst>
          </p:cNvPr>
          <p:cNvGrpSpPr/>
          <p:nvPr/>
        </p:nvGrpSpPr>
        <p:grpSpPr>
          <a:xfrm>
            <a:off x="8050070" y="4385889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xmlns="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xmlns="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xmlns="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xmlns="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xmlns="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xmlns="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xmlns="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xmlns="" id="{52B7B73B-1125-084D-8669-C68CC371DDC6}"/>
              </a:ext>
            </a:extLst>
          </p:cNvPr>
          <p:cNvGrpSpPr/>
          <p:nvPr/>
        </p:nvGrpSpPr>
        <p:grpSpPr>
          <a:xfrm>
            <a:off x="10884085" y="4021260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xmlns="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xmlns="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xmlns="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xmlns="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xmlns="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xmlns="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xmlns="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xmlns="" id="{E166183D-5423-4E4A-AD63-A361EDE184C0}"/>
              </a:ext>
            </a:extLst>
          </p:cNvPr>
          <p:cNvGrpSpPr/>
          <p:nvPr/>
        </p:nvGrpSpPr>
        <p:grpSpPr>
          <a:xfrm>
            <a:off x="10410609" y="3916033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xmlns="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xmlns="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xmlns="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xmlns="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xmlns="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xmlns="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xmlns="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xmlns="" id="{C471E59B-7A0B-AE4F-95D6-F76514D2D55A}"/>
              </a:ext>
            </a:extLst>
          </p:cNvPr>
          <p:cNvGrpSpPr/>
          <p:nvPr/>
        </p:nvGrpSpPr>
        <p:grpSpPr>
          <a:xfrm>
            <a:off x="9948724" y="2622187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xmlns="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xmlns="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xmlns="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xmlns="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xmlns="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xmlns="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xmlns="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xmlns="" id="{7BF36121-B4F6-2447-9F5B-F29B627F3B2A}"/>
              </a:ext>
            </a:extLst>
          </p:cNvPr>
          <p:cNvGrpSpPr/>
          <p:nvPr/>
        </p:nvGrpSpPr>
        <p:grpSpPr>
          <a:xfrm>
            <a:off x="10527214" y="3033262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xmlns="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xmlns="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xmlns="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xmlns="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xmlns="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xmlns="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xmlns="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xmlns="" id="{187A607B-CA61-BE46-8032-8E34596E7689}"/>
              </a:ext>
            </a:extLst>
          </p:cNvPr>
          <p:cNvGrpSpPr/>
          <p:nvPr/>
        </p:nvGrpSpPr>
        <p:grpSpPr>
          <a:xfrm>
            <a:off x="10643825" y="2527858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xmlns="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xmlns="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xmlns="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xmlns="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xmlns="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xmlns="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xmlns="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xmlns="" id="{7CCD8656-0FD3-B844-BC6C-33CE0577598D}"/>
              </a:ext>
            </a:extLst>
          </p:cNvPr>
          <p:cNvGrpSpPr/>
          <p:nvPr/>
        </p:nvGrpSpPr>
        <p:grpSpPr>
          <a:xfrm>
            <a:off x="9098788" y="4376519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xmlns="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xmlns="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xmlns="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xmlns="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xmlns="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xmlns="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xmlns="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xmlns="" id="{1A0C1583-3B4A-E44D-BB19-B20517502EBD}"/>
              </a:ext>
            </a:extLst>
          </p:cNvPr>
          <p:cNvGrpSpPr/>
          <p:nvPr/>
        </p:nvGrpSpPr>
        <p:grpSpPr>
          <a:xfrm>
            <a:off x="9980126" y="3081460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xmlns="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xmlns="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xmlns="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xmlns="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xmlns="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xmlns="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xmlns="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xmlns="" id="{158E5A4C-7065-8643-BDC2-3A235B56FEA4}"/>
              </a:ext>
            </a:extLst>
          </p:cNvPr>
          <p:cNvGrpSpPr/>
          <p:nvPr/>
        </p:nvGrpSpPr>
        <p:grpSpPr>
          <a:xfrm>
            <a:off x="9497138" y="3813927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xmlns="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xmlns="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xmlns="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xmlns="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xmlns="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xmlns="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xmlns="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xmlns="" id="{4DAC2AB4-F1E4-D740-A4AF-07EE55303854}"/>
              </a:ext>
            </a:extLst>
          </p:cNvPr>
          <p:cNvGrpSpPr/>
          <p:nvPr/>
        </p:nvGrpSpPr>
        <p:grpSpPr>
          <a:xfrm>
            <a:off x="9601554" y="4419658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xmlns="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xmlns="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xmlns="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xmlns="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xmlns="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xmlns="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xmlns="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xmlns="" id="{EA34A94C-D92D-084C-BFEA-F4C8DF0AD275}"/>
              </a:ext>
            </a:extLst>
          </p:cNvPr>
          <p:cNvGrpSpPr/>
          <p:nvPr/>
        </p:nvGrpSpPr>
        <p:grpSpPr>
          <a:xfrm>
            <a:off x="10375259" y="4412220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xmlns="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xmlns="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xmlns="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xmlns="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xmlns="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xmlns="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xmlns="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xmlns="" id="{A8C4B740-B92E-8942-8EF4-347710C32F2C}"/>
              </a:ext>
            </a:extLst>
          </p:cNvPr>
          <p:cNvGrpSpPr/>
          <p:nvPr/>
        </p:nvGrpSpPr>
        <p:grpSpPr>
          <a:xfrm>
            <a:off x="9247893" y="5195581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xmlns="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xmlns="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xmlns="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xmlns="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xmlns="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xmlns="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xmlns="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xmlns="" id="{314E0C43-2359-9440-BEF9-9E1924BED605}"/>
              </a:ext>
            </a:extLst>
          </p:cNvPr>
          <p:cNvGrpSpPr/>
          <p:nvPr/>
        </p:nvGrpSpPr>
        <p:grpSpPr>
          <a:xfrm>
            <a:off x="10925982" y="4789020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xmlns="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xmlns="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xmlns="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xmlns="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xmlns="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xmlns="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xmlns="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xmlns="" id="{91E02B81-5B35-4545-A954-B7E923AB7286}"/>
              </a:ext>
            </a:extLst>
          </p:cNvPr>
          <p:cNvGrpSpPr/>
          <p:nvPr/>
        </p:nvGrpSpPr>
        <p:grpSpPr>
          <a:xfrm>
            <a:off x="7439074" y="2776508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xmlns="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xmlns="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xmlns="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xmlns="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xmlns="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xmlns="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xmlns="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xmlns="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xmlns="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xmlns="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xmlns="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xmlns="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xmlns="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xmlns="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xmlns="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xmlns="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xmlns="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xmlns="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xmlns="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xmlns="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xmlns="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xmlns="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xmlns="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xmlns="" id="{504BAA5F-BBD8-8242-BC48-7D0E761F340A}"/>
              </a:ext>
            </a:extLst>
          </p:cNvPr>
          <p:cNvGrpSpPr/>
          <p:nvPr/>
        </p:nvGrpSpPr>
        <p:grpSpPr>
          <a:xfrm>
            <a:off x="8637781" y="2739622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xmlns="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xmlns="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xmlns="" id="{084B6293-559E-5D43-AF2B-4CB5E09EC6C5}"/>
              </a:ext>
            </a:extLst>
          </p:cNvPr>
          <p:cNvGrpSpPr/>
          <p:nvPr/>
        </p:nvGrpSpPr>
        <p:grpSpPr>
          <a:xfrm>
            <a:off x="7493518" y="3839035"/>
            <a:ext cx="350807" cy="305517"/>
            <a:chOff x="7487144" y="3389820"/>
            <a:chExt cx="350807" cy="305517"/>
          </a:xfrm>
        </p:grpSpPr>
        <p:pic>
          <p:nvPicPr>
            <p:cNvPr id="91" name="Picture 1115" descr="antenna_stylized">
              <a:extLst>
                <a:ext uri="{FF2B5EF4-FFF2-40B4-BE49-F238E27FC236}">
                  <a16:creationId xmlns:a16="http://schemas.microsoft.com/office/drawing/2014/main" xmlns="" id="{1821BC3E-6137-D844-92B9-4BA4CFF41F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1116" descr="laptop_keyboard">
              <a:extLst>
                <a:ext uri="{FF2B5EF4-FFF2-40B4-BE49-F238E27FC236}">
                  <a16:creationId xmlns:a16="http://schemas.microsoft.com/office/drawing/2014/main" xmlns="" id="{7F05CE3B-E67B-1B40-9D5B-2914F0B9BF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Freeform 1117">
              <a:extLst>
                <a:ext uri="{FF2B5EF4-FFF2-40B4-BE49-F238E27FC236}">
                  <a16:creationId xmlns:a16="http://schemas.microsoft.com/office/drawing/2014/main" xmlns="" id="{B52A07C5-D801-5B41-BD20-C2095892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014" y="3459979"/>
              <a:ext cx="230764" cy="155883"/>
            </a:xfrm>
            <a:custGeom>
              <a:avLst/>
              <a:gdLst>
                <a:gd name="T0" fmla="*/ 143665061 w 2982"/>
                <a:gd name="T1" fmla="*/ 0 h 2442"/>
                <a:gd name="T2" fmla="*/ 0 w 2982"/>
                <a:gd name="T3" fmla="*/ 66329557 h 2442"/>
                <a:gd name="T4" fmla="*/ 573719931 w 2982"/>
                <a:gd name="T5" fmla="*/ 82975142 h 2442"/>
                <a:gd name="T6" fmla="*/ 717384993 w 2982"/>
                <a:gd name="T7" fmla="*/ 16645585 h 2442"/>
                <a:gd name="T8" fmla="*/ 14366506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4" name="Picture 1118" descr="screen">
              <a:extLst>
                <a:ext uri="{FF2B5EF4-FFF2-40B4-BE49-F238E27FC236}">
                  <a16:creationId xmlns:a16="http://schemas.microsoft.com/office/drawing/2014/main" xmlns="" id="{2EA30B4E-5447-0340-8DAD-349A843F2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119">
              <a:extLst>
                <a:ext uri="{FF2B5EF4-FFF2-40B4-BE49-F238E27FC236}">
                  <a16:creationId xmlns:a16="http://schemas.microsoft.com/office/drawing/2014/main" xmlns="" id="{1137F6C6-A7C9-9A4D-BCE3-048DB90EF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1029" y="3455381"/>
              <a:ext cx="195517" cy="29007"/>
            </a:xfrm>
            <a:custGeom>
              <a:avLst/>
              <a:gdLst>
                <a:gd name="T0" fmla="*/ 35620212 w 2528"/>
                <a:gd name="T1" fmla="*/ 0 h 455"/>
                <a:gd name="T2" fmla="*/ 608343257 w 2528"/>
                <a:gd name="T3" fmla="*/ 16582250 h 455"/>
                <a:gd name="T4" fmla="*/ 572256449 w 2528"/>
                <a:gd name="T5" fmla="*/ 16582250 h 455"/>
                <a:gd name="T6" fmla="*/ 0 w 2528"/>
                <a:gd name="T7" fmla="*/ 16582250 h 455"/>
                <a:gd name="T8" fmla="*/ 35620212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20">
              <a:extLst>
                <a:ext uri="{FF2B5EF4-FFF2-40B4-BE49-F238E27FC236}">
                  <a16:creationId xmlns:a16="http://schemas.microsoft.com/office/drawing/2014/main" xmlns="" id="{7A0060E2-767D-1545-8656-29ED1A471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971" y="3455145"/>
              <a:ext cx="54275" cy="120745"/>
            </a:xfrm>
            <a:custGeom>
              <a:avLst/>
              <a:gdLst>
                <a:gd name="T0" fmla="*/ 142804406 w 702"/>
                <a:gd name="T1" fmla="*/ 0 h 1893"/>
                <a:gd name="T2" fmla="*/ 0 w 702"/>
                <a:gd name="T3" fmla="*/ 66174575 h 1893"/>
                <a:gd name="T4" fmla="*/ 35584530 w 702"/>
                <a:gd name="T5" fmla="*/ 66174575 h 1893"/>
                <a:gd name="T6" fmla="*/ 178855222 w 702"/>
                <a:gd name="T7" fmla="*/ 16607700 h 1893"/>
                <a:gd name="T8" fmla="*/ 14280440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121">
              <a:extLst>
                <a:ext uri="{FF2B5EF4-FFF2-40B4-BE49-F238E27FC236}">
                  <a16:creationId xmlns:a16="http://schemas.microsoft.com/office/drawing/2014/main" xmlns="" id="{15790F5A-ABAC-8D49-A4F9-E2F576550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6652" y="3476723"/>
              <a:ext cx="58489" cy="139375"/>
            </a:xfrm>
            <a:custGeom>
              <a:avLst/>
              <a:gdLst>
                <a:gd name="T0" fmla="*/ 179213623 w 756"/>
                <a:gd name="T1" fmla="*/ 0 h 2184"/>
                <a:gd name="T2" fmla="*/ 35656008 w 756"/>
                <a:gd name="T3" fmla="*/ 82904513 h 2184"/>
                <a:gd name="T4" fmla="*/ 0 w 756"/>
                <a:gd name="T5" fmla="*/ 82904513 h 2184"/>
                <a:gd name="T6" fmla="*/ 143090785 w 756"/>
                <a:gd name="T7" fmla="*/ 16632211 h 2184"/>
                <a:gd name="T8" fmla="*/ 179213623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122">
              <a:extLst>
                <a:ext uri="{FF2B5EF4-FFF2-40B4-BE49-F238E27FC236}">
                  <a16:creationId xmlns:a16="http://schemas.microsoft.com/office/drawing/2014/main" xmlns="" id="{8898B7ED-5BCF-8C4E-B1AA-B82AD50F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32" y="3569758"/>
              <a:ext cx="214545" cy="47048"/>
            </a:xfrm>
            <a:custGeom>
              <a:avLst/>
              <a:gdLst>
                <a:gd name="T0" fmla="*/ 35658648 w 2773"/>
                <a:gd name="T1" fmla="*/ 0 h 738"/>
                <a:gd name="T2" fmla="*/ 0 w 2773"/>
                <a:gd name="T3" fmla="*/ 16581742 h 738"/>
                <a:gd name="T4" fmla="*/ 573357470 w 2773"/>
                <a:gd name="T5" fmla="*/ 33163485 h 738"/>
                <a:gd name="T6" fmla="*/ 573357470 w 2773"/>
                <a:gd name="T7" fmla="*/ 16581742 h 738"/>
                <a:gd name="T8" fmla="*/ 3565864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123">
              <a:extLst>
                <a:ext uri="{FF2B5EF4-FFF2-40B4-BE49-F238E27FC236}">
                  <a16:creationId xmlns:a16="http://schemas.microsoft.com/office/drawing/2014/main" xmlns="" id="{5A7F91EF-AD6B-D64E-B73E-C762D73A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165" y="3477902"/>
              <a:ext cx="54786" cy="139965"/>
            </a:xfrm>
            <a:custGeom>
              <a:avLst/>
              <a:gdLst>
                <a:gd name="T0" fmla="*/ 656550006 w 637"/>
                <a:gd name="T1" fmla="*/ 0 h 1659"/>
                <a:gd name="T2" fmla="*/ 656550006 w 637"/>
                <a:gd name="T3" fmla="*/ 0 h 1659"/>
                <a:gd name="T4" fmla="*/ 54716163 w 637"/>
                <a:gd name="T5" fmla="*/ 2147483646 h 1659"/>
                <a:gd name="T6" fmla="*/ 0 w 637"/>
                <a:gd name="T7" fmla="*/ 2147483646 h 1659"/>
                <a:gd name="T8" fmla="*/ 65655000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124">
              <a:extLst>
                <a:ext uri="{FF2B5EF4-FFF2-40B4-BE49-F238E27FC236}">
                  <a16:creationId xmlns:a16="http://schemas.microsoft.com/office/drawing/2014/main" xmlns="" id="{BBB1B153-2E6F-7246-9B11-B68D01DF6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588" y="3576007"/>
              <a:ext cx="190792" cy="46458"/>
            </a:xfrm>
            <a:custGeom>
              <a:avLst/>
              <a:gdLst>
                <a:gd name="T0" fmla="*/ 0 w 2216"/>
                <a:gd name="T1" fmla="*/ 0 h 550"/>
                <a:gd name="T2" fmla="*/ 54884212 w 2216"/>
                <a:gd name="T3" fmla="*/ 101852492 h 550"/>
                <a:gd name="T4" fmla="*/ 2147483646 w 2216"/>
                <a:gd name="T5" fmla="*/ 1017940055 h 550"/>
                <a:gd name="T6" fmla="*/ 2147483646 w 2216"/>
                <a:gd name="T7" fmla="*/ 86546456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1" name="Group 1125">
              <a:extLst>
                <a:ext uri="{FF2B5EF4-FFF2-40B4-BE49-F238E27FC236}">
                  <a16:creationId xmlns:a16="http://schemas.microsoft.com/office/drawing/2014/main" xmlns="" id="{57060979-075D-9D4D-B12E-DA0CCD4C6B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40" name="Freeform 1126">
                <a:extLst>
                  <a:ext uri="{FF2B5EF4-FFF2-40B4-BE49-F238E27FC236}">
                    <a16:creationId xmlns:a16="http://schemas.microsoft.com/office/drawing/2014/main" xmlns="" id="{8DFFF656-1361-C546-8336-177F79E4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127">
                <a:extLst>
                  <a:ext uri="{FF2B5EF4-FFF2-40B4-BE49-F238E27FC236}">
                    <a16:creationId xmlns:a16="http://schemas.microsoft.com/office/drawing/2014/main" xmlns="" id="{60C6C6B3-72DE-664B-B4DE-3C04B0C5B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128">
                <a:extLst>
                  <a:ext uri="{FF2B5EF4-FFF2-40B4-BE49-F238E27FC236}">
                    <a16:creationId xmlns:a16="http://schemas.microsoft.com/office/drawing/2014/main" xmlns="" id="{0D48292A-917D-D046-A974-043CEE5A4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129">
                <a:extLst>
                  <a:ext uri="{FF2B5EF4-FFF2-40B4-BE49-F238E27FC236}">
                    <a16:creationId xmlns:a16="http://schemas.microsoft.com/office/drawing/2014/main" xmlns="" id="{DB6BAAEB-BADD-0A4F-8A9D-D72AFCA99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1130">
                <a:extLst>
                  <a:ext uri="{FF2B5EF4-FFF2-40B4-BE49-F238E27FC236}">
                    <a16:creationId xmlns:a16="http://schemas.microsoft.com/office/drawing/2014/main" xmlns="" id="{05D5969F-F3B9-414D-975E-A6700098F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1131">
                <a:extLst>
                  <a:ext uri="{FF2B5EF4-FFF2-40B4-BE49-F238E27FC236}">
                    <a16:creationId xmlns:a16="http://schemas.microsoft.com/office/drawing/2014/main" xmlns="" id="{41BB174D-6019-384D-A5AC-1B4D92D93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2" name="Freeform 1132">
              <a:extLst>
                <a:ext uri="{FF2B5EF4-FFF2-40B4-BE49-F238E27FC236}">
                  <a16:creationId xmlns:a16="http://schemas.microsoft.com/office/drawing/2014/main" xmlns="" id="{F8739864-4836-E447-8FC8-5886923FF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243" y="3629776"/>
              <a:ext cx="78411" cy="60608"/>
            </a:xfrm>
            <a:custGeom>
              <a:avLst/>
              <a:gdLst>
                <a:gd name="T0" fmla="*/ 39250883 w 990"/>
                <a:gd name="T1" fmla="*/ 342828616 h 792"/>
                <a:gd name="T2" fmla="*/ 354255671 w 990"/>
                <a:gd name="T3" fmla="*/ 0 h 792"/>
                <a:gd name="T4" fmla="*/ 354255671 w 990"/>
                <a:gd name="T5" fmla="*/ 34504242 h 792"/>
                <a:gd name="T6" fmla="*/ 0 w 990"/>
                <a:gd name="T7" fmla="*/ 342828616 h 792"/>
                <a:gd name="T8" fmla="*/ 39250883 w 990"/>
                <a:gd name="T9" fmla="*/ 342828616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133">
              <a:extLst>
                <a:ext uri="{FF2B5EF4-FFF2-40B4-BE49-F238E27FC236}">
                  <a16:creationId xmlns:a16="http://schemas.microsoft.com/office/drawing/2014/main" xmlns="" id="{C59CADF3-CD09-FB48-A672-C2C50B66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29" y="3634611"/>
              <a:ext cx="200625" cy="55302"/>
            </a:xfrm>
            <a:custGeom>
              <a:avLst/>
              <a:gdLst>
                <a:gd name="T0" fmla="*/ 39302216 w 2532"/>
                <a:gd name="T1" fmla="*/ 0 h 723"/>
                <a:gd name="T2" fmla="*/ 39302216 w 2532"/>
                <a:gd name="T3" fmla="*/ 0 h 723"/>
                <a:gd name="T4" fmla="*/ 867084690 w 2532"/>
                <a:gd name="T5" fmla="*/ 307891170 h 723"/>
                <a:gd name="T6" fmla="*/ 867084690 w 2532"/>
                <a:gd name="T7" fmla="*/ 342351506 h 723"/>
                <a:gd name="T8" fmla="*/ 0 w 2532"/>
                <a:gd name="T9" fmla="*/ 34009889 h 723"/>
                <a:gd name="T10" fmla="*/ 39302216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134">
              <a:extLst>
                <a:ext uri="{FF2B5EF4-FFF2-40B4-BE49-F238E27FC236}">
                  <a16:creationId xmlns:a16="http://schemas.microsoft.com/office/drawing/2014/main" xmlns="" id="{628AB6FD-35F6-0345-BD13-22EAAF9EC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257" y="3624470"/>
              <a:ext cx="2171" cy="11202"/>
            </a:xfrm>
            <a:custGeom>
              <a:avLst/>
              <a:gdLst>
                <a:gd name="T0" fmla="*/ 48903362 w 26"/>
                <a:gd name="T1" fmla="*/ 33634500 h 147"/>
                <a:gd name="T2" fmla="*/ 48903362 w 26"/>
                <a:gd name="T3" fmla="*/ 67263209 h 147"/>
                <a:gd name="T4" fmla="*/ 0 w 26"/>
                <a:gd name="T5" fmla="*/ 67263209 h 147"/>
                <a:gd name="T6" fmla="*/ 48903362 w 26"/>
                <a:gd name="T7" fmla="*/ 0 h 147"/>
                <a:gd name="T8" fmla="*/ 48903362 w 26"/>
                <a:gd name="T9" fmla="*/ 336345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135">
              <a:extLst>
                <a:ext uri="{FF2B5EF4-FFF2-40B4-BE49-F238E27FC236}">
                  <a16:creationId xmlns:a16="http://schemas.microsoft.com/office/drawing/2014/main" xmlns="" id="{76529D44-B4FD-DE4D-812E-E461A0FC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384" y="3578837"/>
              <a:ext cx="93225" cy="46340"/>
            </a:xfrm>
            <a:custGeom>
              <a:avLst/>
              <a:gdLst>
                <a:gd name="T0" fmla="*/ 395043791 w 1176"/>
                <a:gd name="T1" fmla="*/ 0 h 606"/>
                <a:gd name="T2" fmla="*/ 0 w 1176"/>
                <a:gd name="T3" fmla="*/ 273654982 h 606"/>
                <a:gd name="T4" fmla="*/ 39357994 w 1176"/>
                <a:gd name="T5" fmla="*/ 273654982 h 606"/>
                <a:gd name="T6" fmla="*/ 395043791 w 1176"/>
                <a:gd name="T7" fmla="*/ 33985420 h 606"/>
                <a:gd name="T8" fmla="*/ 39504379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136">
              <a:extLst>
                <a:ext uri="{FF2B5EF4-FFF2-40B4-BE49-F238E27FC236}">
                  <a16:creationId xmlns:a16="http://schemas.microsoft.com/office/drawing/2014/main" xmlns="" id="{44CD9A89-0E3B-2C40-8436-71B7526BA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642" y="3626829"/>
              <a:ext cx="190281" cy="53180"/>
            </a:xfrm>
            <a:custGeom>
              <a:avLst/>
              <a:gdLst>
                <a:gd name="T0" fmla="*/ 31829833 w 2532"/>
                <a:gd name="T1" fmla="*/ 0 h 723"/>
                <a:gd name="T2" fmla="*/ 31829833 w 2532"/>
                <a:gd name="T3" fmla="*/ 0 h 723"/>
                <a:gd name="T4" fmla="*/ 382827787 w 2532"/>
                <a:gd name="T5" fmla="*/ 175498781 h 723"/>
                <a:gd name="T6" fmla="*/ 382827787 w 2532"/>
                <a:gd name="T7" fmla="*/ 175498781 h 723"/>
                <a:gd name="T8" fmla="*/ 0 w 2532"/>
                <a:gd name="T9" fmla="*/ 29448186 h 723"/>
                <a:gd name="T10" fmla="*/ 31829833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137">
              <a:extLst>
                <a:ext uri="{FF2B5EF4-FFF2-40B4-BE49-F238E27FC236}">
                  <a16:creationId xmlns:a16="http://schemas.microsoft.com/office/drawing/2014/main" xmlns="" id="{92BF681C-02FC-8F49-A2CD-8F3446ECE5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00668" y="3623055"/>
              <a:ext cx="77645" cy="5506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2641137 h 723"/>
                <a:gd name="T6" fmla="*/ 0 w 2532"/>
                <a:gd name="T7" fmla="*/ 302641137 h 723"/>
                <a:gd name="T8" fmla="*/ 0 w 2532"/>
                <a:gd name="T9" fmla="*/ 33575256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xmlns="" id="{14715B6C-9A50-FE4B-A8D2-1E669BF891E3}"/>
              </a:ext>
            </a:extLst>
          </p:cNvPr>
          <p:cNvGrpSpPr/>
          <p:nvPr/>
        </p:nvGrpSpPr>
        <p:grpSpPr>
          <a:xfrm>
            <a:off x="7803435" y="3745319"/>
            <a:ext cx="347997" cy="396620"/>
            <a:chOff x="7797061" y="3296104"/>
            <a:chExt cx="347997" cy="396620"/>
          </a:xfrm>
        </p:grpSpPr>
        <p:pic>
          <p:nvPicPr>
            <p:cNvPr id="113" name="Picture 571" descr="fridge2.png">
              <a:extLst>
                <a:ext uri="{FF2B5EF4-FFF2-40B4-BE49-F238E27FC236}">
                  <a16:creationId xmlns:a16="http://schemas.microsoft.com/office/drawing/2014/main" xmlns="" id="{29DD0F98-F93B-0145-A925-F4125ED49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1115" descr="antenna_stylized">
              <a:extLst>
                <a:ext uri="{FF2B5EF4-FFF2-40B4-BE49-F238E27FC236}">
                  <a16:creationId xmlns:a16="http://schemas.microsoft.com/office/drawing/2014/main" xmlns="" id="{C1A64F68-4D16-AE4F-AB60-09D2C0CF0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xmlns="" id="{AF73DE4B-526E-9C4F-9242-9BC0D43F8CBA}"/>
              </a:ext>
            </a:extLst>
          </p:cNvPr>
          <p:cNvGrpSpPr/>
          <p:nvPr/>
        </p:nvGrpSpPr>
        <p:grpSpPr>
          <a:xfrm>
            <a:off x="11064947" y="3848380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xmlns="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xmlns="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xmlns="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xmlns="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xmlns="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xmlns="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xmlns="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xmlns="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xmlns="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xmlns="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xmlns="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xmlns="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xmlns="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693846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xmlns="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xmlns="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xmlns="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xmlns="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xmlns="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xmlns="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xmlns="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xmlns="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xmlns="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xmlns="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xmlns="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xmlns="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xmlns="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xmlns="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xmlns="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xmlns="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xmlns="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xmlns="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xmlns="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xmlns="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xmlns="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xmlns="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xmlns="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xmlns="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xmlns="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xmlns="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xmlns="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xmlns="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xmlns="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xmlns="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xmlns="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xmlns="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xmlns="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5320056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xmlns="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xmlns="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xmlns="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924552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xmlns="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xmlns="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xmlns="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946025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xmlns="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xmlns="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xmlns="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6215033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xmlns="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xmlns="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xmlns="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xmlns="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xmlns="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xmlns="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xmlns="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xmlns="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xmlns="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xmlns="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xmlns="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xmlns="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xmlns="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xmlns="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xmlns="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xmlns="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xmlns="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xmlns="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xmlns="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xmlns="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xmlns="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xmlns="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xmlns="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xmlns="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6056866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xmlns="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6076818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xmlns="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6232648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xmlns="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6094294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xmlns="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6091090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xmlns="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xmlns="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xmlns="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6142645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xmlns="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6138567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xmlns="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xmlns="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xmlns="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6190996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xmlns="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6234833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xmlns="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6230755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xmlns="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xmlns="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xmlns="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6190996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xmlns="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6187064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xmlns="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xmlns="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xmlns="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6056283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xmlns="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6140461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xmlns="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6092838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xmlns="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6374061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xmlns="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6374498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xmlns="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6383382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xmlns="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6389061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xmlns="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6340710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xmlns="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6340710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xmlns="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6340710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xmlns="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6261339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20" y="56050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ea typeface="ＭＳ Ｐゴシック" panose="020B0600070205080204" pitchFamily="34" charset="-128"/>
              </a:rPr>
              <a:t>2. Peer-to-peer </a:t>
            </a:r>
            <a:r>
              <a:rPr lang="en-US" altLang="en-US" sz="3600" dirty="0">
                <a:ea typeface="ＭＳ Ｐゴシック" panose="020B0600070205080204" pitchFamily="34" charset="-128"/>
              </a:rPr>
              <a:t>(P2P)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rchitecture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xmlns="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261257" y="917086"/>
            <a:ext cx="6944093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indent="0">
              <a:spcBef>
                <a:spcPts val="400"/>
              </a:spcBef>
              <a:buNone/>
            </a:pPr>
            <a:r>
              <a:rPr lang="en-US" altLang="en-US" sz="2400" i="1" dirty="0">
                <a:ea typeface="ＭＳ Ｐゴシック" panose="020B0600070205080204" pitchFamily="34" charset="-128"/>
              </a:rPr>
              <a:t>Each peer (node) acts as both a client and a server — they share resources directly without a central server. For e.g., </a:t>
            </a:r>
            <a:r>
              <a:rPr lang="en-US" altLang="en-US" sz="2400" i="1" dirty="0" err="1">
                <a:ea typeface="ＭＳ Ｐゴシック" panose="020B0600070205080204" pitchFamily="34" charset="-128"/>
              </a:rPr>
              <a:t>BitTorrent</a:t>
            </a:r>
            <a:r>
              <a:rPr lang="en-US" altLang="en-US" sz="2400" i="1" dirty="0">
                <a:ea typeface="ＭＳ Ｐゴシック" panose="020B0600070205080204" pitchFamily="34" charset="-128"/>
              </a:rPr>
              <a:t>, Blockchain networks. </a:t>
            </a:r>
            <a:endParaRPr lang="en-US" altLang="en-US" sz="2400" i="1" dirty="0" smtClean="0">
              <a:ea typeface="ＭＳ Ｐゴシック" panose="020B0600070205080204" pitchFamily="34" charset="-128"/>
            </a:endParaRPr>
          </a:p>
          <a:p>
            <a:pPr>
              <a:spcBef>
                <a:spcPts val="400"/>
              </a:spcBef>
            </a:pPr>
            <a:r>
              <a:rPr lang="en-US" altLang="en-US" sz="2400" i="1" dirty="0" smtClean="0">
                <a:ea typeface="ＭＳ Ｐゴシック" panose="020B0600070205080204" pitchFamily="34" charset="-128"/>
              </a:rPr>
              <a:t>Simple and less costly</a:t>
            </a:r>
          </a:p>
          <a:p>
            <a:pPr>
              <a:spcBef>
                <a:spcPts val="400"/>
              </a:spcBef>
            </a:pPr>
            <a:r>
              <a:rPr lang="en-US" altLang="en-US" sz="2400" i="1" dirty="0" smtClean="0">
                <a:ea typeface="ＭＳ Ｐゴシック" panose="020B0600070205080204" pitchFamily="34" charset="-128"/>
              </a:rPr>
              <a:t>no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sz="2400" dirty="0">
                <a:ea typeface="ＭＳ Ｐゴシック" panose="020B0600070205080204" pitchFamily="34" charset="-128"/>
              </a:rPr>
              <a:t>always-on server</a:t>
            </a:r>
          </a:p>
          <a:p>
            <a:pPr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arbitrary end systems directly communicate</a:t>
            </a:r>
          </a:p>
          <a:p>
            <a:pPr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peers request service from other peers, provide service in return to other </a:t>
            </a:r>
            <a:r>
              <a:rPr lang="en-US" altLang="en-US" sz="2400" dirty="0" smtClean="0">
                <a:ea typeface="ＭＳ Ｐゴシック" panose="020B0600070205080204" pitchFamily="34" charset="-128"/>
              </a:rPr>
              <a:t>peers </a:t>
            </a:r>
            <a:r>
              <a:rPr lang="en-US" altLang="en-US" sz="1800" dirty="0" smtClean="0">
                <a:ea typeface="ＭＳ Ｐゴシック" panose="020B0600070205080204" pitchFamily="34" charset="-128"/>
              </a:rPr>
              <a:t>(Service provider scales at least as much as the service requested)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 marL="582613" lvl="1" indent="-225425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self scalability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– new peers bring new service capacity, and new service demands</a:t>
            </a:r>
          </a:p>
          <a:p>
            <a:pPr>
              <a:spcBef>
                <a:spcPts val="400"/>
              </a:spcBef>
            </a:pPr>
            <a:r>
              <a:rPr lang="en-US" altLang="en-US" sz="2400" dirty="0">
                <a:ea typeface="ＭＳ Ｐゴシック" panose="020B0600070205080204" pitchFamily="34" charset="-128"/>
              </a:rPr>
              <a:t>peers are intermittently connected and change IP addresses</a:t>
            </a:r>
          </a:p>
          <a:p>
            <a:pPr lvl="1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complex management</a:t>
            </a:r>
          </a:p>
          <a:p>
            <a:pPr>
              <a:spcBef>
                <a:spcPts val="400"/>
              </a:spcBef>
            </a:pPr>
            <a:r>
              <a:rPr lang="en-US" sz="2400" dirty="0"/>
              <a:t>examples: P2P file sharing (BitTorrent), streaming (</a:t>
            </a:r>
            <a:r>
              <a:rPr lang="en-US" sz="2400" dirty="0" err="1"/>
              <a:t>KanKan</a:t>
            </a:r>
            <a:r>
              <a:rPr lang="en-US" sz="2400" dirty="0"/>
              <a:t>), VoIP (Skype)</a:t>
            </a:r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xmlns="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6036295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xmlns="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xmlns="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xmlns="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xmlns="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xmlns="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xmlns="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xmlns="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xmlns="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xmlns="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xmlns="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xmlns="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xmlns="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xmlns="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xmlns="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xmlns="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xmlns="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xmlns="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xmlns="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xmlns="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xmlns="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xmlns="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xmlns="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xmlns="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xmlns="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xmlns="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xmlns="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xmlns="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xmlns="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xmlns="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xmlns="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xmlns="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xmlns="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EF227275-E754-4D43-889C-5A2BD4A21205}"/>
              </a:ext>
            </a:extLst>
          </p:cNvPr>
          <p:cNvGrpSpPr/>
          <p:nvPr/>
        </p:nvGrpSpPr>
        <p:grpSpPr>
          <a:xfrm>
            <a:off x="7680324" y="2234066"/>
            <a:ext cx="1991221" cy="4482411"/>
            <a:chOff x="7680324" y="1814171"/>
            <a:chExt cx="1991221" cy="4482411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xmlns="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xmlns="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Line 913">
              <a:extLst>
                <a:ext uri="{FF2B5EF4-FFF2-40B4-BE49-F238E27FC236}">
                  <a16:creationId xmlns:a16="http://schemas.microsoft.com/office/drawing/2014/main" xmlns="" id="{47A3D5AF-94CC-B24F-922A-C603CC0A5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3326" y="2438326"/>
              <a:ext cx="498897" cy="1114752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2" name="Line 911">
              <a:extLst>
                <a:ext uri="{FF2B5EF4-FFF2-40B4-BE49-F238E27FC236}">
                  <a16:creationId xmlns:a16="http://schemas.microsoft.com/office/drawing/2014/main" xmlns="" id="{8E6A54E5-62F1-544B-AE41-5137E62BF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176" y="2321758"/>
              <a:ext cx="1187" cy="279353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xmlns="" id="{1E120312-45B0-4C42-82FC-F180847C8246}"/>
                </a:ext>
              </a:extLst>
            </p:cNvPr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xmlns="" id="{05394771-B526-F445-85E3-3C2DA3BC4892}"/>
                </a:ext>
              </a:extLst>
            </p:cNvPr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xmlns="" id="{01400376-9630-4440-8893-6D129686EE19}"/>
                </a:ext>
              </a:extLst>
            </p:cNvPr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Line 913">
              <a:extLst>
                <a:ext uri="{FF2B5EF4-FFF2-40B4-BE49-F238E27FC236}">
                  <a16:creationId xmlns:a16="http://schemas.microsoft.com/office/drawing/2014/main" xmlns="" id="{4FC33EFC-28C4-404D-91B5-F7C18E706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664" y="2462348"/>
              <a:ext cx="228982" cy="3299611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0" name="Line 913">
              <a:extLst>
                <a:ext uri="{FF2B5EF4-FFF2-40B4-BE49-F238E27FC236}">
                  <a16:creationId xmlns:a16="http://schemas.microsoft.com/office/drawing/2014/main" xmlns="" id="{7602507B-BECA-7042-893E-42D6FF9E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044" y="3911282"/>
              <a:ext cx="764880" cy="18666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652">
            <a:extLst>
              <a:ext uri="{FF2B5EF4-FFF2-40B4-BE49-F238E27FC236}">
                <a16:creationId xmlns:a16="http://schemas.microsoft.com/office/drawing/2014/main" xmlns="" id="{F4E63F52-683B-8244-A48E-D8CF833CC085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2279620"/>
            <a:ext cx="415925" cy="385763"/>
            <a:chOff x="2751" y="1851"/>
            <a:chExt cx="462" cy="478"/>
          </a:xfrm>
        </p:grpSpPr>
        <p:pic>
          <p:nvPicPr>
            <p:cNvPr id="359" name="Picture 653" descr="iphone_stylized_small">
              <a:extLst>
                <a:ext uri="{FF2B5EF4-FFF2-40B4-BE49-F238E27FC236}">
                  <a16:creationId xmlns:a16="http://schemas.microsoft.com/office/drawing/2014/main" xmlns="" id="{EDF1EC93-A6E5-964F-B0D6-EE56B282A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0" name="Picture 654" descr="antenna_radiation_stylized">
              <a:extLst>
                <a:ext uri="{FF2B5EF4-FFF2-40B4-BE49-F238E27FC236}">
                  <a16:creationId xmlns:a16="http://schemas.microsoft.com/office/drawing/2014/main" xmlns="" id="{0A17C594-505E-6F41-AEEB-272A31DFD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xmlns="" id="{46F998A3-3B85-214A-927A-3BF067B7C2A0}"/>
              </a:ext>
            </a:extLst>
          </p:cNvPr>
          <p:cNvGrpSpPr/>
          <p:nvPr/>
        </p:nvGrpSpPr>
        <p:grpSpPr>
          <a:xfrm>
            <a:off x="8499539" y="2479019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xmlns="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xmlns="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" name="Group 1139">
            <a:extLst>
              <a:ext uri="{FF2B5EF4-FFF2-40B4-BE49-F238E27FC236}">
                <a16:creationId xmlns:a16="http://schemas.microsoft.com/office/drawing/2014/main" xmlns="" id="{904B7C12-C509-8641-BB63-56DEDB95F95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91996" y="3987038"/>
            <a:ext cx="359261" cy="342045"/>
            <a:chOff x="2839" y="3501"/>
            <a:chExt cx="755" cy="803"/>
          </a:xfrm>
        </p:grpSpPr>
        <p:pic>
          <p:nvPicPr>
            <p:cNvPr id="138" name="Picture 1140" descr="desktop_computer_stylized_medium">
              <a:extLst>
                <a:ext uri="{FF2B5EF4-FFF2-40B4-BE49-F238E27FC236}">
                  <a16:creationId xmlns:a16="http://schemas.microsoft.com/office/drawing/2014/main" xmlns="" id="{BDC7F552-21C9-C942-90FF-0162099A3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" name="Freeform 1141">
              <a:extLst>
                <a:ext uri="{FF2B5EF4-FFF2-40B4-BE49-F238E27FC236}">
                  <a16:creationId xmlns:a16="http://schemas.microsoft.com/office/drawing/2014/main" xmlns="" id="{654B43BA-608E-5D4D-B11B-71762CFB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xmlns="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700955"/>
            <a:ext cx="345630" cy="320302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xmlns="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xmlns="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xmlns="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6272704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xmlns="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xmlns="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xmlns="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xmlns="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xmlns="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xmlns="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xmlns="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xmlns="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xmlns="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xmlns="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xmlns="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xmlns="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xmlns="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xmlns="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xmlns="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xmlns="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xmlns="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xmlns="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xmlns="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xmlns="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xmlns="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xmlns="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xmlns="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1" name="Slide Number Placeholder 2">
            <a:extLst>
              <a:ext uri="{FF2B5EF4-FFF2-40B4-BE49-F238E27FC236}">
                <a16:creationId xmlns:a16="http://schemas.microsoft.com/office/drawing/2014/main" xmlns="" id="{033BFF8E-A045-F641-9334-CFBF85BE3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88219" y="9395"/>
            <a:ext cx="2400300" cy="2076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540878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120" y="121367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 smtClean="0">
                <a:ea typeface="ＭＳ Ｐゴシック" panose="020B0600070205080204" pitchFamily="34" charset="-128"/>
              </a:rPr>
              <a:t>2. Peer-to-peer </a:t>
            </a:r>
            <a:r>
              <a:rPr lang="en-US" altLang="en-US" sz="3600" dirty="0">
                <a:ea typeface="ＭＳ Ｐゴシック" panose="020B0600070205080204" pitchFamily="34" charset="-128"/>
              </a:rPr>
              <a:t>(P2P)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rchitecture</a:t>
            </a:r>
            <a:endParaRPr lang="en-US" sz="4400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886818"/>
              </p:ext>
            </p:extLst>
          </p:nvPr>
        </p:nvGraphicFramePr>
        <p:xfrm>
          <a:off x="416119" y="1094696"/>
          <a:ext cx="11480411" cy="2560320"/>
        </p:xfrm>
        <a:graphic>
          <a:graphicData uri="http://schemas.openxmlformats.org/drawingml/2006/table">
            <a:tbl>
              <a:tblPr/>
              <a:tblGrid>
                <a:gridCol w="3101522"/>
                <a:gridCol w="8378889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Advantages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Cost-effective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No need for a dedicated server; reduces hardware and maintenance costs.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Easy to set 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Simple installation and configuration; ideal for small networks.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Resource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Allows sharing of files, printers, and internet connections among peers.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No central point of failure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Network continues functioning even if one or more nodes fail.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Scalable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New nodes can be added easily without complex setup.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Efficient file sharing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Multiple peers can upload/download simultaneously, improving speed (e.g., </a:t>
                      </a:r>
                      <a:r>
                        <a:rPr lang="en-US" dirty="0" err="1"/>
                        <a:t>BitTorrent</a:t>
                      </a:r>
                      <a:r>
                        <a:rPr lang="en-US" dirty="0"/>
                        <a:t>).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130962"/>
              </p:ext>
            </p:extLst>
          </p:nvPr>
        </p:nvGraphicFramePr>
        <p:xfrm>
          <a:off x="416120" y="3882872"/>
          <a:ext cx="11480410" cy="2560320"/>
        </p:xfrm>
        <a:graphic>
          <a:graphicData uri="http://schemas.openxmlformats.org/drawingml/2006/table">
            <a:tbl>
              <a:tblPr/>
              <a:tblGrid>
                <a:gridCol w="3176166"/>
                <a:gridCol w="8304244"/>
              </a:tblGrid>
              <a:tr h="0">
                <a:tc>
                  <a:txBody>
                    <a:bodyPr/>
                    <a:lstStyle/>
                    <a:p>
                      <a:r>
                        <a:rPr lang="en-US" b="1" dirty="0"/>
                        <a:t>Disadvantages</a:t>
                      </a:r>
                      <a:endParaRPr lang="en-US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Security issues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 centralized control; difficult to enforce access permissions.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Difficult data backup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Each node maintains its own data, making centralized backup hard.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Performance degradation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High traffic and load on individual peers can slow performance.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No centralized management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Troubleshooting and administration are complex.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Risk of malware and corruption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File sharing increases risk of viruses and corrupted data.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r>
                        <a:rPr lang="en-US" b="0" dirty="0"/>
                        <a:t>Not suitable for large networks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Becomes inefficient and unmanageable as network size grows.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51329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5C89035B-463A-1E40-A130-AE9AA3E3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r>
              <a:rPr lang="en-US"/>
              <a:t>Introduction: 1-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File distribution: client-server vs P2P</a:t>
            </a:r>
            <a:endParaRPr lang="en-US" sz="4400" dirty="0"/>
          </a:p>
        </p:txBody>
      </p:sp>
      <p:sp>
        <p:nvSpPr>
          <p:cNvPr id="613" name="Rectangle 3">
            <a:extLst>
              <a:ext uri="{FF2B5EF4-FFF2-40B4-BE49-F238E27FC236}">
                <a16:creationId xmlns:a16="http://schemas.microsoft.com/office/drawing/2014/main" xmlns="" id="{D33C12FB-7815-3541-8A29-9A4570C91901}"/>
              </a:ext>
            </a:extLst>
          </p:cNvPr>
          <p:cNvSpPr txBox="1">
            <a:spLocks noChangeArrowheads="1"/>
          </p:cNvSpPr>
          <p:nvPr/>
        </p:nvSpPr>
        <p:spPr>
          <a:xfrm>
            <a:off x="863043" y="1302088"/>
            <a:ext cx="10515600" cy="1296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013" indent="-542925">
              <a:buFont typeface="Wingdings" pitchFamily="2" charset="2"/>
              <a:buNone/>
            </a:pPr>
            <a:r>
              <a:rPr lang="en-US" altLang="en-US" sz="3200" i="1" u="sng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</a:t>
            </a: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:</a:t>
            </a:r>
            <a:r>
              <a:rPr lang="en-US" altLang="en-US" sz="3200" dirty="0">
                <a:ea typeface="ＭＳ Ｐゴシック" panose="020B0600070205080204" pitchFamily="34" charset="-128"/>
              </a:rPr>
              <a:t> how much time to distribute file (size </a:t>
            </a:r>
            <a:r>
              <a:rPr lang="en-US" altLang="en-US" sz="3200" i="1" dirty="0">
                <a:ea typeface="ＭＳ Ｐゴシック" panose="020B0600070205080204" pitchFamily="34" charset="-128"/>
              </a:rPr>
              <a:t>F</a:t>
            </a:r>
            <a:r>
              <a:rPr lang="en-US" altLang="en-US" sz="3200" dirty="0">
                <a:ea typeface="ＭＳ Ｐゴシック" panose="020B0600070205080204" pitchFamily="34" charset="-128"/>
              </a:rPr>
              <a:t>) from one server to  </a:t>
            </a:r>
            <a:r>
              <a:rPr lang="en-US" altLang="en-US" sz="3200" i="1" dirty="0">
                <a:ea typeface="ＭＳ Ｐゴシック" panose="020B0600070205080204" pitchFamily="34" charset="-128"/>
              </a:rPr>
              <a:t>N  peers</a:t>
            </a:r>
            <a:r>
              <a:rPr lang="en-US" altLang="en-US" sz="3200" dirty="0">
                <a:ea typeface="ＭＳ Ｐゴシック" panose="020B0600070205080204" pitchFamily="34" charset="-128"/>
              </a:rPr>
              <a:t>?</a:t>
            </a:r>
          </a:p>
          <a:p>
            <a:pPr marL="858838" lvl="1" indent="-238125"/>
            <a:r>
              <a:rPr lang="en-US" altLang="en-US" dirty="0">
                <a:ea typeface="ＭＳ Ｐゴシック" panose="020B0600070205080204" pitchFamily="34" charset="-128"/>
              </a:rPr>
              <a:t>peer upload/download capacity is limited resource</a:t>
            </a:r>
          </a:p>
        </p:txBody>
      </p:sp>
      <p:sp>
        <p:nvSpPr>
          <p:cNvPr id="749" name="Freeform 4">
            <a:extLst>
              <a:ext uri="{FF2B5EF4-FFF2-40B4-BE49-F238E27FC236}">
                <a16:creationId xmlns:a16="http://schemas.microsoft.com/office/drawing/2014/main" xmlns="" id="{5781B526-D87C-EC44-AD4E-445965AD662B}"/>
              </a:ext>
            </a:extLst>
          </p:cNvPr>
          <p:cNvSpPr>
            <a:spLocks/>
          </p:cNvSpPr>
          <p:nvPr/>
        </p:nvSpPr>
        <p:spPr bwMode="auto">
          <a:xfrm>
            <a:off x="4208462" y="4079079"/>
            <a:ext cx="3775075" cy="1755775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0" name="Line 14">
            <a:extLst>
              <a:ext uri="{FF2B5EF4-FFF2-40B4-BE49-F238E27FC236}">
                <a16:creationId xmlns:a16="http://schemas.microsoft.com/office/drawing/2014/main" xmlns="" id="{88305A7F-251D-B74C-8F8E-CCB1F71A8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4" y="4042566"/>
            <a:ext cx="803275" cy="311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1" name="Text Box 15">
            <a:extLst>
              <a:ext uri="{FF2B5EF4-FFF2-40B4-BE49-F238E27FC236}">
                <a16:creationId xmlns:a16="http://schemas.microsoft.com/office/drawing/2014/main" xmlns="" id="{B8157757-C95F-CB42-9942-11A4F3D2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487" y="3840954"/>
            <a:ext cx="4122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</a:t>
            </a:r>
          </a:p>
        </p:txBody>
      </p:sp>
      <p:sp>
        <p:nvSpPr>
          <p:cNvPr id="752" name="Line 39">
            <a:extLst>
              <a:ext uri="{FF2B5EF4-FFF2-40B4-BE49-F238E27FC236}">
                <a16:creationId xmlns:a16="http://schemas.microsoft.com/office/drawing/2014/main" xmlns="" id="{33B391C4-AA6E-EF49-929E-18C688BE0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0412" y="4953791"/>
            <a:ext cx="101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3" name="Line 40">
            <a:extLst>
              <a:ext uri="{FF2B5EF4-FFF2-40B4-BE49-F238E27FC236}">
                <a16:creationId xmlns:a16="http://schemas.microsoft.com/office/drawing/2014/main" xmlns="" id="{55D5EF82-1A60-6045-9491-ACB495A754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5974" y="5101429"/>
            <a:ext cx="1003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4" name="Text Box 41">
            <a:extLst>
              <a:ext uri="{FF2B5EF4-FFF2-40B4-BE49-F238E27FC236}">
                <a16:creationId xmlns:a16="http://schemas.microsoft.com/office/drawing/2014/main" xmlns="" id="{551344A9-80D5-6B4D-8C5F-1C743F9C4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337" y="4564854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</a:p>
        </p:txBody>
      </p:sp>
      <p:sp>
        <p:nvSpPr>
          <p:cNvPr id="755" name="Text Box 42">
            <a:extLst>
              <a:ext uri="{FF2B5EF4-FFF2-40B4-BE49-F238E27FC236}">
                <a16:creationId xmlns:a16="http://schemas.microsoft.com/office/drawing/2014/main" xmlns="" id="{DA13FA8F-3C26-0B46-A3A1-BC7065C4D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7" y="5079204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</a:p>
        </p:txBody>
      </p:sp>
      <p:sp>
        <p:nvSpPr>
          <p:cNvPr id="756" name="Text Box 43">
            <a:extLst>
              <a:ext uri="{FF2B5EF4-FFF2-40B4-BE49-F238E27FC236}">
                <a16:creationId xmlns:a16="http://schemas.microsoft.com/office/drawing/2014/main" xmlns="" id="{1E15BC0C-6AFB-CF4C-B899-707280EA4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4" y="4063204"/>
            <a:ext cx="1173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server</a:t>
            </a:r>
            <a:endParaRPr kumimoji="0" lang="en-US" altLang="en-US" b="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7" name="Text Box 44">
            <a:extLst>
              <a:ext uri="{FF2B5EF4-FFF2-40B4-BE49-F238E27FC236}">
                <a16:creationId xmlns:a16="http://schemas.microsoft.com/office/drawing/2014/main" xmlns="" id="{B744D31B-0064-CC4C-813B-2342EBCCC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759" y="4590254"/>
            <a:ext cx="28344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network (with abundant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bandwidth)</a:t>
            </a:r>
          </a:p>
        </p:txBody>
      </p:sp>
      <p:sp>
        <p:nvSpPr>
          <p:cNvPr id="758" name="Text Box 47">
            <a:extLst>
              <a:ext uri="{FF2B5EF4-FFF2-40B4-BE49-F238E27FC236}">
                <a16:creationId xmlns:a16="http://schemas.microsoft.com/office/drawing/2014/main" xmlns="" id="{3CFD7627-4852-C14C-83FC-5338E04E2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49" y="3815554"/>
            <a:ext cx="1397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file, size F</a:t>
            </a:r>
            <a:endParaRPr kumimoji="0" lang="en-US" altLang="en-US" sz="1800" b="0" i="1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9" name="Text Box 49">
            <a:extLst>
              <a:ext uri="{FF2B5EF4-FFF2-40B4-BE49-F238E27FC236}">
                <a16:creationId xmlns:a16="http://schemas.microsoft.com/office/drawing/2014/main" xmlns="" id="{59DA6353-13D5-E042-BEEE-6FF767E86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953" y="2641737"/>
            <a:ext cx="248651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u</a:t>
            </a:r>
            <a:r>
              <a:rPr kumimoji="0" lang="en-US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s</a:t>
            </a: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server upload capacity</a:t>
            </a: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760" name="Text Box 50">
            <a:extLst>
              <a:ext uri="{FF2B5EF4-FFF2-40B4-BE49-F238E27FC236}">
                <a16:creationId xmlns:a16="http://schemas.microsoft.com/office/drawing/2014/main" xmlns="" id="{51F84BDF-7DCA-0A43-ACDB-9BE708391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1024" y="5482429"/>
            <a:ext cx="259080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u</a:t>
            </a:r>
            <a:r>
              <a:rPr kumimoji="0" lang="en-US" altLang="en-US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peer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upload capacity</a:t>
            </a:r>
          </a:p>
        </p:txBody>
      </p:sp>
      <p:sp>
        <p:nvSpPr>
          <p:cNvPr id="761" name="Text Box 51">
            <a:extLst>
              <a:ext uri="{FF2B5EF4-FFF2-40B4-BE49-F238E27FC236}">
                <a16:creationId xmlns:a16="http://schemas.microsoft.com/office/drawing/2014/main" xmlns="" id="{A5D79A43-11C7-6349-BEB0-7438447D9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3868" y="3463243"/>
            <a:ext cx="274320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d</a:t>
            </a:r>
            <a:r>
              <a:rPr kumimoji="0" lang="en-US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peer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download capacity</a:t>
            </a: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762" name="AutoShape 327">
            <a:extLst>
              <a:ext uri="{FF2B5EF4-FFF2-40B4-BE49-F238E27FC236}">
                <a16:creationId xmlns:a16="http://schemas.microsoft.com/office/drawing/2014/main" xmlns="" id="{369AE872-BFBD-8443-A484-E1FE4F07B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7" y="3261516"/>
            <a:ext cx="592137" cy="5810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763" name="Group 76">
            <a:extLst>
              <a:ext uri="{FF2B5EF4-FFF2-40B4-BE49-F238E27FC236}">
                <a16:creationId xmlns:a16="http://schemas.microsoft.com/office/drawing/2014/main" xmlns="" id="{1E070762-6E91-C249-87E6-742CA28F4553}"/>
              </a:ext>
            </a:extLst>
          </p:cNvPr>
          <p:cNvGrpSpPr>
            <a:grpSpLocks/>
          </p:cNvGrpSpPr>
          <p:nvPr/>
        </p:nvGrpSpPr>
        <p:grpSpPr bwMode="auto">
          <a:xfrm>
            <a:off x="5422899" y="3539329"/>
            <a:ext cx="2138363" cy="903287"/>
            <a:chOff x="2204" y="2030"/>
            <a:chExt cx="1347" cy="774"/>
          </a:xfrm>
        </p:grpSpPr>
        <p:sp>
          <p:nvSpPr>
            <p:cNvPr id="764" name="Text Box 19">
              <a:extLst>
                <a:ext uri="{FF2B5EF4-FFF2-40B4-BE49-F238E27FC236}">
                  <a16:creationId xmlns:a16="http://schemas.microsoft.com/office/drawing/2014/main" xmlns="" id="{616B15BE-44B0-0344-B31F-91A938627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2271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u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2</a:t>
              </a:r>
            </a:p>
          </p:txBody>
        </p:sp>
        <p:sp>
          <p:nvSpPr>
            <p:cNvPr id="765" name="Line 22">
              <a:extLst>
                <a:ext uri="{FF2B5EF4-FFF2-40B4-BE49-F238E27FC236}">
                  <a16:creationId xmlns:a16="http://schemas.microsoft.com/office/drawing/2014/main" xmlns="" id="{468AACC5-62A5-624B-8074-C32AC02B5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7" y="2133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66" name="Line 23">
              <a:extLst>
                <a:ext uri="{FF2B5EF4-FFF2-40B4-BE49-F238E27FC236}">
                  <a16:creationId xmlns:a16="http://schemas.microsoft.com/office/drawing/2014/main" xmlns="" id="{6ADDCF08-0E06-944A-88C1-8C3B5B0B5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2" y="2141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67" name="Text Box 24">
              <a:extLst>
                <a:ext uri="{FF2B5EF4-FFF2-40B4-BE49-F238E27FC236}">
                  <a16:creationId xmlns:a16="http://schemas.microsoft.com/office/drawing/2014/main" xmlns="" id="{0F3475ED-2A92-4E41-84C3-7C019E7EF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" y="2332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d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2</a:t>
              </a:r>
            </a:p>
          </p:txBody>
        </p:sp>
        <p:sp>
          <p:nvSpPr>
            <p:cNvPr id="768" name="Text Box 19">
              <a:extLst>
                <a:ext uri="{FF2B5EF4-FFF2-40B4-BE49-F238E27FC236}">
                  <a16:creationId xmlns:a16="http://schemas.microsoft.com/office/drawing/2014/main" xmlns="" id="{0B070290-50F4-544A-8EB8-39FD5D707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167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u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1</a:t>
              </a:r>
            </a:p>
          </p:txBody>
        </p:sp>
        <p:sp>
          <p:nvSpPr>
            <p:cNvPr id="769" name="Line 22">
              <a:extLst>
                <a:ext uri="{FF2B5EF4-FFF2-40B4-BE49-F238E27FC236}">
                  <a16:creationId xmlns:a16="http://schemas.microsoft.com/office/drawing/2014/main" xmlns="" id="{EDD90978-FEC1-EC4A-9B82-FE08AA882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2030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70" name="Line 23">
              <a:extLst>
                <a:ext uri="{FF2B5EF4-FFF2-40B4-BE49-F238E27FC236}">
                  <a16:creationId xmlns:a16="http://schemas.microsoft.com/office/drawing/2014/main" xmlns="" id="{D06A7A37-85E1-7F49-8794-07F8D4C65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0" y="2038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71" name="Text Box 24">
              <a:extLst>
                <a:ext uri="{FF2B5EF4-FFF2-40B4-BE49-F238E27FC236}">
                  <a16:creationId xmlns:a16="http://schemas.microsoft.com/office/drawing/2014/main" xmlns="" id="{EB274E98-7508-9441-B445-9BFA8D56F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2229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d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1</a:t>
              </a:r>
            </a:p>
          </p:txBody>
        </p:sp>
      </p:grpSp>
      <p:sp>
        <p:nvSpPr>
          <p:cNvPr id="772" name="Line 72">
            <a:extLst>
              <a:ext uri="{FF2B5EF4-FFF2-40B4-BE49-F238E27FC236}">
                <a16:creationId xmlns:a16="http://schemas.microsoft.com/office/drawing/2014/main" xmlns="" id="{47A84A96-E7A3-1843-B72F-6E2E41F4E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962" y="4758529"/>
            <a:ext cx="1165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3" name="Line 73">
            <a:extLst>
              <a:ext uri="{FF2B5EF4-FFF2-40B4-BE49-F238E27FC236}">
                <a16:creationId xmlns:a16="http://schemas.microsoft.com/office/drawing/2014/main" xmlns="" id="{13604104-CB34-D540-BE37-408B7E700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899" y="4910929"/>
            <a:ext cx="1165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4" name="Text Box 41">
            <a:extLst>
              <a:ext uri="{FF2B5EF4-FFF2-40B4-BE49-F238E27FC236}">
                <a16:creationId xmlns:a16="http://schemas.microsoft.com/office/drawing/2014/main" xmlns="" id="{6AECF13A-63DD-6440-9CEA-60EFAAE2D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5299" y="4347366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</a:p>
        </p:txBody>
      </p:sp>
      <p:sp>
        <p:nvSpPr>
          <p:cNvPr id="775" name="Text Box 41">
            <a:extLst>
              <a:ext uri="{FF2B5EF4-FFF2-40B4-BE49-F238E27FC236}">
                <a16:creationId xmlns:a16="http://schemas.microsoft.com/office/drawing/2014/main" xmlns="" id="{B1B85AB8-3F48-6B40-9E0F-095E131AC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112" y="4880766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</a:p>
        </p:txBody>
      </p:sp>
      <p:sp>
        <p:nvSpPr>
          <p:cNvPr id="776" name="Line 77">
            <a:extLst>
              <a:ext uri="{FF2B5EF4-FFF2-40B4-BE49-F238E27FC236}">
                <a16:creationId xmlns:a16="http://schemas.microsoft.com/office/drawing/2014/main" xmlns="" id="{04740FC7-F24A-9E49-ABD5-CC405E4D6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2" y="3223416"/>
            <a:ext cx="0" cy="663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7" name="Line 78">
            <a:extLst>
              <a:ext uri="{FF2B5EF4-FFF2-40B4-BE49-F238E27FC236}">
                <a16:creationId xmlns:a16="http://schemas.microsoft.com/office/drawing/2014/main" xmlns="" id="{644C7641-7528-D04F-B35B-B86B81EEAE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02637" y="4137816"/>
            <a:ext cx="369887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8" name="Line 79">
            <a:extLst>
              <a:ext uri="{FF2B5EF4-FFF2-40B4-BE49-F238E27FC236}">
                <a16:creationId xmlns:a16="http://schemas.microsoft.com/office/drawing/2014/main" xmlns="" id="{21210937-40A2-D945-A261-60D041388D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32799" y="5083966"/>
            <a:ext cx="369888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779" name="Group 81">
            <a:extLst>
              <a:ext uri="{FF2B5EF4-FFF2-40B4-BE49-F238E27FC236}">
                <a16:creationId xmlns:a16="http://schemas.microsoft.com/office/drawing/2014/main" xmlns="" id="{70E00E57-2D7F-E34A-A62C-8B64AA1FAC60}"/>
              </a:ext>
            </a:extLst>
          </p:cNvPr>
          <p:cNvGrpSpPr>
            <a:grpSpLocks/>
          </p:cNvGrpSpPr>
          <p:nvPr/>
        </p:nvGrpSpPr>
        <p:grpSpPr bwMode="auto">
          <a:xfrm>
            <a:off x="3459162" y="3323429"/>
            <a:ext cx="465137" cy="803275"/>
            <a:chOff x="4140" y="429"/>
            <a:chExt cx="1425" cy="2396"/>
          </a:xfrm>
        </p:grpSpPr>
        <p:sp>
          <p:nvSpPr>
            <p:cNvPr id="780" name="Freeform 82">
              <a:extLst>
                <a:ext uri="{FF2B5EF4-FFF2-40B4-BE49-F238E27FC236}">
                  <a16:creationId xmlns:a16="http://schemas.microsoft.com/office/drawing/2014/main" xmlns="" id="{79E2F9B0-711F-DE4C-965B-924CC303B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1" name="Rectangle 83">
              <a:extLst>
                <a:ext uri="{FF2B5EF4-FFF2-40B4-BE49-F238E27FC236}">
                  <a16:creationId xmlns:a16="http://schemas.microsoft.com/office/drawing/2014/main" xmlns="" id="{F06DAE2F-17DE-D941-923C-E70BDCB41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6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2" name="Freeform 84">
              <a:extLst>
                <a:ext uri="{FF2B5EF4-FFF2-40B4-BE49-F238E27FC236}">
                  <a16:creationId xmlns:a16="http://schemas.microsoft.com/office/drawing/2014/main" xmlns="" id="{946A9E21-9E85-934A-A686-0A8D135B2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3" name="Freeform 85">
              <a:extLst>
                <a:ext uri="{FF2B5EF4-FFF2-40B4-BE49-F238E27FC236}">
                  <a16:creationId xmlns:a16="http://schemas.microsoft.com/office/drawing/2014/main" xmlns="" id="{72BE6A9C-0FBC-364A-A7ED-A2A6F0179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4" name="Rectangle 86">
              <a:extLst>
                <a:ext uri="{FF2B5EF4-FFF2-40B4-BE49-F238E27FC236}">
                  <a16:creationId xmlns:a16="http://schemas.microsoft.com/office/drawing/2014/main" xmlns="" id="{6408A6CA-7347-8E43-98E8-BCFA04384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4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87" name="Group 87">
              <a:extLst>
                <a:ext uri="{FF2B5EF4-FFF2-40B4-BE49-F238E27FC236}">
                  <a16:creationId xmlns:a16="http://schemas.microsoft.com/office/drawing/2014/main" xmlns="" id="{3BB80181-EFB9-654A-9C2B-37611F58A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22" name="AutoShape 88">
                <a:extLst>
                  <a:ext uri="{FF2B5EF4-FFF2-40B4-BE49-F238E27FC236}">
                    <a16:creationId xmlns:a16="http://schemas.microsoft.com/office/drawing/2014/main" xmlns="" id="{755E2639-6DC2-B445-8BA7-4A95A040D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24" name="AutoShape 89">
                <a:extLst>
                  <a:ext uri="{FF2B5EF4-FFF2-40B4-BE49-F238E27FC236}">
                    <a16:creationId xmlns:a16="http://schemas.microsoft.com/office/drawing/2014/main" xmlns="" id="{60B2F854-EFB8-E64E-8D27-5F6F8D396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88" name="Rectangle 90">
              <a:extLst>
                <a:ext uri="{FF2B5EF4-FFF2-40B4-BE49-F238E27FC236}">
                  <a16:creationId xmlns:a16="http://schemas.microsoft.com/office/drawing/2014/main" xmlns="" id="{57F9C28A-1132-144B-9916-B507ADCED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89" name="Group 91">
              <a:extLst>
                <a:ext uri="{FF2B5EF4-FFF2-40B4-BE49-F238E27FC236}">
                  <a16:creationId xmlns:a16="http://schemas.microsoft.com/office/drawing/2014/main" xmlns="" id="{5E2EEB51-C433-4146-9A07-B904C9EFB0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20" name="AutoShape 92">
                <a:extLst>
                  <a:ext uri="{FF2B5EF4-FFF2-40B4-BE49-F238E27FC236}">
                    <a16:creationId xmlns:a16="http://schemas.microsoft.com/office/drawing/2014/main" xmlns="" id="{3A27EE24-9EA3-5849-AF8B-3DE9ED4D0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2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21" name="AutoShape 93">
                <a:extLst>
                  <a:ext uri="{FF2B5EF4-FFF2-40B4-BE49-F238E27FC236}">
                    <a16:creationId xmlns:a16="http://schemas.microsoft.com/office/drawing/2014/main" xmlns="" id="{6AFF8567-F6C4-0747-BA7C-166259544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1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90" name="Rectangle 94">
              <a:extLst>
                <a:ext uri="{FF2B5EF4-FFF2-40B4-BE49-F238E27FC236}">
                  <a16:creationId xmlns:a16="http://schemas.microsoft.com/office/drawing/2014/main" xmlns="" id="{481071F4-7660-1F49-867C-3C721C3F0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91" name="Rectangle 95">
              <a:extLst>
                <a:ext uri="{FF2B5EF4-FFF2-40B4-BE49-F238E27FC236}">
                  <a16:creationId xmlns:a16="http://schemas.microsoft.com/office/drawing/2014/main" xmlns="" id="{F9E573B0-F1E0-0244-84F0-5D9DC86D8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93" name="Group 96">
              <a:extLst>
                <a:ext uri="{FF2B5EF4-FFF2-40B4-BE49-F238E27FC236}">
                  <a16:creationId xmlns:a16="http://schemas.microsoft.com/office/drawing/2014/main" xmlns="" id="{60F43234-7837-E047-B8D9-B93960C93F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15" name="AutoShape 97">
                <a:extLst>
                  <a:ext uri="{FF2B5EF4-FFF2-40B4-BE49-F238E27FC236}">
                    <a16:creationId xmlns:a16="http://schemas.microsoft.com/office/drawing/2014/main" xmlns="" id="{AA061C9E-39EE-B14D-A8E3-104E27013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17" name="AutoShape 98">
                <a:extLst>
                  <a:ext uri="{FF2B5EF4-FFF2-40B4-BE49-F238E27FC236}">
                    <a16:creationId xmlns:a16="http://schemas.microsoft.com/office/drawing/2014/main" xmlns="" id="{12C304B6-6E69-644F-91BB-9F1C86D1D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94" name="Freeform 99">
              <a:extLst>
                <a:ext uri="{FF2B5EF4-FFF2-40B4-BE49-F238E27FC236}">
                  <a16:creationId xmlns:a16="http://schemas.microsoft.com/office/drawing/2014/main" xmlns="" id="{D5358657-0340-9248-AA9C-2F41E4340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96" name="Group 100">
              <a:extLst>
                <a:ext uri="{FF2B5EF4-FFF2-40B4-BE49-F238E27FC236}">
                  <a16:creationId xmlns:a16="http://schemas.microsoft.com/office/drawing/2014/main" xmlns="" id="{87CDCAD0-C1B4-8646-B58D-6CD9FF243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12" name="AutoShape 101">
                <a:extLst>
                  <a:ext uri="{FF2B5EF4-FFF2-40B4-BE49-F238E27FC236}">
                    <a16:creationId xmlns:a16="http://schemas.microsoft.com/office/drawing/2014/main" xmlns="" id="{53F473DF-D46D-0345-9F7F-49F5BE50C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14" name="AutoShape 102">
                <a:extLst>
                  <a:ext uri="{FF2B5EF4-FFF2-40B4-BE49-F238E27FC236}">
                    <a16:creationId xmlns:a16="http://schemas.microsoft.com/office/drawing/2014/main" xmlns="" id="{EF047A49-61C2-3A41-8A53-6F24E9E5C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97" name="Rectangle 103">
              <a:extLst>
                <a:ext uri="{FF2B5EF4-FFF2-40B4-BE49-F238E27FC236}">
                  <a16:creationId xmlns:a16="http://schemas.microsoft.com/office/drawing/2014/main" xmlns="" id="{0DC41427-3FCF-3949-97B5-7D608D26F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98" name="Freeform 104">
              <a:extLst>
                <a:ext uri="{FF2B5EF4-FFF2-40B4-BE49-F238E27FC236}">
                  <a16:creationId xmlns:a16="http://schemas.microsoft.com/office/drawing/2014/main" xmlns="" id="{8F8A38B2-57F8-E945-BFD5-DF65BDBFA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99" name="Freeform 105">
              <a:extLst>
                <a:ext uri="{FF2B5EF4-FFF2-40B4-BE49-F238E27FC236}">
                  <a16:creationId xmlns:a16="http://schemas.microsoft.com/office/drawing/2014/main" xmlns="" id="{0F08B7AC-3180-754D-94CE-9FA5F6748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1" name="Oval 106">
              <a:extLst>
                <a:ext uri="{FF2B5EF4-FFF2-40B4-BE49-F238E27FC236}">
                  <a16:creationId xmlns:a16="http://schemas.microsoft.com/office/drawing/2014/main" xmlns="" id="{C5F7D344-4D6F-D646-8C93-A97BAB8C4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2" name="Freeform 107">
              <a:extLst>
                <a:ext uri="{FF2B5EF4-FFF2-40B4-BE49-F238E27FC236}">
                  <a16:creationId xmlns:a16="http://schemas.microsoft.com/office/drawing/2014/main" xmlns="" id="{BE829AA4-D020-7348-B510-9FB2A8536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4" name="AutoShape 108">
              <a:extLst>
                <a:ext uri="{FF2B5EF4-FFF2-40B4-BE49-F238E27FC236}">
                  <a16:creationId xmlns:a16="http://schemas.microsoft.com/office/drawing/2014/main" xmlns="" id="{35AAD988-1211-1E40-91C0-3937CD2EC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5" name="AutoShape 109">
              <a:extLst>
                <a:ext uri="{FF2B5EF4-FFF2-40B4-BE49-F238E27FC236}">
                  <a16:creationId xmlns:a16="http://schemas.microsoft.com/office/drawing/2014/main" xmlns="" id="{4305931D-5D5C-9D4F-AAD7-AB64D64AD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6" name="Oval 110">
              <a:extLst>
                <a:ext uri="{FF2B5EF4-FFF2-40B4-BE49-F238E27FC236}">
                  <a16:creationId xmlns:a16="http://schemas.microsoft.com/office/drawing/2014/main" xmlns="" id="{83363F10-1097-A54D-ADAB-24C8B3E21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7" name="Oval 111">
              <a:extLst>
                <a:ext uri="{FF2B5EF4-FFF2-40B4-BE49-F238E27FC236}">
                  <a16:creationId xmlns:a16="http://schemas.microsoft.com/office/drawing/2014/main" xmlns="" id="{B44F4B51-7681-9C40-9F0A-A4B645261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09" name="Oval 112">
              <a:extLst>
                <a:ext uri="{FF2B5EF4-FFF2-40B4-BE49-F238E27FC236}">
                  <a16:creationId xmlns:a16="http://schemas.microsoft.com/office/drawing/2014/main" xmlns="" id="{5582586B-92B3-3A4A-8CAC-510211950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10" name="Rectangle 113">
              <a:extLst>
                <a:ext uri="{FF2B5EF4-FFF2-40B4-BE49-F238E27FC236}">
                  <a16:creationId xmlns:a16="http://schemas.microsoft.com/office/drawing/2014/main" xmlns="" id="{5238CEC3-5101-4E45-98C3-C884DC620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26" name="Group 114">
            <a:extLst>
              <a:ext uri="{FF2B5EF4-FFF2-40B4-BE49-F238E27FC236}">
                <a16:creationId xmlns:a16="http://schemas.microsoft.com/office/drawing/2014/main" xmlns="" id="{CE9E5FE1-98E9-5B4B-A4A4-DFCEF9DD2F2A}"/>
              </a:ext>
            </a:extLst>
          </p:cNvPr>
          <p:cNvGrpSpPr>
            <a:grpSpLocks/>
          </p:cNvGrpSpPr>
          <p:nvPr/>
        </p:nvGrpSpPr>
        <p:grpSpPr bwMode="auto">
          <a:xfrm>
            <a:off x="2368549" y="4626766"/>
            <a:ext cx="925513" cy="795338"/>
            <a:chOff x="-44" y="1473"/>
            <a:chExt cx="981" cy="1105"/>
          </a:xfrm>
        </p:grpSpPr>
        <p:pic>
          <p:nvPicPr>
            <p:cNvPr id="828" name="Picture 115" descr="desktop_computer_stylized_medium">
              <a:extLst>
                <a:ext uri="{FF2B5EF4-FFF2-40B4-BE49-F238E27FC236}">
                  <a16:creationId xmlns:a16="http://schemas.microsoft.com/office/drawing/2014/main" xmlns="" id="{EA6E5654-65B1-E143-93FC-22FF8A007C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" name="Freeform 116">
              <a:extLst>
                <a:ext uri="{FF2B5EF4-FFF2-40B4-BE49-F238E27FC236}">
                  <a16:creationId xmlns:a16="http://schemas.microsoft.com/office/drawing/2014/main" xmlns="" id="{2A3D29B4-8BC4-A546-9C7A-F25B946004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31" name="Group 117">
            <a:extLst>
              <a:ext uri="{FF2B5EF4-FFF2-40B4-BE49-F238E27FC236}">
                <a16:creationId xmlns:a16="http://schemas.microsoft.com/office/drawing/2014/main" xmlns="" id="{9E284045-6147-7B47-BC5C-5CC7FF81FE0A}"/>
              </a:ext>
            </a:extLst>
          </p:cNvPr>
          <p:cNvGrpSpPr>
            <a:grpSpLocks/>
          </p:cNvGrpSpPr>
          <p:nvPr/>
        </p:nvGrpSpPr>
        <p:grpSpPr bwMode="auto">
          <a:xfrm>
            <a:off x="5589587" y="2807491"/>
            <a:ext cx="925512" cy="795338"/>
            <a:chOff x="-44" y="1473"/>
            <a:chExt cx="981" cy="1105"/>
          </a:xfrm>
        </p:grpSpPr>
        <p:pic>
          <p:nvPicPr>
            <p:cNvPr id="832" name="Picture 118" descr="desktop_computer_stylized_medium">
              <a:extLst>
                <a:ext uri="{FF2B5EF4-FFF2-40B4-BE49-F238E27FC236}">
                  <a16:creationId xmlns:a16="http://schemas.microsoft.com/office/drawing/2014/main" xmlns="" id="{ED57643D-213A-0D48-ACB2-47375B1F69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3" name="Freeform 119">
              <a:extLst>
                <a:ext uri="{FF2B5EF4-FFF2-40B4-BE49-F238E27FC236}">
                  <a16:creationId xmlns:a16="http://schemas.microsoft.com/office/drawing/2014/main" xmlns="" id="{C945A6F0-C64A-034A-808B-026CA37D34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34" name="Group 120">
            <a:extLst>
              <a:ext uri="{FF2B5EF4-FFF2-40B4-BE49-F238E27FC236}">
                <a16:creationId xmlns:a16="http://schemas.microsoft.com/office/drawing/2014/main" xmlns="" id="{DC1F1924-84C9-2D4F-BED7-1D7A99AAAF5D}"/>
              </a:ext>
            </a:extLst>
          </p:cNvPr>
          <p:cNvGrpSpPr>
            <a:grpSpLocks/>
          </p:cNvGrpSpPr>
          <p:nvPr/>
        </p:nvGrpSpPr>
        <p:grpSpPr bwMode="auto">
          <a:xfrm>
            <a:off x="6634162" y="2948779"/>
            <a:ext cx="925512" cy="795337"/>
            <a:chOff x="-44" y="1473"/>
            <a:chExt cx="981" cy="1105"/>
          </a:xfrm>
        </p:grpSpPr>
        <p:pic>
          <p:nvPicPr>
            <p:cNvPr id="835" name="Picture 121" descr="desktop_computer_stylized_medium">
              <a:extLst>
                <a:ext uri="{FF2B5EF4-FFF2-40B4-BE49-F238E27FC236}">
                  <a16:creationId xmlns:a16="http://schemas.microsoft.com/office/drawing/2014/main" xmlns="" id="{5CB3D6E4-1267-BA47-946E-11A72D2BB2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6" name="Freeform 122">
              <a:extLst>
                <a:ext uri="{FF2B5EF4-FFF2-40B4-BE49-F238E27FC236}">
                  <a16:creationId xmlns:a16="http://schemas.microsoft.com/office/drawing/2014/main" xmlns="" id="{0260D56A-2D23-4B40-82DB-9E620FF6E8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37" name="Group 123">
            <a:extLst>
              <a:ext uri="{FF2B5EF4-FFF2-40B4-BE49-F238E27FC236}">
                <a16:creationId xmlns:a16="http://schemas.microsoft.com/office/drawing/2014/main" xmlns="" id="{7F9A075B-9EA6-8048-A759-51935B47F74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04312" y="4396579"/>
            <a:ext cx="925512" cy="795337"/>
            <a:chOff x="-44" y="1473"/>
            <a:chExt cx="981" cy="1105"/>
          </a:xfrm>
        </p:grpSpPr>
        <p:pic>
          <p:nvPicPr>
            <p:cNvPr id="838" name="Picture 124" descr="desktop_computer_stylized_medium">
              <a:extLst>
                <a:ext uri="{FF2B5EF4-FFF2-40B4-BE49-F238E27FC236}">
                  <a16:creationId xmlns:a16="http://schemas.microsoft.com/office/drawing/2014/main" xmlns="" id="{BECC09C1-57D5-7847-8F83-B0BFE5CF6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9" name="Freeform 125">
              <a:extLst>
                <a:ext uri="{FF2B5EF4-FFF2-40B4-BE49-F238E27FC236}">
                  <a16:creationId xmlns:a16="http://schemas.microsoft.com/office/drawing/2014/main" xmlns="" id="{7D172349-8EB7-C043-850F-2ACA8BB1C8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141317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File distribution time: client-server</a:t>
            </a:r>
            <a:endParaRPr lang="en-US" sz="4400" dirty="0"/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xmlns="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545123" y="1309462"/>
            <a:ext cx="6098355" cy="2014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transmission: </a:t>
            </a:r>
            <a:r>
              <a:rPr lang="en-US" altLang="en-US" dirty="0">
                <a:ea typeface="ＭＳ Ｐゴシック" panose="020B0600070205080204" pitchFamily="34" charset="-128"/>
              </a:rPr>
              <a:t>must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sequentially send (upload) </a:t>
            </a:r>
            <a:r>
              <a:rPr lang="en-US" altLang="en-US" i="1" dirty="0">
                <a:ea typeface="ＭＳ Ｐゴシック" panose="020B0600070205080204" pitchFamily="34" charset="-128"/>
              </a:rPr>
              <a:t>N </a:t>
            </a:r>
            <a:r>
              <a:rPr lang="en-US" altLang="en-US" dirty="0">
                <a:ea typeface="ＭＳ Ｐゴシック" panose="020B0600070205080204" pitchFamily="34" charset="-128"/>
              </a:rPr>
              <a:t>file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copies:</a:t>
            </a:r>
          </a:p>
          <a:p>
            <a:pPr lvl="1"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time to send one copy: </a:t>
            </a:r>
            <a:r>
              <a:rPr lang="en-US" altLang="en-US" i="1" dirty="0">
                <a:ea typeface="ＭＳ Ｐゴシック" panose="020B0600070205080204" pitchFamily="34" charset="-128"/>
              </a:rPr>
              <a:t>F/u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s 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time to send </a:t>
            </a:r>
            <a:r>
              <a:rPr lang="en-US" altLang="en-US" i="1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copies: </a:t>
            </a:r>
            <a:r>
              <a:rPr lang="en-US" altLang="en-US" i="1" dirty="0">
                <a:ea typeface="ＭＳ Ｐゴシック" panose="020B0600070205080204" pitchFamily="34" charset="-128"/>
              </a:rPr>
              <a:t>NF/u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xmlns="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99" y="3219848"/>
            <a:ext cx="5773736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client: </a:t>
            </a:r>
            <a:r>
              <a:rPr lang="en-US" altLang="en-US" sz="2800" dirty="0">
                <a:latin typeface="+mn-lt"/>
              </a:rPr>
              <a:t>each client must download file copy</a:t>
            </a:r>
          </a:p>
          <a:p>
            <a:pPr lvl="1">
              <a:lnSpc>
                <a:spcPct val="99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</a:t>
            </a:r>
            <a:r>
              <a:rPr lang="en-US" altLang="en-US" sz="2400" baseline="-25000" dirty="0" err="1">
                <a:latin typeface="+mn-lt"/>
              </a:rPr>
              <a:t>n</a:t>
            </a:r>
            <a:r>
              <a:rPr lang="en-US" altLang="en-US" sz="2400" dirty="0">
                <a:latin typeface="+mn-lt"/>
              </a:rPr>
              <a:t> = min client download rate</a:t>
            </a:r>
          </a:p>
          <a:p>
            <a:pPr lvl="1">
              <a:lnSpc>
                <a:spcPct val="99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min client download time: </a:t>
            </a:r>
            <a:r>
              <a:rPr lang="en-US" altLang="en-US" sz="2400" i="1" dirty="0">
                <a:latin typeface="+mn-lt"/>
              </a:rPr>
              <a:t>F/</a:t>
            </a: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min</a:t>
            </a:r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 </a:t>
            </a:r>
            <a:r>
              <a:rPr lang="en-US" altLang="en-US" sz="1600" i="1" dirty="0" smtClean="0">
                <a:latin typeface="+mn-lt"/>
              </a:rPr>
              <a:t>(Slowest time to download)</a:t>
            </a:r>
            <a:endParaRPr lang="en-US" altLang="en-US" sz="1600" i="1" dirty="0">
              <a:latin typeface="+mn-l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xmlns="" id="{D193E6F0-6AB2-EC43-BC1A-D75808C2FB26}"/>
              </a:ext>
            </a:extLst>
          </p:cNvPr>
          <p:cNvGrpSpPr/>
          <p:nvPr/>
        </p:nvGrpSpPr>
        <p:grpSpPr>
          <a:xfrm>
            <a:off x="6796266" y="1727769"/>
            <a:ext cx="4518025" cy="203676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xmlns="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xmlns="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xmlns="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xmlns="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xmlns="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xmlns="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solidFill>
                    <a:schemeClr val="bg1"/>
                  </a:solidFill>
                  <a:latin typeface="+mn-lt"/>
                </a:rPr>
                <a:t>network</a:t>
              </a:r>
              <a:endParaRPr lang="en-US" alt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xmlns="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9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xmlns="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xmlns="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xmlns="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xmlns="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xmlns="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xmlns="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xmlns="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d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xmlns="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xmlns="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latin typeface="+mn-lt"/>
                </a:rPr>
                <a:t>F</a:t>
              </a:r>
              <a:endParaRPr lang="en-US" altLang="en-US" sz="1600" i="1" baseline="-25000">
                <a:latin typeface="+mn-lt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xmlns="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xmlns="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xmlns="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xmlns="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xmlns="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xmlns="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xmlns="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xmlns="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xmlns="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xmlns="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xmlns="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xmlns="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xmlns="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xmlns="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xmlns="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xmlns="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xmlns="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xmlns="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xmlns="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xmlns="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xmlns="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xmlns="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xmlns="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xmlns="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xmlns="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xmlns="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xmlns="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xmlns="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xmlns="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xmlns="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xmlns="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xmlns="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xmlns="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xmlns="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xmlns="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xmlns="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xmlns="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xmlns="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xmlns="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xmlns="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xmlns="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xmlns="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xmlns="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xmlns="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xmlns="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sp>
        <p:nvSpPr>
          <p:cNvPr id="145" name="Line 53">
            <a:extLst>
              <a:ext uri="{FF2B5EF4-FFF2-40B4-BE49-F238E27FC236}">
                <a16:creationId xmlns:a16="http://schemas.microsoft.com/office/drawing/2014/main" xmlns="" id="{5B4F3401-24CB-7648-BD89-1A7CFF534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31303" y="4690319"/>
            <a:ext cx="430213" cy="692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146" name="Text Box 54">
            <a:extLst>
              <a:ext uri="{FF2B5EF4-FFF2-40B4-BE49-F238E27FC236}">
                <a16:creationId xmlns:a16="http://schemas.microsoft.com/office/drawing/2014/main" xmlns="" id="{5BD0C7E9-770D-0B41-BE6E-3ADF84797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03367" y="4397787"/>
            <a:ext cx="5065617" cy="3877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dirty="0" smtClean="0">
                <a:latin typeface="+mn-lt"/>
              </a:rPr>
              <a:t>Scalability: Time increases </a:t>
            </a:r>
            <a:r>
              <a:rPr lang="en-US" altLang="en-US" sz="2400" dirty="0">
                <a:latin typeface="+mn-lt"/>
              </a:rPr>
              <a:t>linearly in N</a:t>
            </a:r>
          </a:p>
        </p:txBody>
      </p:sp>
      <p:sp>
        <p:nvSpPr>
          <p:cNvPr id="147" name="Text Box 51">
            <a:extLst>
              <a:ext uri="{FF2B5EF4-FFF2-40B4-BE49-F238E27FC236}">
                <a16:creationId xmlns:a16="http://schemas.microsoft.com/office/drawing/2014/main" xmlns="" id="{49B83A0D-0FBE-7E43-85D0-C80B2E74D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226" y="5036394"/>
            <a:ext cx="3049233" cy="103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en-US" sz="2400" i="1">
                <a:latin typeface="+mn-lt"/>
              </a:rPr>
              <a:t>time to  distribute F </a:t>
            </a:r>
          </a:p>
          <a:p>
            <a:pPr algn="r">
              <a:lnSpc>
                <a:spcPct val="80000"/>
              </a:lnSpc>
            </a:pPr>
            <a:r>
              <a:rPr lang="en-US" altLang="en-US" sz="2400" i="1">
                <a:latin typeface="+mn-lt"/>
              </a:rPr>
              <a:t>to N clients using </a:t>
            </a:r>
          </a:p>
          <a:p>
            <a:pPr algn="r">
              <a:lnSpc>
                <a:spcPct val="80000"/>
              </a:lnSpc>
            </a:pPr>
            <a:r>
              <a:rPr lang="en-US" altLang="en-US" sz="2400" i="1">
                <a:latin typeface="+mn-lt"/>
              </a:rPr>
              <a:t>client-server approach</a:t>
            </a:r>
            <a:r>
              <a:rPr lang="en-US" altLang="en-US" sz="2800">
                <a:latin typeface="+mn-lt"/>
              </a:rPr>
              <a:t> </a:t>
            </a:r>
            <a:endParaRPr lang="en-US" altLang="en-US" sz="3200">
              <a:latin typeface="+mn-lt"/>
            </a:endParaRPr>
          </a:p>
        </p:txBody>
      </p:sp>
      <p:sp>
        <p:nvSpPr>
          <p:cNvPr id="148" name="Rectangle 55">
            <a:extLst>
              <a:ext uri="{FF2B5EF4-FFF2-40B4-BE49-F238E27FC236}">
                <a16:creationId xmlns:a16="http://schemas.microsoft.com/office/drawing/2014/main" xmlns="" id="{01D3C4E1-DA80-A24C-A094-D590BCC34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9651" y="4964957"/>
            <a:ext cx="7421599" cy="1108004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800">
              <a:latin typeface="+mn-lt"/>
            </a:endParaRPr>
          </a:p>
        </p:txBody>
      </p:sp>
      <p:sp>
        <p:nvSpPr>
          <p:cNvPr id="149" name="Text Box 96">
            <a:extLst>
              <a:ext uri="{FF2B5EF4-FFF2-40B4-BE49-F238E27FC236}">
                <a16:creationId xmlns:a16="http://schemas.microsoft.com/office/drawing/2014/main" xmlns="" id="{11EFB657-3D70-CB41-8FB4-5E358070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6559" y="5279281"/>
            <a:ext cx="43436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i="1">
                <a:latin typeface="+mn-lt"/>
              </a:rPr>
              <a:t> D</a:t>
            </a:r>
            <a:r>
              <a:rPr lang="en-US" altLang="en-US" sz="3200" i="1" baseline="-25000">
                <a:latin typeface="+mn-lt"/>
              </a:rPr>
              <a:t>c-s</a:t>
            </a:r>
            <a:r>
              <a:rPr lang="en-US" altLang="en-US" sz="3200" i="1">
                <a:latin typeface="+mn-lt"/>
              </a:rPr>
              <a:t> &gt; max{NF/u</a:t>
            </a:r>
            <a:r>
              <a:rPr lang="en-US" altLang="en-US" sz="3200" i="1" baseline="-25000">
                <a:latin typeface="+mn-lt"/>
              </a:rPr>
              <a:t>s,</a:t>
            </a:r>
            <a:r>
              <a:rPr lang="en-US" altLang="en-US" sz="3200" i="1">
                <a:latin typeface="+mn-lt"/>
              </a:rPr>
              <a:t>,F/d</a:t>
            </a:r>
            <a:r>
              <a:rPr lang="en-US" altLang="en-US" sz="3200" i="1" baseline="-25000">
                <a:latin typeface="+mn-lt"/>
              </a:rPr>
              <a:t>min</a:t>
            </a:r>
            <a:r>
              <a:rPr lang="en-US" altLang="en-US" sz="3200" i="1">
                <a:latin typeface="+mn-lt"/>
              </a:rPr>
              <a:t>}</a:t>
            </a:r>
            <a:r>
              <a:rPr lang="en-US" altLang="en-US" sz="3200" i="1">
                <a:solidFill>
                  <a:srgbClr val="CC0000"/>
                </a:solidFill>
                <a:latin typeface="+mn-lt"/>
              </a:rPr>
              <a:t> </a:t>
            </a:r>
          </a:p>
        </p:txBody>
      </p:sp>
      <p:sp>
        <p:nvSpPr>
          <p:cNvPr id="150" name="Line 120">
            <a:extLst>
              <a:ext uri="{FF2B5EF4-FFF2-40B4-BE49-F238E27FC236}">
                <a16:creationId xmlns:a16="http://schemas.microsoft.com/office/drawing/2014/main" xmlns="" id="{804EF034-3125-A746-B994-CD76FEE71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3497" y="5707906"/>
            <a:ext cx="174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74" name="Text Box 54">
            <a:extLst>
              <a:ext uri="{FF2B5EF4-FFF2-40B4-BE49-F238E27FC236}">
                <a16:creationId xmlns:a16="http://schemas.microsoft.com/office/drawing/2014/main" xmlns="" id="{5BD0C7E9-770D-0B41-BE6E-3ADF84797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7868" y="6145711"/>
            <a:ext cx="11500697" cy="491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600" dirty="0" smtClean="0">
                <a:latin typeface="+mn-lt"/>
              </a:rPr>
              <a:t>	The total time to distribute file(s) = Maximum of the time taken by server to upload all copies or as longer as the time taken by slowest client to download the copy                                          </a:t>
            </a:r>
            <a:r>
              <a:rPr lang="en-US" altLang="en-US" sz="1600" dirty="0" smtClean="0">
                <a:solidFill>
                  <a:srgbClr val="FF0000"/>
                </a:solidFill>
                <a:latin typeface="+mn-lt"/>
              </a:rPr>
              <a:t>Assumption:</a:t>
            </a:r>
            <a:r>
              <a:rPr lang="en-US" altLang="en-US" sz="1600" dirty="0" smtClean="0">
                <a:latin typeface="+mn-lt"/>
              </a:rPr>
              <a:t> All clients request the same file at the same time</a:t>
            </a:r>
            <a:endParaRPr lang="en-US" alt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5128351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  <p:bldP spid="74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File distribution time: P2P</a:t>
            </a:r>
            <a:endParaRPr lang="en-US" sz="4400" dirty="0"/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xmlns="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205100" y="1323701"/>
            <a:ext cx="6098355" cy="2014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transmission: </a:t>
            </a:r>
            <a:r>
              <a:rPr lang="en-US" altLang="en-US" dirty="0">
                <a:ea typeface="ＭＳ Ｐゴシック" panose="020B0600070205080204" pitchFamily="34" charset="-128"/>
              </a:rPr>
              <a:t>must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upload at least one copy:</a:t>
            </a:r>
          </a:p>
          <a:p>
            <a:pPr lvl="1"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time to send one copy: </a:t>
            </a:r>
            <a:r>
              <a:rPr lang="en-US" altLang="en-US" i="1" dirty="0">
                <a:ea typeface="ＭＳ Ｐゴシック" panose="020B0600070205080204" pitchFamily="34" charset="-128"/>
              </a:rPr>
              <a:t>F/u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s 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xmlns="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5999" y="2707749"/>
            <a:ext cx="5773736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client: </a:t>
            </a:r>
            <a:r>
              <a:rPr lang="en-US" altLang="en-US" sz="2800" dirty="0">
                <a:latin typeface="+mn-lt"/>
              </a:rPr>
              <a:t>each client must download file copy</a:t>
            </a:r>
          </a:p>
          <a:p>
            <a:pPr lvl="1">
              <a:lnSpc>
                <a:spcPct val="99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min client download time: </a:t>
            </a:r>
            <a:r>
              <a:rPr lang="en-US" altLang="en-US" sz="2400" i="1" dirty="0">
                <a:latin typeface="+mn-lt"/>
              </a:rPr>
              <a:t>F/</a:t>
            </a: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min</a:t>
            </a:r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 </a:t>
            </a:r>
            <a:endParaRPr lang="en-US" altLang="en-US" sz="2400" i="1" dirty="0">
              <a:latin typeface="+mn-l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xmlns="" id="{D193E6F0-6AB2-EC43-BC1A-D75808C2FB26}"/>
              </a:ext>
            </a:extLst>
          </p:cNvPr>
          <p:cNvGrpSpPr/>
          <p:nvPr/>
        </p:nvGrpSpPr>
        <p:grpSpPr>
          <a:xfrm>
            <a:off x="7006772" y="1790995"/>
            <a:ext cx="4518025" cy="203676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xmlns="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xmlns="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xmlns="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xmlns="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xmlns="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xmlns="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solidFill>
                    <a:schemeClr val="bg1"/>
                  </a:solidFill>
                  <a:latin typeface="+mn-lt"/>
                </a:rPr>
                <a:t>network</a:t>
              </a:r>
              <a:endParaRPr lang="en-US" alt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xmlns="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9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xmlns="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xmlns="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xmlns="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xmlns="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xmlns="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xmlns="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xmlns="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d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xmlns="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xmlns="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latin typeface="+mn-lt"/>
                </a:rPr>
                <a:t>F</a:t>
              </a:r>
              <a:endParaRPr lang="en-US" altLang="en-US" sz="1600" i="1" baseline="-25000">
                <a:latin typeface="+mn-lt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xmlns="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xmlns="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xmlns="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xmlns="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xmlns="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xmlns="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xmlns="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xmlns="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xmlns="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xmlns="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xmlns="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xmlns="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xmlns="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xmlns="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xmlns="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xmlns="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xmlns="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xmlns="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xmlns="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xmlns="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xmlns="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xmlns="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xmlns="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xmlns="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xmlns="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xmlns="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xmlns="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xmlns="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xmlns="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xmlns="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xmlns="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xmlns="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xmlns="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xmlns="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xmlns="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xmlns="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xmlns="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xmlns="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xmlns="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xmlns="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xmlns="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xmlns="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xmlns="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xmlns="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xmlns="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sp>
        <p:nvSpPr>
          <p:cNvPr id="74" name="Rectangle 47">
            <a:extLst>
              <a:ext uri="{FF2B5EF4-FFF2-40B4-BE49-F238E27FC236}">
                <a16:creationId xmlns:a16="http://schemas.microsoft.com/office/drawing/2014/main" xmlns="" id="{26E15167-D083-564B-BF0B-913CAA617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117" y="3876829"/>
            <a:ext cx="852416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clients: </a:t>
            </a:r>
            <a:r>
              <a:rPr lang="en-US" altLang="en-US" sz="2800" dirty="0">
                <a:latin typeface="+mn-lt"/>
              </a:rPr>
              <a:t>as aggregate must download </a:t>
            </a:r>
            <a:r>
              <a:rPr lang="en-US" altLang="en-US" sz="2800" i="1" dirty="0">
                <a:latin typeface="+mn-lt"/>
              </a:rPr>
              <a:t>NF</a:t>
            </a:r>
            <a:r>
              <a:rPr lang="en-US" altLang="en-US" sz="2800" dirty="0">
                <a:latin typeface="+mn-lt"/>
              </a:rPr>
              <a:t> bits</a:t>
            </a:r>
          </a:p>
          <a:p>
            <a:pPr lvl="1">
              <a:lnSpc>
                <a:spcPct val="85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max upload rate (limiting max download rate) is </a:t>
            </a:r>
            <a:r>
              <a:rPr lang="en-US" altLang="en-US" sz="2400" i="1" dirty="0">
                <a:latin typeface="+mn-lt"/>
              </a:rPr>
              <a:t>u</a:t>
            </a:r>
            <a:r>
              <a:rPr lang="en-US" altLang="en-US" sz="2400" i="1" baseline="-25000" dirty="0">
                <a:latin typeface="+mn-lt"/>
              </a:rPr>
              <a:t>s</a:t>
            </a:r>
            <a:r>
              <a:rPr lang="en-US" altLang="en-US" sz="2400" i="1" dirty="0">
                <a:latin typeface="+mn-lt"/>
              </a:rPr>
              <a:t> + </a:t>
            </a:r>
            <a:r>
              <a:rPr lang="en-US" altLang="en-US" sz="2800" i="1" dirty="0">
                <a:latin typeface="Symbol" pitchFamily="2" charset="2"/>
              </a:rPr>
              <a:t>S</a:t>
            </a:r>
            <a:r>
              <a:rPr lang="en-US" altLang="en-US" sz="2400" i="1" dirty="0">
                <a:latin typeface="+mn-lt"/>
              </a:rPr>
              <a:t>u</a:t>
            </a:r>
            <a:r>
              <a:rPr lang="en-US" altLang="en-US" sz="2400" i="1" baseline="-25000" dirty="0">
                <a:latin typeface="+mn-lt"/>
              </a:rPr>
              <a:t>i</a:t>
            </a:r>
          </a:p>
        </p:txBody>
      </p:sp>
      <p:sp>
        <p:nvSpPr>
          <p:cNvPr id="75" name="Text Box 51">
            <a:extLst>
              <a:ext uri="{FF2B5EF4-FFF2-40B4-BE49-F238E27FC236}">
                <a16:creationId xmlns:a16="http://schemas.microsoft.com/office/drawing/2014/main" xmlns="" id="{6898F8CA-12DA-BE4E-B99B-FD50E8479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934" y="5088499"/>
            <a:ext cx="2267800" cy="887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en-US" i="1" dirty="0">
                <a:latin typeface="+mn-lt"/>
              </a:rPr>
              <a:t>time to  distribute F </a:t>
            </a:r>
          </a:p>
          <a:p>
            <a:pPr algn="r">
              <a:lnSpc>
                <a:spcPct val="80000"/>
              </a:lnSpc>
            </a:pPr>
            <a:r>
              <a:rPr lang="en-US" altLang="en-US" i="1" dirty="0">
                <a:latin typeface="+mn-lt"/>
              </a:rPr>
              <a:t>to N clients using </a:t>
            </a:r>
          </a:p>
          <a:p>
            <a:pPr algn="r">
              <a:lnSpc>
                <a:spcPct val="80000"/>
              </a:lnSpc>
            </a:pPr>
            <a:r>
              <a:rPr lang="en-US" altLang="en-US" i="1" dirty="0">
                <a:latin typeface="+mn-lt"/>
              </a:rPr>
              <a:t>P2P approach</a:t>
            </a:r>
            <a:r>
              <a:rPr lang="en-US" altLang="en-US" sz="2400" dirty="0">
                <a:latin typeface="+mn-lt"/>
              </a:rPr>
              <a:t> </a:t>
            </a:r>
            <a:endParaRPr lang="en-US" altLang="en-US" sz="2800" dirty="0">
              <a:latin typeface="+mn-lt"/>
            </a:endParaRPr>
          </a:p>
        </p:txBody>
      </p:sp>
      <p:sp>
        <p:nvSpPr>
          <p:cNvPr id="76" name="Rectangle 55">
            <a:extLst>
              <a:ext uri="{FF2B5EF4-FFF2-40B4-BE49-F238E27FC236}">
                <a16:creationId xmlns:a16="http://schemas.microsoft.com/office/drawing/2014/main" xmlns="" id="{07D73A35-ECF9-A74A-AC62-7DA2D517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19" y="4991768"/>
            <a:ext cx="9155099" cy="1006589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800">
              <a:latin typeface="+mn-lt"/>
            </a:endParaRPr>
          </a:p>
        </p:txBody>
      </p:sp>
      <p:sp>
        <p:nvSpPr>
          <p:cNvPr id="77" name="Text Box 31">
            <a:extLst>
              <a:ext uri="{FF2B5EF4-FFF2-40B4-BE49-F238E27FC236}">
                <a16:creationId xmlns:a16="http://schemas.microsoft.com/office/drawing/2014/main" xmlns="" id="{1DD5EA55-8934-0448-A71E-1044D6D26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018" y="5202837"/>
            <a:ext cx="62620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i="1" dirty="0">
                <a:latin typeface="+mn-lt"/>
              </a:rPr>
              <a:t> D</a:t>
            </a:r>
            <a:r>
              <a:rPr lang="en-US" altLang="en-US" sz="3200" i="1" baseline="-25000" dirty="0">
                <a:latin typeface="+mn-lt"/>
              </a:rPr>
              <a:t>P2P</a:t>
            </a:r>
            <a:r>
              <a:rPr lang="en-US" altLang="en-US" sz="3200" i="1" dirty="0">
                <a:latin typeface="+mn-lt"/>
              </a:rPr>
              <a:t> &gt; max{F/</a:t>
            </a:r>
            <a:r>
              <a:rPr lang="en-US" altLang="en-US" sz="3200" i="1" dirty="0" err="1">
                <a:latin typeface="+mn-lt"/>
              </a:rPr>
              <a:t>u</a:t>
            </a:r>
            <a:r>
              <a:rPr lang="en-US" altLang="en-US" sz="3200" i="1" baseline="-25000" dirty="0" err="1">
                <a:latin typeface="+mn-lt"/>
              </a:rPr>
              <a:t>s,</a:t>
            </a:r>
            <a:r>
              <a:rPr lang="en-US" altLang="en-US" sz="3200" i="1" dirty="0" err="1">
                <a:latin typeface="+mn-lt"/>
              </a:rPr>
              <a:t>,F</a:t>
            </a:r>
            <a:r>
              <a:rPr lang="en-US" altLang="en-US" sz="3200" i="1" dirty="0">
                <a:latin typeface="+mn-lt"/>
              </a:rPr>
              <a:t>/</a:t>
            </a:r>
            <a:r>
              <a:rPr lang="en-US" altLang="en-US" sz="3200" i="1" dirty="0" err="1">
                <a:latin typeface="+mn-lt"/>
              </a:rPr>
              <a:t>d</a:t>
            </a:r>
            <a:r>
              <a:rPr lang="en-US" altLang="en-US" sz="3200" i="1" baseline="-25000" dirty="0" err="1">
                <a:latin typeface="+mn-lt"/>
              </a:rPr>
              <a:t>min</a:t>
            </a:r>
            <a:r>
              <a:rPr lang="en-US" altLang="en-US" sz="3200" i="1" baseline="-25000" dirty="0">
                <a:latin typeface="+mn-lt"/>
              </a:rPr>
              <a:t>,</a:t>
            </a:r>
            <a:r>
              <a:rPr lang="en-US" altLang="en-US" sz="3200" i="1" dirty="0">
                <a:latin typeface="+mn-lt"/>
              </a:rPr>
              <a:t>,NF/(</a:t>
            </a:r>
            <a:r>
              <a:rPr lang="en-US" altLang="en-US" sz="2800" i="1" dirty="0">
                <a:latin typeface="+mn-lt"/>
              </a:rPr>
              <a:t>u</a:t>
            </a:r>
            <a:r>
              <a:rPr lang="en-US" altLang="en-US" sz="2800" i="1" baseline="-25000" dirty="0">
                <a:latin typeface="+mn-lt"/>
              </a:rPr>
              <a:t>s</a:t>
            </a:r>
            <a:r>
              <a:rPr lang="en-US" altLang="en-US" sz="2800" i="1" dirty="0">
                <a:latin typeface="+mn-lt"/>
              </a:rPr>
              <a:t> + </a:t>
            </a:r>
            <a:r>
              <a:rPr lang="en-US" altLang="en-US" sz="3200" i="1" dirty="0">
                <a:latin typeface="Symbol" pitchFamily="2" charset="2"/>
              </a:rPr>
              <a:t>S</a:t>
            </a:r>
            <a:r>
              <a:rPr lang="en-US" altLang="en-US" sz="2800" i="1" dirty="0">
                <a:latin typeface="+mn-lt"/>
              </a:rPr>
              <a:t>u</a:t>
            </a:r>
            <a:r>
              <a:rPr lang="en-US" altLang="en-US" sz="2800" i="1" baseline="-25000" dirty="0">
                <a:latin typeface="+mn-lt"/>
              </a:rPr>
              <a:t>i</a:t>
            </a:r>
            <a:r>
              <a:rPr lang="en-US" altLang="en-US" sz="3200" dirty="0">
                <a:latin typeface="+mn-lt"/>
              </a:rPr>
              <a:t>)</a:t>
            </a:r>
            <a:r>
              <a:rPr lang="en-US" altLang="en-US" sz="3200" i="1" dirty="0">
                <a:latin typeface="+mn-lt"/>
              </a:rPr>
              <a:t>}</a:t>
            </a:r>
            <a:r>
              <a:rPr lang="en-US" altLang="en-US" sz="3200" i="1" dirty="0">
                <a:solidFill>
                  <a:srgbClr val="CC0000"/>
                </a:solidFill>
                <a:latin typeface="+mn-lt"/>
              </a:rPr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xmlns="" id="{2ECD18A4-3D93-C746-80BB-B1FC987C2D33}"/>
              </a:ext>
            </a:extLst>
          </p:cNvPr>
          <p:cNvGrpSpPr/>
          <p:nvPr/>
        </p:nvGrpSpPr>
        <p:grpSpPr>
          <a:xfrm>
            <a:off x="4849635" y="3854699"/>
            <a:ext cx="7386834" cy="1465237"/>
            <a:chOff x="2366420" y="5669562"/>
            <a:chExt cx="7386834" cy="1465237"/>
          </a:xfrm>
        </p:grpSpPr>
        <p:sp>
          <p:nvSpPr>
            <p:cNvPr id="78" name="Line 33">
              <a:extLst>
                <a:ext uri="{FF2B5EF4-FFF2-40B4-BE49-F238E27FC236}">
                  <a16:creationId xmlns:a16="http://schemas.microsoft.com/office/drawing/2014/main" xmlns="" id="{9C4B1B80-0BB4-8F40-8465-4FD53B2DE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7481" y="5669562"/>
              <a:ext cx="174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9" name="Line 53">
              <a:extLst>
                <a:ext uri="{FF2B5EF4-FFF2-40B4-BE49-F238E27FC236}">
                  <a16:creationId xmlns:a16="http://schemas.microsoft.com/office/drawing/2014/main" xmlns="" id="{79E64125-C1DB-B546-9439-BAE60A04A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72364" y="6554888"/>
              <a:ext cx="376235" cy="57991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2" name="Text Box 54">
              <a:extLst>
                <a:ext uri="{FF2B5EF4-FFF2-40B4-BE49-F238E27FC236}">
                  <a16:creationId xmlns:a16="http://schemas.microsoft.com/office/drawing/2014/main" xmlns="" id="{8D508472-5111-9543-8884-ADE493736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01440" y="6457759"/>
              <a:ext cx="4751814" cy="289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 dirty="0">
                  <a:latin typeface="+mn-lt"/>
                </a:rPr>
                <a:t>… but so does this, as each peer brings service capacity</a:t>
              </a:r>
            </a:p>
          </p:txBody>
        </p:sp>
        <p:sp>
          <p:nvSpPr>
            <p:cNvPr id="151" name="Line 53">
              <a:extLst>
                <a:ext uri="{FF2B5EF4-FFF2-40B4-BE49-F238E27FC236}">
                  <a16:creationId xmlns:a16="http://schemas.microsoft.com/office/drawing/2014/main" xmlns="" id="{C2E61335-33C5-8040-B976-4A6DABA4E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22385" y="6737543"/>
              <a:ext cx="1607711" cy="391505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2" name="Text Box 54">
              <a:extLst>
                <a:ext uri="{FF2B5EF4-FFF2-40B4-BE49-F238E27FC236}">
                  <a16:creationId xmlns:a16="http://schemas.microsoft.com/office/drawing/2014/main" xmlns="" id="{5FCFA7D9-F5C4-B849-A76B-A54251B68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66420" y="6465057"/>
              <a:ext cx="2184124" cy="2893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1600" dirty="0">
                  <a:latin typeface="+mn-lt"/>
                </a:rPr>
                <a:t>increases linearly in </a:t>
              </a:r>
              <a:r>
                <a:rPr lang="en-US" altLang="en-US" sz="1600" i="1" dirty="0">
                  <a:latin typeface="+mn-lt"/>
                </a:rPr>
                <a:t>N</a:t>
              </a:r>
              <a:r>
                <a:rPr lang="en-US" altLang="en-US" sz="1600" dirty="0">
                  <a:latin typeface="+mn-lt"/>
                </a:rPr>
                <a:t> …</a:t>
              </a:r>
            </a:p>
          </p:txBody>
        </p:sp>
      </p:grpSp>
      <p:sp>
        <p:nvSpPr>
          <p:cNvPr id="146" name="Text Box 54">
            <a:extLst>
              <a:ext uri="{FF2B5EF4-FFF2-40B4-BE49-F238E27FC236}">
                <a16:creationId xmlns:a16="http://schemas.microsoft.com/office/drawing/2014/main" xmlns="" id="{5FCFA7D9-F5C4-B849-A76B-A54251B68B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6710" y="6214074"/>
            <a:ext cx="11516106" cy="2941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1600" dirty="0" smtClean="0">
                <a:latin typeface="+mn-lt"/>
              </a:rPr>
              <a:t>The file distribution can not be completed faster than the server can upload at least 1 copy or the slowest client can download one copy. </a:t>
            </a:r>
            <a:endParaRPr lang="en-US" alt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48441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Client-server vs. P2P: example</a:t>
            </a:r>
          </a:p>
        </p:txBody>
      </p:sp>
      <p:sp>
        <p:nvSpPr>
          <p:cNvPr id="145" name="Text Box 5">
            <a:extLst>
              <a:ext uri="{FF2B5EF4-FFF2-40B4-BE49-F238E27FC236}">
                <a16:creationId xmlns:a16="http://schemas.microsoft.com/office/drawing/2014/main" xmlns="" id="{EEB38FFC-0E85-9543-BFA8-AC6EA14A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90583"/>
            <a:ext cx="5160170" cy="46474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dirty="0">
                <a:latin typeface="+mn-lt"/>
              </a:rPr>
              <a:t>client upload rate =</a:t>
            </a:r>
            <a:r>
              <a:rPr lang="en-US" altLang="en-US" sz="2400" i="1" dirty="0">
                <a:latin typeface="+mn-lt"/>
              </a:rPr>
              <a:t> u </a:t>
            </a:r>
            <a:r>
              <a:rPr lang="en-US" altLang="en-US" sz="1600" i="1" dirty="0">
                <a:latin typeface="+mn-lt"/>
              </a:rPr>
              <a:t>(Each client can upload data to others at a rate of u units (say MB/s</a:t>
            </a:r>
            <a:r>
              <a:rPr lang="en-US" altLang="en-US" sz="1600" i="1" dirty="0" smtClean="0">
                <a:latin typeface="+mn-lt"/>
              </a:rPr>
              <a:t>)</a:t>
            </a:r>
            <a:r>
              <a:rPr lang="en-US" altLang="en-US" sz="1600" dirty="0" smtClean="0">
                <a:latin typeface="+mn-lt"/>
              </a:rPr>
              <a:t>  </a:t>
            </a:r>
          </a:p>
          <a:p>
            <a:endParaRPr lang="en-US" altLang="en-US" sz="1600" dirty="0" smtClean="0">
              <a:latin typeface="+mn-lt"/>
            </a:endParaRPr>
          </a:p>
          <a:p>
            <a:r>
              <a:rPr lang="en-US" altLang="en-US" sz="2400" i="1" dirty="0" smtClean="0">
                <a:latin typeface="+mn-lt"/>
              </a:rPr>
              <a:t>F/u </a:t>
            </a:r>
            <a:r>
              <a:rPr lang="en-US" altLang="en-US" sz="2400" dirty="0">
                <a:latin typeface="+mn-lt"/>
              </a:rPr>
              <a:t>= 1 hour </a:t>
            </a:r>
            <a:r>
              <a:rPr lang="en-US" altLang="en-US" sz="1600" dirty="0">
                <a:latin typeface="+mn-lt"/>
              </a:rPr>
              <a:t>(The file size F is such that if one peer uploaded the entire file alone, it would take 1 </a:t>
            </a:r>
            <a:r>
              <a:rPr lang="en-US" altLang="en-US" sz="1600" dirty="0" smtClean="0">
                <a:latin typeface="+mn-lt"/>
              </a:rPr>
              <a:t>hour)  </a:t>
            </a:r>
          </a:p>
          <a:p>
            <a:endParaRPr lang="en-US" altLang="en-US" sz="2400" i="1" dirty="0" smtClean="0">
              <a:latin typeface="+mn-lt"/>
            </a:endParaRPr>
          </a:p>
          <a:p>
            <a:r>
              <a:rPr lang="en-US" altLang="en-US" sz="2400" i="1" dirty="0" smtClean="0">
                <a:latin typeface="+mn-lt"/>
              </a:rPr>
              <a:t>u</a:t>
            </a:r>
            <a:r>
              <a:rPr lang="en-US" altLang="en-US" sz="2400" i="1" baseline="-25000" dirty="0" smtClean="0">
                <a:latin typeface="+mn-lt"/>
              </a:rPr>
              <a:t>s</a:t>
            </a:r>
            <a:r>
              <a:rPr lang="en-US" altLang="en-US" sz="2400" i="1" dirty="0" smtClean="0">
                <a:latin typeface="+mn-lt"/>
              </a:rPr>
              <a:t> </a:t>
            </a:r>
            <a:r>
              <a:rPr lang="en-US" altLang="en-US" sz="2400" i="1" dirty="0">
                <a:latin typeface="+mn-lt"/>
              </a:rPr>
              <a:t>= 10u </a:t>
            </a:r>
            <a:r>
              <a:rPr lang="en-US" altLang="en-US" sz="1600" dirty="0">
                <a:latin typeface="+mn-lt"/>
              </a:rPr>
              <a:t>(The server can upload 10× faster than a </a:t>
            </a:r>
            <a:r>
              <a:rPr lang="en-US" altLang="en-US" sz="1600" dirty="0" smtClean="0">
                <a:latin typeface="+mn-lt"/>
              </a:rPr>
              <a:t>peer)  </a:t>
            </a:r>
            <a:endParaRPr lang="en-US" altLang="en-US" sz="1600" dirty="0">
              <a:latin typeface="+mn-lt"/>
            </a:endParaRPr>
          </a:p>
          <a:p>
            <a:endParaRPr lang="en-US" altLang="en-US" sz="2400" i="1" dirty="0" smtClean="0">
              <a:latin typeface="+mn-lt"/>
            </a:endParaRPr>
          </a:p>
          <a:p>
            <a:r>
              <a:rPr lang="en-US" altLang="en-US" sz="2400" i="1" dirty="0" err="1" smtClean="0">
                <a:latin typeface="+mn-lt"/>
              </a:rPr>
              <a:t>d</a:t>
            </a:r>
            <a:r>
              <a:rPr lang="en-US" altLang="en-US" sz="2400" i="1" baseline="-25000" dirty="0" err="1" smtClean="0">
                <a:latin typeface="+mn-lt"/>
              </a:rPr>
              <a:t>min</a:t>
            </a:r>
            <a:r>
              <a:rPr lang="en-US" altLang="en-US" sz="2400" i="1" dirty="0" smtClean="0">
                <a:latin typeface="+mn-lt"/>
              </a:rPr>
              <a:t> </a:t>
            </a:r>
            <a:r>
              <a:rPr lang="en-US" altLang="en-US" sz="2400" i="1" dirty="0">
                <a:latin typeface="+mn-lt"/>
              </a:rPr>
              <a:t>≥ </a:t>
            </a:r>
            <a:r>
              <a:rPr lang="en-US" altLang="en-US" sz="2400" i="1" dirty="0" smtClean="0">
                <a:latin typeface="+mn-lt"/>
              </a:rPr>
              <a:t>u</a:t>
            </a:r>
            <a:r>
              <a:rPr lang="en-US" altLang="en-US" sz="2400" i="1" baseline="-25000" dirty="0" smtClean="0">
                <a:latin typeface="+mn-lt"/>
              </a:rPr>
              <a:t>s </a:t>
            </a:r>
            <a:r>
              <a:rPr lang="en-US" altLang="en-US" sz="1600" dirty="0">
                <a:latin typeface="+mn-lt"/>
              </a:rPr>
              <a:t>(Each client’s download capacity is at least as large as the server’s upload </a:t>
            </a:r>
            <a:r>
              <a:rPr lang="en-US" altLang="en-US" sz="1600" dirty="0" smtClean="0">
                <a:latin typeface="+mn-lt"/>
              </a:rPr>
              <a:t>rate)</a:t>
            </a:r>
          </a:p>
          <a:p>
            <a:endParaRPr lang="en-US" altLang="en-US" sz="1600" dirty="0">
              <a:latin typeface="+mn-lt"/>
            </a:endParaRPr>
          </a:p>
          <a:p>
            <a:r>
              <a:rPr lang="en-US" altLang="en-US" sz="1600" dirty="0" smtClean="0">
                <a:latin typeface="+mn-lt"/>
              </a:rPr>
              <a:t>	</a:t>
            </a:r>
            <a:r>
              <a:rPr lang="en-US" altLang="en-US" sz="1800" dirty="0" smtClean="0">
                <a:latin typeface="+mn-lt"/>
              </a:rPr>
              <a:t>As more peers join the P2P network, the marginal increase in time is slower and performs better than a linearly increasing time (in case of client-server model)</a:t>
            </a:r>
            <a:endParaRPr lang="en-US" altLang="en-US" sz="1800" dirty="0">
              <a:latin typeface="+mn-lt"/>
            </a:endParaRPr>
          </a:p>
        </p:txBody>
      </p:sp>
      <p:graphicFrame>
        <p:nvGraphicFramePr>
          <p:cNvPr id="146" name="Object 2">
            <a:extLst>
              <a:ext uri="{FF2B5EF4-FFF2-40B4-BE49-F238E27FC236}">
                <a16:creationId xmlns:a16="http://schemas.microsoft.com/office/drawing/2014/main" xmlns="" id="{DA2A3735-C6EA-E243-957F-9D948479EA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004417"/>
              </p:ext>
            </p:extLst>
          </p:nvPr>
        </p:nvGraphicFramePr>
        <p:xfrm>
          <a:off x="5076191" y="1462207"/>
          <a:ext cx="7031830" cy="4790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5" name="Chart" r:id="rId4" imgW="7734300" imgH="5295900" progId="Excel.Chart.8">
                  <p:embed/>
                </p:oleObj>
              </mc:Choice>
              <mc:Fallback>
                <p:oleObj name="Chart" r:id="rId4" imgW="7734300" imgH="5295900" progId="Excel.Chart.8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76191" y="1462207"/>
                        <a:ext cx="7031830" cy="4790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xmlns="" id="{97AAACF9-A4E2-714C-A130-30E3EF5AB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88265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79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anose="020B0600070205080204" pitchFamily="34" charset="-128"/>
              </a:rPr>
              <a:t>3. </a:t>
            </a:r>
            <a:r>
              <a:rPr lang="en-US" dirty="0" smtClean="0"/>
              <a:t>Hybrid </a:t>
            </a:r>
            <a:r>
              <a:rPr lang="en-US" dirty="0"/>
              <a:t>Architecture </a:t>
            </a:r>
            <a:endParaRPr lang="en-US" altLang="en-US" sz="4400" dirty="0">
              <a:ea typeface="ＭＳ Ｐゴシック" panose="020B0600070205080204" pitchFamily="34" charset="-128"/>
            </a:endParaRPr>
          </a:p>
        </p:txBody>
      </p:sp>
      <p:sp>
        <p:nvSpPr>
          <p:cNvPr id="145" name="Text Box 5">
            <a:extLst>
              <a:ext uri="{FF2B5EF4-FFF2-40B4-BE49-F238E27FC236}">
                <a16:creationId xmlns:a16="http://schemas.microsoft.com/office/drawing/2014/main" xmlns="" id="{EEB38FFC-0E85-9543-BFA8-AC6EA14A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890583"/>
            <a:ext cx="11803224" cy="3046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Font typeface="Arial" pitchFamily="34" charset="0"/>
              <a:buChar char="•"/>
            </a:pPr>
            <a:r>
              <a:rPr lang="en-US" sz="2400" dirty="0" smtClean="0">
                <a:cs typeface="Arial" pitchFamily="34" charset="0"/>
              </a:rPr>
              <a:t>A </a:t>
            </a:r>
            <a:r>
              <a:rPr lang="en-US" sz="2400" dirty="0">
                <a:cs typeface="Arial" pitchFamily="34" charset="0"/>
              </a:rPr>
              <a:t>combination of client–server and peer-to-peer </a:t>
            </a:r>
            <a:r>
              <a:rPr lang="en-US" sz="2400" dirty="0" smtClean="0">
                <a:cs typeface="Arial" pitchFamily="34" charset="0"/>
              </a:rPr>
              <a:t>features.</a:t>
            </a:r>
          </a:p>
          <a:p>
            <a:pPr marL="0" indent="0"/>
            <a:r>
              <a:rPr lang="en-US" sz="2400" dirty="0" smtClean="0">
                <a:cs typeface="Arial" pitchFamily="34" charset="0"/>
              </a:rPr>
              <a:t> </a:t>
            </a: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cs typeface="Arial" pitchFamily="34" charset="0"/>
              </a:rPr>
              <a:t>Some </a:t>
            </a:r>
            <a:r>
              <a:rPr lang="en-US" sz="2400" dirty="0">
                <a:cs typeface="Arial" pitchFamily="34" charset="0"/>
              </a:rPr>
              <a:t>functions (like indexing or authentication) are centralized, while data sharing or communication is distributed. </a:t>
            </a:r>
            <a:endParaRPr lang="en-US" sz="2400" dirty="0" smtClean="0"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endParaRPr lang="en-US" sz="2400" dirty="0" smtClean="0">
              <a:cs typeface="Arial" pitchFamily="34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 smtClean="0">
                <a:cs typeface="Arial" pitchFamily="34" charset="0"/>
              </a:rPr>
              <a:t>For </a:t>
            </a:r>
            <a:r>
              <a:rPr lang="en-US" sz="2400" dirty="0">
                <a:cs typeface="Arial" pitchFamily="34" charset="0"/>
              </a:rPr>
              <a:t>example Modern file-sharing systems (e.g., Napster), Cloud applications (central login + P2P data sharing), Online games and video conferencing apps.</a:t>
            </a:r>
          </a:p>
          <a:p>
            <a:endParaRPr lang="en-US" altLang="en-US" sz="2400" dirty="0">
              <a:latin typeface="+mn-lt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xmlns="" id="{97AAACF9-A4E2-714C-A130-30E3EF5AB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36365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xmlns="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3479" y="9322"/>
            <a:ext cx="10515600" cy="698744"/>
          </a:xfrm>
        </p:spPr>
        <p:txBody>
          <a:bodyPr>
            <a:normAutofit/>
          </a:bodyPr>
          <a:lstStyle/>
          <a:p>
            <a:r>
              <a:rPr lang="en-US" dirty="0" smtClean="0">
                <a:ea typeface="ＭＳ Ｐゴシック" panose="020B0600070205080204" pitchFamily="34" charset="-128"/>
              </a:rPr>
              <a:t>3. </a:t>
            </a:r>
            <a:r>
              <a:rPr lang="en-US" dirty="0" smtClean="0"/>
              <a:t>Hybrid </a:t>
            </a:r>
            <a:r>
              <a:rPr lang="en-US" dirty="0"/>
              <a:t>Architecture </a:t>
            </a:r>
            <a:endParaRPr lang="en-US" altLang="en-US" sz="4400" dirty="0">
              <a:ea typeface="ＭＳ Ｐゴシック" panose="020B0600070205080204" pitchFamily="34" charset="-128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xmlns="" id="{97AAACF9-A4E2-714C-A130-30E3EF5AB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</p:spPr>
        <p:txBody>
          <a:bodyPr/>
          <a:lstStyle/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3404086"/>
              </p:ext>
            </p:extLst>
          </p:nvPr>
        </p:nvGraphicFramePr>
        <p:xfrm>
          <a:off x="313479" y="636876"/>
          <a:ext cx="11499076" cy="3319399"/>
        </p:xfrm>
        <a:graphic>
          <a:graphicData uri="http://schemas.openxmlformats.org/drawingml/2006/table">
            <a:tbl>
              <a:tblPr/>
              <a:tblGrid>
                <a:gridCol w="3120683"/>
                <a:gridCol w="8378393"/>
              </a:tblGrid>
              <a:tr h="244364">
                <a:tc>
                  <a:txBody>
                    <a:bodyPr/>
                    <a:lstStyle/>
                    <a:p>
                      <a:r>
                        <a:rPr lang="en-US" sz="1600" b="1" dirty="0"/>
                        <a:t>Advantages</a:t>
                      </a:r>
                      <a:endParaRPr lang="en-US" sz="1600" dirty="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Description</a:t>
                      </a:r>
                      <a:endParaRPr lang="en-US" sz="1600"/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7637">
                <a:tc>
                  <a:txBody>
                    <a:bodyPr/>
                    <a:lstStyle/>
                    <a:p>
                      <a:r>
                        <a:rPr lang="en-US" sz="1600" b="0" dirty="0"/>
                        <a:t>Flexibility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Combines the strengths of both client-server and P2P networks; suitable for various environments.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7637">
                <a:tc>
                  <a:txBody>
                    <a:bodyPr/>
                    <a:lstStyle/>
                    <a:p>
                      <a:r>
                        <a:rPr lang="en-US" sz="1600" b="0" dirty="0"/>
                        <a:t>Efficient resource utilization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Critical resources are managed centrally, while local sharing between peers reduces server load.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7637">
                <a:tc>
                  <a:txBody>
                    <a:bodyPr/>
                    <a:lstStyle/>
                    <a:p>
                      <a:r>
                        <a:rPr lang="en-US" sz="1600" b="0" dirty="0"/>
                        <a:t>Scalability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Easy to add new devices or nodes without major reconfiguration.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7637">
                <a:tc>
                  <a:txBody>
                    <a:bodyPr/>
                    <a:lstStyle/>
                    <a:p>
                      <a:r>
                        <a:rPr lang="en-US" sz="1600" b="0" dirty="0"/>
                        <a:t>Improved performance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Local peer-to-peer sharing reduces network congestion and server dependency.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7637">
                <a:tc>
                  <a:txBody>
                    <a:bodyPr/>
                    <a:lstStyle/>
                    <a:p>
                      <a:r>
                        <a:rPr lang="en-US" sz="1600" b="0" dirty="0"/>
                        <a:t>Enhanced reliability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If the server fails, peers can still communicate and share resources locally.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7637">
                <a:tc>
                  <a:txBody>
                    <a:bodyPr/>
                    <a:lstStyle/>
                    <a:p>
                      <a:r>
                        <a:rPr lang="en-US" sz="1600" b="0" dirty="0"/>
                        <a:t>Better security control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Centralized servers manage authentication and permissions while peers handle local access.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427637">
                <a:tc>
                  <a:txBody>
                    <a:bodyPr/>
                    <a:lstStyle/>
                    <a:p>
                      <a:r>
                        <a:rPr lang="en-US" sz="1600" b="0" dirty="0"/>
                        <a:t>Cost-effective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Reduces total cost compared to a fully client-server setup while retaining management benefits.</a:t>
                      </a:r>
                    </a:p>
                  </a:txBody>
                  <a:tcPr marL="82101" marR="82101" marT="41050" marB="4105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2383794"/>
              </p:ext>
            </p:extLst>
          </p:nvPr>
        </p:nvGraphicFramePr>
        <p:xfrm>
          <a:off x="294809" y="3934432"/>
          <a:ext cx="11583052" cy="2883219"/>
        </p:xfrm>
        <a:graphic>
          <a:graphicData uri="http://schemas.openxmlformats.org/drawingml/2006/table">
            <a:tbl>
              <a:tblPr/>
              <a:tblGrid>
                <a:gridCol w="3129518"/>
                <a:gridCol w="8453534"/>
              </a:tblGrid>
              <a:tr h="220385">
                <a:tc>
                  <a:txBody>
                    <a:bodyPr/>
                    <a:lstStyle/>
                    <a:p>
                      <a:r>
                        <a:rPr lang="en-US" sz="1700" b="1" dirty="0"/>
                        <a:t>Disadvantages</a:t>
                      </a:r>
                      <a:endParaRPr lang="en-US" sz="1700" dirty="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b="1"/>
                        <a:t>Description</a:t>
                      </a:r>
                      <a:endParaRPr lang="en-US" sz="1700"/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550963">
                <a:tc>
                  <a:txBody>
                    <a:bodyPr/>
                    <a:lstStyle/>
                    <a:p>
                      <a:r>
                        <a:rPr lang="en-US" sz="1700" b="0" dirty="0"/>
                        <a:t>Complex setup and management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Requires careful configuration and skilled administrators to balance client-server and P2P functions.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675">
                <a:tc>
                  <a:txBody>
                    <a:bodyPr/>
                    <a:lstStyle/>
                    <a:p>
                      <a:r>
                        <a:rPr lang="en-US" sz="1700" b="0" dirty="0"/>
                        <a:t>Higher initial cost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More expensive than a simple P2P network due to the inclusion of servers.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675">
                <a:tc>
                  <a:txBody>
                    <a:bodyPr/>
                    <a:lstStyle/>
                    <a:p>
                      <a:r>
                        <a:rPr lang="en-US" sz="1700" b="0" dirty="0"/>
                        <a:t>Security challenges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Managing both centralized and decentralized security policies can be difficult.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675">
                <a:tc>
                  <a:txBody>
                    <a:bodyPr/>
                    <a:lstStyle/>
                    <a:p>
                      <a:r>
                        <a:rPr lang="en-US" sz="1700" b="0" dirty="0"/>
                        <a:t>Maintenance overhead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Both server and peer systems require regular updates and monitoring.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675">
                <a:tc>
                  <a:txBody>
                    <a:bodyPr/>
                    <a:lstStyle/>
                    <a:p>
                      <a:r>
                        <a:rPr lang="en-US" sz="1700" b="0" dirty="0"/>
                        <a:t>Inconsistent performance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/>
                        <a:t>Peers may have variable hardware or network speeds, affecting overall efficiency.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385675">
                <a:tc>
                  <a:txBody>
                    <a:bodyPr/>
                    <a:lstStyle/>
                    <a:p>
                      <a:r>
                        <a:rPr lang="en-US" sz="1700" b="0" dirty="0"/>
                        <a:t>Troubleshooting difficulty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700" dirty="0"/>
                        <a:t>Diagnosing problems can be harder due to mixed architecture components.</a:t>
                      </a:r>
                    </a:p>
                  </a:txBody>
                  <a:tcPr marL="88803" marR="88803" marT="44401" marB="444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3371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8543</TotalTime>
  <Words>1740</Words>
  <Application>Microsoft Office PowerPoint</Application>
  <PresentationFormat>Custom</PresentationFormat>
  <Paragraphs>375</Paragraphs>
  <Slides>17</Slides>
  <Notes>17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9" baseType="lpstr">
      <vt:lpstr>Office Theme</vt:lpstr>
      <vt:lpstr>Chart</vt:lpstr>
      <vt:lpstr>Computer Networks (CS-241)</vt:lpstr>
      <vt:lpstr>Topics to be covered</vt:lpstr>
      <vt:lpstr>Application layer</vt:lpstr>
      <vt:lpstr>Application layer</vt:lpstr>
      <vt:lpstr>Principles of Network Applications</vt:lpstr>
      <vt:lpstr>Some network apps</vt:lpstr>
      <vt:lpstr>Network Application Architectures </vt:lpstr>
      <vt:lpstr>1. Client-server paradigm</vt:lpstr>
      <vt:lpstr>1. Client-server paradigm</vt:lpstr>
      <vt:lpstr>2. Peer-to-peer (P2P) architecture</vt:lpstr>
      <vt:lpstr>2. Peer-to-peer (P2P) architecture</vt:lpstr>
      <vt:lpstr>File distribution: client-server vs P2P</vt:lpstr>
      <vt:lpstr>File distribution time: client-server</vt:lpstr>
      <vt:lpstr>File distribution time: P2P</vt:lpstr>
      <vt:lpstr>Client-server vs. P2P: example</vt:lpstr>
      <vt:lpstr>3. Hybrid Architecture </vt:lpstr>
      <vt:lpstr>3. Hybrid Architecture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James Kurose</dc:creator>
  <cp:lastModifiedBy>UbaidComputers</cp:lastModifiedBy>
  <cp:revision>373</cp:revision>
  <dcterms:created xsi:type="dcterms:W3CDTF">2020-01-18T07:24:59Z</dcterms:created>
  <dcterms:modified xsi:type="dcterms:W3CDTF">2025-10-31T06:04:17Z</dcterms:modified>
</cp:coreProperties>
</file>