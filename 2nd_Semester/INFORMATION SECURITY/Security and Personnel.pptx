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33"/>
  </p:handoutMasterIdLst>
  <p:sldIdLst>
    <p:sldId id="315" r:id="rId3"/>
    <p:sldId id="266" r:id="rId5"/>
    <p:sldId id="305" r:id="rId6"/>
    <p:sldId id="316" r:id="rId7"/>
    <p:sldId id="317" r:id="rId8"/>
    <p:sldId id="318" r:id="rId9"/>
    <p:sldId id="319" r:id="rId10"/>
    <p:sldId id="320" r:id="rId11"/>
    <p:sldId id="321" r:id="rId12"/>
    <p:sldId id="322" r:id="rId13"/>
    <p:sldId id="323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1" r:id="rId22"/>
    <p:sldId id="332" r:id="rId23"/>
    <p:sldId id="333" r:id="rId24"/>
    <p:sldId id="334" r:id="rId25"/>
    <p:sldId id="336" r:id="rId26"/>
    <p:sldId id="337" r:id="rId27"/>
    <p:sldId id="338" r:id="rId28"/>
    <p:sldId id="339" r:id="rId29"/>
    <p:sldId id="340" r:id="rId30"/>
    <p:sldId id="341" r:id="rId31"/>
    <p:sldId id="342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  <p188:author id="{5AA1BD55-57CD-466E-0725-B6CBA11E0D12}" name="Lauren Weldy (ALLEGIS GROUP SERVICES)" initials="LW" userId="S::v-lweldy@microsoft.com::07a2285c-a352-4b96-8658-ecc34365c1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D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A107856-5554-42FB-B03E-39F5DBC370B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>
        <p:scale>
          <a:sx n="1" d="2"/>
          <a:sy n="1" d="2"/>
        </p:scale>
        <p:origin x="2640" y="28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customXml" Target="../customXml/item3.xml"/><Relationship Id="rId4" Type="http://schemas.openxmlformats.org/officeDocument/2006/relationships/notesMaster" Target="notesMasters/notesMaster1.xml"/><Relationship Id="rId39" Type="http://schemas.openxmlformats.org/officeDocument/2006/relationships/customXml" Target="../customXml/item2.xml"/><Relationship Id="rId38" Type="http://schemas.openxmlformats.org/officeDocument/2006/relationships/customXml" Target="../customXml/item1.xml"/><Relationship Id="rId37" Type="http://schemas.microsoft.com/office/2018/10/relationships/authors" Target="authors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A1AC4-3AE8-4F87-AAED-904EC6054702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8A362-CAFC-4987-9A50-47570528395E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556653-6123-4FE4-861F-5F9583BF59B0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F282E-55F5-4803-B60F-09BA4600E53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EB602-95FC-483A-B12D-216A7AD7EA2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" name="Rectangle 11"/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</a:fld>
            <a:endParaRPr lang="en-US" dirty="0"/>
          </a:p>
        </p:txBody>
      </p:sp>
      <p:sp useBgFill="1">
        <p:nvSpPr>
          <p:cNvPr id="6" name="Rectangle 5"/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</a:fld>
            <a:endParaRPr lang="en-US" dirty="0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/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175813" y="0"/>
            <a:ext cx="4016188" cy="10565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1525" y="1031500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-9134" y="1095508"/>
            <a:ext cx="8203482" cy="5016893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787178" y="1361923"/>
            <a:ext cx="6623040" cy="1421898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 hasCustomPrompt="1"/>
          </p:nvPr>
        </p:nvSpPr>
        <p:spPr>
          <a:xfrm>
            <a:off x="787399" y="2916772"/>
            <a:ext cx="6622819" cy="2852639"/>
          </a:xfrm>
        </p:spPr>
        <p:txBody>
          <a:bodyPr anchor="t"/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2000" b="0"/>
            </a:lvl1pPr>
            <a:lvl2pPr>
              <a:lnSpc>
                <a:spcPct val="125000"/>
              </a:lnSpc>
              <a:spcAft>
                <a:spcPts val="600"/>
              </a:spcAft>
              <a:defRPr/>
            </a:lvl2pPr>
            <a:lvl3pPr>
              <a:lnSpc>
                <a:spcPct val="125000"/>
              </a:lnSpc>
              <a:spcAft>
                <a:spcPts val="600"/>
              </a:spcAft>
              <a:defRPr/>
            </a:lvl3pPr>
            <a:lvl4pPr>
              <a:lnSpc>
                <a:spcPct val="125000"/>
              </a:lnSpc>
              <a:spcAft>
                <a:spcPts val="600"/>
              </a:spcAft>
              <a:defRPr/>
            </a:lvl4pPr>
            <a:lvl5pPr>
              <a:lnSpc>
                <a:spcPct val="125000"/>
              </a:lnSpc>
              <a:spcAft>
                <a:spcPts val="600"/>
              </a:spcAft>
              <a:defRPr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4" name="Rectangle 13"/>
          <p:cNvSpPr/>
          <p:nvPr userDrawn="1"/>
        </p:nvSpPr>
        <p:spPr>
          <a:xfrm>
            <a:off x="-1" y="6144405"/>
            <a:ext cx="8150087" cy="71359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8206532" y="6167615"/>
            <a:ext cx="3982418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1525" y="6112401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787178" y="6309360"/>
            <a:ext cx="6623040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19" name="Date Placeholder 5"/>
          <p:cNvSpPr>
            <a:spLocks noGrp="1"/>
          </p:cNvSpPr>
          <p:nvPr>
            <p:ph type="dt" sz="half" idx="10"/>
          </p:nvPr>
        </p:nvSpPr>
        <p:spPr>
          <a:xfrm>
            <a:off x="8379537" y="6309360"/>
            <a:ext cx="1885598" cy="457200"/>
          </a:xfrm>
        </p:spPr>
        <p:txBody>
          <a:bodyPr/>
          <a:lstStyle/>
          <a:p>
            <a:r>
              <a:rPr lang="en-US" dirty="0"/>
              <a:t>9/8/20XX</a:t>
            </a:r>
            <a:endParaRPr lang="en-US" dirty="0"/>
          </a:p>
        </p:txBody>
      </p:sp>
      <p:sp>
        <p:nvSpPr>
          <p:cNvPr id="2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8142523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8203482" y="1095507"/>
            <a:ext cx="3997653" cy="501689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/>
          <p:cNvSpPr/>
          <p:nvPr userDrawn="1"/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1038768" y="2130218"/>
            <a:ext cx="11153231" cy="4727782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896641"/>
            <a:ext cx="12192000" cy="13477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535371" y="962423"/>
            <a:ext cx="10013710" cy="1216152"/>
          </a:xfrm>
        </p:spPr>
        <p:txBody>
          <a:bodyPr tIns="182880" anchor="ctr" anchorCtr="0">
            <a:noAutofit/>
          </a:bodyPr>
          <a:lstStyle>
            <a:lvl1pPr>
              <a:lnSpc>
                <a:spcPct val="100000"/>
              </a:lnSpc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Click to add title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Content Placeholder 2"/>
          <p:cNvSpPr>
            <a:spLocks noGrp="1"/>
          </p:cNvSpPr>
          <p:nvPr>
            <p:ph sz="quarter" idx="18" hasCustomPrompt="1"/>
          </p:nvPr>
        </p:nvSpPr>
        <p:spPr>
          <a:xfrm>
            <a:off x="1542563" y="2590800"/>
            <a:ext cx="6441412" cy="3718557"/>
          </a:xfrm>
        </p:spPr>
        <p:txBody>
          <a:bodyPr anchor="t">
            <a:normAutofit/>
          </a:bodyPr>
          <a:lstStyle>
            <a:lvl1pPr marL="0" indent="0">
              <a:lnSpc>
                <a:spcPct val="125000"/>
              </a:lnSpc>
              <a:spcAft>
                <a:spcPts val="600"/>
              </a:spcAft>
              <a:buNone/>
              <a:defRPr sz="1800" b="0"/>
            </a:lvl1pPr>
            <a:lvl2pPr marL="283210">
              <a:lnSpc>
                <a:spcPct val="125000"/>
              </a:lnSpc>
              <a:spcAft>
                <a:spcPts val="600"/>
              </a:spcAft>
              <a:defRPr sz="1800"/>
            </a:lvl2pPr>
            <a:lvl3pPr marL="567055">
              <a:lnSpc>
                <a:spcPct val="125000"/>
              </a:lnSpc>
              <a:spcAft>
                <a:spcPts val="600"/>
              </a:spcAft>
              <a:defRPr sz="1800"/>
            </a:lvl3pPr>
            <a:lvl4pPr marL="850265">
              <a:lnSpc>
                <a:spcPct val="125000"/>
              </a:lnSpc>
              <a:spcAft>
                <a:spcPts val="600"/>
              </a:spcAft>
              <a:defRPr sz="1800"/>
            </a:lvl4pPr>
            <a:lvl5pPr marL="1134110"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6" name="Content Placeholder 2"/>
          <p:cNvSpPr>
            <a:spLocks noGrp="1"/>
          </p:cNvSpPr>
          <p:nvPr>
            <p:ph sz="quarter" idx="17" hasCustomPrompt="1"/>
          </p:nvPr>
        </p:nvSpPr>
        <p:spPr>
          <a:xfrm>
            <a:off x="8197362" y="2590800"/>
            <a:ext cx="3522849" cy="3718557"/>
          </a:xfrm>
        </p:spPr>
        <p:txBody>
          <a:bodyPr anchor="t">
            <a:normAutofit/>
          </a:bodyPr>
          <a:lstStyle>
            <a:lvl1pPr marL="285750" indent="-285750">
              <a:lnSpc>
                <a:spcPct val="125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 sz="1800" b="0"/>
            </a:lvl1pPr>
            <a:lvl2pPr>
              <a:lnSpc>
                <a:spcPct val="125000"/>
              </a:lnSpc>
              <a:spcAft>
                <a:spcPts val="600"/>
              </a:spcAft>
              <a:defRPr sz="1800"/>
            </a:lvl2pPr>
            <a:lvl3pPr>
              <a:lnSpc>
                <a:spcPct val="125000"/>
              </a:lnSpc>
              <a:spcAft>
                <a:spcPts val="600"/>
              </a:spcAft>
              <a:defRPr sz="1800"/>
            </a:lvl3pPr>
            <a:lvl4pPr>
              <a:lnSpc>
                <a:spcPct val="125000"/>
              </a:lnSpc>
              <a:spcAft>
                <a:spcPts val="600"/>
              </a:spcAft>
              <a:defRPr sz="1800"/>
            </a:lvl4pPr>
            <a:lvl5pPr>
              <a:lnSpc>
                <a:spcPct val="125000"/>
              </a:lnSpc>
              <a:spcAft>
                <a:spcPts val="6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-1" y="962423"/>
            <a:ext cx="1006766" cy="12161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 rot="5400000">
            <a:off x="-2390232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535371" y="6309360"/>
            <a:ext cx="5049579" cy="457200"/>
          </a:xfrm>
        </p:spPr>
        <p:txBody>
          <a:bodyPr/>
          <a:lstStyle/>
          <a:p>
            <a:r>
              <a:rPr lang="en-US" dirty="0"/>
              <a:t>Presentation Title</a:t>
            </a:r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69202" y="6309360"/>
            <a:ext cx="979879" cy="457200"/>
          </a:xfrm>
        </p:spPr>
        <p:txBody>
          <a:bodyPr/>
          <a:lstStyle>
            <a:lvl1pPr>
              <a:defRPr sz="1200" b="0"/>
            </a:lvl1pPr>
          </a:lstStyle>
          <a:p>
            <a:fld id="{FAEF9944-A4F6-4C59-AEBD-678D6480B8EA}" type="slidenum">
              <a:rPr lang="en-US" smtClean="0"/>
            </a:fld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6678168" y="6309360"/>
            <a:ext cx="2148840" cy="457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9/8/20XX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/>
          <p:cNvSpPr/>
          <p:nvPr userDrawn="1"/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/>
          <p:cNvSpPr/>
          <p:nvPr userDrawn="1"/>
        </p:nvSpPr>
        <p:spPr>
          <a:xfrm>
            <a:off x="0" y="825689"/>
            <a:ext cx="12192000" cy="52017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Title 1"/>
          <p:cNvSpPr>
            <a:spLocks noGrp="1"/>
          </p:cNvSpPr>
          <p:nvPr>
            <p:ph type="ctrTitle" hasCustomPrompt="1"/>
          </p:nvPr>
        </p:nvSpPr>
        <p:spPr>
          <a:xfrm>
            <a:off x="1386629" y="825687"/>
            <a:ext cx="9643772" cy="5201730"/>
          </a:xfrm>
        </p:spPr>
        <p:txBody>
          <a:bodyPr tIns="182880" anchor="ctr" anchorCtr="0">
            <a:no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CLICK TO ADD TITLE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56" name="Rectangle 55"/>
          <p:cNvSpPr/>
          <p:nvPr userDrawn="1"/>
        </p:nvSpPr>
        <p:spPr>
          <a:xfrm>
            <a:off x="-1" y="889696"/>
            <a:ext cx="1070775" cy="50777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/>
          <p:cNvSpPr/>
          <p:nvPr userDrawn="1"/>
        </p:nvSpPr>
        <p:spPr>
          <a:xfrm rot="5400000">
            <a:off x="-236512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/>
          <p:cNvSpPr/>
          <p:nvPr userDrawn="1"/>
        </p:nvSpPr>
        <p:spPr>
          <a:xfrm rot="5400000">
            <a:off x="7658511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11119516" y="896046"/>
            <a:ext cx="1070775" cy="50777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11119516" y="0"/>
            <a:ext cx="1070775" cy="8256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1119515" y="6027421"/>
            <a:ext cx="1070775" cy="8305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9/8/20XX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</a:fld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 vert="horz" lIns="109728" tIns="109728" rIns="109728" bIns="91440" rtlCol="0" anchor="ctr">
            <a:normAutofit/>
          </a:bodyPr>
          <a:lstStyle/>
          <a:p>
            <a:r>
              <a:rPr lang="en-US" spc="50" dirty="0"/>
              <a:t>Security</a:t>
            </a:r>
            <a:r>
              <a:rPr lang="en-US" spc="200" dirty="0"/>
              <a:t> </a:t>
            </a:r>
            <a:r>
              <a:rPr lang="en-US" dirty="0"/>
              <a:t>and</a:t>
            </a:r>
            <a:r>
              <a:rPr lang="en-US" spc="200" dirty="0"/>
              <a:t> </a:t>
            </a:r>
            <a:r>
              <a:rPr lang="en-US" spc="-10" dirty="0"/>
              <a:t>Personnel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Introduction</a:t>
            </a:r>
            <a:endParaRPr lang="en-US" b="1" dirty="0"/>
          </a:p>
          <a:p>
            <a:r>
              <a:rPr lang="en-US" b="1" dirty="0"/>
              <a:t>Positioning and Staffing the Security Function</a:t>
            </a:r>
            <a:endParaRPr lang="en-US" b="1" dirty="0"/>
          </a:p>
          <a:p>
            <a:r>
              <a:rPr lang="en-US" b="1" dirty="0"/>
              <a:t>Credentials of Information Security Professionals</a:t>
            </a:r>
            <a:endParaRPr lang="en-US" b="1" dirty="0"/>
          </a:p>
          <a:p>
            <a:r>
              <a:rPr lang="en-US" b="1" dirty="0"/>
              <a:t>Employment Policies and Practices</a:t>
            </a:r>
            <a:endParaRPr 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Introduction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 marR="326390">
              <a:lnSpc>
                <a:spcPct val="103000"/>
              </a:lnSpc>
              <a:spcBef>
                <a:spcPts val="55"/>
              </a:spcBef>
            </a:pPr>
            <a:r>
              <a:rPr lang="en-US" sz="2400" spc="-20" dirty="0">
                <a:latin typeface="Tahoma" panose="020B0604030504040204"/>
                <a:cs typeface="Tahoma" panose="020B0604030504040204"/>
              </a:rPr>
              <a:t>When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implementing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security,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there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are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many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human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resource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issues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that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must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be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addressed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2094865">
              <a:lnSpc>
                <a:spcPts val="1760"/>
              </a:lnSpc>
              <a:spcBef>
                <a:spcPts val="65"/>
              </a:spcBef>
            </a:pPr>
            <a:r>
              <a:rPr lang="en-US" sz="2400" spc="-20" dirty="0">
                <a:latin typeface="Tahoma" panose="020B0604030504040204"/>
                <a:cs typeface="Tahoma" panose="020B0604030504040204"/>
              </a:rPr>
              <a:t>Positioning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naming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Staffing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100965">
              <a:lnSpc>
                <a:spcPct val="100000"/>
              </a:lnSpc>
              <a:spcBef>
                <a:spcPts val="415"/>
              </a:spcBef>
            </a:pPr>
            <a:r>
              <a:rPr lang="en-US" sz="2400" spc="-20" dirty="0">
                <a:latin typeface="Tahoma" panose="020B0604030504040204"/>
                <a:cs typeface="Tahoma" panose="020B0604030504040204"/>
              </a:rPr>
              <a:t>Evaluating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impact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across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every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role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in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IT</a:t>
            </a:r>
            <a:r>
              <a:rPr lang="en-US" sz="2400" spc="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function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111760">
              <a:lnSpc>
                <a:spcPct val="100000"/>
              </a:lnSpc>
              <a:spcBef>
                <a:spcPts val="555"/>
              </a:spcBef>
            </a:pPr>
            <a:r>
              <a:rPr lang="en-US" sz="2400" spc="-40" dirty="0">
                <a:latin typeface="Tahoma" panose="020B0604030504040204"/>
                <a:cs typeface="Tahoma" panose="020B0604030504040204"/>
              </a:rPr>
              <a:t>Integrating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solid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concepts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into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personnel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practices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1095"/>
              </a:spcBef>
            </a:pP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Employees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often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feel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threatened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when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program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is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being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updated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Positioning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Staffing</a:t>
            </a:r>
            <a:r>
              <a:rPr lang="en-US" sz="32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5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Function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information security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function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can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be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placed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within: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>
              <a:lnSpc>
                <a:spcPct val="100000"/>
              </a:lnSpc>
              <a:spcBef>
                <a:spcPts val="710"/>
              </a:spcBef>
            </a:pPr>
            <a:r>
              <a:rPr lang="en-US" sz="1800" dirty="0">
                <a:latin typeface="Tahoma" panose="020B0604030504040204"/>
                <a:cs typeface="Tahoma" panose="020B0604030504040204"/>
              </a:rPr>
              <a:t>IT</a:t>
            </a:r>
            <a:r>
              <a:rPr lang="en-US" sz="18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function</a:t>
            </a:r>
            <a:endParaRPr lang="en-US" sz="1800" dirty="0">
              <a:latin typeface="Tahoma" panose="020B0604030504040204"/>
              <a:cs typeface="Tahoma" panose="020B0604030504040204"/>
            </a:endParaRPr>
          </a:p>
          <a:p>
            <a:pPr marL="289560" marR="990600">
              <a:lnSpc>
                <a:spcPct val="120000"/>
              </a:lnSpc>
            </a:pPr>
            <a:r>
              <a:rPr lang="en-US" sz="1800" spc="-10" dirty="0">
                <a:latin typeface="Tahoma" panose="020B0604030504040204"/>
                <a:cs typeface="Tahoma" panose="020B0604030504040204"/>
              </a:rPr>
              <a:t>Physical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function</a:t>
            </a:r>
            <a:r>
              <a:rPr lang="en-US" sz="1800" spc="50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Administrative</a:t>
            </a:r>
            <a:r>
              <a:rPr lang="en-US" sz="1800" spc="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45" dirty="0">
                <a:latin typeface="Tahoma" panose="020B0604030504040204"/>
                <a:cs typeface="Tahoma" panose="020B0604030504040204"/>
              </a:rPr>
              <a:t>services</a:t>
            </a:r>
            <a:r>
              <a:rPr lang="en-US" sz="1800" spc="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function </a:t>
            </a:r>
            <a:r>
              <a:rPr lang="en-US" sz="1800" spc="-55" dirty="0">
                <a:latin typeface="Tahoma" panose="020B0604030504040204"/>
                <a:cs typeface="Tahoma" panose="020B0604030504040204"/>
              </a:rPr>
              <a:t>Insurance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and</a:t>
            </a:r>
            <a:r>
              <a:rPr lang="en-US" sz="18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risk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50" dirty="0">
                <a:latin typeface="Tahoma" panose="020B0604030504040204"/>
                <a:cs typeface="Tahoma" panose="020B0604030504040204"/>
              </a:rPr>
              <a:t>management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function 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Legal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department</a:t>
            </a:r>
            <a:endParaRPr lang="en-US" sz="1800" dirty="0">
              <a:latin typeface="Tahoma" panose="020B0604030504040204"/>
              <a:cs typeface="Tahoma" panose="020B0604030504040204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lang="en-US" sz="18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</a:pPr>
            <a:r>
              <a:rPr lang="en-US" sz="2400" spc="-30" dirty="0">
                <a:latin typeface="Tahoma" panose="020B0604030504040204"/>
                <a:cs typeface="Tahoma" panose="020B0604030504040204"/>
              </a:rPr>
              <a:t>Organizations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balance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needs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enforcement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with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needs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for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education,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training,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awareness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,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customer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service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Staffing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Function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Selecting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personnel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based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on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many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criteria,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including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supply and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demand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264160">
              <a:lnSpc>
                <a:spcPct val="103000"/>
              </a:lnSpc>
              <a:spcBef>
                <a:spcPts val="1150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Many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professionals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enter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market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by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gaining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skills,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experience,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credentials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26035">
              <a:lnSpc>
                <a:spcPct val="103000"/>
              </a:lnSpc>
              <a:spcBef>
                <a:spcPts val="1150"/>
              </a:spcBef>
            </a:pP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At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present,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industry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period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high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demand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Staffing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Function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 fontScale="92500"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Qualifications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Requirements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>
              <a:lnSpc>
                <a:spcPct val="100000"/>
              </a:lnSpc>
              <a:spcBef>
                <a:spcPts val="630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following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factors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must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be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addressed: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566420" marR="136525">
              <a:lnSpc>
                <a:spcPct val="100000"/>
              </a:lnSpc>
              <a:spcBef>
                <a:spcPts val="475"/>
              </a:spcBef>
            </a:pPr>
            <a:r>
              <a:rPr lang="en-US" sz="18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General</a:t>
            </a:r>
            <a:r>
              <a:rPr lang="en-US" sz="18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management</a:t>
            </a:r>
            <a:r>
              <a:rPr lang="en-US" sz="18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should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 learn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50" dirty="0">
                <a:latin typeface="Tahoma" panose="020B0604030504040204"/>
                <a:cs typeface="Tahoma" panose="020B0604030504040204"/>
              </a:rPr>
              <a:t>more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about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position </a:t>
            </a:r>
            <a:r>
              <a:rPr lang="en-US" sz="1800" spc="-45" dirty="0">
                <a:latin typeface="Tahoma" panose="020B0604030504040204"/>
                <a:cs typeface="Tahoma" panose="020B0604030504040204"/>
              </a:rPr>
              <a:t>requirements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and qualifications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for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both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lang="en-US" sz="18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and </a:t>
            </a:r>
            <a:r>
              <a:rPr lang="en-US" sz="18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IT</a:t>
            </a:r>
            <a:r>
              <a:rPr lang="en-US" sz="18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positions</a:t>
            </a:r>
            <a:endParaRPr lang="en-US" sz="1800" dirty="0">
              <a:latin typeface="Tahoma" panose="020B0604030504040204"/>
              <a:cs typeface="Tahoma" panose="020B0604030504040204"/>
            </a:endParaRPr>
          </a:p>
          <a:p>
            <a:pPr marL="566420" marR="42545">
              <a:lnSpc>
                <a:spcPct val="100000"/>
              </a:lnSpc>
              <a:spcBef>
                <a:spcPts val="555"/>
              </a:spcBef>
            </a:pPr>
            <a:r>
              <a:rPr lang="en-US" sz="18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Upper</a:t>
            </a:r>
            <a:r>
              <a:rPr lang="en-US" sz="18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management</a:t>
            </a:r>
            <a:r>
              <a:rPr lang="en-US" sz="18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should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 learn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50" dirty="0">
                <a:latin typeface="Tahoma" panose="020B0604030504040204"/>
                <a:cs typeface="Tahoma" panose="020B0604030504040204"/>
              </a:rPr>
              <a:t>more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about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40" dirty="0">
                <a:latin typeface="Tahoma" panose="020B0604030504040204"/>
                <a:cs typeface="Tahoma" panose="020B0604030504040204"/>
              </a:rPr>
              <a:t>budgetary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40" dirty="0">
                <a:latin typeface="Tahoma" panose="020B0604030504040204"/>
                <a:cs typeface="Tahoma" panose="020B0604030504040204"/>
              </a:rPr>
              <a:t>needs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18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function</a:t>
            </a:r>
            <a:endParaRPr lang="en-US" sz="1800" dirty="0">
              <a:latin typeface="Tahoma" panose="020B0604030504040204"/>
              <a:cs typeface="Tahoma" panose="020B0604030504040204"/>
            </a:endParaRPr>
          </a:p>
          <a:p>
            <a:pPr marL="566420" marR="5080">
              <a:lnSpc>
                <a:spcPct val="100000"/>
              </a:lnSpc>
              <a:spcBef>
                <a:spcPts val="560"/>
              </a:spcBef>
            </a:pPr>
            <a:r>
              <a:rPr lang="en-US" sz="18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IT</a:t>
            </a:r>
            <a:r>
              <a:rPr lang="en-US" sz="18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general</a:t>
            </a:r>
            <a:r>
              <a:rPr lang="en-US" sz="18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management</a:t>
            </a:r>
            <a:r>
              <a:rPr lang="en-US" sz="18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must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learn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50" dirty="0">
                <a:latin typeface="Tahoma" panose="020B0604030504040204"/>
                <a:cs typeface="Tahoma" panose="020B0604030504040204"/>
              </a:rPr>
              <a:t>more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about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 level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of 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influence 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and </a:t>
            </a:r>
            <a:r>
              <a:rPr lang="en-US" sz="1800" spc="-40" dirty="0">
                <a:latin typeface="Tahoma" panose="020B0604030504040204"/>
                <a:cs typeface="Tahoma" panose="020B0604030504040204"/>
              </a:rPr>
              <a:t>prestige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information 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function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should be</a:t>
            </a:r>
            <a:r>
              <a:rPr lang="en-US" sz="18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given</a:t>
            </a:r>
            <a:r>
              <a:rPr lang="en-US" sz="18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in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40" dirty="0">
                <a:latin typeface="Tahoma" panose="020B0604030504040204"/>
                <a:cs typeface="Tahoma" panose="020B0604030504040204"/>
              </a:rPr>
              <a:t>order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be</a:t>
            </a:r>
            <a:r>
              <a:rPr lang="en-US" sz="18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effective.</a:t>
            </a:r>
            <a:endParaRPr lang="en-US" sz="1800" dirty="0">
              <a:latin typeface="Tahoma" panose="020B0604030504040204"/>
              <a:cs typeface="Tahoma" panose="020B0604030504040204"/>
            </a:endParaRPr>
          </a:p>
          <a:p>
            <a:pPr marL="289560" marR="589915">
              <a:lnSpc>
                <a:spcPct val="103000"/>
              </a:lnSpc>
              <a:spcBef>
                <a:spcPts val="1090"/>
              </a:spcBef>
            </a:pPr>
            <a:r>
              <a:rPr lang="en-US" sz="2400" spc="-30" dirty="0">
                <a:latin typeface="Tahoma" panose="020B0604030504040204"/>
                <a:cs typeface="Tahoma" panose="020B0604030504040204"/>
              </a:rPr>
              <a:t>Organizations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typically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look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technically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qualified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generalist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Staffing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Function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Entry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into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Profession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5080">
              <a:lnSpc>
                <a:spcPct val="103000"/>
              </a:lnSpc>
              <a:spcBef>
                <a:spcPts val="595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Many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professionals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enter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field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through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one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two</a:t>
            </a:r>
            <a:r>
              <a:rPr lang="en-US" sz="2400" spc="-3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career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paths:</a:t>
            </a:r>
            <a:endParaRPr lang="en-US" sz="2400" spc="-10" dirty="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Law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enforcement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military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Technical,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working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on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applications and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processes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5080">
              <a:lnSpc>
                <a:spcPct val="103000"/>
              </a:lnSpc>
              <a:spcBef>
                <a:spcPts val="595"/>
              </a:spcBef>
            </a:pP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Staffing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Function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6" name="object 7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9041" y="2480669"/>
            <a:ext cx="6920383" cy="37500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10393" y="634810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lang="en-US" sz="1800" dirty="0">
                <a:latin typeface="Calibri" panose="020F0502020204030204"/>
                <a:cs typeface="Calibri" panose="020F0502020204030204"/>
              </a:rPr>
              <a:t>Figure</a:t>
            </a:r>
            <a:r>
              <a:rPr lang="en-US" sz="18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11-1</a:t>
            </a:r>
            <a:r>
              <a:rPr lang="en-US" sz="18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Career</a:t>
            </a:r>
            <a:r>
              <a:rPr lang="en-US" sz="18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Paths</a:t>
            </a:r>
            <a:r>
              <a:rPr lang="en-US" sz="1800" spc="6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to</a:t>
            </a:r>
            <a:r>
              <a:rPr lang="en-US" sz="1800" spc="7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lang="en-US" sz="18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Security</a:t>
            </a:r>
            <a:r>
              <a:rPr lang="en-US" sz="1800" spc="8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spc="-10" dirty="0">
                <a:latin typeface="Calibri" panose="020F0502020204030204"/>
                <a:cs typeface="Calibri" panose="020F0502020204030204"/>
              </a:rPr>
              <a:t>Positions</a:t>
            </a:r>
            <a:endParaRPr lang="en-US" sz="18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Staffing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Function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 fontScale="92500" lnSpcReduction="20000"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Entry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into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Profession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5080">
              <a:lnSpc>
                <a:spcPct val="103000"/>
              </a:lnSpc>
              <a:spcBef>
                <a:spcPts val="595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Many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professionals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enter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field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through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one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two</a:t>
            </a:r>
            <a:r>
              <a:rPr lang="en-US" sz="2400" spc="-30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career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paths:</a:t>
            </a:r>
            <a:endParaRPr lang="en-US" sz="2400" spc="-10" dirty="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Law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enforcement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military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Technical,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working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on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applications and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processes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250825">
              <a:lnSpc>
                <a:spcPct val="103000"/>
              </a:lnSpc>
              <a:spcBef>
                <a:spcPts val="55"/>
              </a:spcBef>
            </a:pPr>
            <a:r>
              <a:rPr lang="en-US" sz="2400" spc="-60" dirty="0">
                <a:latin typeface="Tahoma" panose="020B0604030504040204"/>
                <a:cs typeface="Tahoma" panose="020B0604030504040204"/>
              </a:rPr>
              <a:t>In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recent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years,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college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students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select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and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tailor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degree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programs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prepare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work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in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security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30" dirty="0">
                <a:latin typeface="Tahoma" panose="020B0604030504040204"/>
                <a:cs typeface="Tahoma" panose="020B0604030504040204"/>
              </a:rPr>
              <a:t>Organizations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can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foster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greater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professionalism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the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discipline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by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establishing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clearly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defined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expectations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position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descriptions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5080">
              <a:lnSpc>
                <a:spcPct val="103000"/>
              </a:lnSpc>
              <a:spcBef>
                <a:spcPts val="595"/>
              </a:spcBef>
            </a:pP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Staffing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Function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Positions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113030">
              <a:lnSpc>
                <a:spcPct val="103000"/>
              </a:lnSpc>
              <a:spcBef>
                <a:spcPts val="595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use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standard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job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descriptions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can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increase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degree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professionalism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in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field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as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well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as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improve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consistency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roles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and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responsibilities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among organizations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35" dirty="0">
                <a:latin typeface="Tahoma" panose="020B0604030504040204"/>
                <a:cs typeface="Tahoma" panose="020B0604030504040204"/>
              </a:rPr>
              <a:t>Charles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Cresson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Wood’s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book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Roles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and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Responsibilities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Made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Easy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offers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set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model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job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descriptions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Staffing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Function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6" name="object 78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360740" y="2684297"/>
            <a:ext cx="7803985" cy="33230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03528" y="614378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dirty="0">
                <a:latin typeface="Calibri" panose="020F0502020204030204"/>
                <a:cs typeface="Calibri" panose="020F0502020204030204"/>
              </a:rPr>
              <a:t>Figure</a:t>
            </a:r>
            <a:r>
              <a:rPr lang="en-US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spc="-10" dirty="0">
                <a:latin typeface="Calibri" panose="020F0502020204030204"/>
                <a:cs typeface="Calibri" panose="020F0502020204030204"/>
              </a:rPr>
              <a:t>11-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2</a:t>
            </a:r>
            <a:r>
              <a:rPr lang="en-US" sz="1800" spc="-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spc="-10" dirty="0">
                <a:latin typeface="Calibri" panose="020F0502020204030204"/>
                <a:cs typeface="Calibri" panose="020F0502020204030204"/>
              </a:rPr>
              <a:t>Positions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 in </a:t>
            </a:r>
            <a:r>
              <a:rPr lang="en-US" sz="1800" spc="-10" dirty="0">
                <a:latin typeface="Calibri" panose="020F0502020204030204"/>
                <a:cs typeface="Calibri" panose="020F0502020204030204"/>
              </a:rPr>
              <a:t>Information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spc="-10" dirty="0">
                <a:latin typeface="Calibri" panose="020F0502020204030204"/>
                <a:cs typeface="Calibri" panose="020F0502020204030204"/>
              </a:rPr>
              <a:t>Security</a:t>
            </a:r>
            <a:endParaRPr lang="en-US" sz="18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Staffing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Function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Manager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17780">
              <a:lnSpc>
                <a:spcPct val="103000"/>
              </a:lnSpc>
              <a:spcBef>
                <a:spcPts val="595"/>
              </a:spcBef>
            </a:pPr>
            <a:r>
              <a:rPr lang="en-US" sz="2400" spc="-30" dirty="0">
                <a:latin typeface="Tahoma" panose="020B0604030504040204"/>
                <a:cs typeface="Tahoma" panose="020B0604030504040204"/>
              </a:rPr>
              <a:t>Accountable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day-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to-day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operation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program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>
              <a:lnSpc>
                <a:spcPct val="100000"/>
              </a:lnSpc>
              <a:spcBef>
                <a:spcPts val="1185"/>
              </a:spcBef>
            </a:pPr>
            <a:r>
              <a:rPr lang="en-US" sz="2400" spc="-25" dirty="0">
                <a:latin typeface="Tahoma" panose="020B0604030504040204"/>
                <a:cs typeface="Tahoma" panose="020B0604030504040204"/>
              </a:rPr>
              <a:t>Accomplish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objectives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as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identified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by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CISO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Typical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qualifications:</a:t>
            </a:r>
            <a:r>
              <a:rPr lang="en-US" sz="2400" spc="6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not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uncommon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have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accreditation;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ability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draft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middle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lower-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level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policies;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standards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and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guidelines;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budgeting,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project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management,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hiring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and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firing;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manage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technicians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Staffing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3200" spc="-6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6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Function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Technician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5080">
              <a:lnSpc>
                <a:spcPct val="103000"/>
              </a:lnSpc>
              <a:spcBef>
                <a:spcPts val="595"/>
              </a:spcBef>
            </a:pPr>
            <a:r>
              <a:rPr lang="en-US" sz="2400" spc="-25" dirty="0">
                <a:latin typeface="Tahoma" panose="020B0604030504040204"/>
                <a:cs typeface="Tahoma" panose="020B0604030504040204"/>
              </a:rPr>
              <a:t>Technically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qualified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individuals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tasked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configure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hardware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software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2164080">
              <a:lnSpc>
                <a:spcPct val="190000"/>
              </a:lnSpc>
            </a:pPr>
            <a:r>
              <a:rPr lang="en-US" sz="2400" spc="-35" dirty="0">
                <a:latin typeface="Tahoma" panose="020B0604030504040204"/>
                <a:cs typeface="Tahoma" panose="020B0604030504040204"/>
              </a:rPr>
              <a:t>Tend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be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specialized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Typical</a:t>
            </a:r>
            <a:r>
              <a:rPr lang="en-US" sz="2400" spc="-6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qualifications: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566420" marR="300355">
              <a:lnSpc>
                <a:spcPct val="100000"/>
              </a:lnSpc>
              <a:spcBef>
                <a:spcPts val="475"/>
              </a:spcBef>
            </a:pPr>
            <a:r>
              <a:rPr lang="en-US" sz="1800" spc="-30" dirty="0">
                <a:latin typeface="Tahoma" panose="020B0604030504040204"/>
                <a:cs typeface="Tahoma" panose="020B0604030504040204"/>
              </a:rPr>
              <a:t>Varied;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organizations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40" dirty="0">
                <a:latin typeface="Tahoma" panose="020B0604030504040204"/>
                <a:cs typeface="Tahoma" panose="020B0604030504040204"/>
              </a:rPr>
              <a:t>prefer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expert,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certified,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proficient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technician</a:t>
            </a:r>
            <a:endParaRPr lang="en-US" sz="1800" dirty="0">
              <a:latin typeface="Tahoma" panose="020B0604030504040204"/>
              <a:cs typeface="Tahoma" panose="020B0604030504040204"/>
            </a:endParaRPr>
          </a:p>
          <a:p>
            <a:pPr marL="566420" marR="170180">
              <a:lnSpc>
                <a:spcPct val="100000"/>
              </a:lnSpc>
              <a:spcBef>
                <a:spcPts val="560"/>
              </a:spcBef>
            </a:pPr>
            <a:r>
              <a:rPr lang="en-US" sz="1800" spc="-35" dirty="0">
                <a:latin typeface="Tahoma" panose="020B0604030504040204"/>
                <a:cs typeface="Tahoma" panose="020B0604030504040204"/>
              </a:rPr>
              <a:t>Some </a:t>
            </a:r>
            <a:r>
              <a:rPr lang="en-US" sz="1800" spc="-50" dirty="0">
                <a:latin typeface="Tahoma" panose="020B0604030504040204"/>
                <a:cs typeface="Tahoma" panose="020B0604030504040204"/>
              </a:rPr>
              <a:t>experience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with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a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particular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55" dirty="0">
                <a:latin typeface="Tahoma" panose="020B0604030504040204"/>
                <a:cs typeface="Tahoma" panose="020B0604030504040204"/>
              </a:rPr>
              <a:t>hardware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and </a:t>
            </a:r>
            <a:r>
              <a:rPr lang="en-US" sz="1800" spc="-40" dirty="0">
                <a:latin typeface="Tahoma" panose="020B0604030504040204"/>
                <a:cs typeface="Tahoma" panose="020B0604030504040204"/>
              </a:rPr>
              <a:t>software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package</a:t>
            </a:r>
            <a:endParaRPr lang="en-US" sz="1800" dirty="0">
              <a:latin typeface="Tahoma" panose="020B0604030504040204"/>
              <a:cs typeface="Tahoma" panose="020B0604030504040204"/>
            </a:endParaRPr>
          </a:p>
          <a:p>
            <a:pPr marL="566420">
              <a:lnSpc>
                <a:spcPct val="100000"/>
              </a:lnSpc>
              <a:spcBef>
                <a:spcPts val="555"/>
              </a:spcBef>
            </a:pPr>
            <a:r>
              <a:rPr lang="en-US" sz="1800" dirty="0">
                <a:latin typeface="Tahoma" panose="020B0604030504040204"/>
                <a:cs typeface="Tahoma" panose="020B0604030504040204"/>
              </a:rPr>
              <a:t>Actual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50" dirty="0">
                <a:latin typeface="Tahoma" panose="020B0604030504040204"/>
                <a:cs typeface="Tahoma" panose="020B0604030504040204"/>
              </a:rPr>
              <a:t>experience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in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using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a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technology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usually</a:t>
            </a:r>
            <a:r>
              <a:rPr lang="en-US" sz="18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required</a:t>
            </a:r>
            <a:endParaRPr lang="en-US" sz="18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Credentials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Professionals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 fontScale="92500" lnSpcReduction="20000"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Certification</a:t>
            </a:r>
            <a:r>
              <a:rPr lang="en-US" sz="2400" spc="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Costs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>
              <a:lnSpc>
                <a:spcPct val="100000"/>
              </a:lnSpc>
              <a:spcBef>
                <a:spcPts val="630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Better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certifications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can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be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very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expensive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25" dirty="0">
                <a:latin typeface="Tahoma" panose="020B0604030504040204"/>
                <a:cs typeface="Tahoma" panose="020B0604030504040204"/>
              </a:rPr>
              <a:t>Even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experienced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professionals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find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it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difficult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take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an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exam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without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some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preparation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22860">
              <a:lnSpc>
                <a:spcPct val="103000"/>
              </a:lnSpc>
              <a:spcBef>
                <a:spcPts val="1150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Many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candidates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teach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themselves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through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trade 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press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books;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others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prefer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structure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formal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training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30" dirty="0">
                <a:latin typeface="Tahoma" panose="020B0604030504040204"/>
                <a:cs typeface="Tahoma" panose="020B0604030504040204"/>
              </a:rPr>
              <a:t>Before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attempting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certification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exam,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do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all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homework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and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review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exam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criteria,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its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purpose,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requirements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in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order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to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ensure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that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time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and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energy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spent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pursuing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certification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are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well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spent.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Credentials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5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Professionals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6" name="object 44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816612" y="2332394"/>
            <a:ext cx="6327388" cy="39385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56961" y="6424735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800" dirty="0">
                <a:latin typeface="Calibri" panose="020F0502020204030204"/>
                <a:cs typeface="Calibri" panose="020F0502020204030204"/>
              </a:rPr>
              <a:t>Figure</a:t>
            </a:r>
            <a:r>
              <a:rPr lang="en-US" sz="1800" spc="6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11-3</a:t>
            </a:r>
            <a:r>
              <a:rPr lang="en-US" sz="1800" spc="5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Preparing</a:t>
            </a:r>
            <a:r>
              <a:rPr lang="en-US" sz="1800" spc="9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for</a:t>
            </a:r>
            <a:r>
              <a:rPr lang="en-US" sz="1800" spc="50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Security</a:t>
            </a:r>
            <a:r>
              <a:rPr lang="en-US" sz="1800" spc="7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spc="-10" dirty="0">
                <a:latin typeface="Calibri" panose="020F0502020204030204"/>
                <a:cs typeface="Calibri" panose="020F0502020204030204"/>
              </a:rPr>
              <a:t>Certification</a:t>
            </a:r>
            <a:endParaRPr lang="en-US" sz="18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Employment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Policies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Practices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 fontScale="92500" lnSpcReduction="10000"/>
          </a:bodyPr>
          <a:lstStyle/>
          <a:p>
            <a:pPr marL="12700" marR="413385">
              <a:lnSpc>
                <a:spcPct val="103000"/>
              </a:lnSpc>
              <a:spcBef>
                <a:spcPts val="55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general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management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community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interest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should integrate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solid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concepts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into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the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organization’s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employment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policies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practices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303530">
              <a:lnSpc>
                <a:spcPct val="103000"/>
              </a:lnSpc>
              <a:spcBef>
                <a:spcPts val="1150"/>
              </a:spcBef>
            </a:pP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Organization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make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IS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documented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part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every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employee’s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job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description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20" dirty="0">
                <a:latin typeface="Tahoma" panose="020B0604030504040204"/>
                <a:cs typeface="Tahoma" panose="020B0604030504040204"/>
              </a:rPr>
              <a:t>From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perspective,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hiring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employees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is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a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responsibility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laden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with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potential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pitfalls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8255">
              <a:lnSpc>
                <a:spcPct val="103000"/>
              </a:lnSpc>
              <a:spcBef>
                <a:spcPts val="1150"/>
              </a:spcBef>
            </a:pP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CISO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manager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provide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human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resources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with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input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personnel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hiring guidelines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Employment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Policies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Practices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pic>
        <p:nvPicPr>
          <p:cNvPr id="6" name="object 46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2524492" y="2312013"/>
            <a:ext cx="6970382" cy="38000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73648" y="6245488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800" spc="-10" dirty="0">
                <a:latin typeface="Calibri" panose="020F0502020204030204"/>
                <a:cs typeface="Calibri" panose="020F0502020204030204"/>
              </a:rPr>
              <a:t>Figure</a:t>
            </a:r>
            <a:r>
              <a:rPr lang="en-US" sz="1800" spc="-2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spc="-10" dirty="0">
                <a:latin typeface="Calibri" panose="020F0502020204030204"/>
                <a:cs typeface="Calibri" panose="020F0502020204030204"/>
              </a:rPr>
              <a:t>11-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4</a:t>
            </a:r>
            <a:r>
              <a:rPr lang="en-US" sz="1800" spc="-35" dirty="0">
                <a:latin typeface="Calibri" panose="020F0502020204030204"/>
                <a:cs typeface="Calibri" panose="020F0502020204030204"/>
              </a:rPr>
              <a:t> </a:t>
            </a:r>
            <a:r>
              <a:rPr lang="en-US" sz="1800" dirty="0">
                <a:latin typeface="Calibri" panose="020F0502020204030204"/>
                <a:cs typeface="Calibri" panose="020F0502020204030204"/>
              </a:rPr>
              <a:t>Hiring</a:t>
            </a:r>
            <a:r>
              <a:rPr lang="en-US" sz="1800" spc="-10" dirty="0">
                <a:latin typeface="Calibri" panose="020F0502020204030204"/>
                <a:cs typeface="Calibri" panose="020F0502020204030204"/>
              </a:rPr>
              <a:t> Issues</a:t>
            </a:r>
            <a:endParaRPr lang="en-US" sz="1800" dirty="0">
              <a:latin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Job</a:t>
            </a:r>
            <a:r>
              <a:rPr lang="en-US" sz="32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Descriptions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 marR="5080">
              <a:lnSpc>
                <a:spcPct val="103000"/>
              </a:lnSpc>
              <a:spcBef>
                <a:spcPts val="55"/>
              </a:spcBef>
            </a:pPr>
            <a:r>
              <a:rPr lang="en-US" sz="2400" spc="-40" dirty="0">
                <a:latin typeface="Tahoma" panose="020B0604030504040204"/>
                <a:cs typeface="Tahoma" panose="020B0604030504040204"/>
              </a:rPr>
              <a:t>Integrating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perspectives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into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hiring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process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begins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with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reviewing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updating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all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job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descriptions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8890">
              <a:lnSpc>
                <a:spcPct val="103000"/>
              </a:lnSpc>
              <a:spcBef>
                <a:spcPts val="1150"/>
              </a:spcBef>
            </a:pP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Organization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avoid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revealing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access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privileges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to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prospective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employees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when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advertising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open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positions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Interviews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 marR="8255">
              <a:lnSpc>
                <a:spcPct val="103000"/>
              </a:lnSpc>
              <a:spcBef>
                <a:spcPts val="55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An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opening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within the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department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creates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unique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opportunity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manager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to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educate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human</a:t>
            </a:r>
            <a:r>
              <a:rPr lang="en-US" sz="2400" spc="-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resource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(HR)</a:t>
            </a:r>
            <a:r>
              <a:rPr lang="en-US" sz="2400" spc="-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on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certifications,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experience,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qualifications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good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candidate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advise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HR</a:t>
            </a:r>
            <a:r>
              <a:rPr lang="en-US" sz="2400" spc="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limit</a:t>
            </a:r>
            <a:r>
              <a:rPr lang="en-US"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information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provided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candidate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on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responsibilities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access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rights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new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hire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would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have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236855">
              <a:lnSpc>
                <a:spcPct val="103000"/>
              </a:lnSpc>
              <a:spcBef>
                <a:spcPts val="1150"/>
              </a:spcBef>
            </a:pPr>
            <a:r>
              <a:rPr lang="en-US" sz="2400" spc="-10" dirty="0"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organizations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that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include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on-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site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visits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as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part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of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interviews,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it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is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important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use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caution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when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showing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candidate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around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facility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Interviews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 marR="8255">
              <a:lnSpc>
                <a:spcPct val="103000"/>
              </a:lnSpc>
              <a:spcBef>
                <a:spcPts val="55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An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opening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within the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department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creates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unique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opportunity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manager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to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educate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human</a:t>
            </a:r>
            <a:r>
              <a:rPr lang="en-US" sz="2400" spc="-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resource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(HR)</a:t>
            </a:r>
            <a:r>
              <a:rPr lang="en-US" sz="2400" spc="-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on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certifications,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experience,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qualifications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good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candidate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advise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HR</a:t>
            </a:r>
            <a:r>
              <a:rPr lang="en-US" sz="2400" spc="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limit</a:t>
            </a:r>
            <a:r>
              <a:rPr lang="en-US"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information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provided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candidate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on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responsibilities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access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rights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new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hire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would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have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236855">
              <a:lnSpc>
                <a:spcPct val="103000"/>
              </a:lnSpc>
              <a:spcBef>
                <a:spcPts val="1150"/>
              </a:spcBef>
            </a:pPr>
            <a:r>
              <a:rPr lang="en-US" sz="2400" spc="-10" dirty="0"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organizations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that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include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on-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site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visits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as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part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of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interviews,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it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is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important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use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caution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when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showing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candidate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around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facility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Background</a:t>
            </a:r>
            <a:r>
              <a:rPr lang="en-US" sz="32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Checks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400" spc="-45" dirty="0">
                <a:latin typeface="Tahoma" panose="020B0604030504040204"/>
                <a:cs typeface="Tahoma" panose="020B0604030504040204"/>
              </a:rPr>
              <a:t>Investigation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into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candidate’s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past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146685">
              <a:lnSpc>
                <a:spcPct val="103000"/>
              </a:lnSpc>
              <a:spcBef>
                <a:spcPts val="1150"/>
              </a:spcBef>
            </a:pPr>
            <a:r>
              <a:rPr lang="en-US" sz="2400" spc="-30" dirty="0">
                <a:latin typeface="Tahoma" panose="020B0604030504040204"/>
                <a:cs typeface="Tahoma" panose="020B0604030504040204"/>
              </a:rPr>
              <a:t>Should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be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conducted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before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organization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extends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offer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to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candidate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113030">
              <a:lnSpc>
                <a:spcPct val="103000"/>
              </a:lnSpc>
              <a:spcBef>
                <a:spcPts val="1145"/>
              </a:spcBef>
            </a:pP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Background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checks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differ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in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level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detail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depth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with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which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candidate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is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examined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1150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May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include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identity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check, education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 credential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check,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previous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employment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verification,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references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check,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workers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compensation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history,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motor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vehicle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records,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drug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history,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credit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history,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and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more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Types of Background</a:t>
            </a:r>
            <a:r>
              <a:rPr lang="en-US" sz="32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Checks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 marR="222885">
              <a:lnSpc>
                <a:spcPct val="103000"/>
              </a:lnSpc>
              <a:spcBef>
                <a:spcPts val="55"/>
              </a:spcBef>
            </a:pP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Identity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checks:</a:t>
            </a:r>
            <a:r>
              <a:rPr lang="en-US" sz="2400" spc="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Validation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identity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Social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Security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number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62230">
              <a:lnSpc>
                <a:spcPct val="103000"/>
              </a:lnSpc>
              <a:spcBef>
                <a:spcPts val="1150"/>
              </a:spcBef>
            </a:pP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Education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and credential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checks:</a:t>
            </a:r>
            <a:r>
              <a:rPr lang="en-US" sz="2400" spc="7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Validation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institutions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attended,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5" dirty="0">
                <a:latin typeface="Tahoma" panose="020B0604030504040204"/>
                <a:cs typeface="Tahoma" panose="020B0604030504040204"/>
              </a:rPr>
              <a:t>degrees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certifications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earned,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certification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status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Previous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employment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verification:</a:t>
            </a:r>
            <a:r>
              <a:rPr lang="en-US" sz="2400" spc="6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Validation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where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candidates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worked,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why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they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left,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what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they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did,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how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long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181610">
              <a:lnSpc>
                <a:spcPct val="103000"/>
              </a:lnSpc>
              <a:spcBef>
                <a:spcPts val="1150"/>
              </a:spcBef>
            </a:pP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Reference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checks:</a:t>
            </a:r>
            <a:r>
              <a:rPr lang="en-US" sz="2400" spc="6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Validation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references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integrity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of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reference</a:t>
            </a:r>
            <a:r>
              <a:rPr lang="en-US" sz="2400" spc="5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sources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Types of Background</a:t>
            </a:r>
            <a:r>
              <a:rPr lang="en-US" sz="3200" spc="-3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Checks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 fontScale="85000" lnSpcReduction="10000"/>
          </a:bodyPr>
          <a:lstStyle/>
          <a:p>
            <a:pPr marL="12700" marR="27940">
              <a:lnSpc>
                <a:spcPct val="103000"/>
              </a:lnSpc>
              <a:spcBef>
                <a:spcPts val="55"/>
              </a:spcBef>
            </a:pP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Worker’s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compensation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history:</a:t>
            </a:r>
            <a:r>
              <a:rPr lang="en-US" sz="2400" spc="8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Investigation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claims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from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worker’s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compensation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353060">
              <a:lnSpc>
                <a:spcPct val="103000"/>
              </a:lnSpc>
              <a:spcBef>
                <a:spcPts val="900"/>
              </a:spcBef>
            </a:pP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Motor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vehicle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records:</a:t>
            </a:r>
            <a:r>
              <a:rPr lang="en-US" sz="2400" spc="7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Investigation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driving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records,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suspensions,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DUIs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66675">
              <a:lnSpc>
                <a:spcPct val="103000"/>
              </a:lnSpc>
              <a:spcBef>
                <a:spcPts val="905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Drug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history:</a:t>
            </a:r>
            <a:r>
              <a:rPr lang="en-US" sz="2400" spc="7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Screening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drugs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and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drug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usage,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past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and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present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243840">
              <a:lnSpc>
                <a:spcPct val="103000"/>
              </a:lnSpc>
              <a:spcBef>
                <a:spcPts val="900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Credit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history:</a:t>
            </a:r>
            <a:r>
              <a:rPr lang="en-US" sz="2400" spc="7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Investigation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credit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problems,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financial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problems,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bankruptcy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361950">
              <a:lnSpc>
                <a:spcPct val="103000"/>
              </a:lnSpc>
              <a:spcBef>
                <a:spcPts val="900"/>
              </a:spcBef>
            </a:pP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Civil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court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history:</a:t>
            </a:r>
            <a:r>
              <a:rPr lang="en-US" sz="2400" spc="8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Investigation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involvement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as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the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plaintiff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or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defendant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in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civil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suits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900"/>
              </a:spcBef>
            </a:pP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Criminal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court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history:</a:t>
            </a:r>
            <a:r>
              <a:rPr lang="en-US" sz="2400" spc="7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Investigation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criminal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background, arrests,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convictions,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time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served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Employment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Policies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Practices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Employment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Contracts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227965">
              <a:lnSpc>
                <a:spcPct val="103000"/>
              </a:lnSpc>
              <a:spcBef>
                <a:spcPts val="595"/>
              </a:spcBef>
            </a:pPr>
            <a:r>
              <a:rPr lang="en-US" sz="2400" spc="-20" dirty="0">
                <a:latin typeface="Tahoma" panose="020B0604030504040204"/>
                <a:cs typeface="Tahoma" panose="020B0604030504040204"/>
              </a:rPr>
              <a:t>Once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candidate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has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accepted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job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offer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,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employment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contract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becomes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important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security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instrument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>
              <a:lnSpc>
                <a:spcPct val="100000"/>
              </a:lnSpc>
              <a:spcBef>
                <a:spcPts val="1185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Many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security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policies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require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an </a:t>
            </a:r>
            <a:r>
              <a:rPr lang="en-US" sz="2400" spc="-75" dirty="0">
                <a:latin typeface="Tahoma" panose="020B0604030504040204"/>
                <a:cs typeface="Tahoma" panose="020B0604030504040204"/>
              </a:rPr>
              <a:t>employee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agree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writing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48895">
              <a:lnSpc>
                <a:spcPct val="103000"/>
              </a:lnSpc>
              <a:spcBef>
                <a:spcPts val="1150"/>
              </a:spcBef>
            </a:pPr>
            <a:r>
              <a:rPr lang="en-US" sz="2400" spc="-20" dirty="0">
                <a:latin typeface="Tahoma" panose="020B0604030504040204"/>
                <a:cs typeface="Tahoma" panose="020B0604030504040204"/>
              </a:rPr>
              <a:t>New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5" dirty="0">
                <a:latin typeface="Tahoma" panose="020B0604030504040204"/>
                <a:cs typeface="Tahoma" panose="020B0604030504040204"/>
              </a:rPr>
              <a:t>employees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may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find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policies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classified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as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employment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contingent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upon</a:t>
            </a:r>
            <a:r>
              <a:rPr lang="en-US" sz="2400" spc="-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agreement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,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whereby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5" dirty="0">
                <a:latin typeface="Tahoma" panose="020B0604030504040204"/>
                <a:cs typeface="Tahoma" panose="020B0604030504040204"/>
              </a:rPr>
              <a:t>employee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is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not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offered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position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unless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binding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organizational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policies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are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agreed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to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Employment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Policies</a:t>
            </a:r>
            <a:r>
              <a:rPr lang="en-US" sz="3200" spc="-4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and</a:t>
            </a: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Practices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 marR="42545">
              <a:lnSpc>
                <a:spcPct val="103000"/>
              </a:lnSpc>
              <a:spcBef>
                <a:spcPts val="55"/>
              </a:spcBef>
            </a:pPr>
            <a:r>
              <a:rPr lang="en-US" sz="2400" spc="-20" dirty="0">
                <a:latin typeface="Tahoma" panose="020B0604030504040204"/>
                <a:cs typeface="Tahoma" panose="020B0604030504040204"/>
              </a:rPr>
              <a:t>New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5" dirty="0">
                <a:latin typeface="Tahoma" panose="020B0604030504040204"/>
                <a:cs typeface="Tahoma" panose="020B0604030504040204"/>
              </a:rPr>
              <a:t>employees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receive</a:t>
            </a:r>
            <a:r>
              <a:rPr lang="en-US"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extensive</a:t>
            </a:r>
            <a:r>
              <a:rPr lang="en-US"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 briefing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on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policies,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procedures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,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and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requirements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Levels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authorized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access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are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outlined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;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training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provided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on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secure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use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systems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321310">
              <a:lnSpc>
                <a:spcPct val="103000"/>
              </a:lnSpc>
              <a:spcBef>
                <a:spcPts val="1150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By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time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employees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start,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they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be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thoroughly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briefed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ready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perform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duties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securely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New</a:t>
            </a:r>
            <a:r>
              <a:rPr lang="en-US" sz="3200" spc="-7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Hire</a:t>
            </a:r>
            <a:r>
              <a:rPr lang="en-US" sz="3200" spc="-7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2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Orientation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 marR="42545">
              <a:lnSpc>
                <a:spcPct val="103000"/>
              </a:lnSpc>
              <a:spcBef>
                <a:spcPts val="55"/>
              </a:spcBef>
            </a:pPr>
            <a:r>
              <a:rPr lang="en-US" sz="2400" spc="-20" dirty="0">
                <a:latin typeface="Tahoma" panose="020B0604030504040204"/>
                <a:cs typeface="Tahoma" panose="020B0604030504040204"/>
              </a:rPr>
              <a:t>New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5" dirty="0">
                <a:latin typeface="Tahoma" panose="020B0604030504040204"/>
                <a:cs typeface="Tahoma" panose="020B0604030504040204"/>
              </a:rPr>
              <a:t>employees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receive</a:t>
            </a:r>
            <a:r>
              <a:rPr lang="en-US"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extensive</a:t>
            </a:r>
            <a:r>
              <a:rPr lang="en-US"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 briefing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on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policies,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procedures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,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and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requirements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Levels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authorized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access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are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outlined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;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training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provided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on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secure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use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systems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321310">
              <a:lnSpc>
                <a:spcPct val="103000"/>
              </a:lnSpc>
              <a:spcBef>
                <a:spcPts val="1150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By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time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0" dirty="0">
                <a:latin typeface="Tahoma" panose="020B0604030504040204"/>
                <a:cs typeface="Tahoma" panose="020B0604030504040204"/>
              </a:rPr>
              <a:t>employees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start,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they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be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thoroughly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briefed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ready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perform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duties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securely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On-</a:t>
            </a:r>
            <a:r>
              <a:rPr lang="en-US" sz="3200" spc="-3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the-</a:t>
            </a:r>
            <a:r>
              <a:rPr lang="en-US" sz="320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Job</a:t>
            </a: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Security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Training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 marR="211455">
              <a:lnSpc>
                <a:spcPct val="103000"/>
              </a:lnSpc>
              <a:spcBef>
                <a:spcPts val="55"/>
              </a:spcBef>
            </a:pPr>
            <a:r>
              <a:rPr lang="en-US" sz="2400" spc="-25" dirty="0">
                <a:latin typeface="Tahoma" panose="020B0604030504040204"/>
                <a:cs typeface="Tahoma" panose="020B0604030504040204"/>
              </a:rPr>
              <a:t>Organization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conduct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periodic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awareness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training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124460">
              <a:lnSpc>
                <a:spcPct val="103000"/>
              </a:lnSpc>
              <a:spcBef>
                <a:spcPts val="1150"/>
              </a:spcBef>
            </a:pPr>
            <a:r>
              <a:rPr lang="en-US" sz="2400" spc="-25" dirty="0">
                <a:latin typeface="Tahoma" panose="020B0604030504040204"/>
                <a:cs typeface="Tahoma" panose="020B0604030504040204"/>
              </a:rPr>
              <a:t>Keeping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security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at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forefront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employees’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minds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and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minimizing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5" dirty="0">
                <a:latin typeface="Tahoma" panose="020B0604030504040204"/>
                <a:cs typeface="Tahoma" panose="020B0604030504040204"/>
              </a:rPr>
              <a:t>employee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mistakes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is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an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important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part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of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8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awareness</a:t>
            </a:r>
            <a:r>
              <a:rPr lang="en-US" sz="2400" spc="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mission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External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and 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internal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seminars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also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increase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level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security </a:t>
            </a:r>
            <a:r>
              <a:rPr lang="en-US" sz="2400" spc="-80" dirty="0">
                <a:latin typeface="Tahoma" panose="020B0604030504040204"/>
                <a:cs typeface="Tahoma" panose="020B0604030504040204"/>
              </a:rPr>
              <a:t>awareness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for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all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employees,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particularly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employees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25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Evaluating</a:t>
            </a:r>
            <a:r>
              <a:rPr lang="en-US" sz="3200" spc="-4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Performance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 marR="520065">
              <a:lnSpc>
                <a:spcPct val="103000"/>
              </a:lnSpc>
              <a:spcBef>
                <a:spcPts val="55"/>
              </a:spcBef>
            </a:pP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Organizations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incorporate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IS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components</a:t>
            </a:r>
            <a:r>
              <a:rPr lang="en-US" sz="2400" spc="-1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into </a:t>
            </a:r>
            <a:r>
              <a:rPr lang="en-US" sz="2400" spc="-7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employee</a:t>
            </a:r>
            <a:r>
              <a:rPr lang="en-US" sz="2400" spc="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performance</a:t>
            </a:r>
            <a:r>
              <a:rPr lang="en-US" sz="2400" spc="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evaluations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indent="-277495">
              <a:lnSpc>
                <a:spcPct val="100000"/>
              </a:lnSpc>
              <a:spcBef>
                <a:spcPts val="1185"/>
              </a:spcBef>
            </a:pPr>
            <a:r>
              <a:rPr lang="en-US" sz="2400" spc="-50" dirty="0">
                <a:latin typeface="Tahoma" panose="020B0604030504040204"/>
                <a:cs typeface="Tahoma" panose="020B0604030504040204"/>
              </a:rPr>
              <a:t>Employees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pay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close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attention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job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performance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evaluations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289560" marR="5080">
              <a:lnSpc>
                <a:spcPct val="100000"/>
              </a:lnSpc>
              <a:spcBef>
                <a:spcPts val="475"/>
              </a:spcBef>
            </a:pPr>
            <a:r>
              <a:rPr lang="en-US" sz="1800" spc="-20" dirty="0">
                <a:latin typeface="Tahoma" panose="020B0604030504040204"/>
                <a:cs typeface="Tahoma" panose="020B0604030504040204"/>
              </a:rPr>
              <a:t>If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evaluations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include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5" dirty="0">
                <a:latin typeface="Tahoma" panose="020B0604030504040204"/>
                <a:cs typeface="Tahoma" panose="020B0604030504040204"/>
              </a:rPr>
              <a:t>security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 tasks,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60" dirty="0">
                <a:latin typeface="Tahoma" panose="020B0604030504040204"/>
                <a:cs typeface="Tahoma" panose="020B0604030504040204"/>
              </a:rPr>
              <a:t>employees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are </a:t>
            </a:r>
            <a:r>
              <a:rPr lang="en-US" sz="1800" spc="-50" dirty="0">
                <a:latin typeface="Tahoma" panose="020B0604030504040204"/>
                <a:cs typeface="Tahoma" panose="020B0604030504040204"/>
              </a:rPr>
              <a:t>more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motivated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perform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50" dirty="0">
                <a:latin typeface="Tahoma" panose="020B0604030504040204"/>
                <a:cs typeface="Tahoma" panose="020B0604030504040204"/>
              </a:rPr>
              <a:t>these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25" dirty="0">
                <a:latin typeface="Tahoma" panose="020B0604030504040204"/>
                <a:cs typeface="Tahoma" panose="020B0604030504040204"/>
              </a:rPr>
              <a:t>tasks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at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dirty="0">
                <a:latin typeface="Tahoma" panose="020B0604030504040204"/>
                <a:cs typeface="Tahoma" panose="020B0604030504040204"/>
              </a:rPr>
              <a:t>a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30" dirty="0">
                <a:latin typeface="Tahoma" panose="020B0604030504040204"/>
                <a:cs typeface="Tahoma" panose="020B0604030504040204"/>
              </a:rPr>
              <a:t>satisfactory</a:t>
            </a:r>
            <a:r>
              <a:rPr lang="en-US" sz="18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1800" spc="-10" dirty="0">
                <a:latin typeface="Tahoma" panose="020B0604030504040204"/>
                <a:cs typeface="Tahoma" panose="020B0604030504040204"/>
              </a:rPr>
              <a:t>level</a:t>
            </a:r>
            <a:endParaRPr lang="en-US" sz="18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 sz="3200" spc="-10" dirty="0">
                <a:solidFill>
                  <a:srgbClr val="FFFFFF"/>
                </a:solidFill>
                <a:latin typeface="Tahoma" panose="020B0604030504040204"/>
                <a:cs typeface="Tahoma" panose="020B0604030504040204"/>
              </a:rPr>
              <a:t>Termination</a:t>
            </a:r>
            <a:endParaRPr lang="en-US" sz="3200" dirty="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8"/>
          </p:nvPr>
        </p:nvSpPr>
        <p:spPr>
          <a:xfrm>
            <a:off x="1542563" y="2590800"/>
            <a:ext cx="10013710" cy="3718557"/>
          </a:xfrm>
        </p:spPr>
        <p:txBody>
          <a:bodyPr>
            <a:normAutofit/>
          </a:bodyPr>
          <a:lstStyle/>
          <a:p>
            <a:pPr marL="12700" marR="47625">
              <a:lnSpc>
                <a:spcPct val="103000"/>
              </a:lnSpc>
              <a:spcBef>
                <a:spcPts val="55"/>
              </a:spcBef>
            </a:pPr>
            <a:r>
              <a:rPr lang="en-US" sz="2400" spc="-20" dirty="0">
                <a:latin typeface="Tahoma" panose="020B0604030504040204"/>
                <a:cs typeface="Tahoma" panose="020B0604030504040204"/>
              </a:rPr>
              <a:t>When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5" dirty="0">
                <a:latin typeface="Tahoma" panose="020B0604030504040204"/>
                <a:cs typeface="Tahoma" panose="020B0604030504040204"/>
              </a:rPr>
              <a:t>employee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leaves</a:t>
            </a:r>
            <a:r>
              <a:rPr lang="en-US" sz="2400" spc="-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organization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,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there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0" dirty="0">
                <a:latin typeface="Tahoma" panose="020B0604030504040204"/>
                <a:cs typeface="Tahoma" panose="020B0604030504040204"/>
              </a:rPr>
              <a:t>are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number</a:t>
            </a:r>
            <a:r>
              <a:rPr lang="en-US" sz="2400" spc="-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of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security-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related</a:t>
            </a:r>
            <a:r>
              <a:rPr lang="en-US" sz="2400" spc="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issues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43180">
              <a:lnSpc>
                <a:spcPct val="103000"/>
              </a:lnSpc>
              <a:spcBef>
                <a:spcPts val="1150"/>
              </a:spcBef>
            </a:pP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Key</a:t>
            </a:r>
            <a:r>
              <a:rPr lang="en-US" sz="2400" spc="-2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is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protection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all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information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which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5" dirty="0">
                <a:latin typeface="Tahoma" panose="020B0604030504040204"/>
                <a:cs typeface="Tahoma" panose="020B0604030504040204"/>
              </a:rPr>
              <a:t>employee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had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access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5080">
              <a:lnSpc>
                <a:spcPct val="103000"/>
              </a:lnSpc>
              <a:spcBef>
                <a:spcPts val="1150"/>
              </a:spcBef>
            </a:pPr>
            <a:r>
              <a:rPr lang="en-US" sz="2400" spc="-20" dirty="0">
                <a:latin typeface="Tahoma" panose="020B0604030504040204"/>
                <a:cs typeface="Tahoma" panose="020B0604030504040204"/>
              </a:rPr>
              <a:t>Once</a:t>
            </a:r>
            <a:r>
              <a:rPr lang="en-US" sz="2400" spc="-5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cleared,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the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former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75" dirty="0">
                <a:latin typeface="Tahoma" panose="020B0604030504040204"/>
                <a:cs typeface="Tahoma" panose="020B0604030504040204"/>
              </a:rPr>
              <a:t>employee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should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be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5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escorted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from </a:t>
            </a:r>
            <a:r>
              <a:rPr lang="en-US" sz="2400" spc="-1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premises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  <a:p>
            <a:pPr marL="12700" marR="13970">
              <a:lnSpc>
                <a:spcPct val="103000"/>
              </a:lnSpc>
              <a:spcBef>
                <a:spcPts val="1150"/>
              </a:spcBef>
            </a:pPr>
            <a:r>
              <a:rPr lang="en-US" sz="2400" dirty="0">
                <a:latin typeface="Tahoma" panose="020B0604030504040204"/>
                <a:cs typeface="Tahoma" panose="020B0604030504040204"/>
              </a:rPr>
              <a:t>Many</a:t>
            </a:r>
            <a:r>
              <a:rPr lang="en-US" sz="2400" spc="-4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40" dirty="0">
                <a:latin typeface="Tahoma" panose="020B0604030504040204"/>
                <a:cs typeface="Tahoma" panose="020B0604030504040204"/>
              </a:rPr>
              <a:t>organizations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65" dirty="0">
                <a:latin typeface="Tahoma" panose="020B0604030504040204"/>
                <a:cs typeface="Tahoma" panose="020B0604030504040204"/>
              </a:rPr>
              <a:t>use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an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exit</a:t>
            </a:r>
            <a:r>
              <a:rPr lang="en-US" sz="2400" spc="-30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solidFill>
                  <a:srgbClr val="0000FF"/>
                </a:solidFill>
                <a:latin typeface="Tahoma" panose="020B0604030504040204"/>
                <a:cs typeface="Tahoma" panose="020B0604030504040204"/>
              </a:rPr>
              <a:t>interview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remind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10" dirty="0">
                <a:latin typeface="Tahoma" panose="020B0604030504040204"/>
                <a:cs typeface="Tahoma" panose="020B0604030504040204"/>
              </a:rPr>
              <a:t>former </a:t>
            </a:r>
            <a:r>
              <a:rPr lang="en-US" sz="2400" spc="-75" dirty="0">
                <a:latin typeface="Tahoma" panose="020B0604030504040204"/>
                <a:cs typeface="Tahoma" panose="020B0604030504040204"/>
              </a:rPr>
              <a:t>employee</a:t>
            </a:r>
            <a:r>
              <a:rPr lang="en-US" sz="2400" spc="-1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of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contractual </a:t>
            </a:r>
            <a:r>
              <a:rPr lang="en-US" sz="2400" spc="-30" dirty="0">
                <a:latin typeface="Tahoma" panose="020B0604030504040204"/>
                <a:cs typeface="Tahoma" panose="020B0604030504040204"/>
              </a:rPr>
              <a:t>obligations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35" dirty="0">
                <a:latin typeface="Tahoma" panose="020B0604030504040204"/>
                <a:cs typeface="Tahoma" panose="020B0604030504040204"/>
              </a:rPr>
              <a:t>and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dirty="0">
                <a:latin typeface="Tahoma" panose="020B0604030504040204"/>
                <a:cs typeface="Tahoma" panose="020B0604030504040204"/>
              </a:rPr>
              <a:t>to</a:t>
            </a:r>
            <a:r>
              <a:rPr lang="en-US" sz="2400" spc="-25" dirty="0">
                <a:latin typeface="Tahoma" panose="020B0604030504040204"/>
                <a:cs typeface="Tahoma" panose="020B0604030504040204"/>
              </a:rPr>
              <a:t> </a:t>
            </a:r>
            <a:r>
              <a:rPr lang="en-US" sz="2400" spc="-20" dirty="0">
                <a:latin typeface="Tahoma" panose="020B0604030504040204"/>
                <a:cs typeface="Tahoma" panose="020B0604030504040204"/>
              </a:rPr>
              <a:t>obtain </a:t>
            </a:r>
            <a:r>
              <a:rPr lang="en-US" sz="2400" spc="-50" dirty="0">
                <a:latin typeface="Tahoma" panose="020B0604030504040204"/>
                <a:cs typeface="Tahoma" panose="020B0604030504040204"/>
              </a:rPr>
              <a:t>feedback</a:t>
            </a:r>
            <a:endParaRPr lang="en-US" sz="2400" dirty="0">
              <a:latin typeface="Tahoma" panose="020B0604030504040204"/>
              <a:cs typeface="Tahoma" panose="020B060403050404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1AA24C-4CA6-40FF-8947-DA1F6F47456C}">
  <ds:schemaRefs/>
</ds:datastoreItem>
</file>

<file path=customXml/itemProps2.xml><?xml version="1.0" encoding="utf-8"?>
<ds:datastoreItem xmlns:ds="http://schemas.openxmlformats.org/officeDocument/2006/customXml" ds:itemID="{57FF477C-132F-44F8-8C56-EBFF95FAF97B}">
  <ds:schemaRefs/>
</ds:datastoreItem>
</file>

<file path=customXml/itemProps3.xml><?xml version="1.0" encoding="utf-8"?>
<ds:datastoreItem xmlns:ds="http://schemas.openxmlformats.org/officeDocument/2006/customXml" ds:itemID="{6F36CB81-A037-44A8-88EB-C0C0F17FD4B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{6757FCC7-689D-46DA-8597-F01DD36BC12F}tf56000440_win32</Template>
  <TotalTime>0</TotalTime>
  <Words>9690</Words>
  <Application>WPS Presentation</Application>
  <PresentationFormat>Widescreen</PresentationFormat>
  <Paragraphs>189</Paragraphs>
  <Slides>29</Slides>
  <Notes>29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Arial</vt:lpstr>
      <vt:lpstr>SimSun</vt:lpstr>
      <vt:lpstr>Wingdings</vt:lpstr>
      <vt:lpstr>Corbel</vt:lpstr>
      <vt:lpstr>Tahoma</vt:lpstr>
      <vt:lpstr>Calibri</vt:lpstr>
      <vt:lpstr>Meiryo</vt:lpstr>
      <vt:lpstr>Segoe Print</vt:lpstr>
      <vt:lpstr>Microsoft YaHei</vt:lpstr>
      <vt:lpstr>Arial Unicode MS</vt:lpstr>
      <vt:lpstr>ShojiVTI</vt:lpstr>
      <vt:lpstr>Security and Personnel</vt:lpstr>
      <vt:lpstr>Agenda</vt:lpstr>
      <vt:lpstr>Introduction</vt:lpstr>
      <vt:lpstr>Positioning and Staffing the Security Function</vt:lpstr>
      <vt:lpstr>Staffing the Information Security Function</vt:lpstr>
      <vt:lpstr>Staffing the Information Security Function</vt:lpstr>
      <vt:lpstr>Staffing the Information Security Function</vt:lpstr>
      <vt:lpstr>Staffing the Information Security Function</vt:lpstr>
      <vt:lpstr>Staffing the Information Security Function</vt:lpstr>
      <vt:lpstr>Staffing the Information Security Function</vt:lpstr>
      <vt:lpstr>Staffing the Information Security Function</vt:lpstr>
      <vt:lpstr>Staffing the Information Security Function</vt:lpstr>
      <vt:lpstr>Staffing the Information Security Function</vt:lpstr>
      <vt:lpstr>Credentials of Information Security Professionals</vt:lpstr>
      <vt:lpstr>Credentials of Information Security Professionals</vt:lpstr>
      <vt:lpstr>Employment Policies and Practices</vt:lpstr>
      <vt:lpstr>Employment Policies and Practices</vt:lpstr>
      <vt:lpstr>Job Descriptions</vt:lpstr>
      <vt:lpstr>Interviews</vt:lpstr>
      <vt:lpstr>Interviews</vt:lpstr>
      <vt:lpstr>Background Checks</vt:lpstr>
      <vt:lpstr>Types of Background Checks</vt:lpstr>
      <vt:lpstr>Types of Background Checks</vt:lpstr>
      <vt:lpstr>Employment Policies and Practices</vt:lpstr>
      <vt:lpstr>Employment Policies and Practices</vt:lpstr>
      <vt:lpstr>New Hire Orientation</vt:lpstr>
      <vt:lpstr>On-the-Job Security Training</vt:lpstr>
      <vt:lpstr>Evaluating Performance</vt:lpstr>
      <vt:lpstr>Termination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Momina Mir</dc:creator>
  <cp:lastModifiedBy>muhammad hashim</cp:lastModifiedBy>
  <cp:revision>3</cp:revision>
  <dcterms:created xsi:type="dcterms:W3CDTF">2024-06-05T06:00:00Z</dcterms:created>
  <dcterms:modified xsi:type="dcterms:W3CDTF">2026-02-03T08:14:00Z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ICV">
    <vt:lpwstr>99DC8A73DC1546338B1239CDBC031007_12</vt:lpwstr>
  </property>
  <property fmtid="{D5CDD505-2E9C-101B-9397-08002B2CF9AE}" pid="5" name="KSOProductBuildVer">
    <vt:lpwstr>1033-12.2.0.23196</vt:lpwstr>
  </property>
</Properties>
</file>