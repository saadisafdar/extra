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26"/>
  </p:notesMasterIdLst>
  <p:sldIdLst>
    <p:sldId id="306" r:id="rId2"/>
    <p:sldId id="299" r:id="rId3"/>
    <p:sldId id="298" r:id="rId4"/>
    <p:sldId id="297" r:id="rId5"/>
    <p:sldId id="302" r:id="rId6"/>
    <p:sldId id="300" r:id="rId7"/>
    <p:sldId id="304" r:id="rId8"/>
    <p:sldId id="256" r:id="rId9"/>
    <p:sldId id="275" r:id="rId10"/>
    <p:sldId id="257" r:id="rId11"/>
    <p:sldId id="259" r:id="rId12"/>
    <p:sldId id="274" r:id="rId13"/>
    <p:sldId id="307" r:id="rId14"/>
    <p:sldId id="260" r:id="rId15"/>
    <p:sldId id="266" r:id="rId16"/>
    <p:sldId id="261" r:id="rId17"/>
    <p:sldId id="267" r:id="rId18"/>
    <p:sldId id="268" r:id="rId19"/>
    <p:sldId id="278" r:id="rId20"/>
    <p:sldId id="279" r:id="rId21"/>
    <p:sldId id="263" r:id="rId22"/>
    <p:sldId id="280" r:id="rId23"/>
    <p:sldId id="264" r:id="rId24"/>
    <p:sldId id="282" r:id="rId25"/>
  </p:sldIdLst>
  <p:sldSz cx="12192000" cy="6858000"/>
  <p:notesSz cx="7104063" cy="10234613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89179" autoAdjust="0"/>
  </p:normalViewPr>
  <p:slideViewPr>
    <p:cSldViewPr snapToGrid="0">
      <p:cViewPr varScale="1">
        <p:scale>
          <a:sx n="61" d="100"/>
          <a:sy n="61" d="100"/>
        </p:scale>
        <p:origin x="884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423C8DA-EC8A-4AFF-AE80-3C002A4BCF7D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719390F-76EC-4E3F-BB42-5CE5545101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00199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An information security blueprint is a strategic, comprehensive, and scalable plan that outlines an organization's security requirements, policies, and technical controls to protect assets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It translates high-level security strategies into actionable, prioritized steps—such as risk management, employee training, and infrastructure, network, and data protection—to align with business objectives. </a:t>
            </a:r>
          </a:p>
          <a:p>
            <a:r>
              <a:rPr lang="en-US" dirty="0" smtClean="0"/>
              <a:t>A strategic plan defines an organization's long-term goals and direction, while a contingency plan provides alternative, "Plan B" actions to ensure business continuity if unforeseen events (e.g., crises, market shifts) disrupt the primary strategy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19390F-76EC-4E3F-BB42-5CE5545101DC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611606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Governance is the framework by which </a:t>
            </a:r>
            <a:r>
              <a:rPr lang="en-US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organisations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are directed and controlled. It identifies who can make decisions, who has the authority to act on behalf of the </a:t>
            </a:r>
            <a:r>
              <a:rPr lang="en-US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organisation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who is accountable for how an </a:t>
            </a:r>
            <a:r>
              <a:rPr lang="en-US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organisation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its people behave and perform.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19390F-76EC-4E3F-BB42-5CE5545101DC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00950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19390F-76EC-4E3F-BB42-5CE5545101DC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831694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19390F-76EC-4E3F-BB42-5CE5545101DC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06495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19390F-76EC-4E3F-BB42-5CE5545101DC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719762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19390F-76EC-4E3F-BB42-5CE5545101DC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40510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1/29/2026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1/29/2026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1/29/2026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1/29/2026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1/29/2026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1/29/2026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1/29/2026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1/29/2026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US" sz="5400" i="1" spc="-20" dirty="0">
                <a:solidFill>
                  <a:srgbClr val="CC0000"/>
                </a:solidFill>
                <a:latin typeface="Carlito"/>
                <a:cs typeface="Carlito"/>
              </a:rPr>
              <a:t>Planning</a:t>
            </a:r>
            <a:r>
              <a:rPr lang="en-US" sz="5400" i="1" spc="-30" dirty="0">
                <a:solidFill>
                  <a:srgbClr val="CC0000"/>
                </a:solidFill>
                <a:latin typeface="Carlito"/>
                <a:cs typeface="Carlito"/>
              </a:rPr>
              <a:t> </a:t>
            </a:r>
            <a:r>
              <a:rPr lang="en-US" sz="5400" i="1" dirty="0">
                <a:solidFill>
                  <a:srgbClr val="CC0000"/>
                </a:solidFill>
                <a:latin typeface="Carlito"/>
                <a:cs typeface="Carlito"/>
              </a:rPr>
              <a:t>for</a:t>
            </a:r>
            <a:r>
              <a:rPr lang="en-US" sz="5400" i="1" spc="-20" dirty="0">
                <a:solidFill>
                  <a:srgbClr val="CC0000"/>
                </a:solidFill>
                <a:latin typeface="Carlito"/>
                <a:cs typeface="Carlito"/>
              </a:rPr>
              <a:t> Security</a:t>
            </a:r>
            <a:r>
              <a:rPr lang="en-US" dirty="0">
                <a:latin typeface="Carlito"/>
                <a:cs typeface="Carlito"/>
              </a:rPr>
              <a:t/>
            </a:r>
            <a:br>
              <a:rPr lang="en-US" dirty="0">
                <a:latin typeface="Carlito"/>
                <a:cs typeface="Carlito"/>
              </a:rPr>
            </a:b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369675"/>
          </a:xfrm>
        </p:spPr>
        <p:txBody>
          <a:bodyPr/>
          <a:lstStyle/>
          <a:p>
            <a:pPr algn="ctr"/>
            <a:r>
              <a:rPr lang="en-US" dirty="0"/>
              <a:t>Information Security</a:t>
            </a:r>
          </a:p>
        </p:txBody>
      </p:sp>
    </p:spTree>
    <p:extLst>
      <p:ext uri="{BB962C8B-B14F-4D97-AF65-F5344CB8AC3E}">
        <p14:creationId xmlns:p14="http://schemas.microsoft.com/office/powerpoint/2010/main" val="17750920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Outline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3" y="2221136"/>
            <a:ext cx="11029615" cy="3678303"/>
          </a:xfrm>
        </p:spPr>
        <p:txBody>
          <a:bodyPr>
            <a:normAutofit/>
          </a:bodyPr>
          <a:lstStyle/>
          <a:p>
            <a:pPr marL="417280" marR="4165239">
              <a:spcBef>
                <a:spcPts val="199"/>
              </a:spcBef>
            </a:pPr>
            <a:r>
              <a:rPr lang="en-GB" sz="2800" spc="-20" dirty="0">
                <a:solidFill>
                  <a:schemeClr val="tx1"/>
                </a:solidFill>
                <a:latin typeface="Tahoma"/>
                <a:cs typeface="Tahoma"/>
              </a:rPr>
              <a:t>Introduction</a:t>
            </a:r>
          </a:p>
          <a:p>
            <a:pPr marL="417280" marR="4165239">
              <a:spcBef>
                <a:spcPts val="199"/>
              </a:spcBef>
            </a:pPr>
            <a:r>
              <a:rPr lang="en-GB" sz="2800" spc="-20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Governance</a:t>
            </a:r>
            <a:endParaRPr lang="en-GB" sz="2800" dirty="0">
              <a:solidFill>
                <a:schemeClr val="tx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410986" marR="317688" lvl="1">
              <a:lnSpc>
                <a:spcPct val="101800"/>
              </a:lnSpc>
              <a:spcBef>
                <a:spcPts val="1112"/>
              </a:spcBef>
            </a:pPr>
            <a:r>
              <a:rPr lang="en-GB" sz="2800" spc="-20" dirty="0" smtClean="0">
                <a:solidFill>
                  <a:schemeClr val="tx1"/>
                </a:solidFill>
                <a:latin typeface="Tahoma"/>
                <a:cs typeface="Tahoma"/>
              </a:rPr>
              <a:t>Information</a:t>
            </a:r>
            <a:r>
              <a:rPr lang="en-GB" sz="2800" spc="-50" dirty="0" smtClean="0">
                <a:solidFill>
                  <a:schemeClr val="tx1"/>
                </a:solidFill>
                <a:latin typeface="Tahoma"/>
                <a:cs typeface="Tahoma"/>
              </a:rPr>
              <a:t> </a:t>
            </a:r>
            <a:r>
              <a:rPr lang="en-GB" sz="2800" dirty="0">
                <a:solidFill>
                  <a:schemeClr val="tx1"/>
                </a:solidFill>
                <a:latin typeface="Tahoma"/>
                <a:cs typeface="Tahoma"/>
              </a:rPr>
              <a:t>Security</a:t>
            </a:r>
            <a:r>
              <a:rPr lang="en-GB" sz="2800" spc="-50" dirty="0">
                <a:solidFill>
                  <a:schemeClr val="tx1"/>
                </a:solidFill>
                <a:latin typeface="Tahoma"/>
                <a:cs typeface="Tahoma"/>
              </a:rPr>
              <a:t> </a:t>
            </a:r>
            <a:r>
              <a:rPr lang="en-GB" sz="2800" dirty="0">
                <a:solidFill>
                  <a:schemeClr val="tx1"/>
                </a:solidFill>
                <a:latin typeface="Tahoma"/>
                <a:cs typeface="Tahoma"/>
              </a:rPr>
              <a:t>Policy,</a:t>
            </a:r>
            <a:r>
              <a:rPr lang="en-GB" sz="2800" spc="-50" dirty="0">
                <a:solidFill>
                  <a:schemeClr val="tx1"/>
                </a:solidFill>
                <a:latin typeface="Tahoma"/>
                <a:cs typeface="Tahoma"/>
              </a:rPr>
              <a:t> </a:t>
            </a:r>
            <a:r>
              <a:rPr lang="en-GB" sz="2800" spc="-20" dirty="0">
                <a:solidFill>
                  <a:schemeClr val="tx1"/>
                </a:solidFill>
                <a:latin typeface="Tahoma"/>
                <a:cs typeface="Tahoma"/>
              </a:rPr>
              <a:t>Standards,</a:t>
            </a:r>
            <a:r>
              <a:rPr lang="en-GB" sz="2800" spc="-40" dirty="0">
                <a:solidFill>
                  <a:schemeClr val="tx1"/>
                </a:solidFill>
                <a:latin typeface="Tahoma"/>
                <a:cs typeface="Tahoma"/>
              </a:rPr>
              <a:t> </a:t>
            </a:r>
            <a:r>
              <a:rPr lang="en-GB" sz="2800" spc="-50" dirty="0">
                <a:solidFill>
                  <a:schemeClr val="tx1"/>
                </a:solidFill>
                <a:latin typeface="Tahoma"/>
                <a:cs typeface="Tahoma"/>
              </a:rPr>
              <a:t>and </a:t>
            </a:r>
            <a:r>
              <a:rPr lang="en-GB" sz="2800" spc="-20" dirty="0" smtClean="0">
                <a:solidFill>
                  <a:schemeClr val="tx1"/>
                </a:solidFill>
                <a:latin typeface="Tahoma"/>
                <a:cs typeface="Tahoma"/>
              </a:rPr>
              <a:t>Practices</a:t>
            </a:r>
          </a:p>
          <a:p>
            <a:pPr marL="410986" marR="317688" lvl="1">
              <a:lnSpc>
                <a:spcPct val="101800"/>
              </a:lnSpc>
              <a:spcBef>
                <a:spcPts val="1112"/>
              </a:spcBef>
            </a:pPr>
            <a:r>
              <a:rPr lang="en-GB" sz="2800" spc="-20" dirty="0" smtClean="0">
                <a:solidFill>
                  <a:schemeClr val="tx1"/>
                </a:solidFill>
                <a:latin typeface="Tahoma"/>
                <a:cs typeface="Tahoma"/>
              </a:rPr>
              <a:t>NIST Framework</a:t>
            </a:r>
            <a:endParaRPr lang="en-GB" sz="2800" dirty="0">
              <a:solidFill>
                <a:schemeClr val="tx1"/>
              </a:solidFill>
              <a:latin typeface="Tahoma"/>
              <a:cs typeface="Tahoma"/>
            </a:endParaRPr>
          </a:p>
        </p:txBody>
      </p:sp>
    </p:spTree>
    <p:extLst>
      <p:ext uri="{BB962C8B-B14F-4D97-AF65-F5344CB8AC3E}">
        <p14:creationId xmlns:p14="http://schemas.microsoft.com/office/powerpoint/2010/main" val="36358743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Introduction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4377322"/>
          </a:xfrm>
        </p:spPr>
        <p:txBody>
          <a:bodyPr>
            <a:normAutofit lnSpcReduction="10000"/>
          </a:bodyPr>
          <a:lstStyle/>
          <a:p>
            <a:pPr marL="309703" indent="-285750">
              <a:spcBef>
                <a:spcPts val="1241"/>
              </a:spcBef>
            </a:pPr>
            <a:r>
              <a:rPr lang="en-GB" dirty="0">
                <a:latin typeface="Tahoma"/>
                <a:cs typeface="Tahoma"/>
              </a:rPr>
              <a:t>Creation</a:t>
            </a:r>
            <a:r>
              <a:rPr lang="en-GB" spc="-89" dirty="0">
                <a:latin typeface="Tahoma"/>
                <a:cs typeface="Tahoma"/>
              </a:rPr>
              <a:t> </a:t>
            </a:r>
            <a:r>
              <a:rPr lang="en-GB" dirty="0">
                <a:latin typeface="Tahoma"/>
                <a:cs typeface="Tahoma"/>
              </a:rPr>
              <a:t>of</a:t>
            </a:r>
            <a:r>
              <a:rPr lang="en-GB" spc="-79" dirty="0">
                <a:latin typeface="Tahoma"/>
                <a:cs typeface="Tahoma"/>
              </a:rPr>
              <a:t> an </a:t>
            </a:r>
            <a:r>
              <a:rPr lang="en-GB" dirty="0">
                <a:solidFill>
                  <a:srgbClr val="0000FF"/>
                </a:solidFill>
                <a:latin typeface="Tahoma"/>
                <a:cs typeface="Tahoma"/>
              </a:rPr>
              <a:t>information</a:t>
            </a:r>
            <a:r>
              <a:rPr lang="en-GB" spc="-89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lang="en-GB" dirty="0">
                <a:solidFill>
                  <a:srgbClr val="0000FF"/>
                </a:solidFill>
                <a:latin typeface="Tahoma"/>
                <a:cs typeface="Tahoma"/>
              </a:rPr>
              <a:t>security</a:t>
            </a:r>
            <a:r>
              <a:rPr lang="en-GB" spc="-69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lang="en-GB" dirty="0">
                <a:latin typeface="Tahoma"/>
                <a:cs typeface="Tahoma"/>
              </a:rPr>
              <a:t>program</a:t>
            </a:r>
            <a:r>
              <a:rPr lang="en-GB" spc="-89" dirty="0">
                <a:latin typeface="Tahoma"/>
                <a:cs typeface="Tahoma"/>
              </a:rPr>
              <a:t> </a:t>
            </a:r>
            <a:r>
              <a:rPr lang="en-GB" dirty="0">
                <a:latin typeface="Tahoma"/>
                <a:cs typeface="Tahoma"/>
              </a:rPr>
              <a:t>begins</a:t>
            </a:r>
            <a:r>
              <a:rPr lang="en-GB" spc="-89" dirty="0">
                <a:latin typeface="Tahoma"/>
                <a:cs typeface="Tahoma"/>
              </a:rPr>
              <a:t> </a:t>
            </a:r>
            <a:r>
              <a:rPr lang="en-GB" spc="-40" dirty="0">
                <a:latin typeface="Tahoma"/>
                <a:cs typeface="Tahoma"/>
              </a:rPr>
              <a:t>with:</a:t>
            </a:r>
            <a:endParaRPr lang="en-GB" dirty="0">
              <a:latin typeface="Tahoma"/>
              <a:cs typeface="Tahoma"/>
            </a:endParaRPr>
          </a:p>
          <a:p>
            <a:pPr marL="1204503" marR="632854" lvl="2" indent="-342900">
              <a:lnSpc>
                <a:spcPct val="160000"/>
              </a:lnSpc>
              <a:spcBef>
                <a:spcPts val="953"/>
              </a:spcBef>
              <a:buFont typeface="+mj-lt"/>
              <a:buAutoNum type="arabicPeriod"/>
            </a:pPr>
            <a:r>
              <a:rPr lang="en-GB" sz="1800" dirty="0">
                <a:latin typeface="Tahoma"/>
                <a:cs typeface="Tahoma"/>
              </a:rPr>
              <a:t>C</a:t>
            </a:r>
            <a:r>
              <a:rPr lang="en-GB" sz="1800" dirty="0" smtClean="0">
                <a:latin typeface="Tahoma"/>
                <a:cs typeface="Tahoma"/>
              </a:rPr>
              <a:t>reation</a:t>
            </a:r>
            <a:r>
              <a:rPr lang="en-GB" sz="1800" spc="-50" dirty="0" smtClean="0">
                <a:latin typeface="Tahoma"/>
                <a:cs typeface="Tahoma"/>
              </a:rPr>
              <a:t> </a:t>
            </a:r>
            <a:r>
              <a:rPr lang="en-GB" sz="1800" dirty="0">
                <a:latin typeface="Tahoma"/>
                <a:cs typeface="Tahoma"/>
              </a:rPr>
              <a:t>or</a:t>
            </a:r>
            <a:r>
              <a:rPr lang="en-GB" sz="1800" spc="-40" dirty="0">
                <a:latin typeface="Tahoma"/>
                <a:cs typeface="Tahoma"/>
              </a:rPr>
              <a:t> </a:t>
            </a:r>
            <a:r>
              <a:rPr lang="en-GB" sz="1800" dirty="0">
                <a:latin typeface="Tahoma"/>
                <a:cs typeface="Tahoma"/>
              </a:rPr>
              <a:t>review</a:t>
            </a:r>
            <a:r>
              <a:rPr lang="en-GB" sz="1800" spc="-40" dirty="0">
                <a:latin typeface="Tahoma"/>
                <a:cs typeface="Tahoma"/>
              </a:rPr>
              <a:t> </a:t>
            </a:r>
            <a:r>
              <a:rPr lang="en-GB" sz="1800" dirty="0">
                <a:latin typeface="Tahoma"/>
                <a:cs typeface="Tahoma"/>
              </a:rPr>
              <a:t>of</a:t>
            </a:r>
            <a:r>
              <a:rPr lang="en-GB" sz="1800" spc="-50" dirty="0">
                <a:latin typeface="Tahoma"/>
                <a:cs typeface="Tahoma"/>
              </a:rPr>
              <a:t> </a:t>
            </a:r>
            <a:r>
              <a:rPr lang="en-GB" sz="1800" dirty="0">
                <a:latin typeface="Tahoma"/>
                <a:cs typeface="Tahoma"/>
              </a:rPr>
              <a:t>an</a:t>
            </a:r>
            <a:r>
              <a:rPr lang="en-GB" sz="1800" spc="-40" dirty="0">
                <a:latin typeface="Tahoma"/>
                <a:cs typeface="Tahoma"/>
              </a:rPr>
              <a:t> </a:t>
            </a:r>
            <a:r>
              <a:rPr lang="en-GB" sz="1800" spc="-20" dirty="0">
                <a:latin typeface="Tahoma"/>
                <a:cs typeface="Tahoma"/>
              </a:rPr>
              <a:t>organization’s </a:t>
            </a:r>
            <a:r>
              <a:rPr lang="en-GB" sz="1800" spc="-20" dirty="0">
                <a:solidFill>
                  <a:srgbClr val="0000FF"/>
                </a:solidFill>
                <a:latin typeface="Tahoma"/>
                <a:cs typeface="Tahoma"/>
              </a:rPr>
              <a:t>information </a:t>
            </a:r>
            <a:r>
              <a:rPr lang="en-GB" sz="1800" dirty="0">
                <a:solidFill>
                  <a:srgbClr val="0000FF"/>
                </a:solidFill>
                <a:latin typeface="Tahoma"/>
                <a:cs typeface="Tahoma"/>
              </a:rPr>
              <a:t>security</a:t>
            </a:r>
            <a:r>
              <a:rPr lang="en-GB" sz="1800" spc="526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lang="en-GB" sz="1800" dirty="0">
                <a:solidFill>
                  <a:srgbClr val="0000FF"/>
                </a:solidFill>
                <a:latin typeface="Tahoma"/>
                <a:cs typeface="Tahoma"/>
              </a:rPr>
              <a:t>policies,</a:t>
            </a:r>
            <a:r>
              <a:rPr lang="en-GB" sz="1800" spc="-50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lang="en-GB" sz="1800" spc="-20" dirty="0">
                <a:solidFill>
                  <a:srgbClr val="0000FF"/>
                </a:solidFill>
                <a:latin typeface="Tahoma"/>
                <a:cs typeface="Tahoma"/>
              </a:rPr>
              <a:t>standards,</a:t>
            </a:r>
            <a:r>
              <a:rPr lang="en-GB" sz="1800" spc="-40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lang="en-GB" sz="1800" dirty="0">
                <a:solidFill>
                  <a:srgbClr val="0000FF"/>
                </a:solidFill>
                <a:latin typeface="Tahoma"/>
                <a:cs typeface="Tahoma"/>
              </a:rPr>
              <a:t>and</a:t>
            </a:r>
            <a:r>
              <a:rPr lang="en-GB" sz="1800" spc="-50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lang="en-GB" sz="1800" spc="-20" dirty="0" smtClean="0">
                <a:solidFill>
                  <a:srgbClr val="0000FF"/>
                </a:solidFill>
                <a:latin typeface="Tahoma"/>
                <a:cs typeface="Tahoma"/>
              </a:rPr>
              <a:t>practices</a:t>
            </a:r>
            <a:r>
              <a:rPr lang="en-GB" sz="1800" dirty="0">
                <a:latin typeface="Tahoma"/>
                <a:cs typeface="Tahoma"/>
              </a:rPr>
              <a:t> </a:t>
            </a:r>
            <a:endParaRPr lang="en-GB" sz="1800" dirty="0" smtClean="0">
              <a:latin typeface="Tahoma"/>
              <a:cs typeface="Tahoma"/>
            </a:endParaRPr>
          </a:p>
          <a:p>
            <a:pPr marL="1204503" marR="632854" lvl="2" indent="-342900">
              <a:lnSpc>
                <a:spcPct val="160000"/>
              </a:lnSpc>
              <a:spcBef>
                <a:spcPts val="953"/>
              </a:spcBef>
              <a:buFont typeface="+mj-lt"/>
              <a:buAutoNum type="arabicPeriod"/>
            </a:pPr>
            <a:r>
              <a:rPr lang="en-GB" sz="1800" dirty="0" smtClean="0">
                <a:latin typeface="Tahoma"/>
                <a:cs typeface="Tahoma"/>
              </a:rPr>
              <a:t>Selection</a:t>
            </a:r>
            <a:r>
              <a:rPr lang="en-GB" sz="1800" spc="-79" dirty="0" smtClean="0">
                <a:latin typeface="Tahoma"/>
                <a:cs typeface="Tahoma"/>
              </a:rPr>
              <a:t> </a:t>
            </a:r>
            <a:r>
              <a:rPr lang="en-GB" sz="1800" dirty="0">
                <a:latin typeface="Tahoma"/>
                <a:cs typeface="Tahoma"/>
              </a:rPr>
              <a:t>or</a:t>
            </a:r>
            <a:r>
              <a:rPr lang="en-GB" sz="1800" spc="-69" dirty="0">
                <a:latin typeface="Tahoma"/>
                <a:cs typeface="Tahoma"/>
              </a:rPr>
              <a:t> </a:t>
            </a:r>
            <a:r>
              <a:rPr lang="en-GB" sz="1800" dirty="0">
                <a:latin typeface="Tahoma"/>
                <a:cs typeface="Tahoma"/>
              </a:rPr>
              <a:t>creation</a:t>
            </a:r>
            <a:r>
              <a:rPr lang="en-GB" sz="1800" spc="-79" dirty="0">
                <a:latin typeface="Tahoma"/>
                <a:cs typeface="Tahoma"/>
              </a:rPr>
              <a:t> </a:t>
            </a:r>
            <a:r>
              <a:rPr lang="en-GB" sz="1800" dirty="0">
                <a:latin typeface="Tahoma"/>
                <a:cs typeface="Tahoma"/>
              </a:rPr>
              <a:t>of</a:t>
            </a:r>
            <a:r>
              <a:rPr lang="en-GB" sz="1800" spc="-60" dirty="0">
                <a:latin typeface="Tahoma"/>
                <a:cs typeface="Tahoma"/>
              </a:rPr>
              <a:t> </a:t>
            </a:r>
            <a:r>
              <a:rPr lang="en-GB" sz="1800" dirty="0">
                <a:solidFill>
                  <a:srgbClr val="0000FF"/>
                </a:solidFill>
                <a:latin typeface="Tahoma"/>
                <a:cs typeface="Tahoma"/>
              </a:rPr>
              <a:t>information</a:t>
            </a:r>
            <a:r>
              <a:rPr lang="en-GB" sz="1800" spc="-69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lang="en-GB" sz="1800" dirty="0">
                <a:solidFill>
                  <a:srgbClr val="0000FF"/>
                </a:solidFill>
                <a:latin typeface="Tahoma"/>
                <a:cs typeface="Tahoma"/>
              </a:rPr>
              <a:t>security</a:t>
            </a:r>
            <a:r>
              <a:rPr lang="en-GB" sz="1800" spc="-79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lang="en-GB" sz="1800" spc="-20" dirty="0">
                <a:solidFill>
                  <a:srgbClr val="0000FF"/>
                </a:solidFill>
                <a:latin typeface="Tahoma"/>
                <a:cs typeface="Tahoma"/>
              </a:rPr>
              <a:t>architecture </a:t>
            </a:r>
            <a:r>
              <a:rPr lang="en-GB" sz="1800" dirty="0">
                <a:latin typeface="Tahoma"/>
                <a:cs typeface="Tahoma"/>
              </a:rPr>
              <a:t>and</a:t>
            </a:r>
            <a:r>
              <a:rPr lang="en-GB" sz="1800" spc="-69" dirty="0">
                <a:latin typeface="Tahoma"/>
                <a:cs typeface="Tahoma"/>
              </a:rPr>
              <a:t> </a:t>
            </a:r>
            <a:r>
              <a:rPr lang="en-GB" sz="1800" dirty="0" smtClean="0">
                <a:latin typeface="Tahoma"/>
                <a:cs typeface="Tahoma"/>
              </a:rPr>
              <a:t>a</a:t>
            </a:r>
            <a:r>
              <a:rPr lang="en-GB" sz="1800" spc="504" dirty="0">
                <a:latin typeface="Tahoma"/>
                <a:cs typeface="Tahoma"/>
              </a:rPr>
              <a:t> </a:t>
            </a:r>
            <a:r>
              <a:rPr lang="en-GB" sz="1800" dirty="0" smtClean="0">
                <a:latin typeface="Tahoma"/>
                <a:cs typeface="Tahoma"/>
              </a:rPr>
              <a:t>detailed</a:t>
            </a:r>
            <a:r>
              <a:rPr lang="en-GB" sz="1800" spc="-60" dirty="0" smtClean="0">
                <a:latin typeface="Tahoma"/>
                <a:cs typeface="Tahoma"/>
              </a:rPr>
              <a:t> </a:t>
            </a:r>
            <a:r>
              <a:rPr lang="en-GB" sz="1800" dirty="0">
                <a:latin typeface="Tahoma"/>
                <a:cs typeface="Tahoma"/>
              </a:rPr>
              <a:t>information</a:t>
            </a:r>
            <a:r>
              <a:rPr lang="en-GB" sz="1800" spc="-60" dirty="0">
                <a:latin typeface="Tahoma"/>
                <a:cs typeface="Tahoma"/>
              </a:rPr>
              <a:t> </a:t>
            </a:r>
            <a:r>
              <a:rPr lang="en-GB" sz="1800" dirty="0">
                <a:latin typeface="Tahoma"/>
                <a:cs typeface="Tahoma"/>
              </a:rPr>
              <a:t>security</a:t>
            </a:r>
            <a:r>
              <a:rPr lang="en-GB" sz="1800" spc="-60" dirty="0">
                <a:latin typeface="Tahoma"/>
                <a:cs typeface="Tahoma"/>
              </a:rPr>
              <a:t> </a:t>
            </a:r>
            <a:r>
              <a:rPr lang="en-GB" sz="1800" spc="-20" dirty="0">
                <a:latin typeface="Tahoma"/>
                <a:cs typeface="Tahoma"/>
              </a:rPr>
              <a:t>blueprint</a:t>
            </a:r>
            <a:endParaRPr lang="en-GB" sz="1200" dirty="0">
              <a:latin typeface="Tahoma"/>
              <a:cs typeface="Tahoma"/>
            </a:endParaRPr>
          </a:p>
          <a:p>
            <a:pPr marR="476530">
              <a:lnSpc>
                <a:spcPct val="102600"/>
              </a:lnSpc>
              <a:spcBef>
                <a:spcPts val="943"/>
              </a:spcBef>
            </a:pPr>
            <a:r>
              <a:rPr lang="en-GB" dirty="0">
                <a:latin typeface="Tahoma"/>
                <a:cs typeface="Tahoma"/>
              </a:rPr>
              <a:t>Without</a:t>
            </a:r>
            <a:r>
              <a:rPr lang="en-GB" spc="-79" dirty="0">
                <a:latin typeface="Tahoma"/>
                <a:cs typeface="Tahoma"/>
              </a:rPr>
              <a:t> </a:t>
            </a:r>
            <a:r>
              <a:rPr lang="en-GB" dirty="0">
                <a:latin typeface="Tahoma"/>
                <a:cs typeface="Tahoma"/>
              </a:rPr>
              <a:t>policy,</a:t>
            </a:r>
            <a:r>
              <a:rPr lang="en-GB" spc="-79" dirty="0">
                <a:latin typeface="Tahoma"/>
                <a:cs typeface="Tahoma"/>
              </a:rPr>
              <a:t> </a:t>
            </a:r>
            <a:r>
              <a:rPr lang="en-GB" dirty="0">
                <a:latin typeface="Tahoma"/>
                <a:cs typeface="Tahoma"/>
              </a:rPr>
              <a:t>blueprints,</a:t>
            </a:r>
            <a:r>
              <a:rPr lang="en-GB" spc="-69" dirty="0">
                <a:latin typeface="Tahoma"/>
                <a:cs typeface="Tahoma"/>
              </a:rPr>
              <a:t> </a:t>
            </a:r>
            <a:r>
              <a:rPr lang="en-GB" dirty="0">
                <a:latin typeface="Tahoma"/>
                <a:cs typeface="Tahoma"/>
              </a:rPr>
              <a:t>and</a:t>
            </a:r>
            <a:r>
              <a:rPr lang="en-GB" spc="-79" dirty="0">
                <a:latin typeface="Tahoma"/>
                <a:cs typeface="Tahoma"/>
              </a:rPr>
              <a:t> </a:t>
            </a:r>
            <a:r>
              <a:rPr lang="en-GB" spc="-20" dirty="0">
                <a:latin typeface="Tahoma"/>
                <a:cs typeface="Tahoma"/>
              </a:rPr>
              <a:t>planning,</a:t>
            </a:r>
            <a:r>
              <a:rPr lang="en-GB" spc="-69" dirty="0">
                <a:latin typeface="Tahoma"/>
                <a:cs typeface="Tahoma"/>
              </a:rPr>
              <a:t> </a:t>
            </a:r>
            <a:r>
              <a:rPr lang="en-GB" spc="-50" dirty="0">
                <a:latin typeface="Tahoma"/>
                <a:cs typeface="Tahoma"/>
              </a:rPr>
              <a:t>an </a:t>
            </a:r>
            <a:r>
              <a:rPr lang="en-GB" dirty="0">
                <a:latin typeface="Tahoma"/>
                <a:cs typeface="Tahoma"/>
              </a:rPr>
              <a:t>organization</a:t>
            </a:r>
            <a:r>
              <a:rPr lang="en-GB" spc="-60" dirty="0">
                <a:latin typeface="Tahoma"/>
                <a:cs typeface="Tahoma"/>
              </a:rPr>
              <a:t> </a:t>
            </a:r>
            <a:r>
              <a:rPr lang="en-GB" dirty="0" smtClean="0">
                <a:latin typeface="Tahoma"/>
                <a:cs typeface="Tahoma"/>
              </a:rPr>
              <a:t>is</a:t>
            </a:r>
            <a:r>
              <a:rPr lang="en-GB" spc="566" dirty="0">
                <a:latin typeface="Tahoma"/>
                <a:cs typeface="Tahoma"/>
              </a:rPr>
              <a:t> </a:t>
            </a:r>
            <a:r>
              <a:rPr lang="en-GB" dirty="0" smtClean="0">
                <a:latin typeface="Tahoma"/>
                <a:cs typeface="Tahoma"/>
              </a:rPr>
              <a:t>unable</a:t>
            </a:r>
            <a:r>
              <a:rPr lang="en-GB" spc="-50" dirty="0" smtClean="0">
                <a:latin typeface="Tahoma"/>
                <a:cs typeface="Tahoma"/>
              </a:rPr>
              <a:t> </a:t>
            </a:r>
            <a:r>
              <a:rPr lang="en-GB" dirty="0">
                <a:latin typeface="Tahoma"/>
                <a:cs typeface="Tahoma"/>
              </a:rPr>
              <a:t>to</a:t>
            </a:r>
            <a:r>
              <a:rPr lang="en-GB" spc="-60" dirty="0">
                <a:latin typeface="Tahoma"/>
                <a:cs typeface="Tahoma"/>
              </a:rPr>
              <a:t> </a:t>
            </a:r>
            <a:r>
              <a:rPr lang="en-GB" dirty="0">
                <a:latin typeface="Tahoma"/>
                <a:cs typeface="Tahoma"/>
              </a:rPr>
              <a:t>meet</a:t>
            </a:r>
            <a:r>
              <a:rPr lang="en-GB" spc="-30" dirty="0">
                <a:latin typeface="Tahoma"/>
                <a:cs typeface="Tahoma"/>
              </a:rPr>
              <a:t> the </a:t>
            </a:r>
            <a:r>
              <a:rPr lang="en-GB" dirty="0">
                <a:solidFill>
                  <a:srgbClr val="0000FF"/>
                </a:solidFill>
                <a:latin typeface="Tahoma"/>
                <a:cs typeface="Tahoma"/>
              </a:rPr>
              <a:t>information</a:t>
            </a:r>
            <a:r>
              <a:rPr lang="en-GB" spc="-50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lang="en-GB" spc="-20" dirty="0">
                <a:solidFill>
                  <a:srgbClr val="0000FF"/>
                </a:solidFill>
                <a:latin typeface="Tahoma"/>
                <a:cs typeface="Tahoma"/>
              </a:rPr>
              <a:t>security </a:t>
            </a:r>
            <a:r>
              <a:rPr lang="en-GB" dirty="0">
                <a:solidFill>
                  <a:srgbClr val="0000FF"/>
                </a:solidFill>
                <a:latin typeface="Tahoma"/>
                <a:cs typeface="Tahoma"/>
              </a:rPr>
              <a:t>needs</a:t>
            </a:r>
            <a:r>
              <a:rPr lang="en-GB" spc="-69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lang="en-GB" dirty="0">
                <a:latin typeface="Tahoma"/>
                <a:cs typeface="Tahoma"/>
              </a:rPr>
              <a:t>of</a:t>
            </a:r>
            <a:r>
              <a:rPr lang="en-GB" spc="-60" dirty="0">
                <a:latin typeface="Tahoma"/>
                <a:cs typeface="Tahoma"/>
              </a:rPr>
              <a:t> </a:t>
            </a:r>
            <a:r>
              <a:rPr lang="en-GB" dirty="0" smtClean="0">
                <a:latin typeface="Tahoma"/>
                <a:cs typeface="Tahoma"/>
              </a:rPr>
              <a:t>various</a:t>
            </a:r>
            <a:r>
              <a:rPr lang="en-GB" spc="546" dirty="0">
                <a:latin typeface="Tahoma"/>
                <a:cs typeface="Tahoma"/>
              </a:rPr>
              <a:t> </a:t>
            </a:r>
            <a:r>
              <a:rPr lang="en-GB" dirty="0" smtClean="0">
                <a:latin typeface="Tahoma"/>
                <a:cs typeface="Tahoma"/>
              </a:rPr>
              <a:t>communities</a:t>
            </a:r>
            <a:r>
              <a:rPr lang="en-GB" spc="-69" dirty="0" smtClean="0">
                <a:latin typeface="Tahoma"/>
                <a:cs typeface="Tahoma"/>
              </a:rPr>
              <a:t> </a:t>
            </a:r>
            <a:r>
              <a:rPr lang="en-GB" dirty="0">
                <a:latin typeface="Tahoma"/>
                <a:cs typeface="Tahoma"/>
              </a:rPr>
              <a:t>of</a:t>
            </a:r>
            <a:r>
              <a:rPr lang="en-GB" spc="-60" dirty="0">
                <a:latin typeface="Tahoma"/>
                <a:cs typeface="Tahoma"/>
              </a:rPr>
              <a:t> </a:t>
            </a:r>
            <a:r>
              <a:rPr lang="en-GB" spc="-20" dirty="0" smtClean="0">
                <a:latin typeface="Tahoma"/>
                <a:cs typeface="Tahoma"/>
              </a:rPr>
              <a:t>interest</a:t>
            </a:r>
            <a:endParaRPr lang="en-GB" dirty="0">
              <a:latin typeface="Tahoma"/>
              <a:cs typeface="Tahoma"/>
            </a:endParaRPr>
          </a:p>
          <a:p>
            <a:pPr marL="0" marR="476530" indent="0">
              <a:lnSpc>
                <a:spcPct val="102600"/>
              </a:lnSpc>
              <a:spcBef>
                <a:spcPts val="943"/>
              </a:spcBef>
              <a:buNone/>
            </a:pPr>
            <a:r>
              <a:rPr lang="en-GB" sz="1700" dirty="0">
                <a:latin typeface="Tahoma"/>
                <a:cs typeface="Tahoma"/>
              </a:rPr>
              <a:t>	</a:t>
            </a:r>
            <a:r>
              <a:rPr lang="en-GB" sz="1700" dirty="0" smtClean="0">
                <a:latin typeface="Tahoma"/>
                <a:cs typeface="Tahoma"/>
              </a:rPr>
              <a:t>	Organizations</a:t>
            </a:r>
            <a:r>
              <a:rPr lang="en-GB" sz="1700" spc="-60" dirty="0" smtClean="0">
                <a:latin typeface="Tahoma"/>
                <a:cs typeface="Tahoma"/>
              </a:rPr>
              <a:t> </a:t>
            </a:r>
            <a:r>
              <a:rPr lang="en-GB" sz="1700" dirty="0">
                <a:latin typeface="Tahoma"/>
                <a:cs typeface="Tahoma"/>
              </a:rPr>
              <a:t>undertake</a:t>
            </a:r>
            <a:r>
              <a:rPr lang="en-GB" sz="1700" spc="-50" dirty="0">
                <a:latin typeface="Tahoma"/>
                <a:cs typeface="Tahoma"/>
              </a:rPr>
              <a:t> </a:t>
            </a:r>
            <a:r>
              <a:rPr lang="en-GB" sz="1700" dirty="0">
                <a:latin typeface="Tahoma"/>
                <a:cs typeface="Tahoma"/>
              </a:rPr>
              <a:t>at</a:t>
            </a:r>
            <a:r>
              <a:rPr lang="en-GB" sz="1700" spc="-50" dirty="0">
                <a:latin typeface="Tahoma"/>
                <a:cs typeface="Tahoma"/>
              </a:rPr>
              <a:t> </a:t>
            </a:r>
            <a:r>
              <a:rPr lang="en-GB" sz="1700" dirty="0">
                <a:latin typeface="Tahoma"/>
                <a:cs typeface="Tahoma"/>
              </a:rPr>
              <a:t>least</a:t>
            </a:r>
            <a:r>
              <a:rPr lang="en-GB" sz="1700" spc="-60" dirty="0">
                <a:latin typeface="Tahoma"/>
                <a:cs typeface="Tahoma"/>
              </a:rPr>
              <a:t> </a:t>
            </a:r>
            <a:r>
              <a:rPr lang="en-GB" sz="1700" dirty="0">
                <a:latin typeface="Tahoma"/>
                <a:cs typeface="Tahoma"/>
              </a:rPr>
              <a:t>the</a:t>
            </a:r>
            <a:r>
              <a:rPr lang="en-GB" sz="1700" spc="-50" dirty="0">
                <a:latin typeface="Tahoma"/>
                <a:cs typeface="Tahoma"/>
              </a:rPr>
              <a:t> </a:t>
            </a:r>
            <a:r>
              <a:rPr lang="en-GB" sz="1700" spc="-20" dirty="0">
                <a:latin typeface="Tahoma"/>
                <a:cs typeface="Tahoma"/>
              </a:rPr>
              <a:t>following</a:t>
            </a:r>
            <a:r>
              <a:rPr lang="en-GB" sz="1700" spc="-50" dirty="0">
                <a:latin typeface="Tahoma"/>
                <a:cs typeface="Tahoma"/>
              </a:rPr>
              <a:t> </a:t>
            </a:r>
            <a:r>
              <a:rPr lang="en-GB" sz="1700" spc="-20" dirty="0">
                <a:latin typeface="Tahoma"/>
                <a:cs typeface="Tahoma"/>
              </a:rPr>
              <a:t>plans:</a:t>
            </a:r>
            <a:endParaRPr lang="en-GB" sz="1700" dirty="0">
              <a:latin typeface="Tahoma"/>
              <a:cs typeface="Tahoma"/>
            </a:endParaRPr>
          </a:p>
          <a:p>
            <a:pPr marL="1203603" lvl="3" indent="0">
              <a:lnSpc>
                <a:spcPct val="110000"/>
              </a:lnSpc>
              <a:spcBef>
                <a:spcPts val="40"/>
              </a:spcBef>
              <a:buNone/>
            </a:pPr>
            <a:r>
              <a:rPr lang="en-GB" sz="1700" spc="-20" dirty="0">
                <a:solidFill>
                  <a:srgbClr val="0000FF"/>
                </a:solidFill>
                <a:latin typeface="Tahoma"/>
                <a:cs typeface="Tahoma"/>
              </a:rPr>
              <a:t>Strategic</a:t>
            </a:r>
            <a:r>
              <a:rPr lang="en-GB" sz="1700" spc="10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lang="en-GB" sz="1700" spc="-20" dirty="0">
                <a:solidFill>
                  <a:srgbClr val="0000FF"/>
                </a:solidFill>
                <a:latin typeface="Tahoma"/>
                <a:cs typeface="Tahoma"/>
              </a:rPr>
              <a:t>planning</a:t>
            </a:r>
            <a:endParaRPr lang="en-GB" sz="1700" dirty="0">
              <a:latin typeface="Tahoma"/>
              <a:cs typeface="Tahoma"/>
            </a:endParaRPr>
          </a:p>
          <a:p>
            <a:pPr marL="1203603" marR="4869951" lvl="3" indent="0">
              <a:lnSpc>
                <a:spcPct val="110000"/>
              </a:lnSpc>
              <a:buNone/>
            </a:pPr>
            <a:r>
              <a:rPr lang="en-GB" sz="1700" spc="-20" dirty="0">
                <a:solidFill>
                  <a:srgbClr val="0000FF"/>
                </a:solidFill>
                <a:latin typeface="Tahoma"/>
                <a:cs typeface="Tahoma"/>
              </a:rPr>
              <a:t>Contingency planning</a:t>
            </a:r>
            <a:endParaRPr lang="en-GB" sz="1700" dirty="0">
              <a:latin typeface="Tahoma"/>
              <a:cs typeface="Tahoma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71735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pc="-20" dirty="0">
                <a:solidFill>
                  <a:srgbClr val="FFFFFF"/>
                </a:solidFill>
                <a:latin typeface="Tahoma"/>
                <a:cs typeface="Tahoma"/>
              </a:rPr>
              <a:t>Information</a:t>
            </a:r>
            <a:r>
              <a:rPr lang="en-GB" spc="-139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lang="en-GB" dirty="0">
                <a:solidFill>
                  <a:srgbClr val="FFFFFF"/>
                </a:solidFill>
                <a:latin typeface="Tahoma"/>
                <a:cs typeface="Tahoma"/>
              </a:rPr>
              <a:t>Security</a:t>
            </a:r>
            <a:r>
              <a:rPr lang="en-GB" spc="-129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lang="en-GB" dirty="0">
                <a:solidFill>
                  <a:srgbClr val="FFFFFF"/>
                </a:solidFill>
                <a:latin typeface="Tahoma"/>
                <a:cs typeface="Tahoma"/>
              </a:rPr>
              <a:t>Planning</a:t>
            </a:r>
            <a:r>
              <a:rPr lang="en-GB" spc="-139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lang="en-GB" spc="-50" dirty="0">
                <a:solidFill>
                  <a:srgbClr val="FFFFFF"/>
                </a:solidFill>
                <a:latin typeface="Tahoma"/>
                <a:cs typeface="Tahoma"/>
              </a:rPr>
              <a:t>and </a:t>
            </a:r>
            <a:r>
              <a:rPr lang="en-GB" spc="-20" dirty="0">
                <a:solidFill>
                  <a:srgbClr val="FFFFFF"/>
                </a:solidFill>
                <a:latin typeface="Tahoma"/>
                <a:cs typeface="Tahoma"/>
              </a:rPr>
              <a:t>Governance</a:t>
            </a:r>
            <a:r>
              <a:rPr lang="en-GB" dirty="0">
                <a:latin typeface="Tahoma"/>
                <a:cs typeface="Tahoma"/>
              </a:rPr>
              <a:t/>
            </a:r>
            <a:br>
              <a:rPr lang="en-GB" dirty="0">
                <a:latin typeface="Tahoma"/>
                <a:cs typeface="Tahoma"/>
              </a:rPr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1715956"/>
            <a:ext cx="11029615" cy="4142843"/>
          </a:xfrm>
        </p:spPr>
        <p:txBody>
          <a:bodyPr/>
          <a:lstStyle/>
          <a:p>
            <a:pPr marL="0" marR="4631685" indent="0">
              <a:lnSpc>
                <a:spcPct val="189700"/>
              </a:lnSpc>
              <a:buNone/>
            </a:pPr>
            <a:r>
              <a:rPr lang="en-GB" sz="2000" spc="-20" dirty="0">
                <a:solidFill>
                  <a:srgbClr val="0000FF"/>
                </a:solidFill>
                <a:latin typeface="Tahoma"/>
                <a:cs typeface="Tahoma"/>
              </a:rPr>
              <a:t>Governance</a:t>
            </a:r>
            <a:endParaRPr lang="en-GB" sz="2000" dirty="0">
              <a:latin typeface="Tahoma"/>
              <a:cs typeface="Tahoma"/>
            </a:endParaRPr>
          </a:p>
          <a:p>
            <a:pPr marL="573603" marR="64292"/>
            <a:r>
              <a:rPr lang="en-GB" sz="2000" dirty="0" smtClean="0">
                <a:latin typeface="Tahoma"/>
                <a:cs typeface="Tahoma"/>
              </a:rPr>
              <a:t>Set</a:t>
            </a:r>
            <a:r>
              <a:rPr lang="en-GB" sz="2000" spc="-10" dirty="0" smtClean="0">
                <a:latin typeface="Tahoma"/>
                <a:cs typeface="Tahoma"/>
              </a:rPr>
              <a:t> </a:t>
            </a:r>
            <a:r>
              <a:rPr lang="en-GB" sz="2000" dirty="0">
                <a:latin typeface="Tahoma"/>
                <a:cs typeface="Tahoma"/>
              </a:rPr>
              <a:t>of </a:t>
            </a:r>
            <a:r>
              <a:rPr lang="en-GB" sz="2000" spc="-20" dirty="0">
                <a:latin typeface="Tahoma"/>
                <a:cs typeface="Tahoma"/>
              </a:rPr>
              <a:t>responsibilities</a:t>
            </a:r>
            <a:r>
              <a:rPr lang="en-GB" sz="2000" dirty="0">
                <a:latin typeface="Tahoma"/>
                <a:cs typeface="Tahoma"/>
              </a:rPr>
              <a:t> and </a:t>
            </a:r>
            <a:r>
              <a:rPr lang="en-GB" sz="2000" spc="-20" dirty="0">
                <a:latin typeface="Tahoma"/>
                <a:cs typeface="Tahoma"/>
              </a:rPr>
              <a:t>practices</a:t>
            </a:r>
            <a:r>
              <a:rPr lang="en-GB" sz="2000" dirty="0">
                <a:latin typeface="Tahoma"/>
                <a:cs typeface="Tahoma"/>
              </a:rPr>
              <a:t> </a:t>
            </a:r>
            <a:r>
              <a:rPr lang="en-GB" sz="2000" spc="-20" dirty="0">
                <a:latin typeface="Tahoma"/>
                <a:cs typeface="Tahoma"/>
              </a:rPr>
              <a:t>exercised</a:t>
            </a:r>
            <a:r>
              <a:rPr lang="en-GB" sz="2000" dirty="0">
                <a:latin typeface="Tahoma"/>
                <a:cs typeface="Tahoma"/>
              </a:rPr>
              <a:t> by</a:t>
            </a:r>
            <a:r>
              <a:rPr lang="en-GB" sz="2000" spc="-10" dirty="0">
                <a:latin typeface="Tahoma"/>
                <a:cs typeface="Tahoma"/>
              </a:rPr>
              <a:t> </a:t>
            </a:r>
            <a:r>
              <a:rPr lang="en-GB" sz="2000" dirty="0">
                <a:latin typeface="Tahoma"/>
                <a:cs typeface="Tahoma"/>
              </a:rPr>
              <a:t>the </a:t>
            </a:r>
            <a:r>
              <a:rPr lang="en-GB" sz="2000" spc="-20" dirty="0">
                <a:latin typeface="Tahoma"/>
                <a:cs typeface="Tahoma"/>
              </a:rPr>
              <a:t>board </a:t>
            </a:r>
            <a:r>
              <a:rPr lang="en-GB" sz="2000" dirty="0" smtClean="0">
                <a:latin typeface="Tahoma"/>
                <a:cs typeface="Tahoma"/>
              </a:rPr>
              <a:t>and</a:t>
            </a:r>
            <a:r>
              <a:rPr lang="en-GB" sz="2000" spc="576" dirty="0">
                <a:latin typeface="Tahoma"/>
                <a:cs typeface="Tahoma"/>
              </a:rPr>
              <a:t> </a:t>
            </a:r>
            <a:r>
              <a:rPr lang="en-GB" sz="2000" spc="-20" dirty="0" smtClean="0">
                <a:latin typeface="Tahoma"/>
                <a:cs typeface="Tahoma"/>
              </a:rPr>
              <a:t>executive </a:t>
            </a:r>
            <a:r>
              <a:rPr lang="en-GB" sz="2000" spc="-20" dirty="0">
                <a:latin typeface="Tahoma"/>
                <a:cs typeface="Tahoma"/>
              </a:rPr>
              <a:t>management</a:t>
            </a:r>
            <a:endParaRPr lang="en-GB" sz="2000" dirty="0">
              <a:latin typeface="Tahoma"/>
              <a:cs typeface="Tahoma"/>
            </a:endParaRPr>
          </a:p>
          <a:p>
            <a:pPr marL="573603" marR="10085">
              <a:spcBef>
                <a:spcPts val="1102"/>
              </a:spcBef>
            </a:pPr>
            <a:r>
              <a:rPr lang="en-GB" sz="2000" dirty="0">
                <a:latin typeface="Tahoma"/>
                <a:cs typeface="Tahoma"/>
              </a:rPr>
              <a:t>Goal</a:t>
            </a:r>
            <a:r>
              <a:rPr lang="en-GB" sz="2000" spc="-69" dirty="0">
                <a:latin typeface="Tahoma"/>
                <a:cs typeface="Tahoma"/>
              </a:rPr>
              <a:t> </a:t>
            </a:r>
            <a:r>
              <a:rPr lang="en-GB" sz="2000" dirty="0">
                <a:latin typeface="Tahoma"/>
                <a:cs typeface="Tahoma"/>
              </a:rPr>
              <a:t>to</a:t>
            </a:r>
            <a:r>
              <a:rPr lang="en-GB" sz="2000" spc="-60" dirty="0">
                <a:latin typeface="Tahoma"/>
                <a:cs typeface="Tahoma"/>
              </a:rPr>
              <a:t> </a:t>
            </a:r>
            <a:r>
              <a:rPr lang="en-GB" sz="2000" dirty="0">
                <a:latin typeface="Tahoma"/>
                <a:cs typeface="Tahoma"/>
              </a:rPr>
              <a:t>provide</a:t>
            </a:r>
            <a:r>
              <a:rPr lang="en-GB" sz="2000" spc="-69" dirty="0">
                <a:latin typeface="Tahoma"/>
                <a:cs typeface="Tahoma"/>
              </a:rPr>
              <a:t> </a:t>
            </a:r>
            <a:r>
              <a:rPr lang="en-GB" sz="2000" spc="-20" dirty="0">
                <a:latin typeface="Tahoma"/>
                <a:cs typeface="Tahoma"/>
              </a:rPr>
              <a:t>strategic</a:t>
            </a:r>
            <a:r>
              <a:rPr lang="en-GB" sz="2000" spc="-60" dirty="0">
                <a:latin typeface="Tahoma"/>
                <a:cs typeface="Tahoma"/>
              </a:rPr>
              <a:t> </a:t>
            </a:r>
            <a:r>
              <a:rPr lang="en-GB" sz="2000" dirty="0">
                <a:latin typeface="Tahoma"/>
                <a:cs typeface="Tahoma"/>
              </a:rPr>
              <a:t>direction,</a:t>
            </a:r>
            <a:r>
              <a:rPr lang="en-GB" sz="2000" spc="-60" dirty="0">
                <a:latin typeface="Tahoma"/>
                <a:cs typeface="Tahoma"/>
              </a:rPr>
              <a:t> </a:t>
            </a:r>
            <a:r>
              <a:rPr lang="en-GB" sz="2000" dirty="0">
                <a:latin typeface="Tahoma"/>
                <a:cs typeface="Tahoma"/>
              </a:rPr>
              <a:t>ensuring</a:t>
            </a:r>
            <a:r>
              <a:rPr lang="en-GB" sz="2000" spc="-69" dirty="0">
                <a:latin typeface="Tahoma"/>
                <a:cs typeface="Tahoma"/>
              </a:rPr>
              <a:t> </a:t>
            </a:r>
            <a:r>
              <a:rPr lang="en-GB" sz="2000" dirty="0">
                <a:latin typeface="Tahoma"/>
                <a:cs typeface="Tahoma"/>
              </a:rPr>
              <a:t>that</a:t>
            </a:r>
            <a:r>
              <a:rPr lang="en-GB" sz="2000" spc="-60" dirty="0">
                <a:latin typeface="Tahoma"/>
                <a:cs typeface="Tahoma"/>
              </a:rPr>
              <a:t> </a:t>
            </a:r>
            <a:r>
              <a:rPr lang="en-GB" sz="2000" spc="-20" dirty="0">
                <a:latin typeface="Tahoma"/>
                <a:cs typeface="Tahoma"/>
              </a:rPr>
              <a:t>objectives </a:t>
            </a:r>
            <a:r>
              <a:rPr lang="en-GB" sz="2000" dirty="0">
                <a:latin typeface="Tahoma"/>
                <a:cs typeface="Tahoma"/>
              </a:rPr>
              <a:t>are</a:t>
            </a:r>
            <a:r>
              <a:rPr lang="en-GB" sz="2000" spc="556" dirty="0">
                <a:latin typeface="Tahoma"/>
                <a:cs typeface="Tahoma"/>
              </a:rPr>
              <a:t> </a:t>
            </a:r>
            <a:r>
              <a:rPr lang="en-GB" sz="2000" spc="-20" dirty="0">
                <a:latin typeface="Tahoma"/>
                <a:cs typeface="Tahoma"/>
              </a:rPr>
              <a:t>achieved</a:t>
            </a:r>
            <a:endParaRPr lang="en-GB" sz="2000" dirty="0">
              <a:latin typeface="Tahoma"/>
              <a:cs typeface="Tahoma"/>
            </a:endParaRPr>
          </a:p>
          <a:p>
            <a:pPr marL="573603" marR="560996">
              <a:spcBef>
                <a:spcPts val="1112"/>
              </a:spcBef>
            </a:pPr>
            <a:r>
              <a:rPr lang="en-GB" sz="2000" spc="-20" dirty="0">
                <a:latin typeface="Tahoma"/>
                <a:cs typeface="Tahoma"/>
              </a:rPr>
              <a:t>Determining</a:t>
            </a:r>
            <a:r>
              <a:rPr lang="en-GB" sz="2000" spc="-50" dirty="0">
                <a:latin typeface="Tahoma"/>
                <a:cs typeface="Tahoma"/>
              </a:rPr>
              <a:t> </a:t>
            </a:r>
            <a:r>
              <a:rPr lang="en-GB" sz="2000" dirty="0">
                <a:latin typeface="Tahoma"/>
                <a:cs typeface="Tahoma"/>
              </a:rPr>
              <a:t>that</a:t>
            </a:r>
            <a:r>
              <a:rPr lang="en-GB" sz="2000" spc="-50" dirty="0">
                <a:latin typeface="Tahoma"/>
                <a:cs typeface="Tahoma"/>
              </a:rPr>
              <a:t> </a:t>
            </a:r>
            <a:r>
              <a:rPr lang="en-GB" sz="2000" dirty="0">
                <a:latin typeface="Tahoma"/>
                <a:cs typeface="Tahoma"/>
              </a:rPr>
              <a:t>risks</a:t>
            </a:r>
            <a:r>
              <a:rPr lang="en-GB" sz="2000" spc="-50" dirty="0">
                <a:latin typeface="Tahoma"/>
                <a:cs typeface="Tahoma"/>
              </a:rPr>
              <a:t> </a:t>
            </a:r>
            <a:r>
              <a:rPr lang="en-GB" sz="2000" dirty="0">
                <a:latin typeface="Tahoma"/>
                <a:cs typeface="Tahoma"/>
              </a:rPr>
              <a:t>are</a:t>
            </a:r>
            <a:r>
              <a:rPr lang="en-GB" sz="2000" spc="-50" dirty="0">
                <a:latin typeface="Tahoma"/>
                <a:cs typeface="Tahoma"/>
              </a:rPr>
              <a:t> </a:t>
            </a:r>
            <a:r>
              <a:rPr lang="en-GB" sz="2000" dirty="0">
                <a:latin typeface="Tahoma"/>
                <a:cs typeface="Tahoma"/>
              </a:rPr>
              <a:t>managed</a:t>
            </a:r>
            <a:r>
              <a:rPr lang="en-GB" sz="2000" spc="-50" dirty="0">
                <a:latin typeface="Tahoma"/>
                <a:cs typeface="Tahoma"/>
              </a:rPr>
              <a:t> </a:t>
            </a:r>
            <a:r>
              <a:rPr lang="en-GB" sz="2000" dirty="0">
                <a:latin typeface="Tahoma"/>
                <a:cs typeface="Tahoma"/>
              </a:rPr>
              <a:t>appropriately</a:t>
            </a:r>
            <a:r>
              <a:rPr lang="en-GB" sz="2000" spc="-50" dirty="0">
                <a:latin typeface="Tahoma"/>
                <a:cs typeface="Tahoma"/>
              </a:rPr>
              <a:t> and </a:t>
            </a:r>
            <a:r>
              <a:rPr lang="en-GB" sz="2000" dirty="0">
                <a:latin typeface="Tahoma"/>
                <a:cs typeface="Tahoma"/>
              </a:rPr>
              <a:t>verifying</a:t>
            </a:r>
            <a:r>
              <a:rPr lang="en-GB" sz="2000" spc="546" dirty="0">
                <a:latin typeface="Tahoma"/>
                <a:cs typeface="Tahoma"/>
              </a:rPr>
              <a:t> </a:t>
            </a:r>
            <a:r>
              <a:rPr lang="en-GB" sz="2000" dirty="0">
                <a:latin typeface="Tahoma"/>
                <a:cs typeface="Tahoma"/>
              </a:rPr>
              <a:t>that</a:t>
            </a:r>
            <a:r>
              <a:rPr lang="en-GB" sz="2000" spc="-40" dirty="0">
                <a:latin typeface="Tahoma"/>
                <a:cs typeface="Tahoma"/>
              </a:rPr>
              <a:t> </a:t>
            </a:r>
            <a:r>
              <a:rPr lang="en-GB" sz="2000" dirty="0">
                <a:latin typeface="Tahoma"/>
                <a:cs typeface="Tahoma"/>
              </a:rPr>
              <a:t>the</a:t>
            </a:r>
            <a:r>
              <a:rPr lang="en-GB" sz="2000" spc="-40" dirty="0">
                <a:latin typeface="Tahoma"/>
                <a:cs typeface="Tahoma"/>
              </a:rPr>
              <a:t> </a:t>
            </a:r>
            <a:r>
              <a:rPr lang="en-GB" sz="2000" spc="-20" dirty="0">
                <a:latin typeface="Tahoma"/>
                <a:cs typeface="Tahoma"/>
              </a:rPr>
              <a:t>enterprise’s</a:t>
            </a:r>
            <a:r>
              <a:rPr lang="en-GB" sz="2000" spc="-40" dirty="0">
                <a:latin typeface="Tahoma"/>
                <a:cs typeface="Tahoma"/>
              </a:rPr>
              <a:t> </a:t>
            </a:r>
            <a:r>
              <a:rPr lang="en-GB" sz="2000" spc="-20" dirty="0">
                <a:latin typeface="Tahoma"/>
                <a:cs typeface="Tahoma"/>
              </a:rPr>
              <a:t>resources</a:t>
            </a:r>
            <a:r>
              <a:rPr lang="en-GB" sz="2000" spc="-40" dirty="0">
                <a:latin typeface="Tahoma"/>
                <a:cs typeface="Tahoma"/>
              </a:rPr>
              <a:t> </a:t>
            </a:r>
            <a:r>
              <a:rPr lang="en-GB" sz="2000" dirty="0">
                <a:latin typeface="Tahoma"/>
                <a:cs typeface="Tahoma"/>
              </a:rPr>
              <a:t>are</a:t>
            </a:r>
            <a:r>
              <a:rPr lang="en-GB" sz="2000" spc="-30" dirty="0">
                <a:latin typeface="Tahoma"/>
                <a:cs typeface="Tahoma"/>
              </a:rPr>
              <a:t> </a:t>
            </a:r>
            <a:r>
              <a:rPr lang="en-GB" sz="2000" spc="-40" dirty="0">
                <a:latin typeface="Tahoma"/>
                <a:cs typeface="Tahoma"/>
              </a:rPr>
              <a:t>used </a:t>
            </a:r>
            <a:r>
              <a:rPr lang="en-GB" sz="2000" spc="-20" dirty="0">
                <a:latin typeface="Tahoma"/>
                <a:cs typeface="Tahoma"/>
              </a:rPr>
              <a:t>responsibly</a:t>
            </a:r>
            <a:endParaRPr lang="en-GB" sz="2000" dirty="0">
              <a:latin typeface="Tahoma"/>
              <a:cs typeface="Tahoma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07219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25213" marR="10085">
              <a:spcBef>
                <a:spcPts val="199"/>
              </a:spcBef>
            </a:pPr>
            <a:r>
              <a:rPr lang="en-GB" spc="-20" dirty="0"/>
              <a:t>Information</a:t>
            </a:r>
            <a:r>
              <a:rPr lang="en-GB" spc="-119" dirty="0"/>
              <a:t> </a:t>
            </a:r>
            <a:r>
              <a:rPr lang="en-GB" dirty="0"/>
              <a:t>Security</a:t>
            </a:r>
            <a:r>
              <a:rPr lang="en-GB" spc="-119" dirty="0"/>
              <a:t> </a:t>
            </a:r>
            <a:r>
              <a:rPr lang="en-GB" dirty="0"/>
              <a:t>Planning</a:t>
            </a:r>
            <a:r>
              <a:rPr lang="en-GB" spc="-119" dirty="0"/>
              <a:t> </a:t>
            </a:r>
            <a:r>
              <a:rPr lang="en-GB" dirty="0"/>
              <a:t>and</a:t>
            </a:r>
            <a:r>
              <a:rPr lang="en-GB" spc="-119" dirty="0"/>
              <a:t> </a:t>
            </a:r>
            <a:r>
              <a:rPr lang="en-GB" spc="-20" dirty="0"/>
              <a:t>Governance Outcomes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3" y="2228194"/>
            <a:ext cx="11029615" cy="4345310"/>
          </a:xfrm>
        </p:spPr>
        <p:txBody>
          <a:bodyPr/>
          <a:lstStyle/>
          <a:p>
            <a:pPr marL="25213">
              <a:spcBef>
                <a:spcPts val="347"/>
              </a:spcBef>
            </a:pPr>
            <a:r>
              <a:rPr lang="en-GB" sz="2400" spc="-20" dirty="0">
                <a:latin typeface="Tahoma"/>
                <a:cs typeface="Tahoma"/>
              </a:rPr>
              <a:t>Information</a:t>
            </a:r>
            <a:r>
              <a:rPr lang="en-GB" sz="2400" spc="-40" dirty="0">
                <a:latin typeface="Tahoma"/>
                <a:cs typeface="Tahoma"/>
              </a:rPr>
              <a:t> </a:t>
            </a:r>
            <a:r>
              <a:rPr lang="en-GB" sz="2400" dirty="0">
                <a:latin typeface="Tahoma"/>
                <a:cs typeface="Tahoma"/>
              </a:rPr>
              <a:t>Security</a:t>
            </a:r>
            <a:r>
              <a:rPr lang="en-GB" sz="2400" spc="-30" dirty="0">
                <a:latin typeface="Tahoma"/>
                <a:cs typeface="Tahoma"/>
              </a:rPr>
              <a:t> </a:t>
            </a:r>
            <a:r>
              <a:rPr lang="en-GB" sz="2400" spc="-20" dirty="0">
                <a:latin typeface="Tahoma"/>
                <a:cs typeface="Tahoma"/>
              </a:rPr>
              <a:t>Governance</a:t>
            </a:r>
            <a:r>
              <a:rPr lang="en-GB" sz="2400" spc="-30" dirty="0">
                <a:latin typeface="Tahoma"/>
                <a:cs typeface="Tahoma"/>
              </a:rPr>
              <a:t> </a:t>
            </a:r>
            <a:r>
              <a:rPr lang="en-GB" sz="2400" spc="-20" dirty="0" smtClean="0">
                <a:latin typeface="Tahoma"/>
                <a:cs typeface="Tahoma"/>
              </a:rPr>
              <a:t>outcomes</a:t>
            </a:r>
          </a:p>
          <a:p>
            <a:pPr marL="1167603" lvl="2">
              <a:spcBef>
                <a:spcPts val="139"/>
              </a:spcBef>
            </a:pPr>
            <a:r>
              <a:rPr lang="en-GB" sz="2000" spc="-20" dirty="0" smtClean="0">
                <a:solidFill>
                  <a:srgbClr val="0000FF"/>
                </a:solidFill>
                <a:latin typeface="Tahoma"/>
                <a:cs typeface="Tahoma"/>
              </a:rPr>
              <a:t>Strategic</a:t>
            </a:r>
            <a:endParaRPr lang="en-GB" sz="2000" dirty="0">
              <a:latin typeface="Tahoma"/>
              <a:cs typeface="Tahoma"/>
            </a:endParaRPr>
          </a:p>
          <a:p>
            <a:pPr marL="1167603" marR="3052071" lvl="2">
              <a:lnSpc>
                <a:spcPct val="176000"/>
              </a:lnSpc>
            </a:pPr>
            <a:r>
              <a:rPr lang="en-GB" sz="2000" dirty="0" smtClean="0">
                <a:solidFill>
                  <a:srgbClr val="0000FF"/>
                </a:solidFill>
                <a:latin typeface="Tahoma"/>
                <a:cs typeface="Tahoma"/>
              </a:rPr>
              <a:t>Aligned </a:t>
            </a:r>
            <a:r>
              <a:rPr lang="en-GB" sz="2000" spc="-40" dirty="0" smtClean="0">
                <a:solidFill>
                  <a:srgbClr val="0000FF"/>
                </a:solidFill>
                <a:latin typeface="Tahoma"/>
                <a:cs typeface="Tahoma"/>
              </a:rPr>
              <a:t>Risk </a:t>
            </a:r>
            <a:r>
              <a:rPr lang="en-GB" sz="2000" spc="-20" dirty="0">
                <a:solidFill>
                  <a:srgbClr val="0000FF"/>
                </a:solidFill>
                <a:latin typeface="Tahoma"/>
                <a:cs typeface="Tahoma"/>
              </a:rPr>
              <a:t>management</a:t>
            </a:r>
            <a:endParaRPr lang="en-GB" sz="2000" dirty="0">
              <a:latin typeface="Tahoma"/>
              <a:cs typeface="Tahoma"/>
            </a:endParaRPr>
          </a:p>
          <a:p>
            <a:pPr marL="1167603" marR="721101" lvl="2">
              <a:lnSpc>
                <a:spcPct val="176000"/>
              </a:lnSpc>
              <a:spcBef>
                <a:spcPts val="10"/>
              </a:spcBef>
            </a:pPr>
            <a:r>
              <a:rPr lang="en-GB" sz="2000" spc="-20" dirty="0">
                <a:solidFill>
                  <a:srgbClr val="0000FF"/>
                </a:solidFill>
                <a:latin typeface="Tahoma"/>
                <a:cs typeface="Tahoma"/>
              </a:rPr>
              <a:t>Resource</a:t>
            </a:r>
            <a:r>
              <a:rPr lang="en-GB" sz="2000" spc="-10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lang="en-GB" sz="2000" spc="-20" dirty="0">
                <a:solidFill>
                  <a:srgbClr val="0000FF"/>
                </a:solidFill>
                <a:latin typeface="Tahoma"/>
                <a:cs typeface="Tahoma"/>
              </a:rPr>
              <a:t>management</a:t>
            </a:r>
            <a:r>
              <a:rPr lang="en-GB" sz="2000" spc="-10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endParaRPr lang="en-GB" sz="2000" spc="-10" dirty="0" smtClean="0">
              <a:solidFill>
                <a:srgbClr val="0000FF"/>
              </a:solidFill>
              <a:latin typeface="Tahoma"/>
              <a:cs typeface="Tahoma"/>
            </a:endParaRPr>
          </a:p>
          <a:p>
            <a:pPr marL="1167603" marR="721101" lvl="2">
              <a:lnSpc>
                <a:spcPct val="176000"/>
              </a:lnSpc>
              <a:spcBef>
                <a:spcPts val="10"/>
              </a:spcBef>
            </a:pPr>
            <a:r>
              <a:rPr lang="en-GB" sz="2000" spc="-20" dirty="0" smtClean="0">
                <a:solidFill>
                  <a:srgbClr val="0000FF"/>
                </a:solidFill>
                <a:latin typeface="Tahoma"/>
                <a:cs typeface="Tahoma"/>
              </a:rPr>
              <a:t>Performance </a:t>
            </a:r>
            <a:r>
              <a:rPr lang="en-GB" sz="2000" dirty="0" smtClean="0">
                <a:solidFill>
                  <a:srgbClr val="0000FF"/>
                </a:solidFill>
                <a:latin typeface="Tahoma"/>
                <a:cs typeface="Tahoma"/>
              </a:rPr>
              <a:t>measure </a:t>
            </a:r>
            <a:endParaRPr lang="en-GB" dirty="0">
              <a:latin typeface="Tahoma"/>
              <a:cs typeface="Tahoma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6814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pc="-20" dirty="0"/>
              <a:t>Information</a:t>
            </a:r>
            <a:r>
              <a:rPr lang="en-GB" spc="-119" dirty="0"/>
              <a:t> </a:t>
            </a:r>
            <a:r>
              <a:rPr lang="en-GB" dirty="0"/>
              <a:t>Security</a:t>
            </a:r>
            <a:r>
              <a:rPr lang="en-GB" spc="-119" dirty="0"/>
              <a:t> </a:t>
            </a:r>
            <a:r>
              <a:rPr lang="en-GB" dirty="0"/>
              <a:t>Policy,</a:t>
            </a:r>
            <a:r>
              <a:rPr lang="en-GB" spc="-109" dirty="0"/>
              <a:t> </a:t>
            </a:r>
            <a:r>
              <a:rPr lang="en-GB" dirty="0"/>
              <a:t>Standards,</a:t>
            </a:r>
            <a:r>
              <a:rPr lang="en-GB" spc="-119" dirty="0"/>
              <a:t> </a:t>
            </a:r>
            <a:r>
              <a:rPr lang="en-GB" spc="-50" dirty="0"/>
              <a:t>and </a:t>
            </a:r>
            <a:r>
              <a:rPr lang="en-GB" spc="-20" dirty="0"/>
              <a:t>Practices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5213" marR="95811">
              <a:lnSpc>
                <a:spcPct val="102600"/>
              </a:lnSpc>
              <a:spcBef>
                <a:spcPts val="129"/>
              </a:spcBef>
            </a:pPr>
            <a:r>
              <a:rPr lang="en-GB" sz="2000" dirty="0">
                <a:solidFill>
                  <a:srgbClr val="0000FF"/>
                </a:solidFill>
                <a:latin typeface="Tahoma"/>
                <a:cs typeface="Tahoma"/>
              </a:rPr>
              <a:t>Policy:</a:t>
            </a:r>
            <a:r>
              <a:rPr lang="en-GB" sz="2000" spc="-60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lang="en-GB" sz="2000" dirty="0">
                <a:latin typeface="Tahoma"/>
                <a:cs typeface="Tahoma"/>
              </a:rPr>
              <a:t>course</a:t>
            </a:r>
            <a:r>
              <a:rPr lang="en-GB" sz="2000" spc="-60" dirty="0">
                <a:latin typeface="Tahoma"/>
                <a:cs typeface="Tahoma"/>
              </a:rPr>
              <a:t> </a:t>
            </a:r>
            <a:r>
              <a:rPr lang="en-GB" sz="2000" dirty="0">
                <a:latin typeface="Tahoma"/>
                <a:cs typeface="Tahoma"/>
              </a:rPr>
              <a:t>of</a:t>
            </a:r>
            <a:r>
              <a:rPr lang="en-GB" sz="2000" spc="-69" dirty="0">
                <a:latin typeface="Tahoma"/>
                <a:cs typeface="Tahoma"/>
              </a:rPr>
              <a:t> </a:t>
            </a:r>
            <a:r>
              <a:rPr lang="en-GB" sz="2000" dirty="0">
                <a:latin typeface="Tahoma"/>
                <a:cs typeface="Tahoma"/>
              </a:rPr>
              <a:t>action</a:t>
            </a:r>
            <a:r>
              <a:rPr lang="en-GB" sz="2000" spc="-60" dirty="0">
                <a:latin typeface="Tahoma"/>
                <a:cs typeface="Tahoma"/>
              </a:rPr>
              <a:t> </a:t>
            </a:r>
            <a:r>
              <a:rPr lang="en-GB" sz="2000" dirty="0">
                <a:latin typeface="Tahoma"/>
                <a:cs typeface="Tahoma"/>
              </a:rPr>
              <a:t>used</a:t>
            </a:r>
            <a:r>
              <a:rPr lang="en-GB" sz="2000" spc="-69" dirty="0">
                <a:latin typeface="Tahoma"/>
                <a:cs typeface="Tahoma"/>
              </a:rPr>
              <a:t> </a:t>
            </a:r>
            <a:r>
              <a:rPr lang="en-GB" sz="2000" dirty="0">
                <a:latin typeface="Tahoma"/>
                <a:cs typeface="Tahoma"/>
              </a:rPr>
              <a:t>by</a:t>
            </a:r>
            <a:r>
              <a:rPr lang="en-GB" sz="2000" spc="-60" dirty="0">
                <a:latin typeface="Tahoma"/>
                <a:cs typeface="Tahoma"/>
              </a:rPr>
              <a:t> </a:t>
            </a:r>
            <a:r>
              <a:rPr lang="en-GB" sz="2000" dirty="0">
                <a:latin typeface="Tahoma"/>
                <a:cs typeface="Tahoma"/>
              </a:rPr>
              <a:t>organization</a:t>
            </a:r>
            <a:r>
              <a:rPr lang="en-GB" sz="2000" spc="-69" dirty="0">
                <a:latin typeface="Tahoma"/>
                <a:cs typeface="Tahoma"/>
              </a:rPr>
              <a:t> </a:t>
            </a:r>
            <a:r>
              <a:rPr lang="en-GB" sz="2000" dirty="0">
                <a:latin typeface="Tahoma"/>
                <a:cs typeface="Tahoma"/>
              </a:rPr>
              <a:t>to</a:t>
            </a:r>
            <a:r>
              <a:rPr lang="en-GB" sz="2000" spc="-60" dirty="0">
                <a:latin typeface="Tahoma"/>
                <a:cs typeface="Tahoma"/>
              </a:rPr>
              <a:t> </a:t>
            </a:r>
            <a:r>
              <a:rPr lang="en-GB" sz="2000" spc="-20" dirty="0">
                <a:latin typeface="Tahoma"/>
                <a:cs typeface="Tahoma"/>
              </a:rPr>
              <a:t>convey </a:t>
            </a:r>
            <a:r>
              <a:rPr lang="en-GB" sz="2000" dirty="0">
                <a:latin typeface="Tahoma"/>
                <a:cs typeface="Tahoma"/>
              </a:rPr>
              <a:t>instructions</a:t>
            </a:r>
            <a:r>
              <a:rPr lang="en-GB" sz="2000" spc="-69" dirty="0">
                <a:latin typeface="Tahoma"/>
                <a:cs typeface="Tahoma"/>
              </a:rPr>
              <a:t> </a:t>
            </a:r>
            <a:r>
              <a:rPr lang="en-GB" sz="2000" dirty="0">
                <a:latin typeface="Tahoma"/>
                <a:cs typeface="Tahoma"/>
              </a:rPr>
              <a:t>from</a:t>
            </a:r>
            <a:r>
              <a:rPr lang="en-GB" sz="2000" spc="-69" dirty="0">
                <a:latin typeface="Tahoma"/>
                <a:cs typeface="Tahoma"/>
              </a:rPr>
              <a:t> </a:t>
            </a:r>
            <a:r>
              <a:rPr lang="en-GB" sz="2000" dirty="0">
                <a:latin typeface="Tahoma"/>
                <a:cs typeface="Tahoma"/>
              </a:rPr>
              <a:t>management</a:t>
            </a:r>
            <a:r>
              <a:rPr lang="en-GB" sz="2000" spc="-69" dirty="0">
                <a:latin typeface="Tahoma"/>
                <a:cs typeface="Tahoma"/>
              </a:rPr>
              <a:t> </a:t>
            </a:r>
            <a:r>
              <a:rPr lang="en-GB" sz="2000" dirty="0">
                <a:latin typeface="Tahoma"/>
                <a:cs typeface="Tahoma"/>
              </a:rPr>
              <a:t>to</a:t>
            </a:r>
            <a:r>
              <a:rPr lang="en-GB" sz="2000" spc="-69" dirty="0">
                <a:latin typeface="Tahoma"/>
                <a:cs typeface="Tahoma"/>
              </a:rPr>
              <a:t> </a:t>
            </a:r>
            <a:r>
              <a:rPr lang="en-GB" sz="2000" dirty="0">
                <a:latin typeface="Tahoma"/>
                <a:cs typeface="Tahoma"/>
              </a:rPr>
              <a:t>those</a:t>
            </a:r>
            <a:r>
              <a:rPr lang="en-GB" sz="2000" spc="-60" dirty="0">
                <a:latin typeface="Tahoma"/>
                <a:cs typeface="Tahoma"/>
              </a:rPr>
              <a:t> </a:t>
            </a:r>
            <a:r>
              <a:rPr lang="en-GB" sz="2000" dirty="0">
                <a:latin typeface="Tahoma"/>
                <a:cs typeface="Tahoma"/>
              </a:rPr>
              <a:t>who</a:t>
            </a:r>
            <a:r>
              <a:rPr lang="en-GB" sz="2000" spc="-69" dirty="0">
                <a:latin typeface="Tahoma"/>
                <a:cs typeface="Tahoma"/>
              </a:rPr>
              <a:t> </a:t>
            </a:r>
            <a:r>
              <a:rPr lang="en-GB" sz="2000" spc="-20" dirty="0">
                <a:latin typeface="Tahoma"/>
                <a:cs typeface="Tahoma"/>
              </a:rPr>
              <a:t>perform </a:t>
            </a:r>
            <a:r>
              <a:rPr lang="en-GB" sz="2000" dirty="0">
                <a:latin typeface="Tahoma"/>
                <a:cs typeface="Tahoma"/>
              </a:rPr>
              <a:t>duties</a:t>
            </a:r>
            <a:r>
              <a:rPr lang="en-GB" sz="2000" spc="546" dirty="0">
                <a:latin typeface="Tahoma"/>
                <a:cs typeface="Tahoma"/>
              </a:rPr>
              <a:t> </a:t>
            </a:r>
            <a:r>
              <a:rPr lang="en-GB" sz="2000" dirty="0">
                <a:latin typeface="Tahoma"/>
                <a:cs typeface="Tahoma"/>
              </a:rPr>
              <a:t>Policies</a:t>
            </a:r>
            <a:r>
              <a:rPr lang="en-GB" sz="2000" spc="-69" dirty="0">
                <a:latin typeface="Tahoma"/>
                <a:cs typeface="Tahoma"/>
              </a:rPr>
              <a:t> </a:t>
            </a:r>
            <a:r>
              <a:rPr lang="en-GB" sz="2000" dirty="0">
                <a:latin typeface="Tahoma"/>
                <a:cs typeface="Tahoma"/>
              </a:rPr>
              <a:t>are</a:t>
            </a:r>
            <a:r>
              <a:rPr lang="en-GB" sz="2000" spc="-60" dirty="0">
                <a:latin typeface="Tahoma"/>
                <a:cs typeface="Tahoma"/>
              </a:rPr>
              <a:t> </a:t>
            </a:r>
            <a:r>
              <a:rPr lang="en-GB" sz="2000" dirty="0">
                <a:latin typeface="Tahoma"/>
                <a:cs typeface="Tahoma"/>
              </a:rPr>
              <a:t>organizational</a:t>
            </a:r>
            <a:r>
              <a:rPr lang="en-GB" sz="2000" spc="-60" dirty="0">
                <a:latin typeface="Tahoma"/>
                <a:cs typeface="Tahoma"/>
              </a:rPr>
              <a:t> </a:t>
            </a:r>
            <a:r>
              <a:rPr lang="en-GB" sz="2000" spc="-40" dirty="0">
                <a:latin typeface="Tahoma"/>
                <a:cs typeface="Tahoma"/>
              </a:rPr>
              <a:t>laws</a:t>
            </a:r>
            <a:endParaRPr lang="en-GB" sz="2000" dirty="0">
              <a:latin typeface="Tahoma"/>
              <a:cs typeface="Tahoma"/>
            </a:endParaRPr>
          </a:p>
          <a:p>
            <a:pPr marL="25213" marR="211792">
              <a:lnSpc>
                <a:spcPct val="102600"/>
              </a:lnSpc>
              <a:spcBef>
                <a:spcPts val="2273"/>
              </a:spcBef>
            </a:pPr>
            <a:r>
              <a:rPr lang="en-GB" sz="2000" dirty="0">
                <a:solidFill>
                  <a:srgbClr val="0000FF"/>
                </a:solidFill>
                <a:latin typeface="Tahoma"/>
                <a:cs typeface="Tahoma"/>
              </a:rPr>
              <a:t>Standards:</a:t>
            </a:r>
            <a:r>
              <a:rPr lang="en-GB" sz="2000" spc="-69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lang="en-GB" sz="2000" dirty="0">
                <a:latin typeface="Tahoma"/>
                <a:cs typeface="Tahoma"/>
              </a:rPr>
              <a:t>more</a:t>
            </a:r>
            <a:r>
              <a:rPr lang="en-GB" sz="2000" spc="-69" dirty="0">
                <a:latin typeface="Tahoma"/>
                <a:cs typeface="Tahoma"/>
              </a:rPr>
              <a:t> </a:t>
            </a:r>
            <a:r>
              <a:rPr lang="en-GB" sz="2000" dirty="0">
                <a:latin typeface="Tahoma"/>
                <a:cs typeface="Tahoma"/>
              </a:rPr>
              <a:t>detailed</a:t>
            </a:r>
            <a:r>
              <a:rPr lang="en-GB" sz="2000" spc="-60" dirty="0">
                <a:latin typeface="Tahoma"/>
                <a:cs typeface="Tahoma"/>
              </a:rPr>
              <a:t> </a:t>
            </a:r>
            <a:r>
              <a:rPr lang="en-GB" sz="2000" dirty="0">
                <a:latin typeface="Tahoma"/>
                <a:cs typeface="Tahoma"/>
              </a:rPr>
              <a:t>statements</a:t>
            </a:r>
            <a:r>
              <a:rPr lang="en-GB" sz="2000" spc="-69" dirty="0">
                <a:latin typeface="Tahoma"/>
                <a:cs typeface="Tahoma"/>
              </a:rPr>
              <a:t> </a:t>
            </a:r>
            <a:r>
              <a:rPr lang="en-GB" sz="2000" dirty="0">
                <a:latin typeface="Tahoma"/>
                <a:cs typeface="Tahoma"/>
              </a:rPr>
              <a:t>of</a:t>
            </a:r>
            <a:r>
              <a:rPr lang="en-GB" sz="2000" spc="-69" dirty="0">
                <a:latin typeface="Tahoma"/>
                <a:cs typeface="Tahoma"/>
              </a:rPr>
              <a:t> </a:t>
            </a:r>
            <a:r>
              <a:rPr lang="en-GB" sz="2000" dirty="0">
                <a:latin typeface="Tahoma"/>
                <a:cs typeface="Tahoma"/>
              </a:rPr>
              <a:t>what</a:t>
            </a:r>
            <a:r>
              <a:rPr lang="en-GB" sz="2000" spc="-69" dirty="0">
                <a:latin typeface="Tahoma"/>
                <a:cs typeface="Tahoma"/>
              </a:rPr>
              <a:t> </a:t>
            </a:r>
            <a:r>
              <a:rPr lang="en-GB" sz="2000" dirty="0">
                <a:latin typeface="Tahoma"/>
                <a:cs typeface="Tahoma"/>
              </a:rPr>
              <a:t>must</a:t>
            </a:r>
            <a:r>
              <a:rPr lang="en-GB" sz="2000" spc="-69" dirty="0">
                <a:latin typeface="Tahoma"/>
                <a:cs typeface="Tahoma"/>
              </a:rPr>
              <a:t> </a:t>
            </a:r>
            <a:r>
              <a:rPr lang="en-GB" sz="2000" spc="-50" dirty="0">
                <a:latin typeface="Tahoma"/>
                <a:cs typeface="Tahoma"/>
              </a:rPr>
              <a:t>be </a:t>
            </a:r>
            <a:r>
              <a:rPr lang="en-GB" sz="2000" dirty="0">
                <a:latin typeface="Tahoma"/>
                <a:cs typeface="Tahoma"/>
              </a:rPr>
              <a:t>done</a:t>
            </a:r>
            <a:r>
              <a:rPr lang="en-GB" sz="2000" spc="-60" dirty="0">
                <a:latin typeface="Tahoma"/>
                <a:cs typeface="Tahoma"/>
              </a:rPr>
              <a:t> </a:t>
            </a:r>
            <a:r>
              <a:rPr lang="en-GB" sz="2000" dirty="0" smtClean="0">
                <a:latin typeface="Tahoma"/>
                <a:cs typeface="Tahoma"/>
              </a:rPr>
              <a:t>to</a:t>
            </a:r>
            <a:r>
              <a:rPr lang="en-GB" sz="2000" spc="556" dirty="0">
                <a:latin typeface="Tahoma"/>
                <a:cs typeface="Tahoma"/>
              </a:rPr>
              <a:t> </a:t>
            </a:r>
            <a:r>
              <a:rPr lang="en-GB" sz="2000" dirty="0" smtClean="0">
                <a:latin typeface="Tahoma"/>
                <a:cs typeface="Tahoma"/>
              </a:rPr>
              <a:t>comply</a:t>
            </a:r>
            <a:r>
              <a:rPr lang="en-GB" sz="2000" spc="-50" dirty="0" smtClean="0">
                <a:latin typeface="Tahoma"/>
                <a:cs typeface="Tahoma"/>
              </a:rPr>
              <a:t> </a:t>
            </a:r>
            <a:r>
              <a:rPr lang="en-GB" sz="2000" dirty="0">
                <a:latin typeface="Tahoma"/>
                <a:cs typeface="Tahoma"/>
              </a:rPr>
              <a:t>with</a:t>
            </a:r>
            <a:r>
              <a:rPr lang="en-GB" sz="2000" spc="-60" dirty="0">
                <a:latin typeface="Tahoma"/>
                <a:cs typeface="Tahoma"/>
              </a:rPr>
              <a:t> </a:t>
            </a:r>
            <a:r>
              <a:rPr lang="en-GB" sz="2000" spc="-20" dirty="0">
                <a:latin typeface="Tahoma"/>
                <a:cs typeface="Tahoma"/>
              </a:rPr>
              <a:t>policy</a:t>
            </a:r>
            <a:endParaRPr lang="en-GB" sz="2000" dirty="0">
              <a:latin typeface="Tahoma"/>
              <a:cs typeface="Tahoma"/>
            </a:endParaRPr>
          </a:p>
          <a:p>
            <a:pPr marL="25213" marR="10085">
              <a:lnSpc>
                <a:spcPct val="102600"/>
              </a:lnSpc>
              <a:spcBef>
                <a:spcPts val="2263"/>
              </a:spcBef>
            </a:pPr>
            <a:r>
              <a:rPr lang="en-GB" sz="2000" dirty="0">
                <a:solidFill>
                  <a:srgbClr val="0000FF"/>
                </a:solidFill>
                <a:latin typeface="Tahoma"/>
                <a:cs typeface="Tahoma"/>
              </a:rPr>
              <a:t>Practices,</a:t>
            </a:r>
            <a:r>
              <a:rPr lang="en-GB" sz="2000" spc="-79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lang="en-GB" sz="2000" spc="-20" dirty="0">
                <a:solidFill>
                  <a:srgbClr val="0000FF"/>
                </a:solidFill>
                <a:latin typeface="Tahoma"/>
                <a:cs typeface="Tahoma"/>
              </a:rPr>
              <a:t>procedures,</a:t>
            </a:r>
            <a:r>
              <a:rPr lang="en-GB" sz="2000" spc="-79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lang="en-GB" sz="2000" dirty="0">
                <a:solidFill>
                  <a:srgbClr val="0000FF"/>
                </a:solidFill>
                <a:latin typeface="Tahoma"/>
                <a:cs typeface="Tahoma"/>
              </a:rPr>
              <a:t>and</a:t>
            </a:r>
            <a:r>
              <a:rPr lang="en-GB" sz="2000" spc="-69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lang="en-GB" sz="2000" dirty="0">
                <a:solidFill>
                  <a:srgbClr val="0000FF"/>
                </a:solidFill>
                <a:latin typeface="Tahoma"/>
                <a:cs typeface="Tahoma"/>
              </a:rPr>
              <a:t>guidelines</a:t>
            </a:r>
            <a:r>
              <a:rPr lang="en-GB" sz="2000" spc="-50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lang="en-GB" sz="2000" dirty="0">
                <a:latin typeface="Tahoma"/>
                <a:cs typeface="Tahoma"/>
              </a:rPr>
              <a:t>effectively</a:t>
            </a:r>
            <a:r>
              <a:rPr lang="en-GB" sz="2000" spc="-79" dirty="0">
                <a:latin typeface="Tahoma"/>
                <a:cs typeface="Tahoma"/>
              </a:rPr>
              <a:t> </a:t>
            </a:r>
            <a:r>
              <a:rPr lang="en-GB" sz="2000" spc="-20" dirty="0">
                <a:latin typeface="Tahoma"/>
                <a:cs typeface="Tahoma"/>
              </a:rPr>
              <a:t>explain </a:t>
            </a:r>
            <a:r>
              <a:rPr lang="en-GB" sz="2000" dirty="0">
                <a:latin typeface="Tahoma"/>
                <a:cs typeface="Tahoma"/>
              </a:rPr>
              <a:t>how</a:t>
            </a:r>
            <a:r>
              <a:rPr lang="en-GB" sz="2000" spc="576" dirty="0">
                <a:latin typeface="Tahoma"/>
                <a:cs typeface="Tahoma"/>
              </a:rPr>
              <a:t> </a:t>
            </a:r>
            <a:r>
              <a:rPr lang="en-GB" sz="2000" dirty="0">
                <a:latin typeface="Tahoma"/>
                <a:cs typeface="Tahoma"/>
              </a:rPr>
              <a:t>to</a:t>
            </a:r>
            <a:r>
              <a:rPr lang="en-GB" sz="2000" spc="-40" dirty="0">
                <a:latin typeface="Tahoma"/>
                <a:cs typeface="Tahoma"/>
              </a:rPr>
              <a:t> </a:t>
            </a:r>
            <a:r>
              <a:rPr lang="en-GB" sz="2000" dirty="0">
                <a:latin typeface="Tahoma"/>
                <a:cs typeface="Tahoma"/>
              </a:rPr>
              <a:t>comply</a:t>
            </a:r>
            <a:r>
              <a:rPr lang="en-GB" sz="2000" spc="-50" dirty="0">
                <a:latin typeface="Tahoma"/>
                <a:cs typeface="Tahoma"/>
              </a:rPr>
              <a:t> </a:t>
            </a:r>
            <a:r>
              <a:rPr lang="en-GB" sz="2000" dirty="0">
                <a:latin typeface="Tahoma"/>
                <a:cs typeface="Tahoma"/>
              </a:rPr>
              <a:t>with</a:t>
            </a:r>
            <a:r>
              <a:rPr lang="en-GB" sz="2000" spc="-40" dirty="0">
                <a:latin typeface="Tahoma"/>
                <a:cs typeface="Tahoma"/>
              </a:rPr>
              <a:t> </a:t>
            </a:r>
            <a:r>
              <a:rPr lang="en-GB" sz="2000" spc="-20" dirty="0">
                <a:latin typeface="Tahoma"/>
                <a:cs typeface="Tahoma"/>
              </a:rPr>
              <a:t>policy</a:t>
            </a:r>
            <a:endParaRPr lang="en-GB" sz="2000" dirty="0">
              <a:latin typeface="Tahoma"/>
              <a:cs typeface="Tahoma"/>
            </a:endParaRPr>
          </a:p>
          <a:p>
            <a:pPr marL="25213" marR="250870">
              <a:lnSpc>
                <a:spcPct val="102600"/>
              </a:lnSpc>
              <a:spcBef>
                <a:spcPts val="2273"/>
              </a:spcBef>
            </a:pPr>
            <a:r>
              <a:rPr lang="en-GB" sz="2000" dirty="0">
                <a:latin typeface="Tahoma"/>
                <a:cs typeface="Tahoma"/>
              </a:rPr>
              <a:t>For</a:t>
            </a:r>
            <a:r>
              <a:rPr lang="en-GB" sz="2000" spc="-50" dirty="0">
                <a:latin typeface="Tahoma"/>
                <a:cs typeface="Tahoma"/>
              </a:rPr>
              <a:t> </a:t>
            </a:r>
            <a:r>
              <a:rPr lang="en-GB" sz="2000" dirty="0">
                <a:latin typeface="Tahoma"/>
                <a:cs typeface="Tahoma"/>
              </a:rPr>
              <a:t>a</a:t>
            </a:r>
            <a:r>
              <a:rPr lang="en-GB" sz="2000" spc="-50" dirty="0">
                <a:latin typeface="Tahoma"/>
                <a:cs typeface="Tahoma"/>
              </a:rPr>
              <a:t> </a:t>
            </a:r>
            <a:r>
              <a:rPr lang="en-GB" sz="2000" dirty="0">
                <a:latin typeface="Tahoma"/>
                <a:cs typeface="Tahoma"/>
              </a:rPr>
              <a:t>policy</a:t>
            </a:r>
            <a:r>
              <a:rPr lang="en-GB" sz="2000" spc="-50" dirty="0">
                <a:latin typeface="Tahoma"/>
                <a:cs typeface="Tahoma"/>
              </a:rPr>
              <a:t> </a:t>
            </a:r>
            <a:r>
              <a:rPr lang="en-GB" sz="2000" dirty="0">
                <a:latin typeface="Tahoma"/>
                <a:cs typeface="Tahoma"/>
              </a:rPr>
              <a:t>to</a:t>
            </a:r>
            <a:r>
              <a:rPr lang="en-GB" sz="2000" spc="-50" dirty="0">
                <a:latin typeface="Tahoma"/>
                <a:cs typeface="Tahoma"/>
              </a:rPr>
              <a:t> </a:t>
            </a:r>
            <a:r>
              <a:rPr lang="en-GB" sz="2000" dirty="0">
                <a:latin typeface="Tahoma"/>
                <a:cs typeface="Tahoma"/>
              </a:rPr>
              <a:t>be</a:t>
            </a:r>
            <a:r>
              <a:rPr lang="en-GB" sz="2000" spc="-50" dirty="0">
                <a:latin typeface="Tahoma"/>
                <a:cs typeface="Tahoma"/>
              </a:rPr>
              <a:t> </a:t>
            </a:r>
            <a:r>
              <a:rPr lang="en-GB" sz="2000" dirty="0">
                <a:latin typeface="Tahoma"/>
                <a:cs typeface="Tahoma"/>
              </a:rPr>
              <a:t>effective,</a:t>
            </a:r>
            <a:r>
              <a:rPr lang="en-GB" sz="2000" spc="-50" dirty="0">
                <a:latin typeface="Tahoma"/>
                <a:cs typeface="Tahoma"/>
              </a:rPr>
              <a:t> </a:t>
            </a:r>
            <a:r>
              <a:rPr lang="en-GB" sz="2000" dirty="0">
                <a:latin typeface="Tahoma"/>
                <a:cs typeface="Tahoma"/>
              </a:rPr>
              <a:t>it</a:t>
            </a:r>
            <a:r>
              <a:rPr lang="en-GB" sz="2000" spc="-50" dirty="0">
                <a:latin typeface="Tahoma"/>
                <a:cs typeface="Tahoma"/>
              </a:rPr>
              <a:t> </a:t>
            </a:r>
            <a:r>
              <a:rPr lang="en-GB" sz="2000" dirty="0">
                <a:latin typeface="Tahoma"/>
                <a:cs typeface="Tahoma"/>
              </a:rPr>
              <a:t>must</a:t>
            </a:r>
            <a:r>
              <a:rPr lang="en-GB" sz="2000" spc="-50" dirty="0">
                <a:latin typeface="Tahoma"/>
                <a:cs typeface="Tahoma"/>
              </a:rPr>
              <a:t> </a:t>
            </a:r>
            <a:r>
              <a:rPr lang="en-GB" sz="2000" dirty="0">
                <a:latin typeface="Tahoma"/>
                <a:cs typeface="Tahoma"/>
              </a:rPr>
              <a:t>be</a:t>
            </a:r>
            <a:r>
              <a:rPr lang="en-GB" sz="2000" spc="-50" dirty="0">
                <a:latin typeface="Tahoma"/>
                <a:cs typeface="Tahoma"/>
              </a:rPr>
              <a:t> </a:t>
            </a:r>
            <a:r>
              <a:rPr lang="en-GB" sz="2000" spc="-20" dirty="0">
                <a:latin typeface="Tahoma"/>
                <a:cs typeface="Tahoma"/>
              </a:rPr>
              <a:t>properly </a:t>
            </a:r>
            <a:r>
              <a:rPr lang="en-GB" sz="2000" dirty="0">
                <a:solidFill>
                  <a:srgbClr val="0000FF"/>
                </a:solidFill>
                <a:latin typeface="Tahoma"/>
                <a:cs typeface="Tahoma"/>
              </a:rPr>
              <a:t>disseminated,</a:t>
            </a:r>
            <a:r>
              <a:rPr lang="en-GB" sz="2000" spc="546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lang="en-GB" sz="2000" dirty="0">
                <a:solidFill>
                  <a:srgbClr val="0000FF"/>
                </a:solidFill>
                <a:latin typeface="Tahoma"/>
                <a:cs typeface="Tahoma"/>
              </a:rPr>
              <a:t>read,</a:t>
            </a:r>
            <a:r>
              <a:rPr lang="en-GB" sz="2000" spc="-60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lang="en-GB" sz="2000" spc="-20" dirty="0">
                <a:solidFill>
                  <a:srgbClr val="0000FF"/>
                </a:solidFill>
                <a:latin typeface="Tahoma"/>
                <a:cs typeface="Tahoma"/>
              </a:rPr>
              <a:t>understood,</a:t>
            </a:r>
            <a:r>
              <a:rPr lang="en-GB" sz="2000" spc="-60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lang="en-GB" sz="2000" dirty="0">
                <a:solidFill>
                  <a:srgbClr val="0000FF"/>
                </a:solidFill>
                <a:latin typeface="Tahoma"/>
                <a:cs typeface="Tahoma"/>
              </a:rPr>
              <a:t>and</a:t>
            </a:r>
            <a:r>
              <a:rPr lang="en-GB" sz="2000" spc="-69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lang="en-GB" sz="2000" dirty="0">
                <a:solidFill>
                  <a:srgbClr val="0000FF"/>
                </a:solidFill>
                <a:latin typeface="Tahoma"/>
                <a:cs typeface="Tahoma"/>
              </a:rPr>
              <a:t>agreed</a:t>
            </a:r>
            <a:r>
              <a:rPr lang="en-GB" sz="2000" spc="-20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lang="en-GB" sz="2000" dirty="0">
                <a:latin typeface="Tahoma"/>
                <a:cs typeface="Tahoma"/>
              </a:rPr>
              <a:t>to</a:t>
            </a:r>
            <a:r>
              <a:rPr lang="en-GB" sz="2000" spc="-69" dirty="0">
                <a:latin typeface="Tahoma"/>
                <a:cs typeface="Tahoma"/>
              </a:rPr>
              <a:t> </a:t>
            </a:r>
            <a:r>
              <a:rPr lang="en-GB" sz="2000" dirty="0">
                <a:latin typeface="Tahoma"/>
                <a:cs typeface="Tahoma"/>
              </a:rPr>
              <a:t>by</a:t>
            </a:r>
            <a:r>
              <a:rPr lang="en-GB" sz="2000" spc="-60" dirty="0">
                <a:latin typeface="Tahoma"/>
                <a:cs typeface="Tahoma"/>
              </a:rPr>
              <a:t> </a:t>
            </a:r>
            <a:r>
              <a:rPr lang="en-GB" sz="2000" spc="-50" dirty="0">
                <a:latin typeface="Tahoma"/>
                <a:cs typeface="Tahoma"/>
              </a:rPr>
              <a:t>all </a:t>
            </a:r>
            <a:r>
              <a:rPr lang="en-GB" sz="2000" dirty="0">
                <a:latin typeface="Tahoma"/>
                <a:cs typeface="Tahoma"/>
              </a:rPr>
              <a:t>members</a:t>
            </a:r>
            <a:r>
              <a:rPr lang="en-GB" sz="2000" spc="-60" dirty="0">
                <a:latin typeface="Tahoma"/>
                <a:cs typeface="Tahoma"/>
              </a:rPr>
              <a:t> </a:t>
            </a:r>
            <a:r>
              <a:rPr lang="en-GB" sz="2000" dirty="0">
                <a:latin typeface="Tahoma"/>
                <a:cs typeface="Tahoma"/>
              </a:rPr>
              <a:t>of</a:t>
            </a:r>
            <a:r>
              <a:rPr lang="en-GB" sz="2000" spc="576" dirty="0">
                <a:latin typeface="Tahoma"/>
                <a:cs typeface="Tahoma"/>
              </a:rPr>
              <a:t> </a:t>
            </a:r>
            <a:r>
              <a:rPr lang="en-GB" sz="2000" dirty="0">
                <a:latin typeface="Tahoma"/>
                <a:cs typeface="Tahoma"/>
              </a:rPr>
              <a:t>organization</a:t>
            </a:r>
            <a:r>
              <a:rPr lang="en-GB" sz="2000" spc="-50" dirty="0">
                <a:latin typeface="Tahoma"/>
                <a:cs typeface="Tahoma"/>
              </a:rPr>
              <a:t> </a:t>
            </a:r>
            <a:r>
              <a:rPr lang="en-GB" sz="2000" dirty="0">
                <a:latin typeface="Tahoma"/>
                <a:cs typeface="Tahoma"/>
              </a:rPr>
              <a:t>and</a:t>
            </a:r>
            <a:r>
              <a:rPr lang="en-GB" sz="2000" spc="-50" dirty="0">
                <a:latin typeface="Tahoma"/>
                <a:cs typeface="Tahoma"/>
              </a:rPr>
              <a:t> </a:t>
            </a:r>
            <a:r>
              <a:rPr lang="en-GB" sz="2000" spc="-20" dirty="0">
                <a:latin typeface="Tahoma"/>
                <a:cs typeface="Tahoma"/>
              </a:rPr>
              <a:t>uniformly</a:t>
            </a:r>
            <a:r>
              <a:rPr lang="en-GB" sz="2000" spc="-50" dirty="0">
                <a:latin typeface="Tahoma"/>
                <a:cs typeface="Tahoma"/>
              </a:rPr>
              <a:t> </a:t>
            </a:r>
            <a:r>
              <a:rPr lang="en-GB" sz="2000" spc="-20" dirty="0">
                <a:latin typeface="Tahoma"/>
                <a:cs typeface="Tahoma"/>
              </a:rPr>
              <a:t>enforced</a:t>
            </a:r>
            <a:endParaRPr lang="en-GB" sz="2000" dirty="0">
              <a:latin typeface="Tahoma"/>
              <a:cs typeface="Tahoma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30848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object 1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82992" y="1950972"/>
            <a:ext cx="7826014" cy="45480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84538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142755" y="1067640"/>
            <a:ext cx="10993549" cy="1475013"/>
          </a:xfrm>
        </p:spPr>
        <p:txBody>
          <a:bodyPr/>
          <a:lstStyle/>
          <a:p>
            <a:pPr algn="ctr"/>
            <a:r>
              <a:rPr lang="en-GB" dirty="0"/>
              <a:t>NIST Cybersecurity Framework</a:t>
            </a:r>
            <a:endParaRPr lang="en-US" dirty="0"/>
          </a:p>
        </p:txBody>
      </p:sp>
      <p:pic>
        <p:nvPicPr>
          <p:cNvPr id="4098" name="Picture 2" descr="NIST Cybersecurity Framework 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337" t="39193" r="7802" b="5195"/>
          <a:stretch/>
        </p:blipFill>
        <p:spPr bwMode="auto">
          <a:xfrm>
            <a:off x="7129675" y="3037001"/>
            <a:ext cx="4784823" cy="33651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 descr="https://miro.medium.com/v2/resize:fit:700/1*YOG-MZvcFGonl4T0XkPOfw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7784" y="868167"/>
            <a:ext cx="3329942" cy="16744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87446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Outline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3626" y="1827799"/>
            <a:ext cx="11029615" cy="3678303"/>
          </a:xfrm>
        </p:spPr>
        <p:txBody>
          <a:bodyPr>
            <a:normAutofit/>
          </a:bodyPr>
          <a:lstStyle/>
          <a:p>
            <a:r>
              <a:rPr lang="en-GB" sz="2800" dirty="0"/>
              <a:t>NIST Cybersecurity Framework</a:t>
            </a:r>
          </a:p>
          <a:p>
            <a:r>
              <a:rPr lang="en-GB" sz="2800" dirty="0"/>
              <a:t>Framework Core Structure</a:t>
            </a:r>
          </a:p>
          <a:p>
            <a:r>
              <a:rPr lang="en-GB" sz="2800" dirty="0"/>
              <a:t>Functions </a:t>
            </a:r>
          </a:p>
          <a:p>
            <a:r>
              <a:rPr lang="en-GB" sz="2800" dirty="0"/>
              <a:t>Categories</a:t>
            </a:r>
          </a:p>
          <a:p>
            <a:r>
              <a:rPr lang="en-GB" sz="2800" dirty="0"/>
              <a:t>Tiers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6441732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What is the NIST Cybersecurity Framework?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9752" y="2925079"/>
            <a:ext cx="11029615" cy="3678303"/>
          </a:xfrm>
        </p:spPr>
        <p:txBody>
          <a:bodyPr>
            <a:noAutofit/>
          </a:bodyPr>
          <a:lstStyle/>
          <a:p>
            <a:pPr algn="just" fontAlgn="base"/>
            <a:r>
              <a:rPr lang="en-GB" sz="2400" dirty="0"/>
              <a:t>The National Institute of Standards and Technology (NIST) is a non-regulatory agency that promotes innovation by advancing measurement science, standards, and technology. </a:t>
            </a:r>
          </a:p>
          <a:p>
            <a:pPr algn="just" fontAlgn="base"/>
            <a:r>
              <a:rPr lang="en-GB" sz="2400" dirty="0"/>
              <a:t>The NIST Cybersecurity Framework (NIST CSF) consists of standards, guidelines, and best practices that help organizations improve their management of cybersecurity risk. </a:t>
            </a:r>
          </a:p>
          <a:p>
            <a:pPr algn="just" fontAlgn="base"/>
            <a:r>
              <a:rPr lang="en-GB" sz="2400" dirty="0"/>
              <a:t>The NIST CSF is designed to be flexible enough to integrate with the existing security processes within any organization, in any industry. </a:t>
            </a:r>
          </a:p>
          <a:p>
            <a:pPr algn="just" fontAlgn="base"/>
            <a:r>
              <a:rPr lang="en-GB" sz="2400" dirty="0"/>
              <a:t>It provides an excellent starting point for implementing information security and cybersecurity risk management in virtually any private sector organization in the United States.</a:t>
            </a:r>
          </a:p>
          <a:p>
            <a:pPr algn="just"/>
            <a:r>
              <a:rPr lang="en-GB" sz="2400" dirty="0"/>
              <a:t/>
            </a:r>
            <a:br>
              <a:rPr lang="en-GB" sz="2400" dirty="0"/>
            </a:b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3394414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NIST Cybersecurity Framework core structure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 fontAlgn="base"/>
            <a:r>
              <a:rPr lang="en-GB" sz="2400" dirty="0"/>
              <a:t>NIST Cybersecurity Framework includes </a:t>
            </a:r>
            <a:r>
              <a:rPr lang="en-GB" sz="2400" i="1" dirty="0"/>
              <a:t>functions</a:t>
            </a:r>
            <a:r>
              <a:rPr lang="en-GB" sz="2400" dirty="0"/>
              <a:t>, </a:t>
            </a:r>
            <a:r>
              <a:rPr lang="en-GB" sz="2400" i="1" dirty="0"/>
              <a:t>categories</a:t>
            </a:r>
            <a:r>
              <a:rPr lang="en-GB" sz="2400" dirty="0"/>
              <a:t>, </a:t>
            </a:r>
            <a:r>
              <a:rPr lang="en-GB" sz="2400" i="1" dirty="0"/>
              <a:t>subcategories</a:t>
            </a:r>
            <a:r>
              <a:rPr lang="en-GB" sz="2400" dirty="0"/>
              <a:t>, and </a:t>
            </a:r>
            <a:r>
              <a:rPr lang="en-GB" sz="2400" i="1" dirty="0"/>
              <a:t>informative references</a:t>
            </a:r>
            <a:r>
              <a:rPr lang="en-GB" sz="2400" dirty="0"/>
              <a:t>. </a:t>
            </a:r>
          </a:p>
          <a:p>
            <a:pPr algn="just" fontAlgn="base"/>
            <a:r>
              <a:rPr lang="en-GB" sz="2400" dirty="0"/>
              <a:t>Functions give a general overview of security protocols of best practices. </a:t>
            </a:r>
          </a:p>
          <a:p>
            <a:pPr algn="just" fontAlgn="base"/>
            <a:r>
              <a:rPr lang="en-GB" sz="2400" dirty="0"/>
              <a:t>Functions are not intended to be procedural steps but are to be performed “</a:t>
            </a:r>
            <a:r>
              <a:rPr lang="en-GB" sz="2400" b="1" dirty="0"/>
              <a:t>concurrently and continuously to form an operational culture that addresses the dynamic cybersecurity risk</a:t>
            </a:r>
            <a:r>
              <a:rPr lang="en-GB" sz="2400" dirty="0"/>
              <a:t>.” </a:t>
            </a:r>
          </a:p>
          <a:p>
            <a:pPr algn="just" fontAlgn="base"/>
            <a:r>
              <a:rPr lang="en-GB" sz="2400" dirty="0"/>
              <a:t>Categories and subcategories provide more concrete action plans for specific departments or processes within an organization. </a:t>
            </a:r>
          </a:p>
          <a:p>
            <a:pPr algn="just"/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4397290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NIST Cybersecurity Framework core structure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1026" name="Picture 2" descr="What You Should Know About NIST CSF 2.0: Five Key Takeaways - NextLab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95145" y="1897118"/>
            <a:ext cx="5360276" cy="4762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775504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Guide to Operationalizing the NIST Cybersecurity Framework | Balbix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1752" y="1870840"/>
            <a:ext cx="9774620" cy="48452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NIST Cybersecurity Framework core structure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068667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NIST functions and categories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1374" y="1971491"/>
            <a:ext cx="11029615" cy="3678303"/>
          </a:xfrm>
        </p:spPr>
        <p:txBody>
          <a:bodyPr>
            <a:noAutofit/>
          </a:bodyPr>
          <a:lstStyle/>
          <a:p>
            <a:pPr algn="just" fontAlgn="base"/>
            <a:r>
              <a:rPr lang="en-GB" sz="2400" b="1" dirty="0"/>
              <a:t>Identify:</a:t>
            </a:r>
            <a:r>
              <a:rPr lang="en-GB" sz="2400" dirty="0"/>
              <a:t> To protect against cyberattacks, the cybersecurity team needs a thorough understanding of what are the most important assets and resources of the organization. </a:t>
            </a:r>
          </a:p>
          <a:p>
            <a:pPr lvl="1" algn="just" fontAlgn="base"/>
            <a:r>
              <a:rPr lang="en-GB" sz="2200" dirty="0"/>
              <a:t>The identify function includes such categories as asset management, business environment, governance, risk assessment and risk management strategy.</a:t>
            </a:r>
          </a:p>
          <a:p>
            <a:pPr algn="just"/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6509166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NIST functions and categories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en-GB" sz="2400" b="1" dirty="0"/>
              <a:t>Protect: </a:t>
            </a:r>
          </a:p>
          <a:p>
            <a:pPr algn="just"/>
            <a:r>
              <a:rPr lang="en-GB" sz="2400" dirty="0"/>
              <a:t>The protect function covers much of the technical and physical security controls for developing and implementing appropriate safeguards and protecting critical infrastructure.</a:t>
            </a:r>
          </a:p>
          <a:p>
            <a:pPr marL="324000" lvl="1" algn="just"/>
            <a:r>
              <a:rPr lang="en-GB" sz="2200" dirty="0"/>
              <a:t> These categories are identity management and access control, awareness and training, data security, information protection processes and procedures, maintenance, and protective technology.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734330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375584"/>
            <a:ext cx="11029616" cy="1013800"/>
          </a:xfrm>
        </p:spPr>
        <p:txBody>
          <a:bodyPr/>
          <a:lstStyle/>
          <a:p>
            <a:r>
              <a:rPr lang="en-GB" dirty="0"/>
              <a:t>NIST functions and categories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0563" y="2154369"/>
            <a:ext cx="11029615" cy="3678303"/>
          </a:xfrm>
        </p:spPr>
        <p:txBody>
          <a:bodyPr>
            <a:noAutofit/>
          </a:bodyPr>
          <a:lstStyle/>
          <a:p>
            <a:pPr marL="0" indent="0" algn="just" fontAlgn="base">
              <a:buNone/>
            </a:pPr>
            <a:r>
              <a:rPr lang="en-GB" sz="2400" b="1" dirty="0"/>
              <a:t>Detect:</a:t>
            </a:r>
            <a:r>
              <a:rPr lang="en-GB" sz="2400" dirty="0"/>
              <a:t> </a:t>
            </a:r>
          </a:p>
          <a:p>
            <a:pPr algn="just" fontAlgn="base"/>
            <a:r>
              <a:rPr lang="en-GB" sz="2400" dirty="0"/>
              <a:t>The detect function implements measures that alert an organization to cyberattacks. </a:t>
            </a:r>
          </a:p>
          <a:p>
            <a:pPr algn="just" fontAlgn="base"/>
            <a:r>
              <a:rPr lang="en-GB" sz="2200" dirty="0"/>
              <a:t>Detect categories include anomalies and events, security continuous monitoring, and detection processes.</a:t>
            </a:r>
          </a:p>
          <a:p>
            <a:pPr algn="just"/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81680778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375584"/>
            <a:ext cx="11029616" cy="1013800"/>
          </a:xfrm>
        </p:spPr>
        <p:txBody>
          <a:bodyPr/>
          <a:lstStyle/>
          <a:p>
            <a:r>
              <a:rPr lang="en-GB" dirty="0"/>
              <a:t>NIST functions and categories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5249" y="2102118"/>
            <a:ext cx="11029615" cy="3678303"/>
          </a:xfrm>
        </p:spPr>
        <p:txBody>
          <a:bodyPr>
            <a:noAutofit/>
          </a:bodyPr>
          <a:lstStyle/>
          <a:p>
            <a:pPr marL="0" indent="0" algn="just" fontAlgn="base">
              <a:buNone/>
            </a:pPr>
            <a:r>
              <a:rPr lang="en-GB" sz="2400" b="1" dirty="0"/>
              <a:t>Respond:</a:t>
            </a:r>
            <a:r>
              <a:rPr lang="en-GB" sz="2400" dirty="0"/>
              <a:t> </a:t>
            </a:r>
          </a:p>
          <a:p>
            <a:pPr algn="just" fontAlgn="base"/>
            <a:r>
              <a:rPr lang="en-GB" sz="2400" dirty="0"/>
              <a:t>The respond function categories ensure the appropriate response to cyberattacks and other cybersecurity events. </a:t>
            </a:r>
          </a:p>
          <a:p>
            <a:pPr algn="just" fontAlgn="base"/>
            <a:r>
              <a:rPr lang="en-GB" sz="2400" dirty="0"/>
              <a:t>Specific categories include response planning, communications, analysis, mitigation, and improvements.</a:t>
            </a:r>
          </a:p>
          <a:p>
            <a:pPr algn="just"/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94357997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375584"/>
            <a:ext cx="11029616" cy="1013800"/>
          </a:xfrm>
        </p:spPr>
        <p:txBody>
          <a:bodyPr/>
          <a:lstStyle/>
          <a:p>
            <a:r>
              <a:rPr lang="en-GB" dirty="0"/>
              <a:t>NIST functions and categories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3626" y="1788609"/>
            <a:ext cx="11029615" cy="3678303"/>
          </a:xfrm>
        </p:spPr>
        <p:txBody>
          <a:bodyPr>
            <a:noAutofit/>
          </a:bodyPr>
          <a:lstStyle/>
          <a:p>
            <a:pPr marL="0" indent="0" algn="just" fontAlgn="base">
              <a:buNone/>
            </a:pPr>
            <a:r>
              <a:rPr lang="en-GB" sz="2400" b="1" dirty="0"/>
              <a:t>Recover:</a:t>
            </a:r>
            <a:r>
              <a:rPr lang="en-GB" sz="2400" dirty="0"/>
              <a:t> </a:t>
            </a:r>
          </a:p>
          <a:p>
            <a:pPr algn="just" fontAlgn="base"/>
            <a:r>
              <a:rPr lang="en-GB" sz="2400" dirty="0"/>
              <a:t>Recovery activities implement plans for cyber resilience and ensure business continuity in the event of a cyberattack, security breach, or other cybersecurity event. </a:t>
            </a:r>
          </a:p>
          <a:p>
            <a:pPr algn="just" fontAlgn="base"/>
            <a:r>
              <a:rPr lang="en-GB" sz="2400" dirty="0"/>
              <a:t>The recovery functions are recovery planning improvements and communications.</a:t>
            </a:r>
          </a:p>
          <a:p>
            <a:pPr algn="just"/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83588545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NIST Framework implementation tiers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074" name="Picture 2" descr="In order to be flexible and customizable to fit the needs of any organization, NIST created the NIST Implementation Tiers that provides a comprehensive view of the framework's implementation. "/>
          <p:cNvPicPr>
            <a:picLocks noChangeAspect="1" noChangeArrowheads="1"/>
          </p:cNvPicPr>
          <p:nvPr/>
        </p:nvPicPr>
        <p:blipFill rotWithShape="1">
          <a:blip r:embed="rId2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464" t="30831" r="7948" b="22921"/>
          <a:stretch/>
        </p:blipFill>
        <p:spPr bwMode="auto">
          <a:xfrm>
            <a:off x="218364" y="2308470"/>
            <a:ext cx="11610807" cy="39023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7901063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NIST Framework implementation tiers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4493259"/>
          </a:xfrm>
        </p:spPr>
        <p:txBody>
          <a:bodyPr>
            <a:normAutofit/>
          </a:bodyPr>
          <a:lstStyle/>
          <a:p>
            <a:pPr marL="0" indent="0" fontAlgn="base">
              <a:buNone/>
            </a:pPr>
            <a:r>
              <a:rPr lang="en-GB" sz="2400" dirty="0"/>
              <a:t>To help private sector organizations measure their progress towards implementing the NIST Cybersecurity Framework, the framework identifies four implementation tiers:</a:t>
            </a:r>
          </a:p>
          <a:p>
            <a:pPr marL="0" indent="0" fontAlgn="base">
              <a:buNone/>
            </a:pPr>
            <a:r>
              <a:rPr lang="en-GB" sz="2400" b="1" dirty="0"/>
              <a:t>Tier 1 – Partial:</a:t>
            </a:r>
            <a:r>
              <a:rPr lang="en-GB" sz="2400" dirty="0"/>
              <a:t> </a:t>
            </a:r>
          </a:p>
          <a:p>
            <a:pPr lvl="1" fontAlgn="base"/>
            <a:r>
              <a:rPr lang="en-GB" sz="2200" dirty="0"/>
              <a:t>The organization is familiar with the NIST CSF and may have implemented some aspects of control in some areas of the infrastructure. </a:t>
            </a:r>
          </a:p>
          <a:p>
            <a:pPr lvl="1" fontAlgn="base"/>
            <a:r>
              <a:rPr lang="en-GB" sz="2200" dirty="0"/>
              <a:t>Implementation of cybersecurity activities and protocols has been reactive vs. planned. </a:t>
            </a:r>
          </a:p>
          <a:p>
            <a:pPr lvl="1" fontAlgn="base"/>
            <a:r>
              <a:rPr lang="en-GB" sz="2200" dirty="0"/>
              <a:t>The organization has limited awareness of cybersecurity risks and lacks the processes and resources to enable information security.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85779645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NIST Framework implementation tiers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1924961"/>
            <a:ext cx="11029615" cy="4815473"/>
          </a:xfrm>
        </p:spPr>
        <p:txBody>
          <a:bodyPr>
            <a:normAutofit/>
          </a:bodyPr>
          <a:lstStyle/>
          <a:p>
            <a:pPr marL="0" indent="0" fontAlgn="base">
              <a:buNone/>
            </a:pPr>
            <a:r>
              <a:rPr lang="en-GB" sz="2400" b="1" dirty="0"/>
              <a:t>Tier 2 – Risk Informed:</a:t>
            </a:r>
            <a:r>
              <a:rPr lang="en-GB" sz="2400" dirty="0"/>
              <a:t> </a:t>
            </a:r>
          </a:p>
          <a:p>
            <a:pPr lvl="1" fontAlgn="base"/>
            <a:r>
              <a:rPr lang="en-GB" sz="2600" dirty="0"/>
              <a:t>Tier 2 businesses recognize that cybersecurity risks exist and that they need to be managed. </a:t>
            </a:r>
          </a:p>
          <a:p>
            <a:pPr lvl="3" fontAlgn="base"/>
            <a:r>
              <a:rPr lang="en-GB" sz="2200" dirty="0"/>
              <a:t>However, they lack standard procedures and company-wide awareness of threats.</a:t>
            </a:r>
          </a:p>
          <a:p>
            <a:pPr lvl="1" fontAlgn="base"/>
            <a:r>
              <a:rPr lang="en-GB" sz="2600" dirty="0"/>
              <a:t>The organization is more aware of cybersecurity risks and shares information on an informal basis. </a:t>
            </a:r>
          </a:p>
          <a:p>
            <a:pPr lvl="1" fontAlgn="base"/>
            <a:r>
              <a:rPr lang="en-GB" sz="2600" dirty="0"/>
              <a:t>It lacks a planned, repeatable, and proactive organization-wide cybersecurity risk management process.</a:t>
            </a:r>
            <a:r>
              <a:rPr lang="en-GB" sz="2200" dirty="0"/>
              <a:t/>
            </a:r>
            <a:br>
              <a:rPr lang="en-GB" sz="2200" dirty="0"/>
            </a:br>
            <a:endParaRPr lang="en-GB" sz="2200" dirty="0"/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58645606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NIST Framework implementation tiers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1924961"/>
            <a:ext cx="11029615" cy="4815473"/>
          </a:xfrm>
        </p:spPr>
        <p:txBody>
          <a:bodyPr>
            <a:normAutofit/>
          </a:bodyPr>
          <a:lstStyle/>
          <a:p>
            <a:pPr marL="0" indent="0" fontAlgn="base">
              <a:buNone/>
            </a:pPr>
            <a:r>
              <a:rPr lang="en-GB" sz="2400" b="1" dirty="0"/>
              <a:t>Tier 3 – Repeatable:</a:t>
            </a:r>
            <a:r>
              <a:rPr lang="en-GB" sz="2400" dirty="0"/>
              <a:t> </a:t>
            </a:r>
          </a:p>
          <a:p>
            <a:pPr fontAlgn="base"/>
            <a:r>
              <a:rPr lang="en-GB" sz="2400" dirty="0"/>
              <a:t>Tier 3 organizations have developed and implemented procedures for managing cybersecurity risks. This includes incident response plans, security awareness training, and regular security assessments.</a:t>
            </a:r>
          </a:p>
          <a:p>
            <a:pPr fontAlgn="base"/>
            <a:r>
              <a:rPr lang="en-GB" sz="2400" dirty="0"/>
              <a:t>The organization and its senior executives are aware of cybersecurity risks. </a:t>
            </a:r>
          </a:p>
          <a:p>
            <a:pPr fontAlgn="base"/>
            <a:r>
              <a:rPr lang="en-GB" sz="2400" dirty="0"/>
              <a:t>They have implemented a repeatable, organization-wide cybersecurity risk management plan. </a:t>
            </a:r>
          </a:p>
          <a:p>
            <a:pPr fontAlgn="base"/>
            <a:r>
              <a:rPr lang="en-GB" sz="2400" dirty="0"/>
              <a:t>The cybersecurity team has created an action plan to monitor and respond effectively to cyberattacks.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05701856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NIST Framework implementation tiers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89" y="2546256"/>
            <a:ext cx="11029615" cy="3678303"/>
          </a:xfrm>
        </p:spPr>
        <p:txBody>
          <a:bodyPr>
            <a:noAutofit/>
          </a:bodyPr>
          <a:lstStyle/>
          <a:p>
            <a:pPr algn="just"/>
            <a:r>
              <a:rPr lang="en-GB" sz="2400" b="1" dirty="0"/>
              <a:t>Tier 4 – Adaptive:</a:t>
            </a:r>
            <a:r>
              <a:rPr lang="en-GB" sz="2400" dirty="0"/>
              <a:t> </a:t>
            </a:r>
          </a:p>
          <a:p>
            <a:pPr lvl="1" algn="just"/>
            <a:r>
              <a:rPr lang="en-GB" sz="2000" dirty="0"/>
              <a:t>Continuously improving the organization's approach to managing cybersecurity risks. This includes making changes in response to incidents, new threats, and changing business needs.</a:t>
            </a:r>
          </a:p>
          <a:p>
            <a:pPr lvl="1" algn="just"/>
            <a:r>
              <a:rPr lang="en-GB" sz="2000" dirty="0"/>
              <a:t>The organization is now cyber resilient and uses lessons learned and predictive indicators to prevent cyberattacks. </a:t>
            </a:r>
          </a:p>
          <a:p>
            <a:pPr lvl="1" algn="just"/>
            <a:r>
              <a:rPr lang="en-GB" sz="2000" dirty="0"/>
              <a:t>The cybersecurity team continuously improves and advances the organization’s cybersecurity technologies and practices and adapts to changes in threats quickly and efficiently. </a:t>
            </a:r>
          </a:p>
          <a:p>
            <a:pPr lvl="1" algn="just"/>
            <a:r>
              <a:rPr lang="en-GB" sz="2000" dirty="0"/>
              <a:t>There is an organization-wide approach to information security risk management with risk informed decision-making, policies, procedures, and processes. </a:t>
            </a:r>
          </a:p>
          <a:p>
            <a:pPr lvl="1" algn="just"/>
            <a:r>
              <a:rPr lang="en-GB" sz="2000" dirty="0"/>
              <a:t>Adaptive organizations incorporate cybersecurity risk management into budget decisions and organizational culture.</a:t>
            </a:r>
          </a:p>
          <a:p>
            <a:pPr algn="just"/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21137326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780430" y="2538484"/>
            <a:ext cx="539086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4400" dirty="0">
                <a:solidFill>
                  <a:schemeClr val="accent3">
                    <a:lumMod val="75000"/>
                  </a:schemeClr>
                </a:solidFill>
              </a:rPr>
              <a:t>Any Questions?</a:t>
            </a:r>
            <a:endParaRPr lang="en-US" sz="4400" dirty="0">
              <a:solidFill>
                <a:schemeClr val="accent3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52856494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">
  <a:themeElements>
    <a:clrScheme name="Dividend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4D1434"/>
      </a:accent1>
      <a:accent2>
        <a:srgbClr val="903163"/>
      </a:accent2>
      <a:accent3>
        <a:srgbClr val="B2324B"/>
      </a:accent3>
      <a:accent4>
        <a:srgbClr val="969FA7"/>
      </a:accent4>
      <a:accent5>
        <a:srgbClr val="66B1CE"/>
      </a:accent5>
      <a:accent6>
        <a:srgbClr val="40619D"/>
      </a:accent6>
      <a:hlink>
        <a:srgbClr val="828282"/>
      </a:hlink>
      <a:folHlink>
        <a:srgbClr val="A5A5A5"/>
      </a:folHlink>
    </a:clrScheme>
    <a:fontScheme name="Dividend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C21699FF-00E4-43C8-BBCC-D7E5536C371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Dividend</Template>
  <TotalTime>1944</TotalTime>
  <Words>394</Words>
  <Application>Microsoft Office PowerPoint</Application>
  <PresentationFormat>Widescreen</PresentationFormat>
  <Paragraphs>106</Paragraphs>
  <Slides>24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0" baseType="lpstr">
      <vt:lpstr>Calibri</vt:lpstr>
      <vt:lpstr>Carlito</vt:lpstr>
      <vt:lpstr>Gill Sans MT</vt:lpstr>
      <vt:lpstr>Tahoma</vt:lpstr>
      <vt:lpstr>Wingdings 2</vt:lpstr>
      <vt:lpstr>Dividend</vt:lpstr>
      <vt:lpstr>Planning for Security </vt:lpstr>
      <vt:lpstr>Outline</vt:lpstr>
      <vt:lpstr>Introduction</vt:lpstr>
      <vt:lpstr>Information Security Planning and Governance </vt:lpstr>
      <vt:lpstr>Information Security Planning and Governance Outcomes</vt:lpstr>
      <vt:lpstr>Information Security Policy, Standards, and Practices</vt:lpstr>
      <vt:lpstr>PowerPoint Presentation</vt:lpstr>
      <vt:lpstr>NIST Cybersecurity Framework</vt:lpstr>
      <vt:lpstr>Outline</vt:lpstr>
      <vt:lpstr>What is the NIST Cybersecurity Framework?</vt:lpstr>
      <vt:lpstr>NIST Cybersecurity Framework core structure</vt:lpstr>
      <vt:lpstr>NIST Cybersecurity Framework core structure</vt:lpstr>
      <vt:lpstr>NIST Cybersecurity Framework core structure</vt:lpstr>
      <vt:lpstr>NIST functions and categories</vt:lpstr>
      <vt:lpstr>NIST functions and categories</vt:lpstr>
      <vt:lpstr>NIST functions and categories</vt:lpstr>
      <vt:lpstr>NIST functions and categories</vt:lpstr>
      <vt:lpstr>NIST functions and categories</vt:lpstr>
      <vt:lpstr>NIST Framework implementation tiers</vt:lpstr>
      <vt:lpstr>NIST Framework implementation tiers</vt:lpstr>
      <vt:lpstr>NIST Framework implementation tiers</vt:lpstr>
      <vt:lpstr>NIST Framework implementation tiers</vt:lpstr>
      <vt:lpstr>NIST Framework implementation tiers</vt:lpstr>
      <vt:lpstr>PowerPoint Presentation</vt:lpstr>
    </vt:vector>
  </TitlesOfParts>
  <Company>university of wah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Dell</dc:creator>
  <cp:lastModifiedBy>Microsoft account</cp:lastModifiedBy>
  <cp:revision>36</cp:revision>
  <cp:lastPrinted>2024-01-17T15:02:51Z</cp:lastPrinted>
  <dcterms:created xsi:type="dcterms:W3CDTF">2023-12-06T12:36:27Z</dcterms:created>
  <dcterms:modified xsi:type="dcterms:W3CDTF">2026-01-29T08:29:19Z</dcterms:modified>
</cp:coreProperties>
</file>