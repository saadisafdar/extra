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Lst>
  <p:notesMasterIdLst>
    <p:notesMasterId r:id="rId35"/>
  </p:notesMasterIdLst>
  <p:sldIdLst>
    <p:sldId id="271" r:id="rId4"/>
    <p:sldId id="257" r:id="rId5"/>
    <p:sldId id="258" r:id="rId6"/>
    <p:sldId id="270" r:id="rId7"/>
    <p:sldId id="272" r:id="rId8"/>
    <p:sldId id="273" r:id="rId9"/>
    <p:sldId id="274" r:id="rId10"/>
    <p:sldId id="282" r:id="rId11"/>
    <p:sldId id="275" r:id="rId12"/>
    <p:sldId id="276" r:id="rId13"/>
    <p:sldId id="263" r:id="rId14"/>
    <p:sldId id="277" r:id="rId15"/>
    <p:sldId id="278" r:id="rId16"/>
    <p:sldId id="279" r:id="rId17"/>
    <p:sldId id="283" r:id="rId18"/>
    <p:sldId id="284" r:id="rId19"/>
    <p:sldId id="280" r:id="rId20"/>
    <p:sldId id="291" r:id="rId21"/>
    <p:sldId id="292" r:id="rId22"/>
    <p:sldId id="293" r:id="rId23"/>
    <p:sldId id="285" r:id="rId24"/>
    <p:sldId id="286" r:id="rId25"/>
    <p:sldId id="287" r:id="rId26"/>
    <p:sldId id="288" r:id="rId27"/>
    <p:sldId id="264" r:id="rId28"/>
    <p:sldId id="265" r:id="rId29"/>
    <p:sldId id="289" r:id="rId30"/>
    <p:sldId id="290" r:id="rId31"/>
    <p:sldId id="267" r:id="rId32"/>
    <p:sldId id="268" r:id="rId33"/>
    <p:sldId id="269"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404" autoAdjust="0"/>
    <p:restoredTop sz="90065" autoAdjust="0"/>
  </p:normalViewPr>
  <p:slideViewPr>
    <p:cSldViewPr snapToGrid="0">
      <p:cViewPr varScale="1">
        <p:scale>
          <a:sx n="74" d="100"/>
          <a:sy n="74" d="100"/>
        </p:scale>
        <p:origin x="129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ableStyles" Target="tableStyles.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 Id="rId8" Type="http://schemas.openxmlformats.org/officeDocument/2006/relationships/slide" Target="slides/slide5.xml"/><Relationship Id="rId3" Type="http://schemas.openxmlformats.org/officeDocument/2006/relationships/slideMaster" Target="slideMasters/slideMaster3.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D5ED47-D3A2-4155-857B-7272B44E85EA}"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935AD89-4D27-4A4C-899E-0A097A307B2C}">
      <dgm:prSet/>
      <dgm:spPr/>
      <dgm:t>
        <a:bodyPr/>
        <a:lstStyle/>
        <a:p>
          <a:pPr>
            <a:lnSpc>
              <a:spcPct val="100000"/>
            </a:lnSpc>
          </a:pPr>
          <a:r>
            <a:rPr lang="en-GB" b="1"/>
            <a:t>High Performance:</a:t>
          </a:r>
          <a:r>
            <a:rPr lang="en-GB"/>
            <a:t> The expert system provides high performance for solving any type of complex problem of a specific domain with high efficiency and accuracy.</a:t>
          </a:r>
          <a:endParaRPr lang="en-US"/>
        </a:p>
      </dgm:t>
    </dgm:pt>
    <dgm:pt modelId="{D7CBCEBB-5EC3-4980-8855-92316AD53626}" type="parTrans" cxnId="{8112941B-0B72-4164-AF96-AE5BEA14B992}">
      <dgm:prSet/>
      <dgm:spPr/>
      <dgm:t>
        <a:bodyPr/>
        <a:lstStyle/>
        <a:p>
          <a:endParaRPr lang="en-US"/>
        </a:p>
      </dgm:t>
    </dgm:pt>
    <dgm:pt modelId="{5F02B15D-0AFD-43E2-B714-9B7EEE4074A8}" type="sibTrans" cxnId="{8112941B-0B72-4164-AF96-AE5BEA14B992}">
      <dgm:prSet/>
      <dgm:spPr/>
      <dgm:t>
        <a:bodyPr/>
        <a:lstStyle/>
        <a:p>
          <a:endParaRPr lang="en-US"/>
        </a:p>
      </dgm:t>
    </dgm:pt>
    <dgm:pt modelId="{B5F416E4-C0A5-4420-9D4B-45553F78EC68}">
      <dgm:prSet/>
      <dgm:spPr/>
      <dgm:t>
        <a:bodyPr/>
        <a:lstStyle/>
        <a:p>
          <a:pPr>
            <a:lnSpc>
              <a:spcPct val="100000"/>
            </a:lnSpc>
          </a:pPr>
          <a:r>
            <a:rPr lang="en-GB" b="1"/>
            <a:t>Understandable:</a:t>
          </a:r>
          <a:r>
            <a:rPr lang="en-GB"/>
            <a:t> It responds in a way that can be easily understandable by the user. It can take input in human language and provides the output in the same way.</a:t>
          </a:r>
          <a:endParaRPr lang="en-US"/>
        </a:p>
      </dgm:t>
    </dgm:pt>
    <dgm:pt modelId="{C85764D4-8AFA-41BB-958E-6BDACF7F5C51}" type="parTrans" cxnId="{11C3B312-7025-4CBB-B77D-CE30ED923BB0}">
      <dgm:prSet/>
      <dgm:spPr/>
      <dgm:t>
        <a:bodyPr/>
        <a:lstStyle/>
        <a:p>
          <a:endParaRPr lang="en-US"/>
        </a:p>
      </dgm:t>
    </dgm:pt>
    <dgm:pt modelId="{16F73B3E-D74D-43F4-9032-DACABA90D3C1}" type="sibTrans" cxnId="{11C3B312-7025-4CBB-B77D-CE30ED923BB0}">
      <dgm:prSet/>
      <dgm:spPr/>
      <dgm:t>
        <a:bodyPr/>
        <a:lstStyle/>
        <a:p>
          <a:endParaRPr lang="en-US"/>
        </a:p>
      </dgm:t>
    </dgm:pt>
    <dgm:pt modelId="{841372B3-CD47-4B48-8801-7BC898DBAAE3}">
      <dgm:prSet/>
      <dgm:spPr/>
      <dgm:t>
        <a:bodyPr/>
        <a:lstStyle/>
        <a:p>
          <a:pPr>
            <a:lnSpc>
              <a:spcPct val="100000"/>
            </a:lnSpc>
          </a:pPr>
          <a:r>
            <a:rPr lang="en-GB" b="1"/>
            <a:t>Reliable:</a:t>
          </a:r>
          <a:r>
            <a:rPr lang="en-GB"/>
            <a:t> It is much reliable for generating an efficient and accurate output.</a:t>
          </a:r>
          <a:endParaRPr lang="en-US"/>
        </a:p>
      </dgm:t>
    </dgm:pt>
    <dgm:pt modelId="{17D452A3-8812-48A8-9D9F-380400D74A74}" type="parTrans" cxnId="{6B8C9FE3-0208-4D01-B59E-7EEE5B774613}">
      <dgm:prSet/>
      <dgm:spPr/>
      <dgm:t>
        <a:bodyPr/>
        <a:lstStyle/>
        <a:p>
          <a:endParaRPr lang="en-US"/>
        </a:p>
      </dgm:t>
    </dgm:pt>
    <dgm:pt modelId="{5EA3AECC-AAB6-40D1-8695-CF97CA0D083E}" type="sibTrans" cxnId="{6B8C9FE3-0208-4D01-B59E-7EEE5B774613}">
      <dgm:prSet/>
      <dgm:spPr/>
      <dgm:t>
        <a:bodyPr/>
        <a:lstStyle/>
        <a:p>
          <a:endParaRPr lang="en-US"/>
        </a:p>
      </dgm:t>
    </dgm:pt>
    <dgm:pt modelId="{BAEA9B6E-FAE5-4E67-B572-AE2F499D96FD}">
      <dgm:prSet/>
      <dgm:spPr/>
      <dgm:t>
        <a:bodyPr/>
        <a:lstStyle/>
        <a:p>
          <a:pPr>
            <a:lnSpc>
              <a:spcPct val="100000"/>
            </a:lnSpc>
          </a:pPr>
          <a:r>
            <a:rPr lang="en-GB" b="1"/>
            <a:t>Highly responsive:</a:t>
          </a:r>
          <a:r>
            <a:rPr lang="en-GB"/>
            <a:t> ES provides the result for any complex query within a very short period of time.</a:t>
          </a:r>
          <a:endParaRPr lang="en-US"/>
        </a:p>
      </dgm:t>
    </dgm:pt>
    <dgm:pt modelId="{B09AF93D-B636-4612-97D9-F34A84547C2B}" type="parTrans" cxnId="{883E914E-915D-4F71-BAF2-7CFC1BE6BE8C}">
      <dgm:prSet/>
      <dgm:spPr/>
      <dgm:t>
        <a:bodyPr/>
        <a:lstStyle/>
        <a:p>
          <a:endParaRPr lang="en-US"/>
        </a:p>
      </dgm:t>
    </dgm:pt>
    <dgm:pt modelId="{35686AAA-06F2-411C-BDDC-34AB1CBF5AC2}" type="sibTrans" cxnId="{883E914E-915D-4F71-BAF2-7CFC1BE6BE8C}">
      <dgm:prSet/>
      <dgm:spPr/>
      <dgm:t>
        <a:bodyPr/>
        <a:lstStyle/>
        <a:p>
          <a:endParaRPr lang="en-US"/>
        </a:p>
      </dgm:t>
    </dgm:pt>
    <dgm:pt modelId="{605A149F-B7F2-4BFF-9012-32D28F11AF3F}" type="pres">
      <dgm:prSet presAssocID="{5BD5ED47-D3A2-4155-857B-7272B44E85EA}" presName="root" presStyleCnt="0">
        <dgm:presLayoutVars>
          <dgm:dir/>
          <dgm:resizeHandles val="exact"/>
        </dgm:presLayoutVars>
      </dgm:prSet>
      <dgm:spPr/>
    </dgm:pt>
    <dgm:pt modelId="{CA0D4370-A35E-4204-9149-5DB574694460}" type="pres">
      <dgm:prSet presAssocID="{5935AD89-4D27-4A4C-899E-0A097A307B2C}" presName="compNode" presStyleCnt="0"/>
      <dgm:spPr/>
    </dgm:pt>
    <dgm:pt modelId="{B2FB89D3-DE0E-4686-95BD-3C3F3EC06C7F}" type="pres">
      <dgm:prSet presAssocID="{5935AD89-4D27-4A4C-899E-0A097A307B2C}" presName="bgRect" presStyleLbl="bgShp" presStyleIdx="0" presStyleCnt="4"/>
      <dgm:spPr/>
    </dgm:pt>
    <dgm:pt modelId="{B268F8B5-6D99-4626-8144-ADE120405060}" type="pres">
      <dgm:prSet presAssocID="{5935AD89-4D27-4A4C-899E-0A097A307B2C}"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A84126CD-810F-4CBA-8618-CE64AC40E65B}" type="pres">
      <dgm:prSet presAssocID="{5935AD89-4D27-4A4C-899E-0A097A307B2C}" presName="spaceRect" presStyleCnt="0"/>
      <dgm:spPr/>
    </dgm:pt>
    <dgm:pt modelId="{3FF2505F-87E8-427F-90C1-56CE459299A8}" type="pres">
      <dgm:prSet presAssocID="{5935AD89-4D27-4A4C-899E-0A097A307B2C}" presName="parTx" presStyleLbl="revTx" presStyleIdx="0" presStyleCnt="4">
        <dgm:presLayoutVars>
          <dgm:chMax val="0"/>
          <dgm:chPref val="0"/>
        </dgm:presLayoutVars>
      </dgm:prSet>
      <dgm:spPr/>
    </dgm:pt>
    <dgm:pt modelId="{A43EF442-0B5E-4C42-B1D7-BED9B1FE6B5B}" type="pres">
      <dgm:prSet presAssocID="{5F02B15D-0AFD-43E2-B714-9B7EEE4074A8}" presName="sibTrans" presStyleCnt="0"/>
      <dgm:spPr/>
    </dgm:pt>
    <dgm:pt modelId="{13A0CA69-8FB5-497E-BD32-3E88F8F6484A}" type="pres">
      <dgm:prSet presAssocID="{B5F416E4-C0A5-4420-9D4B-45553F78EC68}" presName="compNode" presStyleCnt="0"/>
      <dgm:spPr/>
    </dgm:pt>
    <dgm:pt modelId="{D746AE35-A271-4004-AA14-9718BAD33D6A}" type="pres">
      <dgm:prSet presAssocID="{B5F416E4-C0A5-4420-9D4B-45553F78EC68}" presName="bgRect" presStyleLbl="bgShp" presStyleIdx="1" presStyleCnt="4"/>
      <dgm:spPr/>
    </dgm:pt>
    <dgm:pt modelId="{F0E3C593-A412-4C83-AAB0-6A7AE2B8D64A}" type="pres">
      <dgm:prSet presAssocID="{B5F416E4-C0A5-4420-9D4B-45553F78EC6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eb Design"/>
        </a:ext>
      </dgm:extLst>
    </dgm:pt>
    <dgm:pt modelId="{29B58E00-41DE-4139-89B9-D19A78DED3BB}" type="pres">
      <dgm:prSet presAssocID="{B5F416E4-C0A5-4420-9D4B-45553F78EC68}" presName="spaceRect" presStyleCnt="0"/>
      <dgm:spPr/>
    </dgm:pt>
    <dgm:pt modelId="{FF06D3B3-560A-4F0F-8C54-03C1DE9558DC}" type="pres">
      <dgm:prSet presAssocID="{B5F416E4-C0A5-4420-9D4B-45553F78EC68}" presName="parTx" presStyleLbl="revTx" presStyleIdx="1" presStyleCnt="4">
        <dgm:presLayoutVars>
          <dgm:chMax val="0"/>
          <dgm:chPref val="0"/>
        </dgm:presLayoutVars>
      </dgm:prSet>
      <dgm:spPr/>
    </dgm:pt>
    <dgm:pt modelId="{0403CAC5-AEE7-4B64-B532-412ABE3AC27D}" type="pres">
      <dgm:prSet presAssocID="{16F73B3E-D74D-43F4-9032-DACABA90D3C1}" presName="sibTrans" presStyleCnt="0"/>
      <dgm:spPr/>
    </dgm:pt>
    <dgm:pt modelId="{EFB9161F-63B4-4CCD-BD4A-E616C5C40D53}" type="pres">
      <dgm:prSet presAssocID="{841372B3-CD47-4B48-8801-7BC898DBAAE3}" presName="compNode" presStyleCnt="0"/>
      <dgm:spPr/>
    </dgm:pt>
    <dgm:pt modelId="{44AB98DB-6AE9-4473-A63B-304A5D865662}" type="pres">
      <dgm:prSet presAssocID="{841372B3-CD47-4B48-8801-7BC898DBAAE3}" presName="bgRect" presStyleLbl="bgShp" presStyleIdx="2" presStyleCnt="4"/>
      <dgm:spPr/>
    </dgm:pt>
    <dgm:pt modelId="{33EE02B7-89E2-49C7-86A8-8767EF540F8E}" type="pres">
      <dgm:prSet presAssocID="{841372B3-CD47-4B48-8801-7BC898DBAAE3}"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arget"/>
        </a:ext>
      </dgm:extLst>
    </dgm:pt>
    <dgm:pt modelId="{4C0C3302-72EF-4EFC-A43A-AD71004D1EED}" type="pres">
      <dgm:prSet presAssocID="{841372B3-CD47-4B48-8801-7BC898DBAAE3}" presName="spaceRect" presStyleCnt="0"/>
      <dgm:spPr/>
    </dgm:pt>
    <dgm:pt modelId="{4921AF85-1BE3-4A29-B424-0A38131D4D51}" type="pres">
      <dgm:prSet presAssocID="{841372B3-CD47-4B48-8801-7BC898DBAAE3}" presName="parTx" presStyleLbl="revTx" presStyleIdx="2" presStyleCnt="4">
        <dgm:presLayoutVars>
          <dgm:chMax val="0"/>
          <dgm:chPref val="0"/>
        </dgm:presLayoutVars>
      </dgm:prSet>
      <dgm:spPr/>
    </dgm:pt>
    <dgm:pt modelId="{B316D849-CA1F-4730-A5C3-782968039768}" type="pres">
      <dgm:prSet presAssocID="{5EA3AECC-AAB6-40D1-8695-CF97CA0D083E}" presName="sibTrans" presStyleCnt="0"/>
      <dgm:spPr/>
    </dgm:pt>
    <dgm:pt modelId="{013EB8D6-E84A-4F4D-A852-99D20861EC0D}" type="pres">
      <dgm:prSet presAssocID="{BAEA9B6E-FAE5-4E67-B572-AE2F499D96FD}" presName="compNode" presStyleCnt="0"/>
      <dgm:spPr/>
    </dgm:pt>
    <dgm:pt modelId="{30D313A3-314C-4F22-A211-D12E80BFBD4C}" type="pres">
      <dgm:prSet presAssocID="{BAEA9B6E-FAE5-4E67-B572-AE2F499D96FD}" presName="bgRect" presStyleLbl="bgShp" presStyleIdx="3" presStyleCnt="4"/>
      <dgm:spPr/>
    </dgm:pt>
    <dgm:pt modelId="{1129D7E6-94CE-4ED7-AAAC-5BEC72576430}" type="pres">
      <dgm:prSet presAssocID="{BAEA9B6E-FAE5-4E67-B572-AE2F499D96FD}"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Exclamation Mark"/>
        </a:ext>
      </dgm:extLst>
    </dgm:pt>
    <dgm:pt modelId="{FFC0ACEA-C7A3-4A19-9F55-EC33FB117DAB}" type="pres">
      <dgm:prSet presAssocID="{BAEA9B6E-FAE5-4E67-B572-AE2F499D96FD}" presName="spaceRect" presStyleCnt="0"/>
      <dgm:spPr/>
    </dgm:pt>
    <dgm:pt modelId="{DBB77EBB-72C5-4337-AAAF-AE8E0B524BEC}" type="pres">
      <dgm:prSet presAssocID="{BAEA9B6E-FAE5-4E67-B572-AE2F499D96FD}" presName="parTx" presStyleLbl="revTx" presStyleIdx="3" presStyleCnt="4">
        <dgm:presLayoutVars>
          <dgm:chMax val="0"/>
          <dgm:chPref val="0"/>
        </dgm:presLayoutVars>
      </dgm:prSet>
      <dgm:spPr/>
    </dgm:pt>
  </dgm:ptLst>
  <dgm:cxnLst>
    <dgm:cxn modelId="{11C3B312-7025-4CBB-B77D-CE30ED923BB0}" srcId="{5BD5ED47-D3A2-4155-857B-7272B44E85EA}" destId="{B5F416E4-C0A5-4420-9D4B-45553F78EC68}" srcOrd="1" destOrd="0" parTransId="{C85764D4-8AFA-41BB-958E-6BDACF7F5C51}" sibTransId="{16F73B3E-D74D-43F4-9032-DACABA90D3C1}"/>
    <dgm:cxn modelId="{5A958217-CB3B-46DF-8DB6-F910E7864323}" type="presOf" srcId="{5935AD89-4D27-4A4C-899E-0A097A307B2C}" destId="{3FF2505F-87E8-427F-90C1-56CE459299A8}" srcOrd="0" destOrd="0" presId="urn:microsoft.com/office/officeart/2018/2/layout/IconVerticalSolidList"/>
    <dgm:cxn modelId="{8112941B-0B72-4164-AF96-AE5BEA14B992}" srcId="{5BD5ED47-D3A2-4155-857B-7272B44E85EA}" destId="{5935AD89-4D27-4A4C-899E-0A097A307B2C}" srcOrd="0" destOrd="0" parTransId="{D7CBCEBB-5EC3-4980-8855-92316AD53626}" sibTransId="{5F02B15D-0AFD-43E2-B714-9B7EEE4074A8}"/>
    <dgm:cxn modelId="{9B5B0923-A188-46EB-ABA0-73C04849AC1B}" type="presOf" srcId="{BAEA9B6E-FAE5-4E67-B572-AE2F499D96FD}" destId="{DBB77EBB-72C5-4337-AAAF-AE8E0B524BEC}" srcOrd="0" destOrd="0" presId="urn:microsoft.com/office/officeart/2018/2/layout/IconVerticalSolidList"/>
    <dgm:cxn modelId="{883E914E-915D-4F71-BAF2-7CFC1BE6BE8C}" srcId="{5BD5ED47-D3A2-4155-857B-7272B44E85EA}" destId="{BAEA9B6E-FAE5-4E67-B572-AE2F499D96FD}" srcOrd="3" destOrd="0" parTransId="{B09AF93D-B636-4612-97D9-F34A84547C2B}" sibTransId="{35686AAA-06F2-411C-BDDC-34AB1CBF5AC2}"/>
    <dgm:cxn modelId="{D1532284-45DB-4E1F-9D3B-2249B337E8DB}" type="presOf" srcId="{841372B3-CD47-4B48-8801-7BC898DBAAE3}" destId="{4921AF85-1BE3-4A29-B424-0A38131D4D51}" srcOrd="0" destOrd="0" presId="urn:microsoft.com/office/officeart/2018/2/layout/IconVerticalSolidList"/>
    <dgm:cxn modelId="{937AC2D7-09F4-4625-A9BF-051CE2A5094B}" type="presOf" srcId="{B5F416E4-C0A5-4420-9D4B-45553F78EC68}" destId="{FF06D3B3-560A-4F0F-8C54-03C1DE9558DC}" srcOrd="0" destOrd="0" presId="urn:microsoft.com/office/officeart/2018/2/layout/IconVerticalSolidList"/>
    <dgm:cxn modelId="{6B8C9FE3-0208-4D01-B59E-7EEE5B774613}" srcId="{5BD5ED47-D3A2-4155-857B-7272B44E85EA}" destId="{841372B3-CD47-4B48-8801-7BC898DBAAE3}" srcOrd="2" destOrd="0" parTransId="{17D452A3-8812-48A8-9D9F-380400D74A74}" sibTransId="{5EA3AECC-AAB6-40D1-8695-CF97CA0D083E}"/>
    <dgm:cxn modelId="{C64F32F4-DCE4-406C-9539-97178D5C6460}" type="presOf" srcId="{5BD5ED47-D3A2-4155-857B-7272B44E85EA}" destId="{605A149F-B7F2-4BFF-9012-32D28F11AF3F}" srcOrd="0" destOrd="0" presId="urn:microsoft.com/office/officeart/2018/2/layout/IconVerticalSolidList"/>
    <dgm:cxn modelId="{54468CCC-BE80-4E24-B5C4-8242969877FB}" type="presParOf" srcId="{605A149F-B7F2-4BFF-9012-32D28F11AF3F}" destId="{CA0D4370-A35E-4204-9149-5DB574694460}" srcOrd="0" destOrd="0" presId="urn:microsoft.com/office/officeart/2018/2/layout/IconVerticalSolidList"/>
    <dgm:cxn modelId="{0479229E-E390-4491-B993-56CC2F097150}" type="presParOf" srcId="{CA0D4370-A35E-4204-9149-5DB574694460}" destId="{B2FB89D3-DE0E-4686-95BD-3C3F3EC06C7F}" srcOrd="0" destOrd="0" presId="urn:microsoft.com/office/officeart/2018/2/layout/IconVerticalSolidList"/>
    <dgm:cxn modelId="{746A7839-B3F9-4FF4-8FE4-CC397772D5AD}" type="presParOf" srcId="{CA0D4370-A35E-4204-9149-5DB574694460}" destId="{B268F8B5-6D99-4626-8144-ADE120405060}" srcOrd="1" destOrd="0" presId="urn:microsoft.com/office/officeart/2018/2/layout/IconVerticalSolidList"/>
    <dgm:cxn modelId="{A54B38B3-340A-4F63-B0EC-EA1EC8DBC1F2}" type="presParOf" srcId="{CA0D4370-A35E-4204-9149-5DB574694460}" destId="{A84126CD-810F-4CBA-8618-CE64AC40E65B}" srcOrd="2" destOrd="0" presId="urn:microsoft.com/office/officeart/2018/2/layout/IconVerticalSolidList"/>
    <dgm:cxn modelId="{8FA9682C-EDEA-4CD3-8B70-846149C0B088}" type="presParOf" srcId="{CA0D4370-A35E-4204-9149-5DB574694460}" destId="{3FF2505F-87E8-427F-90C1-56CE459299A8}" srcOrd="3" destOrd="0" presId="urn:microsoft.com/office/officeart/2018/2/layout/IconVerticalSolidList"/>
    <dgm:cxn modelId="{50DBDA83-E6A8-4513-9A55-70419C69F7EC}" type="presParOf" srcId="{605A149F-B7F2-4BFF-9012-32D28F11AF3F}" destId="{A43EF442-0B5E-4C42-B1D7-BED9B1FE6B5B}" srcOrd="1" destOrd="0" presId="urn:microsoft.com/office/officeart/2018/2/layout/IconVerticalSolidList"/>
    <dgm:cxn modelId="{2B0B2D04-9CA5-4F8E-93BD-54DC066AF09B}" type="presParOf" srcId="{605A149F-B7F2-4BFF-9012-32D28F11AF3F}" destId="{13A0CA69-8FB5-497E-BD32-3E88F8F6484A}" srcOrd="2" destOrd="0" presId="urn:microsoft.com/office/officeart/2018/2/layout/IconVerticalSolidList"/>
    <dgm:cxn modelId="{401A9D2D-0EC1-4534-AA19-26A867AFF91D}" type="presParOf" srcId="{13A0CA69-8FB5-497E-BD32-3E88F8F6484A}" destId="{D746AE35-A271-4004-AA14-9718BAD33D6A}" srcOrd="0" destOrd="0" presId="urn:microsoft.com/office/officeart/2018/2/layout/IconVerticalSolidList"/>
    <dgm:cxn modelId="{C4B9BBF9-290F-449C-AE8A-81F3470CF4B1}" type="presParOf" srcId="{13A0CA69-8FB5-497E-BD32-3E88F8F6484A}" destId="{F0E3C593-A412-4C83-AAB0-6A7AE2B8D64A}" srcOrd="1" destOrd="0" presId="urn:microsoft.com/office/officeart/2018/2/layout/IconVerticalSolidList"/>
    <dgm:cxn modelId="{81615DE8-07F1-402B-B6F6-C79FEC43A3D0}" type="presParOf" srcId="{13A0CA69-8FB5-497E-BD32-3E88F8F6484A}" destId="{29B58E00-41DE-4139-89B9-D19A78DED3BB}" srcOrd="2" destOrd="0" presId="urn:microsoft.com/office/officeart/2018/2/layout/IconVerticalSolidList"/>
    <dgm:cxn modelId="{AD1C0AC8-2512-4113-A3F9-83C8F74FC7F2}" type="presParOf" srcId="{13A0CA69-8FB5-497E-BD32-3E88F8F6484A}" destId="{FF06D3B3-560A-4F0F-8C54-03C1DE9558DC}" srcOrd="3" destOrd="0" presId="urn:microsoft.com/office/officeart/2018/2/layout/IconVerticalSolidList"/>
    <dgm:cxn modelId="{D364026A-6E4A-446F-A75C-15FFED9728DD}" type="presParOf" srcId="{605A149F-B7F2-4BFF-9012-32D28F11AF3F}" destId="{0403CAC5-AEE7-4B64-B532-412ABE3AC27D}" srcOrd="3" destOrd="0" presId="urn:microsoft.com/office/officeart/2018/2/layout/IconVerticalSolidList"/>
    <dgm:cxn modelId="{0D4553B7-F417-4FEC-BBF8-E27A6863C454}" type="presParOf" srcId="{605A149F-B7F2-4BFF-9012-32D28F11AF3F}" destId="{EFB9161F-63B4-4CCD-BD4A-E616C5C40D53}" srcOrd="4" destOrd="0" presId="urn:microsoft.com/office/officeart/2018/2/layout/IconVerticalSolidList"/>
    <dgm:cxn modelId="{9337E173-3410-46D7-8A44-E1587C0CDB23}" type="presParOf" srcId="{EFB9161F-63B4-4CCD-BD4A-E616C5C40D53}" destId="{44AB98DB-6AE9-4473-A63B-304A5D865662}" srcOrd="0" destOrd="0" presId="urn:microsoft.com/office/officeart/2018/2/layout/IconVerticalSolidList"/>
    <dgm:cxn modelId="{0A4205DA-9AEC-46D0-8778-66709C8F3BCA}" type="presParOf" srcId="{EFB9161F-63B4-4CCD-BD4A-E616C5C40D53}" destId="{33EE02B7-89E2-49C7-86A8-8767EF540F8E}" srcOrd="1" destOrd="0" presId="urn:microsoft.com/office/officeart/2018/2/layout/IconVerticalSolidList"/>
    <dgm:cxn modelId="{E5A8D7FA-7046-44F7-B6A4-EE4CD48F4F7E}" type="presParOf" srcId="{EFB9161F-63B4-4CCD-BD4A-E616C5C40D53}" destId="{4C0C3302-72EF-4EFC-A43A-AD71004D1EED}" srcOrd="2" destOrd="0" presId="urn:microsoft.com/office/officeart/2018/2/layout/IconVerticalSolidList"/>
    <dgm:cxn modelId="{64906541-A18F-4E84-BCF3-C2F995B76A9E}" type="presParOf" srcId="{EFB9161F-63B4-4CCD-BD4A-E616C5C40D53}" destId="{4921AF85-1BE3-4A29-B424-0A38131D4D51}" srcOrd="3" destOrd="0" presId="urn:microsoft.com/office/officeart/2018/2/layout/IconVerticalSolidList"/>
    <dgm:cxn modelId="{CB0C676E-F342-482E-9B4D-CAAF5918BA24}" type="presParOf" srcId="{605A149F-B7F2-4BFF-9012-32D28F11AF3F}" destId="{B316D849-CA1F-4730-A5C3-782968039768}" srcOrd="5" destOrd="0" presId="urn:microsoft.com/office/officeart/2018/2/layout/IconVerticalSolidList"/>
    <dgm:cxn modelId="{002E2B14-D67C-4032-A8EF-56BC12860A9F}" type="presParOf" srcId="{605A149F-B7F2-4BFF-9012-32D28F11AF3F}" destId="{013EB8D6-E84A-4F4D-A852-99D20861EC0D}" srcOrd="6" destOrd="0" presId="urn:microsoft.com/office/officeart/2018/2/layout/IconVerticalSolidList"/>
    <dgm:cxn modelId="{07389EAC-AE36-463F-B702-382FD7DA7A31}" type="presParOf" srcId="{013EB8D6-E84A-4F4D-A852-99D20861EC0D}" destId="{30D313A3-314C-4F22-A211-D12E80BFBD4C}" srcOrd="0" destOrd="0" presId="urn:microsoft.com/office/officeart/2018/2/layout/IconVerticalSolidList"/>
    <dgm:cxn modelId="{0424553A-C144-4441-AACC-3B20838A897D}" type="presParOf" srcId="{013EB8D6-E84A-4F4D-A852-99D20861EC0D}" destId="{1129D7E6-94CE-4ED7-AAAC-5BEC72576430}" srcOrd="1" destOrd="0" presId="urn:microsoft.com/office/officeart/2018/2/layout/IconVerticalSolidList"/>
    <dgm:cxn modelId="{67068621-7F51-43AE-B00C-F30692379A8F}" type="presParOf" srcId="{013EB8D6-E84A-4F4D-A852-99D20861EC0D}" destId="{FFC0ACEA-C7A3-4A19-9F55-EC33FB117DAB}" srcOrd="2" destOrd="0" presId="urn:microsoft.com/office/officeart/2018/2/layout/IconVerticalSolidList"/>
    <dgm:cxn modelId="{EF2164AF-D4A4-4050-8679-54A9754FAC7A}" type="presParOf" srcId="{013EB8D6-E84A-4F4D-A852-99D20861EC0D}" destId="{DBB77EBB-72C5-4337-AAAF-AE8E0B524BE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97D4D37-3F7D-4200-A0C3-730956000190}"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67BBFA53-A289-49D3-A29A-FE1005B535E7}">
      <dgm:prSet custT="1"/>
      <dgm:spPr/>
      <dgm:t>
        <a:bodyPr/>
        <a:lstStyle/>
        <a:p>
          <a:r>
            <a:rPr lang="en-US" sz="2000" b="0" i="0" dirty="0"/>
            <a:t>For instance</a:t>
          </a:r>
          <a:r>
            <a:rPr lang="en-US" sz="2000" b="1" i="0" dirty="0"/>
            <a:t>, a medical expert system’s user interface </a:t>
          </a:r>
          <a:r>
            <a:rPr lang="en-US" sz="2000" b="0" i="0" dirty="0"/>
            <a:t>might include</a:t>
          </a:r>
          <a:endParaRPr lang="en-US" sz="2000" dirty="0"/>
        </a:p>
      </dgm:t>
    </dgm:pt>
    <dgm:pt modelId="{EBAD0815-C9B0-4395-8BEE-6EE18D3CC0CD}" type="parTrans" cxnId="{2763FE15-3A23-4855-8E48-7B3A34EE2D85}">
      <dgm:prSet/>
      <dgm:spPr/>
      <dgm:t>
        <a:bodyPr/>
        <a:lstStyle/>
        <a:p>
          <a:endParaRPr lang="en-US"/>
        </a:p>
      </dgm:t>
    </dgm:pt>
    <dgm:pt modelId="{A3E460AD-764F-44BF-BF49-BB146B7766B3}" type="sibTrans" cxnId="{2763FE15-3A23-4855-8E48-7B3A34EE2D85}">
      <dgm:prSet/>
      <dgm:spPr/>
      <dgm:t>
        <a:bodyPr/>
        <a:lstStyle/>
        <a:p>
          <a:endParaRPr lang="en-US"/>
        </a:p>
      </dgm:t>
    </dgm:pt>
    <dgm:pt modelId="{186CFBF4-A6D4-48DC-A862-929BB109B5DB}">
      <dgm:prSet custT="1"/>
      <dgm:spPr/>
      <dgm:t>
        <a:bodyPr/>
        <a:lstStyle/>
        <a:p>
          <a:r>
            <a:rPr lang="en-US" sz="2400" dirty="0"/>
            <a:t>F</a:t>
          </a:r>
          <a:r>
            <a:rPr lang="en-US" sz="2400" b="0" i="0" dirty="0"/>
            <a:t>orms for entering patient symptoms</a:t>
          </a:r>
          <a:endParaRPr lang="en-US" sz="2400" dirty="0"/>
        </a:p>
      </dgm:t>
    </dgm:pt>
    <dgm:pt modelId="{3CD7D230-1E63-489B-A725-80F2D5E041F3}" type="parTrans" cxnId="{C192E85B-DC9D-44B6-BF4D-F4FBF8DED40A}">
      <dgm:prSet/>
      <dgm:spPr/>
      <dgm:t>
        <a:bodyPr/>
        <a:lstStyle/>
        <a:p>
          <a:endParaRPr lang="en-US"/>
        </a:p>
      </dgm:t>
    </dgm:pt>
    <dgm:pt modelId="{C411A9CF-69B8-43F0-A194-524B2EB09F99}" type="sibTrans" cxnId="{C192E85B-DC9D-44B6-BF4D-F4FBF8DED40A}">
      <dgm:prSet/>
      <dgm:spPr/>
      <dgm:t>
        <a:bodyPr/>
        <a:lstStyle/>
        <a:p>
          <a:endParaRPr lang="en-US"/>
        </a:p>
      </dgm:t>
    </dgm:pt>
    <dgm:pt modelId="{9721C12E-9A53-45EF-ABAC-450F5BA511A3}">
      <dgm:prSet custT="1"/>
      <dgm:spPr/>
      <dgm:t>
        <a:bodyPr/>
        <a:lstStyle/>
        <a:p>
          <a:r>
            <a:rPr lang="en-US" sz="2400" b="0" i="0" dirty="0"/>
            <a:t>History</a:t>
          </a:r>
          <a:endParaRPr lang="en-US" sz="2400" dirty="0"/>
        </a:p>
      </dgm:t>
    </dgm:pt>
    <dgm:pt modelId="{BF16467A-011E-40A2-B1BC-17B43E2E1364}" type="parTrans" cxnId="{3FC07E79-B192-49FC-AEAC-26E795A9A2E2}">
      <dgm:prSet/>
      <dgm:spPr/>
      <dgm:t>
        <a:bodyPr/>
        <a:lstStyle/>
        <a:p>
          <a:endParaRPr lang="en-US"/>
        </a:p>
      </dgm:t>
    </dgm:pt>
    <dgm:pt modelId="{CBE53551-0352-44B8-960A-FB97E009F539}" type="sibTrans" cxnId="{3FC07E79-B192-49FC-AEAC-26E795A9A2E2}">
      <dgm:prSet/>
      <dgm:spPr/>
      <dgm:t>
        <a:bodyPr/>
        <a:lstStyle/>
        <a:p>
          <a:endParaRPr lang="en-US"/>
        </a:p>
      </dgm:t>
    </dgm:pt>
    <dgm:pt modelId="{655022F3-2613-4EA3-A7D1-9ECDE7AA7EFA}">
      <dgm:prSet custT="1"/>
      <dgm:spPr/>
      <dgm:t>
        <a:bodyPr/>
        <a:lstStyle/>
        <a:p>
          <a:r>
            <a:rPr lang="en-US" sz="2400" dirty="0"/>
            <a:t>D</a:t>
          </a:r>
          <a:r>
            <a:rPr lang="en-US" sz="2400" b="0" i="0" dirty="0"/>
            <a:t>ashboards displaying diagnostic results </a:t>
          </a:r>
          <a:endParaRPr lang="en-US" sz="2400" dirty="0"/>
        </a:p>
      </dgm:t>
    </dgm:pt>
    <dgm:pt modelId="{8554B6D2-4207-4029-9373-A576258CFC61}" type="parTrans" cxnId="{AB4DE8BE-8203-4FB2-8AAF-3E7EE4FEB7FE}">
      <dgm:prSet/>
      <dgm:spPr/>
      <dgm:t>
        <a:bodyPr/>
        <a:lstStyle/>
        <a:p>
          <a:endParaRPr lang="en-US"/>
        </a:p>
      </dgm:t>
    </dgm:pt>
    <dgm:pt modelId="{3CB1AA18-83D8-48B5-8DE5-8A852B2EA615}" type="sibTrans" cxnId="{AB4DE8BE-8203-4FB2-8AAF-3E7EE4FEB7FE}">
      <dgm:prSet/>
      <dgm:spPr/>
      <dgm:t>
        <a:bodyPr/>
        <a:lstStyle/>
        <a:p>
          <a:endParaRPr lang="en-US"/>
        </a:p>
      </dgm:t>
    </dgm:pt>
    <dgm:pt modelId="{D36FCD4D-B793-4D63-B968-37AA48E1FC33}">
      <dgm:prSet custT="1"/>
      <dgm:spPr/>
      <dgm:t>
        <a:bodyPr/>
        <a:lstStyle/>
        <a:p>
          <a:r>
            <a:rPr lang="en-US" sz="2400" dirty="0"/>
            <a:t>T</a:t>
          </a:r>
          <a:r>
            <a:rPr lang="en-US" sz="2400" b="0" i="0" dirty="0"/>
            <a:t>reatment recommendations.</a:t>
          </a:r>
          <a:endParaRPr lang="en-US" sz="2400" dirty="0"/>
        </a:p>
      </dgm:t>
    </dgm:pt>
    <dgm:pt modelId="{FED31E50-7318-4FA1-B27B-7026AB4066B3}" type="parTrans" cxnId="{96C2234E-A13F-4CD9-88D3-325200FB5B6B}">
      <dgm:prSet/>
      <dgm:spPr/>
      <dgm:t>
        <a:bodyPr/>
        <a:lstStyle/>
        <a:p>
          <a:endParaRPr lang="en-US"/>
        </a:p>
      </dgm:t>
    </dgm:pt>
    <dgm:pt modelId="{8920D02A-4A72-48C3-8328-2F76E2F82E92}" type="sibTrans" cxnId="{96C2234E-A13F-4CD9-88D3-325200FB5B6B}">
      <dgm:prSet/>
      <dgm:spPr/>
      <dgm:t>
        <a:bodyPr/>
        <a:lstStyle/>
        <a:p>
          <a:endParaRPr lang="en-US"/>
        </a:p>
      </dgm:t>
    </dgm:pt>
    <dgm:pt modelId="{E1017536-421F-4191-BEC1-473D18152A9E}" type="pres">
      <dgm:prSet presAssocID="{A97D4D37-3F7D-4200-A0C3-730956000190}" presName="linear" presStyleCnt="0">
        <dgm:presLayoutVars>
          <dgm:dir/>
          <dgm:animLvl val="lvl"/>
          <dgm:resizeHandles val="exact"/>
        </dgm:presLayoutVars>
      </dgm:prSet>
      <dgm:spPr/>
    </dgm:pt>
    <dgm:pt modelId="{F28BB1EA-93AE-4A5E-A85F-5F83B971E1EC}" type="pres">
      <dgm:prSet presAssocID="{67BBFA53-A289-49D3-A29A-FE1005B535E7}" presName="parentLin" presStyleCnt="0"/>
      <dgm:spPr/>
    </dgm:pt>
    <dgm:pt modelId="{29FB6542-2641-4E2A-BB22-5216497F864D}" type="pres">
      <dgm:prSet presAssocID="{67BBFA53-A289-49D3-A29A-FE1005B535E7}" presName="parentLeftMargin" presStyleLbl="node1" presStyleIdx="0" presStyleCnt="1"/>
      <dgm:spPr/>
    </dgm:pt>
    <dgm:pt modelId="{1684E694-0B70-4CF5-B682-C3FB50CC397D}" type="pres">
      <dgm:prSet presAssocID="{67BBFA53-A289-49D3-A29A-FE1005B535E7}" presName="parentText" presStyleLbl="node1" presStyleIdx="0" presStyleCnt="1" custScaleX="112691" custScaleY="39131">
        <dgm:presLayoutVars>
          <dgm:chMax val="0"/>
          <dgm:bulletEnabled val="1"/>
        </dgm:presLayoutVars>
      </dgm:prSet>
      <dgm:spPr/>
    </dgm:pt>
    <dgm:pt modelId="{A79E8231-2BF0-4F61-B2A2-A2C4B25E5225}" type="pres">
      <dgm:prSet presAssocID="{67BBFA53-A289-49D3-A29A-FE1005B535E7}" presName="negativeSpace" presStyleCnt="0"/>
      <dgm:spPr/>
    </dgm:pt>
    <dgm:pt modelId="{EDBD92AC-3004-4D1A-8E03-03AE3062D019}" type="pres">
      <dgm:prSet presAssocID="{67BBFA53-A289-49D3-A29A-FE1005B535E7}" presName="childText" presStyleLbl="conFgAcc1" presStyleIdx="0" presStyleCnt="1">
        <dgm:presLayoutVars>
          <dgm:bulletEnabled val="1"/>
        </dgm:presLayoutVars>
      </dgm:prSet>
      <dgm:spPr/>
    </dgm:pt>
  </dgm:ptLst>
  <dgm:cxnLst>
    <dgm:cxn modelId="{2763FE15-3A23-4855-8E48-7B3A34EE2D85}" srcId="{A97D4D37-3F7D-4200-A0C3-730956000190}" destId="{67BBFA53-A289-49D3-A29A-FE1005B535E7}" srcOrd="0" destOrd="0" parTransId="{EBAD0815-C9B0-4395-8BEE-6EE18D3CC0CD}" sibTransId="{A3E460AD-764F-44BF-BF49-BB146B7766B3}"/>
    <dgm:cxn modelId="{2AA63026-AC5C-461B-A1DF-382B37439DE5}" type="presOf" srcId="{67BBFA53-A289-49D3-A29A-FE1005B535E7}" destId="{29FB6542-2641-4E2A-BB22-5216497F864D}" srcOrd="0" destOrd="0" presId="urn:microsoft.com/office/officeart/2005/8/layout/list1"/>
    <dgm:cxn modelId="{C192E85B-DC9D-44B6-BF4D-F4FBF8DED40A}" srcId="{67BBFA53-A289-49D3-A29A-FE1005B535E7}" destId="{186CFBF4-A6D4-48DC-A862-929BB109B5DB}" srcOrd="0" destOrd="0" parTransId="{3CD7D230-1E63-489B-A725-80F2D5E041F3}" sibTransId="{C411A9CF-69B8-43F0-A194-524B2EB09F99}"/>
    <dgm:cxn modelId="{96C2234E-A13F-4CD9-88D3-325200FB5B6B}" srcId="{67BBFA53-A289-49D3-A29A-FE1005B535E7}" destId="{D36FCD4D-B793-4D63-B968-37AA48E1FC33}" srcOrd="3" destOrd="0" parTransId="{FED31E50-7318-4FA1-B27B-7026AB4066B3}" sibTransId="{8920D02A-4A72-48C3-8328-2F76E2F82E92}"/>
    <dgm:cxn modelId="{30537273-2479-4884-97A6-4F7CB6EA3D05}" type="presOf" srcId="{655022F3-2613-4EA3-A7D1-9ECDE7AA7EFA}" destId="{EDBD92AC-3004-4D1A-8E03-03AE3062D019}" srcOrd="0" destOrd="2" presId="urn:microsoft.com/office/officeart/2005/8/layout/list1"/>
    <dgm:cxn modelId="{3FC07E79-B192-49FC-AEAC-26E795A9A2E2}" srcId="{67BBFA53-A289-49D3-A29A-FE1005B535E7}" destId="{9721C12E-9A53-45EF-ABAC-450F5BA511A3}" srcOrd="1" destOrd="0" parTransId="{BF16467A-011E-40A2-B1BC-17B43E2E1364}" sibTransId="{CBE53551-0352-44B8-960A-FB97E009F539}"/>
    <dgm:cxn modelId="{79C6EA99-59AA-4B9C-B4AD-8DCC1E50661B}" type="presOf" srcId="{D36FCD4D-B793-4D63-B968-37AA48E1FC33}" destId="{EDBD92AC-3004-4D1A-8E03-03AE3062D019}" srcOrd="0" destOrd="3" presId="urn:microsoft.com/office/officeart/2005/8/layout/list1"/>
    <dgm:cxn modelId="{44863EAE-5FD1-4BA4-B5D2-139A5C5F63E8}" type="presOf" srcId="{A97D4D37-3F7D-4200-A0C3-730956000190}" destId="{E1017536-421F-4191-BEC1-473D18152A9E}" srcOrd="0" destOrd="0" presId="urn:microsoft.com/office/officeart/2005/8/layout/list1"/>
    <dgm:cxn modelId="{843B1ABD-8299-40D9-86BF-5F0FA2FEB3F8}" type="presOf" srcId="{9721C12E-9A53-45EF-ABAC-450F5BA511A3}" destId="{EDBD92AC-3004-4D1A-8E03-03AE3062D019}" srcOrd="0" destOrd="1" presId="urn:microsoft.com/office/officeart/2005/8/layout/list1"/>
    <dgm:cxn modelId="{AB4DE8BE-8203-4FB2-8AAF-3E7EE4FEB7FE}" srcId="{67BBFA53-A289-49D3-A29A-FE1005B535E7}" destId="{655022F3-2613-4EA3-A7D1-9ECDE7AA7EFA}" srcOrd="2" destOrd="0" parTransId="{8554B6D2-4207-4029-9373-A576258CFC61}" sibTransId="{3CB1AA18-83D8-48B5-8DE5-8A852B2EA615}"/>
    <dgm:cxn modelId="{6FC3E9E1-270E-4C75-AD60-EE63B95BFBF5}" type="presOf" srcId="{186CFBF4-A6D4-48DC-A862-929BB109B5DB}" destId="{EDBD92AC-3004-4D1A-8E03-03AE3062D019}" srcOrd="0" destOrd="0" presId="urn:microsoft.com/office/officeart/2005/8/layout/list1"/>
    <dgm:cxn modelId="{7E0002EA-6AD0-4B28-A74D-4884951EFFC1}" type="presOf" srcId="{67BBFA53-A289-49D3-A29A-FE1005B535E7}" destId="{1684E694-0B70-4CF5-B682-C3FB50CC397D}" srcOrd="1" destOrd="0" presId="urn:microsoft.com/office/officeart/2005/8/layout/list1"/>
    <dgm:cxn modelId="{F28BC7A9-2E6E-401B-A741-75D67667FBAF}" type="presParOf" srcId="{E1017536-421F-4191-BEC1-473D18152A9E}" destId="{F28BB1EA-93AE-4A5E-A85F-5F83B971E1EC}" srcOrd="0" destOrd="0" presId="urn:microsoft.com/office/officeart/2005/8/layout/list1"/>
    <dgm:cxn modelId="{B8AB1670-9229-4EFF-B85D-FB009B811E15}" type="presParOf" srcId="{F28BB1EA-93AE-4A5E-A85F-5F83B971E1EC}" destId="{29FB6542-2641-4E2A-BB22-5216497F864D}" srcOrd="0" destOrd="0" presId="urn:microsoft.com/office/officeart/2005/8/layout/list1"/>
    <dgm:cxn modelId="{E4341F9D-8963-4F71-B84F-78D38C1B7739}" type="presParOf" srcId="{F28BB1EA-93AE-4A5E-A85F-5F83B971E1EC}" destId="{1684E694-0B70-4CF5-B682-C3FB50CC397D}" srcOrd="1" destOrd="0" presId="urn:microsoft.com/office/officeart/2005/8/layout/list1"/>
    <dgm:cxn modelId="{98418BEA-7933-4764-A14C-1623AFFBE485}" type="presParOf" srcId="{E1017536-421F-4191-BEC1-473D18152A9E}" destId="{A79E8231-2BF0-4F61-B2A2-A2C4B25E5225}" srcOrd="1" destOrd="0" presId="urn:microsoft.com/office/officeart/2005/8/layout/list1"/>
    <dgm:cxn modelId="{FC9EA52D-1CB3-471E-AFC0-A8A1C87334E9}" type="presParOf" srcId="{E1017536-421F-4191-BEC1-473D18152A9E}" destId="{EDBD92AC-3004-4D1A-8E03-03AE3062D019}"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241C1BA-4F26-4446-B961-95AB90910841}"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B269B27E-DDFF-4E78-9D13-B322D3471F27}">
      <dgm:prSet/>
      <dgm:spPr/>
      <dgm:t>
        <a:bodyPr/>
        <a:lstStyle/>
        <a:p>
          <a:r>
            <a:rPr lang="en-US" b="1" i="0"/>
            <a:t>Consistency</a:t>
          </a:r>
          <a:r>
            <a:rPr lang="en-US" b="0" i="0"/>
            <a:t>:</a:t>
          </a:r>
          <a:endParaRPr lang="en-US"/>
        </a:p>
      </dgm:t>
    </dgm:pt>
    <dgm:pt modelId="{72890006-55E8-4CE9-9870-C583DD219369}" type="parTrans" cxnId="{0504B7B6-A514-4188-B9A9-57E5265F26C4}">
      <dgm:prSet/>
      <dgm:spPr/>
      <dgm:t>
        <a:bodyPr/>
        <a:lstStyle/>
        <a:p>
          <a:endParaRPr lang="en-US"/>
        </a:p>
      </dgm:t>
    </dgm:pt>
    <dgm:pt modelId="{89BBF100-5C3F-40CB-BADD-BC8855977157}" type="sibTrans" cxnId="{0504B7B6-A514-4188-B9A9-57E5265F26C4}">
      <dgm:prSet/>
      <dgm:spPr/>
      <dgm:t>
        <a:bodyPr/>
        <a:lstStyle/>
        <a:p>
          <a:endParaRPr lang="en-US"/>
        </a:p>
      </dgm:t>
    </dgm:pt>
    <dgm:pt modelId="{090C9BBE-AD8E-405E-BF3A-1AC631432BDB}">
      <dgm:prSet/>
      <dgm:spPr/>
      <dgm:t>
        <a:bodyPr/>
        <a:lstStyle/>
        <a:p>
          <a:r>
            <a:rPr lang="en-US" b="0" i="0"/>
            <a:t>They provide consistent answers, reducing human error.</a:t>
          </a:r>
          <a:endParaRPr lang="en-US"/>
        </a:p>
      </dgm:t>
    </dgm:pt>
    <dgm:pt modelId="{69738BAA-1EC7-4AEE-935E-217B368FF8AC}" type="parTrans" cxnId="{4DA8623F-0259-4039-B81D-74C8516769DE}">
      <dgm:prSet/>
      <dgm:spPr/>
      <dgm:t>
        <a:bodyPr/>
        <a:lstStyle/>
        <a:p>
          <a:endParaRPr lang="en-US"/>
        </a:p>
      </dgm:t>
    </dgm:pt>
    <dgm:pt modelId="{71A4A215-B571-48D1-B934-76CC6FFEF44F}" type="sibTrans" cxnId="{4DA8623F-0259-4039-B81D-74C8516769DE}">
      <dgm:prSet/>
      <dgm:spPr/>
      <dgm:t>
        <a:bodyPr/>
        <a:lstStyle/>
        <a:p>
          <a:endParaRPr lang="en-US"/>
        </a:p>
      </dgm:t>
    </dgm:pt>
    <dgm:pt modelId="{D4E142D5-A0B7-4389-B0BB-5316AA85217C}">
      <dgm:prSet/>
      <dgm:spPr/>
      <dgm:t>
        <a:bodyPr/>
        <a:lstStyle/>
        <a:p>
          <a:r>
            <a:rPr lang="en-US" b="1" i="0"/>
            <a:t>Availability</a:t>
          </a:r>
          <a:r>
            <a:rPr lang="en-US" b="0" i="0"/>
            <a:t>:</a:t>
          </a:r>
          <a:endParaRPr lang="en-US"/>
        </a:p>
      </dgm:t>
    </dgm:pt>
    <dgm:pt modelId="{89EE0B26-E4A4-41A1-B7B7-783CEBE05052}" type="parTrans" cxnId="{16CE1321-F1F3-4B10-A118-02AD4F47C0B3}">
      <dgm:prSet/>
      <dgm:spPr/>
      <dgm:t>
        <a:bodyPr/>
        <a:lstStyle/>
        <a:p>
          <a:endParaRPr lang="en-US"/>
        </a:p>
      </dgm:t>
    </dgm:pt>
    <dgm:pt modelId="{DFE8D380-44AC-4B85-AB86-04999A121455}" type="sibTrans" cxnId="{16CE1321-F1F3-4B10-A118-02AD4F47C0B3}">
      <dgm:prSet/>
      <dgm:spPr/>
      <dgm:t>
        <a:bodyPr/>
        <a:lstStyle/>
        <a:p>
          <a:endParaRPr lang="en-US"/>
        </a:p>
      </dgm:t>
    </dgm:pt>
    <dgm:pt modelId="{2E0CCFE5-679F-4B1D-AB0A-B00E7B20DD29}">
      <dgm:prSet/>
      <dgm:spPr/>
      <dgm:t>
        <a:bodyPr/>
        <a:lstStyle/>
        <a:p>
          <a:r>
            <a:rPr lang="en-US" b="0" i="0"/>
            <a:t>Accessible 24/7, providing continuous support.</a:t>
          </a:r>
          <a:endParaRPr lang="en-US"/>
        </a:p>
      </dgm:t>
    </dgm:pt>
    <dgm:pt modelId="{71A2ED97-670C-44E0-B75C-8F4E781437F8}" type="parTrans" cxnId="{4FD3A371-32DB-45E4-9D6A-29AD243F6CBF}">
      <dgm:prSet/>
      <dgm:spPr/>
      <dgm:t>
        <a:bodyPr/>
        <a:lstStyle/>
        <a:p>
          <a:endParaRPr lang="en-US"/>
        </a:p>
      </dgm:t>
    </dgm:pt>
    <dgm:pt modelId="{2FD80F9C-68F5-4E6C-AF04-32C5BD8A1D20}" type="sibTrans" cxnId="{4FD3A371-32DB-45E4-9D6A-29AD243F6CBF}">
      <dgm:prSet/>
      <dgm:spPr/>
      <dgm:t>
        <a:bodyPr/>
        <a:lstStyle/>
        <a:p>
          <a:endParaRPr lang="en-US"/>
        </a:p>
      </dgm:t>
    </dgm:pt>
    <dgm:pt modelId="{9BD029BC-412B-4162-B05A-A688D2CAC99A}">
      <dgm:prSet/>
      <dgm:spPr/>
      <dgm:t>
        <a:bodyPr/>
        <a:lstStyle/>
        <a:p>
          <a:r>
            <a:rPr lang="en-US" b="1" i="0"/>
            <a:t>Efficiency</a:t>
          </a:r>
          <a:r>
            <a:rPr lang="en-US" b="0" i="0"/>
            <a:t>: </a:t>
          </a:r>
          <a:endParaRPr lang="en-US"/>
        </a:p>
      </dgm:t>
    </dgm:pt>
    <dgm:pt modelId="{BC4ED3D2-DECD-49AA-B826-2684015FC242}" type="parTrans" cxnId="{FE2226D0-6920-4DC5-87DB-F9528F9580E4}">
      <dgm:prSet/>
      <dgm:spPr/>
      <dgm:t>
        <a:bodyPr/>
        <a:lstStyle/>
        <a:p>
          <a:endParaRPr lang="en-US"/>
        </a:p>
      </dgm:t>
    </dgm:pt>
    <dgm:pt modelId="{3F9EA13E-DE32-47D8-8450-732016F0D40F}" type="sibTrans" cxnId="{FE2226D0-6920-4DC5-87DB-F9528F9580E4}">
      <dgm:prSet/>
      <dgm:spPr/>
      <dgm:t>
        <a:bodyPr/>
        <a:lstStyle/>
        <a:p>
          <a:endParaRPr lang="en-US"/>
        </a:p>
      </dgm:t>
    </dgm:pt>
    <dgm:pt modelId="{B42F3428-762F-4254-A484-088C8FFF67C2}">
      <dgm:prSet/>
      <dgm:spPr/>
      <dgm:t>
        <a:bodyPr/>
        <a:lstStyle/>
        <a:p>
          <a:r>
            <a:rPr lang="en-US" b="0" i="0"/>
            <a:t>Quickly process vast amounts of data to offer timely solutions.</a:t>
          </a:r>
          <a:endParaRPr lang="en-US"/>
        </a:p>
      </dgm:t>
    </dgm:pt>
    <dgm:pt modelId="{E16C8977-2159-4D5A-8C95-BFFF231AB860}" type="parTrans" cxnId="{94A2E6C3-B9AD-4E04-AECC-8D21D82A96A7}">
      <dgm:prSet/>
      <dgm:spPr/>
      <dgm:t>
        <a:bodyPr/>
        <a:lstStyle/>
        <a:p>
          <a:endParaRPr lang="en-US"/>
        </a:p>
      </dgm:t>
    </dgm:pt>
    <dgm:pt modelId="{070E0DF4-CFF1-4BEE-A7E7-E134B4FEB499}" type="sibTrans" cxnId="{94A2E6C3-B9AD-4E04-AECC-8D21D82A96A7}">
      <dgm:prSet/>
      <dgm:spPr/>
      <dgm:t>
        <a:bodyPr/>
        <a:lstStyle/>
        <a:p>
          <a:endParaRPr lang="en-US"/>
        </a:p>
      </dgm:t>
    </dgm:pt>
    <dgm:pt modelId="{D5025969-3A42-4507-B6B4-358E73FAFBC6}">
      <dgm:prSet/>
      <dgm:spPr/>
      <dgm:t>
        <a:bodyPr/>
        <a:lstStyle/>
        <a:p>
          <a:r>
            <a:rPr lang="en-US" b="1" i="0"/>
            <a:t>Cost-Effective</a:t>
          </a:r>
          <a:r>
            <a:rPr lang="en-US" b="0" i="0"/>
            <a:t>:</a:t>
          </a:r>
          <a:endParaRPr lang="en-US"/>
        </a:p>
      </dgm:t>
    </dgm:pt>
    <dgm:pt modelId="{65A83B5F-F230-4EAB-9651-C16601FE4D06}" type="parTrans" cxnId="{C75C78FA-6AC9-46D6-B077-848437781E80}">
      <dgm:prSet/>
      <dgm:spPr/>
      <dgm:t>
        <a:bodyPr/>
        <a:lstStyle/>
        <a:p>
          <a:endParaRPr lang="en-US"/>
        </a:p>
      </dgm:t>
    </dgm:pt>
    <dgm:pt modelId="{19F7AAC6-FF85-48F6-BB7E-459447C3EEC1}" type="sibTrans" cxnId="{C75C78FA-6AC9-46D6-B077-848437781E80}">
      <dgm:prSet/>
      <dgm:spPr/>
      <dgm:t>
        <a:bodyPr/>
        <a:lstStyle/>
        <a:p>
          <a:endParaRPr lang="en-US"/>
        </a:p>
      </dgm:t>
    </dgm:pt>
    <dgm:pt modelId="{9CE68909-1FEF-4FCE-89A4-9E25137052CF}">
      <dgm:prSet/>
      <dgm:spPr/>
      <dgm:t>
        <a:bodyPr/>
        <a:lstStyle/>
        <a:p>
          <a:r>
            <a:rPr lang="en-US" b="0" i="0"/>
            <a:t>Reduce the need for human experts, lowering operational costs.</a:t>
          </a:r>
          <a:endParaRPr lang="en-US"/>
        </a:p>
      </dgm:t>
    </dgm:pt>
    <dgm:pt modelId="{69535BCC-67A1-48D1-A764-0B2555E57BAB}" type="parTrans" cxnId="{307993E2-2090-40C6-AA79-84FE87FBD325}">
      <dgm:prSet/>
      <dgm:spPr/>
      <dgm:t>
        <a:bodyPr/>
        <a:lstStyle/>
        <a:p>
          <a:endParaRPr lang="en-US"/>
        </a:p>
      </dgm:t>
    </dgm:pt>
    <dgm:pt modelId="{CF95B342-D326-4CED-87EF-14D3CCEA6379}" type="sibTrans" cxnId="{307993E2-2090-40C6-AA79-84FE87FBD325}">
      <dgm:prSet/>
      <dgm:spPr/>
      <dgm:t>
        <a:bodyPr/>
        <a:lstStyle/>
        <a:p>
          <a:endParaRPr lang="en-US"/>
        </a:p>
      </dgm:t>
    </dgm:pt>
    <dgm:pt modelId="{E5C1D571-4583-43C9-B0B3-FD0F5B28D3C5}" type="pres">
      <dgm:prSet presAssocID="{5241C1BA-4F26-4446-B961-95AB90910841}" presName="linear" presStyleCnt="0">
        <dgm:presLayoutVars>
          <dgm:animLvl val="lvl"/>
          <dgm:resizeHandles val="exact"/>
        </dgm:presLayoutVars>
      </dgm:prSet>
      <dgm:spPr/>
    </dgm:pt>
    <dgm:pt modelId="{55D458E3-A0C1-4FEE-85EB-CE28364FA47C}" type="pres">
      <dgm:prSet presAssocID="{B269B27E-DDFF-4E78-9D13-B322D3471F27}" presName="parentText" presStyleLbl="node1" presStyleIdx="0" presStyleCnt="4">
        <dgm:presLayoutVars>
          <dgm:chMax val="0"/>
          <dgm:bulletEnabled val="1"/>
        </dgm:presLayoutVars>
      </dgm:prSet>
      <dgm:spPr/>
    </dgm:pt>
    <dgm:pt modelId="{9A4E2ABC-7690-44E5-95CF-7698CA402CAB}" type="pres">
      <dgm:prSet presAssocID="{B269B27E-DDFF-4E78-9D13-B322D3471F27}" presName="childText" presStyleLbl="revTx" presStyleIdx="0" presStyleCnt="4">
        <dgm:presLayoutVars>
          <dgm:bulletEnabled val="1"/>
        </dgm:presLayoutVars>
      </dgm:prSet>
      <dgm:spPr/>
    </dgm:pt>
    <dgm:pt modelId="{8DED760F-4926-47B8-BE16-1D2F8CAAC609}" type="pres">
      <dgm:prSet presAssocID="{D4E142D5-A0B7-4389-B0BB-5316AA85217C}" presName="parentText" presStyleLbl="node1" presStyleIdx="1" presStyleCnt="4">
        <dgm:presLayoutVars>
          <dgm:chMax val="0"/>
          <dgm:bulletEnabled val="1"/>
        </dgm:presLayoutVars>
      </dgm:prSet>
      <dgm:spPr/>
    </dgm:pt>
    <dgm:pt modelId="{F105CD26-9DA2-4868-8E84-1ACDEBD77588}" type="pres">
      <dgm:prSet presAssocID="{D4E142D5-A0B7-4389-B0BB-5316AA85217C}" presName="childText" presStyleLbl="revTx" presStyleIdx="1" presStyleCnt="4">
        <dgm:presLayoutVars>
          <dgm:bulletEnabled val="1"/>
        </dgm:presLayoutVars>
      </dgm:prSet>
      <dgm:spPr/>
    </dgm:pt>
    <dgm:pt modelId="{21C4DAFB-8E0B-424F-8A29-563790EBC809}" type="pres">
      <dgm:prSet presAssocID="{9BD029BC-412B-4162-B05A-A688D2CAC99A}" presName="parentText" presStyleLbl="node1" presStyleIdx="2" presStyleCnt="4">
        <dgm:presLayoutVars>
          <dgm:chMax val="0"/>
          <dgm:bulletEnabled val="1"/>
        </dgm:presLayoutVars>
      </dgm:prSet>
      <dgm:spPr/>
    </dgm:pt>
    <dgm:pt modelId="{C02AD1C9-F105-489E-A6A2-753FAEB4520E}" type="pres">
      <dgm:prSet presAssocID="{9BD029BC-412B-4162-B05A-A688D2CAC99A}" presName="childText" presStyleLbl="revTx" presStyleIdx="2" presStyleCnt="4">
        <dgm:presLayoutVars>
          <dgm:bulletEnabled val="1"/>
        </dgm:presLayoutVars>
      </dgm:prSet>
      <dgm:spPr/>
    </dgm:pt>
    <dgm:pt modelId="{57BC2424-7108-4645-A5BE-3B9D8EA14135}" type="pres">
      <dgm:prSet presAssocID="{D5025969-3A42-4507-B6B4-358E73FAFBC6}" presName="parentText" presStyleLbl="node1" presStyleIdx="3" presStyleCnt="4">
        <dgm:presLayoutVars>
          <dgm:chMax val="0"/>
          <dgm:bulletEnabled val="1"/>
        </dgm:presLayoutVars>
      </dgm:prSet>
      <dgm:spPr/>
    </dgm:pt>
    <dgm:pt modelId="{AACE8321-5D15-4632-AF0C-43D6162D2116}" type="pres">
      <dgm:prSet presAssocID="{D5025969-3A42-4507-B6B4-358E73FAFBC6}" presName="childText" presStyleLbl="revTx" presStyleIdx="3" presStyleCnt="4">
        <dgm:presLayoutVars>
          <dgm:bulletEnabled val="1"/>
        </dgm:presLayoutVars>
      </dgm:prSet>
      <dgm:spPr/>
    </dgm:pt>
  </dgm:ptLst>
  <dgm:cxnLst>
    <dgm:cxn modelId="{D677010A-2FA8-47C3-A1F4-74A3D6CB592A}" type="presOf" srcId="{9CE68909-1FEF-4FCE-89A4-9E25137052CF}" destId="{AACE8321-5D15-4632-AF0C-43D6162D2116}" srcOrd="0" destOrd="0" presId="urn:microsoft.com/office/officeart/2005/8/layout/vList2"/>
    <dgm:cxn modelId="{3342BF15-AD0F-443E-902A-1A282AECD43C}" type="presOf" srcId="{090C9BBE-AD8E-405E-BF3A-1AC631432BDB}" destId="{9A4E2ABC-7690-44E5-95CF-7698CA402CAB}" srcOrd="0" destOrd="0" presId="urn:microsoft.com/office/officeart/2005/8/layout/vList2"/>
    <dgm:cxn modelId="{16CE1321-F1F3-4B10-A118-02AD4F47C0B3}" srcId="{5241C1BA-4F26-4446-B961-95AB90910841}" destId="{D4E142D5-A0B7-4389-B0BB-5316AA85217C}" srcOrd="1" destOrd="0" parTransId="{89EE0B26-E4A4-41A1-B7B7-783CEBE05052}" sibTransId="{DFE8D380-44AC-4B85-AB86-04999A121455}"/>
    <dgm:cxn modelId="{4DA8623F-0259-4039-B81D-74C8516769DE}" srcId="{B269B27E-DDFF-4E78-9D13-B322D3471F27}" destId="{090C9BBE-AD8E-405E-BF3A-1AC631432BDB}" srcOrd="0" destOrd="0" parTransId="{69738BAA-1EC7-4AEE-935E-217B368FF8AC}" sibTransId="{71A4A215-B571-48D1-B934-76CC6FFEF44F}"/>
    <dgm:cxn modelId="{4FD3A371-32DB-45E4-9D6A-29AD243F6CBF}" srcId="{D4E142D5-A0B7-4389-B0BB-5316AA85217C}" destId="{2E0CCFE5-679F-4B1D-AB0A-B00E7B20DD29}" srcOrd="0" destOrd="0" parTransId="{71A2ED97-670C-44E0-B75C-8F4E781437F8}" sibTransId="{2FD80F9C-68F5-4E6C-AF04-32C5BD8A1D20}"/>
    <dgm:cxn modelId="{AC88B577-2599-49A0-8653-C4817067BA2E}" type="presOf" srcId="{D5025969-3A42-4507-B6B4-358E73FAFBC6}" destId="{57BC2424-7108-4645-A5BE-3B9D8EA14135}" srcOrd="0" destOrd="0" presId="urn:microsoft.com/office/officeart/2005/8/layout/vList2"/>
    <dgm:cxn modelId="{2079608F-BD38-41A0-8873-3C6230056A71}" type="presOf" srcId="{2E0CCFE5-679F-4B1D-AB0A-B00E7B20DD29}" destId="{F105CD26-9DA2-4868-8E84-1ACDEBD77588}" srcOrd="0" destOrd="0" presId="urn:microsoft.com/office/officeart/2005/8/layout/vList2"/>
    <dgm:cxn modelId="{0504B7B6-A514-4188-B9A9-57E5265F26C4}" srcId="{5241C1BA-4F26-4446-B961-95AB90910841}" destId="{B269B27E-DDFF-4E78-9D13-B322D3471F27}" srcOrd="0" destOrd="0" parTransId="{72890006-55E8-4CE9-9870-C583DD219369}" sibTransId="{89BBF100-5C3F-40CB-BADD-BC8855977157}"/>
    <dgm:cxn modelId="{94A2E6C3-B9AD-4E04-AECC-8D21D82A96A7}" srcId="{9BD029BC-412B-4162-B05A-A688D2CAC99A}" destId="{B42F3428-762F-4254-A484-088C8FFF67C2}" srcOrd="0" destOrd="0" parTransId="{E16C8977-2159-4D5A-8C95-BFFF231AB860}" sibTransId="{070E0DF4-CFF1-4BEE-A7E7-E134B4FEB499}"/>
    <dgm:cxn modelId="{36FBB0CE-8432-4265-B4B4-D5EB24777AF0}" type="presOf" srcId="{D4E142D5-A0B7-4389-B0BB-5316AA85217C}" destId="{8DED760F-4926-47B8-BE16-1D2F8CAAC609}" srcOrd="0" destOrd="0" presId="urn:microsoft.com/office/officeart/2005/8/layout/vList2"/>
    <dgm:cxn modelId="{FE2226D0-6920-4DC5-87DB-F9528F9580E4}" srcId="{5241C1BA-4F26-4446-B961-95AB90910841}" destId="{9BD029BC-412B-4162-B05A-A688D2CAC99A}" srcOrd="2" destOrd="0" parTransId="{BC4ED3D2-DECD-49AA-B826-2684015FC242}" sibTransId="{3F9EA13E-DE32-47D8-8450-732016F0D40F}"/>
    <dgm:cxn modelId="{32B938D0-503A-4703-8CED-D798B2994B01}" type="presOf" srcId="{B42F3428-762F-4254-A484-088C8FFF67C2}" destId="{C02AD1C9-F105-489E-A6A2-753FAEB4520E}" srcOrd="0" destOrd="0" presId="urn:microsoft.com/office/officeart/2005/8/layout/vList2"/>
    <dgm:cxn modelId="{307993E2-2090-40C6-AA79-84FE87FBD325}" srcId="{D5025969-3A42-4507-B6B4-358E73FAFBC6}" destId="{9CE68909-1FEF-4FCE-89A4-9E25137052CF}" srcOrd="0" destOrd="0" parTransId="{69535BCC-67A1-48D1-A764-0B2555E57BAB}" sibTransId="{CF95B342-D326-4CED-87EF-14D3CCEA6379}"/>
    <dgm:cxn modelId="{05CEACE7-835A-4E7B-8380-931E7B08374E}" type="presOf" srcId="{B269B27E-DDFF-4E78-9D13-B322D3471F27}" destId="{55D458E3-A0C1-4FEE-85EB-CE28364FA47C}" srcOrd="0" destOrd="0" presId="urn:microsoft.com/office/officeart/2005/8/layout/vList2"/>
    <dgm:cxn modelId="{531655F3-49B0-4C0D-9646-530557A8BA21}" type="presOf" srcId="{5241C1BA-4F26-4446-B961-95AB90910841}" destId="{E5C1D571-4583-43C9-B0B3-FD0F5B28D3C5}" srcOrd="0" destOrd="0" presId="urn:microsoft.com/office/officeart/2005/8/layout/vList2"/>
    <dgm:cxn modelId="{B690C0F4-0C99-4161-98DB-EAA3D5940E7D}" type="presOf" srcId="{9BD029BC-412B-4162-B05A-A688D2CAC99A}" destId="{21C4DAFB-8E0B-424F-8A29-563790EBC809}" srcOrd="0" destOrd="0" presId="urn:microsoft.com/office/officeart/2005/8/layout/vList2"/>
    <dgm:cxn modelId="{C75C78FA-6AC9-46D6-B077-848437781E80}" srcId="{5241C1BA-4F26-4446-B961-95AB90910841}" destId="{D5025969-3A42-4507-B6B4-358E73FAFBC6}" srcOrd="3" destOrd="0" parTransId="{65A83B5F-F230-4EAB-9651-C16601FE4D06}" sibTransId="{19F7AAC6-FF85-48F6-BB7E-459447C3EEC1}"/>
    <dgm:cxn modelId="{8288140B-47B8-4144-B4D8-248123B2C6F9}" type="presParOf" srcId="{E5C1D571-4583-43C9-B0B3-FD0F5B28D3C5}" destId="{55D458E3-A0C1-4FEE-85EB-CE28364FA47C}" srcOrd="0" destOrd="0" presId="urn:microsoft.com/office/officeart/2005/8/layout/vList2"/>
    <dgm:cxn modelId="{10E6F49D-BC04-4F51-B23B-4F073AA2373A}" type="presParOf" srcId="{E5C1D571-4583-43C9-B0B3-FD0F5B28D3C5}" destId="{9A4E2ABC-7690-44E5-95CF-7698CA402CAB}" srcOrd="1" destOrd="0" presId="urn:microsoft.com/office/officeart/2005/8/layout/vList2"/>
    <dgm:cxn modelId="{A47113E0-6FF9-4B01-B45A-000AC4BE1748}" type="presParOf" srcId="{E5C1D571-4583-43C9-B0B3-FD0F5B28D3C5}" destId="{8DED760F-4926-47B8-BE16-1D2F8CAAC609}" srcOrd="2" destOrd="0" presId="urn:microsoft.com/office/officeart/2005/8/layout/vList2"/>
    <dgm:cxn modelId="{09CBCF0B-A7EA-47FD-8334-3D40D3F77E26}" type="presParOf" srcId="{E5C1D571-4583-43C9-B0B3-FD0F5B28D3C5}" destId="{F105CD26-9DA2-4868-8E84-1ACDEBD77588}" srcOrd="3" destOrd="0" presId="urn:microsoft.com/office/officeart/2005/8/layout/vList2"/>
    <dgm:cxn modelId="{1A8340AE-8FC3-484E-B5CB-656A61D14A6A}" type="presParOf" srcId="{E5C1D571-4583-43C9-B0B3-FD0F5B28D3C5}" destId="{21C4DAFB-8E0B-424F-8A29-563790EBC809}" srcOrd="4" destOrd="0" presId="urn:microsoft.com/office/officeart/2005/8/layout/vList2"/>
    <dgm:cxn modelId="{CAF8E2A8-B6D7-4E42-9DA7-FC122422E043}" type="presParOf" srcId="{E5C1D571-4583-43C9-B0B3-FD0F5B28D3C5}" destId="{C02AD1C9-F105-489E-A6A2-753FAEB4520E}" srcOrd="5" destOrd="0" presId="urn:microsoft.com/office/officeart/2005/8/layout/vList2"/>
    <dgm:cxn modelId="{0258EEA8-D2F1-464D-8587-7C689407418A}" type="presParOf" srcId="{E5C1D571-4583-43C9-B0B3-FD0F5B28D3C5}" destId="{57BC2424-7108-4645-A5BE-3B9D8EA14135}" srcOrd="6" destOrd="0" presId="urn:microsoft.com/office/officeart/2005/8/layout/vList2"/>
    <dgm:cxn modelId="{77E89121-ECC1-4BA8-86D2-ECFF7193AF88}" type="presParOf" srcId="{E5C1D571-4583-43C9-B0B3-FD0F5B28D3C5}" destId="{AACE8321-5D15-4632-AF0C-43D6162D2116}"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FB89D3-DE0E-4686-95BD-3C3F3EC06C7F}">
      <dsp:nvSpPr>
        <dsp:cNvPr id="0" name=""/>
        <dsp:cNvSpPr/>
      </dsp:nvSpPr>
      <dsp:spPr>
        <a:xfrm>
          <a:off x="0" y="1669"/>
          <a:ext cx="10058399" cy="8463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68F8B5-6D99-4626-8144-ADE120405060}">
      <dsp:nvSpPr>
        <dsp:cNvPr id="0" name=""/>
        <dsp:cNvSpPr/>
      </dsp:nvSpPr>
      <dsp:spPr>
        <a:xfrm>
          <a:off x="256011" y="192091"/>
          <a:ext cx="465476" cy="46547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F2505F-87E8-427F-90C1-56CE459299A8}">
      <dsp:nvSpPr>
        <dsp:cNvPr id="0" name=""/>
        <dsp:cNvSpPr/>
      </dsp:nvSpPr>
      <dsp:spPr>
        <a:xfrm>
          <a:off x="977499" y="1669"/>
          <a:ext cx="9080900" cy="846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69" tIns="89569" rIns="89569" bIns="89569" numCol="1" spcCol="1270" anchor="ctr" anchorCtr="0">
          <a:noAutofit/>
        </a:bodyPr>
        <a:lstStyle/>
        <a:p>
          <a:pPr marL="0" lvl="0" indent="0" algn="l" defTabSz="889000">
            <a:lnSpc>
              <a:spcPct val="100000"/>
            </a:lnSpc>
            <a:spcBef>
              <a:spcPct val="0"/>
            </a:spcBef>
            <a:spcAft>
              <a:spcPct val="35000"/>
            </a:spcAft>
            <a:buNone/>
          </a:pPr>
          <a:r>
            <a:rPr lang="en-GB" sz="2000" b="1" kern="1200"/>
            <a:t>High Performance:</a:t>
          </a:r>
          <a:r>
            <a:rPr lang="en-GB" sz="2000" kern="1200"/>
            <a:t> The expert system provides high performance for solving any type of complex problem of a specific domain with high efficiency and accuracy.</a:t>
          </a:r>
          <a:endParaRPr lang="en-US" sz="2000" kern="1200"/>
        </a:p>
      </dsp:txBody>
      <dsp:txXfrm>
        <a:off x="977499" y="1669"/>
        <a:ext cx="9080900" cy="846320"/>
      </dsp:txXfrm>
    </dsp:sp>
    <dsp:sp modelId="{D746AE35-A271-4004-AA14-9718BAD33D6A}">
      <dsp:nvSpPr>
        <dsp:cNvPr id="0" name=""/>
        <dsp:cNvSpPr/>
      </dsp:nvSpPr>
      <dsp:spPr>
        <a:xfrm>
          <a:off x="0" y="1059569"/>
          <a:ext cx="10058399" cy="8463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E3C593-A412-4C83-AAB0-6A7AE2B8D64A}">
      <dsp:nvSpPr>
        <dsp:cNvPr id="0" name=""/>
        <dsp:cNvSpPr/>
      </dsp:nvSpPr>
      <dsp:spPr>
        <a:xfrm>
          <a:off x="256011" y="1249991"/>
          <a:ext cx="465476" cy="46547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06D3B3-560A-4F0F-8C54-03C1DE9558DC}">
      <dsp:nvSpPr>
        <dsp:cNvPr id="0" name=""/>
        <dsp:cNvSpPr/>
      </dsp:nvSpPr>
      <dsp:spPr>
        <a:xfrm>
          <a:off x="977499" y="1059569"/>
          <a:ext cx="9080900" cy="846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69" tIns="89569" rIns="89569" bIns="89569" numCol="1" spcCol="1270" anchor="ctr" anchorCtr="0">
          <a:noAutofit/>
        </a:bodyPr>
        <a:lstStyle/>
        <a:p>
          <a:pPr marL="0" lvl="0" indent="0" algn="l" defTabSz="889000">
            <a:lnSpc>
              <a:spcPct val="100000"/>
            </a:lnSpc>
            <a:spcBef>
              <a:spcPct val="0"/>
            </a:spcBef>
            <a:spcAft>
              <a:spcPct val="35000"/>
            </a:spcAft>
            <a:buNone/>
          </a:pPr>
          <a:r>
            <a:rPr lang="en-GB" sz="2000" b="1" kern="1200"/>
            <a:t>Understandable:</a:t>
          </a:r>
          <a:r>
            <a:rPr lang="en-GB" sz="2000" kern="1200"/>
            <a:t> It responds in a way that can be easily understandable by the user. It can take input in human language and provides the output in the same way.</a:t>
          </a:r>
          <a:endParaRPr lang="en-US" sz="2000" kern="1200"/>
        </a:p>
      </dsp:txBody>
      <dsp:txXfrm>
        <a:off x="977499" y="1059569"/>
        <a:ext cx="9080900" cy="846320"/>
      </dsp:txXfrm>
    </dsp:sp>
    <dsp:sp modelId="{44AB98DB-6AE9-4473-A63B-304A5D865662}">
      <dsp:nvSpPr>
        <dsp:cNvPr id="0" name=""/>
        <dsp:cNvSpPr/>
      </dsp:nvSpPr>
      <dsp:spPr>
        <a:xfrm>
          <a:off x="0" y="2117470"/>
          <a:ext cx="10058399" cy="8463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3EE02B7-89E2-49C7-86A8-8767EF540F8E}">
      <dsp:nvSpPr>
        <dsp:cNvPr id="0" name=""/>
        <dsp:cNvSpPr/>
      </dsp:nvSpPr>
      <dsp:spPr>
        <a:xfrm>
          <a:off x="256011" y="2307892"/>
          <a:ext cx="465476" cy="46547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21AF85-1BE3-4A29-B424-0A38131D4D51}">
      <dsp:nvSpPr>
        <dsp:cNvPr id="0" name=""/>
        <dsp:cNvSpPr/>
      </dsp:nvSpPr>
      <dsp:spPr>
        <a:xfrm>
          <a:off x="977499" y="2117470"/>
          <a:ext cx="9080900" cy="846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69" tIns="89569" rIns="89569" bIns="89569" numCol="1" spcCol="1270" anchor="ctr" anchorCtr="0">
          <a:noAutofit/>
        </a:bodyPr>
        <a:lstStyle/>
        <a:p>
          <a:pPr marL="0" lvl="0" indent="0" algn="l" defTabSz="889000">
            <a:lnSpc>
              <a:spcPct val="100000"/>
            </a:lnSpc>
            <a:spcBef>
              <a:spcPct val="0"/>
            </a:spcBef>
            <a:spcAft>
              <a:spcPct val="35000"/>
            </a:spcAft>
            <a:buNone/>
          </a:pPr>
          <a:r>
            <a:rPr lang="en-GB" sz="2000" b="1" kern="1200"/>
            <a:t>Reliable:</a:t>
          </a:r>
          <a:r>
            <a:rPr lang="en-GB" sz="2000" kern="1200"/>
            <a:t> It is much reliable for generating an efficient and accurate output.</a:t>
          </a:r>
          <a:endParaRPr lang="en-US" sz="2000" kern="1200"/>
        </a:p>
      </dsp:txBody>
      <dsp:txXfrm>
        <a:off x="977499" y="2117470"/>
        <a:ext cx="9080900" cy="846320"/>
      </dsp:txXfrm>
    </dsp:sp>
    <dsp:sp modelId="{30D313A3-314C-4F22-A211-D12E80BFBD4C}">
      <dsp:nvSpPr>
        <dsp:cNvPr id="0" name=""/>
        <dsp:cNvSpPr/>
      </dsp:nvSpPr>
      <dsp:spPr>
        <a:xfrm>
          <a:off x="0" y="3175370"/>
          <a:ext cx="10058399" cy="84632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29D7E6-94CE-4ED7-AAAC-5BEC72576430}">
      <dsp:nvSpPr>
        <dsp:cNvPr id="0" name=""/>
        <dsp:cNvSpPr/>
      </dsp:nvSpPr>
      <dsp:spPr>
        <a:xfrm>
          <a:off x="256011" y="3365792"/>
          <a:ext cx="465476" cy="46547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BB77EBB-72C5-4337-AAAF-AE8E0B524BEC}">
      <dsp:nvSpPr>
        <dsp:cNvPr id="0" name=""/>
        <dsp:cNvSpPr/>
      </dsp:nvSpPr>
      <dsp:spPr>
        <a:xfrm>
          <a:off x="977499" y="3175370"/>
          <a:ext cx="9080900" cy="846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9569" tIns="89569" rIns="89569" bIns="89569" numCol="1" spcCol="1270" anchor="ctr" anchorCtr="0">
          <a:noAutofit/>
        </a:bodyPr>
        <a:lstStyle/>
        <a:p>
          <a:pPr marL="0" lvl="0" indent="0" algn="l" defTabSz="889000">
            <a:lnSpc>
              <a:spcPct val="100000"/>
            </a:lnSpc>
            <a:spcBef>
              <a:spcPct val="0"/>
            </a:spcBef>
            <a:spcAft>
              <a:spcPct val="35000"/>
            </a:spcAft>
            <a:buNone/>
          </a:pPr>
          <a:r>
            <a:rPr lang="en-GB" sz="2000" b="1" kern="1200"/>
            <a:t>Highly responsive:</a:t>
          </a:r>
          <a:r>
            <a:rPr lang="en-GB" sz="2000" kern="1200"/>
            <a:t> ES provides the result for any complex query within a very short period of time.</a:t>
          </a:r>
          <a:endParaRPr lang="en-US" sz="2000" kern="1200"/>
        </a:p>
      </dsp:txBody>
      <dsp:txXfrm>
        <a:off x="977499" y="3175370"/>
        <a:ext cx="9080900" cy="8463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BD92AC-3004-4D1A-8E03-03AE3062D019}">
      <dsp:nvSpPr>
        <dsp:cNvPr id="0" name=""/>
        <dsp:cNvSpPr/>
      </dsp:nvSpPr>
      <dsp:spPr>
        <a:xfrm>
          <a:off x="0" y="537992"/>
          <a:ext cx="10058399" cy="3071250"/>
        </a:xfrm>
        <a:prstGeom prst="rect">
          <a:avLst/>
        </a:prstGeom>
        <a:solidFill>
          <a:schemeClr val="lt1">
            <a:alpha val="90000"/>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80644" tIns="1353820" rIns="780644" bIns="170688" numCol="1" spcCol="1270" anchor="t" anchorCtr="0">
          <a:noAutofit/>
        </a:bodyPr>
        <a:lstStyle/>
        <a:p>
          <a:pPr marL="228600" lvl="1" indent="-228600" algn="l" defTabSz="1066800">
            <a:lnSpc>
              <a:spcPct val="90000"/>
            </a:lnSpc>
            <a:spcBef>
              <a:spcPct val="0"/>
            </a:spcBef>
            <a:spcAft>
              <a:spcPct val="15000"/>
            </a:spcAft>
            <a:buChar char="•"/>
          </a:pPr>
          <a:r>
            <a:rPr lang="en-US" sz="2400" kern="1200" dirty="0"/>
            <a:t>F</a:t>
          </a:r>
          <a:r>
            <a:rPr lang="en-US" sz="2400" b="0" i="0" kern="1200" dirty="0"/>
            <a:t>orms for entering patient symptoms</a:t>
          </a:r>
          <a:endParaRPr lang="en-US" sz="2400" kern="1200" dirty="0"/>
        </a:p>
        <a:p>
          <a:pPr marL="228600" lvl="1" indent="-228600" algn="l" defTabSz="1066800">
            <a:lnSpc>
              <a:spcPct val="90000"/>
            </a:lnSpc>
            <a:spcBef>
              <a:spcPct val="0"/>
            </a:spcBef>
            <a:spcAft>
              <a:spcPct val="15000"/>
            </a:spcAft>
            <a:buChar char="•"/>
          </a:pPr>
          <a:r>
            <a:rPr lang="en-US" sz="2400" b="0" i="0" kern="1200" dirty="0"/>
            <a:t>History</a:t>
          </a:r>
          <a:endParaRPr lang="en-US" sz="2400" kern="1200" dirty="0"/>
        </a:p>
        <a:p>
          <a:pPr marL="228600" lvl="1" indent="-228600" algn="l" defTabSz="1066800">
            <a:lnSpc>
              <a:spcPct val="90000"/>
            </a:lnSpc>
            <a:spcBef>
              <a:spcPct val="0"/>
            </a:spcBef>
            <a:spcAft>
              <a:spcPct val="15000"/>
            </a:spcAft>
            <a:buChar char="•"/>
          </a:pPr>
          <a:r>
            <a:rPr lang="en-US" sz="2400" kern="1200" dirty="0"/>
            <a:t>D</a:t>
          </a:r>
          <a:r>
            <a:rPr lang="en-US" sz="2400" b="0" i="0" kern="1200" dirty="0"/>
            <a:t>ashboards displaying diagnostic results </a:t>
          </a:r>
          <a:endParaRPr lang="en-US" sz="2400" kern="1200" dirty="0"/>
        </a:p>
        <a:p>
          <a:pPr marL="228600" lvl="1" indent="-228600" algn="l" defTabSz="1066800">
            <a:lnSpc>
              <a:spcPct val="90000"/>
            </a:lnSpc>
            <a:spcBef>
              <a:spcPct val="0"/>
            </a:spcBef>
            <a:spcAft>
              <a:spcPct val="15000"/>
            </a:spcAft>
            <a:buChar char="•"/>
          </a:pPr>
          <a:r>
            <a:rPr lang="en-US" sz="2400" kern="1200" dirty="0"/>
            <a:t>T</a:t>
          </a:r>
          <a:r>
            <a:rPr lang="en-US" sz="2400" b="0" i="0" kern="1200" dirty="0"/>
            <a:t>reatment recommendations.</a:t>
          </a:r>
          <a:endParaRPr lang="en-US" sz="2400" kern="1200" dirty="0"/>
        </a:p>
      </dsp:txBody>
      <dsp:txXfrm>
        <a:off x="0" y="537992"/>
        <a:ext cx="10058399" cy="3071250"/>
      </dsp:txXfrm>
    </dsp:sp>
    <dsp:sp modelId="{1684E694-0B70-4CF5-B682-C3FB50CC397D}">
      <dsp:nvSpPr>
        <dsp:cNvPr id="0" name=""/>
        <dsp:cNvSpPr/>
      </dsp:nvSpPr>
      <dsp:spPr>
        <a:xfrm>
          <a:off x="502920" y="746546"/>
          <a:ext cx="7934438" cy="750845"/>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129" tIns="0" rIns="266129" bIns="0" numCol="1" spcCol="1270" anchor="ctr" anchorCtr="0">
          <a:noAutofit/>
        </a:bodyPr>
        <a:lstStyle/>
        <a:p>
          <a:pPr marL="0" lvl="0" indent="0" algn="l" defTabSz="889000">
            <a:lnSpc>
              <a:spcPct val="90000"/>
            </a:lnSpc>
            <a:spcBef>
              <a:spcPct val="0"/>
            </a:spcBef>
            <a:spcAft>
              <a:spcPct val="35000"/>
            </a:spcAft>
            <a:buNone/>
          </a:pPr>
          <a:r>
            <a:rPr lang="en-US" sz="2000" b="0" i="0" kern="1200" dirty="0"/>
            <a:t>For instance</a:t>
          </a:r>
          <a:r>
            <a:rPr lang="en-US" sz="2000" b="1" i="0" kern="1200" dirty="0"/>
            <a:t>, a medical expert system’s user interface </a:t>
          </a:r>
          <a:r>
            <a:rPr lang="en-US" sz="2000" b="0" i="0" kern="1200" dirty="0"/>
            <a:t>might include</a:t>
          </a:r>
          <a:endParaRPr lang="en-US" sz="2000" kern="1200" dirty="0"/>
        </a:p>
      </dsp:txBody>
      <dsp:txXfrm>
        <a:off x="539573" y="783199"/>
        <a:ext cx="7861132" cy="67753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D458E3-A0C1-4FEE-85EB-CE28364FA47C}">
      <dsp:nvSpPr>
        <dsp:cNvPr id="0" name=""/>
        <dsp:cNvSpPr/>
      </dsp:nvSpPr>
      <dsp:spPr>
        <a:xfrm>
          <a:off x="0" y="42943"/>
          <a:ext cx="6797675" cy="719549"/>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i="0" kern="1200"/>
            <a:t>Consistency</a:t>
          </a:r>
          <a:r>
            <a:rPr lang="en-US" sz="3000" b="0" i="0" kern="1200"/>
            <a:t>:</a:t>
          </a:r>
          <a:endParaRPr lang="en-US" sz="3000" kern="1200"/>
        </a:p>
      </dsp:txBody>
      <dsp:txXfrm>
        <a:off x="35125" y="78068"/>
        <a:ext cx="6727425" cy="649299"/>
      </dsp:txXfrm>
    </dsp:sp>
    <dsp:sp modelId="{9A4E2ABC-7690-44E5-95CF-7698CA402CAB}">
      <dsp:nvSpPr>
        <dsp:cNvPr id="0" name=""/>
        <dsp:cNvSpPr/>
      </dsp:nvSpPr>
      <dsp:spPr>
        <a:xfrm>
          <a:off x="0" y="762493"/>
          <a:ext cx="6797675" cy="729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26"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b="0" i="0" kern="1200"/>
            <a:t>They provide consistent answers, reducing human error.</a:t>
          </a:r>
          <a:endParaRPr lang="en-US" sz="2300" kern="1200"/>
        </a:p>
      </dsp:txBody>
      <dsp:txXfrm>
        <a:off x="0" y="762493"/>
        <a:ext cx="6797675" cy="729675"/>
      </dsp:txXfrm>
    </dsp:sp>
    <dsp:sp modelId="{8DED760F-4926-47B8-BE16-1D2F8CAAC609}">
      <dsp:nvSpPr>
        <dsp:cNvPr id="0" name=""/>
        <dsp:cNvSpPr/>
      </dsp:nvSpPr>
      <dsp:spPr>
        <a:xfrm>
          <a:off x="0" y="1492168"/>
          <a:ext cx="6797675" cy="719549"/>
        </a:xfrm>
        <a:prstGeom prst="roundRect">
          <a:avLst/>
        </a:prstGeom>
        <a:solidFill>
          <a:schemeClr val="accent2">
            <a:hueOff val="13013"/>
            <a:satOff val="-8959"/>
            <a:lumOff val="-2288"/>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i="0" kern="1200"/>
            <a:t>Availability</a:t>
          </a:r>
          <a:r>
            <a:rPr lang="en-US" sz="3000" b="0" i="0" kern="1200"/>
            <a:t>:</a:t>
          </a:r>
          <a:endParaRPr lang="en-US" sz="3000" kern="1200"/>
        </a:p>
      </dsp:txBody>
      <dsp:txXfrm>
        <a:off x="35125" y="1527293"/>
        <a:ext cx="6727425" cy="649299"/>
      </dsp:txXfrm>
    </dsp:sp>
    <dsp:sp modelId="{F105CD26-9DA2-4868-8E84-1ACDEBD77588}">
      <dsp:nvSpPr>
        <dsp:cNvPr id="0" name=""/>
        <dsp:cNvSpPr/>
      </dsp:nvSpPr>
      <dsp:spPr>
        <a:xfrm>
          <a:off x="0" y="2211718"/>
          <a:ext cx="6797675" cy="496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26"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b="0" i="0" kern="1200"/>
            <a:t>Accessible 24/7, providing continuous support.</a:t>
          </a:r>
          <a:endParaRPr lang="en-US" sz="2300" kern="1200"/>
        </a:p>
      </dsp:txBody>
      <dsp:txXfrm>
        <a:off x="0" y="2211718"/>
        <a:ext cx="6797675" cy="496800"/>
      </dsp:txXfrm>
    </dsp:sp>
    <dsp:sp modelId="{21C4DAFB-8E0B-424F-8A29-563790EBC809}">
      <dsp:nvSpPr>
        <dsp:cNvPr id="0" name=""/>
        <dsp:cNvSpPr/>
      </dsp:nvSpPr>
      <dsp:spPr>
        <a:xfrm>
          <a:off x="0" y="2708518"/>
          <a:ext cx="6797675" cy="719549"/>
        </a:xfrm>
        <a:prstGeom prst="roundRect">
          <a:avLst/>
        </a:prstGeom>
        <a:solidFill>
          <a:schemeClr val="accent2">
            <a:hueOff val="26025"/>
            <a:satOff val="-17917"/>
            <a:lumOff val="-457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i="0" kern="1200"/>
            <a:t>Efficiency</a:t>
          </a:r>
          <a:r>
            <a:rPr lang="en-US" sz="3000" b="0" i="0" kern="1200"/>
            <a:t>: </a:t>
          </a:r>
          <a:endParaRPr lang="en-US" sz="3000" kern="1200"/>
        </a:p>
      </dsp:txBody>
      <dsp:txXfrm>
        <a:off x="35125" y="2743643"/>
        <a:ext cx="6727425" cy="649299"/>
      </dsp:txXfrm>
    </dsp:sp>
    <dsp:sp modelId="{C02AD1C9-F105-489E-A6A2-753FAEB4520E}">
      <dsp:nvSpPr>
        <dsp:cNvPr id="0" name=""/>
        <dsp:cNvSpPr/>
      </dsp:nvSpPr>
      <dsp:spPr>
        <a:xfrm>
          <a:off x="0" y="3428068"/>
          <a:ext cx="6797675" cy="729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26"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b="0" i="0" kern="1200"/>
            <a:t>Quickly process vast amounts of data to offer timely solutions.</a:t>
          </a:r>
          <a:endParaRPr lang="en-US" sz="2300" kern="1200"/>
        </a:p>
      </dsp:txBody>
      <dsp:txXfrm>
        <a:off x="0" y="3428068"/>
        <a:ext cx="6797675" cy="729675"/>
      </dsp:txXfrm>
    </dsp:sp>
    <dsp:sp modelId="{57BC2424-7108-4645-A5BE-3B9D8EA14135}">
      <dsp:nvSpPr>
        <dsp:cNvPr id="0" name=""/>
        <dsp:cNvSpPr/>
      </dsp:nvSpPr>
      <dsp:spPr>
        <a:xfrm>
          <a:off x="0" y="4157743"/>
          <a:ext cx="6797675" cy="719549"/>
        </a:xfrm>
        <a:prstGeom prst="roundRect">
          <a:avLst/>
        </a:prstGeom>
        <a:solidFill>
          <a:schemeClr val="accent2">
            <a:hueOff val="39038"/>
            <a:satOff val="-26876"/>
            <a:lumOff val="-686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i="0" kern="1200"/>
            <a:t>Cost-Effective</a:t>
          </a:r>
          <a:r>
            <a:rPr lang="en-US" sz="3000" b="0" i="0" kern="1200"/>
            <a:t>:</a:t>
          </a:r>
          <a:endParaRPr lang="en-US" sz="3000" kern="1200"/>
        </a:p>
      </dsp:txBody>
      <dsp:txXfrm>
        <a:off x="35125" y="4192868"/>
        <a:ext cx="6727425" cy="649299"/>
      </dsp:txXfrm>
    </dsp:sp>
    <dsp:sp modelId="{AACE8321-5D15-4632-AF0C-43D6162D2116}">
      <dsp:nvSpPr>
        <dsp:cNvPr id="0" name=""/>
        <dsp:cNvSpPr/>
      </dsp:nvSpPr>
      <dsp:spPr>
        <a:xfrm>
          <a:off x="0" y="4877293"/>
          <a:ext cx="6797675" cy="729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826"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US" sz="2300" b="0" i="0" kern="1200"/>
            <a:t>Reduce the need for human experts, lowering operational costs.</a:t>
          </a:r>
          <a:endParaRPr lang="en-US" sz="2300" kern="1200"/>
        </a:p>
      </dsp:txBody>
      <dsp:txXfrm>
        <a:off x="0" y="4877293"/>
        <a:ext cx="6797675" cy="72967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02ACDF-EF45-4D43-8575-B6B6FE37719F}" type="datetimeFigureOut">
              <a:rPr lang="en-US" smtClean="0"/>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C5A63C-F818-49AC-9960-F9414E829A4F}" type="slidenum">
              <a:rPr lang="en-US" smtClean="0"/>
              <a:t>‹#›</a:t>
            </a:fld>
            <a:endParaRPr lang="en-US"/>
          </a:p>
        </p:txBody>
      </p:sp>
    </p:spTree>
    <p:extLst>
      <p:ext uri="{BB962C8B-B14F-4D97-AF65-F5344CB8AC3E}">
        <p14:creationId xmlns:p14="http://schemas.microsoft.com/office/powerpoint/2010/main" val="1661209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7770C78-D1E4-43B4-9084-D5891F6FAD77}" type="slidenum">
              <a:rPr kumimoji="0" lang="en-PK"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PK"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86145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User Interface </a:t>
            </a:r>
            <a:endParaRPr lang="en-US" dirty="0"/>
          </a:p>
          <a:p>
            <a:pPr>
              <a:buFont typeface="Arial" panose="020B0604020202020204" pitchFamily="34" charset="0"/>
              <a:buChar char="•"/>
            </a:pPr>
            <a:r>
              <a:rPr lang="en-US" dirty="0"/>
              <a:t>This is where the </a:t>
            </a:r>
            <a:r>
              <a:rPr lang="en-US" b="1" dirty="0"/>
              <a:t>user interacts</a:t>
            </a:r>
            <a:r>
              <a:rPr lang="en-US" dirty="0"/>
              <a:t> with the system by asking questions or providing input.</a:t>
            </a:r>
          </a:p>
          <a:p>
            <a:pPr>
              <a:buNone/>
            </a:pPr>
            <a:r>
              <a:rPr lang="en-US" b="1" dirty="0"/>
              <a:t>Knowledge Base</a:t>
            </a:r>
            <a:endParaRPr lang="en-US" dirty="0"/>
          </a:p>
          <a:p>
            <a:pPr>
              <a:buFont typeface="Arial" panose="020B0604020202020204" pitchFamily="34" charset="0"/>
              <a:buChar char="•"/>
            </a:pPr>
            <a:r>
              <a:rPr lang="en-US" dirty="0"/>
              <a:t>Contains </a:t>
            </a:r>
            <a:r>
              <a:rPr lang="en-US" b="1" dirty="0"/>
              <a:t>expert knowledge</a:t>
            </a:r>
            <a:r>
              <a:rPr lang="en-US" dirty="0"/>
              <a:t> in the form of facts, rules, and data about a specific field (like medicine, science, etc.).</a:t>
            </a:r>
          </a:p>
          <a:p>
            <a:pPr>
              <a:buNone/>
            </a:pPr>
            <a:r>
              <a:rPr lang="en-US" b="1" dirty="0"/>
              <a:t>Inference Engine (Rules Engine)</a:t>
            </a:r>
            <a:endParaRPr lang="en-US" dirty="0"/>
          </a:p>
          <a:p>
            <a:pPr>
              <a:buFont typeface="Arial" panose="020B0604020202020204" pitchFamily="34" charset="0"/>
              <a:buChar char="•"/>
            </a:pPr>
            <a:r>
              <a:rPr lang="en-US" dirty="0"/>
              <a:t>The </a:t>
            </a:r>
            <a:r>
              <a:rPr lang="en-US" b="1" dirty="0"/>
              <a:t>brain</a:t>
            </a:r>
            <a:r>
              <a:rPr lang="en-US" dirty="0"/>
              <a:t> of the expert system.</a:t>
            </a:r>
          </a:p>
          <a:p>
            <a:pPr>
              <a:buFont typeface="Arial" panose="020B0604020202020204" pitchFamily="34" charset="0"/>
              <a:buChar char="•"/>
            </a:pPr>
            <a:r>
              <a:rPr lang="en-US" dirty="0"/>
              <a:t>It </a:t>
            </a:r>
            <a:r>
              <a:rPr lang="en-US" b="1" dirty="0"/>
              <a:t>analyzes</a:t>
            </a:r>
            <a:r>
              <a:rPr lang="en-US" dirty="0"/>
              <a:t> the input from the user, </a:t>
            </a:r>
            <a:r>
              <a:rPr lang="en-US" b="1" dirty="0"/>
              <a:t>applies logical rules</a:t>
            </a:r>
            <a:r>
              <a:rPr lang="en-US" dirty="0"/>
              <a:t>, and </a:t>
            </a:r>
            <a:r>
              <a:rPr lang="en-US" b="1" dirty="0"/>
              <a:t>draws conclusions</a:t>
            </a:r>
            <a:r>
              <a:rPr lang="en-US" dirty="0"/>
              <a:t> using the knowledge base.</a:t>
            </a:r>
          </a:p>
          <a:p>
            <a:pPr>
              <a:buNone/>
            </a:pPr>
            <a:r>
              <a:rPr lang="en-US" b="1" dirty="0"/>
              <a:t>Response to User</a:t>
            </a:r>
            <a:endParaRPr lang="en-US" dirty="0"/>
          </a:p>
          <a:p>
            <a:pPr>
              <a:buFont typeface="Arial" panose="020B0604020202020204" pitchFamily="34" charset="0"/>
              <a:buChar char="•"/>
            </a:pPr>
            <a:r>
              <a:rPr lang="en-US" dirty="0"/>
              <a:t>The system provides the </a:t>
            </a:r>
            <a:r>
              <a:rPr lang="en-US" b="1" dirty="0"/>
              <a:t>solution</a:t>
            </a:r>
            <a:r>
              <a:rPr lang="en-US" dirty="0"/>
              <a:t>, </a:t>
            </a:r>
            <a:r>
              <a:rPr lang="en-US" b="1" dirty="0"/>
              <a:t>advice</a:t>
            </a:r>
            <a:r>
              <a:rPr lang="en-US" dirty="0"/>
              <a:t>, or </a:t>
            </a:r>
            <a:r>
              <a:rPr lang="en-US" b="1" dirty="0"/>
              <a:t>recommendation</a:t>
            </a:r>
            <a:r>
              <a:rPr lang="en-US" dirty="0"/>
              <a:t> based on its reasoning.</a:t>
            </a:r>
          </a:p>
          <a:p>
            <a:pPr>
              <a:buFont typeface="Arial" panose="020B0604020202020204" pitchFamily="34" charset="0"/>
              <a:buNone/>
            </a:pPr>
            <a:endParaRPr lang="en-US" dirty="0"/>
          </a:p>
          <a:p>
            <a:endParaRPr lang="en-US" dirty="0"/>
          </a:p>
        </p:txBody>
      </p:sp>
      <p:sp>
        <p:nvSpPr>
          <p:cNvPr id="4" name="Slide Number Placeholder 3"/>
          <p:cNvSpPr>
            <a:spLocks noGrp="1"/>
          </p:cNvSpPr>
          <p:nvPr>
            <p:ph type="sldNum" sz="quarter" idx="5"/>
          </p:nvPr>
        </p:nvSpPr>
        <p:spPr/>
        <p:txBody>
          <a:bodyPr/>
          <a:lstStyle/>
          <a:p>
            <a:fld id="{46C5A63C-F818-49AC-9960-F9414E829A4F}" type="slidenum">
              <a:rPr lang="en-US" smtClean="0"/>
              <a:t>6</a:t>
            </a:fld>
            <a:endParaRPr lang="en-US"/>
          </a:p>
        </p:txBody>
      </p:sp>
    </p:spTree>
    <p:extLst>
      <p:ext uri="{BB962C8B-B14F-4D97-AF65-F5344CB8AC3E}">
        <p14:creationId xmlns:p14="http://schemas.microsoft.com/office/powerpoint/2010/main" val="8199900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5935B-5D34-0DF7-D741-F9A05243A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BA0D17-D72C-1003-7E8E-25D17256DC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F345B4-FD96-133C-77A6-F82A5A6E552F}"/>
              </a:ext>
            </a:extLst>
          </p:cNvPr>
          <p:cNvSpPr>
            <a:spLocks noGrp="1"/>
          </p:cNvSpPr>
          <p:nvPr>
            <p:ph type="body" idx="1"/>
          </p:nvPr>
        </p:nvSpPr>
        <p:spPr/>
        <p:txBody>
          <a:bodyPr/>
          <a:lstStyle/>
          <a:p>
            <a:pPr algn="l">
              <a:lnSpc>
                <a:spcPts val="2700"/>
              </a:lnSpc>
            </a:pPr>
            <a:endParaRPr lang="en-US" b="0" i="0" dirty="0">
              <a:solidFill>
                <a:srgbClr val="383838"/>
              </a:solidFill>
              <a:effectLst/>
              <a:latin typeface="Inter"/>
            </a:endParaRPr>
          </a:p>
          <a:p>
            <a:endParaRPr lang="en-US" dirty="0"/>
          </a:p>
        </p:txBody>
      </p:sp>
      <p:sp>
        <p:nvSpPr>
          <p:cNvPr id="4" name="Slide Number Placeholder 3">
            <a:extLst>
              <a:ext uri="{FF2B5EF4-FFF2-40B4-BE49-F238E27FC236}">
                <a16:creationId xmlns:a16="http://schemas.microsoft.com/office/drawing/2014/main" id="{50C8ACC7-44FE-B384-855C-07D3A803F583}"/>
              </a:ext>
            </a:extLst>
          </p:cNvPr>
          <p:cNvSpPr>
            <a:spLocks noGrp="1"/>
          </p:cNvSpPr>
          <p:nvPr>
            <p:ph type="sldNum" sz="quarter" idx="5"/>
          </p:nvPr>
        </p:nvSpPr>
        <p:spPr/>
        <p:txBody>
          <a:bodyPr/>
          <a:lstStyle/>
          <a:p>
            <a:fld id="{46C5A63C-F818-49AC-9960-F9414E829A4F}" type="slidenum">
              <a:rPr lang="en-US" smtClean="0"/>
              <a:t>11</a:t>
            </a:fld>
            <a:endParaRPr lang="en-US"/>
          </a:p>
        </p:txBody>
      </p:sp>
    </p:spTree>
    <p:extLst>
      <p:ext uri="{BB962C8B-B14F-4D97-AF65-F5344CB8AC3E}">
        <p14:creationId xmlns:p14="http://schemas.microsoft.com/office/powerpoint/2010/main" val="1124497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03F91-9694-200A-7AC8-91BA8B95F7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39D755-1B58-3D63-14B4-E3A682B0F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65133B-A541-5CEC-CAAA-E4FE1C2D5712}"/>
              </a:ext>
            </a:extLst>
          </p:cNvPr>
          <p:cNvSpPr>
            <a:spLocks noGrp="1"/>
          </p:cNvSpPr>
          <p:nvPr>
            <p:ph type="body" idx="1"/>
          </p:nvPr>
        </p:nvSpPr>
        <p:spPr/>
        <p:txBody>
          <a:bodyPr/>
          <a:lstStyle/>
          <a:p>
            <a:pPr>
              <a:buNone/>
            </a:pPr>
            <a:endParaRPr lang="en-US" dirty="0"/>
          </a:p>
          <a:p>
            <a:pPr>
              <a:buNone/>
            </a:pP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CBDA00F3-C2A7-312B-C453-8702E822094A}"/>
              </a:ext>
            </a:extLst>
          </p:cNvPr>
          <p:cNvSpPr>
            <a:spLocks noGrp="1"/>
          </p:cNvSpPr>
          <p:nvPr>
            <p:ph type="sldNum" sz="quarter" idx="5"/>
          </p:nvPr>
        </p:nvSpPr>
        <p:spPr/>
        <p:txBody>
          <a:bodyPr/>
          <a:lstStyle/>
          <a:p>
            <a:fld id="{46C5A63C-F818-49AC-9960-F9414E829A4F}" type="slidenum">
              <a:rPr lang="en-US" smtClean="0"/>
              <a:t>18</a:t>
            </a:fld>
            <a:endParaRPr lang="en-US"/>
          </a:p>
        </p:txBody>
      </p:sp>
    </p:spTree>
    <p:extLst>
      <p:ext uri="{BB962C8B-B14F-4D97-AF65-F5344CB8AC3E}">
        <p14:creationId xmlns:p14="http://schemas.microsoft.com/office/powerpoint/2010/main" val="28813978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9AF81-21F2-A2E7-3324-BAE6B1692E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652E7D-A68A-D879-5039-8205A7C38A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2FD68B-8145-4071-2731-ACFFDB851242}"/>
              </a:ext>
            </a:extLst>
          </p:cNvPr>
          <p:cNvSpPr>
            <a:spLocks noGrp="1"/>
          </p:cNvSpPr>
          <p:nvPr>
            <p:ph type="body" idx="1"/>
          </p:nvPr>
        </p:nvSpPr>
        <p:spPr/>
        <p:txBody>
          <a:bodyPr/>
          <a:lstStyle/>
          <a:p>
            <a:pPr>
              <a:buNone/>
            </a:pPr>
            <a:endParaRPr lang="en-US" dirty="0"/>
          </a:p>
          <a:p>
            <a:pPr>
              <a:buNone/>
            </a:pP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8A65CE48-5119-ABCE-637D-F4330409C08F}"/>
              </a:ext>
            </a:extLst>
          </p:cNvPr>
          <p:cNvSpPr>
            <a:spLocks noGrp="1"/>
          </p:cNvSpPr>
          <p:nvPr>
            <p:ph type="sldNum" sz="quarter" idx="5"/>
          </p:nvPr>
        </p:nvSpPr>
        <p:spPr/>
        <p:txBody>
          <a:bodyPr/>
          <a:lstStyle/>
          <a:p>
            <a:fld id="{46C5A63C-F818-49AC-9960-F9414E829A4F}" type="slidenum">
              <a:rPr lang="en-US" smtClean="0"/>
              <a:t>19</a:t>
            </a:fld>
            <a:endParaRPr lang="en-US"/>
          </a:p>
        </p:txBody>
      </p:sp>
    </p:spTree>
    <p:extLst>
      <p:ext uri="{BB962C8B-B14F-4D97-AF65-F5344CB8AC3E}">
        <p14:creationId xmlns:p14="http://schemas.microsoft.com/office/powerpoint/2010/main" val="1937136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4C4DC-30D1-43BB-FBEE-A8F468C286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B5F206-3A7D-CA43-16EF-78222FA81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1200E-7B26-828C-339D-DB897D0B9678}"/>
              </a:ext>
            </a:extLst>
          </p:cNvPr>
          <p:cNvSpPr>
            <a:spLocks noGrp="1"/>
          </p:cNvSpPr>
          <p:nvPr>
            <p:ph type="body" idx="1"/>
          </p:nvPr>
        </p:nvSpPr>
        <p:spPr/>
        <p:txBody>
          <a:bodyPr/>
          <a:lstStyle/>
          <a:p>
            <a:pPr>
              <a:buNone/>
            </a:pPr>
            <a:endParaRPr lang="en-US" dirty="0"/>
          </a:p>
          <a:p>
            <a:pPr>
              <a:buNone/>
            </a:pP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F14EFAAA-FCEC-00E3-3834-A3990F32998F}"/>
              </a:ext>
            </a:extLst>
          </p:cNvPr>
          <p:cNvSpPr>
            <a:spLocks noGrp="1"/>
          </p:cNvSpPr>
          <p:nvPr>
            <p:ph type="sldNum" sz="quarter" idx="5"/>
          </p:nvPr>
        </p:nvSpPr>
        <p:spPr/>
        <p:txBody>
          <a:bodyPr/>
          <a:lstStyle/>
          <a:p>
            <a:fld id="{46C5A63C-F818-49AC-9960-F9414E829A4F}" type="slidenum">
              <a:rPr lang="en-US" smtClean="0"/>
              <a:t>20</a:t>
            </a:fld>
            <a:endParaRPr lang="en-US"/>
          </a:p>
        </p:txBody>
      </p:sp>
    </p:spTree>
    <p:extLst>
      <p:ext uri="{BB962C8B-B14F-4D97-AF65-F5344CB8AC3E}">
        <p14:creationId xmlns:p14="http://schemas.microsoft.com/office/powerpoint/2010/main" val="2281321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dirty="0">
                <a:solidFill>
                  <a:srgbClr val="383838"/>
                </a:solidFill>
                <a:effectLst/>
                <a:latin typeface="Inter"/>
              </a:rPr>
              <a:t>Expert systems offer several advantages that make them highly valuable in various domains</a:t>
            </a:r>
            <a:endParaRPr lang="en-US" dirty="0"/>
          </a:p>
        </p:txBody>
      </p:sp>
      <p:sp>
        <p:nvSpPr>
          <p:cNvPr id="4" name="Slide Number Placeholder 3"/>
          <p:cNvSpPr>
            <a:spLocks noGrp="1"/>
          </p:cNvSpPr>
          <p:nvPr>
            <p:ph type="sldNum" sz="quarter" idx="5"/>
          </p:nvPr>
        </p:nvSpPr>
        <p:spPr/>
        <p:txBody>
          <a:bodyPr/>
          <a:lstStyle/>
          <a:p>
            <a:fld id="{46C5A63C-F818-49AC-9960-F9414E829A4F}" type="slidenum">
              <a:rPr lang="en-US" smtClean="0"/>
              <a:t>22</a:t>
            </a:fld>
            <a:endParaRPr lang="en-US"/>
          </a:p>
        </p:txBody>
      </p:sp>
    </p:spTree>
    <p:extLst>
      <p:ext uri="{BB962C8B-B14F-4D97-AF65-F5344CB8AC3E}">
        <p14:creationId xmlns:p14="http://schemas.microsoft.com/office/powerpoint/2010/main" val="32930252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828CFA-F747-4597-BDB7-CDC6689DA4C0}"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C32FD2-C7B9-441D-9FC2-93674D81344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4077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828CFA-F747-4597-BDB7-CDC6689DA4C0}"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C32FD2-C7B9-441D-9FC2-93674D813445}" type="slidenum">
              <a:rPr lang="en-US" smtClean="0"/>
              <a:t>‹#›</a:t>
            </a:fld>
            <a:endParaRPr lang="en-US"/>
          </a:p>
        </p:txBody>
      </p:sp>
    </p:spTree>
    <p:extLst>
      <p:ext uri="{BB962C8B-B14F-4D97-AF65-F5344CB8AC3E}">
        <p14:creationId xmlns:p14="http://schemas.microsoft.com/office/powerpoint/2010/main" val="1014331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828CFA-F747-4597-BDB7-CDC6689DA4C0}"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C32FD2-C7B9-441D-9FC2-93674D813445}"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9477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828CFA-F747-4597-BDB7-CDC6689DA4C0}"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C32FD2-C7B9-441D-9FC2-93674D813445}" type="slidenum">
              <a:rPr lang="en-US" smtClean="0"/>
              <a:t>‹#›</a:t>
            </a:fld>
            <a:endParaRPr lang="en-US"/>
          </a:p>
        </p:txBody>
      </p:sp>
    </p:spTree>
    <p:extLst>
      <p:ext uri="{BB962C8B-B14F-4D97-AF65-F5344CB8AC3E}">
        <p14:creationId xmlns:p14="http://schemas.microsoft.com/office/powerpoint/2010/main" val="3521144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828CFA-F747-4597-BDB7-CDC6689DA4C0}" type="datetimeFigureOut">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BC32FD2-C7B9-441D-9FC2-93674D813445}" type="slidenum">
              <a:rPr lang="en-US" smtClean="0"/>
              <a:t>‹#›</a:t>
            </a:fld>
            <a:endParaRPr lang="en-US"/>
          </a:p>
        </p:txBody>
      </p:sp>
    </p:spTree>
    <p:extLst>
      <p:ext uri="{BB962C8B-B14F-4D97-AF65-F5344CB8AC3E}">
        <p14:creationId xmlns:p14="http://schemas.microsoft.com/office/powerpoint/2010/main" val="1869088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828CFA-F747-4597-BDB7-CDC6689DA4C0}" type="datetimeFigureOut">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BC32FD2-C7B9-441D-9FC2-93674D813445}" type="slidenum">
              <a:rPr lang="en-US" smtClean="0"/>
              <a:t>‹#›</a:t>
            </a:fld>
            <a:endParaRPr lang="en-US"/>
          </a:p>
        </p:txBody>
      </p:sp>
    </p:spTree>
    <p:extLst>
      <p:ext uri="{BB962C8B-B14F-4D97-AF65-F5344CB8AC3E}">
        <p14:creationId xmlns:p14="http://schemas.microsoft.com/office/powerpoint/2010/main" val="2301885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Date Placeholder 6"/>
          <p:cNvSpPr>
            <a:spLocks noGrp="1"/>
          </p:cNvSpPr>
          <p:nvPr>
            <p:ph type="dt" sz="half" idx="10"/>
          </p:nvPr>
        </p:nvSpPr>
        <p:spPr/>
        <p:txBody>
          <a:bodyPr/>
          <a:lstStyle/>
          <a:p>
            <a:fld id="{EA828CFA-F747-4597-BDB7-CDC6689DA4C0}" type="datetimeFigureOut">
              <a:rPr lang="en-US" smtClean="0"/>
              <a:t>12/17/2025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5BC32FD2-C7B9-441D-9FC2-93674D813445}" type="slidenum">
              <a:rPr lang="en-US" smtClean="0"/>
              <a:t>‹#›</a:t>
            </a:fld>
            <a:endParaRPr lang="en-US"/>
          </a:p>
        </p:txBody>
      </p:sp>
    </p:spTree>
    <p:extLst>
      <p:ext uri="{BB962C8B-B14F-4D97-AF65-F5344CB8AC3E}">
        <p14:creationId xmlns:p14="http://schemas.microsoft.com/office/powerpoint/2010/main" val="3170496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A828CFA-F747-4597-BDB7-CDC6689DA4C0}" type="datetimeFigureOut">
              <a:rPr lang="en-US" smtClean="0"/>
              <a:t>12/17/2025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BC32FD2-C7B9-441D-9FC2-93674D813445}" type="slidenum">
              <a:rPr lang="en-US" smtClean="0"/>
              <a:t>‹#›</a:t>
            </a:fld>
            <a:endParaRPr lang="en-US"/>
          </a:p>
        </p:txBody>
      </p:sp>
    </p:spTree>
    <p:extLst>
      <p:ext uri="{BB962C8B-B14F-4D97-AF65-F5344CB8AC3E}">
        <p14:creationId xmlns:p14="http://schemas.microsoft.com/office/powerpoint/2010/main" val="2438496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828CFA-F747-4597-BDB7-CDC6689DA4C0}"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BC32FD2-C7B9-441D-9FC2-93674D813445}" type="slidenum">
              <a:rPr lang="en-US" smtClean="0"/>
              <a:t>‹#›</a:t>
            </a:fld>
            <a:endParaRPr lang="en-US"/>
          </a:p>
        </p:txBody>
      </p:sp>
    </p:spTree>
    <p:extLst>
      <p:ext uri="{BB962C8B-B14F-4D97-AF65-F5344CB8AC3E}">
        <p14:creationId xmlns:p14="http://schemas.microsoft.com/office/powerpoint/2010/main" val="303404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828CFA-F747-4597-BDB7-CDC6689DA4C0}"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C32FD2-C7B9-441D-9FC2-93674D813445}" type="slidenum">
              <a:rPr lang="en-US" smtClean="0"/>
              <a:t>‹#›</a:t>
            </a:fld>
            <a:endParaRPr lang="en-US"/>
          </a:p>
        </p:txBody>
      </p:sp>
    </p:spTree>
    <p:extLst>
      <p:ext uri="{BB962C8B-B14F-4D97-AF65-F5344CB8AC3E}">
        <p14:creationId xmlns:p14="http://schemas.microsoft.com/office/powerpoint/2010/main" val="1932856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828CFA-F747-4597-BDB7-CDC6689DA4C0}"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BC32FD2-C7B9-441D-9FC2-93674D813445}" type="slidenum">
              <a:rPr lang="en-US" smtClean="0"/>
              <a:t>‹#›</a:t>
            </a:fld>
            <a:endParaRPr lang="en-US"/>
          </a:p>
        </p:txBody>
      </p:sp>
    </p:spTree>
    <p:extLst>
      <p:ext uri="{BB962C8B-B14F-4D97-AF65-F5344CB8AC3E}">
        <p14:creationId xmlns:p14="http://schemas.microsoft.com/office/powerpoint/2010/main" val="3173649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53720-3816-381E-EB06-FB553BB258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D509A3BF-9B33-DBA2-7E40-BA8D755432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CEF9BF09-C8C7-FEBB-73F7-946D690698BA}"/>
              </a:ext>
            </a:extLst>
          </p:cNvPr>
          <p:cNvSpPr>
            <a:spLocks noGrp="1"/>
          </p:cNvSpPr>
          <p:nvPr>
            <p:ph type="dt" sz="half" idx="10"/>
          </p:nvPr>
        </p:nvSpPr>
        <p:spPr/>
        <p:txBody>
          <a:bodyPr/>
          <a:lstStyle/>
          <a:p>
            <a:fld id="{4B1B422B-D56B-48A6-BE4D-0AAC7D67A4F0}" type="datetimeFigureOut">
              <a:rPr lang="en-PK" smtClean="0"/>
              <a:t>12/17/2025</a:t>
            </a:fld>
            <a:endParaRPr lang="en-PK"/>
          </a:p>
        </p:txBody>
      </p:sp>
      <p:sp>
        <p:nvSpPr>
          <p:cNvPr id="5" name="Footer Placeholder 4">
            <a:extLst>
              <a:ext uri="{FF2B5EF4-FFF2-40B4-BE49-F238E27FC236}">
                <a16:creationId xmlns:a16="http://schemas.microsoft.com/office/drawing/2014/main" id="{ED452A2D-B611-36A4-1555-70458F8A4495}"/>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2B148D1-A7D7-FCDA-0382-278EF7CCC62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1458710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10FBD-5708-B085-7163-E9B8F55B5ED3}"/>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C8CFDE-AF79-6214-4E80-4629A71570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F5506B77-41C4-B60D-171B-4127A106DACC}"/>
              </a:ext>
            </a:extLst>
          </p:cNvPr>
          <p:cNvSpPr>
            <a:spLocks noGrp="1"/>
          </p:cNvSpPr>
          <p:nvPr>
            <p:ph type="dt" sz="half" idx="10"/>
          </p:nvPr>
        </p:nvSpPr>
        <p:spPr/>
        <p:txBody>
          <a:bodyPr/>
          <a:lstStyle/>
          <a:p>
            <a:fld id="{4B1B422B-D56B-48A6-BE4D-0AAC7D67A4F0}" type="datetimeFigureOut">
              <a:rPr lang="en-PK" smtClean="0"/>
              <a:t>12/17/2025</a:t>
            </a:fld>
            <a:endParaRPr lang="en-PK"/>
          </a:p>
        </p:txBody>
      </p:sp>
      <p:sp>
        <p:nvSpPr>
          <p:cNvPr id="5" name="Footer Placeholder 4">
            <a:extLst>
              <a:ext uri="{FF2B5EF4-FFF2-40B4-BE49-F238E27FC236}">
                <a16:creationId xmlns:a16="http://schemas.microsoft.com/office/drawing/2014/main" id="{34C12C56-0D12-81DD-F88C-B3DF7C19188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C32B8C87-E64E-2CF6-F59F-34261450950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0024979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C20F4-56B4-ED58-3666-E30DB62F54C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99DD55C-3A71-9766-7BE1-256FF83201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C34CCA-0EC2-8307-6A0E-B2DE70E458B8}"/>
              </a:ext>
            </a:extLst>
          </p:cNvPr>
          <p:cNvSpPr>
            <a:spLocks noGrp="1"/>
          </p:cNvSpPr>
          <p:nvPr>
            <p:ph type="dt" sz="half" idx="10"/>
          </p:nvPr>
        </p:nvSpPr>
        <p:spPr/>
        <p:txBody>
          <a:bodyPr/>
          <a:lstStyle/>
          <a:p>
            <a:fld id="{4B1B422B-D56B-48A6-BE4D-0AAC7D67A4F0}" type="datetimeFigureOut">
              <a:rPr lang="en-PK" smtClean="0"/>
              <a:t>12/17/2025</a:t>
            </a:fld>
            <a:endParaRPr lang="en-PK"/>
          </a:p>
        </p:txBody>
      </p:sp>
      <p:sp>
        <p:nvSpPr>
          <p:cNvPr id="5" name="Footer Placeholder 4">
            <a:extLst>
              <a:ext uri="{FF2B5EF4-FFF2-40B4-BE49-F238E27FC236}">
                <a16:creationId xmlns:a16="http://schemas.microsoft.com/office/drawing/2014/main" id="{FC8B5AD0-2406-4741-9B27-130E3F62CD57}"/>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CE28277-6902-C86D-48CA-4EF489EEFD10}"/>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32803079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8B771-A201-CABE-C531-1DEEA3F6CDE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A1D12095-55BE-312A-0541-980C275F6B2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2BF5121-B39D-77AE-FDA8-79EB39DCD8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883E837C-E895-AB1D-35B1-D86D86CAD54F}"/>
              </a:ext>
            </a:extLst>
          </p:cNvPr>
          <p:cNvSpPr>
            <a:spLocks noGrp="1"/>
          </p:cNvSpPr>
          <p:nvPr>
            <p:ph type="dt" sz="half" idx="10"/>
          </p:nvPr>
        </p:nvSpPr>
        <p:spPr/>
        <p:txBody>
          <a:bodyPr/>
          <a:lstStyle/>
          <a:p>
            <a:fld id="{4B1B422B-D56B-48A6-BE4D-0AAC7D67A4F0}" type="datetimeFigureOut">
              <a:rPr lang="en-PK" smtClean="0"/>
              <a:t>12/17/2025</a:t>
            </a:fld>
            <a:endParaRPr lang="en-PK"/>
          </a:p>
        </p:txBody>
      </p:sp>
      <p:sp>
        <p:nvSpPr>
          <p:cNvPr id="6" name="Footer Placeholder 5">
            <a:extLst>
              <a:ext uri="{FF2B5EF4-FFF2-40B4-BE49-F238E27FC236}">
                <a16:creationId xmlns:a16="http://schemas.microsoft.com/office/drawing/2014/main" id="{4B2D6123-FDDB-E74B-B67B-3B7436A58D59}"/>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A834099A-D6CD-7317-CE16-5B189A67A82D}"/>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3659747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B40B2-2987-4772-A133-4D54679C7316}"/>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E4968140-1825-DBB1-561C-E023ED6AE9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96F8CF-4A87-97A7-E51E-E57DA829B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3CDC6A12-68C0-50BD-32DF-9162AAC03A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28C1AD-FE87-70BE-AE5A-60BA867E35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38C61F5D-B757-4D74-9774-E02C64ECBB79}"/>
              </a:ext>
            </a:extLst>
          </p:cNvPr>
          <p:cNvSpPr>
            <a:spLocks noGrp="1"/>
          </p:cNvSpPr>
          <p:nvPr>
            <p:ph type="dt" sz="half" idx="10"/>
          </p:nvPr>
        </p:nvSpPr>
        <p:spPr/>
        <p:txBody>
          <a:bodyPr/>
          <a:lstStyle/>
          <a:p>
            <a:fld id="{4B1B422B-D56B-48A6-BE4D-0AAC7D67A4F0}" type="datetimeFigureOut">
              <a:rPr lang="en-PK" smtClean="0"/>
              <a:t>12/17/2025</a:t>
            </a:fld>
            <a:endParaRPr lang="en-PK"/>
          </a:p>
        </p:txBody>
      </p:sp>
      <p:sp>
        <p:nvSpPr>
          <p:cNvPr id="8" name="Footer Placeholder 7">
            <a:extLst>
              <a:ext uri="{FF2B5EF4-FFF2-40B4-BE49-F238E27FC236}">
                <a16:creationId xmlns:a16="http://schemas.microsoft.com/office/drawing/2014/main" id="{5E5577DB-660B-4D6D-1ABD-CD10BED5411A}"/>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0D59736A-5F3E-FF09-F99B-AD539ED8EB8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6037643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34501-7D1D-32DF-175C-23D723FA31D1}"/>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EE3C3BAA-C826-94A1-99A7-35E780AE0B19}"/>
              </a:ext>
            </a:extLst>
          </p:cNvPr>
          <p:cNvSpPr>
            <a:spLocks noGrp="1"/>
          </p:cNvSpPr>
          <p:nvPr>
            <p:ph type="dt" sz="half" idx="10"/>
          </p:nvPr>
        </p:nvSpPr>
        <p:spPr/>
        <p:txBody>
          <a:bodyPr/>
          <a:lstStyle/>
          <a:p>
            <a:fld id="{4B1B422B-D56B-48A6-BE4D-0AAC7D67A4F0}" type="datetimeFigureOut">
              <a:rPr lang="en-PK" smtClean="0"/>
              <a:t>12/17/2025</a:t>
            </a:fld>
            <a:endParaRPr lang="en-PK"/>
          </a:p>
        </p:txBody>
      </p:sp>
      <p:sp>
        <p:nvSpPr>
          <p:cNvPr id="4" name="Footer Placeholder 3">
            <a:extLst>
              <a:ext uri="{FF2B5EF4-FFF2-40B4-BE49-F238E27FC236}">
                <a16:creationId xmlns:a16="http://schemas.microsoft.com/office/drawing/2014/main" id="{6081178B-4DCB-1221-F1E4-F1E1BB12B6B4}"/>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A44CF76B-5981-48D4-1508-AC4C69CF3D1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0802727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672966-C101-DBA0-31A6-0DEDED54D6F8}"/>
              </a:ext>
            </a:extLst>
          </p:cNvPr>
          <p:cNvSpPr>
            <a:spLocks noGrp="1"/>
          </p:cNvSpPr>
          <p:nvPr>
            <p:ph type="dt" sz="half" idx="10"/>
          </p:nvPr>
        </p:nvSpPr>
        <p:spPr/>
        <p:txBody>
          <a:bodyPr/>
          <a:lstStyle/>
          <a:p>
            <a:fld id="{4B1B422B-D56B-48A6-BE4D-0AAC7D67A4F0}" type="datetimeFigureOut">
              <a:rPr lang="en-PK" smtClean="0"/>
              <a:t>12/17/2025</a:t>
            </a:fld>
            <a:endParaRPr lang="en-PK"/>
          </a:p>
        </p:txBody>
      </p:sp>
      <p:sp>
        <p:nvSpPr>
          <p:cNvPr id="3" name="Footer Placeholder 2">
            <a:extLst>
              <a:ext uri="{FF2B5EF4-FFF2-40B4-BE49-F238E27FC236}">
                <a16:creationId xmlns:a16="http://schemas.microsoft.com/office/drawing/2014/main" id="{9EE2644B-ACC8-BACF-D571-05B35854EF3C}"/>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E6A988BF-9305-AA0B-6DC3-C0ABE5ECAB22}"/>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961291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FE64C-50F1-B827-5189-582FAD9267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54D9AB93-9C36-D887-5560-612DD4D039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E6BB17D3-FD48-BFB0-34D1-FF569AAE27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179BE8-7490-2442-C273-BD66D16FCAF9}"/>
              </a:ext>
            </a:extLst>
          </p:cNvPr>
          <p:cNvSpPr>
            <a:spLocks noGrp="1"/>
          </p:cNvSpPr>
          <p:nvPr>
            <p:ph type="dt" sz="half" idx="10"/>
          </p:nvPr>
        </p:nvSpPr>
        <p:spPr/>
        <p:txBody>
          <a:bodyPr/>
          <a:lstStyle/>
          <a:p>
            <a:fld id="{4B1B422B-D56B-48A6-BE4D-0AAC7D67A4F0}" type="datetimeFigureOut">
              <a:rPr lang="en-PK" smtClean="0"/>
              <a:t>12/17/2025</a:t>
            </a:fld>
            <a:endParaRPr lang="en-PK"/>
          </a:p>
        </p:txBody>
      </p:sp>
      <p:sp>
        <p:nvSpPr>
          <p:cNvPr id="6" name="Footer Placeholder 5">
            <a:extLst>
              <a:ext uri="{FF2B5EF4-FFF2-40B4-BE49-F238E27FC236}">
                <a16:creationId xmlns:a16="http://schemas.microsoft.com/office/drawing/2014/main" id="{0FD5BC4B-BA90-7AD7-16B6-69BDF876969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362A8F57-9EAE-C269-11A8-B5A74CDE64B3}"/>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16307242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0BEE-A111-9AA1-C4B8-12E07D7C80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B84BFE80-195D-9F83-E5BD-060B5AA088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54A238C-BD32-C671-142B-4FE5368F5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04E100-6E96-3ED0-92D2-1900C5852E80}"/>
              </a:ext>
            </a:extLst>
          </p:cNvPr>
          <p:cNvSpPr>
            <a:spLocks noGrp="1"/>
          </p:cNvSpPr>
          <p:nvPr>
            <p:ph type="dt" sz="half" idx="10"/>
          </p:nvPr>
        </p:nvSpPr>
        <p:spPr/>
        <p:txBody>
          <a:bodyPr/>
          <a:lstStyle/>
          <a:p>
            <a:fld id="{4B1B422B-D56B-48A6-BE4D-0AAC7D67A4F0}" type="datetimeFigureOut">
              <a:rPr lang="en-PK" smtClean="0"/>
              <a:t>12/17/2025</a:t>
            </a:fld>
            <a:endParaRPr lang="en-PK"/>
          </a:p>
        </p:txBody>
      </p:sp>
      <p:sp>
        <p:nvSpPr>
          <p:cNvPr id="6" name="Footer Placeholder 5">
            <a:extLst>
              <a:ext uri="{FF2B5EF4-FFF2-40B4-BE49-F238E27FC236}">
                <a16:creationId xmlns:a16="http://schemas.microsoft.com/office/drawing/2014/main" id="{2D5F1DA5-7BB0-0309-3E65-44DDEF3141C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BBCBEC1-69B8-F2EB-CAFA-5A294439A174}"/>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20712817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BA61-3CE4-676D-E6E6-A0F3A45D85C7}"/>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58BE53C3-DEB7-D4D6-59C2-76D2BCA233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1EEC23A6-4DEE-2B0F-F9E8-AF8E0897C7BA}"/>
              </a:ext>
            </a:extLst>
          </p:cNvPr>
          <p:cNvSpPr>
            <a:spLocks noGrp="1"/>
          </p:cNvSpPr>
          <p:nvPr>
            <p:ph type="dt" sz="half" idx="10"/>
          </p:nvPr>
        </p:nvSpPr>
        <p:spPr/>
        <p:txBody>
          <a:bodyPr/>
          <a:lstStyle/>
          <a:p>
            <a:fld id="{4B1B422B-D56B-48A6-BE4D-0AAC7D67A4F0}" type="datetimeFigureOut">
              <a:rPr lang="en-PK" smtClean="0"/>
              <a:t>12/17/2025</a:t>
            </a:fld>
            <a:endParaRPr lang="en-PK"/>
          </a:p>
        </p:txBody>
      </p:sp>
      <p:sp>
        <p:nvSpPr>
          <p:cNvPr id="5" name="Footer Placeholder 4">
            <a:extLst>
              <a:ext uri="{FF2B5EF4-FFF2-40B4-BE49-F238E27FC236}">
                <a16:creationId xmlns:a16="http://schemas.microsoft.com/office/drawing/2014/main" id="{033BC7B1-D071-396D-DD27-D6F3B7A2FD30}"/>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03EEB43-9506-19FD-C9B4-95B5C0754F0F}"/>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40826951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F5FC5C-5F00-9053-F0A9-CBBC1DB3BC6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79D03B86-E126-76D5-C128-6EBFBA70C23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2B410F2-965D-9F7B-B99A-D14566919EDD}"/>
              </a:ext>
            </a:extLst>
          </p:cNvPr>
          <p:cNvSpPr>
            <a:spLocks noGrp="1"/>
          </p:cNvSpPr>
          <p:nvPr>
            <p:ph type="dt" sz="half" idx="10"/>
          </p:nvPr>
        </p:nvSpPr>
        <p:spPr/>
        <p:txBody>
          <a:bodyPr/>
          <a:lstStyle/>
          <a:p>
            <a:fld id="{4B1B422B-D56B-48A6-BE4D-0AAC7D67A4F0}" type="datetimeFigureOut">
              <a:rPr lang="en-PK" smtClean="0"/>
              <a:t>12/17/2025</a:t>
            </a:fld>
            <a:endParaRPr lang="en-PK"/>
          </a:p>
        </p:txBody>
      </p:sp>
      <p:sp>
        <p:nvSpPr>
          <p:cNvPr id="5" name="Footer Placeholder 4">
            <a:extLst>
              <a:ext uri="{FF2B5EF4-FFF2-40B4-BE49-F238E27FC236}">
                <a16:creationId xmlns:a16="http://schemas.microsoft.com/office/drawing/2014/main" id="{B06D7986-9CB8-9DAB-9592-00A9C473E261}"/>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E32B750-7CCD-A09C-870B-641AB424505B}"/>
              </a:ext>
            </a:extLst>
          </p:cNvPr>
          <p:cNvSpPr>
            <a:spLocks noGrp="1"/>
          </p:cNvSpPr>
          <p:nvPr>
            <p:ph type="sldNum" sz="quarter" idx="12"/>
          </p:nvPr>
        </p:nvSpPr>
        <p:spPr/>
        <p:txBody>
          <a:bodyPr/>
          <a:lstStyle/>
          <a:p>
            <a:fld id="{CC98E9BB-3426-4537-94B3-5BEC3C8DC2C6}" type="slidenum">
              <a:rPr lang="en-PK" smtClean="0"/>
              <a:t>‹#›</a:t>
            </a:fld>
            <a:endParaRPr lang="en-PK"/>
          </a:p>
        </p:txBody>
      </p:sp>
    </p:spTree>
    <p:extLst>
      <p:ext uri="{BB962C8B-B14F-4D97-AF65-F5344CB8AC3E}">
        <p14:creationId xmlns:p14="http://schemas.microsoft.com/office/powerpoint/2010/main" val="8329250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BD45E-6645-2E42-61F4-F344BB7A0FCB}"/>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en-GB"/>
          </a:p>
        </p:txBody>
      </p:sp>
      <p:sp>
        <p:nvSpPr>
          <p:cNvPr id="3" name="Subtitle 2">
            <a:extLst>
              <a:ext uri="{FF2B5EF4-FFF2-40B4-BE49-F238E27FC236}">
                <a16:creationId xmlns:a16="http://schemas.microsoft.com/office/drawing/2014/main" id="{6919EF04-F0F7-BDA9-2E28-5A9E732E93A9}"/>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en-GB"/>
          </a:p>
        </p:txBody>
      </p:sp>
      <p:sp>
        <p:nvSpPr>
          <p:cNvPr id="4" name="Date Placeholder 3">
            <a:extLst>
              <a:ext uri="{FF2B5EF4-FFF2-40B4-BE49-F238E27FC236}">
                <a16:creationId xmlns:a16="http://schemas.microsoft.com/office/drawing/2014/main" id="{492538B3-FF41-FBA3-3F48-3918503B87BC}"/>
              </a:ext>
            </a:extLst>
          </p:cNvPr>
          <p:cNvSpPr txBox="1">
            <a:spLocks noGrp="1"/>
          </p:cNvSpPr>
          <p:nvPr>
            <p:ph type="dt" sz="half" idx="7"/>
          </p:nvPr>
        </p:nvSpPr>
        <p:spPr/>
        <p:txBody>
          <a:bodyPr/>
          <a:lstStyle>
            <a:lvl1pPr>
              <a:defRPr/>
            </a:lvl1pPr>
          </a:lstStyle>
          <a:p>
            <a:pPr lvl="0"/>
            <a:fld id="{D9F2EAFB-3233-45EC-A7AD-E2EDACAD54DD}" type="datetime1">
              <a:rPr lang="en-GB"/>
              <a:pPr lvl="0"/>
              <a:t>17/12/2025</a:t>
            </a:fld>
            <a:endParaRPr lang="en-GB"/>
          </a:p>
        </p:txBody>
      </p:sp>
      <p:sp>
        <p:nvSpPr>
          <p:cNvPr id="5" name="Footer Placeholder 4">
            <a:extLst>
              <a:ext uri="{FF2B5EF4-FFF2-40B4-BE49-F238E27FC236}">
                <a16:creationId xmlns:a16="http://schemas.microsoft.com/office/drawing/2014/main" id="{B90D3438-4708-BDAC-C751-754E2173C4ED}"/>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F4A5DA8F-EF6F-855C-5882-5C9410DD1F9D}"/>
              </a:ext>
            </a:extLst>
          </p:cNvPr>
          <p:cNvSpPr txBox="1">
            <a:spLocks noGrp="1"/>
          </p:cNvSpPr>
          <p:nvPr>
            <p:ph type="sldNum" sz="quarter" idx="8"/>
          </p:nvPr>
        </p:nvSpPr>
        <p:spPr/>
        <p:txBody>
          <a:bodyPr/>
          <a:lstStyle>
            <a:lvl1pPr>
              <a:defRPr/>
            </a:lvl1pPr>
          </a:lstStyle>
          <a:p>
            <a:pPr lvl="0"/>
            <a:fld id="{9DA5A5C2-28CA-4178-B371-F342AC0CD3F7}" type="slidenum">
              <a:t>‹#›</a:t>
            </a:fld>
            <a:endParaRPr lang="en-GB"/>
          </a:p>
        </p:txBody>
      </p:sp>
    </p:spTree>
    <p:extLst>
      <p:ext uri="{BB962C8B-B14F-4D97-AF65-F5344CB8AC3E}">
        <p14:creationId xmlns:p14="http://schemas.microsoft.com/office/powerpoint/2010/main" val="1903380205"/>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C3974-AAD7-0399-B290-E329BF3C5312}"/>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8FE2DF55-E120-FDF8-C010-937647938DCA}"/>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E7CB44A-6F95-D8AC-35EC-A61208CC3FEF}"/>
              </a:ext>
            </a:extLst>
          </p:cNvPr>
          <p:cNvSpPr txBox="1">
            <a:spLocks noGrp="1"/>
          </p:cNvSpPr>
          <p:nvPr>
            <p:ph type="dt" sz="half" idx="7"/>
          </p:nvPr>
        </p:nvSpPr>
        <p:spPr/>
        <p:txBody>
          <a:bodyPr/>
          <a:lstStyle>
            <a:lvl1pPr>
              <a:defRPr/>
            </a:lvl1pPr>
          </a:lstStyle>
          <a:p>
            <a:pPr lvl="0"/>
            <a:fld id="{5AC65B5D-32A3-4796-BA11-FDCA6A426FA6}" type="datetime1">
              <a:rPr lang="en-GB"/>
              <a:pPr lvl="0"/>
              <a:t>17/12/2025</a:t>
            </a:fld>
            <a:endParaRPr lang="en-GB"/>
          </a:p>
        </p:txBody>
      </p:sp>
      <p:sp>
        <p:nvSpPr>
          <p:cNvPr id="5" name="Footer Placeholder 4">
            <a:extLst>
              <a:ext uri="{FF2B5EF4-FFF2-40B4-BE49-F238E27FC236}">
                <a16:creationId xmlns:a16="http://schemas.microsoft.com/office/drawing/2014/main" id="{2952EACF-0785-086C-14C9-89FFEDDA1220}"/>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18D3D571-A540-8AA9-784B-C27AFAA8400F}"/>
              </a:ext>
            </a:extLst>
          </p:cNvPr>
          <p:cNvSpPr txBox="1">
            <a:spLocks noGrp="1"/>
          </p:cNvSpPr>
          <p:nvPr>
            <p:ph type="sldNum" sz="quarter" idx="8"/>
          </p:nvPr>
        </p:nvSpPr>
        <p:spPr/>
        <p:txBody>
          <a:bodyPr/>
          <a:lstStyle>
            <a:lvl1pPr>
              <a:defRPr/>
            </a:lvl1pPr>
          </a:lstStyle>
          <a:p>
            <a:pPr lvl="0"/>
            <a:fld id="{9CA87C87-7FBA-4D7D-8350-1196A9BC2D53}" type="slidenum">
              <a:t>‹#›</a:t>
            </a:fld>
            <a:endParaRPr lang="en-GB"/>
          </a:p>
        </p:txBody>
      </p:sp>
    </p:spTree>
    <p:extLst>
      <p:ext uri="{BB962C8B-B14F-4D97-AF65-F5344CB8AC3E}">
        <p14:creationId xmlns:p14="http://schemas.microsoft.com/office/powerpoint/2010/main" val="3257236856"/>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54478-39A0-50BD-7626-216F1BA23A01}"/>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BA6C0C40-5081-8A3B-4FDF-CB1CD6082C18}"/>
              </a:ext>
            </a:extLst>
          </p:cNvPr>
          <p:cNvSpPr txBox="1">
            <a:spLocks noGrp="1"/>
          </p:cNvSpPr>
          <p:nvPr>
            <p:ph type="body" idx="1"/>
          </p:nvPr>
        </p:nvSpPr>
        <p:spPr>
          <a:xfrm>
            <a:off x="831847" y="4589465"/>
            <a:ext cx="10515600" cy="1500182"/>
          </a:xfrm>
        </p:spPr>
        <p:txBody>
          <a:bodyPr/>
          <a:lstStyle>
            <a:lvl1pPr marL="0" indent="0">
              <a:buNone/>
              <a:defRPr sz="2400">
                <a:solidFill>
                  <a:srgbClr val="898989"/>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31DC782B-7B8B-FC92-0CF2-93F214E8C10D}"/>
              </a:ext>
            </a:extLst>
          </p:cNvPr>
          <p:cNvSpPr txBox="1">
            <a:spLocks noGrp="1"/>
          </p:cNvSpPr>
          <p:nvPr>
            <p:ph type="dt" sz="half" idx="7"/>
          </p:nvPr>
        </p:nvSpPr>
        <p:spPr/>
        <p:txBody>
          <a:bodyPr/>
          <a:lstStyle>
            <a:lvl1pPr>
              <a:defRPr/>
            </a:lvl1pPr>
          </a:lstStyle>
          <a:p>
            <a:pPr lvl="0"/>
            <a:fld id="{36C7D3E9-5801-49DD-9496-EBBF259997BE}" type="datetime1">
              <a:rPr lang="en-GB"/>
              <a:pPr lvl="0"/>
              <a:t>17/12/2025</a:t>
            </a:fld>
            <a:endParaRPr lang="en-GB"/>
          </a:p>
        </p:txBody>
      </p:sp>
      <p:sp>
        <p:nvSpPr>
          <p:cNvPr id="5" name="Footer Placeholder 4">
            <a:extLst>
              <a:ext uri="{FF2B5EF4-FFF2-40B4-BE49-F238E27FC236}">
                <a16:creationId xmlns:a16="http://schemas.microsoft.com/office/drawing/2014/main" id="{DDF422C9-517F-E91C-3446-4E8D9F68F6B9}"/>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C22F6006-2928-DF43-0176-54F8136CA275}"/>
              </a:ext>
            </a:extLst>
          </p:cNvPr>
          <p:cNvSpPr txBox="1">
            <a:spLocks noGrp="1"/>
          </p:cNvSpPr>
          <p:nvPr>
            <p:ph type="sldNum" sz="quarter" idx="8"/>
          </p:nvPr>
        </p:nvSpPr>
        <p:spPr/>
        <p:txBody>
          <a:bodyPr/>
          <a:lstStyle>
            <a:lvl1pPr>
              <a:defRPr/>
            </a:lvl1pPr>
          </a:lstStyle>
          <a:p>
            <a:pPr lvl="0"/>
            <a:fld id="{98E22E18-9284-49C0-83F9-C0CF7240A5D0}" type="slidenum">
              <a:t>‹#›</a:t>
            </a:fld>
            <a:endParaRPr lang="en-GB"/>
          </a:p>
        </p:txBody>
      </p:sp>
    </p:spTree>
    <p:extLst>
      <p:ext uri="{BB962C8B-B14F-4D97-AF65-F5344CB8AC3E}">
        <p14:creationId xmlns:p14="http://schemas.microsoft.com/office/powerpoint/2010/main" val="17320514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7B631-A3EC-96D2-DC13-7D4B7E59CDC1}"/>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6FB302C5-AA79-0D7A-504D-47D700E51D49}"/>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187AFCD-8B03-51AF-92D2-7B697D484C97}"/>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A85BDED-2A5F-A64D-7C4C-8E63CCA12372}"/>
              </a:ext>
            </a:extLst>
          </p:cNvPr>
          <p:cNvSpPr txBox="1">
            <a:spLocks noGrp="1"/>
          </p:cNvSpPr>
          <p:nvPr>
            <p:ph type="dt" sz="half" idx="7"/>
          </p:nvPr>
        </p:nvSpPr>
        <p:spPr/>
        <p:txBody>
          <a:bodyPr/>
          <a:lstStyle>
            <a:lvl1pPr>
              <a:defRPr/>
            </a:lvl1pPr>
          </a:lstStyle>
          <a:p>
            <a:pPr lvl="0"/>
            <a:fld id="{DDDE4176-590C-4DF2-A6BA-7FC7CE68B913}" type="datetime1">
              <a:rPr lang="en-GB"/>
              <a:pPr lvl="0"/>
              <a:t>17/12/2025</a:t>
            </a:fld>
            <a:endParaRPr lang="en-GB"/>
          </a:p>
        </p:txBody>
      </p:sp>
      <p:sp>
        <p:nvSpPr>
          <p:cNvPr id="6" name="Footer Placeholder 5">
            <a:extLst>
              <a:ext uri="{FF2B5EF4-FFF2-40B4-BE49-F238E27FC236}">
                <a16:creationId xmlns:a16="http://schemas.microsoft.com/office/drawing/2014/main" id="{F664D42A-BBC9-B64A-F7BA-6568CB92EFED}"/>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9978A4B8-2E96-1C73-DFBF-5FFF130CD396}"/>
              </a:ext>
            </a:extLst>
          </p:cNvPr>
          <p:cNvSpPr txBox="1">
            <a:spLocks noGrp="1"/>
          </p:cNvSpPr>
          <p:nvPr>
            <p:ph type="sldNum" sz="quarter" idx="8"/>
          </p:nvPr>
        </p:nvSpPr>
        <p:spPr/>
        <p:txBody>
          <a:bodyPr/>
          <a:lstStyle>
            <a:lvl1pPr>
              <a:defRPr/>
            </a:lvl1pPr>
          </a:lstStyle>
          <a:p>
            <a:pPr lvl="0"/>
            <a:fld id="{BC8A7380-3B09-4908-9524-714A15C77F75}" type="slidenum">
              <a:t>‹#›</a:t>
            </a:fld>
            <a:endParaRPr lang="en-GB"/>
          </a:p>
        </p:txBody>
      </p:sp>
    </p:spTree>
    <p:extLst>
      <p:ext uri="{BB962C8B-B14F-4D97-AF65-F5344CB8AC3E}">
        <p14:creationId xmlns:p14="http://schemas.microsoft.com/office/powerpoint/2010/main" val="8898220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1E1E3-AC35-A70E-6CC5-FA7603DD3CE3}"/>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4919DB9B-1E1E-809B-6416-F23A479C4072}"/>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A0370CAB-1B94-504C-8D21-A99679680919}"/>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60B1B96-C395-6AB0-8B69-2DC4DFF8A63F}"/>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11024E38-A4C9-8917-E7DE-58457DA7BFD4}"/>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64DB59A-44B5-35D7-00FE-1DA9512E1E7C}"/>
              </a:ext>
            </a:extLst>
          </p:cNvPr>
          <p:cNvSpPr txBox="1">
            <a:spLocks noGrp="1"/>
          </p:cNvSpPr>
          <p:nvPr>
            <p:ph type="dt" sz="half" idx="7"/>
          </p:nvPr>
        </p:nvSpPr>
        <p:spPr/>
        <p:txBody>
          <a:bodyPr/>
          <a:lstStyle>
            <a:lvl1pPr>
              <a:defRPr/>
            </a:lvl1pPr>
          </a:lstStyle>
          <a:p>
            <a:pPr lvl="0"/>
            <a:fld id="{802B17D2-D323-4089-964E-0FFA52C7FB6C}" type="datetime1">
              <a:rPr lang="en-GB"/>
              <a:pPr lvl="0"/>
              <a:t>17/12/2025</a:t>
            </a:fld>
            <a:endParaRPr lang="en-GB"/>
          </a:p>
        </p:txBody>
      </p:sp>
      <p:sp>
        <p:nvSpPr>
          <p:cNvPr id="8" name="Footer Placeholder 7">
            <a:extLst>
              <a:ext uri="{FF2B5EF4-FFF2-40B4-BE49-F238E27FC236}">
                <a16:creationId xmlns:a16="http://schemas.microsoft.com/office/drawing/2014/main" id="{785BEB0C-4393-2753-58C1-0AC24ADC1F0A}"/>
              </a:ext>
            </a:extLst>
          </p:cNvPr>
          <p:cNvSpPr txBox="1">
            <a:spLocks noGrp="1"/>
          </p:cNvSpPr>
          <p:nvPr>
            <p:ph type="ftr" sz="quarter" idx="9"/>
          </p:nvPr>
        </p:nvSpPr>
        <p:spPr/>
        <p:txBody>
          <a:bodyPr/>
          <a:lstStyle>
            <a:lvl1pPr>
              <a:defRPr/>
            </a:lvl1pPr>
          </a:lstStyle>
          <a:p>
            <a:pPr lvl="0"/>
            <a:endParaRPr lang="en-GB"/>
          </a:p>
        </p:txBody>
      </p:sp>
      <p:sp>
        <p:nvSpPr>
          <p:cNvPr id="9" name="Slide Number Placeholder 8">
            <a:extLst>
              <a:ext uri="{FF2B5EF4-FFF2-40B4-BE49-F238E27FC236}">
                <a16:creationId xmlns:a16="http://schemas.microsoft.com/office/drawing/2014/main" id="{D61330C5-0E2C-401A-4C89-15795FA8BC58}"/>
              </a:ext>
            </a:extLst>
          </p:cNvPr>
          <p:cNvSpPr txBox="1">
            <a:spLocks noGrp="1"/>
          </p:cNvSpPr>
          <p:nvPr>
            <p:ph type="sldNum" sz="quarter" idx="8"/>
          </p:nvPr>
        </p:nvSpPr>
        <p:spPr/>
        <p:txBody>
          <a:bodyPr/>
          <a:lstStyle>
            <a:lvl1pPr>
              <a:defRPr/>
            </a:lvl1pPr>
          </a:lstStyle>
          <a:p>
            <a:pPr lvl="0"/>
            <a:fld id="{16EE673B-0147-4E22-B9BE-0344FF097A20}" type="slidenum">
              <a:t>‹#›</a:t>
            </a:fld>
            <a:endParaRPr lang="en-GB"/>
          </a:p>
        </p:txBody>
      </p:sp>
    </p:spTree>
    <p:extLst>
      <p:ext uri="{BB962C8B-B14F-4D97-AF65-F5344CB8AC3E}">
        <p14:creationId xmlns:p14="http://schemas.microsoft.com/office/powerpoint/2010/main" val="23324622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EEAEE-973F-CE9F-1E8F-5B7D0BA5EAF3}"/>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Date Placeholder 2">
            <a:extLst>
              <a:ext uri="{FF2B5EF4-FFF2-40B4-BE49-F238E27FC236}">
                <a16:creationId xmlns:a16="http://schemas.microsoft.com/office/drawing/2014/main" id="{233E1108-05AA-6AA3-D50C-556F9A05195D}"/>
              </a:ext>
            </a:extLst>
          </p:cNvPr>
          <p:cNvSpPr txBox="1">
            <a:spLocks noGrp="1"/>
          </p:cNvSpPr>
          <p:nvPr>
            <p:ph type="dt" sz="half" idx="7"/>
          </p:nvPr>
        </p:nvSpPr>
        <p:spPr/>
        <p:txBody>
          <a:bodyPr/>
          <a:lstStyle>
            <a:lvl1pPr>
              <a:defRPr/>
            </a:lvl1pPr>
          </a:lstStyle>
          <a:p>
            <a:pPr lvl="0"/>
            <a:fld id="{F33FEAF7-2E26-46ED-B56F-60D9FDF13DF8}" type="datetime1">
              <a:rPr lang="en-GB"/>
              <a:pPr lvl="0"/>
              <a:t>17/12/2025</a:t>
            </a:fld>
            <a:endParaRPr lang="en-GB"/>
          </a:p>
        </p:txBody>
      </p:sp>
      <p:sp>
        <p:nvSpPr>
          <p:cNvPr id="4" name="Footer Placeholder 3">
            <a:extLst>
              <a:ext uri="{FF2B5EF4-FFF2-40B4-BE49-F238E27FC236}">
                <a16:creationId xmlns:a16="http://schemas.microsoft.com/office/drawing/2014/main" id="{537FF938-2EED-E7D9-FBC0-21FF47CE8432}"/>
              </a:ext>
            </a:extLst>
          </p:cNvPr>
          <p:cNvSpPr txBox="1">
            <a:spLocks noGrp="1"/>
          </p:cNvSpPr>
          <p:nvPr>
            <p:ph type="ftr" sz="quarter" idx="9"/>
          </p:nvPr>
        </p:nvSpPr>
        <p:spPr/>
        <p:txBody>
          <a:bodyPr/>
          <a:lstStyle>
            <a:lvl1pPr>
              <a:defRPr/>
            </a:lvl1pPr>
          </a:lstStyle>
          <a:p>
            <a:pPr lvl="0"/>
            <a:endParaRPr lang="en-GB"/>
          </a:p>
        </p:txBody>
      </p:sp>
      <p:sp>
        <p:nvSpPr>
          <p:cNvPr id="5" name="Slide Number Placeholder 4">
            <a:extLst>
              <a:ext uri="{FF2B5EF4-FFF2-40B4-BE49-F238E27FC236}">
                <a16:creationId xmlns:a16="http://schemas.microsoft.com/office/drawing/2014/main" id="{63371B7A-D10D-2E21-087E-5D92C7278062}"/>
              </a:ext>
            </a:extLst>
          </p:cNvPr>
          <p:cNvSpPr txBox="1">
            <a:spLocks noGrp="1"/>
          </p:cNvSpPr>
          <p:nvPr>
            <p:ph type="sldNum" sz="quarter" idx="8"/>
          </p:nvPr>
        </p:nvSpPr>
        <p:spPr/>
        <p:txBody>
          <a:bodyPr/>
          <a:lstStyle>
            <a:lvl1pPr>
              <a:defRPr/>
            </a:lvl1pPr>
          </a:lstStyle>
          <a:p>
            <a:pPr lvl="0"/>
            <a:fld id="{46334CAF-1AAD-413B-80E5-465F221A2B9E}" type="slidenum">
              <a:t>‹#›</a:t>
            </a:fld>
            <a:endParaRPr lang="en-GB"/>
          </a:p>
        </p:txBody>
      </p:sp>
    </p:spTree>
    <p:extLst>
      <p:ext uri="{BB962C8B-B14F-4D97-AF65-F5344CB8AC3E}">
        <p14:creationId xmlns:p14="http://schemas.microsoft.com/office/powerpoint/2010/main" val="543637701"/>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AE32EC-9A34-553A-EFDD-922CEF6D0570}"/>
              </a:ext>
            </a:extLst>
          </p:cNvPr>
          <p:cNvSpPr txBox="1">
            <a:spLocks noGrp="1"/>
          </p:cNvSpPr>
          <p:nvPr>
            <p:ph type="dt" sz="half" idx="7"/>
          </p:nvPr>
        </p:nvSpPr>
        <p:spPr/>
        <p:txBody>
          <a:bodyPr/>
          <a:lstStyle>
            <a:lvl1pPr>
              <a:defRPr/>
            </a:lvl1pPr>
          </a:lstStyle>
          <a:p>
            <a:pPr lvl="0"/>
            <a:fld id="{51141AF0-79F8-4349-B095-9EE7DBE69EFF}" type="datetime1">
              <a:rPr lang="en-GB"/>
              <a:pPr lvl="0"/>
              <a:t>17/12/2025</a:t>
            </a:fld>
            <a:endParaRPr lang="en-GB"/>
          </a:p>
        </p:txBody>
      </p:sp>
      <p:sp>
        <p:nvSpPr>
          <p:cNvPr id="3" name="Footer Placeholder 2">
            <a:extLst>
              <a:ext uri="{FF2B5EF4-FFF2-40B4-BE49-F238E27FC236}">
                <a16:creationId xmlns:a16="http://schemas.microsoft.com/office/drawing/2014/main" id="{8368786E-35EA-6E91-7108-73772FDEA792}"/>
              </a:ext>
            </a:extLst>
          </p:cNvPr>
          <p:cNvSpPr txBox="1">
            <a:spLocks noGrp="1"/>
          </p:cNvSpPr>
          <p:nvPr>
            <p:ph type="ftr" sz="quarter" idx="9"/>
          </p:nvPr>
        </p:nvSpPr>
        <p:spPr/>
        <p:txBody>
          <a:bodyPr/>
          <a:lstStyle>
            <a:lvl1pPr>
              <a:defRPr/>
            </a:lvl1pPr>
          </a:lstStyle>
          <a:p>
            <a:pPr lvl="0"/>
            <a:endParaRPr lang="en-GB"/>
          </a:p>
        </p:txBody>
      </p:sp>
      <p:sp>
        <p:nvSpPr>
          <p:cNvPr id="4" name="Slide Number Placeholder 3">
            <a:extLst>
              <a:ext uri="{FF2B5EF4-FFF2-40B4-BE49-F238E27FC236}">
                <a16:creationId xmlns:a16="http://schemas.microsoft.com/office/drawing/2014/main" id="{3140E128-620F-A637-70B0-591C30822A02}"/>
              </a:ext>
            </a:extLst>
          </p:cNvPr>
          <p:cNvSpPr txBox="1">
            <a:spLocks noGrp="1"/>
          </p:cNvSpPr>
          <p:nvPr>
            <p:ph type="sldNum" sz="quarter" idx="8"/>
          </p:nvPr>
        </p:nvSpPr>
        <p:spPr/>
        <p:txBody>
          <a:bodyPr/>
          <a:lstStyle>
            <a:lvl1pPr>
              <a:defRPr/>
            </a:lvl1pPr>
          </a:lstStyle>
          <a:p>
            <a:pPr lvl="0"/>
            <a:fld id="{36DB5BC5-B675-47B5-A7A9-D035B67F361E}" type="slidenum">
              <a:t>‹#›</a:t>
            </a:fld>
            <a:endParaRPr lang="en-GB"/>
          </a:p>
        </p:txBody>
      </p:sp>
    </p:spTree>
    <p:extLst>
      <p:ext uri="{BB962C8B-B14F-4D97-AF65-F5344CB8AC3E}">
        <p14:creationId xmlns:p14="http://schemas.microsoft.com/office/powerpoint/2010/main" val="27494872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EE876-60CB-5FBA-485E-A4A90B5C2006}"/>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Content Placeholder 2">
            <a:extLst>
              <a:ext uri="{FF2B5EF4-FFF2-40B4-BE49-F238E27FC236}">
                <a16:creationId xmlns:a16="http://schemas.microsoft.com/office/drawing/2014/main" id="{C231E23C-B759-C192-C462-BB20E1FB8113}"/>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EA05570-EDE1-2F02-99D9-3F6E20DC16F0}"/>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3A2A39A3-445B-76C8-2515-671C05726F52}"/>
              </a:ext>
            </a:extLst>
          </p:cNvPr>
          <p:cNvSpPr txBox="1">
            <a:spLocks noGrp="1"/>
          </p:cNvSpPr>
          <p:nvPr>
            <p:ph type="dt" sz="half" idx="7"/>
          </p:nvPr>
        </p:nvSpPr>
        <p:spPr/>
        <p:txBody>
          <a:bodyPr/>
          <a:lstStyle>
            <a:lvl1pPr>
              <a:defRPr/>
            </a:lvl1pPr>
          </a:lstStyle>
          <a:p>
            <a:pPr lvl="0"/>
            <a:fld id="{B451209D-6801-485A-99B5-41C12891733D}" type="datetime1">
              <a:rPr lang="en-GB"/>
              <a:pPr lvl="0"/>
              <a:t>17/12/2025</a:t>
            </a:fld>
            <a:endParaRPr lang="en-GB"/>
          </a:p>
        </p:txBody>
      </p:sp>
      <p:sp>
        <p:nvSpPr>
          <p:cNvPr id="6" name="Footer Placeholder 5">
            <a:extLst>
              <a:ext uri="{FF2B5EF4-FFF2-40B4-BE49-F238E27FC236}">
                <a16:creationId xmlns:a16="http://schemas.microsoft.com/office/drawing/2014/main" id="{A7EF9B1D-0BB7-9EC6-0E7D-B620349C5C89}"/>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370412A3-B983-372F-9CE1-43056C569AF0}"/>
              </a:ext>
            </a:extLst>
          </p:cNvPr>
          <p:cNvSpPr txBox="1">
            <a:spLocks noGrp="1"/>
          </p:cNvSpPr>
          <p:nvPr>
            <p:ph type="sldNum" sz="quarter" idx="8"/>
          </p:nvPr>
        </p:nvSpPr>
        <p:spPr/>
        <p:txBody>
          <a:bodyPr/>
          <a:lstStyle>
            <a:lvl1pPr>
              <a:defRPr/>
            </a:lvl1pPr>
          </a:lstStyle>
          <a:p>
            <a:pPr lvl="0"/>
            <a:fld id="{4C786ABC-50F1-40B8-AC59-BBD6996D3EC4}" type="slidenum">
              <a:t>‹#›</a:t>
            </a:fld>
            <a:endParaRPr lang="en-GB"/>
          </a:p>
        </p:txBody>
      </p:sp>
    </p:spTree>
    <p:extLst>
      <p:ext uri="{BB962C8B-B14F-4D97-AF65-F5344CB8AC3E}">
        <p14:creationId xmlns:p14="http://schemas.microsoft.com/office/powerpoint/2010/main" val="16287925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AA612-361C-5212-0A29-0C97DF60A816}"/>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GB"/>
          </a:p>
        </p:txBody>
      </p:sp>
      <p:sp>
        <p:nvSpPr>
          <p:cNvPr id="3" name="Picture Placeholder 2">
            <a:extLst>
              <a:ext uri="{FF2B5EF4-FFF2-40B4-BE49-F238E27FC236}">
                <a16:creationId xmlns:a16="http://schemas.microsoft.com/office/drawing/2014/main" id="{09F87E01-E60E-70A2-E5ED-F22883BC4CDA}"/>
              </a:ext>
            </a:extLst>
          </p:cNvPr>
          <p:cNvSpPr txBox="1">
            <a:spLocks noGrp="1"/>
          </p:cNvSpPr>
          <p:nvPr>
            <p:ph type="pic" idx="1"/>
          </p:nvPr>
        </p:nvSpPr>
        <p:spPr>
          <a:xfrm>
            <a:off x="5183184" y="987423"/>
            <a:ext cx="6172200" cy="4873623"/>
          </a:xfrm>
        </p:spPr>
        <p:txBody>
          <a:bodyPr/>
          <a:lstStyle>
            <a:lvl1pPr marL="0" indent="0">
              <a:buNone/>
              <a:defRPr lang="en-GB" sz="3200"/>
            </a:lvl1pPr>
          </a:lstStyle>
          <a:p>
            <a:pPr lvl="0"/>
            <a:endParaRPr lang="en-GB"/>
          </a:p>
        </p:txBody>
      </p:sp>
      <p:sp>
        <p:nvSpPr>
          <p:cNvPr id="4" name="Text Placeholder 3">
            <a:extLst>
              <a:ext uri="{FF2B5EF4-FFF2-40B4-BE49-F238E27FC236}">
                <a16:creationId xmlns:a16="http://schemas.microsoft.com/office/drawing/2014/main" id="{ADF228EA-C0FD-42A0-8F53-A8957E50A582}"/>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473DF77C-BA33-1700-8D99-D5E1297B5088}"/>
              </a:ext>
            </a:extLst>
          </p:cNvPr>
          <p:cNvSpPr txBox="1">
            <a:spLocks noGrp="1"/>
          </p:cNvSpPr>
          <p:nvPr>
            <p:ph type="dt" sz="half" idx="7"/>
          </p:nvPr>
        </p:nvSpPr>
        <p:spPr/>
        <p:txBody>
          <a:bodyPr/>
          <a:lstStyle>
            <a:lvl1pPr>
              <a:defRPr/>
            </a:lvl1pPr>
          </a:lstStyle>
          <a:p>
            <a:pPr lvl="0"/>
            <a:fld id="{7A601DB2-96A0-4854-931B-FF387D0F8181}" type="datetime1">
              <a:rPr lang="en-GB"/>
              <a:pPr lvl="0"/>
              <a:t>17/12/2025</a:t>
            </a:fld>
            <a:endParaRPr lang="en-GB"/>
          </a:p>
        </p:txBody>
      </p:sp>
      <p:sp>
        <p:nvSpPr>
          <p:cNvPr id="6" name="Footer Placeholder 5">
            <a:extLst>
              <a:ext uri="{FF2B5EF4-FFF2-40B4-BE49-F238E27FC236}">
                <a16:creationId xmlns:a16="http://schemas.microsoft.com/office/drawing/2014/main" id="{FFA49D9C-BDDA-BCC9-13DF-7B11E8099B39}"/>
              </a:ext>
            </a:extLst>
          </p:cNvPr>
          <p:cNvSpPr txBox="1">
            <a:spLocks noGrp="1"/>
          </p:cNvSpPr>
          <p:nvPr>
            <p:ph type="ftr" sz="quarter" idx="9"/>
          </p:nvPr>
        </p:nvSpPr>
        <p:spPr/>
        <p:txBody>
          <a:bodyPr/>
          <a:lstStyle>
            <a:lvl1pPr>
              <a:defRPr/>
            </a:lvl1pPr>
          </a:lstStyle>
          <a:p>
            <a:pPr lvl="0"/>
            <a:endParaRPr lang="en-GB"/>
          </a:p>
        </p:txBody>
      </p:sp>
      <p:sp>
        <p:nvSpPr>
          <p:cNvPr id="7" name="Slide Number Placeholder 6">
            <a:extLst>
              <a:ext uri="{FF2B5EF4-FFF2-40B4-BE49-F238E27FC236}">
                <a16:creationId xmlns:a16="http://schemas.microsoft.com/office/drawing/2014/main" id="{4F1FB172-CE4C-9DCB-D77B-D6B93E486782}"/>
              </a:ext>
            </a:extLst>
          </p:cNvPr>
          <p:cNvSpPr txBox="1">
            <a:spLocks noGrp="1"/>
          </p:cNvSpPr>
          <p:nvPr>
            <p:ph type="sldNum" sz="quarter" idx="8"/>
          </p:nvPr>
        </p:nvSpPr>
        <p:spPr/>
        <p:txBody>
          <a:bodyPr/>
          <a:lstStyle>
            <a:lvl1pPr>
              <a:defRPr/>
            </a:lvl1pPr>
          </a:lstStyle>
          <a:p>
            <a:pPr lvl="0"/>
            <a:fld id="{3D75DC48-6672-44E6-8167-A78CA3884564}" type="slidenum">
              <a:t>‹#›</a:t>
            </a:fld>
            <a:endParaRPr lang="en-GB"/>
          </a:p>
        </p:txBody>
      </p:sp>
    </p:spTree>
    <p:extLst>
      <p:ext uri="{BB962C8B-B14F-4D97-AF65-F5344CB8AC3E}">
        <p14:creationId xmlns:p14="http://schemas.microsoft.com/office/powerpoint/2010/main" val="15187744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0E550-43C7-51B2-DEFF-9E7583E5C74E}"/>
              </a:ext>
            </a:extLst>
          </p:cNvPr>
          <p:cNvSpPr txBox="1">
            <a:spLocks noGrp="1"/>
          </p:cNvSpPr>
          <p:nvPr>
            <p:ph type="title"/>
          </p:nvPr>
        </p:nvSpPr>
        <p:spPr/>
        <p:txBody>
          <a:bodyPr/>
          <a:lstStyle>
            <a:lvl1pPr>
              <a:defRPr/>
            </a:lvl1pPr>
          </a:lstStyle>
          <a:p>
            <a:pPr lvl="0"/>
            <a:r>
              <a:rPr lang="en-US"/>
              <a:t>Click to edit Master title style</a:t>
            </a:r>
            <a:endParaRPr lang="en-GB"/>
          </a:p>
        </p:txBody>
      </p:sp>
      <p:sp>
        <p:nvSpPr>
          <p:cNvPr id="3" name="Vertical Text Placeholder 2">
            <a:extLst>
              <a:ext uri="{FF2B5EF4-FFF2-40B4-BE49-F238E27FC236}">
                <a16:creationId xmlns:a16="http://schemas.microsoft.com/office/drawing/2014/main" id="{44594BD0-17FF-0DB6-F43D-C24EB519920D}"/>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9BF0F04-4751-9249-9AEC-0E601D643955}"/>
              </a:ext>
            </a:extLst>
          </p:cNvPr>
          <p:cNvSpPr txBox="1">
            <a:spLocks noGrp="1"/>
          </p:cNvSpPr>
          <p:nvPr>
            <p:ph type="dt" sz="half" idx="7"/>
          </p:nvPr>
        </p:nvSpPr>
        <p:spPr/>
        <p:txBody>
          <a:bodyPr/>
          <a:lstStyle>
            <a:lvl1pPr>
              <a:defRPr/>
            </a:lvl1pPr>
          </a:lstStyle>
          <a:p>
            <a:pPr lvl="0"/>
            <a:fld id="{1CE78E06-2C5D-41A9-9EAF-F758C40D196D}" type="datetime1">
              <a:rPr lang="en-GB"/>
              <a:pPr lvl="0"/>
              <a:t>17/12/2025</a:t>
            </a:fld>
            <a:endParaRPr lang="en-GB"/>
          </a:p>
        </p:txBody>
      </p:sp>
      <p:sp>
        <p:nvSpPr>
          <p:cNvPr id="5" name="Footer Placeholder 4">
            <a:extLst>
              <a:ext uri="{FF2B5EF4-FFF2-40B4-BE49-F238E27FC236}">
                <a16:creationId xmlns:a16="http://schemas.microsoft.com/office/drawing/2014/main" id="{36E3EACD-F1A4-6E29-9ED6-CB76E3DFF816}"/>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DD3E7166-2AC9-F322-EFAF-80A70DBF150B}"/>
              </a:ext>
            </a:extLst>
          </p:cNvPr>
          <p:cNvSpPr txBox="1">
            <a:spLocks noGrp="1"/>
          </p:cNvSpPr>
          <p:nvPr>
            <p:ph type="sldNum" sz="quarter" idx="8"/>
          </p:nvPr>
        </p:nvSpPr>
        <p:spPr/>
        <p:txBody>
          <a:bodyPr/>
          <a:lstStyle>
            <a:lvl1pPr>
              <a:defRPr/>
            </a:lvl1pPr>
          </a:lstStyle>
          <a:p>
            <a:pPr lvl="0"/>
            <a:fld id="{7561461C-3170-42C9-BAE5-0A1F5ADDF281}" type="slidenum">
              <a:t>‹#›</a:t>
            </a:fld>
            <a:endParaRPr lang="en-GB"/>
          </a:p>
        </p:txBody>
      </p:sp>
    </p:spTree>
    <p:extLst>
      <p:ext uri="{BB962C8B-B14F-4D97-AF65-F5344CB8AC3E}">
        <p14:creationId xmlns:p14="http://schemas.microsoft.com/office/powerpoint/2010/main" val="35146584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713367-2640-A4A2-FD11-E553C015923A}"/>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endParaRPr lang="en-GB"/>
          </a:p>
        </p:txBody>
      </p:sp>
      <p:sp>
        <p:nvSpPr>
          <p:cNvPr id="3" name="Vertical Text Placeholder 2">
            <a:extLst>
              <a:ext uri="{FF2B5EF4-FFF2-40B4-BE49-F238E27FC236}">
                <a16:creationId xmlns:a16="http://schemas.microsoft.com/office/drawing/2014/main" id="{69F94C51-DD69-D1EE-022F-568C4622648E}"/>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F59CE60-E688-BBA7-D70D-C419C4CCDAA6}"/>
              </a:ext>
            </a:extLst>
          </p:cNvPr>
          <p:cNvSpPr txBox="1">
            <a:spLocks noGrp="1"/>
          </p:cNvSpPr>
          <p:nvPr>
            <p:ph type="dt" sz="half" idx="7"/>
          </p:nvPr>
        </p:nvSpPr>
        <p:spPr/>
        <p:txBody>
          <a:bodyPr/>
          <a:lstStyle>
            <a:lvl1pPr>
              <a:defRPr/>
            </a:lvl1pPr>
          </a:lstStyle>
          <a:p>
            <a:pPr lvl="0"/>
            <a:fld id="{74C108AD-C4C9-4A23-A9D3-C232C6D84F04}" type="datetime1">
              <a:rPr lang="en-GB"/>
              <a:pPr lvl="0"/>
              <a:t>17/12/2025</a:t>
            </a:fld>
            <a:endParaRPr lang="en-GB"/>
          </a:p>
        </p:txBody>
      </p:sp>
      <p:sp>
        <p:nvSpPr>
          <p:cNvPr id="5" name="Footer Placeholder 4">
            <a:extLst>
              <a:ext uri="{FF2B5EF4-FFF2-40B4-BE49-F238E27FC236}">
                <a16:creationId xmlns:a16="http://schemas.microsoft.com/office/drawing/2014/main" id="{EC594335-EBA1-BBEC-06E6-426DCAF0B7FA}"/>
              </a:ext>
            </a:extLst>
          </p:cNvPr>
          <p:cNvSpPr txBox="1">
            <a:spLocks noGrp="1"/>
          </p:cNvSpPr>
          <p:nvPr>
            <p:ph type="ftr" sz="quarter" idx="9"/>
          </p:nvPr>
        </p:nvSpPr>
        <p:spPr/>
        <p:txBody>
          <a:bodyPr/>
          <a:lstStyle>
            <a:lvl1pPr>
              <a:defRPr/>
            </a:lvl1pPr>
          </a:lstStyle>
          <a:p>
            <a:pPr lvl="0"/>
            <a:endParaRPr lang="en-GB"/>
          </a:p>
        </p:txBody>
      </p:sp>
      <p:sp>
        <p:nvSpPr>
          <p:cNvPr id="6" name="Slide Number Placeholder 5">
            <a:extLst>
              <a:ext uri="{FF2B5EF4-FFF2-40B4-BE49-F238E27FC236}">
                <a16:creationId xmlns:a16="http://schemas.microsoft.com/office/drawing/2014/main" id="{CFEEBA25-074E-E750-CA04-013F67A541DF}"/>
              </a:ext>
            </a:extLst>
          </p:cNvPr>
          <p:cNvSpPr txBox="1">
            <a:spLocks noGrp="1"/>
          </p:cNvSpPr>
          <p:nvPr>
            <p:ph type="sldNum" sz="quarter" idx="8"/>
          </p:nvPr>
        </p:nvSpPr>
        <p:spPr/>
        <p:txBody>
          <a:bodyPr/>
          <a:lstStyle>
            <a:lvl1pPr>
              <a:defRPr/>
            </a:lvl1pPr>
          </a:lstStyle>
          <a:p>
            <a:pPr lvl="0"/>
            <a:fld id="{A9E85E76-AF85-4265-98AF-AAE32E73D0B8}" type="slidenum">
              <a:t>‹#›</a:t>
            </a:fld>
            <a:endParaRPr lang="en-GB"/>
          </a:p>
        </p:txBody>
      </p:sp>
    </p:spTree>
    <p:extLst>
      <p:ext uri="{BB962C8B-B14F-4D97-AF65-F5344CB8AC3E}">
        <p14:creationId xmlns:p14="http://schemas.microsoft.com/office/powerpoint/2010/main" val="2860285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A828CFA-F747-4597-BDB7-CDC6689DA4C0}" type="datetimeFigureOut">
              <a:rPr lang="en-US" smtClean="0"/>
              <a:t>12/17/2025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BC32FD2-C7B9-441D-9FC2-93674D813445}"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70894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E0A0BD-8E0B-039C-FB28-7DE93B8E33C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15CF0ED9-CAC2-E83A-68ED-C5161A9F58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7547626-C717-A094-D7ED-9CC80A7797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B1B422B-D56B-48A6-BE4D-0AAC7D67A4F0}" type="datetimeFigureOut">
              <a:rPr lang="en-PK" smtClean="0"/>
              <a:t>12/17/2025</a:t>
            </a:fld>
            <a:endParaRPr lang="en-PK"/>
          </a:p>
        </p:txBody>
      </p:sp>
      <p:sp>
        <p:nvSpPr>
          <p:cNvPr id="5" name="Footer Placeholder 4">
            <a:extLst>
              <a:ext uri="{FF2B5EF4-FFF2-40B4-BE49-F238E27FC236}">
                <a16:creationId xmlns:a16="http://schemas.microsoft.com/office/drawing/2014/main" id="{27285EE4-DEFC-CF01-936A-8A735E3CB9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7D368BF9-1FDB-07EF-4625-0F16BAFA2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98E9BB-3426-4537-94B3-5BEC3C8DC2C6}" type="slidenum">
              <a:rPr lang="en-PK" smtClean="0"/>
              <a:t>‹#›</a:t>
            </a:fld>
            <a:endParaRPr lang="en-PK"/>
          </a:p>
        </p:txBody>
      </p:sp>
    </p:spTree>
    <p:extLst>
      <p:ext uri="{BB962C8B-B14F-4D97-AF65-F5344CB8AC3E}">
        <p14:creationId xmlns:p14="http://schemas.microsoft.com/office/powerpoint/2010/main" val="185385373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744904-4C94-6864-E694-6F918F819E77}"/>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endParaRPr lang="en-GB"/>
          </a:p>
        </p:txBody>
      </p:sp>
      <p:sp>
        <p:nvSpPr>
          <p:cNvPr id="3" name="Text Placeholder 2">
            <a:extLst>
              <a:ext uri="{FF2B5EF4-FFF2-40B4-BE49-F238E27FC236}">
                <a16:creationId xmlns:a16="http://schemas.microsoft.com/office/drawing/2014/main" id="{B4FBD184-A5B9-9165-A664-5384A4E6BB94}"/>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6566D89-3797-C970-A1B7-9C028D1B4BD6}"/>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fld id="{350333D3-021B-4EE1-BD1F-DF08DD692AF0}" type="datetime1">
              <a:rPr lang="en-GB"/>
              <a:pPr lvl="0"/>
              <a:t>17/12/2025</a:t>
            </a:fld>
            <a:endParaRPr lang="en-GB"/>
          </a:p>
        </p:txBody>
      </p:sp>
      <p:sp>
        <p:nvSpPr>
          <p:cNvPr id="5" name="Footer Placeholder 4">
            <a:extLst>
              <a:ext uri="{FF2B5EF4-FFF2-40B4-BE49-F238E27FC236}">
                <a16:creationId xmlns:a16="http://schemas.microsoft.com/office/drawing/2014/main" id="{1570F9F9-6175-A950-DFF8-CF5CCB3F6BD6}"/>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endParaRPr lang="en-GB"/>
          </a:p>
        </p:txBody>
      </p:sp>
      <p:sp>
        <p:nvSpPr>
          <p:cNvPr id="6" name="Slide Number Placeholder 5">
            <a:extLst>
              <a:ext uri="{FF2B5EF4-FFF2-40B4-BE49-F238E27FC236}">
                <a16:creationId xmlns:a16="http://schemas.microsoft.com/office/drawing/2014/main" id="{1CF43268-DB37-895B-7E94-F4B2F199EB10}"/>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GB" sz="1200" b="0" i="0" u="none" strike="noStrike" kern="1200" cap="none" spc="0" baseline="0">
                <a:solidFill>
                  <a:srgbClr val="898989"/>
                </a:solidFill>
                <a:uFillTx/>
                <a:latin typeface="Calibri"/>
              </a:defRPr>
            </a:lvl1pPr>
          </a:lstStyle>
          <a:p>
            <a:pPr lvl="0"/>
            <a:fld id="{D815EADF-FD6D-446D-8CCD-730B98E628F7}" type="slidenum">
              <a:t>‹#›</a:t>
            </a:fld>
            <a:endParaRPr lang="en-GB"/>
          </a:p>
        </p:txBody>
      </p:sp>
    </p:spTree>
    <p:extLst>
      <p:ext uri="{BB962C8B-B14F-4D97-AF65-F5344CB8AC3E}">
        <p14:creationId xmlns:p14="http://schemas.microsoft.com/office/powerpoint/2010/main" val="400557889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Calibri Light"/>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Calibri"/>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tmp"/><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tmp"/></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8C790BE2-4E4F-4AAF-81A2-4A6F4885E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8" name="Rectangle 77">
            <a:extLst>
              <a:ext uri="{FF2B5EF4-FFF2-40B4-BE49-F238E27FC236}">
                <a16:creationId xmlns:a16="http://schemas.microsoft.com/office/drawing/2014/main" id="{D28B54C3-B57B-472A-B96E-1FCB67093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12191999" cy="6858000"/>
          </a:xfrm>
          <a:prstGeom prst="rect">
            <a:avLst/>
          </a:prstGeom>
          <a:gradFill>
            <a:gsLst>
              <a:gs pos="0">
                <a:schemeClr val="accent1">
                  <a:lumMod val="50000"/>
                </a:schemeClr>
              </a:gs>
              <a:gs pos="100000">
                <a:srgbClr val="000000"/>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0" name="Rectangle 79">
            <a:extLst>
              <a:ext uri="{FF2B5EF4-FFF2-40B4-BE49-F238E27FC236}">
                <a16:creationId xmlns:a16="http://schemas.microsoft.com/office/drawing/2014/main" id="{7DB3C429-F8DA-49B9-AF84-21996FCF7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4"/>
            <a:ext cx="12192000" cy="6402581"/>
          </a:xfrm>
          <a:prstGeom prst="rect">
            <a:avLst/>
          </a:prstGeom>
          <a:gradFill>
            <a:gsLst>
              <a:gs pos="1000">
                <a:schemeClr val="accent1">
                  <a:lumMod val="75000"/>
                  <a:alpha val="59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2" name="Rectangle 81">
            <a:extLst>
              <a:ext uri="{FF2B5EF4-FFF2-40B4-BE49-F238E27FC236}">
                <a16:creationId xmlns:a16="http://schemas.microsoft.com/office/drawing/2014/main" id="{E12088DD-B1AD-40E0-8B86-1D87A2CCD9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63054" y="-2653923"/>
            <a:ext cx="6858001" cy="12165846"/>
          </a:xfrm>
          <a:prstGeom prst="rect">
            <a:avLst/>
          </a:prstGeom>
          <a:gradFill>
            <a:gsLst>
              <a:gs pos="13000">
                <a:schemeClr val="accent1">
                  <a:lumMod val="50000"/>
                  <a:alpha val="0"/>
                </a:schemeClr>
              </a:gs>
              <a:gs pos="99000">
                <a:srgbClr val="000000">
                  <a:alpha val="28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4" name="Rectangle 83">
            <a:extLst>
              <a:ext uri="{FF2B5EF4-FFF2-40B4-BE49-F238E27FC236}">
                <a16:creationId xmlns:a16="http://schemas.microsoft.com/office/drawing/2014/main" id="{C4C9F2B0-1044-46EB-8AEB-C3BFFDE6C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94763" y="0"/>
            <a:ext cx="6096001" cy="6858000"/>
          </a:xfrm>
          <a:prstGeom prst="rect">
            <a:avLst/>
          </a:prstGeom>
          <a:gradFill>
            <a:gsLst>
              <a:gs pos="13000">
                <a:schemeClr val="accent1">
                  <a:lumMod val="50000"/>
                  <a:alpha val="0"/>
                </a:schemeClr>
              </a:gs>
              <a:gs pos="99000">
                <a:schemeClr val="accent1">
                  <a:lumMod val="75000"/>
                  <a:alpha val="5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6" name="Rectangle 85">
            <a:extLst>
              <a:ext uri="{FF2B5EF4-FFF2-40B4-BE49-F238E27FC236}">
                <a16:creationId xmlns:a16="http://schemas.microsoft.com/office/drawing/2014/main" id="{0C395952-4E26-45A2-8756-2ADFD6E53C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3"/>
            <a:ext cx="12182871" cy="6871922"/>
          </a:xfrm>
          <a:prstGeom prst="rect">
            <a:avLst/>
          </a:prstGeom>
          <a:gradFill>
            <a:gsLst>
              <a:gs pos="13000">
                <a:srgbClr val="000000">
                  <a:alpha val="35000"/>
                </a:srgbClr>
              </a:gs>
              <a:gs pos="99000">
                <a:schemeClr val="accent1">
                  <a:lumMod val="75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88" name="Freeform: Shape 87">
            <a:extLst>
              <a:ext uri="{FF2B5EF4-FFF2-40B4-BE49-F238E27FC236}">
                <a16:creationId xmlns:a16="http://schemas.microsoft.com/office/drawing/2014/main" id="{4734BADF-9461-4621-B112-2D7BABEA7D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7713" y="4049"/>
            <a:ext cx="10216576" cy="4729040"/>
          </a:xfrm>
          <a:custGeom>
            <a:avLst/>
            <a:gdLst>
              <a:gd name="connsiteX0" fmla="*/ 0 w 10216576"/>
              <a:gd name="connsiteY0" fmla="*/ 0 h 4729040"/>
              <a:gd name="connsiteX1" fmla="*/ 10216576 w 10216576"/>
              <a:gd name="connsiteY1" fmla="*/ 0 h 4729040"/>
              <a:gd name="connsiteX2" fmla="*/ 10210268 w 10216576"/>
              <a:gd name="connsiteY2" fmla="*/ 124944 h 4729040"/>
              <a:gd name="connsiteX3" fmla="*/ 5108288 w 10216576"/>
              <a:gd name="connsiteY3" fmla="*/ 4729040 h 4729040"/>
              <a:gd name="connsiteX4" fmla="*/ 6309 w 10216576"/>
              <a:gd name="connsiteY4" fmla="*/ 124944 h 47290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16576" h="4729040">
                <a:moveTo>
                  <a:pt x="0" y="0"/>
                </a:moveTo>
                <a:lnTo>
                  <a:pt x="10216576" y="0"/>
                </a:lnTo>
                <a:lnTo>
                  <a:pt x="10210268" y="124944"/>
                </a:lnTo>
                <a:cubicBezTo>
                  <a:pt x="9947637" y="2710997"/>
                  <a:pt x="7763635" y="4729040"/>
                  <a:pt x="5108288" y="4729040"/>
                </a:cubicBezTo>
                <a:cubicBezTo>
                  <a:pt x="2452942" y="4729040"/>
                  <a:pt x="268937" y="2710997"/>
                  <a:pt x="6309" y="124944"/>
                </a:cubicBezTo>
                <a:close/>
              </a:path>
            </a:pathLst>
          </a:custGeom>
          <a:gradFill>
            <a:gsLst>
              <a:gs pos="7000">
                <a:schemeClr val="accent1">
                  <a:lumMod val="50000"/>
                  <a:alpha val="4000"/>
                </a:schemeClr>
              </a:gs>
              <a:gs pos="99000">
                <a:schemeClr val="accent1">
                  <a:alpha val="24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649733D3-B539-9FDF-841C-7CA34CBED49E}"/>
              </a:ext>
            </a:extLst>
          </p:cNvPr>
          <p:cNvSpPr>
            <a:spLocks noGrp="1"/>
          </p:cNvSpPr>
          <p:nvPr>
            <p:ph type="ctrTitle"/>
          </p:nvPr>
        </p:nvSpPr>
        <p:spPr>
          <a:xfrm>
            <a:off x="2026693" y="1030406"/>
            <a:ext cx="8147713" cy="3081242"/>
          </a:xfrm>
        </p:spPr>
        <p:txBody>
          <a:bodyPr anchor="ctr">
            <a:normAutofit/>
          </a:bodyPr>
          <a:lstStyle/>
          <a:p>
            <a:r>
              <a:rPr lang="en-GB" sz="4800" dirty="0">
                <a:solidFill>
                  <a:srgbClr val="FFFFFF"/>
                </a:solidFill>
                <a:latin typeface="Arial" panose="020B0604020202020204" pitchFamily="34" charset="0"/>
                <a:cs typeface="Arial" panose="020B0604020202020204" pitchFamily="34" charset="0"/>
              </a:rPr>
              <a:t>Artificial Intelligence</a:t>
            </a:r>
            <a:br>
              <a:rPr lang="en-GB" sz="4800" dirty="0">
                <a:solidFill>
                  <a:srgbClr val="FFFFFF"/>
                </a:solidFill>
                <a:latin typeface="Arial" panose="020B0604020202020204" pitchFamily="34" charset="0"/>
                <a:cs typeface="Arial" panose="020B0604020202020204" pitchFamily="34" charset="0"/>
              </a:rPr>
            </a:br>
            <a:r>
              <a:rPr lang="en-GB" sz="4800" dirty="0">
                <a:solidFill>
                  <a:srgbClr val="FFFFFF"/>
                </a:solidFill>
                <a:latin typeface="Arial" panose="020B0604020202020204" pitchFamily="34" charset="0"/>
                <a:cs typeface="Arial" panose="020B0604020202020204" pitchFamily="34" charset="0"/>
              </a:rPr>
              <a:t>CS-202</a:t>
            </a:r>
            <a:endParaRPr lang="en-PK" sz="4800" dirty="0">
              <a:solidFill>
                <a:srgbClr val="FFFFFF"/>
              </a:solidFill>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40CA6085-9456-8389-FD83-03FD37673D7F}"/>
              </a:ext>
            </a:extLst>
          </p:cNvPr>
          <p:cNvSpPr>
            <a:spLocks noGrp="1"/>
          </p:cNvSpPr>
          <p:nvPr>
            <p:ph type="subTitle" idx="1"/>
          </p:nvPr>
        </p:nvSpPr>
        <p:spPr>
          <a:xfrm>
            <a:off x="1559943" y="4316361"/>
            <a:ext cx="9078628" cy="1715352"/>
          </a:xfrm>
        </p:spPr>
        <p:txBody>
          <a:bodyPr anchor="ctr">
            <a:noAutofit/>
          </a:bodyPr>
          <a:lstStyle/>
          <a:p>
            <a:r>
              <a:rPr lang="en-GB" dirty="0">
                <a:solidFill>
                  <a:srgbClr val="FFFFFF"/>
                </a:solidFill>
                <a:latin typeface="Arial" panose="020B0604020202020204" pitchFamily="34" charset="0"/>
                <a:cs typeface="Arial" panose="020B0604020202020204" pitchFamily="34" charset="0"/>
              </a:rPr>
              <a:t>Topic: Expert Systems</a:t>
            </a:r>
          </a:p>
          <a:p>
            <a:r>
              <a:rPr lang="en-GB" sz="1800" dirty="0">
                <a:solidFill>
                  <a:srgbClr val="FFFFFF"/>
                </a:solidFill>
                <a:latin typeface="Arial" panose="020B0604020202020204" pitchFamily="34" charset="0"/>
                <a:cs typeface="Arial" panose="020B0604020202020204" pitchFamily="34" charset="0"/>
              </a:rPr>
              <a:t>Habiba Arshad</a:t>
            </a:r>
          </a:p>
          <a:p>
            <a:r>
              <a:rPr lang="en-GB" sz="1800" dirty="0">
                <a:solidFill>
                  <a:srgbClr val="FFFFFF"/>
                </a:solidFill>
                <a:latin typeface="Arial" panose="020B0604020202020204" pitchFamily="34" charset="0"/>
                <a:cs typeface="Arial" panose="020B0604020202020204" pitchFamily="34" charset="0"/>
              </a:rPr>
              <a:t>Department of Computer Science</a:t>
            </a:r>
          </a:p>
          <a:p>
            <a:r>
              <a:rPr lang="en-GB" sz="1800" dirty="0">
                <a:solidFill>
                  <a:srgbClr val="FFFFFF"/>
                </a:solidFill>
                <a:latin typeface="Arial" panose="020B0604020202020204" pitchFamily="34" charset="0"/>
                <a:cs typeface="Arial" panose="020B0604020202020204" pitchFamily="34" charset="0"/>
              </a:rPr>
              <a:t>University of Wah</a:t>
            </a:r>
          </a:p>
        </p:txBody>
      </p:sp>
    </p:spTree>
    <p:extLst>
      <p:ext uri="{BB962C8B-B14F-4D97-AF65-F5344CB8AC3E}">
        <p14:creationId xmlns:p14="http://schemas.microsoft.com/office/powerpoint/2010/main" val="3487270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2000"/>
                                  </p:stCondLst>
                                  <p:iterate type="lt">
                                    <p:tmPct val="10000"/>
                                  </p:iterate>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4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9C90C7-7ACD-7C17-710E-28BCB1E039FE}"/>
              </a:ext>
            </a:extLst>
          </p:cNvPr>
          <p:cNvSpPr>
            <a:spLocks noGrp="1"/>
          </p:cNvSpPr>
          <p:nvPr>
            <p:ph type="title"/>
          </p:nvPr>
        </p:nvSpPr>
        <p:spPr>
          <a:xfrm>
            <a:off x="5181601" y="634946"/>
            <a:ext cx="6368142" cy="1450757"/>
          </a:xfrm>
        </p:spPr>
        <p:txBody>
          <a:bodyPr>
            <a:normAutofit/>
          </a:bodyPr>
          <a:lstStyle/>
          <a:p>
            <a:r>
              <a:rPr lang="en-US" sz="5400" b="0" i="0" dirty="0">
                <a:effectLst/>
                <a:latin typeface="Inter"/>
              </a:rPr>
              <a:t>Today’s Goal</a:t>
            </a:r>
            <a:endParaRPr lang="en-US" sz="5400" dirty="0"/>
          </a:p>
        </p:txBody>
      </p:sp>
      <p:pic>
        <p:nvPicPr>
          <p:cNvPr id="5" name="Picture 4" descr="A 3D pattern of ring shapes connected by lines">
            <a:extLst>
              <a:ext uri="{FF2B5EF4-FFF2-40B4-BE49-F238E27FC236}">
                <a16:creationId xmlns:a16="http://schemas.microsoft.com/office/drawing/2014/main" id="{794B8247-72C3-5638-094A-19793E434A94}"/>
              </a:ext>
            </a:extLst>
          </p:cNvPr>
          <p:cNvPicPr>
            <a:picLocks noChangeAspect="1"/>
          </p:cNvPicPr>
          <p:nvPr/>
        </p:nvPicPr>
        <p:blipFill>
          <a:blip r:embed="rId2"/>
          <a:srcRect l="14585" r="47308"/>
          <a:stretch/>
        </p:blipFill>
        <p:spPr>
          <a:xfrm>
            <a:off x="20" y="-12128"/>
            <a:ext cx="4654276"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FCE3AEF-AA53-6232-92D4-C1AAA20A4AB7}"/>
              </a:ext>
            </a:extLst>
          </p:cNvPr>
          <p:cNvSpPr>
            <a:spLocks noGrp="1"/>
          </p:cNvSpPr>
          <p:nvPr>
            <p:ph idx="1"/>
          </p:nvPr>
        </p:nvSpPr>
        <p:spPr>
          <a:xfrm>
            <a:off x="5181601" y="2198914"/>
            <a:ext cx="6368142" cy="3670180"/>
          </a:xfrm>
        </p:spPr>
        <p:txBody>
          <a:bodyPr>
            <a:normAutofit fontScale="92500" lnSpcReduction="20000"/>
          </a:bodyPr>
          <a:lstStyle/>
          <a:p>
            <a:pPr>
              <a:spcAft>
                <a:spcPts val="750"/>
              </a:spcAft>
              <a:buFont typeface="Arial" panose="020B0604020202020204" pitchFamily="34" charset="0"/>
              <a:buChar char="•"/>
            </a:pPr>
            <a:r>
              <a:rPr lang="en-US" sz="2400" b="0" i="0" dirty="0">
                <a:effectLst/>
                <a:latin typeface="Inter"/>
              </a:rPr>
              <a:t>Understand </a:t>
            </a:r>
            <a:r>
              <a:rPr lang="en-US" sz="2400" b="1" i="0" dirty="0">
                <a:effectLst/>
                <a:latin typeface="Inter"/>
              </a:rPr>
              <a:t>what expert systems are </a:t>
            </a:r>
            <a:r>
              <a:rPr lang="en-US" sz="2400" b="0" i="0" dirty="0">
                <a:effectLst/>
                <a:latin typeface="Inter"/>
              </a:rPr>
              <a:t>and their role in AI.</a:t>
            </a:r>
          </a:p>
          <a:p>
            <a:pPr>
              <a:spcAft>
                <a:spcPts val="750"/>
              </a:spcAft>
              <a:buFont typeface="Arial" panose="020B0604020202020204" pitchFamily="34" charset="0"/>
              <a:buChar char="•"/>
            </a:pPr>
            <a:r>
              <a:rPr lang="en-US" sz="2400" b="0" i="0" dirty="0">
                <a:effectLst/>
                <a:latin typeface="Inter"/>
              </a:rPr>
              <a:t>Learn the </a:t>
            </a:r>
            <a:r>
              <a:rPr lang="en-US" sz="2400" b="1" i="0" dirty="0">
                <a:effectLst/>
                <a:latin typeface="Inter"/>
              </a:rPr>
              <a:t>components</a:t>
            </a:r>
            <a:r>
              <a:rPr lang="en-US" sz="2400" b="0" i="0" dirty="0">
                <a:effectLst/>
                <a:latin typeface="Inter"/>
              </a:rPr>
              <a:t> that make up expert systems.</a:t>
            </a:r>
          </a:p>
          <a:p>
            <a:pPr>
              <a:spcAft>
                <a:spcPts val="750"/>
              </a:spcAft>
              <a:buFont typeface="Arial" panose="020B0604020202020204" pitchFamily="34" charset="0"/>
              <a:buChar char="•"/>
            </a:pPr>
            <a:r>
              <a:rPr lang="en-US" sz="2400" b="0" i="0" dirty="0">
                <a:effectLst/>
                <a:latin typeface="Inter"/>
              </a:rPr>
              <a:t>Discover </a:t>
            </a:r>
            <a:r>
              <a:rPr lang="en-US" sz="2400" b="1" i="0" dirty="0">
                <a:effectLst/>
                <a:latin typeface="Inter"/>
              </a:rPr>
              <a:t>how expert systems operate</a:t>
            </a:r>
            <a:r>
              <a:rPr lang="en-US" sz="2400" b="0" i="0" dirty="0">
                <a:effectLst/>
                <a:latin typeface="Inter"/>
              </a:rPr>
              <a:t>.</a:t>
            </a:r>
          </a:p>
          <a:p>
            <a:pPr>
              <a:spcAft>
                <a:spcPts val="750"/>
              </a:spcAft>
              <a:buFont typeface="Arial" panose="020B0604020202020204" pitchFamily="34" charset="0"/>
              <a:buChar char="•"/>
            </a:pPr>
            <a:r>
              <a:rPr lang="en-US" sz="2400" b="0" i="0" dirty="0">
                <a:effectLst/>
                <a:latin typeface="Inter"/>
              </a:rPr>
              <a:t>Explore various </a:t>
            </a:r>
            <a:r>
              <a:rPr lang="en-US" sz="2400" b="1" i="0" dirty="0">
                <a:effectLst/>
                <a:latin typeface="Inter"/>
              </a:rPr>
              <a:t>applications of expert systems </a:t>
            </a:r>
            <a:r>
              <a:rPr lang="en-US" sz="2400" b="0" i="0" dirty="0">
                <a:effectLst/>
                <a:latin typeface="Inter"/>
              </a:rPr>
              <a:t>in different fields.</a:t>
            </a:r>
          </a:p>
          <a:p>
            <a:pPr>
              <a:spcAft>
                <a:spcPts val="750"/>
              </a:spcAft>
              <a:buFont typeface="Arial" panose="020B0604020202020204" pitchFamily="34" charset="0"/>
              <a:buChar char="•"/>
            </a:pPr>
            <a:r>
              <a:rPr lang="en-US" sz="2400" b="0" i="0" dirty="0">
                <a:effectLst/>
                <a:latin typeface="Inter"/>
              </a:rPr>
              <a:t>Recognize the </a:t>
            </a:r>
            <a:r>
              <a:rPr lang="en-US" sz="2400" b="1" i="0" dirty="0">
                <a:effectLst/>
                <a:latin typeface="Inter"/>
              </a:rPr>
              <a:t>advantages and limitations </a:t>
            </a:r>
            <a:r>
              <a:rPr lang="en-US" sz="2400" b="0" i="0" dirty="0">
                <a:effectLst/>
                <a:latin typeface="Inter"/>
              </a:rPr>
              <a:t>of using expert systems.</a:t>
            </a:r>
          </a:p>
          <a:p>
            <a:pPr>
              <a:spcAft>
                <a:spcPts val="750"/>
              </a:spcAft>
              <a:buFont typeface="Arial" panose="020B0604020202020204" pitchFamily="34" charset="0"/>
              <a:buChar char="•"/>
            </a:pPr>
            <a:r>
              <a:rPr lang="en-US" sz="2400" b="0" i="0" dirty="0">
                <a:effectLst/>
                <a:latin typeface="Inter"/>
              </a:rPr>
              <a:t>Gain insights into the </a:t>
            </a:r>
            <a:r>
              <a:rPr lang="en-US" sz="2400" b="1" i="0" dirty="0">
                <a:effectLst/>
                <a:latin typeface="Inter"/>
              </a:rPr>
              <a:t>future of expert systems</a:t>
            </a:r>
            <a:r>
              <a:rPr lang="en-US" sz="2400" b="0" i="0" dirty="0">
                <a:effectLst/>
                <a:latin typeface="Inter"/>
              </a:rPr>
              <a:t> in AI.</a:t>
            </a:r>
          </a:p>
          <a:p>
            <a:endParaRPr lang="en-US" dirty="0"/>
          </a:p>
        </p:txBody>
      </p:sp>
    </p:spTree>
    <p:extLst>
      <p:ext uri="{BB962C8B-B14F-4D97-AF65-F5344CB8AC3E}">
        <p14:creationId xmlns:p14="http://schemas.microsoft.com/office/powerpoint/2010/main" val="2017176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tint val="90000"/>
            <a:shade val="97000"/>
            <a:satMod val="130000"/>
          </a:schemeClr>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C8DD82D3-D002-45B0-B16A-82B3DA4EFD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94633A-FF00-2957-21D0-78052A2BA88B}"/>
              </a:ext>
            </a:extLst>
          </p:cNvPr>
          <p:cNvSpPr>
            <a:spLocks noGrp="1"/>
          </p:cNvSpPr>
          <p:nvPr>
            <p:ph type="title"/>
          </p:nvPr>
        </p:nvSpPr>
        <p:spPr>
          <a:xfrm>
            <a:off x="949047" y="643466"/>
            <a:ext cx="2771273" cy="5225627"/>
          </a:xfrm>
        </p:spPr>
        <p:txBody>
          <a:bodyPr anchor="ctr">
            <a:normAutofit/>
          </a:bodyPr>
          <a:lstStyle/>
          <a:p>
            <a:r>
              <a:rPr lang="en-US" sz="3600" b="0" i="0" dirty="0">
                <a:effectLst/>
                <a:latin typeface="Inter"/>
              </a:rPr>
              <a:t>What are Expert Systems?</a:t>
            </a:r>
            <a:br>
              <a:rPr lang="en-US" sz="3600" b="0" i="0" dirty="0">
                <a:effectLst/>
                <a:latin typeface="Inter"/>
              </a:rPr>
            </a:br>
            <a:endParaRPr lang="en-US" sz="3600" b="1" dirty="0"/>
          </a:p>
        </p:txBody>
      </p:sp>
      <p:cxnSp>
        <p:nvCxnSpPr>
          <p:cNvPr id="28" name="Straight Connector 27">
            <a:extLst>
              <a:ext uri="{FF2B5EF4-FFF2-40B4-BE49-F238E27FC236}">
                <a16:creationId xmlns:a16="http://schemas.microsoft.com/office/drawing/2014/main" id="{9F09C252-16FE-4557-AD6D-BB5CA77349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42053" y="1570271"/>
            <a:ext cx="0" cy="3200400"/>
          </a:xfrm>
          <a:prstGeom prst="line">
            <a:avLst/>
          </a:prstGeom>
          <a:ln w="31750">
            <a:solidFill>
              <a:schemeClr val="accent2"/>
            </a:solidFill>
            <a:miter lim="800000"/>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48BB20D5-D446-D38B-532A-04876BA84C3B}"/>
              </a:ext>
            </a:extLst>
          </p:cNvPr>
          <p:cNvSpPr>
            <a:spLocks noGrp="1"/>
          </p:cNvSpPr>
          <p:nvPr>
            <p:ph idx="1"/>
          </p:nvPr>
        </p:nvSpPr>
        <p:spPr>
          <a:xfrm>
            <a:off x="4273425" y="643466"/>
            <a:ext cx="6973568" cy="5225628"/>
          </a:xfrm>
        </p:spPr>
        <p:txBody>
          <a:bodyPr anchor="ctr">
            <a:normAutofit/>
          </a:bodyPr>
          <a:lstStyle/>
          <a:p>
            <a:pPr algn="ctr"/>
            <a:r>
              <a:rPr lang="en-US" sz="3200" dirty="0"/>
              <a:t>An </a:t>
            </a:r>
            <a:r>
              <a:rPr lang="en-US" sz="3200" b="1" dirty="0"/>
              <a:t>expert system</a:t>
            </a:r>
            <a:r>
              <a:rPr lang="en-US" sz="3200" dirty="0"/>
              <a:t> is a type of computer program that acts like a human expert. It is designed to solve complex problems and make decisions, just like a person who is highly skilled in a certain field.</a:t>
            </a:r>
          </a:p>
        </p:txBody>
      </p:sp>
      <p:sp>
        <p:nvSpPr>
          <p:cNvPr id="29" name="Rectangle 28">
            <a:extLst>
              <a:ext uri="{FF2B5EF4-FFF2-40B4-BE49-F238E27FC236}">
                <a16:creationId xmlns:a16="http://schemas.microsoft.com/office/drawing/2014/main" id="{4C15B19B-E7BB-4060-B12F-3CDA8EF16A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336792"/>
            <a:ext cx="12188825" cy="521208"/>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1376847"/>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FD01C2-55B3-5D3B-960D-A26D9216FB57}"/>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11A978AA-7672-42C4-B5ED-55539D564D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B938393-3C03-4A4C-9BEF-927DC23665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38656"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6" name="Rectangle 15">
            <a:extLst>
              <a:ext uri="{FF2B5EF4-FFF2-40B4-BE49-F238E27FC236}">
                <a16:creationId xmlns:a16="http://schemas.microsoft.com/office/drawing/2014/main" id="{A092A857-B226-45FB-955B-CBB2C1B53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8656" y="0"/>
            <a:ext cx="3215640" cy="6858000"/>
          </a:xfrm>
          <a:prstGeom prst="rect">
            <a:avLst/>
          </a:prstGeom>
          <a:solidFill>
            <a:schemeClr val="bg2">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2A83D4-3C24-A56A-B66D-D4792AFFB688}"/>
              </a:ext>
            </a:extLst>
          </p:cNvPr>
          <p:cNvSpPr>
            <a:spLocks noGrp="1"/>
          </p:cNvSpPr>
          <p:nvPr>
            <p:ph type="title"/>
          </p:nvPr>
        </p:nvSpPr>
        <p:spPr>
          <a:xfrm>
            <a:off x="1776173" y="1608667"/>
            <a:ext cx="2556390" cy="4491015"/>
          </a:xfrm>
        </p:spPr>
        <p:txBody>
          <a:bodyPr anchor="t">
            <a:normAutofit/>
          </a:bodyPr>
          <a:lstStyle/>
          <a:p>
            <a:pPr algn="ctr"/>
            <a:r>
              <a:rPr lang="en-US" sz="4400" b="0" i="0" dirty="0">
                <a:solidFill>
                  <a:srgbClr val="FFFFFF"/>
                </a:solidFill>
                <a:effectLst/>
                <a:latin typeface="Inter"/>
              </a:rPr>
              <a:t>Key Features</a:t>
            </a:r>
            <a:br>
              <a:rPr lang="en-US" sz="4400" b="0" i="0" dirty="0">
                <a:solidFill>
                  <a:srgbClr val="FFFFFF"/>
                </a:solidFill>
                <a:effectLst/>
                <a:latin typeface="Inter"/>
              </a:rPr>
            </a:br>
            <a:endParaRPr lang="en-US" sz="4400" b="1" dirty="0">
              <a:solidFill>
                <a:srgbClr val="FFFFFF"/>
              </a:solidFill>
            </a:endParaRPr>
          </a:p>
        </p:txBody>
      </p:sp>
      <p:sp>
        <p:nvSpPr>
          <p:cNvPr id="3" name="Content Placeholder 2">
            <a:extLst>
              <a:ext uri="{FF2B5EF4-FFF2-40B4-BE49-F238E27FC236}">
                <a16:creationId xmlns:a16="http://schemas.microsoft.com/office/drawing/2014/main" id="{27FD7543-C944-2418-8613-9E09318FA463}"/>
              </a:ext>
            </a:extLst>
          </p:cNvPr>
          <p:cNvSpPr>
            <a:spLocks noGrp="1"/>
          </p:cNvSpPr>
          <p:nvPr>
            <p:ph idx="1"/>
          </p:nvPr>
        </p:nvSpPr>
        <p:spPr>
          <a:xfrm>
            <a:off x="4926498" y="549010"/>
            <a:ext cx="6811412" cy="5954427"/>
          </a:xfrm>
        </p:spPr>
        <p:txBody>
          <a:bodyPr>
            <a:normAutofit/>
          </a:bodyPr>
          <a:lstStyle/>
          <a:p>
            <a:pPr>
              <a:buFont typeface="Wingdings" panose="05000000000000000000" pitchFamily="2" charset="2"/>
              <a:buChar char="q"/>
            </a:pPr>
            <a:r>
              <a:rPr lang="en-US" sz="2400" b="0" i="0" dirty="0">
                <a:solidFill>
                  <a:srgbClr val="FFFFFF"/>
                </a:solidFill>
                <a:effectLst/>
                <a:latin typeface="Inter"/>
              </a:rPr>
              <a:t> </a:t>
            </a:r>
            <a:r>
              <a:rPr lang="en-US" sz="2800" b="0" i="0" dirty="0">
                <a:solidFill>
                  <a:srgbClr val="FFFFFF"/>
                </a:solidFill>
                <a:effectLst/>
                <a:latin typeface="Inter"/>
              </a:rPr>
              <a:t>Expert systems are the most mature and widely used commercial field of Artificial Intelligence.</a:t>
            </a:r>
          </a:p>
          <a:p>
            <a:pPr>
              <a:buFont typeface="Wingdings" panose="05000000000000000000" pitchFamily="2" charset="2"/>
              <a:buChar char="q"/>
            </a:pPr>
            <a:r>
              <a:rPr lang="en-US" sz="2800" dirty="0">
                <a:solidFill>
                  <a:srgbClr val="FFFFFF"/>
                </a:solidFill>
                <a:latin typeface="Inter"/>
              </a:rPr>
              <a:t>Expert systems are systems that </a:t>
            </a:r>
            <a:r>
              <a:rPr lang="en-US" sz="2800" b="1" dirty="0">
                <a:solidFill>
                  <a:srgbClr val="FFFFFF"/>
                </a:solidFill>
                <a:latin typeface="Inter"/>
              </a:rPr>
              <a:t>employ a codification</a:t>
            </a:r>
            <a:r>
              <a:rPr lang="en-US" sz="2800" dirty="0">
                <a:solidFill>
                  <a:srgbClr val="FFFFFF"/>
                </a:solidFill>
                <a:latin typeface="Inter"/>
              </a:rPr>
              <a:t> of human expertise </a:t>
            </a:r>
            <a:r>
              <a:rPr lang="en-US" sz="2800" b="1" dirty="0">
                <a:solidFill>
                  <a:srgbClr val="FFFFFF"/>
                </a:solidFill>
                <a:latin typeface="Inter"/>
              </a:rPr>
              <a:t>to solve problems </a:t>
            </a:r>
          </a:p>
          <a:p>
            <a:pPr>
              <a:buFont typeface="Wingdings" panose="05000000000000000000" pitchFamily="2" charset="2"/>
              <a:buChar char="q"/>
            </a:pPr>
            <a:r>
              <a:rPr lang="en-US" sz="2800" b="0" i="0" dirty="0">
                <a:solidFill>
                  <a:srgbClr val="FFFFFF"/>
                </a:solidFill>
                <a:effectLst/>
                <a:latin typeface="Inter"/>
              </a:rPr>
              <a:t>Expert systems are a branch of AI designed </a:t>
            </a:r>
            <a:r>
              <a:rPr lang="en-US" sz="2800" b="1" i="0" dirty="0">
                <a:solidFill>
                  <a:srgbClr val="FFFFFF"/>
                </a:solidFill>
                <a:effectLst/>
                <a:latin typeface="Inter"/>
              </a:rPr>
              <a:t>to emulate the decision-making capabilities of human experts</a:t>
            </a:r>
            <a:r>
              <a:rPr lang="en-US" sz="2800" b="0" i="0" dirty="0">
                <a:solidFill>
                  <a:srgbClr val="FFFFFF"/>
                </a:solidFill>
                <a:effectLst/>
                <a:latin typeface="Inter"/>
              </a:rPr>
              <a:t>.</a:t>
            </a:r>
          </a:p>
          <a:p>
            <a:pPr>
              <a:buFont typeface="Wingdings" panose="05000000000000000000" pitchFamily="2" charset="2"/>
              <a:buChar char="q"/>
            </a:pPr>
            <a:r>
              <a:rPr lang="en-US" sz="2800" dirty="0">
                <a:solidFill>
                  <a:srgbClr val="FFFFFF"/>
                </a:solidFill>
                <a:latin typeface="Inter"/>
              </a:rPr>
              <a:t>It solves the most complex issues as an expert by extracting the knowledge stored in its knowledge base. </a:t>
            </a:r>
          </a:p>
        </p:txBody>
      </p:sp>
    </p:spTree>
    <p:extLst>
      <p:ext uri="{BB962C8B-B14F-4D97-AF65-F5344CB8AC3E}">
        <p14:creationId xmlns:p14="http://schemas.microsoft.com/office/powerpoint/2010/main" val="48801297"/>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1AB5E6-CFB9-961B-1613-7A99EBD1B491}"/>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6746A2E0-46A1-6040-A844-251060944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D0B302D-0631-759D-B99D-40792B661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38656" cy="6858000"/>
          </a:xfrm>
          <a:prstGeom prst="rect">
            <a:avLst/>
          </a:prstGeom>
          <a:solidFill>
            <a:schemeClr val="bg2">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16" name="Rectangle 15">
            <a:extLst>
              <a:ext uri="{FF2B5EF4-FFF2-40B4-BE49-F238E27FC236}">
                <a16:creationId xmlns:a16="http://schemas.microsoft.com/office/drawing/2014/main" id="{095CED17-79A9-CB47-E076-BCC4865EB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38656" y="0"/>
            <a:ext cx="3215640" cy="6858000"/>
          </a:xfrm>
          <a:prstGeom prst="rect">
            <a:avLst/>
          </a:prstGeom>
          <a:solidFill>
            <a:schemeClr val="bg2">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CC6998-C96A-D14C-138D-FFC64093CF77}"/>
              </a:ext>
            </a:extLst>
          </p:cNvPr>
          <p:cNvSpPr>
            <a:spLocks noGrp="1"/>
          </p:cNvSpPr>
          <p:nvPr>
            <p:ph type="title"/>
          </p:nvPr>
        </p:nvSpPr>
        <p:spPr>
          <a:xfrm>
            <a:off x="1776173" y="1608667"/>
            <a:ext cx="2556390" cy="4491015"/>
          </a:xfrm>
        </p:spPr>
        <p:txBody>
          <a:bodyPr anchor="t">
            <a:normAutofit/>
          </a:bodyPr>
          <a:lstStyle/>
          <a:p>
            <a:pPr algn="ctr"/>
            <a:r>
              <a:rPr lang="en-US" sz="4400" b="0" i="0" dirty="0">
                <a:solidFill>
                  <a:srgbClr val="FFFFFF"/>
                </a:solidFill>
                <a:effectLst/>
                <a:latin typeface="Inter"/>
              </a:rPr>
              <a:t>Key Features</a:t>
            </a:r>
            <a:br>
              <a:rPr lang="en-US" sz="4400" b="0" i="0" dirty="0">
                <a:solidFill>
                  <a:srgbClr val="FFFFFF"/>
                </a:solidFill>
                <a:effectLst/>
                <a:latin typeface="Inter"/>
              </a:rPr>
            </a:br>
            <a:endParaRPr lang="en-US" sz="4400" b="1" dirty="0">
              <a:solidFill>
                <a:srgbClr val="FFFFFF"/>
              </a:solidFill>
            </a:endParaRPr>
          </a:p>
        </p:txBody>
      </p:sp>
      <p:sp>
        <p:nvSpPr>
          <p:cNvPr id="3" name="Content Placeholder 2">
            <a:extLst>
              <a:ext uri="{FF2B5EF4-FFF2-40B4-BE49-F238E27FC236}">
                <a16:creationId xmlns:a16="http://schemas.microsoft.com/office/drawing/2014/main" id="{1E027AB9-752F-5076-708C-6EA87DB40F3E}"/>
              </a:ext>
            </a:extLst>
          </p:cNvPr>
          <p:cNvSpPr>
            <a:spLocks noGrp="1"/>
          </p:cNvSpPr>
          <p:nvPr>
            <p:ph idx="1"/>
          </p:nvPr>
        </p:nvSpPr>
        <p:spPr>
          <a:xfrm>
            <a:off x="4926498" y="549010"/>
            <a:ext cx="6811412" cy="5954427"/>
          </a:xfrm>
        </p:spPr>
        <p:txBody>
          <a:bodyPr>
            <a:normAutofit/>
          </a:bodyPr>
          <a:lstStyle/>
          <a:p>
            <a:pPr>
              <a:buFont typeface="Wingdings" panose="05000000000000000000" pitchFamily="2" charset="2"/>
              <a:buChar char="q"/>
            </a:pPr>
            <a:r>
              <a:rPr lang="en-US" sz="2800" b="0" i="0" dirty="0">
                <a:solidFill>
                  <a:srgbClr val="FFFFFF"/>
                </a:solidFill>
                <a:effectLst/>
                <a:latin typeface="Inter"/>
              </a:rPr>
              <a:t>Expert systems are built for specific areas (called domains) like medicine, science, or engineering.</a:t>
            </a:r>
          </a:p>
          <a:p>
            <a:pPr>
              <a:buFont typeface="Wingdings" panose="05000000000000000000" pitchFamily="2" charset="2"/>
              <a:buChar char="q"/>
            </a:pPr>
            <a:r>
              <a:rPr lang="en-US" sz="2800" b="0" i="0" dirty="0">
                <a:solidFill>
                  <a:srgbClr val="FFFFFF"/>
                </a:solidFill>
                <a:effectLst/>
                <a:latin typeface="Inter"/>
              </a:rPr>
              <a:t>The more knowledge the system has, the better and smarter it becomes.</a:t>
            </a:r>
          </a:p>
          <a:p>
            <a:pPr>
              <a:buFont typeface="Wingdings" panose="05000000000000000000" pitchFamily="2" charset="2"/>
              <a:buChar char="q"/>
            </a:pPr>
            <a:r>
              <a:rPr lang="en-US" sz="2800" b="0" i="0" dirty="0">
                <a:solidFill>
                  <a:srgbClr val="FFFFFF"/>
                </a:solidFill>
                <a:effectLst/>
                <a:latin typeface="Inter"/>
              </a:rPr>
              <a:t>It uses both facts and experience-based rules (heuristics) to make decisions like a human expert.</a:t>
            </a:r>
            <a:endParaRPr lang="en-US" sz="3200" dirty="0">
              <a:solidFill>
                <a:srgbClr val="FFFFFF"/>
              </a:solidFill>
              <a:latin typeface="Inter"/>
            </a:endParaRPr>
          </a:p>
        </p:txBody>
      </p:sp>
      <p:sp>
        <p:nvSpPr>
          <p:cNvPr id="5" name="TextBox 4">
            <a:extLst>
              <a:ext uri="{FF2B5EF4-FFF2-40B4-BE49-F238E27FC236}">
                <a16:creationId xmlns:a16="http://schemas.microsoft.com/office/drawing/2014/main" id="{5FB061BD-8D36-DE1F-E14B-84F863C7D4AF}"/>
              </a:ext>
            </a:extLst>
          </p:cNvPr>
          <p:cNvSpPr txBox="1"/>
          <p:nvPr/>
        </p:nvSpPr>
        <p:spPr>
          <a:xfrm>
            <a:off x="2087242" y="4526058"/>
            <a:ext cx="2245321" cy="1446550"/>
          </a:xfrm>
          <a:prstGeom prst="rect">
            <a:avLst/>
          </a:prstGeom>
          <a:noFill/>
        </p:spPr>
        <p:txBody>
          <a:bodyPr wrap="square">
            <a:spAutoFit/>
          </a:bodyPr>
          <a:lstStyle/>
          <a:p>
            <a:r>
              <a:rPr lang="en-US" sz="4400" spc="-50" dirty="0">
                <a:solidFill>
                  <a:srgbClr val="FFFFFF"/>
                </a:solidFill>
                <a:latin typeface="Inter"/>
                <a:ea typeface="+mj-ea"/>
                <a:cs typeface="+mj-cs"/>
              </a:rPr>
              <a:t>Real-life Example</a:t>
            </a:r>
          </a:p>
        </p:txBody>
      </p:sp>
      <p:sp>
        <p:nvSpPr>
          <p:cNvPr id="7" name="TextBox 6">
            <a:extLst>
              <a:ext uri="{FF2B5EF4-FFF2-40B4-BE49-F238E27FC236}">
                <a16:creationId xmlns:a16="http://schemas.microsoft.com/office/drawing/2014/main" id="{E47ED2C6-20B9-11F3-92D3-B6E803A01D2E}"/>
              </a:ext>
            </a:extLst>
          </p:cNvPr>
          <p:cNvSpPr txBox="1"/>
          <p:nvPr/>
        </p:nvSpPr>
        <p:spPr>
          <a:xfrm>
            <a:off x="5120175" y="4369998"/>
            <a:ext cx="6097554" cy="1938992"/>
          </a:xfrm>
          <a:prstGeom prst="rect">
            <a:avLst/>
          </a:prstGeom>
          <a:noFill/>
        </p:spPr>
        <p:txBody>
          <a:bodyPr wrap="square">
            <a:spAutoFit/>
          </a:bodyPr>
          <a:lstStyle/>
          <a:p>
            <a:pPr algn="just"/>
            <a:r>
              <a:rPr lang="en-US" sz="2400" dirty="0"/>
              <a:t>A simple example is when you type in the Google search box, and it suggests the correct spelling – that’s an expert system helping you based on its knowledge of common typing errors.</a:t>
            </a:r>
          </a:p>
        </p:txBody>
      </p:sp>
    </p:spTree>
    <p:extLst>
      <p:ext uri="{BB962C8B-B14F-4D97-AF65-F5344CB8AC3E}">
        <p14:creationId xmlns:p14="http://schemas.microsoft.com/office/powerpoint/2010/main" val="2876070064"/>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9E773-8827-F22D-73A2-2BDADDD788EC}"/>
              </a:ext>
            </a:extLst>
          </p:cNvPr>
          <p:cNvSpPr txBox="1">
            <a:spLocks noGrp="1"/>
          </p:cNvSpPr>
          <p:nvPr>
            <p:ph type="title"/>
          </p:nvPr>
        </p:nvSpPr>
        <p:spPr/>
        <p:txBody>
          <a:bodyPr/>
          <a:lstStyle/>
          <a:p>
            <a:endParaRPr lang="en-US"/>
          </a:p>
        </p:txBody>
      </p:sp>
      <p:pic>
        <p:nvPicPr>
          <p:cNvPr id="3" name="Content Placeholder 4">
            <a:extLst>
              <a:ext uri="{FF2B5EF4-FFF2-40B4-BE49-F238E27FC236}">
                <a16:creationId xmlns:a16="http://schemas.microsoft.com/office/drawing/2014/main" id="{CC0609C5-6976-9D67-C4A7-A776A26CC901}"/>
              </a:ext>
            </a:extLst>
          </p:cNvPr>
          <p:cNvPicPr>
            <a:picLocks noGrp="1" noChangeAspect="1"/>
          </p:cNvPicPr>
          <p:nvPr>
            <p:ph idx="1"/>
          </p:nvPr>
        </p:nvPicPr>
        <p:blipFill>
          <a:blip r:embed="rId3"/>
          <a:stretch>
            <a:fillRect/>
          </a:stretch>
        </p:blipFill>
        <p:spPr>
          <a:xfrm>
            <a:off x="700969" y="365129"/>
            <a:ext cx="10790057" cy="5170822"/>
          </a:xfrm>
        </p:spPr>
      </p:pic>
      <p:pic>
        <p:nvPicPr>
          <p:cNvPr id="4" name="Picture 6">
            <a:extLst>
              <a:ext uri="{FF2B5EF4-FFF2-40B4-BE49-F238E27FC236}">
                <a16:creationId xmlns:a16="http://schemas.microsoft.com/office/drawing/2014/main" id="{234C29E7-33A3-7B61-C2DB-1D63EDEC749B}"/>
              </a:ext>
            </a:extLst>
          </p:cNvPr>
          <p:cNvPicPr>
            <a:picLocks noChangeAspect="1"/>
          </p:cNvPicPr>
          <p:nvPr/>
        </p:nvPicPr>
        <p:blipFill>
          <a:blip r:embed="rId4"/>
          <a:stretch>
            <a:fillRect/>
          </a:stretch>
        </p:blipFill>
        <p:spPr>
          <a:xfrm>
            <a:off x="977585" y="5351608"/>
            <a:ext cx="10236826" cy="1325559"/>
          </a:xfrm>
          <a:prstGeom prst="rect">
            <a:avLst/>
          </a:prstGeom>
          <a:noFill/>
          <a:ln cap="flat">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C1D3B-2B92-AB5A-2FE2-4F76362DCCC9}"/>
              </a:ext>
            </a:extLst>
          </p:cNvPr>
          <p:cNvSpPr txBox="1">
            <a:spLocks noGrp="1"/>
          </p:cNvSpPr>
          <p:nvPr>
            <p:ph type="title"/>
          </p:nvPr>
        </p:nvSpPr>
        <p:spPr/>
        <p:txBody>
          <a:bodyPr/>
          <a:lstStyle/>
          <a:p>
            <a:pPr lvl="0"/>
            <a:r>
              <a:rPr lang="en-GB"/>
              <a:t>Characteristics of Expert System</a:t>
            </a:r>
          </a:p>
        </p:txBody>
      </p:sp>
      <p:graphicFrame>
        <p:nvGraphicFramePr>
          <p:cNvPr id="9" name="Content Placeholder 2">
            <a:extLst>
              <a:ext uri="{FF2B5EF4-FFF2-40B4-BE49-F238E27FC236}">
                <a16:creationId xmlns:a16="http://schemas.microsoft.com/office/drawing/2014/main" id="{93F3DB9A-0595-7204-3970-B8EC0386518D}"/>
              </a:ext>
            </a:extLst>
          </p:cNvPr>
          <p:cNvGraphicFramePr>
            <a:graphicFrameLocks noGrp="1"/>
          </p:cNvGraphicFramePr>
          <p:nvPr>
            <p:ph idx="1"/>
          </p:nvPr>
        </p:nvGraphicFramePr>
        <p:xfrm>
          <a:off x="1097280" y="1845734"/>
          <a:ext cx="10058400"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2579DAE-C141-48DB-810E-C070C30081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02FD90C3-6350-4D5B-9738-6E94EDF30F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 name="Content Placeholder 4" descr="A screenshot of a computer&#10;&#10;AI-generated content may be incorrect.">
            <a:extLst>
              <a:ext uri="{FF2B5EF4-FFF2-40B4-BE49-F238E27FC236}">
                <a16:creationId xmlns:a16="http://schemas.microsoft.com/office/drawing/2014/main" id="{5F7251FE-A2AE-66F8-44DB-A36C08F2066E}"/>
              </a:ext>
            </a:extLst>
          </p:cNvPr>
          <p:cNvPicPr>
            <a:picLocks noGrp="1" noChangeAspect="1"/>
          </p:cNvPicPr>
          <p:nvPr>
            <p:ph idx="1"/>
          </p:nvPr>
        </p:nvPicPr>
        <p:blipFill>
          <a:blip r:embed="rId2"/>
          <a:stretch>
            <a:fillRect/>
          </a:stretch>
        </p:blipFill>
        <p:spPr>
          <a:xfrm>
            <a:off x="694691" y="643467"/>
            <a:ext cx="10802618" cy="5688373"/>
          </a:xfrm>
          <a:prstGeom prst="rect">
            <a:avLst/>
          </a:prstGeom>
        </p:spPr>
      </p:pic>
    </p:spTree>
    <p:extLst>
      <p:ext uri="{BB962C8B-B14F-4D97-AF65-F5344CB8AC3E}">
        <p14:creationId xmlns:p14="http://schemas.microsoft.com/office/powerpoint/2010/main" val="117444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980B-AA6D-44A8-BE6C-3EC762C04CC3}"/>
              </a:ext>
            </a:extLst>
          </p:cNvPr>
          <p:cNvSpPr txBox="1">
            <a:spLocks noGrp="1"/>
          </p:cNvSpPr>
          <p:nvPr>
            <p:ph type="title"/>
          </p:nvPr>
        </p:nvSpPr>
        <p:spPr/>
        <p:txBody>
          <a:bodyPr/>
          <a:lstStyle/>
          <a:p>
            <a:pPr lvl="0"/>
            <a:r>
              <a:rPr lang="en-GB" dirty="0"/>
              <a:t>Components of Expert System</a:t>
            </a:r>
          </a:p>
        </p:txBody>
      </p:sp>
      <p:sp>
        <p:nvSpPr>
          <p:cNvPr id="3" name="Content Placeholder 2">
            <a:extLst>
              <a:ext uri="{FF2B5EF4-FFF2-40B4-BE49-F238E27FC236}">
                <a16:creationId xmlns:a16="http://schemas.microsoft.com/office/drawing/2014/main" id="{29316865-B43F-A4E7-2470-8F9E7829DFCA}"/>
              </a:ext>
            </a:extLst>
          </p:cNvPr>
          <p:cNvSpPr txBox="1">
            <a:spLocks noGrp="1"/>
          </p:cNvSpPr>
          <p:nvPr>
            <p:ph idx="1"/>
          </p:nvPr>
        </p:nvSpPr>
        <p:spPr/>
        <p:txBody>
          <a:bodyPr/>
          <a:lstStyle/>
          <a:p>
            <a:pPr marL="0" lvl="0" indent="0" algn="just">
              <a:buNone/>
            </a:pPr>
            <a:r>
              <a:rPr lang="en-GB" dirty="0">
                <a:solidFill>
                  <a:srgbClr val="333333"/>
                </a:solidFill>
                <a:latin typeface="inter-regular"/>
              </a:rPr>
              <a:t>An expert system mainly consists of three components:</a:t>
            </a:r>
          </a:p>
          <a:p>
            <a:pPr lvl="1" algn="just"/>
            <a:r>
              <a:rPr lang="en-GB" sz="2800" b="1" dirty="0">
                <a:latin typeface="inter-bold"/>
              </a:rPr>
              <a:t>User Interface</a:t>
            </a:r>
            <a:endParaRPr lang="en-GB" sz="2800" dirty="0">
              <a:latin typeface="inter-regular"/>
            </a:endParaRPr>
          </a:p>
          <a:p>
            <a:pPr lvl="1" algn="just"/>
            <a:r>
              <a:rPr lang="en-GB" sz="2800" b="1" dirty="0">
                <a:latin typeface="inter-bold"/>
              </a:rPr>
              <a:t>Inference Engine</a:t>
            </a:r>
            <a:endParaRPr lang="en-GB" sz="2800" dirty="0">
              <a:latin typeface="inter-regular"/>
            </a:endParaRPr>
          </a:p>
          <a:p>
            <a:pPr lvl="1" algn="just"/>
            <a:r>
              <a:rPr lang="en-GB" sz="2800" b="1" dirty="0">
                <a:latin typeface="inter-bold"/>
              </a:rPr>
              <a:t>Knowledge Base</a:t>
            </a:r>
            <a:endParaRPr lang="en-GB" sz="2800" dirty="0">
              <a:latin typeface="inter-regular"/>
            </a:endParaRPr>
          </a:p>
          <a:p>
            <a:pPr lvl="0"/>
            <a:endParaRPr lang="en-GB" dirty="0"/>
          </a:p>
        </p:txBody>
      </p:sp>
      <p:pic>
        <p:nvPicPr>
          <p:cNvPr id="4" name="Picture 4">
            <a:extLst>
              <a:ext uri="{FF2B5EF4-FFF2-40B4-BE49-F238E27FC236}">
                <a16:creationId xmlns:a16="http://schemas.microsoft.com/office/drawing/2014/main" id="{28DE325F-45D2-083A-C7F5-CF07BE6EC065}"/>
              </a:ext>
            </a:extLst>
          </p:cNvPr>
          <p:cNvPicPr>
            <a:picLocks noChangeAspect="1"/>
          </p:cNvPicPr>
          <p:nvPr/>
        </p:nvPicPr>
        <p:blipFill>
          <a:blip r:embed="rId2"/>
          <a:stretch>
            <a:fillRect/>
          </a:stretch>
        </p:blipFill>
        <p:spPr>
          <a:xfrm>
            <a:off x="4683511" y="2227633"/>
            <a:ext cx="6989310" cy="4529223"/>
          </a:xfrm>
          <a:prstGeom prst="rect">
            <a:avLst/>
          </a:prstGeom>
          <a:noFill/>
          <a:ln cap="flat">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346BF-DB18-6FB0-50B2-749AD33C07E4}"/>
              </a:ext>
            </a:extLst>
          </p:cNvPr>
          <p:cNvSpPr txBox="1">
            <a:spLocks noGrp="1"/>
          </p:cNvSpPr>
          <p:nvPr>
            <p:ph type="title"/>
          </p:nvPr>
        </p:nvSpPr>
        <p:spPr/>
        <p:txBody>
          <a:bodyPr/>
          <a:lstStyle/>
          <a:p>
            <a:pPr lvl="0"/>
            <a:r>
              <a:rPr lang="en-GB" dirty="0">
                <a:solidFill>
                  <a:srgbClr val="610B4B"/>
                </a:solidFill>
                <a:latin typeface="erdana"/>
              </a:rPr>
              <a:t>1. User Interface</a:t>
            </a:r>
            <a:endParaRPr lang="en-GB" dirty="0"/>
          </a:p>
        </p:txBody>
      </p:sp>
      <p:sp>
        <p:nvSpPr>
          <p:cNvPr id="3" name="Content Placeholder 2">
            <a:extLst>
              <a:ext uri="{FF2B5EF4-FFF2-40B4-BE49-F238E27FC236}">
                <a16:creationId xmlns:a16="http://schemas.microsoft.com/office/drawing/2014/main" id="{157BC80F-4269-2947-230E-C6E6491DC351}"/>
              </a:ext>
            </a:extLst>
          </p:cNvPr>
          <p:cNvSpPr txBox="1">
            <a:spLocks noGrp="1"/>
          </p:cNvSpPr>
          <p:nvPr>
            <p:ph idx="1"/>
          </p:nvPr>
        </p:nvSpPr>
        <p:spPr/>
        <p:txBody>
          <a:bodyPr/>
          <a:lstStyle/>
          <a:p>
            <a:pPr lvl="0" algn="just"/>
            <a:r>
              <a:rPr lang="en-GB" sz="2800" dirty="0">
                <a:solidFill>
                  <a:srgbClr val="333333"/>
                </a:solidFill>
                <a:latin typeface="inter-regular"/>
              </a:rPr>
              <a:t>With the help of a user interface</a:t>
            </a:r>
          </a:p>
          <a:p>
            <a:pPr lvl="1" algn="just"/>
            <a:r>
              <a:rPr lang="en-GB" sz="2400" dirty="0">
                <a:solidFill>
                  <a:srgbClr val="333333"/>
                </a:solidFill>
                <a:latin typeface="inter-regular"/>
              </a:rPr>
              <a:t>the expert system interacts with the user</a:t>
            </a:r>
          </a:p>
          <a:p>
            <a:pPr lvl="1" algn="just"/>
            <a:r>
              <a:rPr lang="en-GB" sz="2400" dirty="0">
                <a:solidFill>
                  <a:srgbClr val="333333"/>
                </a:solidFill>
                <a:latin typeface="inter-regular"/>
              </a:rPr>
              <a:t>takes queries as an input in a readable format, and </a:t>
            </a:r>
          </a:p>
          <a:p>
            <a:pPr lvl="1" algn="just"/>
            <a:r>
              <a:rPr lang="en-GB" sz="2400" dirty="0">
                <a:solidFill>
                  <a:srgbClr val="333333"/>
                </a:solidFill>
                <a:latin typeface="inter-regular"/>
              </a:rPr>
              <a:t>passes it to the inference engine. </a:t>
            </a:r>
          </a:p>
          <a:p>
            <a:pPr marL="457200" lvl="1" indent="0" algn="just">
              <a:buNone/>
            </a:pPr>
            <a:endParaRPr lang="en-GB" sz="2400" dirty="0">
              <a:solidFill>
                <a:srgbClr val="333333"/>
              </a:solidFill>
              <a:latin typeface="inter-regular"/>
            </a:endParaRPr>
          </a:p>
          <a:p>
            <a:pPr marL="457200" lvl="1" indent="0" algn="just">
              <a:buNone/>
            </a:pPr>
            <a:r>
              <a:rPr lang="en-GB" sz="2400" dirty="0">
                <a:solidFill>
                  <a:srgbClr val="333333"/>
                </a:solidFill>
                <a:latin typeface="inter-regular"/>
              </a:rPr>
              <a:t>After getting the response from the inference engine, it displays the output to the user. </a:t>
            </a:r>
          </a:p>
          <a:p>
            <a:pPr marL="457200" lvl="1" indent="0" algn="just">
              <a:buNone/>
            </a:pPr>
            <a:endParaRPr lang="en-GB" sz="2400" dirty="0">
              <a:solidFill>
                <a:srgbClr val="333333"/>
              </a:solidFill>
              <a:latin typeface="inter-regular"/>
            </a:endParaRPr>
          </a:p>
          <a:p>
            <a:pPr marL="457200" lvl="1" indent="0" algn="just">
              <a:buNone/>
            </a:pPr>
            <a:r>
              <a:rPr lang="en-GB" sz="2400" dirty="0">
                <a:solidFill>
                  <a:srgbClr val="333333"/>
                </a:solidFill>
                <a:latin typeface="inter-regular"/>
              </a:rPr>
              <a:t>In other words, </a:t>
            </a:r>
            <a:r>
              <a:rPr lang="en-GB" sz="2400" b="1" dirty="0">
                <a:solidFill>
                  <a:srgbClr val="333333"/>
                </a:solidFill>
                <a:latin typeface="inter-bold"/>
              </a:rPr>
              <a:t>it is an interface that helps a non-expert user to communicate with the expert system to find a solution</a:t>
            </a:r>
            <a:r>
              <a:rPr lang="en-GB" sz="2400" dirty="0">
                <a:solidFill>
                  <a:srgbClr val="333333"/>
                </a:solidFill>
                <a:latin typeface="inter-regular"/>
              </a:rPr>
              <a:t>.</a:t>
            </a:r>
          </a:p>
          <a:p>
            <a:pPr lvl="0"/>
            <a:endParaRPr lang="en-GB"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34155-15AE-5A23-C867-F54B35F2A3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1F85FC-16DA-A39B-BFA9-A322956EA865}"/>
              </a:ext>
            </a:extLst>
          </p:cNvPr>
          <p:cNvSpPr>
            <a:spLocks noGrp="1"/>
          </p:cNvSpPr>
          <p:nvPr>
            <p:ph type="title"/>
          </p:nvPr>
        </p:nvSpPr>
        <p:spPr>
          <a:xfrm>
            <a:off x="1096963" y="706151"/>
            <a:ext cx="10058400" cy="1450757"/>
          </a:xfrm>
        </p:spPr>
        <p:txBody>
          <a:bodyPr>
            <a:normAutofit/>
          </a:bodyPr>
          <a:lstStyle/>
          <a:p>
            <a:r>
              <a:rPr lang="en-GB" dirty="0">
                <a:solidFill>
                  <a:srgbClr val="610B4B"/>
                </a:solidFill>
                <a:latin typeface="erdana"/>
              </a:rPr>
              <a:t>1. User Interface</a:t>
            </a:r>
            <a:br>
              <a:rPr lang="en-US" b="0" i="0" dirty="0">
                <a:effectLst/>
                <a:latin typeface="Inter"/>
              </a:rPr>
            </a:br>
            <a:endParaRPr lang="en-US" dirty="0"/>
          </a:p>
        </p:txBody>
      </p:sp>
      <p:graphicFrame>
        <p:nvGraphicFramePr>
          <p:cNvPr id="6" name="Content Placeholder 2">
            <a:extLst>
              <a:ext uri="{FF2B5EF4-FFF2-40B4-BE49-F238E27FC236}">
                <a16:creationId xmlns:a16="http://schemas.microsoft.com/office/drawing/2014/main" id="{5D172DFE-9E9F-084D-2D1E-8EC90726CD36}"/>
              </a:ext>
            </a:extLst>
          </p:cNvPr>
          <p:cNvGraphicFramePr>
            <a:graphicFrameLocks noGrp="1"/>
          </p:cNvGraphicFramePr>
          <p:nvPr>
            <p:ph idx="1"/>
            <p:extLst>
              <p:ext uri="{D42A27DB-BD31-4B8C-83A1-F6EECF244321}">
                <p14:modId xmlns:p14="http://schemas.microsoft.com/office/powerpoint/2010/main" val="1281692225"/>
              </p:ext>
            </p:extLst>
          </p:nvPr>
        </p:nvGraphicFramePr>
        <p:xfrm>
          <a:off x="1096963" y="1737360"/>
          <a:ext cx="10058400" cy="41472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71255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A9C32-C9E9-DF1F-2821-DD9EE73BA01B}"/>
              </a:ext>
            </a:extLst>
          </p:cNvPr>
          <p:cNvSpPr txBox="1">
            <a:spLocks noGrp="1"/>
          </p:cNvSpPr>
          <p:nvPr>
            <p:ph type="title"/>
          </p:nvPr>
        </p:nvSpPr>
        <p:spPr/>
        <p:txBody>
          <a:bodyPr/>
          <a:lstStyle/>
          <a:p>
            <a:pPr lvl="0"/>
            <a:r>
              <a:rPr lang="en-GB">
                <a:solidFill>
                  <a:srgbClr val="610B4B"/>
                </a:solidFill>
                <a:latin typeface="erdana"/>
              </a:rPr>
              <a:t>2. Inference Engine(Rules of Engine)</a:t>
            </a:r>
            <a:endParaRPr lang="en-GB"/>
          </a:p>
        </p:txBody>
      </p:sp>
      <p:sp>
        <p:nvSpPr>
          <p:cNvPr id="3" name="Content Placeholder 2">
            <a:extLst>
              <a:ext uri="{FF2B5EF4-FFF2-40B4-BE49-F238E27FC236}">
                <a16:creationId xmlns:a16="http://schemas.microsoft.com/office/drawing/2014/main" id="{1F1C9386-8D70-8172-5214-AEBF101E7BF5}"/>
              </a:ext>
            </a:extLst>
          </p:cNvPr>
          <p:cNvSpPr txBox="1">
            <a:spLocks noGrp="1"/>
          </p:cNvSpPr>
          <p:nvPr>
            <p:ph idx="1"/>
          </p:nvPr>
        </p:nvSpPr>
        <p:spPr/>
        <p:txBody>
          <a:bodyPr/>
          <a:lstStyle/>
          <a:p>
            <a:pPr lvl="0" algn="just"/>
            <a:r>
              <a:rPr lang="en-GB" sz="2800" dirty="0">
                <a:latin typeface="inter-regular"/>
              </a:rPr>
              <a:t>The inference engine is known as the brain of the expert system as it is the main processing unit of the system. </a:t>
            </a:r>
          </a:p>
          <a:p>
            <a:pPr lvl="0" algn="just"/>
            <a:r>
              <a:rPr lang="en-GB" sz="2800" dirty="0">
                <a:latin typeface="inter-regular"/>
              </a:rPr>
              <a:t>It applies inference rules to the knowledge base to derive a conclusion or deduce new information. </a:t>
            </a:r>
          </a:p>
          <a:p>
            <a:pPr lvl="0" algn="just"/>
            <a:r>
              <a:rPr lang="en-GB" sz="2800" dirty="0">
                <a:latin typeface="inter-regular"/>
              </a:rPr>
              <a:t>It helps in deriving an error-free solution of queries asked by the user.</a:t>
            </a:r>
          </a:p>
          <a:p>
            <a:pPr lvl="0" algn="just"/>
            <a:r>
              <a:rPr lang="en-GB" sz="2800" dirty="0">
                <a:latin typeface="inter-regular"/>
              </a:rPr>
              <a:t>With the help of an inference engine, the system extracts the knowledge from the knowledge base.</a:t>
            </a:r>
          </a:p>
          <a:p>
            <a:pPr marL="0" lvl="0" indent="0">
              <a:buNone/>
            </a:pPr>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FE84E-266A-0A73-0A82-02FED5C057FC}"/>
              </a:ext>
            </a:extLst>
          </p:cNvPr>
          <p:cNvSpPr txBox="1">
            <a:spLocks noGrp="1"/>
          </p:cNvSpPr>
          <p:nvPr>
            <p:ph type="title"/>
          </p:nvPr>
        </p:nvSpPr>
        <p:spPr/>
        <p:txBody>
          <a:bodyPr/>
          <a:lstStyle/>
          <a:p>
            <a:pPr lvl="0"/>
            <a:r>
              <a:rPr lang="en-GB">
                <a:solidFill>
                  <a:srgbClr val="610B4B"/>
                </a:solidFill>
                <a:latin typeface="erdana"/>
              </a:rPr>
              <a:t>2. Inference Engine(Rules of Engine)</a:t>
            </a:r>
            <a:endParaRPr lang="en-GB"/>
          </a:p>
        </p:txBody>
      </p:sp>
      <p:sp>
        <p:nvSpPr>
          <p:cNvPr id="3" name="Content Placeholder 2">
            <a:extLst>
              <a:ext uri="{FF2B5EF4-FFF2-40B4-BE49-F238E27FC236}">
                <a16:creationId xmlns:a16="http://schemas.microsoft.com/office/drawing/2014/main" id="{6A189F74-6AD6-1876-5897-8575679716EE}"/>
              </a:ext>
            </a:extLst>
          </p:cNvPr>
          <p:cNvSpPr txBox="1">
            <a:spLocks noGrp="1"/>
          </p:cNvSpPr>
          <p:nvPr>
            <p:ph idx="1"/>
          </p:nvPr>
        </p:nvSpPr>
        <p:spPr/>
        <p:txBody>
          <a:bodyPr/>
          <a:lstStyle/>
          <a:p>
            <a:pPr lvl="0" algn="just"/>
            <a:r>
              <a:rPr lang="en-GB" sz="2800" dirty="0">
                <a:latin typeface="inter-regular"/>
              </a:rPr>
              <a:t>There are two types of inference engine:</a:t>
            </a:r>
          </a:p>
          <a:p>
            <a:pPr lvl="0" algn="just"/>
            <a:endParaRPr lang="en-GB" sz="2800" dirty="0">
              <a:latin typeface="inter-regular"/>
            </a:endParaRPr>
          </a:p>
          <a:p>
            <a:pPr lvl="0" algn="just"/>
            <a:r>
              <a:rPr lang="en-GB" sz="2800" b="1" dirty="0">
                <a:latin typeface="inter-bold"/>
              </a:rPr>
              <a:t>Deterministic Inference engine:</a:t>
            </a:r>
            <a:r>
              <a:rPr lang="en-GB" sz="2800" dirty="0">
                <a:latin typeface="inter-regular"/>
              </a:rPr>
              <a:t> The conclusions drawn from this type of inference engine are </a:t>
            </a:r>
            <a:r>
              <a:rPr lang="en-GB" sz="2800" b="1" dirty="0">
                <a:latin typeface="inter-regular"/>
              </a:rPr>
              <a:t>assumed to be true. </a:t>
            </a:r>
            <a:r>
              <a:rPr lang="en-GB" sz="2800" dirty="0">
                <a:latin typeface="inter-regular"/>
              </a:rPr>
              <a:t>It is based on </a:t>
            </a:r>
            <a:r>
              <a:rPr lang="en-GB" sz="2800" b="1" dirty="0">
                <a:latin typeface="inter-bold"/>
              </a:rPr>
              <a:t>facts</a:t>
            </a:r>
            <a:r>
              <a:rPr lang="en-GB" sz="2800" dirty="0">
                <a:latin typeface="inter-regular"/>
              </a:rPr>
              <a:t> and </a:t>
            </a:r>
            <a:r>
              <a:rPr lang="en-GB" sz="2800" b="1" dirty="0">
                <a:latin typeface="inter-bold"/>
              </a:rPr>
              <a:t>rules</a:t>
            </a:r>
            <a:r>
              <a:rPr lang="en-GB" sz="2800" dirty="0">
                <a:latin typeface="inter-regular"/>
              </a:rPr>
              <a:t>.</a:t>
            </a:r>
          </a:p>
          <a:p>
            <a:pPr lvl="0" algn="just"/>
            <a:endParaRPr lang="en-GB" sz="2800" dirty="0">
              <a:latin typeface="inter-regular"/>
            </a:endParaRPr>
          </a:p>
          <a:p>
            <a:pPr lvl="0" algn="just"/>
            <a:r>
              <a:rPr lang="en-GB" sz="2800" b="1" dirty="0">
                <a:latin typeface="inter-bold"/>
              </a:rPr>
              <a:t>Probabilistic Inference engine:</a:t>
            </a:r>
            <a:r>
              <a:rPr lang="en-GB" sz="2800" dirty="0">
                <a:latin typeface="inter-regular"/>
              </a:rPr>
              <a:t> This type of inference engine </a:t>
            </a:r>
            <a:r>
              <a:rPr lang="en-GB" sz="2800" b="1" dirty="0">
                <a:latin typeface="inter-regular"/>
              </a:rPr>
              <a:t>contains uncertainty </a:t>
            </a:r>
            <a:r>
              <a:rPr lang="en-GB" sz="2800" dirty="0">
                <a:latin typeface="inter-regular"/>
              </a:rPr>
              <a:t>in conclusions, and based on the probability.</a:t>
            </a:r>
          </a:p>
          <a:p>
            <a:pPr marL="0" lvl="0" indent="0">
              <a:buNone/>
            </a:pPr>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8DD43-0469-B0C4-5CA7-5AC626FC8014}"/>
              </a:ext>
            </a:extLst>
          </p:cNvPr>
          <p:cNvSpPr txBox="1">
            <a:spLocks noGrp="1"/>
          </p:cNvSpPr>
          <p:nvPr>
            <p:ph type="title"/>
          </p:nvPr>
        </p:nvSpPr>
        <p:spPr/>
        <p:txBody>
          <a:bodyPr/>
          <a:lstStyle/>
          <a:p>
            <a:pPr lvl="0"/>
            <a:r>
              <a:rPr lang="en-GB">
                <a:solidFill>
                  <a:srgbClr val="610B4B"/>
                </a:solidFill>
                <a:latin typeface="erdana"/>
              </a:rPr>
              <a:t>2. Inference Engine(Rules of Engine)</a:t>
            </a:r>
            <a:endParaRPr lang="en-GB"/>
          </a:p>
        </p:txBody>
      </p:sp>
      <p:sp>
        <p:nvSpPr>
          <p:cNvPr id="3" name="Content Placeholder 2">
            <a:extLst>
              <a:ext uri="{FF2B5EF4-FFF2-40B4-BE49-F238E27FC236}">
                <a16:creationId xmlns:a16="http://schemas.microsoft.com/office/drawing/2014/main" id="{2ECB97AD-CA3D-ED0D-6EA6-6D94DE2C1EF7}"/>
              </a:ext>
            </a:extLst>
          </p:cNvPr>
          <p:cNvSpPr txBox="1">
            <a:spLocks noGrp="1"/>
          </p:cNvSpPr>
          <p:nvPr>
            <p:ph idx="1"/>
          </p:nvPr>
        </p:nvSpPr>
        <p:spPr/>
        <p:txBody>
          <a:bodyPr/>
          <a:lstStyle/>
          <a:p>
            <a:pPr lvl="0" algn="just"/>
            <a:r>
              <a:rPr lang="en-GB" sz="2800" dirty="0">
                <a:solidFill>
                  <a:srgbClr val="333333"/>
                </a:solidFill>
                <a:latin typeface="inter-regular"/>
              </a:rPr>
              <a:t>Inference engine uses the below modes to derive the solutions:</a:t>
            </a:r>
          </a:p>
          <a:p>
            <a:pPr lvl="0" algn="just"/>
            <a:endParaRPr lang="en-GB" sz="2800" dirty="0">
              <a:solidFill>
                <a:srgbClr val="333333"/>
              </a:solidFill>
              <a:latin typeface="inter-regular"/>
            </a:endParaRPr>
          </a:p>
          <a:p>
            <a:pPr lvl="0" algn="just"/>
            <a:r>
              <a:rPr lang="en-GB" sz="2800" b="1" dirty="0">
                <a:latin typeface="inter-bold"/>
              </a:rPr>
              <a:t>Forward Chaining:</a:t>
            </a:r>
            <a:r>
              <a:rPr lang="en-GB" sz="2800" dirty="0">
                <a:latin typeface="inter-regular"/>
              </a:rPr>
              <a:t> It starts from the known facts and rules, and applies the inference rules to add their conclusion to the known facts.</a:t>
            </a:r>
          </a:p>
          <a:p>
            <a:pPr lvl="0" algn="just"/>
            <a:endParaRPr lang="en-GB" sz="2800" dirty="0">
              <a:latin typeface="inter-regular"/>
            </a:endParaRPr>
          </a:p>
          <a:p>
            <a:pPr lvl="0" algn="just"/>
            <a:r>
              <a:rPr lang="en-GB" sz="2800" b="1" dirty="0">
                <a:latin typeface="inter-bold"/>
              </a:rPr>
              <a:t>Backward Chaining:</a:t>
            </a:r>
            <a:r>
              <a:rPr lang="en-GB" sz="2800" dirty="0">
                <a:latin typeface="inter-regular"/>
              </a:rPr>
              <a:t> It is a backward reasoning method that starts from the goal and works backward to prove the known facts.</a:t>
            </a:r>
          </a:p>
          <a:p>
            <a:pPr marL="0" lvl="0" indent="0">
              <a:buNone/>
            </a:pPr>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E69BF-5466-794F-CBC8-997BCDD6E490}"/>
              </a:ext>
            </a:extLst>
          </p:cNvPr>
          <p:cNvSpPr>
            <a:spLocks noGrp="1"/>
          </p:cNvSpPr>
          <p:nvPr>
            <p:ph type="title"/>
          </p:nvPr>
        </p:nvSpPr>
        <p:spPr/>
        <p:txBody>
          <a:bodyPr/>
          <a:lstStyle/>
          <a:p>
            <a:r>
              <a:rPr lang="en-US" dirty="0"/>
              <a:t>Example Forward Chaining</a:t>
            </a:r>
          </a:p>
        </p:txBody>
      </p:sp>
      <p:sp>
        <p:nvSpPr>
          <p:cNvPr id="3" name="Content Placeholder 2">
            <a:extLst>
              <a:ext uri="{FF2B5EF4-FFF2-40B4-BE49-F238E27FC236}">
                <a16:creationId xmlns:a16="http://schemas.microsoft.com/office/drawing/2014/main" id="{07B2CF95-C5CB-184B-456E-65AC0E5D86AC}"/>
              </a:ext>
            </a:extLst>
          </p:cNvPr>
          <p:cNvSpPr>
            <a:spLocks noGrp="1"/>
          </p:cNvSpPr>
          <p:nvPr>
            <p:ph idx="1"/>
          </p:nvPr>
        </p:nvSpPr>
        <p:spPr>
          <a:xfrm>
            <a:off x="441064" y="1951671"/>
            <a:ext cx="5260489" cy="4233975"/>
          </a:xfrm>
        </p:spPr>
        <p:txBody>
          <a:bodyPr>
            <a:normAutofit lnSpcReduction="10000"/>
          </a:bodyPr>
          <a:lstStyle/>
          <a:p>
            <a:pPr>
              <a:buNone/>
            </a:pPr>
            <a:r>
              <a:rPr lang="en-US" sz="2400" b="1" dirty="0"/>
              <a:t>Use case:</a:t>
            </a:r>
            <a:r>
              <a:rPr lang="en-US" sz="2400" dirty="0"/>
              <a:t> Diagnosing a disease.</a:t>
            </a:r>
          </a:p>
          <a:p>
            <a:pPr>
              <a:buNone/>
            </a:pPr>
            <a:r>
              <a:rPr lang="en-US" sz="2400" b="1" dirty="0"/>
              <a:t>🔹 Known Facts:</a:t>
            </a:r>
          </a:p>
          <a:p>
            <a:pPr>
              <a:buFont typeface="Arial" panose="020B0604020202020204" pitchFamily="34" charset="0"/>
              <a:buChar char="•"/>
            </a:pPr>
            <a:r>
              <a:rPr lang="en-US" sz="2400" dirty="0"/>
              <a:t>The patient has a high fever.</a:t>
            </a:r>
          </a:p>
          <a:p>
            <a:pPr>
              <a:buFont typeface="Arial" panose="020B0604020202020204" pitchFamily="34" charset="0"/>
              <a:buChar char="•"/>
            </a:pPr>
            <a:r>
              <a:rPr lang="en-US" sz="2400" dirty="0"/>
              <a:t>The patient has a cough.</a:t>
            </a:r>
          </a:p>
          <a:p>
            <a:pPr>
              <a:buNone/>
            </a:pPr>
            <a:r>
              <a:rPr lang="en-US" sz="2400" b="1" dirty="0"/>
              <a:t>🔹 Rules in the Knowledge Base:</a:t>
            </a:r>
          </a:p>
          <a:p>
            <a:pPr>
              <a:buFont typeface="Arial" panose="020B0604020202020204" pitchFamily="34" charset="0"/>
              <a:buChar char="•"/>
            </a:pPr>
            <a:r>
              <a:rPr lang="en-US" sz="2400" b="1" dirty="0"/>
              <a:t>Rule 1</a:t>
            </a:r>
            <a:r>
              <a:rPr lang="en-US" sz="2400" dirty="0"/>
              <a:t>: IF a person has a high fever AND cough, THEN the person might have the flu.</a:t>
            </a:r>
          </a:p>
          <a:p>
            <a:pPr>
              <a:buFont typeface="Arial" panose="020B0604020202020204" pitchFamily="34" charset="0"/>
              <a:buChar char="•"/>
            </a:pPr>
            <a:r>
              <a:rPr lang="en-US" sz="2400" b="1" dirty="0"/>
              <a:t>Rule 2</a:t>
            </a:r>
            <a:r>
              <a:rPr lang="en-US" sz="2400" dirty="0"/>
              <a:t>: IF a person has the flu, THEN recommend rest and fluids.</a:t>
            </a:r>
          </a:p>
          <a:p>
            <a:endParaRPr lang="en-US" dirty="0"/>
          </a:p>
        </p:txBody>
      </p:sp>
      <p:sp>
        <p:nvSpPr>
          <p:cNvPr id="5" name="TextBox 4">
            <a:extLst>
              <a:ext uri="{FF2B5EF4-FFF2-40B4-BE49-F238E27FC236}">
                <a16:creationId xmlns:a16="http://schemas.microsoft.com/office/drawing/2014/main" id="{C88C4FB6-6C8E-6808-345F-B56C43D251CC}"/>
              </a:ext>
            </a:extLst>
          </p:cNvPr>
          <p:cNvSpPr txBox="1"/>
          <p:nvPr/>
        </p:nvSpPr>
        <p:spPr>
          <a:xfrm>
            <a:off x="6126480" y="1951672"/>
            <a:ext cx="6094206" cy="3970318"/>
          </a:xfrm>
          <a:prstGeom prst="rect">
            <a:avLst/>
          </a:prstGeom>
          <a:noFill/>
        </p:spPr>
        <p:txBody>
          <a:bodyPr wrap="square">
            <a:spAutoFit/>
          </a:bodyPr>
          <a:lstStyle/>
          <a:p>
            <a:pPr>
              <a:buNone/>
            </a:pPr>
            <a:r>
              <a:rPr lang="en-US" sz="2800" b="1" dirty="0"/>
              <a:t>How it works (Forward Chaining):</a:t>
            </a:r>
          </a:p>
          <a:p>
            <a:pPr>
              <a:buFont typeface="Arial" panose="020B0604020202020204" pitchFamily="34" charset="0"/>
              <a:buChar char="•"/>
            </a:pPr>
            <a:r>
              <a:rPr lang="en-US" sz="2800" dirty="0"/>
              <a:t>Start with known facts: high fever and cough.</a:t>
            </a:r>
          </a:p>
          <a:p>
            <a:pPr>
              <a:buFont typeface="Arial" panose="020B0604020202020204" pitchFamily="34" charset="0"/>
              <a:buChar char="•"/>
            </a:pPr>
            <a:r>
              <a:rPr lang="en-US" sz="2800" dirty="0"/>
              <a:t>Apply Rule 1 → conclude: the person might have the flu.</a:t>
            </a:r>
          </a:p>
          <a:p>
            <a:pPr>
              <a:buFont typeface="Arial" panose="020B0604020202020204" pitchFamily="34" charset="0"/>
              <a:buChar char="•"/>
            </a:pPr>
            <a:r>
              <a:rPr lang="en-US" sz="2800" dirty="0"/>
              <a:t>Apply Rule 2 → recommend: rest and fluids.</a:t>
            </a:r>
          </a:p>
          <a:p>
            <a:r>
              <a:rPr lang="en-US" sz="2800" b="1" dirty="0">
                <a:solidFill>
                  <a:srgbClr val="FF0000"/>
                </a:solidFill>
              </a:rPr>
              <a:t>Starts from facts → moves forward to conclusions.</a:t>
            </a:r>
            <a:endParaRPr lang="en-US" sz="2800" dirty="0">
              <a:solidFill>
                <a:srgbClr val="FF0000"/>
              </a:solidFill>
            </a:endParaRPr>
          </a:p>
        </p:txBody>
      </p:sp>
    </p:spTree>
    <p:extLst>
      <p:ext uri="{BB962C8B-B14F-4D97-AF65-F5344CB8AC3E}">
        <p14:creationId xmlns:p14="http://schemas.microsoft.com/office/powerpoint/2010/main" val="735961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351E9-6662-F3D1-00A1-65B63910ECDD}"/>
              </a:ext>
            </a:extLst>
          </p:cNvPr>
          <p:cNvSpPr>
            <a:spLocks noGrp="1"/>
          </p:cNvSpPr>
          <p:nvPr>
            <p:ph type="title"/>
          </p:nvPr>
        </p:nvSpPr>
        <p:spPr/>
        <p:txBody>
          <a:bodyPr/>
          <a:lstStyle/>
          <a:p>
            <a:r>
              <a:rPr lang="en-US" dirty="0"/>
              <a:t>Example (Backward Chaining)</a:t>
            </a:r>
          </a:p>
        </p:txBody>
      </p:sp>
      <p:sp>
        <p:nvSpPr>
          <p:cNvPr id="3" name="Content Placeholder 2">
            <a:extLst>
              <a:ext uri="{FF2B5EF4-FFF2-40B4-BE49-F238E27FC236}">
                <a16:creationId xmlns:a16="http://schemas.microsoft.com/office/drawing/2014/main" id="{79872461-7370-4939-CD5F-E2CB5280D2AF}"/>
              </a:ext>
            </a:extLst>
          </p:cNvPr>
          <p:cNvSpPr>
            <a:spLocks noGrp="1"/>
          </p:cNvSpPr>
          <p:nvPr>
            <p:ph idx="1"/>
          </p:nvPr>
        </p:nvSpPr>
        <p:spPr>
          <a:xfrm>
            <a:off x="1097280" y="1845733"/>
            <a:ext cx="10058400" cy="4920827"/>
          </a:xfrm>
        </p:spPr>
        <p:txBody>
          <a:bodyPr>
            <a:normAutofit fontScale="92500" lnSpcReduction="10000"/>
          </a:bodyPr>
          <a:lstStyle/>
          <a:p>
            <a:pPr>
              <a:buNone/>
            </a:pPr>
            <a:r>
              <a:rPr lang="en-US" b="1" dirty="0"/>
              <a:t>Use case:</a:t>
            </a:r>
            <a:r>
              <a:rPr lang="en-US" dirty="0"/>
              <a:t> Proving if someone has the flu.</a:t>
            </a:r>
          </a:p>
          <a:p>
            <a:pPr>
              <a:buNone/>
            </a:pPr>
            <a:r>
              <a:rPr lang="en-US" b="1" dirty="0"/>
              <a:t>🔹 Goal (what we want to prove):</a:t>
            </a:r>
          </a:p>
          <a:p>
            <a:pPr>
              <a:buFont typeface="Arial" panose="020B0604020202020204" pitchFamily="34" charset="0"/>
              <a:buChar char="•"/>
            </a:pPr>
            <a:r>
              <a:rPr lang="en-US" dirty="0"/>
              <a:t>Does the patient have the flu?</a:t>
            </a:r>
          </a:p>
          <a:p>
            <a:pPr>
              <a:buNone/>
            </a:pPr>
            <a:r>
              <a:rPr lang="en-US" b="1" dirty="0"/>
              <a:t>🔹 Rules in the Knowledge Base:</a:t>
            </a:r>
          </a:p>
          <a:p>
            <a:pPr>
              <a:buFont typeface="Arial" panose="020B0604020202020204" pitchFamily="34" charset="0"/>
              <a:buChar char="•"/>
            </a:pPr>
            <a:r>
              <a:rPr lang="en-US" b="1" dirty="0"/>
              <a:t>Rule 1</a:t>
            </a:r>
            <a:r>
              <a:rPr lang="en-US" dirty="0"/>
              <a:t>: IF a person has a high fever AND cough, THEN the person might have the flu.</a:t>
            </a:r>
          </a:p>
          <a:p>
            <a:pPr>
              <a:buNone/>
            </a:pPr>
            <a:r>
              <a:rPr lang="en-US" b="1" dirty="0"/>
              <a:t>How it works:</a:t>
            </a:r>
          </a:p>
          <a:p>
            <a:pPr>
              <a:buFont typeface="Arial" panose="020B0604020202020204" pitchFamily="34" charset="0"/>
              <a:buChar char="•"/>
            </a:pPr>
            <a:r>
              <a:rPr lang="en-US" dirty="0"/>
              <a:t>Start with goal: does the person have the flu?</a:t>
            </a:r>
          </a:p>
          <a:p>
            <a:pPr>
              <a:buFont typeface="Arial" panose="020B0604020202020204" pitchFamily="34" charset="0"/>
              <a:buChar char="•"/>
            </a:pPr>
            <a:r>
              <a:rPr lang="en-US" dirty="0"/>
              <a:t>Check what conditions must be true → Rule 1 says: high fever AND cough.</a:t>
            </a:r>
          </a:p>
          <a:p>
            <a:pPr>
              <a:buFont typeface="Arial" panose="020B0604020202020204" pitchFamily="34" charset="0"/>
              <a:buChar char="•"/>
            </a:pPr>
            <a:r>
              <a:rPr lang="en-US" dirty="0"/>
              <a:t>Ask the user or database: Does the person have these symptoms?</a:t>
            </a:r>
          </a:p>
          <a:p>
            <a:pPr marL="742950" lvl="1" indent="-285750">
              <a:buFont typeface="Arial" panose="020B0604020202020204" pitchFamily="34" charset="0"/>
              <a:buChar char="•"/>
            </a:pPr>
            <a:r>
              <a:rPr lang="en-US" dirty="0"/>
              <a:t>If </a:t>
            </a:r>
            <a:r>
              <a:rPr lang="en-US" b="1" dirty="0"/>
              <a:t>yes</a:t>
            </a:r>
            <a:r>
              <a:rPr lang="en-US" dirty="0"/>
              <a:t> → goal is confirmed.</a:t>
            </a:r>
          </a:p>
          <a:p>
            <a:pPr marL="742950" lvl="1" indent="-285750">
              <a:buFont typeface="Arial" panose="020B0604020202020204" pitchFamily="34" charset="0"/>
              <a:buChar char="•"/>
            </a:pPr>
            <a:r>
              <a:rPr lang="en-US" dirty="0"/>
              <a:t>If </a:t>
            </a:r>
            <a:r>
              <a:rPr lang="en-US" b="1" dirty="0"/>
              <a:t>no</a:t>
            </a:r>
            <a:r>
              <a:rPr lang="en-US" dirty="0"/>
              <a:t> → goal is not confirmed.</a:t>
            </a:r>
          </a:p>
          <a:p>
            <a:pPr algn="ctr"/>
            <a:r>
              <a:rPr lang="en-US" sz="2200" b="1" dirty="0">
                <a:solidFill>
                  <a:srgbClr val="FF0000"/>
                </a:solidFill>
              </a:rPr>
              <a:t>Starts from a goal → works backward to find supporting facts.</a:t>
            </a:r>
            <a:endParaRPr lang="en-US" sz="2200" dirty="0">
              <a:solidFill>
                <a:srgbClr val="FF0000"/>
              </a:solidFill>
            </a:endParaRPr>
          </a:p>
          <a:p>
            <a:endParaRPr lang="en-US" dirty="0"/>
          </a:p>
        </p:txBody>
      </p:sp>
    </p:spTree>
    <p:extLst>
      <p:ext uri="{BB962C8B-B14F-4D97-AF65-F5344CB8AC3E}">
        <p14:creationId xmlns:p14="http://schemas.microsoft.com/office/powerpoint/2010/main" val="1316874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49275-AB0A-0712-6452-2B8928D6731B}"/>
              </a:ext>
            </a:extLst>
          </p:cNvPr>
          <p:cNvSpPr txBox="1">
            <a:spLocks noGrp="1"/>
          </p:cNvSpPr>
          <p:nvPr>
            <p:ph type="title"/>
          </p:nvPr>
        </p:nvSpPr>
        <p:spPr/>
        <p:txBody>
          <a:bodyPr/>
          <a:lstStyle/>
          <a:p>
            <a:pPr lvl="0"/>
            <a:r>
              <a:rPr lang="en-GB">
                <a:solidFill>
                  <a:srgbClr val="610B4B"/>
                </a:solidFill>
                <a:latin typeface="erdana"/>
              </a:rPr>
              <a:t>3. Knowledge Base</a:t>
            </a:r>
            <a:endParaRPr lang="en-GB"/>
          </a:p>
        </p:txBody>
      </p:sp>
      <p:sp>
        <p:nvSpPr>
          <p:cNvPr id="3" name="Content Placeholder 2">
            <a:extLst>
              <a:ext uri="{FF2B5EF4-FFF2-40B4-BE49-F238E27FC236}">
                <a16:creationId xmlns:a16="http://schemas.microsoft.com/office/drawing/2014/main" id="{62E03F00-B555-B14C-F80F-B5D87E711978}"/>
              </a:ext>
            </a:extLst>
          </p:cNvPr>
          <p:cNvSpPr txBox="1">
            <a:spLocks noGrp="1"/>
          </p:cNvSpPr>
          <p:nvPr>
            <p:ph idx="1"/>
          </p:nvPr>
        </p:nvSpPr>
        <p:spPr/>
        <p:txBody>
          <a:bodyPr/>
          <a:lstStyle/>
          <a:p>
            <a:pPr lvl="0"/>
            <a:r>
              <a:rPr lang="en-GB" sz="3200" dirty="0">
                <a:latin typeface="inter-regular"/>
              </a:rPr>
              <a:t>The knowledge base is a type of storage that stores knowledge acquired from the different experts of the particular domain. </a:t>
            </a:r>
          </a:p>
          <a:p>
            <a:pPr lvl="0"/>
            <a:r>
              <a:rPr lang="en-US" sz="3200" dirty="0"/>
              <a:t>C</a:t>
            </a:r>
            <a:r>
              <a:rPr lang="en-US" sz="3200" b="0" i="0" dirty="0"/>
              <a:t>ontaining all the information and rules, facts, and relation required for the solution of problems in a specific domain</a:t>
            </a:r>
            <a:endParaRPr lang="en-US" sz="3200" dirty="0"/>
          </a:p>
          <a:p>
            <a:pPr lvl="0"/>
            <a:r>
              <a:rPr lang="en-US" sz="3200" dirty="0"/>
              <a:t>e</a:t>
            </a:r>
            <a:r>
              <a:rPr lang="en-US" sz="3200" b="0" i="0" dirty="0"/>
              <a:t>.g. in </a:t>
            </a:r>
            <a:r>
              <a:rPr lang="en-US" sz="3200" b="1" i="0" dirty="0"/>
              <a:t>medical diagnosis</a:t>
            </a:r>
            <a:r>
              <a:rPr lang="en-US" sz="3200" b="0" i="0" dirty="0"/>
              <a:t>, the knowledge base would involve medical </a:t>
            </a:r>
            <a:r>
              <a:rPr lang="en-US" sz="3200" b="1" i="0" dirty="0"/>
              <a:t>conditions, symptoms, diagnostics and treatment</a:t>
            </a:r>
            <a:r>
              <a:rPr lang="en-US" sz="3200" b="0" i="0" dirty="0"/>
              <a:t>.</a:t>
            </a:r>
            <a:endParaRPr lang="en-US" sz="3200" dirty="0"/>
          </a:p>
          <a:p>
            <a:pPr lvl="0"/>
            <a:endParaRPr lang="en-GB"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6FBF2-280B-656F-FFF7-9B512AAC46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40F238-608F-A9B0-A311-2D5AE491525D}"/>
              </a:ext>
            </a:extLst>
          </p:cNvPr>
          <p:cNvSpPr txBox="1">
            <a:spLocks noGrp="1"/>
          </p:cNvSpPr>
          <p:nvPr>
            <p:ph type="title"/>
          </p:nvPr>
        </p:nvSpPr>
        <p:spPr/>
        <p:txBody>
          <a:bodyPr/>
          <a:lstStyle/>
          <a:p>
            <a:pPr lvl="0"/>
            <a:r>
              <a:rPr lang="en-GB" dirty="0">
                <a:solidFill>
                  <a:srgbClr val="610B4B"/>
                </a:solidFill>
                <a:latin typeface="erdana"/>
              </a:rPr>
              <a:t>3. Knowledge Base (Components)</a:t>
            </a:r>
            <a:endParaRPr lang="en-GB" dirty="0"/>
          </a:p>
        </p:txBody>
      </p:sp>
      <p:sp>
        <p:nvSpPr>
          <p:cNvPr id="3" name="Content Placeholder 2">
            <a:extLst>
              <a:ext uri="{FF2B5EF4-FFF2-40B4-BE49-F238E27FC236}">
                <a16:creationId xmlns:a16="http://schemas.microsoft.com/office/drawing/2014/main" id="{0D5083A2-F07E-D0F2-C228-37D7F2FF07A4}"/>
              </a:ext>
            </a:extLst>
          </p:cNvPr>
          <p:cNvSpPr txBox="1">
            <a:spLocks noGrp="1"/>
          </p:cNvSpPr>
          <p:nvPr>
            <p:ph idx="1"/>
          </p:nvPr>
        </p:nvSpPr>
        <p:spPr>
          <a:xfrm>
            <a:off x="838203" y="1737360"/>
            <a:ext cx="10515600" cy="4906029"/>
          </a:xfrm>
        </p:spPr>
        <p:txBody>
          <a:bodyPr>
            <a:normAutofit fontScale="92500" lnSpcReduction="10000"/>
          </a:bodyPr>
          <a:lstStyle/>
          <a:p>
            <a:pPr marL="201168" lvl="1" indent="0" algn="just">
              <a:lnSpc>
                <a:spcPct val="130000"/>
              </a:lnSpc>
              <a:buNone/>
            </a:pPr>
            <a:r>
              <a:rPr lang="en-GB" sz="2200" b="1" dirty="0">
                <a:solidFill>
                  <a:srgbClr val="FF0000"/>
                </a:solidFill>
                <a:latin typeface="inter-bold"/>
              </a:rPr>
              <a:t>Factual Knowledge</a:t>
            </a:r>
            <a:r>
              <a:rPr lang="en-GB" sz="2200" b="1" dirty="0">
                <a:latin typeface="inter-bold"/>
              </a:rPr>
              <a:t>:</a:t>
            </a:r>
            <a:r>
              <a:rPr lang="en-GB" sz="2200" dirty="0">
                <a:latin typeface="inter-regular"/>
              </a:rPr>
              <a:t> The knowledge which is </a:t>
            </a:r>
            <a:r>
              <a:rPr lang="en-GB" sz="2200" b="1" dirty="0">
                <a:latin typeface="inter-regular"/>
              </a:rPr>
              <a:t>based on facts </a:t>
            </a:r>
            <a:r>
              <a:rPr lang="en-GB" sz="2200" dirty="0">
                <a:latin typeface="inter-regular"/>
              </a:rPr>
              <a:t>and accepted by knowledge engineers.</a:t>
            </a:r>
          </a:p>
          <a:p>
            <a:pPr lvl="1" algn="just">
              <a:lnSpc>
                <a:spcPct val="130000"/>
              </a:lnSpc>
            </a:pPr>
            <a:r>
              <a:rPr lang="en-US" sz="2200" b="1" dirty="0">
                <a:latin typeface="inter-regular"/>
              </a:rPr>
              <a:t>Example:</a:t>
            </a:r>
          </a:p>
          <a:p>
            <a:pPr lvl="1" algn="just">
              <a:lnSpc>
                <a:spcPct val="130000"/>
              </a:lnSpc>
            </a:pPr>
            <a:r>
              <a:rPr lang="en-US" sz="2200" dirty="0">
                <a:latin typeface="inter-regular"/>
              </a:rPr>
              <a:t>"Normal human body temperature is 98.6°F."</a:t>
            </a:r>
          </a:p>
          <a:p>
            <a:pPr lvl="1" algn="just">
              <a:lnSpc>
                <a:spcPct val="130000"/>
              </a:lnSpc>
            </a:pPr>
            <a:r>
              <a:rPr lang="en-US" sz="2200" dirty="0">
                <a:latin typeface="inter-regular"/>
              </a:rPr>
              <a:t>"Fever is defined as a body temperature above 100.4°F."</a:t>
            </a:r>
          </a:p>
          <a:p>
            <a:pPr marL="201168" lvl="1" indent="0" algn="just">
              <a:lnSpc>
                <a:spcPct val="130000"/>
              </a:lnSpc>
              <a:buNone/>
            </a:pPr>
            <a:r>
              <a:rPr lang="en-US" sz="2200" dirty="0">
                <a:latin typeface="inter-regular"/>
              </a:rPr>
              <a:t>These are solid facts that all doctors agree on.</a:t>
            </a:r>
            <a:endParaRPr lang="en-GB" sz="2200" dirty="0">
              <a:latin typeface="inter-regular"/>
            </a:endParaRPr>
          </a:p>
          <a:p>
            <a:pPr marL="201168" lvl="1" indent="0" algn="just">
              <a:lnSpc>
                <a:spcPct val="130000"/>
              </a:lnSpc>
              <a:buNone/>
            </a:pPr>
            <a:r>
              <a:rPr lang="en-GB" sz="2200" b="1" dirty="0">
                <a:solidFill>
                  <a:srgbClr val="FF0000"/>
                </a:solidFill>
                <a:latin typeface="inter-bold"/>
              </a:rPr>
              <a:t>Heuristic Knowledge:</a:t>
            </a:r>
            <a:r>
              <a:rPr lang="en-GB" sz="2200" dirty="0">
                <a:solidFill>
                  <a:srgbClr val="FF0000"/>
                </a:solidFill>
                <a:latin typeface="inter-regular"/>
              </a:rPr>
              <a:t> </a:t>
            </a:r>
            <a:r>
              <a:rPr lang="en-GB" sz="2200" dirty="0">
                <a:latin typeface="inter-regular"/>
              </a:rPr>
              <a:t>This knowledge is </a:t>
            </a:r>
            <a:r>
              <a:rPr lang="en-GB" sz="2200" b="1" dirty="0">
                <a:latin typeface="inter-regular"/>
              </a:rPr>
              <a:t>based on practice</a:t>
            </a:r>
            <a:r>
              <a:rPr lang="en-GB" sz="2200" dirty="0">
                <a:latin typeface="inter-regular"/>
              </a:rPr>
              <a:t>, the ability to guess, evaluation, and experiences.</a:t>
            </a:r>
          </a:p>
          <a:p>
            <a:pPr lvl="1" algn="just">
              <a:lnSpc>
                <a:spcPct val="130000"/>
              </a:lnSpc>
            </a:pPr>
            <a:r>
              <a:rPr lang="en-US" sz="2200" b="1" dirty="0">
                <a:latin typeface="inter-regular"/>
              </a:rPr>
              <a:t>Example:</a:t>
            </a:r>
          </a:p>
          <a:p>
            <a:pPr lvl="1" algn="just">
              <a:lnSpc>
                <a:spcPct val="130000"/>
              </a:lnSpc>
            </a:pPr>
            <a:r>
              <a:rPr lang="en-US" sz="2200" dirty="0">
                <a:latin typeface="inter-regular"/>
              </a:rPr>
              <a:t>"If a patient has a sore throat, mild fever, and no cough, it might be strep throat."</a:t>
            </a:r>
          </a:p>
          <a:p>
            <a:pPr lvl="1" algn="just">
              <a:lnSpc>
                <a:spcPct val="130000"/>
              </a:lnSpc>
            </a:pPr>
            <a:r>
              <a:rPr lang="en-US" sz="2200" dirty="0">
                <a:latin typeface="inter-regular"/>
              </a:rPr>
              <a:t>"Patients over 60 with chest pain are more likely to have heart-related issues."</a:t>
            </a:r>
          </a:p>
          <a:p>
            <a:pPr marL="201168" lvl="1" indent="0" algn="just">
              <a:lnSpc>
                <a:spcPct val="130000"/>
              </a:lnSpc>
              <a:buNone/>
            </a:pPr>
            <a:r>
              <a:rPr lang="en-US" sz="2200" dirty="0">
                <a:latin typeface="inter-regular"/>
              </a:rPr>
              <a:t>This is what a doctor learns through experience, not just textbooks.</a:t>
            </a:r>
          </a:p>
          <a:p>
            <a:pPr lvl="1" algn="just">
              <a:lnSpc>
                <a:spcPct val="130000"/>
              </a:lnSpc>
            </a:pPr>
            <a:endParaRPr lang="en-GB" sz="2200" dirty="0">
              <a:solidFill>
                <a:srgbClr val="333333"/>
              </a:solidFill>
              <a:latin typeface="inter-regular"/>
            </a:endParaRPr>
          </a:p>
          <a:p>
            <a:pPr lvl="0">
              <a:lnSpc>
                <a:spcPct val="60000"/>
              </a:lnSpc>
            </a:pPr>
            <a:endParaRPr lang="en-GB" sz="2600" dirty="0"/>
          </a:p>
        </p:txBody>
      </p:sp>
    </p:spTree>
    <p:extLst>
      <p:ext uri="{BB962C8B-B14F-4D97-AF65-F5344CB8AC3E}">
        <p14:creationId xmlns:p14="http://schemas.microsoft.com/office/powerpoint/2010/main" val="121339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12659-92F9-1131-1CC2-9C6686EE88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D9B3E6-1EC1-57BF-A383-0B0AC5A37752}"/>
              </a:ext>
            </a:extLst>
          </p:cNvPr>
          <p:cNvSpPr txBox="1">
            <a:spLocks noGrp="1"/>
          </p:cNvSpPr>
          <p:nvPr>
            <p:ph type="title"/>
          </p:nvPr>
        </p:nvSpPr>
        <p:spPr/>
        <p:txBody>
          <a:bodyPr/>
          <a:lstStyle/>
          <a:p>
            <a:pPr lvl="0"/>
            <a:r>
              <a:rPr lang="en-GB" dirty="0">
                <a:solidFill>
                  <a:srgbClr val="610B4B"/>
                </a:solidFill>
                <a:latin typeface="erdana"/>
              </a:rPr>
              <a:t>3. Knowledge Base (Components)</a:t>
            </a:r>
            <a:endParaRPr lang="en-GB" dirty="0"/>
          </a:p>
        </p:txBody>
      </p:sp>
      <p:sp>
        <p:nvSpPr>
          <p:cNvPr id="3" name="Content Placeholder 2">
            <a:extLst>
              <a:ext uri="{FF2B5EF4-FFF2-40B4-BE49-F238E27FC236}">
                <a16:creationId xmlns:a16="http://schemas.microsoft.com/office/drawing/2014/main" id="{66D1F5E7-D50E-E284-4528-BC93225D8050}"/>
              </a:ext>
            </a:extLst>
          </p:cNvPr>
          <p:cNvSpPr txBox="1">
            <a:spLocks noGrp="1"/>
          </p:cNvSpPr>
          <p:nvPr>
            <p:ph idx="1"/>
          </p:nvPr>
        </p:nvSpPr>
        <p:spPr>
          <a:xfrm>
            <a:off x="838203" y="1737360"/>
            <a:ext cx="10515600" cy="4906029"/>
          </a:xfrm>
        </p:spPr>
        <p:txBody>
          <a:bodyPr>
            <a:normAutofit/>
          </a:bodyPr>
          <a:lstStyle/>
          <a:p>
            <a:pPr lvl="1" algn="just">
              <a:lnSpc>
                <a:spcPct val="130000"/>
              </a:lnSpc>
            </a:pPr>
            <a:r>
              <a:rPr lang="en-GB" sz="2200" b="1" dirty="0">
                <a:solidFill>
                  <a:srgbClr val="FF0000"/>
                </a:solidFill>
                <a:latin typeface="inter-bold"/>
              </a:rPr>
              <a:t>Knowledge Representation:</a:t>
            </a:r>
            <a:r>
              <a:rPr lang="en-GB" sz="2200" dirty="0">
                <a:solidFill>
                  <a:srgbClr val="FF0000"/>
                </a:solidFill>
                <a:latin typeface="inter-regular"/>
              </a:rPr>
              <a:t> </a:t>
            </a:r>
            <a:r>
              <a:rPr lang="en-GB" sz="2200" dirty="0">
                <a:solidFill>
                  <a:srgbClr val="333333"/>
                </a:solidFill>
                <a:latin typeface="inter-regular"/>
              </a:rPr>
              <a:t>It is used to formalize the knowledge stored in the knowledge base using the If-else rules.</a:t>
            </a:r>
          </a:p>
          <a:p>
            <a:pPr lvl="1" algn="just">
              <a:lnSpc>
                <a:spcPct val="130000"/>
              </a:lnSpc>
            </a:pPr>
            <a:r>
              <a:rPr lang="en-US" sz="2200" b="1" dirty="0">
                <a:solidFill>
                  <a:srgbClr val="333333"/>
                </a:solidFill>
                <a:latin typeface="inter-regular"/>
              </a:rPr>
              <a:t>Example (IF-THEN rule):</a:t>
            </a:r>
          </a:p>
          <a:p>
            <a:pPr lvl="1" algn="just">
              <a:lnSpc>
                <a:spcPct val="130000"/>
              </a:lnSpc>
            </a:pPr>
            <a:r>
              <a:rPr lang="en-US" sz="2200" dirty="0">
                <a:solidFill>
                  <a:srgbClr val="333333"/>
                </a:solidFill>
                <a:latin typeface="inter-regular"/>
              </a:rPr>
              <a:t>IF the patient has a fever AND cough, THEN suggest possible flu.</a:t>
            </a:r>
          </a:p>
          <a:p>
            <a:pPr lvl="1" algn="just">
              <a:lnSpc>
                <a:spcPct val="130000"/>
              </a:lnSpc>
            </a:pPr>
            <a:r>
              <a:rPr lang="en-US" sz="2200" dirty="0">
                <a:solidFill>
                  <a:srgbClr val="333333"/>
                </a:solidFill>
                <a:latin typeface="inter-regular"/>
              </a:rPr>
              <a:t>IF chest pain occurs after exercise, THEN suggest testing for angina.</a:t>
            </a:r>
          </a:p>
          <a:p>
            <a:pPr marL="201168" lvl="1" indent="0" algn="just">
              <a:lnSpc>
                <a:spcPct val="130000"/>
              </a:lnSpc>
              <a:buNone/>
            </a:pPr>
            <a:r>
              <a:rPr lang="en-US" sz="2200" dirty="0">
                <a:solidFill>
                  <a:srgbClr val="333333"/>
                </a:solidFill>
                <a:latin typeface="inter-regular"/>
              </a:rPr>
              <a:t>This is how knowledge is coded into the system so the inference engine can use it.</a:t>
            </a:r>
            <a:endParaRPr lang="en-GB" sz="2200" dirty="0">
              <a:solidFill>
                <a:srgbClr val="333333"/>
              </a:solidFill>
              <a:latin typeface="inter-regular"/>
            </a:endParaRPr>
          </a:p>
          <a:p>
            <a:pPr lvl="1" algn="just">
              <a:lnSpc>
                <a:spcPct val="130000"/>
              </a:lnSpc>
            </a:pPr>
            <a:endParaRPr lang="en-GB" sz="2200" dirty="0">
              <a:solidFill>
                <a:srgbClr val="333333"/>
              </a:solidFill>
              <a:latin typeface="inter-regular"/>
            </a:endParaRPr>
          </a:p>
          <a:p>
            <a:pPr lvl="0">
              <a:lnSpc>
                <a:spcPct val="60000"/>
              </a:lnSpc>
            </a:pPr>
            <a:endParaRPr lang="en-GB" sz="2600" dirty="0"/>
          </a:p>
        </p:txBody>
      </p:sp>
    </p:spTree>
    <p:extLst>
      <p:ext uri="{BB962C8B-B14F-4D97-AF65-F5344CB8AC3E}">
        <p14:creationId xmlns:p14="http://schemas.microsoft.com/office/powerpoint/2010/main" val="3122916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4B06A-D5B0-3279-8904-14E930D7F0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D0F175-388C-E08C-369D-561A5B104A85}"/>
              </a:ext>
            </a:extLst>
          </p:cNvPr>
          <p:cNvSpPr txBox="1">
            <a:spLocks noGrp="1"/>
          </p:cNvSpPr>
          <p:nvPr>
            <p:ph type="title"/>
          </p:nvPr>
        </p:nvSpPr>
        <p:spPr/>
        <p:txBody>
          <a:bodyPr/>
          <a:lstStyle/>
          <a:p>
            <a:pPr lvl="0"/>
            <a:r>
              <a:rPr lang="en-GB" dirty="0">
                <a:solidFill>
                  <a:srgbClr val="610B4B"/>
                </a:solidFill>
                <a:latin typeface="erdana"/>
              </a:rPr>
              <a:t>3. Knowledge Base (Components)</a:t>
            </a:r>
            <a:endParaRPr lang="en-GB" dirty="0"/>
          </a:p>
        </p:txBody>
      </p:sp>
      <p:sp>
        <p:nvSpPr>
          <p:cNvPr id="3" name="Content Placeholder 2">
            <a:extLst>
              <a:ext uri="{FF2B5EF4-FFF2-40B4-BE49-F238E27FC236}">
                <a16:creationId xmlns:a16="http://schemas.microsoft.com/office/drawing/2014/main" id="{E73EC784-4CBA-7E74-C7DE-D299038E2903}"/>
              </a:ext>
            </a:extLst>
          </p:cNvPr>
          <p:cNvSpPr txBox="1">
            <a:spLocks noGrp="1"/>
          </p:cNvSpPr>
          <p:nvPr>
            <p:ph idx="1"/>
          </p:nvPr>
        </p:nvSpPr>
        <p:spPr>
          <a:xfrm>
            <a:off x="838203" y="1737360"/>
            <a:ext cx="10515600" cy="4906029"/>
          </a:xfrm>
        </p:spPr>
        <p:txBody>
          <a:bodyPr>
            <a:normAutofit/>
          </a:bodyPr>
          <a:lstStyle/>
          <a:p>
            <a:pPr lvl="1" algn="just">
              <a:lnSpc>
                <a:spcPct val="130000"/>
              </a:lnSpc>
            </a:pPr>
            <a:r>
              <a:rPr lang="en-GB" sz="2200" b="1" dirty="0">
                <a:solidFill>
                  <a:srgbClr val="FF0000"/>
                </a:solidFill>
                <a:latin typeface="inter-bold"/>
              </a:rPr>
              <a:t>Knowledge Acquisitions:</a:t>
            </a:r>
            <a:r>
              <a:rPr lang="en-GB" sz="2200" dirty="0">
                <a:solidFill>
                  <a:srgbClr val="FF0000"/>
                </a:solidFill>
                <a:latin typeface="inter-regular"/>
              </a:rPr>
              <a:t> </a:t>
            </a:r>
            <a:r>
              <a:rPr lang="en-GB" sz="2200" dirty="0">
                <a:solidFill>
                  <a:srgbClr val="333333"/>
                </a:solidFill>
                <a:latin typeface="inter-regular"/>
              </a:rPr>
              <a:t>It is the process of extracting, organizing, and structuring the domain knowledge, specifying the rules to acquire the knowledge from various experts, and store that knowledge into the knowledge base.</a:t>
            </a:r>
          </a:p>
          <a:p>
            <a:pPr lvl="1" algn="just">
              <a:lnSpc>
                <a:spcPct val="130000"/>
              </a:lnSpc>
            </a:pPr>
            <a:r>
              <a:rPr lang="en-US" sz="2200" b="1" dirty="0">
                <a:solidFill>
                  <a:srgbClr val="333333"/>
                </a:solidFill>
                <a:latin typeface="inter-regular"/>
              </a:rPr>
              <a:t>Example:</a:t>
            </a:r>
          </a:p>
          <a:p>
            <a:pPr lvl="1" algn="just">
              <a:lnSpc>
                <a:spcPct val="130000"/>
              </a:lnSpc>
            </a:pPr>
            <a:r>
              <a:rPr lang="en-US" sz="2200" dirty="0">
                <a:solidFill>
                  <a:srgbClr val="333333"/>
                </a:solidFill>
                <a:latin typeface="inter-regular"/>
              </a:rPr>
              <a:t>A medical expert sits with a knowledge engineer and explains how they diagnose flu.</a:t>
            </a:r>
          </a:p>
          <a:p>
            <a:pPr lvl="1" algn="just">
              <a:lnSpc>
                <a:spcPct val="130000"/>
              </a:lnSpc>
            </a:pPr>
            <a:r>
              <a:rPr lang="en-US" sz="2200" dirty="0">
                <a:solidFill>
                  <a:srgbClr val="333333"/>
                </a:solidFill>
                <a:latin typeface="inter-regular"/>
              </a:rPr>
              <a:t>The engineer writes rules like:</a:t>
            </a:r>
          </a:p>
          <a:p>
            <a:pPr lvl="1" algn="just">
              <a:lnSpc>
                <a:spcPct val="130000"/>
              </a:lnSpc>
            </a:pPr>
            <a:r>
              <a:rPr lang="en-US" sz="2200" dirty="0">
                <a:solidFill>
                  <a:srgbClr val="333333"/>
                </a:solidFill>
                <a:latin typeface="inter-regular"/>
              </a:rPr>
              <a:t>“IF fever &gt; 100.4°F AND muscle aches AND fatigue → THEN flu.”</a:t>
            </a:r>
          </a:p>
          <a:p>
            <a:pPr marL="201168" lvl="1" indent="0" algn="just">
              <a:lnSpc>
                <a:spcPct val="130000"/>
              </a:lnSpc>
              <a:buNone/>
            </a:pPr>
            <a:r>
              <a:rPr lang="en-US" sz="2200" dirty="0">
                <a:solidFill>
                  <a:srgbClr val="333333"/>
                </a:solidFill>
                <a:latin typeface="inter-regular"/>
              </a:rPr>
              <a:t>This is how real-world expert insights become part of the expert system.</a:t>
            </a:r>
          </a:p>
          <a:p>
            <a:pPr lvl="1" algn="just">
              <a:lnSpc>
                <a:spcPct val="130000"/>
              </a:lnSpc>
            </a:pPr>
            <a:endParaRPr lang="en-GB" sz="2200" dirty="0">
              <a:solidFill>
                <a:srgbClr val="333333"/>
              </a:solidFill>
              <a:latin typeface="inter-regular"/>
            </a:endParaRPr>
          </a:p>
          <a:p>
            <a:pPr lvl="0">
              <a:lnSpc>
                <a:spcPct val="60000"/>
              </a:lnSpc>
            </a:pPr>
            <a:endParaRPr lang="en-GB" sz="2600" dirty="0"/>
          </a:p>
        </p:txBody>
      </p:sp>
    </p:spTree>
    <p:extLst>
      <p:ext uri="{BB962C8B-B14F-4D97-AF65-F5344CB8AC3E}">
        <p14:creationId xmlns:p14="http://schemas.microsoft.com/office/powerpoint/2010/main" val="33177254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C1ABD-15CC-A7E1-74E1-DDC05DD042A6}"/>
              </a:ext>
            </a:extLst>
          </p:cNvPr>
          <p:cNvSpPr txBox="1">
            <a:spLocks noGrp="1"/>
          </p:cNvSpPr>
          <p:nvPr>
            <p:ph type="title"/>
          </p:nvPr>
        </p:nvSpPr>
        <p:spPr>
          <a:xfrm>
            <a:off x="1097280" y="286604"/>
            <a:ext cx="10058400" cy="939524"/>
          </a:xfrm>
        </p:spPr>
        <p:txBody>
          <a:bodyPr>
            <a:normAutofit/>
          </a:bodyPr>
          <a:lstStyle/>
          <a:p>
            <a:pPr lvl="0"/>
            <a:r>
              <a:rPr lang="en-GB" sz="3600" b="1" dirty="0">
                <a:solidFill>
                  <a:srgbClr val="333333"/>
                </a:solidFill>
                <a:latin typeface="inter-bold"/>
              </a:rPr>
              <a:t>Participants in the development of Expert System</a:t>
            </a:r>
            <a:endParaRPr lang="en-GB" sz="3600" dirty="0"/>
          </a:p>
        </p:txBody>
      </p:sp>
      <p:sp>
        <p:nvSpPr>
          <p:cNvPr id="3" name="Content Placeholder 2">
            <a:extLst>
              <a:ext uri="{FF2B5EF4-FFF2-40B4-BE49-F238E27FC236}">
                <a16:creationId xmlns:a16="http://schemas.microsoft.com/office/drawing/2014/main" id="{0B88DAF2-179D-7733-4DDA-952185E5CBE3}"/>
              </a:ext>
            </a:extLst>
          </p:cNvPr>
          <p:cNvSpPr txBox="1">
            <a:spLocks noGrp="1"/>
          </p:cNvSpPr>
          <p:nvPr>
            <p:ph idx="1"/>
          </p:nvPr>
        </p:nvSpPr>
        <p:spPr>
          <a:xfrm>
            <a:off x="838203" y="1825627"/>
            <a:ext cx="10515600" cy="4667253"/>
          </a:xfrm>
        </p:spPr>
        <p:txBody>
          <a:bodyPr/>
          <a:lstStyle/>
          <a:p>
            <a:pPr lvl="0" algn="just">
              <a:lnSpc>
                <a:spcPct val="100000"/>
              </a:lnSpc>
            </a:pPr>
            <a:r>
              <a:rPr lang="en-GB" sz="2600" dirty="0">
                <a:solidFill>
                  <a:srgbClr val="333333"/>
                </a:solidFill>
                <a:latin typeface="inter-regular"/>
              </a:rPr>
              <a:t>There are three primary participants in the building of Expert System:</a:t>
            </a:r>
          </a:p>
          <a:p>
            <a:pPr lvl="1" algn="just">
              <a:lnSpc>
                <a:spcPct val="100000"/>
              </a:lnSpc>
              <a:buFont typeface="Calibri Light"/>
              <a:buAutoNum type="arabicPeriod"/>
            </a:pPr>
            <a:r>
              <a:rPr lang="en-GB" sz="2600" b="1" dirty="0">
                <a:latin typeface="inter-bold"/>
              </a:rPr>
              <a:t>Expert:</a:t>
            </a:r>
            <a:r>
              <a:rPr lang="en-GB" sz="2600" dirty="0">
                <a:latin typeface="inter-regular"/>
              </a:rPr>
              <a:t> The success of an ES much depends on the knowledge provided by human experts. These experts are those persons who are specialized in that specific domain.</a:t>
            </a:r>
          </a:p>
          <a:p>
            <a:pPr lvl="1" algn="just">
              <a:lnSpc>
                <a:spcPct val="100000"/>
              </a:lnSpc>
              <a:buFont typeface="Calibri Light"/>
              <a:buAutoNum type="arabicPeriod"/>
            </a:pPr>
            <a:r>
              <a:rPr lang="en-GB" sz="2600" b="1" dirty="0">
                <a:latin typeface="inter-bold"/>
              </a:rPr>
              <a:t>Knowledge Engineer:</a:t>
            </a:r>
            <a:r>
              <a:rPr lang="en-GB" sz="2600" dirty="0">
                <a:latin typeface="inter-regular"/>
              </a:rPr>
              <a:t> Knowledge engineer is the person who gathers the knowledge from the domain experts and then codifies that knowledge to the system according to the formalism.</a:t>
            </a:r>
          </a:p>
          <a:p>
            <a:pPr lvl="1" algn="just">
              <a:lnSpc>
                <a:spcPct val="100000"/>
              </a:lnSpc>
              <a:buFont typeface="Calibri Light"/>
              <a:buAutoNum type="arabicPeriod"/>
            </a:pPr>
            <a:r>
              <a:rPr lang="en-GB" sz="2600" b="1" dirty="0">
                <a:latin typeface="inter-bold"/>
              </a:rPr>
              <a:t>End-User:</a:t>
            </a:r>
            <a:r>
              <a:rPr lang="en-GB" sz="2600" dirty="0">
                <a:latin typeface="inter-regular"/>
              </a:rPr>
              <a:t> This is a particular person or a group of people who may not be experts, and working on the expert system needs the solution or advice for his queries, which are complex.</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4">
            <a:extLst>
              <a:ext uri="{FF2B5EF4-FFF2-40B4-BE49-F238E27FC236}">
                <a16:creationId xmlns:a16="http://schemas.microsoft.com/office/drawing/2014/main" id="{C7BB018A-5598-F994-4FBD-7B4B9AE4CC1C}"/>
              </a:ext>
            </a:extLst>
          </p:cNvPr>
          <p:cNvPicPr>
            <a:picLocks noGrp="1" noChangeAspect="1"/>
          </p:cNvPicPr>
          <p:nvPr>
            <p:ph idx="1"/>
          </p:nvPr>
        </p:nvPicPr>
        <p:blipFill>
          <a:blip r:embed="rId3"/>
          <a:stretch>
            <a:fillRect/>
          </a:stretch>
        </p:blipFill>
        <p:spPr>
          <a:xfrm>
            <a:off x="1834684" y="0"/>
            <a:ext cx="8522632" cy="6056748"/>
          </a:xfr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D8F295-813C-6D36-9D3C-CE1596F2D26B}"/>
              </a:ext>
            </a:extLst>
          </p:cNvPr>
          <p:cNvSpPr txBox="1">
            <a:spLocks noGrp="1"/>
          </p:cNvSpPr>
          <p:nvPr>
            <p:ph type="title"/>
          </p:nvPr>
        </p:nvSpPr>
        <p:spPr/>
        <p:txBody>
          <a:bodyPr/>
          <a:lstStyle/>
          <a:p>
            <a:pPr lvl="0"/>
            <a:r>
              <a:rPr lang="en-GB" dirty="0"/>
              <a:t>Expert System’s vs Human Experts</a:t>
            </a:r>
          </a:p>
        </p:txBody>
      </p:sp>
      <p:sp>
        <p:nvSpPr>
          <p:cNvPr id="3" name="Content Placeholder 2">
            <a:extLst>
              <a:ext uri="{FF2B5EF4-FFF2-40B4-BE49-F238E27FC236}">
                <a16:creationId xmlns:a16="http://schemas.microsoft.com/office/drawing/2014/main" id="{C6E1DB0D-11B7-3FD8-164C-422F24FC2318}"/>
              </a:ext>
            </a:extLst>
          </p:cNvPr>
          <p:cNvSpPr txBox="1">
            <a:spLocks noGrp="1"/>
          </p:cNvSpPr>
          <p:nvPr>
            <p:ph idx="1"/>
          </p:nvPr>
        </p:nvSpPr>
        <p:spPr/>
        <p:txBody>
          <a:bodyPr/>
          <a:lstStyle/>
          <a:p>
            <a:pPr lvl="0" algn="just">
              <a:lnSpc>
                <a:spcPct val="80000"/>
              </a:lnSpc>
              <a:buFont typeface="Calibri Light"/>
              <a:buAutoNum type="arabicPeriod"/>
            </a:pPr>
            <a:r>
              <a:rPr lang="en-GB" sz="2600" b="1" dirty="0">
                <a:latin typeface="inter-bold"/>
              </a:rPr>
              <a:t>No memory Limitations:</a:t>
            </a:r>
            <a:r>
              <a:rPr lang="en-GB" sz="2600" dirty="0">
                <a:latin typeface="inter-regular"/>
              </a:rPr>
              <a:t> It can store as much data as required and can memorize it at the time of its application. But for human experts, there are some limitations to memorize all things at every time.</a:t>
            </a:r>
          </a:p>
          <a:p>
            <a:pPr lvl="0" algn="just">
              <a:lnSpc>
                <a:spcPct val="80000"/>
              </a:lnSpc>
              <a:buFont typeface="Calibri Light"/>
              <a:buAutoNum type="arabicPeriod"/>
            </a:pPr>
            <a:r>
              <a:rPr lang="en-GB" sz="2600" b="1" dirty="0">
                <a:latin typeface="inter-bold"/>
              </a:rPr>
              <a:t>High Efficiency:</a:t>
            </a:r>
            <a:r>
              <a:rPr lang="en-GB" sz="2600" dirty="0">
                <a:latin typeface="inter-regular"/>
              </a:rPr>
              <a:t> If the knowledge base is updated with the correct knowledge, then it provides a highly efficient output, which may not be possible for a human.</a:t>
            </a:r>
          </a:p>
          <a:p>
            <a:pPr lvl="0" algn="just">
              <a:lnSpc>
                <a:spcPct val="80000"/>
              </a:lnSpc>
              <a:buFont typeface="Calibri Light"/>
              <a:buAutoNum type="arabicPeriod"/>
            </a:pPr>
            <a:r>
              <a:rPr lang="en-GB" sz="2600" b="1" dirty="0">
                <a:latin typeface="inter-bold"/>
              </a:rPr>
              <a:t>Expertise in a domain:</a:t>
            </a:r>
            <a:r>
              <a:rPr lang="en-GB" sz="2600" dirty="0">
                <a:latin typeface="inter-regular"/>
              </a:rPr>
              <a:t> There are lots of human experts in each domain, and they all have different skills, different experiences, and different skills, so it is not easy to get a final output for the query. But if we put the knowledge gained from human experts into the expert system, then it provides an efficient output by mixing all the facts and knowledge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C2EF0-2BDE-4962-5978-BFAC7C69D59B}"/>
              </a:ext>
            </a:extLst>
          </p:cNvPr>
          <p:cNvSpPr txBox="1">
            <a:spLocks noGrp="1"/>
          </p:cNvSpPr>
          <p:nvPr>
            <p:ph type="title"/>
          </p:nvPr>
        </p:nvSpPr>
        <p:spPr/>
        <p:txBody>
          <a:bodyPr/>
          <a:lstStyle/>
          <a:p>
            <a:pPr lvl="0"/>
            <a:r>
              <a:rPr lang="en-GB" dirty="0"/>
              <a:t>Expert System’s vs Human Experts</a:t>
            </a:r>
          </a:p>
        </p:txBody>
      </p:sp>
      <p:sp>
        <p:nvSpPr>
          <p:cNvPr id="3" name="Content Placeholder 2">
            <a:extLst>
              <a:ext uri="{FF2B5EF4-FFF2-40B4-BE49-F238E27FC236}">
                <a16:creationId xmlns:a16="http://schemas.microsoft.com/office/drawing/2014/main" id="{44489B65-120B-C797-6AE4-8083D4A76358}"/>
              </a:ext>
            </a:extLst>
          </p:cNvPr>
          <p:cNvSpPr txBox="1">
            <a:spLocks noGrp="1"/>
          </p:cNvSpPr>
          <p:nvPr>
            <p:ph idx="1"/>
          </p:nvPr>
        </p:nvSpPr>
        <p:spPr/>
        <p:txBody>
          <a:bodyPr>
            <a:normAutofit lnSpcReduction="10000"/>
          </a:bodyPr>
          <a:lstStyle/>
          <a:p>
            <a:pPr marL="514350" lvl="0" indent="-514350" algn="just">
              <a:lnSpc>
                <a:spcPct val="80000"/>
              </a:lnSpc>
              <a:buFont typeface="Calibri Light"/>
              <a:buAutoNum type="arabicPeriod" startAt="4"/>
            </a:pPr>
            <a:r>
              <a:rPr lang="en-GB" sz="2600" b="1">
                <a:latin typeface="inter-bold"/>
              </a:rPr>
              <a:t>Not affected by emotions:</a:t>
            </a:r>
            <a:r>
              <a:rPr lang="en-GB" sz="2600">
                <a:latin typeface="inter-regular"/>
              </a:rPr>
              <a:t> These systems are not affected by human emotions such as fatigue, anger, depression, anxiety, etc.. Hence the performance remains constant.</a:t>
            </a:r>
          </a:p>
          <a:p>
            <a:pPr marL="514350" lvl="0" indent="-514350" algn="just">
              <a:lnSpc>
                <a:spcPct val="80000"/>
              </a:lnSpc>
              <a:buFont typeface="Calibri Light"/>
              <a:buAutoNum type="arabicPeriod" startAt="4"/>
            </a:pPr>
            <a:r>
              <a:rPr lang="en-GB" sz="2600" b="1">
                <a:latin typeface="inter-bold"/>
              </a:rPr>
              <a:t>High security:</a:t>
            </a:r>
            <a:r>
              <a:rPr lang="en-GB" sz="2600">
                <a:latin typeface="inter-regular"/>
              </a:rPr>
              <a:t> These systems provide high security to resolve any query.</a:t>
            </a:r>
          </a:p>
          <a:p>
            <a:pPr marL="514350" lvl="0" indent="-514350" algn="just">
              <a:lnSpc>
                <a:spcPct val="80000"/>
              </a:lnSpc>
              <a:buFont typeface="Calibri Light"/>
              <a:buAutoNum type="arabicPeriod" startAt="4"/>
            </a:pPr>
            <a:r>
              <a:rPr lang="en-GB" sz="2600" b="1">
                <a:latin typeface="inter-bold"/>
              </a:rPr>
              <a:t>Considers all the facts:</a:t>
            </a:r>
            <a:r>
              <a:rPr lang="en-GB" sz="2600">
                <a:latin typeface="inter-regular"/>
              </a:rPr>
              <a:t> To respond to any query, it checks and considers all the available facts and provides the result accordingly. But it is possible that a human expert may not consider some facts due to any reason.</a:t>
            </a:r>
          </a:p>
          <a:p>
            <a:pPr marL="514350" lvl="0" indent="-514350" algn="just">
              <a:lnSpc>
                <a:spcPct val="80000"/>
              </a:lnSpc>
              <a:buFont typeface="Calibri Light"/>
              <a:buAutoNum type="arabicPeriod" startAt="4"/>
            </a:pPr>
            <a:r>
              <a:rPr lang="en-GB" sz="2600" b="1">
                <a:latin typeface="inter-bold"/>
              </a:rPr>
              <a:t>Regular updates improve the performance:</a:t>
            </a:r>
            <a:r>
              <a:rPr lang="en-GB" sz="2600">
                <a:latin typeface="inter-regular"/>
              </a:rPr>
              <a:t> If there is an issue in the result provided by the expert systems, we can improve the performance of the system by updating the knowledge base.</a:t>
            </a:r>
          </a:p>
          <a:p>
            <a:pPr lvl="0">
              <a:lnSpc>
                <a:spcPct val="80000"/>
              </a:lnSpc>
            </a:pPr>
            <a:endParaRPr lang="en-GB" sz="26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B3AA17-1B17-F183-D261-7966AEED85BE}"/>
              </a:ext>
            </a:extLst>
          </p:cNvPr>
          <p:cNvSpPr>
            <a:spLocks noGrp="1"/>
          </p:cNvSpPr>
          <p:nvPr>
            <p:ph type="title"/>
          </p:nvPr>
        </p:nvSpPr>
        <p:spPr>
          <a:xfrm>
            <a:off x="5181601" y="634946"/>
            <a:ext cx="6368142" cy="1450757"/>
          </a:xfrm>
        </p:spPr>
        <p:txBody>
          <a:bodyPr>
            <a:normAutofit/>
          </a:bodyPr>
          <a:lstStyle/>
          <a:p>
            <a:r>
              <a:rPr lang="en-US" sz="4100" b="0" i="0">
                <a:effectLst/>
                <a:latin typeface="Inter"/>
              </a:rPr>
              <a:t>How Expert Systems Operate</a:t>
            </a:r>
            <a:br>
              <a:rPr lang="en-US" sz="4100" b="0" i="0">
                <a:effectLst/>
                <a:latin typeface="Inter"/>
              </a:rPr>
            </a:br>
            <a:endParaRPr lang="en-US" sz="4100"/>
          </a:p>
        </p:txBody>
      </p:sp>
      <p:pic>
        <p:nvPicPr>
          <p:cNvPr id="5" name="Picture 4" descr="Person holding a puzzle piece">
            <a:extLst>
              <a:ext uri="{FF2B5EF4-FFF2-40B4-BE49-F238E27FC236}">
                <a16:creationId xmlns:a16="http://schemas.microsoft.com/office/drawing/2014/main" id="{5FA0F07A-571C-2DF9-ABFB-95C0F15E11B3}"/>
              </a:ext>
            </a:extLst>
          </p:cNvPr>
          <p:cNvPicPr>
            <a:picLocks noChangeAspect="1"/>
          </p:cNvPicPr>
          <p:nvPr/>
        </p:nvPicPr>
        <p:blipFill>
          <a:blip r:embed="rId2"/>
          <a:srcRect l="27213" r="26888"/>
          <a:stretch/>
        </p:blipFill>
        <p:spPr>
          <a:xfrm>
            <a:off x="20" y="-12128"/>
            <a:ext cx="4654276"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3E0C953-07A2-7E36-E0AF-FA034550918D}"/>
              </a:ext>
            </a:extLst>
          </p:cNvPr>
          <p:cNvSpPr>
            <a:spLocks noGrp="1"/>
          </p:cNvSpPr>
          <p:nvPr>
            <p:ph idx="1"/>
          </p:nvPr>
        </p:nvSpPr>
        <p:spPr>
          <a:xfrm>
            <a:off x="5181601" y="2198913"/>
            <a:ext cx="6368142" cy="4135399"/>
          </a:xfrm>
        </p:spPr>
        <p:txBody>
          <a:bodyPr>
            <a:normAutofit fontScale="92500" lnSpcReduction="20000"/>
          </a:bodyPr>
          <a:lstStyle/>
          <a:p>
            <a:r>
              <a:rPr lang="en-US" sz="3000" b="0" i="0" dirty="0">
                <a:effectLst/>
                <a:latin typeface="Inter"/>
              </a:rPr>
              <a:t>Expert systems follow a </a:t>
            </a:r>
            <a:r>
              <a:rPr lang="en-US" sz="3000" b="1" i="0" dirty="0">
                <a:effectLst/>
                <a:latin typeface="Inter"/>
              </a:rPr>
              <a:t>structured process</a:t>
            </a:r>
            <a:r>
              <a:rPr lang="en-US" sz="3000" b="0" i="0" dirty="0">
                <a:effectLst/>
                <a:latin typeface="Inter"/>
              </a:rPr>
              <a:t> to emulate human decision-making:</a:t>
            </a:r>
          </a:p>
          <a:p>
            <a:pPr lvl="1">
              <a:spcAft>
                <a:spcPts val="750"/>
              </a:spcAft>
              <a:buFont typeface="Arial" panose="020B0604020202020204" pitchFamily="34" charset="0"/>
              <a:buChar char="•"/>
            </a:pPr>
            <a:r>
              <a:rPr lang="en-US" sz="2600" b="1" i="0" dirty="0">
                <a:effectLst/>
                <a:latin typeface="Inter"/>
              </a:rPr>
              <a:t>Input</a:t>
            </a:r>
            <a:r>
              <a:rPr lang="en-US" sz="2600" b="0" i="0" dirty="0">
                <a:effectLst/>
                <a:latin typeface="Inter"/>
              </a:rPr>
              <a:t>: Users input data or questions through the user interface.</a:t>
            </a:r>
          </a:p>
          <a:p>
            <a:pPr lvl="1">
              <a:spcAft>
                <a:spcPts val="750"/>
              </a:spcAft>
              <a:buFont typeface="Arial" panose="020B0604020202020204" pitchFamily="34" charset="0"/>
              <a:buChar char="•"/>
            </a:pPr>
            <a:r>
              <a:rPr lang="en-US" sz="2600" b="1" i="0" dirty="0">
                <a:effectLst/>
                <a:latin typeface="Inter"/>
              </a:rPr>
              <a:t>Knowledge Application</a:t>
            </a:r>
            <a:r>
              <a:rPr lang="en-US" sz="2600" b="0" i="0" dirty="0">
                <a:effectLst/>
                <a:latin typeface="Inter"/>
              </a:rPr>
              <a:t>: The inference engine processes this data using the rules and facts stored in the knowledge base.</a:t>
            </a:r>
          </a:p>
          <a:p>
            <a:pPr lvl="1">
              <a:spcAft>
                <a:spcPts val="750"/>
              </a:spcAft>
              <a:buFont typeface="Arial" panose="020B0604020202020204" pitchFamily="34" charset="0"/>
              <a:buChar char="•"/>
            </a:pPr>
            <a:r>
              <a:rPr lang="en-US" sz="2600" b="1" i="0" dirty="0">
                <a:effectLst/>
                <a:latin typeface="Inter"/>
              </a:rPr>
              <a:t>Reasoning</a:t>
            </a:r>
            <a:r>
              <a:rPr lang="en-US" sz="2600" b="0" i="0" dirty="0">
                <a:effectLst/>
                <a:latin typeface="Inter"/>
              </a:rPr>
              <a:t>: The system applies logical reasoning to draw conclusions or provide recommendations.</a:t>
            </a:r>
          </a:p>
          <a:p>
            <a:pPr lvl="1">
              <a:spcAft>
                <a:spcPts val="750"/>
              </a:spcAft>
              <a:buFont typeface="Arial" panose="020B0604020202020204" pitchFamily="34" charset="0"/>
              <a:buChar char="•"/>
            </a:pPr>
            <a:r>
              <a:rPr lang="en-US" sz="2600" b="1" i="0" dirty="0">
                <a:effectLst/>
                <a:latin typeface="Inter"/>
              </a:rPr>
              <a:t>Output</a:t>
            </a:r>
            <a:r>
              <a:rPr lang="en-US" sz="2600" b="0" i="0" dirty="0">
                <a:effectLst/>
                <a:latin typeface="Inter"/>
              </a:rPr>
              <a:t>: The system presents the solution or advice to the user, often with an explanation of how it arrived at the conclusion.</a:t>
            </a:r>
          </a:p>
          <a:p>
            <a:endParaRPr lang="en-US" dirty="0"/>
          </a:p>
        </p:txBody>
      </p:sp>
    </p:spTree>
    <p:extLst>
      <p:ext uri="{BB962C8B-B14F-4D97-AF65-F5344CB8AC3E}">
        <p14:creationId xmlns:p14="http://schemas.microsoft.com/office/powerpoint/2010/main" val="21561256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BDBF90-A779-3554-1735-AF36DE85BDC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B845AE56-B6F6-AB86-7ED7-F2DE521BC7CF}"/>
              </a:ext>
            </a:extLst>
          </p:cNvPr>
          <p:cNvSpPr>
            <a:spLocks noGrp="1"/>
          </p:cNvSpPr>
          <p:nvPr>
            <p:ph type="title"/>
          </p:nvPr>
        </p:nvSpPr>
        <p:spPr>
          <a:xfrm>
            <a:off x="492370" y="605896"/>
            <a:ext cx="3084844" cy="5646208"/>
          </a:xfrm>
        </p:spPr>
        <p:txBody>
          <a:bodyPr anchor="ctr">
            <a:normAutofit/>
          </a:bodyPr>
          <a:lstStyle/>
          <a:p>
            <a:r>
              <a:rPr lang="en-US" sz="3600" b="0" i="0">
                <a:solidFill>
                  <a:srgbClr val="FFFFFF"/>
                </a:solidFill>
                <a:effectLst/>
                <a:latin typeface="Inter"/>
              </a:rPr>
              <a:t>Applications of Expert Systems</a:t>
            </a:r>
            <a:br>
              <a:rPr lang="en-US" sz="3600" b="0" i="0">
                <a:solidFill>
                  <a:srgbClr val="FFFFFF"/>
                </a:solidFill>
                <a:effectLst/>
                <a:latin typeface="Inter"/>
              </a:rPr>
            </a:br>
            <a:endParaRPr lang="en-US" sz="3600" b="0" i="0">
              <a:solidFill>
                <a:srgbClr val="FFFFFF"/>
              </a:solidFill>
              <a:effectLst/>
              <a:latin typeface="Inter"/>
            </a:endParaRP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3" name="Content Placeholder 2">
            <a:extLst>
              <a:ext uri="{FF2B5EF4-FFF2-40B4-BE49-F238E27FC236}">
                <a16:creationId xmlns:a16="http://schemas.microsoft.com/office/drawing/2014/main" id="{6756B87F-121C-5DEE-2DF4-D6890EBB96E0}"/>
              </a:ext>
            </a:extLst>
          </p:cNvPr>
          <p:cNvSpPr>
            <a:spLocks noGrp="1"/>
          </p:cNvSpPr>
          <p:nvPr>
            <p:ph idx="1"/>
          </p:nvPr>
        </p:nvSpPr>
        <p:spPr>
          <a:xfrm>
            <a:off x="4742016" y="605896"/>
            <a:ext cx="6413663" cy="5646208"/>
          </a:xfrm>
        </p:spPr>
        <p:txBody>
          <a:bodyPr anchor="ctr">
            <a:normAutofit fontScale="77500" lnSpcReduction="20000"/>
          </a:bodyPr>
          <a:lstStyle/>
          <a:p>
            <a:r>
              <a:rPr lang="en-US" sz="3600" b="0" i="0" dirty="0">
                <a:effectLst/>
                <a:latin typeface="Inter"/>
              </a:rPr>
              <a:t>Expert systems follow a </a:t>
            </a:r>
            <a:r>
              <a:rPr lang="en-US" sz="3600" b="1" i="0" dirty="0">
                <a:effectLst/>
                <a:latin typeface="Inter"/>
              </a:rPr>
              <a:t>structured process</a:t>
            </a:r>
            <a:r>
              <a:rPr lang="en-US" sz="3600" b="0" i="0" dirty="0">
                <a:effectLst/>
                <a:latin typeface="Inter"/>
              </a:rPr>
              <a:t> to emulate human decision-making:</a:t>
            </a:r>
          </a:p>
          <a:p>
            <a:pPr marL="201168" lvl="1" indent="0">
              <a:spcAft>
                <a:spcPts val="750"/>
              </a:spcAft>
              <a:buNone/>
            </a:pPr>
            <a:endParaRPr lang="en-US" sz="2600" b="0" i="0" dirty="0">
              <a:effectLst/>
              <a:latin typeface="Inter"/>
            </a:endParaRPr>
          </a:p>
          <a:p>
            <a:pPr>
              <a:spcAft>
                <a:spcPts val="750"/>
              </a:spcAft>
              <a:buFont typeface="Arial" panose="020B0604020202020204" pitchFamily="34" charset="0"/>
              <a:buChar char="•"/>
            </a:pPr>
            <a:r>
              <a:rPr lang="en-US" sz="3000" b="1" i="0" dirty="0">
                <a:effectLst/>
                <a:latin typeface="Inter"/>
              </a:rPr>
              <a:t>Financial Services:</a:t>
            </a:r>
          </a:p>
          <a:p>
            <a:pPr lvl="1">
              <a:spcAft>
                <a:spcPts val="750"/>
              </a:spcAft>
              <a:buFont typeface="Arial" panose="020B0604020202020204" pitchFamily="34" charset="0"/>
              <a:buChar char="•"/>
            </a:pPr>
            <a:r>
              <a:rPr lang="en-US" sz="2600" b="0" i="0" dirty="0">
                <a:effectLst/>
                <a:latin typeface="Inter"/>
              </a:rPr>
              <a:t> help in the decision-making process in investments, evaluation of risks, and identification of fraud.</a:t>
            </a:r>
          </a:p>
          <a:p>
            <a:pPr>
              <a:spcAft>
                <a:spcPts val="750"/>
              </a:spcAft>
              <a:buFont typeface="Arial" panose="020B0604020202020204" pitchFamily="34" charset="0"/>
              <a:buChar char="•"/>
            </a:pPr>
            <a:r>
              <a:rPr lang="en-US" sz="3000" b="1" i="0" dirty="0">
                <a:effectLst/>
                <a:latin typeface="Inter"/>
              </a:rPr>
              <a:t>Engineering:</a:t>
            </a:r>
            <a:r>
              <a:rPr lang="en-US" sz="3000" b="0" i="0" dirty="0">
                <a:effectLst/>
                <a:latin typeface="Inter"/>
              </a:rPr>
              <a:t> </a:t>
            </a:r>
          </a:p>
          <a:p>
            <a:pPr lvl="1">
              <a:spcAft>
                <a:spcPts val="750"/>
              </a:spcAft>
              <a:buFont typeface="Arial" panose="020B0604020202020204" pitchFamily="34" charset="0"/>
              <a:buChar char="•"/>
            </a:pPr>
            <a:r>
              <a:rPr lang="en-US" sz="2600" b="0" i="0" dirty="0">
                <a:effectLst/>
                <a:latin typeface="Inter"/>
              </a:rPr>
              <a:t>Aids in development of methods, identification of problems and improvement on the existing procedures.</a:t>
            </a:r>
          </a:p>
          <a:p>
            <a:pPr>
              <a:spcAft>
                <a:spcPts val="750"/>
              </a:spcAft>
              <a:buFont typeface="Arial" panose="020B0604020202020204" pitchFamily="34" charset="0"/>
              <a:buChar char="•"/>
            </a:pPr>
            <a:r>
              <a:rPr lang="en-US" sz="3000" b="1" i="0" dirty="0">
                <a:effectLst/>
                <a:latin typeface="Inter"/>
              </a:rPr>
              <a:t>Customer Support:</a:t>
            </a:r>
            <a:r>
              <a:rPr lang="en-US" sz="3000" b="0" i="0" dirty="0">
                <a:effectLst/>
                <a:latin typeface="Inter"/>
              </a:rPr>
              <a:t> </a:t>
            </a:r>
          </a:p>
          <a:p>
            <a:pPr lvl="1">
              <a:spcAft>
                <a:spcPts val="750"/>
              </a:spcAft>
              <a:buFont typeface="Arial" panose="020B0604020202020204" pitchFamily="34" charset="0"/>
              <a:buChar char="•"/>
            </a:pPr>
            <a:r>
              <a:rPr lang="en-US" sz="2600" b="0" i="0" dirty="0">
                <a:effectLst/>
                <a:latin typeface="Inter"/>
              </a:rPr>
              <a:t>To deliver expert-level automated response to customers’ questions and requests.</a:t>
            </a:r>
          </a:p>
          <a:p>
            <a:pPr>
              <a:spcAft>
                <a:spcPts val="750"/>
              </a:spcAft>
              <a:buFont typeface="Arial" panose="020B0604020202020204" pitchFamily="34" charset="0"/>
              <a:buChar char="•"/>
            </a:pPr>
            <a:r>
              <a:rPr lang="en-US" sz="3000" b="1" dirty="0">
                <a:latin typeface="Inter"/>
              </a:rPr>
              <a:t>Agriculture: </a:t>
            </a:r>
          </a:p>
          <a:p>
            <a:pPr lvl="1">
              <a:spcAft>
                <a:spcPts val="750"/>
              </a:spcAft>
              <a:buFont typeface="Arial" panose="020B0604020202020204" pitchFamily="34" charset="0"/>
              <a:buChar char="•"/>
            </a:pPr>
            <a:r>
              <a:rPr lang="en-US" sz="2600" b="0" i="0" dirty="0">
                <a:effectLst/>
                <a:latin typeface="Inter"/>
              </a:rPr>
              <a:t>Help the farmers with techniques regarding their crops, pest, and soils among others.</a:t>
            </a:r>
            <a:endParaRPr lang="en-US" b="0" i="0" dirty="0">
              <a:effectLst/>
              <a:latin typeface="Inter"/>
            </a:endParaRPr>
          </a:p>
        </p:txBody>
      </p:sp>
    </p:spTree>
    <p:extLst>
      <p:ext uri="{BB962C8B-B14F-4D97-AF65-F5344CB8AC3E}">
        <p14:creationId xmlns:p14="http://schemas.microsoft.com/office/powerpoint/2010/main" val="4059557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2C68F4-0AFB-5774-0C17-4D4D2D5C8470}"/>
              </a:ext>
            </a:extLst>
          </p:cNvPr>
          <p:cNvSpPr txBox="1">
            <a:spLocks noGrp="1"/>
          </p:cNvSpPr>
          <p:nvPr>
            <p:ph type="title"/>
          </p:nvPr>
        </p:nvSpPr>
        <p:spPr>
          <a:xfrm>
            <a:off x="466722" y="586855"/>
            <a:ext cx="3201366" cy="3387497"/>
          </a:xfrm>
        </p:spPr>
        <p:txBody>
          <a:bodyPr anchor="b">
            <a:normAutofit/>
          </a:bodyPr>
          <a:lstStyle/>
          <a:p>
            <a:pPr lvl="0" algn="r"/>
            <a:r>
              <a:rPr lang="en-GB" sz="4000">
                <a:solidFill>
                  <a:srgbClr val="FFFFFF"/>
                </a:solidFill>
                <a:latin typeface="erdana"/>
              </a:rPr>
              <a:t>Applications of Expert System</a:t>
            </a:r>
            <a:endParaRPr lang="en-GB" sz="4000">
              <a:solidFill>
                <a:srgbClr val="FFFFFF"/>
              </a:solidFill>
            </a:endParaRPr>
          </a:p>
        </p:txBody>
      </p:sp>
      <p:sp>
        <p:nvSpPr>
          <p:cNvPr id="3" name="Content Placeholder 2">
            <a:extLst>
              <a:ext uri="{FF2B5EF4-FFF2-40B4-BE49-F238E27FC236}">
                <a16:creationId xmlns:a16="http://schemas.microsoft.com/office/drawing/2014/main" id="{73AFD163-F7D7-1D1A-BAE9-8A54058BE99E}"/>
              </a:ext>
            </a:extLst>
          </p:cNvPr>
          <p:cNvSpPr txBox="1">
            <a:spLocks noGrp="1"/>
          </p:cNvSpPr>
          <p:nvPr>
            <p:ph idx="1"/>
          </p:nvPr>
        </p:nvSpPr>
        <p:spPr>
          <a:xfrm>
            <a:off x="4810259" y="649480"/>
            <a:ext cx="6555347" cy="5546047"/>
          </a:xfrm>
        </p:spPr>
        <p:txBody>
          <a:bodyPr anchor="ctr">
            <a:normAutofit fontScale="92500" lnSpcReduction="10000"/>
          </a:bodyPr>
          <a:lstStyle/>
          <a:p>
            <a:pPr lvl="0"/>
            <a:r>
              <a:rPr lang="en-GB" sz="2400" b="1" dirty="0">
                <a:latin typeface="inter-bold"/>
              </a:rPr>
              <a:t>In designing and manufacturing domain</a:t>
            </a:r>
          </a:p>
          <a:p>
            <a:pPr marL="0" lvl="0" indent="0">
              <a:buNone/>
            </a:pPr>
            <a:r>
              <a:rPr lang="en-GB" sz="2400" dirty="0">
                <a:latin typeface="inter-regular"/>
              </a:rPr>
              <a:t>	It can be broadly used for designing and manufacturing physical devices such as camera lenses and automobiles.</a:t>
            </a:r>
          </a:p>
          <a:p>
            <a:pPr lvl="0"/>
            <a:r>
              <a:rPr lang="en-GB" sz="2400" b="1" dirty="0">
                <a:latin typeface="inter-bold"/>
              </a:rPr>
              <a:t>In the finance domain</a:t>
            </a:r>
          </a:p>
          <a:p>
            <a:pPr marL="0" lvl="0" indent="0">
              <a:buNone/>
            </a:pPr>
            <a:r>
              <a:rPr lang="en-GB" sz="2400" dirty="0">
                <a:latin typeface="inter-regular"/>
              </a:rPr>
              <a:t>	In the finance industries, it is used to detect any type of possible fraud, suspicious activity, and advise bankers that if they should provide loans for business or not.</a:t>
            </a:r>
          </a:p>
          <a:p>
            <a:pPr lvl="0"/>
            <a:r>
              <a:rPr lang="en-GB" sz="2400" b="1" dirty="0">
                <a:latin typeface="inter-bold"/>
              </a:rPr>
              <a:t>In the diagnosis and troubleshooting of devices</a:t>
            </a:r>
          </a:p>
          <a:p>
            <a:pPr marL="0" lvl="0" indent="0">
              <a:buNone/>
            </a:pPr>
            <a:r>
              <a:rPr lang="en-GB" sz="2400" dirty="0">
                <a:latin typeface="inter-regular"/>
              </a:rPr>
              <a:t>	In medical diagnosis, the ES system is used, and it was the first area where these systems were used.</a:t>
            </a:r>
          </a:p>
          <a:p>
            <a:pPr lvl="0"/>
            <a:r>
              <a:rPr lang="en-GB" sz="2400" b="1" dirty="0">
                <a:latin typeface="inter-bold"/>
              </a:rPr>
              <a:t>Planning and Scheduling</a:t>
            </a:r>
          </a:p>
          <a:p>
            <a:pPr marL="0" lvl="0" indent="0">
              <a:buNone/>
            </a:pPr>
            <a:r>
              <a:rPr lang="en-GB" sz="2400" dirty="0">
                <a:latin typeface="inter-regular"/>
              </a:rPr>
              <a:t>	The expert systems can also be used for planning and scheduling some particular tasks for achieving the goal of that task.</a:t>
            </a:r>
          </a:p>
          <a:p>
            <a:pPr lvl="0"/>
            <a:endParaRPr lang="en-GB" sz="2400" dirty="0"/>
          </a:p>
          <a:p>
            <a:pPr lvl="0"/>
            <a:endParaRPr lang="en-GB"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33308-213B-1101-50A4-6A86AE912374}"/>
              </a:ext>
            </a:extLst>
          </p:cNvPr>
          <p:cNvSpPr>
            <a:spLocks noGrp="1"/>
          </p:cNvSpPr>
          <p:nvPr>
            <p:ph type="title"/>
          </p:nvPr>
        </p:nvSpPr>
        <p:spPr/>
        <p:txBody>
          <a:bodyPr/>
          <a:lstStyle/>
          <a:p>
            <a:r>
              <a:rPr lang="en-US"/>
              <a:t>Future of Expert Systems</a:t>
            </a:r>
            <a:endParaRPr lang="en-US" dirty="0"/>
          </a:p>
        </p:txBody>
      </p:sp>
      <p:sp>
        <p:nvSpPr>
          <p:cNvPr id="3" name="Content Placeholder 2">
            <a:extLst>
              <a:ext uri="{FF2B5EF4-FFF2-40B4-BE49-F238E27FC236}">
                <a16:creationId xmlns:a16="http://schemas.microsoft.com/office/drawing/2014/main" id="{40CBB731-5943-366B-C3E4-B080975EAEEE}"/>
              </a:ext>
            </a:extLst>
          </p:cNvPr>
          <p:cNvSpPr>
            <a:spLocks noGrp="1"/>
          </p:cNvSpPr>
          <p:nvPr>
            <p:ph idx="1"/>
          </p:nvPr>
        </p:nvSpPr>
        <p:spPr>
          <a:xfrm>
            <a:off x="1066800" y="1737360"/>
            <a:ext cx="10058400" cy="4725663"/>
          </a:xfrm>
        </p:spPr>
        <p:txBody>
          <a:bodyPr>
            <a:normAutofit lnSpcReduction="10000"/>
          </a:bodyPr>
          <a:lstStyle/>
          <a:p>
            <a:pPr algn="just"/>
            <a:r>
              <a:rPr lang="en-US" sz="2400" dirty="0"/>
              <a:t>Traditional expert systems are rule-based and don’t learn on their own. In the future, they’ll be enhanced by machine learning, allowing them to learn from new data and improve automatically.</a:t>
            </a:r>
          </a:p>
          <a:p>
            <a:pPr algn="just">
              <a:buNone/>
            </a:pPr>
            <a:r>
              <a:rPr lang="en-US" sz="2400" dirty="0"/>
              <a:t>Will be used more widely in fields like: </a:t>
            </a:r>
            <a:r>
              <a:rPr lang="en-US" sz="2400" b="1" dirty="0"/>
              <a:t>Healthcare</a:t>
            </a:r>
            <a:r>
              <a:rPr lang="en-US" sz="2400" dirty="0"/>
              <a:t> (faster diagnosis), </a:t>
            </a:r>
            <a:r>
              <a:rPr lang="en-US" sz="2400" b="1" dirty="0"/>
              <a:t>Finance</a:t>
            </a:r>
            <a:r>
              <a:rPr lang="en-US" sz="2400" dirty="0"/>
              <a:t> (fraud detection, investment advice), </a:t>
            </a:r>
            <a:r>
              <a:rPr lang="en-US" sz="2400" b="1" dirty="0"/>
              <a:t>Agriculture</a:t>
            </a:r>
            <a:r>
              <a:rPr lang="en-US" sz="2400" dirty="0"/>
              <a:t> (crop management), </a:t>
            </a:r>
            <a:r>
              <a:rPr lang="en-US" sz="2400" b="1" dirty="0"/>
              <a:t>Education</a:t>
            </a:r>
            <a:r>
              <a:rPr lang="en-US" sz="2400" dirty="0"/>
              <a:t> (personalized tutoring)</a:t>
            </a:r>
          </a:p>
          <a:p>
            <a:pPr algn="just">
              <a:buNone/>
            </a:pPr>
            <a:r>
              <a:rPr lang="en-US" sz="2400" dirty="0"/>
              <a:t>Expert systems will be available on the </a:t>
            </a:r>
            <a:r>
              <a:rPr lang="en-US" sz="2400" b="1" dirty="0"/>
              <a:t>cloud</a:t>
            </a:r>
            <a:r>
              <a:rPr lang="en-US" sz="2400" dirty="0"/>
              <a:t>, making them </a:t>
            </a:r>
            <a:r>
              <a:rPr lang="en-US" sz="2400" b="1" dirty="0"/>
              <a:t>accessible from anywhere</a:t>
            </a:r>
            <a:r>
              <a:rPr lang="en-US" sz="2400" dirty="0"/>
              <a:t> and easier to update and scale.</a:t>
            </a:r>
          </a:p>
          <a:p>
            <a:pPr algn="just">
              <a:buNone/>
            </a:pPr>
            <a:r>
              <a:rPr lang="en-US" sz="2400" dirty="0"/>
              <a:t>Future expert systems will be more user-friendly, using </a:t>
            </a:r>
            <a:r>
              <a:rPr lang="en-US" sz="2400" b="1" dirty="0"/>
              <a:t>natural language processing</a:t>
            </a:r>
            <a:r>
              <a:rPr lang="en-US" sz="2400" dirty="0"/>
              <a:t> to communicate with users in a more natural, human-like way.</a:t>
            </a:r>
          </a:p>
          <a:p>
            <a:pPr algn="just">
              <a:buNone/>
            </a:pPr>
            <a:r>
              <a:rPr lang="en-US" sz="2400" dirty="0"/>
              <a:t>Expert systems will work alongside other AI models like </a:t>
            </a:r>
            <a:r>
              <a:rPr lang="en-US" sz="2400" b="1" dirty="0"/>
              <a:t>deep learning</a:t>
            </a:r>
            <a:r>
              <a:rPr lang="en-US" sz="2400" dirty="0"/>
              <a:t>, </a:t>
            </a:r>
            <a:r>
              <a:rPr lang="en-US" sz="2400" b="1" dirty="0"/>
              <a:t>neural networks</a:t>
            </a:r>
            <a:r>
              <a:rPr lang="en-US" sz="2400" dirty="0"/>
              <a:t>, and </a:t>
            </a:r>
            <a:r>
              <a:rPr lang="en-US" sz="2400" b="1" dirty="0"/>
              <a:t>big data systems</a:t>
            </a:r>
            <a:r>
              <a:rPr lang="en-US" sz="2400" dirty="0"/>
              <a:t> to handle more complex and dynamic problems.</a:t>
            </a:r>
            <a:endParaRPr lang="en-US" dirty="0"/>
          </a:p>
        </p:txBody>
      </p:sp>
    </p:spTree>
    <p:extLst>
      <p:ext uri="{BB962C8B-B14F-4D97-AF65-F5344CB8AC3E}">
        <p14:creationId xmlns:p14="http://schemas.microsoft.com/office/powerpoint/2010/main" val="3216913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5993E2-C02B-4335-ABA5-D8EC46555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B801A2-5622-4BE8-9AD2-C337A2CD0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a:extLst>
              <a:ext uri="{FF2B5EF4-FFF2-40B4-BE49-F238E27FC236}">
                <a16:creationId xmlns:a16="http://schemas.microsoft.com/office/drawing/2014/main" id="{EBB5C1F0-02C7-C94D-F73C-CD303BD88644}"/>
              </a:ext>
            </a:extLst>
          </p:cNvPr>
          <p:cNvSpPr>
            <a:spLocks noGrp="1"/>
          </p:cNvSpPr>
          <p:nvPr>
            <p:ph type="title"/>
          </p:nvPr>
        </p:nvSpPr>
        <p:spPr>
          <a:xfrm>
            <a:off x="492370" y="516835"/>
            <a:ext cx="3084844" cy="5772840"/>
          </a:xfrm>
        </p:spPr>
        <p:txBody>
          <a:bodyPr anchor="ctr">
            <a:normAutofit/>
          </a:bodyPr>
          <a:lstStyle/>
          <a:p>
            <a:r>
              <a:rPr lang="en-US" sz="3600" b="0" i="0">
                <a:solidFill>
                  <a:srgbClr val="FFFFFF"/>
                </a:solidFill>
                <a:effectLst/>
                <a:latin typeface="Inter"/>
              </a:rPr>
              <a:t>Advantages of Expert Systems</a:t>
            </a:r>
            <a:br>
              <a:rPr lang="en-US" sz="3600" b="0" i="0">
                <a:solidFill>
                  <a:srgbClr val="FFFFFF"/>
                </a:solidFill>
                <a:effectLst/>
                <a:latin typeface="Inter"/>
              </a:rPr>
            </a:br>
            <a:endParaRPr lang="en-US" sz="3600">
              <a:solidFill>
                <a:srgbClr val="FFFFFF"/>
              </a:solidFill>
            </a:endParaRPr>
          </a:p>
        </p:txBody>
      </p:sp>
      <p:sp>
        <p:nvSpPr>
          <p:cNvPr id="13" name="Rectangle 12">
            <a:extLst>
              <a:ext uri="{FF2B5EF4-FFF2-40B4-BE49-F238E27FC236}">
                <a16:creationId xmlns:a16="http://schemas.microsoft.com/office/drawing/2014/main" id="{B7AF614F-5BC3-4086-99F5-B87C5847A0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graphicFrame>
        <p:nvGraphicFramePr>
          <p:cNvPr id="5" name="Content Placeholder 2">
            <a:extLst>
              <a:ext uri="{FF2B5EF4-FFF2-40B4-BE49-F238E27FC236}">
                <a16:creationId xmlns:a16="http://schemas.microsoft.com/office/drawing/2014/main" id="{4D83DBD1-0782-35FB-BBAF-FD727EB1F75E}"/>
              </a:ext>
            </a:extLst>
          </p:cNvPr>
          <p:cNvGraphicFramePr>
            <a:graphicFrameLocks noGrp="1"/>
          </p:cNvGraphicFramePr>
          <p:nvPr>
            <p:ph idx="1"/>
            <p:extLst>
              <p:ext uri="{D42A27DB-BD31-4B8C-83A1-F6EECF244321}">
                <p14:modId xmlns:p14="http://schemas.microsoft.com/office/powerpoint/2010/main" val="3306477740"/>
              </p:ext>
            </p:extLst>
          </p:nvPr>
        </p:nvGraphicFramePr>
        <p:xfrm>
          <a:off x="4741863" y="639763"/>
          <a:ext cx="6797675" cy="564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482119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11973C2-EB8B-452A-A698-4A252FD3A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10162E77-11AD-44A7-84EC-40C59EEFBD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1A9229-9638-4791-ECF5-996CD7663137}"/>
              </a:ext>
            </a:extLst>
          </p:cNvPr>
          <p:cNvSpPr>
            <a:spLocks noGrp="1"/>
          </p:cNvSpPr>
          <p:nvPr>
            <p:ph type="title"/>
          </p:nvPr>
        </p:nvSpPr>
        <p:spPr>
          <a:xfrm>
            <a:off x="5181601" y="634946"/>
            <a:ext cx="6368142" cy="1450757"/>
          </a:xfrm>
        </p:spPr>
        <p:txBody>
          <a:bodyPr>
            <a:normAutofit/>
          </a:bodyPr>
          <a:lstStyle/>
          <a:p>
            <a:r>
              <a:rPr lang="en-US" sz="4100" b="0" i="0">
                <a:effectLst/>
                <a:latin typeface="Inter"/>
              </a:rPr>
              <a:t>Limitations of Expert Systems</a:t>
            </a:r>
            <a:br>
              <a:rPr lang="en-US" sz="4100" b="0" i="0">
                <a:effectLst/>
                <a:latin typeface="Inter"/>
              </a:rPr>
            </a:br>
            <a:endParaRPr lang="en-US" sz="4100"/>
          </a:p>
        </p:txBody>
      </p:sp>
      <p:pic>
        <p:nvPicPr>
          <p:cNvPr id="5" name="Picture 4" descr="A top view of books with different cover colors">
            <a:extLst>
              <a:ext uri="{FF2B5EF4-FFF2-40B4-BE49-F238E27FC236}">
                <a16:creationId xmlns:a16="http://schemas.microsoft.com/office/drawing/2014/main" id="{878BAE94-4B7D-7418-1E2D-4FA27B9D9FC0}"/>
              </a:ext>
            </a:extLst>
          </p:cNvPr>
          <p:cNvPicPr>
            <a:picLocks noChangeAspect="1"/>
          </p:cNvPicPr>
          <p:nvPr/>
        </p:nvPicPr>
        <p:blipFill>
          <a:blip r:embed="rId2"/>
          <a:srcRect l="11873" r="20379" b="-2"/>
          <a:stretch/>
        </p:blipFill>
        <p:spPr>
          <a:xfrm>
            <a:off x="20" y="-12128"/>
            <a:ext cx="4654276" cy="6870127"/>
          </a:xfrm>
          <a:prstGeom prst="rect">
            <a:avLst/>
          </a:prstGeom>
        </p:spPr>
      </p:pic>
      <p:cxnSp>
        <p:nvCxnSpPr>
          <p:cNvPr id="13" name="Straight Connector 12">
            <a:extLst>
              <a:ext uri="{FF2B5EF4-FFF2-40B4-BE49-F238E27FC236}">
                <a16:creationId xmlns:a16="http://schemas.microsoft.com/office/drawing/2014/main" id="{5AB158E9-1B40-4CD6-95F0-95CA11DF7B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287617" y="2085703"/>
            <a:ext cx="6170686"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E50DE4A-FA6E-1F0F-6B3B-2625817AEFE7}"/>
              </a:ext>
            </a:extLst>
          </p:cNvPr>
          <p:cNvSpPr>
            <a:spLocks noGrp="1"/>
          </p:cNvSpPr>
          <p:nvPr>
            <p:ph idx="1"/>
          </p:nvPr>
        </p:nvSpPr>
        <p:spPr>
          <a:xfrm>
            <a:off x="5181601" y="2198913"/>
            <a:ext cx="6368142" cy="4224461"/>
          </a:xfrm>
        </p:spPr>
        <p:txBody>
          <a:bodyPr>
            <a:normAutofit fontScale="92500" lnSpcReduction="20000"/>
          </a:bodyPr>
          <a:lstStyle/>
          <a:p>
            <a:pPr>
              <a:spcAft>
                <a:spcPts val="750"/>
              </a:spcAft>
              <a:buFont typeface="Wingdings" panose="05000000000000000000" pitchFamily="2" charset="2"/>
              <a:buChar char="q"/>
            </a:pPr>
            <a:r>
              <a:rPr lang="en-US" sz="2400" b="1" i="0" dirty="0">
                <a:effectLst/>
                <a:latin typeface="Inter"/>
              </a:rPr>
              <a:t>Lack of Common Sense</a:t>
            </a:r>
            <a:r>
              <a:rPr lang="en-US" sz="2400" b="0" i="0" dirty="0">
                <a:effectLst/>
                <a:latin typeface="Inter"/>
              </a:rPr>
              <a:t>: </a:t>
            </a:r>
          </a:p>
          <a:p>
            <a:pPr lvl="1">
              <a:spcAft>
                <a:spcPts val="750"/>
              </a:spcAft>
              <a:buFont typeface="Wingdings" panose="05000000000000000000" pitchFamily="2" charset="2"/>
              <a:buChar char="§"/>
            </a:pPr>
            <a:r>
              <a:rPr lang="en-US" sz="2400" b="0" i="0" dirty="0">
                <a:effectLst/>
                <a:latin typeface="Inter"/>
              </a:rPr>
              <a:t>They cannot understand context beyond their programmed knowledge.</a:t>
            </a:r>
          </a:p>
          <a:p>
            <a:pPr>
              <a:spcAft>
                <a:spcPts val="750"/>
              </a:spcAft>
              <a:buFont typeface="Wingdings" panose="05000000000000000000" pitchFamily="2" charset="2"/>
              <a:buChar char="q"/>
            </a:pPr>
            <a:r>
              <a:rPr lang="en-US" sz="2400" b="1" i="0" dirty="0">
                <a:effectLst/>
                <a:latin typeface="Inter"/>
              </a:rPr>
              <a:t>Maintenance</a:t>
            </a:r>
            <a:r>
              <a:rPr lang="en-US" sz="2400" b="0" i="0" dirty="0">
                <a:effectLst/>
                <a:latin typeface="Inter"/>
              </a:rPr>
              <a:t>: </a:t>
            </a:r>
          </a:p>
          <a:p>
            <a:pPr lvl="1">
              <a:spcAft>
                <a:spcPts val="750"/>
              </a:spcAft>
              <a:buFont typeface="Wingdings" panose="05000000000000000000" pitchFamily="2" charset="2"/>
              <a:buChar char="§"/>
            </a:pPr>
            <a:r>
              <a:rPr lang="en-US" sz="2400" b="0" i="0" dirty="0">
                <a:effectLst/>
                <a:latin typeface="Inter"/>
              </a:rPr>
              <a:t>Require regular updates to the knowledge base.</a:t>
            </a:r>
          </a:p>
          <a:p>
            <a:pPr>
              <a:spcAft>
                <a:spcPts val="750"/>
              </a:spcAft>
              <a:buFont typeface="Wingdings" panose="05000000000000000000" pitchFamily="2" charset="2"/>
              <a:buChar char="q"/>
            </a:pPr>
            <a:r>
              <a:rPr lang="en-US" sz="2400" b="1" i="0" dirty="0">
                <a:effectLst/>
                <a:latin typeface="Inter"/>
              </a:rPr>
              <a:t>Limited Creativity</a:t>
            </a:r>
            <a:r>
              <a:rPr lang="en-US" sz="2400" b="0" i="0" dirty="0">
                <a:effectLst/>
                <a:latin typeface="Inter"/>
              </a:rPr>
              <a:t>:</a:t>
            </a:r>
          </a:p>
          <a:p>
            <a:pPr lvl="1">
              <a:spcAft>
                <a:spcPts val="750"/>
              </a:spcAft>
              <a:buFont typeface="Wingdings" panose="05000000000000000000" pitchFamily="2" charset="2"/>
              <a:buChar char="§"/>
            </a:pPr>
            <a:r>
              <a:rPr lang="en-US" sz="2400" b="0" i="0" dirty="0">
                <a:effectLst/>
                <a:latin typeface="Inter"/>
              </a:rPr>
              <a:t> Cannot generate innovative solutions beyond their programmed rules.</a:t>
            </a:r>
          </a:p>
          <a:p>
            <a:pPr>
              <a:spcAft>
                <a:spcPts val="750"/>
              </a:spcAft>
              <a:buFont typeface="Wingdings" panose="05000000000000000000" pitchFamily="2" charset="2"/>
              <a:buChar char="q"/>
            </a:pPr>
            <a:r>
              <a:rPr lang="en-US" sz="2400" b="1" i="0" dirty="0">
                <a:effectLst/>
                <a:latin typeface="Inter"/>
              </a:rPr>
              <a:t>Dependency on Quality of Data</a:t>
            </a:r>
            <a:r>
              <a:rPr lang="en-US" sz="2400" b="0" i="0" dirty="0">
                <a:effectLst/>
                <a:latin typeface="Inter"/>
              </a:rPr>
              <a:t>:</a:t>
            </a:r>
          </a:p>
          <a:p>
            <a:pPr lvl="1">
              <a:spcAft>
                <a:spcPts val="750"/>
              </a:spcAft>
              <a:buFont typeface="Wingdings" panose="05000000000000000000" pitchFamily="2" charset="2"/>
              <a:buChar char="§"/>
            </a:pPr>
            <a:r>
              <a:rPr lang="en-US" sz="2400" b="0" i="0" dirty="0">
                <a:effectLst/>
                <a:latin typeface="Inter"/>
              </a:rPr>
              <a:t> The accuracy of their advice depends on the quality of the data in the knowledge base.</a:t>
            </a:r>
          </a:p>
          <a:p>
            <a:endParaRPr lang="en-US" sz="1400" dirty="0"/>
          </a:p>
        </p:txBody>
      </p:sp>
    </p:spTree>
    <p:extLst>
      <p:ext uri="{BB962C8B-B14F-4D97-AF65-F5344CB8AC3E}">
        <p14:creationId xmlns:p14="http://schemas.microsoft.com/office/powerpoint/2010/main" val="20782070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5C8D2C1-DA83-420D-9635-D52CE066B5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12" name="Rectangle 11">
            <a:extLst>
              <a:ext uri="{FF2B5EF4-FFF2-40B4-BE49-F238E27FC236}">
                <a16:creationId xmlns:a16="http://schemas.microsoft.com/office/drawing/2014/main" id="{434F74C9-6A0B-409E-AD1C-45B58BE91B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cxnSp>
        <p:nvCxnSpPr>
          <p:cNvPr id="14" name="Straight Connector 13">
            <a:extLst>
              <a:ext uri="{FF2B5EF4-FFF2-40B4-BE49-F238E27FC236}">
                <a16:creationId xmlns:a16="http://schemas.microsoft.com/office/drawing/2014/main" id="{F5486A9D-1265-4B57-91E6-68E666B978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6" name="Rectangle 15">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15F8EDC-A556-D6AA-9EBF-BDE7559A06B7}"/>
              </a:ext>
            </a:extLst>
          </p:cNvPr>
          <p:cNvSpPr txBox="1"/>
          <p:nvPr/>
        </p:nvSpPr>
        <p:spPr>
          <a:xfrm>
            <a:off x="6730000" y="639097"/>
            <a:ext cx="4813072" cy="3686015"/>
          </a:xfrm>
          <a:prstGeom prst="rect">
            <a:avLst/>
          </a:prstGeom>
        </p:spPr>
        <p:txBody>
          <a:bodyPr vert="horz" lIns="91440" tIns="45720" rIns="91440" bIns="45720" rtlCol="0" anchor="b">
            <a:normAutofit/>
          </a:bodyPr>
          <a:lstStyle/>
          <a:p>
            <a:pPr defTabSz="914400">
              <a:lnSpc>
                <a:spcPct val="85000"/>
              </a:lnSpc>
              <a:spcBef>
                <a:spcPct val="0"/>
              </a:spcBef>
              <a:spcAft>
                <a:spcPts val="600"/>
              </a:spcAft>
            </a:pPr>
            <a:r>
              <a:rPr lang="en-US" sz="8000" spc="-50">
                <a:solidFill>
                  <a:schemeClr val="tx1">
                    <a:lumMod val="85000"/>
                    <a:lumOff val="15000"/>
                  </a:schemeClr>
                </a:solidFill>
                <a:latin typeface="+mj-lt"/>
                <a:ea typeface="+mj-ea"/>
                <a:cs typeface="+mj-cs"/>
              </a:rPr>
              <a:t>Questions</a:t>
            </a:r>
          </a:p>
        </p:txBody>
      </p:sp>
      <p:pic>
        <p:nvPicPr>
          <p:cNvPr id="6" name="Picture 5" descr="Yellow question mark">
            <a:extLst>
              <a:ext uri="{FF2B5EF4-FFF2-40B4-BE49-F238E27FC236}">
                <a16:creationId xmlns:a16="http://schemas.microsoft.com/office/drawing/2014/main" id="{FAC4D67E-D548-3E54-338C-101C15BE65B1}"/>
              </a:ext>
            </a:extLst>
          </p:cNvPr>
          <p:cNvPicPr>
            <a:picLocks noChangeAspect="1"/>
          </p:cNvPicPr>
          <p:nvPr/>
        </p:nvPicPr>
        <p:blipFill>
          <a:blip r:embed="rId2"/>
          <a:srcRect l="40808" r="5859"/>
          <a:stretch/>
        </p:blipFill>
        <p:spPr>
          <a:xfrm>
            <a:off x="1" y="10"/>
            <a:ext cx="6096000" cy="6857990"/>
          </a:xfrm>
          <a:prstGeom prst="rect">
            <a:avLst/>
          </a:prstGeom>
        </p:spPr>
      </p:pic>
      <p:cxnSp>
        <p:nvCxnSpPr>
          <p:cNvPr id="18" name="Straight Connector 17">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343400"/>
            <a:ext cx="4389120" cy="0"/>
          </a:xfrm>
          <a:prstGeom prst="line">
            <a:avLst/>
          </a:prstGeom>
          <a:ln w="6350">
            <a:solidFill>
              <a:schemeClr val="tx2">
                <a:alpha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804178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922</TotalTime>
  <Words>2398</Words>
  <Application>Microsoft Office PowerPoint</Application>
  <PresentationFormat>Widescreen</PresentationFormat>
  <Paragraphs>212</Paragraphs>
  <Slides>31</Slides>
  <Notes>7</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31</vt:i4>
      </vt:variant>
    </vt:vector>
  </HeadingPairs>
  <TitlesOfParts>
    <vt:vector size="44" baseType="lpstr">
      <vt:lpstr>Aptos</vt:lpstr>
      <vt:lpstr>Aptos Display</vt:lpstr>
      <vt:lpstr>Arial</vt:lpstr>
      <vt:lpstr>Calibri</vt:lpstr>
      <vt:lpstr>Calibri Light</vt:lpstr>
      <vt:lpstr>erdana</vt:lpstr>
      <vt:lpstr>Inter</vt:lpstr>
      <vt:lpstr>inter-bold</vt:lpstr>
      <vt:lpstr>inter-regular</vt:lpstr>
      <vt:lpstr>Wingdings</vt:lpstr>
      <vt:lpstr>Retrospect</vt:lpstr>
      <vt:lpstr>Office Theme</vt:lpstr>
      <vt:lpstr>1_Office Theme</vt:lpstr>
      <vt:lpstr>Artificial Intelligence CS-202</vt:lpstr>
      <vt:lpstr>Today’s Goal</vt:lpstr>
      <vt:lpstr>What are Expert Systems? </vt:lpstr>
      <vt:lpstr>Key Features </vt:lpstr>
      <vt:lpstr>Key Features </vt:lpstr>
      <vt:lpstr>PowerPoint Presentation</vt:lpstr>
      <vt:lpstr>Characteristics of Expert System</vt:lpstr>
      <vt:lpstr>PowerPoint Presentation</vt:lpstr>
      <vt:lpstr>Components of Expert System</vt:lpstr>
      <vt:lpstr>1. User Interface</vt:lpstr>
      <vt:lpstr>1. User Interface </vt:lpstr>
      <vt:lpstr>2. Inference Engine(Rules of Engine)</vt:lpstr>
      <vt:lpstr>2. Inference Engine(Rules of Engine)</vt:lpstr>
      <vt:lpstr>2. Inference Engine(Rules of Engine)</vt:lpstr>
      <vt:lpstr>Example Forward Chaining</vt:lpstr>
      <vt:lpstr>Example (Backward Chaining)</vt:lpstr>
      <vt:lpstr>3. Knowledge Base</vt:lpstr>
      <vt:lpstr>3. Knowledge Base (Components)</vt:lpstr>
      <vt:lpstr>3. Knowledge Base (Components)</vt:lpstr>
      <vt:lpstr>3. Knowledge Base (Components)</vt:lpstr>
      <vt:lpstr>Participants in the development of Expert System</vt:lpstr>
      <vt:lpstr>PowerPoint Presentation</vt:lpstr>
      <vt:lpstr>Expert System’s vs Human Experts</vt:lpstr>
      <vt:lpstr>Expert System’s vs Human Experts</vt:lpstr>
      <vt:lpstr>How Expert Systems Operate </vt:lpstr>
      <vt:lpstr>Applications of Expert Systems </vt:lpstr>
      <vt:lpstr>Applications of Expert System</vt:lpstr>
      <vt:lpstr>Future of Expert Systems</vt:lpstr>
      <vt:lpstr>Advantages of Expert Systems </vt:lpstr>
      <vt:lpstr>Limitations of Expert Systems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Mehvish Anas</dc:creator>
  <cp:lastModifiedBy>Habiba Arshad</cp:lastModifiedBy>
  <cp:revision>26</cp:revision>
  <dcterms:created xsi:type="dcterms:W3CDTF">2024-11-24T19:59:38Z</dcterms:created>
  <dcterms:modified xsi:type="dcterms:W3CDTF">2025-12-17T04:47:47Z</dcterms:modified>
</cp:coreProperties>
</file>