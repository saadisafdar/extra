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825" r:id="rId2"/>
    <p:sldId id="789" r:id="rId3"/>
    <p:sldId id="813" r:id="rId4"/>
    <p:sldId id="814" r:id="rId5"/>
    <p:sldId id="860" r:id="rId6"/>
    <p:sldId id="816" r:id="rId7"/>
    <p:sldId id="861" r:id="rId8"/>
    <p:sldId id="862" r:id="rId9"/>
    <p:sldId id="864" r:id="rId10"/>
    <p:sldId id="865" r:id="rId11"/>
    <p:sldId id="866" r:id="rId12"/>
    <p:sldId id="818" r:id="rId13"/>
    <p:sldId id="868" r:id="rId14"/>
    <p:sldId id="869" r:id="rId15"/>
    <p:sldId id="867" r:id="rId16"/>
    <p:sldId id="870" r:id="rId17"/>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06" autoAdjust="0"/>
  </p:normalViewPr>
  <p:slideViewPr>
    <p:cSldViewPr snapToGrid="0">
      <p:cViewPr varScale="1">
        <p:scale>
          <a:sx n="76" d="100"/>
          <a:sy n="76" d="100"/>
        </p:scale>
        <p:origin x="91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B301F5-07A3-4FE4-976C-CA4952C4C1A1}"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003EBE85-61C3-4A8C-B096-20383EA35C46}">
      <dgm:prSet/>
      <dgm:spPr/>
      <dgm:t>
        <a:bodyPr/>
        <a:lstStyle/>
        <a:p>
          <a:r>
            <a:rPr lang="en-US" dirty="0"/>
            <a:t>This week lecture will cover the following CLO:</a:t>
          </a:r>
        </a:p>
      </dgm:t>
    </dgm:pt>
    <dgm:pt modelId="{CA4AA996-65FD-4B8F-BBE0-A906A9E5220E}" type="parTrans" cxnId="{BCEEB6D3-EFBE-4684-AF7C-3A02210BE3D9}">
      <dgm:prSet/>
      <dgm:spPr/>
      <dgm:t>
        <a:bodyPr/>
        <a:lstStyle/>
        <a:p>
          <a:endParaRPr lang="en-US"/>
        </a:p>
      </dgm:t>
    </dgm:pt>
    <dgm:pt modelId="{793489B5-9C5E-4E77-A6F3-2F6B2B3AEB5A}" type="sibTrans" cxnId="{BCEEB6D3-EFBE-4684-AF7C-3A02210BE3D9}">
      <dgm:prSet/>
      <dgm:spPr/>
      <dgm:t>
        <a:bodyPr/>
        <a:lstStyle/>
        <a:p>
          <a:endParaRPr lang="en-US"/>
        </a:p>
      </dgm:t>
    </dgm:pt>
    <dgm:pt modelId="{0F6BED61-37A6-4265-9765-7643A715CD2C}">
      <dgm:prSet/>
      <dgm:spPr/>
      <dgm:t>
        <a:bodyPr/>
        <a:lstStyle/>
        <a:p>
          <a:r>
            <a:rPr lang="en-US" b="1" dirty="0"/>
            <a:t>CLO 2: </a:t>
          </a:r>
          <a:r>
            <a:rPr lang="en-US" b="0" dirty="0"/>
            <a:t>. Implement artificial intelligence techniques and case studies</a:t>
          </a:r>
          <a:endParaRPr lang="en-US" dirty="0"/>
        </a:p>
      </dgm:t>
    </dgm:pt>
    <dgm:pt modelId="{CE80463D-0B4E-4616-A7D3-FCA563D7C095}" type="parTrans" cxnId="{D4C01C85-8389-4770-954C-640B9194FA32}">
      <dgm:prSet/>
      <dgm:spPr/>
      <dgm:t>
        <a:bodyPr/>
        <a:lstStyle/>
        <a:p>
          <a:endParaRPr lang="en-US"/>
        </a:p>
      </dgm:t>
    </dgm:pt>
    <dgm:pt modelId="{991B6CDF-473C-43F2-B07A-CB69C404667A}" type="sibTrans" cxnId="{D4C01C85-8389-4770-954C-640B9194FA32}">
      <dgm:prSet/>
      <dgm:spPr/>
      <dgm:t>
        <a:bodyPr/>
        <a:lstStyle/>
        <a:p>
          <a:endParaRPr lang="en-US"/>
        </a:p>
      </dgm:t>
    </dgm:pt>
    <dgm:pt modelId="{C59BC262-BD37-4485-B439-3083D6EF372F}">
      <dgm:prSet/>
      <dgm:spPr/>
      <dgm:t>
        <a:bodyPr/>
        <a:lstStyle/>
        <a:p>
          <a:endParaRPr lang="en-US" b="0" dirty="0"/>
        </a:p>
      </dgm:t>
    </dgm:pt>
    <dgm:pt modelId="{DDF82B5B-5580-4D82-A915-A70C1FBA9D9A}" type="parTrans" cxnId="{E8B1282A-40A4-4A22-A67F-9335DC9F17A2}">
      <dgm:prSet/>
      <dgm:spPr/>
      <dgm:t>
        <a:bodyPr/>
        <a:lstStyle/>
        <a:p>
          <a:endParaRPr lang="en-US"/>
        </a:p>
      </dgm:t>
    </dgm:pt>
    <dgm:pt modelId="{10DE0190-54F1-4E62-965E-550AB9DF0C7B}" type="sibTrans" cxnId="{E8B1282A-40A4-4A22-A67F-9335DC9F17A2}">
      <dgm:prSet/>
      <dgm:spPr/>
      <dgm:t>
        <a:bodyPr/>
        <a:lstStyle/>
        <a:p>
          <a:endParaRPr lang="en-US"/>
        </a:p>
      </dgm:t>
    </dgm:pt>
    <dgm:pt modelId="{1E8486E2-0691-4247-B9C3-FCB6AD71DA77}" type="pres">
      <dgm:prSet presAssocID="{87B301F5-07A3-4FE4-976C-CA4952C4C1A1}" presName="linear" presStyleCnt="0">
        <dgm:presLayoutVars>
          <dgm:animLvl val="lvl"/>
          <dgm:resizeHandles val="exact"/>
        </dgm:presLayoutVars>
      </dgm:prSet>
      <dgm:spPr/>
    </dgm:pt>
    <dgm:pt modelId="{CBC7B95D-FC8B-44BC-816F-8FC732EF125D}" type="pres">
      <dgm:prSet presAssocID="{003EBE85-61C3-4A8C-B096-20383EA35C46}" presName="parentText" presStyleLbl="node1" presStyleIdx="0" presStyleCnt="1">
        <dgm:presLayoutVars>
          <dgm:chMax val="0"/>
          <dgm:bulletEnabled val="1"/>
        </dgm:presLayoutVars>
      </dgm:prSet>
      <dgm:spPr/>
    </dgm:pt>
    <dgm:pt modelId="{A025C2BC-3DF5-4B12-A043-E15E948A1F98}" type="pres">
      <dgm:prSet presAssocID="{003EBE85-61C3-4A8C-B096-20383EA35C46}" presName="childText" presStyleLbl="revTx" presStyleIdx="0" presStyleCnt="1">
        <dgm:presLayoutVars>
          <dgm:bulletEnabled val="1"/>
        </dgm:presLayoutVars>
      </dgm:prSet>
      <dgm:spPr/>
    </dgm:pt>
  </dgm:ptLst>
  <dgm:cxnLst>
    <dgm:cxn modelId="{E8B1282A-40A4-4A22-A67F-9335DC9F17A2}" srcId="{003EBE85-61C3-4A8C-B096-20383EA35C46}" destId="{C59BC262-BD37-4485-B439-3083D6EF372F}" srcOrd="1" destOrd="0" parTransId="{DDF82B5B-5580-4D82-A915-A70C1FBA9D9A}" sibTransId="{10DE0190-54F1-4E62-965E-550AB9DF0C7B}"/>
    <dgm:cxn modelId="{0BF05139-1E12-4DCD-98EF-7B0DABA33B58}" type="presOf" srcId="{87B301F5-07A3-4FE4-976C-CA4952C4C1A1}" destId="{1E8486E2-0691-4247-B9C3-FCB6AD71DA77}" srcOrd="0" destOrd="0" presId="urn:microsoft.com/office/officeart/2005/8/layout/vList2"/>
    <dgm:cxn modelId="{F6F4E43C-9CB5-4911-A20A-B55E9CCF2C4F}" type="presOf" srcId="{003EBE85-61C3-4A8C-B096-20383EA35C46}" destId="{CBC7B95D-FC8B-44BC-816F-8FC732EF125D}" srcOrd="0" destOrd="0" presId="urn:microsoft.com/office/officeart/2005/8/layout/vList2"/>
    <dgm:cxn modelId="{D4C01C85-8389-4770-954C-640B9194FA32}" srcId="{003EBE85-61C3-4A8C-B096-20383EA35C46}" destId="{0F6BED61-37A6-4265-9765-7643A715CD2C}" srcOrd="0" destOrd="0" parTransId="{CE80463D-0B4E-4616-A7D3-FCA563D7C095}" sibTransId="{991B6CDF-473C-43F2-B07A-CB69C404667A}"/>
    <dgm:cxn modelId="{8F12479A-C069-4E0A-BB1E-B76D7E4A0CF5}" type="presOf" srcId="{0F6BED61-37A6-4265-9765-7643A715CD2C}" destId="{A025C2BC-3DF5-4B12-A043-E15E948A1F98}" srcOrd="0" destOrd="0" presId="urn:microsoft.com/office/officeart/2005/8/layout/vList2"/>
    <dgm:cxn modelId="{B4AACACA-FE0B-4E34-9341-DBB0CE059C39}" type="presOf" srcId="{C59BC262-BD37-4485-B439-3083D6EF372F}" destId="{A025C2BC-3DF5-4B12-A043-E15E948A1F98}" srcOrd="0" destOrd="1" presId="urn:microsoft.com/office/officeart/2005/8/layout/vList2"/>
    <dgm:cxn modelId="{BCEEB6D3-EFBE-4684-AF7C-3A02210BE3D9}" srcId="{87B301F5-07A3-4FE4-976C-CA4952C4C1A1}" destId="{003EBE85-61C3-4A8C-B096-20383EA35C46}" srcOrd="0" destOrd="0" parTransId="{CA4AA996-65FD-4B8F-BBE0-A906A9E5220E}" sibTransId="{793489B5-9C5E-4E77-A6F3-2F6B2B3AEB5A}"/>
    <dgm:cxn modelId="{2897C92D-7832-425B-A7AE-4DE3AFB3DBD0}" type="presParOf" srcId="{1E8486E2-0691-4247-B9C3-FCB6AD71DA77}" destId="{CBC7B95D-FC8B-44BC-816F-8FC732EF125D}" srcOrd="0" destOrd="0" presId="urn:microsoft.com/office/officeart/2005/8/layout/vList2"/>
    <dgm:cxn modelId="{C49B8052-8CF3-4FDC-B7CA-CCA691C86E81}" type="presParOf" srcId="{1E8486E2-0691-4247-B9C3-FCB6AD71DA77}" destId="{A025C2BC-3DF5-4B12-A043-E15E948A1F9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9FA188-67EC-496D-867F-AED2EDD0D37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A83232E-DF45-4A92-9502-20B7C2A3989C}">
      <dgm:prSet/>
      <dgm:spPr/>
      <dgm:t>
        <a:bodyPr/>
        <a:lstStyle/>
        <a:p>
          <a:pPr>
            <a:lnSpc>
              <a:spcPct val="100000"/>
            </a:lnSpc>
          </a:pPr>
          <a:r>
            <a:rPr lang="en-US" b="1"/>
            <a:t>Optimal: </a:t>
          </a:r>
          <a:r>
            <a:rPr lang="en-US"/>
            <a:t>It always finds the least-cost path if h(n) is admissible (never overestimates).</a:t>
          </a:r>
        </a:p>
      </dgm:t>
    </dgm:pt>
    <dgm:pt modelId="{8337AFC2-C346-4E05-8ACD-8037F5928B06}" type="parTrans" cxnId="{7AEB5D24-0C2D-4343-9F24-EFE42E3A7A67}">
      <dgm:prSet/>
      <dgm:spPr/>
      <dgm:t>
        <a:bodyPr/>
        <a:lstStyle/>
        <a:p>
          <a:endParaRPr lang="en-US"/>
        </a:p>
      </dgm:t>
    </dgm:pt>
    <dgm:pt modelId="{53272498-DC08-4AA6-B8E0-2031D972A2DE}" type="sibTrans" cxnId="{7AEB5D24-0C2D-4343-9F24-EFE42E3A7A67}">
      <dgm:prSet/>
      <dgm:spPr/>
      <dgm:t>
        <a:bodyPr/>
        <a:lstStyle/>
        <a:p>
          <a:endParaRPr lang="en-US"/>
        </a:p>
      </dgm:t>
    </dgm:pt>
    <dgm:pt modelId="{AE0BE8BB-20C6-4E5A-BE7C-3191F9494F5D}">
      <dgm:prSet/>
      <dgm:spPr/>
      <dgm:t>
        <a:bodyPr/>
        <a:lstStyle/>
        <a:p>
          <a:pPr>
            <a:lnSpc>
              <a:spcPct val="100000"/>
            </a:lnSpc>
          </a:pPr>
          <a:r>
            <a:rPr lang="en-US" b="1"/>
            <a:t>Complete:</a:t>
          </a:r>
          <a:r>
            <a:rPr lang="en-US"/>
            <a:t> Will always find a solution if one exists.</a:t>
          </a:r>
        </a:p>
      </dgm:t>
    </dgm:pt>
    <dgm:pt modelId="{2D622BDF-EEB2-47B9-BA54-CD0BBF9A9EE5}" type="parTrans" cxnId="{DE1B3CB3-1BD8-4103-8E57-6D0CA9F8306F}">
      <dgm:prSet/>
      <dgm:spPr/>
      <dgm:t>
        <a:bodyPr/>
        <a:lstStyle/>
        <a:p>
          <a:endParaRPr lang="en-US"/>
        </a:p>
      </dgm:t>
    </dgm:pt>
    <dgm:pt modelId="{DCB05CFA-6796-4603-9493-B98A06126FC7}" type="sibTrans" cxnId="{DE1B3CB3-1BD8-4103-8E57-6D0CA9F8306F}">
      <dgm:prSet/>
      <dgm:spPr/>
      <dgm:t>
        <a:bodyPr/>
        <a:lstStyle/>
        <a:p>
          <a:endParaRPr lang="en-US"/>
        </a:p>
      </dgm:t>
    </dgm:pt>
    <dgm:pt modelId="{9F5E0FCF-615C-4EEE-BDC5-CD5F7A89583E}">
      <dgm:prSet/>
      <dgm:spPr/>
      <dgm:t>
        <a:bodyPr/>
        <a:lstStyle/>
        <a:p>
          <a:pPr>
            <a:lnSpc>
              <a:spcPct val="100000"/>
            </a:lnSpc>
          </a:pPr>
          <a:r>
            <a:rPr lang="en-US" b="1"/>
            <a:t>Efficient: </a:t>
          </a:r>
          <a:r>
            <a:rPr lang="en-US"/>
            <a:t>Explores fewer nodes compared to other uninformed algorithms.</a:t>
          </a:r>
        </a:p>
      </dgm:t>
    </dgm:pt>
    <dgm:pt modelId="{8AD43905-0818-4623-8E96-0C06F68239DD}" type="parTrans" cxnId="{4E2D75B3-DB62-41D5-916F-FD3E3DA2CC4A}">
      <dgm:prSet/>
      <dgm:spPr/>
      <dgm:t>
        <a:bodyPr/>
        <a:lstStyle/>
        <a:p>
          <a:endParaRPr lang="en-US"/>
        </a:p>
      </dgm:t>
    </dgm:pt>
    <dgm:pt modelId="{80D873E6-A0B0-45D3-9B8D-0663FC1AF074}" type="sibTrans" cxnId="{4E2D75B3-DB62-41D5-916F-FD3E3DA2CC4A}">
      <dgm:prSet/>
      <dgm:spPr/>
      <dgm:t>
        <a:bodyPr/>
        <a:lstStyle/>
        <a:p>
          <a:endParaRPr lang="en-US"/>
        </a:p>
      </dgm:t>
    </dgm:pt>
    <dgm:pt modelId="{368D229F-9A7A-43C2-A5E2-26275F7484C9}" type="pres">
      <dgm:prSet presAssocID="{9A9FA188-67EC-496D-867F-AED2EDD0D371}" presName="root" presStyleCnt="0">
        <dgm:presLayoutVars>
          <dgm:dir/>
          <dgm:resizeHandles val="exact"/>
        </dgm:presLayoutVars>
      </dgm:prSet>
      <dgm:spPr/>
    </dgm:pt>
    <dgm:pt modelId="{6ABEAA4E-0B5D-420A-A7BD-1ED82AED8AAF}" type="pres">
      <dgm:prSet presAssocID="{9A83232E-DF45-4A92-9502-20B7C2A3989C}" presName="compNode" presStyleCnt="0"/>
      <dgm:spPr/>
    </dgm:pt>
    <dgm:pt modelId="{2329C896-92F5-4B27-9BBA-D8F832427339}" type="pres">
      <dgm:prSet presAssocID="{9A83232E-DF45-4A92-9502-20B7C2A3989C}" presName="bgRect" presStyleLbl="bgShp" presStyleIdx="0" presStyleCnt="3"/>
      <dgm:spPr/>
    </dgm:pt>
    <dgm:pt modelId="{D88C5519-4332-4FB2-A857-D9F37928A1C7}" type="pres">
      <dgm:prSet presAssocID="{9A83232E-DF45-4A92-9502-20B7C2A3989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Venn Diagram"/>
        </a:ext>
      </dgm:extLst>
    </dgm:pt>
    <dgm:pt modelId="{853235ED-DE5E-4A57-9216-EEC3B3B80FF3}" type="pres">
      <dgm:prSet presAssocID="{9A83232E-DF45-4A92-9502-20B7C2A3989C}" presName="spaceRect" presStyleCnt="0"/>
      <dgm:spPr/>
    </dgm:pt>
    <dgm:pt modelId="{DB5D27AE-6816-4DE5-B6D1-FB900EFA2AF3}" type="pres">
      <dgm:prSet presAssocID="{9A83232E-DF45-4A92-9502-20B7C2A3989C}" presName="parTx" presStyleLbl="revTx" presStyleIdx="0" presStyleCnt="3">
        <dgm:presLayoutVars>
          <dgm:chMax val="0"/>
          <dgm:chPref val="0"/>
        </dgm:presLayoutVars>
      </dgm:prSet>
      <dgm:spPr/>
    </dgm:pt>
    <dgm:pt modelId="{0C2878EF-1021-4AC6-918A-E3372C7EAAF1}" type="pres">
      <dgm:prSet presAssocID="{53272498-DC08-4AA6-B8E0-2031D972A2DE}" presName="sibTrans" presStyleCnt="0"/>
      <dgm:spPr/>
    </dgm:pt>
    <dgm:pt modelId="{39CE1ABE-2B78-483F-A505-DD304215A215}" type="pres">
      <dgm:prSet presAssocID="{AE0BE8BB-20C6-4E5A-BE7C-3191F9494F5D}" presName="compNode" presStyleCnt="0"/>
      <dgm:spPr/>
    </dgm:pt>
    <dgm:pt modelId="{B3B6D342-BDBD-4DAF-83AF-B1989494A9CC}" type="pres">
      <dgm:prSet presAssocID="{AE0BE8BB-20C6-4E5A-BE7C-3191F9494F5D}" presName="bgRect" presStyleLbl="bgShp" presStyleIdx="1" presStyleCnt="3"/>
      <dgm:spPr/>
    </dgm:pt>
    <dgm:pt modelId="{09451C08-C5DD-44FD-9D19-028EC2595633}" type="pres">
      <dgm:prSet presAssocID="{AE0BE8BB-20C6-4E5A-BE7C-3191F9494F5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rrow Circle"/>
        </a:ext>
      </dgm:extLst>
    </dgm:pt>
    <dgm:pt modelId="{D5B2248A-ACCE-4235-BA45-30FE72FA00F2}" type="pres">
      <dgm:prSet presAssocID="{AE0BE8BB-20C6-4E5A-BE7C-3191F9494F5D}" presName="spaceRect" presStyleCnt="0"/>
      <dgm:spPr/>
    </dgm:pt>
    <dgm:pt modelId="{E8923F5C-7395-42E2-ABF6-23543F14A872}" type="pres">
      <dgm:prSet presAssocID="{AE0BE8BB-20C6-4E5A-BE7C-3191F9494F5D}" presName="parTx" presStyleLbl="revTx" presStyleIdx="1" presStyleCnt="3">
        <dgm:presLayoutVars>
          <dgm:chMax val="0"/>
          <dgm:chPref val="0"/>
        </dgm:presLayoutVars>
      </dgm:prSet>
      <dgm:spPr/>
    </dgm:pt>
    <dgm:pt modelId="{4E130367-93D0-4987-AD54-971A9CE1CF4C}" type="pres">
      <dgm:prSet presAssocID="{DCB05CFA-6796-4603-9493-B98A06126FC7}" presName="sibTrans" presStyleCnt="0"/>
      <dgm:spPr/>
    </dgm:pt>
    <dgm:pt modelId="{60F01F28-E5F3-4E79-9905-0D2EF2385BC9}" type="pres">
      <dgm:prSet presAssocID="{9F5E0FCF-615C-4EEE-BDC5-CD5F7A89583E}" presName="compNode" presStyleCnt="0"/>
      <dgm:spPr/>
    </dgm:pt>
    <dgm:pt modelId="{C3D9876D-DB91-4DED-9282-1EA306F8C658}" type="pres">
      <dgm:prSet presAssocID="{9F5E0FCF-615C-4EEE-BDC5-CD5F7A89583E}" presName="bgRect" presStyleLbl="bgShp" presStyleIdx="2" presStyleCnt="3"/>
      <dgm:spPr/>
    </dgm:pt>
    <dgm:pt modelId="{06C5D55A-FF8E-48AD-909C-9F5A881DF659}" type="pres">
      <dgm:prSet presAssocID="{9F5E0FCF-615C-4EEE-BDC5-CD5F7A89583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sconnected"/>
        </a:ext>
      </dgm:extLst>
    </dgm:pt>
    <dgm:pt modelId="{5994DA4B-96B0-4119-AAC0-7A2BA7C1177A}" type="pres">
      <dgm:prSet presAssocID="{9F5E0FCF-615C-4EEE-BDC5-CD5F7A89583E}" presName="spaceRect" presStyleCnt="0"/>
      <dgm:spPr/>
    </dgm:pt>
    <dgm:pt modelId="{7B852CEB-9FF3-4B92-90A3-82E0565BCDCB}" type="pres">
      <dgm:prSet presAssocID="{9F5E0FCF-615C-4EEE-BDC5-CD5F7A89583E}" presName="parTx" presStyleLbl="revTx" presStyleIdx="2" presStyleCnt="3">
        <dgm:presLayoutVars>
          <dgm:chMax val="0"/>
          <dgm:chPref val="0"/>
        </dgm:presLayoutVars>
      </dgm:prSet>
      <dgm:spPr/>
    </dgm:pt>
  </dgm:ptLst>
  <dgm:cxnLst>
    <dgm:cxn modelId="{7AEB5D24-0C2D-4343-9F24-EFE42E3A7A67}" srcId="{9A9FA188-67EC-496D-867F-AED2EDD0D371}" destId="{9A83232E-DF45-4A92-9502-20B7C2A3989C}" srcOrd="0" destOrd="0" parTransId="{8337AFC2-C346-4E05-8ACD-8037F5928B06}" sibTransId="{53272498-DC08-4AA6-B8E0-2031D972A2DE}"/>
    <dgm:cxn modelId="{0BAEE740-5E5A-4C2A-ACBA-40FA5B53308C}" type="presOf" srcId="{9F5E0FCF-615C-4EEE-BDC5-CD5F7A89583E}" destId="{7B852CEB-9FF3-4B92-90A3-82E0565BCDCB}" srcOrd="0" destOrd="0" presId="urn:microsoft.com/office/officeart/2018/2/layout/IconVerticalSolidList"/>
    <dgm:cxn modelId="{DE3A9D62-DA6B-4358-9C6E-0D6B4457DAD9}" type="presOf" srcId="{9A9FA188-67EC-496D-867F-AED2EDD0D371}" destId="{368D229F-9A7A-43C2-A5E2-26275F7484C9}" srcOrd="0" destOrd="0" presId="urn:microsoft.com/office/officeart/2018/2/layout/IconVerticalSolidList"/>
    <dgm:cxn modelId="{C2600A59-D9A5-4688-989A-B75426CD225A}" type="presOf" srcId="{AE0BE8BB-20C6-4E5A-BE7C-3191F9494F5D}" destId="{E8923F5C-7395-42E2-ABF6-23543F14A872}" srcOrd="0" destOrd="0" presId="urn:microsoft.com/office/officeart/2018/2/layout/IconVerticalSolidList"/>
    <dgm:cxn modelId="{DE1B3CB3-1BD8-4103-8E57-6D0CA9F8306F}" srcId="{9A9FA188-67EC-496D-867F-AED2EDD0D371}" destId="{AE0BE8BB-20C6-4E5A-BE7C-3191F9494F5D}" srcOrd="1" destOrd="0" parTransId="{2D622BDF-EEB2-47B9-BA54-CD0BBF9A9EE5}" sibTransId="{DCB05CFA-6796-4603-9493-B98A06126FC7}"/>
    <dgm:cxn modelId="{4E2D75B3-DB62-41D5-916F-FD3E3DA2CC4A}" srcId="{9A9FA188-67EC-496D-867F-AED2EDD0D371}" destId="{9F5E0FCF-615C-4EEE-BDC5-CD5F7A89583E}" srcOrd="2" destOrd="0" parTransId="{8AD43905-0818-4623-8E96-0C06F68239DD}" sibTransId="{80D873E6-A0B0-45D3-9B8D-0663FC1AF074}"/>
    <dgm:cxn modelId="{9738C8EC-A51F-468C-BA60-7E4E82B3900E}" type="presOf" srcId="{9A83232E-DF45-4A92-9502-20B7C2A3989C}" destId="{DB5D27AE-6816-4DE5-B6D1-FB900EFA2AF3}" srcOrd="0" destOrd="0" presId="urn:microsoft.com/office/officeart/2018/2/layout/IconVerticalSolidList"/>
    <dgm:cxn modelId="{540DB338-10CC-4C39-A246-130927BB0B2B}" type="presParOf" srcId="{368D229F-9A7A-43C2-A5E2-26275F7484C9}" destId="{6ABEAA4E-0B5D-420A-A7BD-1ED82AED8AAF}" srcOrd="0" destOrd="0" presId="urn:microsoft.com/office/officeart/2018/2/layout/IconVerticalSolidList"/>
    <dgm:cxn modelId="{5CD570C7-8AEF-4C35-9760-C716108394A0}" type="presParOf" srcId="{6ABEAA4E-0B5D-420A-A7BD-1ED82AED8AAF}" destId="{2329C896-92F5-4B27-9BBA-D8F832427339}" srcOrd="0" destOrd="0" presId="urn:microsoft.com/office/officeart/2018/2/layout/IconVerticalSolidList"/>
    <dgm:cxn modelId="{42063F00-2ECD-467D-B457-CAD9944059DC}" type="presParOf" srcId="{6ABEAA4E-0B5D-420A-A7BD-1ED82AED8AAF}" destId="{D88C5519-4332-4FB2-A857-D9F37928A1C7}" srcOrd="1" destOrd="0" presId="urn:microsoft.com/office/officeart/2018/2/layout/IconVerticalSolidList"/>
    <dgm:cxn modelId="{378C3294-6A0A-4FFA-BEF8-6B9713A7FBD2}" type="presParOf" srcId="{6ABEAA4E-0B5D-420A-A7BD-1ED82AED8AAF}" destId="{853235ED-DE5E-4A57-9216-EEC3B3B80FF3}" srcOrd="2" destOrd="0" presId="urn:microsoft.com/office/officeart/2018/2/layout/IconVerticalSolidList"/>
    <dgm:cxn modelId="{F0F795D5-1B4F-4567-B546-FAAFA79075B1}" type="presParOf" srcId="{6ABEAA4E-0B5D-420A-A7BD-1ED82AED8AAF}" destId="{DB5D27AE-6816-4DE5-B6D1-FB900EFA2AF3}" srcOrd="3" destOrd="0" presId="urn:microsoft.com/office/officeart/2018/2/layout/IconVerticalSolidList"/>
    <dgm:cxn modelId="{E01461C0-A34C-4D97-8886-BBF71634586D}" type="presParOf" srcId="{368D229F-9A7A-43C2-A5E2-26275F7484C9}" destId="{0C2878EF-1021-4AC6-918A-E3372C7EAAF1}" srcOrd="1" destOrd="0" presId="urn:microsoft.com/office/officeart/2018/2/layout/IconVerticalSolidList"/>
    <dgm:cxn modelId="{5741B590-6B84-4917-BB36-0C6EFB95DB11}" type="presParOf" srcId="{368D229F-9A7A-43C2-A5E2-26275F7484C9}" destId="{39CE1ABE-2B78-483F-A505-DD304215A215}" srcOrd="2" destOrd="0" presId="urn:microsoft.com/office/officeart/2018/2/layout/IconVerticalSolidList"/>
    <dgm:cxn modelId="{1F0C625E-9154-4D11-AF00-FCA5C8CD60A1}" type="presParOf" srcId="{39CE1ABE-2B78-483F-A505-DD304215A215}" destId="{B3B6D342-BDBD-4DAF-83AF-B1989494A9CC}" srcOrd="0" destOrd="0" presId="urn:microsoft.com/office/officeart/2018/2/layout/IconVerticalSolidList"/>
    <dgm:cxn modelId="{A7F18E37-9F99-4D1C-917C-90234BF2C992}" type="presParOf" srcId="{39CE1ABE-2B78-483F-A505-DD304215A215}" destId="{09451C08-C5DD-44FD-9D19-028EC2595633}" srcOrd="1" destOrd="0" presId="urn:microsoft.com/office/officeart/2018/2/layout/IconVerticalSolidList"/>
    <dgm:cxn modelId="{50DAF5B3-A5E2-46B8-907A-6A0B14967759}" type="presParOf" srcId="{39CE1ABE-2B78-483F-A505-DD304215A215}" destId="{D5B2248A-ACCE-4235-BA45-30FE72FA00F2}" srcOrd="2" destOrd="0" presId="urn:microsoft.com/office/officeart/2018/2/layout/IconVerticalSolidList"/>
    <dgm:cxn modelId="{E6DC3D7A-13B1-4F0B-92B9-FF22AA1D378A}" type="presParOf" srcId="{39CE1ABE-2B78-483F-A505-DD304215A215}" destId="{E8923F5C-7395-42E2-ABF6-23543F14A872}" srcOrd="3" destOrd="0" presId="urn:microsoft.com/office/officeart/2018/2/layout/IconVerticalSolidList"/>
    <dgm:cxn modelId="{81E813F8-1D4C-4CD7-8F9B-C28D6E530A98}" type="presParOf" srcId="{368D229F-9A7A-43C2-A5E2-26275F7484C9}" destId="{4E130367-93D0-4987-AD54-971A9CE1CF4C}" srcOrd="3" destOrd="0" presId="urn:microsoft.com/office/officeart/2018/2/layout/IconVerticalSolidList"/>
    <dgm:cxn modelId="{D87A3DA7-88CC-4B78-99E9-9202417DC9B8}" type="presParOf" srcId="{368D229F-9A7A-43C2-A5E2-26275F7484C9}" destId="{60F01F28-E5F3-4E79-9905-0D2EF2385BC9}" srcOrd="4" destOrd="0" presId="urn:microsoft.com/office/officeart/2018/2/layout/IconVerticalSolidList"/>
    <dgm:cxn modelId="{C9089113-DABE-4423-974D-86EA534E094D}" type="presParOf" srcId="{60F01F28-E5F3-4E79-9905-0D2EF2385BC9}" destId="{C3D9876D-DB91-4DED-9282-1EA306F8C658}" srcOrd="0" destOrd="0" presId="urn:microsoft.com/office/officeart/2018/2/layout/IconVerticalSolidList"/>
    <dgm:cxn modelId="{AAC9F67A-12A3-4FB8-8463-F5235E3356E1}" type="presParOf" srcId="{60F01F28-E5F3-4E79-9905-0D2EF2385BC9}" destId="{06C5D55A-FF8E-48AD-909C-9F5A881DF659}" srcOrd="1" destOrd="0" presId="urn:microsoft.com/office/officeart/2018/2/layout/IconVerticalSolidList"/>
    <dgm:cxn modelId="{2950E356-546B-4290-9D46-35941FA4BB61}" type="presParOf" srcId="{60F01F28-E5F3-4E79-9905-0D2EF2385BC9}" destId="{5994DA4B-96B0-4119-AAC0-7A2BA7C1177A}" srcOrd="2" destOrd="0" presId="urn:microsoft.com/office/officeart/2018/2/layout/IconVerticalSolidList"/>
    <dgm:cxn modelId="{D45EF882-E595-4760-AF44-0F6C027E59FE}" type="presParOf" srcId="{60F01F28-E5F3-4E79-9905-0D2EF2385BC9}" destId="{7B852CEB-9FF3-4B92-90A3-82E0565BCDC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C7B95D-FC8B-44BC-816F-8FC732EF125D}">
      <dsp:nvSpPr>
        <dsp:cNvPr id="0" name=""/>
        <dsp:cNvSpPr/>
      </dsp:nvSpPr>
      <dsp:spPr>
        <a:xfrm>
          <a:off x="0" y="291592"/>
          <a:ext cx="5918184" cy="230957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This week lecture will cover the following CLO:</a:t>
          </a:r>
        </a:p>
      </dsp:txBody>
      <dsp:txXfrm>
        <a:off x="112744" y="404336"/>
        <a:ext cx="5692696" cy="2084091"/>
      </dsp:txXfrm>
    </dsp:sp>
    <dsp:sp modelId="{A025C2BC-3DF5-4B12-A043-E15E948A1F98}">
      <dsp:nvSpPr>
        <dsp:cNvPr id="0" name=""/>
        <dsp:cNvSpPr/>
      </dsp:nvSpPr>
      <dsp:spPr>
        <a:xfrm>
          <a:off x="0" y="2601172"/>
          <a:ext cx="5918184" cy="2086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902" tIns="53340" rIns="298704" bIns="53340" numCol="1" spcCol="1270" anchor="t" anchorCtr="0">
          <a:noAutofit/>
        </a:bodyPr>
        <a:lstStyle/>
        <a:p>
          <a:pPr marL="285750" lvl="1" indent="-285750" algn="l" defTabSz="1466850">
            <a:lnSpc>
              <a:spcPct val="90000"/>
            </a:lnSpc>
            <a:spcBef>
              <a:spcPct val="0"/>
            </a:spcBef>
            <a:spcAft>
              <a:spcPct val="20000"/>
            </a:spcAft>
            <a:buChar char="•"/>
          </a:pPr>
          <a:r>
            <a:rPr lang="en-US" sz="3300" b="1" kern="1200" dirty="0"/>
            <a:t>CLO 2: </a:t>
          </a:r>
          <a:r>
            <a:rPr lang="en-US" sz="3300" b="0" kern="1200" dirty="0"/>
            <a:t>. Implement artificial intelligence techniques and case studies</a:t>
          </a:r>
          <a:endParaRPr lang="en-US" sz="3300" kern="1200" dirty="0"/>
        </a:p>
        <a:p>
          <a:pPr marL="285750" lvl="1" indent="-285750" algn="l" defTabSz="1466850">
            <a:lnSpc>
              <a:spcPct val="90000"/>
            </a:lnSpc>
            <a:spcBef>
              <a:spcPct val="0"/>
            </a:spcBef>
            <a:spcAft>
              <a:spcPct val="20000"/>
            </a:spcAft>
            <a:buChar char="•"/>
          </a:pPr>
          <a:endParaRPr lang="en-US" sz="3300" b="0" kern="1200" dirty="0"/>
        </a:p>
      </dsp:txBody>
      <dsp:txXfrm>
        <a:off x="0" y="2601172"/>
        <a:ext cx="5918184" cy="2086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29C896-92F5-4B27-9BBA-D8F832427339}">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C5519-4332-4FB2-A857-D9F37928A1C7}">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5D27AE-6816-4DE5-B6D1-FB900EFA2AF3}">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b="1" kern="1200"/>
            <a:t>Optimal: </a:t>
          </a:r>
          <a:r>
            <a:rPr lang="en-US" sz="2500" kern="1200"/>
            <a:t>It always finds the least-cost path if h(n) is admissible (never overestimates).</a:t>
          </a:r>
        </a:p>
      </dsp:txBody>
      <dsp:txXfrm>
        <a:off x="1435590" y="531"/>
        <a:ext cx="9080009" cy="1242935"/>
      </dsp:txXfrm>
    </dsp:sp>
    <dsp:sp modelId="{B3B6D342-BDBD-4DAF-83AF-B1989494A9CC}">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451C08-C5DD-44FD-9D19-028EC2595633}">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923F5C-7395-42E2-ABF6-23543F14A872}">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b="1" kern="1200"/>
            <a:t>Complete:</a:t>
          </a:r>
          <a:r>
            <a:rPr lang="en-US" sz="2500" kern="1200"/>
            <a:t> Will always find a solution if one exists.</a:t>
          </a:r>
        </a:p>
      </dsp:txBody>
      <dsp:txXfrm>
        <a:off x="1435590" y="1554201"/>
        <a:ext cx="9080009" cy="1242935"/>
      </dsp:txXfrm>
    </dsp:sp>
    <dsp:sp modelId="{C3D9876D-DB91-4DED-9282-1EA306F8C658}">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C5D55A-FF8E-48AD-909C-9F5A881DF659}">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852CEB-9FF3-4B92-90A3-82E0565BCDCB}">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b="1" kern="1200"/>
            <a:t>Efficient: </a:t>
          </a:r>
          <a:r>
            <a:rPr lang="en-US" sz="2500" kern="1200"/>
            <a:t>Explores fewer nodes compared to other uninformed algorithms.</a:t>
          </a:r>
        </a:p>
      </dsp:txBody>
      <dsp:txXfrm>
        <a:off x="1435590" y="3107870"/>
        <a:ext cx="9080009" cy="12429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07986-D4E9-4F20-BDDF-A86C85BB79C3}" type="datetimeFigureOut">
              <a:rPr lang="en-PK" smtClean="0"/>
              <a:t>11/06/2025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770C78-D1E4-43B4-9084-D5891F6FAD77}" type="slidenum">
              <a:rPr lang="en-PK" smtClean="0"/>
              <a:t>‹#›</a:t>
            </a:fld>
            <a:endParaRPr lang="en-PK"/>
          </a:p>
        </p:txBody>
      </p:sp>
    </p:spTree>
    <p:extLst>
      <p:ext uri="{BB962C8B-B14F-4D97-AF65-F5344CB8AC3E}">
        <p14:creationId xmlns:p14="http://schemas.microsoft.com/office/powerpoint/2010/main" val="1537802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7770C78-D1E4-43B4-9084-D5891F6FAD77}" type="slidenum">
              <a:rPr lang="en-PK" smtClean="0"/>
              <a:t>1</a:t>
            </a:fld>
            <a:endParaRPr lang="en-PK"/>
          </a:p>
        </p:txBody>
      </p:sp>
    </p:spTree>
    <p:extLst>
      <p:ext uri="{BB962C8B-B14F-4D97-AF65-F5344CB8AC3E}">
        <p14:creationId xmlns:p14="http://schemas.microsoft.com/office/powerpoint/2010/main" val="88614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7770C78-D1E4-43B4-9084-D5891F6FAD77}" type="slidenum">
              <a:rPr lang="en-PK" smtClean="0"/>
              <a:t>4</a:t>
            </a:fld>
            <a:endParaRPr lang="en-PK"/>
          </a:p>
        </p:txBody>
      </p:sp>
    </p:spTree>
    <p:extLst>
      <p:ext uri="{BB962C8B-B14F-4D97-AF65-F5344CB8AC3E}">
        <p14:creationId xmlns:p14="http://schemas.microsoft.com/office/powerpoint/2010/main" val="2422871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spcAft>
                <a:spcPts val="750"/>
              </a:spcAft>
            </a:pPr>
            <a:r>
              <a:rPr lang="en-US" b="0" i="0" dirty="0">
                <a:solidFill>
                  <a:srgbClr val="273239"/>
                </a:solidFill>
                <a:effectLst/>
                <a:latin typeface="Nunito" pitchFamily="2" charset="0"/>
              </a:rPr>
              <a:t>Each of the algorithms in uninformed search will have: </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 problem </a:t>
            </a:r>
            <a:r>
              <a:rPr lang="en-US" b="1" i="0" dirty="0">
                <a:solidFill>
                  <a:srgbClr val="273239"/>
                </a:solidFill>
                <a:effectLst/>
                <a:latin typeface="Nunito" pitchFamily="2" charset="0"/>
              </a:rPr>
              <a:t>graph, </a:t>
            </a:r>
            <a:r>
              <a:rPr lang="en-US" b="0" i="0" dirty="0">
                <a:solidFill>
                  <a:srgbClr val="273239"/>
                </a:solidFill>
                <a:effectLst/>
                <a:latin typeface="Nunito" pitchFamily="2" charset="0"/>
              </a:rPr>
              <a:t>containing the start node S and the goal node G.</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 </a:t>
            </a:r>
            <a:r>
              <a:rPr lang="en-US" b="1" i="0" dirty="0">
                <a:solidFill>
                  <a:srgbClr val="273239"/>
                </a:solidFill>
                <a:effectLst/>
                <a:latin typeface="Nunito" pitchFamily="2" charset="0"/>
              </a:rPr>
              <a:t>strategy, </a:t>
            </a:r>
            <a:r>
              <a:rPr lang="en-US" b="0" i="0" dirty="0">
                <a:solidFill>
                  <a:srgbClr val="273239"/>
                </a:solidFill>
                <a:effectLst/>
                <a:latin typeface="Nunito" pitchFamily="2" charset="0"/>
              </a:rPr>
              <a:t>describing the manner in which the graph will be traversed to get to G.</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 </a:t>
            </a:r>
            <a:r>
              <a:rPr lang="en-US" b="1" i="0" dirty="0">
                <a:solidFill>
                  <a:srgbClr val="273239"/>
                </a:solidFill>
                <a:effectLst/>
                <a:latin typeface="Nunito" pitchFamily="2" charset="0"/>
              </a:rPr>
              <a:t>fringe, </a:t>
            </a:r>
            <a:r>
              <a:rPr lang="en-US" b="0" i="0" dirty="0">
                <a:solidFill>
                  <a:srgbClr val="273239"/>
                </a:solidFill>
                <a:effectLst/>
                <a:latin typeface="Nunito" pitchFamily="2" charset="0"/>
              </a:rPr>
              <a:t>which is a data structure used to store all the possible states (nodes) that you can go from the current states.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 </a:t>
            </a:r>
            <a:r>
              <a:rPr lang="en-US" b="1" i="0" dirty="0">
                <a:solidFill>
                  <a:srgbClr val="273239"/>
                </a:solidFill>
                <a:effectLst/>
                <a:latin typeface="Nunito" pitchFamily="2" charset="0"/>
              </a:rPr>
              <a:t>tree, </a:t>
            </a:r>
            <a:r>
              <a:rPr lang="en-US" b="0" i="0" dirty="0">
                <a:solidFill>
                  <a:srgbClr val="273239"/>
                </a:solidFill>
                <a:effectLst/>
                <a:latin typeface="Nunito" pitchFamily="2" charset="0"/>
              </a:rPr>
              <a:t>that results while traversing to the goal node.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 solution </a:t>
            </a:r>
            <a:r>
              <a:rPr lang="en-US" b="1" i="0" dirty="0">
                <a:solidFill>
                  <a:srgbClr val="273239"/>
                </a:solidFill>
                <a:effectLst/>
                <a:latin typeface="Nunito" pitchFamily="2" charset="0"/>
              </a:rPr>
              <a:t>plan, </a:t>
            </a:r>
            <a:r>
              <a:rPr lang="en-US" b="0" i="0" dirty="0">
                <a:solidFill>
                  <a:srgbClr val="273239"/>
                </a:solidFill>
                <a:effectLst/>
                <a:latin typeface="Nunito" pitchFamily="2" charset="0"/>
              </a:rPr>
              <a:t>which the sequence of nodes from S to G.</a:t>
            </a:r>
          </a:p>
          <a:p>
            <a:endParaRPr lang="en-US" dirty="0"/>
          </a:p>
        </p:txBody>
      </p:sp>
      <p:sp>
        <p:nvSpPr>
          <p:cNvPr id="4" name="Slide Number Placeholder 3"/>
          <p:cNvSpPr>
            <a:spLocks noGrp="1"/>
          </p:cNvSpPr>
          <p:nvPr>
            <p:ph type="sldNum" sz="quarter" idx="5"/>
          </p:nvPr>
        </p:nvSpPr>
        <p:spPr/>
        <p:txBody>
          <a:bodyPr/>
          <a:lstStyle/>
          <a:p>
            <a:fld id="{27770C78-D1E4-43B4-9084-D5891F6FAD77}" type="slidenum">
              <a:rPr lang="en-PK" smtClean="0"/>
              <a:t>6</a:t>
            </a:fld>
            <a:endParaRPr lang="en-PK"/>
          </a:p>
        </p:txBody>
      </p:sp>
    </p:spTree>
    <p:extLst>
      <p:ext uri="{BB962C8B-B14F-4D97-AF65-F5344CB8AC3E}">
        <p14:creationId xmlns:p14="http://schemas.microsoft.com/office/powerpoint/2010/main" val="2726275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770C78-D1E4-43B4-9084-D5891F6FAD77}"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74349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4B1B422B-D56B-48A6-BE4D-0AAC7D67A4F0}" type="datetimeFigureOut">
              <a:rPr lang="en-PK" smtClean="0"/>
              <a:t>11/06/2025</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390105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4B1B422B-D56B-48A6-BE4D-0AAC7D67A4F0}" type="datetimeFigureOut">
              <a:rPr lang="en-PK" smtClean="0"/>
              <a:t>11/06/2025</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254302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4B1B422B-D56B-48A6-BE4D-0AAC7D67A4F0}" type="datetimeFigureOut">
              <a:rPr lang="en-PK" smtClean="0"/>
              <a:t>11/06/2025</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085360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4B1B422B-D56B-48A6-BE4D-0AAC7D67A4F0}" type="datetimeFigureOut">
              <a:rPr lang="en-PK" smtClean="0"/>
              <a:t>11/06/2025</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08366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4B1B422B-D56B-48A6-BE4D-0AAC7D67A4F0}" type="datetimeFigureOut">
              <a:rPr lang="en-PK" smtClean="0"/>
              <a:t>11/06/2025</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531995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4B1B422B-D56B-48A6-BE4D-0AAC7D67A4F0}" type="datetimeFigureOut">
              <a:rPr lang="en-PK" smtClean="0"/>
              <a:t>11/06/2025</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891590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4B1B422B-D56B-48A6-BE4D-0AAC7D67A4F0}" type="datetimeFigureOut">
              <a:rPr lang="en-PK" smtClean="0"/>
              <a:t>11/06/2025</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140974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4B1B422B-D56B-48A6-BE4D-0AAC7D67A4F0}" type="datetimeFigureOut">
              <a:rPr lang="en-PK" smtClean="0"/>
              <a:t>11/06/2025</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230029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4B1B422B-D56B-48A6-BE4D-0AAC7D67A4F0}" type="datetimeFigureOut">
              <a:rPr lang="en-PK" smtClean="0"/>
              <a:t>11/06/2025</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302028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4B1B422B-D56B-48A6-BE4D-0AAC7D67A4F0}" type="datetimeFigureOut">
              <a:rPr lang="en-PK" smtClean="0"/>
              <a:t>11/06/2025</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50506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4B1B422B-D56B-48A6-BE4D-0AAC7D67A4F0}" type="datetimeFigureOut">
              <a:rPr lang="en-PK" smtClean="0"/>
              <a:t>11/06/2025</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228638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B422B-D56B-48A6-BE4D-0AAC7D67A4F0}" type="datetimeFigureOut">
              <a:rPr lang="en-PK" smtClean="0"/>
              <a:t>11/06/2025</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2001108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49733D3-B539-9FDF-841C-7CA34CBED49E}"/>
              </a:ext>
            </a:extLst>
          </p:cNvPr>
          <p:cNvSpPr>
            <a:spLocks noGrp="1"/>
          </p:cNvSpPr>
          <p:nvPr>
            <p:ph type="ctrTitle"/>
          </p:nvPr>
        </p:nvSpPr>
        <p:spPr>
          <a:xfrm>
            <a:off x="2026693" y="1030406"/>
            <a:ext cx="8147713" cy="3081242"/>
          </a:xfrm>
        </p:spPr>
        <p:txBody>
          <a:bodyPr anchor="ctr">
            <a:normAutofit/>
          </a:bodyPr>
          <a:lstStyle/>
          <a:p>
            <a:r>
              <a:rPr lang="en-GB" sz="4800" dirty="0">
                <a:solidFill>
                  <a:srgbClr val="FFFFFF"/>
                </a:solidFill>
                <a:latin typeface="Arial" panose="020B0604020202020204" pitchFamily="34" charset="0"/>
                <a:cs typeface="Arial" panose="020B0604020202020204" pitchFamily="34" charset="0"/>
              </a:rPr>
              <a:t>Artificial Intelligence</a:t>
            </a:r>
            <a:endParaRPr lang="en-PK" sz="4800" dirty="0">
              <a:solidFill>
                <a:srgbClr val="FFFFFF"/>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0CA6085-9456-8389-FD83-03FD37673D7F}"/>
              </a:ext>
            </a:extLst>
          </p:cNvPr>
          <p:cNvSpPr>
            <a:spLocks noGrp="1"/>
          </p:cNvSpPr>
          <p:nvPr>
            <p:ph type="subTitle" idx="1"/>
          </p:nvPr>
        </p:nvSpPr>
        <p:spPr>
          <a:xfrm>
            <a:off x="1559943" y="5171093"/>
            <a:ext cx="9078628" cy="860620"/>
          </a:xfrm>
        </p:spPr>
        <p:txBody>
          <a:bodyPr anchor="ctr">
            <a:noAutofit/>
          </a:bodyPr>
          <a:lstStyle/>
          <a:p>
            <a:r>
              <a:rPr lang="en-US" sz="2000" dirty="0">
                <a:solidFill>
                  <a:srgbClr val="FFFFFF"/>
                </a:solidFill>
                <a:latin typeface="Arial" panose="020B0604020202020204" pitchFamily="34" charset="0"/>
                <a:cs typeface="Arial" panose="020B0604020202020204" pitchFamily="34" charset="0"/>
              </a:rPr>
              <a:t>Course Code: CS-202</a:t>
            </a:r>
          </a:p>
          <a:p>
            <a:r>
              <a:rPr lang="en-US" sz="2000" dirty="0">
                <a:solidFill>
                  <a:srgbClr val="FFFFFF"/>
                </a:solidFill>
                <a:latin typeface="Arial" panose="020B0604020202020204" pitchFamily="34" charset="0"/>
                <a:cs typeface="Arial" panose="020B0604020202020204" pitchFamily="34" charset="0"/>
              </a:rPr>
              <a:t>Topic: Search Algorithms – Informed BFS, A*</a:t>
            </a:r>
          </a:p>
          <a:p>
            <a:r>
              <a:rPr lang="en-US" sz="2000" dirty="0">
                <a:solidFill>
                  <a:srgbClr val="FFFFFF"/>
                </a:solidFill>
                <a:latin typeface="Arial" panose="020B0604020202020204" pitchFamily="34" charset="0"/>
                <a:cs typeface="Arial" panose="020B0604020202020204" pitchFamily="34" charset="0"/>
              </a:rPr>
              <a:t>Instructor: Habiba Arshad</a:t>
            </a:r>
            <a:endParaRPr lang="en-PK" sz="1600"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7021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E0E7B3-C946-4D46-D3F2-E5D4B280843F}"/>
              </a:ext>
            </a:extLst>
          </p:cNvPr>
          <p:cNvSpPr>
            <a:spLocks noGrp="1"/>
          </p:cNvSpPr>
          <p:nvPr>
            <p:ph type="title"/>
          </p:nvPr>
        </p:nvSpPr>
        <p:spPr>
          <a:xfrm>
            <a:off x="645065" y="1097280"/>
            <a:ext cx="3796306" cy="4666207"/>
          </a:xfrm>
        </p:spPr>
        <p:txBody>
          <a:bodyPr anchor="ctr">
            <a:normAutofit/>
          </a:bodyPr>
          <a:lstStyle/>
          <a:p>
            <a:r>
              <a:rPr lang="en-GB" sz="4800" b="1" dirty="0">
                <a:latin typeface="Arial" panose="020B0604020202020204" pitchFamily="34" charset="0"/>
                <a:cs typeface="Arial" panose="020B0604020202020204" pitchFamily="34" charset="0"/>
              </a:rPr>
              <a:t>Week-3 </a:t>
            </a:r>
            <a:endParaRPr lang="en-PK" sz="4800" b="1" dirty="0">
              <a:latin typeface="Arial" panose="020B0604020202020204"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12" name="Rectangle 11">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51412D1-217C-109E-B1DF-6DFBBBBDB9B7}"/>
              </a:ext>
            </a:extLst>
          </p:cNvPr>
          <p:cNvGraphicFramePr>
            <a:graphicFrameLocks noGrp="1"/>
          </p:cNvGraphicFramePr>
          <p:nvPr>
            <p:ph idx="1"/>
            <p:extLst>
              <p:ext uri="{D42A27DB-BD31-4B8C-83A1-F6EECF244321}">
                <p14:modId xmlns:p14="http://schemas.microsoft.com/office/powerpoint/2010/main" val="4158525557"/>
              </p:ext>
            </p:extLst>
          </p:nvPr>
        </p:nvGraphicFramePr>
        <p:xfrm>
          <a:off x="5431536" y="1014153"/>
          <a:ext cx="5918184" cy="4979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069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0BDC10-FA0F-F613-1038-FE6181012FC3}"/>
              </a:ext>
            </a:extLst>
          </p:cNvPr>
          <p:cNvSpPr>
            <a:spLocks noGrp="1"/>
          </p:cNvSpPr>
          <p:nvPr>
            <p:ph type="title"/>
          </p:nvPr>
        </p:nvSpPr>
        <p:spPr>
          <a:xfrm>
            <a:off x="4869180" y="329184"/>
            <a:ext cx="6679692" cy="1581912"/>
          </a:xfrm>
        </p:spPr>
        <p:txBody>
          <a:bodyPr anchor="b">
            <a:normAutofit/>
          </a:bodyPr>
          <a:lstStyle/>
          <a:p>
            <a:r>
              <a:rPr lang="it-IT" sz="5400" b="1" dirty="0">
                <a:latin typeface="Arial" panose="020B0604020202020204" pitchFamily="34" charset="0"/>
                <a:cs typeface="Arial" panose="020B0604020202020204" pitchFamily="34" charset="0"/>
              </a:rPr>
              <a:t>Search</a:t>
            </a:r>
            <a:endParaRPr lang="en-PK" sz="5400" b="1" dirty="0">
              <a:latin typeface="Arial" panose="020B0604020202020204" pitchFamily="34" charset="0"/>
              <a:cs typeface="Arial" panose="020B0604020202020204" pitchFamily="34" charset="0"/>
            </a:endParaRPr>
          </a:p>
        </p:txBody>
      </p:sp>
      <p:pic>
        <p:nvPicPr>
          <p:cNvPr id="5" name="Picture 4" descr="Magnifying glass showing decling performance">
            <a:extLst>
              <a:ext uri="{FF2B5EF4-FFF2-40B4-BE49-F238E27FC236}">
                <a16:creationId xmlns:a16="http://schemas.microsoft.com/office/drawing/2014/main" id="{42A39291-8B2B-5424-FFF2-2906D021109A}"/>
              </a:ext>
            </a:extLst>
          </p:cNvPr>
          <p:cNvPicPr>
            <a:picLocks noChangeAspect="1"/>
          </p:cNvPicPr>
          <p:nvPr/>
        </p:nvPicPr>
        <p:blipFill>
          <a:blip r:embed="rId2"/>
          <a:srcRect l="12053" r="42616"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AD97A4E-A075-EDF1-0534-774F8DD78CAE}"/>
              </a:ext>
            </a:extLst>
          </p:cNvPr>
          <p:cNvSpPr>
            <a:spLocks noGrp="1"/>
          </p:cNvSpPr>
          <p:nvPr>
            <p:ph idx="1"/>
          </p:nvPr>
        </p:nvSpPr>
        <p:spPr>
          <a:xfrm>
            <a:off x="4869180" y="2706624"/>
            <a:ext cx="7098030" cy="3920490"/>
          </a:xfrm>
        </p:spPr>
        <p:txBody>
          <a:bodyPr>
            <a:normAutofit/>
          </a:bodyPr>
          <a:lstStyle/>
          <a:p>
            <a:r>
              <a:rPr lang="en-GB" sz="2400" dirty="0">
                <a:latin typeface="Arial" panose="020B0604020202020204" pitchFamily="34" charset="0"/>
                <a:cs typeface="Arial" panose="020B0604020202020204" pitchFamily="34" charset="0"/>
              </a:rPr>
              <a:t>The process of Finding a path to desired goal state from all possible future states. </a:t>
            </a:r>
          </a:p>
          <a:p>
            <a:r>
              <a:rPr lang="en-US" sz="2400" dirty="0">
                <a:latin typeface="Arial" panose="020B0604020202020204" pitchFamily="34" charset="0"/>
                <a:cs typeface="Arial" panose="020B0604020202020204" pitchFamily="34" charset="0"/>
              </a:rPr>
              <a:t>The Solution to a search problem is a sequence of actions, called the plan that transforms the start state to the goal state.</a:t>
            </a:r>
          </a:p>
          <a:p>
            <a:r>
              <a:rPr lang="en-US" sz="2400" dirty="0">
                <a:latin typeface="Arial" panose="020B0604020202020204" pitchFamily="34" charset="0"/>
                <a:cs typeface="Arial" panose="020B0604020202020204" pitchFamily="34" charset="0"/>
              </a:rPr>
              <a:t>This plan is achieved through search algorithms.</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8392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E6A64F-A591-01CD-C288-0976EB1EBAEF}"/>
              </a:ext>
            </a:extLst>
          </p:cNvPr>
          <p:cNvSpPr>
            <a:spLocks noGrp="1"/>
          </p:cNvSpPr>
          <p:nvPr>
            <p:ph type="title"/>
          </p:nvPr>
        </p:nvSpPr>
        <p:spPr>
          <a:xfrm>
            <a:off x="4754880" y="329184"/>
            <a:ext cx="6793992" cy="1783080"/>
          </a:xfrm>
        </p:spPr>
        <p:txBody>
          <a:bodyPr anchor="b">
            <a:normAutofit/>
          </a:bodyPr>
          <a:lstStyle/>
          <a:p>
            <a:r>
              <a:rPr lang="it-IT" sz="5400" b="1" dirty="0">
                <a:latin typeface="Arial" panose="020B0604020202020204" pitchFamily="34" charset="0"/>
                <a:cs typeface="Arial" panose="020B0604020202020204" pitchFamily="34" charset="0"/>
              </a:rPr>
              <a:t>Kinds of Search</a:t>
            </a:r>
            <a:endParaRPr lang="en-PK" sz="5400" b="1" dirty="0">
              <a:latin typeface="Arial" panose="020B0604020202020204" pitchFamily="34" charset="0"/>
              <a:cs typeface="Arial" panose="020B0604020202020204" pitchFamily="34" charset="0"/>
            </a:endParaRPr>
          </a:p>
        </p:txBody>
      </p:sp>
      <p:pic>
        <p:nvPicPr>
          <p:cNvPr id="5" name="Picture 4" descr="Robot operating a machine">
            <a:extLst>
              <a:ext uri="{FF2B5EF4-FFF2-40B4-BE49-F238E27FC236}">
                <a16:creationId xmlns:a16="http://schemas.microsoft.com/office/drawing/2014/main" id="{F98CAA99-7215-7B78-0C83-DE88A076FEB3}"/>
              </a:ext>
            </a:extLst>
          </p:cNvPr>
          <p:cNvPicPr>
            <a:picLocks noChangeAspect="1"/>
          </p:cNvPicPr>
          <p:nvPr/>
        </p:nvPicPr>
        <p:blipFill>
          <a:blip r:embed="rId3"/>
          <a:srcRect l="24900" r="22979"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F2BB72A-49A5-E8DF-668C-FF78BD41D025}"/>
              </a:ext>
            </a:extLst>
          </p:cNvPr>
          <p:cNvSpPr>
            <a:spLocks noGrp="1"/>
          </p:cNvSpPr>
          <p:nvPr>
            <p:ph idx="1"/>
          </p:nvPr>
        </p:nvSpPr>
        <p:spPr>
          <a:xfrm>
            <a:off x="4754880" y="2459736"/>
            <a:ext cx="7223760" cy="4242816"/>
          </a:xfrm>
        </p:spPr>
        <p:txBody>
          <a:bodyPr>
            <a:normAutofit/>
          </a:bodyPr>
          <a:lstStyle/>
          <a:p>
            <a:pPr algn="just"/>
            <a:r>
              <a:rPr lang="en-US" sz="2000" dirty="0">
                <a:latin typeface="Arial" panose="020B0604020202020204" pitchFamily="34" charset="0"/>
                <a:cs typeface="Arial" panose="020B0604020202020204" pitchFamily="34" charset="0"/>
              </a:rPr>
              <a:t>There are 2 kinds of search based on whether they use information about the goal.</a:t>
            </a:r>
          </a:p>
          <a:p>
            <a:pPr algn="just"/>
            <a:r>
              <a:rPr lang="en-US" sz="2000" b="1" dirty="0">
                <a:latin typeface="Arial" panose="020B0604020202020204" pitchFamily="34" charset="0"/>
                <a:cs typeface="Arial" panose="020B0604020202020204" pitchFamily="34" charset="0"/>
              </a:rPr>
              <a:t>Uninformed search algorithms</a:t>
            </a:r>
            <a:r>
              <a:rPr lang="en-US" sz="2000" dirty="0">
                <a:latin typeface="Arial" panose="020B0604020202020204" pitchFamily="34" charset="0"/>
                <a:cs typeface="Arial" panose="020B0604020202020204" pitchFamily="34" charset="0"/>
              </a:rPr>
              <a:t>-algorithms have no additional information on the goal node other than the one provided in the problem definition. The plans to reach the goal state from the start state differ only by the order and/or length of actions. Uninformed search is also called Blind search. </a:t>
            </a:r>
          </a:p>
          <a:p>
            <a:pPr algn="just"/>
            <a:r>
              <a:rPr lang="en-US" sz="2000" b="1" dirty="0">
                <a:latin typeface="Arial" panose="020B0604020202020204" pitchFamily="34" charset="0"/>
                <a:cs typeface="Arial" panose="020B0604020202020204" pitchFamily="34" charset="0"/>
              </a:rPr>
              <a:t>Informed search algorithms</a:t>
            </a:r>
            <a:r>
              <a:rPr lang="en-US" sz="2000" dirty="0">
                <a:latin typeface="Arial" panose="020B0604020202020204" pitchFamily="34" charset="0"/>
                <a:cs typeface="Arial" panose="020B0604020202020204" pitchFamily="34" charset="0"/>
              </a:rPr>
              <a:t>, the algorithms have information on the goal state, which helps in more efficient searching. This information is obtained by something called a heuristic. </a:t>
            </a:r>
          </a:p>
        </p:txBody>
      </p:sp>
    </p:spTree>
    <p:extLst>
      <p:ext uri="{BB962C8B-B14F-4D97-AF65-F5344CB8AC3E}">
        <p14:creationId xmlns:p14="http://schemas.microsoft.com/office/powerpoint/2010/main" val="1602175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915459-7E83-B760-5EED-C2DAFD8B3B5E}"/>
              </a:ext>
            </a:extLst>
          </p:cNvPr>
          <p:cNvSpPr>
            <a:spLocks noGrp="1"/>
          </p:cNvSpPr>
          <p:nvPr>
            <p:ph type="title"/>
          </p:nvPr>
        </p:nvSpPr>
        <p:spPr>
          <a:xfrm>
            <a:off x="686834" y="1153572"/>
            <a:ext cx="3200400" cy="4461163"/>
          </a:xfrm>
        </p:spPr>
        <p:txBody>
          <a:bodyPr>
            <a:normAutofit/>
          </a:bodyPr>
          <a:lstStyle/>
          <a:p>
            <a:r>
              <a:rPr lang="en-US">
                <a:solidFill>
                  <a:srgbClr val="FFFFFF"/>
                </a:solidFill>
              </a:rPr>
              <a:t>What is Heuristic?</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0CB7B6D-9D6A-47A7-E313-C7385402A8B4}"/>
              </a:ext>
            </a:extLst>
          </p:cNvPr>
          <p:cNvSpPr>
            <a:spLocks noGrp="1"/>
          </p:cNvSpPr>
          <p:nvPr>
            <p:ph idx="1"/>
          </p:nvPr>
        </p:nvSpPr>
        <p:spPr>
          <a:xfrm>
            <a:off x="4447308" y="591344"/>
            <a:ext cx="6906491" cy="5585619"/>
          </a:xfrm>
        </p:spPr>
        <p:txBody>
          <a:bodyPr anchor="ctr">
            <a:normAutofit/>
          </a:bodyPr>
          <a:lstStyle/>
          <a:p>
            <a:pPr marL="0" indent="0">
              <a:buNone/>
            </a:pPr>
            <a:endParaRPr lang="en-US" dirty="0"/>
          </a:p>
          <a:p>
            <a:r>
              <a:rPr lang="en-US" dirty="0"/>
              <a:t>A </a:t>
            </a:r>
            <a:r>
              <a:rPr lang="en-US" b="1" dirty="0"/>
              <a:t>heuristic function</a:t>
            </a:r>
            <a:r>
              <a:rPr lang="en-US" dirty="0"/>
              <a:t> is a rule or formula that estimates the cost or distance from a given state to the goal. </a:t>
            </a:r>
          </a:p>
          <a:p>
            <a:r>
              <a:rPr lang="en-US" dirty="0"/>
              <a:t>It helps informed search algorithms make better decisions by guiding them toward an optimal solution efficiently.</a:t>
            </a:r>
          </a:p>
        </p:txBody>
      </p:sp>
    </p:spTree>
    <p:extLst>
      <p:ext uri="{BB962C8B-B14F-4D97-AF65-F5344CB8AC3E}">
        <p14:creationId xmlns:p14="http://schemas.microsoft.com/office/powerpoint/2010/main" val="3386718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261F25F-6D0B-AE94-3E09-AFF5B3DA3CCE}"/>
              </a:ext>
            </a:extLst>
          </p:cNvPr>
          <p:cNvPicPr>
            <a:picLocks noChangeAspect="1"/>
          </p:cNvPicPr>
          <p:nvPr/>
        </p:nvPicPr>
        <p:blipFill>
          <a:blip r:embed="rId3"/>
          <a:stretch>
            <a:fillRect/>
          </a:stretch>
        </p:blipFill>
        <p:spPr>
          <a:xfrm>
            <a:off x="1911726" y="643571"/>
            <a:ext cx="7989375" cy="6012000"/>
          </a:xfrm>
          <a:prstGeom prst="rect">
            <a:avLst/>
          </a:prstGeom>
          <a:ln>
            <a:noFill/>
          </a:ln>
        </p:spPr>
      </p:pic>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72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2" name="Rectangle 2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8953D13F-991A-E738-D7A9-8C77BD88FB36}"/>
              </a:ext>
            </a:extLst>
          </p:cNvPr>
          <p:cNvSpPr>
            <a:spLocks noGrp="1"/>
          </p:cNvSpPr>
          <p:nvPr>
            <p:ph type="title"/>
          </p:nvPr>
        </p:nvSpPr>
        <p:spPr>
          <a:xfrm>
            <a:off x="761803" y="350196"/>
            <a:ext cx="4646904" cy="1624520"/>
          </a:xfrm>
        </p:spPr>
        <p:txBody>
          <a:bodyPr anchor="ctr">
            <a:normAutofit/>
          </a:bodyPr>
          <a:lstStyle/>
          <a:p>
            <a:r>
              <a:rPr lang="en-GB" sz="4000"/>
              <a:t>Informed (Heuristics) Search Algorithms</a:t>
            </a:r>
            <a:endParaRPr lang="en-US" sz="4000"/>
          </a:p>
        </p:txBody>
      </p:sp>
      <p:sp>
        <p:nvSpPr>
          <p:cNvPr id="6" name="Content Placeholder 5">
            <a:extLst>
              <a:ext uri="{FF2B5EF4-FFF2-40B4-BE49-F238E27FC236}">
                <a16:creationId xmlns:a16="http://schemas.microsoft.com/office/drawing/2014/main" id="{80FB17DD-D996-C0A1-EAA8-98058F21BE3A}"/>
              </a:ext>
            </a:extLst>
          </p:cNvPr>
          <p:cNvSpPr>
            <a:spLocks noGrp="1"/>
          </p:cNvSpPr>
          <p:nvPr>
            <p:ph idx="1"/>
          </p:nvPr>
        </p:nvSpPr>
        <p:spPr>
          <a:xfrm>
            <a:off x="416690" y="2324912"/>
            <a:ext cx="4992018" cy="4031437"/>
          </a:xfrm>
        </p:spPr>
        <p:txBody>
          <a:bodyPr anchor="ctr">
            <a:normAutofit lnSpcReduction="10000"/>
          </a:bodyPr>
          <a:lstStyle/>
          <a:p>
            <a:r>
              <a:rPr lang="en-US" dirty="0"/>
              <a:t>Best-First Search (BFS)</a:t>
            </a:r>
          </a:p>
          <a:p>
            <a:endParaRPr lang="en-US" dirty="0"/>
          </a:p>
          <a:p>
            <a:r>
              <a:rPr lang="en-US" b="1" dirty="0"/>
              <a:t>Best-First Search (BFS)</a:t>
            </a:r>
            <a:r>
              <a:rPr lang="en-US" dirty="0"/>
              <a:t> is a </a:t>
            </a:r>
            <a:r>
              <a:rPr lang="en-US" b="1" dirty="0"/>
              <a:t>heuristic-based search algorithm</a:t>
            </a:r>
            <a:r>
              <a:rPr lang="en-US" dirty="0"/>
              <a:t> that selects the most promising node based on a given </a:t>
            </a:r>
            <a:r>
              <a:rPr lang="en-US" b="1" dirty="0"/>
              <a:t>evaluation function</a:t>
            </a:r>
            <a:r>
              <a:rPr lang="en-US" dirty="0"/>
              <a:t>. It uses a </a:t>
            </a:r>
            <a:r>
              <a:rPr lang="en-US" b="1" dirty="0"/>
              <a:t>priority queue</a:t>
            </a:r>
            <a:r>
              <a:rPr lang="en-US" dirty="0"/>
              <a:t> to explore paths that appear closer to the goal first.</a:t>
            </a:r>
          </a:p>
        </p:txBody>
      </p:sp>
      <p:pic>
        <p:nvPicPr>
          <p:cNvPr id="8" name="Picture 7" descr="Person watching empty phone">
            <a:extLst>
              <a:ext uri="{FF2B5EF4-FFF2-40B4-BE49-F238E27FC236}">
                <a16:creationId xmlns:a16="http://schemas.microsoft.com/office/drawing/2014/main" id="{F175C131-EB65-C7C7-41B6-E1A7640E60A5}"/>
              </a:ext>
            </a:extLst>
          </p:cNvPr>
          <p:cNvPicPr>
            <a:picLocks noChangeAspect="1"/>
          </p:cNvPicPr>
          <p:nvPr/>
        </p:nvPicPr>
        <p:blipFill>
          <a:blip r:embed="rId2"/>
          <a:srcRect l="35880" r="4720" b="-2"/>
          <a:stretch>
            <a:fillRect/>
          </a:stretch>
        </p:blipFill>
        <p:spPr>
          <a:xfrm>
            <a:off x="6096000" y="1"/>
            <a:ext cx="6102825" cy="6858000"/>
          </a:xfrm>
          <a:prstGeom prst="rect">
            <a:avLst/>
          </a:prstGeom>
        </p:spPr>
      </p:pic>
    </p:spTree>
    <p:extLst>
      <p:ext uri="{BB962C8B-B14F-4D97-AF65-F5344CB8AC3E}">
        <p14:creationId xmlns:p14="http://schemas.microsoft.com/office/powerpoint/2010/main" val="2358962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Rectangle 2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AFD25A5-BEE9-58A2-A304-C9907D8EE330}"/>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Example of Best-First Search</a:t>
            </a:r>
          </a:p>
        </p:txBody>
      </p:sp>
      <p:sp>
        <p:nvSpPr>
          <p:cNvPr id="6" name="Content Placeholder 5">
            <a:extLst>
              <a:ext uri="{FF2B5EF4-FFF2-40B4-BE49-F238E27FC236}">
                <a16:creationId xmlns:a16="http://schemas.microsoft.com/office/drawing/2014/main" id="{12B31A64-E47F-BEA9-0878-D3B0D3FDCF46}"/>
              </a:ext>
            </a:extLst>
          </p:cNvPr>
          <p:cNvSpPr>
            <a:spLocks noGrp="1"/>
          </p:cNvSpPr>
          <p:nvPr>
            <p:ph idx="1"/>
          </p:nvPr>
        </p:nvSpPr>
        <p:spPr>
          <a:xfrm>
            <a:off x="4367695" y="649480"/>
            <a:ext cx="7489025" cy="5546047"/>
          </a:xfrm>
        </p:spPr>
        <p:txBody>
          <a:bodyPr anchor="ctr">
            <a:normAutofit/>
          </a:bodyPr>
          <a:lstStyle/>
          <a:p>
            <a:r>
              <a:rPr lang="en-US" dirty="0"/>
              <a:t>Consider a graph where the heuristic function h(n) represents the straight-line distance to the goal. BFS always expands the closest-looking node first.</a:t>
            </a:r>
          </a:p>
          <a:p>
            <a:r>
              <a:rPr lang="en-US" dirty="0"/>
              <a:t>Use Case: Pathfinding in a city</a:t>
            </a:r>
          </a:p>
          <a:p>
            <a:r>
              <a:rPr lang="en-US" dirty="0"/>
              <a:t>Nodes = Cities</a:t>
            </a:r>
          </a:p>
          <a:p>
            <a:r>
              <a:rPr lang="en-US" dirty="0"/>
              <a:t>Edges = Roads between cities</a:t>
            </a:r>
          </a:p>
          <a:p>
            <a:r>
              <a:rPr lang="en-US" dirty="0"/>
              <a:t>Heuristic h(n) = Straight-line distance or Euclidean distance to the destination</a:t>
            </a:r>
          </a:p>
          <a:p>
            <a:r>
              <a:rPr lang="en-US" dirty="0"/>
              <a:t>The algorithm expands the city that appears closest to the goal.</a:t>
            </a:r>
          </a:p>
        </p:txBody>
      </p:sp>
    </p:spTree>
    <p:extLst>
      <p:ext uri="{BB962C8B-B14F-4D97-AF65-F5344CB8AC3E}">
        <p14:creationId xmlns:p14="http://schemas.microsoft.com/office/powerpoint/2010/main" val="128354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81BB7E-534A-19C4-5D92-235941C71A30}"/>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Shape 3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0" name="Rectangle 3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051CDC0D-1312-EEDD-85CE-8D6368BD848C}"/>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Steps of Best-First Search</a:t>
            </a:r>
          </a:p>
        </p:txBody>
      </p:sp>
      <p:sp>
        <p:nvSpPr>
          <p:cNvPr id="4" name="Content Placeholder 3">
            <a:extLst>
              <a:ext uri="{FF2B5EF4-FFF2-40B4-BE49-F238E27FC236}">
                <a16:creationId xmlns:a16="http://schemas.microsoft.com/office/drawing/2014/main" id="{53CEB39A-2746-C577-44AC-F96C506DF60D}"/>
              </a:ext>
            </a:extLst>
          </p:cNvPr>
          <p:cNvSpPr>
            <a:spLocks noGrp="1" noChangeArrowheads="1"/>
          </p:cNvSpPr>
          <p:nvPr>
            <p:ph idx="1"/>
          </p:nvPr>
        </p:nvSpPr>
        <p:spPr bwMode="auto">
          <a:xfrm>
            <a:off x="4134810" y="164124"/>
            <a:ext cx="8054141" cy="66837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en-US" altLang="en-US" sz="1800" b="1" i="0" u="none" strike="noStrike" cap="none" normalizeH="0" baseline="0" dirty="0">
                <a:ln>
                  <a:noFill/>
                </a:ln>
                <a:effectLst/>
                <a:latin typeface="Arial" panose="020B0604020202020204" pitchFamily="34" charset="0"/>
              </a:rPr>
              <a:t>Initialize</a:t>
            </a: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Create two lists:</a:t>
            </a:r>
          </a:p>
          <a:p>
            <a:pPr marL="457200" marR="0" lvl="1"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OPEN (priority queue):</a:t>
            </a:r>
            <a:r>
              <a:rPr kumimoji="0" lang="en-US" altLang="en-US" sz="1800" b="0" i="0" u="none" strike="noStrike" cap="none" normalizeH="0" baseline="0" dirty="0">
                <a:ln>
                  <a:noFill/>
                </a:ln>
                <a:effectLst/>
                <a:latin typeface="Arial" panose="020B0604020202020204" pitchFamily="34" charset="0"/>
              </a:rPr>
              <a:t> Stores nodes to be explored, sorted by </a:t>
            </a:r>
            <a:r>
              <a:rPr kumimoji="0" lang="en-US" altLang="en-US" sz="1800" b="1" i="0" u="none" strike="noStrike" cap="none" normalizeH="0" baseline="0" dirty="0">
                <a:ln>
                  <a:noFill/>
                </a:ln>
                <a:effectLst/>
                <a:latin typeface="Arial" panose="020B0604020202020204" pitchFamily="34" charset="0"/>
              </a:rPr>
              <a:t>h(n)</a:t>
            </a:r>
            <a:r>
              <a:rPr kumimoji="0" lang="en-US" altLang="en-US" sz="1800" b="0" i="0" u="none" strike="noStrike" cap="none" normalizeH="0" baseline="0" dirty="0">
                <a:ln>
                  <a:noFill/>
                </a:ln>
                <a:effectLst/>
                <a:latin typeface="Arial" panose="020B0604020202020204" pitchFamily="34" charset="0"/>
              </a:rPr>
              <a:t>.</a:t>
            </a:r>
          </a:p>
          <a:p>
            <a:pPr marL="457200" marR="0" lvl="1"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CLOSED (visited list):</a:t>
            </a:r>
            <a:r>
              <a:rPr kumimoji="0" lang="en-US" altLang="en-US" sz="1800" b="0" i="0" u="none" strike="noStrike" cap="none" normalizeH="0" baseline="0" dirty="0">
                <a:ln>
                  <a:noFill/>
                </a:ln>
                <a:effectLst/>
                <a:latin typeface="Arial" panose="020B0604020202020204" pitchFamily="34" charset="0"/>
              </a:rPr>
              <a:t> Keeps track of explored nodes to prevent re-exploration.</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Add the </a:t>
            </a:r>
            <a:r>
              <a:rPr kumimoji="0" lang="en-US" altLang="en-US" sz="1800" b="1" i="0" u="none" strike="noStrike" cap="none" normalizeH="0" baseline="0" dirty="0">
                <a:ln>
                  <a:noFill/>
                </a:ln>
                <a:effectLst/>
                <a:latin typeface="Arial" panose="020B0604020202020204" pitchFamily="34" charset="0"/>
              </a:rPr>
              <a:t>start node</a:t>
            </a:r>
            <a:r>
              <a:rPr kumimoji="0" lang="en-US" altLang="en-US" sz="1800" b="0" i="0" u="none" strike="noStrike" cap="none" normalizeH="0" baseline="0" dirty="0">
                <a:ln>
                  <a:noFill/>
                </a:ln>
                <a:effectLst/>
                <a:latin typeface="Arial" panose="020B0604020202020204" pitchFamily="34" charset="0"/>
              </a:rPr>
              <a:t> to the OPEN list.</a:t>
            </a:r>
          </a:p>
          <a:p>
            <a:pPr marL="0" marR="0" lvl="0" indent="0" defTabSz="914400" rtl="0" eaLnBrk="0" fontAlgn="base" latinLnBrk="0" hangingPunct="0">
              <a:spcBef>
                <a:spcPct val="0"/>
              </a:spcBef>
              <a:spcAft>
                <a:spcPts val="600"/>
              </a:spcAft>
              <a:buClrTx/>
              <a:buSzTx/>
              <a:buNone/>
              <a:tabLst/>
            </a:pPr>
            <a:r>
              <a:rPr kumimoji="0" lang="en-US" altLang="en-US" sz="1800" b="1" i="0" u="none" strike="noStrike" cap="none" normalizeH="0" baseline="0" dirty="0">
                <a:ln>
                  <a:noFill/>
                </a:ln>
                <a:effectLst/>
                <a:latin typeface="Arial" panose="020B0604020202020204" pitchFamily="34" charset="0"/>
              </a:rPr>
              <a:t>Search Process</a:t>
            </a: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While the OPEN list is </a:t>
            </a:r>
            <a:r>
              <a:rPr kumimoji="0" lang="en-US" altLang="en-US" sz="1800" b="1" i="0" u="none" strike="noStrike" cap="none" normalizeH="0" baseline="0" dirty="0">
                <a:ln>
                  <a:noFill/>
                </a:ln>
                <a:effectLst/>
                <a:latin typeface="Arial" panose="020B0604020202020204" pitchFamily="34" charset="0"/>
              </a:rPr>
              <a:t>not empty</a:t>
            </a:r>
            <a:r>
              <a:rPr kumimoji="0" lang="en-US" altLang="en-US" sz="1800" b="0" i="0" u="none" strike="noStrike" cap="none" normalizeH="0" baseline="0" dirty="0">
                <a:ln>
                  <a:noFill/>
                </a:ln>
                <a:effectLst/>
                <a:latin typeface="Arial" panose="020B0604020202020204" pitchFamily="34" charset="0"/>
              </a:rPr>
              <a:t>:</a:t>
            </a:r>
          </a:p>
          <a:p>
            <a:pPr marL="457200" marR="0" lvl="1"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Select and remove the node </a:t>
            </a:r>
            <a:r>
              <a:rPr kumimoji="0" lang="en-US" altLang="en-US" sz="1800" b="1" i="0" u="none" strike="noStrike" cap="none" normalizeH="0" baseline="0" dirty="0">
                <a:ln>
                  <a:noFill/>
                </a:ln>
                <a:effectLst/>
                <a:latin typeface="Arial" panose="020B0604020202020204" pitchFamily="34" charset="0"/>
              </a:rPr>
              <a:t>N</a:t>
            </a:r>
            <a:r>
              <a:rPr kumimoji="0" lang="en-US" altLang="en-US" sz="1800" b="0" i="0" u="none" strike="noStrike" cap="none" normalizeH="0" baseline="0" dirty="0">
                <a:ln>
                  <a:noFill/>
                </a:ln>
                <a:effectLst/>
                <a:latin typeface="Arial" panose="020B0604020202020204" pitchFamily="34" charset="0"/>
              </a:rPr>
              <a:t> with the </a:t>
            </a:r>
            <a:r>
              <a:rPr kumimoji="0" lang="en-US" altLang="en-US" sz="1800" b="1" i="0" u="none" strike="noStrike" cap="none" normalizeH="0" baseline="0" dirty="0">
                <a:ln>
                  <a:noFill/>
                </a:ln>
                <a:effectLst/>
                <a:latin typeface="Arial" panose="020B0604020202020204" pitchFamily="34" charset="0"/>
              </a:rPr>
              <a:t>lowest h(n)</a:t>
            </a:r>
            <a:r>
              <a:rPr kumimoji="0" lang="en-US" altLang="en-US" sz="1800" b="0" i="0" u="none" strike="noStrike" cap="none" normalizeH="0" baseline="0" dirty="0">
                <a:ln>
                  <a:noFill/>
                </a:ln>
                <a:effectLst/>
                <a:latin typeface="Arial" panose="020B0604020202020204" pitchFamily="34" charset="0"/>
              </a:rPr>
              <a:t> from OPEN.</a:t>
            </a:r>
          </a:p>
          <a:p>
            <a:pPr marL="457200" marR="0" lvl="1"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Move </a:t>
            </a:r>
            <a:r>
              <a:rPr kumimoji="0" lang="en-US" altLang="en-US" sz="1800" b="1" i="0" u="none" strike="noStrike" cap="none" normalizeH="0" baseline="0" dirty="0">
                <a:ln>
                  <a:noFill/>
                </a:ln>
                <a:effectLst/>
                <a:latin typeface="Arial" panose="020B0604020202020204" pitchFamily="34" charset="0"/>
              </a:rPr>
              <a:t>N</a:t>
            </a:r>
            <a:r>
              <a:rPr kumimoji="0" lang="en-US" altLang="en-US" sz="1800" b="0" i="0" u="none" strike="noStrike" cap="none" normalizeH="0" baseline="0" dirty="0">
                <a:ln>
                  <a:noFill/>
                </a:ln>
                <a:effectLst/>
                <a:latin typeface="Arial" panose="020B0604020202020204" pitchFamily="34" charset="0"/>
              </a:rPr>
              <a:t> to the CLOSED list and store its parent information.</a:t>
            </a:r>
          </a:p>
          <a:p>
            <a:pPr marL="457200" marR="0" lvl="1"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If </a:t>
            </a:r>
            <a:r>
              <a:rPr kumimoji="0" lang="en-US" altLang="en-US" sz="1800" b="1" i="0" u="none" strike="noStrike" cap="none" normalizeH="0" baseline="0" dirty="0">
                <a:ln>
                  <a:noFill/>
                </a:ln>
                <a:effectLst/>
                <a:latin typeface="Arial" panose="020B0604020202020204" pitchFamily="34" charset="0"/>
              </a:rPr>
              <a:t>N is the goal</a:t>
            </a:r>
            <a:r>
              <a:rPr kumimoji="0" lang="en-US" altLang="en-US" sz="1800" b="0" i="0" u="none" strike="noStrike" cap="none" normalizeH="0" baseline="0" dirty="0">
                <a:ln>
                  <a:noFill/>
                </a:ln>
                <a:effectLst/>
                <a:latin typeface="Arial" panose="020B0604020202020204" pitchFamily="34" charset="0"/>
              </a:rPr>
              <a:t>, exit and reconstruct the path by backtracking from the goal to the start.</a:t>
            </a:r>
          </a:p>
          <a:p>
            <a:pPr marL="457200" marR="0" lvl="1"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Otherwise, expand </a:t>
            </a:r>
            <a:r>
              <a:rPr kumimoji="0" lang="en-US" altLang="en-US" sz="1800" b="1" i="0" u="none" strike="noStrike" cap="none" normalizeH="0" baseline="0" dirty="0">
                <a:ln>
                  <a:noFill/>
                </a:ln>
                <a:effectLst/>
                <a:latin typeface="Arial" panose="020B0604020202020204" pitchFamily="34" charset="0"/>
              </a:rPr>
              <a:t>N</a:t>
            </a:r>
            <a:r>
              <a:rPr kumimoji="0" lang="en-US" altLang="en-US" sz="1800" b="0" i="0" u="none" strike="noStrike" cap="none" normalizeH="0" baseline="0" dirty="0">
                <a:ln>
                  <a:noFill/>
                </a:ln>
                <a:effectLst/>
                <a:latin typeface="Arial" panose="020B0604020202020204" pitchFamily="34" charset="0"/>
              </a:rPr>
              <a:t> to generate its successors.</a:t>
            </a:r>
          </a:p>
          <a:p>
            <a:pPr marL="457200" marR="0" lvl="1"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Add all successors to the OPEN list </a:t>
            </a:r>
            <a:r>
              <a:rPr kumimoji="0" lang="en-US" altLang="en-US" sz="1800" b="1" i="0" u="none" strike="noStrike" cap="none" normalizeH="0" baseline="0" dirty="0">
                <a:ln>
                  <a:noFill/>
                </a:ln>
                <a:effectLst/>
                <a:latin typeface="Arial" panose="020B0604020202020204" pitchFamily="34" charset="0"/>
              </a:rPr>
              <a:t>(if not already explored in CLOSED)</a:t>
            </a:r>
            <a:r>
              <a:rPr kumimoji="0" lang="en-US" altLang="en-US" sz="1800" b="0" i="0" u="none" strike="noStrike" cap="none" normalizeH="0" baseline="0" dirty="0">
                <a:ln>
                  <a:noFill/>
                </a:ln>
                <a:effectLst/>
                <a:latin typeface="Arial" panose="020B0604020202020204" pitchFamily="34" charset="0"/>
              </a:rPr>
              <a:t>.</a:t>
            </a:r>
          </a:p>
          <a:p>
            <a:pPr marL="457200" marR="0" lvl="1"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Reorder the OPEN list based on </a:t>
            </a:r>
            <a:r>
              <a:rPr kumimoji="0" lang="en-US" altLang="en-US" sz="1800" b="1" i="0" u="none" strike="noStrike" cap="none" normalizeH="0" baseline="0" dirty="0">
                <a:ln>
                  <a:noFill/>
                </a:ln>
                <a:effectLst/>
                <a:latin typeface="Arial" panose="020B0604020202020204" pitchFamily="34" charset="0"/>
              </a:rPr>
              <a:t>h(n)</a:t>
            </a:r>
            <a:r>
              <a:rPr kumimoji="0" lang="en-US" altLang="en-US" sz="1800" b="0" i="0" u="none" strike="noStrike" cap="none" normalizeH="0" baseline="0" dirty="0">
                <a:ln>
                  <a:noFill/>
                </a:ln>
                <a:effectLst/>
                <a:latin typeface="Arial" panose="020B0604020202020204" pitchFamily="34" charset="0"/>
              </a:rPr>
              <a:t> so that the most promising node is expanded next.</a:t>
            </a:r>
          </a:p>
          <a:p>
            <a:pPr marL="0" marR="0" lvl="0" indent="0" defTabSz="914400" rtl="0" eaLnBrk="0" fontAlgn="base" latinLnBrk="0" hangingPunct="0">
              <a:spcBef>
                <a:spcPct val="0"/>
              </a:spcBef>
              <a:spcAft>
                <a:spcPts val="600"/>
              </a:spcAft>
              <a:buClrTx/>
              <a:buSzTx/>
              <a:buNone/>
              <a:tabLst/>
            </a:pPr>
            <a:r>
              <a:rPr kumimoji="0" lang="en-US" altLang="en-US" sz="1800" b="1" i="0" u="none" strike="noStrike" cap="none" normalizeH="0" baseline="0" dirty="0">
                <a:ln>
                  <a:noFill/>
                </a:ln>
                <a:effectLst/>
                <a:latin typeface="Arial" panose="020B0604020202020204" pitchFamily="34" charset="0"/>
              </a:rPr>
              <a:t>End Condition</a:t>
            </a: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If the goal is reached, return the path.</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If the OPEN list becomes empty without finding the goal, return </a:t>
            </a:r>
            <a:r>
              <a:rPr kumimoji="0" lang="en-US" altLang="en-US" sz="1800" b="1" i="0" u="none" strike="noStrike" cap="none" normalizeH="0" baseline="0" dirty="0">
                <a:ln>
                  <a:noFill/>
                </a:ln>
                <a:effectLst/>
                <a:latin typeface="Arial" panose="020B0604020202020204" pitchFamily="34" charset="0"/>
              </a:rPr>
              <a:t>failure</a:t>
            </a:r>
            <a:r>
              <a:rPr kumimoji="0" lang="en-US" altLang="en-US" sz="1800" b="0" i="0" u="none" strike="noStrike" cap="none" normalizeH="0" baseline="0" dirty="0">
                <a:ln>
                  <a:noFill/>
                </a:ln>
                <a:effectLst/>
                <a:latin typeface="Arial" panose="020B0604020202020204" pitchFamily="34" charset="0"/>
              </a:rPr>
              <a:t>.</a:t>
            </a:r>
          </a:p>
          <a:p>
            <a:pPr marL="0" marR="0" lvl="0" indent="0" defTabSz="914400" rtl="0" eaLnBrk="0" fontAlgn="base" latinLnBrk="0" hangingPunct="0">
              <a:spcBef>
                <a:spcPct val="0"/>
              </a:spcBef>
              <a:spcAft>
                <a:spcPts val="600"/>
              </a:spcAft>
              <a:buClrTx/>
              <a:buSzTx/>
              <a:buFontTx/>
              <a:buNone/>
              <a:tabLst/>
            </a:pPr>
            <a:endParaRPr kumimoji="0" lang="en-US" altLang="en-US" sz="14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756468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5DF5E4-31C5-7D54-1DE5-0F5879D82D1D}"/>
              </a:ext>
            </a:extLst>
          </p:cNvPr>
          <p:cNvSpPr>
            <a:spLocks noGrp="1"/>
          </p:cNvSpPr>
          <p:nvPr>
            <p:ph type="title"/>
          </p:nvPr>
        </p:nvSpPr>
        <p:spPr>
          <a:xfrm>
            <a:off x="793662" y="386930"/>
            <a:ext cx="10066122" cy="1298448"/>
          </a:xfrm>
        </p:spPr>
        <p:txBody>
          <a:bodyPr anchor="b">
            <a:normAutofit/>
          </a:bodyPr>
          <a:lstStyle/>
          <a:p>
            <a:r>
              <a:rPr lang="en-US" sz="4800" dirty="0"/>
              <a:t>Example</a:t>
            </a:r>
          </a:p>
        </p:txBody>
      </p:sp>
      <p:sp>
        <p:nvSpPr>
          <p:cNvPr id="21" name="Rectangle 2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DB10CE2-251B-C15F-6C7C-BDDA7CAAF6E5}"/>
              </a:ext>
            </a:extLst>
          </p:cNvPr>
          <p:cNvSpPr>
            <a:spLocks noGrp="1"/>
          </p:cNvSpPr>
          <p:nvPr>
            <p:ph idx="1"/>
          </p:nvPr>
        </p:nvSpPr>
        <p:spPr>
          <a:xfrm>
            <a:off x="793661" y="2599509"/>
            <a:ext cx="4530898" cy="3639450"/>
          </a:xfrm>
        </p:spPr>
        <p:txBody>
          <a:bodyPr anchor="ctr">
            <a:normAutofit/>
          </a:bodyPr>
          <a:lstStyle/>
          <a:p>
            <a:pPr marL="0" indent="0" algn="just">
              <a:buNone/>
            </a:pPr>
            <a:r>
              <a:rPr lang="en-US" sz="2400" dirty="0"/>
              <a:t>Consider the given graph to solve a problem statement where we had to find out the shortest path from city I to F with the help of best first search algorithm and best first algorithm uses distance cost called as heuristic values.</a:t>
            </a:r>
          </a:p>
          <a:p>
            <a:pPr marL="0" indent="0">
              <a:buNone/>
            </a:pPr>
            <a:endParaRPr lang="en-US" sz="2000" dirty="0"/>
          </a:p>
        </p:txBody>
      </p:sp>
      <p:pic>
        <p:nvPicPr>
          <p:cNvPr id="5" name="Picture 4" descr="A diagram of a network&#10;&#10;AI-generated content may be incorrect.">
            <a:extLst>
              <a:ext uri="{FF2B5EF4-FFF2-40B4-BE49-F238E27FC236}">
                <a16:creationId xmlns:a16="http://schemas.microsoft.com/office/drawing/2014/main" id="{70F0FF67-D533-F4EB-17F4-6E48D7E72864}"/>
              </a:ext>
            </a:extLst>
          </p:cNvPr>
          <p:cNvPicPr>
            <a:picLocks noChangeAspect="1"/>
          </p:cNvPicPr>
          <p:nvPr/>
        </p:nvPicPr>
        <p:blipFill>
          <a:blip r:embed="rId2"/>
          <a:stretch>
            <a:fillRect/>
          </a:stretch>
        </p:blipFill>
        <p:spPr>
          <a:xfrm>
            <a:off x="5324559" y="2706103"/>
            <a:ext cx="3904426" cy="2674531"/>
          </a:xfrm>
          <a:prstGeom prst="rect">
            <a:avLst/>
          </a:prstGeom>
        </p:spPr>
      </p:pic>
      <p:sp>
        <p:nvSpPr>
          <p:cNvPr id="23" name="Rectangle 2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AC73057-9F80-0E87-F7A2-4FE742A253C8}"/>
              </a:ext>
            </a:extLst>
          </p:cNvPr>
          <p:cNvPicPr>
            <a:picLocks noChangeAspect="1"/>
          </p:cNvPicPr>
          <p:nvPr/>
        </p:nvPicPr>
        <p:blipFill>
          <a:blip r:embed="rId3"/>
          <a:stretch>
            <a:fillRect/>
          </a:stretch>
        </p:blipFill>
        <p:spPr>
          <a:xfrm>
            <a:off x="9304056" y="1399174"/>
            <a:ext cx="2004234" cy="4991533"/>
          </a:xfrm>
          <a:prstGeom prst="rect">
            <a:avLst/>
          </a:prstGeom>
        </p:spPr>
      </p:pic>
    </p:spTree>
    <p:extLst>
      <p:ext uri="{BB962C8B-B14F-4D97-AF65-F5344CB8AC3E}">
        <p14:creationId xmlns:p14="http://schemas.microsoft.com/office/powerpoint/2010/main" val="990129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E8BFE-E366-9E6B-B3F9-D8CD2BEFD2B7}"/>
              </a:ext>
            </a:extLst>
          </p:cNvPr>
          <p:cNvSpPr>
            <a:spLocks noGrp="1"/>
          </p:cNvSpPr>
          <p:nvPr>
            <p:ph type="title"/>
          </p:nvPr>
        </p:nvSpPr>
        <p:spPr>
          <a:xfrm>
            <a:off x="838200" y="365125"/>
            <a:ext cx="10515600" cy="678229"/>
          </a:xfrm>
        </p:spPr>
        <p:txBody>
          <a:bodyPr>
            <a:normAutofit fontScale="90000"/>
          </a:bodyPr>
          <a:lstStyle/>
          <a:p>
            <a:r>
              <a:rPr lang="en-US" dirty="0"/>
              <a:t>Example Solution</a:t>
            </a:r>
          </a:p>
        </p:txBody>
      </p:sp>
      <p:graphicFrame>
        <p:nvGraphicFramePr>
          <p:cNvPr id="5" name="Content Placeholder 4">
            <a:extLst>
              <a:ext uri="{FF2B5EF4-FFF2-40B4-BE49-F238E27FC236}">
                <a16:creationId xmlns:a16="http://schemas.microsoft.com/office/drawing/2014/main" id="{8378F14F-1F3B-D82F-F581-A06E1758254F}"/>
              </a:ext>
            </a:extLst>
          </p:cNvPr>
          <p:cNvGraphicFramePr>
            <a:graphicFrameLocks noGrp="1"/>
          </p:cNvGraphicFramePr>
          <p:nvPr>
            <p:ph idx="1"/>
            <p:extLst>
              <p:ext uri="{D42A27DB-BD31-4B8C-83A1-F6EECF244321}">
                <p14:modId xmlns:p14="http://schemas.microsoft.com/office/powerpoint/2010/main" val="984709156"/>
              </p:ext>
            </p:extLst>
          </p:nvPr>
        </p:nvGraphicFramePr>
        <p:xfrm>
          <a:off x="838200" y="1239471"/>
          <a:ext cx="4870938" cy="5191760"/>
        </p:xfrm>
        <a:graphic>
          <a:graphicData uri="http://schemas.openxmlformats.org/drawingml/2006/table">
            <a:tbl>
              <a:tblPr firstRow="1" bandRow="1">
                <a:tableStyleId>{16D9F66E-5EB9-4882-86FB-DCBF35E3C3E4}</a:tableStyleId>
              </a:tblPr>
              <a:tblGrid>
                <a:gridCol w="2168966">
                  <a:extLst>
                    <a:ext uri="{9D8B030D-6E8A-4147-A177-3AD203B41FA5}">
                      <a16:colId xmlns:a16="http://schemas.microsoft.com/office/drawing/2014/main" val="1448928525"/>
                    </a:ext>
                  </a:extLst>
                </a:gridCol>
                <a:gridCol w="2701972">
                  <a:extLst>
                    <a:ext uri="{9D8B030D-6E8A-4147-A177-3AD203B41FA5}">
                      <a16:colId xmlns:a16="http://schemas.microsoft.com/office/drawing/2014/main" val="1128442740"/>
                    </a:ext>
                  </a:extLst>
                </a:gridCol>
              </a:tblGrid>
              <a:tr h="370840">
                <a:tc>
                  <a:txBody>
                    <a:bodyPr/>
                    <a:lstStyle/>
                    <a:p>
                      <a:r>
                        <a:rPr lang="en-US" b="1" dirty="0"/>
                        <a:t>Open (Unvisited)</a:t>
                      </a:r>
                    </a:p>
                  </a:txBody>
                  <a:tcPr/>
                </a:tc>
                <a:tc>
                  <a:txBody>
                    <a:bodyPr/>
                    <a:lstStyle/>
                    <a:p>
                      <a:r>
                        <a:rPr lang="en-US" b="0" dirty="0"/>
                        <a:t>I:45</a:t>
                      </a:r>
                    </a:p>
                  </a:txBody>
                  <a:tcPr/>
                </a:tc>
                <a:extLst>
                  <a:ext uri="{0D108BD9-81ED-4DB2-BD59-A6C34878D82A}">
                    <a16:rowId xmlns:a16="http://schemas.microsoft.com/office/drawing/2014/main" val="1723463905"/>
                  </a:ext>
                </a:extLst>
              </a:tr>
              <a:tr h="370840">
                <a:tc>
                  <a:txBody>
                    <a:bodyPr/>
                    <a:lstStyle/>
                    <a:p>
                      <a:r>
                        <a:rPr lang="en-US" b="1" dirty="0"/>
                        <a:t>Close (Visited)</a:t>
                      </a:r>
                    </a:p>
                  </a:txBody>
                  <a:tcPr/>
                </a:tc>
                <a:tc>
                  <a:txBody>
                    <a:bodyPr/>
                    <a:lstStyle/>
                    <a:p>
                      <a:r>
                        <a:rPr lang="en-US" dirty="0"/>
                        <a:t>-</a:t>
                      </a:r>
                    </a:p>
                  </a:txBody>
                  <a:tcPr/>
                </a:tc>
                <a:extLst>
                  <a:ext uri="{0D108BD9-81ED-4DB2-BD59-A6C34878D82A}">
                    <a16:rowId xmlns:a16="http://schemas.microsoft.com/office/drawing/2014/main" val="2376376863"/>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575850762"/>
                  </a:ext>
                </a:extLst>
              </a:tr>
              <a:tr h="370840">
                <a:tc>
                  <a:txBody>
                    <a:bodyPr/>
                    <a:lstStyle/>
                    <a:p>
                      <a:r>
                        <a:rPr lang="en-US" b="1" dirty="0"/>
                        <a:t>Open (Unvisited)</a:t>
                      </a:r>
                    </a:p>
                  </a:txBody>
                  <a:tcPr/>
                </a:tc>
                <a:tc>
                  <a:txBody>
                    <a:bodyPr/>
                    <a:lstStyle/>
                    <a:p>
                      <a:r>
                        <a:rPr lang="en-US" dirty="0"/>
                        <a:t>B:40 , C: 42, A:53</a:t>
                      </a:r>
                    </a:p>
                  </a:txBody>
                  <a:tcPr/>
                </a:tc>
                <a:extLst>
                  <a:ext uri="{0D108BD9-81ED-4DB2-BD59-A6C34878D82A}">
                    <a16:rowId xmlns:a16="http://schemas.microsoft.com/office/drawing/2014/main" val="1232536896"/>
                  </a:ext>
                </a:extLst>
              </a:tr>
              <a:tr h="370840">
                <a:tc>
                  <a:txBody>
                    <a:bodyPr/>
                    <a:lstStyle/>
                    <a:p>
                      <a:r>
                        <a:rPr lang="en-US" b="1" dirty="0"/>
                        <a:t>Close (Visited)</a:t>
                      </a:r>
                    </a:p>
                  </a:txBody>
                  <a:tcPr/>
                </a:tc>
                <a:tc>
                  <a:txBody>
                    <a:bodyPr/>
                    <a:lstStyle/>
                    <a:p>
                      <a:r>
                        <a:rPr lang="en-US" dirty="0"/>
                        <a:t>I</a:t>
                      </a:r>
                    </a:p>
                  </a:txBody>
                  <a:tcPr/>
                </a:tc>
                <a:extLst>
                  <a:ext uri="{0D108BD9-81ED-4DB2-BD59-A6C34878D82A}">
                    <a16:rowId xmlns:a16="http://schemas.microsoft.com/office/drawing/2014/main" val="370460290"/>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1355123139"/>
                  </a:ext>
                </a:extLst>
              </a:tr>
              <a:tr h="370840">
                <a:tc>
                  <a:txBody>
                    <a:bodyPr/>
                    <a:lstStyle/>
                    <a:p>
                      <a:r>
                        <a:rPr lang="en-US" b="1" dirty="0"/>
                        <a:t>Open (Unvisited)</a:t>
                      </a:r>
                    </a:p>
                  </a:txBody>
                  <a:tcPr/>
                </a:tc>
                <a:tc>
                  <a:txBody>
                    <a:bodyPr/>
                    <a:lstStyle/>
                    <a:p>
                      <a:r>
                        <a:rPr lang="en-US" dirty="0"/>
                        <a:t>C:42, E:44, A:53</a:t>
                      </a:r>
                    </a:p>
                  </a:txBody>
                  <a:tcPr/>
                </a:tc>
                <a:extLst>
                  <a:ext uri="{0D108BD9-81ED-4DB2-BD59-A6C34878D82A}">
                    <a16:rowId xmlns:a16="http://schemas.microsoft.com/office/drawing/2014/main" val="1605198130"/>
                  </a:ext>
                </a:extLst>
              </a:tr>
              <a:tr h="370840">
                <a:tc>
                  <a:txBody>
                    <a:bodyPr/>
                    <a:lstStyle/>
                    <a:p>
                      <a:r>
                        <a:rPr lang="en-US" b="1" dirty="0"/>
                        <a:t>Close (Visited)</a:t>
                      </a:r>
                    </a:p>
                  </a:txBody>
                  <a:tcPr/>
                </a:tc>
                <a:tc>
                  <a:txBody>
                    <a:bodyPr/>
                    <a:lstStyle/>
                    <a:p>
                      <a:r>
                        <a:rPr lang="en-US" dirty="0"/>
                        <a:t>I,B</a:t>
                      </a:r>
                    </a:p>
                  </a:txBody>
                  <a:tcPr/>
                </a:tc>
                <a:extLst>
                  <a:ext uri="{0D108BD9-81ED-4DB2-BD59-A6C34878D82A}">
                    <a16:rowId xmlns:a16="http://schemas.microsoft.com/office/drawing/2014/main" val="3161065215"/>
                  </a:ext>
                </a:extLst>
              </a:tr>
              <a:tr h="370840">
                <a:tc>
                  <a:txBody>
                    <a:bodyPr/>
                    <a:lstStyle/>
                    <a:p>
                      <a:endParaRPr lang="en-US" b="1" dirty="0"/>
                    </a:p>
                  </a:txBody>
                  <a:tcPr/>
                </a:tc>
                <a:tc>
                  <a:txBody>
                    <a:bodyPr/>
                    <a:lstStyle/>
                    <a:p>
                      <a:endParaRPr lang="en-US" dirty="0"/>
                    </a:p>
                  </a:txBody>
                  <a:tcPr/>
                </a:tc>
                <a:extLst>
                  <a:ext uri="{0D108BD9-81ED-4DB2-BD59-A6C34878D82A}">
                    <a16:rowId xmlns:a16="http://schemas.microsoft.com/office/drawing/2014/main" val="2644913144"/>
                  </a:ext>
                </a:extLst>
              </a:tr>
              <a:tr h="370840">
                <a:tc>
                  <a:txBody>
                    <a:bodyPr/>
                    <a:lstStyle/>
                    <a:p>
                      <a:r>
                        <a:rPr lang="en-US" b="1" dirty="0"/>
                        <a:t>Open (Unvisited)</a:t>
                      </a:r>
                    </a:p>
                  </a:txBody>
                  <a:tcPr/>
                </a:tc>
                <a:tc>
                  <a:txBody>
                    <a:bodyPr/>
                    <a:lstStyle/>
                    <a:p>
                      <a:r>
                        <a:rPr lang="en-US" dirty="0"/>
                        <a:t>F:0, E:44, A:53</a:t>
                      </a:r>
                    </a:p>
                  </a:txBody>
                  <a:tcPr/>
                </a:tc>
                <a:extLst>
                  <a:ext uri="{0D108BD9-81ED-4DB2-BD59-A6C34878D82A}">
                    <a16:rowId xmlns:a16="http://schemas.microsoft.com/office/drawing/2014/main" val="2457667001"/>
                  </a:ext>
                </a:extLst>
              </a:tr>
              <a:tr h="370840">
                <a:tc>
                  <a:txBody>
                    <a:bodyPr/>
                    <a:lstStyle/>
                    <a:p>
                      <a:r>
                        <a:rPr lang="en-US" b="1" dirty="0"/>
                        <a:t>Close (Visited)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I,B,C</a:t>
                      </a:r>
                    </a:p>
                  </a:txBody>
                  <a:tcPr/>
                </a:tc>
                <a:extLst>
                  <a:ext uri="{0D108BD9-81ED-4DB2-BD59-A6C34878D82A}">
                    <a16:rowId xmlns:a16="http://schemas.microsoft.com/office/drawing/2014/main" val="1157485622"/>
                  </a:ext>
                </a:extLst>
              </a:tr>
              <a:tr h="370840">
                <a:tc>
                  <a:txBody>
                    <a:bodyPr/>
                    <a:lstStyle/>
                    <a:p>
                      <a:endParaRPr lang="en-US" b="1" dirty="0"/>
                    </a:p>
                  </a:txBody>
                  <a:tcPr/>
                </a:tc>
                <a:tc>
                  <a:txBody>
                    <a:bodyPr/>
                    <a:lstStyle/>
                    <a:p>
                      <a:endParaRPr lang="en-US" dirty="0"/>
                    </a:p>
                  </a:txBody>
                  <a:tcPr/>
                </a:tc>
                <a:extLst>
                  <a:ext uri="{0D108BD9-81ED-4DB2-BD59-A6C34878D82A}">
                    <a16:rowId xmlns:a16="http://schemas.microsoft.com/office/drawing/2014/main" val="3420996218"/>
                  </a:ext>
                </a:extLst>
              </a:tr>
              <a:tr h="370840">
                <a:tc>
                  <a:txBody>
                    <a:bodyPr/>
                    <a:lstStyle/>
                    <a:p>
                      <a:r>
                        <a:rPr lang="en-US" b="1" dirty="0"/>
                        <a:t>Open (Unvisited)</a:t>
                      </a:r>
                    </a:p>
                  </a:txBody>
                  <a:tcPr/>
                </a:tc>
                <a:tc>
                  <a:txBody>
                    <a:bodyPr/>
                    <a:lstStyle/>
                    <a:p>
                      <a:r>
                        <a:rPr lang="en-US" dirty="0"/>
                        <a:t>E:44, A:53</a:t>
                      </a:r>
                    </a:p>
                  </a:txBody>
                  <a:tcPr/>
                </a:tc>
                <a:extLst>
                  <a:ext uri="{0D108BD9-81ED-4DB2-BD59-A6C34878D82A}">
                    <a16:rowId xmlns:a16="http://schemas.microsoft.com/office/drawing/2014/main" val="3125182767"/>
                  </a:ext>
                </a:extLst>
              </a:tr>
              <a:tr h="370840">
                <a:tc>
                  <a:txBody>
                    <a:bodyPr/>
                    <a:lstStyle/>
                    <a:p>
                      <a:r>
                        <a:rPr lang="en-US" b="1" dirty="0"/>
                        <a:t>Close (Visited)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I,B,C,F</a:t>
                      </a:r>
                    </a:p>
                  </a:txBody>
                  <a:tcPr/>
                </a:tc>
                <a:extLst>
                  <a:ext uri="{0D108BD9-81ED-4DB2-BD59-A6C34878D82A}">
                    <a16:rowId xmlns:a16="http://schemas.microsoft.com/office/drawing/2014/main" val="2258380605"/>
                  </a:ext>
                </a:extLst>
              </a:tr>
            </a:tbl>
          </a:graphicData>
        </a:graphic>
      </p:graphicFrame>
      <p:pic>
        <p:nvPicPr>
          <p:cNvPr id="6" name="Picture 5" descr="A diagram of a network&#10;&#10;AI-generated content may be incorrect.">
            <a:extLst>
              <a:ext uri="{FF2B5EF4-FFF2-40B4-BE49-F238E27FC236}">
                <a16:creationId xmlns:a16="http://schemas.microsoft.com/office/drawing/2014/main" id="{649F0A58-5867-32E9-55F3-8291AB73C203}"/>
              </a:ext>
            </a:extLst>
          </p:cNvPr>
          <p:cNvPicPr>
            <a:picLocks noChangeAspect="1"/>
          </p:cNvPicPr>
          <p:nvPr/>
        </p:nvPicPr>
        <p:blipFill>
          <a:blip r:embed="rId2"/>
          <a:stretch>
            <a:fillRect/>
          </a:stretch>
        </p:blipFill>
        <p:spPr>
          <a:xfrm>
            <a:off x="6096000" y="2350283"/>
            <a:ext cx="3904426" cy="2674531"/>
          </a:xfrm>
          <a:prstGeom prst="rect">
            <a:avLst/>
          </a:prstGeom>
        </p:spPr>
      </p:pic>
      <p:pic>
        <p:nvPicPr>
          <p:cNvPr id="7" name="Picture 6">
            <a:extLst>
              <a:ext uri="{FF2B5EF4-FFF2-40B4-BE49-F238E27FC236}">
                <a16:creationId xmlns:a16="http://schemas.microsoft.com/office/drawing/2014/main" id="{F1B680F8-4115-E16F-1701-E7C2DD867BA5}"/>
              </a:ext>
            </a:extLst>
          </p:cNvPr>
          <p:cNvPicPr>
            <a:picLocks noChangeAspect="1"/>
          </p:cNvPicPr>
          <p:nvPr/>
        </p:nvPicPr>
        <p:blipFill>
          <a:blip r:embed="rId3"/>
          <a:stretch>
            <a:fillRect/>
          </a:stretch>
        </p:blipFill>
        <p:spPr>
          <a:xfrm>
            <a:off x="10075497" y="1043354"/>
            <a:ext cx="2004234" cy="4991533"/>
          </a:xfrm>
          <a:prstGeom prst="rect">
            <a:avLst/>
          </a:prstGeom>
        </p:spPr>
      </p:pic>
      <p:sp>
        <p:nvSpPr>
          <p:cNvPr id="8" name="TextBox 7">
            <a:extLst>
              <a:ext uri="{FF2B5EF4-FFF2-40B4-BE49-F238E27FC236}">
                <a16:creationId xmlns:a16="http://schemas.microsoft.com/office/drawing/2014/main" id="{DADDD669-03A7-1EC5-2542-0FB6D1EAC7AA}"/>
              </a:ext>
            </a:extLst>
          </p:cNvPr>
          <p:cNvSpPr txBox="1"/>
          <p:nvPr/>
        </p:nvSpPr>
        <p:spPr>
          <a:xfrm>
            <a:off x="6201508" y="5849815"/>
            <a:ext cx="3716215" cy="646331"/>
          </a:xfrm>
          <a:prstGeom prst="rect">
            <a:avLst/>
          </a:prstGeom>
          <a:noFill/>
        </p:spPr>
        <p:txBody>
          <a:bodyPr wrap="square" rtlCol="0">
            <a:spAutoFit/>
          </a:bodyPr>
          <a:lstStyle/>
          <a:p>
            <a:r>
              <a:rPr lang="en-US" sz="3600" b="1" dirty="0"/>
              <a:t>I-&gt; B -&gt; C -&gt; F</a:t>
            </a:r>
          </a:p>
        </p:txBody>
      </p:sp>
    </p:spTree>
    <p:extLst>
      <p:ext uri="{BB962C8B-B14F-4D97-AF65-F5344CB8AC3E}">
        <p14:creationId xmlns:p14="http://schemas.microsoft.com/office/powerpoint/2010/main" val="105112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itle 4">
            <a:extLst>
              <a:ext uri="{FF2B5EF4-FFF2-40B4-BE49-F238E27FC236}">
                <a16:creationId xmlns:a16="http://schemas.microsoft.com/office/drawing/2014/main" id="{571AF739-AABC-858E-19C0-250681B1F5C2}"/>
              </a:ext>
            </a:extLst>
          </p:cNvPr>
          <p:cNvSpPr>
            <a:spLocks noGrp="1"/>
          </p:cNvSpPr>
          <p:nvPr>
            <p:ph type="title"/>
          </p:nvPr>
        </p:nvSpPr>
        <p:spPr>
          <a:xfrm>
            <a:off x="984485" y="912011"/>
            <a:ext cx="9236700" cy="1188950"/>
          </a:xfrm>
        </p:spPr>
        <p:txBody>
          <a:bodyPr anchor="b">
            <a:normAutofit fontScale="90000"/>
          </a:bodyPr>
          <a:lstStyle/>
          <a:p>
            <a:r>
              <a:rPr lang="en-GB" sz="4200" dirty="0"/>
              <a:t>Informed (Heuristics) Search Algorithms</a:t>
            </a:r>
            <a:br>
              <a:rPr lang="en-GB" sz="4200" dirty="0"/>
            </a:br>
            <a:r>
              <a:rPr lang="en-GB" sz="4400" b="1" dirty="0">
                <a:latin typeface="Arial" panose="020B0604020202020204" pitchFamily="34" charset="0"/>
                <a:cs typeface="Arial" panose="020B0604020202020204" pitchFamily="34" charset="0"/>
              </a:rPr>
              <a:t>A* Search Algorithm</a:t>
            </a:r>
            <a:br>
              <a:rPr lang="en-GB" sz="4400" b="1" dirty="0">
                <a:latin typeface="Arial" panose="020B0604020202020204" pitchFamily="34" charset="0"/>
                <a:cs typeface="Arial" panose="020B0604020202020204" pitchFamily="34" charset="0"/>
              </a:rPr>
            </a:br>
            <a:endParaRPr lang="en-PK" sz="4200" dirty="0"/>
          </a:p>
        </p:txBody>
      </p:sp>
      <p:grpSp>
        <p:nvGrpSpPr>
          <p:cNvPr id="27" name="Group 26">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8" name="Rectangle 27">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9" name="Rectangle 28">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31" name="Rectangle 3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Content Placeholder 5">
            <a:extLst>
              <a:ext uri="{FF2B5EF4-FFF2-40B4-BE49-F238E27FC236}">
                <a16:creationId xmlns:a16="http://schemas.microsoft.com/office/drawing/2014/main" id="{E227B34F-A811-F852-22CD-3FDA0F09CBA0}"/>
              </a:ext>
            </a:extLst>
          </p:cNvPr>
          <p:cNvSpPr>
            <a:spLocks noGrp="1"/>
          </p:cNvSpPr>
          <p:nvPr>
            <p:ph idx="1"/>
          </p:nvPr>
        </p:nvSpPr>
        <p:spPr>
          <a:xfrm>
            <a:off x="793660" y="2203078"/>
            <a:ext cx="10589702" cy="4147845"/>
          </a:xfrm>
        </p:spPr>
        <p:txBody>
          <a:bodyPr anchor="ctr">
            <a:normAutofit lnSpcReduction="10000"/>
          </a:bodyPr>
          <a:lstStyle/>
          <a:p>
            <a:r>
              <a:rPr lang="en-GB" sz="2400" dirty="0">
                <a:latin typeface="Arial" panose="020B0604020202020204" pitchFamily="34" charset="0"/>
                <a:cs typeface="Arial" panose="020B0604020202020204" pitchFamily="34" charset="0"/>
              </a:rPr>
              <a:t>A* search algorithm finds the shortest path through the search like heuristic function.</a:t>
            </a:r>
          </a:p>
          <a:p>
            <a:r>
              <a:rPr lang="en-GB" sz="2400" dirty="0">
                <a:latin typeface="Arial" panose="020B0604020202020204" pitchFamily="34" charset="0"/>
                <a:cs typeface="Arial" panose="020B0604020202020204" pitchFamily="34" charset="0"/>
              </a:rPr>
              <a:t>It uses h(n) &amp; Cost to reach the node n from the start stage g (n).</a:t>
            </a:r>
          </a:p>
          <a:p>
            <a:r>
              <a:rPr lang="en-GB" sz="2400" dirty="0">
                <a:latin typeface="Arial" panose="020B0604020202020204" pitchFamily="34" charset="0"/>
                <a:cs typeface="Arial" panose="020B0604020202020204" pitchFamily="34" charset="0"/>
              </a:rPr>
              <a:t>This is an admissible algorithm that ensures that it must give optimal solution</a:t>
            </a:r>
          </a:p>
          <a:p>
            <a:r>
              <a:rPr lang="en-GB" sz="2400" dirty="0">
                <a:latin typeface="Arial" panose="020B0604020202020204" pitchFamily="34" charset="0"/>
                <a:cs typeface="Arial" panose="020B0604020202020204" pitchFamily="34" charset="0"/>
              </a:rPr>
              <a:t>A* use search heuristic as well as the cost to reach the node hence we combine both cost as</a:t>
            </a:r>
          </a:p>
          <a:p>
            <a:r>
              <a:rPr lang="en-GB" sz="2400" b="1" dirty="0">
                <a:solidFill>
                  <a:srgbClr val="FF0000"/>
                </a:solidFill>
                <a:latin typeface="Arial" panose="020B0604020202020204" pitchFamily="34" charset="0"/>
                <a:cs typeface="Arial" panose="020B0604020202020204" pitchFamily="34" charset="0"/>
              </a:rPr>
              <a:t>f (n) = g(n)+ h(n)</a:t>
            </a:r>
          </a:p>
          <a:p>
            <a:pPr lvl="1"/>
            <a:r>
              <a:rPr lang="en-US" sz="2000" dirty="0">
                <a:latin typeface="Arial" panose="020B0604020202020204" pitchFamily="34" charset="0"/>
                <a:cs typeface="Arial" panose="020B0604020202020204" pitchFamily="34" charset="0"/>
              </a:rPr>
              <a:t>g(n) is the actual cost from the start node to node n.</a:t>
            </a:r>
          </a:p>
          <a:p>
            <a:pPr lvl="1"/>
            <a:r>
              <a:rPr lang="en-US" sz="2000" dirty="0">
                <a:latin typeface="Arial" panose="020B0604020202020204" pitchFamily="34" charset="0"/>
                <a:cs typeface="Arial" panose="020B0604020202020204" pitchFamily="34" charset="0"/>
              </a:rPr>
              <a:t>h(n) is the heuristic estimate of the cost from node n to the goal.</a:t>
            </a:r>
          </a:p>
          <a:p>
            <a:pPr lvl="1"/>
            <a:r>
              <a:rPr lang="en-US" sz="2000" dirty="0">
                <a:latin typeface="Arial" panose="020B0604020202020204" pitchFamily="34" charset="0"/>
                <a:cs typeface="Arial" panose="020B0604020202020204" pitchFamily="34" charset="0"/>
              </a:rPr>
              <a:t>f(n) represents the total estimated cost of the path through node n.</a:t>
            </a:r>
            <a:endParaRPr lang="en-GB"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3391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5D47A-3439-584E-AC3E-6356463A17C9}"/>
              </a:ext>
            </a:extLst>
          </p:cNvPr>
          <p:cNvSpPr>
            <a:spLocks noGrp="1"/>
          </p:cNvSpPr>
          <p:nvPr>
            <p:ph type="title"/>
          </p:nvPr>
        </p:nvSpPr>
        <p:spPr/>
        <p:txBody>
          <a:bodyPr/>
          <a:lstStyle/>
          <a:p>
            <a:r>
              <a:rPr lang="en-US"/>
              <a:t>Features</a:t>
            </a:r>
            <a:endParaRPr lang="en-US" dirty="0"/>
          </a:p>
        </p:txBody>
      </p:sp>
      <p:graphicFrame>
        <p:nvGraphicFramePr>
          <p:cNvPr id="13" name="Content Placeholder 2">
            <a:extLst>
              <a:ext uri="{FF2B5EF4-FFF2-40B4-BE49-F238E27FC236}">
                <a16:creationId xmlns:a16="http://schemas.microsoft.com/office/drawing/2014/main" id="{08B937A2-55A3-3631-C55C-72E4DFABD6DF}"/>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3193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2731B-E9B1-4F72-CF61-85229F493830}"/>
              </a:ext>
            </a:extLst>
          </p:cNvPr>
          <p:cNvSpPr>
            <a:spLocks noGrp="1"/>
          </p:cNvSpPr>
          <p:nvPr>
            <p:ph type="title"/>
          </p:nvPr>
        </p:nvSpPr>
        <p:spPr>
          <a:xfrm>
            <a:off x="794238" y="253768"/>
            <a:ext cx="10515600" cy="540249"/>
          </a:xfrm>
        </p:spPr>
        <p:txBody>
          <a:bodyPr>
            <a:normAutofit fontScale="90000"/>
          </a:bodyPr>
          <a:lstStyle/>
          <a:p>
            <a:r>
              <a:rPr lang="en-US" dirty="0"/>
              <a:t>Steps</a:t>
            </a:r>
          </a:p>
        </p:txBody>
      </p:sp>
      <p:sp>
        <p:nvSpPr>
          <p:cNvPr id="4" name="Rectangle 1">
            <a:extLst>
              <a:ext uri="{FF2B5EF4-FFF2-40B4-BE49-F238E27FC236}">
                <a16:creationId xmlns:a16="http://schemas.microsoft.com/office/drawing/2014/main" id="{29A49F3C-BCB3-421A-ACA9-B5F8FF21AA90}"/>
              </a:ext>
            </a:extLst>
          </p:cNvPr>
          <p:cNvSpPr>
            <a:spLocks noGrp="1" noChangeArrowheads="1"/>
          </p:cNvSpPr>
          <p:nvPr>
            <p:ph idx="1"/>
          </p:nvPr>
        </p:nvSpPr>
        <p:spPr bwMode="auto">
          <a:xfrm>
            <a:off x="750277" y="905374"/>
            <a:ext cx="1060352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Initialize</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Create an </a:t>
            </a:r>
            <a:r>
              <a:rPr kumimoji="0" lang="en-US" altLang="en-US" sz="2400" b="1" i="0" u="none" strike="noStrike" cap="none" normalizeH="0" baseline="0" dirty="0">
                <a:ln>
                  <a:noFill/>
                </a:ln>
                <a:solidFill>
                  <a:schemeClr val="tx1"/>
                </a:solidFill>
                <a:effectLst/>
                <a:latin typeface="Arial" panose="020B0604020202020204" pitchFamily="34" charset="0"/>
              </a:rPr>
              <a:t>OPEN list</a:t>
            </a:r>
            <a:r>
              <a:rPr kumimoji="0" lang="en-US" altLang="en-US" sz="2400" b="0" i="0" u="none" strike="noStrike" cap="none" normalizeH="0" baseline="0" dirty="0">
                <a:ln>
                  <a:noFill/>
                </a:ln>
                <a:solidFill>
                  <a:schemeClr val="tx1"/>
                </a:solidFill>
                <a:effectLst/>
                <a:latin typeface="Arial" panose="020B0604020202020204" pitchFamily="34" charset="0"/>
              </a:rPr>
              <a:t> (priority queue): nodes to be explored.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Create a </a:t>
            </a:r>
            <a:r>
              <a:rPr kumimoji="0" lang="en-US" altLang="en-US" sz="2400" b="1" i="0" u="none" strike="noStrike" cap="none" normalizeH="0" baseline="0" dirty="0">
                <a:ln>
                  <a:noFill/>
                </a:ln>
                <a:solidFill>
                  <a:schemeClr val="tx1"/>
                </a:solidFill>
                <a:effectLst/>
                <a:latin typeface="Arial" panose="020B0604020202020204" pitchFamily="34" charset="0"/>
              </a:rPr>
              <a:t>CLOSED list</a:t>
            </a:r>
            <a:r>
              <a:rPr kumimoji="0" lang="en-US" altLang="en-US" sz="2400" b="0" i="0" u="none" strike="noStrike" cap="none" normalizeH="0" baseline="0" dirty="0">
                <a:ln>
                  <a:noFill/>
                </a:ln>
                <a:solidFill>
                  <a:schemeClr val="tx1"/>
                </a:solidFill>
                <a:effectLst/>
                <a:latin typeface="Arial" panose="020B0604020202020204" pitchFamily="34" charset="0"/>
              </a:rPr>
              <a:t>: nodes already explored.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Add the </a:t>
            </a:r>
            <a:r>
              <a:rPr kumimoji="0" lang="en-US" altLang="en-US" sz="2400" b="1" i="0" u="none" strike="noStrike" cap="none" normalizeH="0" baseline="0" dirty="0">
                <a:ln>
                  <a:noFill/>
                </a:ln>
                <a:solidFill>
                  <a:schemeClr val="tx1"/>
                </a:solidFill>
                <a:effectLst/>
                <a:latin typeface="Arial" panose="020B0604020202020204" pitchFamily="34" charset="0"/>
              </a:rPr>
              <a:t>start node</a:t>
            </a:r>
            <a:r>
              <a:rPr kumimoji="0" lang="en-US" altLang="en-US" sz="2400" b="0" i="0" u="none" strike="noStrike" cap="none" normalizeH="0" baseline="0" dirty="0">
                <a:ln>
                  <a:noFill/>
                </a:ln>
                <a:solidFill>
                  <a:schemeClr val="tx1"/>
                </a:solidFill>
                <a:effectLst/>
                <a:latin typeface="Arial" panose="020B0604020202020204" pitchFamily="34" charset="0"/>
              </a:rPr>
              <a:t> to OPEN.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Loop</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While OPEN is not empty: </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Pick the node </a:t>
            </a:r>
            <a:r>
              <a:rPr kumimoji="0" lang="en-US" altLang="en-US" b="1" i="0" u="none" strike="noStrike" cap="none" normalizeH="0" baseline="0" dirty="0">
                <a:ln>
                  <a:noFill/>
                </a:ln>
                <a:solidFill>
                  <a:schemeClr val="tx1"/>
                </a:solidFill>
                <a:effectLst/>
                <a:latin typeface="Arial" panose="020B0604020202020204" pitchFamily="34" charset="0"/>
              </a:rPr>
              <a:t>n</a:t>
            </a:r>
            <a:r>
              <a:rPr kumimoji="0" lang="en-US" altLang="en-US" b="0" i="0" u="none" strike="noStrike" cap="none" normalizeH="0" baseline="0" dirty="0">
                <a:ln>
                  <a:noFill/>
                </a:ln>
                <a:solidFill>
                  <a:schemeClr val="tx1"/>
                </a:solidFill>
                <a:effectLst/>
                <a:latin typeface="Arial" panose="020B0604020202020204" pitchFamily="34" charset="0"/>
              </a:rPr>
              <a:t> with the </a:t>
            </a:r>
            <a:r>
              <a:rPr kumimoji="0" lang="en-US" altLang="en-US" b="1" i="0" u="none" strike="noStrike" cap="none" normalizeH="0" baseline="0" dirty="0">
                <a:ln>
                  <a:noFill/>
                </a:ln>
                <a:solidFill>
                  <a:schemeClr val="tx1"/>
                </a:solidFill>
                <a:effectLst/>
                <a:latin typeface="Arial" panose="020B0604020202020204" pitchFamily="34" charset="0"/>
              </a:rPr>
              <a:t>lowest f(n)</a:t>
            </a:r>
            <a:r>
              <a:rPr kumimoji="0" lang="en-US" altLang="en-US" b="0" i="0" u="none" strike="noStrike" cap="none" normalizeH="0" baseline="0" dirty="0">
                <a:ln>
                  <a:noFill/>
                </a:ln>
                <a:solidFill>
                  <a:schemeClr val="tx1"/>
                </a:solidFill>
                <a:effectLst/>
                <a:latin typeface="Arial" panose="020B0604020202020204" pitchFamily="34" charset="0"/>
              </a:rPr>
              <a:t> from OPEN. </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chemeClr val="tx1"/>
                </a:solidFill>
                <a:effectLst/>
                <a:latin typeface="Arial" panose="020B0604020202020204" pitchFamily="34" charset="0"/>
              </a:rPr>
              <a:t>If </a:t>
            </a:r>
            <a:r>
              <a:rPr kumimoji="0" lang="en-US" altLang="en-US" b="1" i="0" u="none" strike="noStrike" cap="none" normalizeH="0" baseline="0" dirty="0">
                <a:ln>
                  <a:noFill/>
                </a:ln>
                <a:solidFill>
                  <a:schemeClr val="tx1"/>
                </a:solidFill>
                <a:effectLst/>
                <a:latin typeface="Arial" panose="020B0604020202020204" pitchFamily="34" charset="0"/>
              </a:rPr>
              <a:t>n</a:t>
            </a:r>
            <a:r>
              <a:rPr kumimoji="0" lang="en-US" altLang="en-US" b="0" i="0" u="none" strike="noStrike" cap="none" normalizeH="0" baseline="0" dirty="0">
                <a:ln>
                  <a:noFill/>
                </a:ln>
                <a:solidFill>
                  <a:schemeClr val="tx1"/>
                </a:solidFill>
                <a:effectLst/>
                <a:latin typeface="Arial" panose="020B0604020202020204" pitchFamily="34" charset="0"/>
              </a:rPr>
              <a:t> is the goal node → </a:t>
            </a:r>
            <a:r>
              <a:rPr kumimoji="0" lang="en-US" altLang="en-US" b="1" i="0" u="none" strike="noStrike" cap="none" normalizeH="0" baseline="0" dirty="0">
                <a:ln>
                  <a:noFill/>
                </a:ln>
                <a:solidFill>
                  <a:schemeClr val="tx1"/>
                </a:solidFill>
                <a:effectLst/>
                <a:latin typeface="Arial" panose="020B0604020202020204" pitchFamily="34" charset="0"/>
              </a:rPr>
              <a:t>Backtrack</a:t>
            </a:r>
            <a:r>
              <a:rPr kumimoji="0" lang="en-US" altLang="en-US" b="0" i="0" u="none" strike="noStrike" cap="none" normalizeH="0" baseline="0" dirty="0">
                <a:ln>
                  <a:noFill/>
                </a:ln>
                <a:solidFill>
                  <a:schemeClr val="tx1"/>
                </a:solidFill>
                <a:effectLst/>
                <a:latin typeface="Arial" panose="020B0604020202020204" pitchFamily="34" charset="0"/>
              </a:rPr>
              <a:t> to construct the path → </a:t>
            </a:r>
            <a:r>
              <a:rPr kumimoji="0" lang="en-US" altLang="en-US" b="1" i="0" u="none" strike="noStrike" cap="none" normalizeH="0" baseline="0" dirty="0">
                <a:ln>
                  <a:noFill/>
                </a:ln>
                <a:solidFill>
                  <a:schemeClr val="tx1"/>
                </a:solidFill>
                <a:effectLst/>
                <a:latin typeface="Arial" panose="020B0604020202020204" pitchFamily="34" charset="0"/>
              </a:rPr>
              <a:t>Finish</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0" i="0" u="none" strike="noStrike" cap="none" normalizeH="0" baseline="0" dirty="0">
                <a:ln>
                  <a:noFill/>
                </a:ln>
                <a:solidFill>
                  <a:schemeClr val="tx1"/>
                </a:solidFill>
                <a:effectLst/>
                <a:latin typeface="Arial" panose="020B0604020202020204" pitchFamily="34" charset="0"/>
              </a:rPr>
              <a:t>Move </a:t>
            </a:r>
            <a:r>
              <a:rPr kumimoji="0" lang="en-US" altLang="en-US" b="1" i="0" u="none" strike="noStrike" cap="none" normalizeH="0" baseline="0" dirty="0">
                <a:ln>
                  <a:noFill/>
                </a:ln>
                <a:solidFill>
                  <a:schemeClr val="tx1"/>
                </a:solidFill>
                <a:effectLst/>
                <a:latin typeface="Arial" panose="020B0604020202020204" pitchFamily="34" charset="0"/>
              </a:rPr>
              <a:t>n</a:t>
            </a:r>
            <a:r>
              <a:rPr kumimoji="0" lang="en-US" altLang="en-US" b="0" i="0" u="none" strike="noStrike" cap="none" normalizeH="0" baseline="0" dirty="0">
                <a:ln>
                  <a:noFill/>
                </a:ln>
                <a:solidFill>
                  <a:schemeClr val="tx1"/>
                </a:solidFill>
                <a:effectLst/>
                <a:latin typeface="Arial" panose="020B0604020202020204" pitchFamily="34" charset="0"/>
              </a:rPr>
              <a:t> from OPEN to CLOSED. </a:t>
            </a:r>
          </a:p>
          <a:p>
            <a:pPr marL="457200" marR="0" lvl="1"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0" i="0" u="none" strike="noStrike" cap="none" normalizeH="0" baseline="0" dirty="0">
                <a:ln>
                  <a:noFill/>
                </a:ln>
                <a:solidFill>
                  <a:schemeClr val="tx1"/>
                </a:solidFill>
                <a:effectLst/>
                <a:latin typeface="Arial" panose="020B0604020202020204" pitchFamily="34" charset="0"/>
              </a:rPr>
              <a:t>Expand node </a:t>
            </a:r>
            <a:r>
              <a:rPr kumimoji="0" lang="en-US" altLang="en-US" b="1" i="0" u="none" strike="noStrike" cap="none" normalizeH="0" baseline="0" dirty="0">
                <a:ln>
                  <a:noFill/>
                </a:ln>
                <a:solidFill>
                  <a:schemeClr val="tx1"/>
                </a:solidFill>
                <a:effectLst/>
                <a:latin typeface="Arial" panose="020B0604020202020204" pitchFamily="34" charset="0"/>
              </a:rPr>
              <a:t>n</a:t>
            </a:r>
            <a:r>
              <a:rPr kumimoji="0" lang="en-US" altLang="en-US" b="0" i="0" u="none" strike="noStrike" cap="none" normalizeH="0" baseline="0" dirty="0">
                <a:ln>
                  <a:noFill/>
                </a:ln>
                <a:solidFill>
                  <a:schemeClr val="tx1"/>
                </a:solidFill>
                <a:effectLst/>
                <a:latin typeface="Arial" panose="020B0604020202020204" pitchFamily="34" charset="0"/>
              </a:rPr>
              <a:t> (generate successors). </a:t>
            </a:r>
          </a:p>
          <a:p>
            <a:pPr marL="457200" marR="0" lvl="1"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0" i="0" u="none" strike="noStrike" cap="none" normalizeH="0" baseline="0" dirty="0">
                <a:ln>
                  <a:noFill/>
                </a:ln>
                <a:solidFill>
                  <a:schemeClr val="tx1"/>
                </a:solidFill>
                <a:effectLst/>
                <a:latin typeface="Arial" panose="020B0604020202020204" pitchFamily="34" charset="0"/>
              </a:rPr>
              <a:t>For each successor: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Calculate </a:t>
            </a:r>
            <a:r>
              <a:rPr kumimoji="0" lang="en-US" altLang="en-US" sz="2400" b="1" i="0" u="none" strike="noStrike" cap="none" normalizeH="0" baseline="0" dirty="0">
                <a:ln>
                  <a:noFill/>
                </a:ln>
                <a:solidFill>
                  <a:schemeClr val="tx1"/>
                </a:solidFill>
                <a:effectLst/>
                <a:latin typeface="Arial" panose="020B0604020202020204" pitchFamily="34" charset="0"/>
              </a:rPr>
              <a:t>g(</a:t>
            </a:r>
            <a:r>
              <a:rPr kumimoji="0" lang="en-US" altLang="en-US" sz="2400" b="1" i="0" u="none" strike="noStrike" cap="none" normalizeH="0" baseline="0" dirty="0" err="1">
                <a:ln>
                  <a:noFill/>
                </a:ln>
                <a:solidFill>
                  <a:schemeClr val="tx1"/>
                </a:solidFill>
                <a:effectLst/>
                <a:latin typeface="Arial" panose="020B0604020202020204" pitchFamily="34" charset="0"/>
              </a:rPr>
              <a:t>succ</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h(</a:t>
            </a:r>
            <a:r>
              <a:rPr kumimoji="0" lang="en-US" altLang="en-US" sz="2400" b="1" i="0" u="none" strike="noStrike" cap="none" normalizeH="0" baseline="0" dirty="0" err="1">
                <a:ln>
                  <a:noFill/>
                </a:ln>
                <a:solidFill>
                  <a:schemeClr val="tx1"/>
                </a:solidFill>
                <a:effectLst/>
                <a:latin typeface="Arial" panose="020B0604020202020204" pitchFamily="34" charset="0"/>
              </a:rPr>
              <a:t>succ</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and </a:t>
            </a:r>
            <a:r>
              <a:rPr kumimoji="0" lang="en-US" altLang="en-US" sz="2400" b="1" i="0" u="none" strike="noStrike" cap="none" normalizeH="0" baseline="0" dirty="0">
                <a:ln>
                  <a:noFill/>
                </a:ln>
                <a:solidFill>
                  <a:schemeClr val="tx1"/>
                </a:solidFill>
                <a:effectLst/>
                <a:latin typeface="Arial" panose="020B0604020202020204" pitchFamily="34" charset="0"/>
              </a:rPr>
              <a:t>f(</a:t>
            </a:r>
            <a:r>
              <a:rPr kumimoji="0" lang="en-US" altLang="en-US" sz="2400" b="1" i="0" u="none" strike="noStrike" cap="none" normalizeH="0" baseline="0" dirty="0" err="1">
                <a:ln>
                  <a:noFill/>
                </a:ln>
                <a:solidFill>
                  <a:schemeClr val="tx1"/>
                </a:solidFill>
                <a:effectLst/>
                <a:latin typeface="Arial" panose="020B0604020202020204" pitchFamily="34" charset="0"/>
              </a:rPr>
              <a:t>succ</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If it’s already in OPEN or CLOSED with a lower </a:t>
            </a:r>
            <a:r>
              <a:rPr kumimoji="0" lang="en-US" altLang="en-US" sz="2400" b="1" i="0" u="none" strike="noStrike" cap="none" normalizeH="0" baseline="0" dirty="0">
                <a:ln>
                  <a:noFill/>
                </a:ln>
                <a:solidFill>
                  <a:schemeClr val="tx1"/>
                </a:solidFill>
                <a:effectLst/>
                <a:latin typeface="Arial" panose="020B0604020202020204" pitchFamily="34" charset="0"/>
              </a:rPr>
              <a:t>f</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ignore</a:t>
            </a:r>
            <a:r>
              <a:rPr kumimoji="0" lang="en-US" altLang="en-US" sz="2400" b="0" i="0" u="none" strike="noStrike" cap="none" normalizeH="0" baseline="0" dirty="0">
                <a:ln>
                  <a:noFill/>
                </a:ln>
                <a:solidFill>
                  <a:schemeClr val="tx1"/>
                </a:solidFill>
                <a:effectLst/>
                <a:latin typeface="Arial" panose="020B0604020202020204" pitchFamily="34" charset="0"/>
              </a:rPr>
              <a:t> it.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Otherwise, add it to OPEN and record </a:t>
            </a:r>
            <a:r>
              <a:rPr kumimoji="0" lang="en-US" altLang="en-US" sz="2400" b="1" i="0" u="none" strike="noStrike" cap="none" normalizeH="0" baseline="0" dirty="0">
                <a:ln>
                  <a:noFill/>
                </a:ln>
                <a:solidFill>
                  <a:schemeClr val="tx1"/>
                </a:solidFill>
                <a:effectLst/>
                <a:latin typeface="Arial" panose="020B0604020202020204" pitchFamily="34" charset="0"/>
              </a:rPr>
              <a:t>n</a:t>
            </a:r>
            <a:r>
              <a:rPr kumimoji="0" lang="en-US" altLang="en-US" sz="2400" b="0" i="0" u="none" strike="noStrike" cap="none" normalizeH="0" baseline="0" dirty="0">
                <a:ln>
                  <a:noFill/>
                </a:ln>
                <a:solidFill>
                  <a:schemeClr val="tx1"/>
                </a:solidFill>
                <a:effectLst/>
                <a:latin typeface="Arial" panose="020B0604020202020204" pitchFamily="34" charset="0"/>
              </a:rPr>
              <a:t> as its parent.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If OPEN is empty and the goal hasn’t been found → </a:t>
            </a:r>
            <a:r>
              <a:rPr kumimoji="0" lang="en-US" altLang="en-US" sz="2400" b="1" i="0" u="none" strike="noStrike" cap="none" normalizeH="0" baseline="0" dirty="0">
                <a:ln>
                  <a:noFill/>
                </a:ln>
                <a:solidFill>
                  <a:schemeClr val="tx1"/>
                </a:solidFill>
                <a:effectLst/>
                <a:latin typeface="Arial" panose="020B0604020202020204" pitchFamily="34" charset="0"/>
              </a:rPr>
              <a:t>Failure</a:t>
            </a:r>
            <a:r>
              <a:rPr kumimoji="0" lang="en-US" altLang="en-US" sz="24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31706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0" name="Arc 49">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E260FBF-F8DD-A2FC-64B1-8BDCBCA77409}"/>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kern="1200">
                <a:solidFill>
                  <a:schemeClr val="tx1"/>
                </a:solidFill>
                <a:latin typeface="+mj-lt"/>
                <a:ea typeface="+mj-ea"/>
                <a:cs typeface="+mj-cs"/>
              </a:rPr>
              <a:t>A* Search Algorithm</a:t>
            </a:r>
          </a:p>
        </p:txBody>
      </p:sp>
      <p:sp>
        <p:nvSpPr>
          <p:cNvPr id="52" name="Freeform: Shape 51">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3" name="Picture 42" descr="A diagram of a triangle with blue circles and letters&#10;&#10;AI-generated content may be incorrect.">
            <a:extLst>
              <a:ext uri="{FF2B5EF4-FFF2-40B4-BE49-F238E27FC236}">
                <a16:creationId xmlns:a16="http://schemas.microsoft.com/office/drawing/2014/main" id="{6F19A4E7-40CC-6627-5E8C-90B23046B634}"/>
              </a:ext>
            </a:extLst>
          </p:cNvPr>
          <p:cNvPicPr>
            <a:picLocks noChangeAspect="1"/>
          </p:cNvPicPr>
          <p:nvPr/>
        </p:nvPicPr>
        <p:blipFill>
          <a:blip r:embed="rId3"/>
          <a:stretch>
            <a:fillRect/>
          </a:stretch>
        </p:blipFill>
        <p:spPr>
          <a:xfrm>
            <a:off x="655344" y="357411"/>
            <a:ext cx="4777381" cy="529349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42" name="TextBox 41">
            <a:extLst>
              <a:ext uri="{FF2B5EF4-FFF2-40B4-BE49-F238E27FC236}">
                <a16:creationId xmlns:a16="http://schemas.microsoft.com/office/drawing/2014/main" id="{928B6C03-A007-136B-BE85-FEB637A2E7CB}"/>
              </a:ext>
            </a:extLst>
          </p:cNvPr>
          <p:cNvSpPr txBox="1"/>
          <p:nvPr/>
        </p:nvSpPr>
        <p:spPr>
          <a:xfrm>
            <a:off x="5591908" y="1984443"/>
            <a:ext cx="6400800" cy="4192520"/>
          </a:xfrm>
          <a:prstGeom prst="rect">
            <a:avLst/>
          </a:prstGeom>
        </p:spPr>
        <p:txBody>
          <a:bodyPr vert="horz" lIns="91440" tIns="45720" rIns="91440" bIns="45720" rtlCol="0">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4000" b="1" i="0" u="none" strike="noStrike" kern="1200" cap="none" spc="0" normalizeH="0" baseline="0" noProof="0" dirty="0">
                <a:ln>
                  <a:noFill/>
                </a:ln>
                <a:solidFill>
                  <a:srgbClr val="0E2841">
                    <a:lumMod val="50000"/>
                    <a:lumOff val="50000"/>
                  </a:srgbClr>
                </a:solidFill>
                <a:effectLst/>
                <a:uLnTx/>
                <a:uFillTx/>
                <a:latin typeface="Aptos" panose="02110004020202020204"/>
                <a:ea typeface="+mn-ea"/>
                <a:cs typeface="+mn-cs"/>
              </a:rPr>
              <a:t>f (n) </a:t>
            </a:r>
            <a:r>
              <a:rPr kumimoji="0" lang="en-US" sz="4000" b="1" i="0" u="none" strike="noStrike" kern="1200" cap="none" spc="0" normalizeH="0" baseline="0" noProof="0" dirty="0">
                <a:ln>
                  <a:noFill/>
                </a:ln>
                <a:solidFill>
                  <a:srgbClr val="4EA72E">
                    <a:lumMod val="75000"/>
                  </a:srgbClr>
                </a:solidFill>
                <a:effectLst/>
                <a:uLnTx/>
                <a:uFillTx/>
                <a:latin typeface="Aptos" panose="02110004020202020204"/>
                <a:ea typeface="+mn-ea"/>
                <a:cs typeface="+mn-cs"/>
              </a:rPr>
              <a:t>=</a:t>
            </a:r>
            <a:r>
              <a:rPr kumimoji="0" lang="en-US" sz="4000" b="1" i="0" u="none" strike="noStrike" kern="1200" cap="none" spc="0" normalizeH="0" baseline="0" noProof="0" dirty="0">
                <a:ln>
                  <a:noFill/>
                </a:ln>
                <a:solidFill>
                  <a:srgbClr val="FF0000"/>
                </a:solidFill>
                <a:effectLst/>
                <a:uLnTx/>
                <a:uFillTx/>
                <a:latin typeface="Aptos" panose="02110004020202020204"/>
                <a:ea typeface="+mn-ea"/>
                <a:cs typeface="+mn-cs"/>
              </a:rPr>
              <a:t> </a:t>
            </a:r>
            <a:r>
              <a:rPr kumimoji="0" lang="en-US" sz="4000" b="1" i="0" u="none" strike="noStrike" kern="1200" cap="none" spc="0" normalizeH="0" baseline="0" noProof="0" dirty="0">
                <a:ln>
                  <a:noFill/>
                </a:ln>
                <a:solidFill>
                  <a:prstClr val="black"/>
                </a:solidFill>
                <a:effectLst/>
                <a:uLnTx/>
                <a:uFillTx/>
                <a:latin typeface="Aptos" panose="02110004020202020204"/>
                <a:ea typeface="+mn-ea"/>
                <a:cs typeface="+mn-cs"/>
              </a:rPr>
              <a:t>g(n)</a:t>
            </a:r>
            <a:r>
              <a:rPr kumimoji="0" lang="en-US" sz="4000" b="1" i="0" u="none" strike="noStrike" kern="1200" cap="none" spc="0" normalizeH="0" baseline="0" noProof="0" dirty="0">
                <a:ln>
                  <a:noFill/>
                </a:ln>
                <a:solidFill>
                  <a:srgbClr val="4EA72E">
                    <a:lumMod val="75000"/>
                  </a:srgbClr>
                </a:solidFill>
                <a:effectLst/>
                <a:uLnTx/>
                <a:uFillTx/>
                <a:latin typeface="Aptos" panose="02110004020202020204"/>
                <a:ea typeface="+mn-ea"/>
                <a:cs typeface="+mn-cs"/>
              </a:rPr>
              <a:t>+</a:t>
            </a:r>
            <a:r>
              <a:rPr kumimoji="0" lang="en-US" sz="4000" b="1" i="0" u="none" strike="noStrike" kern="1200" cap="none" spc="0" normalizeH="0" baseline="0" noProof="0" dirty="0">
                <a:ln>
                  <a:noFill/>
                </a:ln>
                <a:solidFill>
                  <a:srgbClr val="FF0000"/>
                </a:solidFill>
                <a:effectLst/>
                <a:uLnTx/>
                <a:uFillTx/>
                <a:latin typeface="Aptos" panose="02110004020202020204"/>
                <a:ea typeface="+mn-ea"/>
                <a:cs typeface="+mn-cs"/>
              </a:rPr>
              <a:t> h(n)</a:t>
            </a:r>
          </a:p>
          <a:p>
            <a:pPr marL="457200" marR="0" lvl="1"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Aptos" panose="02110004020202020204"/>
                <a:ea typeface="+mn-ea"/>
                <a:cs typeface="+mn-cs"/>
              </a:rPr>
              <a:t>g(n)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is the actual cost from the start node to node n.</a:t>
            </a:r>
          </a:p>
          <a:p>
            <a:pPr marL="457200" marR="0" lvl="1"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FF0000"/>
                </a:solidFill>
                <a:effectLst/>
                <a:uLnTx/>
                <a:uFillTx/>
                <a:latin typeface="Aptos" panose="02110004020202020204"/>
                <a:ea typeface="+mn-ea"/>
                <a:cs typeface="+mn-cs"/>
              </a:rPr>
              <a:t>h(n)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is the heuristic estimate of the cost from node n to the goal.</a:t>
            </a:r>
          </a:p>
          <a:p>
            <a:pPr marL="457200" marR="0" lvl="1"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0E2841">
                    <a:lumMod val="50000"/>
                    <a:lumOff val="50000"/>
                  </a:srgbClr>
                </a:solidFill>
                <a:effectLst/>
                <a:uLnTx/>
                <a:uFillTx/>
                <a:latin typeface="Aptos" panose="02110004020202020204"/>
                <a:ea typeface="+mn-ea"/>
                <a:cs typeface="+mn-cs"/>
              </a:rPr>
              <a:t>f(n)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represents the total estimated cost of the path through node n.</a:t>
            </a:r>
          </a:p>
        </p:txBody>
      </p:sp>
    </p:spTree>
    <p:extLst>
      <p:ext uri="{BB962C8B-B14F-4D97-AF65-F5344CB8AC3E}">
        <p14:creationId xmlns:p14="http://schemas.microsoft.com/office/powerpoint/2010/main" val="2640405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02CFD4-0B72-4887-0683-45CEA69C8129}"/>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773BDDB-88FD-6B6E-C57C-F77DF401C5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itle 4">
            <a:extLst>
              <a:ext uri="{FF2B5EF4-FFF2-40B4-BE49-F238E27FC236}">
                <a16:creationId xmlns:a16="http://schemas.microsoft.com/office/drawing/2014/main" id="{5C81569A-228E-8AA1-1ABC-27B401C26467}"/>
              </a:ext>
            </a:extLst>
          </p:cNvPr>
          <p:cNvSpPr>
            <a:spLocks noGrp="1"/>
          </p:cNvSpPr>
          <p:nvPr>
            <p:ph type="title"/>
          </p:nvPr>
        </p:nvSpPr>
        <p:spPr>
          <a:xfrm>
            <a:off x="984485" y="912011"/>
            <a:ext cx="9236700" cy="1188950"/>
          </a:xfrm>
        </p:spPr>
        <p:txBody>
          <a:bodyPr anchor="b">
            <a:normAutofit fontScale="90000"/>
          </a:bodyPr>
          <a:lstStyle/>
          <a:p>
            <a:r>
              <a:rPr lang="en-GB" sz="4200" dirty="0"/>
              <a:t>Informed (Heuristics) Search Algorithms</a:t>
            </a:r>
            <a:br>
              <a:rPr lang="en-GB" sz="4200" dirty="0"/>
            </a:br>
            <a:r>
              <a:rPr lang="en-GB" sz="4400" b="1" dirty="0">
                <a:latin typeface="Arial" panose="020B0604020202020204" pitchFamily="34" charset="0"/>
                <a:cs typeface="Arial" panose="020B0604020202020204" pitchFamily="34" charset="0"/>
              </a:rPr>
              <a:t>A* Search Algorithm</a:t>
            </a:r>
            <a:br>
              <a:rPr lang="en-GB" sz="4400" b="1" dirty="0">
                <a:latin typeface="Arial" panose="020B0604020202020204" pitchFamily="34" charset="0"/>
                <a:cs typeface="Arial" panose="020B0604020202020204" pitchFamily="34" charset="0"/>
              </a:rPr>
            </a:br>
            <a:endParaRPr lang="en-PK" sz="4200" dirty="0"/>
          </a:p>
        </p:txBody>
      </p:sp>
      <p:grpSp>
        <p:nvGrpSpPr>
          <p:cNvPr id="27" name="Group 26">
            <a:extLst>
              <a:ext uri="{FF2B5EF4-FFF2-40B4-BE49-F238E27FC236}">
                <a16:creationId xmlns:a16="http://schemas.microsoft.com/office/drawing/2014/main" id="{998C307D-A93B-1E97-B975-372A9978CB6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8" name="Rectangle 27">
              <a:extLst>
                <a:ext uri="{FF2B5EF4-FFF2-40B4-BE49-F238E27FC236}">
                  <a16:creationId xmlns:a16="http://schemas.microsoft.com/office/drawing/2014/main" id="{8C7D9809-FEF1-0F2B-2A05-D217C75D0D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9" name="Rectangle 28">
              <a:extLst>
                <a:ext uri="{FF2B5EF4-FFF2-40B4-BE49-F238E27FC236}">
                  <a16:creationId xmlns:a16="http://schemas.microsoft.com/office/drawing/2014/main" id="{4E7E46B8-5FD5-9FD4-27B1-703FE71A24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31" name="Rectangle 30">
            <a:extLst>
              <a:ext uri="{FF2B5EF4-FFF2-40B4-BE49-F238E27FC236}">
                <a16:creationId xmlns:a16="http://schemas.microsoft.com/office/drawing/2014/main" id="{56E69C46-C4FE-5CF4-3464-701C1CFA8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026" name="Picture 2" descr="A graph that shows 5 connected nodes. The connections from A are to C(5) and B(8). The connections from B are A(8), C(3) and D(1). The connections from C are a(8), B(3), D(6) and E(9). The connections from D are B(1), C(6) and E(2). The connections from E are D(2) and C(9).">
            <a:extLst>
              <a:ext uri="{FF2B5EF4-FFF2-40B4-BE49-F238E27FC236}">
                <a16:creationId xmlns:a16="http://schemas.microsoft.com/office/drawing/2014/main" id="{2F983C88-5035-41EE-36F7-90461B221C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01996" y="2311968"/>
            <a:ext cx="5837944" cy="429435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DE00274-FB37-41C7-3B28-F649F2601F49}"/>
              </a:ext>
            </a:extLst>
          </p:cNvPr>
          <p:cNvSpPr txBox="1"/>
          <p:nvPr/>
        </p:nvSpPr>
        <p:spPr>
          <a:xfrm>
            <a:off x="398585" y="2780068"/>
            <a:ext cx="223910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Start State : 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Goal State: F</a:t>
            </a:r>
          </a:p>
        </p:txBody>
      </p:sp>
    </p:spTree>
    <p:extLst>
      <p:ext uri="{BB962C8B-B14F-4D97-AF65-F5344CB8AC3E}">
        <p14:creationId xmlns:p14="http://schemas.microsoft.com/office/powerpoint/2010/main" val="3333060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1189</TotalTime>
  <Words>1202</Words>
  <Application>Microsoft Office PowerPoint</Application>
  <PresentationFormat>Widescreen</PresentationFormat>
  <Paragraphs>118</Paragraphs>
  <Slides>16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Calibri</vt:lpstr>
      <vt:lpstr>Nunito</vt:lpstr>
      <vt:lpstr>Office Theme</vt:lpstr>
      <vt:lpstr>Artificial Intelligence</vt:lpstr>
      <vt:lpstr>Week-3 </vt:lpstr>
      <vt:lpstr>Search</vt:lpstr>
      <vt:lpstr>Kinds of Search</vt:lpstr>
      <vt:lpstr>What is Heuristic?</vt:lpstr>
      <vt:lpstr>PowerPoint Presentation</vt:lpstr>
      <vt:lpstr>Informed (Heuristics) Search Algorithms</vt:lpstr>
      <vt:lpstr>Example of Best-First Search</vt:lpstr>
      <vt:lpstr>Steps of Best-First Search</vt:lpstr>
      <vt:lpstr>Example</vt:lpstr>
      <vt:lpstr>Example Solution</vt:lpstr>
      <vt:lpstr>Informed (Heuristics) Search Algorithms A* Search Algorithm </vt:lpstr>
      <vt:lpstr>Features</vt:lpstr>
      <vt:lpstr>Steps</vt:lpstr>
      <vt:lpstr>A* Search Algorithm</vt:lpstr>
      <vt:lpstr>Informed (Heuristics) Search Algorithms A* Search Algorithm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Mansoor Iqbal</dc:creator>
  <cp:lastModifiedBy>Habiba Arshad</cp:lastModifiedBy>
  <cp:revision>104</cp:revision>
  <dcterms:created xsi:type="dcterms:W3CDTF">2024-10-08T06:28:51Z</dcterms:created>
  <dcterms:modified xsi:type="dcterms:W3CDTF">2025-11-06T06:02:20Z</dcterms:modified>
</cp:coreProperties>
</file>