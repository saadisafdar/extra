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789" r:id="rId3"/>
    <p:sldId id="825" r:id="rId4"/>
    <p:sldId id="551" r:id="rId5"/>
    <p:sldId id="552" r:id="rId6"/>
    <p:sldId id="806" r:id="rId7"/>
    <p:sldId id="826" r:id="rId8"/>
    <p:sldId id="807" r:id="rId9"/>
    <p:sldId id="827" r:id="rId10"/>
    <p:sldId id="555" r:id="rId11"/>
    <p:sldId id="556" r:id="rId12"/>
    <p:sldId id="836" r:id="rId13"/>
    <p:sldId id="336" r:id="rId14"/>
    <p:sldId id="337" r:id="rId15"/>
    <p:sldId id="338" r:id="rId16"/>
    <p:sldId id="340" r:id="rId17"/>
    <p:sldId id="339" r:id="rId18"/>
    <p:sldId id="341" r:id="rId19"/>
    <p:sldId id="342" r:id="rId20"/>
    <p:sldId id="343" r:id="rId21"/>
    <p:sldId id="344" r:id="rId22"/>
    <p:sldId id="345" r:id="rId23"/>
    <p:sldId id="346" r:id="rId24"/>
    <p:sldId id="557" r:id="rId25"/>
    <p:sldId id="833" r:id="rId26"/>
    <p:sldId id="558" r:id="rId27"/>
    <p:sldId id="559" r:id="rId28"/>
    <p:sldId id="560" r:id="rId29"/>
    <p:sldId id="561" r:id="rId30"/>
    <p:sldId id="562" r:id="rId31"/>
    <p:sldId id="838" r:id="rId32"/>
    <p:sldId id="834" r:id="rId33"/>
    <p:sldId id="835" r:id="rId34"/>
    <p:sldId id="571" r:id="rId35"/>
    <p:sldId id="568" r:id="rId36"/>
    <p:sldId id="569" r:id="rId3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12" autoAdjust="0"/>
  </p:normalViewPr>
  <p:slideViewPr>
    <p:cSldViewPr snapToGrid="0">
      <p:cViewPr varScale="1">
        <p:scale>
          <a:sx n="72" d="100"/>
          <a:sy n="72" d="100"/>
        </p:scale>
        <p:origin x="107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pPr algn="just"/>
          <a:r>
            <a:rPr lang="en-US" b="1" dirty="0"/>
            <a:t>CLO1: </a:t>
          </a:r>
          <a:r>
            <a:rPr lang="en-US" b="0" dirty="0"/>
            <a:t>Discuss the key concepts in the field of artificial intelligence</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EB5ACA34-5E81-4C34-9396-A967E2A2AB76}">
      <dgm:prSet/>
      <dgm:spPr/>
      <dgm:t>
        <a:bodyPr/>
        <a:lstStyle/>
        <a:p>
          <a:pPr algn="just"/>
          <a:r>
            <a:rPr lang="en-US" b="1" dirty="0"/>
            <a:t>CLO 2: Implement </a:t>
          </a:r>
          <a:r>
            <a:rPr lang="en-US" dirty="0"/>
            <a:t>artificial intelligence techniques and case studies</a:t>
          </a:r>
        </a:p>
      </dgm:t>
    </dgm:pt>
    <dgm:pt modelId="{9A070146-3875-47E3-94D7-B2C90F536C89}" type="parTrans" cxnId="{5B24FC3C-4ED4-4834-9B89-88E70A3EE3EC}">
      <dgm:prSet/>
      <dgm:spPr/>
      <dgm:t>
        <a:bodyPr/>
        <a:lstStyle/>
        <a:p>
          <a:endParaRPr lang="en-PK"/>
        </a:p>
      </dgm:t>
    </dgm:pt>
    <dgm:pt modelId="{430978D5-BF76-4915-9FA8-631F66362A49}" type="sibTrans" cxnId="{5B24FC3C-4ED4-4834-9B89-88E70A3EE3EC}">
      <dgm:prSet/>
      <dgm:spPr/>
      <dgm:t>
        <a:bodyPr/>
        <a:lstStyle/>
        <a:p>
          <a:endParaRPr lang="en-PK"/>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5B24FC3C-4ED4-4834-9B89-88E70A3EE3EC}" srcId="{003EBE85-61C3-4A8C-B096-20383EA35C46}" destId="{EB5ACA34-5E81-4C34-9396-A967E2A2AB76}" srcOrd="1" destOrd="0" parTransId="{9A070146-3875-47E3-94D7-B2C90F536C89}" sibTransId="{430978D5-BF76-4915-9FA8-631F66362A49}"/>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7EA4AAC6-84B8-4CD7-8049-447BD7E93EBF}" type="presOf" srcId="{EB5ACA34-5E81-4C34-9396-A967E2A2AB76}"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AFF19-3AEA-4097-8AAE-B0E8391780F7}"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0C1BEE06-F90E-4F09-93B1-D550B806CA6C}">
      <dgm:prSet custT="1"/>
      <dgm:spPr/>
      <dgm:t>
        <a:bodyPr/>
        <a:lstStyle/>
        <a:p>
          <a:r>
            <a:rPr lang="en-GB" sz="2400" b="1" dirty="0"/>
            <a:t>CLO 1:</a:t>
          </a:r>
          <a:endParaRPr lang="en-US" sz="2400" dirty="0"/>
        </a:p>
      </dgm:t>
    </dgm:pt>
    <dgm:pt modelId="{1C6E13D2-05A4-4EA5-B0FB-6A1163A05D3F}" type="parTrans" cxnId="{EDA5AD18-5AD5-44AA-855C-93782C77F351}">
      <dgm:prSet/>
      <dgm:spPr/>
      <dgm:t>
        <a:bodyPr/>
        <a:lstStyle/>
        <a:p>
          <a:endParaRPr lang="en-US"/>
        </a:p>
      </dgm:t>
    </dgm:pt>
    <dgm:pt modelId="{31DBE3B1-489D-4A12-8CA6-D49A4738C6DE}" type="sibTrans" cxnId="{EDA5AD18-5AD5-44AA-855C-93782C77F351}">
      <dgm:prSet/>
      <dgm:spPr/>
      <dgm:t>
        <a:bodyPr/>
        <a:lstStyle/>
        <a:p>
          <a:endParaRPr lang="en-US"/>
        </a:p>
      </dgm:t>
    </dgm:pt>
    <dgm:pt modelId="{2B5DA1EB-E771-49A5-867E-D9665D475071}">
      <dgm:prSet custT="1"/>
      <dgm:spPr/>
      <dgm:t>
        <a:bodyPr/>
        <a:lstStyle/>
        <a:p>
          <a:r>
            <a:rPr lang="en-GB" sz="2400" dirty="0"/>
            <a:t>Introduction</a:t>
          </a:r>
          <a:endParaRPr lang="en-US" sz="2400" dirty="0"/>
        </a:p>
      </dgm:t>
    </dgm:pt>
    <dgm:pt modelId="{DD750D13-57AD-4795-8AF1-C66AB423D0AD}" type="parTrans" cxnId="{710F3773-380C-452A-B8E5-ACE531C1737D}">
      <dgm:prSet/>
      <dgm:spPr/>
      <dgm:t>
        <a:bodyPr/>
        <a:lstStyle/>
        <a:p>
          <a:endParaRPr lang="en-US"/>
        </a:p>
      </dgm:t>
    </dgm:pt>
    <dgm:pt modelId="{448BFBFD-9308-4A33-BEA8-5A2FB6BB745D}" type="sibTrans" cxnId="{710F3773-380C-452A-B8E5-ACE531C1737D}">
      <dgm:prSet/>
      <dgm:spPr/>
      <dgm:t>
        <a:bodyPr/>
        <a:lstStyle/>
        <a:p>
          <a:endParaRPr lang="en-US"/>
        </a:p>
      </dgm:t>
    </dgm:pt>
    <dgm:pt modelId="{C5A5AD3D-F4C8-4B09-87BB-353A6EA7C410}">
      <dgm:prSet custT="1"/>
      <dgm:spPr/>
      <dgm:t>
        <a:bodyPr/>
        <a:lstStyle/>
        <a:p>
          <a:r>
            <a:rPr lang="en-GB" sz="2400" dirty="0"/>
            <a:t>Game Playing in AI</a:t>
          </a:r>
          <a:endParaRPr lang="en-US" sz="2400" dirty="0"/>
        </a:p>
      </dgm:t>
    </dgm:pt>
    <dgm:pt modelId="{C65CC211-364F-41DA-A837-D39E1CAFD7D1}" type="parTrans" cxnId="{990B492A-0352-4BA5-8498-A3BA0489CEBA}">
      <dgm:prSet/>
      <dgm:spPr/>
      <dgm:t>
        <a:bodyPr/>
        <a:lstStyle/>
        <a:p>
          <a:endParaRPr lang="en-US"/>
        </a:p>
      </dgm:t>
    </dgm:pt>
    <dgm:pt modelId="{12E43FD0-309D-4D62-99D0-FCDD05A9B338}" type="sibTrans" cxnId="{990B492A-0352-4BA5-8498-A3BA0489CEBA}">
      <dgm:prSet/>
      <dgm:spPr/>
      <dgm:t>
        <a:bodyPr/>
        <a:lstStyle/>
        <a:p>
          <a:endParaRPr lang="en-US"/>
        </a:p>
      </dgm:t>
    </dgm:pt>
    <dgm:pt modelId="{C826B026-A7AD-42EF-9C2C-41497C02E674}">
      <dgm:prSet custT="1"/>
      <dgm:spPr/>
      <dgm:t>
        <a:bodyPr/>
        <a:lstStyle/>
        <a:p>
          <a:r>
            <a:rPr lang="en-GB" sz="2400" dirty="0"/>
            <a:t>Adversarial Search and the Minimax Algorithm</a:t>
          </a:r>
          <a:endParaRPr lang="en-US" sz="2400" dirty="0"/>
        </a:p>
      </dgm:t>
    </dgm:pt>
    <dgm:pt modelId="{DDA5660A-EA7B-4453-BBB7-043DBDEAF5FD}" type="parTrans" cxnId="{8166F093-3757-4F07-B35D-F8CB5C069A3E}">
      <dgm:prSet/>
      <dgm:spPr/>
      <dgm:t>
        <a:bodyPr/>
        <a:lstStyle/>
        <a:p>
          <a:endParaRPr lang="en-US"/>
        </a:p>
      </dgm:t>
    </dgm:pt>
    <dgm:pt modelId="{EFE2FC33-5443-4C4B-AA6C-9F41A19BCD2B}" type="sibTrans" cxnId="{8166F093-3757-4F07-B35D-F8CB5C069A3E}">
      <dgm:prSet/>
      <dgm:spPr/>
      <dgm:t>
        <a:bodyPr/>
        <a:lstStyle/>
        <a:p>
          <a:endParaRPr lang="en-US"/>
        </a:p>
      </dgm:t>
    </dgm:pt>
    <dgm:pt modelId="{EB8E5FE8-30D3-476E-84C6-BF3CDABD0589}">
      <dgm:prSet custT="1"/>
      <dgm:spPr/>
      <dgm:t>
        <a:bodyPr/>
        <a:lstStyle/>
        <a:p>
          <a:r>
            <a:rPr lang="en-GB" sz="2400" dirty="0"/>
            <a:t>Cut-Off Search</a:t>
          </a:r>
          <a:endParaRPr lang="en-US" sz="2400" dirty="0"/>
        </a:p>
      </dgm:t>
    </dgm:pt>
    <dgm:pt modelId="{C70C1339-60FD-4556-B070-743548F5AA4E}" type="parTrans" cxnId="{2411EA8F-5BFD-4205-A462-06B950D4154C}">
      <dgm:prSet/>
      <dgm:spPr/>
      <dgm:t>
        <a:bodyPr/>
        <a:lstStyle/>
        <a:p>
          <a:endParaRPr lang="en-US"/>
        </a:p>
      </dgm:t>
    </dgm:pt>
    <dgm:pt modelId="{6ABF7D02-873C-483B-86D9-59756C11F810}" type="sibTrans" cxnId="{2411EA8F-5BFD-4205-A462-06B950D4154C}">
      <dgm:prSet/>
      <dgm:spPr/>
      <dgm:t>
        <a:bodyPr/>
        <a:lstStyle/>
        <a:p>
          <a:endParaRPr lang="en-US"/>
        </a:p>
      </dgm:t>
    </dgm:pt>
    <dgm:pt modelId="{8CE97129-A35D-4A8E-8A2F-6554473753B0}">
      <dgm:prSet custT="1"/>
      <dgm:spPr/>
      <dgm:t>
        <a:bodyPr/>
        <a:lstStyle/>
        <a:p>
          <a:r>
            <a:rPr lang="en-GB" sz="2400" dirty="0"/>
            <a:t>Pruning Techniques (including Alpha-Beta Pruning)</a:t>
          </a:r>
          <a:endParaRPr lang="en-US" sz="2400" dirty="0"/>
        </a:p>
      </dgm:t>
    </dgm:pt>
    <dgm:pt modelId="{D11C7639-FD91-4D45-90A1-3580E55A60EA}" type="parTrans" cxnId="{CC058D81-5CC1-483F-9D95-931DB7D2165A}">
      <dgm:prSet/>
      <dgm:spPr/>
      <dgm:t>
        <a:bodyPr/>
        <a:lstStyle/>
        <a:p>
          <a:endParaRPr lang="en-US"/>
        </a:p>
      </dgm:t>
    </dgm:pt>
    <dgm:pt modelId="{E2464461-4B73-4A45-971F-317EF834F317}" type="sibTrans" cxnId="{CC058D81-5CC1-483F-9D95-931DB7D2165A}">
      <dgm:prSet/>
      <dgm:spPr/>
      <dgm:t>
        <a:bodyPr/>
        <a:lstStyle/>
        <a:p>
          <a:endParaRPr lang="en-US"/>
        </a:p>
      </dgm:t>
    </dgm:pt>
    <dgm:pt modelId="{3F3DFE54-F6B7-43ED-84E5-2138CE660EB6}">
      <dgm:prSet custT="1"/>
      <dgm:spPr/>
      <dgm:t>
        <a:bodyPr/>
        <a:lstStyle/>
        <a:p>
          <a:r>
            <a:rPr lang="en-GB" sz="2400" b="1" dirty="0"/>
            <a:t>CLO 2:</a:t>
          </a:r>
          <a:endParaRPr lang="en-US" sz="2400" dirty="0"/>
        </a:p>
      </dgm:t>
    </dgm:pt>
    <dgm:pt modelId="{35603E27-4986-4093-BA13-540EF067230A}" type="parTrans" cxnId="{EA14688B-076D-4056-931B-F74C89BF1C9E}">
      <dgm:prSet/>
      <dgm:spPr/>
      <dgm:t>
        <a:bodyPr/>
        <a:lstStyle/>
        <a:p>
          <a:endParaRPr lang="en-US"/>
        </a:p>
      </dgm:t>
    </dgm:pt>
    <dgm:pt modelId="{A9A51733-DE1F-469E-8D4B-A6E9376ABC7F}" type="sibTrans" cxnId="{EA14688B-076D-4056-931B-F74C89BF1C9E}">
      <dgm:prSet/>
      <dgm:spPr/>
      <dgm:t>
        <a:bodyPr/>
        <a:lstStyle/>
        <a:p>
          <a:endParaRPr lang="en-US"/>
        </a:p>
      </dgm:t>
    </dgm:pt>
    <dgm:pt modelId="{BC9F2467-8675-4C7B-A23B-F5B8B939445E}">
      <dgm:prSet custT="1"/>
      <dgm:spPr/>
      <dgm:t>
        <a:bodyPr/>
        <a:lstStyle/>
        <a:p>
          <a:r>
            <a:rPr lang="en-GB" sz="2400" dirty="0"/>
            <a:t>Implement</a:t>
          </a:r>
          <a:endParaRPr lang="en-US" sz="2400" dirty="0"/>
        </a:p>
      </dgm:t>
    </dgm:pt>
    <dgm:pt modelId="{4C54B955-7CC3-4BE7-8D3F-2A5FDB33B454}" type="parTrans" cxnId="{E9A8AFEE-FA31-4B1D-BCC6-EB81265C2F25}">
      <dgm:prSet/>
      <dgm:spPr/>
      <dgm:t>
        <a:bodyPr/>
        <a:lstStyle/>
        <a:p>
          <a:endParaRPr lang="en-US"/>
        </a:p>
      </dgm:t>
    </dgm:pt>
    <dgm:pt modelId="{2D52629A-90C7-4C02-B7FA-11727220C377}" type="sibTrans" cxnId="{E9A8AFEE-FA31-4B1D-BCC6-EB81265C2F25}">
      <dgm:prSet/>
      <dgm:spPr/>
      <dgm:t>
        <a:bodyPr/>
        <a:lstStyle/>
        <a:p>
          <a:endParaRPr lang="en-US"/>
        </a:p>
      </dgm:t>
    </dgm:pt>
    <dgm:pt modelId="{8D6A053C-E829-4FFA-B615-66B710820511}">
      <dgm:prSet custT="1"/>
      <dgm:spPr/>
      <dgm:t>
        <a:bodyPr/>
        <a:lstStyle/>
        <a:p>
          <a:r>
            <a:rPr lang="en-GB" sz="2400" dirty="0"/>
            <a:t>Adversarial Search and the Minimax Algorithm</a:t>
          </a:r>
          <a:endParaRPr lang="en-US" sz="2400" dirty="0"/>
        </a:p>
      </dgm:t>
    </dgm:pt>
    <dgm:pt modelId="{C11ADF9C-F86A-4BA1-A832-938E2DD4C8EF}" type="parTrans" cxnId="{98D5158A-8C70-41C1-B052-E3107E5ED881}">
      <dgm:prSet/>
      <dgm:spPr/>
      <dgm:t>
        <a:bodyPr/>
        <a:lstStyle/>
        <a:p>
          <a:endParaRPr lang="en-US"/>
        </a:p>
      </dgm:t>
    </dgm:pt>
    <dgm:pt modelId="{EFA06500-9CE7-42F8-BAD6-B53A812E2246}" type="sibTrans" cxnId="{98D5158A-8C70-41C1-B052-E3107E5ED881}">
      <dgm:prSet/>
      <dgm:spPr/>
      <dgm:t>
        <a:bodyPr/>
        <a:lstStyle/>
        <a:p>
          <a:endParaRPr lang="en-US"/>
        </a:p>
      </dgm:t>
    </dgm:pt>
    <dgm:pt modelId="{3EA3FF40-E4C6-4CA1-826F-29F2E43E9A22}">
      <dgm:prSet custT="1"/>
      <dgm:spPr/>
      <dgm:t>
        <a:bodyPr/>
        <a:lstStyle/>
        <a:p>
          <a:r>
            <a:rPr lang="en-GB" sz="2400" dirty="0"/>
            <a:t>Alpha-Beta Pruning</a:t>
          </a:r>
          <a:endParaRPr lang="en-US" sz="2400" dirty="0"/>
        </a:p>
      </dgm:t>
    </dgm:pt>
    <dgm:pt modelId="{2BDB4242-D0D9-41B5-BB65-A7D37D872ECA}" type="parTrans" cxnId="{71550294-30FC-4171-8469-73C69E76D196}">
      <dgm:prSet/>
      <dgm:spPr/>
      <dgm:t>
        <a:bodyPr/>
        <a:lstStyle/>
        <a:p>
          <a:endParaRPr lang="en-US"/>
        </a:p>
      </dgm:t>
    </dgm:pt>
    <dgm:pt modelId="{BFE78EAE-A143-47F8-8BB8-09CA3E84D1AD}" type="sibTrans" cxnId="{71550294-30FC-4171-8469-73C69E76D196}">
      <dgm:prSet/>
      <dgm:spPr/>
      <dgm:t>
        <a:bodyPr/>
        <a:lstStyle/>
        <a:p>
          <a:endParaRPr lang="en-US"/>
        </a:p>
      </dgm:t>
    </dgm:pt>
    <dgm:pt modelId="{64E97EF1-F64F-4D08-B52C-5F63805ACB97}">
      <dgm:prSet custT="1"/>
      <dgm:spPr/>
      <dgm:t>
        <a:bodyPr/>
        <a:lstStyle/>
        <a:p>
          <a:r>
            <a:rPr lang="en-GB" sz="2400" dirty="0"/>
            <a:t>Case Studies: Chess and Checkers</a:t>
          </a:r>
          <a:endParaRPr lang="en-US" sz="2400" dirty="0"/>
        </a:p>
      </dgm:t>
    </dgm:pt>
    <dgm:pt modelId="{C2D3F7D1-30DB-4CC6-B1CD-2D1AF21D1B16}" type="parTrans" cxnId="{3C02E09E-7018-42CC-8155-8D1F6A702B34}">
      <dgm:prSet/>
      <dgm:spPr/>
      <dgm:t>
        <a:bodyPr/>
        <a:lstStyle/>
        <a:p>
          <a:endParaRPr lang="en-US"/>
        </a:p>
      </dgm:t>
    </dgm:pt>
    <dgm:pt modelId="{0DD0157C-9A36-42EC-8BA3-4539FB11B774}" type="sibTrans" cxnId="{3C02E09E-7018-42CC-8155-8D1F6A702B34}">
      <dgm:prSet/>
      <dgm:spPr/>
      <dgm:t>
        <a:bodyPr/>
        <a:lstStyle/>
        <a:p>
          <a:endParaRPr lang="en-US"/>
        </a:p>
      </dgm:t>
    </dgm:pt>
    <dgm:pt modelId="{D834BA1F-3574-4DD1-BA2B-1AFDA1B9DFB4}" type="pres">
      <dgm:prSet presAssocID="{1ABAFF19-3AEA-4097-8AAE-B0E8391780F7}" presName="linear" presStyleCnt="0">
        <dgm:presLayoutVars>
          <dgm:dir/>
          <dgm:animLvl val="lvl"/>
          <dgm:resizeHandles val="exact"/>
        </dgm:presLayoutVars>
      </dgm:prSet>
      <dgm:spPr/>
    </dgm:pt>
    <dgm:pt modelId="{698E3174-0318-4F94-9674-373830A430B0}" type="pres">
      <dgm:prSet presAssocID="{0C1BEE06-F90E-4F09-93B1-D550B806CA6C}" presName="parentLin" presStyleCnt="0"/>
      <dgm:spPr/>
    </dgm:pt>
    <dgm:pt modelId="{3A3AD406-9F02-4B7C-A576-31CAD64141FB}" type="pres">
      <dgm:prSet presAssocID="{0C1BEE06-F90E-4F09-93B1-D550B806CA6C}" presName="parentLeftMargin" presStyleLbl="node1" presStyleIdx="0" presStyleCnt="2"/>
      <dgm:spPr/>
    </dgm:pt>
    <dgm:pt modelId="{49E13C96-EE4B-48D1-8768-AE8ECE07E331}" type="pres">
      <dgm:prSet presAssocID="{0C1BEE06-F90E-4F09-93B1-D550B806CA6C}" presName="parentText" presStyleLbl="node1" presStyleIdx="0" presStyleCnt="2">
        <dgm:presLayoutVars>
          <dgm:chMax val="0"/>
          <dgm:bulletEnabled val="1"/>
        </dgm:presLayoutVars>
      </dgm:prSet>
      <dgm:spPr/>
    </dgm:pt>
    <dgm:pt modelId="{0A19CEC3-B103-4F3A-9B3C-FE1A70884031}" type="pres">
      <dgm:prSet presAssocID="{0C1BEE06-F90E-4F09-93B1-D550B806CA6C}" presName="negativeSpace" presStyleCnt="0"/>
      <dgm:spPr/>
    </dgm:pt>
    <dgm:pt modelId="{2A8F8C97-D792-4E29-9ADB-A33A1728580F}" type="pres">
      <dgm:prSet presAssocID="{0C1BEE06-F90E-4F09-93B1-D550B806CA6C}" presName="childText" presStyleLbl="conFgAcc1" presStyleIdx="0" presStyleCnt="2">
        <dgm:presLayoutVars>
          <dgm:bulletEnabled val="1"/>
        </dgm:presLayoutVars>
      </dgm:prSet>
      <dgm:spPr/>
    </dgm:pt>
    <dgm:pt modelId="{E9D3FC74-370E-4118-9A41-52FB915D24B6}" type="pres">
      <dgm:prSet presAssocID="{31DBE3B1-489D-4A12-8CA6-D49A4738C6DE}" presName="spaceBetweenRectangles" presStyleCnt="0"/>
      <dgm:spPr/>
    </dgm:pt>
    <dgm:pt modelId="{DDC2F1DC-AC4E-4BD5-8F1F-3AB55F5B9E84}" type="pres">
      <dgm:prSet presAssocID="{3F3DFE54-F6B7-43ED-84E5-2138CE660EB6}" presName="parentLin" presStyleCnt="0"/>
      <dgm:spPr/>
    </dgm:pt>
    <dgm:pt modelId="{F0839E54-C2C9-4E12-8664-B616247CC422}" type="pres">
      <dgm:prSet presAssocID="{3F3DFE54-F6B7-43ED-84E5-2138CE660EB6}" presName="parentLeftMargin" presStyleLbl="node1" presStyleIdx="0" presStyleCnt="2"/>
      <dgm:spPr/>
    </dgm:pt>
    <dgm:pt modelId="{CD8EDF22-9A27-49D7-87DD-3C29CC93D73D}" type="pres">
      <dgm:prSet presAssocID="{3F3DFE54-F6B7-43ED-84E5-2138CE660EB6}" presName="parentText" presStyleLbl="node1" presStyleIdx="1" presStyleCnt="2">
        <dgm:presLayoutVars>
          <dgm:chMax val="0"/>
          <dgm:bulletEnabled val="1"/>
        </dgm:presLayoutVars>
      </dgm:prSet>
      <dgm:spPr/>
    </dgm:pt>
    <dgm:pt modelId="{72D71622-01F6-453A-84C1-5F1DDDB24708}" type="pres">
      <dgm:prSet presAssocID="{3F3DFE54-F6B7-43ED-84E5-2138CE660EB6}" presName="negativeSpace" presStyleCnt="0"/>
      <dgm:spPr/>
    </dgm:pt>
    <dgm:pt modelId="{6EB0EFF8-0C42-4EF9-9C2C-CFC7394E0CEC}" type="pres">
      <dgm:prSet presAssocID="{3F3DFE54-F6B7-43ED-84E5-2138CE660EB6}" presName="childText" presStyleLbl="conFgAcc1" presStyleIdx="1" presStyleCnt="2">
        <dgm:presLayoutVars>
          <dgm:bulletEnabled val="1"/>
        </dgm:presLayoutVars>
      </dgm:prSet>
      <dgm:spPr/>
    </dgm:pt>
  </dgm:ptLst>
  <dgm:cxnLst>
    <dgm:cxn modelId="{5B197910-00FA-4695-B05D-94C8FAB96A43}" type="presOf" srcId="{8D6A053C-E829-4FFA-B615-66B710820511}" destId="{6EB0EFF8-0C42-4EF9-9C2C-CFC7394E0CEC}" srcOrd="0" destOrd="1" presId="urn:microsoft.com/office/officeart/2005/8/layout/list1"/>
    <dgm:cxn modelId="{EDA5AD18-5AD5-44AA-855C-93782C77F351}" srcId="{1ABAFF19-3AEA-4097-8AAE-B0E8391780F7}" destId="{0C1BEE06-F90E-4F09-93B1-D550B806CA6C}" srcOrd="0" destOrd="0" parTransId="{1C6E13D2-05A4-4EA5-B0FB-6A1163A05D3F}" sibTransId="{31DBE3B1-489D-4A12-8CA6-D49A4738C6DE}"/>
    <dgm:cxn modelId="{990B492A-0352-4BA5-8498-A3BA0489CEBA}" srcId="{2B5DA1EB-E771-49A5-867E-D9665D475071}" destId="{C5A5AD3D-F4C8-4B09-87BB-353A6EA7C410}" srcOrd="0" destOrd="0" parTransId="{C65CC211-364F-41DA-A837-D39E1CAFD7D1}" sibTransId="{12E43FD0-309D-4D62-99D0-FCDD05A9B338}"/>
    <dgm:cxn modelId="{51F1EF38-B93F-42C4-8499-9FA3E48A4234}" type="presOf" srcId="{2B5DA1EB-E771-49A5-867E-D9665D475071}" destId="{2A8F8C97-D792-4E29-9ADB-A33A1728580F}" srcOrd="0" destOrd="0" presId="urn:microsoft.com/office/officeart/2005/8/layout/list1"/>
    <dgm:cxn modelId="{710F3773-380C-452A-B8E5-ACE531C1737D}" srcId="{0C1BEE06-F90E-4F09-93B1-D550B806CA6C}" destId="{2B5DA1EB-E771-49A5-867E-D9665D475071}" srcOrd="0" destOrd="0" parTransId="{DD750D13-57AD-4795-8AF1-C66AB423D0AD}" sibTransId="{448BFBFD-9308-4A33-BEA8-5A2FB6BB745D}"/>
    <dgm:cxn modelId="{B0A9B776-35AF-48D4-BFF4-277D6353C2FC}" type="presOf" srcId="{0C1BEE06-F90E-4F09-93B1-D550B806CA6C}" destId="{3A3AD406-9F02-4B7C-A576-31CAD64141FB}" srcOrd="0" destOrd="0" presId="urn:microsoft.com/office/officeart/2005/8/layout/list1"/>
    <dgm:cxn modelId="{FA3D597B-F89B-4355-8533-2F8060B3F6AE}" type="presOf" srcId="{C5A5AD3D-F4C8-4B09-87BB-353A6EA7C410}" destId="{2A8F8C97-D792-4E29-9ADB-A33A1728580F}" srcOrd="0" destOrd="1" presId="urn:microsoft.com/office/officeart/2005/8/layout/list1"/>
    <dgm:cxn modelId="{CC058D81-5CC1-483F-9D95-931DB7D2165A}" srcId="{2B5DA1EB-E771-49A5-867E-D9665D475071}" destId="{8CE97129-A35D-4A8E-8A2F-6554473753B0}" srcOrd="3" destOrd="0" parTransId="{D11C7639-FD91-4D45-90A1-3580E55A60EA}" sibTransId="{E2464461-4B73-4A45-971F-317EF834F317}"/>
    <dgm:cxn modelId="{F8B6B885-FCEF-4DA4-B754-FF7086024ACB}" type="presOf" srcId="{64E97EF1-F64F-4D08-B52C-5F63805ACB97}" destId="{6EB0EFF8-0C42-4EF9-9C2C-CFC7394E0CEC}" srcOrd="0" destOrd="3" presId="urn:microsoft.com/office/officeart/2005/8/layout/list1"/>
    <dgm:cxn modelId="{98D5158A-8C70-41C1-B052-E3107E5ED881}" srcId="{BC9F2467-8675-4C7B-A23B-F5B8B939445E}" destId="{8D6A053C-E829-4FFA-B615-66B710820511}" srcOrd="0" destOrd="0" parTransId="{C11ADF9C-F86A-4BA1-A832-938E2DD4C8EF}" sibTransId="{EFA06500-9CE7-42F8-BAD6-B53A812E2246}"/>
    <dgm:cxn modelId="{EA14688B-076D-4056-931B-F74C89BF1C9E}" srcId="{1ABAFF19-3AEA-4097-8AAE-B0E8391780F7}" destId="{3F3DFE54-F6B7-43ED-84E5-2138CE660EB6}" srcOrd="1" destOrd="0" parTransId="{35603E27-4986-4093-BA13-540EF067230A}" sibTransId="{A9A51733-DE1F-469E-8D4B-A6E9376ABC7F}"/>
    <dgm:cxn modelId="{C58C6D8D-0F6A-41DE-BE99-C70A31B35699}" type="presOf" srcId="{1ABAFF19-3AEA-4097-8AAE-B0E8391780F7}" destId="{D834BA1F-3574-4DD1-BA2B-1AFDA1B9DFB4}" srcOrd="0" destOrd="0" presId="urn:microsoft.com/office/officeart/2005/8/layout/list1"/>
    <dgm:cxn modelId="{2411EA8F-5BFD-4205-A462-06B950D4154C}" srcId="{2B5DA1EB-E771-49A5-867E-D9665D475071}" destId="{EB8E5FE8-30D3-476E-84C6-BF3CDABD0589}" srcOrd="2" destOrd="0" parTransId="{C70C1339-60FD-4556-B070-743548F5AA4E}" sibTransId="{6ABF7D02-873C-483B-86D9-59756C11F810}"/>
    <dgm:cxn modelId="{8166F093-3757-4F07-B35D-F8CB5C069A3E}" srcId="{2B5DA1EB-E771-49A5-867E-D9665D475071}" destId="{C826B026-A7AD-42EF-9C2C-41497C02E674}" srcOrd="1" destOrd="0" parTransId="{DDA5660A-EA7B-4453-BBB7-043DBDEAF5FD}" sibTransId="{EFE2FC33-5443-4C4B-AA6C-9F41A19BCD2B}"/>
    <dgm:cxn modelId="{71550294-30FC-4171-8469-73C69E76D196}" srcId="{BC9F2467-8675-4C7B-A23B-F5B8B939445E}" destId="{3EA3FF40-E4C6-4CA1-826F-29F2E43E9A22}" srcOrd="1" destOrd="0" parTransId="{2BDB4242-D0D9-41B5-BB65-A7D37D872ECA}" sibTransId="{BFE78EAE-A143-47F8-8BB8-09CA3E84D1AD}"/>
    <dgm:cxn modelId="{03A4159A-4EBA-4FA7-8F3E-5BD1C16A34D0}" type="presOf" srcId="{3F3DFE54-F6B7-43ED-84E5-2138CE660EB6}" destId="{CD8EDF22-9A27-49D7-87DD-3C29CC93D73D}" srcOrd="1" destOrd="0" presId="urn:microsoft.com/office/officeart/2005/8/layout/list1"/>
    <dgm:cxn modelId="{CC8A0B9C-4640-40CE-ADE6-DF681DFEEE51}" type="presOf" srcId="{BC9F2467-8675-4C7B-A23B-F5B8B939445E}" destId="{6EB0EFF8-0C42-4EF9-9C2C-CFC7394E0CEC}" srcOrd="0" destOrd="0" presId="urn:microsoft.com/office/officeart/2005/8/layout/list1"/>
    <dgm:cxn modelId="{3C02E09E-7018-42CC-8155-8D1F6A702B34}" srcId="{BC9F2467-8675-4C7B-A23B-F5B8B939445E}" destId="{64E97EF1-F64F-4D08-B52C-5F63805ACB97}" srcOrd="2" destOrd="0" parTransId="{C2D3F7D1-30DB-4CC6-B1CD-2D1AF21D1B16}" sibTransId="{0DD0157C-9A36-42EC-8BA3-4539FB11B774}"/>
    <dgm:cxn modelId="{DA5636AF-7C73-485A-A660-CAB20AA4ACD4}" type="presOf" srcId="{EB8E5FE8-30D3-476E-84C6-BF3CDABD0589}" destId="{2A8F8C97-D792-4E29-9ADB-A33A1728580F}" srcOrd="0" destOrd="3" presId="urn:microsoft.com/office/officeart/2005/8/layout/list1"/>
    <dgm:cxn modelId="{18CD7FB9-3224-4608-80A8-03227FC84AEF}" type="presOf" srcId="{0C1BEE06-F90E-4F09-93B1-D550B806CA6C}" destId="{49E13C96-EE4B-48D1-8768-AE8ECE07E331}" srcOrd="1" destOrd="0" presId="urn:microsoft.com/office/officeart/2005/8/layout/list1"/>
    <dgm:cxn modelId="{33B622C4-00C5-42F6-ACBC-B9B64A8D451D}" type="presOf" srcId="{3EA3FF40-E4C6-4CA1-826F-29F2E43E9A22}" destId="{6EB0EFF8-0C42-4EF9-9C2C-CFC7394E0CEC}" srcOrd="0" destOrd="2" presId="urn:microsoft.com/office/officeart/2005/8/layout/list1"/>
    <dgm:cxn modelId="{5348FADA-74AE-4A98-80E5-9D724BC86801}" type="presOf" srcId="{8CE97129-A35D-4A8E-8A2F-6554473753B0}" destId="{2A8F8C97-D792-4E29-9ADB-A33A1728580F}" srcOrd="0" destOrd="4" presId="urn:microsoft.com/office/officeart/2005/8/layout/list1"/>
    <dgm:cxn modelId="{E86429EC-2392-47BA-9AB5-071E4B75E5F1}" type="presOf" srcId="{3F3DFE54-F6B7-43ED-84E5-2138CE660EB6}" destId="{F0839E54-C2C9-4E12-8664-B616247CC422}" srcOrd="0" destOrd="0" presId="urn:microsoft.com/office/officeart/2005/8/layout/list1"/>
    <dgm:cxn modelId="{E9A8AFEE-FA31-4B1D-BCC6-EB81265C2F25}" srcId="{3F3DFE54-F6B7-43ED-84E5-2138CE660EB6}" destId="{BC9F2467-8675-4C7B-A23B-F5B8B939445E}" srcOrd="0" destOrd="0" parTransId="{4C54B955-7CC3-4BE7-8D3F-2A5FDB33B454}" sibTransId="{2D52629A-90C7-4C02-B7FA-11727220C377}"/>
    <dgm:cxn modelId="{3ED412F8-B5FC-441A-8CBC-3F2538AE7FB1}" type="presOf" srcId="{C826B026-A7AD-42EF-9C2C-41497C02E674}" destId="{2A8F8C97-D792-4E29-9ADB-A33A1728580F}" srcOrd="0" destOrd="2" presId="urn:microsoft.com/office/officeart/2005/8/layout/list1"/>
    <dgm:cxn modelId="{D16F14BC-919C-407D-9F91-3E9A927135BB}" type="presParOf" srcId="{D834BA1F-3574-4DD1-BA2B-1AFDA1B9DFB4}" destId="{698E3174-0318-4F94-9674-373830A430B0}" srcOrd="0" destOrd="0" presId="urn:microsoft.com/office/officeart/2005/8/layout/list1"/>
    <dgm:cxn modelId="{B62856A7-083E-400F-9694-9EB44D3B7BC0}" type="presParOf" srcId="{698E3174-0318-4F94-9674-373830A430B0}" destId="{3A3AD406-9F02-4B7C-A576-31CAD64141FB}" srcOrd="0" destOrd="0" presId="urn:microsoft.com/office/officeart/2005/8/layout/list1"/>
    <dgm:cxn modelId="{32A0C464-B9F5-4E90-AC51-22A63AD2C577}" type="presParOf" srcId="{698E3174-0318-4F94-9674-373830A430B0}" destId="{49E13C96-EE4B-48D1-8768-AE8ECE07E331}" srcOrd="1" destOrd="0" presId="urn:microsoft.com/office/officeart/2005/8/layout/list1"/>
    <dgm:cxn modelId="{5E5B1DDA-3810-44FD-8183-E6F7B748D5C5}" type="presParOf" srcId="{D834BA1F-3574-4DD1-BA2B-1AFDA1B9DFB4}" destId="{0A19CEC3-B103-4F3A-9B3C-FE1A70884031}" srcOrd="1" destOrd="0" presId="urn:microsoft.com/office/officeart/2005/8/layout/list1"/>
    <dgm:cxn modelId="{033ED4DB-9E6E-436F-8018-68F8CC396992}" type="presParOf" srcId="{D834BA1F-3574-4DD1-BA2B-1AFDA1B9DFB4}" destId="{2A8F8C97-D792-4E29-9ADB-A33A1728580F}" srcOrd="2" destOrd="0" presId="urn:microsoft.com/office/officeart/2005/8/layout/list1"/>
    <dgm:cxn modelId="{BDA5F5B3-5881-4124-843A-1FD46D6C56C2}" type="presParOf" srcId="{D834BA1F-3574-4DD1-BA2B-1AFDA1B9DFB4}" destId="{E9D3FC74-370E-4118-9A41-52FB915D24B6}" srcOrd="3" destOrd="0" presId="urn:microsoft.com/office/officeart/2005/8/layout/list1"/>
    <dgm:cxn modelId="{1CBDB688-C31F-4B6E-A5D5-E8677DC6B409}" type="presParOf" srcId="{D834BA1F-3574-4DD1-BA2B-1AFDA1B9DFB4}" destId="{DDC2F1DC-AC4E-4BD5-8F1F-3AB55F5B9E84}" srcOrd="4" destOrd="0" presId="urn:microsoft.com/office/officeart/2005/8/layout/list1"/>
    <dgm:cxn modelId="{0F5A7F57-31D3-4E79-835E-111F9624272E}" type="presParOf" srcId="{DDC2F1DC-AC4E-4BD5-8F1F-3AB55F5B9E84}" destId="{F0839E54-C2C9-4E12-8664-B616247CC422}" srcOrd="0" destOrd="0" presId="urn:microsoft.com/office/officeart/2005/8/layout/list1"/>
    <dgm:cxn modelId="{6A11352D-93F5-4A9F-AF17-71DF26BFE7D8}" type="presParOf" srcId="{DDC2F1DC-AC4E-4BD5-8F1F-3AB55F5B9E84}" destId="{CD8EDF22-9A27-49D7-87DD-3C29CC93D73D}" srcOrd="1" destOrd="0" presId="urn:microsoft.com/office/officeart/2005/8/layout/list1"/>
    <dgm:cxn modelId="{D91473F5-4CA9-4BD3-897D-18564E2185B0}" type="presParOf" srcId="{D834BA1F-3574-4DD1-BA2B-1AFDA1B9DFB4}" destId="{72D71622-01F6-453A-84C1-5F1DDDB24708}" srcOrd="5" destOrd="0" presId="urn:microsoft.com/office/officeart/2005/8/layout/list1"/>
    <dgm:cxn modelId="{08E9880D-CAAF-49C4-BBCA-83E123248F03}" type="presParOf" srcId="{D834BA1F-3574-4DD1-BA2B-1AFDA1B9DFB4}" destId="{6EB0EFF8-0C42-4EF9-9C2C-CFC7394E0CE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24CEA1-6979-41B8-811D-EEEA84BDB2BA}"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492933A-0EBE-4EBD-855B-499304527D3C}">
      <dgm:prSet/>
      <dgm:spPr/>
      <dgm:t>
        <a:bodyPr/>
        <a:lstStyle/>
        <a:p>
          <a:pPr>
            <a:defRPr b="1"/>
          </a:pPr>
          <a:r>
            <a:rPr lang="en-US" b="1" dirty="0"/>
            <a:t>Perfect information</a:t>
          </a:r>
          <a:endParaRPr lang="en-US" dirty="0"/>
        </a:p>
      </dgm:t>
    </dgm:pt>
    <dgm:pt modelId="{C65E67A7-7649-4478-A80E-6D0EC9E3BF2F}" type="parTrans" cxnId="{62CF1EEC-A2D6-45B6-932B-A90B89792276}">
      <dgm:prSet/>
      <dgm:spPr/>
      <dgm:t>
        <a:bodyPr/>
        <a:lstStyle/>
        <a:p>
          <a:endParaRPr lang="en-US"/>
        </a:p>
      </dgm:t>
    </dgm:pt>
    <dgm:pt modelId="{625E6523-5DAC-42EB-B044-0B49C9F8BF74}" type="sibTrans" cxnId="{62CF1EEC-A2D6-45B6-932B-A90B89792276}">
      <dgm:prSet/>
      <dgm:spPr/>
      <dgm:t>
        <a:bodyPr/>
        <a:lstStyle/>
        <a:p>
          <a:endParaRPr lang="en-US"/>
        </a:p>
      </dgm:t>
    </dgm:pt>
    <dgm:pt modelId="{39744D38-49F9-49BB-8DAA-90DE243BEB30}">
      <dgm:prSet custT="1"/>
      <dgm:spPr/>
      <dgm:t>
        <a:bodyPr/>
        <a:lstStyle/>
        <a:p>
          <a:r>
            <a:rPr lang="en-US" sz="2400" dirty="0"/>
            <a:t>A game in which agents can look into the complete board. </a:t>
          </a:r>
        </a:p>
      </dgm:t>
    </dgm:pt>
    <dgm:pt modelId="{4CCF21C0-75FA-46E6-BA77-D49967CEFF7B}" type="parTrans" cxnId="{5416A6D6-9CCC-4DC6-9550-5A17F3187D3A}">
      <dgm:prSet/>
      <dgm:spPr/>
      <dgm:t>
        <a:bodyPr/>
        <a:lstStyle/>
        <a:p>
          <a:endParaRPr lang="en-US"/>
        </a:p>
      </dgm:t>
    </dgm:pt>
    <dgm:pt modelId="{0B41B0F6-D2A3-4810-A1FD-4834A791056F}" type="sibTrans" cxnId="{5416A6D6-9CCC-4DC6-9550-5A17F3187D3A}">
      <dgm:prSet/>
      <dgm:spPr/>
      <dgm:t>
        <a:bodyPr/>
        <a:lstStyle/>
        <a:p>
          <a:endParaRPr lang="en-US"/>
        </a:p>
      </dgm:t>
    </dgm:pt>
    <dgm:pt modelId="{D89980EC-20F5-471B-AEAB-93CC3A5FBDBD}">
      <dgm:prSet custT="1"/>
      <dgm:spPr/>
      <dgm:t>
        <a:bodyPr/>
        <a:lstStyle/>
        <a:p>
          <a:r>
            <a:rPr lang="en-US" sz="2400" dirty="0"/>
            <a:t>Agents have all the information about the game, and they can see each other moves also. </a:t>
          </a:r>
        </a:p>
      </dgm:t>
    </dgm:pt>
    <dgm:pt modelId="{030914F8-BE4F-4D02-9B70-BE9FA1A6A1EF}" type="parTrans" cxnId="{CCDB7140-5C6E-4F80-9769-64AB74818B1B}">
      <dgm:prSet/>
      <dgm:spPr/>
      <dgm:t>
        <a:bodyPr/>
        <a:lstStyle/>
        <a:p>
          <a:endParaRPr lang="en-US"/>
        </a:p>
      </dgm:t>
    </dgm:pt>
    <dgm:pt modelId="{CF7201DA-614E-4165-939A-EC2CD011B110}" type="sibTrans" cxnId="{CCDB7140-5C6E-4F80-9769-64AB74818B1B}">
      <dgm:prSet/>
      <dgm:spPr/>
      <dgm:t>
        <a:bodyPr/>
        <a:lstStyle/>
        <a:p>
          <a:endParaRPr lang="en-US"/>
        </a:p>
      </dgm:t>
    </dgm:pt>
    <dgm:pt modelId="{E89BF5BE-4916-46F1-930F-82A93D742A24}">
      <dgm:prSet custT="1"/>
      <dgm:spPr/>
      <dgm:t>
        <a:bodyPr/>
        <a:lstStyle/>
        <a:p>
          <a:r>
            <a:rPr lang="en-US" sz="2400" dirty="0"/>
            <a:t>Examples are Chess, tic-tac-toe, Checkers, Go, etc.</a:t>
          </a:r>
        </a:p>
      </dgm:t>
    </dgm:pt>
    <dgm:pt modelId="{6FD6CBB7-4361-4210-8BBA-24AB9FF5F637}" type="parTrans" cxnId="{6FC84E7B-4F35-49C1-AA36-5B85CC542EE5}">
      <dgm:prSet/>
      <dgm:spPr/>
      <dgm:t>
        <a:bodyPr/>
        <a:lstStyle/>
        <a:p>
          <a:endParaRPr lang="en-US"/>
        </a:p>
      </dgm:t>
    </dgm:pt>
    <dgm:pt modelId="{2CC757D0-13A6-47FB-B921-30835AF9FCA8}" type="sibTrans" cxnId="{6FC84E7B-4F35-49C1-AA36-5B85CC542EE5}">
      <dgm:prSet/>
      <dgm:spPr/>
      <dgm:t>
        <a:bodyPr/>
        <a:lstStyle/>
        <a:p>
          <a:endParaRPr lang="en-US"/>
        </a:p>
      </dgm:t>
    </dgm:pt>
    <dgm:pt modelId="{2969AC75-0E50-4E15-954C-95C275664CE4}">
      <dgm:prSet/>
      <dgm:spPr/>
      <dgm:t>
        <a:bodyPr/>
        <a:lstStyle/>
        <a:p>
          <a:pPr>
            <a:defRPr b="1"/>
          </a:pPr>
          <a:r>
            <a:rPr lang="en-US" b="1"/>
            <a:t>Imperfect information</a:t>
          </a:r>
          <a:endParaRPr lang="en-US"/>
        </a:p>
      </dgm:t>
    </dgm:pt>
    <dgm:pt modelId="{1F802992-3F2F-4761-8A5E-81B201054EF7}" type="parTrans" cxnId="{039F4538-AF9B-4270-97DC-7BD4E624230C}">
      <dgm:prSet/>
      <dgm:spPr/>
      <dgm:t>
        <a:bodyPr/>
        <a:lstStyle/>
        <a:p>
          <a:endParaRPr lang="en-US"/>
        </a:p>
      </dgm:t>
    </dgm:pt>
    <dgm:pt modelId="{1ECD783F-7F64-4E65-B4F8-29253FEDF75B}" type="sibTrans" cxnId="{039F4538-AF9B-4270-97DC-7BD4E624230C}">
      <dgm:prSet/>
      <dgm:spPr/>
      <dgm:t>
        <a:bodyPr/>
        <a:lstStyle/>
        <a:p>
          <a:endParaRPr lang="en-US"/>
        </a:p>
      </dgm:t>
    </dgm:pt>
    <dgm:pt modelId="{CBD4C97C-4745-4DCA-AAEA-69A528D05E88}">
      <dgm:prSet custT="1"/>
      <dgm:spPr/>
      <dgm:t>
        <a:bodyPr/>
        <a:lstStyle/>
        <a:p>
          <a:r>
            <a:rPr lang="en-US" sz="2400" dirty="0"/>
            <a:t>A game in which agents do not have all information about the game and not aware with what's going on, </a:t>
          </a:r>
        </a:p>
      </dgm:t>
    </dgm:pt>
    <dgm:pt modelId="{E59532D6-D663-40A7-8247-EC1B51E9E203}" type="parTrans" cxnId="{6976C85F-F354-406F-BA9A-84EFF3C595BA}">
      <dgm:prSet/>
      <dgm:spPr/>
      <dgm:t>
        <a:bodyPr/>
        <a:lstStyle/>
        <a:p>
          <a:endParaRPr lang="en-US"/>
        </a:p>
      </dgm:t>
    </dgm:pt>
    <dgm:pt modelId="{A0890E8A-0E45-4101-952E-F3D0F709F32D}" type="sibTrans" cxnId="{6976C85F-F354-406F-BA9A-84EFF3C595BA}">
      <dgm:prSet/>
      <dgm:spPr/>
      <dgm:t>
        <a:bodyPr/>
        <a:lstStyle/>
        <a:p>
          <a:endParaRPr lang="en-US"/>
        </a:p>
      </dgm:t>
    </dgm:pt>
    <dgm:pt modelId="{E5630335-AA17-4BD6-B858-195BC42394B7}">
      <dgm:prSet custT="1"/>
      <dgm:spPr/>
      <dgm:t>
        <a:bodyPr/>
        <a:lstStyle/>
        <a:p>
          <a:r>
            <a:rPr lang="en-US" sz="2400" dirty="0"/>
            <a:t>Examples are Battleship, blind, Bridge, etc.</a:t>
          </a:r>
        </a:p>
      </dgm:t>
    </dgm:pt>
    <dgm:pt modelId="{D0ED953B-4D33-443A-ACFD-2A378686FAD9}" type="parTrans" cxnId="{C8F2A369-87AC-40B8-826E-48853AAB2F3F}">
      <dgm:prSet/>
      <dgm:spPr/>
      <dgm:t>
        <a:bodyPr/>
        <a:lstStyle/>
        <a:p>
          <a:endParaRPr lang="en-US"/>
        </a:p>
      </dgm:t>
    </dgm:pt>
    <dgm:pt modelId="{E0CE0277-0F89-440F-97AD-94C30A2E4632}" type="sibTrans" cxnId="{C8F2A369-87AC-40B8-826E-48853AAB2F3F}">
      <dgm:prSet/>
      <dgm:spPr/>
      <dgm:t>
        <a:bodyPr/>
        <a:lstStyle/>
        <a:p>
          <a:endParaRPr lang="en-US"/>
        </a:p>
      </dgm:t>
    </dgm:pt>
    <dgm:pt modelId="{38DD3601-31AD-4ED7-8544-875A602ECBE8}" type="pres">
      <dgm:prSet presAssocID="{1C24CEA1-6979-41B8-811D-EEEA84BDB2BA}" presName="root" presStyleCnt="0">
        <dgm:presLayoutVars>
          <dgm:dir/>
          <dgm:resizeHandles val="exact"/>
        </dgm:presLayoutVars>
      </dgm:prSet>
      <dgm:spPr/>
    </dgm:pt>
    <dgm:pt modelId="{5D6CA8D3-E926-45D7-B5AE-B9EBBC7B89A3}" type="pres">
      <dgm:prSet presAssocID="{3492933A-0EBE-4EBD-855B-499304527D3C}" presName="compNode" presStyleCnt="0"/>
      <dgm:spPr/>
    </dgm:pt>
    <dgm:pt modelId="{3B5961FE-D466-41D0-83FE-A2B450F0B9D3}" type="pres">
      <dgm:prSet presAssocID="{3492933A-0EBE-4EBD-855B-499304527D3C}" presName="iconRect" presStyleLbl="node1" presStyleIdx="0" presStyleCnt="2" custLinFactNeighborX="20094" custLinFactNeighborY="-4233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9BEAC8D2-329C-4A8A-B164-D33006D53BFF}" type="pres">
      <dgm:prSet presAssocID="{3492933A-0EBE-4EBD-855B-499304527D3C}" presName="iconSpace" presStyleCnt="0"/>
      <dgm:spPr/>
    </dgm:pt>
    <dgm:pt modelId="{F2E0A3EB-5A85-4925-8A99-E11E3451E5CC}" type="pres">
      <dgm:prSet presAssocID="{3492933A-0EBE-4EBD-855B-499304527D3C}" presName="parTx" presStyleLbl="revTx" presStyleIdx="0" presStyleCnt="4" custLinFactY="-8152" custLinFactNeighborX="-2056" custLinFactNeighborY="-100000">
        <dgm:presLayoutVars>
          <dgm:chMax val="0"/>
          <dgm:chPref val="0"/>
        </dgm:presLayoutVars>
      </dgm:prSet>
      <dgm:spPr/>
    </dgm:pt>
    <dgm:pt modelId="{A6FEA3C4-51F3-4EC7-B517-714380582D0D}" type="pres">
      <dgm:prSet presAssocID="{3492933A-0EBE-4EBD-855B-499304527D3C}" presName="txSpace" presStyleCnt="0"/>
      <dgm:spPr/>
    </dgm:pt>
    <dgm:pt modelId="{E63BDCE4-7B8B-4E57-B550-684D6467B994}" type="pres">
      <dgm:prSet presAssocID="{3492933A-0EBE-4EBD-855B-499304527D3C}" presName="desTx" presStyleLbl="revTx" presStyleIdx="1" presStyleCnt="4" custScaleX="119703" custScaleY="41564" custLinFactY="-156113" custLinFactNeighborX="-278" custLinFactNeighborY="-200000">
        <dgm:presLayoutVars/>
      </dgm:prSet>
      <dgm:spPr/>
    </dgm:pt>
    <dgm:pt modelId="{2B0AC1DE-CC52-4FDE-AF3A-4A6EF7280AFD}" type="pres">
      <dgm:prSet presAssocID="{625E6523-5DAC-42EB-B044-0B49C9F8BF74}" presName="sibTrans" presStyleCnt="0"/>
      <dgm:spPr/>
    </dgm:pt>
    <dgm:pt modelId="{2C6C8CA8-30C0-4439-A7AC-33B220D5DF96}" type="pres">
      <dgm:prSet presAssocID="{2969AC75-0E50-4E15-954C-95C275664CE4}" presName="compNode" presStyleCnt="0"/>
      <dgm:spPr/>
    </dgm:pt>
    <dgm:pt modelId="{76F86799-3005-429D-8FD2-E2586607415C}" type="pres">
      <dgm:prSet presAssocID="{2969AC75-0E50-4E15-954C-95C275664CE4}" presName="iconRect" presStyleLbl="node1" presStyleIdx="1" presStyleCnt="2" custLinFactNeighborX="20094" custLinFactNeighborY="-4233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F3320E84-2876-45F9-87CF-17CF9E52CA6B}" type="pres">
      <dgm:prSet presAssocID="{2969AC75-0E50-4E15-954C-95C275664CE4}" presName="iconSpace" presStyleCnt="0"/>
      <dgm:spPr/>
    </dgm:pt>
    <dgm:pt modelId="{80DB66B4-6C70-41C1-9820-CC65E81EC0EC}" type="pres">
      <dgm:prSet presAssocID="{2969AC75-0E50-4E15-954C-95C275664CE4}" presName="parTx" presStyleLbl="revTx" presStyleIdx="2" presStyleCnt="4" custLinFactY="-8152" custLinFactNeighborX="-2056" custLinFactNeighborY="-100000">
        <dgm:presLayoutVars>
          <dgm:chMax val="0"/>
          <dgm:chPref val="0"/>
        </dgm:presLayoutVars>
      </dgm:prSet>
      <dgm:spPr/>
    </dgm:pt>
    <dgm:pt modelId="{F276C8DE-1E53-4CA6-92DA-EE528A80E82F}" type="pres">
      <dgm:prSet presAssocID="{2969AC75-0E50-4E15-954C-95C275664CE4}" presName="txSpace" presStyleCnt="0"/>
      <dgm:spPr/>
    </dgm:pt>
    <dgm:pt modelId="{61EF4694-456C-4210-AE9C-8C98225296BD}" type="pres">
      <dgm:prSet presAssocID="{2969AC75-0E50-4E15-954C-95C275664CE4}" presName="desTx" presStyleLbl="revTx" presStyleIdx="3" presStyleCnt="4" custScaleX="129988" custLinFactY="-171861" custLinFactNeighborX="-4069" custLinFactNeighborY="-200000">
        <dgm:presLayoutVars/>
      </dgm:prSet>
      <dgm:spPr/>
    </dgm:pt>
  </dgm:ptLst>
  <dgm:cxnLst>
    <dgm:cxn modelId="{3CA6F329-40E0-4A59-B7BE-8AA30FF738D6}" type="presOf" srcId="{CBD4C97C-4745-4DCA-AAEA-69A528D05E88}" destId="{61EF4694-456C-4210-AE9C-8C98225296BD}" srcOrd="0" destOrd="0" presId="urn:microsoft.com/office/officeart/2018/2/layout/IconLabelDescriptionList"/>
    <dgm:cxn modelId="{32CC832F-470F-4493-BAD2-3929DF20F9B0}" type="presOf" srcId="{1C24CEA1-6979-41B8-811D-EEEA84BDB2BA}" destId="{38DD3601-31AD-4ED7-8544-875A602ECBE8}" srcOrd="0" destOrd="0" presId="urn:microsoft.com/office/officeart/2018/2/layout/IconLabelDescriptionList"/>
    <dgm:cxn modelId="{039F4538-AF9B-4270-97DC-7BD4E624230C}" srcId="{1C24CEA1-6979-41B8-811D-EEEA84BDB2BA}" destId="{2969AC75-0E50-4E15-954C-95C275664CE4}" srcOrd="1" destOrd="0" parTransId="{1F802992-3F2F-4761-8A5E-81B201054EF7}" sibTransId="{1ECD783F-7F64-4E65-B4F8-29253FEDF75B}"/>
    <dgm:cxn modelId="{CCDB7140-5C6E-4F80-9769-64AB74818B1B}" srcId="{3492933A-0EBE-4EBD-855B-499304527D3C}" destId="{D89980EC-20F5-471B-AEAB-93CC3A5FBDBD}" srcOrd="1" destOrd="0" parTransId="{030914F8-BE4F-4D02-9B70-BE9FA1A6A1EF}" sibTransId="{CF7201DA-614E-4165-939A-EC2CD011B110}"/>
    <dgm:cxn modelId="{6976C85F-F354-406F-BA9A-84EFF3C595BA}" srcId="{2969AC75-0E50-4E15-954C-95C275664CE4}" destId="{CBD4C97C-4745-4DCA-AAEA-69A528D05E88}" srcOrd="0" destOrd="0" parTransId="{E59532D6-D663-40A7-8247-EC1B51E9E203}" sibTransId="{A0890E8A-0E45-4101-952E-F3D0F709F32D}"/>
    <dgm:cxn modelId="{AA96A162-B067-4682-A5D6-58A04A06FFC7}" type="presOf" srcId="{39744D38-49F9-49BB-8DAA-90DE243BEB30}" destId="{E63BDCE4-7B8B-4E57-B550-684D6467B994}" srcOrd="0" destOrd="0" presId="urn:microsoft.com/office/officeart/2018/2/layout/IconLabelDescriptionList"/>
    <dgm:cxn modelId="{C8F2A369-87AC-40B8-826E-48853AAB2F3F}" srcId="{2969AC75-0E50-4E15-954C-95C275664CE4}" destId="{E5630335-AA17-4BD6-B858-195BC42394B7}" srcOrd="1" destOrd="0" parTransId="{D0ED953B-4D33-443A-ACFD-2A378686FAD9}" sibTransId="{E0CE0277-0F89-440F-97AD-94C30A2E4632}"/>
    <dgm:cxn modelId="{F5563052-0581-4AD1-B715-374FFEF24A14}" type="presOf" srcId="{2969AC75-0E50-4E15-954C-95C275664CE4}" destId="{80DB66B4-6C70-41C1-9820-CC65E81EC0EC}" srcOrd="0" destOrd="0" presId="urn:microsoft.com/office/officeart/2018/2/layout/IconLabelDescriptionList"/>
    <dgm:cxn modelId="{6FC84E7B-4F35-49C1-AA36-5B85CC542EE5}" srcId="{3492933A-0EBE-4EBD-855B-499304527D3C}" destId="{E89BF5BE-4916-46F1-930F-82A93D742A24}" srcOrd="2" destOrd="0" parTransId="{6FD6CBB7-4361-4210-8BBA-24AB9FF5F637}" sibTransId="{2CC757D0-13A6-47FB-B921-30835AF9FCA8}"/>
    <dgm:cxn modelId="{8EDFF38C-E5F7-4916-A6DD-83B7881D9C99}" type="presOf" srcId="{E5630335-AA17-4BD6-B858-195BC42394B7}" destId="{61EF4694-456C-4210-AE9C-8C98225296BD}" srcOrd="0" destOrd="1" presId="urn:microsoft.com/office/officeart/2018/2/layout/IconLabelDescriptionList"/>
    <dgm:cxn modelId="{EFD74FBF-901E-4376-8381-A48009F5959C}" type="presOf" srcId="{D89980EC-20F5-471B-AEAB-93CC3A5FBDBD}" destId="{E63BDCE4-7B8B-4E57-B550-684D6467B994}" srcOrd="0" destOrd="1" presId="urn:microsoft.com/office/officeart/2018/2/layout/IconLabelDescriptionList"/>
    <dgm:cxn modelId="{5416A6D6-9CCC-4DC6-9550-5A17F3187D3A}" srcId="{3492933A-0EBE-4EBD-855B-499304527D3C}" destId="{39744D38-49F9-49BB-8DAA-90DE243BEB30}" srcOrd="0" destOrd="0" parTransId="{4CCF21C0-75FA-46E6-BA77-D49967CEFF7B}" sibTransId="{0B41B0F6-D2A3-4810-A1FD-4834A791056F}"/>
    <dgm:cxn modelId="{9B35CCD8-379D-4320-8046-8641BC5FC8E0}" type="presOf" srcId="{3492933A-0EBE-4EBD-855B-499304527D3C}" destId="{F2E0A3EB-5A85-4925-8A99-E11E3451E5CC}" srcOrd="0" destOrd="0" presId="urn:microsoft.com/office/officeart/2018/2/layout/IconLabelDescriptionList"/>
    <dgm:cxn modelId="{C6F704DC-9695-4420-9316-2AAB84CC2354}" type="presOf" srcId="{E89BF5BE-4916-46F1-930F-82A93D742A24}" destId="{E63BDCE4-7B8B-4E57-B550-684D6467B994}" srcOrd="0" destOrd="2" presId="urn:microsoft.com/office/officeart/2018/2/layout/IconLabelDescriptionList"/>
    <dgm:cxn modelId="{62CF1EEC-A2D6-45B6-932B-A90B89792276}" srcId="{1C24CEA1-6979-41B8-811D-EEEA84BDB2BA}" destId="{3492933A-0EBE-4EBD-855B-499304527D3C}" srcOrd="0" destOrd="0" parTransId="{C65E67A7-7649-4478-A80E-6D0EC9E3BF2F}" sibTransId="{625E6523-5DAC-42EB-B044-0B49C9F8BF74}"/>
    <dgm:cxn modelId="{E6A963C5-A291-4975-A5AC-210BCC22023E}" type="presParOf" srcId="{38DD3601-31AD-4ED7-8544-875A602ECBE8}" destId="{5D6CA8D3-E926-45D7-B5AE-B9EBBC7B89A3}" srcOrd="0" destOrd="0" presId="urn:microsoft.com/office/officeart/2018/2/layout/IconLabelDescriptionList"/>
    <dgm:cxn modelId="{CD891ACB-0867-48CE-B505-F4A7E1D6E4E4}" type="presParOf" srcId="{5D6CA8D3-E926-45D7-B5AE-B9EBBC7B89A3}" destId="{3B5961FE-D466-41D0-83FE-A2B450F0B9D3}" srcOrd="0" destOrd="0" presId="urn:microsoft.com/office/officeart/2018/2/layout/IconLabelDescriptionList"/>
    <dgm:cxn modelId="{058D6500-9430-4A66-A8B7-71921D8F940A}" type="presParOf" srcId="{5D6CA8D3-E926-45D7-B5AE-B9EBBC7B89A3}" destId="{9BEAC8D2-329C-4A8A-B164-D33006D53BFF}" srcOrd="1" destOrd="0" presId="urn:microsoft.com/office/officeart/2018/2/layout/IconLabelDescriptionList"/>
    <dgm:cxn modelId="{BC5281E2-1913-4910-BBF6-478EDBC5A4D7}" type="presParOf" srcId="{5D6CA8D3-E926-45D7-B5AE-B9EBBC7B89A3}" destId="{F2E0A3EB-5A85-4925-8A99-E11E3451E5CC}" srcOrd="2" destOrd="0" presId="urn:microsoft.com/office/officeart/2018/2/layout/IconLabelDescriptionList"/>
    <dgm:cxn modelId="{B12B5F23-F64A-4708-B25A-7EFB9D9CE7A8}" type="presParOf" srcId="{5D6CA8D3-E926-45D7-B5AE-B9EBBC7B89A3}" destId="{A6FEA3C4-51F3-4EC7-B517-714380582D0D}" srcOrd="3" destOrd="0" presId="urn:microsoft.com/office/officeart/2018/2/layout/IconLabelDescriptionList"/>
    <dgm:cxn modelId="{0B17FE24-85C6-48E2-B03A-9477CEEA6441}" type="presParOf" srcId="{5D6CA8D3-E926-45D7-B5AE-B9EBBC7B89A3}" destId="{E63BDCE4-7B8B-4E57-B550-684D6467B994}" srcOrd="4" destOrd="0" presId="urn:microsoft.com/office/officeart/2018/2/layout/IconLabelDescriptionList"/>
    <dgm:cxn modelId="{27426175-0826-47F7-B76F-C2D737459DB9}" type="presParOf" srcId="{38DD3601-31AD-4ED7-8544-875A602ECBE8}" destId="{2B0AC1DE-CC52-4FDE-AF3A-4A6EF7280AFD}" srcOrd="1" destOrd="0" presId="urn:microsoft.com/office/officeart/2018/2/layout/IconLabelDescriptionList"/>
    <dgm:cxn modelId="{F4D74E74-C127-4B00-A192-DE391B8779D7}" type="presParOf" srcId="{38DD3601-31AD-4ED7-8544-875A602ECBE8}" destId="{2C6C8CA8-30C0-4439-A7AC-33B220D5DF96}" srcOrd="2" destOrd="0" presId="urn:microsoft.com/office/officeart/2018/2/layout/IconLabelDescriptionList"/>
    <dgm:cxn modelId="{01C4FED3-9F08-4EF3-8E00-979753A17804}" type="presParOf" srcId="{2C6C8CA8-30C0-4439-A7AC-33B220D5DF96}" destId="{76F86799-3005-429D-8FD2-E2586607415C}" srcOrd="0" destOrd="0" presId="urn:microsoft.com/office/officeart/2018/2/layout/IconLabelDescriptionList"/>
    <dgm:cxn modelId="{2CEF3BE4-C25B-4850-9987-81ED0AAA4E40}" type="presParOf" srcId="{2C6C8CA8-30C0-4439-A7AC-33B220D5DF96}" destId="{F3320E84-2876-45F9-87CF-17CF9E52CA6B}" srcOrd="1" destOrd="0" presId="urn:microsoft.com/office/officeart/2018/2/layout/IconLabelDescriptionList"/>
    <dgm:cxn modelId="{80875F85-9978-4638-97F6-C06A89EE0ADE}" type="presParOf" srcId="{2C6C8CA8-30C0-4439-A7AC-33B220D5DF96}" destId="{80DB66B4-6C70-41C1-9820-CC65E81EC0EC}" srcOrd="2" destOrd="0" presId="urn:microsoft.com/office/officeart/2018/2/layout/IconLabelDescriptionList"/>
    <dgm:cxn modelId="{D0341B59-243C-4D15-83C8-CAA2EA126851}" type="presParOf" srcId="{2C6C8CA8-30C0-4439-A7AC-33B220D5DF96}" destId="{F276C8DE-1E53-4CA6-92DA-EE528A80E82F}" srcOrd="3" destOrd="0" presId="urn:microsoft.com/office/officeart/2018/2/layout/IconLabelDescriptionList"/>
    <dgm:cxn modelId="{9A300DC4-EB21-4A82-BE23-5334361D3972}" type="presParOf" srcId="{2C6C8CA8-30C0-4439-A7AC-33B220D5DF96}" destId="{61EF4694-456C-4210-AE9C-8C98225296BD}"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64D212-FE78-496B-98F0-71FA185FD327}" type="doc">
      <dgm:prSet loTypeId="urn:microsoft.com/office/officeart/2005/8/layout/bProcess2" loCatId="process" qsTypeId="urn:microsoft.com/office/officeart/2005/8/quickstyle/simple1" qsCatId="simple" csTypeId="urn:microsoft.com/office/officeart/2005/8/colors/accent1_2" csCatId="accent1"/>
      <dgm:spPr/>
      <dgm:t>
        <a:bodyPr/>
        <a:lstStyle/>
        <a:p>
          <a:endParaRPr lang="en-US"/>
        </a:p>
      </dgm:t>
    </dgm:pt>
    <dgm:pt modelId="{F7D4C609-501D-4073-837A-5EFF327AFB6F}">
      <dgm:prSet/>
      <dgm:spPr/>
      <dgm:t>
        <a:bodyPr/>
        <a:lstStyle/>
        <a:p>
          <a:r>
            <a:rPr lang="en-US"/>
            <a:t>Mathematical model for decision making</a:t>
          </a:r>
        </a:p>
      </dgm:t>
    </dgm:pt>
    <dgm:pt modelId="{A6F98920-2080-4939-A448-5D7C3B526A8D}" type="parTrans" cxnId="{EC499068-A6BD-4DAF-864D-356CAE3C5B94}">
      <dgm:prSet/>
      <dgm:spPr/>
      <dgm:t>
        <a:bodyPr/>
        <a:lstStyle/>
        <a:p>
          <a:endParaRPr lang="en-US"/>
        </a:p>
      </dgm:t>
    </dgm:pt>
    <dgm:pt modelId="{28891659-B271-47D5-92ED-D10187B60FFC}" type="sibTrans" cxnId="{EC499068-A6BD-4DAF-864D-356CAE3C5B94}">
      <dgm:prSet/>
      <dgm:spPr/>
      <dgm:t>
        <a:bodyPr/>
        <a:lstStyle/>
        <a:p>
          <a:endParaRPr lang="en-US"/>
        </a:p>
      </dgm:t>
    </dgm:pt>
    <dgm:pt modelId="{26BB0DF2-2986-49C8-9C27-96B9EDEC5FDD}">
      <dgm:prSet/>
      <dgm:spPr/>
      <dgm:t>
        <a:bodyPr/>
        <a:lstStyle/>
        <a:p>
          <a:r>
            <a:rPr lang="en-US"/>
            <a:t>Analysis of strategic actions in scenarios which can be defined as games.</a:t>
          </a:r>
        </a:p>
      </dgm:t>
    </dgm:pt>
    <dgm:pt modelId="{FB667D6F-B66B-424E-8983-A8F35AB68504}" type="parTrans" cxnId="{8643BE8E-F1AD-4685-8D0F-61C89725E450}">
      <dgm:prSet/>
      <dgm:spPr/>
      <dgm:t>
        <a:bodyPr/>
        <a:lstStyle/>
        <a:p>
          <a:endParaRPr lang="en-US"/>
        </a:p>
      </dgm:t>
    </dgm:pt>
    <dgm:pt modelId="{1C210D06-B085-4266-BFAC-7FA889568D42}" type="sibTrans" cxnId="{8643BE8E-F1AD-4685-8D0F-61C89725E450}">
      <dgm:prSet/>
      <dgm:spPr/>
      <dgm:t>
        <a:bodyPr/>
        <a:lstStyle/>
        <a:p>
          <a:endParaRPr lang="en-US"/>
        </a:p>
      </dgm:t>
    </dgm:pt>
    <dgm:pt modelId="{016578DA-F135-44C9-8246-EBC5076D7690}" type="pres">
      <dgm:prSet presAssocID="{9364D212-FE78-496B-98F0-71FA185FD327}" presName="diagram" presStyleCnt="0">
        <dgm:presLayoutVars>
          <dgm:dir/>
          <dgm:resizeHandles/>
        </dgm:presLayoutVars>
      </dgm:prSet>
      <dgm:spPr/>
    </dgm:pt>
    <dgm:pt modelId="{B403402B-4202-4832-8C26-DDF9383CFF43}" type="pres">
      <dgm:prSet presAssocID="{F7D4C609-501D-4073-837A-5EFF327AFB6F}" presName="firstNode" presStyleLbl="node1" presStyleIdx="0" presStyleCnt="2">
        <dgm:presLayoutVars>
          <dgm:bulletEnabled val="1"/>
        </dgm:presLayoutVars>
      </dgm:prSet>
      <dgm:spPr/>
    </dgm:pt>
    <dgm:pt modelId="{02F0F432-99A6-4B93-9EBA-C2B2E77E03FB}" type="pres">
      <dgm:prSet presAssocID="{28891659-B271-47D5-92ED-D10187B60FFC}" presName="sibTrans" presStyleLbl="sibTrans2D1" presStyleIdx="0" presStyleCnt="1"/>
      <dgm:spPr/>
    </dgm:pt>
    <dgm:pt modelId="{311FE42B-282F-412C-9327-45E919BD006A}" type="pres">
      <dgm:prSet presAssocID="{26BB0DF2-2986-49C8-9C27-96B9EDEC5FDD}" presName="lastNode" presStyleLbl="node1" presStyleIdx="1" presStyleCnt="2">
        <dgm:presLayoutVars>
          <dgm:bulletEnabled val="1"/>
        </dgm:presLayoutVars>
      </dgm:prSet>
      <dgm:spPr/>
    </dgm:pt>
  </dgm:ptLst>
  <dgm:cxnLst>
    <dgm:cxn modelId="{A6005F2C-0DCE-4636-A00E-3A45929991BE}" type="presOf" srcId="{9364D212-FE78-496B-98F0-71FA185FD327}" destId="{016578DA-F135-44C9-8246-EBC5076D7690}" srcOrd="0" destOrd="0" presId="urn:microsoft.com/office/officeart/2005/8/layout/bProcess2"/>
    <dgm:cxn modelId="{EC499068-A6BD-4DAF-864D-356CAE3C5B94}" srcId="{9364D212-FE78-496B-98F0-71FA185FD327}" destId="{F7D4C609-501D-4073-837A-5EFF327AFB6F}" srcOrd="0" destOrd="0" parTransId="{A6F98920-2080-4939-A448-5D7C3B526A8D}" sibTransId="{28891659-B271-47D5-92ED-D10187B60FFC}"/>
    <dgm:cxn modelId="{E8E77A6F-7A9A-40B8-93BD-B47FF46B1B1B}" type="presOf" srcId="{F7D4C609-501D-4073-837A-5EFF327AFB6F}" destId="{B403402B-4202-4832-8C26-DDF9383CFF43}" srcOrd="0" destOrd="0" presId="urn:microsoft.com/office/officeart/2005/8/layout/bProcess2"/>
    <dgm:cxn modelId="{8D4A8683-9AB4-4C4B-9A5E-053089EC8B30}" type="presOf" srcId="{28891659-B271-47D5-92ED-D10187B60FFC}" destId="{02F0F432-99A6-4B93-9EBA-C2B2E77E03FB}" srcOrd="0" destOrd="0" presId="urn:microsoft.com/office/officeart/2005/8/layout/bProcess2"/>
    <dgm:cxn modelId="{8643BE8E-F1AD-4685-8D0F-61C89725E450}" srcId="{9364D212-FE78-496B-98F0-71FA185FD327}" destId="{26BB0DF2-2986-49C8-9C27-96B9EDEC5FDD}" srcOrd="1" destOrd="0" parTransId="{FB667D6F-B66B-424E-8983-A8F35AB68504}" sibTransId="{1C210D06-B085-4266-BFAC-7FA889568D42}"/>
    <dgm:cxn modelId="{38020ABB-7B38-430C-A5EA-1F2F034DC6E1}" type="presOf" srcId="{26BB0DF2-2986-49C8-9C27-96B9EDEC5FDD}" destId="{311FE42B-282F-412C-9327-45E919BD006A}" srcOrd="0" destOrd="0" presId="urn:microsoft.com/office/officeart/2005/8/layout/bProcess2"/>
    <dgm:cxn modelId="{8932E8CB-AA44-4DD3-BF7B-E8DB9AD10258}" type="presParOf" srcId="{016578DA-F135-44C9-8246-EBC5076D7690}" destId="{B403402B-4202-4832-8C26-DDF9383CFF43}" srcOrd="0" destOrd="0" presId="urn:microsoft.com/office/officeart/2005/8/layout/bProcess2"/>
    <dgm:cxn modelId="{1A692E88-F741-48DE-8E49-73A4255D3B93}" type="presParOf" srcId="{016578DA-F135-44C9-8246-EBC5076D7690}" destId="{02F0F432-99A6-4B93-9EBA-C2B2E77E03FB}" srcOrd="1" destOrd="0" presId="urn:microsoft.com/office/officeart/2005/8/layout/bProcess2"/>
    <dgm:cxn modelId="{9BC8B6FF-1245-4D4C-8288-F6BDD8CA0B8A}" type="presParOf" srcId="{016578DA-F135-44C9-8246-EBC5076D7690}" destId="{311FE42B-282F-412C-9327-45E919BD006A}"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61E2B7-ECF3-473A-82CA-85D550E63EEC}" type="doc">
      <dgm:prSet loTypeId="urn:microsoft.com/office/officeart/2005/8/layout/hList1" loCatId="list" qsTypeId="urn:microsoft.com/office/officeart/2005/8/quickstyle/simple4" qsCatId="simple" csTypeId="urn:microsoft.com/office/officeart/2005/8/colors/colorful2" csCatId="colorful"/>
      <dgm:spPr/>
      <dgm:t>
        <a:bodyPr/>
        <a:lstStyle/>
        <a:p>
          <a:endParaRPr lang="en-US"/>
        </a:p>
      </dgm:t>
    </dgm:pt>
    <dgm:pt modelId="{82F40D2E-60FE-47BE-9F65-DB70C7FFB39E}">
      <dgm:prSet/>
      <dgm:spPr/>
      <dgm:t>
        <a:bodyPr/>
        <a:lstStyle/>
        <a:p>
          <a:r>
            <a:rPr lang="en-US" b="1"/>
            <a:t>Complete ?</a:t>
          </a:r>
          <a:endParaRPr lang="en-US"/>
        </a:p>
      </dgm:t>
    </dgm:pt>
    <dgm:pt modelId="{18BFE0BF-F149-4FAD-8EAB-2D1FE5D0EC85}" type="parTrans" cxnId="{654CD8E4-171A-4FD9-B5F0-201DDCCC7841}">
      <dgm:prSet/>
      <dgm:spPr/>
      <dgm:t>
        <a:bodyPr/>
        <a:lstStyle/>
        <a:p>
          <a:endParaRPr lang="en-US"/>
        </a:p>
      </dgm:t>
    </dgm:pt>
    <dgm:pt modelId="{D66D6F34-AC74-42DA-9801-056D09199690}" type="sibTrans" cxnId="{654CD8E4-171A-4FD9-B5F0-201DDCCC7841}">
      <dgm:prSet/>
      <dgm:spPr/>
      <dgm:t>
        <a:bodyPr/>
        <a:lstStyle/>
        <a:p>
          <a:endParaRPr lang="en-US"/>
        </a:p>
      </dgm:t>
    </dgm:pt>
    <dgm:pt modelId="{75A339C2-9BA8-4C5C-89DE-B41B5C9CE0A5}">
      <dgm:prSet/>
      <dgm:spPr/>
      <dgm:t>
        <a:bodyPr/>
        <a:lstStyle/>
        <a:p>
          <a:r>
            <a:rPr lang="en-US"/>
            <a:t>YES, It will definitely find a solution (if exist), in the finite search tree.</a:t>
          </a:r>
        </a:p>
      </dgm:t>
    </dgm:pt>
    <dgm:pt modelId="{5E46F587-D126-4D74-9D9A-CFB631702CDE}" type="parTrans" cxnId="{94EA8DE3-1D10-41DF-8E27-2788D9BC757F}">
      <dgm:prSet/>
      <dgm:spPr/>
      <dgm:t>
        <a:bodyPr/>
        <a:lstStyle/>
        <a:p>
          <a:endParaRPr lang="en-US"/>
        </a:p>
      </dgm:t>
    </dgm:pt>
    <dgm:pt modelId="{ED52922B-B704-47AC-ACD0-D00EF9F7A5E1}" type="sibTrans" cxnId="{94EA8DE3-1D10-41DF-8E27-2788D9BC757F}">
      <dgm:prSet/>
      <dgm:spPr/>
      <dgm:t>
        <a:bodyPr/>
        <a:lstStyle/>
        <a:p>
          <a:endParaRPr lang="en-US"/>
        </a:p>
      </dgm:t>
    </dgm:pt>
    <dgm:pt modelId="{FA169D6F-8EAF-414B-88C0-557583087E5C}">
      <dgm:prSet/>
      <dgm:spPr/>
      <dgm:t>
        <a:bodyPr/>
        <a:lstStyle/>
        <a:p>
          <a:r>
            <a:rPr lang="en-US" b="1"/>
            <a:t>Optimal ?</a:t>
          </a:r>
          <a:endParaRPr lang="en-US"/>
        </a:p>
      </dgm:t>
    </dgm:pt>
    <dgm:pt modelId="{6A4540D4-6EAB-4C62-9B2D-8883A8C16EDD}" type="parTrans" cxnId="{4F2AF998-D2B4-42F1-9498-393712F10EDA}">
      <dgm:prSet/>
      <dgm:spPr/>
      <dgm:t>
        <a:bodyPr/>
        <a:lstStyle/>
        <a:p>
          <a:endParaRPr lang="en-US"/>
        </a:p>
      </dgm:t>
    </dgm:pt>
    <dgm:pt modelId="{5746D23A-0708-4DEF-A881-F5236B5D76D8}" type="sibTrans" cxnId="{4F2AF998-D2B4-42F1-9498-393712F10EDA}">
      <dgm:prSet/>
      <dgm:spPr/>
      <dgm:t>
        <a:bodyPr/>
        <a:lstStyle/>
        <a:p>
          <a:endParaRPr lang="en-US"/>
        </a:p>
      </dgm:t>
    </dgm:pt>
    <dgm:pt modelId="{06A66590-9418-4732-8F77-868AFFFC5570}">
      <dgm:prSet/>
      <dgm:spPr/>
      <dgm:t>
        <a:bodyPr/>
        <a:lstStyle/>
        <a:p>
          <a:r>
            <a:rPr lang="en-US"/>
            <a:t>YES, if both opponents are playing optimally</a:t>
          </a:r>
        </a:p>
      </dgm:t>
    </dgm:pt>
    <dgm:pt modelId="{13D59B3B-09FA-4DBF-B42F-671EBDD20BA6}" type="parTrans" cxnId="{4E05D96B-6260-403F-BAF9-CAFA363CF9AF}">
      <dgm:prSet/>
      <dgm:spPr/>
      <dgm:t>
        <a:bodyPr/>
        <a:lstStyle/>
        <a:p>
          <a:endParaRPr lang="en-US"/>
        </a:p>
      </dgm:t>
    </dgm:pt>
    <dgm:pt modelId="{63C5699C-2491-4DD4-9057-41759A7DD23C}" type="sibTrans" cxnId="{4E05D96B-6260-403F-BAF9-CAFA363CF9AF}">
      <dgm:prSet/>
      <dgm:spPr/>
      <dgm:t>
        <a:bodyPr/>
        <a:lstStyle/>
        <a:p>
          <a:endParaRPr lang="en-US"/>
        </a:p>
      </dgm:t>
    </dgm:pt>
    <dgm:pt modelId="{0E109556-679F-4F5B-903A-F1C23F41AA99}">
      <dgm:prSet/>
      <dgm:spPr/>
      <dgm:t>
        <a:bodyPr/>
        <a:lstStyle/>
        <a:p>
          <a:r>
            <a:rPr lang="en-US" b="1"/>
            <a:t>Time ?</a:t>
          </a:r>
          <a:endParaRPr lang="en-US"/>
        </a:p>
      </dgm:t>
    </dgm:pt>
    <dgm:pt modelId="{60184676-7CAD-4C3D-9C15-BA3AE4A9506C}" type="parTrans" cxnId="{E234C383-2A37-4443-8842-A8A1E0107992}">
      <dgm:prSet/>
      <dgm:spPr/>
      <dgm:t>
        <a:bodyPr/>
        <a:lstStyle/>
        <a:p>
          <a:endParaRPr lang="en-US"/>
        </a:p>
      </dgm:t>
    </dgm:pt>
    <dgm:pt modelId="{BCD7AA0F-F23D-40B1-BD1E-F2E4B838295D}" type="sibTrans" cxnId="{E234C383-2A37-4443-8842-A8A1E0107992}">
      <dgm:prSet/>
      <dgm:spPr/>
      <dgm:t>
        <a:bodyPr/>
        <a:lstStyle/>
        <a:p>
          <a:endParaRPr lang="en-US"/>
        </a:p>
      </dgm:t>
    </dgm:pt>
    <dgm:pt modelId="{1B6E01E6-8F5D-4BAC-8094-A2A1B3304CB8}">
      <dgm:prSet/>
      <dgm:spPr/>
      <dgm:t>
        <a:bodyPr/>
        <a:lstStyle/>
        <a:p>
          <a:r>
            <a:rPr lang="en-US"/>
            <a:t>The worst case time complexity is O(b</a:t>
          </a:r>
          <a:r>
            <a:rPr lang="en-US" baseline="30000"/>
            <a:t>d</a:t>
          </a:r>
          <a:r>
            <a:rPr lang="en-US"/>
            <a:t>).  Simply O(n)</a:t>
          </a:r>
        </a:p>
      </dgm:t>
    </dgm:pt>
    <dgm:pt modelId="{6ECC13C8-AF59-4C13-94C9-235C3DFE981B}" type="parTrans" cxnId="{9DA6AAD9-E413-46CF-A346-4F337DB68A22}">
      <dgm:prSet/>
      <dgm:spPr/>
      <dgm:t>
        <a:bodyPr/>
        <a:lstStyle/>
        <a:p>
          <a:endParaRPr lang="en-US"/>
        </a:p>
      </dgm:t>
    </dgm:pt>
    <dgm:pt modelId="{8C6CE6C9-49BB-41EE-977F-ED780A3579C5}" type="sibTrans" cxnId="{9DA6AAD9-E413-46CF-A346-4F337DB68A22}">
      <dgm:prSet/>
      <dgm:spPr/>
      <dgm:t>
        <a:bodyPr/>
        <a:lstStyle/>
        <a:p>
          <a:endParaRPr lang="en-US"/>
        </a:p>
      </dgm:t>
    </dgm:pt>
    <dgm:pt modelId="{250F82C3-6C31-4076-A77E-415710E8083E}">
      <dgm:prSet/>
      <dgm:spPr/>
      <dgm:t>
        <a:bodyPr/>
        <a:lstStyle/>
        <a:p>
          <a:r>
            <a:rPr lang="en-US" b="1"/>
            <a:t>Space ?</a:t>
          </a:r>
          <a:endParaRPr lang="en-US"/>
        </a:p>
      </dgm:t>
    </dgm:pt>
    <dgm:pt modelId="{3E9209AE-02AB-4598-83DE-EA5FE29E15B1}" type="parTrans" cxnId="{8CD28713-4750-41F8-9FEF-223EC5CAA86F}">
      <dgm:prSet/>
      <dgm:spPr/>
      <dgm:t>
        <a:bodyPr/>
        <a:lstStyle/>
        <a:p>
          <a:endParaRPr lang="en-US"/>
        </a:p>
      </dgm:t>
    </dgm:pt>
    <dgm:pt modelId="{D9A85304-9BFF-4E09-B50C-FEB46CB3C5F4}" type="sibTrans" cxnId="{8CD28713-4750-41F8-9FEF-223EC5CAA86F}">
      <dgm:prSet/>
      <dgm:spPr/>
      <dgm:t>
        <a:bodyPr/>
        <a:lstStyle/>
        <a:p>
          <a:endParaRPr lang="en-US"/>
        </a:p>
      </dgm:t>
    </dgm:pt>
    <dgm:pt modelId="{638A7F05-C911-4CF9-A697-B3D543063F47}">
      <dgm:prSet/>
      <dgm:spPr/>
      <dgm:t>
        <a:bodyPr/>
        <a:lstStyle/>
        <a:p>
          <a:r>
            <a:rPr lang="en-US"/>
            <a:t>The worst case space complexity is O(b</a:t>
          </a:r>
          <a:r>
            <a:rPr lang="en-US" baseline="30000"/>
            <a:t>d</a:t>
          </a:r>
          <a:r>
            <a:rPr lang="en-US"/>
            <a:t>).</a:t>
          </a:r>
        </a:p>
      </dgm:t>
    </dgm:pt>
    <dgm:pt modelId="{704A80C8-EF13-47F9-B03F-0951F2A55AF3}" type="parTrans" cxnId="{3F463405-270E-4145-81D3-3D46F9F66179}">
      <dgm:prSet/>
      <dgm:spPr/>
      <dgm:t>
        <a:bodyPr/>
        <a:lstStyle/>
        <a:p>
          <a:endParaRPr lang="en-US"/>
        </a:p>
      </dgm:t>
    </dgm:pt>
    <dgm:pt modelId="{23B92A98-4B8A-400C-A917-808E42A63789}" type="sibTrans" cxnId="{3F463405-270E-4145-81D3-3D46F9F66179}">
      <dgm:prSet/>
      <dgm:spPr/>
      <dgm:t>
        <a:bodyPr/>
        <a:lstStyle/>
        <a:p>
          <a:endParaRPr lang="en-US"/>
        </a:p>
      </dgm:t>
    </dgm:pt>
    <dgm:pt modelId="{23D43D76-92BD-4432-8FF8-E7CD50C5EFBD}" type="pres">
      <dgm:prSet presAssocID="{D261E2B7-ECF3-473A-82CA-85D550E63EEC}" presName="Name0" presStyleCnt="0">
        <dgm:presLayoutVars>
          <dgm:dir/>
          <dgm:animLvl val="lvl"/>
          <dgm:resizeHandles val="exact"/>
        </dgm:presLayoutVars>
      </dgm:prSet>
      <dgm:spPr/>
    </dgm:pt>
    <dgm:pt modelId="{77CABE11-FE65-4993-95B3-207F153D3950}" type="pres">
      <dgm:prSet presAssocID="{82F40D2E-60FE-47BE-9F65-DB70C7FFB39E}" presName="composite" presStyleCnt="0"/>
      <dgm:spPr/>
    </dgm:pt>
    <dgm:pt modelId="{9EFEB679-EDCA-4A34-AFE2-493F09AF2FCF}" type="pres">
      <dgm:prSet presAssocID="{82F40D2E-60FE-47BE-9F65-DB70C7FFB39E}" presName="parTx" presStyleLbl="alignNode1" presStyleIdx="0" presStyleCnt="4">
        <dgm:presLayoutVars>
          <dgm:chMax val="0"/>
          <dgm:chPref val="0"/>
          <dgm:bulletEnabled val="1"/>
        </dgm:presLayoutVars>
      </dgm:prSet>
      <dgm:spPr/>
    </dgm:pt>
    <dgm:pt modelId="{412F7C76-9277-4D68-886C-42CA168DF236}" type="pres">
      <dgm:prSet presAssocID="{82F40D2E-60FE-47BE-9F65-DB70C7FFB39E}" presName="desTx" presStyleLbl="alignAccFollowNode1" presStyleIdx="0" presStyleCnt="4">
        <dgm:presLayoutVars>
          <dgm:bulletEnabled val="1"/>
        </dgm:presLayoutVars>
      </dgm:prSet>
      <dgm:spPr/>
    </dgm:pt>
    <dgm:pt modelId="{1A38BC0D-CE18-451B-894B-3BEF193F4D43}" type="pres">
      <dgm:prSet presAssocID="{D66D6F34-AC74-42DA-9801-056D09199690}" presName="space" presStyleCnt="0"/>
      <dgm:spPr/>
    </dgm:pt>
    <dgm:pt modelId="{5AB9F965-01A1-426A-9647-59C7FDB1D5CF}" type="pres">
      <dgm:prSet presAssocID="{FA169D6F-8EAF-414B-88C0-557583087E5C}" presName="composite" presStyleCnt="0"/>
      <dgm:spPr/>
    </dgm:pt>
    <dgm:pt modelId="{1D50C810-C248-4DEA-ADB3-E01C8DBC3E0B}" type="pres">
      <dgm:prSet presAssocID="{FA169D6F-8EAF-414B-88C0-557583087E5C}" presName="parTx" presStyleLbl="alignNode1" presStyleIdx="1" presStyleCnt="4">
        <dgm:presLayoutVars>
          <dgm:chMax val="0"/>
          <dgm:chPref val="0"/>
          <dgm:bulletEnabled val="1"/>
        </dgm:presLayoutVars>
      </dgm:prSet>
      <dgm:spPr/>
    </dgm:pt>
    <dgm:pt modelId="{C3B51E71-F89B-49F9-924D-B3117CD803BF}" type="pres">
      <dgm:prSet presAssocID="{FA169D6F-8EAF-414B-88C0-557583087E5C}" presName="desTx" presStyleLbl="alignAccFollowNode1" presStyleIdx="1" presStyleCnt="4">
        <dgm:presLayoutVars>
          <dgm:bulletEnabled val="1"/>
        </dgm:presLayoutVars>
      </dgm:prSet>
      <dgm:spPr/>
    </dgm:pt>
    <dgm:pt modelId="{217A9EF7-6851-4FEB-9B36-30AC5018796E}" type="pres">
      <dgm:prSet presAssocID="{5746D23A-0708-4DEF-A881-F5236B5D76D8}" presName="space" presStyleCnt="0"/>
      <dgm:spPr/>
    </dgm:pt>
    <dgm:pt modelId="{D9288F9D-86EF-4C56-9FA3-1856D882652C}" type="pres">
      <dgm:prSet presAssocID="{0E109556-679F-4F5B-903A-F1C23F41AA99}" presName="composite" presStyleCnt="0"/>
      <dgm:spPr/>
    </dgm:pt>
    <dgm:pt modelId="{04208E32-2B37-451D-8FDA-05273A15AC3D}" type="pres">
      <dgm:prSet presAssocID="{0E109556-679F-4F5B-903A-F1C23F41AA99}" presName="parTx" presStyleLbl="alignNode1" presStyleIdx="2" presStyleCnt="4">
        <dgm:presLayoutVars>
          <dgm:chMax val="0"/>
          <dgm:chPref val="0"/>
          <dgm:bulletEnabled val="1"/>
        </dgm:presLayoutVars>
      </dgm:prSet>
      <dgm:spPr/>
    </dgm:pt>
    <dgm:pt modelId="{0E1E334B-5CC7-485B-B2B0-5665AFCB0DDC}" type="pres">
      <dgm:prSet presAssocID="{0E109556-679F-4F5B-903A-F1C23F41AA99}" presName="desTx" presStyleLbl="alignAccFollowNode1" presStyleIdx="2" presStyleCnt="4">
        <dgm:presLayoutVars>
          <dgm:bulletEnabled val="1"/>
        </dgm:presLayoutVars>
      </dgm:prSet>
      <dgm:spPr/>
    </dgm:pt>
    <dgm:pt modelId="{B6A3F1EE-2472-442A-87C0-9C604A73DA1E}" type="pres">
      <dgm:prSet presAssocID="{BCD7AA0F-F23D-40B1-BD1E-F2E4B838295D}" presName="space" presStyleCnt="0"/>
      <dgm:spPr/>
    </dgm:pt>
    <dgm:pt modelId="{32D586A5-7A98-43E6-98EB-3CEC57822E6C}" type="pres">
      <dgm:prSet presAssocID="{250F82C3-6C31-4076-A77E-415710E8083E}" presName="composite" presStyleCnt="0"/>
      <dgm:spPr/>
    </dgm:pt>
    <dgm:pt modelId="{42EDB392-4470-4980-BCC5-F588E431EB96}" type="pres">
      <dgm:prSet presAssocID="{250F82C3-6C31-4076-A77E-415710E8083E}" presName="parTx" presStyleLbl="alignNode1" presStyleIdx="3" presStyleCnt="4">
        <dgm:presLayoutVars>
          <dgm:chMax val="0"/>
          <dgm:chPref val="0"/>
          <dgm:bulletEnabled val="1"/>
        </dgm:presLayoutVars>
      </dgm:prSet>
      <dgm:spPr/>
    </dgm:pt>
    <dgm:pt modelId="{3249BEDA-B985-455D-A328-7624753E81D0}" type="pres">
      <dgm:prSet presAssocID="{250F82C3-6C31-4076-A77E-415710E8083E}" presName="desTx" presStyleLbl="alignAccFollowNode1" presStyleIdx="3" presStyleCnt="4">
        <dgm:presLayoutVars>
          <dgm:bulletEnabled val="1"/>
        </dgm:presLayoutVars>
      </dgm:prSet>
      <dgm:spPr/>
    </dgm:pt>
  </dgm:ptLst>
  <dgm:cxnLst>
    <dgm:cxn modelId="{3F463405-270E-4145-81D3-3D46F9F66179}" srcId="{250F82C3-6C31-4076-A77E-415710E8083E}" destId="{638A7F05-C911-4CF9-A697-B3D543063F47}" srcOrd="0" destOrd="0" parTransId="{704A80C8-EF13-47F9-B03F-0951F2A55AF3}" sibTransId="{23B92A98-4B8A-400C-A917-808E42A63789}"/>
    <dgm:cxn modelId="{6F1C4906-79C7-4D01-86B3-E4F53928B063}" type="presOf" srcId="{FA169D6F-8EAF-414B-88C0-557583087E5C}" destId="{1D50C810-C248-4DEA-ADB3-E01C8DBC3E0B}" srcOrd="0" destOrd="0" presId="urn:microsoft.com/office/officeart/2005/8/layout/hList1"/>
    <dgm:cxn modelId="{8CD28713-4750-41F8-9FEF-223EC5CAA86F}" srcId="{D261E2B7-ECF3-473A-82CA-85D550E63EEC}" destId="{250F82C3-6C31-4076-A77E-415710E8083E}" srcOrd="3" destOrd="0" parTransId="{3E9209AE-02AB-4598-83DE-EA5FE29E15B1}" sibTransId="{D9A85304-9BFF-4E09-B50C-FEB46CB3C5F4}"/>
    <dgm:cxn modelId="{94B81417-D3AA-44E1-A231-787DB500490C}" type="presOf" srcId="{82F40D2E-60FE-47BE-9F65-DB70C7FFB39E}" destId="{9EFEB679-EDCA-4A34-AFE2-493F09AF2FCF}" srcOrd="0" destOrd="0" presId="urn:microsoft.com/office/officeart/2005/8/layout/hList1"/>
    <dgm:cxn modelId="{E11FBC40-3DD3-4E23-B324-61FFD5B023FF}" type="presOf" srcId="{638A7F05-C911-4CF9-A697-B3D543063F47}" destId="{3249BEDA-B985-455D-A328-7624753E81D0}" srcOrd="0" destOrd="0" presId="urn:microsoft.com/office/officeart/2005/8/layout/hList1"/>
    <dgm:cxn modelId="{B36BFA65-9D8C-4CD6-9F2B-786B6B583F3F}" type="presOf" srcId="{0E109556-679F-4F5B-903A-F1C23F41AA99}" destId="{04208E32-2B37-451D-8FDA-05273A15AC3D}" srcOrd="0" destOrd="0" presId="urn:microsoft.com/office/officeart/2005/8/layout/hList1"/>
    <dgm:cxn modelId="{4E05D96B-6260-403F-BAF9-CAFA363CF9AF}" srcId="{FA169D6F-8EAF-414B-88C0-557583087E5C}" destId="{06A66590-9418-4732-8F77-868AFFFC5570}" srcOrd="0" destOrd="0" parTransId="{13D59B3B-09FA-4DBF-B42F-671EBDD20BA6}" sibTransId="{63C5699C-2491-4DD4-9057-41759A7DD23C}"/>
    <dgm:cxn modelId="{E234C383-2A37-4443-8842-A8A1E0107992}" srcId="{D261E2B7-ECF3-473A-82CA-85D550E63EEC}" destId="{0E109556-679F-4F5B-903A-F1C23F41AA99}" srcOrd="2" destOrd="0" parTransId="{60184676-7CAD-4C3D-9C15-BA3AE4A9506C}" sibTransId="{BCD7AA0F-F23D-40B1-BD1E-F2E4B838295D}"/>
    <dgm:cxn modelId="{FD4E1A8D-0C69-4B31-A9ED-5A4F91E4B6DE}" type="presOf" srcId="{250F82C3-6C31-4076-A77E-415710E8083E}" destId="{42EDB392-4470-4980-BCC5-F588E431EB96}" srcOrd="0" destOrd="0" presId="urn:microsoft.com/office/officeart/2005/8/layout/hList1"/>
    <dgm:cxn modelId="{4F2AF998-D2B4-42F1-9498-393712F10EDA}" srcId="{D261E2B7-ECF3-473A-82CA-85D550E63EEC}" destId="{FA169D6F-8EAF-414B-88C0-557583087E5C}" srcOrd="1" destOrd="0" parTransId="{6A4540D4-6EAB-4C62-9B2D-8883A8C16EDD}" sibTransId="{5746D23A-0708-4DEF-A881-F5236B5D76D8}"/>
    <dgm:cxn modelId="{6745379E-03E4-4BF5-971E-3520A8603CBB}" type="presOf" srcId="{06A66590-9418-4732-8F77-868AFFFC5570}" destId="{C3B51E71-F89B-49F9-924D-B3117CD803BF}" srcOrd="0" destOrd="0" presId="urn:microsoft.com/office/officeart/2005/8/layout/hList1"/>
    <dgm:cxn modelId="{2CD3ECAF-3E5F-4FFD-B708-32F2E3B78A2C}" type="presOf" srcId="{75A339C2-9BA8-4C5C-89DE-B41B5C9CE0A5}" destId="{412F7C76-9277-4D68-886C-42CA168DF236}" srcOrd="0" destOrd="0" presId="urn:microsoft.com/office/officeart/2005/8/layout/hList1"/>
    <dgm:cxn modelId="{9DA6AAD9-E413-46CF-A346-4F337DB68A22}" srcId="{0E109556-679F-4F5B-903A-F1C23F41AA99}" destId="{1B6E01E6-8F5D-4BAC-8094-A2A1B3304CB8}" srcOrd="0" destOrd="0" parTransId="{6ECC13C8-AF59-4C13-94C9-235C3DFE981B}" sibTransId="{8C6CE6C9-49BB-41EE-977F-ED780A3579C5}"/>
    <dgm:cxn modelId="{D0D74EE3-6D19-43DA-9C6A-AA8E774FC476}" type="presOf" srcId="{1B6E01E6-8F5D-4BAC-8094-A2A1B3304CB8}" destId="{0E1E334B-5CC7-485B-B2B0-5665AFCB0DDC}" srcOrd="0" destOrd="0" presId="urn:microsoft.com/office/officeart/2005/8/layout/hList1"/>
    <dgm:cxn modelId="{94EA8DE3-1D10-41DF-8E27-2788D9BC757F}" srcId="{82F40D2E-60FE-47BE-9F65-DB70C7FFB39E}" destId="{75A339C2-9BA8-4C5C-89DE-B41B5C9CE0A5}" srcOrd="0" destOrd="0" parTransId="{5E46F587-D126-4D74-9D9A-CFB631702CDE}" sibTransId="{ED52922B-B704-47AC-ACD0-D00EF9F7A5E1}"/>
    <dgm:cxn modelId="{654CD8E4-171A-4FD9-B5F0-201DDCCC7841}" srcId="{D261E2B7-ECF3-473A-82CA-85D550E63EEC}" destId="{82F40D2E-60FE-47BE-9F65-DB70C7FFB39E}" srcOrd="0" destOrd="0" parTransId="{18BFE0BF-F149-4FAD-8EAB-2D1FE5D0EC85}" sibTransId="{D66D6F34-AC74-42DA-9801-056D09199690}"/>
    <dgm:cxn modelId="{0F99AFF0-1817-47C7-8513-E914A9F3FD89}" type="presOf" srcId="{D261E2B7-ECF3-473A-82CA-85D550E63EEC}" destId="{23D43D76-92BD-4432-8FF8-E7CD50C5EFBD}" srcOrd="0" destOrd="0" presId="urn:microsoft.com/office/officeart/2005/8/layout/hList1"/>
    <dgm:cxn modelId="{6662F3E5-C12D-48AB-990D-778A8C979C0F}" type="presParOf" srcId="{23D43D76-92BD-4432-8FF8-E7CD50C5EFBD}" destId="{77CABE11-FE65-4993-95B3-207F153D3950}" srcOrd="0" destOrd="0" presId="urn:microsoft.com/office/officeart/2005/8/layout/hList1"/>
    <dgm:cxn modelId="{C205F1A5-9829-4163-8AB0-0834AB1A26F1}" type="presParOf" srcId="{77CABE11-FE65-4993-95B3-207F153D3950}" destId="{9EFEB679-EDCA-4A34-AFE2-493F09AF2FCF}" srcOrd="0" destOrd="0" presId="urn:microsoft.com/office/officeart/2005/8/layout/hList1"/>
    <dgm:cxn modelId="{AA224E20-80EB-477C-A076-9BB829F26BFE}" type="presParOf" srcId="{77CABE11-FE65-4993-95B3-207F153D3950}" destId="{412F7C76-9277-4D68-886C-42CA168DF236}" srcOrd="1" destOrd="0" presId="urn:microsoft.com/office/officeart/2005/8/layout/hList1"/>
    <dgm:cxn modelId="{4EAA43DD-4638-42E0-B112-E8381F23CA78}" type="presParOf" srcId="{23D43D76-92BD-4432-8FF8-E7CD50C5EFBD}" destId="{1A38BC0D-CE18-451B-894B-3BEF193F4D43}" srcOrd="1" destOrd="0" presId="urn:microsoft.com/office/officeart/2005/8/layout/hList1"/>
    <dgm:cxn modelId="{7D7A95A2-3798-477E-B331-583AE4FECE0D}" type="presParOf" srcId="{23D43D76-92BD-4432-8FF8-E7CD50C5EFBD}" destId="{5AB9F965-01A1-426A-9647-59C7FDB1D5CF}" srcOrd="2" destOrd="0" presId="urn:microsoft.com/office/officeart/2005/8/layout/hList1"/>
    <dgm:cxn modelId="{72171C8C-761D-4EEB-AF0B-A7F2E3014819}" type="presParOf" srcId="{5AB9F965-01A1-426A-9647-59C7FDB1D5CF}" destId="{1D50C810-C248-4DEA-ADB3-E01C8DBC3E0B}" srcOrd="0" destOrd="0" presId="urn:microsoft.com/office/officeart/2005/8/layout/hList1"/>
    <dgm:cxn modelId="{8E3764A7-4E3F-4B0E-8B45-8C72EEEF59A0}" type="presParOf" srcId="{5AB9F965-01A1-426A-9647-59C7FDB1D5CF}" destId="{C3B51E71-F89B-49F9-924D-B3117CD803BF}" srcOrd="1" destOrd="0" presId="urn:microsoft.com/office/officeart/2005/8/layout/hList1"/>
    <dgm:cxn modelId="{E199FAE8-F20E-4066-B4F7-76E9EAFFE0D9}" type="presParOf" srcId="{23D43D76-92BD-4432-8FF8-E7CD50C5EFBD}" destId="{217A9EF7-6851-4FEB-9B36-30AC5018796E}" srcOrd="3" destOrd="0" presId="urn:microsoft.com/office/officeart/2005/8/layout/hList1"/>
    <dgm:cxn modelId="{1EB35871-FB76-4CA3-B3DA-1A895C703E3E}" type="presParOf" srcId="{23D43D76-92BD-4432-8FF8-E7CD50C5EFBD}" destId="{D9288F9D-86EF-4C56-9FA3-1856D882652C}" srcOrd="4" destOrd="0" presId="urn:microsoft.com/office/officeart/2005/8/layout/hList1"/>
    <dgm:cxn modelId="{0A9C1339-F6D5-425F-8D78-AFD17EDE29FF}" type="presParOf" srcId="{D9288F9D-86EF-4C56-9FA3-1856D882652C}" destId="{04208E32-2B37-451D-8FDA-05273A15AC3D}" srcOrd="0" destOrd="0" presId="urn:microsoft.com/office/officeart/2005/8/layout/hList1"/>
    <dgm:cxn modelId="{215D10C5-1A28-43CA-965B-45C100A93461}" type="presParOf" srcId="{D9288F9D-86EF-4C56-9FA3-1856D882652C}" destId="{0E1E334B-5CC7-485B-B2B0-5665AFCB0DDC}" srcOrd="1" destOrd="0" presId="urn:microsoft.com/office/officeart/2005/8/layout/hList1"/>
    <dgm:cxn modelId="{2462B185-E6E4-4903-A7CF-E4115C0A9C53}" type="presParOf" srcId="{23D43D76-92BD-4432-8FF8-E7CD50C5EFBD}" destId="{B6A3F1EE-2472-442A-87C0-9C604A73DA1E}" srcOrd="5" destOrd="0" presId="urn:microsoft.com/office/officeart/2005/8/layout/hList1"/>
    <dgm:cxn modelId="{3C1FC326-6BAC-47DD-A901-A1ED6214EA75}" type="presParOf" srcId="{23D43D76-92BD-4432-8FF8-E7CD50C5EFBD}" destId="{32D586A5-7A98-43E6-98EB-3CEC57822E6C}" srcOrd="6" destOrd="0" presId="urn:microsoft.com/office/officeart/2005/8/layout/hList1"/>
    <dgm:cxn modelId="{F3283939-182B-44BF-B2A7-CEFE99A67314}" type="presParOf" srcId="{32D586A5-7A98-43E6-98EB-3CEC57822E6C}" destId="{42EDB392-4470-4980-BCC5-F588E431EB96}" srcOrd="0" destOrd="0" presId="urn:microsoft.com/office/officeart/2005/8/layout/hList1"/>
    <dgm:cxn modelId="{7A252BA4-38A8-43A2-B222-94A39C522E20}" type="presParOf" srcId="{32D586A5-7A98-43E6-98EB-3CEC57822E6C}" destId="{3249BEDA-B985-455D-A328-7624753E81D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6583"/>
          <a:ext cx="5918184" cy="23095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This week lecture will cover the following CLO’s:</a:t>
          </a:r>
        </a:p>
      </dsp:txBody>
      <dsp:txXfrm>
        <a:off x="112744" y="139327"/>
        <a:ext cx="5692696" cy="2084091"/>
      </dsp:txXfrm>
    </dsp:sp>
    <dsp:sp modelId="{A025C2BC-3DF5-4B12-A043-E15E948A1F98}">
      <dsp:nvSpPr>
        <dsp:cNvPr id="0" name=""/>
        <dsp:cNvSpPr/>
      </dsp:nvSpPr>
      <dsp:spPr>
        <a:xfrm>
          <a:off x="0" y="2336163"/>
          <a:ext cx="5918184" cy="3042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53340" rIns="298704" bIns="53340" numCol="1" spcCol="1270" anchor="t" anchorCtr="0">
          <a:noAutofit/>
        </a:bodyPr>
        <a:lstStyle/>
        <a:p>
          <a:pPr marL="285750" lvl="1" indent="-285750" algn="just" defTabSz="1466850">
            <a:lnSpc>
              <a:spcPct val="90000"/>
            </a:lnSpc>
            <a:spcBef>
              <a:spcPct val="0"/>
            </a:spcBef>
            <a:spcAft>
              <a:spcPct val="20000"/>
            </a:spcAft>
            <a:buChar char="•"/>
          </a:pPr>
          <a:r>
            <a:rPr lang="en-US" sz="3300" b="1" kern="1200" dirty="0"/>
            <a:t>CLO1: </a:t>
          </a:r>
          <a:r>
            <a:rPr lang="en-US" sz="3300" b="0" kern="1200" dirty="0"/>
            <a:t>Discuss the key concepts in the field of artificial intelligence</a:t>
          </a:r>
          <a:endParaRPr lang="en-US" sz="3300" kern="1200" dirty="0"/>
        </a:p>
        <a:p>
          <a:pPr marL="285750" lvl="1" indent="-285750" algn="just" defTabSz="1466850">
            <a:lnSpc>
              <a:spcPct val="90000"/>
            </a:lnSpc>
            <a:spcBef>
              <a:spcPct val="0"/>
            </a:spcBef>
            <a:spcAft>
              <a:spcPct val="20000"/>
            </a:spcAft>
            <a:buChar char="•"/>
          </a:pPr>
          <a:r>
            <a:rPr lang="en-US" sz="3300" b="1" kern="1200" dirty="0"/>
            <a:t>CLO 2: Implement </a:t>
          </a:r>
          <a:r>
            <a:rPr lang="en-US" sz="3300" kern="1200" dirty="0"/>
            <a:t>artificial intelligence techniques and case studies</a:t>
          </a:r>
        </a:p>
      </dsp:txBody>
      <dsp:txXfrm>
        <a:off x="0" y="2336163"/>
        <a:ext cx="5918184" cy="30429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C97-D792-4E29-9ADB-A33A1728580F}">
      <dsp:nvSpPr>
        <dsp:cNvPr id="0" name=""/>
        <dsp:cNvSpPr/>
      </dsp:nvSpPr>
      <dsp:spPr>
        <a:xfrm>
          <a:off x="0" y="280544"/>
          <a:ext cx="6666833" cy="31720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Introduction</a:t>
          </a:r>
          <a:endParaRPr lang="en-US" sz="2400" kern="1200" dirty="0"/>
        </a:p>
        <a:p>
          <a:pPr marL="457200" lvl="2" indent="-228600" algn="l" defTabSz="1066800">
            <a:lnSpc>
              <a:spcPct val="90000"/>
            </a:lnSpc>
            <a:spcBef>
              <a:spcPct val="0"/>
            </a:spcBef>
            <a:spcAft>
              <a:spcPct val="15000"/>
            </a:spcAft>
            <a:buChar char="•"/>
          </a:pPr>
          <a:r>
            <a:rPr lang="en-GB" sz="2400" kern="1200" dirty="0"/>
            <a:t>Game Playing in AI</a:t>
          </a:r>
          <a:endParaRPr lang="en-US" sz="2400" kern="1200" dirty="0"/>
        </a:p>
        <a:p>
          <a:pPr marL="457200" lvl="2" indent="-228600" algn="l" defTabSz="1066800">
            <a:lnSpc>
              <a:spcPct val="90000"/>
            </a:lnSpc>
            <a:spcBef>
              <a:spcPct val="0"/>
            </a:spcBef>
            <a:spcAft>
              <a:spcPct val="15000"/>
            </a:spcAft>
            <a:buChar char="•"/>
          </a:pPr>
          <a:r>
            <a:rPr lang="en-GB" sz="2400" kern="1200" dirty="0"/>
            <a:t>Adversarial Search and the Minimax Algorithm</a:t>
          </a:r>
          <a:endParaRPr lang="en-US" sz="2400" kern="1200" dirty="0"/>
        </a:p>
        <a:p>
          <a:pPr marL="457200" lvl="2" indent="-228600" algn="l" defTabSz="1066800">
            <a:lnSpc>
              <a:spcPct val="90000"/>
            </a:lnSpc>
            <a:spcBef>
              <a:spcPct val="0"/>
            </a:spcBef>
            <a:spcAft>
              <a:spcPct val="15000"/>
            </a:spcAft>
            <a:buChar char="•"/>
          </a:pPr>
          <a:r>
            <a:rPr lang="en-GB" sz="2400" kern="1200" dirty="0"/>
            <a:t>Cut-Off Search</a:t>
          </a:r>
          <a:endParaRPr lang="en-US" sz="2400" kern="1200" dirty="0"/>
        </a:p>
        <a:p>
          <a:pPr marL="457200" lvl="2" indent="-228600" algn="l" defTabSz="1066800">
            <a:lnSpc>
              <a:spcPct val="90000"/>
            </a:lnSpc>
            <a:spcBef>
              <a:spcPct val="0"/>
            </a:spcBef>
            <a:spcAft>
              <a:spcPct val="15000"/>
            </a:spcAft>
            <a:buChar char="•"/>
          </a:pPr>
          <a:r>
            <a:rPr lang="en-GB" sz="2400" kern="1200" dirty="0"/>
            <a:t>Pruning Techniques (including Alpha-Beta Pruning)</a:t>
          </a:r>
          <a:endParaRPr lang="en-US" sz="2400" kern="1200" dirty="0"/>
        </a:p>
      </dsp:txBody>
      <dsp:txXfrm>
        <a:off x="0" y="280544"/>
        <a:ext cx="6666833" cy="3172050"/>
      </dsp:txXfrm>
    </dsp:sp>
    <dsp:sp modelId="{49E13C96-EE4B-48D1-8768-AE8ECE07E331}">
      <dsp:nvSpPr>
        <dsp:cNvPr id="0" name=""/>
        <dsp:cNvSpPr/>
      </dsp:nvSpPr>
      <dsp:spPr>
        <a:xfrm>
          <a:off x="333341" y="104"/>
          <a:ext cx="4666783" cy="5608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1:</a:t>
          </a:r>
          <a:endParaRPr lang="en-US" sz="2400" kern="1200" dirty="0"/>
        </a:p>
      </dsp:txBody>
      <dsp:txXfrm>
        <a:off x="360721" y="27484"/>
        <a:ext cx="4612023" cy="506120"/>
      </dsp:txXfrm>
    </dsp:sp>
    <dsp:sp modelId="{6EB0EFF8-0C42-4EF9-9C2C-CFC7394E0CEC}">
      <dsp:nvSpPr>
        <dsp:cNvPr id="0" name=""/>
        <dsp:cNvSpPr/>
      </dsp:nvSpPr>
      <dsp:spPr>
        <a:xfrm>
          <a:off x="0" y="3835634"/>
          <a:ext cx="6666833" cy="245385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Implement</a:t>
          </a:r>
          <a:endParaRPr lang="en-US" sz="2400" kern="1200" dirty="0"/>
        </a:p>
        <a:p>
          <a:pPr marL="457200" lvl="2" indent="-228600" algn="l" defTabSz="1066800">
            <a:lnSpc>
              <a:spcPct val="90000"/>
            </a:lnSpc>
            <a:spcBef>
              <a:spcPct val="0"/>
            </a:spcBef>
            <a:spcAft>
              <a:spcPct val="15000"/>
            </a:spcAft>
            <a:buChar char="•"/>
          </a:pPr>
          <a:r>
            <a:rPr lang="en-GB" sz="2400" kern="1200" dirty="0"/>
            <a:t>Adversarial Search and the Minimax Algorithm</a:t>
          </a:r>
          <a:endParaRPr lang="en-US" sz="2400" kern="1200" dirty="0"/>
        </a:p>
        <a:p>
          <a:pPr marL="457200" lvl="2" indent="-228600" algn="l" defTabSz="1066800">
            <a:lnSpc>
              <a:spcPct val="90000"/>
            </a:lnSpc>
            <a:spcBef>
              <a:spcPct val="0"/>
            </a:spcBef>
            <a:spcAft>
              <a:spcPct val="15000"/>
            </a:spcAft>
            <a:buChar char="•"/>
          </a:pPr>
          <a:r>
            <a:rPr lang="en-GB" sz="2400" kern="1200" dirty="0"/>
            <a:t>Alpha-Beta Pruning</a:t>
          </a:r>
          <a:endParaRPr lang="en-US" sz="2400" kern="1200" dirty="0"/>
        </a:p>
        <a:p>
          <a:pPr marL="457200" lvl="2" indent="-228600" algn="l" defTabSz="1066800">
            <a:lnSpc>
              <a:spcPct val="90000"/>
            </a:lnSpc>
            <a:spcBef>
              <a:spcPct val="0"/>
            </a:spcBef>
            <a:spcAft>
              <a:spcPct val="15000"/>
            </a:spcAft>
            <a:buChar char="•"/>
          </a:pPr>
          <a:r>
            <a:rPr lang="en-GB" sz="2400" kern="1200" dirty="0"/>
            <a:t>Case Studies: Chess and Checkers</a:t>
          </a:r>
          <a:endParaRPr lang="en-US" sz="2400" kern="1200" dirty="0"/>
        </a:p>
      </dsp:txBody>
      <dsp:txXfrm>
        <a:off x="0" y="3835634"/>
        <a:ext cx="6666833" cy="2453850"/>
      </dsp:txXfrm>
    </dsp:sp>
    <dsp:sp modelId="{CD8EDF22-9A27-49D7-87DD-3C29CC93D73D}">
      <dsp:nvSpPr>
        <dsp:cNvPr id="0" name=""/>
        <dsp:cNvSpPr/>
      </dsp:nvSpPr>
      <dsp:spPr>
        <a:xfrm>
          <a:off x="333341" y="3555194"/>
          <a:ext cx="4666783" cy="56088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2:</a:t>
          </a:r>
          <a:endParaRPr lang="en-US" sz="2400" kern="1200" dirty="0"/>
        </a:p>
      </dsp:txBody>
      <dsp:txXfrm>
        <a:off x="360721" y="3582574"/>
        <a:ext cx="4612023" cy="506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961FE-D466-41D0-83FE-A2B450F0B9D3}">
      <dsp:nvSpPr>
        <dsp:cNvPr id="0" name=""/>
        <dsp:cNvSpPr/>
      </dsp:nvSpPr>
      <dsp:spPr>
        <a:xfrm>
          <a:off x="674221" y="515856"/>
          <a:ext cx="1374943" cy="13749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E0A3EB-5A85-4925-8A99-E11E3451E5CC}">
      <dsp:nvSpPr>
        <dsp:cNvPr id="0" name=""/>
        <dsp:cNvSpPr/>
      </dsp:nvSpPr>
      <dsp:spPr>
        <a:xfrm>
          <a:off x="317171" y="1925895"/>
          <a:ext cx="3928409" cy="58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90000"/>
            </a:lnSpc>
            <a:spcBef>
              <a:spcPct val="0"/>
            </a:spcBef>
            <a:spcAft>
              <a:spcPct val="35000"/>
            </a:spcAft>
            <a:buNone/>
            <a:defRPr b="1"/>
          </a:pPr>
          <a:r>
            <a:rPr lang="en-US" sz="3000" b="1" kern="1200" dirty="0"/>
            <a:t>Perfect information</a:t>
          </a:r>
          <a:endParaRPr lang="en-US" sz="3000" kern="1200" dirty="0"/>
        </a:p>
      </dsp:txBody>
      <dsp:txXfrm>
        <a:off x="317171" y="1925895"/>
        <a:ext cx="3928409" cy="589261"/>
      </dsp:txXfrm>
    </dsp:sp>
    <dsp:sp modelId="{E63BDCE4-7B8B-4E57-B550-684D6467B994}">
      <dsp:nvSpPr>
        <dsp:cNvPr id="0" name=""/>
        <dsp:cNvSpPr/>
      </dsp:nvSpPr>
      <dsp:spPr>
        <a:xfrm>
          <a:off x="11" y="2460179"/>
          <a:ext cx="4702424" cy="811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A game in which agents can look into the complete board. </a:t>
          </a:r>
        </a:p>
        <a:p>
          <a:pPr marL="0" lvl="0" indent="0" algn="l" defTabSz="1066800">
            <a:lnSpc>
              <a:spcPct val="90000"/>
            </a:lnSpc>
            <a:spcBef>
              <a:spcPct val="0"/>
            </a:spcBef>
            <a:spcAft>
              <a:spcPct val="35000"/>
            </a:spcAft>
            <a:buNone/>
          </a:pPr>
          <a:r>
            <a:rPr lang="en-US" sz="2400" kern="1200" dirty="0"/>
            <a:t>Agents have all the information about the game, and they can see each other moves also. </a:t>
          </a:r>
        </a:p>
        <a:p>
          <a:pPr marL="0" lvl="0" indent="0" algn="l" defTabSz="1066800">
            <a:lnSpc>
              <a:spcPct val="90000"/>
            </a:lnSpc>
            <a:spcBef>
              <a:spcPct val="0"/>
            </a:spcBef>
            <a:spcAft>
              <a:spcPct val="35000"/>
            </a:spcAft>
            <a:buNone/>
          </a:pPr>
          <a:r>
            <a:rPr lang="en-US" sz="2400" kern="1200" dirty="0"/>
            <a:t>Examples are Chess, tic-tac-toe, Checkers, Go, etc.</a:t>
          </a:r>
        </a:p>
      </dsp:txBody>
      <dsp:txXfrm>
        <a:off x="11" y="2460179"/>
        <a:ext cx="4702424" cy="81113"/>
      </dsp:txXfrm>
    </dsp:sp>
    <dsp:sp modelId="{76F86799-3005-429D-8FD2-E2586607415C}">
      <dsp:nvSpPr>
        <dsp:cNvPr id="0" name=""/>
        <dsp:cNvSpPr/>
      </dsp:nvSpPr>
      <dsp:spPr>
        <a:xfrm>
          <a:off x="6266135" y="487346"/>
          <a:ext cx="1374943" cy="13749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DB66B4-6C70-41C1-9820-CC65E81EC0EC}">
      <dsp:nvSpPr>
        <dsp:cNvPr id="0" name=""/>
        <dsp:cNvSpPr/>
      </dsp:nvSpPr>
      <dsp:spPr>
        <a:xfrm>
          <a:off x="5909086" y="1897385"/>
          <a:ext cx="3928409" cy="589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90000"/>
            </a:lnSpc>
            <a:spcBef>
              <a:spcPct val="0"/>
            </a:spcBef>
            <a:spcAft>
              <a:spcPct val="35000"/>
            </a:spcAft>
            <a:buNone/>
            <a:defRPr b="1"/>
          </a:pPr>
          <a:r>
            <a:rPr lang="en-US" sz="3000" b="1" kern="1200"/>
            <a:t>Imperfect information</a:t>
          </a:r>
          <a:endParaRPr lang="en-US" sz="3000" kern="1200"/>
        </a:p>
      </dsp:txBody>
      <dsp:txXfrm>
        <a:off x="5909086" y="1897385"/>
        <a:ext cx="3928409" cy="589261"/>
      </dsp:txXfrm>
    </dsp:sp>
    <dsp:sp modelId="{61EF4694-456C-4210-AE9C-8C98225296BD}">
      <dsp:nvSpPr>
        <dsp:cNvPr id="0" name=""/>
        <dsp:cNvSpPr/>
      </dsp:nvSpPr>
      <dsp:spPr>
        <a:xfrm>
          <a:off x="5240981" y="2343916"/>
          <a:ext cx="5106461" cy="195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A game in which agents do not have all information about the game and not aware with what's going on, </a:t>
          </a:r>
        </a:p>
        <a:p>
          <a:pPr marL="0" lvl="0" indent="0" algn="l" defTabSz="1066800">
            <a:lnSpc>
              <a:spcPct val="90000"/>
            </a:lnSpc>
            <a:spcBef>
              <a:spcPct val="0"/>
            </a:spcBef>
            <a:spcAft>
              <a:spcPct val="35000"/>
            </a:spcAft>
            <a:buNone/>
          </a:pPr>
          <a:r>
            <a:rPr lang="en-US" sz="2400" kern="1200" dirty="0"/>
            <a:t>Examples are Battleship, blind, Bridge, etc.</a:t>
          </a:r>
        </a:p>
      </dsp:txBody>
      <dsp:txXfrm>
        <a:off x="5240981" y="2343916"/>
        <a:ext cx="5106461" cy="195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3402B-4202-4832-8C26-DDF9383CFF43}">
      <dsp:nvSpPr>
        <dsp:cNvPr id="0" name=""/>
        <dsp:cNvSpPr/>
      </dsp:nvSpPr>
      <dsp:spPr>
        <a:xfrm>
          <a:off x="1179483" y="1056"/>
          <a:ext cx="3207789" cy="320778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Mathematical model for decision making</a:t>
          </a:r>
        </a:p>
      </dsp:txBody>
      <dsp:txXfrm>
        <a:off x="1649253" y="470826"/>
        <a:ext cx="2268249" cy="2268249"/>
      </dsp:txXfrm>
    </dsp:sp>
    <dsp:sp modelId="{02F0F432-99A6-4B93-9EBA-C2B2E77E03FB}">
      <dsp:nvSpPr>
        <dsp:cNvPr id="0" name=""/>
        <dsp:cNvSpPr/>
      </dsp:nvSpPr>
      <dsp:spPr>
        <a:xfrm rot="5400000">
          <a:off x="4651915" y="1179918"/>
          <a:ext cx="1122726" cy="850064"/>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11FE42B-282F-412C-9327-45E919BD006A}">
      <dsp:nvSpPr>
        <dsp:cNvPr id="0" name=""/>
        <dsp:cNvSpPr/>
      </dsp:nvSpPr>
      <dsp:spPr>
        <a:xfrm>
          <a:off x="5991167" y="1056"/>
          <a:ext cx="3207789" cy="320778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Analysis of strategic actions in scenarios which can be defined as games.</a:t>
          </a:r>
        </a:p>
      </dsp:txBody>
      <dsp:txXfrm>
        <a:off x="6460937" y="470826"/>
        <a:ext cx="2268249" cy="22682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FEB679-EDCA-4A34-AFE2-493F09AF2FCF}">
      <dsp:nvSpPr>
        <dsp:cNvPr id="0" name=""/>
        <dsp:cNvSpPr/>
      </dsp:nvSpPr>
      <dsp:spPr>
        <a:xfrm>
          <a:off x="3953" y="4689"/>
          <a:ext cx="2377306" cy="8064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a:t>Complete ?</a:t>
          </a:r>
          <a:endParaRPr lang="en-US" sz="2800" kern="1200"/>
        </a:p>
      </dsp:txBody>
      <dsp:txXfrm>
        <a:off x="3953" y="4689"/>
        <a:ext cx="2377306" cy="806400"/>
      </dsp:txXfrm>
    </dsp:sp>
    <dsp:sp modelId="{412F7C76-9277-4D68-886C-42CA168DF236}">
      <dsp:nvSpPr>
        <dsp:cNvPr id="0" name=""/>
        <dsp:cNvSpPr/>
      </dsp:nvSpPr>
      <dsp:spPr>
        <a:xfrm>
          <a:off x="3953" y="811089"/>
          <a:ext cx="2377306" cy="35355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a:t>YES, It will definitely find a solution (if exist), in the finite search tree.</a:t>
          </a:r>
        </a:p>
      </dsp:txBody>
      <dsp:txXfrm>
        <a:off x="3953" y="811089"/>
        <a:ext cx="2377306" cy="3535560"/>
      </dsp:txXfrm>
    </dsp:sp>
    <dsp:sp modelId="{1D50C810-C248-4DEA-ADB3-E01C8DBC3E0B}">
      <dsp:nvSpPr>
        <dsp:cNvPr id="0" name=""/>
        <dsp:cNvSpPr/>
      </dsp:nvSpPr>
      <dsp:spPr>
        <a:xfrm>
          <a:off x="2714082" y="4689"/>
          <a:ext cx="2377306" cy="806400"/>
        </a:xfrm>
        <a:prstGeom prst="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a:t>Optimal ?</a:t>
          </a:r>
          <a:endParaRPr lang="en-US" sz="2800" kern="1200"/>
        </a:p>
      </dsp:txBody>
      <dsp:txXfrm>
        <a:off x="2714082" y="4689"/>
        <a:ext cx="2377306" cy="806400"/>
      </dsp:txXfrm>
    </dsp:sp>
    <dsp:sp modelId="{C3B51E71-F89B-49F9-924D-B3117CD803BF}">
      <dsp:nvSpPr>
        <dsp:cNvPr id="0" name=""/>
        <dsp:cNvSpPr/>
      </dsp:nvSpPr>
      <dsp:spPr>
        <a:xfrm>
          <a:off x="2714082" y="811089"/>
          <a:ext cx="2377306" cy="3535560"/>
        </a:xfrm>
        <a:prstGeom prst="rect">
          <a:avLst/>
        </a:prstGeom>
        <a:solidFill>
          <a:schemeClr val="accent2">
            <a:tint val="40000"/>
            <a:alpha val="90000"/>
            <a:hueOff val="2244906"/>
            <a:satOff val="-20744"/>
            <a:lumOff val="-2338"/>
            <a:alphaOff val="0"/>
          </a:schemeClr>
        </a:solidFill>
        <a:ln w="12700" cap="flat" cmpd="sng" algn="ctr">
          <a:solidFill>
            <a:schemeClr val="accent2">
              <a:tint val="40000"/>
              <a:alpha val="90000"/>
              <a:hueOff val="2244906"/>
              <a:satOff val="-20744"/>
              <a:lumOff val="-233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a:t>YES, if both opponents are playing optimally</a:t>
          </a:r>
        </a:p>
      </dsp:txBody>
      <dsp:txXfrm>
        <a:off x="2714082" y="811089"/>
        <a:ext cx="2377306" cy="3535560"/>
      </dsp:txXfrm>
    </dsp:sp>
    <dsp:sp modelId="{04208E32-2B37-451D-8FDA-05273A15AC3D}">
      <dsp:nvSpPr>
        <dsp:cNvPr id="0" name=""/>
        <dsp:cNvSpPr/>
      </dsp:nvSpPr>
      <dsp:spPr>
        <a:xfrm>
          <a:off x="5424211" y="4689"/>
          <a:ext cx="2377306" cy="806400"/>
        </a:xfrm>
        <a:prstGeom prst="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a:t>Time ?</a:t>
          </a:r>
          <a:endParaRPr lang="en-US" sz="2800" kern="1200"/>
        </a:p>
      </dsp:txBody>
      <dsp:txXfrm>
        <a:off x="5424211" y="4689"/>
        <a:ext cx="2377306" cy="806400"/>
      </dsp:txXfrm>
    </dsp:sp>
    <dsp:sp modelId="{0E1E334B-5CC7-485B-B2B0-5665AFCB0DDC}">
      <dsp:nvSpPr>
        <dsp:cNvPr id="0" name=""/>
        <dsp:cNvSpPr/>
      </dsp:nvSpPr>
      <dsp:spPr>
        <a:xfrm>
          <a:off x="5424211" y="811089"/>
          <a:ext cx="2377306" cy="3535560"/>
        </a:xfrm>
        <a:prstGeom prst="rect">
          <a:avLst/>
        </a:prstGeom>
        <a:solidFill>
          <a:schemeClr val="accent2">
            <a:tint val="40000"/>
            <a:alpha val="90000"/>
            <a:hueOff val="4489812"/>
            <a:satOff val="-41488"/>
            <a:lumOff val="-4677"/>
            <a:alphaOff val="0"/>
          </a:schemeClr>
        </a:solidFill>
        <a:ln w="12700" cap="flat" cmpd="sng" algn="ctr">
          <a:solidFill>
            <a:schemeClr val="accent2">
              <a:tint val="40000"/>
              <a:alpha val="90000"/>
              <a:hueOff val="4489812"/>
              <a:satOff val="-41488"/>
              <a:lumOff val="-467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a:t>The worst case time complexity is O(b</a:t>
          </a:r>
          <a:r>
            <a:rPr lang="en-US" sz="2800" kern="1200" baseline="30000"/>
            <a:t>d</a:t>
          </a:r>
          <a:r>
            <a:rPr lang="en-US" sz="2800" kern="1200"/>
            <a:t>).  Simply O(n)</a:t>
          </a:r>
        </a:p>
      </dsp:txBody>
      <dsp:txXfrm>
        <a:off x="5424211" y="811089"/>
        <a:ext cx="2377306" cy="3535560"/>
      </dsp:txXfrm>
    </dsp:sp>
    <dsp:sp modelId="{42EDB392-4470-4980-BCC5-F588E431EB96}">
      <dsp:nvSpPr>
        <dsp:cNvPr id="0" name=""/>
        <dsp:cNvSpPr/>
      </dsp:nvSpPr>
      <dsp:spPr>
        <a:xfrm>
          <a:off x="8134340" y="4689"/>
          <a:ext cx="2377306" cy="806400"/>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a:t>Space ?</a:t>
          </a:r>
          <a:endParaRPr lang="en-US" sz="2800" kern="1200"/>
        </a:p>
      </dsp:txBody>
      <dsp:txXfrm>
        <a:off x="8134340" y="4689"/>
        <a:ext cx="2377306" cy="806400"/>
      </dsp:txXfrm>
    </dsp:sp>
    <dsp:sp modelId="{3249BEDA-B985-455D-A328-7624753E81D0}">
      <dsp:nvSpPr>
        <dsp:cNvPr id="0" name=""/>
        <dsp:cNvSpPr/>
      </dsp:nvSpPr>
      <dsp:spPr>
        <a:xfrm>
          <a:off x="8134340" y="811089"/>
          <a:ext cx="2377306" cy="3535560"/>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a:t>The worst case space complexity is O(b</a:t>
          </a:r>
          <a:r>
            <a:rPr lang="en-US" sz="2800" kern="1200" baseline="30000"/>
            <a:t>d</a:t>
          </a:r>
          <a:r>
            <a:rPr lang="en-US" sz="2800" kern="1200"/>
            <a:t>).</a:t>
          </a:r>
        </a:p>
      </dsp:txBody>
      <dsp:txXfrm>
        <a:off x="8134340" y="811089"/>
        <a:ext cx="2377306" cy="35355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07986-D4E9-4F20-BDDF-A86C85BB79C3}" type="datetimeFigureOut">
              <a:rPr lang="en-PK" smtClean="0"/>
              <a:t>12/04/2025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70C78-D1E4-43B4-9084-D5891F6FAD77}" type="slidenum">
              <a:rPr lang="en-PK" smtClean="0"/>
              <a:t>‹#›</a:t>
            </a:fld>
            <a:endParaRPr lang="en-PK"/>
          </a:p>
        </p:txBody>
      </p:sp>
    </p:spTree>
    <p:extLst>
      <p:ext uri="{BB962C8B-B14F-4D97-AF65-F5344CB8AC3E}">
        <p14:creationId xmlns:p14="http://schemas.microsoft.com/office/powerpoint/2010/main" val="153780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a:t>
            </a:fld>
            <a:endParaRPr lang="en-PK"/>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Search strategies were only associated with a single agent/person that aims to find the solution</a:t>
            </a:r>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a:t>
            </a:fld>
            <a:endParaRPr lang="en-US" altLang="zh-CN"/>
          </a:p>
        </p:txBody>
      </p:sp>
    </p:spTree>
    <p:extLst>
      <p:ext uri="{BB962C8B-B14F-4D97-AF65-F5344CB8AC3E}">
        <p14:creationId xmlns:p14="http://schemas.microsoft.com/office/powerpoint/2010/main" val="867469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10</a:t>
            </a:fld>
            <a:endParaRPr lang="en-US" altLang="zh-CN"/>
          </a:p>
        </p:txBody>
      </p:sp>
    </p:spTree>
    <p:extLst>
      <p:ext uri="{BB962C8B-B14F-4D97-AF65-F5344CB8AC3E}">
        <p14:creationId xmlns:p14="http://schemas.microsoft.com/office/powerpoint/2010/main" val="2569557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11</a:t>
            </a:fld>
            <a:endParaRPr lang="en-US" altLang="zh-CN"/>
          </a:p>
        </p:txBody>
      </p:sp>
    </p:spTree>
    <p:extLst>
      <p:ext uri="{BB962C8B-B14F-4D97-AF65-F5344CB8AC3E}">
        <p14:creationId xmlns:p14="http://schemas.microsoft.com/office/powerpoint/2010/main" val="280595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24</a:t>
            </a:fld>
            <a:endParaRPr lang="en-US" altLang="zh-CN"/>
          </a:p>
        </p:txBody>
      </p:sp>
    </p:spTree>
    <p:extLst>
      <p:ext uri="{BB962C8B-B14F-4D97-AF65-F5344CB8AC3E}">
        <p14:creationId xmlns:p14="http://schemas.microsoft.com/office/powerpoint/2010/main" val="580187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FD0C9-4F47-5C12-8B81-789118B9B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62FC2-2CBB-7573-B52A-60DD1F9671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F0886-3971-AC01-202D-E84432AB20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BB874-FF32-3B47-0579-004425E6117A}"/>
              </a:ext>
            </a:extLst>
          </p:cNvPr>
          <p:cNvSpPr>
            <a:spLocks noGrp="1"/>
          </p:cNvSpPr>
          <p:nvPr>
            <p:ph type="sldNum" sz="quarter" idx="10"/>
          </p:nvPr>
        </p:nvSpPr>
        <p:spPr/>
        <p:txBody>
          <a:bodyPr/>
          <a:lstStyle/>
          <a:p>
            <a:pPr>
              <a:defRPr/>
            </a:pPr>
            <a:fld id="{33E7A8C9-E367-4B4F-B613-A9E705663DBA}" type="slidenum">
              <a:rPr lang="en-US" altLang="zh-CN" smtClean="0"/>
              <a:pPr>
                <a:defRPr/>
              </a:pPr>
              <a:t>25</a:t>
            </a:fld>
            <a:endParaRPr lang="en-US" altLang="zh-CN"/>
          </a:p>
        </p:txBody>
      </p:sp>
    </p:spTree>
    <p:extLst>
      <p:ext uri="{BB962C8B-B14F-4D97-AF65-F5344CB8AC3E}">
        <p14:creationId xmlns:p14="http://schemas.microsoft.com/office/powerpoint/2010/main" val="3784278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28</a:t>
            </a:fld>
            <a:endParaRPr lang="en-US" altLang="zh-CN"/>
          </a:p>
        </p:txBody>
      </p:sp>
    </p:spTree>
    <p:extLst>
      <p:ext uri="{BB962C8B-B14F-4D97-AF65-F5344CB8AC3E}">
        <p14:creationId xmlns:p14="http://schemas.microsoft.com/office/powerpoint/2010/main" val="549798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ArialMT"/>
              </a:rPr>
              <a:t>For tic-tac-toe the game tree is relatively small—fewer than 9! = 362, 880 terminal nodes (with only distinct</a:t>
            </a:r>
          </a:p>
          <a:p>
            <a:pPr algn="l"/>
            <a:r>
              <a:rPr lang="en-US" sz="1800" b="0" i="0" u="none" strike="noStrike" baseline="0" dirty="0">
                <a:latin typeface="ArialMT"/>
              </a:rPr>
              <a:t>states). But for chess 36 </a:t>
            </a:r>
            <a:r>
              <a:rPr lang="en-US" sz="1800" b="0" i="0" u="none" strike="noStrike" baseline="0">
                <a:latin typeface="ArialMT"/>
              </a:rPr>
              <a:t>(branches) </a:t>
            </a:r>
            <a:r>
              <a:rPr lang="en-US" sz="1800" b="0" i="0" u="none" strike="noStrike" baseline="0" dirty="0">
                <a:latin typeface="ArialMT"/>
              </a:rPr>
              <a:t>there are </a:t>
            </a:r>
            <a:r>
              <a:rPr lang="en-US" sz="1800" b="0" i="0" u="none" strike="noStrike" baseline="0">
                <a:latin typeface="ArialMT"/>
              </a:rPr>
              <a:t>over 10^4 nodes</a:t>
            </a:r>
            <a:r>
              <a:rPr lang="en-US" sz="1800" b="0" i="0" u="none" strike="noStrike" baseline="0" dirty="0">
                <a:latin typeface="ArialMT"/>
              </a:rPr>
              <a:t>, so the game tree is best thought of as a theoretical construct that we</a:t>
            </a:r>
          </a:p>
          <a:p>
            <a:pPr algn="l"/>
            <a:r>
              <a:rPr lang="en-US" sz="1800" b="0" i="0" u="none" strike="noStrike" baseline="0" dirty="0">
                <a:latin typeface="ArialMT"/>
              </a:rPr>
              <a:t>cannot realize in the physical world.</a:t>
            </a:r>
            <a:endParaRPr lang="en-US" dirty="0"/>
          </a:p>
        </p:txBody>
      </p:sp>
      <p:sp>
        <p:nvSpPr>
          <p:cNvPr id="4" name="Slide Number Placeholder 3"/>
          <p:cNvSpPr>
            <a:spLocks noGrp="1"/>
          </p:cNvSpPr>
          <p:nvPr>
            <p:ph type="sldNum" sz="quarter" idx="5"/>
          </p:nvPr>
        </p:nvSpPr>
        <p:spPr/>
        <p:txBody>
          <a:bodyPr/>
          <a:lstStyle/>
          <a:p>
            <a:fld id="{27770C78-D1E4-43B4-9084-D5891F6FAD77}" type="slidenum">
              <a:rPr lang="en-PK" smtClean="0"/>
              <a:t>29</a:t>
            </a:fld>
            <a:endParaRPr lang="en-PK"/>
          </a:p>
        </p:txBody>
      </p:sp>
    </p:spTree>
    <p:extLst>
      <p:ext uri="{BB962C8B-B14F-4D97-AF65-F5344CB8AC3E}">
        <p14:creationId xmlns:p14="http://schemas.microsoft.com/office/powerpoint/2010/main" val="3327228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1.</a:t>
            </a:r>
            <a:r>
              <a:rPr lang="en-US" sz="1200" b="0" i="0" kern="1200" dirty="0">
                <a:solidFill>
                  <a:schemeClr val="tx1"/>
                </a:solidFill>
                <a:effectLst/>
                <a:latin typeface="Arial" pitchFamily="34" charset="0"/>
                <a:ea typeface="MS PGothic" panose="020B0600070205080204" pitchFamily="34" charset="-128"/>
                <a:cs typeface="ＭＳ Ｐゴシック" charset="0"/>
              </a:rPr>
              <a:t> Mini-max algorithm is a recursive or backtracking algorithm which is used in decision-making and game theory. It provides an optimal move for the player assuming that opponent is also playing optimally.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30</a:t>
            </a:fld>
            <a:endParaRPr lang="en-US" altLang="zh-CN"/>
          </a:p>
        </p:txBody>
      </p:sp>
    </p:spTree>
    <p:extLst>
      <p:ext uri="{BB962C8B-B14F-4D97-AF65-F5344CB8AC3E}">
        <p14:creationId xmlns:p14="http://schemas.microsoft.com/office/powerpoint/2010/main" val="600257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CCA12-AF22-7642-DBDE-2057499C3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9DAFDF-8A39-0BF3-D492-35D323613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E7692-0412-AAC0-4ECB-0BC1302064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458FF-C264-F21D-09B6-1E1B58EC835A}"/>
              </a:ext>
            </a:extLst>
          </p:cNvPr>
          <p:cNvSpPr>
            <a:spLocks noGrp="1"/>
          </p:cNvSpPr>
          <p:nvPr>
            <p:ph type="sldNum" sz="quarter" idx="10"/>
          </p:nvPr>
        </p:nvSpPr>
        <p:spPr/>
        <p:txBody>
          <a:bodyPr/>
          <a:lstStyle/>
          <a:p>
            <a:pPr>
              <a:defRPr/>
            </a:pPr>
            <a:fld id="{33E7A8C9-E367-4B4F-B613-A9E705663DBA}" type="slidenum">
              <a:rPr lang="en-US" altLang="zh-CN" smtClean="0"/>
              <a:pPr>
                <a:defRPr/>
              </a:pPr>
              <a:t>31</a:t>
            </a:fld>
            <a:endParaRPr lang="en-US" altLang="zh-CN"/>
          </a:p>
        </p:txBody>
      </p:sp>
    </p:spTree>
    <p:extLst>
      <p:ext uri="{BB962C8B-B14F-4D97-AF65-F5344CB8AC3E}">
        <p14:creationId xmlns:p14="http://schemas.microsoft.com/office/powerpoint/2010/main" val="4095417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A-&gt;C-&gt;F-&gt;L with utility of 2</a:t>
            </a:r>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34</a:t>
            </a:fld>
            <a:endParaRPr lang="en-US" altLang="zh-CN"/>
          </a:p>
        </p:txBody>
      </p:sp>
    </p:spTree>
    <p:extLst>
      <p:ext uri="{BB962C8B-B14F-4D97-AF65-F5344CB8AC3E}">
        <p14:creationId xmlns:p14="http://schemas.microsoft.com/office/powerpoint/2010/main" val="3021532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chess, on average 35 choices</a:t>
            </a:r>
            <a:r>
              <a:rPr lang="en-US" baseline="0" dirty="0"/>
              <a:t> are possible at a single time. Means 35 branches , </a:t>
            </a:r>
          </a:p>
          <a:p>
            <a:r>
              <a:rPr lang="en-US" baseline="0" dirty="0"/>
              <a:t>And on average depth for a single player is 50, then for two players will be 100, so (35)^100 </a:t>
            </a:r>
          </a:p>
          <a:p>
            <a:r>
              <a:rPr lang="en-US" baseline="0" dirty="0"/>
              <a:t>That will make a big game tree and traversing becomes difficult and complex.</a:t>
            </a:r>
          </a:p>
          <a:p>
            <a:r>
              <a:rPr lang="en-US" dirty="0"/>
              <a:t>https://www.youtube.com/watch?v=Ntu8nNBL28o&amp;ab_channel=GateSmashers</a:t>
            </a:r>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36</a:t>
            </a:fld>
            <a:endParaRPr lang="en-US" altLang="zh-CN"/>
          </a:p>
        </p:txBody>
      </p:sp>
    </p:spTree>
    <p:extLst>
      <p:ext uri="{BB962C8B-B14F-4D97-AF65-F5344CB8AC3E}">
        <p14:creationId xmlns:p14="http://schemas.microsoft.com/office/powerpoint/2010/main" val="1423857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39010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54302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08536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836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1995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89159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4097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3002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02028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0506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2863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12/04/2025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2001108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4" Type="http://schemas.microsoft.com/office/2007/relationships/hdphoto" Target="../media/hdphoto6.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Game Playing and Adversarial Search</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348727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Week-5 and 6 CLO</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1663158699"/>
              </p:ext>
            </p:extLst>
          </p:nvPr>
        </p:nvGraphicFramePr>
        <p:xfrm>
          <a:off x="5431536" y="587829"/>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7852DB-10CB-BAE7-752A-5098AF7A36BA}"/>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CLO’s Mapping </a:t>
            </a:r>
            <a:endParaRPr lang="en-PK" sz="4000">
              <a:solidFill>
                <a:srgbClr val="FFFFFF"/>
              </a:solidFill>
            </a:endParaRPr>
          </a:p>
        </p:txBody>
      </p:sp>
      <p:graphicFrame>
        <p:nvGraphicFramePr>
          <p:cNvPr id="12" name="Content Placeholder 2">
            <a:extLst>
              <a:ext uri="{FF2B5EF4-FFF2-40B4-BE49-F238E27FC236}">
                <a16:creationId xmlns:a16="http://schemas.microsoft.com/office/drawing/2014/main" id="{D1DDC836-2DE9-75FA-5E18-375B488BD769}"/>
              </a:ext>
            </a:extLst>
          </p:cNvPr>
          <p:cNvGraphicFramePr>
            <a:graphicFrameLocks noGrp="1"/>
          </p:cNvGraphicFramePr>
          <p:nvPr>
            <p:ph idx="1"/>
            <p:extLst>
              <p:ext uri="{D42A27DB-BD31-4B8C-83A1-F6EECF244321}">
                <p14:modId xmlns:p14="http://schemas.microsoft.com/office/powerpoint/2010/main" val="3106408685"/>
              </p:ext>
            </p:extLst>
          </p:nvPr>
        </p:nvGraphicFramePr>
        <p:xfrm>
          <a:off x="4905052" y="321275"/>
          <a:ext cx="6666833" cy="6289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340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Single Agent environment</a:t>
            </a:r>
          </a:p>
        </p:txBody>
      </p:sp>
      <p:sp>
        <p:nvSpPr>
          <p:cNvPr id="3" name="Content Placeholder 2"/>
          <p:cNvSpPr>
            <a:spLocks noGrp="1"/>
          </p:cNvSpPr>
          <p:nvPr>
            <p:ph idx="1"/>
          </p:nvPr>
        </p:nvSpPr>
        <p:spPr>
          <a:xfrm>
            <a:off x="873761" y="2133600"/>
            <a:ext cx="10201550" cy="4294675"/>
          </a:xfrm>
        </p:spPr>
        <p:txBody>
          <a:bodyPr anchor="ctr">
            <a:normAutofit lnSpcReduction="10000"/>
          </a:bodyPr>
          <a:lstStyle/>
          <a:p>
            <a:r>
              <a:rPr lang="en-US" dirty="0"/>
              <a:t>Until now, we have discussed single agent environment</a:t>
            </a:r>
          </a:p>
          <a:p>
            <a:pPr lvl="1"/>
            <a:r>
              <a:rPr lang="en-US" sz="2800" dirty="0"/>
              <a:t>only one person or agent searching the solution space to find the goal or the solution. </a:t>
            </a:r>
          </a:p>
          <a:p>
            <a:pPr lvl="1"/>
            <a:r>
              <a:rPr lang="en-US" sz="2800" dirty="0"/>
              <a:t>often expressed in the form of a sequence of actions</a:t>
            </a:r>
          </a:p>
          <a:p>
            <a:pPr lvl="1"/>
            <a:endParaRPr lang="en-US" sz="2800" dirty="0"/>
          </a:p>
          <a:p>
            <a:r>
              <a:rPr lang="en-US" dirty="0"/>
              <a:t>There might be some situations where more than one agent/person is searching for the solution in the same search space</a:t>
            </a:r>
          </a:p>
          <a:p>
            <a:pPr lvl="1"/>
            <a:r>
              <a:rPr lang="en-US" sz="2800" dirty="0"/>
              <a:t>usually occurs in game playing where two opponents (adversaries) are searching for a goal.</a:t>
            </a:r>
          </a:p>
          <a:p>
            <a:pPr lvl="1"/>
            <a:r>
              <a:rPr lang="en-US" sz="2800" dirty="0"/>
              <a:t>Multi-agent environment</a:t>
            </a:r>
          </a:p>
          <a:p>
            <a:endParaRPr lang="en-US" sz="2000" dirty="0"/>
          </a:p>
          <a:p>
            <a:endParaRPr lang="en-US" sz="2000" dirty="0"/>
          </a:p>
        </p:txBody>
      </p:sp>
    </p:spTree>
    <p:extLst>
      <p:ext uri="{BB962C8B-B14F-4D97-AF65-F5344CB8AC3E}">
        <p14:creationId xmlns:p14="http://schemas.microsoft.com/office/powerpoint/2010/main" val="1325629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Multi-agent environment</a:t>
            </a:r>
          </a:p>
        </p:txBody>
      </p:sp>
      <p:sp>
        <p:nvSpPr>
          <p:cNvPr id="3" name="Content Placeholder 2"/>
          <p:cNvSpPr>
            <a:spLocks noGrp="1"/>
          </p:cNvSpPr>
          <p:nvPr>
            <p:ph idx="1"/>
          </p:nvPr>
        </p:nvSpPr>
        <p:spPr>
          <a:xfrm>
            <a:off x="845575" y="2318197"/>
            <a:ext cx="10250056" cy="3683358"/>
          </a:xfrm>
        </p:spPr>
        <p:txBody>
          <a:bodyPr anchor="ctr">
            <a:normAutofit/>
          </a:bodyPr>
          <a:lstStyle/>
          <a:p>
            <a:r>
              <a:rPr lang="en-US" sz="3200" dirty="0"/>
              <a:t>The environment with more than one agent</a:t>
            </a:r>
          </a:p>
          <a:p>
            <a:r>
              <a:rPr lang="en-US" sz="3200" dirty="0"/>
              <a:t>Each agent is an opponent of other agent and playing against each other</a:t>
            </a:r>
          </a:p>
          <a:p>
            <a:r>
              <a:rPr lang="en-US" sz="3200" dirty="0"/>
              <a:t>Each agent needs to consider the action of other agent and effect of that action on their performance.</a:t>
            </a:r>
          </a:p>
          <a:p>
            <a:endParaRPr lang="en-US" sz="2000" dirty="0"/>
          </a:p>
          <a:p>
            <a:endParaRPr lang="en-US" sz="2000" dirty="0"/>
          </a:p>
        </p:txBody>
      </p:sp>
    </p:spTree>
    <p:extLst>
      <p:ext uri="{BB962C8B-B14F-4D97-AF65-F5344CB8AC3E}">
        <p14:creationId xmlns:p14="http://schemas.microsoft.com/office/powerpoint/2010/main" val="3655577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73AF59-E00A-29E4-7B35-B9DC14D7958D}"/>
              </a:ext>
            </a:extLst>
          </p:cNvPr>
          <p:cNvSpPr>
            <a:spLocks noGrp="1"/>
          </p:cNvSpPr>
          <p:nvPr>
            <p:ph type="title"/>
          </p:nvPr>
        </p:nvSpPr>
        <p:spPr>
          <a:xfrm>
            <a:off x="209667" y="2066194"/>
            <a:ext cx="3905133" cy="2087795"/>
          </a:xfrm>
        </p:spPr>
        <p:txBody>
          <a:bodyPr anchor="t">
            <a:normAutofit/>
          </a:bodyPr>
          <a:lstStyle/>
          <a:p>
            <a:r>
              <a:rPr lang="en-GB" b="1" dirty="0">
                <a:latin typeface="Arial" panose="020B0604020202020204" pitchFamily="34" charset="0"/>
                <a:cs typeface="Arial" panose="020B0604020202020204" pitchFamily="34" charset="0"/>
              </a:rPr>
              <a:t>Introduction to Game Playing in AI</a:t>
            </a:r>
            <a:endParaRPr lang="en-PK" b="1" dirty="0">
              <a:latin typeface="Arial" panose="020B0604020202020204" pitchFamily="34" charset="0"/>
              <a:cs typeface="Arial" panose="020B0604020202020204" pitchFamily="34" charset="0"/>
            </a:endParaRPr>
          </a:p>
        </p:txBody>
      </p:sp>
      <p:grpSp>
        <p:nvGrpSpPr>
          <p:cNvPr id="23" name="Group 22">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4" name="Rectangle 2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E69DAFC-2880-BF11-3E05-AD2DE025E7F3}"/>
              </a:ext>
            </a:extLst>
          </p:cNvPr>
          <p:cNvSpPr>
            <a:spLocks noGrp="1"/>
          </p:cNvSpPr>
          <p:nvPr>
            <p:ph idx="1"/>
          </p:nvPr>
        </p:nvSpPr>
        <p:spPr>
          <a:xfrm>
            <a:off x="5656218" y="587829"/>
            <a:ext cx="5542387" cy="5682342"/>
          </a:xfrm>
        </p:spPr>
        <p:txBody>
          <a:bodyPr anchor="t">
            <a:normAutofit lnSpcReduction="10000"/>
          </a:bodyPr>
          <a:lstStyle/>
          <a:p>
            <a:pPr algn="just"/>
            <a:r>
              <a:rPr lang="en-GB" sz="2400" b="1" dirty="0">
                <a:latin typeface="Arial" panose="020B0604020202020204" pitchFamily="34" charset="0"/>
                <a:cs typeface="Arial" panose="020B0604020202020204" pitchFamily="34" charset="0"/>
              </a:rPr>
              <a:t>Definition:</a:t>
            </a:r>
            <a:r>
              <a:rPr lang="en-GB" sz="2200" b="1"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Game playing is a fundamental problem area for AI that focuses on creating intelligent agents to compete in games like chess, checkers, and more..</a:t>
            </a:r>
          </a:p>
          <a:p>
            <a:pPr algn="just"/>
            <a:r>
              <a:rPr lang="en-GB" sz="2400" b="1" dirty="0">
                <a:latin typeface="Arial" panose="020B0604020202020204" pitchFamily="34" charset="0"/>
                <a:cs typeface="Arial" panose="020B0604020202020204" pitchFamily="34" charset="0"/>
              </a:rPr>
              <a:t>Types of Games: </a:t>
            </a:r>
            <a:r>
              <a:rPr lang="en-GB" sz="2400" dirty="0">
                <a:latin typeface="Arial" panose="020B0604020202020204" pitchFamily="34" charset="0"/>
                <a:cs typeface="Arial" panose="020B0604020202020204" pitchFamily="34" charset="0"/>
              </a:rPr>
              <a:t>Deterministic (e.g., Chess, Checkers)Stochastic (e.g., Backgammon)The agent operates within a state space, where each state represents a configuration of the world.</a:t>
            </a:r>
          </a:p>
          <a:p>
            <a:pPr marL="0" indent="0">
              <a:buNone/>
            </a:pPr>
            <a:r>
              <a:rPr lang="en-GB" sz="2400" b="1" dirty="0">
                <a:latin typeface="Arial" panose="020B0604020202020204" pitchFamily="34" charset="0"/>
                <a:cs typeface="Arial" panose="020B0604020202020204" pitchFamily="34" charset="0"/>
              </a:rPr>
              <a:t>Key Concepts: </a:t>
            </a:r>
          </a:p>
          <a:p>
            <a:pPr>
              <a:buFont typeface="Arial" panose="020B0604020202020204" pitchFamily="34" charset="0"/>
              <a:buChar char="•"/>
            </a:pPr>
            <a:r>
              <a:rPr lang="en-GB" sz="2400" b="1" dirty="0">
                <a:solidFill>
                  <a:srgbClr val="FF0000"/>
                </a:solidFill>
                <a:latin typeface="Arial" panose="020B0604020202020204" pitchFamily="34" charset="0"/>
                <a:cs typeface="Arial" panose="020B0604020202020204" pitchFamily="34" charset="0"/>
              </a:rPr>
              <a:t>Adversarial Search: </a:t>
            </a:r>
            <a:r>
              <a:rPr lang="en-GB" sz="2400" dirty="0">
                <a:solidFill>
                  <a:srgbClr val="FF0000"/>
                </a:solidFill>
                <a:latin typeface="Arial" panose="020B0604020202020204" pitchFamily="34" charset="0"/>
                <a:cs typeface="Arial" panose="020B0604020202020204" pitchFamily="34" charset="0"/>
              </a:rPr>
              <a:t>Search strategies for games where agents compete against each other.</a:t>
            </a:r>
          </a:p>
          <a:p>
            <a:pPr>
              <a:buFont typeface="Arial" panose="020B0604020202020204" pitchFamily="34" charset="0"/>
              <a:buChar char="•"/>
            </a:pPr>
            <a:r>
              <a:rPr lang="en-GB" sz="2400" b="1" dirty="0">
                <a:latin typeface="Arial" panose="020B0604020202020204" pitchFamily="34" charset="0"/>
                <a:cs typeface="Arial" panose="020B0604020202020204" pitchFamily="34" charset="0"/>
              </a:rPr>
              <a:t>Goal: </a:t>
            </a:r>
            <a:r>
              <a:rPr lang="en-GB" sz="2400" dirty="0">
                <a:latin typeface="Arial" panose="020B0604020202020204" pitchFamily="34" charset="0"/>
                <a:cs typeface="Arial" panose="020B0604020202020204" pitchFamily="34" charset="0"/>
              </a:rPr>
              <a:t>Develop strategies to maximize an agent's winning chances.</a:t>
            </a:r>
          </a:p>
          <a:p>
            <a:pPr algn="just"/>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037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C8605C-8F70-566D-FCC8-74EFF3E5833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5625DD-0309-F338-F1D3-C6208BDC6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383787-DE2C-CBFD-E046-76BCF14C45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756CCE4B-BFC2-B11A-7E8D-C23321907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CF85556-7B1F-AC9F-BD6E-AD3A1C640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76C7BCF-82BA-A385-8C40-390EDA1F3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0145E5-B775-D18A-CE48-AC37CCCBDCB4}"/>
              </a:ext>
            </a:extLst>
          </p:cNvPr>
          <p:cNvSpPr>
            <a:spLocks noGrp="1"/>
          </p:cNvSpPr>
          <p:nvPr>
            <p:ph type="title"/>
          </p:nvPr>
        </p:nvSpPr>
        <p:spPr>
          <a:xfrm>
            <a:off x="1057025" y="922644"/>
            <a:ext cx="9036544" cy="1169585"/>
          </a:xfrm>
        </p:spPr>
        <p:txBody>
          <a:bodyPr anchor="b">
            <a:normAutofit/>
          </a:bodyPr>
          <a:lstStyle/>
          <a:p>
            <a:r>
              <a:rPr lang="en-GB" b="1" dirty="0">
                <a:latin typeface="Arial" panose="020B0604020202020204" pitchFamily="34" charset="0"/>
                <a:cs typeface="Arial" panose="020B0604020202020204" pitchFamily="34" charset="0"/>
              </a:rPr>
              <a:t>What is Adversarial Search</a:t>
            </a:r>
          </a:p>
        </p:txBody>
      </p:sp>
      <p:sp>
        <p:nvSpPr>
          <p:cNvPr id="20" name="Rectangle 19">
            <a:extLst>
              <a:ext uri="{FF2B5EF4-FFF2-40B4-BE49-F238E27FC236}">
                <a16:creationId xmlns:a16="http://schemas.microsoft.com/office/drawing/2014/main" id="{59D7DB29-F598-41F0-EC93-C802D2357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857B75-D48C-5A93-6BB3-2E571DC56A15}"/>
              </a:ext>
            </a:extLst>
          </p:cNvPr>
          <p:cNvSpPr>
            <a:spLocks noGrp="1"/>
          </p:cNvSpPr>
          <p:nvPr>
            <p:ph idx="1"/>
          </p:nvPr>
        </p:nvSpPr>
        <p:spPr>
          <a:xfrm>
            <a:off x="1055715" y="2290797"/>
            <a:ext cx="9999147" cy="4049306"/>
          </a:xfrm>
        </p:spPr>
        <p:txBody>
          <a:bodyPr anchor="ctr">
            <a:normAutofit fontScale="92500" lnSpcReduction="10000"/>
          </a:bodyPr>
          <a:lstStyle/>
          <a:p>
            <a:pPr marL="0" indent="0" algn="just">
              <a:buNone/>
            </a:pPr>
            <a:r>
              <a:rPr lang="en-GB" sz="2400" b="1" dirty="0">
                <a:latin typeface="Arial" panose="020B0604020202020204" pitchFamily="34" charset="0"/>
                <a:cs typeface="Arial" panose="020B0604020202020204" pitchFamily="34" charset="0"/>
              </a:rPr>
              <a:t>Definition</a:t>
            </a:r>
          </a:p>
          <a:p>
            <a:pPr algn="just"/>
            <a:r>
              <a:rPr lang="en-GB" sz="2400" dirty="0">
                <a:latin typeface="Arial" panose="020B0604020202020204" pitchFamily="34" charset="0"/>
                <a:cs typeface="Arial" panose="020B0604020202020204" pitchFamily="34" charset="0"/>
              </a:rPr>
              <a:t>A type of search used in environments where agents (players) compete against each other. It is primarily used in games like Chess, Go, and Checkers, where each player's goal is to maximize their own payoff while minimizing that of their opponent.</a:t>
            </a:r>
          </a:p>
          <a:p>
            <a:pPr marL="0" indent="0" algn="just">
              <a:buNone/>
            </a:pPr>
            <a:r>
              <a:rPr lang="en-GB" sz="2400" b="1" dirty="0">
                <a:latin typeface="Arial" panose="020B0604020202020204" pitchFamily="34" charset="0"/>
                <a:cs typeface="Arial" panose="020B0604020202020204" pitchFamily="34" charset="0"/>
              </a:rPr>
              <a:t>Examples of Adversarial Games</a:t>
            </a:r>
          </a:p>
          <a:p>
            <a:pPr algn="just"/>
            <a:r>
              <a:rPr lang="en-GB" sz="2400" dirty="0">
                <a:latin typeface="Arial" panose="020B0604020202020204" pitchFamily="34" charset="0"/>
                <a:cs typeface="Arial" panose="020B0604020202020204" pitchFamily="34" charset="0"/>
              </a:rPr>
              <a:t>Turn-Based Games: Chess, Checkers, Tic-Tac-Toe</a:t>
            </a:r>
          </a:p>
          <a:p>
            <a:pPr algn="just"/>
            <a:r>
              <a:rPr lang="en-GB" sz="2400" dirty="0">
                <a:latin typeface="Arial" panose="020B0604020202020204" pitchFamily="34" charset="0"/>
                <a:cs typeface="Arial" panose="020B0604020202020204" pitchFamily="34" charset="0"/>
              </a:rPr>
              <a:t>Simultaneous Games: Poker, Rock-Paper-Scissors</a:t>
            </a:r>
          </a:p>
          <a:p>
            <a:pPr marL="0" indent="0" algn="just">
              <a:buNone/>
            </a:pPr>
            <a:r>
              <a:rPr lang="en-GB" sz="2400" b="1" dirty="0">
                <a:latin typeface="Arial" panose="020B0604020202020204" pitchFamily="34" charset="0"/>
                <a:cs typeface="Arial" panose="020B0604020202020204" pitchFamily="34" charset="0"/>
              </a:rPr>
              <a:t>Contrast with Regular Search</a:t>
            </a:r>
          </a:p>
          <a:p>
            <a:pPr algn="just"/>
            <a:r>
              <a:rPr lang="en-GB" sz="2400" dirty="0">
                <a:latin typeface="Arial" panose="020B0604020202020204" pitchFamily="34" charset="0"/>
                <a:cs typeface="Arial" panose="020B0604020202020204" pitchFamily="34" charset="0"/>
              </a:rPr>
              <a:t>Unlike typical search problems, adversarial search involves dealing with uncertainty and the strategic counteractions of opponents.</a:t>
            </a:r>
          </a:p>
        </p:txBody>
      </p:sp>
    </p:spTree>
    <p:extLst>
      <p:ext uri="{BB962C8B-B14F-4D97-AF65-F5344CB8AC3E}">
        <p14:creationId xmlns:p14="http://schemas.microsoft.com/office/powerpoint/2010/main" val="3231935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109564-F03E-BA6E-643C-78A8A8F5A2B0}"/>
              </a:ext>
            </a:extLst>
          </p:cNvPr>
          <p:cNvSpPr>
            <a:spLocks noGrp="1"/>
          </p:cNvSpPr>
          <p:nvPr>
            <p:ph type="title"/>
          </p:nvPr>
        </p:nvSpPr>
        <p:spPr>
          <a:xfrm>
            <a:off x="1057025" y="922644"/>
            <a:ext cx="8966206" cy="1169585"/>
          </a:xfrm>
        </p:spPr>
        <p:txBody>
          <a:bodyPr anchor="b">
            <a:normAutofit/>
          </a:bodyPr>
          <a:lstStyle/>
          <a:p>
            <a:r>
              <a:rPr lang="en-GB" b="1" dirty="0">
                <a:latin typeface="Arial" panose="020B0604020202020204" pitchFamily="34" charset="0"/>
                <a:cs typeface="Arial" panose="020B0604020202020204" pitchFamily="34" charset="0"/>
              </a:rPr>
              <a:t>Adversarial Search Overview</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4EC638-174C-52EE-961E-DA6D9E0B7B69}"/>
              </a:ext>
            </a:extLst>
          </p:cNvPr>
          <p:cNvSpPr>
            <a:spLocks noGrp="1"/>
          </p:cNvSpPr>
          <p:nvPr>
            <p:ph idx="1"/>
          </p:nvPr>
        </p:nvSpPr>
        <p:spPr>
          <a:xfrm>
            <a:off x="1055715" y="2290797"/>
            <a:ext cx="9999147" cy="4049306"/>
          </a:xfrm>
        </p:spPr>
        <p:txBody>
          <a:bodyPr anchor="ctr">
            <a:normAutofit lnSpcReduction="10000"/>
          </a:bodyPr>
          <a:lstStyle/>
          <a:p>
            <a:pPr algn="just"/>
            <a:r>
              <a:rPr lang="en-GB" sz="2400" dirty="0">
                <a:latin typeface="Arial" panose="020B0604020202020204" pitchFamily="34" charset="0"/>
                <a:cs typeface="Arial" panose="020B0604020202020204" pitchFamily="34" charset="0"/>
              </a:rPr>
              <a:t>The Adversarial search is a well-suited approach in a competitive environment, where two or more agents have conflicting goals. The adversarial search can be employed in two-player zero-sum(utility/ payoff) based games which means what is good for one player will be the misfortune for the other. In such a case, there is no win-win outcome.</a:t>
            </a:r>
          </a:p>
          <a:p>
            <a:pPr algn="just"/>
            <a:r>
              <a:rPr lang="en-GB" sz="2400" b="0" i="0" dirty="0">
                <a:effectLst/>
                <a:latin typeface="Arial" panose="020B0604020202020204" pitchFamily="34" charset="0"/>
                <a:cs typeface="Arial" panose="020B0604020202020204" pitchFamily="34" charset="0"/>
              </a:rPr>
              <a:t>Adversarial search algorithms are the backbone of strategic decision-making in artificial intelligence, it enables the agents to navigate competitive scenarios effectively.</a:t>
            </a:r>
            <a:endParaRPr lang="en-GB" sz="24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By employing adversarial search, AI agents can make optimal decisions while anticipating the actions of an opponent with their opposing objectives.</a:t>
            </a:r>
          </a:p>
        </p:txBody>
      </p:sp>
    </p:spTree>
    <p:extLst>
      <p:ext uri="{BB962C8B-B14F-4D97-AF65-F5344CB8AC3E}">
        <p14:creationId xmlns:p14="http://schemas.microsoft.com/office/powerpoint/2010/main" val="3392682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7ECA3-D22F-3A8E-6386-C6869E5FF49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1FE77C7-3E0A-67C8-A662-A4EF5256E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F564D62-D8E5-B1E6-261C-CFA64EDD1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4773EE2C-5CFE-8923-0695-25AFB1F1A0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985787-3763-90A5-AFA4-7E92E9AD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FAF293E4-D469-AF34-5506-AE3A09405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C3A673-4FD7-9572-FD15-DA95CDF31709}"/>
              </a:ext>
            </a:extLst>
          </p:cNvPr>
          <p:cNvSpPr>
            <a:spLocks noGrp="1"/>
          </p:cNvSpPr>
          <p:nvPr>
            <p:ph type="title"/>
          </p:nvPr>
        </p:nvSpPr>
        <p:spPr>
          <a:xfrm>
            <a:off x="1057025" y="922644"/>
            <a:ext cx="10555447" cy="1169585"/>
          </a:xfrm>
        </p:spPr>
        <p:txBody>
          <a:bodyPr anchor="b">
            <a:normAutofit fontScale="90000"/>
          </a:bodyPr>
          <a:lstStyle/>
          <a:p>
            <a:r>
              <a:rPr lang="en-GB" b="1" dirty="0">
                <a:latin typeface="Arial" panose="020B0604020202020204" pitchFamily="34" charset="0"/>
                <a:cs typeface="Arial" panose="020B0604020202020204" pitchFamily="34" charset="0"/>
              </a:rPr>
              <a:t>Why Adversarial Search is Important in AI</a:t>
            </a:r>
          </a:p>
        </p:txBody>
      </p:sp>
      <p:sp>
        <p:nvSpPr>
          <p:cNvPr id="20" name="Rectangle 19">
            <a:extLst>
              <a:ext uri="{FF2B5EF4-FFF2-40B4-BE49-F238E27FC236}">
                <a16:creationId xmlns:a16="http://schemas.microsoft.com/office/drawing/2014/main" id="{FAD2047D-4F7F-A51A-9B75-EC5312E83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BC982F-38CB-8AEA-A767-86C151E29417}"/>
              </a:ext>
            </a:extLst>
          </p:cNvPr>
          <p:cNvSpPr>
            <a:spLocks noGrp="1"/>
          </p:cNvSpPr>
          <p:nvPr>
            <p:ph idx="1"/>
          </p:nvPr>
        </p:nvSpPr>
        <p:spPr>
          <a:xfrm>
            <a:off x="1055715" y="2290797"/>
            <a:ext cx="10555447" cy="4085066"/>
          </a:xfrm>
        </p:spPr>
        <p:txBody>
          <a:bodyPr anchor="ctr">
            <a:normAutofit fontScale="92500" lnSpcReduction="20000"/>
          </a:bodyPr>
          <a:lstStyle/>
          <a:p>
            <a:pPr marL="0" indent="0" algn="just">
              <a:buNone/>
            </a:pPr>
            <a:r>
              <a:rPr lang="en-GB" sz="2400" b="1" dirty="0">
                <a:latin typeface="Arial" panose="020B0604020202020204" pitchFamily="34" charset="0"/>
                <a:cs typeface="Arial" panose="020B0604020202020204" pitchFamily="34" charset="0"/>
              </a:rPr>
              <a:t>Strategic Decision-Making</a:t>
            </a:r>
          </a:p>
          <a:p>
            <a:pPr algn="just"/>
            <a:r>
              <a:rPr lang="en-GB" sz="2400" dirty="0">
                <a:latin typeface="Arial" panose="020B0604020202020204" pitchFamily="34" charset="0"/>
                <a:cs typeface="Arial" panose="020B0604020202020204" pitchFamily="34" charset="0"/>
              </a:rPr>
              <a:t>Adversarial search equips AI agents with strategies to anticipate and counteract the moves of opponents.</a:t>
            </a:r>
          </a:p>
          <a:p>
            <a:pPr marL="0" indent="0" algn="just">
              <a:buNone/>
            </a:pPr>
            <a:r>
              <a:rPr lang="en-GB" sz="2400" b="1" dirty="0">
                <a:latin typeface="Arial" panose="020B0604020202020204" pitchFamily="34" charset="0"/>
                <a:cs typeface="Arial" panose="020B0604020202020204" pitchFamily="34" charset="0"/>
              </a:rPr>
              <a:t>Optimal Play</a:t>
            </a:r>
          </a:p>
          <a:p>
            <a:pPr algn="just"/>
            <a:r>
              <a:rPr lang="en-GB" sz="2400" dirty="0">
                <a:latin typeface="Arial" panose="020B0604020202020204" pitchFamily="34" charset="0"/>
                <a:cs typeface="Arial" panose="020B0604020202020204" pitchFamily="34" charset="0"/>
              </a:rPr>
              <a:t>Helps in formulating strategies that can lead to the best possible outcomes, even in worst-case scenarios.</a:t>
            </a:r>
          </a:p>
          <a:p>
            <a:pPr marL="0" indent="0" algn="just">
              <a:buNone/>
            </a:pPr>
            <a:r>
              <a:rPr lang="en-GB" sz="2400" b="1" dirty="0">
                <a:latin typeface="Arial" panose="020B0604020202020204" pitchFamily="34" charset="0"/>
                <a:cs typeface="Arial" panose="020B0604020202020204" pitchFamily="34" charset="0"/>
              </a:rPr>
              <a:t>Application Beyond Games</a:t>
            </a:r>
          </a:p>
          <a:p>
            <a:pPr algn="just"/>
            <a:r>
              <a:rPr lang="en-GB" sz="2400" dirty="0">
                <a:latin typeface="Arial" panose="020B0604020202020204" pitchFamily="34" charset="0"/>
                <a:cs typeface="Arial" panose="020B0604020202020204" pitchFamily="34" charset="0"/>
              </a:rPr>
              <a:t>The principles are applicable in fields like cybersecurity, economic </a:t>
            </a:r>
            <a:r>
              <a:rPr lang="en-GB" sz="2400" dirty="0" err="1">
                <a:latin typeface="Arial" panose="020B0604020202020204" pitchFamily="34" charset="0"/>
                <a:cs typeface="Arial" panose="020B0604020202020204" pitchFamily="34" charset="0"/>
              </a:rPr>
              <a:t>modeling</a:t>
            </a:r>
            <a:r>
              <a:rPr lang="en-GB" sz="2400" dirty="0">
                <a:latin typeface="Arial" panose="020B0604020202020204" pitchFamily="34" charset="0"/>
                <a:cs typeface="Arial" panose="020B0604020202020204" pitchFamily="34" charset="0"/>
              </a:rPr>
              <a:t>, and automated negotiations.</a:t>
            </a:r>
          </a:p>
          <a:p>
            <a:pPr marL="0" indent="0" algn="just">
              <a:buNone/>
            </a:pPr>
            <a:r>
              <a:rPr lang="en-GB" sz="2400" b="1" dirty="0">
                <a:latin typeface="Arial" panose="020B0604020202020204" pitchFamily="34" charset="0"/>
                <a:cs typeface="Arial" panose="020B0604020202020204" pitchFamily="34" charset="0"/>
              </a:rPr>
              <a:t>Modelling Human-Like Behaviour</a:t>
            </a:r>
          </a:p>
          <a:p>
            <a:pPr algn="just"/>
            <a:r>
              <a:rPr lang="en-GB" sz="2400" dirty="0">
                <a:latin typeface="Arial" panose="020B0604020202020204" pitchFamily="34" charset="0"/>
                <a:cs typeface="Arial" panose="020B0604020202020204" pitchFamily="34" charset="0"/>
              </a:rPr>
              <a:t>By playing games and adapting strategies, AI systems can simulate human-like strategic reasoning.</a:t>
            </a:r>
          </a:p>
        </p:txBody>
      </p:sp>
    </p:spTree>
    <p:extLst>
      <p:ext uri="{BB962C8B-B14F-4D97-AF65-F5344CB8AC3E}">
        <p14:creationId xmlns:p14="http://schemas.microsoft.com/office/powerpoint/2010/main" val="406089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09521"/>
            <a:ext cx="10232136" cy="1014984"/>
          </a:xfrm>
        </p:spPr>
        <p:txBody>
          <a:bodyPr>
            <a:normAutofit/>
          </a:bodyPr>
          <a:lstStyle/>
          <a:p>
            <a:r>
              <a:rPr lang="en-US" sz="4000" dirty="0"/>
              <a:t>Types of Games in AI</a:t>
            </a:r>
          </a:p>
        </p:txBody>
      </p:sp>
      <p:sp>
        <p:nvSpPr>
          <p:cNvPr id="13" name="Rectangle 12">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7F4B909-9D05-4A19-8FF7-C437C973CEE4}"/>
              </a:ext>
            </a:extLst>
          </p:cNvPr>
          <p:cNvGraphicFramePr>
            <a:graphicFrameLocks noGrp="1"/>
          </p:cNvGraphicFramePr>
          <p:nvPr>
            <p:ph idx="1"/>
            <p:extLst>
              <p:ext uri="{D42A27DB-BD31-4B8C-83A1-F6EECF244321}">
                <p14:modId xmlns:p14="http://schemas.microsoft.com/office/powerpoint/2010/main" val="3672131280"/>
              </p:ext>
            </p:extLst>
          </p:nvPr>
        </p:nvGraphicFramePr>
        <p:xfrm>
          <a:off x="1174943" y="1010371"/>
          <a:ext cx="10518223" cy="4334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9990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r>
              <a:rPr lang="en-US" sz="5400"/>
              <a:t>Contd..</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59" y="2336801"/>
            <a:ext cx="10375785" cy="3698240"/>
          </a:xfrm>
        </p:spPr>
        <p:txBody>
          <a:bodyPr anchor="ctr">
            <a:normAutofit fontScale="85000" lnSpcReduction="20000"/>
          </a:bodyPr>
          <a:lstStyle/>
          <a:p>
            <a:r>
              <a:rPr lang="en-US" sz="2600" b="1" dirty="0"/>
              <a:t>Deterministic games</a:t>
            </a:r>
          </a:p>
          <a:p>
            <a:pPr lvl="1"/>
            <a:r>
              <a:rPr lang="en-US" sz="2600" dirty="0"/>
              <a:t>Those games which </a:t>
            </a:r>
            <a:r>
              <a:rPr lang="en-US" sz="2600" b="1" dirty="0"/>
              <a:t>follow a strict pattern and set of rules </a:t>
            </a:r>
            <a:r>
              <a:rPr lang="en-US" sz="2600" dirty="0"/>
              <a:t>for the games, and there is </a:t>
            </a:r>
            <a:r>
              <a:rPr lang="en-US" sz="2600" b="1" dirty="0"/>
              <a:t>no randomness </a:t>
            </a:r>
            <a:r>
              <a:rPr lang="en-US" sz="2600" dirty="0"/>
              <a:t>associated with them.</a:t>
            </a:r>
          </a:p>
          <a:p>
            <a:pPr lvl="1"/>
            <a:r>
              <a:rPr lang="en-US" sz="2600" dirty="0"/>
              <a:t>Examples are chess, Checkers, Go, tic-tac-toe, etc.</a:t>
            </a:r>
          </a:p>
          <a:p>
            <a:endParaRPr lang="en-US" sz="2600" b="1" dirty="0"/>
          </a:p>
          <a:p>
            <a:r>
              <a:rPr lang="en-US" sz="2600" b="1" dirty="0"/>
              <a:t>Non-deterministic games/ Stochastic games</a:t>
            </a:r>
            <a:endParaRPr lang="en-US" sz="2600" dirty="0"/>
          </a:p>
          <a:p>
            <a:pPr lvl="1"/>
            <a:r>
              <a:rPr lang="en-US" sz="2600" dirty="0"/>
              <a:t>Those games which </a:t>
            </a:r>
            <a:r>
              <a:rPr lang="en-US" sz="2600" b="1" dirty="0"/>
              <a:t>have various unpredictable events </a:t>
            </a:r>
            <a:r>
              <a:rPr lang="en-US" sz="2600" dirty="0"/>
              <a:t>and has a </a:t>
            </a:r>
            <a:r>
              <a:rPr lang="en-US" sz="2600" b="1" dirty="0"/>
              <a:t>factor of chance or luck. </a:t>
            </a:r>
          </a:p>
          <a:p>
            <a:pPr lvl="1"/>
            <a:r>
              <a:rPr lang="en-US" sz="2600" dirty="0"/>
              <a:t>This factor of chance or luck is introduced by either dice or cards. These are random, and each action response is not fixed.</a:t>
            </a:r>
          </a:p>
          <a:p>
            <a:pPr lvl="1"/>
            <a:r>
              <a:rPr lang="en-US" sz="2600" dirty="0"/>
              <a:t>Also called as stochastic games.</a:t>
            </a:r>
          </a:p>
          <a:p>
            <a:pPr lvl="1"/>
            <a:r>
              <a:rPr lang="en-US" sz="2600" dirty="0"/>
              <a:t>Example: Backgammon, Monopoly, Poker, etc.</a:t>
            </a:r>
          </a:p>
          <a:p>
            <a:endParaRPr lang="en-US" sz="1700" dirty="0"/>
          </a:p>
        </p:txBody>
      </p:sp>
    </p:spTree>
    <p:extLst>
      <p:ext uri="{BB962C8B-B14F-4D97-AF65-F5344CB8AC3E}">
        <p14:creationId xmlns:p14="http://schemas.microsoft.com/office/powerpoint/2010/main" val="1928529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10173010" cy="1554480"/>
          </a:xfrm>
        </p:spPr>
        <p:txBody>
          <a:bodyPr anchor="ctr">
            <a:normAutofit/>
          </a:bodyPr>
          <a:lstStyle/>
          <a:p>
            <a:r>
              <a:rPr lang="en-US" sz="4800"/>
              <a:t>Game Theory</a:t>
            </a:r>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a:xfrm>
            <a:off x="8610600" y="6492240"/>
            <a:ext cx="2743200" cy="365125"/>
          </a:xfrm>
        </p:spPr>
        <p:txBody>
          <a:bodyPr>
            <a:normAutofit/>
          </a:bodyPr>
          <a:lstStyle/>
          <a:p>
            <a:pPr marL="0" marR="0" lvl="0" indent="0" defTabSz="914400" rtl="0" eaLnBrk="1" fontAlgn="base" latinLnBrk="0" hangingPunct="1">
              <a:spcBef>
                <a:spcPct val="0"/>
              </a:spcBef>
              <a:spcAft>
                <a:spcPts val="600"/>
              </a:spcAft>
              <a:buClrTx/>
              <a:buSzTx/>
              <a:buFontTx/>
              <a:buNone/>
              <a:tabLst/>
              <a:defRPr/>
            </a:pPr>
            <a:fld id="{58C7A802-68BF-4320-9A97-6325A41A81DD}" type="slidenum">
              <a:rPr kumimoji="1" lang="zh-TW" altLang="en-US" b="0" i="0" u="none" strike="noStrike" kern="1200" cap="none" spc="0" normalizeH="0" baseline="0" noProof="0" smtClean="0">
                <a:ln>
                  <a:noFill/>
                </a:ln>
                <a:effectLst/>
                <a:uLnTx/>
                <a:uFillTx/>
                <a:latin typeface="Times New Roman" panose="02020603050405020304" pitchFamily="18" charset="0"/>
                <a:ea typeface="新細明體" pitchFamily="18" charset="-120"/>
                <a:cs typeface="+mn-cs"/>
              </a:rPr>
              <a:pPr marL="0" marR="0" lvl="0" indent="0" defTabSz="914400" rtl="0" eaLnBrk="1" fontAlgn="base" latinLnBrk="0" hangingPunct="1">
                <a:spcBef>
                  <a:spcPct val="0"/>
                </a:spcBef>
                <a:spcAft>
                  <a:spcPts val="600"/>
                </a:spcAft>
                <a:buClrTx/>
                <a:buSzTx/>
                <a:buFontTx/>
                <a:buNone/>
                <a:tabLst/>
                <a:defRPr/>
              </a:pPr>
              <a:t>12</a:t>
            </a:fld>
            <a:endParaRPr kumimoji="1" lang="en-US" altLang="zh-TW" b="0" i="0" u="none" strike="noStrike" kern="1200" cap="none" spc="0" normalizeH="0" baseline="0" noProof="0">
              <a:ln>
                <a:noFill/>
              </a:ln>
              <a:effectLst/>
              <a:uLnTx/>
              <a:uFillTx/>
              <a:latin typeface="Times New Roman" panose="02020603050405020304" pitchFamily="18" charset="0"/>
              <a:ea typeface="新細明體" pitchFamily="18" charset="-120"/>
              <a:cs typeface="+mn-cs"/>
            </a:endParaRPr>
          </a:p>
        </p:txBody>
      </p:sp>
      <p:graphicFrame>
        <p:nvGraphicFramePr>
          <p:cNvPr id="6" name="Content Placeholder 2">
            <a:extLst>
              <a:ext uri="{FF2B5EF4-FFF2-40B4-BE49-F238E27FC236}">
                <a16:creationId xmlns:a16="http://schemas.microsoft.com/office/drawing/2014/main" id="{0F307BA9-62D0-EFEB-498E-DE1BCA8FA626}"/>
              </a:ext>
            </a:extLst>
          </p:cNvPr>
          <p:cNvGraphicFramePr>
            <a:graphicFrameLocks noGrp="1"/>
          </p:cNvGraphicFramePr>
          <p:nvPr>
            <p:ph idx="1"/>
            <p:extLst>
              <p:ext uri="{D42A27DB-BD31-4B8C-83A1-F6EECF244321}">
                <p14:modId xmlns:p14="http://schemas.microsoft.com/office/powerpoint/2010/main" val="3877298331"/>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3401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a:blip r:embed="rId2"/>
          <a:stretch>
            <a:fillRect/>
          </a:stretch>
        </p:blipFill>
        <p:spPr>
          <a:xfrm>
            <a:off x="609600" y="1602019"/>
            <a:ext cx="9867403" cy="4491277"/>
          </a:xfrm>
          <a:prstGeom prst="rect">
            <a:avLst/>
          </a:prstGeom>
        </p:spPr>
      </p:pic>
    </p:spTree>
    <p:extLst>
      <p:ext uri="{BB962C8B-B14F-4D97-AF65-F5344CB8AC3E}">
        <p14:creationId xmlns:p14="http://schemas.microsoft.com/office/powerpoint/2010/main" val="183467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Effect>
                      <a14:brightnessContrast bright="40000" contrast="-20000"/>
                    </a14:imgEffect>
                  </a14:imgLayer>
                </a14:imgProps>
              </a:ext>
            </a:extLst>
          </a:blip>
          <a:srcRect t="21797"/>
          <a:stretch/>
        </p:blipFill>
        <p:spPr>
          <a:xfrm>
            <a:off x="609600" y="1431634"/>
            <a:ext cx="8533097" cy="4694530"/>
          </a:xfrm>
          <a:prstGeom prst="rect">
            <a:avLst/>
          </a:prstGeom>
        </p:spPr>
      </p:pic>
    </p:spTree>
    <p:extLst>
      <p:ext uri="{BB962C8B-B14F-4D97-AF65-F5344CB8AC3E}">
        <p14:creationId xmlns:p14="http://schemas.microsoft.com/office/powerpoint/2010/main" val="3871192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Game1: Grade Game</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244583" y="1660722"/>
            <a:ext cx="11702834" cy="4580734"/>
          </a:xfrm>
          <a:prstGeom prst="rect">
            <a:avLst/>
          </a:prstGeom>
        </p:spPr>
      </p:pic>
    </p:spTree>
    <p:extLst>
      <p:ext uri="{BB962C8B-B14F-4D97-AF65-F5344CB8AC3E}">
        <p14:creationId xmlns:p14="http://schemas.microsoft.com/office/powerpoint/2010/main" val="345969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2495600" y="1421961"/>
            <a:ext cx="6584027" cy="5122694"/>
          </a:xfrm>
          <a:prstGeom prst="rect">
            <a:avLst/>
          </a:prstGeom>
        </p:spPr>
      </p:pic>
    </p:spTree>
    <p:extLst>
      <p:ext uri="{BB962C8B-B14F-4D97-AF65-F5344CB8AC3E}">
        <p14:creationId xmlns:p14="http://schemas.microsoft.com/office/powerpoint/2010/main" val="174019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a:t>
            </a:r>
          </a:p>
        </p:txBody>
      </p:sp>
      <p:pic>
        <p:nvPicPr>
          <p:cNvPr id="6" name="Content Placeholder 5"/>
          <p:cNvPicPr>
            <a:picLocks noGrp="1" noChangeAspect="1"/>
          </p:cNvPicPr>
          <p:nvPr>
            <p:ph idx="1"/>
          </p:nvPr>
        </p:nvPicPr>
        <p:blipFill>
          <a:blip r:embed="rId2"/>
          <a:stretch>
            <a:fillRect/>
          </a:stretch>
        </p:blipFill>
        <p:spPr>
          <a:xfrm>
            <a:off x="479376" y="1447861"/>
            <a:ext cx="10971030" cy="1800200"/>
          </a:xfrm>
          <a:prstGeom prst="rect">
            <a:avLst/>
          </a:prstGeom>
        </p:spPr>
      </p:pic>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spTree>
    <p:extLst>
      <p:ext uri="{BB962C8B-B14F-4D97-AF65-F5344CB8AC3E}">
        <p14:creationId xmlns:p14="http://schemas.microsoft.com/office/powerpoint/2010/main" val="2160566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5155" y="552906"/>
            <a:ext cx="5165936" cy="1674904"/>
          </a:xfrm>
        </p:spPr>
        <p:txBody>
          <a:bodyPr vert="horz" lIns="91440" tIns="45720" rIns="91440" bIns="45720" rtlCol="0" anchor="ctr">
            <a:normAutofit/>
          </a:bodyPr>
          <a:lstStyle/>
          <a:p>
            <a:r>
              <a:rPr lang="en-US" sz="4000" kern="1200" dirty="0">
                <a:solidFill>
                  <a:schemeClr val="tx1"/>
                </a:solidFill>
                <a:latin typeface="+mj-lt"/>
                <a:ea typeface="+mj-ea"/>
                <a:cs typeface="+mj-cs"/>
              </a:rPr>
              <a:t>Grade Game</a:t>
            </a:r>
          </a:p>
        </p:txBody>
      </p:sp>
      <p:pic>
        <p:nvPicPr>
          <p:cNvPr id="10" name="Picture 9">
            <a:extLst>
              <a:ext uri="{FF2B5EF4-FFF2-40B4-BE49-F238E27FC236}">
                <a16:creationId xmlns:a16="http://schemas.microsoft.com/office/drawing/2014/main" id="{12FEF786-2444-DFC7-2F30-9FB07AE55484}"/>
              </a:ext>
            </a:extLst>
          </p:cNvPr>
          <p:cNvPicPr>
            <a:picLocks noChangeAspect="1"/>
          </p:cNvPicPr>
          <p:nvPr/>
        </p:nvPicPr>
        <p:blipFill>
          <a:blip r:embed="rId2"/>
          <a:stretch>
            <a:fillRect/>
          </a:stretch>
        </p:blipFill>
        <p:spPr>
          <a:xfrm>
            <a:off x="356015" y="1859281"/>
            <a:ext cx="11216553" cy="4445264"/>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base">
              <a:spcBef>
                <a:spcPct val="0"/>
              </a:spcBef>
              <a:spcAft>
                <a:spcPts val="600"/>
              </a:spcAft>
              <a:buClrTx/>
              <a:buSzTx/>
              <a:buFontTx/>
              <a:buNone/>
              <a:tabLst/>
              <a:defRPr/>
            </a:pPr>
            <a:fld id="{58C7A802-68BF-4320-9A97-6325A41A81DD}" type="slidenum">
              <a:rPr kumimoji="1" lang="en-US" altLang="zh-TW" b="0" i="0" u="none" strike="noStrike" cap="none" spc="0" normalizeH="0" baseline="0" noProof="0" smtClean="0">
                <a:ln>
                  <a:noFill/>
                </a:ln>
                <a:solidFill>
                  <a:schemeClr val="tx1">
                    <a:tint val="75000"/>
                  </a:schemeClr>
                </a:solidFill>
                <a:effectLst/>
                <a:uLnTx/>
                <a:uFillTx/>
              </a:rPr>
              <a:pPr marR="0" lvl="0" indent="0" fontAlgn="base">
                <a:spcBef>
                  <a:spcPct val="0"/>
                </a:spcBef>
                <a:spcAft>
                  <a:spcPts val="600"/>
                </a:spcAft>
                <a:buClrTx/>
                <a:buSzTx/>
                <a:buFontTx/>
                <a:buNone/>
                <a:tabLst/>
                <a:defRPr/>
              </a:pPr>
              <a:t>18</a:t>
            </a:fld>
            <a:endParaRPr kumimoji="1" lang="en-US" altLang="zh-TW" b="0" i="0" u="none" strike="noStrike" cap="none" spc="0" normalizeH="0" baseline="0" noProof="0">
              <a:ln>
                <a:noFill/>
              </a:ln>
              <a:solidFill>
                <a:schemeClr val="tx1">
                  <a:tint val="75000"/>
                </a:schemeClr>
              </a:solidFill>
              <a:effectLst/>
              <a:uLnTx/>
              <a:uFillTx/>
            </a:endParaRPr>
          </a:p>
        </p:txBody>
      </p:sp>
      <p:sp>
        <p:nvSpPr>
          <p:cNvPr id="8" name="Content Placeholder 7">
            <a:extLst>
              <a:ext uri="{FF2B5EF4-FFF2-40B4-BE49-F238E27FC236}">
                <a16:creationId xmlns:a16="http://schemas.microsoft.com/office/drawing/2014/main" id="{ED54CE58-FAF3-D70A-8A86-39BF95C7319C}"/>
              </a:ext>
            </a:extLst>
          </p:cNvPr>
          <p:cNvSpPr>
            <a:spLocks noGrp="1"/>
          </p:cNvSpPr>
          <p:nvPr>
            <p:ph idx="1"/>
          </p:nvPr>
        </p:nvSpPr>
        <p:spPr>
          <a:xfrm>
            <a:off x="2462202" y="3047186"/>
            <a:ext cx="1205571" cy="381814"/>
          </a:xfrm>
        </p:spPr>
        <p:txBody>
          <a:bodyPr vert="horz" lIns="91440" tIns="45720" rIns="91440" bIns="45720" rtlCol="0" anchor="ctr">
            <a:normAutofit/>
          </a:bodyPr>
          <a:lstStyle/>
          <a:p>
            <a:pPr marL="0" marR="0" lvl="0" indent="0" fontAlgn="base">
              <a:spcBef>
                <a:spcPct val="0"/>
              </a:spcBef>
              <a:spcAft>
                <a:spcPts val="600"/>
              </a:spcAft>
              <a:buClrTx/>
              <a:buSzTx/>
              <a:buNone/>
              <a:tabLst/>
              <a:defRPr/>
            </a:pPr>
            <a:r>
              <a:rPr kumimoji="1" lang="en-US" sz="2000" b="1" i="0" u="none" strike="noStrike" cap="none" spc="0" normalizeH="0" baseline="0" noProof="0" dirty="0">
                <a:ln>
                  <a:noFill/>
                </a:ln>
                <a:effectLst/>
                <a:uLnTx/>
                <a:uFillTx/>
              </a:rPr>
              <a:t>(Utility)</a:t>
            </a:r>
          </a:p>
        </p:txBody>
      </p:sp>
    </p:spTree>
    <p:extLst>
      <p:ext uri="{BB962C8B-B14F-4D97-AF65-F5344CB8AC3E}">
        <p14:creationId xmlns:p14="http://schemas.microsoft.com/office/powerpoint/2010/main" val="2283678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Payoff (Utility) Example</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582081" y="1536700"/>
            <a:ext cx="10559712" cy="4589464"/>
          </a:xfrm>
          <a:prstGeom prst="rect">
            <a:avLst/>
          </a:prstGeom>
        </p:spPr>
      </p:pic>
    </p:spTree>
    <p:extLst>
      <p:ext uri="{BB962C8B-B14F-4D97-AF65-F5344CB8AC3E}">
        <p14:creationId xmlns:p14="http://schemas.microsoft.com/office/powerpoint/2010/main" val="1810610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 Payoffs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6" name="Picture 5"/>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Lst>
          </a:blip>
          <a:srcRect r="1786"/>
          <a:stretch/>
        </p:blipFill>
        <p:spPr>
          <a:xfrm>
            <a:off x="609600" y="1777288"/>
            <a:ext cx="10491744" cy="4360235"/>
          </a:xfrm>
          <a:prstGeom prst="rect">
            <a:avLst/>
          </a:prstGeom>
        </p:spPr>
      </p:pic>
    </p:spTree>
    <p:extLst>
      <p:ext uri="{BB962C8B-B14F-4D97-AF65-F5344CB8AC3E}">
        <p14:creationId xmlns:p14="http://schemas.microsoft.com/office/powerpoint/2010/main" val="384128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 Payoffs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a:blip r:embed="rId2"/>
          <a:stretch>
            <a:fillRect/>
          </a:stretch>
        </p:blipFill>
        <p:spPr>
          <a:xfrm>
            <a:off x="609600" y="1619876"/>
            <a:ext cx="11383577" cy="4506288"/>
          </a:xfrm>
          <a:prstGeom prst="rect">
            <a:avLst/>
          </a:prstGeom>
        </p:spPr>
      </p:pic>
    </p:spTree>
    <p:extLst>
      <p:ext uri="{BB962C8B-B14F-4D97-AF65-F5344CB8AC3E}">
        <p14:creationId xmlns:p14="http://schemas.microsoft.com/office/powerpoint/2010/main" val="2895954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 Payoffs</a:t>
            </a:r>
          </a:p>
        </p:txBody>
      </p:sp>
      <p:sp>
        <p:nvSpPr>
          <p:cNvPr id="3" name="Content Placeholder 2"/>
          <p:cNvSpPr>
            <a:spLocks noGrp="1"/>
          </p:cNvSpPr>
          <p:nvPr>
            <p:ph idx="1"/>
          </p:nvPr>
        </p:nvSpPr>
        <p:spPr>
          <a:xfrm>
            <a:off x="6083898" y="5665413"/>
            <a:ext cx="5846440" cy="752948"/>
          </a:xfrm>
        </p:spPr>
        <p:txBody>
          <a:bodyPr/>
          <a:lstStyle/>
          <a:p>
            <a:r>
              <a:rPr lang="en-US" dirty="0"/>
              <a:t>What is the best choice?</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rotWithShape="1">
          <a:blip r:embed="rId2"/>
          <a:srcRect r="51259"/>
          <a:stretch/>
        </p:blipFill>
        <p:spPr>
          <a:xfrm>
            <a:off x="379361" y="1515924"/>
            <a:ext cx="5572624" cy="4525963"/>
          </a:xfrm>
          <a:prstGeom prst="rect">
            <a:avLst/>
          </a:prstGeom>
        </p:spPr>
      </p:pic>
      <p:pic>
        <p:nvPicPr>
          <p:cNvPr id="6" name="Picture 5"/>
          <p:cNvPicPr>
            <a:picLocks noChangeAspect="1"/>
          </p:cNvPicPr>
          <p:nvPr/>
        </p:nvPicPr>
        <p:blipFill rotWithShape="1">
          <a:blip r:embed="rId3"/>
          <a:srcRect r="4603"/>
          <a:stretch/>
        </p:blipFill>
        <p:spPr>
          <a:xfrm>
            <a:off x="5916353" y="1600201"/>
            <a:ext cx="5724263" cy="3966174"/>
          </a:xfrm>
          <a:prstGeom prst="rect">
            <a:avLst/>
          </a:prstGeom>
        </p:spPr>
      </p:pic>
    </p:spTree>
    <p:extLst>
      <p:ext uri="{BB962C8B-B14F-4D97-AF65-F5344CB8AC3E}">
        <p14:creationId xmlns:p14="http://schemas.microsoft.com/office/powerpoint/2010/main" val="1645727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Grades Game Payoffs</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C7A802-68BF-4320-9A97-6325A41A81DD}" type="slidenum">
              <a:rPr kumimoji="1" lang="zh-TW" alt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1" lang="en-US" altLang="zh-TW"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新細明體" pitchFamily="18" charset="-120"/>
              <a:cs typeface="+mn-cs"/>
            </a:endParaRPr>
          </a:p>
        </p:txBody>
      </p:sp>
      <p:pic>
        <p:nvPicPr>
          <p:cNvPr id="5" name="Picture 4"/>
          <p:cNvPicPr>
            <a:picLocks noChangeAspect="1"/>
          </p:cNvPicPr>
          <p:nvPr/>
        </p:nvPicPr>
        <p:blipFill rotWithShape="1">
          <a:blip r:embed="rId2"/>
          <a:srcRect r="51259"/>
          <a:stretch/>
        </p:blipFill>
        <p:spPr>
          <a:xfrm>
            <a:off x="379361" y="1515924"/>
            <a:ext cx="5572624" cy="4525963"/>
          </a:xfrm>
          <a:prstGeom prst="rect">
            <a:avLst/>
          </a:prstGeom>
        </p:spPr>
      </p:pic>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5951985" y="1581946"/>
            <a:ext cx="5313189" cy="4329265"/>
          </a:xfrm>
          <a:prstGeom prst="rect">
            <a:avLst/>
          </a:prstGeom>
        </p:spPr>
      </p:pic>
    </p:spTree>
    <p:extLst>
      <p:ext uri="{BB962C8B-B14F-4D97-AF65-F5344CB8AC3E}">
        <p14:creationId xmlns:p14="http://schemas.microsoft.com/office/powerpoint/2010/main" val="3299433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a:t>Zero-Sum Game</a:t>
            </a:r>
          </a:p>
        </p:txBody>
      </p:sp>
      <p:sp>
        <p:nvSpPr>
          <p:cNvPr id="3" name="Content Placeholder 2"/>
          <p:cNvSpPr>
            <a:spLocks noGrp="1"/>
          </p:cNvSpPr>
          <p:nvPr>
            <p:ph idx="1"/>
          </p:nvPr>
        </p:nvSpPr>
        <p:spPr>
          <a:xfrm>
            <a:off x="1043631" y="3047147"/>
            <a:ext cx="9941319" cy="3438166"/>
          </a:xfrm>
        </p:spPr>
        <p:txBody>
          <a:bodyPr anchor="ctr">
            <a:normAutofit/>
          </a:bodyPr>
          <a:lstStyle/>
          <a:p>
            <a:pPr algn="just"/>
            <a:r>
              <a:rPr lang="en-US" dirty="0"/>
              <a:t>The games most commonly studied within AI (such as chess, tic-tac-toe and Go) are what game theorists call deterministic, two-player, turn-taking, perfect information, zero-sum games.</a:t>
            </a:r>
          </a:p>
          <a:p>
            <a:pPr algn="just"/>
            <a:r>
              <a:rPr lang="en-US" dirty="0"/>
              <a:t> “Perfect information” is a synonym for “fully observable,”1 and “zero-sum” means that what is good for one player is just as bad for the other: there is no “win-win” outcome. </a:t>
            </a:r>
          </a:p>
          <a:p>
            <a:pPr algn="just"/>
            <a:r>
              <a:rPr lang="en-US" dirty="0"/>
              <a:t>For games we often use the term move as a synonym for “action” and position as a synonym for “state.”</a:t>
            </a:r>
          </a:p>
          <a:p>
            <a:endParaRPr lang="en-US" sz="2200" dirty="0"/>
          </a:p>
          <a:p>
            <a:endParaRPr lang="en-US"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894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BC2277-B481-D889-BADE-6685CCAFF38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4197F0B-62C7-9711-4935-C467059DB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8C8B590-AB87-0760-CC8E-E93A56CF24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9B959F89-885B-1E62-8CF1-37A613663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AA17AE-DEF8-EFFF-E601-FB006178E5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7C3FFEF-BE03-AEB2-330F-67F311111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0C3FF17-C9F4-839C-827E-61A27010E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B6B8D-3703-2FE2-64BE-51DFC8A18509}"/>
              </a:ext>
            </a:extLst>
          </p:cNvPr>
          <p:cNvSpPr>
            <a:spLocks noGrp="1"/>
          </p:cNvSpPr>
          <p:nvPr>
            <p:ph type="title"/>
          </p:nvPr>
        </p:nvSpPr>
        <p:spPr>
          <a:xfrm>
            <a:off x="1043631" y="809898"/>
            <a:ext cx="9942716" cy="1554480"/>
          </a:xfrm>
        </p:spPr>
        <p:txBody>
          <a:bodyPr anchor="ctr">
            <a:normAutofit/>
          </a:bodyPr>
          <a:lstStyle/>
          <a:p>
            <a:r>
              <a:rPr lang="en-US" sz="4800"/>
              <a:t>Zero-Sum Game</a:t>
            </a:r>
          </a:p>
        </p:txBody>
      </p:sp>
      <p:sp>
        <p:nvSpPr>
          <p:cNvPr id="3" name="Content Placeholder 2">
            <a:extLst>
              <a:ext uri="{FF2B5EF4-FFF2-40B4-BE49-F238E27FC236}">
                <a16:creationId xmlns:a16="http://schemas.microsoft.com/office/drawing/2014/main" id="{556FE681-C8E2-CD53-29DE-88B220A1AC60}"/>
              </a:ext>
            </a:extLst>
          </p:cNvPr>
          <p:cNvSpPr>
            <a:spLocks noGrp="1"/>
          </p:cNvSpPr>
          <p:nvPr>
            <p:ph idx="1"/>
          </p:nvPr>
        </p:nvSpPr>
        <p:spPr>
          <a:xfrm>
            <a:off x="1043631" y="3122024"/>
            <a:ext cx="9941319" cy="3438166"/>
          </a:xfrm>
        </p:spPr>
        <p:txBody>
          <a:bodyPr anchor="ctr">
            <a:normAutofit/>
          </a:bodyPr>
          <a:lstStyle/>
          <a:p>
            <a:r>
              <a:rPr lang="en-US" dirty="0"/>
              <a:t>Two players MAX and MIN.</a:t>
            </a:r>
          </a:p>
          <a:p>
            <a:r>
              <a:rPr lang="en-US" dirty="0"/>
              <a:t>MAX moves first, and then the players take turns moving until the game is over. At the end of the game, points are awarded to the winning player and penalties are given to the loser. </a:t>
            </a:r>
          </a:p>
          <a:p>
            <a:r>
              <a:rPr lang="en-US" dirty="0"/>
              <a:t>One player of the game try to maximize one single value, while other player tries to minimize it.</a:t>
            </a:r>
          </a:p>
          <a:p>
            <a:r>
              <a:rPr lang="en-US" dirty="0"/>
              <a:t>Each move by one player in the game is called as </a:t>
            </a:r>
            <a:r>
              <a:rPr lang="en-US" b="1" dirty="0"/>
              <a:t>ply</a:t>
            </a:r>
            <a:r>
              <a:rPr lang="en-US" dirty="0"/>
              <a:t>.</a:t>
            </a:r>
          </a:p>
          <a:p>
            <a:endParaRPr lang="en-US" sz="2200" dirty="0"/>
          </a:p>
          <a:p>
            <a:endParaRPr lang="en-US" sz="2200" dirty="0"/>
          </a:p>
        </p:txBody>
      </p:sp>
      <p:cxnSp>
        <p:nvCxnSpPr>
          <p:cNvPr id="17" name="Straight Connector 16">
            <a:extLst>
              <a:ext uri="{FF2B5EF4-FFF2-40B4-BE49-F238E27FC236}">
                <a16:creationId xmlns:a16="http://schemas.microsoft.com/office/drawing/2014/main" id="{459ECFBC-B4DE-CD7C-6AB8-34B2081C7F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134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r>
              <a:rPr lang="en-US" sz="5400"/>
              <a:t>Formalization of the problem</a:t>
            </a:r>
          </a:p>
        </p:txBody>
      </p:sp>
      <p:grpSp>
        <p:nvGrpSpPr>
          <p:cNvPr id="17" name="Group 1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8" name="Rectangle 1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3660" y="2599509"/>
                <a:ext cx="10453460" cy="3435531"/>
              </a:xfrm>
            </p:spPr>
            <p:txBody>
              <a:bodyPr anchor="ctr">
                <a:normAutofit fontScale="92500" lnSpcReduction="20000"/>
              </a:bodyPr>
              <a:lstStyle/>
              <a:p>
                <a:r>
                  <a:rPr lang="en-US" sz="2400" dirty="0"/>
                  <a:t>A game can be defined as a type of search in AI which can be formalized of the following elements:</a:t>
                </a:r>
              </a:p>
              <a:p>
                <a:r>
                  <a:rPr lang="en-US" sz="2400" b="1" dirty="0"/>
                  <a:t>Initial state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𝑺</m:t>
                        </m:r>
                      </m:e>
                      <m:sub>
                        <m:r>
                          <a:rPr lang="en-US" sz="2400" b="1" i="1" smtClean="0">
                            <a:latin typeface="Cambria Math" panose="02040503050406030204" pitchFamily="18" charset="0"/>
                          </a:rPr>
                          <m:t>𝟎</m:t>
                        </m:r>
                      </m:sub>
                    </m:sSub>
                    <m:r>
                      <a:rPr lang="en-US" sz="2400" b="1" i="1" smtClean="0">
                        <a:latin typeface="Cambria Math" panose="02040503050406030204" pitchFamily="18" charset="0"/>
                      </a:rPr>
                      <m:t>)</m:t>
                    </m:r>
                  </m:oMath>
                </a14:m>
                <a:endParaRPr lang="en-US" sz="2400" b="1" dirty="0"/>
              </a:p>
              <a:p>
                <a:pPr lvl="1"/>
                <a:r>
                  <a:rPr lang="en-US" dirty="0"/>
                  <a:t>It specifies how the game is set up at the start.</a:t>
                </a:r>
              </a:p>
              <a:p>
                <a:r>
                  <a:rPr lang="en-US" sz="2400" b="1" dirty="0"/>
                  <a:t>Player(s) – </a:t>
                </a:r>
                <a:r>
                  <a:rPr lang="en-US" sz="2400" b="1" dirty="0" err="1"/>
                  <a:t>To_Move</a:t>
                </a:r>
                <a:r>
                  <a:rPr lang="en-US" sz="2400" b="1" dirty="0"/>
                  <a:t>(s)</a:t>
                </a:r>
              </a:p>
              <a:p>
                <a:pPr lvl="1"/>
                <a:r>
                  <a:rPr lang="en-US" dirty="0"/>
                  <a:t>It specifies which player has moved in the state space.</a:t>
                </a:r>
              </a:p>
              <a:p>
                <a:r>
                  <a:rPr lang="en-US" sz="2400" b="1" dirty="0"/>
                  <a:t>Action(s)</a:t>
                </a:r>
              </a:p>
              <a:p>
                <a:pPr lvl="1"/>
                <a:r>
                  <a:rPr lang="en-US" dirty="0"/>
                  <a:t>It returns the set of legal moves in state space.</a:t>
                </a:r>
              </a:p>
              <a:p>
                <a:r>
                  <a:rPr lang="en-US" sz="2400" b="1" dirty="0"/>
                  <a:t>Result(s, a)</a:t>
                </a:r>
              </a:p>
              <a:p>
                <a:pPr lvl="1"/>
                <a:r>
                  <a:rPr lang="en-US" dirty="0"/>
                  <a:t>It is the transition model, which specifies the result of moves in the state space.</a:t>
                </a:r>
              </a:p>
              <a:p>
                <a:endParaRPr lang="en-US" sz="17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3660" y="2599509"/>
                <a:ext cx="10453460" cy="3435531"/>
              </a:xfrm>
              <a:blipFill>
                <a:blip r:embed="rId2"/>
                <a:stretch>
                  <a:fillRect l="-641" t="-4610" r="-117"/>
                </a:stretch>
              </a:blipFill>
            </p:spPr>
            <p:txBody>
              <a:bodyPr/>
              <a:lstStyle/>
              <a:p>
                <a:r>
                  <a:rPr lang="en-US">
                    <a:noFill/>
                  </a:rPr>
                  <a:t> </a:t>
                </a:r>
              </a:p>
            </p:txBody>
          </p:sp>
        </mc:Fallback>
      </mc:AlternateContent>
    </p:spTree>
    <p:extLst>
      <p:ext uri="{BB962C8B-B14F-4D97-AF65-F5344CB8AC3E}">
        <p14:creationId xmlns:p14="http://schemas.microsoft.com/office/powerpoint/2010/main" val="2415797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anchor="b">
            <a:normAutofit/>
          </a:bodyPr>
          <a:lstStyle/>
          <a:p>
            <a:r>
              <a:rPr lang="en-US" sz="5400"/>
              <a:t>Contd..</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0" y="2599509"/>
            <a:ext cx="10143668" cy="3435531"/>
          </a:xfrm>
        </p:spPr>
        <p:txBody>
          <a:bodyPr anchor="ctr">
            <a:normAutofit/>
          </a:bodyPr>
          <a:lstStyle/>
          <a:p>
            <a:r>
              <a:rPr lang="en-US" sz="2200" b="1"/>
              <a:t>Terminal-Test(s)</a:t>
            </a:r>
          </a:p>
          <a:p>
            <a:pPr lvl="1"/>
            <a:r>
              <a:rPr lang="en-US" sz="2200"/>
              <a:t>The state where the game ends is called terminal states.</a:t>
            </a:r>
          </a:p>
          <a:p>
            <a:pPr lvl="1"/>
            <a:r>
              <a:rPr lang="en-US" sz="2200"/>
              <a:t>Terminal test is true if the game is over, else it is false at any case. </a:t>
            </a:r>
          </a:p>
          <a:p>
            <a:r>
              <a:rPr lang="en-US" sz="2200" b="1"/>
              <a:t>Utility(s, p)</a:t>
            </a:r>
          </a:p>
          <a:p>
            <a:pPr lvl="1"/>
            <a:r>
              <a:rPr lang="en-US" sz="2200"/>
              <a:t>A utility function gives the final numeric value for a game that ends in terminal states s for player p. It is also called payoff function. (</a:t>
            </a:r>
            <a:r>
              <a:rPr lang="en-US" sz="2200" b="1"/>
              <a:t>Reward after winning the game</a:t>
            </a:r>
            <a:r>
              <a:rPr lang="en-US" sz="2200"/>
              <a:t>)</a:t>
            </a:r>
          </a:p>
          <a:p>
            <a:pPr lvl="1"/>
            <a:r>
              <a:rPr lang="en-US" sz="2200"/>
              <a:t>For Chess, the outcomes are a win, loss, or draw and its payoff values are +1, 0, ½. And for tic-tac-toe, utility values are +1, -1, and 0</a:t>
            </a:r>
          </a:p>
        </p:txBody>
      </p:sp>
    </p:spTree>
    <p:extLst>
      <p:ext uri="{BB962C8B-B14F-4D97-AF65-F5344CB8AC3E}">
        <p14:creationId xmlns:p14="http://schemas.microsoft.com/office/powerpoint/2010/main" val="2982828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2963" y="1238080"/>
            <a:ext cx="9849751" cy="1349671"/>
          </a:xfrm>
        </p:spPr>
        <p:txBody>
          <a:bodyPr anchor="b">
            <a:normAutofit/>
          </a:bodyPr>
          <a:lstStyle/>
          <a:p>
            <a:r>
              <a:rPr lang="en-US" sz="5400" dirty="0"/>
              <a:t>Game tree</a:t>
            </a:r>
          </a:p>
        </p:txBody>
      </p:sp>
      <p:sp>
        <p:nvSpPr>
          <p:cNvPr id="3" name="Content Placeholder 2"/>
          <p:cNvSpPr>
            <a:spLocks noGrp="1"/>
          </p:cNvSpPr>
          <p:nvPr>
            <p:ph idx="1"/>
          </p:nvPr>
        </p:nvSpPr>
        <p:spPr>
          <a:xfrm>
            <a:off x="1289304" y="2902913"/>
            <a:ext cx="9849751" cy="3032168"/>
          </a:xfrm>
        </p:spPr>
        <p:txBody>
          <a:bodyPr anchor="ctr">
            <a:normAutofit/>
          </a:bodyPr>
          <a:lstStyle/>
          <a:p>
            <a:r>
              <a:rPr lang="en-US" dirty="0"/>
              <a:t>The initial state, Actions functions and Result function define game tree for a game.</a:t>
            </a:r>
          </a:p>
          <a:p>
            <a:r>
              <a:rPr lang="en-US" dirty="0"/>
              <a:t>A game tree is a tree where </a:t>
            </a:r>
            <a:r>
              <a:rPr lang="en-US" dirty="0">
                <a:solidFill>
                  <a:srgbClr val="FF0000"/>
                </a:solidFill>
              </a:rPr>
              <a:t>nodes of the tree are the game states</a:t>
            </a:r>
            <a:r>
              <a:rPr lang="en-US" dirty="0"/>
              <a:t> and </a:t>
            </a:r>
            <a:r>
              <a:rPr lang="en-US" dirty="0">
                <a:solidFill>
                  <a:schemeClr val="accent5">
                    <a:lumMod val="75000"/>
                  </a:schemeClr>
                </a:solidFill>
              </a:rPr>
              <a:t>Edges of the tree are the moves </a:t>
            </a:r>
            <a:r>
              <a:rPr lang="en-US" dirty="0"/>
              <a:t>by players. </a:t>
            </a:r>
          </a:p>
          <a:p>
            <a:r>
              <a:rPr lang="en-US" dirty="0"/>
              <a:t>Also named as search tree and space graph.</a:t>
            </a:r>
            <a:endParaRPr lang="en-US" sz="2000" dirty="0"/>
          </a:p>
        </p:txBody>
      </p:sp>
    </p:spTree>
    <p:extLst>
      <p:ext uri="{BB962C8B-B14F-4D97-AF65-F5344CB8AC3E}">
        <p14:creationId xmlns:p14="http://schemas.microsoft.com/office/powerpoint/2010/main" val="1495579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0" name="Rectangle 104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52" name="Rectangle 105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8" name="Rectangle 105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Tic-Tac-Toe game tree</a:t>
            </a:r>
          </a:p>
        </p:txBody>
      </p:sp>
      <p:pic>
        <p:nvPicPr>
          <p:cNvPr id="3" name="Picture 2" descr="A robot drawing a game&#10;&#10;AI-generated content may be incorrect.">
            <a:extLst>
              <a:ext uri="{FF2B5EF4-FFF2-40B4-BE49-F238E27FC236}">
                <a16:creationId xmlns:a16="http://schemas.microsoft.com/office/drawing/2014/main" id="{B2F79B11-0800-309F-0038-9AD1090043E8}"/>
              </a:ext>
            </a:extLst>
          </p:cNvPr>
          <p:cNvPicPr>
            <a:picLocks noChangeAspect="1"/>
          </p:cNvPicPr>
          <p:nvPr/>
        </p:nvPicPr>
        <p:blipFill>
          <a:blip r:embed="rId3"/>
          <a:stretch>
            <a:fillRect/>
          </a:stretch>
        </p:blipFill>
        <p:spPr>
          <a:xfrm>
            <a:off x="9007122" y="4234942"/>
            <a:ext cx="2815086" cy="1576448"/>
          </a:xfrm>
          <a:prstGeom prst="rect">
            <a:avLst/>
          </a:prstGeom>
        </p:spPr>
      </p:pic>
      <p:pic>
        <p:nvPicPr>
          <p:cNvPr id="1026" name="Picture 2" descr="A diagram of a diagram&#10;&#10;AI-generated content may be incorrect.">
            <a:extLst>
              <a:ext uri="{FF2B5EF4-FFF2-40B4-BE49-F238E27FC236}">
                <a16:creationId xmlns:a16="http://schemas.microsoft.com/office/drawing/2014/main" id="{CC64F9AC-3A8A-A0AD-817B-C934DBC7ADF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369792" y="1576447"/>
            <a:ext cx="8726213" cy="5170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428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Mini-Max Algorithm</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7331737" cy="5585619"/>
          </a:xfrm>
        </p:spPr>
        <p:txBody>
          <a:bodyPr anchor="ctr">
            <a:normAutofit/>
          </a:bodyPr>
          <a:lstStyle/>
          <a:p>
            <a:r>
              <a:rPr lang="en-US" sz="2400" dirty="0"/>
              <a:t>A recursive or </a:t>
            </a:r>
            <a:r>
              <a:rPr lang="en-US" sz="2400" b="1" dirty="0"/>
              <a:t>backtracking</a:t>
            </a:r>
            <a:r>
              <a:rPr lang="en-US" sz="2400" dirty="0"/>
              <a:t> algorithm</a:t>
            </a:r>
          </a:p>
          <a:p>
            <a:pPr lvl="1"/>
            <a:r>
              <a:rPr lang="en-US" dirty="0"/>
              <a:t>The algorithm proceeds all the way down to the terminal node of the tree, compare the values and backtrack the tree to root node to decide the move.</a:t>
            </a:r>
          </a:p>
          <a:p>
            <a:r>
              <a:rPr lang="en-US" sz="2400" dirty="0"/>
              <a:t>Performs a depth-first search algorithm for the exploration of the complete game tree.</a:t>
            </a:r>
          </a:p>
          <a:p>
            <a:r>
              <a:rPr lang="en-US" sz="2400" b="1" dirty="0"/>
              <a:t>Best Move strategy used </a:t>
            </a:r>
          </a:p>
          <a:p>
            <a:pPr lvl="1"/>
            <a:r>
              <a:rPr lang="en-US" dirty="0"/>
              <a:t>Both players will adopt best move to not allow the opponent to win </a:t>
            </a:r>
          </a:p>
          <a:p>
            <a:r>
              <a:rPr lang="en-US" sz="2400" dirty="0"/>
              <a:t>Computes the minimax decision for the current state</a:t>
            </a:r>
          </a:p>
          <a:p>
            <a:pPr lvl="1"/>
            <a:r>
              <a:rPr lang="en-US" dirty="0"/>
              <a:t>Max will try to maximize its utility (Best move)</a:t>
            </a:r>
          </a:p>
          <a:p>
            <a:pPr lvl="1"/>
            <a:r>
              <a:rPr lang="en-US" dirty="0"/>
              <a:t>Min will try to minimize the utility (Worst move)</a:t>
            </a:r>
          </a:p>
          <a:p>
            <a:endParaRPr lang="en-US" sz="2400" dirty="0"/>
          </a:p>
          <a:p>
            <a:endParaRPr lang="en-US" sz="1500" dirty="0"/>
          </a:p>
        </p:txBody>
      </p:sp>
    </p:spTree>
    <p:extLst>
      <p:ext uri="{BB962C8B-B14F-4D97-AF65-F5344CB8AC3E}">
        <p14:creationId xmlns:p14="http://schemas.microsoft.com/office/powerpoint/2010/main" val="3731594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503B8E-BB9B-E899-FADD-DD4829B75E7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00C9374-414C-9FFE-3564-F2B6971E8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5D4EB83-26ED-98D1-A9EB-D3D69C839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90F822-B567-1872-1F0E-7F2E66793AE9}"/>
              </a:ext>
            </a:extLst>
          </p:cNvPr>
          <p:cNvSpPr>
            <a:spLocks noGrp="1"/>
          </p:cNvSpPr>
          <p:nvPr>
            <p:ph type="title"/>
          </p:nvPr>
        </p:nvSpPr>
        <p:spPr>
          <a:xfrm>
            <a:off x="686834" y="1153572"/>
            <a:ext cx="3200400" cy="4461163"/>
          </a:xfrm>
        </p:spPr>
        <p:txBody>
          <a:bodyPr>
            <a:normAutofit/>
          </a:bodyPr>
          <a:lstStyle/>
          <a:p>
            <a:r>
              <a:rPr lang="en-US">
                <a:solidFill>
                  <a:srgbClr val="FFFFFF"/>
                </a:solidFill>
              </a:rPr>
              <a:t>Mini-Max Algorithm</a:t>
            </a:r>
          </a:p>
        </p:txBody>
      </p:sp>
      <p:sp>
        <p:nvSpPr>
          <p:cNvPr id="22" name="Arc 21">
            <a:extLst>
              <a:ext uri="{FF2B5EF4-FFF2-40B4-BE49-F238E27FC236}">
                <a16:creationId xmlns:a16="http://schemas.microsoft.com/office/drawing/2014/main" id="{83CCBE7C-2246-CB41-E8F5-45FBC7C3B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A3246B7-7ADB-A384-247D-BD87F9BBEB1E}"/>
              </a:ext>
            </a:extLst>
          </p:cNvPr>
          <p:cNvSpPr>
            <a:spLocks noGrp="1"/>
          </p:cNvSpPr>
          <p:nvPr>
            <p:ph idx="1"/>
          </p:nvPr>
        </p:nvSpPr>
        <p:spPr>
          <a:xfrm>
            <a:off x="4447308" y="591344"/>
            <a:ext cx="7331737" cy="5585619"/>
          </a:xfrm>
        </p:spPr>
        <p:txBody>
          <a:bodyPr anchor="ctr">
            <a:normAutofit/>
          </a:bodyPr>
          <a:lstStyle/>
          <a:p>
            <a:r>
              <a:rPr lang="en-US" sz="2400" b="1" dirty="0"/>
              <a:t>Why not BFS?</a:t>
            </a:r>
            <a:br>
              <a:rPr lang="en-US" sz="2400" dirty="0"/>
            </a:br>
            <a:r>
              <a:rPr lang="en-US" sz="2400" dirty="0"/>
              <a:t>BFS expands the game tree level-by-level and requires storing all nodes at each level, causing massive memory usage. </a:t>
            </a:r>
          </a:p>
          <a:p>
            <a:r>
              <a:rPr lang="en-US" sz="2400" dirty="0"/>
              <a:t>Minimax needs to evaluate terminal states first, and recursion with backtracking is only possible using DFS. DFS goes directly to leaves, computes utility values, and returns them upward, which is exactly how minimax works. </a:t>
            </a:r>
          </a:p>
          <a:p>
            <a:r>
              <a:rPr lang="en-US" sz="2400" dirty="0"/>
              <a:t>BFS does not allow efficient backtracking, does not reach terminal nodes early, and is not compatible with the recursive nature of minimax.</a:t>
            </a:r>
          </a:p>
          <a:p>
            <a:endParaRPr lang="en-US" sz="1500" dirty="0"/>
          </a:p>
        </p:txBody>
      </p:sp>
    </p:spTree>
    <p:extLst>
      <p:ext uri="{BB962C8B-B14F-4D97-AF65-F5344CB8AC3E}">
        <p14:creationId xmlns:p14="http://schemas.microsoft.com/office/powerpoint/2010/main" val="4244093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FD532B-564B-C9DA-D441-BF31D8C5828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MINMAX Value</a:t>
            </a:r>
          </a:p>
        </p:txBody>
      </p:sp>
      <p:pic>
        <p:nvPicPr>
          <p:cNvPr id="8" name="Content Placeholder 7">
            <a:extLst>
              <a:ext uri="{FF2B5EF4-FFF2-40B4-BE49-F238E27FC236}">
                <a16:creationId xmlns:a16="http://schemas.microsoft.com/office/drawing/2014/main" id="{EA592745-336F-2E88-9DB4-BFE44E3508A4}"/>
              </a:ext>
            </a:extLst>
          </p:cNvPr>
          <p:cNvPicPr>
            <a:picLocks noGrp="1" noChangeAspect="1"/>
          </p:cNvPicPr>
          <p:nvPr>
            <p:ph idx="1"/>
          </p:nvPr>
        </p:nvPicPr>
        <p:blipFill>
          <a:blip r:embed="rId2"/>
          <a:stretch>
            <a:fillRect/>
          </a:stretch>
        </p:blipFill>
        <p:spPr>
          <a:xfrm>
            <a:off x="3516316" y="0"/>
            <a:ext cx="8551801" cy="5066789"/>
          </a:xfrm>
          <a:prstGeom prst="rect">
            <a:avLst/>
          </a:prstGeom>
        </p:spPr>
      </p:pic>
      <p:pic>
        <p:nvPicPr>
          <p:cNvPr id="11" name="Picture 10">
            <a:extLst>
              <a:ext uri="{FF2B5EF4-FFF2-40B4-BE49-F238E27FC236}">
                <a16:creationId xmlns:a16="http://schemas.microsoft.com/office/drawing/2014/main" id="{2C1286ED-38B8-368C-7338-AF19C8E61F49}"/>
              </a:ext>
            </a:extLst>
          </p:cNvPr>
          <p:cNvPicPr>
            <a:picLocks noChangeAspect="1"/>
          </p:cNvPicPr>
          <p:nvPr/>
        </p:nvPicPr>
        <p:blipFill>
          <a:blip r:embed="rId3"/>
          <a:srcRect l="15085" r="15431"/>
          <a:stretch/>
        </p:blipFill>
        <p:spPr>
          <a:xfrm>
            <a:off x="3657600" y="4274727"/>
            <a:ext cx="6744929" cy="2583273"/>
          </a:xfrm>
          <a:prstGeom prst="rect">
            <a:avLst/>
          </a:prstGeom>
        </p:spPr>
      </p:pic>
    </p:spTree>
    <p:extLst>
      <p:ext uri="{BB962C8B-B14F-4D97-AF65-F5344CB8AC3E}">
        <p14:creationId xmlns:p14="http://schemas.microsoft.com/office/powerpoint/2010/main" val="3133706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Isosceles Triangle 3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diagram of a tree&#10;&#10;AI-generated content may be incorrect.">
            <a:extLst>
              <a:ext uri="{FF2B5EF4-FFF2-40B4-BE49-F238E27FC236}">
                <a16:creationId xmlns:a16="http://schemas.microsoft.com/office/drawing/2014/main" id="{7C5E3F95-4AF3-27CB-DF71-101C71CAB9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907203"/>
            <a:ext cx="10905066" cy="5208298"/>
          </a:xfrm>
          <a:prstGeom prst="rect">
            <a:avLst/>
          </a:prstGeom>
          <a:ln>
            <a:noFill/>
          </a:ln>
        </p:spPr>
      </p:pic>
      <p:sp>
        <p:nvSpPr>
          <p:cNvPr id="39" name="Isosceles Triangle 3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224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a:xfrm>
            <a:off x="1905000" y="228600"/>
            <a:ext cx="8305800" cy="838200"/>
          </a:xfrm>
        </p:spPr>
        <p:txBody>
          <a:bodyPr/>
          <a:lstStyle/>
          <a:p>
            <a:r>
              <a:rPr lang="en-US" dirty="0"/>
              <a:t>Task</a:t>
            </a:r>
          </a:p>
        </p:txBody>
      </p:sp>
      <p:sp>
        <p:nvSpPr>
          <p:cNvPr id="27" name="Content Placeholder 2"/>
          <p:cNvSpPr>
            <a:spLocks noGrp="1"/>
          </p:cNvSpPr>
          <p:nvPr>
            <p:ph idx="1"/>
          </p:nvPr>
        </p:nvSpPr>
        <p:spPr>
          <a:xfrm>
            <a:off x="1903414" y="1295401"/>
            <a:ext cx="8307387" cy="4810125"/>
          </a:xfrm>
        </p:spPr>
        <p:txBody>
          <a:bodyPr/>
          <a:lstStyle/>
          <a:p>
            <a:endParaRPr lang="en-US" dirty="0"/>
          </a:p>
          <a:p>
            <a:endParaRPr lang="en-US" dirty="0"/>
          </a:p>
          <a:p>
            <a:endParaRPr lang="en-US" dirty="0"/>
          </a:p>
          <a:p>
            <a:endParaRPr lang="en-US" dirty="0"/>
          </a:p>
          <a:p>
            <a:pPr marL="0" indent="0">
              <a:buNone/>
            </a:pPr>
            <a:endParaRPr lang="en-US" dirty="0"/>
          </a:p>
          <a:p>
            <a:endParaRPr lang="en-US" dirty="0"/>
          </a:p>
          <a:p>
            <a:pPr marL="0" indent="0">
              <a:buNone/>
            </a:pPr>
            <a:endParaRPr lang="en-US" dirty="0"/>
          </a:p>
          <a:p>
            <a:endParaRPr lang="en-US" dirty="0"/>
          </a:p>
        </p:txBody>
      </p:sp>
      <p:sp>
        <p:nvSpPr>
          <p:cNvPr id="28" name="Oval 27"/>
          <p:cNvSpPr/>
          <p:nvPr/>
        </p:nvSpPr>
        <p:spPr bwMode="auto">
          <a:xfrm>
            <a:off x="4997383" y="1219200"/>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A</a:t>
            </a:r>
            <a:endParaRPr lang="en-US" sz="2400" dirty="0">
              <a:latin typeface="Times New Roman" pitchFamily="18" charset="0"/>
            </a:endParaRPr>
          </a:p>
        </p:txBody>
      </p:sp>
      <p:sp>
        <p:nvSpPr>
          <p:cNvPr id="29" name="Oval 28"/>
          <p:cNvSpPr/>
          <p:nvPr/>
        </p:nvSpPr>
        <p:spPr bwMode="auto">
          <a:xfrm>
            <a:off x="6355039" y="2173571"/>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C</a:t>
            </a:r>
            <a:endParaRPr lang="en-US" sz="2400" dirty="0">
              <a:latin typeface="Times New Roman" pitchFamily="18" charset="0"/>
            </a:endParaRPr>
          </a:p>
        </p:txBody>
      </p:sp>
      <p:sp>
        <p:nvSpPr>
          <p:cNvPr id="30" name="Oval 29"/>
          <p:cNvSpPr/>
          <p:nvPr/>
        </p:nvSpPr>
        <p:spPr bwMode="auto">
          <a:xfrm>
            <a:off x="5771686" y="3238172"/>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F</a:t>
            </a:r>
            <a:endParaRPr lang="en-US" sz="2400" dirty="0">
              <a:latin typeface="Times New Roman" pitchFamily="18" charset="0"/>
            </a:endParaRPr>
          </a:p>
        </p:txBody>
      </p:sp>
      <p:sp>
        <p:nvSpPr>
          <p:cNvPr id="31" name="Oval 30"/>
          <p:cNvSpPr/>
          <p:nvPr/>
        </p:nvSpPr>
        <p:spPr bwMode="auto">
          <a:xfrm>
            <a:off x="7128485" y="3238172"/>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G</a:t>
            </a:r>
            <a:endParaRPr lang="en-US" sz="2400" dirty="0">
              <a:latin typeface="Times New Roman" pitchFamily="18" charset="0"/>
            </a:endParaRPr>
          </a:p>
        </p:txBody>
      </p:sp>
      <p:sp>
        <p:nvSpPr>
          <p:cNvPr id="32" name="Oval 31"/>
          <p:cNvSpPr/>
          <p:nvPr/>
        </p:nvSpPr>
        <p:spPr bwMode="auto">
          <a:xfrm>
            <a:off x="4484650" y="3301808"/>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E</a:t>
            </a:r>
            <a:endParaRPr lang="en-US" sz="2400" dirty="0">
              <a:latin typeface="Times New Roman" pitchFamily="18" charset="0"/>
            </a:endParaRPr>
          </a:p>
        </p:txBody>
      </p:sp>
      <p:sp>
        <p:nvSpPr>
          <p:cNvPr id="34" name="Oval 33"/>
          <p:cNvSpPr/>
          <p:nvPr/>
        </p:nvSpPr>
        <p:spPr bwMode="auto">
          <a:xfrm>
            <a:off x="3077424" y="3238172"/>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D</a:t>
            </a:r>
            <a:endParaRPr lang="en-US" sz="2400" dirty="0">
              <a:latin typeface="Times New Roman" pitchFamily="18" charset="0"/>
            </a:endParaRPr>
          </a:p>
        </p:txBody>
      </p:sp>
      <p:sp>
        <p:nvSpPr>
          <p:cNvPr id="35" name="Oval 34"/>
          <p:cNvSpPr/>
          <p:nvPr/>
        </p:nvSpPr>
        <p:spPr bwMode="auto">
          <a:xfrm>
            <a:off x="2514600" y="4343400"/>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H</a:t>
            </a:r>
            <a:endParaRPr lang="en-US" sz="2400" dirty="0">
              <a:latin typeface="Times New Roman" pitchFamily="18" charset="0"/>
            </a:endParaRPr>
          </a:p>
        </p:txBody>
      </p:sp>
      <p:sp>
        <p:nvSpPr>
          <p:cNvPr id="36" name="Oval 35"/>
          <p:cNvSpPr/>
          <p:nvPr/>
        </p:nvSpPr>
        <p:spPr bwMode="auto">
          <a:xfrm>
            <a:off x="3921659" y="2262845"/>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B</a:t>
            </a:r>
            <a:endParaRPr lang="en-US" sz="2400" dirty="0">
              <a:latin typeface="Times New Roman" pitchFamily="18" charset="0"/>
            </a:endParaRPr>
          </a:p>
        </p:txBody>
      </p:sp>
      <p:cxnSp>
        <p:nvCxnSpPr>
          <p:cNvPr id="37" name="Straight Arrow Connector 36"/>
          <p:cNvCxnSpPr>
            <a:stCxn id="28" idx="3"/>
            <a:endCxn id="36" idx="7"/>
          </p:cNvCxnSpPr>
          <p:nvPr/>
        </p:nvCxnSpPr>
        <p:spPr bwMode="auto">
          <a:xfrm flipH="1">
            <a:off x="4402059" y="1739527"/>
            <a:ext cx="677748" cy="612593"/>
          </a:xfrm>
          <a:prstGeom prst="straightConnector1">
            <a:avLst/>
          </a:prstGeom>
          <a:noFill/>
          <a:ln w="25400" cap="flat" cmpd="sng" algn="ctr">
            <a:solidFill>
              <a:schemeClr val="tx1"/>
            </a:solidFill>
            <a:prstDash val="solid"/>
            <a:round/>
            <a:headEnd type="none" w="med" len="med"/>
            <a:tailEnd type="triangle"/>
          </a:ln>
          <a:effectLst/>
        </p:spPr>
      </p:cxnSp>
      <p:cxnSp>
        <p:nvCxnSpPr>
          <p:cNvPr id="38" name="Straight Arrow Connector 37"/>
          <p:cNvCxnSpPr>
            <a:stCxn id="36" idx="3"/>
            <a:endCxn id="34" idx="7"/>
          </p:cNvCxnSpPr>
          <p:nvPr/>
        </p:nvCxnSpPr>
        <p:spPr bwMode="auto">
          <a:xfrm flipH="1">
            <a:off x="3557825" y="2783172"/>
            <a:ext cx="446259" cy="544275"/>
          </a:xfrm>
          <a:prstGeom prst="straightConnector1">
            <a:avLst/>
          </a:prstGeom>
          <a:noFill/>
          <a:ln w="25400" cap="flat" cmpd="sng" algn="ctr">
            <a:solidFill>
              <a:schemeClr val="tx1"/>
            </a:solidFill>
            <a:prstDash val="solid"/>
            <a:round/>
            <a:headEnd type="none" w="med" len="med"/>
            <a:tailEnd type="triangle"/>
          </a:ln>
          <a:effectLst/>
        </p:spPr>
      </p:cxnSp>
      <p:cxnSp>
        <p:nvCxnSpPr>
          <p:cNvPr id="39" name="Straight Arrow Connector 38"/>
          <p:cNvCxnSpPr/>
          <p:nvPr/>
        </p:nvCxnSpPr>
        <p:spPr bwMode="auto">
          <a:xfrm flipH="1">
            <a:off x="2895506" y="3783921"/>
            <a:ext cx="363836" cy="584902"/>
          </a:xfrm>
          <a:prstGeom prst="straightConnector1">
            <a:avLst/>
          </a:prstGeom>
          <a:noFill/>
          <a:ln w="25400"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a:off x="4336920" y="2852953"/>
            <a:ext cx="335298" cy="455001"/>
          </a:xfrm>
          <a:prstGeom prst="straightConnector1">
            <a:avLst/>
          </a:prstGeom>
          <a:noFill/>
          <a:ln w="25400" cap="flat" cmpd="sng" algn="ctr">
            <a:solidFill>
              <a:schemeClr val="tx1"/>
            </a:solidFill>
            <a:prstDash val="solid"/>
            <a:round/>
            <a:headEnd type="none" w="med" len="med"/>
            <a:tailEnd type="triangle"/>
          </a:ln>
          <a:effectLst/>
        </p:spPr>
      </p:cxnSp>
      <p:cxnSp>
        <p:nvCxnSpPr>
          <p:cNvPr id="41" name="Straight Arrow Connector 40"/>
          <p:cNvCxnSpPr>
            <a:endCxn id="48" idx="0"/>
          </p:cNvCxnSpPr>
          <p:nvPr/>
        </p:nvCxnSpPr>
        <p:spPr bwMode="auto">
          <a:xfrm>
            <a:off x="3238842" y="3828099"/>
            <a:ext cx="262710" cy="572809"/>
          </a:xfrm>
          <a:prstGeom prst="straightConnector1">
            <a:avLst/>
          </a:prstGeom>
          <a:noFill/>
          <a:ln w="25400" cap="flat" cmpd="sng" algn="ctr">
            <a:solidFill>
              <a:schemeClr val="tx1"/>
            </a:solidFill>
            <a:prstDash val="solid"/>
            <a:round/>
            <a:headEnd type="none" w="med" len="med"/>
            <a:tailEnd type="triangle"/>
          </a:ln>
          <a:effectLst/>
        </p:spPr>
      </p:cxnSp>
      <p:cxnSp>
        <p:nvCxnSpPr>
          <p:cNvPr id="42" name="Straight Arrow Connector 41"/>
          <p:cNvCxnSpPr>
            <a:stCxn id="28" idx="5"/>
            <a:endCxn id="29" idx="1"/>
          </p:cNvCxnSpPr>
          <p:nvPr/>
        </p:nvCxnSpPr>
        <p:spPr bwMode="auto">
          <a:xfrm>
            <a:off x="5477783" y="1739527"/>
            <a:ext cx="959680" cy="523319"/>
          </a:xfrm>
          <a:prstGeom prst="straightConnector1">
            <a:avLst/>
          </a:prstGeom>
          <a:noFill/>
          <a:ln w="25400" cap="flat" cmpd="sng" algn="ctr">
            <a:solidFill>
              <a:schemeClr val="tx1"/>
            </a:solidFill>
            <a:prstDash val="solid"/>
            <a:round/>
            <a:headEnd type="none" w="med" len="med"/>
            <a:tailEnd type="triangle"/>
          </a:ln>
          <a:effectLst/>
        </p:spPr>
      </p:cxnSp>
      <p:cxnSp>
        <p:nvCxnSpPr>
          <p:cNvPr id="43" name="Straight Arrow Connector 42"/>
          <p:cNvCxnSpPr>
            <a:stCxn id="29" idx="3"/>
          </p:cNvCxnSpPr>
          <p:nvPr/>
        </p:nvCxnSpPr>
        <p:spPr bwMode="auto">
          <a:xfrm flipH="1">
            <a:off x="6155531" y="2693898"/>
            <a:ext cx="281932" cy="544275"/>
          </a:xfrm>
          <a:prstGeom prst="straightConnector1">
            <a:avLst/>
          </a:prstGeom>
          <a:noFill/>
          <a:ln w="25400" cap="flat" cmpd="sng" algn="ctr">
            <a:solidFill>
              <a:schemeClr val="tx1"/>
            </a:solidFill>
            <a:prstDash val="solid"/>
            <a:round/>
            <a:headEnd type="none" w="med" len="med"/>
            <a:tailEnd type="triangle"/>
          </a:ln>
          <a:effectLst/>
        </p:spPr>
      </p:cxnSp>
      <p:cxnSp>
        <p:nvCxnSpPr>
          <p:cNvPr id="44" name="Straight Arrow Connector 43"/>
          <p:cNvCxnSpPr>
            <a:stCxn id="29" idx="5"/>
          </p:cNvCxnSpPr>
          <p:nvPr/>
        </p:nvCxnSpPr>
        <p:spPr bwMode="auto">
          <a:xfrm>
            <a:off x="6835439" y="2693898"/>
            <a:ext cx="439540" cy="544275"/>
          </a:xfrm>
          <a:prstGeom prst="straightConnector1">
            <a:avLst/>
          </a:prstGeom>
          <a:noFill/>
          <a:ln w="25400" cap="flat" cmpd="sng" algn="ctr">
            <a:solidFill>
              <a:schemeClr val="tx1"/>
            </a:solidFill>
            <a:prstDash val="solid"/>
            <a:round/>
            <a:headEnd type="none" w="med" len="med"/>
            <a:tailEnd type="triangle"/>
          </a:ln>
          <a:effectLst/>
        </p:spPr>
      </p:cxnSp>
      <p:sp>
        <p:nvSpPr>
          <p:cNvPr id="48" name="Oval 47"/>
          <p:cNvSpPr/>
          <p:nvPr/>
        </p:nvSpPr>
        <p:spPr bwMode="auto">
          <a:xfrm>
            <a:off x="3220140" y="4400907"/>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I</a:t>
            </a:r>
            <a:endParaRPr lang="en-US" sz="2400" dirty="0">
              <a:latin typeface="Times New Roman" pitchFamily="18" charset="0"/>
            </a:endParaRPr>
          </a:p>
        </p:txBody>
      </p:sp>
      <p:sp>
        <p:nvSpPr>
          <p:cNvPr id="50" name="Oval 49"/>
          <p:cNvSpPr/>
          <p:nvPr/>
        </p:nvSpPr>
        <p:spPr bwMode="auto">
          <a:xfrm>
            <a:off x="4009176" y="4400907"/>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J</a:t>
            </a:r>
            <a:endParaRPr lang="en-US" sz="2400" dirty="0">
              <a:latin typeface="Times New Roman" pitchFamily="18" charset="0"/>
            </a:endParaRPr>
          </a:p>
        </p:txBody>
      </p:sp>
      <p:sp>
        <p:nvSpPr>
          <p:cNvPr id="51" name="Oval 50"/>
          <p:cNvSpPr/>
          <p:nvPr/>
        </p:nvSpPr>
        <p:spPr bwMode="auto">
          <a:xfrm>
            <a:off x="4648200" y="4398866"/>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K</a:t>
            </a:r>
            <a:endParaRPr lang="en-US" sz="2400" dirty="0">
              <a:latin typeface="Times New Roman" pitchFamily="18" charset="0"/>
            </a:endParaRPr>
          </a:p>
        </p:txBody>
      </p:sp>
      <p:sp>
        <p:nvSpPr>
          <p:cNvPr id="52" name="Oval 51"/>
          <p:cNvSpPr/>
          <p:nvPr/>
        </p:nvSpPr>
        <p:spPr bwMode="auto">
          <a:xfrm>
            <a:off x="5456976" y="4392047"/>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L</a:t>
            </a:r>
            <a:endParaRPr lang="en-US" sz="2400" dirty="0">
              <a:latin typeface="Times New Roman" pitchFamily="18" charset="0"/>
            </a:endParaRPr>
          </a:p>
        </p:txBody>
      </p:sp>
      <p:sp>
        <p:nvSpPr>
          <p:cNvPr id="53" name="Oval 52"/>
          <p:cNvSpPr/>
          <p:nvPr/>
        </p:nvSpPr>
        <p:spPr bwMode="auto">
          <a:xfrm>
            <a:off x="6142776" y="4398866"/>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t>
            </a:r>
            <a:endParaRPr lang="en-US" sz="2400" dirty="0">
              <a:latin typeface="Times New Roman" pitchFamily="18" charset="0"/>
            </a:endParaRPr>
          </a:p>
        </p:txBody>
      </p:sp>
      <p:sp>
        <p:nvSpPr>
          <p:cNvPr id="54" name="Oval 53"/>
          <p:cNvSpPr/>
          <p:nvPr/>
        </p:nvSpPr>
        <p:spPr bwMode="auto">
          <a:xfrm>
            <a:off x="6904776" y="4400604"/>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N</a:t>
            </a:r>
            <a:endParaRPr lang="en-US" sz="2400" dirty="0">
              <a:latin typeface="Times New Roman" pitchFamily="18" charset="0"/>
            </a:endParaRPr>
          </a:p>
        </p:txBody>
      </p:sp>
      <p:sp>
        <p:nvSpPr>
          <p:cNvPr id="55" name="Oval 54"/>
          <p:cNvSpPr/>
          <p:nvPr/>
        </p:nvSpPr>
        <p:spPr bwMode="auto">
          <a:xfrm>
            <a:off x="7609319" y="4400604"/>
            <a:ext cx="562824" cy="609600"/>
          </a:xfrm>
          <a:prstGeom prst="ellipse">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O</a:t>
            </a:r>
            <a:endParaRPr lang="en-US" sz="2400" dirty="0">
              <a:latin typeface="Times New Roman" pitchFamily="18" charset="0"/>
            </a:endParaRPr>
          </a:p>
        </p:txBody>
      </p:sp>
      <p:cxnSp>
        <p:nvCxnSpPr>
          <p:cNvPr id="56" name="Straight Arrow Connector 55"/>
          <p:cNvCxnSpPr/>
          <p:nvPr/>
        </p:nvCxnSpPr>
        <p:spPr bwMode="auto">
          <a:xfrm flipH="1">
            <a:off x="4313813" y="3851578"/>
            <a:ext cx="363836" cy="584902"/>
          </a:xfrm>
          <a:prstGeom prst="straightConnector1">
            <a:avLst/>
          </a:prstGeom>
          <a:noFill/>
          <a:ln w="25400" cap="flat" cmpd="sng" algn="ctr">
            <a:solidFill>
              <a:schemeClr val="tx1"/>
            </a:solidFill>
            <a:prstDash val="solid"/>
            <a:round/>
            <a:headEnd type="none" w="med" len="med"/>
            <a:tailEnd type="triangle"/>
          </a:ln>
          <a:effectLst/>
        </p:spPr>
      </p:cxnSp>
      <p:cxnSp>
        <p:nvCxnSpPr>
          <p:cNvPr id="57" name="Straight Arrow Connector 56"/>
          <p:cNvCxnSpPr/>
          <p:nvPr/>
        </p:nvCxnSpPr>
        <p:spPr bwMode="auto">
          <a:xfrm flipH="1">
            <a:off x="5709958" y="3863610"/>
            <a:ext cx="363836" cy="584902"/>
          </a:xfrm>
          <a:prstGeom prst="straightConnector1">
            <a:avLst/>
          </a:prstGeom>
          <a:noFill/>
          <a:ln w="25400" cap="flat" cmpd="sng" algn="ctr">
            <a:solidFill>
              <a:schemeClr val="tx1"/>
            </a:solidFill>
            <a:prstDash val="solid"/>
            <a:round/>
            <a:headEnd type="none" w="med" len="med"/>
            <a:tailEnd type="triangle"/>
          </a:ln>
          <a:effectLst/>
        </p:spPr>
      </p:cxnSp>
      <p:cxnSp>
        <p:nvCxnSpPr>
          <p:cNvPr id="58" name="Straight Arrow Connector 57"/>
          <p:cNvCxnSpPr/>
          <p:nvPr/>
        </p:nvCxnSpPr>
        <p:spPr bwMode="auto">
          <a:xfrm flipH="1">
            <a:off x="7106103" y="3847772"/>
            <a:ext cx="363836" cy="584902"/>
          </a:xfrm>
          <a:prstGeom prst="straightConnector1">
            <a:avLst/>
          </a:prstGeom>
          <a:noFill/>
          <a:ln w="25400" cap="flat" cmpd="sng" algn="ctr">
            <a:solidFill>
              <a:schemeClr val="tx1"/>
            </a:solidFill>
            <a:prstDash val="solid"/>
            <a:round/>
            <a:headEnd type="none" w="med" len="med"/>
            <a:tailEnd type="triangle"/>
          </a:ln>
          <a:effectLst/>
        </p:spPr>
      </p:cxnSp>
      <p:cxnSp>
        <p:nvCxnSpPr>
          <p:cNvPr id="59" name="Straight Arrow Connector 58"/>
          <p:cNvCxnSpPr/>
          <p:nvPr/>
        </p:nvCxnSpPr>
        <p:spPr bwMode="auto">
          <a:xfrm>
            <a:off x="4692658" y="3853604"/>
            <a:ext cx="262710" cy="572809"/>
          </a:xfrm>
          <a:prstGeom prst="straightConnector1">
            <a:avLst/>
          </a:prstGeom>
          <a:noFill/>
          <a:ln w="25400" cap="flat" cmpd="sng" algn="ctr">
            <a:solidFill>
              <a:schemeClr val="tx1"/>
            </a:solidFill>
            <a:prstDash val="solid"/>
            <a:round/>
            <a:headEnd type="none" w="med" len="med"/>
            <a:tailEnd type="triangle"/>
          </a:ln>
          <a:effectLst/>
        </p:spPr>
      </p:cxnSp>
      <p:cxnSp>
        <p:nvCxnSpPr>
          <p:cNvPr id="60" name="Straight Arrow Connector 59"/>
          <p:cNvCxnSpPr/>
          <p:nvPr/>
        </p:nvCxnSpPr>
        <p:spPr bwMode="auto">
          <a:xfrm>
            <a:off x="6123277" y="3819239"/>
            <a:ext cx="262710" cy="572809"/>
          </a:xfrm>
          <a:prstGeom prst="straightConnector1">
            <a:avLst/>
          </a:prstGeom>
          <a:noFill/>
          <a:ln w="25400" cap="flat" cmpd="sng" algn="ctr">
            <a:solidFill>
              <a:schemeClr val="tx1"/>
            </a:solidFill>
            <a:prstDash val="solid"/>
            <a:round/>
            <a:headEnd type="none" w="med" len="med"/>
            <a:tailEnd type="triangle"/>
          </a:ln>
          <a:effectLst/>
        </p:spPr>
      </p:cxnSp>
      <p:cxnSp>
        <p:nvCxnSpPr>
          <p:cNvPr id="61" name="Straight Arrow Connector 60"/>
          <p:cNvCxnSpPr/>
          <p:nvPr/>
        </p:nvCxnSpPr>
        <p:spPr bwMode="auto">
          <a:xfrm>
            <a:off x="7514377" y="3853603"/>
            <a:ext cx="262710" cy="572809"/>
          </a:xfrm>
          <a:prstGeom prst="straightConnector1">
            <a:avLst/>
          </a:prstGeom>
          <a:noFill/>
          <a:ln w="25400" cap="flat" cmpd="sng" algn="ctr">
            <a:solidFill>
              <a:schemeClr val="tx1"/>
            </a:solidFill>
            <a:prstDash val="solid"/>
            <a:round/>
            <a:headEnd type="none" w="med" len="med"/>
            <a:tailEnd type="triangle"/>
          </a:ln>
          <a:effectLst/>
        </p:spPr>
      </p:cxnSp>
      <p:sp>
        <p:nvSpPr>
          <p:cNvPr id="62" name="TextBox 61"/>
          <p:cNvSpPr txBox="1"/>
          <p:nvPr/>
        </p:nvSpPr>
        <p:spPr>
          <a:xfrm>
            <a:off x="2460622" y="5008466"/>
            <a:ext cx="434884" cy="400110"/>
          </a:xfrm>
          <a:prstGeom prst="rect">
            <a:avLst/>
          </a:prstGeom>
          <a:noFill/>
        </p:spPr>
        <p:txBody>
          <a:bodyPr wrap="square" rtlCol="0">
            <a:spAutoFit/>
          </a:bodyPr>
          <a:lstStyle/>
          <a:p>
            <a:r>
              <a:rPr lang="en-US" sz="2000" dirty="0"/>
              <a:t>-1</a:t>
            </a:r>
          </a:p>
        </p:txBody>
      </p:sp>
      <p:sp>
        <p:nvSpPr>
          <p:cNvPr id="63" name="TextBox 62"/>
          <p:cNvSpPr txBox="1"/>
          <p:nvPr/>
        </p:nvSpPr>
        <p:spPr>
          <a:xfrm>
            <a:off x="3276600" y="5029200"/>
            <a:ext cx="434884" cy="400110"/>
          </a:xfrm>
          <a:prstGeom prst="rect">
            <a:avLst/>
          </a:prstGeom>
          <a:noFill/>
        </p:spPr>
        <p:txBody>
          <a:bodyPr wrap="square" rtlCol="0">
            <a:spAutoFit/>
          </a:bodyPr>
          <a:lstStyle/>
          <a:p>
            <a:r>
              <a:rPr lang="en-US" sz="2000" dirty="0"/>
              <a:t>8</a:t>
            </a:r>
          </a:p>
        </p:txBody>
      </p:sp>
      <p:sp>
        <p:nvSpPr>
          <p:cNvPr id="64" name="TextBox 63"/>
          <p:cNvSpPr txBox="1"/>
          <p:nvPr/>
        </p:nvSpPr>
        <p:spPr>
          <a:xfrm>
            <a:off x="4020709" y="5023935"/>
            <a:ext cx="434884" cy="400110"/>
          </a:xfrm>
          <a:prstGeom prst="rect">
            <a:avLst/>
          </a:prstGeom>
          <a:noFill/>
        </p:spPr>
        <p:txBody>
          <a:bodyPr wrap="square" rtlCol="0">
            <a:spAutoFit/>
          </a:bodyPr>
          <a:lstStyle/>
          <a:p>
            <a:r>
              <a:rPr lang="en-US" sz="2000" dirty="0"/>
              <a:t>-3</a:t>
            </a:r>
          </a:p>
        </p:txBody>
      </p:sp>
      <p:sp>
        <p:nvSpPr>
          <p:cNvPr id="65" name="TextBox 64"/>
          <p:cNvSpPr txBox="1"/>
          <p:nvPr/>
        </p:nvSpPr>
        <p:spPr>
          <a:xfrm>
            <a:off x="4693338" y="5015503"/>
            <a:ext cx="434884" cy="400110"/>
          </a:xfrm>
          <a:prstGeom prst="rect">
            <a:avLst/>
          </a:prstGeom>
          <a:noFill/>
        </p:spPr>
        <p:txBody>
          <a:bodyPr wrap="square" rtlCol="0">
            <a:spAutoFit/>
          </a:bodyPr>
          <a:lstStyle/>
          <a:p>
            <a:r>
              <a:rPr lang="en-US" sz="2000" dirty="0"/>
              <a:t>-1</a:t>
            </a:r>
          </a:p>
        </p:txBody>
      </p:sp>
      <p:sp>
        <p:nvSpPr>
          <p:cNvPr id="66" name="TextBox 65"/>
          <p:cNvSpPr txBox="1"/>
          <p:nvPr/>
        </p:nvSpPr>
        <p:spPr>
          <a:xfrm>
            <a:off x="5483732" y="5015503"/>
            <a:ext cx="434884" cy="400110"/>
          </a:xfrm>
          <a:prstGeom prst="rect">
            <a:avLst/>
          </a:prstGeom>
          <a:noFill/>
        </p:spPr>
        <p:txBody>
          <a:bodyPr wrap="square" rtlCol="0">
            <a:spAutoFit/>
          </a:bodyPr>
          <a:lstStyle/>
          <a:p>
            <a:r>
              <a:rPr lang="en-US" sz="2000" dirty="0"/>
              <a:t>2</a:t>
            </a:r>
          </a:p>
        </p:txBody>
      </p:sp>
      <p:sp>
        <p:nvSpPr>
          <p:cNvPr id="67" name="TextBox 66"/>
          <p:cNvSpPr txBox="1"/>
          <p:nvPr/>
        </p:nvSpPr>
        <p:spPr>
          <a:xfrm>
            <a:off x="6220021" y="5034391"/>
            <a:ext cx="434884" cy="400110"/>
          </a:xfrm>
          <a:prstGeom prst="rect">
            <a:avLst/>
          </a:prstGeom>
          <a:noFill/>
        </p:spPr>
        <p:txBody>
          <a:bodyPr wrap="square" rtlCol="0">
            <a:spAutoFit/>
          </a:bodyPr>
          <a:lstStyle/>
          <a:p>
            <a:r>
              <a:rPr lang="en-US" sz="2000" dirty="0"/>
              <a:t>1</a:t>
            </a:r>
          </a:p>
        </p:txBody>
      </p:sp>
      <p:sp>
        <p:nvSpPr>
          <p:cNvPr id="68" name="TextBox 67"/>
          <p:cNvSpPr txBox="1"/>
          <p:nvPr/>
        </p:nvSpPr>
        <p:spPr>
          <a:xfrm>
            <a:off x="6898282" y="5040079"/>
            <a:ext cx="434884" cy="400110"/>
          </a:xfrm>
          <a:prstGeom prst="rect">
            <a:avLst/>
          </a:prstGeom>
          <a:noFill/>
        </p:spPr>
        <p:txBody>
          <a:bodyPr wrap="square" rtlCol="0">
            <a:spAutoFit/>
          </a:bodyPr>
          <a:lstStyle/>
          <a:p>
            <a:r>
              <a:rPr lang="en-US" sz="2000" dirty="0"/>
              <a:t>-3</a:t>
            </a:r>
          </a:p>
        </p:txBody>
      </p:sp>
      <p:sp>
        <p:nvSpPr>
          <p:cNvPr id="69" name="TextBox 68"/>
          <p:cNvSpPr txBox="1"/>
          <p:nvPr/>
        </p:nvSpPr>
        <p:spPr>
          <a:xfrm>
            <a:off x="7647031" y="5040079"/>
            <a:ext cx="434884" cy="400110"/>
          </a:xfrm>
          <a:prstGeom prst="rect">
            <a:avLst/>
          </a:prstGeom>
          <a:noFill/>
        </p:spPr>
        <p:txBody>
          <a:bodyPr wrap="square" rtlCol="0">
            <a:spAutoFit/>
          </a:bodyPr>
          <a:lstStyle/>
          <a:p>
            <a:r>
              <a:rPr lang="en-US" sz="2000" dirty="0"/>
              <a:t>4</a:t>
            </a:r>
          </a:p>
        </p:txBody>
      </p:sp>
    </p:spTree>
    <p:extLst>
      <p:ext uri="{BB962C8B-B14F-4D97-AF65-F5344CB8AC3E}">
        <p14:creationId xmlns:p14="http://schemas.microsoft.com/office/powerpoint/2010/main" val="2712303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A close-up of a grid&#10;&#10;AI-generated content may be incorrect.">
            <a:extLst>
              <a:ext uri="{FF2B5EF4-FFF2-40B4-BE49-F238E27FC236}">
                <a16:creationId xmlns:a16="http://schemas.microsoft.com/office/drawing/2014/main" id="{0AF83FC4-45CD-1ECA-1A6B-C5176CD2278D}"/>
              </a:ext>
            </a:extLst>
          </p:cNvPr>
          <p:cNvPicPr>
            <a:picLocks noChangeAspect="1"/>
          </p:cNvPicPr>
          <p:nvPr/>
        </p:nvPicPr>
        <p:blipFill>
          <a:blip r:embed="rId2">
            <a:duotone>
              <a:schemeClr val="bg2">
                <a:shade val="45000"/>
                <a:satMod val="135000"/>
              </a:schemeClr>
              <a:prstClr val="white"/>
            </a:duotone>
          </a:blip>
          <a:srcRect t="8537"/>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a:spLocks noGrp="1"/>
          </p:cNvSpPr>
          <p:nvPr>
            <p:ph type="title"/>
          </p:nvPr>
        </p:nvSpPr>
        <p:spPr>
          <a:xfrm>
            <a:off x="838200" y="365125"/>
            <a:ext cx="10515600" cy="1325563"/>
          </a:xfrm>
        </p:spPr>
        <p:txBody>
          <a:bodyPr>
            <a:normAutofit/>
          </a:bodyPr>
          <a:lstStyle/>
          <a:p>
            <a:r>
              <a:rPr lang="en-US" dirty="0"/>
              <a:t>Performance Measurement </a:t>
            </a:r>
          </a:p>
        </p:txBody>
      </p:sp>
      <p:graphicFrame>
        <p:nvGraphicFramePr>
          <p:cNvPr id="17" name="Content Placeholder 2">
            <a:extLst>
              <a:ext uri="{FF2B5EF4-FFF2-40B4-BE49-F238E27FC236}">
                <a16:creationId xmlns:a16="http://schemas.microsoft.com/office/drawing/2014/main" id="{42802107-8C8B-4AA3-4106-892D43A1155A}"/>
              </a:ext>
            </a:extLst>
          </p:cNvPr>
          <p:cNvGraphicFramePr>
            <a:graphicFrameLocks noGrp="1"/>
          </p:cNvGraphicFramePr>
          <p:nvPr>
            <p:ph idx="1"/>
            <p:extLst>
              <p:ext uri="{D42A27DB-BD31-4B8C-83A1-F6EECF244321}">
                <p14:modId xmlns:p14="http://schemas.microsoft.com/office/powerpoint/2010/main" val="5568609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8849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playing boardgame">
            <a:extLst>
              <a:ext uri="{FF2B5EF4-FFF2-40B4-BE49-F238E27FC236}">
                <a16:creationId xmlns:a16="http://schemas.microsoft.com/office/drawing/2014/main" id="{2EBADB61-785F-D1EF-9E22-17703FE29469}"/>
              </a:ext>
            </a:extLst>
          </p:cNvPr>
          <p:cNvPicPr>
            <a:picLocks noChangeAspect="1"/>
          </p:cNvPicPr>
          <p:nvPr/>
        </p:nvPicPr>
        <p:blipFill>
          <a:blip r:embed="rId3"/>
          <a:srcRect l="29383" r="18156"/>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US" sz="4000"/>
              <a:t>Limitation of the minimax Algorithm</a:t>
            </a:r>
          </a:p>
        </p:txBody>
      </p:sp>
      <p:sp>
        <p:nvSpPr>
          <p:cNvPr id="3" name="Content Placeholder 2"/>
          <p:cNvSpPr>
            <a:spLocks noGrp="1"/>
          </p:cNvSpPr>
          <p:nvPr>
            <p:ph idx="1"/>
          </p:nvPr>
        </p:nvSpPr>
        <p:spPr>
          <a:xfrm>
            <a:off x="5545394" y="2285999"/>
            <a:ext cx="6538451" cy="4572001"/>
          </a:xfrm>
        </p:spPr>
        <p:txBody>
          <a:bodyPr anchor="ctr">
            <a:normAutofit/>
          </a:bodyPr>
          <a:lstStyle/>
          <a:p>
            <a:r>
              <a:rPr lang="en-US" sz="2400" dirty="0"/>
              <a:t>The main drawback of the minimax algorithm is that it gets really slow for complex games such as Chess, go, etc. </a:t>
            </a:r>
          </a:p>
          <a:p>
            <a:r>
              <a:rPr lang="en-US" sz="2400" dirty="0"/>
              <a:t>This type of games has a huge branching factor, and the player has lots of choices to decide</a:t>
            </a:r>
          </a:p>
          <a:p>
            <a:pPr lvl="1"/>
            <a:r>
              <a:rPr lang="en-US" dirty="0"/>
              <a:t>Traversing becomes complex</a:t>
            </a:r>
          </a:p>
          <a:p>
            <a:endParaRPr lang="en-US" sz="2400" dirty="0"/>
          </a:p>
          <a:p>
            <a:r>
              <a:rPr lang="en-US" sz="2400" dirty="0"/>
              <a:t>Solution</a:t>
            </a:r>
          </a:p>
          <a:p>
            <a:pPr lvl="1"/>
            <a:r>
              <a:rPr lang="en-US" b="1" dirty="0"/>
              <a:t>alpha-beta pruning to reduce the tree and increase efficiency </a:t>
            </a:r>
            <a:endParaRPr lang="en-US" dirty="0"/>
          </a:p>
        </p:txBody>
      </p:sp>
    </p:spTree>
    <p:extLst>
      <p:ext uri="{BB962C8B-B14F-4D97-AF65-F5344CB8AC3E}">
        <p14:creationId xmlns:p14="http://schemas.microsoft.com/office/powerpoint/2010/main" val="388460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1386</TotalTime>
  <Words>1872</Words>
  <Application>Microsoft Office PowerPoint</Application>
  <PresentationFormat>Widescreen</PresentationFormat>
  <Paragraphs>219</Paragraphs>
  <Slides>36</Slides>
  <Notes>12</Notes>
  <HiddenSlides>12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Aptos</vt:lpstr>
      <vt:lpstr>Aptos Display</vt:lpstr>
      <vt:lpstr>Arial</vt:lpstr>
      <vt:lpstr>ArialMT</vt:lpstr>
      <vt:lpstr>Calibri</vt:lpstr>
      <vt:lpstr>Cambria Math</vt:lpstr>
      <vt:lpstr>Times New Roman</vt:lpstr>
      <vt:lpstr>Office Theme</vt:lpstr>
      <vt:lpstr>Artificial Intelligence CS-202</vt:lpstr>
      <vt:lpstr>Week-5 and 6 CLO</vt:lpstr>
      <vt:lpstr>CLO’s Mapping </vt:lpstr>
      <vt:lpstr>Single Agent environment</vt:lpstr>
      <vt:lpstr>Multi-agent environment</vt:lpstr>
      <vt:lpstr>Introduction to Game Playing in AI</vt:lpstr>
      <vt:lpstr>What is Adversarial Search</vt:lpstr>
      <vt:lpstr>Adversarial Search Overview</vt:lpstr>
      <vt:lpstr>Why Adversarial Search is Important in AI</vt:lpstr>
      <vt:lpstr>Types of Games in AI</vt:lpstr>
      <vt:lpstr>Contd..</vt:lpstr>
      <vt:lpstr>Game Theory</vt:lpstr>
      <vt:lpstr>Grades Game</vt:lpstr>
      <vt:lpstr>Grades Game</vt:lpstr>
      <vt:lpstr>Game1: Grade Game</vt:lpstr>
      <vt:lpstr>Grades Game</vt:lpstr>
      <vt:lpstr>Grades Game</vt:lpstr>
      <vt:lpstr>Grade Game</vt:lpstr>
      <vt:lpstr>Payoff (Utility) Example</vt:lpstr>
      <vt:lpstr>Grades Game Payoffs</vt:lpstr>
      <vt:lpstr>Grades Game Payoffs</vt:lpstr>
      <vt:lpstr>Grades Game Payoffs</vt:lpstr>
      <vt:lpstr>Grades Game Payoffs</vt:lpstr>
      <vt:lpstr>Zero-Sum Game</vt:lpstr>
      <vt:lpstr>Zero-Sum Game</vt:lpstr>
      <vt:lpstr>Formalization of the problem</vt:lpstr>
      <vt:lpstr>Contd..</vt:lpstr>
      <vt:lpstr>Game tree</vt:lpstr>
      <vt:lpstr>Tic-Tac-Toe game tree</vt:lpstr>
      <vt:lpstr>Mini-Max Algorithm</vt:lpstr>
      <vt:lpstr>Mini-Max Algorithm</vt:lpstr>
      <vt:lpstr>MINMAX Value</vt:lpstr>
      <vt:lpstr>PowerPoint Presentation</vt:lpstr>
      <vt:lpstr>Task</vt:lpstr>
      <vt:lpstr>Performance Measurement </vt:lpstr>
      <vt:lpstr>Limitation of the minimax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121</cp:revision>
  <dcterms:created xsi:type="dcterms:W3CDTF">2024-10-08T06:28:51Z</dcterms:created>
  <dcterms:modified xsi:type="dcterms:W3CDTF">2025-12-04T05:52:41Z</dcterms:modified>
</cp:coreProperties>
</file>