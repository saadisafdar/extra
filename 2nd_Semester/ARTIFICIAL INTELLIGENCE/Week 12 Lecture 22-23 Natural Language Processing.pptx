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63"/>
  </p:notesMasterIdLst>
  <p:sldIdLst>
    <p:sldId id="857" r:id="rId4"/>
    <p:sldId id="789" r:id="rId5"/>
    <p:sldId id="257" r:id="rId6"/>
    <p:sldId id="258" r:id="rId7"/>
    <p:sldId id="873" r:id="rId8"/>
    <p:sldId id="843" r:id="rId9"/>
    <p:sldId id="867" r:id="rId10"/>
    <p:sldId id="870" r:id="rId11"/>
    <p:sldId id="262" r:id="rId12"/>
    <p:sldId id="869" r:id="rId13"/>
    <p:sldId id="868" r:id="rId14"/>
    <p:sldId id="876" r:id="rId15"/>
    <p:sldId id="877" r:id="rId16"/>
    <p:sldId id="874" r:id="rId17"/>
    <p:sldId id="871" r:id="rId18"/>
    <p:sldId id="879" r:id="rId19"/>
    <p:sldId id="880" r:id="rId20"/>
    <p:sldId id="881" r:id="rId21"/>
    <p:sldId id="882" r:id="rId22"/>
    <p:sldId id="883" r:id="rId23"/>
    <p:sldId id="884" r:id="rId24"/>
    <p:sldId id="862" r:id="rId25"/>
    <p:sldId id="885" r:id="rId26"/>
    <p:sldId id="886" r:id="rId27"/>
    <p:sldId id="887" r:id="rId28"/>
    <p:sldId id="888" r:id="rId29"/>
    <p:sldId id="889" r:id="rId30"/>
    <p:sldId id="890" r:id="rId31"/>
    <p:sldId id="891" r:id="rId32"/>
    <p:sldId id="892" r:id="rId33"/>
    <p:sldId id="893" r:id="rId34"/>
    <p:sldId id="894" r:id="rId35"/>
    <p:sldId id="895" r:id="rId36"/>
    <p:sldId id="896" r:id="rId37"/>
    <p:sldId id="897" r:id="rId38"/>
    <p:sldId id="911" r:id="rId39"/>
    <p:sldId id="898" r:id="rId40"/>
    <p:sldId id="899" r:id="rId41"/>
    <p:sldId id="907" r:id="rId42"/>
    <p:sldId id="908" r:id="rId43"/>
    <p:sldId id="909" r:id="rId44"/>
    <p:sldId id="900" r:id="rId45"/>
    <p:sldId id="901" r:id="rId46"/>
    <p:sldId id="902" r:id="rId47"/>
    <p:sldId id="259" r:id="rId48"/>
    <p:sldId id="903" r:id="rId49"/>
    <p:sldId id="875" r:id="rId50"/>
    <p:sldId id="858" r:id="rId51"/>
    <p:sldId id="859" r:id="rId52"/>
    <p:sldId id="860" r:id="rId53"/>
    <p:sldId id="861" r:id="rId54"/>
    <p:sldId id="855" r:id="rId55"/>
    <p:sldId id="856" r:id="rId56"/>
    <p:sldId id="851" r:id="rId57"/>
    <p:sldId id="852" r:id="rId58"/>
    <p:sldId id="854" r:id="rId59"/>
    <p:sldId id="853" r:id="rId60"/>
    <p:sldId id="850" r:id="rId61"/>
    <p:sldId id="848" r:id="rId6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80" autoAdjust="0"/>
  </p:normalViewPr>
  <p:slideViewPr>
    <p:cSldViewPr snapToGrid="0">
      <p:cViewPr varScale="1">
        <p:scale>
          <a:sx n="76" d="100"/>
          <a:sy n="76" d="100"/>
        </p:scale>
        <p:origin x="91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iagrams/_rels/data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CLO’s:</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pPr algn="just"/>
          <a:r>
            <a:rPr lang="en-US" b="1" dirty="0"/>
            <a:t>CLO1: Discuss</a:t>
          </a:r>
          <a:r>
            <a:rPr lang="en-US" b="0" dirty="0"/>
            <a:t> the key concepts in the field of artificial intelligence</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EB5ACA34-5E81-4C34-9396-A967E2A2AB76}">
      <dgm:prSet/>
      <dgm:spPr/>
      <dgm:t>
        <a:bodyPr/>
        <a:lstStyle/>
        <a:p>
          <a:pPr algn="just"/>
          <a:r>
            <a:rPr lang="en-US" b="1" dirty="0"/>
            <a:t>CLO 2: Implement </a:t>
          </a:r>
          <a:r>
            <a:rPr lang="en-US" dirty="0"/>
            <a:t>artificial intelligence techniques and case studies</a:t>
          </a:r>
        </a:p>
      </dgm:t>
    </dgm:pt>
    <dgm:pt modelId="{9A070146-3875-47E3-94D7-B2C90F536C89}" type="parTrans" cxnId="{5B24FC3C-4ED4-4834-9B89-88E70A3EE3EC}">
      <dgm:prSet/>
      <dgm:spPr/>
      <dgm:t>
        <a:bodyPr/>
        <a:lstStyle/>
        <a:p>
          <a:endParaRPr lang="en-PK"/>
        </a:p>
      </dgm:t>
    </dgm:pt>
    <dgm:pt modelId="{430978D5-BF76-4915-9FA8-631F66362A49}" type="sibTrans" cxnId="{5B24FC3C-4ED4-4834-9B89-88E70A3EE3EC}">
      <dgm:prSet/>
      <dgm:spPr/>
      <dgm:t>
        <a:bodyPr/>
        <a:lstStyle/>
        <a:p>
          <a:endParaRPr lang="en-PK"/>
        </a:p>
      </dgm:t>
    </dgm:pt>
    <dgm:pt modelId="{AD506540-D7DC-445F-B77F-BC5951AE7577}">
      <dgm:prSet/>
      <dgm:spPr/>
      <dgm:t>
        <a:bodyPr/>
        <a:lstStyle/>
        <a:p>
          <a:pPr algn="just"/>
          <a:r>
            <a:rPr lang="en-US" b="1" dirty="0"/>
            <a:t>CLO 3: Model</a:t>
          </a:r>
          <a:r>
            <a:rPr lang="en-US" dirty="0"/>
            <a:t> an automated solution for given problems using artificial intelligence paradigm.</a:t>
          </a:r>
        </a:p>
      </dgm:t>
    </dgm:pt>
    <dgm:pt modelId="{564A904A-EC04-489D-AEA3-D08C10CA32AE}" type="parTrans" cxnId="{5F6DF4FB-DCCD-4E56-86D8-4076080637F1}">
      <dgm:prSet/>
      <dgm:spPr/>
      <dgm:t>
        <a:bodyPr/>
        <a:lstStyle/>
        <a:p>
          <a:endParaRPr lang="en-US"/>
        </a:p>
      </dgm:t>
    </dgm:pt>
    <dgm:pt modelId="{68239060-E21C-4830-B809-F44C93A2B0E5}" type="sibTrans" cxnId="{5F6DF4FB-DCCD-4E56-86D8-4076080637F1}">
      <dgm:prSet/>
      <dgm:spPr/>
      <dgm:t>
        <a:bodyPr/>
        <a:lstStyle/>
        <a:p>
          <a:endParaRPr lang="en-US"/>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5B24FC3C-4ED4-4834-9B89-88E70A3EE3EC}" srcId="{003EBE85-61C3-4A8C-B096-20383EA35C46}" destId="{EB5ACA34-5E81-4C34-9396-A967E2A2AB76}" srcOrd="1" destOrd="0" parTransId="{9A070146-3875-47E3-94D7-B2C90F536C89}" sibTransId="{430978D5-BF76-4915-9FA8-631F66362A49}"/>
    <dgm:cxn modelId="{AD57FC58-0DB1-4682-BAEA-BFFDDFD26064}" type="presOf" srcId="{AD506540-D7DC-445F-B77F-BC5951AE7577}" destId="{A025C2BC-3DF5-4B12-A043-E15E948A1F98}" srcOrd="0" destOrd="2" presId="urn:microsoft.com/office/officeart/2005/8/layout/vList2"/>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7EA4AAC6-84B8-4CD7-8049-447BD7E93EBF}" type="presOf" srcId="{EB5ACA34-5E81-4C34-9396-A967E2A2AB76}"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5F6DF4FB-DCCD-4E56-86D8-4076080637F1}" srcId="{003EBE85-61C3-4A8C-B096-20383EA35C46}" destId="{AD506540-D7DC-445F-B77F-BC5951AE7577}" srcOrd="2" destOrd="0" parTransId="{564A904A-EC04-489D-AEA3-D08C10CA32AE}" sibTransId="{68239060-E21C-4830-B809-F44C93A2B0E5}"/>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193A83-2CFF-4804-8271-F487C3C54B68}"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763C2354-6B03-4F05-BFC1-AD796A156714}">
      <dgm:prSet/>
      <dgm:spPr/>
      <dgm:t>
        <a:bodyPr/>
        <a:lstStyle/>
        <a:p>
          <a:r>
            <a:rPr lang="en-US"/>
            <a:t>NLTK Library</a:t>
          </a:r>
        </a:p>
      </dgm:t>
    </dgm:pt>
    <dgm:pt modelId="{BE5DAB27-DEBF-4075-AD01-E8AB1316ADC5}" type="parTrans" cxnId="{6B2FC7F1-9508-4967-9EA2-B7A4E7521BD2}">
      <dgm:prSet/>
      <dgm:spPr/>
      <dgm:t>
        <a:bodyPr/>
        <a:lstStyle/>
        <a:p>
          <a:endParaRPr lang="en-US"/>
        </a:p>
      </dgm:t>
    </dgm:pt>
    <dgm:pt modelId="{D77A0226-3B57-4268-941E-9A8B2F00ADD1}" type="sibTrans" cxnId="{6B2FC7F1-9508-4967-9EA2-B7A4E7521BD2}">
      <dgm:prSet/>
      <dgm:spPr/>
      <dgm:t>
        <a:bodyPr/>
        <a:lstStyle/>
        <a:p>
          <a:endParaRPr lang="en-US"/>
        </a:p>
      </dgm:t>
    </dgm:pt>
    <dgm:pt modelId="{49212E2D-6962-455F-8CE9-247A47B52B69}">
      <dgm:prSet/>
      <dgm:spPr/>
      <dgm:t>
        <a:bodyPr/>
        <a:lstStyle/>
        <a:p>
          <a:r>
            <a:rPr lang="en-US"/>
            <a:t>Spacy</a:t>
          </a:r>
        </a:p>
      </dgm:t>
    </dgm:pt>
    <dgm:pt modelId="{2A1858F3-D751-411B-9241-4E736CB3E155}" type="parTrans" cxnId="{5D2A94EB-0CFE-453B-8D42-8172C5C6BED3}">
      <dgm:prSet/>
      <dgm:spPr/>
      <dgm:t>
        <a:bodyPr/>
        <a:lstStyle/>
        <a:p>
          <a:endParaRPr lang="en-US"/>
        </a:p>
      </dgm:t>
    </dgm:pt>
    <dgm:pt modelId="{6FBFD19A-46FD-4C38-A57B-71C1998848D8}" type="sibTrans" cxnId="{5D2A94EB-0CFE-453B-8D42-8172C5C6BED3}">
      <dgm:prSet/>
      <dgm:spPr/>
      <dgm:t>
        <a:bodyPr/>
        <a:lstStyle/>
        <a:p>
          <a:endParaRPr lang="en-US"/>
        </a:p>
      </dgm:t>
    </dgm:pt>
    <dgm:pt modelId="{24188B1E-C6E1-4516-9D6B-B180658EA401}">
      <dgm:prSet/>
      <dgm:spPr/>
      <dgm:t>
        <a:bodyPr/>
        <a:lstStyle/>
        <a:p>
          <a:r>
            <a:rPr lang="en-US"/>
            <a:t>BERT tokenizer</a:t>
          </a:r>
        </a:p>
      </dgm:t>
    </dgm:pt>
    <dgm:pt modelId="{6D8E84F9-BC56-4871-B119-24A610800B31}" type="parTrans" cxnId="{82FAA469-59AA-4152-85EC-665BA60AF95F}">
      <dgm:prSet/>
      <dgm:spPr/>
      <dgm:t>
        <a:bodyPr/>
        <a:lstStyle/>
        <a:p>
          <a:endParaRPr lang="en-US"/>
        </a:p>
      </dgm:t>
    </dgm:pt>
    <dgm:pt modelId="{53014121-6702-405B-9EC7-EC9DA596A099}" type="sibTrans" cxnId="{82FAA469-59AA-4152-85EC-665BA60AF95F}">
      <dgm:prSet/>
      <dgm:spPr/>
      <dgm:t>
        <a:bodyPr/>
        <a:lstStyle/>
        <a:p>
          <a:endParaRPr lang="en-US"/>
        </a:p>
      </dgm:t>
    </dgm:pt>
    <dgm:pt modelId="{7A49293C-531C-4805-A42D-F749233AC6EE}">
      <dgm:prSet/>
      <dgm:spPr/>
      <dgm:t>
        <a:bodyPr/>
        <a:lstStyle/>
        <a:p>
          <a:r>
            <a:rPr lang="en-US"/>
            <a:t>Byte-Pair Encoding</a:t>
          </a:r>
        </a:p>
      </dgm:t>
    </dgm:pt>
    <dgm:pt modelId="{DA7EF52D-B107-4D6F-A109-10315DD88774}" type="parTrans" cxnId="{843B1C2E-83E7-4E35-864A-F47A1AEE18B1}">
      <dgm:prSet/>
      <dgm:spPr/>
      <dgm:t>
        <a:bodyPr/>
        <a:lstStyle/>
        <a:p>
          <a:endParaRPr lang="en-US"/>
        </a:p>
      </dgm:t>
    </dgm:pt>
    <dgm:pt modelId="{E77478EF-AE0D-4763-98AB-01DB35E35B5C}" type="sibTrans" cxnId="{843B1C2E-83E7-4E35-864A-F47A1AEE18B1}">
      <dgm:prSet/>
      <dgm:spPr/>
      <dgm:t>
        <a:bodyPr/>
        <a:lstStyle/>
        <a:p>
          <a:endParaRPr lang="en-US"/>
        </a:p>
      </dgm:t>
    </dgm:pt>
    <dgm:pt modelId="{87AF2E8B-69FC-43A4-940D-4748DA1324E9}">
      <dgm:prSet/>
      <dgm:spPr/>
      <dgm:t>
        <a:bodyPr/>
        <a:lstStyle/>
        <a:p>
          <a:r>
            <a:rPr lang="en-US"/>
            <a:t>Sentence Piece</a:t>
          </a:r>
        </a:p>
      </dgm:t>
    </dgm:pt>
    <dgm:pt modelId="{EF19A5DF-3179-4BBB-B797-AC885330CA95}" type="parTrans" cxnId="{0572B87E-7DE2-4A52-8522-8144BC0A58BE}">
      <dgm:prSet/>
      <dgm:spPr/>
      <dgm:t>
        <a:bodyPr/>
        <a:lstStyle/>
        <a:p>
          <a:endParaRPr lang="en-US"/>
        </a:p>
      </dgm:t>
    </dgm:pt>
    <dgm:pt modelId="{A6268557-2712-4365-A10E-E09759AB6E37}" type="sibTrans" cxnId="{0572B87E-7DE2-4A52-8522-8144BC0A58BE}">
      <dgm:prSet/>
      <dgm:spPr/>
      <dgm:t>
        <a:bodyPr/>
        <a:lstStyle/>
        <a:p>
          <a:endParaRPr lang="en-US"/>
        </a:p>
      </dgm:t>
    </dgm:pt>
    <dgm:pt modelId="{D5B19573-1AD2-46A7-8542-0A81B692BF6B}" type="pres">
      <dgm:prSet presAssocID="{F8193A83-2CFF-4804-8271-F487C3C54B68}" presName="linear" presStyleCnt="0">
        <dgm:presLayoutVars>
          <dgm:dir/>
          <dgm:animLvl val="lvl"/>
          <dgm:resizeHandles val="exact"/>
        </dgm:presLayoutVars>
      </dgm:prSet>
      <dgm:spPr/>
    </dgm:pt>
    <dgm:pt modelId="{5F0F0043-9847-419B-80EC-D9BFD8D56E27}" type="pres">
      <dgm:prSet presAssocID="{763C2354-6B03-4F05-BFC1-AD796A156714}" presName="parentLin" presStyleCnt="0"/>
      <dgm:spPr/>
    </dgm:pt>
    <dgm:pt modelId="{BE755517-868B-44BF-A232-6F116C7C5CCF}" type="pres">
      <dgm:prSet presAssocID="{763C2354-6B03-4F05-BFC1-AD796A156714}" presName="parentLeftMargin" presStyleLbl="node1" presStyleIdx="0" presStyleCnt="5"/>
      <dgm:spPr/>
    </dgm:pt>
    <dgm:pt modelId="{50634FEA-E57E-4D6F-893E-229B673C885C}" type="pres">
      <dgm:prSet presAssocID="{763C2354-6B03-4F05-BFC1-AD796A156714}" presName="parentText" presStyleLbl="node1" presStyleIdx="0" presStyleCnt="5">
        <dgm:presLayoutVars>
          <dgm:chMax val="0"/>
          <dgm:bulletEnabled val="1"/>
        </dgm:presLayoutVars>
      </dgm:prSet>
      <dgm:spPr/>
    </dgm:pt>
    <dgm:pt modelId="{CD38849F-5F58-4FF0-875E-470BE997F902}" type="pres">
      <dgm:prSet presAssocID="{763C2354-6B03-4F05-BFC1-AD796A156714}" presName="negativeSpace" presStyleCnt="0"/>
      <dgm:spPr/>
    </dgm:pt>
    <dgm:pt modelId="{8DF2C74F-4339-4222-8D0B-027924F6D9B2}" type="pres">
      <dgm:prSet presAssocID="{763C2354-6B03-4F05-BFC1-AD796A156714}" presName="childText" presStyleLbl="conFgAcc1" presStyleIdx="0" presStyleCnt="5">
        <dgm:presLayoutVars>
          <dgm:bulletEnabled val="1"/>
        </dgm:presLayoutVars>
      </dgm:prSet>
      <dgm:spPr/>
    </dgm:pt>
    <dgm:pt modelId="{E01C86B5-AC4F-40F8-880C-E6BE322E936E}" type="pres">
      <dgm:prSet presAssocID="{D77A0226-3B57-4268-941E-9A8B2F00ADD1}" presName="spaceBetweenRectangles" presStyleCnt="0"/>
      <dgm:spPr/>
    </dgm:pt>
    <dgm:pt modelId="{A521F9D5-6969-4A6E-9A5F-2200304BC4C8}" type="pres">
      <dgm:prSet presAssocID="{49212E2D-6962-455F-8CE9-247A47B52B69}" presName="parentLin" presStyleCnt="0"/>
      <dgm:spPr/>
    </dgm:pt>
    <dgm:pt modelId="{195D89EB-8993-4C4D-B7E1-F1A83DB57A68}" type="pres">
      <dgm:prSet presAssocID="{49212E2D-6962-455F-8CE9-247A47B52B69}" presName="parentLeftMargin" presStyleLbl="node1" presStyleIdx="0" presStyleCnt="5"/>
      <dgm:spPr/>
    </dgm:pt>
    <dgm:pt modelId="{B1BB8D48-F9F7-4426-8857-413C0F828D5F}" type="pres">
      <dgm:prSet presAssocID="{49212E2D-6962-455F-8CE9-247A47B52B69}" presName="parentText" presStyleLbl="node1" presStyleIdx="1" presStyleCnt="5">
        <dgm:presLayoutVars>
          <dgm:chMax val="0"/>
          <dgm:bulletEnabled val="1"/>
        </dgm:presLayoutVars>
      </dgm:prSet>
      <dgm:spPr/>
    </dgm:pt>
    <dgm:pt modelId="{3615DAD9-CBD2-4F1C-84ED-1801D7A57304}" type="pres">
      <dgm:prSet presAssocID="{49212E2D-6962-455F-8CE9-247A47B52B69}" presName="negativeSpace" presStyleCnt="0"/>
      <dgm:spPr/>
    </dgm:pt>
    <dgm:pt modelId="{75787C04-CF8E-4D89-9882-533D3C19858E}" type="pres">
      <dgm:prSet presAssocID="{49212E2D-6962-455F-8CE9-247A47B52B69}" presName="childText" presStyleLbl="conFgAcc1" presStyleIdx="1" presStyleCnt="5">
        <dgm:presLayoutVars>
          <dgm:bulletEnabled val="1"/>
        </dgm:presLayoutVars>
      </dgm:prSet>
      <dgm:spPr/>
    </dgm:pt>
    <dgm:pt modelId="{96C1D5DB-5535-4074-A39D-9A6EA836C6F7}" type="pres">
      <dgm:prSet presAssocID="{6FBFD19A-46FD-4C38-A57B-71C1998848D8}" presName="spaceBetweenRectangles" presStyleCnt="0"/>
      <dgm:spPr/>
    </dgm:pt>
    <dgm:pt modelId="{77464298-4168-4450-A55E-93ECCB5463D5}" type="pres">
      <dgm:prSet presAssocID="{24188B1E-C6E1-4516-9D6B-B180658EA401}" presName="parentLin" presStyleCnt="0"/>
      <dgm:spPr/>
    </dgm:pt>
    <dgm:pt modelId="{8B38AE2A-3C16-4FB3-AB55-713FC50722F7}" type="pres">
      <dgm:prSet presAssocID="{24188B1E-C6E1-4516-9D6B-B180658EA401}" presName="parentLeftMargin" presStyleLbl="node1" presStyleIdx="1" presStyleCnt="5"/>
      <dgm:spPr/>
    </dgm:pt>
    <dgm:pt modelId="{95EE97E8-001F-4689-BFB9-F4366FE6551F}" type="pres">
      <dgm:prSet presAssocID="{24188B1E-C6E1-4516-9D6B-B180658EA401}" presName="parentText" presStyleLbl="node1" presStyleIdx="2" presStyleCnt="5">
        <dgm:presLayoutVars>
          <dgm:chMax val="0"/>
          <dgm:bulletEnabled val="1"/>
        </dgm:presLayoutVars>
      </dgm:prSet>
      <dgm:spPr/>
    </dgm:pt>
    <dgm:pt modelId="{A5146E56-034D-42CD-A4BF-684BCC7559E9}" type="pres">
      <dgm:prSet presAssocID="{24188B1E-C6E1-4516-9D6B-B180658EA401}" presName="negativeSpace" presStyleCnt="0"/>
      <dgm:spPr/>
    </dgm:pt>
    <dgm:pt modelId="{3AB8CC35-3145-483D-A877-F5062DAF0F37}" type="pres">
      <dgm:prSet presAssocID="{24188B1E-C6E1-4516-9D6B-B180658EA401}" presName="childText" presStyleLbl="conFgAcc1" presStyleIdx="2" presStyleCnt="5">
        <dgm:presLayoutVars>
          <dgm:bulletEnabled val="1"/>
        </dgm:presLayoutVars>
      </dgm:prSet>
      <dgm:spPr/>
    </dgm:pt>
    <dgm:pt modelId="{09F365B6-26F2-485B-A93D-7E5C23ED1C3F}" type="pres">
      <dgm:prSet presAssocID="{53014121-6702-405B-9EC7-EC9DA596A099}" presName="spaceBetweenRectangles" presStyleCnt="0"/>
      <dgm:spPr/>
    </dgm:pt>
    <dgm:pt modelId="{55ED99D5-9E27-45D9-BBAF-A15E8254D948}" type="pres">
      <dgm:prSet presAssocID="{7A49293C-531C-4805-A42D-F749233AC6EE}" presName="parentLin" presStyleCnt="0"/>
      <dgm:spPr/>
    </dgm:pt>
    <dgm:pt modelId="{892017AB-D6EA-4158-B5D3-F63401741B34}" type="pres">
      <dgm:prSet presAssocID="{7A49293C-531C-4805-A42D-F749233AC6EE}" presName="parentLeftMargin" presStyleLbl="node1" presStyleIdx="2" presStyleCnt="5"/>
      <dgm:spPr/>
    </dgm:pt>
    <dgm:pt modelId="{11702ECE-2C62-451A-90D7-05EDC05ABB20}" type="pres">
      <dgm:prSet presAssocID="{7A49293C-531C-4805-A42D-F749233AC6EE}" presName="parentText" presStyleLbl="node1" presStyleIdx="3" presStyleCnt="5">
        <dgm:presLayoutVars>
          <dgm:chMax val="0"/>
          <dgm:bulletEnabled val="1"/>
        </dgm:presLayoutVars>
      </dgm:prSet>
      <dgm:spPr/>
    </dgm:pt>
    <dgm:pt modelId="{909EF792-5107-445D-858E-10AC59C9C4E6}" type="pres">
      <dgm:prSet presAssocID="{7A49293C-531C-4805-A42D-F749233AC6EE}" presName="negativeSpace" presStyleCnt="0"/>
      <dgm:spPr/>
    </dgm:pt>
    <dgm:pt modelId="{340984B9-6AEA-49B2-9812-42F67E3BE654}" type="pres">
      <dgm:prSet presAssocID="{7A49293C-531C-4805-A42D-F749233AC6EE}" presName="childText" presStyleLbl="conFgAcc1" presStyleIdx="3" presStyleCnt="5">
        <dgm:presLayoutVars>
          <dgm:bulletEnabled val="1"/>
        </dgm:presLayoutVars>
      </dgm:prSet>
      <dgm:spPr/>
    </dgm:pt>
    <dgm:pt modelId="{0DC76B7C-D36A-4524-9E69-ADCCA89AE3A3}" type="pres">
      <dgm:prSet presAssocID="{E77478EF-AE0D-4763-98AB-01DB35E35B5C}" presName="spaceBetweenRectangles" presStyleCnt="0"/>
      <dgm:spPr/>
    </dgm:pt>
    <dgm:pt modelId="{782566C0-57B2-4AB8-994E-EA31AC67447D}" type="pres">
      <dgm:prSet presAssocID="{87AF2E8B-69FC-43A4-940D-4748DA1324E9}" presName="parentLin" presStyleCnt="0"/>
      <dgm:spPr/>
    </dgm:pt>
    <dgm:pt modelId="{5066B18C-6FDF-4D36-AE60-09FBDA9DBC01}" type="pres">
      <dgm:prSet presAssocID="{87AF2E8B-69FC-43A4-940D-4748DA1324E9}" presName="parentLeftMargin" presStyleLbl="node1" presStyleIdx="3" presStyleCnt="5"/>
      <dgm:spPr/>
    </dgm:pt>
    <dgm:pt modelId="{F2892099-27F1-44B2-9B5C-4E207FA21485}" type="pres">
      <dgm:prSet presAssocID="{87AF2E8B-69FC-43A4-940D-4748DA1324E9}" presName="parentText" presStyleLbl="node1" presStyleIdx="4" presStyleCnt="5">
        <dgm:presLayoutVars>
          <dgm:chMax val="0"/>
          <dgm:bulletEnabled val="1"/>
        </dgm:presLayoutVars>
      </dgm:prSet>
      <dgm:spPr/>
    </dgm:pt>
    <dgm:pt modelId="{D62FD3C2-BF55-4449-BB57-BC457F26C43A}" type="pres">
      <dgm:prSet presAssocID="{87AF2E8B-69FC-43A4-940D-4748DA1324E9}" presName="negativeSpace" presStyleCnt="0"/>
      <dgm:spPr/>
    </dgm:pt>
    <dgm:pt modelId="{5C62DA63-E020-404C-8262-8E152865FAA1}" type="pres">
      <dgm:prSet presAssocID="{87AF2E8B-69FC-43A4-940D-4748DA1324E9}" presName="childText" presStyleLbl="conFgAcc1" presStyleIdx="4" presStyleCnt="5">
        <dgm:presLayoutVars>
          <dgm:bulletEnabled val="1"/>
        </dgm:presLayoutVars>
      </dgm:prSet>
      <dgm:spPr/>
    </dgm:pt>
  </dgm:ptLst>
  <dgm:cxnLst>
    <dgm:cxn modelId="{998C4E0D-4DF8-49E1-BE31-CBF6C610D998}" type="presOf" srcId="{7A49293C-531C-4805-A42D-F749233AC6EE}" destId="{892017AB-D6EA-4158-B5D3-F63401741B34}" srcOrd="0" destOrd="0" presId="urn:microsoft.com/office/officeart/2005/8/layout/list1"/>
    <dgm:cxn modelId="{3D859B15-C541-47D5-94D8-F8D62C0C9D69}" type="presOf" srcId="{87AF2E8B-69FC-43A4-940D-4748DA1324E9}" destId="{5066B18C-6FDF-4D36-AE60-09FBDA9DBC01}" srcOrd="0" destOrd="0" presId="urn:microsoft.com/office/officeart/2005/8/layout/list1"/>
    <dgm:cxn modelId="{BE43BB20-B6B5-4AEE-9DB4-05FC89F61775}" type="presOf" srcId="{87AF2E8B-69FC-43A4-940D-4748DA1324E9}" destId="{F2892099-27F1-44B2-9B5C-4E207FA21485}" srcOrd="1" destOrd="0" presId="urn:microsoft.com/office/officeart/2005/8/layout/list1"/>
    <dgm:cxn modelId="{EE982523-D7C1-4E6C-82F8-496E51F0663A}" type="presOf" srcId="{49212E2D-6962-455F-8CE9-247A47B52B69}" destId="{195D89EB-8993-4C4D-B7E1-F1A83DB57A68}" srcOrd="0" destOrd="0" presId="urn:microsoft.com/office/officeart/2005/8/layout/list1"/>
    <dgm:cxn modelId="{843B1C2E-83E7-4E35-864A-F47A1AEE18B1}" srcId="{F8193A83-2CFF-4804-8271-F487C3C54B68}" destId="{7A49293C-531C-4805-A42D-F749233AC6EE}" srcOrd="3" destOrd="0" parTransId="{DA7EF52D-B107-4D6F-A109-10315DD88774}" sibTransId="{E77478EF-AE0D-4763-98AB-01DB35E35B5C}"/>
    <dgm:cxn modelId="{6C078632-803F-4851-A5A2-8C7EEF8505F4}" type="presOf" srcId="{763C2354-6B03-4F05-BFC1-AD796A156714}" destId="{50634FEA-E57E-4D6F-893E-229B673C885C}" srcOrd="1" destOrd="0" presId="urn:microsoft.com/office/officeart/2005/8/layout/list1"/>
    <dgm:cxn modelId="{5162C93D-A965-40EC-807D-F4D425459B85}" type="presOf" srcId="{763C2354-6B03-4F05-BFC1-AD796A156714}" destId="{BE755517-868B-44BF-A232-6F116C7C5CCF}" srcOrd="0" destOrd="0" presId="urn:microsoft.com/office/officeart/2005/8/layout/list1"/>
    <dgm:cxn modelId="{82FAA469-59AA-4152-85EC-665BA60AF95F}" srcId="{F8193A83-2CFF-4804-8271-F487C3C54B68}" destId="{24188B1E-C6E1-4516-9D6B-B180658EA401}" srcOrd="2" destOrd="0" parTransId="{6D8E84F9-BC56-4871-B119-24A610800B31}" sibTransId="{53014121-6702-405B-9EC7-EC9DA596A099}"/>
    <dgm:cxn modelId="{6D22446F-3FEB-430C-B9FD-78B096994BB6}" type="presOf" srcId="{24188B1E-C6E1-4516-9D6B-B180658EA401}" destId="{8B38AE2A-3C16-4FB3-AB55-713FC50722F7}" srcOrd="0" destOrd="0" presId="urn:microsoft.com/office/officeart/2005/8/layout/list1"/>
    <dgm:cxn modelId="{67755253-DEEC-4363-A5B1-5694A7F7E44F}" type="presOf" srcId="{49212E2D-6962-455F-8CE9-247A47B52B69}" destId="{B1BB8D48-F9F7-4426-8857-413C0F828D5F}" srcOrd="1" destOrd="0" presId="urn:microsoft.com/office/officeart/2005/8/layout/list1"/>
    <dgm:cxn modelId="{0572B87E-7DE2-4A52-8522-8144BC0A58BE}" srcId="{F8193A83-2CFF-4804-8271-F487C3C54B68}" destId="{87AF2E8B-69FC-43A4-940D-4748DA1324E9}" srcOrd="4" destOrd="0" parTransId="{EF19A5DF-3179-4BBB-B797-AC885330CA95}" sibTransId="{A6268557-2712-4365-A10E-E09759AB6E37}"/>
    <dgm:cxn modelId="{28B80888-E2E0-4EC1-B2F0-F09467C2B335}" type="presOf" srcId="{F8193A83-2CFF-4804-8271-F487C3C54B68}" destId="{D5B19573-1AD2-46A7-8542-0A81B692BF6B}" srcOrd="0" destOrd="0" presId="urn:microsoft.com/office/officeart/2005/8/layout/list1"/>
    <dgm:cxn modelId="{963DD9B1-B4F8-41AD-91FC-BFD24C0D9298}" type="presOf" srcId="{24188B1E-C6E1-4516-9D6B-B180658EA401}" destId="{95EE97E8-001F-4689-BFB9-F4366FE6551F}" srcOrd="1" destOrd="0" presId="urn:microsoft.com/office/officeart/2005/8/layout/list1"/>
    <dgm:cxn modelId="{AC19BDD5-C78D-4EA5-9872-0FAAC5286468}" type="presOf" srcId="{7A49293C-531C-4805-A42D-F749233AC6EE}" destId="{11702ECE-2C62-451A-90D7-05EDC05ABB20}" srcOrd="1" destOrd="0" presId="urn:microsoft.com/office/officeart/2005/8/layout/list1"/>
    <dgm:cxn modelId="{5D2A94EB-0CFE-453B-8D42-8172C5C6BED3}" srcId="{F8193A83-2CFF-4804-8271-F487C3C54B68}" destId="{49212E2D-6962-455F-8CE9-247A47B52B69}" srcOrd="1" destOrd="0" parTransId="{2A1858F3-D751-411B-9241-4E736CB3E155}" sibTransId="{6FBFD19A-46FD-4C38-A57B-71C1998848D8}"/>
    <dgm:cxn modelId="{6B2FC7F1-9508-4967-9EA2-B7A4E7521BD2}" srcId="{F8193A83-2CFF-4804-8271-F487C3C54B68}" destId="{763C2354-6B03-4F05-BFC1-AD796A156714}" srcOrd="0" destOrd="0" parTransId="{BE5DAB27-DEBF-4075-AD01-E8AB1316ADC5}" sibTransId="{D77A0226-3B57-4268-941E-9A8B2F00ADD1}"/>
    <dgm:cxn modelId="{8BF1CCD0-B91D-499D-A7AD-B0FA92621FFD}" type="presParOf" srcId="{D5B19573-1AD2-46A7-8542-0A81B692BF6B}" destId="{5F0F0043-9847-419B-80EC-D9BFD8D56E27}" srcOrd="0" destOrd="0" presId="urn:microsoft.com/office/officeart/2005/8/layout/list1"/>
    <dgm:cxn modelId="{306C25F9-A1E7-42EF-A344-F85C2ECF902D}" type="presParOf" srcId="{5F0F0043-9847-419B-80EC-D9BFD8D56E27}" destId="{BE755517-868B-44BF-A232-6F116C7C5CCF}" srcOrd="0" destOrd="0" presId="urn:microsoft.com/office/officeart/2005/8/layout/list1"/>
    <dgm:cxn modelId="{1345200B-19D0-4168-99C3-BFBF05C6C98F}" type="presParOf" srcId="{5F0F0043-9847-419B-80EC-D9BFD8D56E27}" destId="{50634FEA-E57E-4D6F-893E-229B673C885C}" srcOrd="1" destOrd="0" presId="urn:microsoft.com/office/officeart/2005/8/layout/list1"/>
    <dgm:cxn modelId="{F471692B-0D97-4206-9842-46A61D9556AB}" type="presParOf" srcId="{D5B19573-1AD2-46A7-8542-0A81B692BF6B}" destId="{CD38849F-5F58-4FF0-875E-470BE997F902}" srcOrd="1" destOrd="0" presId="urn:microsoft.com/office/officeart/2005/8/layout/list1"/>
    <dgm:cxn modelId="{07E7A433-3347-4026-98D3-B3D7F7849718}" type="presParOf" srcId="{D5B19573-1AD2-46A7-8542-0A81B692BF6B}" destId="{8DF2C74F-4339-4222-8D0B-027924F6D9B2}" srcOrd="2" destOrd="0" presId="urn:microsoft.com/office/officeart/2005/8/layout/list1"/>
    <dgm:cxn modelId="{056974F5-C691-4EF9-9BBD-7E64BE63924A}" type="presParOf" srcId="{D5B19573-1AD2-46A7-8542-0A81B692BF6B}" destId="{E01C86B5-AC4F-40F8-880C-E6BE322E936E}" srcOrd="3" destOrd="0" presId="urn:microsoft.com/office/officeart/2005/8/layout/list1"/>
    <dgm:cxn modelId="{A19FC043-F739-41BD-9180-C9BDD5BAA6AA}" type="presParOf" srcId="{D5B19573-1AD2-46A7-8542-0A81B692BF6B}" destId="{A521F9D5-6969-4A6E-9A5F-2200304BC4C8}" srcOrd="4" destOrd="0" presId="urn:microsoft.com/office/officeart/2005/8/layout/list1"/>
    <dgm:cxn modelId="{347EBD29-24E0-4284-A173-A88A887E49A9}" type="presParOf" srcId="{A521F9D5-6969-4A6E-9A5F-2200304BC4C8}" destId="{195D89EB-8993-4C4D-B7E1-F1A83DB57A68}" srcOrd="0" destOrd="0" presId="urn:microsoft.com/office/officeart/2005/8/layout/list1"/>
    <dgm:cxn modelId="{85B83350-EAAE-43B4-92A1-81233AD7B503}" type="presParOf" srcId="{A521F9D5-6969-4A6E-9A5F-2200304BC4C8}" destId="{B1BB8D48-F9F7-4426-8857-413C0F828D5F}" srcOrd="1" destOrd="0" presId="urn:microsoft.com/office/officeart/2005/8/layout/list1"/>
    <dgm:cxn modelId="{53949EE5-479E-41DF-A3B6-DDA718149948}" type="presParOf" srcId="{D5B19573-1AD2-46A7-8542-0A81B692BF6B}" destId="{3615DAD9-CBD2-4F1C-84ED-1801D7A57304}" srcOrd="5" destOrd="0" presId="urn:microsoft.com/office/officeart/2005/8/layout/list1"/>
    <dgm:cxn modelId="{E22EC421-CBB8-4679-9D1C-1490D004121C}" type="presParOf" srcId="{D5B19573-1AD2-46A7-8542-0A81B692BF6B}" destId="{75787C04-CF8E-4D89-9882-533D3C19858E}" srcOrd="6" destOrd="0" presId="urn:microsoft.com/office/officeart/2005/8/layout/list1"/>
    <dgm:cxn modelId="{A28AEFE2-7C00-4928-92A3-A495378B921C}" type="presParOf" srcId="{D5B19573-1AD2-46A7-8542-0A81B692BF6B}" destId="{96C1D5DB-5535-4074-A39D-9A6EA836C6F7}" srcOrd="7" destOrd="0" presId="urn:microsoft.com/office/officeart/2005/8/layout/list1"/>
    <dgm:cxn modelId="{3651EB7E-B437-4009-BC5A-CD188B9B1516}" type="presParOf" srcId="{D5B19573-1AD2-46A7-8542-0A81B692BF6B}" destId="{77464298-4168-4450-A55E-93ECCB5463D5}" srcOrd="8" destOrd="0" presId="urn:microsoft.com/office/officeart/2005/8/layout/list1"/>
    <dgm:cxn modelId="{F8F4DBCA-E05E-46A1-9245-E65F5BE85891}" type="presParOf" srcId="{77464298-4168-4450-A55E-93ECCB5463D5}" destId="{8B38AE2A-3C16-4FB3-AB55-713FC50722F7}" srcOrd="0" destOrd="0" presId="urn:microsoft.com/office/officeart/2005/8/layout/list1"/>
    <dgm:cxn modelId="{9D199E0C-6AEE-4118-9211-CED1608B0DA4}" type="presParOf" srcId="{77464298-4168-4450-A55E-93ECCB5463D5}" destId="{95EE97E8-001F-4689-BFB9-F4366FE6551F}" srcOrd="1" destOrd="0" presId="urn:microsoft.com/office/officeart/2005/8/layout/list1"/>
    <dgm:cxn modelId="{71940A59-8D24-487A-A285-449D14C2FF23}" type="presParOf" srcId="{D5B19573-1AD2-46A7-8542-0A81B692BF6B}" destId="{A5146E56-034D-42CD-A4BF-684BCC7559E9}" srcOrd="9" destOrd="0" presId="urn:microsoft.com/office/officeart/2005/8/layout/list1"/>
    <dgm:cxn modelId="{92D4C344-FE12-4AD3-8C15-2FC59F74F28A}" type="presParOf" srcId="{D5B19573-1AD2-46A7-8542-0A81B692BF6B}" destId="{3AB8CC35-3145-483D-A877-F5062DAF0F37}" srcOrd="10" destOrd="0" presId="urn:microsoft.com/office/officeart/2005/8/layout/list1"/>
    <dgm:cxn modelId="{8532A9E0-DD52-4416-A3CE-B5EBA2CE1A72}" type="presParOf" srcId="{D5B19573-1AD2-46A7-8542-0A81B692BF6B}" destId="{09F365B6-26F2-485B-A93D-7E5C23ED1C3F}" srcOrd="11" destOrd="0" presId="urn:microsoft.com/office/officeart/2005/8/layout/list1"/>
    <dgm:cxn modelId="{49CDE822-74DD-4F13-8998-8B5245400204}" type="presParOf" srcId="{D5B19573-1AD2-46A7-8542-0A81B692BF6B}" destId="{55ED99D5-9E27-45D9-BBAF-A15E8254D948}" srcOrd="12" destOrd="0" presId="urn:microsoft.com/office/officeart/2005/8/layout/list1"/>
    <dgm:cxn modelId="{C68F01EA-073A-4716-A372-B1845C45E915}" type="presParOf" srcId="{55ED99D5-9E27-45D9-BBAF-A15E8254D948}" destId="{892017AB-D6EA-4158-B5D3-F63401741B34}" srcOrd="0" destOrd="0" presId="urn:microsoft.com/office/officeart/2005/8/layout/list1"/>
    <dgm:cxn modelId="{B6004F9F-6C7E-4472-9DF9-7E98C8000E86}" type="presParOf" srcId="{55ED99D5-9E27-45D9-BBAF-A15E8254D948}" destId="{11702ECE-2C62-451A-90D7-05EDC05ABB20}" srcOrd="1" destOrd="0" presId="urn:microsoft.com/office/officeart/2005/8/layout/list1"/>
    <dgm:cxn modelId="{5350479E-8B59-4B65-A89B-23ADF51D95A2}" type="presParOf" srcId="{D5B19573-1AD2-46A7-8542-0A81B692BF6B}" destId="{909EF792-5107-445D-858E-10AC59C9C4E6}" srcOrd="13" destOrd="0" presId="urn:microsoft.com/office/officeart/2005/8/layout/list1"/>
    <dgm:cxn modelId="{61D0FAD8-A453-40BE-BE0C-73D302A11BFA}" type="presParOf" srcId="{D5B19573-1AD2-46A7-8542-0A81B692BF6B}" destId="{340984B9-6AEA-49B2-9812-42F67E3BE654}" srcOrd="14" destOrd="0" presId="urn:microsoft.com/office/officeart/2005/8/layout/list1"/>
    <dgm:cxn modelId="{A55D8868-7AAC-4F59-A081-05502BE06490}" type="presParOf" srcId="{D5B19573-1AD2-46A7-8542-0A81B692BF6B}" destId="{0DC76B7C-D36A-4524-9E69-ADCCA89AE3A3}" srcOrd="15" destOrd="0" presId="urn:microsoft.com/office/officeart/2005/8/layout/list1"/>
    <dgm:cxn modelId="{2568322D-CE48-4EBC-8271-621DBF0A9132}" type="presParOf" srcId="{D5B19573-1AD2-46A7-8542-0A81B692BF6B}" destId="{782566C0-57B2-4AB8-994E-EA31AC67447D}" srcOrd="16" destOrd="0" presId="urn:microsoft.com/office/officeart/2005/8/layout/list1"/>
    <dgm:cxn modelId="{77F72FDC-54D7-4E04-B2AC-BEEC9913D1A8}" type="presParOf" srcId="{782566C0-57B2-4AB8-994E-EA31AC67447D}" destId="{5066B18C-6FDF-4D36-AE60-09FBDA9DBC01}" srcOrd="0" destOrd="0" presId="urn:microsoft.com/office/officeart/2005/8/layout/list1"/>
    <dgm:cxn modelId="{A90B89C7-6BA0-46BC-9170-42B595A42C19}" type="presParOf" srcId="{782566C0-57B2-4AB8-994E-EA31AC67447D}" destId="{F2892099-27F1-44B2-9B5C-4E207FA21485}" srcOrd="1" destOrd="0" presId="urn:microsoft.com/office/officeart/2005/8/layout/list1"/>
    <dgm:cxn modelId="{783BAC08-4C30-414F-9E1E-FE18D80A6E2C}" type="presParOf" srcId="{D5B19573-1AD2-46A7-8542-0A81B692BF6B}" destId="{D62FD3C2-BF55-4449-BB57-BC457F26C43A}" srcOrd="17" destOrd="0" presId="urn:microsoft.com/office/officeart/2005/8/layout/list1"/>
    <dgm:cxn modelId="{4C57C97C-D15B-47DE-BD53-616704D0CB3E}" type="presParOf" srcId="{D5B19573-1AD2-46A7-8542-0A81B692BF6B}" destId="{5C62DA63-E020-404C-8262-8E152865FAA1}"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C4361F-9C4E-497F-AB50-74859C76B2F2}" type="doc">
      <dgm:prSet loTypeId="urn:microsoft.com/office/officeart/2008/layout/LinedList" loCatId="list" qsTypeId="urn:microsoft.com/office/officeart/2005/8/quickstyle/simple1" qsCatId="simple" csTypeId="urn:microsoft.com/office/officeart/2005/8/colors/accent4_2" csCatId="accent4" phldr="1"/>
      <dgm:spPr/>
      <dgm:t>
        <a:bodyPr/>
        <a:lstStyle/>
        <a:p>
          <a:endParaRPr lang="en-US"/>
        </a:p>
      </dgm:t>
    </dgm:pt>
    <dgm:pt modelId="{3748D3A8-E4C2-4C3F-B49A-F400F0FAD358}">
      <dgm:prSet/>
      <dgm:spPr/>
      <dgm:t>
        <a:bodyPr/>
        <a:lstStyle/>
        <a:p>
          <a:r>
            <a:rPr lang="en-US" dirty="0"/>
            <a:t>In natural language processing (NLP), </a:t>
          </a:r>
          <a:r>
            <a:rPr lang="en-US" dirty="0" err="1"/>
            <a:t>stopwords</a:t>
          </a:r>
          <a:r>
            <a:rPr lang="en-US" dirty="0"/>
            <a:t> are frequently filtered out to enhance text analysis and computational efficiency.</a:t>
          </a:r>
        </a:p>
      </dgm:t>
    </dgm:pt>
    <dgm:pt modelId="{4AD5A84A-8E26-4AB8-B23A-F571B5DF1EA2}" type="parTrans" cxnId="{0FC22EA1-37F8-46AB-8AC3-DF3A00CB376F}">
      <dgm:prSet/>
      <dgm:spPr/>
      <dgm:t>
        <a:bodyPr/>
        <a:lstStyle/>
        <a:p>
          <a:endParaRPr lang="en-US"/>
        </a:p>
      </dgm:t>
    </dgm:pt>
    <dgm:pt modelId="{E5D59FA4-32A2-46F0-9D28-669667901D86}" type="sibTrans" cxnId="{0FC22EA1-37F8-46AB-8AC3-DF3A00CB376F}">
      <dgm:prSet/>
      <dgm:spPr/>
      <dgm:t>
        <a:bodyPr/>
        <a:lstStyle/>
        <a:p>
          <a:endParaRPr lang="en-US"/>
        </a:p>
      </dgm:t>
    </dgm:pt>
    <dgm:pt modelId="{AD138839-9DAE-458A-B73F-B65CABD83BC1}">
      <dgm:prSet/>
      <dgm:spPr/>
      <dgm:t>
        <a:bodyPr/>
        <a:lstStyle/>
        <a:p>
          <a:r>
            <a:rPr lang="en-US" b="0" i="0" dirty="0"/>
            <a:t>Certain words, like "the," "and," and "is," are thought to be ineffective for communicating important information. </a:t>
          </a:r>
          <a:endParaRPr lang="en-US" dirty="0"/>
        </a:p>
      </dgm:t>
    </dgm:pt>
    <dgm:pt modelId="{A9E717DB-2024-4970-AA71-82EB64D15387}" type="parTrans" cxnId="{DF78B85E-2189-430D-A73A-F166FE995424}">
      <dgm:prSet/>
      <dgm:spPr/>
      <dgm:t>
        <a:bodyPr/>
        <a:lstStyle/>
        <a:p>
          <a:endParaRPr lang="en-US"/>
        </a:p>
      </dgm:t>
    </dgm:pt>
    <dgm:pt modelId="{F9D4B4A7-3E4A-4397-99B1-72374DDDEDB0}" type="sibTrans" cxnId="{DF78B85E-2189-430D-A73A-F166FE995424}">
      <dgm:prSet/>
      <dgm:spPr/>
      <dgm:t>
        <a:bodyPr/>
        <a:lstStyle/>
        <a:p>
          <a:endParaRPr lang="en-US"/>
        </a:p>
      </dgm:t>
    </dgm:pt>
    <dgm:pt modelId="{7369CE52-99AE-4030-9B6F-43AECA68C421}">
      <dgm:prSet/>
      <dgm:spPr/>
      <dgm:t>
        <a:bodyPr/>
        <a:lstStyle/>
        <a:p>
          <a:r>
            <a:rPr lang="en-US" dirty="0"/>
            <a:t>The goal of removing </a:t>
          </a:r>
          <a:r>
            <a:rPr lang="en-US" dirty="0" err="1"/>
            <a:t>stopwords</a:t>
          </a:r>
          <a:r>
            <a:rPr lang="en-US" dirty="0"/>
            <a:t> is to speed up text processing by eliminating words that do not add much meaning, even though the set of </a:t>
          </a:r>
          <a:r>
            <a:rPr lang="en-US" dirty="0" err="1"/>
            <a:t>stopwords</a:t>
          </a:r>
          <a:r>
            <a:rPr lang="en-US" dirty="0"/>
            <a:t> can vary.</a:t>
          </a:r>
        </a:p>
      </dgm:t>
    </dgm:pt>
    <dgm:pt modelId="{99B75630-A4F6-4B20-8CB5-A1C725D4E856}" type="parTrans" cxnId="{3B073EF9-50A7-4BF9-8C85-650CD4205B7C}">
      <dgm:prSet/>
      <dgm:spPr/>
      <dgm:t>
        <a:bodyPr/>
        <a:lstStyle/>
        <a:p>
          <a:endParaRPr lang="en-US"/>
        </a:p>
      </dgm:t>
    </dgm:pt>
    <dgm:pt modelId="{317ECFD1-1840-42B7-9C25-E114423A689A}" type="sibTrans" cxnId="{3B073EF9-50A7-4BF9-8C85-650CD4205B7C}">
      <dgm:prSet/>
      <dgm:spPr/>
      <dgm:t>
        <a:bodyPr/>
        <a:lstStyle/>
        <a:p>
          <a:endParaRPr lang="en-US"/>
        </a:p>
      </dgm:t>
    </dgm:pt>
    <dgm:pt modelId="{63C564E7-DA85-4EB2-87EB-42E522BB450D}" type="pres">
      <dgm:prSet presAssocID="{D3C4361F-9C4E-497F-AB50-74859C76B2F2}" presName="vert0" presStyleCnt="0">
        <dgm:presLayoutVars>
          <dgm:dir/>
          <dgm:animOne val="branch"/>
          <dgm:animLvl val="lvl"/>
        </dgm:presLayoutVars>
      </dgm:prSet>
      <dgm:spPr/>
    </dgm:pt>
    <dgm:pt modelId="{8505E4CE-8CA4-440A-BBE0-0C5D0323143D}" type="pres">
      <dgm:prSet presAssocID="{3748D3A8-E4C2-4C3F-B49A-F400F0FAD358}" presName="thickLine" presStyleLbl="alignNode1" presStyleIdx="0" presStyleCnt="3"/>
      <dgm:spPr/>
    </dgm:pt>
    <dgm:pt modelId="{3B009A70-DC6A-4AAF-B87F-285C9D64D9D2}" type="pres">
      <dgm:prSet presAssocID="{3748D3A8-E4C2-4C3F-B49A-F400F0FAD358}" presName="horz1" presStyleCnt="0"/>
      <dgm:spPr/>
    </dgm:pt>
    <dgm:pt modelId="{EF44596B-62B5-4368-B826-80630235F8FA}" type="pres">
      <dgm:prSet presAssocID="{3748D3A8-E4C2-4C3F-B49A-F400F0FAD358}" presName="tx1" presStyleLbl="revTx" presStyleIdx="0" presStyleCnt="3"/>
      <dgm:spPr/>
    </dgm:pt>
    <dgm:pt modelId="{43E6030E-ECD3-46E4-91DD-05792F7D1B7D}" type="pres">
      <dgm:prSet presAssocID="{3748D3A8-E4C2-4C3F-B49A-F400F0FAD358}" presName="vert1" presStyleCnt="0"/>
      <dgm:spPr/>
    </dgm:pt>
    <dgm:pt modelId="{138AB54A-373F-4E2C-A26A-EE11D0EA72E8}" type="pres">
      <dgm:prSet presAssocID="{AD138839-9DAE-458A-B73F-B65CABD83BC1}" presName="thickLine" presStyleLbl="alignNode1" presStyleIdx="1" presStyleCnt="3"/>
      <dgm:spPr/>
    </dgm:pt>
    <dgm:pt modelId="{A3DFF610-169C-483D-B59C-15E7C443DC55}" type="pres">
      <dgm:prSet presAssocID="{AD138839-9DAE-458A-B73F-B65CABD83BC1}" presName="horz1" presStyleCnt="0"/>
      <dgm:spPr/>
    </dgm:pt>
    <dgm:pt modelId="{D0F096DF-8217-4BB4-B637-ED1D7DEB5A30}" type="pres">
      <dgm:prSet presAssocID="{AD138839-9DAE-458A-B73F-B65CABD83BC1}" presName="tx1" presStyleLbl="revTx" presStyleIdx="1" presStyleCnt="3"/>
      <dgm:spPr/>
    </dgm:pt>
    <dgm:pt modelId="{CFDB3016-443E-45E8-9751-5F101385A2E7}" type="pres">
      <dgm:prSet presAssocID="{AD138839-9DAE-458A-B73F-B65CABD83BC1}" presName="vert1" presStyleCnt="0"/>
      <dgm:spPr/>
    </dgm:pt>
    <dgm:pt modelId="{86353247-AB40-4618-A5B4-851119781B99}" type="pres">
      <dgm:prSet presAssocID="{7369CE52-99AE-4030-9B6F-43AECA68C421}" presName="thickLine" presStyleLbl="alignNode1" presStyleIdx="2" presStyleCnt="3"/>
      <dgm:spPr/>
    </dgm:pt>
    <dgm:pt modelId="{4C331FA3-FF6A-43CD-9871-D3B6EC294056}" type="pres">
      <dgm:prSet presAssocID="{7369CE52-99AE-4030-9B6F-43AECA68C421}" presName="horz1" presStyleCnt="0"/>
      <dgm:spPr/>
    </dgm:pt>
    <dgm:pt modelId="{59875BD5-3728-485B-9DEC-9410A0341CA6}" type="pres">
      <dgm:prSet presAssocID="{7369CE52-99AE-4030-9B6F-43AECA68C421}" presName="tx1" presStyleLbl="revTx" presStyleIdx="2" presStyleCnt="3"/>
      <dgm:spPr/>
    </dgm:pt>
    <dgm:pt modelId="{DEA416BD-95E5-4F16-B667-589C74409420}" type="pres">
      <dgm:prSet presAssocID="{7369CE52-99AE-4030-9B6F-43AECA68C421}" presName="vert1" presStyleCnt="0"/>
      <dgm:spPr/>
    </dgm:pt>
  </dgm:ptLst>
  <dgm:cxnLst>
    <dgm:cxn modelId="{01C0B218-C68B-4E5E-BCED-E0D2241CB80F}" type="presOf" srcId="{D3C4361F-9C4E-497F-AB50-74859C76B2F2}" destId="{63C564E7-DA85-4EB2-87EB-42E522BB450D}" srcOrd="0" destOrd="0" presId="urn:microsoft.com/office/officeart/2008/layout/LinedList"/>
    <dgm:cxn modelId="{DF78B85E-2189-430D-A73A-F166FE995424}" srcId="{D3C4361F-9C4E-497F-AB50-74859C76B2F2}" destId="{AD138839-9DAE-458A-B73F-B65CABD83BC1}" srcOrd="1" destOrd="0" parTransId="{A9E717DB-2024-4970-AA71-82EB64D15387}" sibTransId="{F9D4B4A7-3E4A-4397-99B1-72374DDDEDB0}"/>
    <dgm:cxn modelId="{0FC22EA1-37F8-46AB-8AC3-DF3A00CB376F}" srcId="{D3C4361F-9C4E-497F-AB50-74859C76B2F2}" destId="{3748D3A8-E4C2-4C3F-B49A-F400F0FAD358}" srcOrd="0" destOrd="0" parTransId="{4AD5A84A-8E26-4AB8-B23A-F571B5DF1EA2}" sibTransId="{E5D59FA4-32A2-46F0-9D28-669667901D86}"/>
    <dgm:cxn modelId="{90322CAB-9995-43A3-BB9B-F35EAEEAF63E}" type="presOf" srcId="{AD138839-9DAE-458A-B73F-B65CABD83BC1}" destId="{D0F096DF-8217-4BB4-B637-ED1D7DEB5A30}" srcOrd="0" destOrd="0" presId="urn:microsoft.com/office/officeart/2008/layout/LinedList"/>
    <dgm:cxn modelId="{B23D3BB7-9288-45AB-A02F-3C5022FFCF45}" type="presOf" srcId="{7369CE52-99AE-4030-9B6F-43AECA68C421}" destId="{59875BD5-3728-485B-9DEC-9410A0341CA6}" srcOrd="0" destOrd="0" presId="urn:microsoft.com/office/officeart/2008/layout/LinedList"/>
    <dgm:cxn modelId="{BE631CE8-CD2B-4E59-816C-6D1F5C4C6B65}" type="presOf" srcId="{3748D3A8-E4C2-4C3F-B49A-F400F0FAD358}" destId="{EF44596B-62B5-4368-B826-80630235F8FA}" srcOrd="0" destOrd="0" presId="urn:microsoft.com/office/officeart/2008/layout/LinedList"/>
    <dgm:cxn modelId="{3B073EF9-50A7-4BF9-8C85-650CD4205B7C}" srcId="{D3C4361F-9C4E-497F-AB50-74859C76B2F2}" destId="{7369CE52-99AE-4030-9B6F-43AECA68C421}" srcOrd="2" destOrd="0" parTransId="{99B75630-A4F6-4B20-8CB5-A1C725D4E856}" sibTransId="{317ECFD1-1840-42B7-9C25-E114423A689A}"/>
    <dgm:cxn modelId="{26D6D588-C9B2-479F-8AD7-50674AB8161C}" type="presParOf" srcId="{63C564E7-DA85-4EB2-87EB-42E522BB450D}" destId="{8505E4CE-8CA4-440A-BBE0-0C5D0323143D}" srcOrd="0" destOrd="0" presId="urn:microsoft.com/office/officeart/2008/layout/LinedList"/>
    <dgm:cxn modelId="{CEE3B10A-C554-4EBA-A68F-DC34B469E123}" type="presParOf" srcId="{63C564E7-DA85-4EB2-87EB-42E522BB450D}" destId="{3B009A70-DC6A-4AAF-B87F-285C9D64D9D2}" srcOrd="1" destOrd="0" presId="urn:microsoft.com/office/officeart/2008/layout/LinedList"/>
    <dgm:cxn modelId="{4E704719-56E6-496B-ABB2-F86D25EBA6AC}" type="presParOf" srcId="{3B009A70-DC6A-4AAF-B87F-285C9D64D9D2}" destId="{EF44596B-62B5-4368-B826-80630235F8FA}" srcOrd="0" destOrd="0" presId="urn:microsoft.com/office/officeart/2008/layout/LinedList"/>
    <dgm:cxn modelId="{6F768453-CEE5-433B-B578-87871F469B9B}" type="presParOf" srcId="{3B009A70-DC6A-4AAF-B87F-285C9D64D9D2}" destId="{43E6030E-ECD3-46E4-91DD-05792F7D1B7D}" srcOrd="1" destOrd="0" presId="urn:microsoft.com/office/officeart/2008/layout/LinedList"/>
    <dgm:cxn modelId="{3F6FCD0C-18E9-4579-A2C9-5A25D03BBDB4}" type="presParOf" srcId="{63C564E7-DA85-4EB2-87EB-42E522BB450D}" destId="{138AB54A-373F-4E2C-A26A-EE11D0EA72E8}" srcOrd="2" destOrd="0" presId="urn:microsoft.com/office/officeart/2008/layout/LinedList"/>
    <dgm:cxn modelId="{E170E166-E1FA-4B25-A63C-E23F2B482CB5}" type="presParOf" srcId="{63C564E7-DA85-4EB2-87EB-42E522BB450D}" destId="{A3DFF610-169C-483D-B59C-15E7C443DC55}" srcOrd="3" destOrd="0" presId="urn:microsoft.com/office/officeart/2008/layout/LinedList"/>
    <dgm:cxn modelId="{CE2462A0-FFD4-4D99-85C9-2DF87C43D82D}" type="presParOf" srcId="{A3DFF610-169C-483D-B59C-15E7C443DC55}" destId="{D0F096DF-8217-4BB4-B637-ED1D7DEB5A30}" srcOrd="0" destOrd="0" presId="urn:microsoft.com/office/officeart/2008/layout/LinedList"/>
    <dgm:cxn modelId="{F398E647-567A-489D-8184-C3ED2120B73B}" type="presParOf" srcId="{A3DFF610-169C-483D-B59C-15E7C443DC55}" destId="{CFDB3016-443E-45E8-9751-5F101385A2E7}" srcOrd="1" destOrd="0" presId="urn:microsoft.com/office/officeart/2008/layout/LinedList"/>
    <dgm:cxn modelId="{04A13AF1-F2F3-4168-BB3E-D6822DCE6F12}" type="presParOf" srcId="{63C564E7-DA85-4EB2-87EB-42E522BB450D}" destId="{86353247-AB40-4618-A5B4-851119781B99}" srcOrd="4" destOrd="0" presId="urn:microsoft.com/office/officeart/2008/layout/LinedList"/>
    <dgm:cxn modelId="{B2EF07F7-AE50-44CE-A05E-CAC1596DD82F}" type="presParOf" srcId="{63C564E7-DA85-4EB2-87EB-42E522BB450D}" destId="{4C331FA3-FF6A-43CD-9871-D3B6EC294056}" srcOrd="5" destOrd="0" presId="urn:microsoft.com/office/officeart/2008/layout/LinedList"/>
    <dgm:cxn modelId="{635F1606-BD13-46F0-B54B-53D93CF9695F}" type="presParOf" srcId="{4C331FA3-FF6A-43CD-9871-D3B6EC294056}" destId="{59875BD5-3728-485B-9DEC-9410A0341CA6}" srcOrd="0" destOrd="0" presId="urn:microsoft.com/office/officeart/2008/layout/LinedList"/>
    <dgm:cxn modelId="{30A9C418-B5A9-452A-A06B-A9A66622AA31}" type="presParOf" srcId="{4C331FA3-FF6A-43CD-9871-D3B6EC294056}" destId="{DEA416BD-95E5-4F16-B667-589C7440942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55539F7-39DC-46A4-8569-F7C89FF66534}"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C864C5DA-D3A0-47F2-A931-1EC2729222E5}">
      <dgm:prSet/>
      <dgm:spPr/>
      <dgm:t>
        <a:bodyPr/>
        <a:lstStyle/>
        <a:p>
          <a:r>
            <a:rPr lang="en-US" b="1"/>
            <a:t>Common Stopwords: </a:t>
          </a:r>
          <a:r>
            <a:rPr lang="en-US"/>
            <a:t>These are the most frequently occurring words in a language and are often removed during text preprocessing. Examples include "the," "is," "in," "for," "where," "when," "to," "at," etc.</a:t>
          </a:r>
        </a:p>
      </dgm:t>
    </dgm:pt>
    <dgm:pt modelId="{EB727504-E3FE-4A60-968A-4C481D55B2E6}" type="parTrans" cxnId="{EFEB7240-DD64-487C-BF24-4182CD2B8A88}">
      <dgm:prSet/>
      <dgm:spPr/>
      <dgm:t>
        <a:bodyPr/>
        <a:lstStyle/>
        <a:p>
          <a:endParaRPr lang="en-US"/>
        </a:p>
      </dgm:t>
    </dgm:pt>
    <dgm:pt modelId="{527CFF0A-3351-4F3B-8FC2-36766AA3651A}" type="sibTrans" cxnId="{EFEB7240-DD64-487C-BF24-4182CD2B8A88}">
      <dgm:prSet/>
      <dgm:spPr/>
      <dgm:t>
        <a:bodyPr/>
        <a:lstStyle/>
        <a:p>
          <a:endParaRPr lang="en-US"/>
        </a:p>
      </dgm:t>
    </dgm:pt>
    <dgm:pt modelId="{E7475440-5DEC-416C-A5BC-59CA504556FC}">
      <dgm:prSet/>
      <dgm:spPr/>
      <dgm:t>
        <a:bodyPr/>
        <a:lstStyle/>
        <a:p>
          <a:r>
            <a:rPr lang="en-US" b="1"/>
            <a:t>Custom Stopwords: </a:t>
          </a:r>
          <a:r>
            <a:rPr lang="en-US"/>
            <a:t>Depending on the specific task or domain, additional words may be considered as stopwords. These could be domain-specific terms that don't contribute much to the overall meaning. For example, in a medical context, words like "patient" or "treatment" might be considered as custom stopwords.</a:t>
          </a:r>
        </a:p>
      </dgm:t>
    </dgm:pt>
    <dgm:pt modelId="{A32F6DF7-0701-4038-9A60-855E493B3B69}" type="parTrans" cxnId="{DCDFE46C-CCD1-40EC-9041-FA3A8F768D30}">
      <dgm:prSet/>
      <dgm:spPr/>
      <dgm:t>
        <a:bodyPr/>
        <a:lstStyle/>
        <a:p>
          <a:endParaRPr lang="en-US"/>
        </a:p>
      </dgm:t>
    </dgm:pt>
    <dgm:pt modelId="{A635024C-84C5-4CB6-82B0-9D4AEB883950}" type="sibTrans" cxnId="{DCDFE46C-CCD1-40EC-9041-FA3A8F768D30}">
      <dgm:prSet/>
      <dgm:spPr/>
      <dgm:t>
        <a:bodyPr/>
        <a:lstStyle/>
        <a:p>
          <a:endParaRPr lang="en-US"/>
        </a:p>
      </dgm:t>
    </dgm:pt>
    <dgm:pt modelId="{DD5B03C0-ED6B-49E0-80F2-568E0B8835C9}" type="pres">
      <dgm:prSet presAssocID="{455539F7-39DC-46A4-8569-F7C89FF66534}" presName="vert0" presStyleCnt="0">
        <dgm:presLayoutVars>
          <dgm:dir/>
          <dgm:animOne val="branch"/>
          <dgm:animLvl val="lvl"/>
        </dgm:presLayoutVars>
      </dgm:prSet>
      <dgm:spPr/>
    </dgm:pt>
    <dgm:pt modelId="{93B5FADB-455B-4E99-9CBC-A6730F9C895D}" type="pres">
      <dgm:prSet presAssocID="{C864C5DA-D3A0-47F2-A931-1EC2729222E5}" presName="thickLine" presStyleLbl="alignNode1" presStyleIdx="0" presStyleCnt="2"/>
      <dgm:spPr/>
    </dgm:pt>
    <dgm:pt modelId="{AAC61F50-6AE3-47FE-8FB4-67F9E136EF00}" type="pres">
      <dgm:prSet presAssocID="{C864C5DA-D3A0-47F2-A931-1EC2729222E5}" presName="horz1" presStyleCnt="0"/>
      <dgm:spPr/>
    </dgm:pt>
    <dgm:pt modelId="{7EBB388D-75CD-4442-B6CF-C53C14502440}" type="pres">
      <dgm:prSet presAssocID="{C864C5DA-D3A0-47F2-A931-1EC2729222E5}" presName="tx1" presStyleLbl="revTx" presStyleIdx="0" presStyleCnt="2"/>
      <dgm:spPr/>
    </dgm:pt>
    <dgm:pt modelId="{E4203D2A-C04F-44F9-B907-9D93EDB30BA0}" type="pres">
      <dgm:prSet presAssocID="{C864C5DA-D3A0-47F2-A931-1EC2729222E5}" presName="vert1" presStyleCnt="0"/>
      <dgm:spPr/>
    </dgm:pt>
    <dgm:pt modelId="{B4AB5925-B38A-449D-986C-5744E2B4FF66}" type="pres">
      <dgm:prSet presAssocID="{E7475440-5DEC-416C-A5BC-59CA504556FC}" presName="thickLine" presStyleLbl="alignNode1" presStyleIdx="1" presStyleCnt="2"/>
      <dgm:spPr/>
    </dgm:pt>
    <dgm:pt modelId="{E6A7FF61-35E3-4F9E-82DE-7F589F848CB3}" type="pres">
      <dgm:prSet presAssocID="{E7475440-5DEC-416C-A5BC-59CA504556FC}" presName="horz1" presStyleCnt="0"/>
      <dgm:spPr/>
    </dgm:pt>
    <dgm:pt modelId="{1CB3B138-4DB4-41A1-AD31-28977EEE7FFA}" type="pres">
      <dgm:prSet presAssocID="{E7475440-5DEC-416C-A5BC-59CA504556FC}" presName="tx1" presStyleLbl="revTx" presStyleIdx="1" presStyleCnt="2"/>
      <dgm:spPr/>
    </dgm:pt>
    <dgm:pt modelId="{E1395C1E-CFAF-4BDD-8DAD-92AE367F36EB}" type="pres">
      <dgm:prSet presAssocID="{E7475440-5DEC-416C-A5BC-59CA504556FC}" presName="vert1" presStyleCnt="0"/>
      <dgm:spPr/>
    </dgm:pt>
  </dgm:ptLst>
  <dgm:cxnLst>
    <dgm:cxn modelId="{A67D931C-CE08-4DED-ACE0-7EB35F73340C}" type="presOf" srcId="{C864C5DA-D3A0-47F2-A931-1EC2729222E5}" destId="{7EBB388D-75CD-4442-B6CF-C53C14502440}" srcOrd="0" destOrd="0" presId="urn:microsoft.com/office/officeart/2008/layout/LinedList"/>
    <dgm:cxn modelId="{EFEB7240-DD64-487C-BF24-4182CD2B8A88}" srcId="{455539F7-39DC-46A4-8569-F7C89FF66534}" destId="{C864C5DA-D3A0-47F2-A931-1EC2729222E5}" srcOrd="0" destOrd="0" parTransId="{EB727504-E3FE-4A60-968A-4C481D55B2E6}" sibTransId="{527CFF0A-3351-4F3B-8FC2-36766AA3651A}"/>
    <dgm:cxn modelId="{FEF01B65-7A5A-4B8C-859F-E9E054E26D3F}" type="presOf" srcId="{E7475440-5DEC-416C-A5BC-59CA504556FC}" destId="{1CB3B138-4DB4-41A1-AD31-28977EEE7FFA}" srcOrd="0" destOrd="0" presId="urn:microsoft.com/office/officeart/2008/layout/LinedList"/>
    <dgm:cxn modelId="{DCDFE46C-CCD1-40EC-9041-FA3A8F768D30}" srcId="{455539F7-39DC-46A4-8569-F7C89FF66534}" destId="{E7475440-5DEC-416C-A5BC-59CA504556FC}" srcOrd="1" destOrd="0" parTransId="{A32F6DF7-0701-4038-9A60-855E493B3B69}" sibTransId="{A635024C-84C5-4CB6-82B0-9D4AEB883950}"/>
    <dgm:cxn modelId="{8B774D7D-5E53-4270-9B69-CBD23DB1FC69}" type="presOf" srcId="{455539F7-39DC-46A4-8569-F7C89FF66534}" destId="{DD5B03C0-ED6B-49E0-80F2-568E0B8835C9}" srcOrd="0" destOrd="0" presId="urn:microsoft.com/office/officeart/2008/layout/LinedList"/>
    <dgm:cxn modelId="{C073FFAA-71BB-4BFD-ACF5-1C33D0CA184F}" type="presParOf" srcId="{DD5B03C0-ED6B-49E0-80F2-568E0B8835C9}" destId="{93B5FADB-455B-4E99-9CBC-A6730F9C895D}" srcOrd="0" destOrd="0" presId="urn:microsoft.com/office/officeart/2008/layout/LinedList"/>
    <dgm:cxn modelId="{F78C9F88-1CED-4B5B-9607-035360BCEF9B}" type="presParOf" srcId="{DD5B03C0-ED6B-49E0-80F2-568E0B8835C9}" destId="{AAC61F50-6AE3-47FE-8FB4-67F9E136EF00}" srcOrd="1" destOrd="0" presId="urn:microsoft.com/office/officeart/2008/layout/LinedList"/>
    <dgm:cxn modelId="{2C5B0564-94DD-4453-9630-1679F8851372}" type="presParOf" srcId="{AAC61F50-6AE3-47FE-8FB4-67F9E136EF00}" destId="{7EBB388D-75CD-4442-B6CF-C53C14502440}" srcOrd="0" destOrd="0" presId="urn:microsoft.com/office/officeart/2008/layout/LinedList"/>
    <dgm:cxn modelId="{EB51334F-5C27-4C55-9FF9-00D0C0B18C8F}" type="presParOf" srcId="{AAC61F50-6AE3-47FE-8FB4-67F9E136EF00}" destId="{E4203D2A-C04F-44F9-B907-9D93EDB30BA0}" srcOrd="1" destOrd="0" presId="urn:microsoft.com/office/officeart/2008/layout/LinedList"/>
    <dgm:cxn modelId="{AB727E84-5753-41AB-BEFC-FE2F73526B41}" type="presParOf" srcId="{DD5B03C0-ED6B-49E0-80F2-568E0B8835C9}" destId="{B4AB5925-B38A-449D-986C-5744E2B4FF66}" srcOrd="2" destOrd="0" presId="urn:microsoft.com/office/officeart/2008/layout/LinedList"/>
    <dgm:cxn modelId="{5D70B046-FEC3-4D17-AB9E-0FB1FD5FF738}" type="presParOf" srcId="{DD5B03C0-ED6B-49E0-80F2-568E0B8835C9}" destId="{E6A7FF61-35E3-4F9E-82DE-7F589F848CB3}" srcOrd="3" destOrd="0" presId="urn:microsoft.com/office/officeart/2008/layout/LinedList"/>
    <dgm:cxn modelId="{C1723E0B-0962-4AE1-9158-4E3E069BD533}" type="presParOf" srcId="{E6A7FF61-35E3-4F9E-82DE-7F589F848CB3}" destId="{1CB3B138-4DB4-41A1-AD31-28977EEE7FFA}" srcOrd="0" destOrd="0" presId="urn:microsoft.com/office/officeart/2008/layout/LinedList"/>
    <dgm:cxn modelId="{380F62DA-FA56-4E38-9534-D51E05F8FB52}" type="presParOf" srcId="{E6A7FF61-35E3-4F9E-82DE-7F589F848CB3}" destId="{E1395C1E-CFAF-4BDD-8DAD-92AE367F36E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357FBE0-1308-49E7-B62F-198FBA52DD7C}"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77E48DC7-A8C9-41C0-B849-0917F3CBD3AD}">
      <dgm:prSet/>
      <dgm:spPr/>
      <dgm:t>
        <a:bodyPr/>
        <a:lstStyle/>
        <a:p>
          <a:r>
            <a:rPr lang="en-US" b="1"/>
            <a:t>Numerical Stopwords: </a:t>
          </a:r>
          <a:r>
            <a:rPr lang="en-US"/>
            <a:t>Numbers and numeric characters may be treated as stopwords in certain cases, especially when the analysis is focused on the meaning of the text rather than specific numerical values.</a:t>
          </a:r>
        </a:p>
      </dgm:t>
    </dgm:pt>
    <dgm:pt modelId="{97B94D27-3F75-4850-AE3C-5F3AFA7EFEB0}" type="parTrans" cxnId="{E5D2F30C-2F97-4243-90DC-BE11A7DC9923}">
      <dgm:prSet/>
      <dgm:spPr/>
      <dgm:t>
        <a:bodyPr/>
        <a:lstStyle/>
        <a:p>
          <a:endParaRPr lang="en-US"/>
        </a:p>
      </dgm:t>
    </dgm:pt>
    <dgm:pt modelId="{7FDC74DC-DA8E-41BA-8C88-0BBB86AF2326}" type="sibTrans" cxnId="{E5D2F30C-2F97-4243-90DC-BE11A7DC9923}">
      <dgm:prSet/>
      <dgm:spPr/>
      <dgm:t>
        <a:bodyPr/>
        <a:lstStyle/>
        <a:p>
          <a:endParaRPr lang="en-US"/>
        </a:p>
      </dgm:t>
    </dgm:pt>
    <dgm:pt modelId="{C82C6434-FD9E-4832-9395-A09187C16C8D}">
      <dgm:prSet/>
      <dgm:spPr/>
      <dgm:t>
        <a:bodyPr/>
        <a:lstStyle/>
        <a:p>
          <a:r>
            <a:rPr lang="en-US" b="1"/>
            <a:t>Single-Character Stopwords: </a:t>
          </a:r>
          <a:r>
            <a:rPr lang="en-US"/>
            <a:t>Single characters, such as "a," "I," "s," or "x," may be considered stopwords, particularly in cases where they don't convey much meaning on their own.</a:t>
          </a:r>
        </a:p>
      </dgm:t>
    </dgm:pt>
    <dgm:pt modelId="{C8209FA6-84DA-40E8-A96E-7F669404D554}" type="parTrans" cxnId="{0763C2FF-50E1-4D1D-B878-FEF2127A77DE}">
      <dgm:prSet/>
      <dgm:spPr/>
      <dgm:t>
        <a:bodyPr/>
        <a:lstStyle/>
        <a:p>
          <a:endParaRPr lang="en-US"/>
        </a:p>
      </dgm:t>
    </dgm:pt>
    <dgm:pt modelId="{20DC8669-1A4B-477D-8CD5-36B267A8BBF5}" type="sibTrans" cxnId="{0763C2FF-50E1-4D1D-B878-FEF2127A77DE}">
      <dgm:prSet/>
      <dgm:spPr/>
      <dgm:t>
        <a:bodyPr/>
        <a:lstStyle/>
        <a:p>
          <a:endParaRPr lang="en-US"/>
        </a:p>
      </dgm:t>
    </dgm:pt>
    <dgm:pt modelId="{F5EAE8C8-0D50-48B2-AFC3-C771621EB3C0}">
      <dgm:prSet/>
      <dgm:spPr/>
      <dgm:t>
        <a:bodyPr/>
        <a:lstStyle/>
        <a:p>
          <a:r>
            <a:rPr lang="en-US" b="1"/>
            <a:t>Contextual Stopwords: </a:t>
          </a:r>
          <a:r>
            <a:rPr lang="en-US"/>
            <a:t>Words that are stopwords in one context but meaningful in another may be considered as contextual stopwords. For instance, the word "will" might be a stopword in the context of general language processing but could be important in predicting future events.</a:t>
          </a:r>
        </a:p>
      </dgm:t>
    </dgm:pt>
    <dgm:pt modelId="{197249A3-D43F-4008-802B-101911121F5B}" type="parTrans" cxnId="{FF2C360F-CCB2-4F4B-8A6E-EED4E6CCA95D}">
      <dgm:prSet/>
      <dgm:spPr/>
      <dgm:t>
        <a:bodyPr/>
        <a:lstStyle/>
        <a:p>
          <a:endParaRPr lang="en-US"/>
        </a:p>
      </dgm:t>
    </dgm:pt>
    <dgm:pt modelId="{71543DE1-DC18-40D1-8389-02EE73B482B7}" type="sibTrans" cxnId="{FF2C360F-CCB2-4F4B-8A6E-EED4E6CCA95D}">
      <dgm:prSet/>
      <dgm:spPr/>
      <dgm:t>
        <a:bodyPr/>
        <a:lstStyle/>
        <a:p>
          <a:endParaRPr lang="en-US"/>
        </a:p>
      </dgm:t>
    </dgm:pt>
    <dgm:pt modelId="{C5E4C3A9-C197-4889-B9AD-6BD94127E84B}" type="pres">
      <dgm:prSet presAssocID="{4357FBE0-1308-49E7-B62F-198FBA52DD7C}" presName="vert0" presStyleCnt="0">
        <dgm:presLayoutVars>
          <dgm:dir/>
          <dgm:animOne val="branch"/>
          <dgm:animLvl val="lvl"/>
        </dgm:presLayoutVars>
      </dgm:prSet>
      <dgm:spPr/>
    </dgm:pt>
    <dgm:pt modelId="{92FF1C4F-328C-4CF2-8047-9E32A6F3113B}" type="pres">
      <dgm:prSet presAssocID="{77E48DC7-A8C9-41C0-B849-0917F3CBD3AD}" presName="thickLine" presStyleLbl="alignNode1" presStyleIdx="0" presStyleCnt="3"/>
      <dgm:spPr/>
    </dgm:pt>
    <dgm:pt modelId="{3F8AFA18-F530-4040-B699-65FCD1E3AA50}" type="pres">
      <dgm:prSet presAssocID="{77E48DC7-A8C9-41C0-B849-0917F3CBD3AD}" presName="horz1" presStyleCnt="0"/>
      <dgm:spPr/>
    </dgm:pt>
    <dgm:pt modelId="{13CB73C7-C6B1-4E8A-80B9-A947328FD3E7}" type="pres">
      <dgm:prSet presAssocID="{77E48DC7-A8C9-41C0-B849-0917F3CBD3AD}" presName="tx1" presStyleLbl="revTx" presStyleIdx="0" presStyleCnt="3"/>
      <dgm:spPr/>
    </dgm:pt>
    <dgm:pt modelId="{D7016D84-3E71-47AF-8A4E-AFF6A2572DD3}" type="pres">
      <dgm:prSet presAssocID="{77E48DC7-A8C9-41C0-B849-0917F3CBD3AD}" presName="vert1" presStyleCnt="0"/>
      <dgm:spPr/>
    </dgm:pt>
    <dgm:pt modelId="{2D789A52-6359-4D84-B899-6F5E43F4A558}" type="pres">
      <dgm:prSet presAssocID="{C82C6434-FD9E-4832-9395-A09187C16C8D}" presName="thickLine" presStyleLbl="alignNode1" presStyleIdx="1" presStyleCnt="3"/>
      <dgm:spPr/>
    </dgm:pt>
    <dgm:pt modelId="{BEB4C7B1-F899-45D9-A142-910A56361C41}" type="pres">
      <dgm:prSet presAssocID="{C82C6434-FD9E-4832-9395-A09187C16C8D}" presName="horz1" presStyleCnt="0"/>
      <dgm:spPr/>
    </dgm:pt>
    <dgm:pt modelId="{F89E819A-0205-4BA1-96D5-76D2ED774F23}" type="pres">
      <dgm:prSet presAssocID="{C82C6434-FD9E-4832-9395-A09187C16C8D}" presName="tx1" presStyleLbl="revTx" presStyleIdx="1" presStyleCnt="3"/>
      <dgm:spPr/>
    </dgm:pt>
    <dgm:pt modelId="{2DB665FA-9B8E-46D5-8660-97584178069C}" type="pres">
      <dgm:prSet presAssocID="{C82C6434-FD9E-4832-9395-A09187C16C8D}" presName="vert1" presStyleCnt="0"/>
      <dgm:spPr/>
    </dgm:pt>
    <dgm:pt modelId="{48C6B4DA-3B2A-4181-8652-12B3B94F9EFF}" type="pres">
      <dgm:prSet presAssocID="{F5EAE8C8-0D50-48B2-AFC3-C771621EB3C0}" presName="thickLine" presStyleLbl="alignNode1" presStyleIdx="2" presStyleCnt="3"/>
      <dgm:spPr/>
    </dgm:pt>
    <dgm:pt modelId="{58098947-9147-4A34-885A-A09CC2D87C3E}" type="pres">
      <dgm:prSet presAssocID="{F5EAE8C8-0D50-48B2-AFC3-C771621EB3C0}" presName="horz1" presStyleCnt="0"/>
      <dgm:spPr/>
    </dgm:pt>
    <dgm:pt modelId="{8FF2BF32-3641-4469-A34D-526725403FC2}" type="pres">
      <dgm:prSet presAssocID="{F5EAE8C8-0D50-48B2-AFC3-C771621EB3C0}" presName="tx1" presStyleLbl="revTx" presStyleIdx="2" presStyleCnt="3"/>
      <dgm:spPr/>
    </dgm:pt>
    <dgm:pt modelId="{27B71106-05A0-4B87-9F68-E70969EDEC0D}" type="pres">
      <dgm:prSet presAssocID="{F5EAE8C8-0D50-48B2-AFC3-C771621EB3C0}" presName="vert1" presStyleCnt="0"/>
      <dgm:spPr/>
    </dgm:pt>
  </dgm:ptLst>
  <dgm:cxnLst>
    <dgm:cxn modelId="{E5D2F30C-2F97-4243-90DC-BE11A7DC9923}" srcId="{4357FBE0-1308-49E7-B62F-198FBA52DD7C}" destId="{77E48DC7-A8C9-41C0-B849-0917F3CBD3AD}" srcOrd="0" destOrd="0" parTransId="{97B94D27-3F75-4850-AE3C-5F3AFA7EFEB0}" sibTransId="{7FDC74DC-DA8E-41BA-8C88-0BBB86AF2326}"/>
    <dgm:cxn modelId="{333F210D-1DA7-4D5B-8ED8-FC98346988E8}" type="presOf" srcId="{77E48DC7-A8C9-41C0-B849-0917F3CBD3AD}" destId="{13CB73C7-C6B1-4E8A-80B9-A947328FD3E7}" srcOrd="0" destOrd="0" presId="urn:microsoft.com/office/officeart/2008/layout/LinedList"/>
    <dgm:cxn modelId="{FF2C360F-CCB2-4F4B-8A6E-EED4E6CCA95D}" srcId="{4357FBE0-1308-49E7-B62F-198FBA52DD7C}" destId="{F5EAE8C8-0D50-48B2-AFC3-C771621EB3C0}" srcOrd="2" destOrd="0" parTransId="{197249A3-D43F-4008-802B-101911121F5B}" sibTransId="{71543DE1-DC18-40D1-8389-02EE73B482B7}"/>
    <dgm:cxn modelId="{FDA6D09F-2D28-40D6-80C7-5FE0469ACBEE}" type="presOf" srcId="{4357FBE0-1308-49E7-B62F-198FBA52DD7C}" destId="{C5E4C3A9-C197-4889-B9AD-6BD94127E84B}" srcOrd="0" destOrd="0" presId="urn:microsoft.com/office/officeart/2008/layout/LinedList"/>
    <dgm:cxn modelId="{6779CBC7-21DC-4031-B1AB-35F78F2A994A}" type="presOf" srcId="{C82C6434-FD9E-4832-9395-A09187C16C8D}" destId="{F89E819A-0205-4BA1-96D5-76D2ED774F23}" srcOrd="0" destOrd="0" presId="urn:microsoft.com/office/officeart/2008/layout/LinedList"/>
    <dgm:cxn modelId="{73CC41ED-B2AE-4D29-A27C-711B2221DEF9}" type="presOf" srcId="{F5EAE8C8-0D50-48B2-AFC3-C771621EB3C0}" destId="{8FF2BF32-3641-4469-A34D-526725403FC2}" srcOrd="0" destOrd="0" presId="urn:microsoft.com/office/officeart/2008/layout/LinedList"/>
    <dgm:cxn modelId="{0763C2FF-50E1-4D1D-B878-FEF2127A77DE}" srcId="{4357FBE0-1308-49E7-B62F-198FBA52DD7C}" destId="{C82C6434-FD9E-4832-9395-A09187C16C8D}" srcOrd="1" destOrd="0" parTransId="{C8209FA6-84DA-40E8-A96E-7F669404D554}" sibTransId="{20DC8669-1A4B-477D-8CD5-36B267A8BBF5}"/>
    <dgm:cxn modelId="{8D45D802-3139-4E73-86C6-9F67D882CA69}" type="presParOf" srcId="{C5E4C3A9-C197-4889-B9AD-6BD94127E84B}" destId="{92FF1C4F-328C-4CF2-8047-9E32A6F3113B}" srcOrd="0" destOrd="0" presId="urn:microsoft.com/office/officeart/2008/layout/LinedList"/>
    <dgm:cxn modelId="{F94BF345-0E53-46CB-A411-52CA9BDD498A}" type="presParOf" srcId="{C5E4C3A9-C197-4889-B9AD-6BD94127E84B}" destId="{3F8AFA18-F530-4040-B699-65FCD1E3AA50}" srcOrd="1" destOrd="0" presId="urn:microsoft.com/office/officeart/2008/layout/LinedList"/>
    <dgm:cxn modelId="{5606A9FE-05AF-4908-A484-8E9845D260F8}" type="presParOf" srcId="{3F8AFA18-F530-4040-B699-65FCD1E3AA50}" destId="{13CB73C7-C6B1-4E8A-80B9-A947328FD3E7}" srcOrd="0" destOrd="0" presId="urn:microsoft.com/office/officeart/2008/layout/LinedList"/>
    <dgm:cxn modelId="{BFC3AA3F-26CE-4CA0-A975-4BF536BDDCBA}" type="presParOf" srcId="{3F8AFA18-F530-4040-B699-65FCD1E3AA50}" destId="{D7016D84-3E71-47AF-8A4E-AFF6A2572DD3}" srcOrd="1" destOrd="0" presId="urn:microsoft.com/office/officeart/2008/layout/LinedList"/>
    <dgm:cxn modelId="{38D7C9FA-1A9B-4D3B-92DF-871A184DD484}" type="presParOf" srcId="{C5E4C3A9-C197-4889-B9AD-6BD94127E84B}" destId="{2D789A52-6359-4D84-B899-6F5E43F4A558}" srcOrd="2" destOrd="0" presId="urn:microsoft.com/office/officeart/2008/layout/LinedList"/>
    <dgm:cxn modelId="{8307F3B1-0EC0-4C4E-9E8A-8C1D2276FEB3}" type="presParOf" srcId="{C5E4C3A9-C197-4889-B9AD-6BD94127E84B}" destId="{BEB4C7B1-F899-45D9-A142-910A56361C41}" srcOrd="3" destOrd="0" presId="urn:microsoft.com/office/officeart/2008/layout/LinedList"/>
    <dgm:cxn modelId="{BC00EECE-D2E3-4B0F-AA6A-31A814F02834}" type="presParOf" srcId="{BEB4C7B1-F899-45D9-A142-910A56361C41}" destId="{F89E819A-0205-4BA1-96D5-76D2ED774F23}" srcOrd="0" destOrd="0" presId="urn:microsoft.com/office/officeart/2008/layout/LinedList"/>
    <dgm:cxn modelId="{AF4D6772-FD40-423F-9B92-671018259A12}" type="presParOf" srcId="{BEB4C7B1-F899-45D9-A142-910A56361C41}" destId="{2DB665FA-9B8E-46D5-8660-97584178069C}" srcOrd="1" destOrd="0" presId="urn:microsoft.com/office/officeart/2008/layout/LinedList"/>
    <dgm:cxn modelId="{F0248C61-F812-42DE-BC9D-DF4B6A32CCE6}" type="presParOf" srcId="{C5E4C3A9-C197-4889-B9AD-6BD94127E84B}" destId="{48C6B4DA-3B2A-4181-8652-12B3B94F9EFF}" srcOrd="4" destOrd="0" presId="urn:microsoft.com/office/officeart/2008/layout/LinedList"/>
    <dgm:cxn modelId="{0E42AE2B-E23F-48E5-9ED3-14E9F4407B26}" type="presParOf" srcId="{C5E4C3A9-C197-4889-B9AD-6BD94127E84B}" destId="{58098947-9147-4A34-885A-A09CC2D87C3E}" srcOrd="5" destOrd="0" presId="urn:microsoft.com/office/officeart/2008/layout/LinedList"/>
    <dgm:cxn modelId="{1BA33EC7-AEAC-4D5F-9B0C-9C3315586B7C}" type="presParOf" srcId="{58098947-9147-4A34-885A-A09CC2D87C3E}" destId="{8FF2BF32-3641-4469-A34D-526725403FC2}" srcOrd="0" destOrd="0" presId="urn:microsoft.com/office/officeart/2008/layout/LinedList"/>
    <dgm:cxn modelId="{4357565A-CA01-4421-8B2F-44B4993E8E24}" type="presParOf" srcId="{58098947-9147-4A34-885A-A09CC2D87C3E}" destId="{27B71106-05A0-4B87-9F68-E70969EDEC0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CA15362-E8C7-4A54-93EB-491241B8C7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B4727F8-4831-4839-B0D5-0DFFB54393EB}">
      <dgm:prSet custT="1"/>
      <dgm:spPr/>
      <dgm:t>
        <a:bodyPr/>
        <a:lstStyle/>
        <a:p>
          <a:pPr>
            <a:lnSpc>
              <a:spcPct val="100000"/>
            </a:lnSpc>
          </a:pPr>
          <a:r>
            <a:rPr lang="it-IT" sz="2400" dirty="0"/>
            <a:t>Machine Translation (e.g., Google Translate).</a:t>
          </a:r>
          <a:endParaRPr lang="en-US" sz="2400" dirty="0"/>
        </a:p>
      </dgm:t>
    </dgm:pt>
    <dgm:pt modelId="{1B8B303F-C53B-44D8-96CB-69128D2ECA1E}" type="parTrans" cxnId="{9F5B22B1-9E7D-4C14-8965-87A01BCF3893}">
      <dgm:prSet/>
      <dgm:spPr/>
      <dgm:t>
        <a:bodyPr/>
        <a:lstStyle/>
        <a:p>
          <a:endParaRPr lang="en-US"/>
        </a:p>
      </dgm:t>
    </dgm:pt>
    <dgm:pt modelId="{A52DE4B5-AC44-48BA-B6D9-6095FE28EB26}" type="sibTrans" cxnId="{9F5B22B1-9E7D-4C14-8965-87A01BCF3893}">
      <dgm:prSet/>
      <dgm:spPr/>
      <dgm:t>
        <a:bodyPr/>
        <a:lstStyle/>
        <a:p>
          <a:endParaRPr lang="en-US"/>
        </a:p>
      </dgm:t>
    </dgm:pt>
    <dgm:pt modelId="{4E08E91B-54AD-49ED-AF0F-45D0B8C677C7}">
      <dgm:prSet custT="1"/>
      <dgm:spPr/>
      <dgm:t>
        <a:bodyPr/>
        <a:lstStyle/>
        <a:p>
          <a:pPr>
            <a:lnSpc>
              <a:spcPct val="100000"/>
            </a:lnSpc>
          </a:pPr>
          <a:r>
            <a:rPr lang="it-IT" sz="2400" dirty="0"/>
            <a:t>Virtual Assistants (e.g., Alexa, Siri).</a:t>
          </a:r>
          <a:endParaRPr lang="en-US" sz="2400" dirty="0"/>
        </a:p>
      </dgm:t>
    </dgm:pt>
    <dgm:pt modelId="{03C7ED29-C6C2-456D-A1E2-9C60000E74F5}" type="parTrans" cxnId="{92325098-6073-4727-A933-41EEA312769D}">
      <dgm:prSet/>
      <dgm:spPr/>
      <dgm:t>
        <a:bodyPr/>
        <a:lstStyle/>
        <a:p>
          <a:endParaRPr lang="en-US"/>
        </a:p>
      </dgm:t>
    </dgm:pt>
    <dgm:pt modelId="{791B3D86-E524-4E55-AF16-F02EB4EC7DF6}" type="sibTrans" cxnId="{92325098-6073-4727-A933-41EEA312769D}">
      <dgm:prSet/>
      <dgm:spPr/>
      <dgm:t>
        <a:bodyPr/>
        <a:lstStyle/>
        <a:p>
          <a:endParaRPr lang="en-US"/>
        </a:p>
      </dgm:t>
    </dgm:pt>
    <dgm:pt modelId="{86E16DD9-B778-4729-BC8D-1B29E1ED930C}">
      <dgm:prSet custT="1"/>
      <dgm:spPr/>
      <dgm:t>
        <a:bodyPr/>
        <a:lstStyle/>
        <a:p>
          <a:pPr>
            <a:lnSpc>
              <a:spcPct val="100000"/>
            </a:lnSpc>
          </a:pPr>
          <a:r>
            <a:rPr lang="it-IT" sz="2400" dirty="0"/>
            <a:t>Sentiment Analysis (e.g., product reviews).</a:t>
          </a:r>
          <a:endParaRPr lang="en-US" sz="2400" dirty="0"/>
        </a:p>
      </dgm:t>
    </dgm:pt>
    <dgm:pt modelId="{524BB64F-76A9-4DC0-89F5-57A27CCEAADC}" type="parTrans" cxnId="{82079AC9-A50B-46B0-AD77-E25FC588ECF8}">
      <dgm:prSet/>
      <dgm:spPr/>
      <dgm:t>
        <a:bodyPr/>
        <a:lstStyle/>
        <a:p>
          <a:endParaRPr lang="en-US"/>
        </a:p>
      </dgm:t>
    </dgm:pt>
    <dgm:pt modelId="{FEF6303C-83D9-4259-BF84-C6CAD652D8ED}" type="sibTrans" cxnId="{82079AC9-A50B-46B0-AD77-E25FC588ECF8}">
      <dgm:prSet/>
      <dgm:spPr/>
      <dgm:t>
        <a:bodyPr/>
        <a:lstStyle/>
        <a:p>
          <a:endParaRPr lang="en-US"/>
        </a:p>
      </dgm:t>
    </dgm:pt>
    <dgm:pt modelId="{6FE9E3A8-C0EA-42A4-8608-B365834BDA36}">
      <dgm:prSet custT="1"/>
      <dgm:spPr/>
      <dgm:t>
        <a:bodyPr/>
        <a:lstStyle/>
        <a:p>
          <a:pPr>
            <a:lnSpc>
              <a:spcPct val="100000"/>
            </a:lnSpc>
          </a:pPr>
          <a:r>
            <a:rPr lang="it-IT" sz="2000" dirty="0"/>
            <a:t>Information Retrieval (e.g., search engines).</a:t>
          </a:r>
          <a:endParaRPr lang="en-US" sz="2000" dirty="0"/>
        </a:p>
      </dgm:t>
    </dgm:pt>
    <dgm:pt modelId="{FF71133D-1579-45CF-B1A7-F5A7C20E230D}" type="parTrans" cxnId="{A35E9E79-4411-4287-A267-D79AD7EB9FA9}">
      <dgm:prSet/>
      <dgm:spPr/>
      <dgm:t>
        <a:bodyPr/>
        <a:lstStyle/>
        <a:p>
          <a:endParaRPr lang="en-US"/>
        </a:p>
      </dgm:t>
    </dgm:pt>
    <dgm:pt modelId="{F3093542-2866-473F-B7D8-591386D0F226}" type="sibTrans" cxnId="{A35E9E79-4411-4287-A267-D79AD7EB9FA9}">
      <dgm:prSet/>
      <dgm:spPr/>
      <dgm:t>
        <a:bodyPr/>
        <a:lstStyle/>
        <a:p>
          <a:endParaRPr lang="en-US"/>
        </a:p>
      </dgm:t>
    </dgm:pt>
    <dgm:pt modelId="{264A2EDC-D907-46B6-8E3E-8F13A054099D}">
      <dgm:prSet custT="1"/>
      <dgm:spPr/>
      <dgm:t>
        <a:bodyPr/>
        <a:lstStyle/>
        <a:p>
          <a:pPr>
            <a:lnSpc>
              <a:spcPct val="100000"/>
            </a:lnSpc>
          </a:pPr>
          <a:r>
            <a:rPr lang="it-IT" sz="2400" dirty="0"/>
            <a:t>Text Summarization (e.g., summarizing articles).</a:t>
          </a:r>
          <a:endParaRPr lang="en-US" sz="2400" dirty="0"/>
        </a:p>
      </dgm:t>
    </dgm:pt>
    <dgm:pt modelId="{B361C16E-5C13-444B-B512-6CDAC091D568}" type="parTrans" cxnId="{C52FECD5-F512-4882-85CC-3B67D203F02F}">
      <dgm:prSet/>
      <dgm:spPr/>
      <dgm:t>
        <a:bodyPr/>
        <a:lstStyle/>
        <a:p>
          <a:endParaRPr lang="en-US"/>
        </a:p>
      </dgm:t>
    </dgm:pt>
    <dgm:pt modelId="{F750AB78-40C0-447E-9122-7E2D637C0BEF}" type="sibTrans" cxnId="{C52FECD5-F512-4882-85CC-3B67D203F02F}">
      <dgm:prSet/>
      <dgm:spPr/>
      <dgm:t>
        <a:bodyPr/>
        <a:lstStyle/>
        <a:p>
          <a:endParaRPr lang="en-US"/>
        </a:p>
      </dgm:t>
    </dgm:pt>
    <dgm:pt modelId="{8088BD48-04C2-4B4C-94A0-F3D05DA571AE}" type="pres">
      <dgm:prSet presAssocID="{8CA15362-E8C7-4A54-93EB-491241B8C768}" presName="root" presStyleCnt="0">
        <dgm:presLayoutVars>
          <dgm:dir/>
          <dgm:resizeHandles val="exact"/>
        </dgm:presLayoutVars>
      </dgm:prSet>
      <dgm:spPr/>
    </dgm:pt>
    <dgm:pt modelId="{A8364472-04C5-44FA-9AA5-ED9628B062E9}" type="pres">
      <dgm:prSet presAssocID="{DB4727F8-4831-4839-B0D5-0DFFB54393EB}" presName="compNode" presStyleCnt="0"/>
      <dgm:spPr/>
    </dgm:pt>
    <dgm:pt modelId="{02827E18-3C49-4F52-AB15-ED26A12D78F2}" type="pres">
      <dgm:prSet presAssocID="{DB4727F8-4831-4839-B0D5-0DFFB54393EB}" presName="bgRect" presStyleLbl="bgShp" presStyleIdx="0" presStyleCnt="5"/>
      <dgm:spPr/>
    </dgm:pt>
    <dgm:pt modelId="{DD9367FB-1D86-4895-80C9-21DFEC716268}" type="pres">
      <dgm:prSet presAssocID="{DB4727F8-4831-4839-B0D5-0DFFB54393E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btitles"/>
        </a:ext>
      </dgm:extLst>
    </dgm:pt>
    <dgm:pt modelId="{44C797AD-BFFD-4393-9F9F-68718E7AC639}" type="pres">
      <dgm:prSet presAssocID="{DB4727F8-4831-4839-B0D5-0DFFB54393EB}" presName="spaceRect" presStyleCnt="0"/>
      <dgm:spPr/>
    </dgm:pt>
    <dgm:pt modelId="{8E84485C-E104-4E05-8EDC-E5361A918C07}" type="pres">
      <dgm:prSet presAssocID="{DB4727F8-4831-4839-B0D5-0DFFB54393EB}" presName="parTx" presStyleLbl="revTx" presStyleIdx="0" presStyleCnt="5">
        <dgm:presLayoutVars>
          <dgm:chMax val="0"/>
          <dgm:chPref val="0"/>
        </dgm:presLayoutVars>
      </dgm:prSet>
      <dgm:spPr/>
    </dgm:pt>
    <dgm:pt modelId="{7ED987A8-C1FC-4431-A0D4-B9FBE5E611A0}" type="pres">
      <dgm:prSet presAssocID="{A52DE4B5-AC44-48BA-B6D9-6095FE28EB26}" presName="sibTrans" presStyleCnt="0"/>
      <dgm:spPr/>
    </dgm:pt>
    <dgm:pt modelId="{DAF7A460-D25E-416F-B9AA-EC1042C81F45}" type="pres">
      <dgm:prSet presAssocID="{4E08E91B-54AD-49ED-AF0F-45D0B8C677C7}" presName="compNode" presStyleCnt="0"/>
      <dgm:spPr/>
    </dgm:pt>
    <dgm:pt modelId="{FE8A7BA3-DFD8-4B98-98DB-58966DB943F6}" type="pres">
      <dgm:prSet presAssocID="{4E08E91B-54AD-49ED-AF0F-45D0B8C677C7}" presName="bgRect" presStyleLbl="bgShp" presStyleIdx="1" presStyleCnt="5"/>
      <dgm:spPr/>
    </dgm:pt>
    <dgm:pt modelId="{9DB7B650-EAA1-48C5-A3D9-20EFFD0F1233}" type="pres">
      <dgm:prSet presAssocID="{4E08E91B-54AD-49ED-AF0F-45D0B8C677C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roller"/>
        </a:ext>
      </dgm:extLst>
    </dgm:pt>
    <dgm:pt modelId="{EE621C93-5EAD-430C-B1CF-2C46B287B255}" type="pres">
      <dgm:prSet presAssocID="{4E08E91B-54AD-49ED-AF0F-45D0B8C677C7}" presName="spaceRect" presStyleCnt="0"/>
      <dgm:spPr/>
    </dgm:pt>
    <dgm:pt modelId="{6FD513F5-2D67-4DA7-A628-0EA2C79B2604}" type="pres">
      <dgm:prSet presAssocID="{4E08E91B-54AD-49ED-AF0F-45D0B8C677C7}" presName="parTx" presStyleLbl="revTx" presStyleIdx="1" presStyleCnt="5">
        <dgm:presLayoutVars>
          <dgm:chMax val="0"/>
          <dgm:chPref val="0"/>
        </dgm:presLayoutVars>
      </dgm:prSet>
      <dgm:spPr/>
    </dgm:pt>
    <dgm:pt modelId="{FE3E4BFB-6E83-48BE-BCE8-D7821CF8499F}" type="pres">
      <dgm:prSet presAssocID="{791B3D86-E524-4E55-AF16-F02EB4EC7DF6}" presName="sibTrans" presStyleCnt="0"/>
      <dgm:spPr/>
    </dgm:pt>
    <dgm:pt modelId="{75C2C523-5ACC-4726-92DC-90F33D1EAD45}" type="pres">
      <dgm:prSet presAssocID="{86E16DD9-B778-4729-BC8D-1B29E1ED930C}" presName="compNode" presStyleCnt="0"/>
      <dgm:spPr/>
    </dgm:pt>
    <dgm:pt modelId="{A9E1FB7E-8734-4594-BFE1-BA7D7F726119}" type="pres">
      <dgm:prSet presAssocID="{86E16DD9-B778-4729-BC8D-1B29E1ED930C}" presName="bgRect" presStyleLbl="bgShp" presStyleIdx="2" presStyleCnt="5"/>
      <dgm:spPr/>
    </dgm:pt>
    <dgm:pt modelId="{5416794C-AABD-40C4-8CA4-3E5551912157}" type="pres">
      <dgm:prSet presAssocID="{86E16DD9-B778-4729-BC8D-1B29E1ED930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Neutral Face with No Fill"/>
        </a:ext>
      </dgm:extLst>
    </dgm:pt>
    <dgm:pt modelId="{764605C8-88E1-411A-ADD8-8274E5261DC8}" type="pres">
      <dgm:prSet presAssocID="{86E16DD9-B778-4729-BC8D-1B29E1ED930C}" presName="spaceRect" presStyleCnt="0"/>
      <dgm:spPr/>
    </dgm:pt>
    <dgm:pt modelId="{2934276D-8CA6-40B6-8646-AE90729ABFBC}" type="pres">
      <dgm:prSet presAssocID="{86E16DD9-B778-4729-BC8D-1B29E1ED930C}" presName="parTx" presStyleLbl="revTx" presStyleIdx="2" presStyleCnt="5">
        <dgm:presLayoutVars>
          <dgm:chMax val="0"/>
          <dgm:chPref val="0"/>
        </dgm:presLayoutVars>
      </dgm:prSet>
      <dgm:spPr/>
    </dgm:pt>
    <dgm:pt modelId="{5E5880A3-9894-4EEB-977B-2D8563D3D742}" type="pres">
      <dgm:prSet presAssocID="{FEF6303C-83D9-4259-BF84-C6CAD652D8ED}" presName="sibTrans" presStyleCnt="0"/>
      <dgm:spPr/>
    </dgm:pt>
    <dgm:pt modelId="{53E5C173-EC72-491E-9902-575B10EE8C92}" type="pres">
      <dgm:prSet presAssocID="{6FE9E3A8-C0EA-42A4-8608-B365834BDA36}" presName="compNode" presStyleCnt="0"/>
      <dgm:spPr/>
    </dgm:pt>
    <dgm:pt modelId="{B3D55B94-17BE-4C0B-8C6C-736409DD7192}" type="pres">
      <dgm:prSet presAssocID="{6FE9E3A8-C0EA-42A4-8608-B365834BDA36}" presName="bgRect" presStyleLbl="bgShp" presStyleIdx="3" presStyleCnt="5"/>
      <dgm:spPr/>
    </dgm:pt>
    <dgm:pt modelId="{8119374E-A967-43FE-8539-6B668D72513A}" type="pres">
      <dgm:prSet presAssocID="{6FE9E3A8-C0EA-42A4-8608-B365834BDA3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ug under Magnifying Glass"/>
        </a:ext>
      </dgm:extLst>
    </dgm:pt>
    <dgm:pt modelId="{2E77C7E2-E0D6-45E6-8BCA-54D683F2BADF}" type="pres">
      <dgm:prSet presAssocID="{6FE9E3A8-C0EA-42A4-8608-B365834BDA36}" presName="spaceRect" presStyleCnt="0"/>
      <dgm:spPr/>
    </dgm:pt>
    <dgm:pt modelId="{2F154B62-B1F6-43F1-AC1E-532FD7664248}" type="pres">
      <dgm:prSet presAssocID="{6FE9E3A8-C0EA-42A4-8608-B365834BDA36}" presName="parTx" presStyleLbl="revTx" presStyleIdx="3" presStyleCnt="5">
        <dgm:presLayoutVars>
          <dgm:chMax val="0"/>
          <dgm:chPref val="0"/>
        </dgm:presLayoutVars>
      </dgm:prSet>
      <dgm:spPr/>
    </dgm:pt>
    <dgm:pt modelId="{05A5C08A-26B6-44BD-8B79-FFB07DB2AD0E}" type="pres">
      <dgm:prSet presAssocID="{F3093542-2866-473F-B7D8-591386D0F226}" presName="sibTrans" presStyleCnt="0"/>
      <dgm:spPr/>
    </dgm:pt>
    <dgm:pt modelId="{37DA1DC4-B911-4BAC-B9B1-61F785C9675E}" type="pres">
      <dgm:prSet presAssocID="{264A2EDC-D907-46B6-8E3E-8F13A054099D}" presName="compNode" presStyleCnt="0"/>
      <dgm:spPr/>
    </dgm:pt>
    <dgm:pt modelId="{E766760D-E4EF-442C-85C6-50C17C4E8C96}" type="pres">
      <dgm:prSet presAssocID="{264A2EDC-D907-46B6-8E3E-8F13A054099D}" presName="bgRect" presStyleLbl="bgShp" presStyleIdx="4" presStyleCnt="5" custLinFactNeighborX="-24442" custLinFactNeighborY="-10239"/>
      <dgm:spPr/>
    </dgm:pt>
    <dgm:pt modelId="{ECAC5385-8DCF-4ED4-9A8F-A3C4C840F3D8}" type="pres">
      <dgm:prSet presAssocID="{264A2EDC-D907-46B6-8E3E-8F13A054099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ocument"/>
        </a:ext>
      </dgm:extLst>
    </dgm:pt>
    <dgm:pt modelId="{CA219373-5AD7-4634-AC2C-E4D4B4CDCA87}" type="pres">
      <dgm:prSet presAssocID="{264A2EDC-D907-46B6-8E3E-8F13A054099D}" presName="spaceRect" presStyleCnt="0"/>
      <dgm:spPr/>
    </dgm:pt>
    <dgm:pt modelId="{11CDC0A5-5DD2-4C89-A430-6F8956F877BD}" type="pres">
      <dgm:prSet presAssocID="{264A2EDC-D907-46B6-8E3E-8F13A054099D}" presName="parTx" presStyleLbl="revTx" presStyleIdx="4" presStyleCnt="5">
        <dgm:presLayoutVars>
          <dgm:chMax val="0"/>
          <dgm:chPref val="0"/>
        </dgm:presLayoutVars>
      </dgm:prSet>
      <dgm:spPr/>
    </dgm:pt>
  </dgm:ptLst>
  <dgm:cxnLst>
    <dgm:cxn modelId="{3E5F0E49-2E61-45C4-8049-266C70C68D75}" type="presOf" srcId="{4E08E91B-54AD-49ED-AF0F-45D0B8C677C7}" destId="{6FD513F5-2D67-4DA7-A628-0EA2C79B2604}" srcOrd="0" destOrd="0" presId="urn:microsoft.com/office/officeart/2018/2/layout/IconVerticalSolidList"/>
    <dgm:cxn modelId="{DA0B0151-B256-415F-B9F2-D395FE71A4E5}" type="presOf" srcId="{6FE9E3A8-C0EA-42A4-8608-B365834BDA36}" destId="{2F154B62-B1F6-43F1-AC1E-532FD7664248}" srcOrd="0" destOrd="0" presId="urn:microsoft.com/office/officeart/2018/2/layout/IconVerticalSolidList"/>
    <dgm:cxn modelId="{A35E9E79-4411-4287-A267-D79AD7EB9FA9}" srcId="{8CA15362-E8C7-4A54-93EB-491241B8C768}" destId="{6FE9E3A8-C0EA-42A4-8608-B365834BDA36}" srcOrd="3" destOrd="0" parTransId="{FF71133D-1579-45CF-B1A7-F5A7C20E230D}" sibTransId="{F3093542-2866-473F-B7D8-591386D0F226}"/>
    <dgm:cxn modelId="{F026445A-D97D-4619-9D0F-92FB5C8E3035}" type="presOf" srcId="{86E16DD9-B778-4729-BC8D-1B29E1ED930C}" destId="{2934276D-8CA6-40B6-8646-AE90729ABFBC}" srcOrd="0" destOrd="0" presId="urn:microsoft.com/office/officeart/2018/2/layout/IconVerticalSolidList"/>
    <dgm:cxn modelId="{92325098-6073-4727-A933-41EEA312769D}" srcId="{8CA15362-E8C7-4A54-93EB-491241B8C768}" destId="{4E08E91B-54AD-49ED-AF0F-45D0B8C677C7}" srcOrd="1" destOrd="0" parTransId="{03C7ED29-C6C2-456D-A1E2-9C60000E74F5}" sibTransId="{791B3D86-E524-4E55-AF16-F02EB4EC7DF6}"/>
    <dgm:cxn modelId="{9F5B22B1-9E7D-4C14-8965-87A01BCF3893}" srcId="{8CA15362-E8C7-4A54-93EB-491241B8C768}" destId="{DB4727F8-4831-4839-B0D5-0DFFB54393EB}" srcOrd="0" destOrd="0" parTransId="{1B8B303F-C53B-44D8-96CB-69128D2ECA1E}" sibTransId="{A52DE4B5-AC44-48BA-B6D9-6095FE28EB26}"/>
    <dgm:cxn modelId="{585F58C8-1E5B-49F7-A6C7-182B0A1712F7}" type="presOf" srcId="{8CA15362-E8C7-4A54-93EB-491241B8C768}" destId="{8088BD48-04C2-4B4C-94A0-F3D05DA571AE}" srcOrd="0" destOrd="0" presId="urn:microsoft.com/office/officeart/2018/2/layout/IconVerticalSolidList"/>
    <dgm:cxn modelId="{82079AC9-A50B-46B0-AD77-E25FC588ECF8}" srcId="{8CA15362-E8C7-4A54-93EB-491241B8C768}" destId="{86E16DD9-B778-4729-BC8D-1B29E1ED930C}" srcOrd="2" destOrd="0" parTransId="{524BB64F-76A9-4DC0-89F5-57A27CCEAADC}" sibTransId="{FEF6303C-83D9-4259-BF84-C6CAD652D8ED}"/>
    <dgm:cxn modelId="{A088DCCA-23FE-4EC5-B282-622DB8B7C7F4}" type="presOf" srcId="{264A2EDC-D907-46B6-8E3E-8F13A054099D}" destId="{11CDC0A5-5DD2-4C89-A430-6F8956F877BD}" srcOrd="0" destOrd="0" presId="urn:microsoft.com/office/officeart/2018/2/layout/IconVerticalSolidList"/>
    <dgm:cxn modelId="{3C5D6CCF-A000-414C-A84A-0E779F735771}" type="presOf" srcId="{DB4727F8-4831-4839-B0D5-0DFFB54393EB}" destId="{8E84485C-E104-4E05-8EDC-E5361A918C07}" srcOrd="0" destOrd="0" presId="urn:microsoft.com/office/officeart/2018/2/layout/IconVerticalSolidList"/>
    <dgm:cxn modelId="{C52FECD5-F512-4882-85CC-3B67D203F02F}" srcId="{8CA15362-E8C7-4A54-93EB-491241B8C768}" destId="{264A2EDC-D907-46B6-8E3E-8F13A054099D}" srcOrd="4" destOrd="0" parTransId="{B361C16E-5C13-444B-B512-6CDAC091D568}" sibTransId="{F750AB78-40C0-447E-9122-7E2D637C0BEF}"/>
    <dgm:cxn modelId="{5E8A2BB0-36D3-4E73-8DED-4CC32016F8C2}" type="presParOf" srcId="{8088BD48-04C2-4B4C-94A0-F3D05DA571AE}" destId="{A8364472-04C5-44FA-9AA5-ED9628B062E9}" srcOrd="0" destOrd="0" presId="urn:microsoft.com/office/officeart/2018/2/layout/IconVerticalSolidList"/>
    <dgm:cxn modelId="{4FB9A7C5-9DCD-4F5D-85F2-2B570D984124}" type="presParOf" srcId="{A8364472-04C5-44FA-9AA5-ED9628B062E9}" destId="{02827E18-3C49-4F52-AB15-ED26A12D78F2}" srcOrd="0" destOrd="0" presId="urn:microsoft.com/office/officeart/2018/2/layout/IconVerticalSolidList"/>
    <dgm:cxn modelId="{ADEC610F-F214-4136-8F43-9C7643CB258F}" type="presParOf" srcId="{A8364472-04C5-44FA-9AA5-ED9628B062E9}" destId="{DD9367FB-1D86-4895-80C9-21DFEC716268}" srcOrd="1" destOrd="0" presId="urn:microsoft.com/office/officeart/2018/2/layout/IconVerticalSolidList"/>
    <dgm:cxn modelId="{58C8A658-EAD1-4608-B97C-9737F0AE3725}" type="presParOf" srcId="{A8364472-04C5-44FA-9AA5-ED9628B062E9}" destId="{44C797AD-BFFD-4393-9F9F-68718E7AC639}" srcOrd="2" destOrd="0" presId="urn:microsoft.com/office/officeart/2018/2/layout/IconVerticalSolidList"/>
    <dgm:cxn modelId="{5667D781-4090-4C3A-98F9-A0C32677E240}" type="presParOf" srcId="{A8364472-04C5-44FA-9AA5-ED9628B062E9}" destId="{8E84485C-E104-4E05-8EDC-E5361A918C07}" srcOrd="3" destOrd="0" presId="urn:microsoft.com/office/officeart/2018/2/layout/IconVerticalSolidList"/>
    <dgm:cxn modelId="{0B1B7501-59AA-4798-858F-B37C28E5CC86}" type="presParOf" srcId="{8088BD48-04C2-4B4C-94A0-F3D05DA571AE}" destId="{7ED987A8-C1FC-4431-A0D4-B9FBE5E611A0}" srcOrd="1" destOrd="0" presId="urn:microsoft.com/office/officeart/2018/2/layout/IconVerticalSolidList"/>
    <dgm:cxn modelId="{E8A102AC-B82A-4F9A-B6B2-89255BDD88B7}" type="presParOf" srcId="{8088BD48-04C2-4B4C-94A0-F3D05DA571AE}" destId="{DAF7A460-D25E-416F-B9AA-EC1042C81F45}" srcOrd="2" destOrd="0" presId="urn:microsoft.com/office/officeart/2018/2/layout/IconVerticalSolidList"/>
    <dgm:cxn modelId="{1568D96D-2196-4436-A9FC-BD2F4894CE43}" type="presParOf" srcId="{DAF7A460-D25E-416F-B9AA-EC1042C81F45}" destId="{FE8A7BA3-DFD8-4B98-98DB-58966DB943F6}" srcOrd="0" destOrd="0" presId="urn:microsoft.com/office/officeart/2018/2/layout/IconVerticalSolidList"/>
    <dgm:cxn modelId="{CE3D5EDA-18C1-476E-81F5-BA63EEEED7C0}" type="presParOf" srcId="{DAF7A460-D25E-416F-B9AA-EC1042C81F45}" destId="{9DB7B650-EAA1-48C5-A3D9-20EFFD0F1233}" srcOrd="1" destOrd="0" presId="urn:microsoft.com/office/officeart/2018/2/layout/IconVerticalSolidList"/>
    <dgm:cxn modelId="{B51BDB91-8B0D-4E90-923D-56F79CD153C8}" type="presParOf" srcId="{DAF7A460-D25E-416F-B9AA-EC1042C81F45}" destId="{EE621C93-5EAD-430C-B1CF-2C46B287B255}" srcOrd="2" destOrd="0" presId="urn:microsoft.com/office/officeart/2018/2/layout/IconVerticalSolidList"/>
    <dgm:cxn modelId="{6AFE9B0B-6175-4517-B902-6A1E0AF081AA}" type="presParOf" srcId="{DAF7A460-D25E-416F-B9AA-EC1042C81F45}" destId="{6FD513F5-2D67-4DA7-A628-0EA2C79B2604}" srcOrd="3" destOrd="0" presId="urn:microsoft.com/office/officeart/2018/2/layout/IconVerticalSolidList"/>
    <dgm:cxn modelId="{9513DEE4-1B70-4831-97C3-3585780A124D}" type="presParOf" srcId="{8088BD48-04C2-4B4C-94A0-F3D05DA571AE}" destId="{FE3E4BFB-6E83-48BE-BCE8-D7821CF8499F}" srcOrd="3" destOrd="0" presId="urn:microsoft.com/office/officeart/2018/2/layout/IconVerticalSolidList"/>
    <dgm:cxn modelId="{DB6F991D-90F6-4188-9BBE-2DDC732D1A93}" type="presParOf" srcId="{8088BD48-04C2-4B4C-94A0-F3D05DA571AE}" destId="{75C2C523-5ACC-4726-92DC-90F33D1EAD45}" srcOrd="4" destOrd="0" presId="urn:microsoft.com/office/officeart/2018/2/layout/IconVerticalSolidList"/>
    <dgm:cxn modelId="{3AE9684F-B5E5-4AC7-B805-401B3FA3E2DA}" type="presParOf" srcId="{75C2C523-5ACC-4726-92DC-90F33D1EAD45}" destId="{A9E1FB7E-8734-4594-BFE1-BA7D7F726119}" srcOrd="0" destOrd="0" presId="urn:microsoft.com/office/officeart/2018/2/layout/IconVerticalSolidList"/>
    <dgm:cxn modelId="{A70B8F1A-78BD-488A-B416-3F9060A31938}" type="presParOf" srcId="{75C2C523-5ACC-4726-92DC-90F33D1EAD45}" destId="{5416794C-AABD-40C4-8CA4-3E5551912157}" srcOrd="1" destOrd="0" presId="urn:microsoft.com/office/officeart/2018/2/layout/IconVerticalSolidList"/>
    <dgm:cxn modelId="{8079142A-136A-4CA8-B2F6-480842441D84}" type="presParOf" srcId="{75C2C523-5ACC-4726-92DC-90F33D1EAD45}" destId="{764605C8-88E1-411A-ADD8-8274E5261DC8}" srcOrd="2" destOrd="0" presId="urn:microsoft.com/office/officeart/2018/2/layout/IconVerticalSolidList"/>
    <dgm:cxn modelId="{A61C5F0C-BE60-47AF-8E68-8F38FB5DE30F}" type="presParOf" srcId="{75C2C523-5ACC-4726-92DC-90F33D1EAD45}" destId="{2934276D-8CA6-40B6-8646-AE90729ABFBC}" srcOrd="3" destOrd="0" presId="urn:microsoft.com/office/officeart/2018/2/layout/IconVerticalSolidList"/>
    <dgm:cxn modelId="{5AA2D36D-6119-4AE9-9E05-886F8BFD778C}" type="presParOf" srcId="{8088BD48-04C2-4B4C-94A0-F3D05DA571AE}" destId="{5E5880A3-9894-4EEB-977B-2D8563D3D742}" srcOrd="5" destOrd="0" presId="urn:microsoft.com/office/officeart/2018/2/layout/IconVerticalSolidList"/>
    <dgm:cxn modelId="{F59EA59D-C2F0-4033-B51E-9BCCE1963C1E}" type="presParOf" srcId="{8088BD48-04C2-4B4C-94A0-F3D05DA571AE}" destId="{53E5C173-EC72-491E-9902-575B10EE8C92}" srcOrd="6" destOrd="0" presId="urn:microsoft.com/office/officeart/2018/2/layout/IconVerticalSolidList"/>
    <dgm:cxn modelId="{35CB62B4-24E0-426B-B9D8-E987A6683E20}" type="presParOf" srcId="{53E5C173-EC72-491E-9902-575B10EE8C92}" destId="{B3D55B94-17BE-4C0B-8C6C-736409DD7192}" srcOrd="0" destOrd="0" presId="urn:microsoft.com/office/officeart/2018/2/layout/IconVerticalSolidList"/>
    <dgm:cxn modelId="{A7DDCC27-EE1E-4C6C-AE81-D08FD90D5BCC}" type="presParOf" srcId="{53E5C173-EC72-491E-9902-575B10EE8C92}" destId="{8119374E-A967-43FE-8539-6B668D72513A}" srcOrd="1" destOrd="0" presId="urn:microsoft.com/office/officeart/2018/2/layout/IconVerticalSolidList"/>
    <dgm:cxn modelId="{463D8B58-3A5E-44C2-88D0-91A0860FACFC}" type="presParOf" srcId="{53E5C173-EC72-491E-9902-575B10EE8C92}" destId="{2E77C7E2-E0D6-45E6-8BCA-54D683F2BADF}" srcOrd="2" destOrd="0" presId="urn:microsoft.com/office/officeart/2018/2/layout/IconVerticalSolidList"/>
    <dgm:cxn modelId="{341277D7-493E-4C8A-87ED-AF277326C0DB}" type="presParOf" srcId="{53E5C173-EC72-491E-9902-575B10EE8C92}" destId="{2F154B62-B1F6-43F1-AC1E-532FD7664248}" srcOrd="3" destOrd="0" presId="urn:microsoft.com/office/officeart/2018/2/layout/IconVerticalSolidList"/>
    <dgm:cxn modelId="{25AE81C2-FF44-4FF8-A30A-174CA080BEF1}" type="presParOf" srcId="{8088BD48-04C2-4B4C-94A0-F3D05DA571AE}" destId="{05A5C08A-26B6-44BD-8B79-FFB07DB2AD0E}" srcOrd="7" destOrd="0" presId="urn:microsoft.com/office/officeart/2018/2/layout/IconVerticalSolidList"/>
    <dgm:cxn modelId="{BC9FC5C2-F8A9-4387-AE2A-35EB31531208}" type="presParOf" srcId="{8088BD48-04C2-4B4C-94A0-F3D05DA571AE}" destId="{37DA1DC4-B911-4BAC-B9B1-61F785C9675E}" srcOrd="8" destOrd="0" presId="urn:microsoft.com/office/officeart/2018/2/layout/IconVerticalSolidList"/>
    <dgm:cxn modelId="{243A293A-654F-4F43-AE58-BE8B3DBE6A0E}" type="presParOf" srcId="{37DA1DC4-B911-4BAC-B9B1-61F785C9675E}" destId="{E766760D-E4EF-442C-85C6-50C17C4E8C96}" srcOrd="0" destOrd="0" presId="urn:microsoft.com/office/officeart/2018/2/layout/IconVerticalSolidList"/>
    <dgm:cxn modelId="{C957F9EA-5DAB-4965-A776-7B33380A01A9}" type="presParOf" srcId="{37DA1DC4-B911-4BAC-B9B1-61F785C9675E}" destId="{ECAC5385-8DCF-4ED4-9A8F-A3C4C840F3D8}" srcOrd="1" destOrd="0" presId="urn:microsoft.com/office/officeart/2018/2/layout/IconVerticalSolidList"/>
    <dgm:cxn modelId="{65E24683-2CD4-458D-8787-ED5988D966E1}" type="presParOf" srcId="{37DA1DC4-B911-4BAC-B9B1-61F785C9675E}" destId="{CA219373-5AD7-4634-AC2C-E4D4B4CDCA87}" srcOrd="2" destOrd="0" presId="urn:microsoft.com/office/officeart/2018/2/layout/IconVerticalSolidList"/>
    <dgm:cxn modelId="{722EA9D5-301B-4425-9A7A-E36A47A84B53}" type="presParOf" srcId="{37DA1DC4-B911-4BAC-B9B1-61F785C9675E}" destId="{11CDC0A5-5DD2-4C89-A430-6F8956F877B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8536DB-FF3A-4A2F-A670-0FCCACD585B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A086143-478F-438D-8619-58EFFEA53590}">
      <dgm:prSet/>
      <dgm:spPr/>
      <dgm:t>
        <a:bodyPr/>
        <a:lstStyle/>
        <a:p>
          <a:r>
            <a:rPr lang="it-IT" b="1"/>
            <a:t>Ambiguity</a:t>
          </a:r>
          <a:endParaRPr lang="en-US"/>
        </a:p>
      </dgm:t>
    </dgm:pt>
    <dgm:pt modelId="{2AC9B983-CC15-4F69-8C0A-165AD64564DA}" type="parTrans" cxnId="{CE25CC6C-26DF-4997-8A8F-95DE91797192}">
      <dgm:prSet/>
      <dgm:spPr/>
      <dgm:t>
        <a:bodyPr/>
        <a:lstStyle/>
        <a:p>
          <a:endParaRPr lang="en-US"/>
        </a:p>
      </dgm:t>
    </dgm:pt>
    <dgm:pt modelId="{C0371215-EDED-4C76-A50F-90290772B123}" type="sibTrans" cxnId="{CE25CC6C-26DF-4997-8A8F-95DE91797192}">
      <dgm:prSet/>
      <dgm:spPr/>
      <dgm:t>
        <a:bodyPr/>
        <a:lstStyle/>
        <a:p>
          <a:endParaRPr lang="en-US"/>
        </a:p>
      </dgm:t>
    </dgm:pt>
    <dgm:pt modelId="{472B28AC-4D6C-4ABD-B5B5-E1F05EC55B1C}">
      <dgm:prSet/>
      <dgm:spPr/>
      <dgm:t>
        <a:bodyPr/>
        <a:lstStyle/>
        <a:p>
          <a:r>
            <a:rPr lang="it-IT"/>
            <a:t>Example: "He saw the man with the telescope" (Who has the telescope?).</a:t>
          </a:r>
          <a:endParaRPr lang="en-US"/>
        </a:p>
      </dgm:t>
    </dgm:pt>
    <dgm:pt modelId="{CF66E9DB-7600-472E-BBA7-4CDA142F1A3C}" type="parTrans" cxnId="{509F34DB-4909-4392-A2A3-595489C799C5}">
      <dgm:prSet/>
      <dgm:spPr/>
      <dgm:t>
        <a:bodyPr/>
        <a:lstStyle/>
        <a:p>
          <a:endParaRPr lang="en-US"/>
        </a:p>
      </dgm:t>
    </dgm:pt>
    <dgm:pt modelId="{C52C5989-2347-4B73-89FD-A5A1DB161C64}" type="sibTrans" cxnId="{509F34DB-4909-4392-A2A3-595489C799C5}">
      <dgm:prSet/>
      <dgm:spPr/>
      <dgm:t>
        <a:bodyPr/>
        <a:lstStyle/>
        <a:p>
          <a:endParaRPr lang="en-US"/>
        </a:p>
      </dgm:t>
    </dgm:pt>
    <dgm:pt modelId="{8E8B3176-094C-4B94-8B5D-51EC5762F4D1}">
      <dgm:prSet/>
      <dgm:spPr/>
      <dgm:t>
        <a:bodyPr/>
        <a:lstStyle/>
        <a:p>
          <a:r>
            <a:rPr lang="it-IT" b="1"/>
            <a:t>Context Understanding</a:t>
          </a:r>
          <a:endParaRPr lang="en-US"/>
        </a:p>
      </dgm:t>
    </dgm:pt>
    <dgm:pt modelId="{848FBC79-21DD-4C9F-B49F-11B179871CE8}" type="parTrans" cxnId="{682AE543-2087-40F3-8768-92D97E392581}">
      <dgm:prSet/>
      <dgm:spPr/>
      <dgm:t>
        <a:bodyPr/>
        <a:lstStyle/>
        <a:p>
          <a:endParaRPr lang="en-US"/>
        </a:p>
      </dgm:t>
    </dgm:pt>
    <dgm:pt modelId="{817A9BBD-BA9B-4FD8-A85B-75BC798AA1EC}" type="sibTrans" cxnId="{682AE543-2087-40F3-8768-92D97E392581}">
      <dgm:prSet/>
      <dgm:spPr/>
      <dgm:t>
        <a:bodyPr/>
        <a:lstStyle/>
        <a:p>
          <a:endParaRPr lang="en-US"/>
        </a:p>
      </dgm:t>
    </dgm:pt>
    <dgm:pt modelId="{A3B30ED7-918E-4B2D-9EE2-3ADD22E08882}">
      <dgm:prSet/>
      <dgm:spPr/>
      <dgm:t>
        <a:bodyPr/>
        <a:lstStyle/>
        <a:p>
          <a:r>
            <a:rPr lang="it-IT"/>
            <a:t>Example: "Bank" (Riverbank vs. Financial bank).</a:t>
          </a:r>
          <a:endParaRPr lang="en-US"/>
        </a:p>
      </dgm:t>
    </dgm:pt>
    <dgm:pt modelId="{6D039311-7A52-42F3-9BBC-42560D648E1A}" type="parTrans" cxnId="{065DEDDF-0E03-4B3E-B1D3-B9D181204465}">
      <dgm:prSet/>
      <dgm:spPr/>
      <dgm:t>
        <a:bodyPr/>
        <a:lstStyle/>
        <a:p>
          <a:endParaRPr lang="en-US"/>
        </a:p>
      </dgm:t>
    </dgm:pt>
    <dgm:pt modelId="{9E7CD165-0293-4C6E-8162-05F6C6722BFE}" type="sibTrans" cxnId="{065DEDDF-0E03-4B3E-B1D3-B9D181204465}">
      <dgm:prSet/>
      <dgm:spPr/>
      <dgm:t>
        <a:bodyPr/>
        <a:lstStyle/>
        <a:p>
          <a:endParaRPr lang="en-US"/>
        </a:p>
      </dgm:t>
    </dgm:pt>
    <dgm:pt modelId="{E9B7E497-048B-46E5-9425-BB340F9FE104}">
      <dgm:prSet/>
      <dgm:spPr/>
      <dgm:t>
        <a:bodyPr/>
        <a:lstStyle/>
        <a:p>
          <a:r>
            <a:rPr lang="it-IT" b="1"/>
            <a:t>Multilingual Texts</a:t>
          </a:r>
          <a:endParaRPr lang="en-US"/>
        </a:p>
      </dgm:t>
    </dgm:pt>
    <dgm:pt modelId="{1C194139-9B0A-4D62-9637-3D4D9C5279F1}" type="parTrans" cxnId="{7E644FCB-FC83-4BF3-A118-50572D20D5B7}">
      <dgm:prSet/>
      <dgm:spPr/>
      <dgm:t>
        <a:bodyPr/>
        <a:lstStyle/>
        <a:p>
          <a:endParaRPr lang="en-US"/>
        </a:p>
      </dgm:t>
    </dgm:pt>
    <dgm:pt modelId="{7AA4B26D-4A2B-4039-86FB-BE54D0675E53}" type="sibTrans" cxnId="{7E644FCB-FC83-4BF3-A118-50572D20D5B7}">
      <dgm:prSet/>
      <dgm:spPr/>
      <dgm:t>
        <a:bodyPr/>
        <a:lstStyle/>
        <a:p>
          <a:endParaRPr lang="en-US"/>
        </a:p>
      </dgm:t>
    </dgm:pt>
    <dgm:pt modelId="{8C9346CD-625E-4C6E-99C4-8D6C6755A6BB}">
      <dgm:prSet/>
      <dgm:spPr/>
      <dgm:t>
        <a:bodyPr/>
        <a:lstStyle/>
        <a:p>
          <a:r>
            <a:rPr lang="it-IT"/>
            <a:t>Processing multiple languages effectively.</a:t>
          </a:r>
          <a:endParaRPr lang="en-US"/>
        </a:p>
      </dgm:t>
    </dgm:pt>
    <dgm:pt modelId="{74F7FF53-B709-405B-825A-F98413A842AD}" type="parTrans" cxnId="{011EC597-6FC8-4204-8FEF-3896D88B0C4C}">
      <dgm:prSet/>
      <dgm:spPr/>
      <dgm:t>
        <a:bodyPr/>
        <a:lstStyle/>
        <a:p>
          <a:endParaRPr lang="en-US"/>
        </a:p>
      </dgm:t>
    </dgm:pt>
    <dgm:pt modelId="{CAEAF199-751D-4D33-9CC0-81DB56615D11}" type="sibTrans" cxnId="{011EC597-6FC8-4204-8FEF-3896D88B0C4C}">
      <dgm:prSet/>
      <dgm:spPr/>
      <dgm:t>
        <a:bodyPr/>
        <a:lstStyle/>
        <a:p>
          <a:endParaRPr lang="en-US"/>
        </a:p>
      </dgm:t>
    </dgm:pt>
    <dgm:pt modelId="{DD6C4F82-F255-4D18-865C-0C6CE4C78D0D}">
      <dgm:prSet/>
      <dgm:spPr/>
      <dgm:t>
        <a:bodyPr/>
        <a:lstStyle/>
        <a:p>
          <a:r>
            <a:rPr lang="it-IT" b="1"/>
            <a:t>Noisy Data</a:t>
          </a:r>
          <a:endParaRPr lang="en-US"/>
        </a:p>
      </dgm:t>
    </dgm:pt>
    <dgm:pt modelId="{1189770A-F426-4476-ADD7-2594A1E9E257}" type="parTrans" cxnId="{EFAA0112-861D-49FE-AC7B-24EDB608BD92}">
      <dgm:prSet/>
      <dgm:spPr/>
      <dgm:t>
        <a:bodyPr/>
        <a:lstStyle/>
        <a:p>
          <a:endParaRPr lang="en-US"/>
        </a:p>
      </dgm:t>
    </dgm:pt>
    <dgm:pt modelId="{52A64AEC-C3C2-4EF6-A7A9-6013E04065B9}" type="sibTrans" cxnId="{EFAA0112-861D-49FE-AC7B-24EDB608BD92}">
      <dgm:prSet/>
      <dgm:spPr/>
      <dgm:t>
        <a:bodyPr/>
        <a:lstStyle/>
        <a:p>
          <a:endParaRPr lang="en-US"/>
        </a:p>
      </dgm:t>
    </dgm:pt>
    <dgm:pt modelId="{06295EE8-3B64-431E-AA81-FA6E5BFFBD97}">
      <dgm:prSet/>
      <dgm:spPr/>
      <dgm:t>
        <a:bodyPr/>
        <a:lstStyle/>
        <a:p>
          <a:r>
            <a:rPr lang="it-IT"/>
            <a:t>Slang, typos, and informal text.</a:t>
          </a:r>
          <a:endParaRPr lang="en-US"/>
        </a:p>
      </dgm:t>
    </dgm:pt>
    <dgm:pt modelId="{1C6A6F39-5BF3-4E8D-A865-FC7BE4C332E8}" type="parTrans" cxnId="{BC2C65F4-75DF-444C-8B8F-8768D127BDEC}">
      <dgm:prSet/>
      <dgm:spPr/>
      <dgm:t>
        <a:bodyPr/>
        <a:lstStyle/>
        <a:p>
          <a:endParaRPr lang="en-US"/>
        </a:p>
      </dgm:t>
    </dgm:pt>
    <dgm:pt modelId="{C7BD1E15-F739-4CFC-862F-A17416F14CFC}" type="sibTrans" cxnId="{BC2C65F4-75DF-444C-8B8F-8768D127BDEC}">
      <dgm:prSet/>
      <dgm:spPr/>
      <dgm:t>
        <a:bodyPr/>
        <a:lstStyle/>
        <a:p>
          <a:endParaRPr lang="en-US"/>
        </a:p>
      </dgm:t>
    </dgm:pt>
    <dgm:pt modelId="{90A1C4C4-0361-4483-AAFE-4D61EE2A0E9B}" type="pres">
      <dgm:prSet presAssocID="{8B8536DB-FF3A-4A2F-A670-0FCCACD585BD}" presName="vert0" presStyleCnt="0">
        <dgm:presLayoutVars>
          <dgm:dir/>
          <dgm:animOne val="branch"/>
          <dgm:animLvl val="lvl"/>
        </dgm:presLayoutVars>
      </dgm:prSet>
      <dgm:spPr/>
    </dgm:pt>
    <dgm:pt modelId="{6FB8873E-955F-4DCB-9560-9434C3E8A9E6}" type="pres">
      <dgm:prSet presAssocID="{7A086143-478F-438D-8619-58EFFEA53590}" presName="thickLine" presStyleLbl="alignNode1" presStyleIdx="0" presStyleCnt="4"/>
      <dgm:spPr/>
    </dgm:pt>
    <dgm:pt modelId="{C465C571-1305-41F6-B135-A3BD10A39202}" type="pres">
      <dgm:prSet presAssocID="{7A086143-478F-438D-8619-58EFFEA53590}" presName="horz1" presStyleCnt="0"/>
      <dgm:spPr/>
    </dgm:pt>
    <dgm:pt modelId="{D2F3D12B-8851-43DB-A1DB-9DCE4177FB45}" type="pres">
      <dgm:prSet presAssocID="{7A086143-478F-438D-8619-58EFFEA53590}" presName="tx1" presStyleLbl="revTx" presStyleIdx="0" presStyleCnt="8"/>
      <dgm:spPr/>
    </dgm:pt>
    <dgm:pt modelId="{AFF0B682-F819-4138-B24C-4BC6769B85F3}" type="pres">
      <dgm:prSet presAssocID="{7A086143-478F-438D-8619-58EFFEA53590}" presName="vert1" presStyleCnt="0"/>
      <dgm:spPr/>
    </dgm:pt>
    <dgm:pt modelId="{11A09ACE-A824-4350-95E4-4E6D0B0DE9CB}" type="pres">
      <dgm:prSet presAssocID="{472B28AC-4D6C-4ABD-B5B5-E1F05EC55B1C}" presName="vertSpace2a" presStyleCnt="0"/>
      <dgm:spPr/>
    </dgm:pt>
    <dgm:pt modelId="{5910AEF6-95EE-483F-BD5F-A8E6294F20A4}" type="pres">
      <dgm:prSet presAssocID="{472B28AC-4D6C-4ABD-B5B5-E1F05EC55B1C}" presName="horz2" presStyleCnt="0"/>
      <dgm:spPr/>
    </dgm:pt>
    <dgm:pt modelId="{53CF053C-E21F-4E38-8388-0176423DFE46}" type="pres">
      <dgm:prSet presAssocID="{472B28AC-4D6C-4ABD-B5B5-E1F05EC55B1C}" presName="horzSpace2" presStyleCnt="0"/>
      <dgm:spPr/>
    </dgm:pt>
    <dgm:pt modelId="{E086AF8D-131D-48AA-8026-CBC305D0E2A8}" type="pres">
      <dgm:prSet presAssocID="{472B28AC-4D6C-4ABD-B5B5-E1F05EC55B1C}" presName="tx2" presStyleLbl="revTx" presStyleIdx="1" presStyleCnt="8"/>
      <dgm:spPr/>
    </dgm:pt>
    <dgm:pt modelId="{C5A03380-DE13-40BF-96DC-89350552E548}" type="pres">
      <dgm:prSet presAssocID="{472B28AC-4D6C-4ABD-B5B5-E1F05EC55B1C}" presName="vert2" presStyleCnt="0"/>
      <dgm:spPr/>
    </dgm:pt>
    <dgm:pt modelId="{94115F98-6B40-4B0B-B6AF-BC112EB57EFA}" type="pres">
      <dgm:prSet presAssocID="{472B28AC-4D6C-4ABD-B5B5-E1F05EC55B1C}" presName="thinLine2b" presStyleLbl="callout" presStyleIdx="0" presStyleCnt="4"/>
      <dgm:spPr/>
    </dgm:pt>
    <dgm:pt modelId="{D83F6E47-9069-4981-925F-5EE54AD79872}" type="pres">
      <dgm:prSet presAssocID="{472B28AC-4D6C-4ABD-B5B5-E1F05EC55B1C}" presName="vertSpace2b" presStyleCnt="0"/>
      <dgm:spPr/>
    </dgm:pt>
    <dgm:pt modelId="{F87432ED-9364-47E5-AA52-3001A85999AF}" type="pres">
      <dgm:prSet presAssocID="{8E8B3176-094C-4B94-8B5D-51EC5762F4D1}" presName="thickLine" presStyleLbl="alignNode1" presStyleIdx="1" presStyleCnt="4"/>
      <dgm:spPr/>
    </dgm:pt>
    <dgm:pt modelId="{7AB44859-23A4-49FD-9362-AB1F7400BDBD}" type="pres">
      <dgm:prSet presAssocID="{8E8B3176-094C-4B94-8B5D-51EC5762F4D1}" presName="horz1" presStyleCnt="0"/>
      <dgm:spPr/>
    </dgm:pt>
    <dgm:pt modelId="{18D36E76-E744-46B2-ABD6-2281CE831026}" type="pres">
      <dgm:prSet presAssocID="{8E8B3176-094C-4B94-8B5D-51EC5762F4D1}" presName="tx1" presStyleLbl="revTx" presStyleIdx="2" presStyleCnt="8"/>
      <dgm:spPr/>
    </dgm:pt>
    <dgm:pt modelId="{018E190B-367E-46FC-AF00-C4C246A86652}" type="pres">
      <dgm:prSet presAssocID="{8E8B3176-094C-4B94-8B5D-51EC5762F4D1}" presName="vert1" presStyleCnt="0"/>
      <dgm:spPr/>
    </dgm:pt>
    <dgm:pt modelId="{ABA98765-81DB-4591-BCED-68F3109823CE}" type="pres">
      <dgm:prSet presAssocID="{A3B30ED7-918E-4B2D-9EE2-3ADD22E08882}" presName="vertSpace2a" presStyleCnt="0"/>
      <dgm:spPr/>
    </dgm:pt>
    <dgm:pt modelId="{DB0AF6CD-3170-430D-B71B-525F8D8043A3}" type="pres">
      <dgm:prSet presAssocID="{A3B30ED7-918E-4B2D-9EE2-3ADD22E08882}" presName="horz2" presStyleCnt="0"/>
      <dgm:spPr/>
    </dgm:pt>
    <dgm:pt modelId="{7EC29B9A-72B7-4413-893A-352353830F0E}" type="pres">
      <dgm:prSet presAssocID="{A3B30ED7-918E-4B2D-9EE2-3ADD22E08882}" presName="horzSpace2" presStyleCnt="0"/>
      <dgm:spPr/>
    </dgm:pt>
    <dgm:pt modelId="{EE308C53-B11E-4654-8383-C63F58CC6857}" type="pres">
      <dgm:prSet presAssocID="{A3B30ED7-918E-4B2D-9EE2-3ADD22E08882}" presName="tx2" presStyleLbl="revTx" presStyleIdx="3" presStyleCnt="8"/>
      <dgm:spPr/>
    </dgm:pt>
    <dgm:pt modelId="{1DEA0478-6560-4326-810F-0F1A74F9395B}" type="pres">
      <dgm:prSet presAssocID="{A3B30ED7-918E-4B2D-9EE2-3ADD22E08882}" presName="vert2" presStyleCnt="0"/>
      <dgm:spPr/>
    </dgm:pt>
    <dgm:pt modelId="{85FBB745-400F-4F94-89E1-A5EB57E42047}" type="pres">
      <dgm:prSet presAssocID="{A3B30ED7-918E-4B2D-9EE2-3ADD22E08882}" presName="thinLine2b" presStyleLbl="callout" presStyleIdx="1" presStyleCnt="4"/>
      <dgm:spPr/>
    </dgm:pt>
    <dgm:pt modelId="{898C7CDB-F5A1-47E9-A472-8D626C6ED428}" type="pres">
      <dgm:prSet presAssocID="{A3B30ED7-918E-4B2D-9EE2-3ADD22E08882}" presName="vertSpace2b" presStyleCnt="0"/>
      <dgm:spPr/>
    </dgm:pt>
    <dgm:pt modelId="{9BD93AF1-7982-4E56-97C4-0A4E0CA408B0}" type="pres">
      <dgm:prSet presAssocID="{E9B7E497-048B-46E5-9425-BB340F9FE104}" presName="thickLine" presStyleLbl="alignNode1" presStyleIdx="2" presStyleCnt="4"/>
      <dgm:spPr/>
    </dgm:pt>
    <dgm:pt modelId="{F6264F9E-3D1C-4E69-A39B-07D33A47E6B3}" type="pres">
      <dgm:prSet presAssocID="{E9B7E497-048B-46E5-9425-BB340F9FE104}" presName="horz1" presStyleCnt="0"/>
      <dgm:spPr/>
    </dgm:pt>
    <dgm:pt modelId="{4D3D8C2B-B987-4EBF-BFA3-005A1CE40378}" type="pres">
      <dgm:prSet presAssocID="{E9B7E497-048B-46E5-9425-BB340F9FE104}" presName="tx1" presStyleLbl="revTx" presStyleIdx="4" presStyleCnt="8"/>
      <dgm:spPr/>
    </dgm:pt>
    <dgm:pt modelId="{7BB9B9FF-20F0-467B-986C-209A74A22584}" type="pres">
      <dgm:prSet presAssocID="{E9B7E497-048B-46E5-9425-BB340F9FE104}" presName="vert1" presStyleCnt="0"/>
      <dgm:spPr/>
    </dgm:pt>
    <dgm:pt modelId="{364BD051-82D4-490F-AC16-3BC1EE96FE44}" type="pres">
      <dgm:prSet presAssocID="{8C9346CD-625E-4C6E-99C4-8D6C6755A6BB}" presName="vertSpace2a" presStyleCnt="0"/>
      <dgm:spPr/>
    </dgm:pt>
    <dgm:pt modelId="{EED7EC10-6B1B-4BC0-853B-A776B71A9EDD}" type="pres">
      <dgm:prSet presAssocID="{8C9346CD-625E-4C6E-99C4-8D6C6755A6BB}" presName="horz2" presStyleCnt="0"/>
      <dgm:spPr/>
    </dgm:pt>
    <dgm:pt modelId="{4082FB09-773A-450B-B66E-7605FD0F3D26}" type="pres">
      <dgm:prSet presAssocID="{8C9346CD-625E-4C6E-99C4-8D6C6755A6BB}" presName="horzSpace2" presStyleCnt="0"/>
      <dgm:spPr/>
    </dgm:pt>
    <dgm:pt modelId="{AC150B21-7B3B-443B-AB66-676891CD5F70}" type="pres">
      <dgm:prSet presAssocID="{8C9346CD-625E-4C6E-99C4-8D6C6755A6BB}" presName="tx2" presStyleLbl="revTx" presStyleIdx="5" presStyleCnt="8"/>
      <dgm:spPr/>
    </dgm:pt>
    <dgm:pt modelId="{7C4E810B-9616-4678-9F75-17922305CC90}" type="pres">
      <dgm:prSet presAssocID="{8C9346CD-625E-4C6E-99C4-8D6C6755A6BB}" presName="vert2" presStyleCnt="0"/>
      <dgm:spPr/>
    </dgm:pt>
    <dgm:pt modelId="{EC0C3FDA-84CA-4150-94AE-E869A60C4259}" type="pres">
      <dgm:prSet presAssocID="{8C9346CD-625E-4C6E-99C4-8D6C6755A6BB}" presName="thinLine2b" presStyleLbl="callout" presStyleIdx="2" presStyleCnt="4"/>
      <dgm:spPr/>
    </dgm:pt>
    <dgm:pt modelId="{82DC627E-F519-413A-99AD-E63F3F75758B}" type="pres">
      <dgm:prSet presAssocID="{8C9346CD-625E-4C6E-99C4-8D6C6755A6BB}" presName="vertSpace2b" presStyleCnt="0"/>
      <dgm:spPr/>
    </dgm:pt>
    <dgm:pt modelId="{0D02CC85-3842-4080-8226-DDBAF0A0E9A2}" type="pres">
      <dgm:prSet presAssocID="{DD6C4F82-F255-4D18-865C-0C6CE4C78D0D}" presName="thickLine" presStyleLbl="alignNode1" presStyleIdx="3" presStyleCnt="4"/>
      <dgm:spPr/>
    </dgm:pt>
    <dgm:pt modelId="{B65AC654-EF83-4493-8256-FEB1020AF8F0}" type="pres">
      <dgm:prSet presAssocID="{DD6C4F82-F255-4D18-865C-0C6CE4C78D0D}" presName="horz1" presStyleCnt="0"/>
      <dgm:spPr/>
    </dgm:pt>
    <dgm:pt modelId="{1B1205E9-A6BF-4E5A-BE21-9CCD22DC2B86}" type="pres">
      <dgm:prSet presAssocID="{DD6C4F82-F255-4D18-865C-0C6CE4C78D0D}" presName="tx1" presStyleLbl="revTx" presStyleIdx="6" presStyleCnt="8"/>
      <dgm:spPr/>
    </dgm:pt>
    <dgm:pt modelId="{E27C8534-D1ED-4E2A-B27A-9182DD87B861}" type="pres">
      <dgm:prSet presAssocID="{DD6C4F82-F255-4D18-865C-0C6CE4C78D0D}" presName="vert1" presStyleCnt="0"/>
      <dgm:spPr/>
    </dgm:pt>
    <dgm:pt modelId="{C29E06BA-14E6-47E3-A31C-F6B43C3035AE}" type="pres">
      <dgm:prSet presAssocID="{06295EE8-3B64-431E-AA81-FA6E5BFFBD97}" presName="vertSpace2a" presStyleCnt="0"/>
      <dgm:spPr/>
    </dgm:pt>
    <dgm:pt modelId="{38CE071B-697A-4264-B8AD-A9F41B9A8E17}" type="pres">
      <dgm:prSet presAssocID="{06295EE8-3B64-431E-AA81-FA6E5BFFBD97}" presName="horz2" presStyleCnt="0"/>
      <dgm:spPr/>
    </dgm:pt>
    <dgm:pt modelId="{663F25ED-73B1-4C52-B2F3-DFC9735BF73D}" type="pres">
      <dgm:prSet presAssocID="{06295EE8-3B64-431E-AA81-FA6E5BFFBD97}" presName="horzSpace2" presStyleCnt="0"/>
      <dgm:spPr/>
    </dgm:pt>
    <dgm:pt modelId="{211A766F-EFF4-4E45-A950-FA86604EE5F6}" type="pres">
      <dgm:prSet presAssocID="{06295EE8-3B64-431E-AA81-FA6E5BFFBD97}" presName="tx2" presStyleLbl="revTx" presStyleIdx="7" presStyleCnt="8"/>
      <dgm:spPr/>
    </dgm:pt>
    <dgm:pt modelId="{80235072-FEFC-4769-8453-B51C8CECE5B1}" type="pres">
      <dgm:prSet presAssocID="{06295EE8-3B64-431E-AA81-FA6E5BFFBD97}" presName="vert2" presStyleCnt="0"/>
      <dgm:spPr/>
    </dgm:pt>
    <dgm:pt modelId="{CD88BEE9-1B93-4D0A-AF78-1E51E3607634}" type="pres">
      <dgm:prSet presAssocID="{06295EE8-3B64-431E-AA81-FA6E5BFFBD97}" presName="thinLine2b" presStyleLbl="callout" presStyleIdx="3" presStyleCnt="4"/>
      <dgm:spPr/>
    </dgm:pt>
    <dgm:pt modelId="{2190B8F1-ABF8-4148-9E02-3624B689AB08}" type="pres">
      <dgm:prSet presAssocID="{06295EE8-3B64-431E-AA81-FA6E5BFFBD97}" presName="vertSpace2b" presStyleCnt="0"/>
      <dgm:spPr/>
    </dgm:pt>
  </dgm:ptLst>
  <dgm:cxnLst>
    <dgm:cxn modelId="{84797609-4B7C-4395-9B70-5467F06DC48C}" type="presOf" srcId="{8C9346CD-625E-4C6E-99C4-8D6C6755A6BB}" destId="{AC150B21-7B3B-443B-AB66-676891CD5F70}" srcOrd="0" destOrd="0" presId="urn:microsoft.com/office/officeart/2008/layout/LinedList"/>
    <dgm:cxn modelId="{EFAA0112-861D-49FE-AC7B-24EDB608BD92}" srcId="{8B8536DB-FF3A-4A2F-A670-0FCCACD585BD}" destId="{DD6C4F82-F255-4D18-865C-0C6CE4C78D0D}" srcOrd="3" destOrd="0" parTransId="{1189770A-F426-4476-ADD7-2594A1E9E257}" sibTransId="{52A64AEC-C3C2-4EF6-A7A9-6013E04065B9}"/>
    <dgm:cxn modelId="{9D434214-127C-4744-8C4B-A417D6246CDC}" type="presOf" srcId="{06295EE8-3B64-431E-AA81-FA6E5BFFBD97}" destId="{211A766F-EFF4-4E45-A950-FA86604EE5F6}" srcOrd="0" destOrd="0" presId="urn:microsoft.com/office/officeart/2008/layout/LinedList"/>
    <dgm:cxn modelId="{A0C1AF1D-BD8D-4B69-B996-4D98BD8C8647}" type="presOf" srcId="{8E8B3176-094C-4B94-8B5D-51EC5762F4D1}" destId="{18D36E76-E744-46B2-ABD6-2281CE831026}" srcOrd="0" destOrd="0" presId="urn:microsoft.com/office/officeart/2008/layout/LinedList"/>
    <dgm:cxn modelId="{3FA90321-8C20-4A40-B110-6A3F5E10DEAC}" type="presOf" srcId="{7A086143-478F-438D-8619-58EFFEA53590}" destId="{D2F3D12B-8851-43DB-A1DB-9DCE4177FB45}" srcOrd="0" destOrd="0" presId="urn:microsoft.com/office/officeart/2008/layout/LinedList"/>
    <dgm:cxn modelId="{CEE0342A-7B03-4690-86BD-52BD3FB9F5BA}" type="presOf" srcId="{472B28AC-4D6C-4ABD-B5B5-E1F05EC55B1C}" destId="{E086AF8D-131D-48AA-8026-CBC305D0E2A8}" srcOrd="0" destOrd="0" presId="urn:microsoft.com/office/officeart/2008/layout/LinedList"/>
    <dgm:cxn modelId="{682AE543-2087-40F3-8768-92D97E392581}" srcId="{8B8536DB-FF3A-4A2F-A670-0FCCACD585BD}" destId="{8E8B3176-094C-4B94-8B5D-51EC5762F4D1}" srcOrd="1" destOrd="0" parTransId="{848FBC79-21DD-4C9F-B49F-11B179871CE8}" sibTransId="{817A9BBD-BA9B-4FD8-A85B-75BC798AA1EC}"/>
    <dgm:cxn modelId="{CE25CC6C-26DF-4997-8A8F-95DE91797192}" srcId="{8B8536DB-FF3A-4A2F-A670-0FCCACD585BD}" destId="{7A086143-478F-438D-8619-58EFFEA53590}" srcOrd="0" destOrd="0" parTransId="{2AC9B983-CC15-4F69-8C0A-165AD64564DA}" sibTransId="{C0371215-EDED-4C76-A50F-90290772B123}"/>
    <dgm:cxn modelId="{2695CF5A-5AAB-4B44-BC22-4FC34D5082ED}" type="presOf" srcId="{DD6C4F82-F255-4D18-865C-0C6CE4C78D0D}" destId="{1B1205E9-A6BF-4E5A-BE21-9CCD22DC2B86}" srcOrd="0" destOrd="0" presId="urn:microsoft.com/office/officeart/2008/layout/LinedList"/>
    <dgm:cxn modelId="{C1D3A48B-7B00-4F48-B42F-ED5A1E5EC338}" type="presOf" srcId="{E9B7E497-048B-46E5-9425-BB340F9FE104}" destId="{4D3D8C2B-B987-4EBF-BFA3-005A1CE40378}" srcOrd="0" destOrd="0" presId="urn:microsoft.com/office/officeart/2008/layout/LinedList"/>
    <dgm:cxn modelId="{011EC597-6FC8-4204-8FEF-3896D88B0C4C}" srcId="{E9B7E497-048B-46E5-9425-BB340F9FE104}" destId="{8C9346CD-625E-4C6E-99C4-8D6C6755A6BB}" srcOrd="0" destOrd="0" parTransId="{74F7FF53-B709-405B-825A-F98413A842AD}" sibTransId="{CAEAF199-751D-4D33-9CC0-81DB56615D11}"/>
    <dgm:cxn modelId="{6DE3C4BB-54E6-4E89-B22A-5996CB882C68}" type="presOf" srcId="{A3B30ED7-918E-4B2D-9EE2-3ADD22E08882}" destId="{EE308C53-B11E-4654-8383-C63F58CC6857}" srcOrd="0" destOrd="0" presId="urn:microsoft.com/office/officeart/2008/layout/LinedList"/>
    <dgm:cxn modelId="{7E644FCB-FC83-4BF3-A118-50572D20D5B7}" srcId="{8B8536DB-FF3A-4A2F-A670-0FCCACD585BD}" destId="{E9B7E497-048B-46E5-9425-BB340F9FE104}" srcOrd="2" destOrd="0" parTransId="{1C194139-9B0A-4D62-9637-3D4D9C5279F1}" sibTransId="{7AA4B26D-4A2B-4039-86FB-BE54D0675E53}"/>
    <dgm:cxn modelId="{509F34DB-4909-4392-A2A3-595489C799C5}" srcId="{7A086143-478F-438D-8619-58EFFEA53590}" destId="{472B28AC-4D6C-4ABD-B5B5-E1F05EC55B1C}" srcOrd="0" destOrd="0" parTransId="{CF66E9DB-7600-472E-BBA7-4CDA142F1A3C}" sibTransId="{C52C5989-2347-4B73-89FD-A5A1DB161C64}"/>
    <dgm:cxn modelId="{065DEDDF-0E03-4B3E-B1D3-B9D181204465}" srcId="{8E8B3176-094C-4B94-8B5D-51EC5762F4D1}" destId="{A3B30ED7-918E-4B2D-9EE2-3ADD22E08882}" srcOrd="0" destOrd="0" parTransId="{6D039311-7A52-42F3-9BBC-42560D648E1A}" sibTransId="{9E7CD165-0293-4C6E-8162-05F6C6722BFE}"/>
    <dgm:cxn modelId="{7D1028E2-1BE6-4766-BCBA-845268C5754C}" type="presOf" srcId="{8B8536DB-FF3A-4A2F-A670-0FCCACD585BD}" destId="{90A1C4C4-0361-4483-AAFE-4D61EE2A0E9B}" srcOrd="0" destOrd="0" presId="urn:microsoft.com/office/officeart/2008/layout/LinedList"/>
    <dgm:cxn modelId="{BC2C65F4-75DF-444C-8B8F-8768D127BDEC}" srcId="{DD6C4F82-F255-4D18-865C-0C6CE4C78D0D}" destId="{06295EE8-3B64-431E-AA81-FA6E5BFFBD97}" srcOrd="0" destOrd="0" parTransId="{1C6A6F39-5BF3-4E8D-A865-FC7BE4C332E8}" sibTransId="{C7BD1E15-F739-4CFC-862F-A17416F14CFC}"/>
    <dgm:cxn modelId="{6C494C94-CA3B-44DE-A9A6-E3817B1A3428}" type="presParOf" srcId="{90A1C4C4-0361-4483-AAFE-4D61EE2A0E9B}" destId="{6FB8873E-955F-4DCB-9560-9434C3E8A9E6}" srcOrd="0" destOrd="0" presId="urn:microsoft.com/office/officeart/2008/layout/LinedList"/>
    <dgm:cxn modelId="{AE09FFA3-6AC1-4FC5-AAB4-4F114F2DE029}" type="presParOf" srcId="{90A1C4C4-0361-4483-AAFE-4D61EE2A0E9B}" destId="{C465C571-1305-41F6-B135-A3BD10A39202}" srcOrd="1" destOrd="0" presId="urn:microsoft.com/office/officeart/2008/layout/LinedList"/>
    <dgm:cxn modelId="{926D69CB-D214-4567-91EF-4B94E3812425}" type="presParOf" srcId="{C465C571-1305-41F6-B135-A3BD10A39202}" destId="{D2F3D12B-8851-43DB-A1DB-9DCE4177FB45}" srcOrd="0" destOrd="0" presId="urn:microsoft.com/office/officeart/2008/layout/LinedList"/>
    <dgm:cxn modelId="{A8169634-4C92-48C7-9C14-AD5B24BF2DF3}" type="presParOf" srcId="{C465C571-1305-41F6-B135-A3BD10A39202}" destId="{AFF0B682-F819-4138-B24C-4BC6769B85F3}" srcOrd="1" destOrd="0" presId="urn:microsoft.com/office/officeart/2008/layout/LinedList"/>
    <dgm:cxn modelId="{47A2CD42-BBE6-4884-8FE4-E370E3A7AD4F}" type="presParOf" srcId="{AFF0B682-F819-4138-B24C-4BC6769B85F3}" destId="{11A09ACE-A824-4350-95E4-4E6D0B0DE9CB}" srcOrd="0" destOrd="0" presId="urn:microsoft.com/office/officeart/2008/layout/LinedList"/>
    <dgm:cxn modelId="{6CEB0FE0-4F60-41C6-9F50-097A01B4AD2F}" type="presParOf" srcId="{AFF0B682-F819-4138-B24C-4BC6769B85F3}" destId="{5910AEF6-95EE-483F-BD5F-A8E6294F20A4}" srcOrd="1" destOrd="0" presId="urn:microsoft.com/office/officeart/2008/layout/LinedList"/>
    <dgm:cxn modelId="{256BA443-A52A-4026-AC5D-163B46A490D5}" type="presParOf" srcId="{5910AEF6-95EE-483F-BD5F-A8E6294F20A4}" destId="{53CF053C-E21F-4E38-8388-0176423DFE46}" srcOrd="0" destOrd="0" presId="urn:microsoft.com/office/officeart/2008/layout/LinedList"/>
    <dgm:cxn modelId="{F8753F64-8C15-4CD4-8C39-4D29BC74817B}" type="presParOf" srcId="{5910AEF6-95EE-483F-BD5F-A8E6294F20A4}" destId="{E086AF8D-131D-48AA-8026-CBC305D0E2A8}" srcOrd="1" destOrd="0" presId="urn:microsoft.com/office/officeart/2008/layout/LinedList"/>
    <dgm:cxn modelId="{94DF074A-834A-4C87-BE9E-CB34BB57B5BF}" type="presParOf" srcId="{5910AEF6-95EE-483F-BD5F-A8E6294F20A4}" destId="{C5A03380-DE13-40BF-96DC-89350552E548}" srcOrd="2" destOrd="0" presId="urn:microsoft.com/office/officeart/2008/layout/LinedList"/>
    <dgm:cxn modelId="{7C74645F-555B-4FD7-9F8A-B74460BD010E}" type="presParOf" srcId="{AFF0B682-F819-4138-B24C-4BC6769B85F3}" destId="{94115F98-6B40-4B0B-B6AF-BC112EB57EFA}" srcOrd="2" destOrd="0" presId="urn:microsoft.com/office/officeart/2008/layout/LinedList"/>
    <dgm:cxn modelId="{211F5E23-A30F-416B-BC3C-406FC8B54141}" type="presParOf" srcId="{AFF0B682-F819-4138-B24C-4BC6769B85F3}" destId="{D83F6E47-9069-4981-925F-5EE54AD79872}" srcOrd="3" destOrd="0" presId="urn:microsoft.com/office/officeart/2008/layout/LinedList"/>
    <dgm:cxn modelId="{C837CEDA-B432-4EE8-9D88-2278F7E43C9B}" type="presParOf" srcId="{90A1C4C4-0361-4483-AAFE-4D61EE2A0E9B}" destId="{F87432ED-9364-47E5-AA52-3001A85999AF}" srcOrd="2" destOrd="0" presId="urn:microsoft.com/office/officeart/2008/layout/LinedList"/>
    <dgm:cxn modelId="{9D359325-12E5-441F-A505-598788C52124}" type="presParOf" srcId="{90A1C4C4-0361-4483-AAFE-4D61EE2A0E9B}" destId="{7AB44859-23A4-49FD-9362-AB1F7400BDBD}" srcOrd="3" destOrd="0" presId="urn:microsoft.com/office/officeart/2008/layout/LinedList"/>
    <dgm:cxn modelId="{E98DB627-72F6-44E3-B86F-CAA3C20A8241}" type="presParOf" srcId="{7AB44859-23A4-49FD-9362-AB1F7400BDBD}" destId="{18D36E76-E744-46B2-ABD6-2281CE831026}" srcOrd="0" destOrd="0" presId="urn:microsoft.com/office/officeart/2008/layout/LinedList"/>
    <dgm:cxn modelId="{BA180055-B108-454B-AE52-B3FE6438D5E5}" type="presParOf" srcId="{7AB44859-23A4-49FD-9362-AB1F7400BDBD}" destId="{018E190B-367E-46FC-AF00-C4C246A86652}" srcOrd="1" destOrd="0" presId="urn:microsoft.com/office/officeart/2008/layout/LinedList"/>
    <dgm:cxn modelId="{69B8727E-934A-440F-9C95-102ACD6D6848}" type="presParOf" srcId="{018E190B-367E-46FC-AF00-C4C246A86652}" destId="{ABA98765-81DB-4591-BCED-68F3109823CE}" srcOrd="0" destOrd="0" presId="urn:microsoft.com/office/officeart/2008/layout/LinedList"/>
    <dgm:cxn modelId="{508C6465-1302-4608-A83F-925DEFFACCF7}" type="presParOf" srcId="{018E190B-367E-46FC-AF00-C4C246A86652}" destId="{DB0AF6CD-3170-430D-B71B-525F8D8043A3}" srcOrd="1" destOrd="0" presId="urn:microsoft.com/office/officeart/2008/layout/LinedList"/>
    <dgm:cxn modelId="{C713262A-4A65-496F-BA0E-29B6A2B807FB}" type="presParOf" srcId="{DB0AF6CD-3170-430D-B71B-525F8D8043A3}" destId="{7EC29B9A-72B7-4413-893A-352353830F0E}" srcOrd="0" destOrd="0" presId="urn:microsoft.com/office/officeart/2008/layout/LinedList"/>
    <dgm:cxn modelId="{18231C96-9004-4C37-850F-CC0F5D08739C}" type="presParOf" srcId="{DB0AF6CD-3170-430D-B71B-525F8D8043A3}" destId="{EE308C53-B11E-4654-8383-C63F58CC6857}" srcOrd="1" destOrd="0" presId="urn:microsoft.com/office/officeart/2008/layout/LinedList"/>
    <dgm:cxn modelId="{D876E440-5A33-4D08-9F14-8FBAA6130C7D}" type="presParOf" srcId="{DB0AF6CD-3170-430D-B71B-525F8D8043A3}" destId="{1DEA0478-6560-4326-810F-0F1A74F9395B}" srcOrd="2" destOrd="0" presId="urn:microsoft.com/office/officeart/2008/layout/LinedList"/>
    <dgm:cxn modelId="{CEABFF0E-1C3A-44CA-B2CD-1ABC2D169EE5}" type="presParOf" srcId="{018E190B-367E-46FC-AF00-C4C246A86652}" destId="{85FBB745-400F-4F94-89E1-A5EB57E42047}" srcOrd="2" destOrd="0" presId="urn:microsoft.com/office/officeart/2008/layout/LinedList"/>
    <dgm:cxn modelId="{162918C6-D131-4D8B-B5B2-0C2AC08CAC30}" type="presParOf" srcId="{018E190B-367E-46FC-AF00-C4C246A86652}" destId="{898C7CDB-F5A1-47E9-A472-8D626C6ED428}" srcOrd="3" destOrd="0" presId="urn:microsoft.com/office/officeart/2008/layout/LinedList"/>
    <dgm:cxn modelId="{394C4F0E-80E8-4B6F-9103-454F9B34B9FB}" type="presParOf" srcId="{90A1C4C4-0361-4483-AAFE-4D61EE2A0E9B}" destId="{9BD93AF1-7982-4E56-97C4-0A4E0CA408B0}" srcOrd="4" destOrd="0" presId="urn:microsoft.com/office/officeart/2008/layout/LinedList"/>
    <dgm:cxn modelId="{C0FBB02B-0400-45B6-B6D6-2864583FE949}" type="presParOf" srcId="{90A1C4C4-0361-4483-AAFE-4D61EE2A0E9B}" destId="{F6264F9E-3D1C-4E69-A39B-07D33A47E6B3}" srcOrd="5" destOrd="0" presId="urn:microsoft.com/office/officeart/2008/layout/LinedList"/>
    <dgm:cxn modelId="{26A54CDE-76AD-45B3-BB3A-D40AC80055E8}" type="presParOf" srcId="{F6264F9E-3D1C-4E69-A39B-07D33A47E6B3}" destId="{4D3D8C2B-B987-4EBF-BFA3-005A1CE40378}" srcOrd="0" destOrd="0" presId="urn:microsoft.com/office/officeart/2008/layout/LinedList"/>
    <dgm:cxn modelId="{B7E64268-4A93-4995-8849-231BA3320A27}" type="presParOf" srcId="{F6264F9E-3D1C-4E69-A39B-07D33A47E6B3}" destId="{7BB9B9FF-20F0-467B-986C-209A74A22584}" srcOrd="1" destOrd="0" presId="urn:microsoft.com/office/officeart/2008/layout/LinedList"/>
    <dgm:cxn modelId="{5935B1FF-C34A-4D83-A15E-0F668A11954A}" type="presParOf" srcId="{7BB9B9FF-20F0-467B-986C-209A74A22584}" destId="{364BD051-82D4-490F-AC16-3BC1EE96FE44}" srcOrd="0" destOrd="0" presId="urn:microsoft.com/office/officeart/2008/layout/LinedList"/>
    <dgm:cxn modelId="{1BA2B05D-CC80-475C-838C-21065AF4E4D9}" type="presParOf" srcId="{7BB9B9FF-20F0-467B-986C-209A74A22584}" destId="{EED7EC10-6B1B-4BC0-853B-A776B71A9EDD}" srcOrd="1" destOrd="0" presId="urn:microsoft.com/office/officeart/2008/layout/LinedList"/>
    <dgm:cxn modelId="{68EB8E95-1995-4AE8-8F20-0BC2F2DCE8C1}" type="presParOf" srcId="{EED7EC10-6B1B-4BC0-853B-A776B71A9EDD}" destId="{4082FB09-773A-450B-B66E-7605FD0F3D26}" srcOrd="0" destOrd="0" presId="urn:microsoft.com/office/officeart/2008/layout/LinedList"/>
    <dgm:cxn modelId="{DF5F2071-E8EF-4C70-823E-FED1EE358B07}" type="presParOf" srcId="{EED7EC10-6B1B-4BC0-853B-A776B71A9EDD}" destId="{AC150B21-7B3B-443B-AB66-676891CD5F70}" srcOrd="1" destOrd="0" presId="urn:microsoft.com/office/officeart/2008/layout/LinedList"/>
    <dgm:cxn modelId="{0B54E3AA-80CA-4687-A398-E7D0D2241D91}" type="presParOf" srcId="{EED7EC10-6B1B-4BC0-853B-A776B71A9EDD}" destId="{7C4E810B-9616-4678-9F75-17922305CC90}" srcOrd="2" destOrd="0" presId="urn:microsoft.com/office/officeart/2008/layout/LinedList"/>
    <dgm:cxn modelId="{2C9F284C-4757-4BF5-930D-97E11C7472B5}" type="presParOf" srcId="{7BB9B9FF-20F0-467B-986C-209A74A22584}" destId="{EC0C3FDA-84CA-4150-94AE-E869A60C4259}" srcOrd="2" destOrd="0" presId="urn:microsoft.com/office/officeart/2008/layout/LinedList"/>
    <dgm:cxn modelId="{62B8F778-6BC4-4BB9-A491-D8FB1F26D4CB}" type="presParOf" srcId="{7BB9B9FF-20F0-467B-986C-209A74A22584}" destId="{82DC627E-F519-413A-99AD-E63F3F75758B}" srcOrd="3" destOrd="0" presId="urn:microsoft.com/office/officeart/2008/layout/LinedList"/>
    <dgm:cxn modelId="{56877196-2AF9-4571-8180-75EB54D384F3}" type="presParOf" srcId="{90A1C4C4-0361-4483-AAFE-4D61EE2A0E9B}" destId="{0D02CC85-3842-4080-8226-DDBAF0A0E9A2}" srcOrd="6" destOrd="0" presId="urn:microsoft.com/office/officeart/2008/layout/LinedList"/>
    <dgm:cxn modelId="{4295C6B5-474D-4B55-A06A-314956663177}" type="presParOf" srcId="{90A1C4C4-0361-4483-AAFE-4D61EE2A0E9B}" destId="{B65AC654-EF83-4493-8256-FEB1020AF8F0}" srcOrd="7" destOrd="0" presId="urn:microsoft.com/office/officeart/2008/layout/LinedList"/>
    <dgm:cxn modelId="{1C13AFC0-6ACD-4551-8468-E501E72B2679}" type="presParOf" srcId="{B65AC654-EF83-4493-8256-FEB1020AF8F0}" destId="{1B1205E9-A6BF-4E5A-BE21-9CCD22DC2B86}" srcOrd="0" destOrd="0" presId="urn:microsoft.com/office/officeart/2008/layout/LinedList"/>
    <dgm:cxn modelId="{F8F89598-E7B9-4893-BAEE-00D464CBB1F7}" type="presParOf" srcId="{B65AC654-EF83-4493-8256-FEB1020AF8F0}" destId="{E27C8534-D1ED-4E2A-B27A-9182DD87B861}" srcOrd="1" destOrd="0" presId="urn:microsoft.com/office/officeart/2008/layout/LinedList"/>
    <dgm:cxn modelId="{1DD3F180-29D4-4A67-8C61-A5B1CA3BB07F}" type="presParOf" srcId="{E27C8534-D1ED-4E2A-B27A-9182DD87B861}" destId="{C29E06BA-14E6-47E3-A31C-F6B43C3035AE}" srcOrd="0" destOrd="0" presId="urn:microsoft.com/office/officeart/2008/layout/LinedList"/>
    <dgm:cxn modelId="{3DD2D2F5-B202-41A2-B8C7-6D773633FCE4}" type="presParOf" srcId="{E27C8534-D1ED-4E2A-B27A-9182DD87B861}" destId="{38CE071B-697A-4264-B8AD-A9F41B9A8E17}" srcOrd="1" destOrd="0" presId="urn:microsoft.com/office/officeart/2008/layout/LinedList"/>
    <dgm:cxn modelId="{400FF768-692E-43D1-849C-37A82294DE7B}" type="presParOf" srcId="{38CE071B-697A-4264-B8AD-A9F41B9A8E17}" destId="{663F25ED-73B1-4C52-B2F3-DFC9735BF73D}" srcOrd="0" destOrd="0" presId="urn:microsoft.com/office/officeart/2008/layout/LinedList"/>
    <dgm:cxn modelId="{3763FAE3-28C2-424F-A43E-E40DAC092BE4}" type="presParOf" srcId="{38CE071B-697A-4264-B8AD-A9F41B9A8E17}" destId="{211A766F-EFF4-4E45-A950-FA86604EE5F6}" srcOrd="1" destOrd="0" presId="urn:microsoft.com/office/officeart/2008/layout/LinedList"/>
    <dgm:cxn modelId="{586CA209-6639-4CAC-99DE-EEAC0FE3EA3B}" type="presParOf" srcId="{38CE071B-697A-4264-B8AD-A9F41B9A8E17}" destId="{80235072-FEFC-4769-8453-B51C8CECE5B1}" srcOrd="2" destOrd="0" presId="urn:microsoft.com/office/officeart/2008/layout/LinedList"/>
    <dgm:cxn modelId="{A13E0266-7A1D-4F99-85D3-598A091BA6B8}" type="presParOf" srcId="{E27C8534-D1ED-4E2A-B27A-9182DD87B861}" destId="{CD88BEE9-1B93-4D0A-AF78-1E51E3607634}" srcOrd="2" destOrd="0" presId="urn:microsoft.com/office/officeart/2008/layout/LinedList"/>
    <dgm:cxn modelId="{B03CAE04-696C-43A8-AC39-0E6216208643}" type="presParOf" srcId="{E27C8534-D1ED-4E2A-B27A-9182DD87B861}" destId="{2190B8F1-ABF8-4148-9E02-3624B689AB0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72823"/>
          <a:ext cx="5918184" cy="14320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This week lecture will cover the following CLO’s:</a:t>
          </a:r>
        </a:p>
      </dsp:txBody>
      <dsp:txXfrm>
        <a:off x="69908" y="342731"/>
        <a:ext cx="5778368" cy="1292264"/>
      </dsp:txXfrm>
    </dsp:sp>
    <dsp:sp modelId="{A025C2BC-3DF5-4B12-A043-E15E948A1F98}">
      <dsp:nvSpPr>
        <dsp:cNvPr id="0" name=""/>
        <dsp:cNvSpPr/>
      </dsp:nvSpPr>
      <dsp:spPr>
        <a:xfrm>
          <a:off x="0" y="1704904"/>
          <a:ext cx="5918184" cy="3427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45720" rIns="256032" bIns="45720" numCol="1" spcCol="1270" anchor="t" anchorCtr="0">
          <a:noAutofit/>
        </a:bodyPr>
        <a:lstStyle/>
        <a:p>
          <a:pPr marL="285750" lvl="1" indent="-285750" algn="just" defTabSz="1244600">
            <a:lnSpc>
              <a:spcPct val="90000"/>
            </a:lnSpc>
            <a:spcBef>
              <a:spcPct val="0"/>
            </a:spcBef>
            <a:spcAft>
              <a:spcPct val="20000"/>
            </a:spcAft>
            <a:buChar char="•"/>
          </a:pPr>
          <a:r>
            <a:rPr lang="en-US" sz="2800" b="1" kern="1200" dirty="0"/>
            <a:t>CLO1: Discuss</a:t>
          </a:r>
          <a:r>
            <a:rPr lang="en-US" sz="2800" b="0" kern="1200" dirty="0"/>
            <a:t> the key concepts in the field of artificial intelligence</a:t>
          </a:r>
          <a:endParaRPr lang="en-US" sz="2800" kern="1200" dirty="0"/>
        </a:p>
        <a:p>
          <a:pPr marL="285750" lvl="1" indent="-285750" algn="just" defTabSz="1244600">
            <a:lnSpc>
              <a:spcPct val="90000"/>
            </a:lnSpc>
            <a:spcBef>
              <a:spcPct val="0"/>
            </a:spcBef>
            <a:spcAft>
              <a:spcPct val="20000"/>
            </a:spcAft>
            <a:buChar char="•"/>
          </a:pPr>
          <a:r>
            <a:rPr lang="en-US" sz="2800" b="1" kern="1200" dirty="0"/>
            <a:t>CLO 2: Implement </a:t>
          </a:r>
          <a:r>
            <a:rPr lang="en-US" sz="2800" kern="1200" dirty="0"/>
            <a:t>artificial intelligence techniques and case studies</a:t>
          </a:r>
        </a:p>
        <a:p>
          <a:pPr marL="285750" lvl="1" indent="-285750" algn="just" defTabSz="1244600">
            <a:lnSpc>
              <a:spcPct val="90000"/>
            </a:lnSpc>
            <a:spcBef>
              <a:spcPct val="0"/>
            </a:spcBef>
            <a:spcAft>
              <a:spcPct val="20000"/>
            </a:spcAft>
            <a:buChar char="•"/>
          </a:pPr>
          <a:r>
            <a:rPr lang="en-US" sz="2800" b="1" kern="1200" dirty="0"/>
            <a:t>CLO 3: Model</a:t>
          </a:r>
          <a:r>
            <a:rPr lang="en-US" sz="2800" kern="1200" dirty="0"/>
            <a:t> an automated solution for given problems using artificial intelligence paradigm.</a:t>
          </a:r>
        </a:p>
      </dsp:txBody>
      <dsp:txXfrm>
        <a:off x="0" y="1704904"/>
        <a:ext cx="5918184" cy="3427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F2C74F-4339-4222-8D0B-027924F6D9B2}">
      <dsp:nvSpPr>
        <dsp:cNvPr id="0" name=""/>
        <dsp:cNvSpPr/>
      </dsp:nvSpPr>
      <dsp:spPr>
        <a:xfrm>
          <a:off x="0" y="369570"/>
          <a:ext cx="6900512" cy="6300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634FEA-E57E-4D6F-893E-229B673C885C}">
      <dsp:nvSpPr>
        <dsp:cNvPr id="0" name=""/>
        <dsp:cNvSpPr/>
      </dsp:nvSpPr>
      <dsp:spPr>
        <a:xfrm>
          <a:off x="345025" y="570"/>
          <a:ext cx="4830358" cy="7380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111250">
            <a:lnSpc>
              <a:spcPct val="90000"/>
            </a:lnSpc>
            <a:spcBef>
              <a:spcPct val="0"/>
            </a:spcBef>
            <a:spcAft>
              <a:spcPct val="35000"/>
            </a:spcAft>
            <a:buNone/>
          </a:pPr>
          <a:r>
            <a:rPr lang="en-US" sz="2500" kern="1200"/>
            <a:t>NLTK Library</a:t>
          </a:r>
        </a:p>
      </dsp:txBody>
      <dsp:txXfrm>
        <a:off x="381051" y="36596"/>
        <a:ext cx="4758306" cy="665948"/>
      </dsp:txXfrm>
    </dsp:sp>
    <dsp:sp modelId="{75787C04-CF8E-4D89-9882-533D3C19858E}">
      <dsp:nvSpPr>
        <dsp:cNvPr id="0" name=""/>
        <dsp:cNvSpPr/>
      </dsp:nvSpPr>
      <dsp:spPr>
        <a:xfrm>
          <a:off x="0" y="1503570"/>
          <a:ext cx="6900512" cy="6300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BB8D48-F9F7-4426-8857-413C0F828D5F}">
      <dsp:nvSpPr>
        <dsp:cNvPr id="0" name=""/>
        <dsp:cNvSpPr/>
      </dsp:nvSpPr>
      <dsp:spPr>
        <a:xfrm>
          <a:off x="345025" y="1134570"/>
          <a:ext cx="4830358" cy="7380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111250">
            <a:lnSpc>
              <a:spcPct val="90000"/>
            </a:lnSpc>
            <a:spcBef>
              <a:spcPct val="0"/>
            </a:spcBef>
            <a:spcAft>
              <a:spcPct val="35000"/>
            </a:spcAft>
            <a:buNone/>
          </a:pPr>
          <a:r>
            <a:rPr lang="en-US" sz="2500" kern="1200"/>
            <a:t>Spacy</a:t>
          </a:r>
        </a:p>
      </dsp:txBody>
      <dsp:txXfrm>
        <a:off x="381051" y="1170596"/>
        <a:ext cx="4758306" cy="665948"/>
      </dsp:txXfrm>
    </dsp:sp>
    <dsp:sp modelId="{3AB8CC35-3145-483D-A877-F5062DAF0F37}">
      <dsp:nvSpPr>
        <dsp:cNvPr id="0" name=""/>
        <dsp:cNvSpPr/>
      </dsp:nvSpPr>
      <dsp:spPr>
        <a:xfrm>
          <a:off x="0" y="2637570"/>
          <a:ext cx="6900512" cy="6300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EE97E8-001F-4689-BFB9-F4366FE6551F}">
      <dsp:nvSpPr>
        <dsp:cNvPr id="0" name=""/>
        <dsp:cNvSpPr/>
      </dsp:nvSpPr>
      <dsp:spPr>
        <a:xfrm>
          <a:off x="345025" y="2268570"/>
          <a:ext cx="4830358" cy="7380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111250">
            <a:lnSpc>
              <a:spcPct val="90000"/>
            </a:lnSpc>
            <a:spcBef>
              <a:spcPct val="0"/>
            </a:spcBef>
            <a:spcAft>
              <a:spcPct val="35000"/>
            </a:spcAft>
            <a:buNone/>
          </a:pPr>
          <a:r>
            <a:rPr lang="en-US" sz="2500" kern="1200"/>
            <a:t>BERT tokenizer</a:t>
          </a:r>
        </a:p>
      </dsp:txBody>
      <dsp:txXfrm>
        <a:off x="381051" y="2304596"/>
        <a:ext cx="4758306" cy="665948"/>
      </dsp:txXfrm>
    </dsp:sp>
    <dsp:sp modelId="{340984B9-6AEA-49B2-9812-42F67E3BE654}">
      <dsp:nvSpPr>
        <dsp:cNvPr id="0" name=""/>
        <dsp:cNvSpPr/>
      </dsp:nvSpPr>
      <dsp:spPr>
        <a:xfrm>
          <a:off x="0" y="3771570"/>
          <a:ext cx="6900512" cy="6300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702ECE-2C62-451A-90D7-05EDC05ABB20}">
      <dsp:nvSpPr>
        <dsp:cNvPr id="0" name=""/>
        <dsp:cNvSpPr/>
      </dsp:nvSpPr>
      <dsp:spPr>
        <a:xfrm>
          <a:off x="345025" y="3402570"/>
          <a:ext cx="4830358" cy="7380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111250">
            <a:lnSpc>
              <a:spcPct val="90000"/>
            </a:lnSpc>
            <a:spcBef>
              <a:spcPct val="0"/>
            </a:spcBef>
            <a:spcAft>
              <a:spcPct val="35000"/>
            </a:spcAft>
            <a:buNone/>
          </a:pPr>
          <a:r>
            <a:rPr lang="en-US" sz="2500" kern="1200"/>
            <a:t>Byte-Pair Encoding</a:t>
          </a:r>
        </a:p>
      </dsp:txBody>
      <dsp:txXfrm>
        <a:off x="381051" y="3438596"/>
        <a:ext cx="4758306" cy="665948"/>
      </dsp:txXfrm>
    </dsp:sp>
    <dsp:sp modelId="{5C62DA63-E020-404C-8262-8E152865FAA1}">
      <dsp:nvSpPr>
        <dsp:cNvPr id="0" name=""/>
        <dsp:cNvSpPr/>
      </dsp:nvSpPr>
      <dsp:spPr>
        <a:xfrm>
          <a:off x="0" y="4905570"/>
          <a:ext cx="6900512" cy="6300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892099-27F1-44B2-9B5C-4E207FA21485}">
      <dsp:nvSpPr>
        <dsp:cNvPr id="0" name=""/>
        <dsp:cNvSpPr/>
      </dsp:nvSpPr>
      <dsp:spPr>
        <a:xfrm>
          <a:off x="345025" y="4536570"/>
          <a:ext cx="4830358" cy="73800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111250">
            <a:lnSpc>
              <a:spcPct val="90000"/>
            </a:lnSpc>
            <a:spcBef>
              <a:spcPct val="0"/>
            </a:spcBef>
            <a:spcAft>
              <a:spcPct val="35000"/>
            </a:spcAft>
            <a:buNone/>
          </a:pPr>
          <a:r>
            <a:rPr lang="en-US" sz="2500" kern="1200"/>
            <a:t>Sentence Piece</a:t>
          </a:r>
        </a:p>
      </dsp:txBody>
      <dsp:txXfrm>
        <a:off x="381051" y="4572596"/>
        <a:ext cx="4758306"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5E4CE-8CA4-440A-BBE0-0C5D0323143D}">
      <dsp:nvSpPr>
        <dsp:cNvPr id="0" name=""/>
        <dsp:cNvSpPr/>
      </dsp:nvSpPr>
      <dsp:spPr>
        <a:xfrm>
          <a:off x="0" y="2703"/>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44596B-62B5-4368-B826-80630235F8FA}">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In natural language processing (NLP), </a:t>
          </a:r>
          <a:r>
            <a:rPr lang="en-US" sz="2800" kern="1200" dirty="0" err="1"/>
            <a:t>stopwords</a:t>
          </a:r>
          <a:r>
            <a:rPr lang="en-US" sz="2800" kern="1200" dirty="0"/>
            <a:t> are frequently filtered out to enhance text analysis and computational efficiency.</a:t>
          </a:r>
        </a:p>
      </dsp:txBody>
      <dsp:txXfrm>
        <a:off x="0" y="2703"/>
        <a:ext cx="6900512" cy="1843578"/>
      </dsp:txXfrm>
    </dsp:sp>
    <dsp:sp modelId="{138AB54A-373F-4E2C-A26A-EE11D0EA72E8}">
      <dsp:nvSpPr>
        <dsp:cNvPr id="0" name=""/>
        <dsp:cNvSpPr/>
      </dsp:nvSpPr>
      <dsp:spPr>
        <a:xfrm>
          <a:off x="0" y="1846281"/>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F096DF-8217-4BB4-B637-ED1D7DEB5A30}">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t>Certain words, like "the," "and," and "is," are thought to be ineffective for communicating important information. </a:t>
          </a:r>
          <a:endParaRPr lang="en-US" sz="2800" kern="1200" dirty="0"/>
        </a:p>
      </dsp:txBody>
      <dsp:txXfrm>
        <a:off x="0" y="1846281"/>
        <a:ext cx="6900512" cy="1843578"/>
      </dsp:txXfrm>
    </dsp:sp>
    <dsp:sp modelId="{86353247-AB40-4618-A5B4-851119781B99}">
      <dsp:nvSpPr>
        <dsp:cNvPr id="0" name=""/>
        <dsp:cNvSpPr/>
      </dsp:nvSpPr>
      <dsp:spPr>
        <a:xfrm>
          <a:off x="0" y="3689859"/>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75BD5-3728-485B-9DEC-9410A0341CA6}">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The goal of removing </a:t>
          </a:r>
          <a:r>
            <a:rPr lang="en-US" sz="2800" kern="1200" dirty="0" err="1"/>
            <a:t>stopwords</a:t>
          </a:r>
          <a:r>
            <a:rPr lang="en-US" sz="2800" kern="1200" dirty="0"/>
            <a:t> is to speed up text processing by eliminating words that do not add much meaning, even though the set of </a:t>
          </a:r>
          <a:r>
            <a:rPr lang="en-US" sz="2800" kern="1200" dirty="0" err="1"/>
            <a:t>stopwords</a:t>
          </a:r>
          <a:r>
            <a:rPr lang="en-US" sz="2800" kern="1200" dirty="0"/>
            <a:t> can vary.</a:t>
          </a:r>
        </a:p>
      </dsp:txBody>
      <dsp:txXfrm>
        <a:off x="0" y="3689859"/>
        <a:ext cx="6900512" cy="18435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B5FADB-455B-4E99-9CBC-A6730F9C895D}">
      <dsp:nvSpPr>
        <dsp:cNvPr id="0" name=""/>
        <dsp:cNvSpPr/>
      </dsp:nvSpPr>
      <dsp:spPr>
        <a:xfrm>
          <a:off x="0" y="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BB388D-75CD-4442-B6CF-C53C14502440}">
      <dsp:nvSpPr>
        <dsp:cNvPr id="0" name=""/>
        <dsp:cNvSpPr/>
      </dsp:nvSpPr>
      <dsp:spPr>
        <a:xfrm>
          <a:off x="0" y="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Common Stopwords: </a:t>
          </a:r>
          <a:r>
            <a:rPr lang="en-US" sz="2400" kern="1200"/>
            <a:t>These are the most frequently occurring words in a language and are often removed during text preprocessing. Examples include "the," "is," "in," "for," "where," "when," "to," "at," etc.</a:t>
          </a:r>
        </a:p>
      </dsp:txBody>
      <dsp:txXfrm>
        <a:off x="0" y="0"/>
        <a:ext cx="6900512" cy="2768070"/>
      </dsp:txXfrm>
    </dsp:sp>
    <dsp:sp modelId="{B4AB5925-B38A-449D-986C-5744E2B4FF66}">
      <dsp:nvSpPr>
        <dsp:cNvPr id="0" name=""/>
        <dsp:cNvSpPr/>
      </dsp:nvSpPr>
      <dsp:spPr>
        <a:xfrm>
          <a:off x="0" y="276807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B3B138-4DB4-41A1-AD31-28977EEE7FFA}">
      <dsp:nvSpPr>
        <dsp:cNvPr id="0" name=""/>
        <dsp:cNvSpPr/>
      </dsp:nvSpPr>
      <dsp:spPr>
        <a:xfrm>
          <a:off x="0" y="276807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a:t>Custom Stopwords: </a:t>
          </a:r>
          <a:r>
            <a:rPr lang="en-US" sz="2400" kern="1200"/>
            <a:t>Depending on the specific task or domain, additional words may be considered as stopwords. These could be domain-specific terms that don't contribute much to the overall meaning. For example, in a medical context, words like "patient" or "treatment" might be considered as custom stopwords.</a:t>
          </a:r>
        </a:p>
      </dsp:txBody>
      <dsp:txXfrm>
        <a:off x="0" y="2768070"/>
        <a:ext cx="6900512" cy="27680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F1C4F-328C-4CF2-8047-9E32A6F3113B}">
      <dsp:nvSpPr>
        <dsp:cNvPr id="0" name=""/>
        <dsp:cNvSpPr/>
      </dsp:nvSpPr>
      <dsp:spPr>
        <a:xfrm>
          <a:off x="0" y="2703"/>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CB73C7-C6B1-4E8A-80B9-A947328FD3E7}">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Numerical Stopwords: </a:t>
          </a:r>
          <a:r>
            <a:rPr lang="en-US" sz="2000" kern="1200"/>
            <a:t>Numbers and numeric characters may be treated as stopwords in certain cases, especially when the analysis is focused on the meaning of the text rather than specific numerical values.</a:t>
          </a:r>
        </a:p>
      </dsp:txBody>
      <dsp:txXfrm>
        <a:off x="0" y="2703"/>
        <a:ext cx="6900512" cy="1843578"/>
      </dsp:txXfrm>
    </dsp:sp>
    <dsp:sp modelId="{2D789A52-6359-4D84-B899-6F5E43F4A558}">
      <dsp:nvSpPr>
        <dsp:cNvPr id="0" name=""/>
        <dsp:cNvSpPr/>
      </dsp:nvSpPr>
      <dsp:spPr>
        <a:xfrm>
          <a:off x="0" y="1846281"/>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9E819A-0205-4BA1-96D5-76D2ED774F23}">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Single-Character Stopwords: </a:t>
          </a:r>
          <a:r>
            <a:rPr lang="en-US" sz="2000" kern="1200"/>
            <a:t>Single characters, such as "a," "I," "s," or "x," may be considered stopwords, particularly in cases where they don't convey much meaning on their own.</a:t>
          </a:r>
        </a:p>
      </dsp:txBody>
      <dsp:txXfrm>
        <a:off x="0" y="1846281"/>
        <a:ext cx="6900512" cy="1843578"/>
      </dsp:txXfrm>
    </dsp:sp>
    <dsp:sp modelId="{48C6B4DA-3B2A-4181-8652-12B3B94F9EFF}">
      <dsp:nvSpPr>
        <dsp:cNvPr id="0" name=""/>
        <dsp:cNvSpPr/>
      </dsp:nvSpPr>
      <dsp:spPr>
        <a:xfrm>
          <a:off x="0" y="3689859"/>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F2BF32-3641-4469-A34D-526725403FC2}">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Contextual Stopwords: </a:t>
          </a:r>
          <a:r>
            <a:rPr lang="en-US" sz="2000" kern="1200"/>
            <a:t>Words that are stopwords in one context but meaningful in another may be considered as contextual stopwords. For instance, the word "will" might be a stopword in the context of general language processing but could be important in predicting future events.</a:t>
          </a:r>
        </a:p>
      </dsp:txBody>
      <dsp:txXfrm>
        <a:off x="0" y="3689859"/>
        <a:ext cx="6900512" cy="18435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27E18-3C49-4F52-AB15-ED26A12D78F2}">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9367FB-1D86-4895-80C9-21DFEC716268}">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84485C-E104-4E05-8EDC-E5361A918C07}">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it-IT" sz="2400" kern="1200" dirty="0"/>
            <a:t>Machine Translation (e.g., Google Translate).</a:t>
          </a:r>
          <a:endParaRPr lang="en-US" sz="2400" kern="1200" dirty="0"/>
        </a:p>
      </dsp:txBody>
      <dsp:txXfrm>
        <a:off x="836323" y="3399"/>
        <a:ext cx="9679276" cy="724089"/>
      </dsp:txXfrm>
    </dsp:sp>
    <dsp:sp modelId="{FE8A7BA3-DFD8-4B98-98DB-58966DB943F6}">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B7B650-EAA1-48C5-A3D9-20EFFD0F1233}">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D513F5-2D67-4DA7-A628-0EA2C79B2604}">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it-IT" sz="2400" kern="1200" dirty="0"/>
            <a:t>Virtual Assistants (e.g., Alexa, Siri).</a:t>
          </a:r>
          <a:endParaRPr lang="en-US" sz="2400" kern="1200" dirty="0"/>
        </a:p>
      </dsp:txBody>
      <dsp:txXfrm>
        <a:off x="836323" y="908511"/>
        <a:ext cx="9679276" cy="724089"/>
      </dsp:txXfrm>
    </dsp:sp>
    <dsp:sp modelId="{A9E1FB7E-8734-4594-BFE1-BA7D7F726119}">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16794C-AABD-40C4-8CA4-3E5551912157}">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34276D-8CA6-40B6-8646-AE90729ABFBC}">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it-IT" sz="2400" kern="1200" dirty="0"/>
            <a:t>Sentiment Analysis (e.g., product reviews).</a:t>
          </a:r>
          <a:endParaRPr lang="en-US" sz="2400" kern="1200" dirty="0"/>
        </a:p>
      </dsp:txBody>
      <dsp:txXfrm>
        <a:off x="836323" y="1813624"/>
        <a:ext cx="9679276" cy="724089"/>
      </dsp:txXfrm>
    </dsp:sp>
    <dsp:sp modelId="{B3D55B94-17BE-4C0B-8C6C-736409DD7192}">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19374E-A967-43FE-8539-6B668D72513A}">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154B62-B1F6-43F1-AC1E-532FD7664248}">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89000">
            <a:lnSpc>
              <a:spcPct val="100000"/>
            </a:lnSpc>
            <a:spcBef>
              <a:spcPct val="0"/>
            </a:spcBef>
            <a:spcAft>
              <a:spcPct val="35000"/>
            </a:spcAft>
            <a:buNone/>
          </a:pPr>
          <a:r>
            <a:rPr lang="it-IT" sz="2000" kern="1200" dirty="0"/>
            <a:t>Information Retrieval (e.g., search engines).</a:t>
          </a:r>
          <a:endParaRPr lang="en-US" sz="2000" kern="1200" dirty="0"/>
        </a:p>
      </dsp:txBody>
      <dsp:txXfrm>
        <a:off x="836323" y="2718736"/>
        <a:ext cx="9679276" cy="724089"/>
      </dsp:txXfrm>
    </dsp:sp>
    <dsp:sp modelId="{E766760D-E4EF-442C-85C6-50C17C4E8C96}">
      <dsp:nvSpPr>
        <dsp:cNvPr id="0" name=""/>
        <dsp:cNvSpPr/>
      </dsp:nvSpPr>
      <dsp:spPr>
        <a:xfrm>
          <a:off x="0" y="354970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AC5385-8DCF-4ED4-9A8F-A3C4C840F3D8}">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CDC0A5-5DD2-4C89-A430-6F8956F877BD}">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it-IT" sz="2400" kern="1200" dirty="0"/>
            <a:t>Text Summarization (e.g., summarizing articles).</a:t>
          </a:r>
          <a:endParaRPr lang="en-US" sz="2400" kern="1200" dirty="0"/>
        </a:p>
      </dsp:txBody>
      <dsp:txXfrm>
        <a:off x="836323" y="3623848"/>
        <a:ext cx="9679276" cy="7240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8873E-955F-4DCB-9560-9434C3E8A9E6}">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F3D12B-8851-43DB-A1DB-9DCE4177FB45}">
      <dsp:nvSpPr>
        <dsp:cNvPr id="0" name=""/>
        <dsp:cNvSpPr/>
      </dsp:nvSpPr>
      <dsp:spPr>
        <a:xfrm>
          <a:off x="0" y="0"/>
          <a:ext cx="2103120" cy="1176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it-IT" sz="2200" b="1" kern="1200"/>
            <a:t>Ambiguity</a:t>
          </a:r>
          <a:endParaRPr lang="en-US" sz="2200" kern="1200"/>
        </a:p>
      </dsp:txBody>
      <dsp:txXfrm>
        <a:off x="0" y="0"/>
        <a:ext cx="2103120" cy="1176627"/>
      </dsp:txXfrm>
    </dsp:sp>
    <dsp:sp modelId="{E086AF8D-131D-48AA-8026-CBC305D0E2A8}">
      <dsp:nvSpPr>
        <dsp:cNvPr id="0" name=""/>
        <dsp:cNvSpPr/>
      </dsp:nvSpPr>
      <dsp:spPr>
        <a:xfrm>
          <a:off x="2260854" y="53430"/>
          <a:ext cx="8254746" cy="1068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it-IT" sz="3000" kern="1200"/>
            <a:t>Example: "He saw the man with the telescope" (Who has the telescope?).</a:t>
          </a:r>
          <a:endParaRPr lang="en-US" sz="3000" kern="1200"/>
        </a:p>
      </dsp:txBody>
      <dsp:txXfrm>
        <a:off x="2260854" y="53430"/>
        <a:ext cx="8254746" cy="1068616"/>
      </dsp:txXfrm>
    </dsp:sp>
    <dsp:sp modelId="{94115F98-6B40-4B0B-B6AF-BC112EB57EFA}">
      <dsp:nvSpPr>
        <dsp:cNvPr id="0" name=""/>
        <dsp:cNvSpPr/>
      </dsp:nvSpPr>
      <dsp:spPr>
        <a:xfrm>
          <a:off x="2103120" y="1122047"/>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7432ED-9364-47E5-AA52-3001A85999AF}">
      <dsp:nvSpPr>
        <dsp:cNvPr id="0" name=""/>
        <dsp:cNvSpPr/>
      </dsp:nvSpPr>
      <dsp:spPr>
        <a:xfrm>
          <a:off x="0" y="117662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D36E76-E744-46B2-ABD6-2281CE831026}">
      <dsp:nvSpPr>
        <dsp:cNvPr id="0" name=""/>
        <dsp:cNvSpPr/>
      </dsp:nvSpPr>
      <dsp:spPr>
        <a:xfrm>
          <a:off x="0" y="1176627"/>
          <a:ext cx="2103120" cy="1176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it-IT" sz="2200" b="1" kern="1200"/>
            <a:t>Context Understanding</a:t>
          </a:r>
          <a:endParaRPr lang="en-US" sz="2200" kern="1200"/>
        </a:p>
      </dsp:txBody>
      <dsp:txXfrm>
        <a:off x="0" y="1176627"/>
        <a:ext cx="2103120" cy="1176627"/>
      </dsp:txXfrm>
    </dsp:sp>
    <dsp:sp modelId="{EE308C53-B11E-4654-8383-C63F58CC6857}">
      <dsp:nvSpPr>
        <dsp:cNvPr id="0" name=""/>
        <dsp:cNvSpPr/>
      </dsp:nvSpPr>
      <dsp:spPr>
        <a:xfrm>
          <a:off x="2260854" y="1230058"/>
          <a:ext cx="8254746" cy="1068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it-IT" sz="3000" kern="1200"/>
            <a:t>Example: "Bank" (Riverbank vs. Financial bank).</a:t>
          </a:r>
          <a:endParaRPr lang="en-US" sz="3000" kern="1200"/>
        </a:p>
      </dsp:txBody>
      <dsp:txXfrm>
        <a:off x="2260854" y="1230058"/>
        <a:ext cx="8254746" cy="1068616"/>
      </dsp:txXfrm>
    </dsp:sp>
    <dsp:sp modelId="{85FBB745-400F-4F94-89E1-A5EB57E42047}">
      <dsp:nvSpPr>
        <dsp:cNvPr id="0" name=""/>
        <dsp:cNvSpPr/>
      </dsp:nvSpPr>
      <dsp:spPr>
        <a:xfrm>
          <a:off x="2103120" y="2298674"/>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D93AF1-7982-4E56-97C4-0A4E0CA408B0}">
      <dsp:nvSpPr>
        <dsp:cNvPr id="0" name=""/>
        <dsp:cNvSpPr/>
      </dsp:nvSpPr>
      <dsp:spPr>
        <a:xfrm>
          <a:off x="0" y="235325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3D8C2B-B987-4EBF-BFA3-005A1CE40378}">
      <dsp:nvSpPr>
        <dsp:cNvPr id="0" name=""/>
        <dsp:cNvSpPr/>
      </dsp:nvSpPr>
      <dsp:spPr>
        <a:xfrm>
          <a:off x="0" y="2353254"/>
          <a:ext cx="2103120" cy="1176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it-IT" sz="2200" b="1" kern="1200"/>
            <a:t>Multilingual Texts</a:t>
          </a:r>
          <a:endParaRPr lang="en-US" sz="2200" kern="1200"/>
        </a:p>
      </dsp:txBody>
      <dsp:txXfrm>
        <a:off x="0" y="2353254"/>
        <a:ext cx="2103120" cy="1176627"/>
      </dsp:txXfrm>
    </dsp:sp>
    <dsp:sp modelId="{AC150B21-7B3B-443B-AB66-676891CD5F70}">
      <dsp:nvSpPr>
        <dsp:cNvPr id="0" name=""/>
        <dsp:cNvSpPr/>
      </dsp:nvSpPr>
      <dsp:spPr>
        <a:xfrm>
          <a:off x="2260854" y="2406685"/>
          <a:ext cx="8254746" cy="1068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it-IT" sz="3000" kern="1200"/>
            <a:t>Processing multiple languages effectively.</a:t>
          </a:r>
          <a:endParaRPr lang="en-US" sz="3000" kern="1200"/>
        </a:p>
      </dsp:txBody>
      <dsp:txXfrm>
        <a:off x="2260854" y="2406685"/>
        <a:ext cx="8254746" cy="1068616"/>
      </dsp:txXfrm>
    </dsp:sp>
    <dsp:sp modelId="{EC0C3FDA-84CA-4150-94AE-E869A60C4259}">
      <dsp:nvSpPr>
        <dsp:cNvPr id="0" name=""/>
        <dsp:cNvSpPr/>
      </dsp:nvSpPr>
      <dsp:spPr>
        <a:xfrm>
          <a:off x="2103120" y="3475301"/>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02CC85-3842-4080-8226-DDBAF0A0E9A2}">
      <dsp:nvSpPr>
        <dsp:cNvPr id="0" name=""/>
        <dsp:cNvSpPr/>
      </dsp:nvSpPr>
      <dsp:spPr>
        <a:xfrm>
          <a:off x="0" y="352988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1205E9-A6BF-4E5A-BE21-9CCD22DC2B86}">
      <dsp:nvSpPr>
        <dsp:cNvPr id="0" name=""/>
        <dsp:cNvSpPr/>
      </dsp:nvSpPr>
      <dsp:spPr>
        <a:xfrm>
          <a:off x="0" y="3529881"/>
          <a:ext cx="2103120" cy="1176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it-IT" sz="2200" b="1" kern="1200"/>
            <a:t>Noisy Data</a:t>
          </a:r>
          <a:endParaRPr lang="en-US" sz="2200" kern="1200"/>
        </a:p>
      </dsp:txBody>
      <dsp:txXfrm>
        <a:off x="0" y="3529881"/>
        <a:ext cx="2103120" cy="1176627"/>
      </dsp:txXfrm>
    </dsp:sp>
    <dsp:sp modelId="{211A766F-EFF4-4E45-A950-FA86604EE5F6}">
      <dsp:nvSpPr>
        <dsp:cNvPr id="0" name=""/>
        <dsp:cNvSpPr/>
      </dsp:nvSpPr>
      <dsp:spPr>
        <a:xfrm>
          <a:off x="2260854" y="3583312"/>
          <a:ext cx="8254746" cy="1068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it-IT" sz="3000" kern="1200"/>
            <a:t>Slang, typos, and informal text.</a:t>
          </a:r>
          <a:endParaRPr lang="en-US" sz="3000" kern="1200"/>
        </a:p>
      </dsp:txBody>
      <dsp:txXfrm>
        <a:off x="2260854" y="3583312"/>
        <a:ext cx="8254746" cy="1068616"/>
      </dsp:txXfrm>
    </dsp:sp>
    <dsp:sp modelId="{CD88BEE9-1B93-4D0A-AF78-1E51E3607634}">
      <dsp:nvSpPr>
        <dsp:cNvPr id="0" name=""/>
        <dsp:cNvSpPr/>
      </dsp:nvSpPr>
      <dsp:spPr>
        <a:xfrm>
          <a:off x="2103120" y="4651929"/>
          <a:ext cx="841248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22099-AF8A-4701-B810-968115DD4CD5}" type="datetimeFigureOut">
              <a:rPr lang="en-PK" smtClean="0"/>
              <a:t>01/28/2026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2CE8F-AF87-4DC9-8931-B46FD2A57B7E}" type="slidenum">
              <a:rPr lang="en-PK" smtClean="0"/>
              <a:t>‹#›</a:t>
            </a:fld>
            <a:endParaRPr lang="en-PK"/>
          </a:p>
        </p:txBody>
      </p:sp>
    </p:spTree>
    <p:extLst>
      <p:ext uri="{BB962C8B-B14F-4D97-AF65-F5344CB8AC3E}">
        <p14:creationId xmlns:p14="http://schemas.microsoft.com/office/powerpoint/2010/main" val="378852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4</a:t>
            </a:fld>
            <a:endParaRPr lang="en-PK"/>
          </a:p>
        </p:txBody>
      </p:sp>
    </p:spTree>
    <p:extLst>
      <p:ext uri="{BB962C8B-B14F-4D97-AF65-F5344CB8AC3E}">
        <p14:creationId xmlns:p14="http://schemas.microsoft.com/office/powerpoint/2010/main" val="443391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6</a:t>
            </a:fld>
            <a:endParaRPr lang="en-PK"/>
          </a:p>
        </p:txBody>
      </p:sp>
    </p:spTree>
    <p:extLst>
      <p:ext uri="{BB962C8B-B14F-4D97-AF65-F5344CB8AC3E}">
        <p14:creationId xmlns:p14="http://schemas.microsoft.com/office/powerpoint/2010/main" val="3574666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E27B-BD38-3781-9075-0996ACA73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05D43-9A9D-28B5-3A29-480CA1256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EA10A-DBEA-1939-F6B3-0D936DFA7A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EB2D91-DC19-AFEB-75F2-5D520BA66F01}"/>
              </a:ext>
            </a:extLst>
          </p:cNvPr>
          <p:cNvSpPr>
            <a:spLocks noGrp="1"/>
          </p:cNvSpPr>
          <p:nvPr>
            <p:ph type="sldNum" sz="quarter" idx="5"/>
          </p:nvPr>
        </p:nvSpPr>
        <p:spPr/>
        <p:txBody>
          <a:bodyPr/>
          <a:lstStyle/>
          <a:p>
            <a:fld id="{8A22CE8F-AF87-4DC9-8931-B46FD2A57B7E}" type="slidenum">
              <a:rPr lang="en-PK" smtClean="0"/>
              <a:t>7</a:t>
            </a:fld>
            <a:endParaRPr lang="en-PK"/>
          </a:p>
        </p:txBody>
      </p:sp>
    </p:spTree>
    <p:extLst>
      <p:ext uri="{BB962C8B-B14F-4D97-AF65-F5344CB8AC3E}">
        <p14:creationId xmlns:p14="http://schemas.microsoft.com/office/powerpoint/2010/main" val="2274018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2E74-C664-7733-4B86-F05826A60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BBA94-B958-3A4C-FDC9-CB090C639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363C2-92AB-2F21-7319-90C446C9E8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4C2923-ECC3-59EC-21B9-45D43C12E401}"/>
              </a:ext>
            </a:extLst>
          </p:cNvPr>
          <p:cNvSpPr>
            <a:spLocks noGrp="1"/>
          </p:cNvSpPr>
          <p:nvPr>
            <p:ph type="sldNum" sz="quarter" idx="5"/>
          </p:nvPr>
        </p:nvSpPr>
        <p:spPr/>
        <p:txBody>
          <a:bodyPr/>
          <a:lstStyle/>
          <a:p>
            <a:fld id="{8A22CE8F-AF87-4DC9-8931-B46FD2A57B7E}" type="slidenum">
              <a:rPr lang="en-PK" smtClean="0"/>
              <a:t>8</a:t>
            </a:fld>
            <a:endParaRPr lang="en-PK"/>
          </a:p>
        </p:txBody>
      </p:sp>
    </p:spTree>
    <p:extLst>
      <p:ext uri="{BB962C8B-B14F-4D97-AF65-F5344CB8AC3E}">
        <p14:creationId xmlns:p14="http://schemas.microsoft.com/office/powerpoint/2010/main" val="1430802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B07E9-B5DB-D177-432B-20A668828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9475F-7C04-6153-1969-35895E702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D2FB13-282E-2ECC-5D4C-1AF545B036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2F07B-82BB-24B8-A452-E149745D349A}"/>
              </a:ext>
            </a:extLst>
          </p:cNvPr>
          <p:cNvSpPr>
            <a:spLocks noGrp="1"/>
          </p:cNvSpPr>
          <p:nvPr>
            <p:ph type="sldNum" sz="quarter" idx="5"/>
          </p:nvPr>
        </p:nvSpPr>
        <p:spPr/>
        <p:txBody>
          <a:bodyPr/>
          <a:lstStyle/>
          <a:p>
            <a:fld id="{8A22CE8F-AF87-4DC9-8931-B46FD2A57B7E}" type="slidenum">
              <a:rPr lang="en-PK" smtClean="0"/>
              <a:t>10</a:t>
            </a:fld>
            <a:endParaRPr lang="en-PK"/>
          </a:p>
        </p:txBody>
      </p:sp>
    </p:spTree>
    <p:extLst>
      <p:ext uri="{BB962C8B-B14F-4D97-AF65-F5344CB8AC3E}">
        <p14:creationId xmlns:p14="http://schemas.microsoft.com/office/powerpoint/2010/main" val="4092118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034B-E360-2D68-E718-3DF306A08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BBD48-6F57-E06F-1AAD-62A3BE5F4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83FE8-69D7-B3B6-9F8B-DE11F6891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E11231-BD09-DF38-828F-8AECAD724325}"/>
              </a:ext>
            </a:extLst>
          </p:cNvPr>
          <p:cNvSpPr>
            <a:spLocks noGrp="1"/>
          </p:cNvSpPr>
          <p:nvPr>
            <p:ph type="sldNum" sz="quarter" idx="5"/>
          </p:nvPr>
        </p:nvSpPr>
        <p:spPr/>
        <p:txBody>
          <a:bodyPr/>
          <a:lstStyle/>
          <a:p>
            <a:fld id="{8A22CE8F-AF87-4DC9-8931-B46FD2A57B7E}" type="slidenum">
              <a:rPr lang="en-PK" smtClean="0"/>
              <a:t>11</a:t>
            </a:fld>
            <a:endParaRPr lang="en-PK"/>
          </a:p>
        </p:txBody>
      </p:sp>
    </p:spTree>
    <p:extLst>
      <p:ext uri="{BB962C8B-B14F-4D97-AF65-F5344CB8AC3E}">
        <p14:creationId xmlns:p14="http://schemas.microsoft.com/office/powerpoint/2010/main" val="3124237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22CE8F-AF87-4DC9-8931-B46FD2A57B7E}"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3391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6F78A-7A96-5238-D88A-507F9869C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B4E85-4125-4A8B-EB68-902477673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49EC1B-D2E1-970B-C495-A27544B3CE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BBF0D1-ABBB-35E5-6055-E29A9FF823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22CE8F-AF87-4DC9-8931-B46FD2A57B7E}"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5876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a:t>
            </a:r>
            <a:r>
              <a:rPr lang="en-US" dirty="0"/>
              <a:t> book is </a:t>
            </a:r>
            <a:r>
              <a:rPr lang="en-US" b="1" dirty="0"/>
              <a:t>on</a:t>
            </a:r>
            <a:r>
              <a:rPr lang="en-US" dirty="0"/>
              <a:t> the desk.</a:t>
            </a:r>
          </a:p>
          <a:p>
            <a:r>
              <a:rPr lang="en-US" i="1" dirty="0"/>
              <a:t>This</a:t>
            </a:r>
            <a:r>
              <a:rPr lang="en-US" dirty="0"/>
              <a:t> → Determiner</a:t>
            </a:r>
          </a:p>
          <a:p>
            <a:r>
              <a:rPr lang="en-US" i="1" dirty="0"/>
              <a:t>on</a:t>
            </a:r>
            <a:r>
              <a:rPr lang="en-US" dirty="0"/>
              <a:t> → Preposition</a:t>
            </a:r>
          </a:p>
          <a:p>
            <a:r>
              <a:rPr lang="en-US" b="1" dirty="0"/>
              <a:t>My</a:t>
            </a:r>
            <a:r>
              <a:rPr lang="en-US" dirty="0"/>
              <a:t> friend lives </a:t>
            </a:r>
            <a:r>
              <a:rPr lang="en-US" b="1" dirty="0"/>
              <a:t>near</a:t>
            </a:r>
            <a:r>
              <a:rPr lang="en-US" dirty="0"/>
              <a:t> the school.</a:t>
            </a:r>
          </a:p>
          <a:p>
            <a:r>
              <a:rPr lang="en-US" i="1" dirty="0"/>
              <a:t>My</a:t>
            </a:r>
            <a:r>
              <a:rPr lang="en-US" dirty="0"/>
              <a:t> → Determiner</a:t>
            </a:r>
          </a:p>
          <a:p>
            <a:r>
              <a:rPr lang="en-US" i="1" dirty="0"/>
              <a:t>near</a:t>
            </a:r>
            <a:r>
              <a:rPr lang="en-US" dirty="0"/>
              <a:t> → Preposition</a:t>
            </a:r>
          </a:p>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36</a:t>
            </a:fld>
            <a:endParaRPr lang="en-PK"/>
          </a:p>
        </p:txBody>
      </p:sp>
    </p:spTree>
    <p:extLst>
      <p:ext uri="{BB962C8B-B14F-4D97-AF65-F5344CB8AC3E}">
        <p14:creationId xmlns:p14="http://schemas.microsoft.com/office/powerpoint/2010/main" val="1152320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D7EFC-69BB-4176-EF01-60E416A71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34BEF-BEF0-D0C3-13DA-D3B3180A4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1725E-A814-C597-6264-F90B24879AE4}"/>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3C3331F2-57CA-DEC1-FF13-F86F4CB3ED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22CE8F-AF87-4DC9-8931-B46FD2A57B7E}"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6550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53</a:t>
            </a:fld>
            <a:endParaRPr lang="en-PK"/>
          </a:p>
        </p:txBody>
      </p:sp>
    </p:spTree>
    <p:extLst>
      <p:ext uri="{BB962C8B-B14F-4D97-AF65-F5344CB8AC3E}">
        <p14:creationId xmlns:p14="http://schemas.microsoft.com/office/powerpoint/2010/main" val="4024261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BF6E-1F1A-43E5-E220-6BDA7505F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80DB783-DEC2-A3C7-C92E-F68DB83AA3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0CD0007-2303-FEB7-6AC0-EEB7E75F9ED7}"/>
              </a:ext>
            </a:extLst>
          </p:cNvPr>
          <p:cNvSpPr>
            <a:spLocks noGrp="1"/>
          </p:cNvSpPr>
          <p:nvPr>
            <p:ph type="dt" sz="half" idx="10"/>
          </p:nvPr>
        </p:nvSpPr>
        <p:spPr/>
        <p:txBody>
          <a:bodyPr/>
          <a:lstStyle/>
          <a:p>
            <a:fld id="{88268D2E-9289-42AC-B80C-6990639C6970}" type="datetime8">
              <a:rPr lang="en-PK" smtClean="0"/>
              <a:t>01/28/2026 09:07</a:t>
            </a:fld>
            <a:endParaRPr lang="en-PK"/>
          </a:p>
        </p:txBody>
      </p:sp>
      <p:sp>
        <p:nvSpPr>
          <p:cNvPr id="5" name="Footer Placeholder 4">
            <a:extLst>
              <a:ext uri="{FF2B5EF4-FFF2-40B4-BE49-F238E27FC236}">
                <a16:creationId xmlns:a16="http://schemas.microsoft.com/office/drawing/2014/main" id="{304C1C67-3BAA-4BB7-E952-40087303A03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F3BAB63F-A8D1-625B-851E-0468772D2734}"/>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70867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0F5E-5A4A-48AB-F52F-4B3D819101E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EAED141-6028-3B45-E8E1-D75FBB31D1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F91B5A7-5E7D-1482-A77F-6C1D9E69A931}"/>
              </a:ext>
            </a:extLst>
          </p:cNvPr>
          <p:cNvSpPr>
            <a:spLocks noGrp="1"/>
          </p:cNvSpPr>
          <p:nvPr>
            <p:ph type="dt" sz="half" idx="10"/>
          </p:nvPr>
        </p:nvSpPr>
        <p:spPr/>
        <p:txBody>
          <a:bodyPr/>
          <a:lstStyle/>
          <a:p>
            <a:fld id="{56A6C460-4D55-46A8-8B39-F8D80668C204}" type="datetime8">
              <a:rPr lang="en-PK" smtClean="0"/>
              <a:t>01/28/2026 09:07</a:t>
            </a:fld>
            <a:endParaRPr lang="en-PK"/>
          </a:p>
        </p:txBody>
      </p:sp>
      <p:sp>
        <p:nvSpPr>
          <p:cNvPr id="5" name="Footer Placeholder 4">
            <a:extLst>
              <a:ext uri="{FF2B5EF4-FFF2-40B4-BE49-F238E27FC236}">
                <a16:creationId xmlns:a16="http://schemas.microsoft.com/office/drawing/2014/main" id="{82FFE02F-9BDB-A3D2-C609-466E907B7CD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E8FBAB45-FD81-4E1C-DA59-7E59E3E602C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404582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F9AF-AFEF-5692-FA74-44D15087C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400C95-EDA4-E6F5-4AF5-4A6CAA785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DCB0D-660C-5E86-7853-04235E37D9C4}"/>
              </a:ext>
            </a:extLst>
          </p:cNvPr>
          <p:cNvSpPr>
            <a:spLocks noGrp="1"/>
          </p:cNvSpPr>
          <p:nvPr>
            <p:ph type="dt" sz="half" idx="10"/>
          </p:nvPr>
        </p:nvSpPr>
        <p:spPr/>
        <p:txBody>
          <a:bodyPr/>
          <a:lstStyle/>
          <a:p>
            <a:fld id="{FA202975-3265-4D6C-885C-67478BE3C7F2}" type="datetime8">
              <a:rPr lang="en-PK" smtClean="0"/>
              <a:t>01/28/2026 09:07</a:t>
            </a:fld>
            <a:endParaRPr lang="en-PK"/>
          </a:p>
        </p:txBody>
      </p:sp>
      <p:sp>
        <p:nvSpPr>
          <p:cNvPr id="5" name="Footer Placeholder 4">
            <a:extLst>
              <a:ext uri="{FF2B5EF4-FFF2-40B4-BE49-F238E27FC236}">
                <a16:creationId xmlns:a16="http://schemas.microsoft.com/office/drawing/2014/main" id="{584171C3-5CDF-9D80-4EBE-656BDE541C1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14E53F3-584B-156B-3CB7-CE2840A107E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67558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848-8B44-647A-1750-A34E7339AB2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86DC08F-EC6A-9CC6-A7BE-12D10FD12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12273F5-CE29-B7C3-1DEE-634187AA6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32B0614-7950-A619-551B-ED3E162EFF23}"/>
              </a:ext>
            </a:extLst>
          </p:cNvPr>
          <p:cNvSpPr>
            <a:spLocks noGrp="1"/>
          </p:cNvSpPr>
          <p:nvPr>
            <p:ph type="dt" sz="half" idx="10"/>
          </p:nvPr>
        </p:nvSpPr>
        <p:spPr/>
        <p:txBody>
          <a:bodyPr/>
          <a:lstStyle/>
          <a:p>
            <a:fld id="{07BB4E42-362D-4DFA-8928-76DAAEE00EBB}" type="datetime8">
              <a:rPr lang="en-PK" smtClean="0"/>
              <a:t>01/28/2026 09:07</a:t>
            </a:fld>
            <a:endParaRPr lang="en-PK"/>
          </a:p>
        </p:txBody>
      </p:sp>
      <p:sp>
        <p:nvSpPr>
          <p:cNvPr id="6" name="Footer Placeholder 5">
            <a:extLst>
              <a:ext uri="{FF2B5EF4-FFF2-40B4-BE49-F238E27FC236}">
                <a16:creationId xmlns:a16="http://schemas.microsoft.com/office/drawing/2014/main" id="{CF441B59-C8B5-6D0F-4399-F106AC82F8A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64AFC60-2053-ECFF-5C50-368976D31673}"/>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189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AF65F-F935-8509-0750-29F87FE67B4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4D1EDD-2F32-8088-DCA4-940683FC4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957DC-D663-7F27-98CF-5CFD4701F5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6DBE920-D195-F4B1-8A1C-DF099F1A7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AEEDD-4D96-4D6A-F2B6-6E56E8420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CF1D32A-14A7-43A3-04BD-3E5C1D6C5A10}"/>
              </a:ext>
            </a:extLst>
          </p:cNvPr>
          <p:cNvSpPr>
            <a:spLocks noGrp="1"/>
          </p:cNvSpPr>
          <p:nvPr>
            <p:ph type="dt" sz="half" idx="10"/>
          </p:nvPr>
        </p:nvSpPr>
        <p:spPr/>
        <p:txBody>
          <a:bodyPr/>
          <a:lstStyle/>
          <a:p>
            <a:fld id="{79F22A64-5408-49DB-841F-68B670D0A952}" type="datetime8">
              <a:rPr lang="en-PK" smtClean="0"/>
              <a:t>01/28/2026 09:07</a:t>
            </a:fld>
            <a:endParaRPr lang="en-PK"/>
          </a:p>
        </p:txBody>
      </p:sp>
      <p:sp>
        <p:nvSpPr>
          <p:cNvPr id="8" name="Footer Placeholder 7">
            <a:extLst>
              <a:ext uri="{FF2B5EF4-FFF2-40B4-BE49-F238E27FC236}">
                <a16:creationId xmlns:a16="http://schemas.microsoft.com/office/drawing/2014/main" id="{0489F090-39B6-F704-B7FE-D92B0D991FF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8A437A89-9DDA-2071-C1AA-F472229D41AF}"/>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9838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B27A3-5102-EE21-A807-3AC83BC7EC7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9994ABC-C15D-FE70-E572-6DC603DD5855}"/>
              </a:ext>
            </a:extLst>
          </p:cNvPr>
          <p:cNvSpPr>
            <a:spLocks noGrp="1"/>
          </p:cNvSpPr>
          <p:nvPr>
            <p:ph type="dt" sz="half" idx="10"/>
          </p:nvPr>
        </p:nvSpPr>
        <p:spPr/>
        <p:txBody>
          <a:bodyPr/>
          <a:lstStyle/>
          <a:p>
            <a:fld id="{65D11D58-974E-4CAF-AC6D-5DBE315773AB}" type="datetime8">
              <a:rPr lang="en-PK" smtClean="0"/>
              <a:t>01/28/2026 09:07</a:t>
            </a:fld>
            <a:endParaRPr lang="en-PK"/>
          </a:p>
        </p:txBody>
      </p:sp>
      <p:sp>
        <p:nvSpPr>
          <p:cNvPr id="4" name="Footer Placeholder 3">
            <a:extLst>
              <a:ext uri="{FF2B5EF4-FFF2-40B4-BE49-F238E27FC236}">
                <a16:creationId xmlns:a16="http://schemas.microsoft.com/office/drawing/2014/main" id="{DB229E67-5D6A-62B9-0F07-7987F2233BF3}"/>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D1FEB484-C332-0992-D1F3-3F2F2D91BE5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10649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1F1087-2936-983D-89D2-679197D30A81}"/>
              </a:ext>
            </a:extLst>
          </p:cNvPr>
          <p:cNvSpPr>
            <a:spLocks noGrp="1"/>
          </p:cNvSpPr>
          <p:nvPr>
            <p:ph type="dt" sz="half" idx="10"/>
          </p:nvPr>
        </p:nvSpPr>
        <p:spPr/>
        <p:txBody>
          <a:bodyPr/>
          <a:lstStyle/>
          <a:p>
            <a:fld id="{1A752D9D-C6C1-49F2-AE52-02C80D6EEE70}" type="datetime8">
              <a:rPr lang="en-PK" smtClean="0"/>
              <a:t>01/28/2026 09:07</a:t>
            </a:fld>
            <a:endParaRPr lang="en-PK"/>
          </a:p>
        </p:txBody>
      </p:sp>
      <p:sp>
        <p:nvSpPr>
          <p:cNvPr id="3" name="Footer Placeholder 2">
            <a:extLst>
              <a:ext uri="{FF2B5EF4-FFF2-40B4-BE49-F238E27FC236}">
                <a16:creationId xmlns:a16="http://schemas.microsoft.com/office/drawing/2014/main" id="{5780D7FA-42F7-2E29-B463-91C82A3EA39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C384DD66-06F1-428F-8C28-7722073E4C0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68618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3CE5-E801-D5B4-C053-AF956615D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BC01F3B-C27D-DFCB-EC41-FE54E8B84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3F774E3-55AD-9EDB-210F-21390360F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6F6D0-CE3D-181B-8D4A-CE6D944B2E5C}"/>
              </a:ext>
            </a:extLst>
          </p:cNvPr>
          <p:cNvSpPr>
            <a:spLocks noGrp="1"/>
          </p:cNvSpPr>
          <p:nvPr>
            <p:ph type="dt" sz="half" idx="10"/>
          </p:nvPr>
        </p:nvSpPr>
        <p:spPr/>
        <p:txBody>
          <a:bodyPr/>
          <a:lstStyle/>
          <a:p>
            <a:fld id="{0AE860EF-E9C5-4154-ABA0-497C98888386}" type="datetime8">
              <a:rPr lang="en-PK" smtClean="0"/>
              <a:t>01/28/2026 09:07</a:t>
            </a:fld>
            <a:endParaRPr lang="en-PK"/>
          </a:p>
        </p:txBody>
      </p:sp>
      <p:sp>
        <p:nvSpPr>
          <p:cNvPr id="6" name="Footer Placeholder 5">
            <a:extLst>
              <a:ext uri="{FF2B5EF4-FFF2-40B4-BE49-F238E27FC236}">
                <a16:creationId xmlns:a16="http://schemas.microsoft.com/office/drawing/2014/main" id="{87E9E0BA-6765-5F28-D792-DFBAF369FB12}"/>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1142F7D-EC17-A880-F4CA-79F8DE7E7D1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80221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A6B2-0346-47D8-7C6C-CEB953FA4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2FD7669-0EBC-8316-FE6C-4E3AFA75D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630D761-DEC6-4E02-A5A6-68D7DAB6F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01B9B-2FB7-4E9B-93B1-2B1A71C6FCFB}"/>
              </a:ext>
            </a:extLst>
          </p:cNvPr>
          <p:cNvSpPr>
            <a:spLocks noGrp="1"/>
          </p:cNvSpPr>
          <p:nvPr>
            <p:ph type="dt" sz="half" idx="10"/>
          </p:nvPr>
        </p:nvSpPr>
        <p:spPr/>
        <p:txBody>
          <a:bodyPr/>
          <a:lstStyle/>
          <a:p>
            <a:fld id="{CA1A3010-BD20-4C20-A139-F111CFCE4DED}" type="datetime8">
              <a:rPr lang="en-PK" smtClean="0"/>
              <a:t>01/28/2026 09:07</a:t>
            </a:fld>
            <a:endParaRPr lang="en-PK"/>
          </a:p>
        </p:txBody>
      </p:sp>
      <p:sp>
        <p:nvSpPr>
          <p:cNvPr id="6" name="Footer Placeholder 5">
            <a:extLst>
              <a:ext uri="{FF2B5EF4-FFF2-40B4-BE49-F238E27FC236}">
                <a16:creationId xmlns:a16="http://schemas.microsoft.com/office/drawing/2014/main" id="{BBDA871A-2E8C-6DAA-29F7-58F546DA9B3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17073E63-5A89-7F39-0343-31B38AA0A5C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55745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A0C1-36D1-D275-D29D-A5F174F13B25}"/>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7EC01DC-96D5-483D-EB66-D069F943BA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E0D86A-33F6-CC08-D069-C2CD2DA22C8E}"/>
              </a:ext>
            </a:extLst>
          </p:cNvPr>
          <p:cNvSpPr>
            <a:spLocks noGrp="1"/>
          </p:cNvSpPr>
          <p:nvPr>
            <p:ph type="dt" sz="half" idx="10"/>
          </p:nvPr>
        </p:nvSpPr>
        <p:spPr/>
        <p:txBody>
          <a:bodyPr/>
          <a:lstStyle/>
          <a:p>
            <a:fld id="{4FCDF583-EA1F-490D-A440-28D5D4D1609B}" type="datetime8">
              <a:rPr lang="en-PK" smtClean="0"/>
              <a:t>01/28/2026 09:07</a:t>
            </a:fld>
            <a:endParaRPr lang="en-PK"/>
          </a:p>
        </p:txBody>
      </p:sp>
      <p:sp>
        <p:nvSpPr>
          <p:cNvPr id="5" name="Footer Placeholder 4">
            <a:extLst>
              <a:ext uri="{FF2B5EF4-FFF2-40B4-BE49-F238E27FC236}">
                <a16:creationId xmlns:a16="http://schemas.microsoft.com/office/drawing/2014/main" id="{18C4C501-4B4E-CD7A-A3CF-AAF9C06DB58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B962088F-8BDE-3163-D288-747BB62CE606}"/>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39818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FFE489-8C8D-9284-62BE-5BD44DD32D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BE0687B-E3ED-4012-AF0D-ED0C35C62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72E4B5-4BD5-1EA2-4054-0181794E6F30}"/>
              </a:ext>
            </a:extLst>
          </p:cNvPr>
          <p:cNvSpPr>
            <a:spLocks noGrp="1"/>
          </p:cNvSpPr>
          <p:nvPr>
            <p:ph type="dt" sz="half" idx="10"/>
          </p:nvPr>
        </p:nvSpPr>
        <p:spPr/>
        <p:txBody>
          <a:bodyPr/>
          <a:lstStyle/>
          <a:p>
            <a:fld id="{DCE86CA3-BD67-4FC2-8043-563DA28C6DEF}" type="datetime8">
              <a:rPr lang="en-PK" smtClean="0"/>
              <a:t>01/28/2026 09:07</a:t>
            </a:fld>
            <a:endParaRPr lang="en-PK"/>
          </a:p>
        </p:txBody>
      </p:sp>
      <p:sp>
        <p:nvSpPr>
          <p:cNvPr id="5" name="Footer Placeholder 4">
            <a:extLst>
              <a:ext uri="{FF2B5EF4-FFF2-40B4-BE49-F238E27FC236}">
                <a16:creationId xmlns:a16="http://schemas.microsoft.com/office/drawing/2014/main" id="{5ECB897C-3A1B-5B06-4673-7AD97389028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37320210-5709-B516-739E-CEF3220C1B2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74212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A9A5E6FA-F9B2-43F4-93A1-754EFBD5F0B7}" type="datetime8">
              <a:rPr lang="en-PK" smtClean="0"/>
              <a:t>01/28/2026 09:07</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20595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8A33D06E-F415-4185-80CC-C9C1D8DCF4BF}" type="datetime8">
              <a:rPr lang="en-PK" smtClean="0"/>
              <a:t>01/28/2026 09:07</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66190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C9009A1A-9470-4BA4-A2A2-7BF1CBDD1AE9}" type="datetime8">
              <a:rPr lang="en-PK" smtClean="0"/>
              <a:t>01/28/2026 09:07</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104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EA9879D1-4867-47B4-ABB5-00115205E094}" type="datetime8">
              <a:rPr lang="en-PK" smtClean="0"/>
              <a:t>01/28/2026 09:07</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85536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B0C6ACD6-7DB4-4B0B-80BA-170914EA3395}" type="datetime8">
              <a:rPr lang="en-PK" smtClean="0"/>
              <a:t>01/28/2026 09:07</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78811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05312407-BEAE-4152-B7BA-48543FBFA995}" type="datetime8">
              <a:rPr lang="en-PK" smtClean="0"/>
              <a:t>01/28/2026 09:07</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975648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ADA8559E-9171-4385-8072-B0E593863BB5}" type="datetime8">
              <a:rPr lang="en-PK" smtClean="0"/>
              <a:t>01/28/2026 09:07</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28431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C28870C0-0CCF-4A43-BBA0-BD65E4FC916D}" type="datetime8">
              <a:rPr lang="en-PK" smtClean="0"/>
              <a:t>01/28/2026 09:07</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7252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01EED458-9B45-4ED9-810F-EDF3F113BFE8}" type="datetime8">
              <a:rPr lang="en-PK" smtClean="0"/>
              <a:t>01/28/2026 09:07</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63591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E4F8A886-A279-4E48-9566-005C3CCF0512}" type="datetime8">
              <a:rPr lang="en-PK" smtClean="0"/>
              <a:t>01/28/2026 09:07</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11963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776FA2A8-78F7-44B2-B930-F12580E93FE9}" type="datetime8">
              <a:rPr lang="en-PK" smtClean="0"/>
              <a:t>01/28/2026 09:07</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94199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73605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030690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0420728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0364310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8492226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125206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8776136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872282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8694702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4014870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01/28/2026</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6943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8A50D-613C-02AB-581B-1EF8CBBB5B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868A3D-C8EE-C41F-48F9-726C438B2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75493D-4CF2-26D7-B747-6F625DBE2E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636D9-B266-4646-B09B-4DC3FF6DEB0E}" type="datetime8">
              <a:rPr lang="en-PK" smtClean="0"/>
              <a:t>01/28/2026 09:07</a:t>
            </a:fld>
            <a:endParaRPr lang="en-PK"/>
          </a:p>
        </p:txBody>
      </p:sp>
      <p:sp>
        <p:nvSpPr>
          <p:cNvPr id="5" name="Footer Placeholder 4">
            <a:extLst>
              <a:ext uri="{FF2B5EF4-FFF2-40B4-BE49-F238E27FC236}">
                <a16:creationId xmlns:a16="http://schemas.microsoft.com/office/drawing/2014/main" id="{6BB9FEE2-49F4-5CCC-6E73-A93A928D6A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6F66B20A-6F5F-92E0-412B-7BC36CDF6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F6AE5-FFBF-49E9-8C0A-67AD363D4ACB}" type="slidenum">
              <a:rPr lang="en-PK" smtClean="0"/>
              <a:t>‹#›</a:t>
            </a:fld>
            <a:endParaRPr lang="en-PK"/>
          </a:p>
        </p:txBody>
      </p:sp>
    </p:spTree>
    <p:extLst>
      <p:ext uri="{BB962C8B-B14F-4D97-AF65-F5344CB8AC3E}">
        <p14:creationId xmlns:p14="http://schemas.microsoft.com/office/powerpoint/2010/main" val="2842186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A6A64-E084-48DF-BC71-B8BC8F551A5E}" type="datetime8">
              <a:rPr lang="en-PK" smtClean="0"/>
              <a:t>01/28/2026 09:07</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221325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01/28/2026</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9236428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Natural Language Processing (NLP)</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258195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Week-12 CLO’s</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309550081"/>
              </p:ext>
            </p:extLst>
          </p:nvPr>
        </p:nvGraphicFramePr>
        <p:xfrm>
          <a:off x="5427264" y="270915"/>
          <a:ext cx="5918184" cy="540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49ECAFBC-B9EE-1127-2756-4F24E01916A6}"/>
              </a:ext>
            </a:extLst>
          </p:cNvPr>
          <p:cNvSpPr txBox="1"/>
          <p:nvPr/>
        </p:nvSpPr>
        <p:spPr>
          <a:xfrm>
            <a:off x="2020905" y="1651847"/>
            <a:ext cx="8147713" cy="308124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GB" sz="6600" b="1" kern="1200" dirty="0">
                <a:solidFill>
                  <a:srgbClr val="FFFFFF"/>
                </a:solidFill>
                <a:latin typeface="+mj-lt"/>
                <a:ea typeface="+mj-ea"/>
                <a:cs typeface="+mj-cs"/>
              </a:rPr>
              <a:t>Natural Language processing (NLP)</a:t>
            </a:r>
            <a:endParaRPr lang="en-US" sz="6600" kern="1200" dirty="0">
              <a:solidFill>
                <a:srgbClr val="FFFFFF"/>
              </a:solidFill>
              <a:latin typeface="+mj-lt"/>
              <a:ea typeface="+mj-ea"/>
              <a:cs typeface="+mj-cs"/>
            </a:endParaRPr>
          </a:p>
        </p:txBody>
      </p:sp>
    </p:spTree>
    <p:extLst>
      <p:ext uri="{BB962C8B-B14F-4D97-AF65-F5344CB8AC3E}">
        <p14:creationId xmlns:p14="http://schemas.microsoft.com/office/powerpoint/2010/main" val="36695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DBC10D-E0E3-2095-5984-52FF4A0BFE6C}"/>
              </a:ext>
            </a:extLst>
          </p:cNvPr>
          <p:cNvSpPr>
            <a:spLocks noGrp="1"/>
          </p:cNvSpPr>
          <p:nvPr>
            <p:ph type="title"/>
          </p:nvPr>
        </p:nvSpPr>
        <p:spPr>
          <a:xfrm>
            <a:off x="826396" y="586855"/>
            <a:ext cx="4230100" cy="3387497"/>
          </a:xfrm>
        </p:spPr>
        <p:txBody>
          <a:bodyPr anchor="b">
            <a:normAutofit/>
          </a:bodyPr>
          <a:lstStyle/>
          <a:p>
            <a:pPr algn="r"/>
            <a:r>
              <a:rPr lang="en-GB" sz="4000" b="1" dirty="0">
                <a:solidFill>
                  <a:srgbClr val="FFFFFF"/>
                </a:solidFill>
              </a:rPr>
              <a:t>Natural Language Processing (NLP)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A0832CF4-80BD-83B8-FD98-A2C95A3B4303}"/>
              </a:ext>
            </a:extLst>
          </p:cNvPr>
          <p:cNvSpPr>
            <a:spLocks noGrp="1"/>
          </p:cNvSpPr>
          <p:nvPr>
            <p:ph idx="1"/>
          </p:nvPr>
        </p:nvSpPr>
        <p:spPr>
          <a:xfrm>
            <a:off x="5787341" y="649480"/>
            <a:ext cx="5976866" cy="5546047"/>
          </a:xfrm>
        </p:spPr>
        <p:txBody>
          <a:bodyPr anchor="ctr">
            <a:normAutofit lnSpcReduction="10000"/>
          </a:bodyPr>
          <a:lstStyle/>
          <a:p>
            <a:pPr algn="just"/>
            <a:r>
              <a:rPr lang="en-GB" dirty="0"/>
              <a:t>Natural language processing (NLP) is the ability of a computer program to understand human language as it's spoken and written -- referred to as natural language. It's a component of artificial intelligence (AI).</a:t>
            </a:r>
          </a:p>
          <a:p>
            <a:pPr marL="0" indent="0" algn="just">
              <a:buNone/>
            </a:pPr>
            <a:r>
              <a:rPr lang="en-GB" b="1" dirty="0"/>
              <a:t>Key Tasks</a:t>
            </a:r>
          </a:p>
          <a:p>
            <a:pPr algn="just"/>
            <a:r>
              <a:rPr lang="en-GB" dirty="0"/>
              <a:t>Language translation (e.g., Google Translate).</a:t>
            </a:r>
          </a:p>
          <a:p>
            <a:pPr algn="just"/>
            <a:r>
              <a:rPr lang="en-GB" dirty="0"/>
              <a:t>Sentiment analysis (e.g., analysing tweets or reviews).</a:t>
            </a:r>
          </a:p>
          <a:p>
            <a:pPr algn="just"/>
            <a:r>
              <a:rPr lang="en-GB" dirty="0"/>
              <a:t>Chatbots (e.g., customer support bots).</a:t>
            </a:r>
          </a:p>
        </p:txBody>
      </p:sp>
    </p:spTree>
    <p:extLst>
      <p:ext uri="{BB962C8B-B14F-4D97-AF65-F5344CB8AC3E}">
        <p14:creationId xmlns:p14="http://schemas.microsoft.com/office/powerpoint/2010/main" val="3616842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780B70DD-0642-C4C5-43CD-D967840E1B71}"/>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Components of NLP</a:t>
            </a:r>
          </a:p>
        </p:txBody>
      </p:sp>
    </p:spTree>
    <p:extLst>
      <p:ext uri="{BB962C8B-B14F-4D97-AF65-F5344CB8AC3E}">
        <p14:creationId xmlns:p14="http://schemas.microsoft.com/office/powerpoint/2010/main" val="1554441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260240-EAD3-C6A3-88C7-587A15A9AD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141EBF-B757-C747-56FD-2EC877EE2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522419-F474-D1E6-7E43-1DC7B8418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7D69E8-AE2C-9F38-9797-EE04D11D8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4CBF95E-8899-EF63-C1E2-264DF4351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0EE804-947F-2CD2-DF0C-1FC18D524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BD7D3C-ADFC-6E51-2C71-60C11018408D}"/>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Components of NLP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29E8052B-AD92-77EE-BEEE-9CBED741B51D}"/>
              </a:ext>
            </a:extLst>
          </p:cNvPr>
          <p:cNvSpPr>
            <a:spLocks noGrp="1"/>
          </p:cNvSpPr>
          <p:nvPr>
            <p:ph idx="1"/>
          </p:nvPr>
        </p:nvSpPr>
        <p:spPr>
          <a:xfrm>
            <a:off x="1371599" y="1622746"/>
            <a:ext cx="9724031" cy="4940716"/>
          </a:xfrm>
        </p:spPr>
        <p:txBody>
          <a:bodyPr anchor="ctr">
            <a:normAutofit/>
          </a:bodyPr>
          <a:lstStyle/>
          <a:p>
            <a:pPr marL="0" indent="0">
              <a:buNone/>
            </a:pPr>
            <a:r>
              <a:rPr lang="en-US" dirty="0"/>
              <a:t>Natural Language Processing is not a monolithic, singular approach, but rather, it is composed of several components, each contributing to the overall understanding of language. The main components that NLP strives to understand are:</a:t>
            </a:r>
          </a:p>
          <a:p>
            <a:pPr>
              <a:buFont typeface="Arial" panose="020B0604020202020204" pitchFamily="34" charset="0"/>
              <a:buChar char="•"/>
            </a:pPr>
            <a:r>
              <a:rPr lang="en-US" dirty="0"/>
              <a:t> Syntax</a:t>
            </a:r>
          </a:p>
          <a:p>
            <a:pPr>
              <a:buFont typeface="Arial" panose="020B0604020202020204" pitchFamily="34" charset="0"/>
              <a:buChar char="•"/>
            </a:pPr>
            <a:r>
              <a:rPr lang="en-US" dirty="0"/>
              <a:t>Semantics</a:t>
            </a:r>
          </a:p>
          <a:p>
            <a:pPr>
              <a:buFont typeface="Arial" panose="020B0604020202020204" pitchFamily="34" charset="0"/>
              <a:buChar char="•"/>
            </a:pPr>
            <a:r>
              <a:rPr lang="en-US" dirty="0"/>
              <a:t>Pragmatics</a:t>
            </a:r>
          </a:p>
          <a:p>
            <a:pPr>
              <a:buFont typeface="Arial" panose="020B0604020202020204" pitchFamily="34" charset="0"/>
              <a:buChar char="•"/>
            </a:pPr>
            <a:r>
              <a:rPr lang="en-US" dirty="0"/>
              <a:t>Discourse.</a:t>
            </a:r>
            <a:endParaRPr lang="en-GB" dirty="0"/>
          </a:p>
        </p:txBody>
      </p:sp>
    </p:spTree>
    <p:extLst>
      <p:ext uri="{BB962C8B-B14F-4D97-AF65-F5344CB8AC3E}">
        <p14:creationId xmlns:p14="http://schemas.microsoft.com/office/powerpoint/2010/main" val="979333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B321D0-B946-6D0C-F1D4-1145E38AE31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68EA5E-09AF-5141-7DE9-D0A79398C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0CE8D15-3C05-D7A9-1721-3D9FDF890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6838DD2-14B6-1166-70B3-D22A99D66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57E3CDC-0824-7D00-F0A0-F03909E53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D643AA-642D-7F81-BB8B-CFD2B20E6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57967-B6F5-1F5C-E4E2-42EFCBF0E927}"/>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Components of NLP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C3A872A0-038D-1C30-417A-6BB18D876BE2}"/>
              </a:ext>
            </a:extLst>
          </p:cNvPr>
          <p:cNvSpPr>
            <a:spLocks noGrp="1"/>
          </p:cNvSpPr>
          <p:nvPr>
            <p:ph idx="1"/>
          </p:nvPr>
        </p:nvSpPr>
        <p:spPr>
          <a:xfrm>
            <a:off x="459350" y="1622746"/>
            <a:ext cx="11443891" cy="4940716"/>
          </a:xfrm>
        </p:spPr>
        <p:txBody>
          <a:bodyPr anchor="ctr">
            <a:normAutofit/>
          </a:bodyPr>
          <a:lstStyle/>
          <a:p>
            <a:pPr marL="0" indent="0">
              <a:buNone/>
            </a:pPr>
            <a:r>
              <a:rPr lang="en-US" sz="3200" b="1" dirty="0"/>
              <a:t>Syntax</a:t>
            </a:r>
          </a:p>
          <a:p>
            <a:pPr marL="0" indent="0">
              <a:buNone/>
            </a:pPr>
            <a:r>
              <a:rPr lang="en-US" b="1" dirty="0"/>
              <a:t>Definition: </a:t>
            </a:r>
            <a:r>
              <a:rPr lang="en-US" dirty="0"/>
              <a:t>Syntax pertains to the arrangement of words and phrases to create well-structured sentences in a language.</a:t>
            </a:r>
          </a:p>
          <a:p>
            <a:pPr marL="0" indent="0">
              <a:buNone/>
            </a:pPr>
            <a:r>
              <a:rPr lang="en-US" b="1" dirty="0"/>
              <a:t>Example: </a:t>
            </a:r>
          </a:p>
          <a:p>
            <a:pPr marL="0" indent="0">
              <a:buNone/>
            </a:pPr>
            <a:r>
              <a:rPr lang="en-US" dirty="0"/>
              <a:t>Consider the sentence "The cat sat on the mat." </a:t>
            </a:r>
          </a:p>
          <a:p>
            <a:pPr marL="0" indent="0">
              <a:buNone/>
            </a:pPr>
            <a:r>
              <a:rPr lang="en-US" dirty="0"/>
              <a:t>Syntax involves analyzing the grammatical structure of this sentence, ensuring that it adheres to the grammatical rules of English, such as subject-verb agreement and proper word order.</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2671093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04D64D-2FB4-FC64-19CC-5733948F2C1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DD7644-47D3-A0C8-7912-D02A8AA4E4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6BE967-4947-6DA3-7A9C-B9AEBDA101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35DAB4-7BA8-06BE-BD77-5AFF2D3AE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F5D16C-10E0-AA79-2134-AF97F8A32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1CDC5CA-78E1-9790-6267-6894D291D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5FA044-DF2F-D6A3-BDDD-4CD9570A2073}"/>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Components of NLP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A8762439-52B6-E043-2920-5B6ABE64270A}"/>
              </a:ext>
            </a:extLst>
          </p:cNvPr>
          <p:cNvSpPr>
            <a:spLocks noGrp="1"/>
          </p:cNvSpPr>
          <p:nvPr>
            <p:ph idx="1"/>
          </p:nvPr>
        </p:nvSpPr>
        <p:spPr>
          <a:xfrm>
            <a:off x="459351" y="1622746"/>
            <a:ext cx="11283470" cy="4940716"/>
          </a:xfrm>
        </p:spPr>
        <p:txBody>
          <a:bodyPr anchor="ctr">
            <a:normAutofit/>
          </a:bodyPr>
          <a:lstStyle/>
          <a:p>
            <a:pPr marL="0" indent="0">
              <a:buNone/>
            </a:pPr>
            <a:endParaRPr lang="en-US" dirty="0"/>
          </a:p>
          <a:p>
            <a:pPr marL="0" indent="0">
              <a:buNone/>
            </a:pPr>
            <a:r>
              <a:rPr lang="en-US" sz="3200" b="1" dirty="0"/>
              <a:t>Semantics</a:t>
            </a:r>
          </a:p>
          <a:p>
            <a:pPr>
              <a:buFont typeface="Arial" panose="020B0604020202020204" pitchFamily="34" charset="0"/>
              <a:buChar char="•"/>
            </a:pPr>
            <a:r>
              <a:rPr lang="en-US" sz="3200" b="1" dirty="0"/>
              <a:t>Definition: </a:t>
            </a:r>
            <a:r>
              <a:rPr lang="en-US" sz="3200" dirty="0"/>
              <a:t>Semantics is concerned with understanding the meaning of words and how they create meaning when combined in sentences.</a:t>
            </a:r>
          </a:p>
          <a:p>
            <a:pPr marL="0" indent="0">
              <a:buNone/>
            </a:pPr>
            <a:r>
              <a:rPr lang="en-US" sz="3200" b="1" dirty="0"/>
              <a:t>Example: </a:t>
            </a:r>
          </a:p>
          <a:p>
            <a:pPr marL="0" indent="0">
              <a:buNone/>
            </a:pPr>
            <a:r>
              <a:rPr lang="en-US" sz="3200" dirty="0"/>
              <a:t>In the sentence "The panda eats shoots and leaves," semantics helps distinguish whether the panda eats plants (shoots and leaves) or is involved in a violent act (shoots) and then departs (leaves), based on the meaning of the words and the context.</a:t>
            </a:r>
          </a:p>
        </p:txBody>
      </p:sp>
    </p:spTree>
    <p:extLst>
      <p:ext uri="{BB962C8B-B14F-4D97-AF65-F5344CB8AC3E}">
        <p14:creationId xmlns:p14="http://schemas.microsoft.com/office/powerpoint/2010/main" val="2023979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8C1D8-EEF4-CFFA-24C7-EC177264BD2C}"/>
              </a:ext>
            </a:extLst>
          </p:cNvPr>
          <p:cNvSpPr>
            <a:spLocks noGrp="1"/>
          </p:cNvSpPr>
          <p:nvPr>
            <p:ph type="title" idx="4294967295"/>
          </p:nvPr>
        </p:nvSpPr>
        <p:spPr>
          <a:xfrm>
            <a:off x="793662" y="386930"/>
            <a:ext cx="10066122" cy="1298448"/>
          </a:xfrm>
        </p:spPr>
        <p:txBody>
          <a:bodyPr vert="horz" lIns="91440" tIns="45720" rIns="91440" bIns="45720" rtlCol="0" anchor="b">
            <a:normAutofit/>
          </a:bodyPr>
          <a:lstStyle/>
          <a:p>
            <a:r>
              <a:rPr lang="en-US" sz="4800" b="1" kern="1200">
                <a:solidFill>
                  <a:schemeClr val="tx1"/>
                </a:solidFill>
                <a:latin typeface="+mj-lt"/>
                <a:ea typeface="+mj-ea"/>
                <a:cs typeface="+mj-cs"/>
              </a:rPr>
              <a:t>Syntax and Semantics in NLP</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CBA777A2-5B53-68DB-A8A6-036FECAEDEC3}"/>
              </a:ext>
            </a:extLst>
          </p:cNvPr>
          <p:cNvSpPr>
            <a:spLocks noGrp="1" noChangeArrowheads="1"/>
          </p:cNvSpPr>
          <p:nvPr>
            <p:ph idx="4294967295"/>
          </p:nvPr>
        </p:nvSpPr>
        <p:spPr bwMode="auto">
          <a:xfrm>
            <a:off x="793661" y="2599509"/>
            <a:ext cx="4530898" cy="3639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r>
              <a:rPr lang="en-US" sz="2000"/>
              <a:t>Example:</a:t>
            </a:r>
          </a:p>
          <a:p>
            <a:pPr marL="742950" lvl="1"/>
            <a:r>
              <a:rPr lang="en-US" sz="2000"/>
              <a:t>Syntax: "Colorless green ideas sleep furiously" (correct grammar but meaningless semantics).</a:t>
            </a:r>
          </a:p>
          <a:p>
            <a:pPr marL="742950" lvl="1"/>
            <a:r>
              <a:rPr lang="en-US" sz="2000"/>
              <a:t>Semantics: "I love programming" (meaningful).</a:t>
            </a:r>
          </a:p>
          <a:p>
            <a:pPr fontAlgn="base">
              <a:spcBef>
                <a:spcPct val="0"/>
              </a:spcBef>
              <a:spcAft>
                <a:spcPct val="0"/>
              </a:spcAft>
            </a:pPr>
            <a:endParaRPr kumimoji="0" lang="en-US" altLang="en-PK" sz="2000" b="0" i="0" u="none" strike="noStrike" cap="none" normalizeH="0" baseline="0">
              <a:ln>
                <a:noFill/>
              </a:ln>
              <a:effectLst/>
            </a:endParaRPr>
          </a:p>
        </p:txBody>
      </p:sp>
      <p:pic>
        <p:nvPicPr>
          <p:cNvPr id="7" name="Graphic 6" descr="Translate">
            <a:extLst>
              <a:ext uri="{FF2B5EF4-FFF2-40B4-BE49-F238E27FC236}">
                <a16:creationId xmlns:a16="http://schemas.microsoft.com/office/drawing/2014/main" id="{D633D0E8-F3C5-B9D9-362D-5503E8560A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6508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964FA6-917A-20D5-8C93-A7C4C5FFEE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F843E-5A66-9FFB-7D56-AB5260C76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A935D8-82E7-A6A9-08AD-9CBDC37DC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789BA4-4ED7-D7E6-4E42-5EA416A92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5FAD9E-D280-8B82-AFEF-0FE333F6F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C57868C-3500-6319-DF2C-C44D2B43E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6C1F8D-8C39-3B4D-3E4C-1321B924F65E}"/>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Components of NLP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4D4B2C30-2472-1764-B821-E53E27AD5C15}"/>
              </a:ext>
            </a:extLst>
          </p:cNvPr>
          <p:cNvSpPr>
            <a:spLocks noGrp="1"/>
          </p:cNvSpPr>
          <p:nvPr>
            <p:ph idx="1"/>
          </p:nvPr>
        </p:nvSpPr>
        <p:spPr>
          <a:xfrm>
            <a:off x="459351" y="1622746"/>
            <a:ext cx="11219302" cy="4940716"/>
          </a:xfrm>
        </p:spPr>
        <p:txBody>
          <a:bodyPr anchor="ctr">
            <a:normAutofit/>
          </a:bodyPr>
          <a:lstStyle/>
          <a:p>
            <a:pPr marL="0" indent="0">
              <a:buNone/>
            </a:pPr>
            <a:r>
              <a:rPr lang="en-US" b="1" dirty="0"/>
              <a:t>Pragmatics</a:t>
            </a:r>
          </a:p>
          <a:p>
            <a:pPr marL="0" indent="0">
              <a:buNone/>
            </a:pPr>
            <a:r>
              <a:rPr lang="en-US" b="1" dirty="0"/>
              <a:t>Definition: </a:t>
            </a:r>
            <a:r>
              <a:rPr lang="en-US" dirty="0"/>
              <a:t>Pragmatics deals with understanding language in various contexts, ensuring that the intended meaning is derived based on the situation, speaker’s intent, and shared knowledge.</a:t>
            </a:r>
          </a:p>
          <a:p>
            <a:pPr marL="0" indent="0">
              <a:buNone/>
            </a:pPr>
            <a:r>
              <a:rPr lang="en-US" b="1" dirty="0"/>
              <a:t>Example: </a:t>
            </a:r>
          </a:p>
          <a:p>
            <a:pPr marL="0" indent="0">
              <a:buNone/>
            </a:pPr>
            <a:r>
              <a:rPr lang="en-US" dirty="0"/>
              <a:t>If someone says, "Can you pass the salt?" </a:t>
            </a:r>
          </a:p>
          <a:p>
            <a:pPr marL="0" indent="0">
              <a:buNone/>
            </a:pPr>
            <a:r>
              <a:rPr lang="en-US" dirty="0"/>
              <a:t>Pragmatics involves understanding that this is a request rather than a question about one's ability to pass the salt, interpreting the speaker’s intent based on the dining context.</a:t>
            </a:r>
            <a:endParaRPr lang="en-GB" dirty="0"/>
          </a:p>
        </p:txBody>
      </p:sp>
    </p:spTree>
    <p:extLst>
      <p:ext uri="{BB962C8B-B14F-4D97-AF65-F5344CB8AC3E}">
        <p14:creationId xmlns:p14="http://schemas.microsoft.com/office/powerpoint/2010/main" val="242184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D6E74D-BB6E-08D8-3441-1C79114788F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82B117-454B-7F23-8845-858D71685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30DCA0-930A-25D1-1AA5-0BF729D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9B4C5F-54C8-E2C3-48A7-4C4C1FCC5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02CFFF-87B7-38F4-7FAC-E596285D5C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A52E891-E564-3845-6B29-61AB89889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C55E87-06FD-F235-7E47-D5C2728B73BB}"/>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Components of NLP</a:t>
            </a:r>
            <a:endParaRPr lang="en-PK" sz="4000" b="1" dirty="0">
              <a:solidFill>
                <a:srgbClr val="FFFFFF"/>
              </a:solidFill>
            </a:endParaRPr>
          </a:p>
        </p:txBody>
      </p:sp>
      <p:sp>
        <p:nvSpPr>
          <p:cNvPr id="3" name="Content Placeholder 2">
            <a:extLst>
              <a:ext uri="{FF2B5EF4-FFF2-40B4-BE49-F238E27FC236}">
                <a16:creationId xmlns:a16="http://schemas.microsoft.com/office/drawing/2014/main" id="{32866960-8680-51C8-EECF-B0EB4FCDDB58}"/>
              </a:ext>
            </a:extLst>
          </p:cNvPr>
          <p:cNvSpPr>
            <a:spLocks noGrp="1"/>
          </p:cNvSpPr>
          <p:nvPr>
            <p:ph idx="1"/>
          </p:nvPr>
        </p:nvSpPr>
        <p:spPr>
          <a:xfrm>
            <a:off x="288758" y="1622746"/>
            <a:ext cx="11566357" cy="4940716"/>
          </a:xfrm>
        </p:spPr>
        <p:txBody>
          <a:bodyPr anchor="ctr">
            <a:normAutofit/>
          </a:bodyPr>
          <a:lstStyle/>
          <a:p>
            <a:pPr marL="0" indent="0">
              <a:buNone/>
            </a:pPr>
            <a:r>
              <a:rPr lang="en-US" b="1" dirty="0"/>
              <a:t>Discourse:</a:t>
            </a:r>
          </a:p>
          <a:p>
            <a:pPr marL="0" indent="0">
              <a:buNone/>
            </a:pPr>
            <a:r>
              <a:rPr lang="en-US" b="1" dirty="0"/>
              <a:t>Definition: </a:t>
            </a:r>
            <a:r>
              <a:rPr lang="en-US" dirty="0"/>
              <a:t>Discourse focuses on the analysis and interpretation of language beyond the sentence level, considering how sentences relate to each other in texts and conversations.</a:t>
            </a:r>
          </a:p>
          <a:p>
            <a:pPr marL="0" indent="0">
              <a:buNone/>
            </a:pPr>
            <a:r>
              <a:rPr lang="en-US" b="1" dirty="0"/>
              <a:t>Example: </a:t>
            </a:r>
          </a:p>
          <a:p>
            <a:pPr marL="0" indent="0">
              <a:buNone/>
            </a:pPr>
            <a:r>
              <a:rPr lang="en-US" dirty="0"/>
              <a:t>In a conversation where one person says, "I’m freezing," and another responds, "I’ll close the window," discourse involves understanding the coherence between the two statements, recognizing that the second statement is a response to the implied request in the first.</a:t>
            </a:r>
            <a:endParaRPr lang="en-GB" dirty="0"/>
          </a:p>
        </p:txBody>
      </p:sp>
    </p:spTree>
    <p:extLst>
      <p:ext uri="{BB962C8B-B14F-4D97-AF65-F5344CB8AC3E}">
        <p14:creationId xmlns:p14="http://schemas.microsoft.com/office/powerpoint/2010/main" val="2928501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Freeform: Shape 21">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49ECAFBC-B9EE-1127-2756-4F24E01916A6}"/>
              </a:ext>
            </a:extLst>
          </p:cNvPr>
          <p:cNvSpPr txBox="1"/>
          <p:nvPr/>
        </p:nvSpPr>
        <p:spPr>
          <a:xfrm>
            <a:off x="2020905" y="1651847"/>
            <a:ext cx="8147713" cy="308124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Display" panose="02110004020202020204"/>
                <a:ea typeface="+mn-ea"/>
                <a:cs typeface="+mn-cs"/>
              </a:rPr>
              <a:t>NLP Applications</a:t>
            </a:r>
            <a:endParaRPr kumimoji="0" lang="en-US" sz="6600" b="0" i="0" u="none" strike="noStrike" kern="1200" cap="none" spc="0" normalizeH="0" baseline="0" noProof="0" dirty="0">
              <a:ln>
                <a:noFill/>
              </a:ln>
              <a:solidFill>
                <a:srgbClr val="FFFFFF"/>
              </a:solidFill>
              <a:effectLst/>
              <a:uLnTx/>
              <a:uFillTx/>
              <a:latin typeface="Aptos Display" panose="02110004020202020204"/>
              <a:ea typeface="+mn-ea"/>
              <a:cs typeface="+mn-cs"/>
            </a:endParaRPr>
          </a:p>
        </p:txBody>
      </p:sp>
    </p:spTree>
    <p:extLst>
      <p:ext uri="{BB962C8B-B14F-4D97-AF65-F5344CB8AC3E}">
        <p14:creationId xmlns:p14="http://schemas.microsoft.com/office/powerpoint/2010/main" val="2914030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6DBC10D-E0E3-2095-5984-52FF4A0BFE6C}"/>
              </a:ext>
            </a:extLst>
          </p:cNvPr>
          <p:cNvSpPr>
            <a:spLocks noGrp="1"/>
          </p:cNvSpPr>
          <p:nvPr>
            <p:ph type="title"/>
          </p:nvPr>
        </p:nvSpPr>
        <p:spPr>
          <a:xfrm>
            <a:off x="826396" y="586855"/>
            <a:ext cx="4230100" cy="3387497"/>
          </a:xfrm>
        </p:spPr>
        <p:txBody>
          <a:bodyPr anchor="b">
            <a:normAutofit/>
          </a:bodyPr>
          <a:lstStyle/>
          <a:p>
            <a:pPr algn="r"/>
            <a:r>
              <a:rPr lang="en-GB" sz="4000" b="1" dirty="0">
                <a:solidFill>
                  <a:srgbClr val="FFFFFF"/>
                </a:solidFill>
              </a:rPr>
              <a:t>NLP Applications and Techniques</a:t>
            </a:r>
            <a:br>
              <a:rPr lang="en-GB" sz="4000" b="1" dirty="0">
                <a:solidFill>
                  <a:srgbClr val="FFFFFF"/>
                </a:solidFill>
              </a:rPr>
            </a:br>
            <a:endParaRPr lang="en-PK" sz="4000" b="1" dirty="0">
              <a:solidFill>
                <a:srgbClr val="FFFFFF"/>
              </a:solidFill>
            </a:endParaRPr>
          </a:p>
        </p:txBody>
      </p:sp>
      <p:sp>
        <p:nvSpPr>
          <p:cNvPr id="3" name="Content Placeholder 2">
            <a:extLst>
              <a:ext uri="{FF2B5EF4-FFF2-40B4-BE49-F238E27FC236}">
                <a16:creationId xmlns:a16="http://schemas.microsoft.com/office/drawing/2014/main" id="{A0832CF4-80BD-83B8-FD98-A2C95A3B4303}"/>
              </a:ext>
            </a:extLst>
          </p:cNvPr>
          <p:cNvSpPr>
            <a:spLocks noGrp="1"/>
          </p:cNvSpPr>
          <p:nvPr>
            <p:ph idx="1"/>
          </p:nvPr>
        </p:nvSpPr>
        <p:spPr>
          <a:xfrm>
            <a:off x="5787341" y="649480"/>
            <a:ext cx="5976866" cy="5546047"/>
          </a:xfrm>
        </p:spPr>
        <p:txBody>
          <a:bodyPr anchor="ctr">
            <a:normAutofit/>
          </a:bodyPr>
          <a:lstStyle/>
          <a:p>
            <a:pPr algn="just"/>
            <a:r>
              <a:rPr lang="en-GB" dirty="0"/>
              <a:t>NLP enables machines to understand, interpret, and generate human language.</a:t>
            </a:r>
          </a:p>
          <a:p>
            <a:pPr marL="0" indent="0" algn="just">
              <a:buNone/>
            </a:pPr>
            <a:r>
              <a:rPr lang="en-GB" b="1" dirty="0"/>
              <a:t>Core Applications:</a:t>
            </a:r>
          </a:p>
          <a:p>
            <a:pPr algn="just"/>
            <a:r>
              <a:rPr lang="en-GB" dirty="0"/>
              <a:t>Extracting structured information from text.</a:t>
            </a:r>
          </a:p>
          <a:p>
            <a:pPr algn="just"/>
            <a:r>
              <a:rPr lang="en-GB" dirty="0"/>
              <a:t>Analysing opinions and emotions.</a:t>
            </a:r>
          </a:p>
          <a:p>
            <a:pPr algn="just"/>
            <a:r>
              <a:rPr lang="en-GB" dirty="0"/>
              <a:t>Identifying grammar components.</a:t>
            </a:r>
          </a:p>
        </p:txBody>
      </p:sp>
    </p:spTree>
    <p:extLst>
      <p:ext uri="{BB962C8B-B14F-4D97-AF65-F5344CB8AC3E}">
        <p14:creationId xmlns:p14="http://schemas.microsoft.com/office/powerpoint/2010/main" val="3845132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1DDC5D-CC2B-1474-D8CE-7BE1E4D225F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DC337B1-8F40-36B9-5482-ADE084CDC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B4B1AD94-9810-F31D-4B7B-4E321639D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38D30D1-7960-C583-D0F9-FF801BA9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BE757380-BB31-55C5-B4A1-2216C5A39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87078F5E-7EC1-F2DB-2AE1-9571F46D0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441E2316-64A3-1217-FA0F-88CEDFAB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EAC7CD9E-DF82-B4F0-BD92-147B5D3BA1CF}"/>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NLP Techniques and Methods</a:t>
            </a:r>
          </a:p>
        </p:txBody>
      </p:sp>
    </p:spTree>
    <p:extLst>
      <p:ext uri="{BB962C8B-B14F-4D97-AF65-F5344CB8AC3E}">
        <p14:creationId xmlns:p14="http://schemas.microsoft.com/office/powerpoint/2010/main" val="324109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B23E09-BAD5-FD1C-C886-F16A58D1CC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615A88-97EE-A28A-7FA5-348E8734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DB11E527-EC27-9906-555E-53EE939C38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2BBC8E9F-D0AD-CB06-3010-1A8ED0E94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3FEBD9D-29A6-3579-B337-D1F2BD09C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96DAEDB4-3C6F-9326-43B0-63315B547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F92D821-80C5-420A-8EF9-C3288B83D30B}"/>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NLP Techniques and Methods</a:t>
            </a:r>
            <a:endParaRPr lang="en-PK" sz="4000" b="1" dirty="0">
              <a:solidFill>
                <a:srgbClr val="FFFFFF"/>
              </a:solidFill>
            </a:endParaRPr>
          </a:p>
        </p:txBody>
      </p:sp>
      <p:sp>
        <p:nvSpPr>
          <p:cNvPr id="3" name="Content Placeholder 2">
            <a:extLst>
              <a:ext uri="{FF2B5EF4-FFF2-40B4-BE49-F238E27FC236}">
                <a16:creationId xmlns:a16="http://schemas.microsoft.com/office/drawing/2014/main" id="{514D7DD9-517B-D964-ADB8-4E2D9DD9DBBF}"/>
              </a:ext>
            </a:extLst>
          </p:cNvPr>
          <p:cNvSpPr>
            <a:spLocks noGrp="1"/>
          </p:cNvSpPr>
          <p:nvPr>
            <p:ph idx="1"/>
          </p:nvPr>
        </p:nvSpPr>
        <p:spPr>
          <a:xfrm>
            <a:off x="288758" y="1622746"/>
            <a:ext cx="11566357" cy="4940716"/>
          </a:xfrm>
        </p:spPr>
        <p:txBody>
          <a:bodyPr anchor="ctr">
            <a:normAutofit/>
          </a:bodyPr>
          <a:lstStyle/>
          <a:p>
            <a:pPr marL="0" indent="0">
              <a:buNone/>
            </a:pPr>
            <a:r>
              <a:rPr lang="en-US" dirty="0"/>
              <a:t>To analyze and understand human language, NLP employs a variety of techniques and methods. Here are some fundamental techniques used in NLP:</a:t>
            </a:r>
          </a:p>
          <a:p>
            <a:pPr marL="0" indent="0">
              <a:buNone/>
            </a:pPr>
            <a:endParaRPr lang="en-US" dirty="0"/>
          </a:p>
          <a:p>
            <a:r>
              <a:rPr lang="en-US" b="1" dirty="0"/>
              <a:t>Tokenization. </a:t>
            </a:r>
            <a:r>
              <a:rPr lang="en-US" dirty="0"/>
              <a:t>This is the process of breaking text into words, phrases, symbols, or other meaningful elements, known as tokens.</a:t>
            </a:r>
          </a:p>
          <a:p>
            <a:pPr marL="0" indent="0">
              <a:buNone/>
            </a:pPr>
            <a:endParaRPr lang="en-US" dirty="0"/>
          </a:p>
          <a:p>
            <a:r>
              <a:rPr lang="en-US" b="1" dirty="0"/>
              <a:t>Parsing. </a:t>
            </a:r>
            <a:r>
              <a:rPr lang="en-US" dirty="0"/>
              <a:t>Parsing involves analyzing the grammatical structure of a sentence to extract meaning.</a:t>
            </a:r>
            <a:endParaRPr lang="en-GB" dirty="0"/>
          </a:p>
        </p:txBody>
      </p:sp>
    </p:spTree>
    <p:extLst>
      <p:ext uri="{BB962C8B-B14F-4D97-AF65-F5344CB8AC3E}">
        <p14:creationId xmlns:p14="http://schemas.microsoft.com/office/powerpoint/2010/main" val="1575744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A6A53F-A349-895D-F06F-0CE8787906D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84E1B0B-F077-39F5-5BD8-5318C7DD7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2FEF330B-77E4-828B-28C7-46848563A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D7A577DC-F8F2-F35A-A8C2-A9DC7C0FB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BD5265DE-FF6B-878C-8C41-51E4F585E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5DF1CEA8-AC0C-991D-4CD8-35D7FDB7D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EB8A8F2-8140-FD43-39A7-CBEEA7ABC0F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Text Processing and Preprocessing</a:t>
            </a:r>
          </a:p>
        </p:txBody>
      </p:sp>
      <p:sp>
        <p:nvSpPr>
          <p:cNvPr id="3" name="Content Placeholder 2">
            <a:extLst>
              <a:ext uri="{FF2B5EF4-FFF2-40B4-BE49-F238E27FC236}">
                <a16:creationId xmlns:a16="http://schemas.microsoft.com/office/drawing/2014/main" id="{A32CFE0B-916A-79C1-360E-22BA1B300B89}"/>
              </a:ext>
            </a:extLst>
          </p:cNvPr>
          <p:cNvSpPr>
            <a:spLocks noGrp="1"/>
          </p:cNvSpPr>
          <p:nvPr>
            <p:ph idx="1"/>
          </p:nvPr>
        </p:nvSpPr>
        <p:spPr>
          <a:xfrm>
            <a:off x="334297" y="1799304"/>
            <a:ext cx="11366090" cy="4202252"/>
          </a:xfrm>
        </p:spPr>
        <p:txBody>
          <a:bodyPr anchor="ctr">
            <a:normAutofit fontScale="92500" lnSpcReduction="20000"/>
          </a:bodyPr>
          <a:lstStyle/>
          <a:p>
            <a:pPr marL="0" indent="0">
              <a:buNone/>
            </a:pPr>
            <a:r>
              <a:rPr lang="en-US" sz="3500" b="1" dirty="0"/>
              <a:t>Types of Tokenization</a:t>
            </a:r>
          </a:p>
          <a:p>
            <a:r>
              <a:rPr lang="en-US" sz="2400" dirty="0"/>
              <a:t>Tokenization can be classified into several types based on how the text is segmented. Here are some types of tokenization:</a:t>
            </a:r>
          </a:p>
          <a:p>
            <a:endParaRPr lang="en-US" sz="2400" dirty="0"/>
          </a:p>
          <a:p>
            <a:r>
              <a:rPr lang="en-US" sz="2600" b="1" dirty="0"/>
              <a:t>Word Tokenization:</a:t>
            </a:r>
          </a:p>
          <a:p>
            <a:pPr marL="0" indent="0">
              <a:buNone/>
            </a:pPr>
            <a:r>
              <a:rPr lang="en-US" sz="2400" dirty="0"/>
              <a:t>Word tokenization divides the text into individual words. Many NLP tasks use this approach, in which words are treated as the basic units of meaning.</a:t>
            </a:r>
          </a:p>
          <a:p>
            <a:endParaRPr lang="en-US" sz="2400" dirty="0"/>
          </a:p>
          <a:p>
            <a:pPr marL="0" indent="0">
              <a:buNone/>
            </a:pPr>
            <a:r>
              <a:rPr lang="en-US" sz="2400" b="1" dirty="0"/>
              <a:t>Example:</a:t>
            </a:r>
          </a:p>
          <a:p>
            <a:endParaRPr lang="en-US" sz="2400" dirty="0"/>
          </a:p>
          <a:p>
            <a:r>
              <a:rPr lang="en-US" sz="2400" dirty="0"/>
              <a:t>Input: "Tokenization is an important NLP task."</a:t>
            </a:r>
          </a:p>
          <a:p>
            <a:r>
              <a:rPr lang="en-US" sz="2400" dirty="0"/>
              <a:t>Output: ["Tokenization", "is", "an", "important", "NLP", "task", "."]</a:t>
            </a:r>
          </a:p>
        </p:txBody>
      </p:sp>
    </p:spTree>
    <p:extLst>
      <p:ext uri="{BB962C8B-B14F-4D97-AF65-F5344CB8AC3E}">
        <p14:creationId xmlns:p14="http://schemas.microsoft.com/office/powerpoint/2010/main" val="257393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01CB0B-49E8-0A80-D744-8FF23B9EFB2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6C7CD5E-153D-C2DF-E038-A660D2CF1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22FF2D61-9478-59B8-533A-3E348B9957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0836A04A-7B69-2081-423B-04F6CCF3E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BF60CBDE-8CDC-4E93-FD23-D260FF35F9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8F3E84B3-3F68-8780-A729-477B071F4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5FF9B91-68BD-B3AB-D881-1CD3DC8407C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Text Processing and Preprocessing</a:t>
            </a:r>
          </a:p>
        </p:txBody>
      </p:sp>
      <p:sp>
        <p:nvSpPr>
          <p:cNvPr id="3" name="Content Placeholder 2">
            <a:extLst>
              <a:ext uri="{FF2B5EF4-FFF2-40B4-BE49-F238E27FC236}">
                <a16:creationId xmlns:a16="http://schemas.microsoft.com/office/drawing/2014/main" id="{56488A65-5F2F-4610-A45C-25B4C55B25F5}"/>
              </a:ext>
            </a:extLst>
          </p:cNvPr>
          <p:cNvSpPr>
            <a:spLocks noGrp="1"/>
          </p:cNvSpPr>
          <p:nvPr>
            <p:ph idx="1"/>
          </p:nvPr>
        </p:nvSpPr>
        <p:spPr>
          <a:xfrm>
            <a:off x="334297" y="1799304"/>
            <a:ext cx="11366090" cy="4202252"/>
          </a:xfrm>
        </p:spPr>
        <p:txBody>
          <a:bodyPr anchor="ctr">
            <a:normAutofit fontScale="92500"/>
          </a:bodyPr>
          <a:lstStyle/>
          <a:p>
            <a:pPr marL="0" indent="0">
              <a:buNone/>
            </a:pPr>
            <a:r>
              <a:rPr lang="en-US" sz="3500" b="1" dirty="0"/>
              <a:t>Types of Tokenization</a:t>
            </a:r>
          </a:p>
          <a:p>
            <a:pPr marL="0" indent="0">
              <a:buNone/>
            </a:pPr>
            <a:r>
              <a:rPr lang="en-US" sz="2400" b="1" dirty="0"/>
              <a:t>Sentence Tokenization:</a:t>
            </a:r>
          </a:p>
          <a:p>
            <a:r>
              <a:rPr lang="en-US" sz="2400" dirty="0"/>
              <a:t>The text is segmented into sentences during sentence tokenization. This is useful for tasks requiring individual sentence analysis or processing.</a:t>
            </a:r>
          </a:p>
          <a:p>
            <a:endParaRPr lang="en-US" sz="2400" dirty="0"/>
          </a:p>
          <a:p>
            <a:r>
              <a:rPr lang="en-US" sz="2400" b="1" dirty="0"/>
              <a:t>Example:</a:t>
            </a:r>
          </a:p>
          <a:p>
            <a:endParaRPr lang="en-US" sz="2400" dirty="0"/>
          </a:p>
          <a:p>
            <a:r>
              <a:rPr lang="en-US" sz="2400" dirty="0"/>
              <a:t>Input: "Tokenization is an important NLP task. It helps break down text into smaller units."</a:t>
            </a:r>
          </a:p>
          <a:p>
            <a:r>
              <a:rPr lang="en-US" sz="2400" dirty="0"/>
              <a:t>Output: ["Tokenization is an important NLP task.", "It helps break down text into smaller units."]</a:t>
            </a:r>
          </a:p>
        </p:txBody>
      </p:sp>
    </p:spTree>
    <p:extLst>
      <p:ext uri="{BB962C8B-B14F-4D97-AF65-F5344CB8AC3E}">
        <p14:creationId xmlns:p14="http://schemas.microsoft.com/office/powerpoint/2010/main" val="2918028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302213-5A5C-9CF9-C8ED-27FA0249BC8E}"/>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CABA1F7-D7FE-CA4D-8B06-631A9C02D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C797517E-55F8-74C5-3B0E-5710861C0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56283F08-F4DC-4B1D-91D2-5101E82AB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398D2BE2-018C-CE45-8A26-2C7766E70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2F0F59BF-93B9-AAF9-B59F-53B2E4842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DBE98B2-412B-935D-3764-31D0F3E0C0A7}"/>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Text Processing and Preprocessing</a:t>
            </a:r>
          </a:p>
        </p:txBody>
      </p:sp>
      <p:sp>
        <p:nvSpPr>
          <p:cNvPr id="3" name="Content Placeholder 2">
            <a:extLst>
              <a:ext uri="{FF2B5EF4-FFF2-40B4-BE49-F238E27FC236}">
                <a16:creationId xmlns:a16="http://schemas.microsoft.com/office/drawing/2014/main" id="{D6CB6CA5-AA8D-370E-9A9D-06AD8BF96A5F}"/>
              </a:ext>
            </a:extLst>
          </p:cNvPr>
          <p:cNvSpPr>
            <a:spLocks noGrp="1"/>
          </p:cNvSpPr>
          <p:nvPr>
            <p:ph idx="1"/>
          </p:nvPr>
        </p:nvSpPr>
        <p:spPr>
          <a:xfrm>
            <a:off x="334297" y="1799304"/>
            <a:ext cx="11366090" cy="4202252"/>
          </a:xfrm>
        </p:spPr>
        <p:txBody>
          <a:bodyPr anchor="ctr">
            <a:normAutofit/>
          </a:bodyPr>
          <a:lstStyle/>
          <a:p>
            <a:pPr marL="0" indent="0">
              <a:buNone/>
            </a:pPr>
            <a:r>
              <a:rPr lang="en-US" sz="3500" b="1" dirty="0"/>
              <a:t>Types of Tokenization</a:t>
            </a:r>
          </a:p>
          <a:p>
            <a:pPr marL="0" indent="0">
              <a:buNone/>
            </a:pPr>
            <a:r>
              <a:rPr lang="en-US" sz="2400" b="1" dirty="0" err="1"/>
              <a:t>Subword</a:t>
            </a:r>
            <a:r>
              <a:rPr lang="en-US" sz="2400" b="1" dirty="0"/>
              <a:t> Tokenization:</a:t>
            </a:r>
          </a:p>
          <a:p>
            <a:pPr marL="0" indent="0">
              <a:buNone/>
            </a:pPr>
            <a:r>
              <a:rPr lang="en-US" sz="2400" dirty="0" err="1"/>
              <a:t>Subword</a:t>
            </a:r>
            <a:r>
              <a:rPr lang="en-US" sz="2400" dirty="0"/>
              <a:t> tokenization entails breaking down words into smaller units, which can be especially useful when dealing with morphologically rich languages or rare words.</a:t>
            </a:r>
          </a:p>
          <a:p>
            <a:pPr marL="0" indent="0">
              <a:buNone/>
            </a:pPr>
            <a:endParaRPr lang="en-US" sz="2400" dirty="0"/>
          </a:p>
          <a:p>
            <a:pPr marL="0" indent="0">
              <a:buNone/>
            </a:pPr>
            <a:r>
              <a:rPr lang="en-US" sz="2400" b="1" dirty="0"/>
              <a:t>Example:</a:t>
            </a:r>
          </a:p>
          <a:p>
            <a:pPr marL="0" indent="0">
              <a:buNone/>
            </a:pPr>
            <a:endParaRPr lang="en-US" sz="2400" dirty="0"/>
          </a:p>
          <a:p>
            <a:pPr marL="0" indent="0">
              <a:buNone/>
            </a:pPr>
            <a:r>
              <a:rPr lang="en-US" sz="2400" dirty="0"/>
              <a:t>Input: "tokenization"</a:t>
            </a:r>
          </a:p>
          <a:p>
            <a:pPr marL="0" indent="0">
              <a:buNone/>
            </a:pPr>
            <a:r>
              <a:rPr lang="en-US" sz="2400" dirty="0"/>
              <a:t>Output: ["token", "</a:t>
            </a:r>
            <a:r>
              <a:rPr lang="en-US" sz="2400" dirty="0" err="1"/>
              <a:t>ization</a:t>
            </a:r>
            <a:r>
              <a:rPr lang="en-US" sz="2400" dirty="0"/>
              <a:t>"]</a:t>
            </a:r>
          </a:p>
        </p:txBody>
      </p:sp>
    </p:spTree>
    <p:extLst>
      <p:ext uri="{BB962C8B-B14F-4D97-AF65-F5344CB8AC3E}">
        <p14:creationId xmlns:p14="http://schemas.microsoft.com/office/powerpoint/2010/main" val="3080624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CB6EF9-F2DE-1899-72E4-F6C94FBF1218}"/>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11F46F7-EFBA-D760-8E86-308F995E5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D51F260F-971A-3CD2-3971-8355FF31A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CF74A9A6-12C8-603C-B07B-A80F081C7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B4826084-DC4A-29B8-2AAA-AEE6BDAB2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C6132768-A27D-4B48-354B-689459095B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7C59F10-3F9C-3A01-851F-4B43771F905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Text Processing and Preprocessing</a:t>
            </a:r>
          </a:p>
        </p:txBody>
      </p:sp>
      <p:sp>
        <p:nvSpPr>
          <p:cNvPr id="3" name="Content Placeholder 2">
            <a:extLst>
              <a:ext uri="{FF2B5EF4-FFF2-40B4-BE49-F238E27FC236}">
                <a16:creationId xmlns:a16="http://schemas.microsoft.com/office/drawing/2014/main" id="{4C22BFE1-99A6-7A1E-C0CA-478FC5ADD291}"/>
              </a:ext>
            </a:extLst>
          </p:cNvPr>
          <p:cNvSpPr>
            <a:spLocks noGrp="1"/>
          </p:cNvSpPr>
          <p:nvPr>
            <p:ph idx="1"/>
          </p:nvPr>
        </p:nvSpPr>
        <p:spPr>
          <a:xfrm>
            <a:off x="334297" y="1799304"/>
            <a:ext cx="11366090" cy="4202252"/>
          </a:xfrm>
        </p:spPr>
        <p:txBody>
          <a:bodyPr anchor="ctr">
            <a:normAutofit lnSpcReduction="10000"/>
          </a:bodyPr>
          <a:lstStyle/>
          <a:p>
            <a:pPr marL="0" indent="0">
              <a:buNone/>
            </a:pPr>
            <a:r>
              <a:rPr lang="en-US" sz="3500" b="1" dirty="0"/>
              <a:t>Types of Tokenization</a:t>
            </a:r>
          </a:p>
          <a:p>
            <a:pPr marL="0" indent="0">
              <a:buNone/>
            </a:pPr>
            <a:r>
              <a:rPr lang="en-US" b="1" dirty="0"/>
              <a:t>Character Tokenization:</a:t>
            </a:r>
          </a:p>
          <a:p>
            <a:pPr marL="0" indent="0">
              <a:buNone/>
            </a:pPr>
            <a:r>
              <a:rPr lang="en-US" sz="2600" dirty="0"/>
              <a:t>This process divides the text into individual characters. This can be useful for modelling character-level language.</a:t>
            </a:r>
          </a:p>
          <a:p>
            <a:pPr marL="0" indent="0">
              <a:buNone/>
            </a:pPr>
            <a:endParaRPr lang="en-US" sz="2600" dirty="0"/>
          </a:p>
          <a:p>
            <a:pPr marL="0" indent="0">
              <a:buNone/>
            </a:pPr>
            <a:r>
              <a:rPr lang="en-US" sz="2600" b="1" dirty="0"/>
              <a:t>Example:</a:t>
            </a:r>
          </a:p>
          <a:p>
            <a:pPr marL="0" indent="0">
              <a:buNone/>
            </a:pPr>
            <a:endParaRPr lang="en-US" sz="2600" dirty="0"/>
          </a:p>
          <a:p>
            <a:pPr marL="0" indent="0">
              <a:buNone/>
            </a:pPr>
            <a:r>
              <a:rPr lang="en-US" sz="2600" dirty="0"/>
              <a:t>Input: "Tokenization"</a:t>
            </a:r>
          </a:p>
          <a:p>
            <a:pPr marL="0" indent="0">
              <a:buNone/>
            </a:pPr>
            <a:r>
              <a:rPr lang="en-US" sz="2600" dirty="0"/>
              <a:t>Output: ["T", "o", "k", "e", "n", "</a:t>
            </a:r>
            <a:r>
              <a:rPr lang="en-US" sz="2600" dirty="0" err="1"/>
              <a:t>i</a:t>
            </a:r>
            <a:r>
              <a:rPr lang="en-US" sz="2600" dirty="0"/>
              <a:t>", "z", "a", "t", "</a:t>
            </a:r>
            <a:r>
              <a:rPr lang="en-US" sz="2600" dirty="0" err="1"/>
              <a:t>i</a:t>
            </a:r>
            <a:r>
              <a:rPr lang="en-US" sz="2600" dirty="0"/>
              <a:t>", "o", "n"]</a:t>
            </a:r>
          </a:p>
        </p:txBody>
      </p:sp>
    </p:spTree>
    <p:extLst>
      <p:ext uri="{BB962C8B-B14F-4D97-AF65-F5344CB8AC3E}">
        <p14:creationId xmlns:p14="http://schemas.microsoft.com/office/powerpoint/2010/main" val="91971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C53A557-8890-1BB2-6E34-DE69E4AA36DF}"/>
              </a:ext>
            </a:extLst>
          </p:cNvPr>
          <p:cNvSpPr>
            <a:spLocks noGrp="1"/>
          </p:cNvSpPr>
          <p:nvPr>
            <p:ph type="title"/>
          </p:nvPr>
        </p:nvSpPr>
        <p:spPr>
          <a:xfrm>
            <a:off x="635000" y="640823"/>
            <a:ext cx="3418659" cy="5583148"/>
          </a:xfrm>
        </p:spPr>
        <p:txBody>
          <a:bodyPr anchor="ctr">
            <a:normAutofit/>
          </a:bodyPr>
          <a:lstStyle/>
          <a:p>
            <a:r>
              <a:rPr lang="en-US" sz="5000"/>
              <a:t>Techniques used for Tokenization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52D24F5E-E7FD-13B9-EDB1-FCCCDBAB44D0}"/>
              </a:ext>
            </a:extLst>
          </p:cNvPr>
          <p:cNvGraphicFramePr>
            <a:graphicFrameLocks noGrp="1"/>
          </p:cNvGraphicFramePr>
          <p:nvPr>
            <p:ph idx="1"/>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3091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F19E-0E9D-F5B9-4892-214B1702BDAF}"/>
              </a:ext>
            </a:extLst>
          </p:cNvPr>
          <p:cNvSpPr>
            <a:spLocks noGrp="1"/>
          </p:cNvSpPr>
          <p:nvPr>
            <p:ph type="title"/>
          </p:nvPr>
        </p:nvSpPr>
        <p:spPr/>
        <p:txBody>
          <a:bodyPr/>
          <a:lstStyle/>
          <a:p>
            <a:r>
              <a:rPr lang="en-US" dirty="0"/>
              <a:t>Limitations of Tokenization</a:t>
            </a:r>
          </a:p>
        </p:txBody>
      </p:sp>
      <p:sp>
        <p:nvSpPr>
          <p:cNvPr id="3" name="Content Placeholder 2">
            <a:extLst>
              <a:ext uri="{FF2B5EF4-FFF2-40B4-BE49-F238E27FC236}">
                <a16:creationId xmlns:a16="http://schemas.microsoft.com/office/drawing/2014/main" id="{843ECDD9-966B-4F15-086D-86E9B8E56783}"/>
              </a:ext>
            </a:extLst>
          </p:cNvPr>
          <p:cNvSpPr>
            <a:spLocks noGrp="1"/>
          </p:cNvSpPr>
          <p:nvPr>
            <p:ph idx="1"/>
          </p:nvPr>
        </p:nvSpPr>
        <p:spPr/>
        <p:txBody>
          <a:bodyPr/>
          <a:lstStyle/>
          <a:p>
            <a:r>
              <a:rPr lang="en-US" dirty="0"/>
              <a:t>Tokenization is unable to capture the meaning of the sentence hence, results in ambiguity.</a:t>
            </a:r>
          </a:p>
          <a:p>
            <a:r>
              <a:rPr lang="en-US" dirty="0"/>
              <a:t>In certain languages like Chinese, Japanese, Arabic, lack distinct spaces between words. Hence, there is an absence of clear boundaries that complicates the process of tokenization.</a:t>
            </a:r>
          </a:p>
          <a:p>
            <a:r>
              <a:rPr lang="en-US" dirty="0"/>
              <a:t>Text may also include more than one word, for example email address, URLs and special symbols, hence it is difficult to decide how to tokenize such elements.</a:t>
            </a:r>
          </a:p>
        </p:txBody>
      </p:sp>
    </p:spTree>
    <p:extLst>
      <p:ext uri="{BB962C8B-B14F-4D97-AF65-F5344CB8AC3E}">
        <p14:creationId xmlns:p14="http://schemas.microsoft.com/office/powerpoint/2010/main" val="1904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0D0EAE-4A1F-F13A-E66C-95EC62C9C1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39E62F-1821-0E3F-CBFE-08E24D880674}"/>
              </a:ext>
            </a:extLst>
          </p:cNvPr>
          <p:cNvSpPr>
            <a:spLocks noGrp="1"/>
          </p:cNvSpPr>
          <p:nvPr>
            <p:ph type="title"/>
          </p:nvPr>
        </p:nvSpPr>
        <p:spPr>
          <a:xfrm>
            <a:off x="686834" y="1153572"/>
            <a:ext cx="3200400" cy="4461163"/>
          </a:xfrm>
        </p:spPr>
        <p:txBody>
          <a:bodyPr>
            <a:normAutofit/>
          </a:bodyPr>
          <a:lstStyle/>
          <a:p>
            <a:r>
              <a:rPr lang="en-US" sz="3700">
                <a:solidFill>
                  <a:srgbClr val="FFFFFF"/>
                </a:solidFill>
              </a:rPr>
              <a:t>Stemming and Lemmatization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AB336EF-6348-E9F9-E50C-E61CBB692CA3}"/>
              </a:ext>
            </a:extLst>
          </p:cNvPr>
          <p:cNvSpPr>
            <a:spLocks noGrp="1"/>
          </p:cNvSpPr>
          <p:nvPr>
            <p:ph idx="1"/>
          </p:nvPr>
        </p:nvSpPr>
        <p:spPr>
          <a:xfrm>
            <a:off x="4447308" y="591344"/>
            <a:ext cx="6906491" cy="5585619"/>
          </a:xfrm>
        </p:spPr>
        <p:txBody>
          <a:bodyPr anchor="ctr">
            <a:normAutofit/>
          </a:bodyPr>
          <a:lstStyle/>
          <a:p>
            <a:r>
              <a:rPr lang="en-US"/>
              <a:t>Stemming and lemmatization are both text normalization techniques used in Natural Language Processing (NLP) to reduce words to their base or root form. This helps in treating related words (e.g., "run", "running", "runs") as the same in tasks like search, classification, or analysis.</a:t>
            </a:r>
          </a:p>
        </p:txBody>
      </p:sp>
    </p:spTree>
    <p:extLst>
      <p:ext uri="{BB962C8B-B14F-4D97-AF65-F5344CB8AC3E}">
        <p14:creationId xmlns:p14="http://schemas.microsoft.com/office/powerpoint/2010/main" val="3399559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935A5-02CE-EAB8-DA59-D8B499BE185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11B054A-46DA-53D7-6182-1FC2C6F58D67}"/>
              </a:ext>
            </a:extLst>
          </p:cNvPr>
          <p:cNvSpPr>
            <a:spLocks noGrp="1"/>
          </p:cNvSpPr>
          <p:nvPr>
            <p:ph type="title"/>
          </p:nvPr>
        </p:nvSpPr>
        <p:spPr>
          <a:xfrm>
            <a:off x="686834" y="1153572"/>
            <a:ext cx="3200400" cy="4461163"/>
          </a:xfrm>
        </p:spPr>
        <p:txBody>
          <a:bodyPr>
            <a:normAutofit/>
          </a:bodyPr>
          <a:lstStyle/>
          <a:p>
            <a:r>
              <a:rPr lang="en-US">
                <a:solidFill>
                  <a:srgbClr val="FFFFFF"/>
                </a:solidFill>
              </a:rPr>
              <a:t>Stemming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0346DC6B-2A99-ADA2-E8F4-EBA85AC7A134}"/>
              </a:ext>
            </a:extLst>
          </p:cNvPr>
          <p:cNvSpPr>
            <a:spLocks noGrp="1"/>
          </p:cNvSpPr>
          <p:nvPr>
            <p:ph idx="1"/>
          </p:nvPr>
        </p:nvSpPr>
        <p:spPr>
          <a:xfrm>
            <a:off x="4447308" y="591344"/>
            <a:ext cx="6906491" cy="5585619"/>
          </a:xfrm>
        </p:spPr>
        <p:txBody>
          <a:bodyPr anchor="ctr">
            <a:normAutofit/>
          </a:bodyPr>
          <a:lstStyle/>
          <a:p>
            <a:r>
              <a:rPr lang="en-US" dirty="0"/>
              <a:t>Stemming is the process of chopping off the </a:t>
            </a:r>
            <a:r>
              <a:rPr lang="en-US" b="1" dirty="0"/>
              <a:t>end of words</a:t>
            </a:r>
            <a:r>
              <a:rPr lang="en-US" dirty="0"/>
              <a:t> to get to their </a:t>
            </a:r>
            <a:r>
              <a:rPr lang="en-US" b="1" dirty="0"/>
              <a:t>root form</a:t>
            </a:r>
            <a:r>
              <a:rPr lang="en-US" dirty="0"/>
              <a:t> (which may not be a real word).</a:t>
            </a:r>
          </a:p>
          <a:p>
            <a:r>
              <a:rPr lang="en-US" dirty="0"/>
              <a:t>It uses simple, rule-based heuristics (not always grammatically correct).</a:t>
            </a:r>
          </a:p>
          <a:p>
            <a:r>
              <a:rPr lang="en-US" dirty="0"/>
              <a:t>Fast and simple. Useful when perfect accuracy is not necessary (e.g. search engines)</a:t>
            </a:r>
          </a:p>
          <a:p>
            <a:r>
              <a:rPr lang="en-US" dirty="0"/>
              <a:t>Can produce non-words</a:t>
            </a:r>
          </a:p>
          <a:p>
            <a:r>
              <a:rPr lang="en-US" dirty="0"/>
              <a:t>Less accurate than lemmatization</a:t>
            </a:r>
          </a:p>
          <a:p>
            <a:endParaRPr lang="en-US" dirty="0"/>
          </a:p>
        </p:txBody>
      </p:sp>
    </p:spTree>
    <p:extLst>
      <p:ext uri="{BB962C8B-B14F-4D97-AF65-F5344CB8AC3E}">
        <p14:creationId xmlns:p14="http://schemas.microsoft.com/office/powerpoint/2010/main" val="2322290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61804-B0EF-0397-8AF2-4F25C2D9C3B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Freeform: Shape 13">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Arc 1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C7BC77-1475-4F1E-D01F-7559984744F4}"/>
              </a:ext>
            </a:extLst>
          </p:cNvPr>
          <p:cNvSpPr>
            <a:spLocks noGrp="1"/>
          </p:cNvSpPr>
          <p:nvPr>
            <p:ph type="title"/>
          </p:nvPr>
        </p:nvSpPr>
        <p:spPr>
          <a:xfrm>
            <a:off x="838201" y="479493"/>
            <a:ext cx="5257800" cy="1325563"/>
          </a:xfrm>
        </p:spPr>
        <p:txBody>
          <a:bodyPr>
            <a:normAutofit/>
          </a:bodyPr>
          <a:lstStyle/>
          <a:p>
            <a:r>
              <a:rPr lang="en-US" dirty="0"/>
              <a:t>Stemming </a:t>
            </a:r>
          </a:p>
        </p:txBody>
      </p:sp>
      <p:sp>
        <p:nvSpPr>
          <p:cNvPr id="3" name="Content Placeholder 2">
            <a:extLst>
              <a:ext uri="{FF2B5EF4-FFF2-40B4-BE49-F238E27FC236}">
                <a16:creationId xmlns:a16="http://schemas.microsoft.com/office/drawing/2014/main" id="{A78EBA6C-06EB-E4F3-BA46-1536A300F194}"/>
              </a:ext>
            </a:extLst>
          </p:cNvPr>
          <p:cNvSpPr>
            <a:spLocks noGrp="1"/>
          </p:cNvSpPr>
          <p:nvPr>
            <p:ph idx="1"/>
          </p:nvPr>
        </p:nvSpPr>
        <p:spPr>
          <a:xfrm>
            <a:off x="838201" y="1984443"/>
            <a:ext cx="5257800" cy="4192520"/>
          </a:xfrm>
        </p:spPr>
        <p:txBody>
          <a:bodyPr>
            <a:normAutofit/>
          </a:bodyPr>
          <a:lstStyle/>
          <a:p>
            <a:r>
              <a:rPr lang="en-US" b="1" dirty="0"/>
              <a:t>Example:</a:t>
            </a:r>
          </a:p>
          <a:p>
            <a:endParaRPr lang="en-US" dirty="0"/>
          </a:p>
        </p:txBody>
      </p:sp>
      <p:graphicFrame>
        <p:nvGraphicFramePr>
          <p:cNvPr id="7" name="Table 6">
            <a:extLst>
              <a:ext uri="{FF2B5EF4-FFF2-40B4-BE49-F238E27FC236}">
                <a16:creationId xmlns:a16="http://schemas.microsoft.com/office/drawing/2014/main" id="{D2A3D2F9-CF4E-EFCF-4FCC-881EDEFC56F7}"/>
              </a:ext>
            </a:extLst>
          </p:cNvPr>
          <p:cNvGraphicFramePr>
            <a:graphicFrameLocks noGrp="1"/>
          </p:cNvGraphicFramePr>
          <p:nvPr>
            <p:extLst>
              <p:ext uri="{D42A27DB-BD31-4B8C-83A1-F6EECF244321}">
                <p14:modId xmlns:p14="http://schemas.microsoft.com/office/powerpoint/2010/main" val="1742667874"/>
              </p:ext>
            </p:extLst>
          </p:nvPr>
        </p:nvGraphicFramePr>
        <p:xfrm>
          <a:off x="3707308" y="2186175"/>
          <a:ext cx="4777381" cy="3300225"/>
        </p:xfrm>
        <a:graphic>
          <a:graphicData uri="http://schemas.openxmlformats.org/drawingml/2006/table">
            <a:tbl>
              <a:tblPr>
                <a:solidFill>
                  <a:schemeClr val="bg1"/>
                </a:solidFill>
              </a:tblPr>
              <a:tblGrid>
                <a:gridCol w="2289432">
                  <a:extLst>
                    <a:ext uri="{9D8B030D-6E8A-4147-A177-3AD203B41FA5}">
                      <a16:colId xmlns:a16="http://schemas.microsoft.com/office/drawing/2014/main" val="2971599270"/>
                    </a:ext>
                  </a:extLst>
                </a:gridCol>
                <a:gridCol w="2487949">
                  <a:extLst>
                    <a:ext uri="{9D8B030D-6E8A-4147-A177-3AD203B41FA5}">
                      <a16:colId xmlns:a16="http://schemas.microsoft.com/office/drawing/2014/main" val="105265449"/>
                    </a:ext>
                  </a:extLst>
                </a:gridCol>
              </a:tblGrid>
              <a:tr h="660045">
                <a:tc>
                  <a:txBody>
                    <a:bodyPr/>
                    <a:lstStyle/>
                    <a:p>
                      <a:r>
                        <a:rPr lang="en-US" sz="2100" b="1" cap="none" spc="0">
                          <a:solidFill>
                            <a:schemeClr val="tx1"/>
                          </a:solidFill>
                        </a:rPr>
                        <a:t>Original Word</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US" sz="2100" b="1" cap="none" spc="0">
                          <a:solidFill>
                            <a:schemeClr val="tx1"/>
                          </a:solidFill>
                        </a:rPr>
                        <a:t>Stemmed Word</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766322903"/>
                  </a:ext>
                </a:extLst>
              </a:tr>
              <a:tr h="660045">
                <a:tc>
                  <a:txBody>
                    <a:bodyPr/>
                    <a:lstStyle/>
                    <a:p>
                      <a:r>
                        <a:rPr lang="en-US" sz="2100" cap="none" spc="0">
                          <a:solidFill>
                            <a:schemeClr val="tx1"/>
                          </a:solidFill>
                        </a:rPr>
                        <a:t>running</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2100" cap="none" spc="0">
                          <a:solidFill>
                            <a:schemeClr val="tx1"/>
                          </a:solidFill>
                        </a:rPr>
                        <a:t>run</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550125725"/>
                  </a:ext>
                </a:extLst>
              </a:tr>
              <a:tr h="660045">
                <a:tc>
                  <a:txBody>
                    <a:bodyPr/>
                    <a:lstStyle/>
                    <a:p>
                      <a:r>
                        <a:rPr lang="en-US" sz="2100" cap="none" spc="0">
                          <a:solidFill>
                            <a:schemeClr val="tx1"/>
                          </a:solidFill>
                        </a:rPr>
                        <a:t>happily</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2100" cap="none" spc="0">
                          <a:solidFill>
                            <a:schemeClr val="tx1"/>
                          </a:solidFill>
                        </a:rPr>
                        <a:t>happi</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26055771"/>
                  </a:ext>
                </a:extLst>
              </a:tr>
              <a:tr h="660045">
                <a:tc>
                  <a:txBody>
                    <a:bodyPr/>
                    <a:lstStyle/>
                    <a:p>
                      <a:r>
                        <a:rPr lang="en-US" sz="2100" cap="none" spc="0">
                          <a:solidFill>
                            <a:schemeClr val="tx1"/>
                          </a:solidFill>
                        </a:rPr>
                        <a:t>studies</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2100" cap="none" spc="0">
                          <a:solidFill>
                            <a:schemeClr val="tx1"/>
                          </a:solidFill>
                        </a:rPr>
                        <a:t>studi</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514996460"/>
                  </a:ext>
                </a:extLst>
              </a:tr>
              <a:tr h="660045">
                <a:tc>
                  <a:txBody>
                    <a:bodyPr/>
                    <a:lstStyle/>
                    <a:p>
                      <a:r>
                        <a:rPr lang="en-US" sz="2100" cap="none" spc="0">
                          <a:solidFill>
                            <a:schemeClr val="tx1"/>
                          </a:solidFill>
                        </a:rPr>
                        <a:t>organization</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n-US" sz="2100" cap="none" spc="0" dirty="0">
                          <a:solidFill>
                            <a:schemeClr val="tx1"/>
                          </a:solidFill>
                        </a:rPr>
                        <a:t>organ</a:t>
                      </a:r>
                    </a:p>
                  </a:txBody>
                  <a:tcPr marL="181280" marR="139446" marT="139446" marB="139446"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3255948854"/>
                  </a:ext>
                </a:extLst>
              </a:tr>
            </a:tbl>
          </a:graphicData>
        </a:graphic>
      </p:graphicFrame>
    </p:spTree>
    <p:extLst>
      <p:ext uri="{BB962C8B-B14F-4D97-AF65-F5344CB8AC3E}">
        <p14:creationId xmlns:p14="http://schemas.microsoft.com/office/powerpoint/2010/main" val="2877582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42F6CF-5034-F5B1-08EF-72AD33EE3B2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5B4FD47-BBCC-C695-445A-601D5881A800}"/>
              </a:ext>
            </a:extLst>
          </p:cNvPr>
          <p:cNvSpPr>
            <a:spLocks noGrp="1"/>
          </p:cNvSpPr>
          <p:nvPr>
            <p:ph type="title"/>
          </p:nvPr>
        </p:nvSpPr>
        <p:spPr>
          <a:xfrm>
            <a:off x="686834" y="1153572"/>
            <a:ext cx="3200400" cy="4461163"/>
          </a:xfrm>
        </p:spPr>
        <p:txBody>
          <a:bodyPr>
            <a:normAutofit/>
          </a:bodyPr>
          <a:lstStyle/>
          <a:p>
            <a:r>
              <a:rPr lang="en-US" sz="3700">
                <a:solidFill>
                  <a:srgbClr val="FFFFFF"/>
                </a:solidFill>
              </a:rPr>
              <a:t>Lemmatization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77AC3A98-02F1-33CA-792F-7611A7D54656}"/>
              </a:ext>
            </a:extLst>
          </p:cNvPr>
          <p:cNvSpPr>
            <a:spLocks noGrp="1"/>
          </p:cNvSpPr>
          <p:nvPr>
            <p:ph idx="1"/>
          </p:nvPr>
        </p:nvSpPr>
        <p:spPr>
          <a:xfrm>
            <a:off x="4447308" y="591344"/>
            <a:ext cx="6906491" cy="5585619"/>
          </a:xfrm>
        </p:spPr>
        <p:txBody>
          <a:bodyPr anchor="ctr">
            <a:normAutofit/>
          </a:bodyPr>
          <a:lstStyle/>
          <a:p>
            <a:r>
              <a:rPr lang="en-US" sz="2600" dirty="0"/>
              <a:t>This technique reduces words to their base or root form, allowing for the grouping of different forms of the same word.</a:t>
            </a:r>
          </a:p>
          <a:p>
            <a:r>
              <a:rPr lang="en-US" sz="2600" dirty="0"/>
              <a:t>It considers context, grammar, and word meaning. Requires a </a:t>
            </a:r>
            <a:r>
              <a:rPr lang="en-US" sz="2600" b="1" dirty="0"/>
              <a:t>dictionary or corpus</a:t>
            </a:r>
            <a:r>
              <a:rPr lang="en-US" sz="2600" dirty="0"/>
              <a:t>.</a:t>
            </a:r>
          </a:p>
          <a:p>
            <a:r>
              <a:rPr lang="en-US" sz="2600" dirty="0"/>
              <a:t>More accurate and meaningful. Produce real dictionary words</a:t>
            </a:r>
          </a:p>
          <a:p>
            <a:r>
              <a:rPr lang="en-US" sz="2600" dirty="0"/>
              <a:t>Slower and complex as it requires more resources.</a:t>
            </a:r>
          </a:p>
          <a:p>
            <a:r>
              <a:rPr lang="en-US" sz="2600" dirty="0"/>
              <a:t>Use </a:t>
            </a:r>
            <a:r>
              <a:rPr lang="en-US" sz="2600" b="1" dirty="0"/>
              <a:t>lemmatization</a:t>
            </a:r>
            <a:r>
              <a:rPr lang="en-US" sz="2600" dirty="0"/>
              <a:t> when </a:t>
            </a:r>
            <a:r>
              <a:rPr lang="en-US" sz="2600" b="1" dirty="0"/>
              <a:t>meaning matters</a:t>
            </a:r>
            <a:r>
              <a:rPr lang="en-US" sz="2600" dirty="0"/>
              <a:t>, like in machine translation, chatbots, or sentiment analysis.</a:t>
            </a:r>
          </a:p>
        </p:txBody>
      </p:sp>
    </p:spTree>
    <p:extLst>
      <p:ext uri="{BB962C8B-B14F-4D97-AF65-F5344CB8AC3E}">
        <p14:creationId xmlns:p14="http://schemas.microsoft.com/office/powerpoint/2010/main" val="2663931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reeform: Shape 1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Arc 1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F36D797-EB34-97BC-1874-681FE0A3BC30}"/>
              </a:ext>
            </a:extLst>
          </p:cNvPr>
          <p:cNvSpPr>
            <a:spLocks noGrp="1"/>
          </p:cNvSpPr>
          <p:nvPr>
            <p:ph type="title"/>
          </p:nvPr>
        </p:nvSpPr>
        <p:spPr>
          <a:xfrm>
            <a:off x="838201" y="479493"/>
            <a:ext cx="5257800" cy="1325563"/>
          </a:xfrm>
        </p:spPr>
        <p:txBody>
          <a:bodyPr>
            <a:normAutofit/>
          </a:bodyPr>
          <a:lstStyle/>
          <a:p>
            <a:r>
              <a:rPr lang="en-US" dirty="0"/>
              <a:t>Lemmatization</a:t>
            </a:r>
          </a:p>
        </p:txBody>
      </p:sp>
      <p:sp>
        <p:nvSpPr>
          <p:cNvPr id="3" name="Content Placeholder 2">
            <a:extLst>
              <a:ext uri="{FF2B5EF4-FFF2-40B4-BE49-F238E27FC236}">
                <a16:creationId xmlns:a16="http://schemas.microsoft.com/office/drawing/2014/main" id="{8E3D7144-772C-53AE-267A-E434619D4662}"/>
              </a:ext>
            </a:extLst>
          </p:cNvPr>
          <p:cNvSpPr>
            <a:spLocks noGrp="1"/>
          </p:cNvSpPr>
          <p:nvPr>
            <p:ph idx="1"/>
          </p:nvPr>
        </p:nvSpPr>
        <p:spPr>
          <a:xfrm>
            <a:off x="838201" y="1984443"/>
            <a:ext cx="5257800" cy="4192520"/>
          </a:xfrm>
        </p:spPr>
        <p:txBody>
          <a:bodyPr>
            <a:normAutofit/>
          </a:bodyPr>
          <a:lstStyle/>
          <a:p>
            <a:r>
              <a:rPr lang="en-US" dirty="0"/>
              <a:t>Example:</a:t>
            </a:r>
          </a:p>
        </p:txBody>
      </p:sp>
      <p:graphicFrame>
        <p:nvGraphicFramePr>
          <p:cNvPr id="6" name="Table 5">
            <a:extLst>
              <a:ext uri="{FF2B5EF4-FFF2-40B4-BE49-F238E27FC236}">
                <a16:creationId xmlns:a16="http://schemas.microsoft.com/office/drawing/2014/main" id="{41CB7B8F-E55A-B95D-AF84-778CE7801DBB}"/>
              </a:ext>
            </a:extLst>
          </p:cNvPr>
          <p:cNvGraphicFramePr>
            <a:graphicFrameLocks noGrp="1"/>
          </p:cNvGraphicFramePr>
          <p:nvPr>
            <p:extLst>
              <p:ext uri="{D42A27DB-BD31-4B8C-83A1-F6EECF244321}">
                <p14:modId xmlns:p14="http://schemas.microsoft.com/office/powerpoint/2010/main" val="2854979672"/>
              </p:ext>
            </p:extLst>
          </p:nvPr>
        </p:nvGraphicFramePr>
        <p:xfrm>
          <a:off x="3467101" y="2205476"/>
          <a:ext cx="4777382" cy="4312005"/>
        </p:xfrm>
        <a:graphic>
          <a:graphicData uri="http://schemas.openxmlformats.org/drawingml/2006/table">
            <a:tbl>
              <a:tblPr>
                <a:noFill/>
              </a:tblPr>
              <a:tblGrid>
                <a:gridCol w="2940107">
                  <a:extLst>
                    <a:ext uri="{9D8B030D-6E8A-4147-A177-3AD203B41FA5}">
                      <a16:colId xmlns:a16="http://schemas.microsoft.com/office/drawing/2014/main" val="2713712389"/>
                    </a:ext>
                  </a:extLst>
                </a:gridCol>
                <a:gridCol w="1837275">
                  <a:extLst>
                    <a:ext uri="{9D8B030D-6E8A-4147-A177-3AD203B41FA5}">
                      <a16:colId xmlns:a16="http://schemas.microsoft.com/office/drawing/2014/main" val="840691900"/>
                    </a:ext>
                  </a:extLst>
                </a:gridCol>
              </a:tblGrid>
              <a:tr h="862401">
                <a:tc>
                  <a:txBody>
                    <a:bodyPr/>
                    <a:lstStyle/>
                    <a:p>
                      <a:r>
                        <a:rPr lang="en-US" sz="2800" b="1" cap="none" spc="0">
                          <a:solidFill>
                            <a:schemeClr val="tx1"/>
                          </a:solidFill>
                        </a:rPr>
                        <a:t>Original Word</a:t>
                      </a:r>
                    </a:p>
                  </a:txBody>
                  <a:tcPr marL="147239" marR="210341" marT="42068" marB="315512"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tc>
                  <a:txBody>
                    <a:bodyPr/>
                    <a:lstStyle/>
                    <a:p>
                      <a:r>
                        <a:rPr lang="en-US" sz="2800" b="1" cap="none" spc="0">
                          <a:solidFill>
                            <a:schemeClr val="tx1"/>
                          </a:solidFill>
                        </a:rPr>
                        <a:t>Lemma</a:t>
                      </a:r>
                    </a:p>
                  </a:txBody>
                  <a:tcPr marL="147239" marR="210341" marT="42068" marB="315512" anchor="ctr">
                    <a:lnL w="12700" cmpd="sng">
                      <a:no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4215878409"/>
                  </a:ext>
                </a:extLst>
              </a:tr>
              <a:tr h="862401">
                <a:tc>
                  <a:txBody>
                    <a:bodyPr/>
                    <a:lstStyle/>
                    <a:p>
                      <a:r>
                        <a:rPr lang="en-US" sz="2800" cap="none" spc="0" dirty="0">
                          <a:solidFill>
                            <a:schemeClr val="tx1"/>
                          </a:solidFill>
                        </a:rPr>
                        <a:t>running</a:t>
                      </a:r>
                    </a:p>
                  </a:txBody>
                  <a:tcPr marL="147239" marR="210341" marT="42068" marB="315512"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2800" cap="none" spc="0">
                          <a:solidFill>
                            <a:schemeClr val="tx1"/>
                          </a:solidFill>
                        </a:rPr>
                        <a:t>run</a:t>
                      </a:r>
                    </a:p>
                  </a:txBody>
                  <a:tcPr marL="147239" marR="210341" marT="42068" marB="31551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99184314"/>
                  </a:ext>
                </a:extLst>
              </a:tr>
              <a:tr h="862401">
                <a:tc>
                  <a:txBody>
                    <a:bodyPr/>
                    <a:lstStyle/>
                    <a:p>
                      <a:r>
                        <a:rPr lang="en-US" sz="2800" cap="none" spc="0">
                          <a:solidFill>
                            <a:schemeClr val="tx1"/>
                          </a:solidFill>
                        </a:rPr>
                        <a:t>studies</a:t>
                      </a:r>
                    </a:p>
                  </a:txBody>
                  <a:tcPr marL="147239" marR="210341" marT="42068" marB="315512"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2800" cap="none" spc="0">
                          <a:solidFill>
                            <a:schemeClr val="tx1"/>
                          </a:solidFill>
                        </a:rPr>
                        <a:t>study</a:t>
                      </a:r>
                    </a:p>
                  </a:txBody>
                  <a:tcPr marL="147239" marR="210341" marT="42068" marB="31551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56371433"/>
                  </a:ext>
                </a:extLst>
              </a:tr>
              <a:tr h="862401">
                <a:tc>
                  <a:txBody>
                    <a:bodyPr/>
                    <a:lstStyle/>
                    <a:p>
                      <a:r>
                        <a:rPr lang="en-US" sz="2800" cap="none" spc="0">
                          <a:solidFill>
                            <a:schemeClr val="tx1"/>
                          </a:solidFill>
                        </a:rPr>
                        <a:t>better</a:t>
                      </a:r>
                    </a:p>
                  </a:txBody>
                  <a:tcPr marL="147239" marR="210341" marT="42068" marB="315512"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2800" cap="none" spc="0">
                          <a:solidFill>
                            <a:schemeClr val="tx1"/>
                          </a:solidFill>
                        </a:rPr>
                        <a:t>good</a:t>
                      </a:r>
                    </a:p>
                  </a:txBody>
                  <a:tcPr marL="147239" marR="210341" marT="42068" marB="31551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716208175"/>
                  </a:ext>
                </a:extLst>
              </a:tr>
              <a:tr h="862401">
                <a:tc>
                  <a:txBody>
                    <a:bodyPr/>
                    <a:lstStyle/>
                    <a:p>
                      <a:r>
                        <a:rPr lang="en-US" sz="2800" cap="none" spc="0" dirty="0">
                          <a:solidFill>
                            <a:schemeClr val="tx1"/>
                          </a:solidFill>
                        </a:rPr>
                        <a:t>was</a:t>
                      </a:r>
                    </a:p>
                  </a:txBody>
                  <a:tcPr marL="147239" marR="210341" marT="42068" marB="315512"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2800" cap="none" spc="0" dirty="0">
                          <a:solidFill>
                            <a:schemeClr val="tx1"/>
                          </a:solidFill>
                        </a:rPr>
                        <a:t>be</a:t>
                      </a:r>
                    </a:p>
                  </a:txBody>
                  <a:tcPr marL="147239" marR="210341" marT="42068" marB="31551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61104517"/>
                  </a:ext>
                </a:extLst>
              </a:tr>
            </a:tbl>
          </a:graphicData>
        </a:graphic>
      </p:graphicFrame>
    </p:spTree>
    <p:extLst>
      <p:ext uri="{BB962C8B-B14F-4D97-AF65-F5344CB8AC3E}">
        <p14:creationId xmlns:p14="http://schemas.microsoft.com/office/powerpoint/2010/main" val="1515249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B4ECC51-3F75-E192-1E2F-4FB725018A64}"/>
              </a:ext>
            </a:extLst>
          </p:cNvPr>
          <p:cNvSpPr>
            <a:spLocks noGrp="1"/>
          </p:cNvSpPr>
          <p:nvPr>
            <p:ph type="title"/>
          </p:nvPr>
        </p:nvSpPr>
        <p:spPr>
          <a:xfrm>
            <a:off x="635000" y="640823"/>
            <a:ext cx="3418659" cy="5583148"/>
          </a:xfrm>
        </p:spPr>
        <p:txBody>
          <a:bodyPr anchor="ctr">
            <a:normAutofit/>
          </a:bodyPr>
          <a:lstStyle/>
          <a:p>
            <a:r>
              <a:rPr lang="en-US" sz="5400"/>
              <a:t>Stop word removal</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68AEDE36-F2DA-C6AB-AFA2-9750CA42FBCD}"/>
              </a:ext>
            </a:extLst>
          </p:cNvPr>
          <p:cNvGraphicFramePr>
            <a:graphicFrameLocks noGrp="1"/>
          </p:cNvGraphicFramePr>
          <p:nvPr>
            <p:ph idx="1"/>
            <p:extLst>
              <p:ext uri="{D42A27DB-BD31-4B8C-83A1-F6EECF244321}">
                <p14:modId xmlns:p14="http://schemas.microsoft.com/office/powerpoint/2010/main" val="106831667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439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8C76079-5367-E154-2C25-F89D64124540}"/>
              </a:ext>
            </a:extLst>
          </p:cNvPr>
          <p:cNvSpPr>
            <a:spLocks noGrp="1"/>
          </p:cNvSpPr>
          <p:nvPr>
            <p:ph type="title"/>
          </p:nvPr>
        </p:nvSpPr>
        <p:spPr>
          <a:xfrm>
            <a:off x="635000" y="640823"/>
            <a:ext cx="3418659" cy="5583148"/>
          </a:xfrm>
        </p:spPr>
        <p:txBody>
          <a:bodyPr anchor="ctr">
            <a:normAutofit/>
          </a:bodyPr>
          <a:lstStyle/>
          <a:p>
            <a:r>
              <a:rPr lang="en-US" sz="5400"/>
              <a:t>Types of Stop Words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8854850B-C100-3578-8257-EBC5AB1F5CE0}"/>
              </a:ext>
            </a:extLst>
          </p:cNvPr>
          <p:cNvGraphicFramePr>
            <a:graphicFrameLocks noGrp="1"/>
          </p:cNvGraphicFramePr>
          <p:nvPr>
            <p:ph idx="1"/>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5704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F326224-ED6A-5B0B-DB6F-EAF4016E4DF2}"/>
              </a:ext>
            </a:extLst>
          </p:cNvPr>
          <p:cNvSpPr>
            <a:spLocks noGrp="1"/>
          </p:cNvSpPr>
          <p:nvPr>
            <p:ph type="title"/>
          </p:nvPr>
        </p:nvSpPr>
        <p:spPr>
          <a:xfrm>
            <a:off x="635000" y="640823"/>
            <a:ext cx="3418659" cy="5583148"/>
          </a:xfrm>
        </p:spPr>
        <p:txBody>
          <a:bodyPr anchor="ctr">
            <a:normAutofit/>
          </a:bodyPr>
          <a:lstStyle/>
          <a:p>
            <a:r>
              <a:rPr lang="en-US" sz="5400"/>
              <a:t>Types of Stop Words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59F16ED0-7F66-78AD-9EA3-13F645C55C5C}"/>
              </a:ext>
            </a:extLst>
          </p:cNvPr>
          <p:cNvGraphicFramePr>
            <a:graphicFrameLocks noGrp="1"/>
          </p:cNvGraphicFramePr>
          <p:nvPr>
            <p:ph idx="1"/>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1688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EF31E42-1BFF-82F3-5D87-3A348753168B}"/>
              </a:ext>
            </a:extLst>
          </p:cNvPr>
          <p:cNvSpPr>
            <a:spLocks noGrp="1"/>
          </p:cNvSpPr>
          <p:nvPr>
            <p:ph type="title"/>
          </p:nvPr>
        </p:nvSpPr>
        <p:spPr>
          <a:xfrm>
            <a:off x="841248" y="548640"/>
            <a:ext cx="3600860" cy="5431536"/>
          </a:xfrm>
        </p:spPr>
        <p:txBody>
          <a:bodyPr>
            <a:normAutofit/>
          </a:bodyPr>
          <a:lstStyle/>
          <a:p>
            <a:r>
              <a:rPr lang="en-US" sz="4600"/>
              <a:t>Text Normalization</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277875B2-7116-0196-FD21-40950F608718}"/>
              </a:ext>
            </a:extLst>
          </p:cNvPr>
          <p:cNvSpPr>
            <a:spLocks noGrp="1"/>
          </p:cNvSpPr>
          <p:nvPr>
            <p:ph idx="1"/>
          </p:nvPr>
        </p:nvSpPr>
        <p:spPr>
          <a:xfrm>
            <a:off x="5126418" y="552091"/>
            <a:ext cx="6224335" cy="5431536"/>
          </a:xfrm>
        </p:spPr>
        <p:txBody>
          <a:bodyPr anchor="ctr">
            <a:normAutofit/>
          </a:bodyPr>
          <a:lstStyle/>
          <a:p>
            <a:r>
              <a:rPr lang="en-US" sz="2400" dirty="0"/>
              <a:t>Text normalization is a crucial preprocessing step in NLP that transforms raw text into a standard, consistent format to improve the performance of downstream tasks like sentiment analysis, translation, or text classification.</a:t>
            </a:r>
          </a:p>
        </p:txBody>
      </p:sp>
    </p:spTree>
    <p:extLst>
      <p:ext uri="{BB962C8B-B14F-4D97-AF65-F5344CB8AC3E}">
        <p14:creationId xmlns:p14="http://schemas.microsoft.com/office/powerpoint/2010/main" val="3586393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4" name="Content Placeholder 3">
            <a:extLst>
              <a:ext uri="{FF2B5EF4-FFF2-40B4-BE49-F238E27FC236}">
                <a16:creationId xmlns:a16="http://schemas.microsoft.com/office/drawing/2014/main" id="{08B762F8-E629-9B84-2403-79E82937AC2F}"/>
              </a:ext>
            </a:extLst>
          </p:cNvPr>
          <p:cNvGraphicFramePr>
            <a:graphicFrameLocks noGrp="1"/>
          </p:cNvGraphicFramePr>
          <p:nvPr>
            <p:ph idx="1"/>
          </p:nvPr>
        </p:nvGraphicFramePr>
        <p:xfrm>
          <a:off x="530942" y="599768"/>
          <a:ext cx="11120285" cy="5853374"/>
        </p:xfrm>
        <a:graphic>
          <a:graphicData uri="http://schemas.openxmlformats.org/drawingml/2006/table">
            <a:tbl>
              <a:tblPr>
                <a:tableStyleId>{69012ECD-51FC-41F1-AA8D-1B2483CD663E}</a:tableStyleId>
              </a:tblPr>
              <a:tblGrid>
                <a:gridCol w="3677885">
                  <a:extLst>
                    <a:ext uri="{9D8B030D-6E8A-4147-A177-3AD203B41FA5}">
                      <a16:colId xmlns:a16="http://schemas.microsoft.com/office/drawing/2014/main" val="3536455814"/>
                    </a:ext>
                  </a:extLst>
                </a:gridCol>
                <a:gridCol w="3764515">
                  <a:extLst>
                    <a:ext uri="{9D8B030D-6E8A-4147-A177-3AD203B41FA5}">
                      <a16:colId xmlns:a16="http://schemas.microsoft.com/office/drawing/2014/main" val="3032754111"/>
                    </a:ext>
                  </a:extLst>
                </a:gridCol>
                <a:gridCol w="3677885">
                  <a:extLst>
                    <a:ext uri="{9D8B030D-6E8A-4147-A177-3AD203B41FA5}">
                      <a16:colId xmlns:a16="http://schemas.microsoft.com/office/drawing/2014/main" val="961091692"/>
                    </a:ext>
                  </a:extLst>
                </a:gridCol>
              </a:tblGrid>
              <a:tr h="416039">
                <a:tc>
                  <a:txBody>
                    <a:bodyPr/>
                    <a:lstStyle/>
                    <a:p>
                      <a:r>
                        <a:rPr lang="en-US" sz="1800" b="1"/>
                        <a:t>Technique</a:t>
                      </a:r>
                      <a:endParaRPr lang="en-US" sz="1800"/>
                    </a:p>
                  </a:txBody>
                  <a:tcPr marL="87134" marR="87134" marT="43568" marB="43568" anchor="ctr"/>
                </a:tc>
                <a:tc>
                  <a:txBody>
                    <a:bodyPr/>
                    <a:lstStyle/>
                    <a:p>
                      <a:r>
                        <a:rPr lang="en-US" sz="1800" b="1"/>
                        <a:t>Purpose</a:t>
                      </a:r>
                      <a:endParaRPr lang="en-US" sz="1800"/>
                    </a:p>
                  </a:txBody>
                  <a:tcPr marL="87134" marR="87134" marT="43568" marB="43568" anchor="ctr"/>
                </a:tc>
                <a:tc>
                  <a:txBody>
                    <a:bodyPr/>
                    <a:lstStyle/>
                    <a:p>
                      <a:r>
                        <a:rPr lang="en-US" sz="1800" b="1"/>
                        <a:t>Example</a:t>
                      </a:r>
                      <a:endParaRPr lang="en-US" sz="1800"/>
                    </a:p>
                  </a:txBody>
                  <a:tcPr marL="87134" marR="87134" marT="43568" marB="43568" anchor="ctr"/>
                </a:tc>
                <a:extLst>
                  <a:ext uri="{0D108BD9-81ED-4DB2-BD59-A6C34878D82A}">
                    <a16:rowId xmlns:a16="http://schemas.microsoft.com/office/drawing/2014/main" val="70148012"/>
                  </a:ext>
                </a:extLst>
              </a:tr>
              <a:tr h="416039">
                <a:tc>
                  <a:txBody>
                    <a:bodyPr/>
                    <a:lstStyle/>
                    <a:p>
                      <a:r>
                        <a:rPr lang="en-US" sz="1800" b="1"/>
                        <a:t>Lowercasing</a:t>
                      </a:r>
                      <a:endParaRPr lang="en-US" sz="1800"/>
                    </a:p>
                  </a:txBody>
                  <a:tcPr marL="87134" marR="87134" marT="43568" marB="43568" anchor="ctr"/>
                </a:tc>
                <a:tc>
                  <a:txBody>
                    <a:bodyPr/>
                    <a:lstStyle/>
                    <a:p>
                      <a:r>
                        <a:rPr lang="en-US" sz="1800"/>
                        <a:t>Removes case sensitivity</a:t>
                      </a:r>
                    </a:p>
                  </a:txBody>
                  <a:tcPr marL="87134" marR="87134" marT="43568" marB="43568" anchor="ctr"/>
                </a:tc>
                <a:tc>
                  <a:txBody>
                    <a:bodyPr/>
                    <a:lstStyle/>
                    <a:p>
                      <a:r>
                        <a:rPr lang="en-US" sz="1800"/>
                        <a:t>Hello → hello</a:t>
                      </a:r>
                    </a:p>
                  </a:txBody>
                  <a:tcPr marL="87134" marR="87134" marT="43568" marB="43568" anchor="ctr"/>
                </a:tc>
                <a:extLst>
                  <a:ext uri="{0D108BD9-81ED-4DB2-BD59-A6C34878D82A}">
                    <a16:rowId xmlns:a16="http://schemas.microsoft.com/office/drawing/2014/main" val="522817840"/>
                  </a:ext>
                </a:extLst>
              </a:tr>
              <a:tr h="698203">
                <a:tc>
                  <a:txBody>
                    <a:bodyPr/>
                    <a:lstStyle/>
                    <a:p>
                      <a:r>
                        <a:rPr lang="en-US" sz="1800" b="1"/>
                        <a:t>Removing punctuation</a:t>
                      </a:r>
                      <a:endParaRPr lang="en-US" sz="1800"/>
                    </a:p>
                  </a:txBody>
                  <a:tcPr marL="87134" marR="87134" marT="43568" marB="43568" anchor="ctr"/>
                </a:tc>
                <a:tc>
                  <a:txBody>
                    <a:bodyPr/>
                    <a:lstStyle/>
                    <a:p>
                      <a:r>
                        <a:rPr lang="en-US" sz="1800"/>
                        <a:t>Cleans text of non-essential symbols</a:t>
                      </a:r>
                    </a:p>
                  </a:txBody>
                  <a:tcPr marL="87134" marR="87134" marT="43568" marB="43568" anchor="ctr"/>
                </a:tc>
                <a:tc>
                  <a:txBody>
                    <a:bodyPr/>
                    <a:lstStyle/>
                    <a:p>
                      <a:r>
                        <a:rPr lang="en-US" sz="1800"/>
                        <a:t>hello! → hello</a:t>
                      </a:r>
                    </a:p>
                  </a:txBody>
                  <a:tcPr marL="87134" marR="87134" marT="43568" marB="43568" anchor="ctr"/>
                </a:tc>
                <a:extLst>
                  <a:ext uri="{0D108BD9-81ED-4DB2-BD59-A6C34878D82A}">
                    <a16:rowId xmlns:a16="http://schemas.microsoft.com/office/drawing/2014/main" val="1254011234"/>
                  </a:ext>
                </a:extLst>
              </a:tr>
              <a:tr h="698203">
                <a:tc>
                  <a:txBody>
                    <a:bodyPr/>
                    <a:lstStyle/>
                    <a:p>
                      <a:r>
                        <a:rPr lang="en-US" sz="1800" b="1"/>
                        <a:t>Removing stop words</a:t>
                      </a:r>
                      <a:endParaRPr lang="en-US" sz="1800"/>
                    </a:p>
                  </a:txBody>
                  <a:tcPr marL="87134" marR="87134" marT="43568" marB="43568" anchor="ctr"/>
                </a:tc>
                <a:tc>
                  <a:txBody>
                    <a:bodyPr/>
                    <a:lstStyle/>
                    <a:p>
                      <a:r>
                        <a:rPr lang="en-US" sz="1800"/>
                        <a:t>Removes frequent, low-meaning words</a:t>
                      </a:r>
                    </a:p>
                  </a:txBody>
                  <a:tcPr marL="87134" marR="87134" marT="43568" marB="43568" anchor="ctr"/>
                </a:tc>
                <a:tc>
                  <a:txBody>
                    <a:bodyPr/>
                    <a:lstStyle/>
                    <a:p>
                      <a:r>
                        <a:rPr lang="en-US" sz="1800"/>
                        <a:t>is, the, an, in → removed</a:t>
                      </a:r>
                    </a:p>
                  </a:txBody>
                  <a:tcPr marL="87134" marR="87134" marT="43568" marB="43568" anchor="ctr"/>
                </a:tc>
                <a:extLst>
                  <a:ext uri="{0D108BD9-81ED-4DB2-BD59-A6C34878D82A}">
                    <a16:rowId xmlns:a16="http://schemas.microsoft.com/office/drawing/2014/main" val="3005348190"/>
                  </a:ext>
                </a:extLst>
              </a:tr>
              <a:tr h="698203">
                <a:tc>
                  <a:txBody>
                    <a:bodyPr/>
                    <a:lstStyle/>
                    <a:p>
                      <a:r>
                        <a:rPr lang="en-US" sz="1800" b="1"/>
                        <a:t>Stemming</a:t>
                      </a:r>
                      <a:endParaRPr lang="en-US" sz="1800"/>
                    </a:p>
                  </a:txBody>
                  <a:tcPr marL="87134" marR="87134" marT="43568" marB="43568" anchor="ctr"/>
                </a:tc>
                <a:tc>
                  <a:txBody>
                    <a:bodyPr/>
                    <a:lstStyle/>
                    <a:p>
                      <a:r>
                        <a:rPr lang="en-US" sz="1800"/>
                        <a:t>Cuts word to root form (may not be valid word)</a:t>
                      </a:r>
                    </a:p>
                  </a:txBody>
                  <a:tcPr marL="87134" marR="87134" marT="43568" marB="43568" anchor="ctr"/>
                </a:tc>
                <a:tc>
                  <a:txBody>
                    <a:bodyPr/>
                    <a:lstStyle/>
                    <a:p>
                      <a:r>
                        <a:rPr lang="en-US" sz="1800"/>
                        <a:t>running → run / runn</a:t>
                      </a:r>
                    </a:p>
                  </a:txBody>
                  <a:tcPr marL="87134" marR="87134" marT="43568" marB="43568" anchor="ctr"/>
                </a:tc>
                <a:extLst>
                  <a:ext uri="{0D108BD9-81ED-4DB2-BD59-A6C34878D82A}">
                    <a16:rowId xmlns:a16="http://schemas.microsoft.com/office/drawing/2014/main" val="3037127457"/>
                  </a:ext>
                </a:extLst>
              </a:tr>
              <a:tr h="698203">
                <a:tc>
                  <a:txBody>
                    <a:bodyPr/>
                    <a:lstStyle/>
                    <a:p>
                      <a:r>
                        <a:rPr lang="en-US" sz="1800" b="1"/>
                        <a:t>Lemmatization</a:t>
                      </a:r>
                      <a:endParaRPr lang="en-US" sz="1800"/>
                    </a:p>
                  </a:txBody>
                  <a:tcPr marL="87134" marR="87134" marT="43568" marB="43568" anchor="ctr"/>
                </a:tc>
                <a:tc>
                  <a:txBody>
                    <a:bodyPr/>
                    <a:lstStyle/>
                    <a:p>
                      <a:r>
                        <a:rPr lang="en-US" sz="1800"/>
                        <a:t>Converts word to base dictionary form</a:t>
                      </a:r>
                    </a:p>
                  </a:txBody>
                  <a:tcPr marL="87134" marR="87134" marT="43568" marB="43568" anchor="ctr"/>
                </a:tc>
                <a:tc>
                  <a:txBody>
                    <a:bodyPr/>
                    <a:lstStyle/>
                    <a:p>
                      <a:r>
                        <a:rPr lang="en-US" sz="1800"/>
                        <a:t>better → good, studies → study</a:t>
                      </a:r>
                    </a:p>
                  </a:txBody>
                  <a:tcPr marL="87134" marR="87134" marT="43568" marB="43568" anchor="ctr"/>
                </a:tc>
                <a:extLst>
                  <a:ext uri="{0D108BD9-81ED-4DB2-BD59-A6C34878D82A}">
                    <a16:rowId xmlns:a16="http://schemas.microsoft.com/office/drawing/2014/main" val="3128851487"/>
                  </a:ext>
                </a:extLst>
              </a:tr>
              <a:tr h="698203">
                <a:tc>
                  <a:txBody>
                    <a:bodyPr/>
                    <a:lstStyle/>
                    <a:p>
                      <a:r>
                        <a:rPr lang="en-US" sz="1800" b="1"/>
                        <a:t>Expanding contractions</a:t>
                      </a:r>
                      <a:endParaRPr lang="en-US" sz="1800"/>
                    </a:p>
                  </a:txBody>
                  <a:tcPr marL="87134" marR="87134" marT="43568" marB="43568" anchor="ctr"/>
                </a:tc>
                <a:tc>
                  <a:txBody>
                    <a:bodyPr/>
                    <a:lstStyle/>
                    <a:p>
                      <a:r>
                        <a:rPr lang="en-US" sz="1800"/>
                        <a:t>Converts short forms to full forms</a:t>
                      </a:r>
                    </a:p>
                  </a:txBody>
                  <a:tcPr marL="87134" marR="87134" marT="43568" marB="43568" anchor="ctr"/>
                </a:tc>
                <a:tc>
                  <a:txBody>
                    <a:bodyPr/>
                    <a:lstStyle/>
                    <a:p>
                      <a:r>
                        <a:rPr lang="en-US" sz="1800"/>
                        <a:t>can't → cannot</a:t>
                      </a:r>
                    </a:p>
                  </a:txBody>
                  <a:tcPr marL="87134" marR="87134" marT="43568" marB="43568" anchor="ctr"/>
                </a:tc>
                <a:extLst>
                  <a:ext uri="{0D108BD9-81ED-4DB2-BD59-A6C34878D82A}">
                    <a16:rowId xmlns:a16="http://schemas.microsoft.com/office/drawing/2014/main" val="220489059"/>
                  </a:ext>
                </a:extLst>
              </a:tr>
              <a:tr h="416039">
                <a:tc>
                  <a:txBody>
                    <a:bodyPr/>
                    <a:lstStyle/>
                    <a:p>
                      <a:r>
                        <a:rPr lang="en-US" sz="1800" b="1"/>
                        <a:t>Spell correction</a:t>
                      </a:r>
                      <a:endParaRPr lang="en-US" sz="1800"/>
                    </a:p>
                  </a:txBody>
                  <a:tcPr marL="87134" marR="87134" marT="43568" marB="43568" anchor="ctr"/>
                </a:tc>
                <a:tc>
                  <a:txBody>
                    <a:bodyPr/>
                    <a:lstStyle/>
                    <a:p>
                      <a:r>
                        <a:rPr lang="en-US" sz="1800"/>
                        <a:t>Fixes typos and errors</a:t>
                      </a:r>
                    </a:p>
                  </a:txBody>
                  <a:tcPr marL="87134" marR="87134" marT="43568" marB="43568" anchor="ctr"/>
                </a:tc>
                <a:tc>
                  <a:txBody>
                    <a:bodyPr/>
                    <a:lstStyle/>
                    <a:p>
                      <a:r>
                        <a:rPr lang="en-US" sz="1800"/>
                        <a:t>speling → spelling</a:t>
                      </a:r>
                    </a:p>
                  </a:txBody>
                  <a:tcPr marL="87134" marR="87134" marT="43568" marB="43568" anchor="ctr"/>
                </a:tc>
                <a:extLst>
                  <a:ext uri="{0D108BD9-81ED-4DB2-BD59-A6C34878D82A}">
                    <a16:rowId xmlns:a16="http://schemas.microsoft.com/office/drawing/2014/main" val="3826029437"/>
                  </a:ext>
                </a:extLst>
              </a:tr>
              <a:tr h="416039">
                <a:tc>
                  <a:txBody>
                    <a:bodyPr/>
                    <a:lstStyle/>
                    <a:p>
                      <a:r>
                        <a:rPr lang="en-US" sz="1800" b="1"/>
                        <a:t>Removing numbers/symbols</a:t>
                      </a:r>
                      <a:endParaRPr lang="en-US" sz="1800"/>
                    </a:p>
                  </a:txBody>
                  <a:tcPr marL="87134" marR="87134" marT="43568" marB="43568" anchor="ctr"/>
                </a:tc>
                <a:tc>
                  <a:txBody>
                    <a:bodyPr/>
                    <a:lstStyle/>
                    <a:p>
                      <a:r>
                        <a:rPr lang="en-US" sz="1800"/>
                        <a:t>Cleans up unwanted characters</a:t>
                      </a:r>
                    </a:p>
                  </a:txBody>
                  <a:tcPr marL="87134" marR="87134" marT="43568" marB="43568" anchor="ctr"/>
                </a:tc>
                <a:tc>
                  <a:txBody>
                    <a:bodyPr/>
                    <a:lstStyle/>
                    <a:p>
                      <a:r>
                        <a:rPr lang="en-US" sz="1800"/>
                        <a:t>I have 3 cats → I have cats</a:t>
                      </a:r>
                    </a:p>
                  </a:txBody>
                  <a:tcPr marL="87134" marR="87134" marT="43568" marB="43568" anchor="ctr"/>
                </a:tc>
                <a:extLst>
                  <a:ext uri="{0D108BD9-81ED-4DB2-BD59-A6C34878D82A}">
                    <a16:rowId xmlns:a16="http://schemas.microsoft.com/office/drawing/2014/main" val="1251361525"/>
                  </a:ext>
                </a:extLst>
              </a:tr>
              <a:tr h="698203">
                <a:tc>
                  <a:txBody>
                    <a:bodyPr/>
                    <a:lstStyle/>
                    <a:p>
                      <a:r>
                        <a:rPr lang="en-US" sz="1800" b="1"/>
                        <a:t>Tokenization</a:t>
                      </a:r>
                      <a:endParaRPr lang="en-US" sz="1800"/>
                    </a:p>
                  </a:txBody>
                  <a:tcPr marL="87134" marR="87134" marT="43568" marB="43568" anchor="ctr"/>
                </a:tc>
                <a:tc>
                  <a:txBody>
                    <a:bodyPr/>
                    <a:lstStyle/>
                    <a:p>
                      <a:r>
                        <a:rPr lang="en-US" sz="1800"/>
                        <a:t>Splits text into individual words or sentences</a:t>
                      </a:r>
                    </a:p>
                  </a:txBody>
                  <a:tcPr marL="87134" marR="87134" marT="43568" marB="43568" anchor="ctr"/>
                </a:tc>
                <a:tc>
                  <a:txBody>
                    <a:bodyPr/>
                    <a:lstStyle/>
                    <a:p>
                      <a:r>
                        <a:rPr lang="en-US" sz="1800" dirty="0"/>
                        <a:t>"I love NLP" → ["I", "love", "NLP"]</a:t>
                      </a:r>
                    </a:p>
                  </a:txBody>
                  <a:tcPr marL="87134" marR="87134" marT="43568" marB="43568" anchor="ctr"/>
                </a:tc>
                <a:extLst>
                  <a:ext uri="{0D108BD9-81ED-4DB2-BD59-A6C34878D82A}">
                    <a16:rowId xmlns:a16="http://schemas.microsoft.com/office/drawing/2014/main" val="3055060083"/>
                  </a:ext>
                </a:extLst>
              </a:tr>
            </a:tbl>
          </a:graphicData>
        </a:graphic>
      </p:graphicFrame>
    </p:spTree>
    <p:extLst>
      <p:ext uri="{BB962C8B-B14F-4D97-AF65-F5344CB8AC3E}">
        <p14:creationId xmlns:p14="http://schemas.microsoft.com/office/powerpoint/2010/main" val="394600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C0E3E64-90B0-4C26-F0C5-C9CA145DC937}"/>
              </a:ext>
            </a:extLst>
          </p:cNvPr>
          <p:cNvSpPr>
            <a:spLocks noGrp="1"/>
          </p:cNvSpPr>
          <p:nvPr>
            <p:ph type="title"/>
          </p:nvPr>
        </p:nvSpPr>
        <p:spPr>
          <a:xfrm>
            <a:off x="686834" y="1153572"/>
            <a:ext cx="3200400" cy="4461163"/>
          </a:xfrm>
        </p:spPr>
        <p:txBody>
          <a:bodyPr>
            <a:normAutofit/>
          </a:bodyPr>
          <a:lstStyle/>
          <a:p>
            <a:r>
              <a:rPr lang="en-US">
                <a:solidFill>
                  <a:srgbClr val="FFFFFF"/>
                </a:solidFill>
              </a:rPr>
              <a:t>Example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62243D8B-B102-0FE6-807C-2FA2887AB714}"/>
              </a:ext>
            </a:extLst>
          </p:cNvPr>
          <p:cNvSpPr>
            <a:spLocks noGrp="1"/>
          </p:cNvSpPr>
          <p:nvPr>
            <p:ph idx="1"/>
          </p:nvPr>
        </p:nvSpPr>
        <p:spPr>
          <a:xfrm>
            <a:off x="4167272" y="591344"/>
            <a:ext cx="7760568" cy="5585619"/>
          </a:xfrm>
        </p:spPr>
        <p:txBody>
          <a:bodyPr anchor="ctr">
            <a:normAutofit/>
          </a:bodyPr>
          <a:lstStyle/>
          <a:p>
            <a:pPr marL="0" indent="0">
              <a:buNone/>
            </a:pPr>
            <a:r>
              <a:rPr lang="en-US" b="1" dirty="0"/>
              <a:t>Text:</a:t>
            </a:r>
          </a:p>
          <a:p>
            <a:pPr marL="0" indent="0">
              <a:buNone/>
            </a:pPr>
            <a:r>
              <a:rPr lang="en-US" dirty="0"/>
              <a:t>            "I'm LOVING Natural-Language Processing“</a:t>
            </a:r>
          </a:p>
          <a:p>
            <a:pPr marL="0" indent="0">
              <a:buNone/>
            </a:pPr>
            <a:endParaRPr lang="en-US" dirty="0"/>
          </a:p>
          <a:p>
            <a:pPr marL="0" indent="0">
              <a:buNone/>
            </a:pPr>
            <a:r>
              <a:rPr lang="en-US" b="1" dirty="0"/>
              <a:t>After Normalization:</a:t>
            </a:r>
          </a:p>
          <a:p>
            <a:pPr marL="0" indent="0">
              <a:buNone/>
            </a:pPr>
            <a:r>
              <a:rPr lang="en-US" dirty="0"/>
              <a:t>            </a:t>
            </a:r>
            <a:r>
              <a:rPr lang="en-US" dirty="0" err="1"/>
              <a:t>i</a:t>
            </a:r>
            <a:r>
              <a:rPr lang="en-US" dirty="0"/>
              <a:t> am loving natural language processing</a:t>
            </a:r>
          </a:p>
        </p:txBody>
      </p:sp>
    </p:spTree>
    <p:extLst>
      <p:ext uri="{BB962C8B-B14F-4D97-AF65-F5344CB8AC3E}">
        <p14:creationId xmlns:p14="http://schemas.microsoft.com/office/powerpoint/2010/main" val="1765777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7443A9C-C0A0-F3D3-EC39-974D5B348065}"/>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Syntax and Parsing</a:t>
            </a:r>
          </a:p>
        </p:txBody>
      </p:sp>
      <p:sp>
        <p:nvSpPr>
          <p:cNvPr id="3" name="Text Placeholder 2">
            <a:extLst>
              <a:ext uri="{FF2B5EF4-FFF2-40B4-BE49-F238E27FC236}">
                <a16:creationId xmlns:a16="http://schemas.microsoft.com/office/drawing/2014/main" id="{1ED65411-9478-575F-0F93-4857C6FA8732}"/>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55921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6BB1418-BB4D-DD36-2B74-D6A1C7AD1B15}"/>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Syntax and Parsing</a:t>
            </a:r>
          </a:p>
        </p:txBody>
      </p:sp>
      <p:sp>
        <p:nvSpPr>
          <p:cNvPr id="3" name="Content Placeholder 2">
            <a:extLst>
              <a:ext uri="{FF2B5EF4-FFF2-40B4-BE49-F238E27FC236}">
                <a16:creationId xmlns:a16="http://schemas.microsoft.com/office/drawing/2014/main" id="{79C5272C-2822-6F62-AF61-2140FCF66D74}"/>
              </a:ext>
            </a:extLst>
          </p:cNvPr>
          <p:cNvSpPr>
            <a:spLocks noGrp="1"/>
          </p:cNvSpPr>
          <p:nvPr>
            <p:ph idx="1"/>
          </p:nvPr>
        </p:nvSpPr>
        <p:spPr>
          <a:xfrm>
            <a:off x="741681" y="1885279"/>
            <a:ext cx="10353950" cy="4116276"/>
          </a:xfrm>
        </p:spPr>
        <p:txBody>
          <a:bodyPr anchor="ctr">
            <a:normAutofit lnSpcReduction="10000"/>
          </a:bodyPr>
          <a:lstStyle/>
          <a:p>
            <a:r>
              <a:rPr lang="en-US" sz="3200" b="1" dirty="0"/>
              <a:t>Part-of-Speech (POS) Tagging: </a:t>
            </a:r>
            <a:r>
              <a:rPr lang="en-US" sz="3200" dirty="0"/>
              <a:t>Assigning parts of speech to each word in a sentence (e.g., noun, verb, adjective).</a:t>
            </a:r>
          </a:p>
          <a:p>
            <a:r>
              <a:rPr lang="en-US" sz="3200" b="1" dirty="0"/>
              <a:t>Dependency Parsing: </a:t>
            </a:r>
            <a:r>
              <a:rPr lang="en-US" sz="3200" dirty="0"/>
              <a:t>Analyzing the grammatical structure of a sentence to identify relationships between words.</a:t>
            </a:r>
          </a:p>
          <a:p>
            <a:r>
              <a:rPr lang="en-US" sz="3200" b="1" dirty="0"/>
              <a:t>Constituency Parsing: </a:t>
            </a:r>
            <a:r>
              <a:rPr lang="en-US" sz="3200" dirty="0"/>
              <a:t>Breaking down a sentence into its constituent parts or phrases (e.g., noun phrases, verb phrases).</a:t>
            </a:r>
          </a:p>
        </p:txBody>
      </p:sp>
    </p:spTree>
    <p:extLst>
      <p:ext uri="{BB962C8B-B14F-4D97-AF65-F5344CB8AC3E}">
        <p14:creationId xmlns:p14="http://schemas.microsoft.com/office/powerpoint/2010/main" val="1344654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8EE7C8D-B38B-D0B4-0104-9F7A36D2A7C9}"/>
              </a:ext>
            </a:extLst>
          </p:cNvPr>
          <p:cNvSpPr>
            <a:spLocks noGrp="1"/>
          </p:cNvSpPr>
          <p:nvPr>
            <p:ph type="title"/>
          </p:nvPr>
        </p:nvSpPr>
        <p:spPr>
          <a:xfrm>
            <a:off x="1136397" y="502020"/>
            <a:ext cx="5323715" cy="805670"/>
          </a:xfrm>
        </p:spPr>
        <p:txBody>
          <a:bodyPr anchor="b">
            <a:normAutofit/>
          </a:bodyPr>
          <a:lstStyle/>
          <a:p>
            <a:r>
              <a:rPr lang="en-US" sz="4000" dirty="0"/>
              <a:t>POS Tagging</a:t>
            </a:r>
          </a:p>
        </p:txBody>
      </p:sp>
      <p:sp>
        <p:nvSpPr>
          <p:cNvPr id="3" name="Content Placeholder 2">
            <a:extLst>
              <a:ext uri="{FF2B5EF4-FFF2-40B4-BE49-F238E27FC236}">
                <a16:creationId xmlns:a16="http://schemas.microsoft.com/office/drawing/2014/main" id="{849E52C7-2346-4197-E171-9E485EDB5AB2}"/>
              </a:ext>
            </a:extLst>
          </p:cNvPr>
          <p:cNvSpPr>
            <a:spLocks noGrp="1"/>
          </p:cNvSpPr>
          <p:nvPr>
            <p:ph idx="1"/>
          </p:nvPr>
        </p:nvSpPr>
        <p:spPr>
          <a:xfrm>
            <a:off x="688259" y="1573162"/>
            <a:ext cx="5930508" cy="4686620"/>
          </a:xfrm>
        </p:spPr>
        <p:txBody>
          <a:bodyPr anchor="t">
            <a:normAutofit fontScale="77500" lnSpcReduction="20000"/>
          </a:bodyPr>
          <a:lstStyle/>
          <a:p>
            <a:pPr>
              <a:lnSpc>
                <a:spcPct val="120000"/>
              </a:lnSpc>
            </a:pPr>
            <a:r>
              <a:rPr lang="en-US" dirty="0"/>
              <a:t>One of the core tasks in Natural Language Processing (NLP) is Parts of Speech (</a:t>
            </a:r>
            <a:r>
              <a:rPr lang="en-US" dirty="0" err="1"/>
              <a:t>PoS</a:t>
            </a:r>
            <a:r>
              <a:rPr lang="en-US" dirty="0"/>
              <a:t>) tagging, which is giving each word in a text a grammatical category, such as nouns, verbs, adjectives, and adverbs. </a:t>
            </a:r>
          </a:p>
          <a:p>
            <a:pPr>
              <a:lnSpc>
                <a:spcPct val="120000"/>
              </a:lnSpc>
            </a:pPr>
            <a:r>
              <a:rPr lang="en-US" dirty="0"/>
              <a:t>In NLP applications, POS tagging is useful for machine translation, named entity recognition, and information extraction, among other things. </a:t>
            </a:r>
          </a:p>
          <a:p>
            <a:pPr>
              <a:lnSpc>
                <a:spcPct val="120000"/>
              </a:lnSpc>
            </a:pPr>
            <a:r>
              <a:rPr lang="en-US" dirty="0"/>
              <a:t>It also works well for clearing the ambiguity in terms with numerous meanings and revealing a sentence's grammatical structure.</a:t>
            </a:r>
          </a:p>
          <a:p>
            <a:endParaRPr lang="en-US" sz="1900" dirty="0"/>
          </a:p>
        </p:txBody>
      </p:sp>
      <p:sp>
        <p:nvSpPr>
          <p:cNvPr id="23" name="Rectangle 2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5" name="Picture 4" descr="Green dialogue boxes">
            <a:extLst>
              <a:ext uri="{FF2B5EF4-FFF2-40B4-BE49-F238E27FC236}">
                <a16:creationId xmlns:a16="http://schemas.microsoft.com/office/drawing/2014/main" id="{39A842B8-2647-EB85-280F-B406745CCE14}"/>
              </a:ext>
            </a:extLst>
          </p:cNvPr>
          <p:cNvPicPr>
            <a:picLocks noChangeAspect="1"/>
          </p:cNvPicPr>
          <p:nvPr/>
        </p:nvPicPr>
        <p:blipFill>
          <a:blip r:embed="rId2"/>
          <a:srcRect l="10045" r="15874" b="2"/>
          <a:stretch>
            <a:fillRect/>
          </a:stretch>
        </p:blipFill>
        <p:spPr>
          <a:xfrm>
            <a:off x="7075967" y="1101636"/>
            <a:ext cx="4170530" cy="4686621"/>
          </a:xfrm>
          <a:prstGeom prst="rect">
            <a:avLst/>
          </a:prstGeom>
        </p:spPr>
      </p:pic>
    </p:spTree>
    <p:extLst>
      <p:ext uri="{BB962C8B-B14F-4D97-AF65-F5344CB8AC3E}">
        <p14:creationId xmlns:p14="http://schemas.microsoft.com/office/powerpoint/2010/main" val="510705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92A60929-E217-4EE4-0C19-37B664103C6B}"/>
              </a:ext>
            </a:extLst>
          </p:cNvPr>
          <p:cNvGraphicFramePr>
            <a:graphicFrameLocks noGrp="1"/>
          </p:cNvGraphicFramePr>
          <p:nvPr>
            <p:ph idx="1"/>
            <p:extLst>
              <p:ext uri="{D42A27DB-BD31-4B8C-83A1-F6EECF244321}">
                <p14:modId xmlns:p14="http://schemas.microsoft.com/office/powerpoint/2010/main" val="3798482026"/>
              </p:ext>
            </p:extLst>
          </p:nvPr>
        </p:nvGraphicFramePr>
        <p:xfrm>
          <a:off x="643467" y="1134399"/>
          <a:ext cx="10905066" cy="5566866"/>
        </p:xfrm>
        <a:graphic>
          <a:graphicData uri="http://schemas.openxmlformats.org/drawingml/2006/table">
            <a:tbl>
              <a:tblPr/>
              <a:tblGrid>
                <a:gridCol w="3252199">
                  <a:extLst>
                    <a:ext uri="{9D8B030D-6E8A-4147-A177-3AD203B41FA5}">
                      <a16:colId xmlns:a16="http://schemas.microsoft.com/office/drawing/2014/main" val="3107955251"/>
                    </a:ext>
                  </a:extLst>
                </a:gridCol>
                <a:gridCol w="3857881">
                  <a:extLst>
                    <a:ext uri="{9D8B030D-6E8A-4147-A177-3AD203B41FA5}">
                      <a16:colId xmlns:a16="http://schemas.microsoft.com/office/drawing/2014/main" val="1424609653"/>
                    </a:ext>
                  </a:extLst>
                </a:gridCol>
                <a:gridCol w="3794986">
                  <a:extLst>
                    <a:ext uri="{9D8B030D-6E8A-4147-A177-3AD203B41FA5}">
                      <a16:colId xmlns:a16="http://schemas.microsoft.com/office/drawing/2014/main" val="4002969403"/>
                    </a:ext>
                  </a:extLst>
                </a:gridCol>
              </a:tblGrid>
              <a:tr h="442818">
                <a:tc>
                  <a:txBody>
                    <a:bodyPr/>
                    <a:lstStyle/>
                    <a:p>
                      <a:pPr algn="l" fontAlgn="ctr">
                        <a:buNone/>
                      </a:pPr>
                      <a:r>
                        <a:rPr lang="en-US" sz="2000" b="0" i="0" u="none" strike="noStrike" dirty="0">
                          <a:effectLst/>
                          <a:latin typeface="Arial" panose="020B0604020202020204" pitchFamily="34" charset="0"/>
                        </a:rPr>
                        <a:t>Part of Speech</a:t>
                      </a: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Simple Definition</a:t>
                      </a: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Example</a:t>
                      </a:r>
                    </a:p>
                  </a:txBody>
                  <a:tcPr marL="100640" marR="100640" marT="50320" marB="50320" anchor="ctr">
                    <a:lnL>
                      <a:noFill/>
                    </a:lnL>
                    <a:lnR>
                      <a:noFill/>
                    </a:lnR>
                    <a:lnT>
                      <a:noFill/>
                    </a:lnT>
                    <a:lnB>
                      <a:noFill/>
                    </a:lnB>
                    <a:noFill/>
                  </a:tcPr>
                </a:tc>
                <a:extLst>
                  <a:ext uri="{0D108BD9-81ED-4DB2-BD59-A6C34878D82A}">
                    <a16:rowId xmlns:a16="http://schemas.microsoft.com/office/drawing/2014/main" val="1824964766"/>
                  </a:ext>
                </a:extLst>
              </a:tr>
              <a:tr h="744739">
                <a:tc>
                  <a:txBody>
                    <a:bodyPr/>
                    <a:lstStyle/>
                    <a:p>
                      <a:pPr algn="l" fontAlgn="ctr">
                        <a:buNone/>
                      </a:pPr>
                      <a:r>
                        <a:rPr lang="en-US" sz="2000" b="1" i="0" u="none" strike="noStrike">
                          <a:effectLst/>
                          <a:latin typeface="Arial" panose="020B0604020202020204" pitchFamily="34" charset="0"/>
                        </a:rPr>
                        <a:t>Noun</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Name of a person, place, thing, or idea</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boy, school, book</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403027418"/>
                  </a:ext>
                </a:extLst>
              </a:tr>
              <a:tr h="442818">
                <a:tc>
                  <a:txBody>
                    <a:bodyPr/>
                    <a:lstStyle/>
                    <a:p>
                      <a:pPr algn="l" fontAlgn="ctr">
                        <a:buNone/>
                      </a:pPr>
                      <a:r>
                        <a:rPr lang="en-US" sz="2000" b="1" i="0" u="none" strike="noStrike">
                          <a:effectLst/>
                          <a:latin typeface="Arial" panose="020B0604020202020204" pitchFamily="34" charset="0"/>
                        </a:rPr>
                        <a:t>Pronoun</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Used instead of a noun</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he, she, it</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517119975"/>
                  </a:ext>
                </a:extLst>
              </a:tr>
              <a:tr h="442818">
                <a:tc>
                  <a:txBody>
                    <a:bodyPr/>
                    <a:lstStyle/>
                    <a:p>
                      <a:pPr algn="l" fontAlgn="ctr">
                        <a:buNone/>
                      </a:pPr>
                      <a:r>
                        <a:rPr lang="en-US" sz="2000" b="1" i="0" u="none" strike="noStrike">
                          <a:effectLst/>
                          <a:latin typeface="Arial" panose="020B0604020202020204" pitchFamily="34" charset="0"/>
                        </a:rPr>
                        <a:t>Verb</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Shows action or state</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run, eat, is</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1050555122"/>
                  </a:ext>
                </a:extLst>
              </a:tr>
              <a:tr h="442818">
                <a:tc>
                  <a:txBody>
                    <a:bodyPr/>
                    <a:lstStyle/>
                    <a:p>
                      <a:pPr algn="l" fontAlgn="ctr">
                        <a:buNone/>
                      </a:pPr>
                      <a:r>
                        <a:rPr lang="en-US" sz="2000" b="1" i="0" u="none" strike="noStrike">
                          <a:effectLst/>
                          <a:latin typeface="Arial" panose="020B0604020202020204" pitchFamily="34" charset="0"/>
                        </a:rPr>
                        <a:t>Adjective</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Describes a noun</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big, red, happy</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3044259995"/>
                  </a:ext>
                </a:extLst>
              </a:tr>
              <a:tr h="744739">
                <a:tc>
                  <a:txBody>
                    <a:bodyPr/>
                    <a:lstStyle/>
                    <a:p>
                      <a:pPr algn="l" fontAlgn="ctr">
                        <a:buNone/>
                      </a:pPr>
                      <a:r>
                        <a:rPr lang="en-US" sz="2000" b="1" i="0" u="none" strike="noStrike">
                          <a:effectLst/>
                          <a:latin typeface="Arial" panose="020B0604020202020204" pitchFamily="34" charset="0"/>
                        </a:rPr>
                        <a:t>Adverb</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Describes a verb, adjective, or adverb</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quickly, very</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1059883585"/>
                  </a:ext>
                </a:extLst>
              </a:tr>
              <a:tr h="442818">
                <a:tc>
                  <a:txBody>
                    <a:bodyPr/>
                    <a:lstStyle/>
                    <a:p>
                      <a:pPr algn="l" fontAlgn="ctr">
                        <a:buNone/>
                      </a:pPr>
                      <a:r>
                        <a:rPr lang="en-US" sz="2000" b="1" i="0" u="none" strike="noStrike">
                          <a:effectLst/>
                          <a:latin typeface="Arial" panose="020B0604020202020204" pitchFamily="34" charset="0"/>
                        </a:rPr>
                        <a:t>Preposition</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dirty="0">
                          <a:effectLst/>
                          <a:latin typeface="Arial" panose="020B0604020202020204" pitchFamily="34" charset="0"/>
                        </a:rPr>
                        <a:t>Shows relation between words</a:t>
                      </a:r>
                    </a:p>
                    <a:p>
                      <a:pPr algn="l" fontAlgn="ctr">
                        <a:buNone/>
                      </a:pPr>
                      <a:r>
                        <a:rPr lang="en-US" sz="2000" dirty="0"/>
                        <a:t>it tells </a:t>
                      </a:r>
                      <a:r>
                        <a:rPr lang="en-US" sz="2000" b="0" dirty="0"/>
                        <a:t>where/when/position</a:t>
                      </a:r>
                      <a:endParaRPr lang="en-US" sz="2000" b="0" i="0" u="none" strike="noStrike" dirty="0">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in, on, under</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3990427089"/>
                  </a:ext>
                </a:extLst>
              </a:tr>
              <a:tr h="442818">
                <a:tc>
                  <a:txBody>
                    <a:bodyPr/>
                    <a:lstStyle/>
                    <a:p>
                      <a:pPr algn="l" fontAlgn="ctr">
                        <a:buNone/>
                      </a:pPr>
                      <a:r>
                        <a:rPr lang="en-US" sz="2000" b="1" i="0" u="none" strike="noStrike">
                          <a:effectLst/>
                          <a:latin typeface="Arial" panose="020B0604020202020204" pitchFamily="34" charset="0"/>
                        </a:rPr>
                        <a:t>Conjunction</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a:effectLst/>
                          <a:latin typeface="Arial" panose="020B0604020202020204" pitchFamily="34" charset="0"/>
                        </a:rPr>
                        <a:t>Joins words or sentences</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a:effectLst/>
                          <a:latin typeface="Arial" panose="020B0604020202020204" pitchFamily="34" charset="0"/>
                        </a:rPr>
                        <a:t>and, but, because</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4208566059"/>
                  </a:ext>
                </a:extLst>
              </a:tr>
              <a:tr h="442818">
                <a:tc>
                  <a:txBody>
                    <a:bodyPr/>
                    <a:lstStyle/>
                    <a:p>
                      <a:pPr algn="l" fontAlgn="ctr">
                        <a:buNone/>
                      </a:pPr>
                      <a:r>
                        <a:rPr lang="en-US" sz="2000" b="1" i="0" u="none" strike="noStrike">
                          <a:effectLst/>
                          <a:latin typeface="Arial" panose="020B0604020202020204" pitchFamily="34" charset="0"/>
                        </a:rPr>
                        <a:t>Interjection</a:t>
                      </a:r>
                      <a:endParaRPr lang="en-US" sz="2000" b="0" i="0" u="none" strike="noStrike">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b="0" i="0" u="none" strike="noStrike" dirty="0">
                          <a:effectLst/>
                          <a:latin typeface="Arial" panose="020B0604020202020204" pitchFamily="34" charset="0"/>
                        </a:rPr>
                        <a:t>Shows sudden feeling</a:t>
                      </a:r>
                    </a:p>
                  </a:txBody>
                  <a:tcPr marL="100640" marR="100640" marT="50320" marB="50320" anchor="ctr">
                    <a:lnL>
                      <a:noFill/>
                    </a:lnL>
                    <a:lnR>
                      <a:noFill/>
                    </a:lnR>
                    <a:lnT>
                      <a:noFill/>
                    </a:lnT>
                    <a:lnB>
                      <a:noFill/>
                    </a:lnB>
                    <a:noFill/>
                  </a:tcPr>
                </a:tc>
                <a:tc>
                  <a:txBody>
                    <a:bodyPr/>
                    <a:lstStyle/>
                    <a:p>
                      <a:pPr algn="l" fontAlgn="ctr">
                        <a:buNone/>
                      </a:pPr>
                      <a:r>
                        <a:rPr lang="en-US" sz="2000" b="0" i="1" u="none" strike="noStrike" dirty="0">
                          <a:effectLst/>
                          <a:latin typeface="Arial" panose="020B0604020202020204" pitchFamily="34" charset="0"/>
                        </a:rPr>
                        <a:t>wow!, oh!, hey!</a:t>
                      </a:r>
                      <a:endParaRPr lang="en-US" sz="2000" b="0" i="0" u="none" strike="noStrike" dirty="0">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72166940"/>
                  </a:ext>
                </a:extLst>
              </a:tr>
              <a:tr h="442818">
                <a:tc>
                  <a:txBody>
                    <a:bodyPr/>
                    <a:lstStyle/>
                    <a:p>
                      <a:pPr algn="l" fontAlgn="ctr">
                        <a:buNone/>
                      </a:pPr>
                      <a:r>
                        <a:rPr lang="en-US" sz="2000" b="1" dirty="0"/>
                        <a:t>Determiner</a:t>
                      </a:r>
                      <a:endParaRPr lang="en-US" sz="2000" b="1" i="0" u="none" strike="noStrike" dirty="0">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dirty="0"/>
                        <a:t>If the word tells </a:t>
                      </a:r>
                      <a:r>
                        <a:rPr lang="en-US" sz="2000" b="0" dirty="0"/>
                        <a:t>which/whose/how many</a:t>
                      </a:r>
                      <a:endParaRPr lang="en-US" sz="2000" b="0" i="0" u="none" strike="noStrike" dirty="0">
                        <a:effectLst/>
                        <a:latin typeface="Arial" panose="020B0604020202020204" pitchFamily="34" charset="0"/>
                      </a:endParaRPr>
                    </a:p>
                  </a:txBody>
                  <a:tcPr marL="100640" marR="100640" marT="50320" marB="50320" anchor="ctr">
                    <a:lnL>
                      <a:noFill/>
                    </a:lnL>
                    <a:lnR>
                      <a:noFill/>
                    </a:lnR>
                    <a:lnT>
                      <a:noFill/>
                    </a:lnT>
                    <a:lnB>
                      <a:noFill/>
                    </a:lnB>
                    <a:noFill/>
                  </a:tcPr>
                </a:tc>
                <a:tc>
                  <a:txBody>
                    <a:bodyPr/>
                    <a:lstStyle/>
                    <a:p>
                      <a:pPr algn="l" fontAlgn="ctr">
                        <a:buNone/>
                      </a:pPr>
                      <a:r>
                        <a:rPr lang="en-US" sz="2000" dirty="0"/>
                        <a:t>a, an, the, this, my, some</a:t>
                      </a:r>
                      <a:endParaRPr lang="en-US" sz="2000" b="0" i="0" u="none" strike="noStrike" dirty="0">
                        <a:effectLst/>
                        <a:latin typeface="Arial" panose="020B0604020202020204" pitchFamily="34" charset="0"/>
                      </a:endParaRPr>
                    </a:p>
                  </a:txBody>
                  <a:tcPr marL="100640" marR="100640" marT="50320" marB="50320" anchor="ctr">
                    <a:lnL>
                      <a:noFill/>
                    </a:lnL>
                    <a:lnR>
                      <a:noFill/>
                    </a:lnR>
                    <a:lnT>
                      <a:noFill/>
                    </a:lnT>
                    <a:lnB>
                      <a:noFill/>
                    </a:lnB>
                    <a:noFill/>
                  </a:tcPr>
                </a:tc>
                <a:extLst>
                  <a:ext uri="{0D108BD9-81ED-4DB2-BD59-A6C34878D82A}">
                    <a16:rowId xmlns:a16="http://schemas.microsoft.com/office/drawing/2014/main" val="1489064623"/>
                  </a:ext>
                </a:extLst>
              </a:tr>
            </a:tbl>
          </a:graphicData>
        </a:graphic>
      </p:graphicFrame>
    </p:spTree>
    <p:extLst>
      <p:ext uri="{BB962C8B-B14F-4D97-AF65-F5344CB8AC3E}">
        <p14:creationId xmlns:p14="http://schemas.microsoft.com/office/powerpoint/2010/main" val="53440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C8243A2-B33A-4937-FA0B-0DCC555CC5F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Common POS Tags</a:t>
            </a:r>
          </a:p>
        </p:txBody>
      </p:sp>
      <p:graphicFrame>
        <p:nvGraphicFramePr>
          <p:cNvPr id="4" name="Content Placeholder 3">
            <a:extLst>
              <a:ext uri="{FF2B5EF4-FFF2-40B4-BE49-F238E27FC236}">
                <a16:creationId xmlns:a16="http://schemas.microsoft.com/office/drawing/2014/main" id="{8A487919-8684-8B65-0CFD-7034FF1F66D8}"/>
              </a:ext>
            </a:extLst>
          </p:cNvPr>
          <p:cNvGraphicFramePr>
            <a:graphicFrameLocks noGrp="1"/>
          </p:cNvGraphicFramePr>
          <p:nvPr>
            <p:ph idx="1"/>
          </p:nvPr>
        </p:nvGraphicFramePr>
        <p:xfrm>
          <a:off x="644056" y="1848465"/>
          <a:ext cx="10927831" cy="4455800"/>
        </p:xfrm>
        <a:graphic>
          <a:graphicData uri="http://schemas.openxmlformats.org/drawingml/2006/table">
            <a:tbl>
              <a:tblPr/>
              <a:tblGrid>
                <a:gridCol w="1840417">
                  <a:extLst>
                    <a:ext uri="{9D8B030D-6E8A-4147-A177-3AD203B41FA5}">
                      <a16:colId xmlns:a16="http://schemas.microsoft.com/office/drawing/2014/main" val="944844452"/>
                    </a:ext>
                  </a:extLst>
                </a:gridCol>
                <a:gridCol w="4672127">
                  <a:extLst>
                    <a:ext uri="{9D8B030D-6E8A-4147-A177-3AD203B41FA5}">
                      <a16:colId xmlns:a16="http://schemas.microsoft.com/office/drawing/2014/main" val="819574404"/>
                    </a:ext>
                  </a:extLst>
                </a:gridCol>
                <a:gridCol w="4415287">
                  <a:extLst>
                    <a:ext uri="{9D8B030D-6E8A-4147-A177-3AD203B41FA5}">
                      <a16:colId xmlns:a16="http://schemas.microsoft.com/office/drawing/2014/main" val="1791925941"/>
                    </a:ext>
                  </a:extLst>
                </a:gridCol>
              </a:tblGrid>
              <a:tr h="445580">
                <a:tc>
                  <a:txBody>
                    <a:bodyPr/>
                    <a:lstStyle/>
                    <a:p>
                      <a:pPr algn="l" fontAlgn="ctr">
                        <a:buNone/>
                      </a:pPr>
                      <a:r>
                        <a:rPr lang="en-US" sz="1900" b="1" i="0" u="none" strike="noStrike">
                          <a:effectLst/>
                          <a:latin typeface="Arial" panose="020B0604020202020204" pitchFamily="34" charset="0"/>
                        </a:rPr>
                        <a:t>Tag</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1" i="0" u="none" strike="noStrike">
                          <a:effectLst/>
                          <a:latin typeface="Arial" panose="020B0604020202020204" pitchFamily="34" charset="0"/>
                        </a:rPr>
                        <a:t>Part of Speech</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1" i="0" u="none" strike="noStrike">
                          <a:effectLst/>
                          <a:latin typeface="Arial" panose="020B0604020202020204" pitchFamily="34" charset="0"/>
                        </a:rPr>
                        <a:t>Examples</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extLst>
                  <a:ext uri="{0D108BD9-81ED-4DB2-BD59-A6C34878D82A}">
                    <a16:rowId xmlns:a16="http://schemas.microsoft.com/office/drawing/2014/main" val="2850659950"/>
                  </a:ext>
                </a:extLst>
              </a:tr>
              <a:tr h="445580">
                <a:tc>
                  <a:txBody>
                    <a:bodyPr/>
                    <a:lstStyle/>
                    <a:p>
                      <a:pPr algn="l" fontAlgn="ctr">
                        <a:buNone/>
                      </a:pPr>
                      <a:r>
                        <a:rPr lang="en-US" sz="1900" b="1" i="0" u="none" strike="noStrike">
                          <a:effectLst/>
                          <a:latin typeface="Arial" panose="020B0604020202020204" pitchFamily="34" charset="0"/>
                        </a:rPr>
                        <a:t>NN</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Noun, singular</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dog, city, laptop</a:t>
                      </a:r>
                    </a:p>
                  </a:txBody>
                  <a:tcPr marL="95240" marR="95240" marT="47620" marB="47620" anchor="ctr">
                    <a:lnL>
                      <a:noFill/>
                    </a:lnL>
                    <a:lnR>
                      <a:noFill/>
                    </a:lnR>
                    <a:lnT>
                      <a:noFill/>
                    </a:lnT>
                    <a:lnB>
                      <a:noFill/>
                    </a:lnB>
                    <a:noFill/>
                  </a:tcPr>
                </a:tc>
                <a:extLst>
                  <a:ext uri="{0D108BD9-81ED-4DB2-BD59-A6C34878D82A}">
                    <a16:rowId xmlns:a16="http://schemas.microsoft.com/office/drawing/2014/main" val="852529205"/>
                  </a:ext>
                </a:extLst>
              </a:tr>
              <a:tr h="445580">
                <a:tc>
                  <a:txBody>
                    <a:bodyPr/>
                    <a:lstStyle/>
                    <a:p>
                      <a:pPr algn="l" fontAlgn="ctr">
                        <a:buNone/>
                      </a:pPr>
                      <a:r>
                        <a:rPr lang="en-US" sz="1900" b="1" i="0" u="none" strike="noStrike">
                          <a:effectLst/>
                          <a:latin typeface="Arial" panose="020B0604020202020204" pitchFamily="34" charset="0"/>
                        </a:rPr>
                        <a:t>NNS</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Noun, plural</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dogs, ideas</a:t>
                      </a:r>
                    </a:p>
                  </a:txBody>
                  <a:tcPr marL="95240" marR="95240" marT="47620" marB="47620" anchor="ctr">
                    <a:lnL>
                      <a:noFill/>
                    </a:lnL>
                    <a:lnR>
                      <a:noFill/>
                    </a:lnR>
                    <a:lnT>
                      <a:noFill/>
                    </a:lnT>
                    <a:lnB>
                      <a:noFill/>
                    </a:lnB>
                    <a:noFill/>
                  </a:tcPr>
                </a:tc>
                <a:extLst>
                  <a:ext uri="{0D108BD9-81ED-4DB2-BD59-A6C34878D82A}">
                    <a16:rowId xmlns:a16="http://schemas.microsoft.com/office/drawing/2014/main" val="1486795303"/>
                  </a:ext>
                </a:extLst>
              </a:tr>
              <a:tr h="445580">
                <a:tc>
                  <a:txBody>
                    <a:bodyPr/>
                    <a:lstStyle/>
                    <a:p>
                      <a:pPr algn="l" fontAlgn="ctr">
                        <a:buNone/>
                      </a:pPr>
                      <a:r>
                        <a:rPr lang="en-US" sz="1900" b="1" i="0" u="none" strike="noStrike">
                          <a:effectLst/>
                          <a:latin typeface="Arial" panose="020B0604020202020204" pitchFamily="34" charset="0"/>
                        </a:rPr>
                        <a:t>VB</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Verb, base form</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run, go, play</a:t>
                      </a:r>
                    </a:p>
                  </a:txBody>
                  <a:tcPr marL="95240" marR="95240" marT="47620" marB="47620" anchor="ctr">
                    <a:lnL>
                      <a:noFill/>
                    </a:lnL>
                    <a:lnR>
                      <a:noFill/>
                    </a:lnR>
                    <a:lnT>
                      <a:noFill/>
                    </a:lnT>
                    <a:lnB>
                      <a:noFill/>
                    </a:lnB>
                    <a:noFill/>
                  </a:tcPr>
                </a:tc>
                <a:extLst>
                  <a:ext uri="{0D108BD9-81ED-4DB2-BD59-A6C34878D82A}">
                    <a16:rowId xmlns:a16="http://schemas.microsoft.com/office/drawing/2014/main" val="1732361138"/>
                  </a:ext>
                </a:extLst>
              </a:tr>
              <a:tr h="445580">
                <a:tc>
                  <a:txBody>
                    <a:bodyPr/>
                    <a:lstStyle/>
                    <a:p>
                      <a:pPr algn="l" fontAlgn="ctr">
                        <a:buNone/>
                      </a:pPr>
                      <a:r>
                        <a:rPr lang="en-US" sz="1900" b="1" i="0" u="none" strike="noStrike">
                          <a:effectLst/>
                          <a:latin typeface="Arial" panose="020B0604020202020204" pitchFamily="34" charset="0"/>
                        </a:rPr>
                        <a:t>VBD</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Verb, past tense</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ran, ate</a:t>
                      </a:r>
                    </a:p>
                  </a:txBody>
                  <a:tcPr marL="95240" marR="95240" marT="47620" marB="47620" anchor="ctr">
                    <a:lnL>
                      <a:noFill/>
                    </a:lnL>
                    <a:lnR>
                      <a:noFill/>
                    </a:lnR>
                    <a:lnT>
                      <a:noFill/>
                    </a:lnT>
                    <a:lnB>
                      <a:noFill/>
                    </a:lnB>
                    <a:noFill/>
                  </a:tcPr>
                </a:tc>
                <a:extLst>
                  <a:ext uri="{0D108BD9-81ED-4DB2-BD59-A6C34878D82A}">
                    <a16:rowId xmlns:a16="http://schemas.microsoft.com/office/drawing/2014/main" val="1645488718"/>
                  </a:ext>
                </a:extLst>
              </a:tr>
              <a:tr h="445580">
                <a:tc>
                  <a:txBody>
                    <a:bodyPr/>
                    <a:lstStyle/>
                    <a:p>
                      <a:pPr algn="l" fontAlgn="ctr">
                        <a:buNone/>
                      </a:pPr>
                      <a:r>
                        <a:rPr lang="en-US" sz="1900" b="1" i="0" u="none" strike="noStrike">
                          <a:effectLst/>
                          <a:latin typeface="Arial" panose="020B0604020202020204" pitchFamily="34" charset="0"/>
                        </a:rPr>
                        <a:t>JJ</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Adjective</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quick, lazy</a:t>
                      </a:r>
                    </a:p>
                  </a:txBody>
                  <a:tcPr marL="95240" marR="95240" marT="47620" marB="47620" anchor="ctr">
                    <a:lnL>
                      <a:noFill/>
                    </a:lnL>
                    <a:lnR>
                      <a:noFill/>
                    </a:lnR>
                    <a:lnT>
                      <a:noFill/>
                    </a:lnT>
                    <a:lnB>
                      <a:noFill/>
                    </a:lnB>
                    <a:noFill/>
                  </a:tcPr>
                </a:tc>
                <a:extLst>
                  <a:ext uri="{0D108BD9-81ED-4DB2-BD59-A6C34878D82A}">
                    <a16:rowId xmlns:a16="http://schemas.microsoft.com/office/drawing/2014/main" val="3395305677"/>
                  </a:ext>
                </a:extLst>
              </a:tr>
              <a:tr h="445580">
                <a:tc>
                  <a:txBody>
                    <a:bodyPr/>
                    <a:lstStyle/>
                    <a:p>
                      <a:pPr algn="l" fontAlgn="ctr">
                        <a:buNone/>
                      </a:pPr>
                      <a:r>
                        <a:rPr lang="en-US" sz="1900" b="1" i="0" u="none" strike="noStrike">
                          <a:effectLst/>
                          <a:latin typeface="Arial" panose="020B0604020202020204" pitchFamily="34" charset="0"/>
                        </a:rPr>
                        <a:t>RB</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Adverb</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quickly, very</a:t>
                      </a:r>
                    </a:p>
                  </a:txBody>
                  <a:tcPr marL="95240" marR="95240" marT="47620" marB="47620" anchor="ctr">
                    <a:lnL>
                      <a:noFill/>
                    </a:lnL>
                    <a:lnR>
                      <a:noFill/>
                    </a:lnR>
                    <a:lnT>
                      <a:noFill/>
                    </a:lnT>
                    <a:lnB>
                      <a:noFill/>
                    </a:lnB>
                    <a:noFill/>
                  </a:tcPr>
                </a:tc>
                <a:extLst>
                  <a:ext uri="{0D108BD9-81ED-4DB2-BD59-A6C34878D82A}">
                    <a16:rowId xmlns:a16="http://schemas.microsoft.com/office/drawing/2014/main" val="3640067139"/>
                  </a:ext>
                </a:extLst>
              </a:tr>
              <a:tr h="445580">
                <a:tc>
                  <a:txBody>
                    <a:bodyPr/>
                    <a:lstStyle/>
                    <a:p>
                      <a:pPr algn="l" fontAlgn="ctr">
                        <a:buNone/>
                      </a:pPr>
                      <a:r>
                        <a:rPr lang="en-US" sz="1900" b="1" i="0" u="none" strike="noStrike">
                          <a:effectLst/>
                          <a:latin typeface="Arial" panose="020B0604020202020204" pitchFamily="34" charset="0"/>
                        </a:rPr>
                        <a:t>DT</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Determiner</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the, a, an</a:t>
                      </a:r>
                    </a:p>
                  </a:txBody>
                  <a:tcPr marL="95240" marR="95240" marT="47620" marB="47620" anchor="ctr">
                    <a:lnL>
                      <a:noFill/>
                    </a:lnL>
                    <a:lnR>
                      <a:noFill/>
                    </a:lnR>
                    <a:lnT>
                      <a:noFill/>
                    </a:lnT>
                    <a:lnB>
                      <a:noFill/>
                    </a:lnB>
                    <a:noFill/>
                  </a:tcPr>
                </a:tc>
                <a:extLst>
                  <a:ext uri="{0D108BD9-81ED-4DB2-BD59-A6C34878D82A}">
                    <a16:rowId xmlns:a16="http://schemas.microsoft.com/office/drawing/2014/main" val="3841984714"/>
                  </a:ext>
                </a:extLst>
              </a:tr>
              <a:tr h="445580">
                <a:tc>
                  <a:txBody>
                    <a:bodyPr/>
                    <a:lstStyle/>
                    <a:p>
                      <a:pPr algn="l" fontAlgn="ctr">
                        <a:buNone/>
                      </a:pPr>
                      <a:r>
                        <a:rPr lang="en-US" sz="1900" b="1" i="0" u="none" strike="noStrike">
                          <a:effectLst/>
                          <a:latin typeface="Arial" panose="020B0604020202020204" pitchFamily="34" charset="0"/>
                        </a:rPr>
                        <a:t>IN</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Preposition/Subordinating</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in, over, because</a:t>
                      </a:r>
                    </a:p>
                  </a:txBody>
                  <a:tcPr marL="95240" marR="95240" marT="47620" marB="47620" anchor="ctr">
                    <a:lnL>
                      <a:noFill/>
                    </a:lnL>
                    <a:lnR>
                      <a:noFill/>
                    </a:lnR>
                    <a:lnT>
                      <a:noFill/>
                    </a:lnT>
                    <a:lnB>
                      <a:noFill/>
                    </a:lnB>
                    <a:noFill/>
                  </a:tcPr>
                </a:tc>
                <a:extLst>
                  <a:ext uri="{0D108BD9-81ED-4DB2-BD59-A6C34878D82A}">
                    <a16:rowId xmlns:a16="http://schemas.microsoft.com/office/drawing/2014/main" val="2100030271"/>
                  </a:ext>
                </a:extLst>
              </a:tr>
              <a:tr h="445580">
                <a:tc>
                  <a:txBody>
                    <a:bodyPr/>
                    <a:lstStyle/>
                    <a:p>
                      <a:pPr algn="l" fontAlgn="ctr">
                        <a:buNone/>
                      </a:pPr>
                      <a:r>
                        <a:rPr lang="en-US" sz="1900" b="1" i="0" u="none" strike="noStrike">
                          <a:effectLst/>
                          <a:latin typeface="Arial" panose="020B0604020202020204" pitchFamily="34" charset="0"/>
                        </a:rPr>
                        <a:t>PRP</a:t>
                      </a:r>
                      <a:endParaRPr lang="en-US" sz="1900" b="0" i="0" u="none" strike="noStrike">
                        <a:effectLst/>
                        <a:latin typeface="Arial" panose="020B0604020202020204" pitchFamily="34" charset="0"/>
                      </a:endParaRPr>
                    </a:p>
                  </a:txBody>
                  <a:tcPr marL="95240" marR="95240" marT="47620" marB="4762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Personal pronoun</a:t>
                      </a:r>
                    </a:p>
                  </a:txBody>
                  <a:tcPr marL="95240" marR="95240" marT="47620" marB="47620" anchor="ctr">
                    <a:lnL>
                      <a:noFill/>
                    </a:lnL>
                    <a:lnR>
                      <a:noFill/>
                    </a:lnR>
                    <a:lnT>
                      <a:noFill/>
                    </a:lnT>
                    <a:lnB>
                      <a:noFill/>
                    </a:lnB>
                    <a:noFill/>
                  </a:tcPr>
                </a:tc>
                <a:tc>
                  <a:txBody>
                    <a:bodyPr/>
                    <a:lstStyle/>
                    <a:p>
                      <a:pPr algn="l" fontAlgn="ctr">
                        <a:buNone/>
                      </a:pPr>
                      <a:r>
                        <a:rPr lang="en-US" sz="1900" b="0" i="0" u="none" strike="noStrike" dirty="0">
                          <a:effectLst/>
                          <a:latin typeface="Arial" panose="020B0604020202020204" pitchFamily="34" charset="0"/>
                        </a:rPr>
                        <a:t>he, she, it</a:t>
                      </a:r>
                    </a:p>
                  </a:txBody>
                  <a:tcPr marL="95240" marR="95240" marT="47620" marB="47620" anchor="ctr">
                    <a:lnL>
                      <a:noFill/>
                    </a:lnL>
                    <a:lnR>
                      <a:noFill/>
                    </a:lnR>
                    <a:lnT>
                      <a:noFill/>
                    </a:lnT>
                    <a:lnB>
                      <a:noFill/>
                    </a:lnB>
                    <a:noFill/>
                  </a:tcPr>
                </a:tc>
                <a:extLst>
                  <a:ext uri="{0D108BD9-81ED-4DB2-BD59-A6C34878D82A}">
                    <a16:rowId xmlns:a16="http://schemas.microsoft.com/office/drawing/2014/main" val="722664123"/>
                  </a:ext>
                </a:extLst>
              </a:tr>
            </a:tbl>
          </a:graphicData>
        </a:graphic>
      </p:graphicFrame>
    </p:spTree>
    <p:extLst>
      <p:ext uri="{BB962C8B-B14F-4D97-AF65-F5344CB8AC3E}">
        <p14:creationId xmlns:p14="http://schemas.microsoft.com/office/powerpoint/2010/main" val="1318753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CC01F2F-5214-714A-9FC4-B4CE628D0193}"/>
              </a:ext>
            </a:extLst>
          </p:cNvPr>
          <p:cNvSpPr>
            <a:spLocks noGrp="1"/>
          </p:cNvSpPr>
          <p:nvPr>
            <p:ph type="title"/>
          </p:nvPr>
        </p:nvSpPr>
        <p:spPr>
          <a:xfrm>
            <a:off x="645064" y="525982"/>
            <a:ext cx="4282983" cy="1200361"/>
          </a:xfrm>
        </p:spPr>
        <p:txBody>
          <a:bodyPr anchor="b">
            <a:normAutofit/>
          </a:bodyPr>
          <a:lstStyle/>
          <a:p>
            <a:r>
              <a:rPr lang="en-US" sz="3600"/>
              <a:t>Example</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71B8E931-BF85-4CAE-DE08-ACE31295DC34}"/>
              </a:ext>
            </a:extLst>
          </p:cNvPr>
          <p:cNvSpPr>
            <a:spLocks noGrp="1"/>
          </p:cNvSpPr>
          <p:nvPr>
            <p:ph idx="1"/>
          </p:nvPr>
        </p:nvSpPr>
        <p:spPr>
          <a:xfrm>
            <a:off x="645066" y="2031101"/>
            <a:ext cx="4282984" cy="3511943"/>
          </a:xfrm>
        </p:spPr>
        <p:txBody>
          <a:bodyPr anchor="ctr">
            <a:normAutofit/>
          </a:bodyPr>
          <a:lstStyle/>
          <a:p>
            <a:r>
              <a:rPr lang="en-US" dirty="0"/>
              <a:t>Sentence:</a:t>
            </a:r>
          </a:p>
          <a:p>
            <a:pPr marL="0" indent="0">
              <a:buNone/>
            </a:pPr>
            <a:r>
              <a:rPr lang="en-US" dirty="0"/>
              <a:t>"The quick brown fox jumps over the lazy dog.“</a:t>
            </a:r>
          </a:p>
          <a:p>
            <a:pPr marL="0" indent="0">
              <a:buNone/>
            </a:pPr>
            <a:endParaRPr lang="en-US" sz="1800" dirty="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Table 4">
            <a:extLst>
              <a:ext uri="{FF2B5EF4-FFF2-40B4-BE49-F238E27FC236}">
                <a16:creationId xmlns:a16="http://schemas.microsoft.com/office/drawing/2014/main" id="{5C2EB882-AC8D-5C66-938A-B2B8E5883989}"/>
              </a:ext>
            </a:extLst>
          </p:cNvPr>
          <p:cNvGraphicFramePr>
            <a:graphicFrameLocks noGrp="1"/>
          </p:cNvGraphicFramePr>
          <p:nvPr/>
        </p:nvGraphicFramePr>
        <p:xfrm>
          <a:off x="6139676" y="650494"/>
          <a:ext cx="5324144" cy="5324149"/>
        </p:xfrm>
        <a:graphic>
          <a:graphicData uri="http://schemas.openxmlformats.org/drawingml/2006/table">
            <a:tbl>
              <a:tblPr/>
              <a:tblGrid>
                <a:gridCol w="1161117">
                  <a:extLst>
                    <a:ext uri="{9D8B030D-6E8A-4147-A177-3AD203B41FA5}">
                      <a16:colId xmlns:a16="http://schemas.microsoft.com/office/drawing/2014/main" val="1605721616"/>
                    </a:ext>
                  </a:extLst>
                </a:gridCol>
                <a:gridCol w="1570182">
                  <a:extLst>
                    <a:ext uri="{9D8B030D-6E8A-4147-A177-3AD203B41FA5}">
                      <a16:colId xmlns:a16="http://schemas.microsoft.com/office/drawing/2014/main" val="468040853"/>
                    </a:ext>
                  </a:extLst>
                </a:gridCol>
                <a:gridCol w="2592845">
                  <a:extLst>
                    <a:ext uri="{9D8B030D-6E8A-4147-A177-3AD203B41FA5}">
                      <a16:colId xmlns:a16="http://schemas.microsoft.com/office/drawing/2014/main" val="608202048"/>
                    </a:ext>
                  </a:extLst>
                </a:gridCol>
              </a:tblGrid>
              <a:tr h="498431">
                <a:tc>
                  <a:txBody>
                    <a:bodyPr/>
                    <a:lstStyle/>
                    <a:p>
                      <a:r>
                        <a:rPr lang="en-US" sz="2200" b="1"/>
                        <a:t>Word</a:t>
                      </a:r>
                    </a:p>
                  </a:txBody>
                  <a:tcPr marL="113280" marR="113280" marT="56640" marB="56640" anchor="ctr">
                    <a:lnL>
                      <a:noFill/>
                    </a:lnL>
                    <a:lnR>
                      <a:noFill/>
                    </a:lnR>
                    <a:lnT>
                      <a:noFill/>
                    </a:lnT>
                    <a:lnB>
                      <a:noFill/>
                    </a:lnB>
                    <a:noFill/>
                  </a:tcPr>
                </a:tc>
                <a:tc>
                  <a:txBody>
                    <a:bodyPr/>
                    <a:lstStyle/>
                    <a:p>
                      <a:r>
                        <a:rPr lang="en-US" sz="2200" b="1"/>
                        <a:t>POS Tag</a:t>
                      </a:r>
                    </a:p>
                  </a:txBody>
                  <a:tcPr marL="113280" marR="113280" marT="56640" marB="56640" anchor="ctr">
                    <a:lnL>
                      <a:noFill/>
                    </a:lnL>
                    <a:lnR>
                      <a:noFill/>
                    </a:lnR>
                    <a:lnT>
                      <a:noFill/>
                    </a:lnT>
                    <a:lnB>
                      <a:noFill/>
                    </a:lnB>
                    <a:noFill/>
                  </a:tcPr>
                </a:tc>
                <a:tc>
                  <a:txBody>
                    <a:bodyPr/>
                    <a:lstStyle/>
                    <a:p>
                      <a:r>
                        <a:rPr lang="en-US" sz="2200" b="1"/>
                        <a:t>Explanation</a:t>
                      </a:r>
                    </a:p>
                  </a:txBody>
                  <a:tcPr marL="113280" marR="113280" marT="56640" marB="56640" anchor="ctr">
                    <a:lnL>
                      <a:noFill/>
                    </a:lnL>
                    <a:lnR>
                      <a:noFill/>
                    </a:lnR>
                    <a:lnT>
                      <a:noFill/>
                    </a:lnT>
                    <a:lnB>
                      <a:noFill/>
                    </a:lnB>
                    <a:noFill/>
                  </a:tcPr>
                </a:tc>
                <a:extLst>
                  <a:ext uri="{0D108BD9-81ED-4DB2-BD59-A6C34878D82A}">
                    <a16:rowId xmlns:a16="http://schemas.microsoft.com/office/drawing/2014/main" val="3988077589"/>
                  </a:ext>
                </a:extLst>
              </a:tr>
              <a:tr h="498431">
                <a:tc>
                  <a:txBody>
                    <a:bodyPr/>
                    <a:lstStyle/>
                    <a:p>
                      <a:r>
                        <a:rPr lang="en-US" sz="2200"/>
                        <a:t>The</a:t>
                      </a:r>
                    </a:p>
                  </a:txBody>
                  <a:tcPr marL="113280" marR="113280" marT="56640" marB="56640" anchor="ctr">
                    <a:lnL>
                      <a:noFill/>
                    </a:lnL>
                    <a:lnR>
                      <a:noFill/>
                    </a:lnR>
                    <a:lnT>
                      <a:noFill/>
                    </a:lnT>
                    <a:lnB>
                      <a:noFill/>
                    </a:lnB>
                    <a:noFill/>
                  </a:tcPr>
                </a:tc>
                <a:tc>
                  <a:txBody>
                    <a:bodyPr/>
                    <a:lstStyle/>
                    <a:p>
                      <a:r>
                        <a:rPr lang="en-US" sz="2200"/>
                        <a:t>DT</a:t>
                      </a:r>
                    </a:p>
                  </a:txBody>
                  <a:tcPr marL="113280" marR="113280" marT="56640" marB="56640" anchor="ctr">
                    <a:lnL>
                      <a:noFill/>
                    </a:lnL>
                    <a:lnR>
                      <a:noFill/>
                    </a:lnR>
                    <a:lnT>
                      <a:noFill/>
                    </a:lnT>
                    <a:lnB>
                      <a:noFill/>
                    </a:lnB>
                    <a:noFill/>
                  </a:tcPr>
                </a:tc>
                <a:tc>
                  <a:txBody>
                    <a:bodyPr/>
                    <a:lstStyle/>
                    <a:p>
                      <a:r>
                        <a:rPr lang="en-US" sz="2200"/>
                        <a:t>Determiner</a:t>
                      </a:r>
                    </a:p>
                  </a:txBody>
                  <a:tcPr marL="113280" marR="113280" marT="56640" marB="56640" anchor="ctr">
                    <a:lnL>
                      <a:noFill/>
                    </a:lnL>
                    <a:lnR>
                      <a:noFill/>
                    </a:lnR>
                    <a:lnT>
                      <a:noFill/>
                    </a:lnT>
                    <a:lnB>
                      <a:noFill/>
                    </a:lnB>
                    <a:noFill/>
                  </a:tcPr>
                </a:tc>
                <a:extLst>
                  <a:ext uri="{0D108BD9-81ED-4DB2-BD59-A6C34878D82A}">
                    <a16:rowId xmlns:a16="http://schemas.microsoft.com/office/drawing/2014/main" val="2128030947"/>
                  </a:ext>
                </a:extLst>
              </a:tr>
              <a:tr h="498431">
                <a:tc>
                  <a:txBody>
                    <a:bodyPr/>
                    <a:lstStyle/>
                    <a:p>
                      <a:r>
                        <a:rPr lang="en-US" sz="2200"/>
                        <a:t>quick</a:t>
                      </a:r>
                    </a:p>
                  </a:txBody>
                  <a:tcPr marL="113280" marR="113280" marT="56640" marB="56640" anchor="ctr">
                    <a:lnL>
                      <a:noFill/>
                    </a:lnL>
                    <a:lnR>
                      <a:noFill/>
                    </a:lnR>
                    <a:lnT>
                      <a:noFill/>
                    </a:lnT>
                    <a:lnB>
                      <a:noFill/>
                    </a:lnB>
                    <a:noFill/>
                  </a:tcPr>
                </a:tc>
                <a:tc>
                  <a:txBody>
                    <a:bodyPr/>
                    <a:lstStyle/>
                    <a:p>
                      <a:r>
                        <a:rPr lang="en-US" sz="2200"/>
                        <a:t>JJ</a:t>
                      </a:r>
                    </a:p>
                  </a:txBody>
                  <a:tcPr marL="113280" marR="113280" marT="56640" marB="56640" anchor="ctr">
                    <a:lnL>
                      <a:noFill/>
                    </a:lnL>
                    <a:lnR>
                      <a:noFill/>
                    </a:lnR>
                    <a:lnT>
                      <a:noFill/>
                    </a:lnT>
                    <a:lnB>
                      <a:noFill/>
                    </a:lnB>
                    <a:noFill/>
                  </a:tcPr>
                </a:tc>
                <a:tc>
                  <a:txBody>
                    <a:bodyPr/>
                    <a:lstStyle/>
                    <a:p>
                      <a:r>
                        <a:rPr lang="en-US" sz="2200"/>
                        <a:t>Adjective</a:t>
                      </a:r>
                    </a:p>
                  </a:txBody>
                  <a:tcPr marL="113280" marR="113280" marT="56640" marB="56640" anchor="ctr">
                    <a:lnL>
                      <a:noFill/>
                    </a:lnL>
                    <a:lnR>
                      <a:noFill/>
                    </a:lnR>
                    <a:lnT>
                      <a:noFill/>
                    </a:lnT>
                    <a:lnB>
                      <a:noFill/>
                    </a:lnB>
                    <a:noFill/>
                  </a:tcPr>
                </a:tc>
                <a:extLst>
                  <a:ext uri="{0D108BD9-81ED-4DB2-BD59-A6C34878D82A}">
                    <a16:rowId xmlns:a16="http://schemas.microsoft.com/office/drawing/2014/main" val="3195918369"/>
                  </a:ext>
                </a:extLst>
              </a:tr>
              <a:tr h="498431">
                <a:tc>
                  <a:txBody>
                    <a:bodyPr/>
                    <a:lstStyle/>
                    <a:p>
                      <a:r>
                        <a:rPr lang="en-US" sz="2200"/>
                        <a:t>brown</a:t>
                      </a:r>
                    </a:p>
                  </a:txBody>
                  <a:tcPr marL="113280" marR="113280" marT="56640" marB="56640" anchor="ctr">
                    <a:lnL>
                      <a:noFill/>
                    </a:lnL>
                    <a:lnR>
                      <a:noFill/>
                    </a:lnR>
                    <a:lnT>
                      <a:noFill/>
                    </a:lnT>
                    <a:lnB>
                      <a:noFill/>
                    </a:lnB>
                    <a:noFill/>
                  </a:tcPr>
                </a:tc>
                <a:tc>
                  <a:txBody>
                    <a:bodyPr/>
                    <a:lstStyle/>
                    <a:p>
                      <a:r>
                        <a:rPr lang="en-US" sz="2200"/>
                        <a:t>JJ</a:t>
                      </a:r>
                    </a:p>
                  </a:txBody>
                  <a:tcPr marL="113280" marR="113280" marT="56640" marB="56640" anchor="ctr">
                    <a:lnL>
                      <a:noFill/>
                    </a:lnL>
                    <a:lnR>
                      <a:noFill/>
                    </a:lnR>
                    <a:lnT>
                      <a:noFill/>
                    </a:lnT>
                    <a:lnB>
                      <a:noFill/>
                    </a:lnB>
                    <a:noFill/>
                  </a:tcPr>
                </a:tc>
                <a:tc>
                  <a:txBody>
                    <a:bodyPr/>
                    <a:lstStyle/>
                    <a:p>
                      <a:r>
                        <a:rPr lang="en-US" sz="2200"/>
                        <a:t>Adjective</a:t>
                      </a:r>
                    </a:p>
                  </a:txBody>
                  <a:tcPr marL="113280" marR="113280" marT="56640" marB="56640" anchor="ctr">
                    <a:lnL>
                      <a:noFill/>
                    </a:lnL>
                    <a:lnR>
                      <a:noFill/>
                    </a:lnR>
                    <a:lnT>
                      <a:noFill/>
                    </a:lnT>
                    <a:lnB>
                      <a:noFill/>
                    </a:lnB>
                    <a:noFill/>
                  </a:tcPr>
                </a:tc>
                <a:extLst>
                  <a:ext uri="{0D108BD9-81ED-4DB2-BD59-A6C34878D82A}">
                    <a16:rowId xmlns:a16="http://schemas.microsoft.com/office/drawing/2014/main" val="604324452"/>
                  </a:ext>
                </a:extLst>
              </a:tr>
              <a:tr h="498431">
                <a:tc>
                  <a:txBody>
                    <a:bodyPr/>
                    <a:lstStyle/>
                    <a:p>
                      <a:r>
                        <a:rPr lang="en-US" sz="2200"/>
                        <a:t>fox</a:t>
                      </a:r>
                    </a:p>
                  </a:txBody>
                  <a:tcPr marL="113280" marR="113280" marT="56640" marB="56640" anchor="ctr">
                    <a:lnL>
                      <a:noFill/>
                    </a:lnL>
                    <a:lnR>
                      <a:noFill/>
                    </a:lnR>
                    <a:lnT>
                      <a:noFill/>
                    </a:lnT>
                    <a:lnB>
                      <a:noFill/>
                    </a:lnB>
                    <a:noFill/>
                  </a:tcPr>
                </a:tc>
                <a:tc>
                  <a:txBody>
                    <a:bodyPr/>
                    <a:lstStyle/>
                    <a:p>
                      <a:r>
                        <a:rPr lang="en-US" sz="2200"/>
                        <a:t>NN</a:t>
                      </a:r>
                    </a:p>
                  </a:txBody>
                  <a:tcPr marL="113280" marR="113280" marT="56640" marB="56640" anchor="ctr">
                    <a:lnL>
                      <a:noFill/>
                    </a:lnL>
                    <a:lnR>
                      <a:noFill/>
                    </a:lnR>
                    <a:lnT>
                      <a:noFill/>
                    </a:lnT>
                    <a:lnB>
                      <a:noFill/>
                    </a:lnB>
                    <a:noFill/>
                  </a:tcPr>
                </a:tc>
                <a:tc>
                  <a:txBody>
                    <a:bodyPr/>
                    <a:lstStyle/>
                    <a:p>
                      <a:r>
                        <a:rPr lang="en-US" sz="2200"/>
                        <a:t>Noun (singular)</a:t>
                      </a:r>
                    </a:p>
                  </a:txBody>
                  <a:tcPr marL="113280" marR="113280" marT="56640" marB="56640" anchor="ctr">
                    <a:lnL>
                      <a:noFill/>
                    </a:lnL>
                    <a:lnR>
                      <a:noFill/>
                    </a:lnR>
                    <a:lnT>
                      <a:noFill/>
                    </a:lnT>
                    <a:lnB>
                      <a:noFill/>
                    </a:lnB>
                    <a:noFill/>
                  </a:tcPr>
                </a:tc>
                <a:extLst>
                  <a:ext uri="{0D108BD9-81ED-4DB2-BD59-A6C34878D82A}">
                    <a16:rowId xmlns:a16="http://schemas.microsoft.com/office/drawing/2014/main" val="2157166677"/>
                  </a:ext>
                </a:extLst>
              </a:tr>
              <a:tr h="838270">
                <a:tc>
                  <a:txBody>
                    <a:bodyPr/>
                    <a:lstStyle/>
                    <a:p>
                      <a:r>
                        <a:rPr lang="en-US" sz="2200"/>
                        <a:t>jumps</a:t>
                      </a:r>
                    </a:p>
                  </a:txBody>
                  <a:tcPr marL="113280" marR="113280" marT="56640" marB="56640" anchor="ctr">
                    <a:lnL>
                      <a:noFill/>
                    </a:lnL>
                    <a:lnR>
                      <a:noFill/>
                    </a:lnR>
                    <a:lnT>
                      <a:noFill/>
                    </a:lnT>
                    <a:lnB>
                      <a:noFill/>
                    </a:lnB>
                    <a:noFill/>
                  </a:tcPr>
                </a:tc>
                <a:tc>
                  <a:txBody>
                    <a:bodyPr/>
                    <a:lstStyle/>
                    <a:p>
                      <a:r>
                        <a:rPr lang="en-US" sz="2200"/>
                        <a:t>VBZ</a:t>
                      </a:r>
                    </a:p>
                  </a:txBody>
                  <a:tcPr marL="113280" marR="113280" marT="56640" marB="56640" anchor="ctr">
                    <a:lnL>
                      <a:noFill/>
                    </a:lnL>
                    <a:lnR>
                      <a:noFill/>
                    </a:lnR>
                    <a:lnT>
                      <a:noFill/>
                    </a:lnT>
                    <a:lnB>
                      <a:noFill/>
                    </a:lnB>
                    <a:noFill/>
                  </a:tcPr>
                </a:tc>
                <a:tc>
                  <a:txBody>
                    <a:bodyPr/>
                    <a:lstStyle/>
                    <a:p>
                      <a:r>
                        <a:rPr lang="en-US" sz="2200"/>
                        <a:t>Verb (3rd person, singular present)</a:t>
                      </a:r>
                    </a:p>
                  </a:txBody>
                  <a:tcPr marL="113280" marR="113280" marT="56640" marB="56640" anchor="ctr">
                    <a:lnL>
                      <a:noFill/>
                    </a:lnL>
                    <a:lnR>
                      <a:noFill/>
                    </a:lnR>
                    <a:lnT>
                      <a:noFill/>
                    </a:lnT>
                    <a:lnB>
                      <a:noFill/>
                    </a:lnB>
                    <a:noFill/>
                  </a:tcPr>
                </a:tc>
                <a:extLst>
                  <a:ext uri="{0D108BD9-81ED-4DB2-BD59-A6C34878D82A}">
                    <a16:rowId xmlns:a16="http://schemas.microsoft.com/office/drawing/2014/main" val="2879872145"/>
                  </a:ext>
                </a:extLst>
              </a:tr>
              <a:tr h="498431">
                <a:tc>
                  <a:txBody>
                    <a:bodyPr/>
                    <a:lstStyle/>
                    <a:p>
                      <a:r>
                        <a:rPr lang="en-US" sz="2200"/>
                        <a:t>over</a:t>
                      </a:r>
                    </a:p>
                  </a:txBody>
                  <a:tcPr marL="113280" marR="113280" marT="56640" marB="56640" anchor="ctr">
                    <a:lnL>
                      <a:noFill/>
                    </a:lnL>
                    <a:lnR>
                      <a:noFill/>
                    </a:lnR>
                    <a:lnT>
                      <a:noFill/>
                    </a:lnT>
                    <a:lnB>
                      <a:noFill/>
                    </a:lnB>
                    <a:noFill/>
                  </a:tcPr>
                </a:tc>
                <a:tc>
                  <a:txBody>
                    <a:bodyPr/>
                    <a:lstStyle/>
                    <a:p>
                      <a:r>
                        <a:rPr lang="en-US" sz="2200"/>
                        <a:t>IN</a:t>
                      </a:r>
                    </a:p>
                  </a:txBody>
                  <a:tcPr marL="113280" marR="113280" marT="56640" marB="56640" anchor="ctr">
                    <a:lnL>
                      <a:noFill/>
                    </a:lnL>
                    <a:lnR>
                      <a:noFill/>
                    </a:lnR>
                    <a:lnT>
                      <a:noFill/>
                    </a:lnT>
                    <a:lnB>
                      <a:noFill/>
                    </a:lnB>
                    <a:noFill/>
                  </a:tcPr>
                </a:tc>
                <a:tc>
                  <a:txBody>
                    <a:bodyPr/>
                    <a:lstStyle/>
                    <a:p>
                      <a:r>
                        <a:rPr lang="en-US" sz="2200"/>
                        <a:t>Preposition</a:t>
                      </a:r>
                    </a:p>
                  </a:txBody>
                  <a:tcPr marL="113280" marR="113280" marT="56640" marB="56640" anchor="ctr">
                    <a:lnL>
                      <a:noFill/>
                    </a:lnL>
                    <a:lnR>
                      <a:noFill/>
                    </a:lnR>
                    <a:lnT>
                      <a:noFill/>
                    </a:lnT>
                    <a:lnB>
                      <a:noFill/>
                    </a:lnB>
                    <a:noFill/>
                  </a:tcPr>
                </a:tc>
                <a:extLst>
                  <a:ext uri="{0D108BD9-81ED-4DB2-BD59-A6C34878D82A}">
                    <a16:rowId xmlns:a16="http://schemas.microsoft.com/office/drawing/2014/main" val="2195280343"/>
                  </a:ext>
                </a:extLst>
              </a:tr>
              <a:tr h="498431">
                <a:tc>
                  <a:txBody>
                    <a:bodyPr/>
                    <a:lstStyle/>
                    <a:p>
                      <a:r>
                        <a:rPr lang="en-US" sz="2200"/>
                        <a:t>the</a:t>
                      </a:r>
                    </a:p>
                  </a:txBody>
                  <a:tcPr marL="113280" marR="113280" marT="56640" marB="56640" anchor="ctr">
                    <a:lnL>
                      <a:noFill/>
                    </a:lnL>
                    <a:lnR>
                      <a:noFill/>
                    </a:lnR>
                    <a:lnT>
                      <a:noFill/>
                    </a:lnT>
                    <a:lnB>
                      <a:noFill/>
                    </a:lnB>
                    <a:noFill/>
                  </a:tcPr>
                </a:tc>
                <a:tc>
                  <a:txBody>
                    <a:bodyPr/>
                    <a:lstStyle/>
                    <a:p>
                      <a:r>
                        <a:rPr lang="en-US" sz="2200"/>
                        <a:t>DT</a:t>
                      </a:r>
                    </a:p>
                  </a:txBody>
                  <a:tcPr marL="113280" marR="113280" marT="56640" marB="56640" anchor="ctr">
                    <a:lnL>
                      <a:noFill/>
                    </a:lnL>
                    <a:lnR>
                      <a:noFill/>
                    </a:lnR>
                    <a:lnT>
                      <a:noFill/>
                    </a:lnT>
                    <a:lnB>
                      <a:noFill/>
                    </a:lnB>
                    <a:noFill/>
                  </a:tcPr>
                </a:tc>
                <a:tc>
                  <a:txBody>
                    <a:bodyPr/>
                    <a:lstStyle/>
                    <a:p>
                      <a:r>
                        <a:rPr lang="en-US" sz="2200"/>
                        <a:t>Determiner</a:t>
                      </a:r>
                    </a:p>
                  </a:txBody>
                  <a:tcPr marL="113280" marR="113280" marT="56640" marB="56640" anchor="ctr">
                    <a:lnL>
                      <a:noFill/>
                    </a:lnL>
                    <a:lnR>
                      <a:noFill/>
                    </a:lnR>
                    <a:lnT>
                      <a:noFill/>
                    </a:lnT>
                    <a:lnB>
                      <a:noFill/>
                    </a:lnB>
                    <a:noFill/>
                  </a:tcPr>
                </a:tc>
                <a:extLst>
                  <a:ext uri="{0D108BD9-81ED-4DB2-BD59-A6C34878D82A}">
                    <a16:rowId xmlns:a16="http://schemas.microsoft.com/office/drawing/2014/main" val="3736963470"/>
                  </a:ext>
                </a:extLst>
              </a:tr>
              <a:tr h="498431">
                <a:tc>
                  <a:txBody>
                    <a:bodyPr/>
                    <a:lstStyle/>
                    <a:p>
                      <a:r>
                        <a:rPr lang="en-US" sz="2200"/>
                        <a:t>lazy</a:t>
                      </a:r>
                    </a:p>
                  </a:txBody>
                  <a:tcPr marL="113280" marR="113280" marT="56640" marB="56640" anchor="ctr">
                    <a:lnL>
                      <a:noFill/>
                    </a:lnL>
                    <a:lnR>
                      <a:noFill/>
                    </a:lnR>
                    <a:lnT>
                      <a:noFill/>
                    </a:lnT>
                    <a:lnB>
                      <a:noFill/>
                    </a:lnB>
                    <a:noFill/>
                  </a:tcPr>
                </a:tc>
                <a:tc>
                  <a:txBody>
                    <a:bodyPr/>
                    <a:lstStyle/>
                    <a:p>
                      <a:r>
                        <a:rPr lang="en-US" sz="2200"/>
                        <a:t>JJ</a:t>
                      </a:r>
                    </a:p>
                  </a:txBody>
                  <a:tcPr marL="113280" marR="113280" marT="56640" marB="56640" anchor="ctr">
                    <a:lnL>
                      <a:noFill/>
                    </a:lnL>
                    <a:lnR>
                      <a:noFill/>
                    </a:lnR>
                    <a:lnT>
                      <a:noFill/>
                    </a:lnT>
                    <a:lnB>
                      <a:noFill/>
                    </a:lnB>
                    <a:noFill/>
                  </a:tcPr>
                </a:tc>
                <a:tc>
                  <a:txBody>
                    <a:bodyPr/>
                    <a:lstStyle/>
                    <a:p>
                      <a:r>
                        <a:rPr lang="en-US" sz="2200"/>
                        <a:t>Adjective</a:t>
                      </a:r>
                    </a:p>
                  </a:txBody>
                  <a:tcPr marL="113280" marR="113280" marT="56640" marB="56640" anchor="ctr">
                    <a:lnL>
                      <a:noFill/>
                    </a:lnL>
                    <a:lnR>
                      <a:noFill/>
                    </a:lnR>
                    <a:lnT>
                      <a:noFill/>
                    </a:lnT>
                    <a:lnB>
                      <a:noFill/>
                    </a:lnB>
                    <a:noFill/>
                  </a:tcPr>
                </a:tc>
                <a:extLst>
                  <a:ext uri="{0D108BD9-81ED-4DB2-BD59-A6C34878D82A}">
                    <a16:rowId xmlns:a16="http://schemas.microsoft.com/office/drawing/2014/main" val="975455036"/>
                  </a:ext>
                </a:extLst>
              </a:tr>
              <a:tr h="498431">
                <a:tc>
                  <a:txBody>
                    <a:bodyPr/>
                    <a:lstStyle/>
                    <a:p>
                      <a:r>
                        <a:rPr lang="en-US" sz="2200"/>
                        <a:t>dog</a:t>
                      </a:r>
                    </a:p>
                  </a:txBody>
                  <a:tcPr marL="113280" marR="113280" marT="56640" marB="56640" anchor="ctr">
                    <a:lnL>
                      <a:noFill/>
                    </a:lnL>
                    <a:lnR>
                      <a:noFill/>
                    </a:lnR>
                    <a:lnT>
                      <a:noFill/>
                    </a:lnT>
                    <a:lnB>
                      <a:noFill/>
                    </a:lnB>
                    <a:noFill/>
                  </a:tcPr>
                </a:tc>
                <a:tc>
                  <a:txBody>
                    <a:bodyPr/>
                    <a:lstStyle/>
                    <a:p>
                      <a:r>
                        <a:rPr lang="en-US" sz="2200"/>
                        <a:t>NN</a:t>
                      </a:r>
                    </a:p>
                  </a:txBody>
                  <a:tcPr marL="113280" marR="113280" marT="56640" marB="56640" anchor="ctr">
                    <a:lnL>
                      <a:noFill/>
                    </a:lnL>
                    <a:lnR>
                      <a:noFill/>
                    </a:lnR>
                    <a:lnT>
                      <a:noFill/>
                    </a:lnT>
                    <a:lnB>
                      <a:noFill/>
                    </a:lnB>
                    <a:noFill/>
                  </a:tcPr>
                </a:tc>
                <a:tc>
                  <a:txBody>
                    <a:bodyPr/>
                    <a:lstStyle/>
                    <a:p>
                      <a:r>
                        <a:rPr lang="en-US" sz="2200"/>
                        <a:t>Noun (singular)</a:t>
                      </a:r>
                    </a:p>
                  </a:txBody>
                  <a:tcPr marL="113280" marR="113280" marT="56640" marB="56640" anchor="ctr">
                    <a:lnL>
                      <a:noFill/>
                    </a:lnL>
                    <a:lnR>
                      <a:noFill/>
                    </a:lnR>
                    <a:lnT>
                      <a:noFill/>
                    </a:lnT>
                    <a:lnB>
                      <a:noFill/>
                    </a:lnB>
                    <a:noFill/>
                  </a:tcPr>
                </a:tc>
                <a:extLst>
                  <a:ext uri="{0D108BD9-81ED-4DB2-BD59-A6C34878D82A}">
                    <a16:rowId xmlns:a16="http://schemas.microsoft.com/office/drawing/2014/main" val="125336224"/>
                  </a:ext>
                </a:extLst>
              </a:tr>
            </a:tbl>
          </a:graphicData>
        </a:graphic>
      </p:graphicFrame>
    </p:spTree>
    <p:extLst>
      <p:ext uri="{BB962C8B-B14F-4D97-AF65-F5344CB8AC3E}">
        <p14:creationId xmlns:p14="http://schemas.microsoft.com/office/powerpoint/2010/main" val="3461252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46B63-9F14-A218-2592-07CB703AB1A0}"/>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0B99CAF9-1951-86AF-D5ED-6ED54BEE5125}"/>
              </a:ext>
            </a:extLst>
          </p:cNvPr>
          <p:cNvSpPr>
            <a:spLocks noGrp="1"/>
          </p:cNvSpPr>
          <p:nvPr>
            <p:ph idx="1"/>
          </p:nvPr>
        </p:nvSpPr>
        <p:spPr>
          <a:xfrm>
            <a:off x="838200" y="1064871"/>
            <a:ext cx="10515600" cy="5671071"/>
          </a:xfrm>
        </p:spPr>
        <p:txBody>
          <a:bodyPr>
            <a:normAutofit/>
          </a:bodyPr>
          <a:lstStyle/>
          <a:p>
            <a:r>
              <a:rPr lang="en-GB" sz="2400" b="1" dirty="0"/>
              <a:t>Example Sentence: </a:t>
            </a:r>
            <a:r>
              <a:rPr lang="en-GB" sz="2400" dirty="0"/>
              <a:t>"The cat chased the mouse."</a:t>
            </a:r>
          </a:p>
          <a:p>
            <a:pPr marL="0" indent="0">
              <a:buNone/>
            </a:pPr>
            <a:r>
              <a:rPr lang="en-GB" sz="2400" b="1" dirty="0"/>
              <a:t>Step 1: Preprocessing the Text</a:t>
            </a:r>
          </a:p>
          <a:p>
            <a:pPr>
              <a:buFont typeface="Arial" panose="020B0604020202020204" pitchFamily="34" charset="0"/>
              <a:buChar char="•"/>
            </a:pPr>
            <a:r>
              <a:rPr lang="en-GB" sz="2400" b="1" dirty="0"/>
              <a:t>Input Text:</a:t>
            </a:r>
            <a:r>
              <a:rPr lang="en-GB" sz="2400" dirty="0"/>
              <a:t> "The cat chased the mouse."</a:t>
            </a:r>
          </a:p>
          <a:p>
            <a:pPr>
              <a:buFont typeface="Arial" panose="020B0604020202020204" pitchFamily="34" charset="0"/>
              <a:buChar char="•"/>
            </a:pPr>
            <a:r>
              <a:rPr lang="en-GB" sz="2400" b="1" dirty="0"/>
              <a:t>Tokenization:</a:t>
            </a:r>
            <a:r>
              <a:rPr lang="en-GB" sz="2400" dirty="0"/>
              <a:t> Break the sentence into individual words.</a:t>
            </a:r>
            <a:br>
              <a:rPr lang="en-GB" sz="2400" dirty="0"/>
            </a:br>
            <a:r>
              <a:rPr lang="en-GB" sz="2400" b="1" dirty="0"/>
              <a:t>Tokens:</a:t>
            </a:r>
            <a:r>
              <a:rPr lang="en-GB" sz="2400" dirty="0"/>
              <a:t> ["The", "cat", "chased", "the", "mouse"]</a:t>
            </a:r>
          </a:p>
          <a:p>
            <a:pPr marL="0" indent="0">
              <a:buNone/>
            </a:pPr>
            <a:r>
              <a:rPr lang="it-IT" sz="2400" b="1" dirty="0"/>
              <a:t>Step 2: POS Tagging</a:t>
            </a:r>
          </a:p>
          <a:p>
            <a:pPr>
              <a:buFont typeface="Arial" panose="020B0604020202020204" pitchFamily="34" charset="0"/>
              <a:buChar char="•"/>
            </a:pPr>
            <a:r>
              <a:rPr lang="it-IT" sz="2400" dirty="0"/>
              <a:t>Assign grammatical roles (POS tags) to each word based on their role in the sentence.</a:t>
            </a:r>
            <a:br>
              <a:rPr lang="it-IT" sz="2400" dirty="0"/>
            </a:br>
            <a:r>
              <a:rPr lang="it-IT" sz="2400" dirty="0"/>
              <a:t>Common POS Tags:</a:t>
            </a:r>
          </a:p>
          <a:p>
            <a:pPr marL="742950" lvl="1" indent="-285750">
              <a:buFont typeface="Arial" panose="020B0604020202020204" pitchFamily="34" charset="0"/>
              <a:buChar char="•"/>
            </a:pPr>
            <a:r>
              <a:rPr lang="it-IT" b="1" dirty="0"/>
              <a:t>NN</a:t>
            </a:r>
            <a:r>
              <a:rPr lang="it-IT" dirty="0"/>
              <a:t>: Noun (e.g., "cat")</a:t>
            </a:r>
          </a:p>
          <a:p>
            <a:pPr marL="742950" lvl="1" indent="-285750">
              <a:buFont typeface="Arial" panose="020B0604020202020204" pitchFamily="34" charset="0"/>
              <a:buChar char="•"/>
            </a:pPr>
            <a:r>
              <a:rPr lang="it-IT" b="1" dirty="0"/>
              <a:t>VB</a:t>
            </a:r>
            <a:r>
              <a:rPr lang="it-IT" dirty="0"/>
              <a:t>: Verb (e.g., "chased")</a:t>
            </a:r>
          </a:p>
          <a:p>
            <a:pPr marL="742950" lvl="1" indent="-285750">
              <a:buFont typeface="Arial" panose="020B0604020202020204" pitchFamily="34" charset="0"/>
              <a:buChar char="•"/>
            </a:pPr>
            <a:r>
              <a:rPr lang="it-IT" b="1" dirty="0"/>
              <a:t>DT</a:t>
            </a:r>
            <a:r>
              <a:rPr lang="it-IT" dirty="0"/>
              <a:t>: Determiner (e.g., "The")</a:t>
            </a:r>
          </a:p>
          <a:p>
            <a:pPr>
              <a:buFont typeface="Arial" panose="020B0604020202020204" pitchFamily="34" charset="0"/>
              <a:buChar char="•"/>
            </a:pPr>
            <a:endParaRPr lang="en-GB" dirty="0"/>
          </a:p>
          <a:p>
            <a:endParaRPr lang="en-PK" dirty="0"/>
          </a:p>
        </p:txBody>
      </p:sp>
      <p:sp>
        <p:nvSpPr>
          <p:cNvPr id="18" name="Title 17">
            <a:extLst>
              <a:ext uri="{FF2B5EF4-FFF2-40B4-BE49-F238E27FC236}">
                <a16:creationId xmlns:a16="http://schemas.microsoft.com/office/drawing/2014/main" id="{C2427DBB-9A8A-C316-E6EE-4DAB99072D22}"/>
              </a:ext>
            </a:extLst>
          </p:cNvPr>
          <p:cNvSpPr>
            <a:spLocks noGrp="1"/>
          </p:cNvSpPr>
          <p:nvPr>
            <p:ph type="title"/>
          </p:nvPr>
        </p:nvSpPr>
        <p:spPr>
          <a:xfrm>
            <a:off x="838200" y="122057"/>
            <a:ext cx="10515600" cy="734470"/>
          </a:xfrm>
        </p:spPr>
        <p:txBody>
          <a:bodyPr/>
          <a:lstStyle/>
          <a:p>
            <a:r>
              <a:rPr lang="en-GB" b="1" dirty="0"/>
              <a:t>Working Example of POS Tagging</a:t>
            </a:r>
            <a:endParaRPr lang="en-PK" b="1" dirty="0"/>
          </a:p>
        </p:txBody>
      </p:sp>
    </p:spTree>
    <p:extLst>
      <p:ext uri="{BB962C8B-B14F-4D97-AF65-F5344CB8AC3E}">
        <p14:creationId xmlns:p14="http://schemas.microsoft.com/office/powerpoint/2010/main" val="2785475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D2E8-3696-85F7-079E-7D7564AE3FA7}"/>
              </a:ext>
            </a:extLst>
          </p:cNvPr>
          <p:cNvSpPr>
            <a:spLocks noGrp="1"/>
          </p:cNvSpPr>
          <p:nvPr>
            <p:ph type="title"/>
          </p:nvPr>
        </p:nvSpPr>
        <p:spPr>
          <a:xfrm>
            <a:off x="838200" y="133633"/>
            <a:ext cx="10515600" cy="641872"/>
          </a:xfrm>
        </p:spPr>
        <p:txBody>
          <a:bodyPr>
            <a:normAutofit fontScale="90000"/>
          </a:bodyPr>
          <a:lstStyle/>
          <a:p>
            <a:r>
              <a:rPr lang="en-GB" dirty="0"/>
              <a:t>Cont.…</a:t>
            </a:r>
            <a:endParaRPr lang="en-PK" dirty="0"/>
          </a:p>
        </p:txBody>
      </p:sp>
      <p:sp>
        <p:nvSpPr>
          <p:cNvPr id="3" name="Content Placeholder 2">
            <a:extLst>
              <a:ext uri="{FF2B5EF4-FFF2-40B4-BE49-F238E27FC236}">
                <a16:creationId xmlns:a16="http://schemas.microsoft.com/office/drawing/2014/main" id="{5F823B33-82E3-5836-6FDB-BA860C4F464B}"/>
              </a:ext>
            </a:extLst>
          </p:cNvPr>
          <p:cNvSpPr>
            <a:spLocks noGrp="1"/>
          </p:cNvSpPr>
          <p:nvPr>
            <p:ph idx="1"/>
          </p:nvPr>
        </p:nvSpPr>
        <p:spPr>
          <a:xfrm>
            <a:off x="838200" y="775506"/>
            <a:ext cx="10515600" cy="5401458"/>
          </a:xfrm>
        </p:spPr>
        <p:txBody>
          <a:bodyPr/>
          <a:lstStyle/>
          <a:p>
            <a:pPr marL="0" indent="0" algn="just">
              <a:buNone/>
            </a:pPr>
            <a:r>
              <a:rPr lang="it-IT" sz="2400" b="1" dirty="0"/>
              <a:t>Step 3: Explanation of Each Tag</a:t>
            </a:r>
          </a:p>
          <a:p>
            <a:pPr algn="just"/>
            <a:r>
              <a:rPr lang="en-GB" sz="2400" b="1" dirty="0"/>
              <a:t>The</a:t>
            </a:r>
            <a:r>
              <a:rPr lang="en-GB" sz="2400" dirty="0"/>
              <a:t>: A determiner (DT), which introduces the noun.</a:t>
            </a:r>
          </a:p>
          <a:p>
            <a:pPr algn="just"/>
            <a:r>
              <a:rPr lang="en-GB" sz="2400" b="1" dirty="0"/>
              <a:t>cat: </a:t>
            </a:r>
            <a:r>
              <a:rPr lang="en-GB" sz="2400" dirty="0"/>
              <a:t>A noun (NN), which is the subject performing the action.</a:t>
            </a:r>
          </a:p>
          <a:p>
            <a:pPr algn="just"/>
            <a:r>
              <a:rPr lang="en-GB" sz="2400" b="1" dirty="0"/>
              <a:t>chased: </a:t>
            </a:r>
            <a:r>
              <a:rPr lang="en-GB" sz="2400" dirty="0"/>
              <a:t>A verb (VBD), indicating the action in the past tense.</a:t>
            </a:r>
          </a:p>
          <a:p>
            <a:pPr algn="just"/>
            <a:r>
              <a:rPr lang="en-GB" sz="2400" b="1" dirty="0"/>
              <a:t>the: </a:t>
            </a:r>
            <a:r>
              <a:rPr lang="en-GB" sz="2400" dirty="0"/>
              <a:t>Another determiner (DT), introducing the next noun.</a:t>
            </a:r>
          </a:p>
          <a:p>
            <a:pPr algn="just"/>
            <a:r>
              <a:rPr lang="en-GB" sz="2400" b="1" dirty="0"/>
              <a:t>mouse: </a:t>
            </a:r>
            <a:r>
              <a:rPr lang="en-GB" sz="2400" dirty="0"/>
              <a:t>A noun (NN), which is the object of the action.</a:t>
            </a:r>
          </a:p>
          <a:p>
            <a:pPr marL="0" indent="0">
              <a:buNone/>
            </a:pPr>
            <a:r>
              <a:rPr lang="en-GB" sz="2400" b="1" dirty="0"/>
              <a:t>Step 4: How It Works Internally</a:t>
            </a:r>
          </a:p>
          <a:p>
            <a:r>
              <a:rPr lang="en-GB" sz="2400" b="1" dirty="0"/>
              <a:t>Feature Extraction:</a:t>
            </a:r>
            <a:endParaRPr lang="en-GB" sz="2400" dirty="0"/>
          </a:p>
          <a:p>
            <a:pPr lvl="1"/>
            <a:r>
              <a:rPr lang="en-GB" dirty="0"/>
              <a:t>Each word is analysed for:</a:t>
            </a:r>
          </a:p>
          <a:p>
            <a:pPr lvl="2"/>
            <a:r>
              <a:rPr lang="en-GB" dirty="0"/>
              <a:t>Morphological features (prefixes, suffixes).</a:t>
            </a:r>
          </a:p>
          <a:p>
            <a:pPr lvl="2"/>
            <a:r>
              <a:rPr lang="en-GB" dirty="0"/>
              <a:t>Context (neighbouring words).</a:t>
            </a:r>
          </a:p>
          <a:p>
            <a:pPr lvl="2"/>
            <a:r>
              <a:rPr lang="en-GB" dirty="0"/>
              <a:t>Lexical properties (dictionary lookup).</a:t>
            </a:r>
          </a:p>
          <a:p>
            <a:endParaRPr lang="en-GB" dirty="0"/>
          </a:p>
        </p:txBody>
      </p:sp>
    </p:spTree>
    <p:extLst>
      <p:ext uri="{BB962C8B-B14F-4D97-AF65-F5344CB8AC3E}">
        <p14:creationId xmlns:p14="http://schemas.microsoft.com/office/powerpoint/2010/main" val="1971446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E8F9-7013-28B1-B0BC-B7E9405153EB}"/>
              </a:ext>
            </a:extLst>
          </p:cNvPr>
          <p:cNvSpPr>
            <a:spLocks noGrp="1"/>
          </p:cNvSpPr>
          <p:nvPr>
            <p:ph type="title"/>
          </p:nvPr>
        </p:nvSpPr>
        <p:spPr>
          <a:xfrm>
            <a:off x="838200" y="145207"/>
            <a:ext cx="10515600" cy="769194"/>
          </a:xfrm>
        </p:spPr>
        <p:txBody>
          <a:bodyPr/>
          <a:lstStyle/>
          <a:p>
            <a:r>
              <a:rPr lang="en-GB" dirty="0"/>
              <a:t>Cont.…</a:t>
            </a:r>
            <a:endParaRPr lang="en-PK" dirty="0"/>
          </a:p>
        </p:txBody>
      </p:sp>
      <p:sp>
        <p:nvSpPr>
          <p:cNvPr id="3" name="Content Placeholder 2">
            <a:extLst>
              <a:ext uri="{FF2B5EF4-FFF2-40B4-BE49-F238E27FC236}">
                <a16:creationId xmlns:a16="http://schemas.microsoft.com/office/drawing/2014/main" id="{87F6D9E6-0278-D4C7-E6D3-29951CAF481E}"/>
              </a:ext>
            </a:extLst>
          </p:cNvPr>
          <p:cNvSpPr>
            <a:spLocks noGrp="1"/>
          </p:cNvSpPr>
          <p:nvPr>
            <p:ph idx="1"/>
          </p:nvPr>
        </p:nvSpPr>
        <p:spPr>
          <a:xfrm>
            <a:off x="838200" y="914401"/>
            <a:ext cx="10515600" cy="5262562"/>
          </a:xfrm>
        </p:spPr>
        <p:txBody>
          <a:bodyPr/>
          <a:lstStyle/>
          <a:p>
            <a:pPr marL="0" indent="0">
              <a:buNone/>
            </a:pPr>
            <a:r>
              <a:rPr lang="en-GB" b="1" dirty="0"/>
              <a:t>Step 5: Model Prediction:</a:t>
            </a:r>
            <a:endParaRPr lang="en-GB" dirty="0"/>
          </a:p>
          <a:p>
            <a:pPr>
              <a:buFont typeface="Arial" panose="020B0604020202020204" pitchFamily="34" charset="0"/>
              <a:buChar char="•"/>
            </a:pPr>
            <a:r>
              <a:rPr lang="en-GB" dirty="0"/>
              <a:t>A trained model (e.g., Hidden Markov Model, Maximum Entropy, or neural network) predicts the POS tag based on these features.</a:t>
            </a:r>
          </a:p>
          <a:p>
            <a:pPr marL="0" indent="0">
              <a:buNone/>
            </a:pPr>
            <a:r>
              <a:rPr lang="en-GB" sz="3200" b="1" dirty="0"/>
              <a:t>Python Implementation:</a:t>
            </a:r>
          </a:p>
          <a:p>
            <a:endParaRPr lang="en-PK" sz="3200" b="1" dirty="0"/>
          </a:p>
        </p:txBody>
      </p:sp>
      <p:graphicFrame>
        <p:nvGraphicFramePr>
          <p:cNvPr id="4" name="Table 3">
            <a:extLst>
              <a:ext uri="{FF2B5EF4-FFF2-40B4-BE49-F238E27FC236}">
                <a16:creationId xmlns:a16="http://schemas.microsoft.com/office/drawing/2014/main" id="{F0DD66FE-BB35-0B1C-031E-1322312E25A3}"/>
              </a:ext>
            </a:extLst>
          </p:cNvPr>
          <p:cNvGraphicFramePr>
            <a:graphicFrameLocks noGrp="1"/>
          </p:cNvGraphicFramePr>
          <p:nvPr/>
        </p:nvGraphicFramePr>
        <p:xfrm>
          <a:off x="838200" y="2777925"/>
          <a:ext cx="8128000" cy="3444240"/>
        </p:xfrm>
        <a:graphic>
          <a:graphicData uri="http://schemas.openxmlformats.org/drawingml/2006/table">
            <a:tbl>
              <a:tblPr firstRow="1" bandRow="1">
                <a:tableStyleId>{5940675A-B579-460E-94D1-54222C63F5DA}</a:tableStyleId>
              </a:tblPr>
              <a:tblGrid>
                <a:gridCol w="8128000">
                  <a:extLst>
                    <a:ext uri="{9D8B030D-6E8A-4147-A177-3AD203B41FA5}">
                      <a16:colId xmlns:a16="http://schemas.microsoft.com/office/drawing/2014/main" val="3962541878"/>
                    </a:ext>
                  </a:extLst>
                </a:gridCol>
              </a:tblGrid>
              <a:tr h="3399038">
                <a:tc>
                  <a:txBody>
                    <a:bodyPr/>
                    <a:lstStyle/>
                    <a:p>
                      <a:r>
                        <a:rPr lang="it-IT" sz="2000" dirty="0"/>
                        <a:t>import nltk </a:t>
                      </a:r>
                    </a:p>
                    <a:p>
                      <a:r>
                        <a:rPr lang="it-IT" sz="2000" dirty="0"/>
                        <a:t>nltk.download('punkt’) </a:t>
                      </a:r>
                    </a:p>
                    <a:p>
                      <a:r>
                        <a:rPr lang="it-IT" sz="2000" dirty="0"/>
                        <a:t>nltk.download('averaged_perceptron_tagger’) </a:t>
                      </a:r>
                    </a:p>
                    <a:p>
                      <a:r>
                        <a:rPr lang="it-IT" sz="2000" b="1" dirty="0"/>
                        <a:t># Step 1: Input sentence </a:t>
                      </a:r>
                    </a:p>
                    <a:p>
                      <a:r>
                        <a:rPr lang="it-IT" sz="2000" dirty="0"/>
                        <a:t>sentence = "The cat chased the mouse." </a:t>
                      </a:r>
                    </a:p>
                    <a:p>
                      <a:r>
                        <a:rPr lang="it-IT" sz="2000" b="1" dirty="0"/>
                        <a:t># Step 2: Tokenize </a:t>
                      </a:r>
                    </a:p>
                    <a:p>
                      <a:r>
                        <a:rPr lang="it-IT" sz="2000" dirty="0"/>
                        <a:t>tokens = nltk.word_tokenize(sentence) </a:t>
                      </a:r>
                    </a:p>
                    <a:p>
                      <a:r>
                        <a:rPr lang="it-IT" sz="2000" b="1" dirty="0"/>
                        <a:t># Step 3: POS Tagging  (Pre-trained model)</a:t>
                      </a:r>
                    </a:p>
                    <a:p>
                      <a:r>
                        <a:rPr lang="it-IT" sz="2000" dirty="0"/>
                        <a:t>pos_tags = nltk.pos_tag(tokens) </a:t>
                      </a:r>
                    </a:p>
                    <a:p>
                      <a:r>
                        <a:rPr lang="it-IT" sz="2000" b="1" dirty="0"/>
                        <a:t># Step 4: Output </a:t>
                      </a:r>
                    </a:p>
                    <a:p>
                      <a:r>
                        <a:rPr lang="it-IT" sz="2000" dirty="0"/>
                        <a:t>print(pos_tags)</a:t>
                      </a:r>
                      <a:endParaRPr lang="en-PK" sz="2000" dirty="0"/>
                    </a:p>
                  </a:txBody>
                  <a:tcPr/>
                </a:tc>
                <a:extLst>
                  <a:ext uri="{0D108BD9-81ED-4DB2-BD59-A6C34878D82A}">
                    <a16:rowId xmlns:a16="http://schemas.microsoft.com/office/drawing/2014/main" val="3667933895"/>
                  </a:ext>
                </a:extLst>
              </a:tr>
            </a:tbl>
          </a:graphicData>
        </a:graphic>
      </p:graphicFrame>
      <p:graphicFrame>
        <p:nvGraphicFramePr>
          <p:cNvPr id="5" name="Table 4">
            <a:extLst>
              <a:ext uri="{FF2B5EF4-FFF2-40B4-BE49-F238E27FC236}">
                <a16:creationId xmlns:a16="http://schemas.microsoft.com/office/drawing/2014/main" id="{6859C172-EB11-7B16-A4F8-DCC3592895D9}"/>
              </a:ext>
            </a:extLst>
          </p:cNvPr>
          <p:cNvGraphicFramePr>
            <a:graphicFrameLocks noGrp="1"/>
          </p:cNvGraphicFramePr>
          <p:nvPr/>
        </p:nvGraphicFramePr>
        <p:xfrm>
          <a:off x="838200" y="6354502"/>
          <a:ext cx="8128000" cy="365760"/>
        </p:xfrm>
        <a:graphic>
          <a:graphicData uri="http://schemas.openxmlformats.org/drawingml/2006/table">
            <a:tbl>
              <a:tblPr firstRow="1" bandRow="1">
                <a:tableStyleId>{5940675A-B579-460E-94D1-54222C63F5DA}</a:tableStyleId>
              </a:tblPr>
              <a:tblGrid>
                <a:gridCol w="8128000">
                  <a:extLst>
                    <a:ext uri="{9D8B030D-6E8A-4147-A177-3AD203B41FA5}">
                      <a16:colId xmlns:a16="http://schemas.microsoft.com/office/drawing/2014/main" val="3939110260"/>
                    </a:ext>
                  </a:extLst>
                </a:gridCol>
              </a:tblGrid>
              <a:tr h="358292">
                <a:tc>
                  <a:txBody>
                    <a:bodyPr/>
                    <a:lstStyle/>
                    <a:p>
                      <a:r>
                        <a:rPr lang="it-IT" b="1" dirty="0"/>
                        <a:t>OUTPUT: </a:t>
                      </a:r>
                      <a:r>
                        <a:rPr lang="it-IT" dirty="0"/>
                        <a:t>[('The', 'DT'), ('cat', 'NN'), ('chased', 'VBD'), ('the', 'DT'), ('mouse', 'NN')]</a:t>
                      </a:r>
                    </a:p>
                  </a:txBody>
                  <a:tcPr/>
                </a:tc>
                <a:extLst>
                  <a:ext uri="{0D108BD9-81ED-4DB2-BD59-A6C34878D82A}">
                    <a16:rowId xmlns:a16="http://schemas.microsoft.com/office/drawing/2014/main" val="1630037411"/>
                  </a:ext>
                </a:extLst>
              </a:tr>
            </a:tbl>
          </a:graphicData>
        </a:graphic>
      </p:graphicFrame>
    </p:spTree>
    <p:extLst>
      <p:ext uri="{BB962C8B-B14F-4D97-AF65-F5344CB8AC3E}">
        <p14:creationId xmlns:p14="http://schemas.microsoft.com/office/powerpoint/2010/main" val="2081813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1C27D-F926-2856-6525-C0F9929582C8}"/>
              </a:ext>
            </a:extLst>
          </p:cNvPr>
          <p:cNvSpPr>
            <a:spLocks noGrp="1"/>
          </p:cNvSpPr>
          <p:nvPr>
            <p:ph type="title"/>
          </p:nvPr>
        </p:nvSpPr>
        <p:spPr/>
        <p:txBody>
          <a:bodyPr/>
          <a:lstStyle/>
          <a:p>
            <a:r>
              <a:rPr lang="en-US" dirty="0"/>
              <a:t> Semantic Analysis</a:t>
            </a:r>
          </a:p>
        </p:txBody>
      </p:sp>
      <p:sp>
        <p:nvSpPr>
          <p:cNvPr id="3" name="Content Placeholder 2">
            <a:extLst>
              <a:ext uri="{FF2B5EF4-FFF2-40B4-BE49-F238E27FC236}">
                <a16:creationId xmlns:a16="http://schemas.microsoft.com/office/drawing/2014/main" id="{B75C81C1-94C3-C4ED-5500-455BA7B9748B}"/>
              </a:ext>
            </a:extLst>
          </p:cNvPr>
          <p:cNvSpPr>
            <a:spLocks noGrp="1"/>
          </p:cNvSpPr>
          <p:nvPr>
            <p:ph idx="1"/>
          </p:nvPr>
        </p:nvSpPr>
        <p:spPr/>
        <p:txBody>
          <a:bodyPr/>
          <a:lstStyle/>
          <a:p>
            <a:pPr marL="0" indent="0">
              <a:buNone/>
            </a:pPr>
            <a:r>
              <a:rPr lang="en-US" b="1" dirty="0"/>
              <a:t>Named Entity Recognition (NER): </a:t>
            </a:r>
            <a:r>
              <a:rPr lang="en-US" b="0" i="0" dirty="0">
                <a:solidFill>
                  <a:srgbClr val="273239"/>
                </a:solidFill>
                <a:effectLst/>
                <a:latin typeface="Nunito" pitchFamily="2" charset="0"/>
              </a:rPr>
              <a:t>Identifying and classifying entities in text </a:t>
            </a:r>
            <a:r>
              <a:rPr lang="en-US" dirty="0"/>
              <a:t>into predefined categories </a:t>
            </a:r>
            <a:r>
              <a:rPr lang="en-US" b="0" i="0" dirty="0">
                <a:solidFill>
                  <a:srgbClr val="273239"/>
                </a:solidFill>
                <a:effectLst/>
                <a:latin typeface="Nunito" pitchFamily="2" charset="0"/>
              </a:rPr>
              <a:t>, such as :</a:t>
            </a:r>
          </a:p>
          <a:p>
            <a:r>
              <a:rPr lang="en-US" dirty="0"/>
              <a:t>Location: countries, cities, landmarks</a:t>
            </a:r>
          </a:p>
          <a:p>
            <a:r>
              <a:rPr lang="en-US" dirty="0"/>
              <a:t>Person: names of individuals</a:t>
            </a:r>
          </a:p>
          <a:p>
            <a:r>
              <a:rPr lang="en-US" dirty="0"/>
              <a:t>Organization: companies, institutions</a:t>
            </a:r>
          </a:p>
          <a:p>
            <a:r>
              <a:rPr lang="en-US" dirty="0"/>
              <a:t>Date/Time: dates, times, durations</a:t>
            </a:r>
          </a:p>
          <a:p>
            <a:r>
              <a:rPr lang="en-US" dirty="0"/>
              <a:t>Money/Quantity: currency values, measurements</a:t>
            </a:r>
          </a:p>
          <a:p>
            <a:r>
              <a:rPr lang="en-US" dirty="0"/>
              <a:t>Percentages, Events, Products, etc.</a:t>
            </a:r>
          </a:p>
        </p:txBody>
      </p:sp>
    </p:spTree>
    <p:extLst>
      <p:ext uri="{BB962C8B-B14F-4D97-AF65-F5344CB8AC3E}">
        <p14:creationId xmlns:p14="http://schemas.microsoft.com/office/powerpoint/2010/main" val="1287054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6C11B1-2DAC-1B64-63AE-DB7BAC7857E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356696-5877-8660-7573-36A8A1F99309}"/>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b="1" kern="1200">
                <a:solidFill>
                  <a:schemeClr val="tx1"/>
                </a:solidFill>
                <a:latin typeface="+mj-lt"/>
                <a:ea typeface="+mj-ea"/>
                <a:cs typeface="+mj-cs"/>
              </a:rPr>
              <a:t>Named Entity Recognition (NER) Applications</a:t>
            </a:r>
          </a:p>
        </p:txBody>
      </p:sp>
      <p:sp>
        <p:nvSpPr>
          <p:cNvPr id="3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4" name="Table 3">
            <a:extLst>
              <a:ext uri="{FF2B5EF4-FFF2-40B4-BE49-F238E27FC236}">
                <a16:creationId xmlns:a16="http://schemas.microsoft.com/office/drawing/2014/main" id="{889A8BA4-176B-D450-AE36-C933FAA4D44F}"/>
              </a:ext>
            </a:extLst>
          </p:cNvPr>
          <p:cNvGraphicFramePr>
            <a:graphicFrameLocks noGrp="1"/>
          </p:cNvGraphicFramePr>
          <p:nvPr/>
        </p:nvGraphicFramePr>
        <p:xfrm>
          <a:off x="4654296" y="698801"/>
          <a:ext cx="7214616" cy="5432968"/>
        </p:xfrm>
        <a:graphic>
          <a:graphicData uri="http://schemas.openxmlformats.org/drawingml/2006/table">
            <a:tbl>
              <a:tblPr/>
              <a:tblGrid>
                <a:gridCol w="3184326">
                  <a:extLst>
                    <a:ext uri="{9D8B030D-6E8A-4147-A177-3AD203B41FA5}">
                      <a16:colId xmlns:a16="http://schemas.microsoft.com/office/drawing/2014/main" val="1736734806"/>
                    </a:ext>
                  </a:extLst>
                </a:gridCol>
                <a:gridCol w="4030290">
                  <a:extLst>
                    <a:ext uri="{9D8B030D-6E8A-4147-A177-3AD203B41FA5}">
                      <a16:colId xmlns:a16="http://schemas.microsoft.com/office/drawing/2014/main" val="2981577380"/>
                    </a:ext>
                  </a:extLst>
                </a:gridCol>
              </a:tblGrid>
              <a:tr h="503263">
                <a:tc>
                  <a:txBody>
                    <a:bodyPr/>
                    <a:lstStyle/>
                    <a:p>
                      <a:pPr algn="l" fontAlgn="ctr">
                        <a:buNone/>
                      </a:pPr>
                      <a:r>
                        <a:rPr lang="en-US" sz="2300" b="1" i="0" u="none" strike="noStrike">
                          <a:effectLst/>
                          <a:latin typeface="Arial" panose="020B0604020202020204" pitchFamily="34" charset="0"/>
                        </a:rPr>
                        <a:t>Use Case</a:t>
                      </a:r>
                      <a:endParaRPr lang="en-US" sz="2300" b="0" i="0" u="none" strike="noStrike">
                        <a:effectLst/>
                        <a:latin typeface="Arial" panose="020B0604020202020204" pitchFamily="34" charset="0"/>
                      </a:endParaRPr>
                    </a:p>
                  </a:txBody>
                  <a:tcPr marL="112524" marR="112524" marT="56261" marB="56261" anchor="ctr">
                    <a:lnL>
                      <a:noFill/>
                    </a:lnL>
                    <a:lnR>
                      <a:noFill/>
                    </a:lnR>
                    <a:lnT>
                      <a:noFill/>
                    </a:lnT>
                    <a:lnB>
                      <a:noFill/>
                    </a:lnB>
                    <a:noFill/>
                  </a:tcPr>
                </a:tc>
                <a:tc>
                  <a:txBody>
                    <a:bodyPr/>
                    <a:lstStyle/>
                    <a:p>
                      <a:pPr algn="l" fontAlgn="ctr">
                        <a:buNone/>
                      </a:pPr>
                      <a:r>
                        <a:rPr lang="en-US" sz="2300" b="1" i="0" u="none" strike="noStrike">
                          <a:effectLst/>
                          <a:latin typeface="Arial" panose="020B0604020202020204" pitchFamily="34" charset="0"/>
                        </a:rPr>
                        <a:t>Application</a:t>
                      </a:r>
                      <a:endParaRPr lang="en-US" sz="2300" b="0" i="0" u="none" strike="noStrike">
                        <a:effectLst/>
                        <a:latin typeface="Arial" panose="020B0604020202020204" pitchFamily="34" charset="0"/>
                      </a:endParaRPr>
                    </a:p>
                  </a:txBody>
                  <a:tcPr marL="112524" marR="112524" marT="56261" marB="56261" anchor="ctr">
                    <a:lnL>
                      <a:noFill/>
                    </a:lnL>
                    <a:lnR>
                      <a:noFill/>
                    </a:lnR>
                    <a:lnT>
                      <a:noFill/>
                    </a:lnT>
                    <a:lnB>
                      <a:noFill/>
                    </a:lnB>
                    <a:noFill/>
                  </a:tcPr>
                </a:tc>
                <a:extLst>
                  <a:ext uri="{0D108BD9-81ED-4DB2-BD59-A6C34878D82A}">
                    <a16:rowId xmlns:a16="http://schemas.microsoft.com/office/drawing/2014/main" val="3279511083"/>
                  </a:ext>
                </a:extLst>
              </a:tr>
              <a:tr h="848033">
                <a:tc>
                  <a:txBody>
                    <a:bodyPr/>
                    <a:lstStyle/>
                    <a:p>
                      <a:pPr algn="l" fontAlgn="ctr">
                        <a:buNone/>
                      </a:pPr>
                      <a:r>
                        <a:rPr lang="en-US" sz="2300" b="0" i="0" u="none" strike="noStrike">
                          <a:effectLst/>
                          <a:latin typeface="Arial" panose="020B0604020202020204" pitchFamily="34" charset="0"/>
                        </a:rPr>
                        <a:t>Information Extraction</a:t>
                      </a:r>
                    </a:p>
                  </a:txBody>
                  <a:tcPr marL="112524" marR="112524" marT="56261" marB="56261" anchor="ctr">
                    <a:lnL>
                      <a:noFill/>
                    </a:lnL>
                    <a:lnR>
                      <a:noFill/>
                    </a:lnR>
                    <a:lnT>
                      <a:noFill/>
                    </a:lnT>
                    <a:lnB>
                      <a:noFill/>
                    </a:lnB>
                    <a:noFill/>
                  </a:tcPr>
                </a:tc>
                <a:tc>
                  <a:txBody>
                    <a:bodyPr/>
                    <a:lstStyle/>
                    <a:p>
                      <a:pPr algn="l" fontAlgn="ctr">
                        <a:buNone/>
                      </a:pPr>
                      <a:r>
                        <a:rPr lang="en-US" sz="2300" b="0" i="0" u="none" strike="noStrike">
                          <a:effectLst/>
                          <a:latin typeface="Arial" panose="020B0604020202020204" pitchFamily="34" charset="0"/>
                        </a:rPr>
                        <a:t>Extract key facts from text (e.g., news articles)</a:t>
                      </a:r>
                    </a:p>
                  </a:txBody>
                  <a:tcPr marL="112524" marR="112524" marT="56261" marB="56261" anchor="ctr">
                    <a:lnL>
                      <a:noFill/>
                    </a:lnL>
                    <a:lnR>
                      <a:noFill/>
                    </a:lnR>
                    <a:lnT>
                      <a:noFill/>
                    </a:lnT>
                    <a:lnB>
                      <a:noFill/>
                    </a:lnB>
                    <a:noFill/>
                  </a:tcPr>
                </a:tc>
                <a:extLst>
                  <a:ext uri="{0D108BD9-81ED-4DB2-BD59-A6C34878D82A}">
                    <a16:rowId xmlns:a16="http://schemas.microsoft.com/office/drawing/2014/main" val="52448809"/>
                  </a:ext>
                </a:extLst>
              </a:tr>
              <a:tr h="1192803">
                <a:tc>
                  <a:txBody>
                    <a:bodyPr/>
                    <a:lstStyle/>
                    <a:p>
                      <a:pPr algn="l" fontAlgn="ctr">
                        <a:buNone/>
                      </a:pPr>
                      <a:r>
                        <a:rPr lang="en-US" sz="2300" b="0" i="0" u="none" strike="noStrike">
                          <a:effectLst/>
                          <a:latin typeface="Arial" panose="020B0604020202020204" pitchFamily="34" charset="0"/>
                        </a:rPr>
                        <a:t>Question Answering</a:t>
                      </a:r>
                    </a:p>
                  </a:txBody>
                  <a:tcPr marL="112524" marR="112524" marT="56261" marB="56261" anchor="ctr">
                    <a:lnL>
                      <a:noFill/>
                    </a:lnL>
                    <a:lnR>
                      <a:noFill/>
                    </a:lnR>
                    <a:lnT>
                      <a:noFill/>
                    </a:lnT>
                    <a:lnB>
                      <a:noFill/>
                    </a:lnB>
                    <a:noFill/>
                  </a:tcPr>
                </a:tc>
                <a:tc>
                  <a:txBody>
                    <a:bodyPr/>
                    <a:lstStyle/>
                    <a:p>
                      <a:pPr algn="l" fontAlgn="ctr">
                        <a:buNone/>
                      </a:pPr>
                      <a:r>
                        <a:rPr lang="en-US" sz="2300" b="0" i="0" u="none" strike="noStrike">
                          <a:effectLst/>
                          <a:latin typeface="Arial" panose="020B0604020202020204" pitchFamily="34" charset="0"/>
                        </a:rPr>
                        <a:t>Locate specific names, places, or numbers in responses</a:t>
                      </a:r>
                    </a:p>
                  </a:txBody>
                  <a:tcPr marL="112524" marR="112524" marT="56261" marB="56261" anchor="ctr">
                    <a:lnL>
                      <a:noFill/>
                    </a:lnL>
                    <a:lnR>
                      <a:noFill/>
                    </a:lnR>
                    <a:lnT>
                      <a:noFill/>
                    </a:lnT>
                    <a:lnB>
                      <a:noFill/>
                    </a:lnB>
                    <a:noFill/>
                  </a:tcPr>
                </a:tc>
                <a:extLst>
                  <a:ext uri="{0D108BD9-81ED-4DB2-BD59-A6C34878D82A}">
                    <a16:rowId xmlns:a16="http://schemas.microsoft.com/office/drawing/2014/main" val="3666503973"/>
                  </a:ext>
                </a:extLst>
              </a:tr>
              <a:tr h="848033">
                <a:tc>
                  <a:txBody>
                    <a:bodyPr/>
                    <a:lstStyle/>
                    <a:p>
                      <a:pPr algn="l" fontAlgn="ctr">
                        <a:buNone/>
                      </a:pPr>
                      <a:r>
                        <a:rPr lang="en-US" sz="2300" b="0" i="0" u="none" strike="noStrike">
                          <a:effectLst/>
                          <a:latin typeface="Arial" panose="020B0604020202020204" pitchFamily="34" charset="0"/>
                        </a:rPr>
                        <a:t>Chatbots/Assistants</a:t>
                      </a:r>
                    </a:p>
                  </a:txBody>
                  <a:tcPr marL="112524" marR="112524" marT="56261" marB="56261" anchor="ctr">
                    <a:lnL>
                      <a:noFill/>
                    </a:lnL>
                    <a:lnR>
                      <a:noFill/>
                    </a:lnR>
                    <a:lnT>
                      <a:noFill/>
                    </a:lnT>
                    <a:lnB>
                      <a:noFill/>
                    </a:lnB>
                    <a:noFill/>
                  </a:tcPr>
                </a:tc>
                <a:tc>
                  <a:txBody>
                    <a:bodyPr/>
                    <a:lstStyle/>
                    <a:p>
                      <a:pPr algn="l" fontAlgn="ctr">
                        <a:buNone/>
                      </a:pPr>
                      <a:r>
                        <a:rPr lang="en-US" sz="2300" b="0" i="0" u="none" strike="noStrike">
                          <a:effectLst/>
                          <a:latin typeface="Arial" panose="020B0604020202020204" pitchFamily="34" charset="0"/>
                        </a:rPr>
                        <a:t>Understand names, appointments, locations, etc.</a:t>
                      </a:r>
                    </a:p>
                  </a:txBody>
                  <a:tcPr marL="112524" marR="112524" marT="56261" marB="56261" anchor="ctr">
                    <a:lnL>
                      <a:noFill/>
                    </a:lnL>
                    <a:lnR>
                      <a:noFill/>
                    </a:lnR>
                    <a:lnT>
                      <a:noFill/>
                    </a:lnT>
                    <a:lnB>
                      <a:noFill/>
                    </a:lnB>
                    <a:noFill/>
                  </a:tcPr>
                </a:tc>
                <a:extLst>
                  <a:ext uri="{0D108BD9-81ED-4DB2-BD59-A6C34878D82A}">
                    <a16:rowId xmlns:a16="http://schemas.microsoft.com/office/drawing/2014/main" val="2827770987"/>
                  </a:ext>
                </a:extLst>
              </a:tr>
              <a:tr h="1192803">
                <a:tc>
                  <a:txBody>
                    <a:bodyPr/>
                    <a:lstStyle/>
                    <a:p>
                      <a:pPr algn="l" fontAlgn="ctr">
                        <a:buNone/>
                      </a:pPr>
                      <a:r>
                        <a:rPr lang="en-US" sz="2300" b="0" i="0" u="none" strike="noStrike">
                          <a:effectLst/>
                          <a:latin typeface="Arial" panose="020B0604020202020204" pitchFamily="34" charset="0"/>
                        </a:rPr>
                        <a:t>Search Engines</a:t>
                      </a:r>
                    </a:p>
                  </a:txBody>
                  <a:tcPr marL="112524" marR="112524" marT="56261" marB="56261" anchor="ctr">
                    <a:lnL>
                      <a:noFill/>
                    </a:lnL>
                    <a:lnR>
                      <a:noFill/>
                    </a:lnR>
                    <a:lnT>
                      <a:noFill/>
                    </a:lnT>
                    <a:lnB>
                      <a:noFill/>
                    </a:lnB>
                    <a:noFill/>
                  </a:tcPr>
                </a:tc>
                <a:tc>
                  <a:txBody>
                    <a:bodyPr/>
                    <a:lstStyle/>
                    <a:p>
                      <a:pPr algn="l" fontAlgn="ctr">
                        <a:buNone/>
                      </a:pPr>
                      <a:r>
                        <a:rPr lang="en-US" sz="2300" b="0" i="0" u="none" strike="noStrike">
                          <a:effectLst/>
                          <a:latin typeface="Arial" panose="020B0604020202020204" pitchFamily="34" charset="0"/>
                        </a:rPr>
                        <a:t>Entity-based search (e.g., "Jobs in Google in New York")</a:t>
                      </a:r>
                    </a:p>
                  </a:txBody>
                  <a:tcPr marL="112524" marR="112524" marT="56261" marB="56261" anchor="ctr">
                    <a:lnL>
                      <a:noFill/>
                    </a:lnL>
                    <a:lnR>
                      <a:noFill/>
                    </a:lnR>
                    <a:lnT>
                      <a:noFill/>
                    </a:lnT>
                    <a:lnB>
                      <a:noFill/>
                    </a:lnB>
                    <a:noFill/>
                  </a:tcPr>
                </a:tc>
                <a:extLst>
                  <a:ext uri="{0D108BD9-81ED-4DB2-BD59-A6C34878D82A}">
                    <a16:rowId xmlns:a16="http://schemas.microsoft.com/office/drawing/2014/main" val="1087141317"/>
                  </a:ext>
                </a:extLst>
              </a:tr>
              <a:tr h="848033">
                <a:tc>
                  <a:txBody>
                    <a:bodyPr/>
                    <a:lstStyle/>
                    <a:p>
                      <a:pPr algn="l" fontAlgn="ctr">
                        <a:buNone/>
                      </a:pPr>
                      <a:r>
                        <a:rPr lang="en-US" sz="2300" b="0" i="0" u="none" strike="noStrike">
                          <a:effectLst/>
                          <a:latin typeface="Arial" panose="020B0604020202020204" pitchFamily="34" charset="0"/>
                        </a:rPr>
                        <a:t>Resume Parsing</a:t>
                      </a:r>
                    </a:p>
                  </a:txBody>
                  <a:tcPr marL="112524" marR="112524" marT="56261" marB="56261" anchor="ctr">
                    <a:lnL>
                      <a:noFill/>
                    </a:lnL>
                    <a:lnR>
                      <a:noFill/>
                    </a:lnR>
                    <a:lnT>
                      <a:noFill/>
                    </a:lnT>
                    <a:lnB>
                      <a:noFill/>
                    </a:lnB>
                    <a:noFill/>
                  </a:tcPr>
                </a:tc>
                <a:tc>
                  <a:txBody>
                    <a:bodyPr/>
                    <a:lstStyle/>
                    <a:p>
                      <a:pPr algn="l" fontAlgn="ctr">
                        <a:buNone/>
                      </a:pPr>
                      <a:r>
                        <a:rPr lang="en-US" sz="2300" b="0" i="0" u="none" strike="noStrike">
                          <a:effectLst/>
                          <a:latin typeface="Arial" panose="020B0604020202020204" pitchFamily="34" charset="0"/>
                        </a:rPr>
                        <a:t>Extract names, skills, education, etc.</a:t>
                      </a:r>
                    </a:p>
                  </a:txBody>
                  <a:tcPr marL="112524" marR="112524" marT="56261" marB="56261" anchor="ctr">
                    <a:lnL>
                      <a:noFill/>
                    </a:lnL>
                    <a:lnR>
                      <a:noFill/>
                    </a:lnR>
                    <a:lnT>
                      <a:noFill/>
                    </a:lnT>
                    <a:lnB>
                      <a:noFill/>
                    </a:lnB>
                    <a:noFill/>
                  </a:tcPr>
                </a:tc>
                <a:extLst>
                  <a:ext uri="{0D108BD9-81ED-4DB2-BD59-A6C34878D82A}">
                    <a16:rowId xmlns:a16="http://schemas.microsoft.com/office/drawing/2014/main" val="2412705252"/>
                  </a:ext>
                </a:extLst>
              </a:tr>
            </a:tbl>
          </a:graphicData>
        </a:graphic>
      </p:graphicFrame>
    </p:spTree>
    <p:extLst>
      <p:ext uri="{BB962C8B-B14F-4D97-AF65-F5344CB8AC3E}">
        <p14:creationId xmlns:p14="http://schemas.microsoft.com/office/powerpoint/2010/main" val="989105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64D677E-D8F9-4658-B787-40A0842B1491}"/>
              </a:ext>
            </a:extLst>
          </p:cNvPr>
          <p:cNvSpPr>
            <a:spLocks noGrp="1"/>
          </p:cNvSpPr>
          <p:nvPr>
            <p:ph type="title"/>
          </p:nvPr>
        </p:nvSpPr>
        <p:spPr>
          <a:xfrm>
            <a:off x="645064" y="525982"/>
            <a:ext cx="4282983" cy="1200361"/>
          </a:xfrm>
        </p:spPr>
        <p:txBody>
          <a:bodyPr anchor="b">
            <a:normAutofit/>
          </a:bodyPr>
          <a:lstStyle/>
          <a:p>
            <a:r>
              <a:rPr lang="en-US" sz="3600"/>
              <a:t>Example of NER</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67E1AA3E-06CB-01D4-6F64-741222922F86}"/>
              </a:ext>
            </a:extLst>
          </p:cNvPr>
          <p:cNvSpPr>
            <a:spLocks noGrp="1"/>
          </p:cNvSpPr>
          <p:nvPr>
            <p:ph idx="1"/>
          </p:nvPr>
        </p:nvSpPr>
        <p:spPr>
          <a:xfrm>
            <a:off x="645066" y="2031101"/>
            <a:ext cx="4282984" cy="3511943"/>
          </a:xfrm>
        </p:spPr>
        <p:txBody>
          <a:bodyPr anchor="ctr">
            <a:normAutofit/>
          </a:bodyPr>
          <a:lstStyle/>
          <a:p>
            <a:r>
              <a:rPr lang="en-US" sz="2400" dirty="0"/>
              <a:t>"Barack Obama was born in Hawaii in 1961 and served as the President of the United States.“</a:t>
            </a:r>
          </a:p>
          <a:p>
            <a:endParaRPr lang="en-US" sz="1800" dirty="0"/>
          </a:p>
          <a:p>
            <a:endParaRPr lang="en-US" sz="1800" dirty="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4" name="Table 3">
            <a:extLst>
              <a:ext uri="{FF2B5EF4-FFF2-40B4-BE49-F238E27FC236}">
                <a16:creationId xmlns:a16="http://schemas.microsoft.com/office/drawing/2014/main" id="{D8EB607E-7001-5AF8-21D2-5C6FC3FAFED0}"/>
              </a:ext>
            </a:extLst>
          </p:cNvPr>
          <p:cNvGraphicFramePr>
            <a:graphicFrameLocks noGrp="1"/>
          </p:cNvGraphicFramePr>
          <p:nvPr/>
        </p:nvGraphicFramePr>
        <p:xfrm>
          <a:off x="5987738" y="1068658"/>
          <a:ext cx="5628019" cy="4487820"/>
        </p:xfrm>
        <a:graphic>
          <a:graphicData uri="http://schemas.openxmlformats.org/drawingml/2006/table">
            <a:tbl>
              <a:tblPr>
                <a:noFill/>
              </a:tblPr>
              <a:tblGrid>
                <a:gridCol w="2691173">
                  <a:extLst>
                    <a:ext uri="{9D8B030D-6E8A-4147-A177-3AD203B41FA5}">
                      <a16:colId xmlns:a16="http://schemas.microsoft.com/office/drawing/2014/main" val="1879665974"/>
                    </a:ext>
                  </a:extLst>
                </a:gridCol>
                <a:gridCol w="2936846">
                  <a:extLst>
                    <a:ext uri="{9D8B030D-6E8A-4147-A177-3AD203B41FA5}">
                      <a16:colId xmlns:a16="http://schemas.microsoft.com/office/drawing/2014/main" val="2741245857"/>
                    </a:ext>
                  </a:extLst>
                </a:gridCol>
              </a:tblGrid>
              <a:tr h="747970">
                <a:tc>
                  <a:txBody>
                    <a:bodyPr/>
                    <a:lstStyle/>
                    <a:p>
                      <a:r>
                        <a:rPr lang="en-US" sz="2700" b="1" cap="none" spc="0">
                          <a:solidFill>
                            <a:schemeClr val="tx1"/>
                          </a:solidFill>
                        </a:rPr>
                        <a:t>Word/Phrase</a:t>
                      </a:r>
                      <a:endParaRPr lang="en-US" sz="2700" cap="none" spc="0">
                        <a:solidFill>
                          <a:schemeClr val="tx1"/>
                        </a:solidFill>
                      </a:endParaRPr>
                    </a:p>
                  </a:txBody>
                  <a:tcPr marL="0" marR="202154" marT="60646" marB="202154" anchor="ctr">
                    <a:lnL w="12700" cmpd="sng">
                      <a:noFill/>
                      <a:prstDash val="solid"/>
                    </a:lnL>
                    <a:lnR w="12700" cmpd="sng">
                      <a:noFill/>
                      <a:prstDash val="solid"/>
                    </a:lnR>
                    <a:lnT w="9525" cap="flat" cmpd="sng" algn="ctr">
                      <a:solidFill>
                        <a:schemeClr val="tx1"/>
                      </a:solidFill>
                      <a:prstDash val="solid"/>
                    </a:lnT>
                    <a:lnB w="12700" cmpd="sng">
                      <a:noFill/>
                      <a:prstDash val="solid"/>
                    </a:lnB>
                    <a:noFill/>
                  </a:tcPr>
                </a:tc>
                <a:tc>
                  <a:txBody>
                    <a:bodyPr/>
                    <a:lstStyle/>
                    <a:p>
                      <a:r>
                        <a:rPr lang="en-US" sz="2700" b="1" cap="none" spc="0">
                          <a:solidFill>
                            <a:schemeClr val="tx1"/>
                          </a:solidFill>
                        </a:rPr>
                        <a:t>Entity Type</a:t>
                      </a:r>
                      <a:endParaRPr lang="en-US" sz="2700" cap="none" spc="0">
                        <a:solidFill>
                          <a:schemeClr val="tx1"/>
                        </a:solidFill>
                      </a:endParaRPr>
                    </a:p>
                  </a:txBody>
                  <a:tcPr marL="0" marR="202154" marT="60646" marB="202154" anchor="ctr">
                    <a:lnL w="12700" cmpd="sng">
                      <a:noFill/>
                      <a:prstDash val="solid"/>
                    </a:lnL>
                    <a:lnR w="12700" cmpd="sng">
                      <a:noFill/>
                      <a:prstDash val="solid"/>
                    </a:lnR>
                    <a:lnT w="9525" cap="flat" cmpd="sng" algn="ctr">
                      <a:solidFill>
                        <a:schemeClr val="tx1"/>
                      </a:solidFill>
                      <a:prstDash val="solid"/>
                    </a:lnT>
                    <a:lnB w="12700" cmpd="sng">
                      <a:noFill/>
                      <a:prstDash val="solid"/>
                    </a:lnB>
                    <a:noFill/>
                  </a:tcPr>
                </a:tc>
                <a:extLst>
                  <a:ext uri="{0D108BD9-81ED-4DB2-BD59-A6C34878D82A}">
                    <a16:rowId xmlns:a16="http://schemas.microsoft.com/office/drawing/2014/main" val="2601045975"/>
                  </a:ext>
                </a:extLst>
              </a:tr>
              <a:tr h="747970">
                <a:tc>
                  <a:txBody>
                    <a:bodyPr/>
                    <a:lstStyle/>
                    <a:p>
                      <a:r>
                        <a:rPr lang="en-US" sz="2700" cap="none" spc="0">
                          <a:solidFill>
                            <a:schemeClr val="tx1"/>
                          </a:solidFill>
                        </a:rPr>
                        <a:t>Barack Obama</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2700" cap="none" spc="0">
                          <a:solidFill>
                            <a:schemeClr val="tx1"/>
                          </a:solidFill>
                        </a:rPr>
                        <a:t>PERSON</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667717009"/>
                  </a:ext>
                </a:extLst>
              </a:tr>
              <a:tr h="747970">
                <a:tc>
                  <a:txBody>
                    <a:bodyPr/>
                    <a:lstStyle/>
                    <a:p>
                      <a:r>
                        <a:rPr lang="en-US" sz="2700" cap="none" spc="0">
                          <a:solidFill>
                            <a:schemeClr val="tx1"/>
                          </a:solidFill>
                        </a:rPr>
                        <a:t>Hawaii</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2700" cap="none" spc="0">
                          <a:solidFill>
                            <a:schemeClr val="tx1"/>
                          </a:solidFill>
                        </a:rPr>
                        <a:t>LOCATION</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75253977"/>
                  </a:ext>
                </a:extLst>
              </a:tr>
              <a:tr h="747970">
                <a:tc>
                  <a:txBody>
                    <a:bodyPr/>
                    <a:lstStyle/>
                    <a:p>
                      <a:r>
                        <a:rPr lang="en-US" sz="2700" cap="none" spc="0">
                          <a:solidFill>
                            <a:schemeClr val="tx1"/>
                          </a:solidFill>
                        </a:rPr>
                        <a:t>1961</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2700" cap="none" spc="0">
                          <a:solidFill>
                            <a:schemeClr val="tx1"/>
                          </a:solidFill>
                        </a:rPr>
                        <a:t>DATE</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37706602"/>
                  </a:ext>
                </a:extLst>
              </a:tr>
              <a:tr h="747970">
                <a:tc>
                  <a:txBody>
                    <a:bodyPr/>
                    <a:lstStyle/>
                    <a:p>
                      <a:r>
                        <a:rPr lang="en-US" sz="2700" cap="none" spc="0">
                          <a:solidFill>
                            <a:schemeClr val="tx1"/>
                          </a:solidFill>
                        </a:rPr>
                        <a:t>President</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2700" cap="none" spc="0">
                          <a:solidFill>
                            <a:schemeClr val="tx1"/>
                          </a:solidFill>
                        </a:rPr>
                        <a:t>TITLE (Optional)</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78917983"/>
                  </a:ext>
                </a:extLst>
              </a:tr>
              <a:tr h="747970">
                <a:tc>
                  <a:txBody>
                    <a:bodyPr/>
                    <a:lstStyle/>
                    <a:p>
                      <a:r>
                        <a:rPr lang="en-US" sz="2700" cap="none" spc="0">
                          <a:solidFill>
                            <a:schemeClr val="tx1"/>
                          </a:solidFill>
                        </a:rPr>
                        <a:t>United States</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2700" cap="none" spc="0">
                          <a:solidFill>
                            <a:schemeClr val="tx1"/>
                          </a:solidFill>
                        </a:rPr>
                        <a:t>LOCATION</a:t>
                      </a:r>
                    </a:p>
                  </a:txBody>
                  <a:tcPr marL="0" marR="202154" marT="60646" marB="202154"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42652589"/>
                  </a:ext>
                </a:extLst>
              </a:tr>
            </a:tbl>
          </a:graphicData>
        </a:graphic>
      </p:graphicFrame>
    </p:spTree>
    <p:extLst>
      <p:ext uri="{BB962C8B-B14F-4D97-AF65-F5344CB8AC3E}">
        <p14:creationId xmlns:p14="http://schemas.microsoft.com/office/powerpoint/2010/main" val="615657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4E5E58B-E429-0D7A-DE21-7D21E716D598}"/>
              </a:ext>
            </a:extLst>
          </p:cNvPr>
          <p:cNvSpPr>
            <a:spLocks noGrp="1"/>
          </p:cNvSpPr>
          <p:nvPr>
            <p:ph type="title"/>
          </p:nvPr>
        </p:nvSpPr>
        <p:spPr>
          <a:xfrm>
            <a:off x="1371599" y="294538"/>
            <a:ext cx="9895951" cy="1033669"/>
          </a:xfrm>
        </p:spPr>
        <p:txBody>
          <a:bodyPr>
            <a:normAutofit/>
          </a:bodyPr>
          <a:lstStyle/>
          <a:p>
            <a:r>
              <a:rPr lang="it-IT" sz="4000" b="1" dirty="0">
                <a:solidFill>
                  <a:srgbClr val="FFFFFF"/>
                </a:solidFill>
              </a:rPr>
              <a:t>How NER Works?</a:t>
            </a:r>
            <a:endParaRPr lang="en-PK" sz="4000" b="1" dirty="0">
              <a:solidFill>
                <a:srgbClr val="FFFFFF"/>
              </a:solidFill>
            </a:endParaRPr>
          </a:p>
        </p:txBody>
      </p:sp>
      <p:sp>
        <p:nvSpPr>
          <p:cNvPr id="3" name="Content Placeholder 2">
            <a:extLst>
              <a:ext uri="{FF2B5EF4-FFF2-40B4-BE49-F238E27FC236}">
                <a16:creationId xmlns:a16="http://schemas.microsoft.com/office/drawing/2014/main" id="{D3C617F3-9CAF-E2DF-ED1D-C6DBCD9B799A}"/>
              </a:ext>
            </a:extLst>
          </p:cNvPr>
          <p:cNvSpPr>
            <a:spLocks noGrp="1"/>
          </p:cNvSpPr>
          <p:nvPr>
            <p:ph idx="1"/>
          </p:nvPr>
        </p:nvSpPr>
        <p:spPr>
          <a:xfrm>
            <a:off x="1371599" y="1622746"/>
            <a:ext cx="9724031" cy="5235254"/>
          </a:xfrm>
        </p:spPr>
        <p:txBody>
          <a:bodyPr anchor="ctr">
            <a:normAutofit fontScale="92500" lnSpcReduction="10000"/>
          </a:bodyPr>
          <a:lstStyle/>
          <a:p>
            <a:pPr marL="0" indent="0">
              <a:buNone/>
            </a:pPr>
            <a:r>
              <a:rPr lang="it-IT" b="1" dirty="0"/>
              <a:t>Text Preprocessing: </a:t>
            </a:r>
          </a:p>
          <a:p>
            <a:r>
              <a:rPr lang="it-IT" dirty="0"/>
              <a:t>Tokenization, lowercasing, removing stop words.</a:t>
            </a:r>
          </a:p>
          <a:p>
            <a:pPr marL="0" indent="0">
              <a:buNone/>
            </a:pPr>
            <a:r>
              <a:rPr lang="it-IT" b="1" dirty="0"/>
              <a:t>Feature Extraction:</a:t>
            </a:r>
          </a:p>
          <a:p>
            <a:r>
              <a:rPr lang="it-IT" dirty="0"/>
              <a:t>Word patterns: Capitalization, prefixes, suffixes.</a:t>
            </a:r>
          </a:p>
          <a:p>
            <a:r>
              <a:rPr lang="it-IT" dirty="0"/>
              <a:t>Context: Nearby words.</a:t>
            </a:r>
          </a:p>
          <a:p>
            <a:pPr marL="0" indent="0">
              <a:buNone/>
            </a:pPr>
            <a:r>
              <a:rPr lang="it-IT" b="1" dirty="0"/>
              <a:t>Model Training:</a:t>
            </a:r>
          </a:p>
          <a:p>
            <a:r>
              <a:rPr lang="it-IT" dirty="0"/>
              <a:t>Supervised learning with labeled data.</a:t>
            </a:r>
          </a:p>
          <a:p>
            <a:r>
              <a:rPr lang="it-IT" dirty="0"/>
              <a:t>Common models: Conditional Random Fields (CRFs), transformers like BERT.</a:t>
            </a:r>
          </a:p>
          <a:p>
            <a:pPr marL="0" indent="0">
              <a:buNone/>
            </a:pPr>
            <a:r>
              <a:rPr lang="it-IT" b="1" dirty="0"/>
              <a:t>Entity Identification:</a:t>
            </a:r>
          </a:p>
          <a:p>
            <a:r>
              <a:rPr lang="it-IT" dirty="0"/>
              <a:t>Classifies words into categories (Person, Organization, Location, etc.).</a:t>
            </a:r>
          </a:p>
        </p:txBody>
      </p:sp>
    </p:spTree>
    <p:extLst>
      <p:ext uri="{BB962C8B-B14F-4D97-AF65-F5344CB8AC3E}">
        <p14:creationId xmlns:p14="http://schemas.microsoft.com/office/powerpoint/2010/main" val="5153793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D0906FA-90E9-3EE7-5F43-D0D1A2272907}"/>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NER Techniques</a:t>
            </a: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4" name="Content Placeholder 3">
            <a:extLst>
              <a:ext uri="{FF2B5EF4-FFF2-40B4-BE49-F238E27FC236}">
                <a16:creationId xmlns:a16="http://schemas.microsoft.com/office/drawing/2014/main" id="{CC254BC9-350D-7C3A-0E10-46C893705407}"/>
              </a:ext>
            </a:extLst>
          </p:cNvPr>
          <p:cNvGraphicFramePr>
            <a:graphicFrameLocks noGrp="1"/>
          </p:cNvGraphicFramePr>
          <p:nvPr>
            <p:ph idx="1"/>
          </p:nvPr>
        </p:nvGraphicFramePr>
        <p:xfrm>
          <a:off x="5922492" y="1526140"/>
          <a:ext cx="5536002" cy="3746968"/>
        </p:xfrm>
        <a:graphic>
          <a:graphicData uri="http://schemas.openxmlformats.org/drawingml/2006/table">
            <a:tbl>
              <a:tblPr>
                <a:solidFill>
                  <a:schemeClr val="bg1"/>
                </a:solidFill>
              </a:tblPr>
              <a:tblGrid>
                <a:gridCol w="1850381">
                  <a:extLst>
                    <a:ext uri="{9D8B030D-6E8A-4147-A177-3AD203B41FA5}">
                      <a16:colId xmlns:a16="http://schemas.microsoft.com/office/drawing/2014/main" val="4182883635"/>
                    </a:ext>
                  </a:extLst>
                </a:gridCol>
                <a:gridCol w="3685621">
                  <a:extLst>
                    <a:ext uri="{9D8B030D-6E8A-4147-A177-3AD203B41FA5}">
                      <a16:colId xmlns:a16="http://schemas.microsoft.com/office/drawing/2014/main" val="3050822101"/>
                    </a:ext>
                  </a:extLst>
                </a:gridCol>
              </a:tblGrid>
              <a:tr h="537444">
                <a:tc>
                  <a:txBody>
                    <a:bodyPr/>
                    <a:lstStyle/>
                    <a:p>
                      <a:r>
                        <a:rPr lang="en-US" sz="1700" b="1" cap="none" spc="0">
                          <a:solidFill>
                            <a:schemeClr val="tx1"/>
                          </a:solidFill>
                        </a:rPr>
                        <a:t>Approach</a:t>
                      </a:r>
                      <a:endParaRPr lang="en-US" sz="1700" cap="none" spc="0">
                        <a:solidFill>
                          <a:schemeClr val="tx1"/>
                        </a:solidFill>
                      </a:endParaRPr>
                    </a:p>
                  </a:txBody>
                  <a:tcPr marL="147608" marR="113544" marT="113544" marB="11354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700" b="1" cap="none" spc="0">
                          <a:solidFill>
                            <a:schemeClr val="tx1"/>
                          </a:solidFill>
                        </a:rPr>
                        <a:t>Description</a:t>
                      </a:r>
                      <a:endParaRPr lang="en-US" sz="1700" cap="none" spc="0">
                        <a:solidFill>
                          <a:schemeClr val="tx1"/>
                        </a:solidFill>
                      </a:endParaRPr>
                    </a:p>
                  </a:txBody>
                  <a:tcPr marL="147608" marR="113544" marT="113544" marB="11354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256890689"/>
                  </a:ext>
                </a:extLst>
              </a:tr>
              <a:tr h="802381">
                <a:tc>
                  <a:txBody>
                    <a:bodyPr/>
                    <a:lstStyle/>
                    <a:p>
                      <a:r>
                        <a:rPr lang="en-US" sz="1700" cap="none" spc="0">
                          <a:solidFill>
                            <a:schemeClr val="tx1"/>
                          </a:solidFill>
                        </a:rPr>
                        <a:t>Rule-based</a:t>
                      </a:r>
                    </a:p>
                  </a:txBody>
                  <a:tcPr marL="147608" marR="113544" marT="113544" marB="11354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700" cap="none" spc="0">
                          <a:solidFill>
                            <a:schemeClr val="tx1"/>
                          </a:solidFill>
                        </a:rPr>
                        <a:t>Uses patterns (e.g., capital letters + dictionaries)</a:t>
                      </a:r>
                    </a:p>
                  </a:txBody>
                  <a:tcPr marL="147608" marR="113544" marT="113544" marB="11354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137818421"/>
                  </a:ext>
                </a:extLst>
              </a:tr>
              <a:tr h="802381">
                <a:tc>
                  <a:txBody>
                    <a:bodyPr/>
                    <a:lstStyle/>
                    <a:p>
                      <a:r>
                        <a:rPr lang="en-US" sz="1700" cap="none" spc="0">
                          <a:solidFill>
                            <a:schemeClr val="tx1"/>
                          </a:solidFill>
                        </a:rPr>
                        <a:t>Statistical ML</a:t>
                      </a:r>
                    </a:p>
                  </a:txBody>
                  <a:tcPr marL="147608" marR="113544" marT="113544" marB="11354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700" cap="none" spc="0">
                          <a:solidFill>
                            <a:schemeClr val="tx1"/>
                          </a:solidFill>
                        </a:rPr>
                        <a:t>Trained models (e.g., Conditional Random Fields – CRF)</a:t>
                      </a:r>
                    </a:p>
                  </a:txBody>
                  <a:tcPr marL="147608" marR="113544" marT="113544" marB="11354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083520072"/>
                  </a:ext>
                </a:extLst>
              </a:tr>
              <a:tr h="802381">
                <a:tc>
                  <a:txBody>
                    <a:bodyPr/>
                    <a:lstStyle/>
                    <a:p>
                      <a:r>
                        <a:rPr lang="en-US" sz="1700" cap="none" spc="0">
                          <a:solidFill>
                            <a:schemeClr val="tx1"/>
                          </a:solidFill>
                        </a:rPr>
                        <a:t>Deep Learning</a:t>
                      </a:r>
                    </a:p>
                  </a:txBody>
                  <a:tcPr marL="147608" marR="113544" marT="113544" marB="11354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700" cap="none" spc="0">
                          <a:solidFill>
                            <a:schemeClr val="tx1"/>
                          </a:solidFill>
                        </a:rPr>
                        <a:t>LSTM, BiLSTM, BiLSTM-CRF models with embeddings</a:t>
                      </a:r>
                    </a:p>
                  </a:txBody>
                  <a:tcPr marL="147608" marR="113544" marT="113544" marB="11354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131804847"/>
                  </a:ext>
                </a:extLst>
              </a:tr>
              <a:tr h="802381">
                <a:tc>
                  <a:txBody>
                    <a:bodyPr/>
                    <a:lstStyle/>
                    <a:p>
                      <a:r>
                        <a:rPr lang="en-US" sz="1700" cap="none" spc="0">
                          <a:solidFill>
                            <a:schemeClr val="tx1"/>
                          </a:solidFill>
                        </a:rPr>
                        <a:t>Transformer-based</a:t>
                      </a:r>
                    </a:p>
                  </a:txBody>
                  <a:tcPr marL="147608" marR="113544" marT="113544" marB="11354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700" cap="none" spc="0">
                          <a:solidFill>
                            <a:schemeClr val="tx1"/>
                          </a:solidFill>
                        </a:rPr>
                        <a:t>Uses models like BERT, </a:t>
                      </a:r>
                      <a:r>
                        <a:rPr lang="en-US" sz="1700" cap="none" spc="0" err="1">
                          <a:solidFill>
                            <a:schemeClr val="tx1"/>
                          </a:solidFill>
                        </a:rPr>
                        <a:t>RoBERTa</a:t>
                      </a:r>
                      <a:r>
                        <a:rPr lang="en-US" sz="1700" cap="none" spc="0">
                          <a:solidFill>
                            <a:schemeClr val="tx1"/>
                          </a:solidFill>
                        </a:rPr>
                        <a:t> for high accuracy</a:t>
                      </a:r>
                    </a:p>
                  </a:txBody>
                  <a:tcPr marL="147608" marR="113544" marT="113544" marB="11354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896068525"/>
                  </a:ext>
                </a:extLst>
              </a:tr>
            </a:tbl>
          </a:graphicData>
        </a:graphic>
      </p:graphicFrame>
    </p:spTree>
    <p:extLst>
      <p:ext uri="{BB962C8B-B14F-4D97-AF65-F5344CB8AC3E}">
        <p14:creationId xmlns:p14="http://schemas.microsoft.com/office/powerpoint/2010/main" val="37262536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4A8E2B-41FD-8B65-937E-3DC727266CD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CA40F0-C9D4-C7EE-6811-054BF82D7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DD112ED3-60CB-396E-BE45-538B0CF87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79C94703-DCE1-83DE-3181-CE9FC6683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5451881D-E387-867B-E6A6-F070A97EC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E8076302-6B33-2952-30D7-703ED9202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5F15CB90-CB06-72A9-508C-044C66C0E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7C4AD3BD-3A77-8CC8-5027-4F7E7531A6B0}"/>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Working of NLP</a:t>
            </a:r>
          </a:p>
        </p:txBody>
      </p:sp>
    </p:spTree>
    <p:extLst>
      <p:ext uri="{BB962C8B-B14F-4D97-AF65-F5344CB8AC3E}">
        <p14:creationId xmlns:p14="http://schemas.microsoft.com/office/powerpoint/2010/main" val="2027038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Freeform: Shape 13">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Arc 1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4126F-F570-CBAF-1709-3B1EE59D4673}"/>
              </a:ext>
            </a:extLst>
          </p:cNvPr>
          <p:cNvSpPr>
            <a:spLocks noGrp="1"/>
          </p:cNvSpPr>
          <p:nvPr>
            <p:ph type="title"/>
          </p:nvPr>
        </p:nvSpPr>
        <p:spPr>
          <a:xfrm>
            <a:off x="838201" y="479493"/>
            <a:ext cx="5257800" cy="1325563"/>
          </a:xfrm>
        </p:spPr>
        <p:txBody>
          <a:bodyPr>
            <a:normAutofit/>
          </a:bodyPr>
          <a:lstStyle/>
          <a:p>
            <a:r>
              <a:rPr lang="en-US" dirty="0"/>
              <a:t>Working of NLP</a:t>
            </a:r>
          </a:p>
        </p:txBody>
      </p:sp>
      <p:sp>
        <p:nvSpPr>
          <p:cNvPr id="3" name="Content Placeholder 2">
            <a:extLst>
              <a:ext uri="{FF2B5EF4-FFF2-40B4-BE49-F238E27FC236}">
                <a16:creationId xmlns:a16="http://schemas.microsoft.com/office/drawing/2014/main" id="{CD327A71-3777-D687-9BE8-CEA641FFA32D}"/>
              </a:ext>
            </a:extLst>
          </p:cNvPr>
          <p:cNvSpPr>
            <a:spLocks noGrp="1"/>
          </p:cNvSpPr>
          <p:nvPr>
            <p:ph idx="1"/>
          </p:nvPr>
        </p:nvSpPr>
        <p:spPr>
          <a:xfrm>
            <a:off x="838201" y="1984443"/>
            <a:ext cx="5257800" cy="4192520"/>
          </a:xfrm>
        </p:spPr>
        <p:txBody>
          <a:bodyPr>
            <a:normAutofit/>
          </a:bodyPr>
          <a:lstStyle/>
          <a:p>
            <a:pPr marL="0" indent="0">
              <a:buNone/>
            </a:pPr>
            <a:r>
              <a:rPr lang="en-US" b="1" dirty="0"/>
              <a:t>1. Text Input: </a:t>
            </a:r>
            <a:r>
              <a:rPr lang="en-US" dirty="0"/>
              <a:t>Raw human language is input into the system (e.g., a sentence, document, or conversation).</a:t>
            </a:r>
          </a:p>
          <a:p>
            <a:pPr marL="0" indent="0">
              <a:buNone/>
            </a:pPr>
            <a:r>
              <a:rPr lang="en-US" dirty="0"/>
              <a:t>Example: "The movie was amazing and very emotional.“</a:t>
            </a:r>
          </a:p>
          <a:p>
            <a:pPr>
              <a:buNone/>
            </a:pPr>
            <a:r>
              <a:rPr lang="en-US" b="1" dirty="0"/>
              <a:t>2. Text Preprocessing</a:t>
            </a:r>
          </a:p>
          <a:p>
            <a:pPr marL="0" indent="0">
              <a:buNone/>
            </a:pPr>
            <a:r>
              <a:rPr lang="en-US" dirty="0"/>
              <a:t>Clean and normalize the input text for further analysis.</a:t>
            </a:r>
          </a:p>
          <a:p>
            <a:pPr marL="0" indent="0">
              <a:buNone/>
            </a:pPr>
            <a:endParaRPr lang="en-US" dirty="0"/>
          </a:p>
        </p:txBody>
      </p:sp>
      <p:graphicFrame>
        <p:nvGraphicFramePr>
          <p:cNvPr id="7" name="Table 6">
            <a:extLst>
              <a:ext uri="{FF2B5EF4-FFF2-40B4-BE49-F238E27FC236}">
                <a16:creationId xmlns:a16="http://schemas.microsoft.com/office/drawing/2014/main" id="{576883CE-1E62-2684-C753-9BE1C0D2098D}"/>
              </a:ext>
            </a:extLst>
          </p:cNvPr>
          <p:cNvGraphicFramePr>
            <a:graphicFrameLocks noGrp="1"/>
          </p:cNvGraphicFramePr>
          <p:nvPr>
            <p:extLst>
              <p:ext uri="{D42A27DB-BD31-4B8C-83A1-F6EECF244321}">
                <p14:modId xmlns:p14="http://schemas.microsoft.com/office/powerpoint/2010/main" val="2887803440"/>
              </p:ext>
            </p:extLst>
          </p:nvPr>
        </p:nvGraphicFramePr>
        <p:xfrm>
          <a:off x="5903089" y="1303406"/>
          <a:ext cx="6065133" cy="4715428"/>
        </p:xfrm>
        <a:graphic>
          <a:graphicData uri="http://schemas.openxmlformats.org/drawingml/2006/table">
            <a:tbl>
              <a:tblPr>
                <a:tableStyleId>{8EC20E35-A176-4012-BC5E-935CFFF8708E}</a:tableStyleId>
              </a:tblPr>
              <a:tblGrid>
                <a:gridCol w="1950241">
                  <a:extLst>
                    <a:ext uri="{9D8B030D-6E8A-4147-A177-3AD203B41FA5}">
                      <a16:colId xmlns:a16="http://schemas.microsoft.com/office/drawing/2014/main" val="4014257871"/>
                    </a:ext>
                  </a:extLst>
                </a:gridCol>
                <a:gridCol w="2193489">
                  <a:extLst>
                    <a:ext uri="{9D8B030D-6E8A-4147-A177-3AD203B41FA5}">
                      <a16:colId xmlns:a16="http://schemas.microsoft.com/office/drawing/2014/main" val="3055368219"/>
                    </a:ext>
                  </a:extLst>
                </a:gridCol>
                <a:gridCol w="1921403">
                  <a:extLst>
                    <a:ext uri="{9D8B030D-6E8A-4147-A177-3AD203B41FA5}">
                      <a16:colId xmlns:a16="http://schemas.microsoft.com/office/drawing/2014/main" val="3988125236"/>
                    </a:ext>
                  </a:extLst>
                </a:gridCol>
              </a:tblGrid>
              <a:tr h="421578">
                <a:tc>
                  <a:txBody>
                    <a:bodyPr/>
                    <a:lstStyle/>
                    <a:p>
                      <a:r>
                        <a:rPr lang="en-US" sz="1500" b="1"/>
                        <a:t>Step</a:t>
                      </a:r>
                    </a:p>
                  </a:txBody>
                  <a:tcPr marL="56888" marR="56888" marT="28444" marB="28444" anchor="ctr"/>
                </a:tc>
                <a:tc>
                  <a:txBody>
                    <a:bodyPr/>
                    <a:lstStyle/>
                    <a:p>
                      <a:r>
                        <a:rPr lang="en-US" sz="1500" b="1"/>
                        <a:t>Description</a:t>
                      </a:r>
                    </a:p>
                  </a:txBody>
                  <a:tcPr marL="56888" marR="56888" marT="28444" marB="28444" anchor="ctr"/>
                </a:tc>
                <a:tc>
                  <a:txBody>
                    <a:bodyPr/>
                    <a:lstStyle/>
                    <a:p>
                      <a:r>
                        <a:rPr lang="en-US" sz="1500" b="1"/>
                        <a:t>Example</a:t>
                      </a:r>
                    </a:p>
                  </a:txBody>
                  <a:tcPr marL="56888" marR="56888" marT="28444" marB="28444" anchor="ctr"/>
                </a:tc>
                <a:extLst>
                  <a:ext uri="{0D108BD9-81ED-4DB2-BD59-A6C34878D82A}">
                    <a16:rowId xmlns:a16="http://schemas.microsoft.com/office/drawing/2014/main" val="96773112"/>
                  </a:ext>
                </a:extLst>
              </a:tr>
              <a:tr h="1046138">
                <a:tc>
                  <a:txBody>
                    <a:bodyPr/>
                    <a:lstStyle/>
                    <a:p>
                      <a:r>
                        <a:rPr lang="en-US" sz="1500" b="1"/>
                        <a:t>Tokenization</a:t>
                      </a:r>
                      <a:endParaRPr lang="en-US" sz="1500"/>
                    </a:p>
                  </a:txBody>
                  <a:tcPr marL="56888" marR="56888" marT="28444" marB="28444" anchor="ctr"/>
                </a:tc>
                <a:tc>
                  <a:txBody>
                    <a:bodyPr/>
                    <a:lstStyle/>
                    <a:p>
                      <a:r>
                        <a:rPr lang="en-US" sz="1500"/>
                        <a:t>Splits text into words or sentences</a:t>
                      </a:r>
                    </a:p>
                  </a:txBody>
                  <a:tcPr marL="56888" marR="56888" marT="28444" marB="28444" anchor="ctr"/>
                </a:tc>
                <a:tc>
                  <a:txBody>
                    <a:bodyPr/>
                    <a:lstStyle/>
                    <a:p>
                      <a:r>
                        <a:rPr lang="en-US" sz="1500"/>
                        <a:t>["The", "movie", "was", "amazing"]</a:t>
                      </a:r>
                    </a:p>
                  </a:txBody>
                  <a:tcPr marL="56888" marR="56888" marT="28444" marB="28444" anchor="ctr"/>
                </a:tc>
                <a:extLst>
                  <a:ext uri="{0D108BD9-81ED-4DB2-BD59-A6C34878D82A}">
                    <a16:rowId xmlns:a16="http://schemas.microsoft.com/office/drawing/2014/main" val="3325104198"/>
                  </a:ext>
                </a:extLst>
              </a:tr>
              <a:tr h="733858">
                <a:tc>
                  <a:txBody>
                    <a:bodyPr/>
                    <a:lstStyle/>
                    <a:p>
                      <a:r>
                        <a:rPr lang="en-US" sz="1500" b="1"/>
                        <a:t>Lowercasing</a:t>
                      </a:r>
                      <a:endParaRPr lang="en-US" sz="1500"/>
                    </a:p>
                  </a:txBody>
                  <a:tcPr marL="56888" marR="56888" marT="28444" marB="28444" anchor="ctr"/>
                </a:tc>
                <a:tc>
                  <a:txBody>
                    <a:bodyPr/>
                    <a:lstStyle/>
                    <a:p>
                      <a:r>
                        <a:rPr lang="en-US" sz="1500"/>
                        <a:t>Converts text to lowercase</a:t>
                      </a:r>
                    </a:p>
                  </a:txBody>
                  <a:tcPr marL="56888" marR="56888" marT="28444" marB="28444" anchor="ctr"/>
                </a:tc>
                <a:tc>
                  <a:txBody>
                    <a:bodyPr/>
                    <a:lstStyle/>
                    <a:p>
                      <a:r>
                        <a:rPr lang="en-US" sz="1500"/>
                        <a:t>"the movie was amazing"</a:t>
                      </a:r>
                    </a:p>
                  </a:txBody>
                  <a:tcPr marL="56888" marR="56888" marT="28444" marB="28444" anchor="ctr"/>
                </a:tc>
                <a:extLst>
                  <a:ext uri="{0D108BD9-81ED-4DB2-BD59-A6C34878D82A}">
                    <a16:rowId xmlns:a16="http://schemas.microsoft.com/office/drawing/2014/main" val="2270651273"/>
                  </a:ext>
                </a:extLst>
              </a:tr>
              <a:tr h="1046138">
                <a:tc>
                  <a:txBody>
                    <a:bodyPr/>
                    <a:lstStyle/>
                    <a:p>
                      <a:r>
                        <a:rPr lang="en-US" sz="1500" b="1"/>
                        <a:t>Stop Word Removal</a:t>
                      </a:r>
                      <a:endParaRPr lang="en-US" sz="1500"/>
                    </a:p>
                  </a:txBody>
                  <a:tcPr marL="56888" marR="56888" marT="28444" marB="28444" anchor="ctr"/>
                </a:tc>
                <a:tc>
                  <a:txBody>
                    <a:bodyPr/>
                    <a:lstStyle/>
                    <a:p>
                      <a:r>
                        <a:rPr lang="en-US" sz="1500"/>
                        <a:t>Removes common words with little meaning</a:t>
                      </a:r>
                    </a:p>
                  </a:txBody>
                  <a:tcPr marL="56888" marR="56888" marT="28444" marB="28444" anchor="ctr"/>
                </a:tc>
                <a:tc>
                  <a:txBody>
                    <a:bodyPr/>
                    <a:lstStyle/>
                    <a:p>
                      <a:r>
                        <a:rPr lang="en-US" sz="1500"/>
                        <a:t>Removes "the", "was", etc.</a:t>
                      </a:r>
                    </a:p>
                  </a:txBody>
                  <a:tcPr marL="56888" marR="56888" marT="28444" marB="28444" anchor="ctr"/>
                </a:tc>
                <a:extLst>
                  <a:ext uri="{0D108BD9-81ED-4DB2-BD59-A6C34878D82A}">
                    <a16:rowId xmlns:a16="http://schemas.microsoft.com/office/drawing/2014/main" val="1142524880"/>
                  </a:ext>
                </a:extLst>
              </a:tr>
              <a:tr h="733858">
                <a:tc>
                  <a:txBody>
                    <a:bodyPr/>
                    <a:lstStyle/>
                    <a:p>
                      <a:r>
                        <a:rPr lang="en-US" sz="1500" b="1"/>
                        <a:t>Stemming / Lemmatization</a:t>
                      </a:r>
                      <a:endParaRPr lang="en-US" sz="1500"/>
                    </a:p>
                  </a:txBody>
                  <a:tcPr marL="56888" marR="56888" marT="28444" marB="28444" anchor="ctr"/>
                </a:tc>
                <a:tc>
                  <a:txBody>
                    <a:bodyPr/>
                    <a:lstStyle/>
                    <a:p>
                      <a:r>
                        <a:rPr lang="en-US" sz="1500"/>
                        <a:t>Reduces words to root form</a:t>
                      </a:r>
                    </a:p>
                  </a:txBody>
                  <a:tcPr marL="56888" marR="56888" marT="28444" marB="28444" anchor="ctr"/>
                </a:tc>
                <a:tc>
                  <a:txBody>
                    <a:bodyPr/>
                    <a:lstStyle/>
                    <a:p>
                      <a:r>
                        <a:rPr lang="en-US" sz="1500"/>
                        <a:t>"emotional" → "emotion"</a:t>
                      </a:r>
                    </a:p>
                  </a:txBody>
                  <a:tcPr marL="56888" marR="56888" marT="28444" marB="28444" anchor="ctr"/>
                </a:tc>
                <a:extLst>
                  <a:ext uri="{0D108BD9-81ED-4DB2-BD59-A6C34878D82A}">
                    <a16:rowId xmlns:a16="http://schemas.microsoft.com/office/drawing/2014/main" val="3786121045"/>
                  </a:ext>
                </a:extLst>
              </a:tr>
              <a:tr h="733858">
                <a:tc>
                  <a:txBody>
                    <a:bodyPr/>
                    <a:lstStyle/>
                    <a:p>
                      <a:r>
                        <a:rPr lang="en-US" sz="1500" b="1"/>
                        <a:t>POS Tagging</a:t>
                      </a:r>
                      <a:endParaRPr lang="en-US" sz="1500"/>
                    </a:p>
                  </a:txBody>
                  <a:tcPr marL="56888" marR="56888" marT="28444" marB="28444" anchor="ctr"/>
                </a:tc>
                <a:tc>
                  <a:txBody>
                    <a:bodyPr/>
                    <a:lstStyle/>
                    <a:p>
                      <a:r>
                        <a:rPr lang="en-US" sz="1500"/>
                        <a:t>Identifies parts of speech</a:t>
                      </a:r>
                    </a:p>
                  </a:txBody>
                  <a:tcPr marL="56888" marR="56888" marT="28444" marB="28444" anchor="ctr"/>
                </a:tc>
                <a:tc>
                  <a:txBody>
                    <a:bodyPr/>
                    <a:lstStyle/>
                    <a:p>
                      <a:r>
                        <a:rPr lang="en-US" sz="1500" dirty="0"/>
                        <a:t>"movie/NN", "amazing/JJ"</a:t>
                      </a:r>
                    </a:p>
                  </a:txBody>
                  <a:tcPr marL="56888" marR="56888" marT="28444" marB="28444" anchor="ctr"/>
                </a:tc>
                <a:extLst>
                  <a:ext uri="{0D108BD9-81ED-4DB2-BD59-A6C34878D82A}">
                    <a16:rowId xmlns:a16="http://schemas.microsoft.com/office/drawing/2014/main" val="620888958"/>
                  </a:ext>
                </a:extLst>
              </a:tr>
            </a:tbl>
          </a:graphicData>
        </a:graphic>
      </p:graphicFrame>
    </p:spTree>
    <p:extLst>
      <p:ext uri="{BB962C8B-B14F-4D97-AF65-F5344CB8AC3E}">
        <p14:creationId xmlns:p14="http://schemas.microsoft.com/office/powerpoint/2010/main" val="12110110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3DC98-92C9-B5C0-A09C-6E28C27B1490}"/>
              </a:ext>
            </a:extLst>
          </p:cNvPr>
          <p:cNvSpPr>
            <a:spLocks noGrp="1"/>
          </p:cNvSpPr>
          <p:nvPr>
            <p:ph type="title"/>
          </p:nvPr>
        </p:nvSpPr>
        <p:spPr>
          <a:xfrm>
            <a:off x="686834" y="1153572"/>
            <a:ext cx="3200400" cy="4461163"/>
          </a:xfrm>
        </p:spPr>
        <p:txBody>
          <a:bodyPr>
            <a:normAutofit/>
          </a:bodyPr>
          <a:lstStyle/>
          <a:p>
            <a:r>
              <a:rPr lang="en-US">
                <a:solidFill>
                  <a:srgbClr val="FFFFFF"/>
                </a:solidFill>
              </a:rPr>
              <a:t>Working of NLP</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55A6E39-D154-6A90-6866-E4D1F27F3D2E}"/>
              </a:ext>
            </a:extLst>
          </p:cNvPr>
          <p:cNvSpPr>
            <a:spLocks noGrp="1"/>
          </p:cNvSpPr>
          <p:nvPr>
            <p:ph idx="1"/>
          </p:nvPr>
        </p:nvSpPr>
        <p:spPr>
          <a:xfrm>
            <a:off x="4447308" y="591344"/>
            <a:ext cx="6906491" cy="5585619"/>
          </a:xfrm>
        </p:spPr>
        <p:txBody>
          <a:bodyPr anchor="ctr">
            <a:normAutofit/>
          </a:bodyPr>
          <a:lstStyle/>
          <a:p>
            <a:pPr marL="0" indent="0">
              <a:buNone/>
            </a:pPr>
            <a:r>
              <a:rPr lang="en-US" b="1" dirty="0"/>
              <a:t>3. Feature Extraction / Representation: </a:t>
            </a:r>
            <a:r>
              <a:rPr lang="en-US" dirty="0"/>
              <a:t>Convert text into numerical format for machine learning models. </a:t>
            </a:r>
          </a:p>
          <a:p>
            <a:r>
              <a:rPr lang="en-US" b="1" dirty="0"/>
              <a:t>Methods: </a:t>
            </a:r>
          </a:p>
          <a:p>
            <a:pPr marL="457200" lvl="1" indent="0">
              <a:buNone/>
            </a:pPr>
            <a:r>
              <a:rPr lang="en-US" dirty="0"/>
              <a:t>Bag of Words (</a:t>
            </a:r>
            <a:r>
              <a:rPr lang="en-US" dirty="0" err="1"/>
              <a:t>BoW</a:t>
            </a:r>
            <a:r>
              <a:rPr lang="en-US" dirty="0"/>
              <a:t>)</a:t>
            </a:r>
          </a:p>
          <a:p>
            <a:pPr marL="457200" lvl="1" indent="0">
              <a:buNone/>
            </a:pPr>
            <a:r>
              <a:rPr lang="en-US" dirty="0"/>
              <a:t>TF-IDF (Term Frequency – Inverse Document Frequency)</a:t>
            </a:r>
          </a:p>
          <a:p>
            <a:pPr marL="457200" lvl="1" indent="0">
              <a:buNone/>
            </a:pPr>
            <a:r>
              <a:rPr lang="en-US" dirty="0"/>
              <a:t>Word Embeddings (e.g., Word2Vec, </a:t>
            </a:r>
            <a:r>
              <a:rPr lang="en-US" dirty="0" err="1"/>
              <a:t>GloVe</a:t>
            </a:r>
            <a:r>
              <a:rPr lang="en-US" dirty="0"/>
              <a:t>)</a:t>
            </a:r>
          </a:p>
          <a:p>
            <a:pPr marL="457200" lvl="1" indent="0">
              <a:buNone/>
            </a:pPr>
            <a:r>
              <a:rPr lang="en-US" dirty="0"/>
              <a:t>Contextual Embeddings (e.g., BERT)</a:t>
            </a:r>
          </a:p>
          <a:p>
            <a:pPr marL="0" indent="0">
              <a:buNone/>
            </a:pPr>
            <a:r>
              <a:rPr lang="en-US" dirty="0"/>
              <a:t>Example: "amazing" → vector like [0.12, -0.33, 0.85, ...]</a:t>
            </a:r>
          </a:p>
        </p:txBody>
      </p:sp>
    </p:spTree>
    <p:extLst>
      <p:ext uri="{BB962C8B-B14F-4D97-AF65-F5344CB8AC3E}">
        <p14:creationId xmlns:p14="http://schemas.microsoft.com/office/powerpoint/2010/main" val="26990382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14B8CE-3CDD-6BF6-DABF-BCF972584ED6}"/>
              </a:ext>
            </a:extLst>
          </p:cNvPr>
          <p:cNvSpPr>
            <a:spLocks noGrp="1"/>
          </p:cNvSpPr>
          <p:nvPr>
            <p:ph type="title"/>
          </p:nvPr>
        </p:nvSpPr>
        <p:spPr>
          <a:xfrm>
            <a:off x="686834" y="1153572"/>
            <a:ext cx="3200400" cy="4461163"/>
          </a:xfrm>
        </p:spPr>
        <p:txBody>
          <a:bodyPr>
            <a:normAutofit/>
          </a:bodyPr>
          <a:lstStyle/>
          <a:p>
            <a:r>
              <a:rPr lang="en-US">
                <a:solidFill>
                  <a:srgbClr val="FFFFFF"/>
                </a:solidFill>
              </a:rPr>
              <a:t>Working of NLP</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EECB93C-0E06-24FD-9A13-A3C5B22C313D}"/>
              </a:ext>
            </a:extLst>
          </p:cNvPr>
          <p:cNvSpPr>
            <a:spLocks noGrp="1"/>
          </p:cNvSpPr>
          <p:nvPr>
            <p:ph idx="1"/>
          </p:nvPr>
        </p:nvSpPr>
        <p:spPr>
          <a:xfrm>
            <a:off x="4447308" y="591344"/>
            <a:ext cx="6906491" cy="5585619"/>
          </a:xfrm>
        </p:spPr>
        <p:txBody>
          <a:bodyPr anchor="ctr">
            <a:normAutofit lnSpcReduction="10000"/>
          </a:bodyPr>
          <a:lstStyle/>
          <a:p>
            <a:pPr marL="0" indent="0">
              <a:buNone/>
            </a:pPr>
            <a:r>
              <a:rPr lang="en-US" sz="2400" dirty="0"/>
              <a:t>4. </a:t>
            </a:r>
            <a:r>
              <a:rPr lang="en-US" sz="2400" b="1" dirty="0"/>
              <a:t>Modeling / Learning: </a:t>
            </a:r>
            <a:r>
              <a:rPr lang="en-US" sz="2400" dirty="0"/>
              <a:t>Apply machine learning or deep learning to make predictions or extract information.</a:t>
            </a:r>
          </a:p>
          <a:p>
            <a:pPr marL="0" indent="0">
              <a:buNone/>
            </a:pPr>
            <a:r>
              <a:rPr lang="en-US" sz="2400" b="1" dirty="0"/>
              <a:t>Depends on task:</a:t>
            </a:r>
          </a:p>
          <a:p>
            <a:r>
              <a:rPr lang="en-US" sz="2400" dirty="0"/>
              <a:t>Classification: Spam detection, sentiment analysis</a:t>
            </a:r>
          </a:p>
          <a:p>
            <a:r>
              <a:rPr lang="en-US" sz="2400" dirty="0"/>
              <a:t>Sequence Labeling: POS tagging, Named Entity Recognition (NER)</a:t>
            </a:r>
          </a:p>
          <a:p>
            <a:r>
              <a:rPr lang="en-US" sz="2400" dirty="0"/>
              <a:t>Generation: Chatbots, summarization</a:t>
            </a:r>
          </a:p>
          <a:p>
            <a:r>
              <a:rPr lang="en-US" sz="2400" dirty="0"/>
              <a:t>Translation: Language-to-language conversion</a:t>
            </a:r>
          </a:p>
          <a:p>
            <a:pPr marL="0" indent="0">
              <a:buNone/>
            </a:pPr>
            <a:r>
              <a:rPr lang="en-US" sz="2400" b="1" dirty="0"/>
              <a:t>Models used:</a:t>
            </a:r>
          </a:p>
          <a:p>
            <a:pPr marL="0" indent="0">
              <a:buNone/>
            </a:pPr>
            <a:r>
              <a:rPr lang="en-US" sz="2400" dirty="0"/>
              <a:t>Traditional: Naive Bayes, SVM</a:t>
            </a:r>
          </a:p>
          <a:p>
            <a:pPr marL="0" indent="0">
              <a:buNone/>
            </a:pPr>
            <a:r>
              <a:rPr lang="en-US" sz="2400" dirty="0"/>
              <a:t>Deep Learning: Recurrent Neural Network (RNN), Long Short Term Memory (LSTM), Transformers (BERT, GPT)</a:t>
            </a:r>
          </a:p>
        </p:txBody>
      </p:sp>
    </p:spTree>
    <p:extLst>
      <p:ext uri="{BB962C8B-B14F-4D97-AF65-F5344CB8AC3E}">
        <p14:creationId xmlns:p14="http://schemas.microsoft.com/office/powerpoint/2010/main" val="4121030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A63E84-D9AC-56AD-31A5-F12891F8CDA2}"/>
              </a:ext>
            </a:extLst>
          </p:cNvPr>
          <p:cNvSpPr>
            <a:spLocks noGrp="1"/>
          </p:cNvSpPr>
          <p:nvPr>
            <p:ph type="title"/>
          </p:nvPr>
        </p:nvSpPr>
        <p:spPr>
          <a:xfrm>
            <a:off x="686834" y="591344"/>
            <a:ext cx="3200400" cy="5585619"/>
          </a:xfrm>
        </p:spPr>
        <p:txBody>
          <a:bodyPr>
            <a:normAutofit/>
          </a:bodyPr>
          <a:lstStyle/>
          <a:p>
            <a:r>
              <a:rPr lang="en-US">
                <a:solidFill>
                  <a:srgbClr val="FFFFFF"/>
                </a:solidFill>
              </a:rPr>
              <a:t>Working of NLP</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F925F14-D3B4-5868-BEEE-D1E7B54567D7}"/>
              </a:ext>
            </a:extLst>
          </p:cNvPr>
          <p:cNvSpPr>
            <a:spLocks noGrp="1"/>
          </p:cNvSpPr>
          <p:nvPr>
            <p:ph idx="1"/>
          </p:nvPr>
        </p:nvSpPr>
        <p:spPr>
          <a:xfrm>
            <a:off x="4447308" y="591344"/>
            <a:ext cx="6906491" cy="5585619"/>
          </a:xfrm>
        </p:spPr>
        <p:txBody>
          <a:bodyPr anchor="ctr">
            <a:normAutofit/>
          </a:bodyPr>
          <a:lstStyle/>
          <a:p>
            <a:pPr marL="0" indent="0">
              <a:buNone/>
            </a:pPr>
            <a:r>
              <a:rPr lang="en-US" b="1"/>
              <a:t>5. Output Generation</a:t>
            </a:r>
          </a:p>
          <a:p>
            <a:pPr marL="0" indent="0">
              <a:buNone/>
            </a:pPr>
            <a:r>
              <a:rPr lang="en-US"/>
              <a:t>Final output is generated, interpreted, or acted upon.</a:t>
            </a:r>
          </a:p>
          <a:p>
            <a:pPr marL="0" indent="0">
              <a:buNone/>
            </a:pPr>
            <a:r>
              <a:rPr lang="en-US" b="1"/>
              <a:t>Could be:</a:t>
            </a:r>
          </a:p>
          <a:p>
            <a:pPr marL="0" indent="0">
              <a:buNone/>
            </a:pPr>
            <a:r>
              <a:rPr lang="en-US"/>
              <a:t>A label: "Positive" (Sentiment Analysis)</a:t>
            </a:r>
          </a:p>
          <a:p>
            <a:pPr marL="0" indent="0">
              <a:buNone/>
            </a:pPr>
            <a:r>
              <a:rPr lang="en-US"/>
              <a:t>A structured format: {"entity": "movie", "sentiment": "positive"}</a:t>
            </a:r>
          </a:p>
          <a:p>
            <a:pPr marL="0" indent="0">
              <a:buNone/>
            </a:pPr>
            <a:r>
              <a:rPr lang="en-US"/>
              <a:t>A response: "I'm glad you liked the movie!"</a:t>
            </a:r>
          </a:p>
        </p:txBody>
      </p:sp>
    </p:spTree>
    <p:extLst>
      <p:ext uri="{BB962C8B-B14F-4D97-AF65-F5344CB8AC3E}">
        <p14:creationId xmlns:p14="http://schemas.microsoft.com/office/powerpoint/2010/main" val="20584804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9B1977-8B81-676C-8BED-6FA51E4B2327}"/>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7362F7-399F-DA73-06F0-C61D15132DCD}"/>
              </a:ext>
            </a:extLst>
          </p:cNvPr>
          <p:cNvSpPr>
            <a:spLocks noGrp="1"/>
          </p:cNvSpPr>
          <p:nvPr>
            <p:ph type="title" idx="4294967295"/>
          </p:nvPr>
        </p:nvSpPr>
        <p:spPr>
          <a:xfrm>
            <a:off x="686834" y="591344"/>
            <a:ext cx="3200400" cy="5585619"/>
          </a:xfrm>
        </p:spPr>
        <p:txBody>
          <a:bodyPr vert="horz" lIns="91440" tIns="45720" rIns="91440" bIns="45720" rtlCol="0" anchor="ctr">
            <a:normAutofit/>
          </a:bodyPr>
          <a:lstStyle/>
          <a:p>
            <a:r>
              <a:rPr lang="en-US" b="1" kern="1200">
                <a:solidFill>
                  <a:srgbClr val="FFFFFF"/>
                </a:solidFill>
                <a:latin typeface="+mj-lt"/>
                <a:ea typeface="+mj-ea"/>
                <a:cs typeface="+mj-cs"/>
              </a:rPr>
              <a:t>Sentiment Analysis in NLP</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Rectangle 1">
            <a:extLst>
              <a:ext uri="{FF2B5EF4-FFF2-40B4-BE49-F238E27FC236}">
                <a16:creationId xmlns:a16="http://schemas.microsoft.com/office/drawing/2014/main" id="{684318BE-CD80-9129-B86E-F48160CC9B46}"/>
              </a:ext>
            </a:extLst>
          </p:cNvPr>
          <p:cNvSpPr>
            <a:spLocks noGrp="1" noChangeArrowheads="1"/>
          </p:cNvSpPr>
          <p:nvPr>
            <p:ph idx="4294967295"/>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r>
              <a:rPr lang="en-US" b="1" dirty="0"/>
              <a:t>Sentiment Analysis</a:t>
            </a:r>
            <a:r>
              <a:rPr lang="en-US" dirty="0"/>
              <a:t>, also known as </a:t>
            </a:r>
            <a:r>
              <a:rPr lang="en-US" b="1" dirty="0"/>
              <a:t>opinion mining</a:t>
            </a:r>
            <a:r>
              <a:rPr lang="en-US" dirty="0"/>
              <a:t>, is a technique in </a:t>
            </a:r>
            <a:r>
              <a:rPr lang="en-US" b="1" dirty="0"/>
              <a:t>Natural Language Processing (NLP)</a:t>
            </a:r>
            <a:r>
              <a:rPr lang="en-US" dirty="0"/>
              <a:t> used to identify and classify the emotions or opinions expressed in a piece of text. Its goal is to determine whether the sentiment of the text is:</a:t>
            </a:r>
          </a:p>
          <a:p>
            <a:r>
              <a:rPr lang="en-US" b="1" dirty="0"/>
              <a:t>Positive</a:t>
            </a:r>
            <a:r>
              <a:rPr lang="en-US" dirty="0"/>
              <a:t> (e.g., "I love this movie!"),</a:t>
            </a:r>
          </a:p>
          <a:p>
            <a:r>
              <a:rPr lang="en-US" b="1" dirty="0"/>
              <a:t>Negative</a:t>
            </a:r>
            <a:r>
              <a:rPr lang="en-US" dirty="0"/>
              <a:t> (e.g., "I hate this product."),</a:t>
            </a:r>
          </a:p>
          <a:p>
            <a:r>
              <a:rPr lang="en-US" b="1" dirty="0"/>
              <a:t>Neutral</a:t>
            </a:r>
            <a:r>
              <a:rPr lang="en-US" dirty="0"/>
              <a:t> (e.g., "The event happened yesterday.").</a:t>
            </a:r>
          </a:p>
          <a:p>
            <a:pPr fontAlgn="base">
              <a:spcBef>
                <a:spcPct val="0"/>
              </a:spcBef>
              <a:spcAft>
                <a:spcPct val="0"/>
              </a:spcAft>
            </a:pPr>
            <a:endParaRPr kumimoji="0" lang="en-US" altLang="en-PK" b="0" i="0" u="none" strike="noStrike" cap="none" normalizeH="0" baseline="0" dirty="0">
              <a:ln>
                <a:noFill/>
              </a:ln>
              <a:effectLst/>
            </a:endParaRPr>
          </a:p>
        </p:txBody>
      </p:sp>
    </p:spTree>
    <p:extLst>
      <p:ext uri="{BB962C8B-B14F-4D97-AF65-F5344CB8AC3E}">
        <p14:creationId xmlns:p14="http://schemas.microsoft.com/office/powerpoint/2010/main" val="32723740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244B5A-2BF0-42F6-1EB2-4D5FFF2C3275}"/>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dirty="0"/>
              <a:t>Sentiment Analysis Flow-Chart</a:t>
            </a:r>
          </a:p>
        </p:txBody>
      </p:sp>
      <p:sp>
        <p:nvSpPr>
          <p:cNvPr id="16" name="Rectangle: Rounded Corners 15">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Content Placeholder 4">
            <a:extLst>
              <a:ext uri="{FF2B5EF4-FFF2-40B4-BE49-F238E27FC236}">
                <a16:creationId xmlns:a16="http://schemas.microsoft.com/office/drawing/2014/main" id="{AAD241F9-6F2D-FA27-4709-9BCFA5E8C40D}"/>
              </a:ext>
            </a:extLst>
          </p:cNvPr>
          <p:cNvPicPr>
            <a:picLocks noGrp="1" noChangeAspect="1"/>
          </p:cNvPicPr>
          <p:nvPr>
            <p:ph idx="1"/>
          </p:nvPr>
        </p:nvPicPr>
        <p:blipFill>
          <a:blip r:embed="rId3"/>
          <a:stretch>
            <a:fillRect/>
          </a:stretch>
        </p:blipFill>
        <p:spPr>
          <a:xfrm>
            <a:off x="461098" y="2426208"/>
            <a:ext cx="4608000" cy="4439195"/>
          </a:xfrm>
          <a:prstGeom prst="rect">
            <a:avLst/>
          </a:prstGeom>
        </p:spPr>
      </p:pic>
      <p:pic>
        <p:nvPicPr>
          <p:cNvPr id="7" name="Picture 6" descr="A diagram of a diagram&#10;&#10;Description automatically generated">
            <a:extLst>
              <a:ext uri="{FF2B5EF4-FFF2-40B4-BE49-F238E27FC236}">
                <a16:creationId xmlns:a16="http://schemas.microsoft.com/office/drawing/2014/main" id="{9B453DE2-6B3C-CE74-0431-1205D96700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4225" y="2518866"/>
            <a:ext cx="6617881" cy="4339134"/>
          </a:xfrm>
          <a:prstGeom prst="rect">
            <a:avLst/>
          </a:prstGeom>
        </p:spPr>
      </p:pic>
      <p:sp>
        <p:nvSpPr>
          <p:cNvPr id="8" name="TextBox 7">
            <a:extLst>
              <a:ext uri="{FF2B5EF4-FFF2-40B4-BE49-F238E27FC236}">
                <a16:creationId xmlns:a16="http://schemas.microsoft.com/office/drawing/2014/main" id="{BCF7B606-D27A-7557-BE70-81729464A4A1}"/>
              </a:ext>
            </a:extLst>
          </p:cNvPr>
          <p:cNvSpPr txBox="1"/>
          <p:nvPr/>
        </p:nvSpPr>
        <p:spPr>
          <a:xfrm>
            <a:off x="7716149" y="1964868"/>
            <a:ext cx="1828799" cy="584775"/>
          </a:xfrm>
          <a:prstGeom prst="rect">
            <a:avLst/>
          </a:prstGeom>
          <a:noFill/>
        </p:spPr>
        <p:txBody>
          <a:bodyPr wrap="square" rtlCol="0">
            <a:spAutoFit/>
          </a:bodyPr>
          <a:lstStyle/>
          <a:p>
            <a:r>
              <a:rPr lang="en-GB" sz="3200" b="1" dirty="0"/>
              <a:t>Example</a:t>
            </a:r>
            <a:endParaRPr lang="en-PK" sz="3200" b="1" dirty="0"/>
          </a:p>
        </p:txBody>
      </p:sp>
      <p:sp>
        <p:nvSpPr>
          <p:cNvPr id="10" name="TextBox 9">
            <a:extLst>
              <a:ext uri="{FF2B5EF4-FFF2-40B4-BE49-F238E27FC236}">
                <a16:creationId xmlns:a16="http://schemas.microsoft.com/office/drawing/2014/main" id="{0B7B7221-ECB5-6FB0-64CA-ADFBDCFADFE6}"/>
              </a:ext>
            </a:extLst>
          </p:cNvPr>
          <p:cNvSpPr txBox="1"/>
          <p:nvPr/>
        </p:nvSpPr>
        <p:spPr>
          <a:xfrm>
            <a:off x="1028564" y="1995646"/>
            <a:ext cx="3473068" cy="523220"/>
          </a:xfrm>
          <a:prstGeom prst="rect">
            <a:avLst/>
          </a:prstGeom>
          <a:noFill/>
        </p:spPr>
        <p:txBody>
          <a:bodyPr wrap="square" rtlCol="0">
            <a:spAutoFit/>
          </a:bodyPr>
          <a:lstStyle/>
          <a:p>
            <a:r>
              <a:rPr lang="en-GB" sz="2800" b="1" dirty="0"/>
              <a:t>General Flow-Chart</a:t>
            </a:r>
            <a:endParaRPr lang="en-PK" sz="2800" b="1" dirty="0"/>
          </a:p>
        </p:txBody>
      </p:sp>
    </p:spTree>
    <p:extLst>
      <p:ext uri="{BB962C8B-B14F-4D97-AF65-F5344CB8AC3E}">
        <p14:creationId xmlns:p14="http://schemas.microsoft.com/office/powerpoint/2010/main" val="1285458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25AF8D-4EE7-8D39-B7D7-F5F79BEB779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DBB2005-DA8F-C640-9F2E-8F24DB36E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35856D7-F5A5-EC15-76D7-C021CC38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20938-4DBB-E547-3CD6-14612017FACD}"/>
              </a:ext>
            </a:extLst>
          </p:cNvPr>
          <p:cNvSpPr>
            <a:spLocks noGrp="1"/>
          </p:cNvSpPr>
          <p:nvPr>
            <p:ph type="title"/>
          </p:nvPr>
        </p:nvSpPr>
        <p:spPr>
          <a:xfrm>
            <a:off x="686834" y="1153572"/>
            <a:ext cx="3200400" cy="4461163"/>
          </a:xfrm>
        </p:spPr>
        <p:txBody>
          <a:bodyPr>
            <a:normAutofit/>
          </a:bodyPr>
          <a:lstStyle/>
          <a:p>
            <a:r>
              <a:rPr lang="en-GB" b="1" dirty="0">
                <a:solidFill>
                  <a:srgbClr val="FFFFFF"/>
                </a:solidFill>
              </a:rPr>
              <a:t>Example of NLP &amp; its Explanation</a:t>
            </a:r>
            <a:endParaRPr lang="en-PK" b="1" dirty="0">
              <a:solidFill>
                <a:srgbClr val="FFFFFF"/>
              </a:solidFill>
            </a:endParaRPr>
          </a:p>
        </p:txBody>
      </p:sp>
      <p:sp>
        <p:nvSpPr>
          <p:cNvPr id="17" name="Arc 16">
            <a:extLst>
              <a:ext uri="{FF2B5EF4-FFF2-40B4-BE49-F238E27FC236}">
                <a16:creationId xmlns:a16="http://schemas.microsoft.com/office/drawing/2014/main" id="{1A4D7356-425F-D0D3-BC61-939CA24D45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FABF96BA-7EE8-2E33-45EF-703F7ED641DC}"/>
              </a:ext>
            </a:extLst>
          </p:cNvPr>
          <p:cNvSpPr>
            <a:spLocks noGrp="1"/>
          </p:cNvSpPr>
          <p:nvPr>
            <p:ph idx="1"/>
          </p:nvPr>
        </p:nvSpPr>
        <p:spPr>
          <a:xfrm>
            <a:off x="4447308" y="591344"/>
            <a:ext cx="6906491" cy="5585619"/>
          </a:xfrm>
        </p:spPr>
        <p:txBody>
          <a:bodyPr anchor="ctr">
            <a:normAutofit fontScale="77500" lnSpcReduction="20000"/>
          </a:bodyPr>
          <a:lstStyle/>
          <a:p>
            <a:pPr marL="0" indent="0">
              <a:buNone/>
            </a:pPr>
            <a:r>
              <a:rPr lang="en-GB" sz="3300" b="1" dirty="0"/>
              <a:t>Step 1: Text Preprocessing</a:t>
            </a:r>
          </a:p>
          <a:p>
            <a:r>
              <a:rPr lang="en-GB" sz="3300" dirty="0"/>
              <a:t>The goal is to prepare the text for analysis by removing unnecessary parts and focusing on key elements.</a:t>
            </a:r>
          </a:p>
          <a:p>
            <a:pPr>
              <a:buFont typeface="+mj-lt"/>
              <a:buAutoNum type="arabicPeriod"/>
            </a:pPr>
            <a:r>
              <a:rPr lang="en-GB" sz="3300" b="1" dirty="0"/>
              <a:t>Tokenization</a:t>
            </a:r>
            <a:r>
              <a:rPr lang="en-GB" sz="3300" dirty="0"/>
              <a:t>:</a:t>
            </a:r>
          </a:p>
          <a:p>
            <a:pPr lvl="1">
              <a:buFont typeface="Wingdings" panose="05000000000000000000" pitchFamily="2" charset="2"/>
              <a:buChar char="§"/>
            </a:pPr>
            <a:r>
              <a:rPr lang="en-GB" sz="2800" dirty="0"/>
              <a:t>Split the sentence into individual words (tokens).</a:t>
            </a:r>
          </a:p>
          <a:p>
            <a:pPr lvl="1">
              <a:buFont typeface="Wingdings" panose="05000000000000000000" pitchFamily="2" charset="2"/>
              <a:buChar char="§"/>
            </a:pPr>
            <a:r>
              <a:rPr lang="en-GB" sz="2800" dirty="0"/>
              <a:t>Tokens: ["The", "movie", "was", "fantastic", "but", "the", "ending", "was", "disappointing"]</a:t>
            </a:r>
          </a:p>
          <a:p>
            <a:pPr>
              <a:buFont typeface="+mj-lt"/>
              <a:buAutoNum type="arabicPeriod"/>
            </a:pPr>
            <a:r>
              <a:rPr lang="en-GB" sz="3300" b="1" dirty="0"/>
              <a:t>Stop Word Removal</a:t>
            </a:r>
            <a:r>
              <a:rPr lang="en-GB" sz="3300" dirty="0"/>
              <a:t>:</a:t>
            </a:r>
          </a:p>
          <a:p>
            <a:pPr lvl="1">
              <a:buFont typeface="Wingdings" panose="05000000000000000000" pitchFamily="2" charset="2"/>
              <a:buChar char="§"/>
            </a:pPr>
            <a:r>
              <a:rPr lang="en-GB" sz="2800" dirty="0"/>
              <a:t>Remove commonly used words like "the", "was", "but", etc., as they don't contribute significantly to the sentiment.</a:t>
            </a:r>
          </a:p>
          <a:p>
            <a:pPr lvl="1">
              <a:buFont typeface="Wingdings" panose="05000000000000000000" pitchFamily="2" charset="2"/>
              <a:buChar char="§"/>
            </a:pPr>
            <a:r>
              <a:rPr lang="en-GB" sz="2800" dirty="0"/>
              <a:t>After removing stop words: ["movie", "fantastic", "ending", "disappointing"]</a:t>
            </a:r>
          </a:p>
          <a:p>
            <a:pPr>
              <a:buFont typeface="+mj-lt"/>
              <a:buAutoNum type="arabicPeriod"/>
            </a:pPr>
            <a:r>
              <a:rPr lang="en-GB" sz="3300" b="1" dirty="0"/>
              <a:t>Result of Preprocessing</a:t>
            </a:r>
            <a:r>
              <a:rPr lang="en-GB" sz="3300" dirty="0"/>
              <a:t>:</a:t>
            </a:r>
          </a:p>
          <a:p>
            <a:pPr lvl="1">
              <a:buFont typeface="Wingdings" panose="05000000000000000000" pitchFamily="2" charset="2"/>
              <a:buChar char="§"/>
            </a:pPr>
            <a:r>
              <a:rPr lang="en-GB" sz="2800" dirty="0"/>
              <a:t>The focus is now on the important words: "movie", "fantastic", "ending", "disappointing".</a:t>
            </a:r>
          </a:p>
        </p:txBody>
      </p:sp>
    </p:spTree>
    <p:extLst>
      <p:ext uri="{BB962C8B-B14F-4D97-AF65-F5344CB8AC3E}">
        <p14:creationId xmlns:p14="http://schemas.microsoft.com/office/powerpoint/2010/main" val="1140747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3C5B19-E0C4-63D7-27FE-A7C2F5A8957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F4A1F35-ED20-344B-05D8-0C4469696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673510E-EE18-F157-4036-CDCB42BC3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AE6A8-B092-D6D3-61DD-C557E8877CE3}"/>
              </a:ext>
            </a:extLst>
          </p:cNvPr>
          <p:cNvSpPr>
            <a:spLocks noGrp="1"/>
          </p:cNvSpPr>
          <p:nvPr>
            <p:ph type="title"/>
          </p:nvPr>
        </p:nvSpPr>
        <p:spPr>
          <a:xfrm>
            <a:off x="686834" y="1153572"/>
            <a:ext cx="3200400" cy="4461163"/>
          </a:xfrm>
        </p:spPr>
        <p:txBody>
          <a:bodyPr>
            <a:normAutofit/>
          </a:bodyPr>
          <a:lstStyle/>
          <a:p>
            <a:r>
              <a:rPr lang="en-GB" b="1" dirty="0">
                <a:solidFill>
                  <a:srgbClr val="FFFFFF"/>
                </a:solidFill>
              </a:rPr>
              <a:t>Explanation</a:t>
            </a:r>
            <a:br>
              <a:rPr lang="en-GB" b="1" dirty="0">
                <a:solidFill>
                  <a:srgbClr val="FFFFFF"/>
                </a:solidFill>
              </a:rPr>
            </a:br>
            <a:r>
              <a:rPr lang="en-GB" b="1" dirty="0">
                <a:solidFill>
                  <a:srgbClr val="FFFFFF"/>
                </a:solidFill>
              </a:rPr>
              <a:t>Continue </a:t>
            </a:r>
            <a:endParaRPr lang="en-PK" b="1" dirty="0">
              <a:solidFill>
                <a:srgbClr val="FFFFFF"/>
              </a:solidFill>
            </a:endParaRPr>
          </a:p>
        </p:txBody>
      </p:sp>
      <p:sp>
        <p:nvSpPr>
          <p:cNvPr id="17" name="Arc 16">
            <a:extLst>
              <a:ext uri="{FF2B5EF4-FFF2-40B4-BE49-F238E27FC236}">
                <a16:creationId xmlns:a16="http://schemas.microsoft.com/office/drawing/2014/main" id="{9C7CA084-A15D-31C6-C3B1-1B7461851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F3484BC6-BDBD-D3BA-7457-0273AF3E63CF}"/>
              </a:ext>
            </a:extLst>
          </p:cNvPr>
          <p:cNvSpPr>
            <a:spLocks noGrp="1"/>
          </p:cNvSpPr>
          <p:nvPr>
            <p:ph idx="1"/>
          </p:nvPr>
        </p:nvSpPr>
        <p:spPr>
          <a:xfrm>
            <a:off x="4447308" y="591344"/>
            <a:ext cx="6906491" cy="5585619"/>
          </a:xfrm>
        </p:spPr>
        <p:txBody>
          <a:bodyPr anchor="ctr">
            <a:normAutofit lnSpcReduction="10000"/>
          </a:bodyPr>
          <a:lstStyle/>
          <a:p>
            <a:r>
              <a:rPr lang="en-GB" b="1" dirty="0"/>
              <a:t>Step 2: Sentiment Analysis Model</a:t>
            </a:r>
          </a:p>
          <a:p>
            <a:r>
              <a:rPr lang="en-GB" dirty="0"/>
              <a:t>Now, we analyse the sentiment based on the processed text.</a:t>
            </a:r>
          </a:p>
          <a:p>
            <a:pPr>
              <a:buFont typeface="+mj-lt"/>
              <a:buAutoNum type="arabicPeriod"/>
            </a:pPr>
            <a:r>
              <a:rPr lang="en-GB" b="1" dirty="0"/>
              <a:t>Word-Level Sentiment Scoring</a:t>
            </a:r>
            <a:r>
              <a:rPr lang="en-GB" dirty="0"/>
              <a:t>:</a:t>
            </a:r>
          </a:p>
          <a:p>
            <a:pPr marL="742950" lvl="1" indent="-285750">
              <a:buFont typeface="+mj-lt"/>
              <a:buAutoNum type="arabicPeriod"/>
            </a:pPr>
            <a:r>
              <a:rPr lang="en-GB" dirty="0"/>
              <a:t>Each important word is assigned a sentiment score based on the model’s trained knowledge:</a:t>
            </a:r>
          </a:p>
          <a:p>
            <a:pPr marL="1143000" lvl="2" indent="-228600">
              <a:buFont typeface="+mj-lt"/>
              <a:buAutoNum type="arabicPeriod"/>
            </a:pPr>
            <a:r>
              <a:rPr lang="en-GB" dirty="0"/>
              <a:t>"fantastic" → Strongly Positive (+2.0)</a:t>
            </a:r>
          </a:p>
          <a:p>
            <a:pPr marL="1143000" lvl="2" indent="-228600">
              <a:buFont typeface="+mj-lt"/>
              <a:buAutoNum type="arabicPeriod"/>
            </a:pPr>
            <a:r>
              <a:rPr lang="en-GB" dirty="0"/>
              <a:t>"disappointing" → Strongly Negative (-1.5)</a:t>
            </a:r>
          </a:p>
          <a:p>
            <a:pPr>
              <a:buFont typeface="+mj-lt"/>
              <a:buAutoNum type="arabicPeriod"/>
            </a:pPr>
            <a:r>
              <a:rPr lang="en-GB" b="1" dirty="0"/>
              <a:t>Combining Sentiments</a:t>
            </a:r>
            <a:r>
              <a:rPr lang="en-GB" dirty="0"/>
              <a:t>:</a:t>
            </a:r>
          </a:p>
          <a:p>
            <a:pPr marL="742950" lvl="1" indent="-285750">
              <a:buFont typeface="+mj-lt"/>
              <a:buAutoNum type="arabicPeriod"/>
            </a:pPr>
            <a:r>
              <a:rPr lang="en-GB" dirty="0"/>
              <a:t>Add up the scores for the words:</a:t>
            </a:r>
          </a:p>
          <a:p>
            <a:pPr marL="1143000" lvl="2" indent="-228600">
              <a:buFont typeface="+mj-lt"/>
              <a:buAutoNum type="arabicPeriod"/>
            </a:pPr>
            <a:r>
              <a:rPr lang="en-GB" dirty="0"/>
              <a:t>Positive score: "fantastic" → +2.0</a:t>
            </a:r>
          </a:p>
          <a:p>
            <a:pPr marL="1143000" lvl="2" indent="-228600">
              <a:buFont typeface="+mj-lt"/>
              <a:buAutoNum type="arabicPeriod"/>
            </a:pPr>
            <a:r>
              <a:rPr lang="en-GB" dirty="0"/>
              <a:t>Negative score: "disappointing" → -1.5</a:t>
            </a:r>
          </a:p>
          <a:p>
            <a:pPr marL="742950" lvl="1" indent="-285750">
              <a:buFont typeface="+mj-lt"/>
              <a:buAutoNum type="arabicPeriod"/>
            </a:pPr>
            <a:r>
              <a:rPr lang="en-GB" dirty="0"/>
              <a:t>Net score = +2.0 - 1.5 = +0.5 (positive sentiment dominates).</a:t>
            </a:r>
          </a:p>
        </p:txBody>
      </p:sp>
    </p:spTree>
    <p:extLst>
      <p:ext uri="{BB962C8B-B14F-4D97-AF65-F5344CB8AC3E}">
        <p14:creationId xmlns:p14="http://schemas.microsoft.com/office/powerpoint/2010/main" val="4649249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782B80-EE0E-1B6F-B9BA-4B62974487A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5CC1CD9-3E14-E258-CF5C-4B9C73806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86CEB27-CE6A-23F9-6413-8671D629A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029738-0E1B-9BEA-B574-2211D48C4E79}"/>
              </a:ext>
            </a:extLst>
          </p:cNvPr>
          <p:cNvSpPr>
            <a:spLocks noGrp="1"/>
          </p:cNvSpPr>
          <p:nvPr>
            <p:ph type="title"/>
          </p:nvPr>
        </p:nvSpPr>
        <p:spPr>
          <a:xfrm>
            <a:off x="686834" y="1153572"/>
            <a:ext cx="3200400" cy="4461163"/>
          </a:xfrm>
        </p:spPr>
        <p:txBody>
          <a:bodyPr>
            <a:normAutofit/>
          </a:bodyPr>
          <a:lstStyle/>
          <a:p>
            <a:r>
              <a:rPr lang="en-GB" b="1" dirty="0">
                <a:solidFill>
                  <a:srgbClr val="FFFFFF"/>
                </a:solidFill>
              </a:rPr>
              <a:t>Explanation</a:t>
            </a:r>
            <a:br>
              <a:rPr lang="en-GB" b="1" dirty="0">
                <a:solidFill>
                  <a:srgbClr val="FFFFFF"/>
                </a:solidFill>
              </a:rPr>
            </a:br>
            <a:r>
              <a:rPr lang="en-GB" b="1" dirty="0">
                <a:solidFill>
                  <a:srgbClr val="FFFFFF"/>
                </a:solidFill>
              </a:rPr>
              <a:t>Continue </a:t>
            </a:r>
            <a:endParaRPr lang="en-PK" b="1" dirty="0">
              <a:solidFill>
                <a:srgbClr val="FFFFFF"/>
              </a:solidFill>
            </a:endParaRPr>
          </a:p>
        </p:txBody>
      </p:sp>
      <p:sp>
        <p:nvSpPr>
          <p:cNvPr id="17" name="Arc 16">
            <a:extLst>
              <a:ext uri="{FF2B5EF4-FFF2-40B4-BE49-F238E27FC236}">
                <a16:creationId xmlns:a16="http://schemas.microsoft.com/office/drawing/2014/main" id="{BAFFBA76-CEED-1500-9E7A-56E554A43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2">
            <a:extLst>
              <a:ext uri="{FF2B5EF4-FFF2-40B4-BE49-F238E27FC236}">
                <a16:creationId xmlns:a16="http://schemas.microsoft.com/office/drawing/2014/main" id="{26885F47-BE7E-E832-2724-198BFF932B31}"/>
              </a:ext>
            </a:extLst>
          </p:cNvPr>
          <p:cNvSpPr>
            <a:spLocks noGrp="1" noChangeArrowheads="1"/>
          </p:cNvSpPr>
          <p:nvPr>
            <p:ph idx="1"/>
          </p:nvPr>
        </p:nvSpPr>
        <p:spPr bwMode="auto">
          <a:xfrm>
            <a:off x="4446588" y="614562"/>
            <a:ext cx="7058578"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kumimoji="0" lang="en-GB" altLang="en-PK" sz="2400" b="1" i="0" u="none" strike="noStrike" cap="none" normalizeH="0" baseline="0" dirty="0">
                <a:ln>
                  <a:noFill/>
                </a:ln>
                <a:solidFill>
                  <a:schemeClr val="tx1"/>
                </a:solidFill>
                <a:effectLst/>
                <a:latin typeface="Arial" panose="020B0604020202020204" pitchFamily="34" charset="0"/>
              </a:rPr>
              <a:t>3. </a:t>
            </a:r>
            <a:r>
              <a:rPr kumimoji="0" lang="en-PK" altLang="en-PK" sz="2400" b="1" i="0" u="none" strike="noStrike" cap="none" normalizeH="0" baseline="0" dirty="0">
                <a:ln>
                  <a:noFill/>
                </a:ln>
                <a:solidFill>
                  <a:schemeClr val="tx1"/>
                </a:solidFill>
                <a:effectLst/>
                <a:latin typeface="Arial" panose="020B0604020202020204" pitchFamily="34" charset="0"/>
              </a:rPr>
              <a:t>Context Analysis</a:t>
            </a:r>
            <a:r>
              <a:rPr kumimoji="0" lang="en-PK" altLang="en-PK" sz="24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n-PK" altLang="en-PK" sz="2400" b="0" i="0" u="none" strike="noStrike" cap="none" normalizeH="0" baseline="0" dirty="0">
                <a:ln>
                  <a:noFill/>
                </a:ln>
                <a:solidFill>
                  <a:schemeClr val="tx1"/>
                </a:solidFill>
                <a:effectLst/>
                <a:latin typeface="Arial" panose="020B0604020202020204" pitchFamily="34" charset="0"/>
              </a:rPr>
              <a:t>The word "but" indicates a contrast. It suggests the negative sentiment ("disappointing") applies only to the ending, not the entire movie.</a:t>
            </a:r>
          </a:p>
          <a:p>
            <a:pPr eaLnBrk="0" fontAlgn="base" hangingPunct="0">
              <a:lnSpc>
                <a:spcPct val="100000"/>
              </a:lnSpc>
              <a:spcBef>
                <a:spcPct val="0"/>
              </a:spcBef>
              <a:spcAft>
                <a:spcPct val="0"/>
              </a:spcAft>
            </a:pPr>
            <a:r>
              <a:rPr kumimoji="0" lang="en-PK" altLang="en-PK" sz="2400" b="0" i="0" u="none" strike="noStrike" cap="none" normalizeH="0" baseline="0" dirty="0">
                <a:ln>
                  <a:noFill/>
                </a:ln>
                <a:solidFill>
                  <a:schemeClr val="tx1"/>
                </a:solidFill>
                <a:effectLst/>
                <a:latin typeface="Arial" panose="020B0604020202020204" pitchFamily="34" charset="0"/>
              </a:rPr>
              <a:t>The positive word "fantastic" strongly impacts the overall sentiment because it describes the movie as a whole.</a:t>
            </a:r>
          </a:p>
          <a:p>
            <a:pPr marL="0" indent="0" eaLnBrk="0" fontAlgn="base" hangingPunct="0">
              <a:lnSpc>
                <a:spcPct val="100000"/>
              </a:lnSpc>
              <a:spcBef>
                <a:spcPct val="0"/>
              </a:spcBef>
              <a:spcAft>
                <a:spcPct val="0"/>
              </a:spcAft>
              <a:buNone/>
            </a:pPr>
            <a:r>
              <a:rPr kumimoji="0" lang="en-GB" altLang="en-PK" sz="2400" b="1" i="0" u="none" strike="noStrike" cap="none" normalizeH="0" baseline="0" dirty="0">
                <a:ln>
                  <a:noFill/>
                </a:ln>
                <a:solidFill>
                  <a:schemeClr val="tx1"/>
                </a:solidFill>
                <a:effectLst/>
                <a:latin typeface="Arial" panose="020B0604020202020204" pitchFamily="34" charset="0"/>
              </a:rPr>
              <a:t>4. </a:t>
            </a:r>
            <a:r>
              <a:rPr kumimoji="0" lang="en-PK" altLang="en-PK" sz="2400" b="1" i="0" u="none" strike="noStrike" cap="none" normalizeH="0" baseline="0" dirty="0">
                <a:ln>
                  <a:noFill/>
                </a:ln>
                <a:solidFill>
                  <a:schemeClr val="tx1"/>
                </a:solidFill>
                <a:effectLst/>
                <a:latin typeface="Arial" panose="020B0604020202020204" pitchFamily="34" charset="0"/>
              </a:rPr>
              <a:t>Classification</a:t>
            </a:r>
            <a:r>
              <a:rPr kumimoji="0" lang="en-PK" altLang="en-PK" sz="24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n-PK" altLang="en-PK" sz="2400" b="0" i="0" u="none" strike="noStrike" cap="none" normalizeH="0" baseline="0" dirty="0">
                <a:ln>
                  <a:noFill/>
                </a:ln>
                <a:solidFill>
                  <a:schemeClr val="tx1"/>
                </a:solidFill>
                <a:effectLst/>
                <a:latin typeface="Arial" panose="020B0604020202020204" pitchFamily="34" charset="0"/>
              </a:rPr>
              <a:t>The sentiment analysis model uses a threshold to classify the overall sentiment:</a:t>
            </a:r>
          </a:p>
          <a:p>
            <a:pPr lvl="1" eaLnBrk="0" fontAlgn="base" hangingPunct="0">
              <a:lnSpc>
                <a:spcPct val="100000"/>
              </a:lnSpc>
              <a:spcBef>
                <a:spcPct val="0"/>
              </a:spcBef>
              <a:spcAft>
                <a:spcPct val="0"/>
              </a:spcAft>
            </a:pPr>
            <a:r>
              <a:rPr kumimoji="0" lang="en-PK" altLang="en-PK" b="0" i="0" u="none" strike="noStrike" cap="none" normalizeH="0" baseline="0" dirty="0">
                <a:ln>
                  <a:noFill/>
                </a:ln>
                <a:solidFill>
                  <a:schemeClr val="tx1"/>
                </a:solidFill>
                <a:effectLst/>
                <a:latin typeface="Arial" panose="020B0604020202020204" pitchFamily="34" charset="0"/>
              </a:rPr>
              <a:t>If the score is above 0, it’s </a:t>
            </a:r>
            <a:r>
              <a:rPr kumimoji="0" lang="en-PK" altLang="en-PK" b="1" i="0" u="none" strike="noStrike" cap="none" normalizeH="0" baseline="0" dirty="0">
                <a:ln>
                  <a:noFill/>
                </a:ln>
                <a:solidFill>
                  <a:schemeClr val="tx1"/>
                </a:solidFill>
                <a:effectLst/>
                <a:latin typeface="Arial" panose="020B0604020202020204" pitchFamily="34" charset="0"/>
              </a:rPr>
              <a:t>positive</a:t>
            </a:r>
            <a:r>
              <a:rPr kumimoji="0" lang="en-PK" altLang="en-PK"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n-PK" altLang="en-PK" b="0" i="0" u="none" strike="noStrike" cap="none" normalizeH="0" baseline="0" dirty="0">
                <a:ln>
                  <a:noFill/>
                </a:ln>
                <a:solidFill>
                  <a:schemeClr val="tx1"/>
                </a:solidFill>
                <a:effectLst/>
                <a:latin typeface="Arial" panose="020B0604020202020204" pitchFamily="34" charset="0"/>
              </a:rPr>
              <a:t>If the score is below 0, it’s </a:t>
            </a:r>
            <a:r>
              <a:rPr kumimoji="0" lang="en-PK" altLang="en-PK" b="1" i="0" u="none" strike="noStrike" cap="none" normalizeH="0" baseline="0" dirty="0">
                <a:ln>
                  <a:noFill/>
                </a:ln>
                <a:solidFill>
                  <a:schemeClr val="tx1"/>
                </a:solidFill>
                <a:effectLst/>
                <a:latin typeface="Arial" panose="020B0604020202020204" pitchFamily="34" charset="0"/>
              </a:rPr>
              <a:t>negative</a:t>
            </a:r>
            <a:r>
              <a:rPr kumimoji="0" lang="en-PK" altLang="en-PK"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n-PK" altLang="en-PK" sz="2400" b="0" i="0" u="none" strike="noStrike" cap="none" normalizeH="0" baseline="0" dirty="0">
                <a:ln>
                  <a:noFill/>
                </a:ln>
                <a:solidFill>
                  <a:schemeClr val="tx1"/>
                </a:solidFill>
                <a:effectLst/>
                <a:latin typeface="Arial" panose="020B0604020202020204" pitchFamily="34" charset="0"/>
              </a:rPr>
              <a:t>Since the net score is +0.5, the sentence is classified as </a:t>
            </a:r>
            <a:r>
              <a:rPr kumimoji="0" lang="en-PK" altLang="en-PK" sz="2400" b="1" i="0" u="none" strike="noStrike" cap="none" normalizeH="0" baseline="0" dirty="0">
                <a:ln>
                  <a:noFill/>
                </a:ln>
                <a:solidFill>
                  <a:schemeClr val="tx1"/>
                </a:solidFill>
                <a:effectLst/>
                <a:latin typeface="Arial" panose="020B0604020202020204" pitchFamily="34" charset="0"/>
              </a:rPr>
              <a:t>positive</a:t>
            </a:r>
            <a:r>
              <a:rPr kumimoji="0" lang="en-PK" altLang="en-PK"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65879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EB65F0-173F-8030-0F13-C0B1C6C7A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7F041-166C-95D5-299A-3427231452E1}"/>
              </a:ext>
            </a:extLst>
          </p:cNvPr>
          <p:cNvSpPr>
            <a:spLocks noGrp="1"/>
          </p:cNvSpPr>
          <p:nvPr>
            <p:ph type="title"/>
          </p:nvPr>
        </p:nvSpPr>
        <p:spPr>
          <a:xfrm>
            <a:off x="5868557" y="1138036"/>
            <a:ext cx="5444382" cy="1402470"/>
          </a:xfrm>
        </p:spPr>
        <p:txBody>
          <a:bodyPr anchor="t">
            <a:normAutofit/>
          </a:bodyPr>
          <a:lstStyle/>
          <a:p>
            <a:r>
              <a:rPr lang="it-IT" sz="3200" b="1"/>
              <a:t>Why is it Positive?</a:t>
            </a:r>
            <a:endParaRPr lang="en-PK" sz="3200" b="1"/>
          </a:p>
        </p:txBody>
      </p:sp>
      <p:pic>
        <p:nvPicPr>
          <p:cNvPr id="19" name="Picture 18">
            <a:extLst>
              <a:ext uri="{FF2B5EF4-FFF2-40B4-BE49-F238E27FC236}">
                <a16:creationId xmlns:a16="http://schemas.microsoft.com/office/drawing/2014/main" id="{9918BDD7-7149-9652-5E0B-C2B73714DC15}"/>
              </a:ext>
            </a:extLst>
          </p:cNvPr>
          <p:cNvPicPr>
            <a:picLocks noChangeAspect="1"/>
          </p:cNvPicPr>
          <p:nvPr/>
        </p:nvPicPr>
        <p:blipFill>
          <a:blip r:embed="rId2"/>
          <a:srcRect l="4846" r="52904"/>
          <a:stretch/>
        </p:blipFill>
        <p:spPr>
          <a:xfrm>
            <a:off x="-1" y="10"/>
            <a:ext cx="5151179" cy="6857990"/>
          </a:xfrm>
          <a:prstGeom prst="rect">
            <a:avLst/>
          </a:prstGeom>
        </p:spPr>
      </p:pic>
      <p:cxnSp>
        <p:nvCxnSpPr>
          <p:cNvPr id="23" name="Straight Connector 2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5825A404-343B-CD04-689A-BCAE951DD2AE}"/>
              </a:ext>
            </a:extLst>
          </p:cNvPr>
          <p:cNvSpPr>
            <a:spLocks noGrp="1"/>
          </p:cNvSpPr>
          <p:nvPr>
            <p:ph idx="1"/>
          </p:nvPr>
        </p:nvSpPr>
        <p:spPr>
          <a:xfrm>
            <a:off x="5380892" y="2016370"/>
            <a:ext cx="6588369" cy="4126014"/>
          </a:xfrm>
        </p:spPr>
        <p:txBody>
          <a:bodyPr>
            <a:normAutofit/>
          </a:bodyPr>
          <a:lstStyle/>
          <a:p>
            <a:pPr algn="just"/>
            <a:r>
              <a:rPr lang="en-GB" dirty="0"/>
              <a:t>The positive sentiment ("fantastic") about the movie as a whole outweighs the negative sentiment ("disappointing") about the ending.</a:t>
            </a:r>
          </a:p>
          <a:p>
            <a:pPr algn="just"/>
            <a:r>
              <a:rPr lang="en-GB" dirty="0"/>
              <a:t>Words like "fantastic" carry a stronger weight in sentiment analysis, especially when they refer to the broader context of the sentence (the movie overall).</a:t>
            </a:r>
          </a:p>
        </p:txBody>
      </p:sp>
    </p:spTree>
    <p:extLst>
      <p:ext uri="{BB962C8B-B14F-4D97-AF65-F5344CB8AC3E}">
        <p14:creationId xmlns:p14="http://schemas.microsoft.com/office/powerpoint/2010/main" val="39771296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A09B-DE66-4F93-21C4-ACBD92F9F984}"/>
              </a:ext>
            </a:extLst>
          </p:cNvPr>
          <p:cNvSpPr>
            <a:spLocks noGrp="1"/>
          </p:cNvSpPr>
          <p:nvPr>
            <p:ph type="title"/>
          </p:nvPr>
        </p:nvSpPr>
        <p:spPr/>
        <p:txBody>
          <a:bodyPr/>
          <a:lstStyle/>
          <a:p>
            <a:r>
              <a:rPr lang="it-IT" b="1" dirty="0"/>
              <a:t>Key Applications of NLP</a:t>
            </a:r>
            <a:endParaRPr lang="en-PK" b="1" dirty="0"/>
          </a:p>
        </p:txBody>
      </p:sp>
      <p:graphicFrame>
        <p:nvGraphicFramePr>
          <p:cNvPr id="5" name="Content Placeholder 2">
            <a:extLst>
              <a:ext uri="{FF2B5EF4-FFF2-40B4-BE49-F238E27FC236}">
                <a16:creationId xmlns:a16="http://schemas.microsoft.com/office/drawing/2014/main" id="{B87A80C1-77A0-90EE-5D4B-3297A840EDE1}"/>
              </a:ext>
            </a:extLst>
          </p:cNvPr>
          <p:cNvGraphicFramePr>
            <a:graphicFrameLocks noGrp="1"/>
          </p:cNvGraphicFramePr>
          <p:nvPr>
            <p:ph idx="1"/>
            <p:extLst>
              <p:ext uri="{D42A27DB-BD31-4B8C-83A1-F6EECF244321}">
                <p14:modId xmlns:p14="http://schemas.microsoft.com/office/powerpoint/2010/main" val="2239057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450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2FD6-FB5D-5FC3-1FF0-1CE7951E682D}"/>
              </a:ext>
            </a:extLst>
          </p:cNvPr>
          <p:cNvSpPr>
            <a:spLocks noGrp="1"/>
          </p:cNvSpPr>
          <p:nvPr>
            <p:ph type="title"/>
          </p:nvPr>
        </p:nvSpPr>
        <p:spPr/>
        <p:txBody>
          <a:bodyPr>
            <a:normAutofit/>
          </a:bodyPr>
          <a:lstStyle/>
          <a:p>
            <a:r>
              <a:rPr lang="it-IT" b="1" dirty="0"/>
              <a:t>Challenges in NLP</a:t>
            </a:r>
            <a:endParaRPr lang="en-PK" b="1" dirty="0"/>
          </a:p>
        </p:txBody>
      </p:sp>
      <p:graphicFrame>
        <p:nvGraphicFramePr>
          <p:cNvPr id="7" name="Content Placeholder 4">
            <a:extLst>
              <a:ext uri="{FF2B5EF4-FFF2-40B4-BE49-F238E27FC236}">
                <a16:creationId xmlns:a16="http://schemas.microsoft.com/office/drawing/2014/main" id="{B004D3B5-286F-384B-CF69-2519FD23990A}"/>
              </a:ext>
            </a:extLst>
          </p:cNvPr>
          <p:cNvGraphicFramePr>
            <a:graphicFrameLocks noGrp="1"/>
          </p:cNvGraphicFramePr>
          <p:nvPr>
            <p:ph idx="1"/>
          </p:nvPr>
        </p:nvGraphicFramePr>
        <p:xfrm>
          <a:off x="838200" y="1470454"/>
          <a:ext cx="10515600" cy="47065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7168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1124</TotalTime>
  <Words>3875</Words>
  <Application>Microsoft Office PowerPoint</Application>
  <PresentationFormat>Widescreen</PresentationFormat>
  <Paragraphs>525</Paragraphs>
  <Slides>59</Slides>
  <Notes>12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59</vt:i4>
      </vt:variant>
    </vt:vector>
  </HeadingPairs>
  <TitlesOfParts>
    <vt:vector size="69" baseType="lpstr">
      <vt:lpstr>Aptos</vt:lpstr>
      <vt:lpstr>Aptos Display</vt:lpstr>
      <vt:lpstr>Arial</vt:lpstr>
      <vt:lpstr>Avenir Next LT Pro</vt:lpstr>
      <vt:lpstr>Calibri</vt:lpstr>
      <vt:lpstr>Nunito</vt:lpstr>
      <vt:lpstr>Wingdings</vt:lpstr>
      <vt:lpstr>Office Theme</vt:lpstr>
      <vt:lpstr>1_Office Theme</vt:lpstr>
      <vt:lpstr>2_Office Theme</vt:lpstr>
      <vt:lpstr>Artificial Intelligence CS-202</vt:lpstr>
      <vt:lpstr>Week-12 CLO’s</vt:lpstr>
      <vt:lpstr>PowerPoint Presentation</vt:lpstr>
      <vt:lpstr>Natural Language Processing (NLP)</vt:lpstr>
      <vt:lpstr>Components of NLP</vt:lpstr>
      <vt:lpstr>Components of NLP</vt:lpstr>
      <vt:lpstr>Components of NLP</vt:lpstr>
      <vt:lpstr>Components of NLP</vt:lpstr>
      <vt:lpstr>Syntax and Semantics in NLP</vt:lpstr>
      <vt:lpstr>Components of NLP</vt:lpstr>
      <vt:lpstr>Components of NLP</vt:lpstr>
      <vt:lpstr>PowerPoint Presentation</vt:lpstr>
      <vt:lpstr>NLP Applications and Techniques </vt:lpstr>
      <vt:lpstr>NLP Techniques and Methods</vt:lpstr>
      <vt:lpstr>NLP Techniques and Methods</vt:lpstr>
      <vt:lpstr>Text Processing and Preprocessing</vt:lpstr>
      <vt:lpstr>Text Processing and Preprocessing</vt:lpstr>
      <vt:lpstr>Text Processing and Preprocessing</vt:lpstr>
      <vt:lpstr>Text Processing and Preprocessing</vt:lpstr>
      <vt:lpstr>Techniques used for Tokenization</vt:lpstr>
      <vt:lpstr>Limitations of Tokenization</vt:lpstr>
      <vt:lpstr>Stemming and Lemmatization</vt:lpstr>
      <vt:lpstr>Stemming </vt:lpstr>
      <vt:lpstr>Stemming </vt:lpstr>
      <vt:lpstr>Lemmatization</vt:lpstr>
      <vt:lpstr>Lemmatization</vt:lpstr>
      <vt:lpstr>Stop word removal</vt:lpstr>
      <vt:lpstr>Types of Stop Words</vt:lpstr>
      <vt:lpstr>Types of Stop Words</vt:lpstr>
      <vt:lpstr>Text Normalization</vt:lpstr>
      <vt:lpstr>PowerPoint Presentation</vt:lpstr>
      <vt:lpstr>Example</vt:lpstr>
      <vt:lpstr>Syntax and Parsing</vt:lpstr>
      <vt:lpstr>Syntax and Parsing</vt:lpstr>
      <vt:lpstr>POS Tagging</vt:lpstr>
      <vt:lpstr>PowerPoint Presentation</vt:lpstr>
      <vt:lpstr>Common POS Tags</vt:lpstr>
      <vt:lpstr>Example</vt:lpstr>
      <vt:lpstr>Working Example of POS Tagging</vt:lpstr>
      <vt:lpstr>Cont.…</vt:lpstr>
      <vt:lpstr>Cont.…</vt:lpstr>
      <vt:lpstr> Semantic Analysis</vt:lpstr>
      <vt:lpstr>Named Entity Recognition (NER) Applications</vt:lpstr>
      <vt:lpstr>Example of NER</vt:lpstr>
      <vt:lpstr>How NER Works?</vt:lpstr>
      <vt:lpstr>NER Techniques</vt:lpstr>
      <vt:lpstr>Working of NLP</vt:lpstr>
      <vt:lpstr>Working of NLP</vt:lpstr>
      <vt:lpstr>Working of NLP</vt:lpstr>
      <vt:lpstr>Working of NLP</vt:lpstr>
      <vt:lpstr>Working of NLP</vt:lpstr>
      <vt:lpstr>Sentiment Analysis in NLP</vt:lpstr>
      <vt:lpstr>Sentiment Analysis Flow-Chart</vt:lpstr>
      <vt:lpstr>Example of NLP &amp; its Explanation</vt:lpstr>
      <vt:lpstr>Explanation Continue </vt:lpstr>
      <vt:lpstr>Explanation Continue </vt:lpstr>
      <vt:lpstr>Why is it Positive?</vt:lpstr>
      <vt:lpstr>Key Applications of NLP</vt:lpstr>
      <vt:lpstr>Challenges in NLP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192</cp:revision>
  <dcterms:created xsi:type="dcterms:W3CDTF">2024-12-10T05:09:36Z</dcterms:created>
  <dcterms:modified xsi:type="dcterms:W3CDTF">2026-01-28T05:10:41Z</dcterms:modified>
</cp:coreProperties>
</file>