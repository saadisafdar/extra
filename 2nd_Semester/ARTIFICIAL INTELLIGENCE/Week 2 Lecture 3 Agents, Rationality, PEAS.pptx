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806" r:id="rId3"/>
    <p:sldId id="789" r:id="rId4"/>
    <p:sldId id="815" r:id="rId5"/>
    <p:sldId id="257" r:id="rId6"/>
    <p:sldId id="258" r:id="rId7"/>
    <p:sldId id="790" r:id="rId8"/>
    <p:sldId id="791" r:id="rId9"/>
    <p:sldId id="792" r:id="rId10"/>
    <p:sldId id="776" r:id="rId11"/>
    <p:sldId id="793" r:id="rId12"/>
    <p:sldId id="801" r:id="rId13"/>
    <p:sldId id="807" r:id="rId14"/>
    <p:sldId id="808" r:id="rId15"/>
    <p:sldId id="309" r:id="rId16"/>
    <p:sldId id="319" r:id="rId17"/>
    <p:sldId id="813" r:id="rId18"/>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523" autoAdjust="0"/>
  </p:normalViewPr>
  <p:slideViewPr>
    <p:cSldViewPr snapToGrid="0">
      <p:cViewPr varScale="1">
        <p:scale>
          <a:sx n="66" d="100"/>
          <a:sy n="66" d="100"/>
        </p:scale>
        <p:origin x="130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7B301F5-07A3-4FE4-976C-CA4952C4C1A1}" type="doc">
      <dgm:prSet loTypeId="urn:microsoft.com/office/officeart/2005/8/layout/vList2" loCatId="list" qsTypeId="urn:microsoft.com/office/officeart/2005/8/quickstyle/simple5" qsCatId="simple" csTypeId="urn:microsoft.com/office/officeart/2005/8/colors/accent3_2" csCatId="accent3" phldr="1"/>
      <dgm:spPr/>
      <dgm:t>
        <a:bodyPr/>
        <a:lstStyle/>
        <a:p>
          <a:endParaRPr lang="en-US"/>
        </a:p>
      </dgm:t>
    </dgm:pt>
    <dgm:pt modelId="{003EBE85-61C3-4A8C-B096-20383EA35C46}">
      <dgm:prSet custT="1"/>
      <dgm:spPr/>
      <dgm:t>
        <a:bodyPr/>
        <a:lstStyle/>
        <a:p>
          <a:r>
            <a:rPr lang="en-US" sz="3600" dirty="0"/>
            <a:t>This week lecture will cover the following CLO:</a:t>
          </a:r>
        </a:p>
      </dgm:t>
    </dgm:pt>
    <dgm:pt modelId="{CA4AA996-65FD-4B8F-BBE0-A906A9E5220E}" type="parTrans" cxnId="{BCEEB6D3-EFBE-4684-AF7C-3A02210BE3D9}">
      <dgm:prSet/>
      <dgm:spPr/>
      <dgm:t>
        <a:bodyPr/>
        <a:lstStyle/>
        <a:p>
          <a:endParaRPr lang="en-US"/>
        </a:p>
      </dgm:t>
    </dgm:pt>
    <dgm:pt modelId="{793489B5-9C5E-4E77-A6F3-2F6B2B3AEB5A}" type="sibTrans" cxnId="{BCEEB6D3-EFBE-4684-AF7C-3A02210BE3D9}">
      <dgm:prSet/>
      <dgm:spPr/>
      <dgm:t>
        <a:bodyPr/>
        <a:lstStyle/>
        <a:p>
          <a:endParaRPr lang="en-US"/>
        </a:p>
      </dgm:t>
    </dgm:pt>
    <dgm:pt modelId="{0F6BED61-37A6-4265-9765-7643A715CD2C}">
      <dgm:prSet custT="1"/>
      <dgm:spPr/>
      <dgm:t>
        <a:bodyPr/>
        <a:lstStyle/>
        <a:p>
          <a:r>
            <a:rPr lang="en-US" sz="3600" b="1" dirty="0"/>
            <a:t>CLO1: </a:t>
          </a:r>
          <a:r>
            <a:rPr lang="en-US" sz="3600" b="0" dirty="0"/>
            <a:t>Discuss the key concepts in the field of artificial intelligence</a:t>
          </a:r>
          <a:endParaRPr lang="en-US" sz="3600" dirty="0"/>
        </a:p>
      </dgm:t>
    </dgm:pt>
    <dgm:pt modelId="{CE80463D-0B4E-4616-A7D3-FCA563D7C095}" type="parTrans" cxnId="{D4C01C85-8389-4770-954C-640B9194FA32}">
      <dgm:prSet/>
      <dgm:spPr/>
      <dgm:t>
        <a:bodyPr/>
        <a:lstStyle/>
        <a:p>
          <a:endParaRPr lang="en-US"/>
        </a:p>
      </dgm:t>
    </dgm:pt>
    <dgm:pt modelId="{991B6CDF-473C-43F2-B07A-CB69C404667A}" type="sibTrans" cxnId="{D4C01C85-8389-4770-954C-640B9194FA32}">
      <dgm:prSet/>
      <dgm:spPr/>
      <dgm:t>
        <a:bodyPr/>
        <a:lstStyle/>
        <a:p>
          <a:endParaRPr lang="en-US"/>
        </a:p>
      </dgm:t>
    </dgm:pt>
    <dgm:pt modelId="{F9773ADB-65A0-4122-9146-C30535DCAED0}" type="pres">
      <dgm:prSet presAssocID="{87B301F5-07A3-4FE4-976C-CA4952C4C1A1}" presName="linear" presStyleCnt="0">
        <dgm:presLayoutVars>
          <dgm:animLvl val="lvl"/>
          <dgm:resizeHandles val="exact"/>
        </dgm:presLayoutVars>
      </dgm:prSet>
      <dgm:spPr/>
    </dgm:pt>
    <dgm:pt modelId="{FD6F28A7-EA2E-49FE-BEE8-5D08C9AC6A17}" type="pres">
      <dgm:prSet presAssocID="{003EBE85-61C3-4A8C-B096-20383EA35C46}" presName="parentText" presStyleLbl="node1" presStyleIdx="0" presStyleCnt="1">
        <dgm:presLayoutVars>
          <dgm:chMax val="0"/>
          <dgm:bulletEnabled val="1"/>
        </dgm:presLayoutVars>
      </dgm:prSet>
      <dgm:spPr/>
    </dgm:pt>
    <dgm:pt modelId="{D57C8BCC-FCAB-4DF2-9180-109EED5620B6}" type="pres">
      <dgm:prSet presAssocID="{003EBE85-61C3-4A8C-B096-20383EA35C46}" presName="childText" presStyleLbl="revTx" presStyleIdx="0" presStyleCnt="1">
        <dgm:presLayoutVars>
          <dgm:bulletEnabled val="1"/>
        </dgm:presLayoutVars>
      </dgm:prSet>
      <dgm:spPr/>
    </dgm:pt>
  </dgm:ptLst>
  <dgm:cxnLst>
    <dgm:cxn modelId="{4C1C802A-06A3-4BA7-B183-918CE18CAE78}" type="presOf" srcId="{003EBE85-61C3-4A8C-B096-20383EA35C46}" destId="{FD6F28A7-EA2E-49FE-BEE8-5D08C9AC6A17}" srcOrd="0" destOrd="0" presId="urn:microsoft.com/office/officeart/2005/8/layout/vList2"/>
    <dgm:cxn modelId="{D4C01C85-8389-4770-954C-640B9194FA32}" srcId="{003EBE85-61C3-4A8C-B096-20383EA35C46}" destId="{0F6BED61-37A6-4265-9765-7643A715CD2C}" srcOrd="0" destOrd="0" parTransId="{CE80463D-0B4E-4616-A7D3-FCA563D7C095}" sibTransId="{991B6CDF-473C-43F2-B07A-CB69C404667A}"/>
    <dgm:cxn modelId="{D899E5CE-3E1F-4050-88D9-8ECE98DEA856}" type="presOf" srcId="{87B301F5-07A3-4FE4-976C-CA4952C4C1A1}" destId="{F9773ADB-65A0-4122-9146-C30535DCAED0}" srcOrd="0" destOrd="0" presId="urn:microsoft.com/office/officeart/2005/8/layout/vList2"/>
    <dgm:cxn modelId="{A3D656D3-0DEE-4E9B-89AF-CC211F3579FC}" type="presOf" srcId="{0F6BED61-37A6-4265-9765-7643A715CD2C}" destId="{D57C8BCC-FCAB-4DF2-9180-109EED5620B6}" srcOrd="0" destOrd="0" presId="urn:microsoft.com/office/officeart/2005/8/layout/vList2"/>
    <dgm:cxn modelId="{BCEEB6D3-EFBE-4684-AF7C-3A02210BE3D9}" srcId="{87B301F5-07A3-4FE4-976C-CA4952C4C1A1}" destId="{003EBE85-61C3-4A8C-B096-20383EA35C46}" srcOrd="0" destOrd="0" parTransId="{CA4AA996-65FD-4B8F-BBE0-A906A9E5220E}" sibTransId="{793489B5-9C5E-4E77-A6F3-2F6B2B3AEB5A}"/>
    <dgm:cxn modelId="{C88976AE-EDC9-47B8-8303-9A76EF1DE1BC}" type="presParOf" srcId="{F9773ADB-65A0-4122-9146-C30535DCAED0}" destId="{FD6F28A7-EA2E-49FE-BEE8-5D08C9AC6A17}" srcOrd="0" destOrd="0" presId="urn:microsoft.com/office/officeart/2005/8/layout/vList2"/>
    <dgm:cxn modelId="{40508474-9940-4BC3-BD70-E7C1E188F164}" type="presParOf" srcId="{F9773ADB-65A0-4122-9146-C30535DCAED0}" destId="{D57C8BCC-FCAB-4DF2-9180-109EED5620B6}"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6F28A7-EA2E-49FE-BEE8-5D08C9AC6A17}">
      <dsp:nvSpPr>
        <dsp:cNvPr id="0" name=""/>
        <dsp:cNvSpPr/>
      </dsp:nvSpPr>
      <dsp:spPr>
        <a:xfrm>
          <a:off x="0" y="1243248"/>
          <a:ext cx="6401706" cy="1444949"/>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a:t>This week lecture will cover the following CLO:</a:t>
          </a:r>
        </a:p>
      </dsp:txBody>
      <dsp:txXfrm>
        <a:off x="70537" y="1313785"/>
        <a:ext cx="6260632" cy="1303875"/>
      </dsp:txXfrm>
    </dsp:sp>
    <dsp:sp modelId="{D57C8BCC-FCAB-4DF2-9180-109EED5620B6}">
      <dsp:nvSpPr>
        <dsp:cNvPr id="0" name=""/>
        <dsp:cNvSpPr/>
      </dsp:nvSpPr>
      <dsp:spPr>
        <a:xfrm>
          <a:off x="0" y="2688198"/>
          <a:ext cx="6401706" cy="1614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54" tIns="45720" rIns="256032" bIns="45720" numCol="1" spcCol="1270" anchor="t" anchorCtr="0">
          <a:noAutofit/>
        </a:bodyPr>
        <a:lstStyle/>
        <a:p>
          <a:pPr marL="285750" lvl="1" indent="-285750" algn="l" defTabSz="1600200">
            <a:lnSpc>
              <a:spcPct val="90000"/>
            </a:lnSpc>
            <a:spcBef>
              <a:spcPct val="0"/>
            </a:spcBef>
            <a:spcAft>
              <a:spcPct val="20000"/>
            </a:spcAft>
            <a:buChar char="•"/>
          </a:pPr>
          <a:r>
            <a:rPr lang="en-US" sz="3600" b="1" kern="1200" dirty="0"/>
            <a:t>CLO1: </a:t>
          </a:r>
          <a:r>
            <a:rPr lang="en-US" sz="3600" b="0" kern="1200" dirty="0"/>
            <a:t>Discuss the key concepts in the field of artificial intelligence</a:t>
          </a:r>
          <a:endParaRPr lang="en-US" sz="3600" kern="1200" dirty="0"/>
        </a:p>
      </dsp:txBody>
      <dsp:txXfrm>
        <a:off x="0" y="2688198"/>
        <a:ext cx="6401706" cy="16146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207986-D4E9-4F20-BDDF-A86C85BB79C3}" type="datetimeFigureOut">
              <a:rPr lang="en-PK" smtClean="0"/>
              <a:t>10/22/2025</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770C78-D1E4-43B4-9084-D5891F6FAD77}" type="slidenum">
              <a:rPr lang="en-PK" smtClean="0"/>
              <a:t>‹#›</a:t>
            </a:fld>
            <a:endParaRPr lang="en-PK"/>
          </a:p>
        </p:txBody>
      </p:sp>
    </p:spTree>
    <p:extLst>
      <p:ext uri="{BB962C8B-B14F-4D97-AF65-F5344CB8AC3E}">
        <p14:creationId xmlns:p14="http://schemas.microsoft.com/office/powerpoint/2010/main" val="1537802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27770C78-D1E4-43B4-9084-D5891F6FAD77}" type="slidenum">
              <a:rPr lang="en-PK" smtClean="0"/>
              <a:t>1</a:t>
            </a:fld>
            <a:endParaRPr lang="en-PK"/>
          </a:p>
        </p:txBody>
      </p:sp>
    </p:spTree>
    <p:extLst>
      <p:ext uri="{BB962C8B-B14F-4D97-AF65-F5344CB8AC3E}">
        <p14:creationId xmlns:p14="http://schemas.microsoft.com/office/powerpoint/2010/main" val="8861456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F1F1F"/>
                </a:solidFill>
                <a:effectLst/>
                <a:latin typeface="Google Sans"/>
              </a:rPr>
              <a:t>An actuator is </a:t>
            </a:r>
            <a:r>
              <a:rPr lang="en-US" b="0" i="0" dirty="0">
                <a:solidFill>
                  <a:srgbClr val="040C28"/>
                </a:solidFill>
                <a:effectLst/>
                <a:latin typeface="Google Sans"/>
              </a:rPr>
              <a:t>a part of the agent that delivers the output of action to the environment</a:t>
            </a:r>
            <a:r>
              <a:rPr lang="en-US" b="0" i="0" dirty="0">
                <a:solidFill>
                  <a:srgbClr val="1F1F1F"/>
                </a:solidFill>
                <a:effectLst/>
                <a:latin typeface="Google Sans"/>
              </a:rPr>
              <a:t>. They are responsible for executing the actions decided by the agent based on its perceptions and decisions. In essence, actuators are the “hands and feet” of the agent, enabling it to carry out tasks.</a:t>
            </a:r>
            <a:endParaRPr lang="en-US" dirty="0"/>
          </a:p>
        </p:txBody>
      </p:sp>
      <p:sp>
        <p:nvSpPr>
          <p:cNvPr id="4" name="Slide Number Placeholder 3"/>
          <p:cNvSpPr>
            <a:spLocks noGrp="1"/>
          </p:cNvSpPr>
          <p:nvPr>
            <p:ph type="sldNum" sz="quarter" idx="5"/>
          </p:nvPr>
        </p:nvSpPr>
        <p:spPr/>
        <p:txBody>
          <a:bodyPr/>
          <a:lstStyle/>
          <a:p>
            <a:fld id="{DA1FD88D-B45E-7742-B3D8-E02211A1F988}" type="slidenum">
              <a:rPr lang="en-US" smtClean="0"/>
              <a:t>5</a:t>
            </a:fld>
            <a:endParaRPr lang="en-US"/>
          </a:p>
        </p:txBody>
      </p:sp>
    </p:spTree>
    <p:extLst>
      <p:ext uri="{BB962C8B-B14F-4D97-AF65-F5344CB8AC3E}">
        <p14:creationId xmlns:p14="http://schemas.microsoft.com/office/powerpoint/2010/main" val="1345877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27770C78-D1E4-43B4-9084-D5891F6FAD77}" type="slidenum">
              <a:rPr lang="en-PK" smtClean="0"/>
              <a:t>7</a:t>
            </a:fld>
            <a:endParaRPr lang="en-PK"/>
          </a:p>
        </p:txBody>
      </p:sp>
    </p:spTree>
    <p:extLst>
      <p:ext uri="{BB962C8B-B14F-4D97-AF65-F5344CB8AC3E}">
        <p14:creationId xmlns:p14="http://schemas.microsoft.com/office/powerpoint/2010/main" val="30484032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27770C78-D1E4-43B4-9084-D5891F6FAD77}" type="slidenum">
              <a:rPr lang="en-PK" smtClean="0"/>
              <a:t>8</a:t>
            </a:fld>
            <a:endParaRPr lang="en-PK"/>
          </a:p>
        </p:txBody>
      </p:sp>
    </p:spTree>
    <p:extLst>
      <p:ext uri="{BB962C8B-B14F-4D97-AF65-F5344CB8AC3E}">
        <p14:creationId xmlns:p14="http://schemas.microsoft.com/office/powerpoint/2010/main" val="36899349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27770C78-D1E4-43B4-9084-D5891F6FAD77}" type="slidenum">
              <a:rPr lang="en-PK" smtClean="0"/>
              <a:t>9</a:t>
            </a:fld>
            <a:endParaRPr lang="en-PK"/>
          </a:p>
        </p:txBody>
      </p:sp>
    </p:spTree>
    <p:extLst>
      <p:ext uri="{BB962C8B-B14F-4D97-AF65-F5344CB8AC3E}">
        <p14:creationId xmlns:p14="http://schemas.microsoft.com/office/powerpoint/2010/main" val="16590090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27770C78-D1E4-43B4-9084-D5891F6FAD77}" type="slidenum">
              <a:rPr lang="en-PK" smtClean="0"/>
              <a:t>10</a:t>
            </a:fld>
            <a:endParaRPr lang="en-PK"/>
          </a:p>
        </p:txBody>
      </p:sp>
    </p:spTree>
    <p:extLst>
      <p:ext uri="{BB962C8B-B14F-4D97-AF65-F5344CB8AC3E}">
        <p14:creationId xmlns:p14="http://schemas.microsoft.com/office/powerpoint/2010/main" val="41189492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27770C78-D1E4-43B4-9084-D5891F6FAD77}" type="slidenum">
              <a:rPr lang="en-PK" smtClean="0"/>
              <a:t>11</a:t>
            </a:fld>
            <a:endParaRPr lang="en-PK"/>
          </a:p>
        </p:txBody>
      </p:sp>
    </p:spTree>
    <p:extLst>
      <p:ext uri="{BB962C8B-B14F-4D97-AF65-F5344CB8AC3E}">
        <p14:creationId xmlns:p14="http://schemas.microsoft.com/office/powerpoint/2010/main" val="22286661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53720-3816-381E-EB06-FB553BB258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D509A3BF-9B33-DBA2-7E40-BA8D755432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CEF9BF09-C8C7-FEBB-73F7-946D690698BA}"/>
              </a:ext>
            </a:extLst>
          </p:cNvPr>
          <p:cNvSpPr>
            <a:spLocks noGrp="1"/>
          </p:cNvSpPr>
          <p:nvPr>
            <p:ph type="dt" sz="half" idx="10"/>
          </p:nvPr>
        </p:nvSpPr>
        <p:spPr/>
        <p:txBody>
          <a:bodyPr/>
          <a:lstStyle/>
          <a:p>
            <a:fld id="{4B1B422B-D56B-48A6-BE4D-0AAC7D67A4F0}" type="datetimeFigureOut">
              <a:rPr lang="en-PK" smtClean="0"/>
              <a:t>10/22/2025</a:t>
            </a:fld>
            <a:endParaRPr lang="en-PK"/>
          </a:p>
        </p:txBody>
      </p:sp>
      <p:sp>
        <p:nvSpPr>
          <p:cNvPr id="5" name="Footer Placeholder 4">
            <a:extLst>
              <a:ext uri="{FF2B5EF4-FFF2-40B4-BE49-F238E27FC236}">
                <a16:creationId xmlns:a16="http://schemas.microsoft.com/office/drawing/2014/main" id="{ED452A2D-B611-36A4-1555-70458F8A449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2B148D1-A7D7-FCDA-0382-278EF7CCC62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390105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10FBD-5708-B085-7163-E9B8F55B5ED3}"/>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ECC8CFDE-AF79-6214-4E80-4629A71570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F5506B77-41C4-B60D-171B-4127A106DACC}"/>
              </a:ext>
            </a:extLst>
          </p:cNvPr>
          <p:cNvSpPr>
            <a:spLocks noGrp="1"/>
          </p:cNvSpPr>
          <p:nvPr>
            <p:ph type="dt" sz="half" idx="10"/>
          </p:nvPr>
        </p:nvSpPr>
        <p:spPr/>
        <p:txBody>
          <a:bodyPr/>
          <a:lstStyle/>
          <a:p>
            <a:fld id="{4B1B422B-D56B-48A6-BE4D-0AAC7D67A4F0}" type="datetimeFigureOut">
              <a:rPr lang="en-PK" smtClean="0"/>
              <a:t>10/22/2025</a:t>
            </a:fld>
            <a:endParaRPr lang="en-PK"/>
          </a:p>
        </p:txBody>
      </p:sp>
      <p:sp>
        <p:nvSpPr>
          <p:cNvPr id="5" name="Footer Placeholder 4">
            <a:extLst>
              <a:ext uri="{FF2B5EF4-FFF2-40B4-BE49-F238E27FC236}">
                <a16:creationId xmlns:a16="http://schemas.microsoft.com/office/drawing/2014/main" id="{34C12C56-0D12-81DD-F88C-B3DF7C19188F}"/>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C32B8C87-E64E-2CF6-F59F-34261450950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254302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C20F4-56B4-ED58-3666-E30DB62F54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299DD55C-3A71-9766-7BE1-256FF83201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C34CCA-0EC2-8307-6A0E-B2DE70E458B8}"/>
              </a:ext>
            </a:extLst>
          </p:cNvPr>
          <p:cNvSpPr>
            <a:spLocks noGrp="1"/>
          </p:cNvSpPr>
          <p:nvPr>
            <p:ph type="dt" sz="half" idx="10"/>
          </p:nvPr>
        </p:nvSpPr>
        <p:spPr/>
        <p:txBody>
          <a:bodyPr/>
          <a:lstStyle/>
          <a:p>
            <a:fld id="{4B1B422B-D56B-48A6-BE4D-0AAC7D67A4F0}" type="datetimeFigureOut">
              <a:rPr lang="en-PK" smtClean="0"/>
              <a:t>10/22/2025</a:t>
            </a:fld>
            <a:endParaRPr lang="en-PK"/>
          </a:p>
        </p:txBody>
      </p:sp>
      <p:sp>
        <p:nvSpPr>
          <p:cNvPr id="5" name="Footer Placeholder 4">
            <a:extLst>
              <a:ext uri="{FF2B5EF4-FFF2-40B4-BE49-F238E27FC236}">
                <a16:creationId xmlns:a16="http://schemas.microsoft.com/office/drawing/2014/main" id="{FC8B5AD0-2406-4741-9B27-130E3F62CD57}"/>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CE28277-6902-C86D-48CA-4EF489EEFD10}"/>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1085360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8B771-A201-CABE-C531-1DEEA3F6CDED}"/>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A1D12095-55BE-312A-0541-980C275F6B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A2BF5121-B39D-77AE-FDA8-79EB39DCD8A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883E837C-E895-AB1D-35B1-D86D86CAD54F}"/>
              </a:ext>
            </a:extLst>
          </p:cNvPr>
          <p:cNvSpPr>
            <a:spLocks noGrp="1"/>
          </p:cNvSpPr>
          <p:nvPr>
            <p:ph type="dt" sz="half" idx="10"/>
          </p:nvPr>
        </p:nvSpPr>
        <p:spPr/>
        <p:txBody>
          <a:bodyPr/>
          <a:lstStyle/>
          <a:p>
            <a:fld id="{4B1B422B-D56B-48A6-BE4D-0AAC7D67A4F0}" type="datetimeFigureOut">
              <a:rPr lang="en-PK" smtClean="0"/>
              <a:t>10/22/2025</a:t>
            </a:fld>
            <a:endParaRPr lang="en-PK"/>
          </a:p>
        </p:txBody>
      </p:sp>
      <p:sp>
        <p:nvSpPr>
          <p:cNvPr id="6" name="Footer Placeholder 5">
            <a:extLst>
              <a:ext uri="{FF2B5EF4-FFF2-40B4-BE49-F238E27FC236}">
                <a16:creationId xmlns:a16="http://schemas.microsoft.com/office/drawing/2014/main" id="{4B2D6123-FDDB-E74B-B67B-3B7436A58D59}"/>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A834099A-D6CD-7317-CE16-5B189A67A82D}"/>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4208366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B40B2-2987-4772-A133-4D54679C7316}"/>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E4968140-1825-DBB1-561C-E023ED6AE9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96F8CF-4A87-97A7-E51E-E57DA829BD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3CDC6A12-68C0-50BD-32DF-9162AAC03A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28C1AD-FE87-70BE-AE5A-60BA867E35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38C61F5D-B757-4D74-9774-E02C64ECBB79}"/>
              </a:ext>
            </a:extLst>
          </p:cNvPr>
          <p:cNvSpPr>
            <a:spLocks noGrp="1"/>
          </p:cNvSpPr>
          <p:nvPr>
            <p:ph type="dt" sz="half" idx="10"/>
          </p:nvPr>
        </p:nvSpPr>
        <p:spPr/>
        <p:txBody>
          <a:bodyPr/>
          <a:lstStyle/>
          <a:p>
            <a:fld id="{4B1B422B-D56B-48A6-BE4D-0AAC7D67A4F0}" type="datetimeFigureOut">
              <a:rPr lang="en-PK" smtClean="0"/>
              <a:t>10/22/2025</a:t>
            </a:fld>
            <a:endParaRPr lang="en-PK"/>
          </a:p>
        </p:txBody>
      </p:sp>
      <p:sp>
        <p:nvSpPr>
          <p:cNvPr id="8" name="Footer Placeholder 7">
            <a:extLst>
              <a:ext uri="{FF2B5EF4-FFF2-40B4-BE49-F238E27FC236}">
                <a16:creationId xmlns:a16="http://schemas.microsoft.com/office/drawing/2014/main" id="{5E5577DB-660B-4D6D-1ABD-CD10BED5411A}"/>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0D59736A-5F3E-FF09-F99B-AD539ED8EB8B}"/>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531995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34501-7D1D-32DF-175C-23D723FA31D1}"/>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EE3C3BAA-C826-94A1-99A7-35E780AE0B19}"/>
              </a:ext>
            </a:extLst>
          </p:cNvPr>
          <p:cNvSpPr>
            <a:spLocks noGrp="1"/>
          </p:cNvSpPr>
          <p:nvPr>
            <p:ph type="dt" sz="half" idx="10"/>
          </p:nvPr>
        </p:nvSpPr>
        <p:spPr/>
        <p:txBody>
          <a:bodyPr/>
          <a:lstStyle/>
          <a:p>
            <a:fld id="{4B1B422B-D56B-48A6-BE4D-0AAC7D67A4F0}" type="datetimeFigureOut">
              <a:rPr lang="en-PK" smtClean="0"/>
              <a:t>10/22/2025</a:t>
            </a:fld>
            <a:endParaRPr lang="en-PK"/>
          </a:p>
        </p:txBody>
      </p:sp>
      <p:sp>
        <p:nvSpPr>
          <p:cNvPr id="4" name="Footer Placeholder 3">
            <a:extLst>
              <a:ext uri="{FF2B5EF4-FFF2-40B4-BE49-F238E27FC236}">
                <a16:creationId xmlns:a16="http://schemas.microsoft.com/office/drawing/2014/main" id="{6081178B-4DCB-1221-F1E4-F1E1BB12B6B4}"/>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A44CF76B-5981-48D4-1508-AC4C69CF3D1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8915905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672966-C101-DBA0-31A6-0DEDED54D6F8}"/>
              </a:ext>
            </a:extLst>
          </p:cNvPr>
          <p:cNvSpPr>
            <a:spLocks noGrp="1"/>
          </p:cNvSpPr>
          <p:nvPr>
            <p:ph type="dt" sz="half" idx="10"/>
          </p:nvPr>
        </p:nvSpPr>
        <p:spPr/>
        <p:txBody>
          <a:bodyPr/>
          <a:lstStyle/>
          <a:p>
            <a:fld id="{4B1B422B-D56B-48A6-BE4D-0AAC7D67A4F0}" type="datetimeFigureOut">
              <a:rPr lang="en-PK" smtClean="0"/>
              <a:t>10/22/2025</a:t>
            </a:fld>
            <a:endParaRPr lang="en-PK"/>
          </a:p>
        </p:txBody>
      </p:sp>
      <p:sp>
        <p:nvSpPr>
          <p:cNvPr id="3" name="Footer Placeholder 2">
            <a:extLst>
              <a:ext uri="{FF2B5EF4-FFF2-40B4-BE49-F238E27FC236}">
                <a16:creationId xmlns:a16="http://schemas.microsoft.com/office/drawing/2014/main" id="{9EE2644B-ACC8-BACF-D571-05B35854EF3C}"/>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E6A988BF-9305-AA0B-6DC3-C0ABE5ECAB22}"/>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140974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FE64C-50F1-B827-5189-582FAD9267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54D9AB93-9C36-D887-5560-612DD4D039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E6BB17D3-FD48-BFB0-34D1-FF569AAE27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179BE8-7490-2442-C273-BD66D16FCAF9}"/>
              </a:ext>
            </a:extLst>
          </p:cNvPr>
          <p:cNvSpPr>
            <a:spLocks noGrp="1"/>
          </p:cNvSpPr>
          <p:nvPr>
            <p:ph type="dt" sz="half" idx="10"/>
          </p:nvPr>
        </p:nvSpPr>
        <p:spPr/>
        <p:txBody>
          <a:bodyPr/>
          <a:lstStyle/>
          <a:p>
            <a:fld id="{4B1B422B-D56B-48A6-BE4D-0AAC7D67A4F0}" type="datetimeFigureOut">
              <a:rPr lang="en-PK" smtClean="0"/>
              <a:t>10/22/2025</a:t>
            </a:fld>
            <a:endParaRPr lang="en-PK"/>
          </a:p>
        </p:txBody>
      </p:sp>
      <p:sp>
        <p:nvSpPr>
          <p:cNvPr id="6" name="Footer Placeholder 5">
            <a:extLst>
              <a:ext uri="{FF2B5EF4-FFF2-40B4-BE49-F238E27FC236}">
                <a16:creationId xmlns:a16="http://schemas.microsoft.com/office/drawing/2014/main" id="{0FD5BC4B-BA90-7AD7-16B6-69BDF8769695}"/>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362A8F57-9EAE-C269-11A8-B5A74CDE64B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1230029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80BEE-A111-9AA1-C4B8-12E07D7C80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B84BFE80-195D-9F83-E5BD-060B5AA088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754A238C-BD32-C671-142B-4FE5368F5F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04E100-6E96-3ED0-92D2-1900C5852E80}"/>
              </a:ext>
            </a:extLst>
          </p:cNvPr>
          <p:cNvSpPr>
            <a:spLocks noGrp="1"/>
          </p:cNvSpPr>
          <p:nvPr>
            <p:ph type="dt" sz="half" idx="10"/>
          </p:nvPr>
        </p:nvSpPr>
        <p:spPr/>
        <p:txBody>
          <a:bodyPr/>
          <a:lstStyle/>
          <a:p>
            <a:fld id="{4B1B422B-D56B-48A6-BE4D-0AAC7D67A4F0}" type="datetimeFigureOut">
              <a:rPr lang="en-PK" smtClean="0"/>
              <a:t>10/22/2025</a:t>
            </a:fld>
            <a:endParaRPr lang="en-PK"/>
          </a:p>
        </p:txBody>
      </p:sp>
      <p:sp>
        <p:nvSpPr>
          <p:cNvPr id="6" name="Footer Placeholder 5">
            <a:extLst>
              <a:ext uri="{FF2B5EF4-FFF2-40B4-BE49-F238E27FC236}">
                <a16:creationId xmlns:a16="http://schemas.microsoft.com/office/drawing/2014/main" id="{2D5F1DA5-7BB0-0309-3E65-44DDEF3141C5}"/>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8BBCBEC1-69B8-F2EB-CAFA-5A294439A174}"/>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302028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CBA61-3CE4-676D-E6E6-A0F3A45D85C7}"/>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58BE53C3-DEB7-D4D6-59C2-76D2BCA233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1EEC23A6-4DEE-2B0F-F9E8-AF8E0897C7BA}"/>
              </a:ext>
            </a:extLst>
          </p:cNvPr>
          <p:cNvSpPr>
            <a:spLocks noGrp="1"/>
          </p:cNvSpPr>
          <p:nvPr>
            <p:ph type="dt" sz="half" idx="10"/>
          </p:nvPr>
        </p:nvSpPr>
        <p:spPr/>
        <p:txBody>
          <a:bodyPr/>
          <a:lstStyle/>
          <a:p>
            <a:fld id="{4B1B422B-D56B-48A6-BE4D-0AAC7D67A4F0}" type="datetimeFigureOut">
              <a:rPr lang="en-PK" smtClean="0"/>
              <a:t>10/22/2025</a:t>
            </a:fld>
            <a:endParaRPr lang="en-PK"/>
          </a:p>
        </p:txBody>
      </p:sp>
      <p:sp>
        <p:nvSpPr>
          <p:cNvPr id="5" name="Footer Placeholder 4">
            <a:extLst>
              <a:ext uri="{FF2B5EF4-FFF2-40B4-BE49-F238E27FC236}">
                <a16:creationId xmlns:a16="http://schemas.microsoft.com/office/drawing/2014/main" id="{033BC7B1-D071-396D-DD27-D6F3B7A2FD30}"/>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03EEB43-9506-19FD-C9B4-95B5C0754F0F}"/>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505068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F5FC5C-5F00-9053-F0A9-CBBC1DB3BC6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79D03B86-E126-76D5-C128-6EBFBA70C2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2B410F2-965D-9F7B-B99A-D14566919EDD}"/>
              </a:ext>
            </a:extLst>
          </p:cNvPr>
          <p:cNvSpPr>
            <a:spLocks noGrp="1"/>
          </p:cNvSpPr>
          <p:nvPr>
            <p:ph type="dt" sz="half" idx="10"/>
          </p:nvPr>
        </p:nvSpPr>
        <p:spPr/>
        <p:txBody>
          <a:bodyPr/>
          <a:lstStyle/>
          <a:p>
            <a:fld id="{4B1B422B-D56B-48A6-BE4D-0AAC7D67A4F0}" type="datetimeFigureOut">
              <a:rPr lang="en-PK" smtClean="0"/>
              <a:t>10/22/2025</a:t>
            </a:fld>
            <a:endParaRPr lang="en-PK"/>
          </a:p>
        </p:txBody>
      </p:sp>
      <p:sp>
        <p:nvSpPr>
          <p:cNvPr id="5" name="Footer Placeholder 4">
            <a:extLst>
              <a:ext uri="{FF2B5EF4-FFF2-40B4-BE49-F238E27FC236}">
                <a16:creationId xmlns:a16="http://schemas.microsoft.com/office/drawing/2014/main" id="{B06D7986-9CB8-9DAB-9592-00A9C473E261}"/>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E32B750-7CCD-A09C-870B-641AB424505B}"/>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12286384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E0A0BD-8E0B-039C-FB28-7DE93B8E33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15CF0ED9-CAC2-E83A-68ED-C5161A9F58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7547626-C717-A094-D7ED-9CC80A7797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B1B422B-D56B-48A6-BE4D-0AAC7D67A4F0}" type="datetimeFigureOut">
              <a:rPr lang="en-PK" smtClean="0"/>
              <a:t>10/22/2025</a:t>
            </a:fld>
            <a:endParaRPr lang="en-PK"/>
          </a:p>
        </p:txBody>
      </p:sp>
      <p:sp>
        <p:nvSpPr>
          <p:cNvPr id="5" name="Footer Placeholder 4">
            <a:extLst>
              <a:ext uri="{FF2B5EF4-FFF2-40B4-BE49-F238E27FC236}">
                <a16:creationId xmlns:a16="http://schemas.microsoft.com/office/drawing/2014/main" id="{27285EE4-DEFC-CF01-936A-8A735E3CB9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K"/>
          </a:p>
        </p:txBody>
      </p:sp>
      <p:sp>
        <p:nvSpPr>
          <p:cNvPr id="6" name="Slide Number Placeholder 5">
            <a:extLst>
              <a:ext uri="{FF2B5EF4-FFF2-40B4-BE49-F238E27FC236}">
                <a16:creationId xmlns:a16="http://schemas.microsoft.com/office/drawing/2014/main" id="{7D368BF9-1FDB-07EF-4625-0F16BAFA2D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98E9BB-3426-4537-94B3-5BEC3C8DC2C6}" type="slidenum">
              <a:rPr lang="en-PK" smtClean="0"/>
              <a:t>‹#›</a:t>
            </a:fld>
            <a:endParaRPr lang="en-PK"/>
          </a:p>
        </p:txBody>
      </p:sp>
    </p:spTree>
    <p:extLst>
      <p:ext uri="{BB962C8B-B14F-4D97-AF65-F5344CB8AC3E}">
        <p14:creationId xmlns:p14="http://schemas.microsoft.com/office/powerpoint/2010/main" val="20011086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6" name="Rectangle 75">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Rectangle 83">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Rectangle 85">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Freeform: Shape 87">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49733D3-B539-9FDF-841C-7CA34CBED49E}"/>
              </a:ext>
            </a:extLst>
          </p:cNvPr>
          <p:cNvSpPr>
            <a:spLocks noGrp="1"/>
          </p:cNvSpPr>
          <p:nvPr>
            <p:ph type="ctrTitle"/>
          </p:nvPr>
        </p:nvSpPr>
        <p:spPr>
          <a:xfrm>
            <a:off x="2026693" y="1030406"/>
            <a:ext cx="8147713" cy="3081242"/>
          </a:xfrm>
        </p:spPr>
        <p:txBody>
          <a:bodyPr anchor="ctr">
            <a:normAutofit/>
          </a:bodyPr>
          <a:lstStyle/>
          <a:p>
            <a:r>
              <a:rPr lang="en-GB" sz="4800" dirty="0">
                <a:solidFill>
                  <a:srgbClr val="FFFFFF"/>
                </a:solidFill>
                <a:latin typeface="Arial" panose="020B0604020202020204" pitchFamily="34" charset="0"/>
                <a:cs typeface="Arial" panose="020B0604020202020204" pitchFamily="34" charset="0"/>
              </a:rPr>
              <a:t>Artificial Intelligence</a:t>
            </a:r>
            <a:endParaRPr lang="en-PK" sz="4800" dirty="0">
              <a:solidFill>
                <a:srgbClr val="FFFFFF"/>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40CA6085-9456-8389-FD83-03FD37673D7F}"/>
              </a:ext>
            </a:extLst>
          </p:cNvPr>
          <p:cNvSpPr>
            <a:spLocks noGrp="1"/>
          </p:cNvSpPr>
          <p:nvPr>
            <p:ph type="subTitle" idx="1"/>
          </p:nvPr>
        </p:nvSpPr>
        <p:spPr>
          <a:xfrm>
            <a:off x="1442985" y="4733089"/>
            <a:ext cx="9078628" cy="1239180"/>
          </a:xfrm>
        </p:spPr>
        <p:txBody>
          <a:bodyPr anchor="ctr">
            <a:normAutofit lnSpcReduction="10000"/>
          </a:bodyPr>
          <a:lstStyle/>
          <a:p>
            <a:r>
              <a:rPr lang="en-US" sz="2200" dirty="0">
                <a:solidFill>
                  <a:srgbClr val="FFFFFF"/>
                </a:solidFill>
                <a:latin typeface="Arial" panose="020B0604020202020204" pitchFamily="34" charset="0"/>
                <a:cs typeface="Arial" panose="020B0604020202020204" pitchFamily="34" charset="0"/>
              </a:rPr>
              <a:t>Course Code: CS-202</a:t>
            </a:r>
          </a:p>
          <a:p>
            <a:r>
              <a:rPr lang="en-US" sz="2200" dirty="0">
                <a:solidFill>
                  <a:srgbClr val="FFFFFF"/>
                </a:solidFill>
                <a:latin typeface="Arial" panose="020B0604020202020204" pitchFamily="34" charset="0"/>
                <a:cs typeface="Arial" panose="020B0604020202020204" pitchFamily="34" charset="0"/>
              </a:rPr>
              <a:t>Topic: Intelligent Agents and their types, Rationality</a:t>
            </a:r>
          </a:p>
          <a:p>
            <a:r>
              <a:rPr lang="en-US" sz="2200" dirty="0">
                <a:solidFill>
                  <a:srgbClr val="FFFFFF"/>
                </a:solidFill>
                <a:latin typeface="Arial" panose="020B0604020202020204" pitchFamily="34" charset="0"/>
                <a:cs typeface="Arial" panose="020B0604020202020204" pitchFamily="34" charset="0"/>
              </a:rPr>
              <a:t>Instructor: Habiba Arshad</a:t>
            </a:r>
            <a:endParaRPr lang="en-PK" sz="2200" dirty="0">
              <a:solidFill>
                <a:srgbClr val="FFFF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87270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2EA1D-AFC9-09D7-5D28-2F68EB96342B}"/>
              </a:ext>
            </a:extLst>
          </p:cNvPr>
          <p:cNvSpPr>
            <a:spLocks noGrp="1"/>
          </p:cNvSpPr>
          <p:nvPr>
            <p:ph type="title"/>
          </p:nvPr>
        </p:nvSpPr>
        <p:spPr/>
        <p:txBody>
          <a:bodyPr/>
          <a:lstStyle/>
          <a:p>
            <a:r>
              <a:rPr lang="en-US" dirty="0"/>
              <a:t>Today’s Goal</a:t>
            </a:r>
          </a:p>
        </p:txBody>
      </p:sp>
      <p:sp>
        <p:nvSpPr>
          <p:cNvPr id="3" name="Content Placeholder 2">
            <a:extLst>
              <a:ext uri="{FF2B5EF4-FFF2-40B4-BE49-F238E27FC236}">
                <a16:creationId xmlns:a16="http://schemas.microsoft.com/office/drawing/2014/main" id="{9434BEFD-8E9F-C0D5-124F-E345618D7C1F}"/>
              </a:ext>
            </a:extLst>
          </p:cNvPr>
          <p:cNvSpPr>
            <a:spLocks noGrp="1"/>
          </p:cNvSpPr>
          <p:nvPr>
            <p:ph idx="1"/>
          </p:nvPr>
        </p:nvSpPr>
        <p:spPr/>
        <p:txBody>
          <a:bodyPr/>
          <a:lstStyle/>
          <a:p>
            <a:r>
              <a:rPr lang="en-US" dirty="0"/>
              <a:t>Intelligent Agents</a:t>
            </a:r>
          </a:p>
          <a:p>
            <a:r>
              <a:rPr lang="en-US" dirty="0"/>
              <a:t>Characteristics of Intelligent Agents</a:t>
            </a:r>
          </a:p>
          <a:p>
            <a:r>
              <a:rPr lang="en-US" dirty="0"/>
              <a:t>Agents Interaction Cycle</a:t>
            </a:r>
          </a:p>
          <a:p>
            <a:r>
              <a:rPr lang="en-US" dirty="0"/>
              <a:t>Why study intelligent agents?</a:t>
            </a:r>
          </a:p>
          <a:p>
            <a:r>
              <a:rPr lang="en-US" dirty="0"/>
              <a:t>Rationality </a:t>
            </a:r>
          </a:p>
          <a:p>
            <a:r>
              <a:rPr lang="en-US" dirty="0"/>
              <a:t>PEAS</a:t>
            </a:r>
          </a:p>
          <a:p>
            <a:endParaRPr lang="en-US" dirty="0"/>
          </a:p>
          <a:p>
            <a:endParaRPr lang="en-US" dirty="0"/>
          </a:p>
          <a:p>
            <a:endParaRPr lang="en-US" dirty="0"/>
          </a:p>
        </p:txBody>
      </p:sp>
    </p:spTree>
    <p:extLst>
      <p:ext uri="{BB962C8B-B14F-4D97-AF65-F5344CB8AC3E}">
        <p14:creationId xmlns:p14="http://schemas.microsoft.com/office/powerpoint/2010/main" val="14561850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2E17E911-875F-4DE5-8699-99D9F1805A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reeform: Shape 34">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Rectangle 36">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951412D1-217C-109E-B1DF-6DFBBBBDB9B7}"/>
              </a:ext>
            </a:extLst>
          </p:cNvPr>
          <p:cNvGraphicFramePr>
            <a:graphicFrameLocks noGrp="1"/>
          </p:cNvGraphicFramePr>
          <p:nvPr>
            <p:ph idx="1"/>
            <p:extLst>
              <p:ext uri="{D42A27DB-BD31-4B8C-83A1-F6EECF244321}">
                <p14:modId xmlns:p14="http://schemas.microsoft.com/office/powerpoint/2010/main" val="2084985154"/>
              </p:ext>
            </p:extLst>
          </p:nvPr>
        </p:nvGraphicFramePr>
        <p:xfrm>
          <a:off x="4581727" y="649480"/>
          <a:ext cx="6401706" cy="55460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9069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3" name="Freeform: Shape 12">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6" name="Freeform: Shape 15">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Shape 21">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785F2B0E-1952-3C40-BB86-44A63F5E4908}"/>
              </a:ext>
            </a:extLst>
          </p:cNvPr>
          <p:cNvSpPr>
            <a:spLocks noGrp="1"/>
          </p:cNvSpPr>
          <p:nvPr>
            <p:ph type="ctrTitle"/>
          </p:nvPr>
        </p:nvSpPr>
        <p:spPr>
          <a:xfrm>
            <a:off x="3502731" y="1542402"/>
            <a:ext cx="5186842" cy="2387918"/>
          </a:xfrm>
        </p:spPr>
        <p:txBody>
          <a:bodyPr anchor="b">
            <a:normAutofit/>
          </a:bodyPr>
          <a:lstStyle/>
          <a:p>
            <a:r>
              <a:rPr lang="en-US" sz="5200">
                <a:solidFill>
                  <a:schemeClr val="tx2"/>
                </a:solidFill>
              </a:rPr>
              <a:t>Intelligent Agent</a:t>
            </a:r>
          </a:p>
        </p:txBody>
      </p:sp>
      <p:grpSp>
        <p:nvGrpSpPr>
          <p:cNvPr id="24" name="Group 23">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5" name="Freeform: Shape 24">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8" name="Freeform: Shape 27">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Slide Number Placeholder 3">
            <a:extLst>
              <a:ext uri="{FF2B5EF4-FFF2-40B4-BE49-F238E27FC236}">
                <a16:creationId xmlns:a16="http://schemas.microsoft.com/office/drawing/2014/main" id="{3BE39AF1-57B1-C543-912E-78A145C016E0}"/>
              </a:ext>
            </a:extLst>
          </p:cNvPr>
          <p:cNvSpPr>
            <a:spLocks noGrp="1"/>
          </p:cNvSpPr>
          <p:nvPr>
            <p:ph type="sldNum" sz="quarter" idx="12"/>
          </p:nvPr>
        </p:nvSpPr>
        <p:spPr>
          <a:xfrm>
            <a:off x="8610600" y="6356350"/>
            <a:ext cx="2743200" cy="365125"/>
          </a:xfrm>
        </p:spPr>
        <p:txBody>
          <a:bodyPr>
            <a:normAutofit/>
          </a:bodyPr>
          <a:lstStyle/>
          <a:p>
            <a:pPr marL="0" marR="0" lvl="0" indent="0" defTabSz="914400" rtl="0" eaLnBrk="1" fontAlgn="auto" latinLnBrk="0" hangingPunct="1">
              <a:spcBef>
                <a:spcPts val="0"/>
              </a:spcBef>
              <a:spcAft>
                <a:spcPts val="600"/>
              </a:spcAft>
              <a:buClrTx/>
              <a:buSzTx/>
              <a:buFontTx/>
              <a:buNone/>
              <a:tabLst/>
              <a:defRPr/>
            </a:pPr>
            <a:fld id="{ABA906BB-1B80-194E-BEE8-888D030B0C89}" type="slidenum">
              <a:rPr kumimoji="0" lang="en-US" b="0" i="0" u="none" strike="noStrike" kern="1200" cap="none" spc="0" normalizeH="0" baseline="0" noProof="0" smtClean="0">
                <a:ln>
                  <a:noFill/>
                </a:ln>
                <a:effectLst/>
                <a:uLnTx/>
                <a:uFillTx/>
                <a:latin typeface="Franklin Gothic Book" panose="020B0503020102020204"/>
                <a:ea typeface="+mn-ea"/>
                <a:cs typeface="+mn-cs"/>
              </a:rPr>
              <a:pPr marL="0" marR="0" lvl="0" indent="0" defTabSz="914400" rtl="0" eaLnBrk="1" fontAlgn="auto" latinLnBrk="0" hangingPunct="1">
                <a:spcBef>
                  <a:spcPts val="0"/>
                </a:spcBef>
                <a:spcAft>
                  <a:spcPts val="600"/>
                </a:spcAft>
                <a:buClrTx/>
                <a:buSzTx/>
                <a:buFontTx/>
                <a:buNone/>
                <a:tabLst/>
                <a:defRPr/>
              </a:pPr>
              <a:t>4</a:t>
            </a:fld>
            <a:endParaRPr kumimoji="0" lang="en-US" b="0" i="0" u="none" strike="noStrike" kern="1200" cap="none" spc="0" normalizeH="0" baseline="0" noProof="0">
              <a:ln>
                <a:noFill/>
              </a:ln>
              <a:effectLst/>
              <a:uLnTx/>
              <a:uFillTx/>
              <a:latin typeface="Franklin Gothic Book" panose="020B0503020102020204"/>
              <a:ea typeface="+mn-ea"/>
              <a:cs typeface="+mn-cs"/>
            </a:endParaRPr>
          </a:p>
        </p:txBody>
      </p:sp>
      <p:grpSp>
        <p:nvGrpSpPr>
          <p:cNvPr id="30" name="Group 29">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1" name="Freeform: Shape 30">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4" name="Freeform: Shape 33">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836908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BE2808-28D0-FB47-95ED-0B545E25540D}"/>
              </a:ext>
            </a:extLst>
          </p:cNvPr>
          <p:cNvSpPr>
            <a:spLocks noGrp="1"/>
          </p:cNvSpPr>
          <p:nvPr>
            <p:ph type="title"/>
          </p:nvPr>
        </p:nvSpPr>
        <p:spPr>
          <a:xfrm>
            <a:off x="627263" y="70003"/>
            <a:ext cx="4977976" cy="1454051"/>
          </a:xfrm>
        </p:spPr>
        <p:txBody>
          <a:bodyPr>
            <a:normAutofit/>
          </a:bodyPr>
          <a:lstStyle/>
          <a:p>
            <a:r>
              <a:rPr lang="en-US" altLang="zh-TW" sz="3600" dirty="0"/>
              <a:t>Intelligent Agents</a:t>
            </a:r>
            <a:endParaRPr lang="en-US" sz="3600" dirty="0"/>
          </a:p>
        </p:txBody>
      </p:sp>
      <p:sp>
        <p:nvSpPr>
          <p:cNvPr id="3" name="Content Placeholder 2">
            <a:extLst>
              <a:ext uri="{FF2B5EF4-FFF2-40B4-BE49-F238E27FC236}">
                <a16:creationId xmlns:a16="http://schemas.microsoft.com/office/drawing/2014/main" id="{B2EDDEB8-60B1-2D44-B68A-1410204D169B}"/>
              </a:ext>
            </a:extLst>
          </p:cNvPr>
          <p:cNvSpPr>
            <a:spLocks noGrp="1"/>
          </p:cNvSpPr>
          <p:nvPr>
            <p:ph idx="1"/>
          </p:nvPr>
        </p:nvSpPr>
        <p:spPr>
          <a:xfrm>
            <a:off x="450252" y="1243317"/>
            <a:ext cx="6407747" cy="5441950"/>
          </a:xfrm>
        </p:spPr>
        <p:txBody>
          <a:bodyPr anchor="ctr">
            <a:normAutofit fontScale="70000" lnSpcReduction="20000"/>
          </a:bodyPr>
          <a:lstStyle/>
          <a:p>
            <a:r>
              <a:rPr lang="en-US" altLang="zh-TW" sz="3200" dirty="0"/>
              <a:t>What is an agent?</a:t>
            </a:r>
          </a:p>
          <a:p>
            <a:pPr lvl="1"/>
            <a:r>
              <a:rPr lang="en-US" altLang="zh-TW" sz="3200" dirty="0">
                <a:solidFill>
                  <a:srgbClr val="FF0000"/>
                </a:solidFill>
              </a:rPr>
              <a:t>An </a:t>
            </a:r>
            <a:r>
              <a:rPr lang="en-US" altLang="zh-TW" sz="3200" b="1" dirty="0">
                <a:solidFill>
                  <a:srgbClr val="FF0000"/>
                </a:solidFill>
              </a:rPr>
              <a:t>agent</a:t>
            </a:r>
            <a:r>
              <a:rPr lang="en-US" altLang="zh-TW" sz="3200" dirty="0">
                <a:solidFill>
                  <a:srgbClr val="FF0000"/>
                </a:solidFill>
              </a:rPr>
              <a:t> is anything that </a:t>
            </a:r>
          </a:p>
          <a:p>
            <a:pPr lvl="2"/>
            <a:r>
              <a:rPr lang="en-US" altLang="zh-TW" sz="3200" b="1" dirty="0">
                <a:solidFill>
                  <a:srgbClr val="FF0000"/>
                </a:solidFill>
              </a:rPr>
              <a:t>perceiving</a:t>
            </a:r>
            <a:r>
              <a:rPr lang="en-US" altLang="zh-TW" sz="3200" dirty="0">
                <a:solidFill>
                  <a:srgbClr val="FF0000"/>
                </a:solidFill>
              </a:rPr>
              <a:t> its environment through </a:t>
            </a:r>
            <a:r>
              <a:rPr lang="en-US" altLang="zh-TW" sz="3200" b="1" dirty="0">
                <a:solidFill>
                  <a:srgbClr val="FF0000"/>
                </a:solidFill>
              </a:rPr>
              <a:t>sensors</a:t>
            </a:r>
            <a:endParaRPr lang="en-US" altLang="zh-TW" sz="3200" dirty="0">
              <a:solidFill>
                <a:srgbClr val="FF0000"/>
              </a:solidFill>
            </a:endParaRPr>
          </a:p>
          <a:p>
            <a:pPr lvl="2"/>
            <a:r>
              <a:rPr lang="en-US" altLang="zh-TW" sz="3200" b="1" dirty="0">
                <a:solidFill>
                  <a:srgbClr val="FF0000"/>
                </a:solidFill>
              </a:rPr>
              <a:t>acting</a:t>
            </a:r>
            <a:r>
              <a:rPr lang="en-US" altLang="zh-TW" sz="3200" dirty="0">
                <a:solidFill>
                  <a:srgbClr val="FF0000"/>
                </a:solidFill>
              </a:rPr>
              <a:t> upon that environment through </a:t>
            </a:r>
            <a:r>
              <a:rPr lang="en-US" altLang="zh-TW" sz="3200" b="1" dirty="0">
                <a:solidFill>
                  <a:srgbClr val="FF0000"/>
                </a:solidFill>
              </a:rPr>
              <a:t>actuators</a:t>
            </a:r>
            <a:endParaRPr lang="en-US" altLang="zh-TW" sz="3200" dirty="0">
              <a:solidFill>
                <a:srgbClr val="FF0000"/>
              </a:solidFill>
            </a:endParaRPr>
          </a:p>
          <a:p>
            <a:pPr lvl="1"/>
            <a:r>
              <a:rPr lang="en-US" altLang="zh-TW" sz="3200" dirty="0"/>
              <a:t>Example: </a:t>
            </a:r>
          </a:p>
          <a:p>
            <a:pPr lvl="2"/>
            <a:r>
              <a:rPr lang="en-US" altLang="zh-TW" sz="3200" dirty="0"/>
              <a:t>Human is an agent</a:t>
            </a:r>
          </a:p>
          <a:p>
            <a:pPr lvl="2"/>
            <a:r>
              <a:rPr lang="en-US" altLang="zh-TW" sz="3200" dirty="0"/>
              <a:t>A robot is also an agent with cameras and motors</a:t>
            </a:r>
          </a:p>
          <a:p>
            <a:pPr lvl="2"/>
            <a:r>
              <a:rPr lang="en-US" altLang="zh-TW" sz="3200" dirty="0"/>
              <a:t>A thermostat detecting room temperature</a:t>
            </a:r>
          </a:p>
          <a:p>
            <a:pPr lvl="2"/>
            <a:endParaRPr lang="en-US" altLang="zh-TW" sz="3200" dirty="0"/>
          </a:p>
          <a:p>
            <a:pPr marL="0" indent="0">
              <a:buNone/>
            </a:pPr>
            <a:r>
              <a:rPr lang="en-US" sz="3200" b="1" dirty="0">
                <a:ea typeface="ＭＳ Ｐゴシック" panose="020B0600070205080204" pitchFamily="34" charset="-128"/>
              </a:rPr>
              <a:t>Human agent:  </a:t>
            </a:r>
            <a:r>
              <a:rPr lang="en-US" sz="3200" dirty="0">
                <a:ea typeface="ＭＳ Ｐゴシック" panose="020B0600070205080204" pitchFamily="34" charset="-128"/>
              </a:rPr>
              <a:t>eyes, ears, and other organs for sensors; - hands, legs, mouth, and other body parts for actuators</a:t>
            </a:r>
          </a:p>
          <a:p>
            <a:pPr lvl="1">
              <a:buFont typeface="Arial" panose="020B0604020202020204" pitchFamily="34" charset="0"/>
              <a:buChar char="–"/>
            </a:pPr>
            <a:endParaRPr lang="en-US" sz="3200" dirty="0">
              <a:ea typeface="ＭＳ Ｐゴシック" panose="020B0600070205080204" pitchFamily="34" charset="-128"/>
            </a:endParaRPr>
          </a:p>
          <a:p>
            <a:pPr marL="0" indent="0">
              <a:buNone/>
            </a:pPr>
            <a:r>
              <a:rPr lang="en-US" sz="3200" b="1" dirty="0">
                <a:ea typeface="ＭＳ Ｐゴシック" panose="020B0600070205080204" pitchFamily="34" charset="-128"/>
              </a:rPr>
              <a:t>Robotic agent: </a:t>
            </a:r>
            <a:r>
              <a:rPr lang="en-US" sz="3200" dirty="0">
                <a:ea typeface="ＭＳ Ｐゴシック" panose="020B0600070205080204" pitchFamily="34" charset="-128"/>
              </a:rPr>
              <a:t>cameras and infrared range finders for sensors -various motors for actuators</a:t>
            </a:r>
          </a:p>
          <a:p>
            <a:pPr lvl="2"/>
            <a:endParaRPr lang="en-US" altLang="zh-TW" sz="1300" dirty="0">
              <a:solidFill>
                <a:schemeClr val="tx2"/>
              </a:solidFill>
            </a:endParaRPr>
          </a:p>
          <a:p>
            <a:endParaRPr lang="en-US" sz="1300" dirty="0">
              <a:solidFill>
                <a:schemeClr val="tx2"/>
              </a:solidFill>
            </a:endParaRPr>
          </a:p>
        </p:txBody>
      </p:sp>
      <p:grpSp>
        <p:nvGrpSpPr>
          <p:cNvPr id="15" name="Group 14">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6" name="Freeform: Shape 15">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Graphic 7" descr="Robot">
            <a:extLst>
              <a:ext uri="{FF2B5EF4-FFF2-40B4-BE49-F238E27FC236}">
                <a16:creationId xmlns:a16="http://schemas.microsoft.com/office/drawing/2014/main" id="{7DA00910-6ABA-5C5A-3D05-458A24B1DB5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21726" y="1629089"/>
            <a:ext cx="3620021" cy="3620021"/>
          </a:xfrm>
          <a:prstGeom prst="rect">
            <a:avLst/>
          </a:prstGeom>
        </p:spPr>
      </p:pic>
      <p:sp>
        <p:nvSpPr>
          <p:cNvPr id="4" name="Slide Number Placeholder 3">
            <a:extLst>
              <a:ext uri="{FF2B5EF4-FFF2-40B4-BE49-F238E27FC236}">
                <a16:creationId xmlns:a16="http://schemas.microsoft.com/office/drawing/2014/main" id="{3EC11D7F-E006-5741-A6AF-5C53DC2FC207}"/>
              </a:ext>
            </a:extLst>
          </p:cNvPr>
          <p:cNvSpPr>
            <a:spLocks noGrp="1"/>
          </p:cNvSpPr>
          <p:nvPr>
            <p:ph type="sldNum" sz="quarter" idx="12"/>
          </p:nvPr>
        </p:nvSpPr>
        <p:spPr>
          <a:xfrm>
            <a:off x="8610600" y="6356350"/>
            <a:ext cx="2743200" cy="365125"/>
          </a:xfrm>
        </p:spPr>
        <p:txBody>
          <a:bodyPr>
            <a:normAutofit/>
          </a:bodyPr>
          <a:lstStyle/>
          <a:p>
            <a:pPr>
              <a:spcAft>
                <a:spcPts val="600"/>
              </a:spcAft>
            </a:pPr>
            <a:fld id="{ABA906BB-1B80-194E-BEE8-888D030B0C89}" type="slidenum">
              <a:rPr lang="en-US" smtClean="0"/>
              <a:pPr>
                <a:spcAft>
                  <a:spcPts val="600"/>
                </a:spcAft>
              </a:pPr>
              <a:t>5</a:t>
            </a:fld>
            <a:endParaRPr lang="en-US"/>
          </a:p>
        </p:txBody>
      </p:sp>
    </p:spTree>
    <p:extLst>
      <p:ext uri="{BB962C8B-B14F-4D97-AF65-F5344CB8AC3E}">
        <p14:creationId xmlns:p14="http://schemas.microsoft.com/office/powerpoint/2010/main" val="2538229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EDB34A-EAB8-EF44-B6A8-9BE95B741A01}"/>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altLang="zh-TW" sz="4800" kern="1200">
                <a:solidFill>
                  <a:schemeClr val="tx1"/>
                </a:solidFill>
                <a:latin typeface="+mj-lt"/>
                <a:ea typeface="+mj-ea"/>
                <a:cs typeface="+mj-cs"/>
              </a:rPr>
              <a:t>Intelligent Agents</a:t>
            </a:r>
            <a:endParaRPr lang="en-US" sz="4800" kern="1200">
              <a:solidFill>
                <a:schemeClr val="tx1"/>
              </a:solidFill>
              <a:latin typeface="+mj-lt"/>
              <a:ea typeface="+mj-ea"/>
              <a:cs typeface="+mj-cs"/>
            </a:endParaRPr>
          </a:p>
        </p:txBody>
      </p:sp>
      <p:sp>
        <p:nvSpPr>
          <p:cNvPr id="13" name="Rectangle 12">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D4BD187-63BD-16CA-AAF9-B4E62136D2A6}"/>
              </a:ext>
            </a:extLst>
          </p:cNvPr>
          <p:cNvSpPr txBox="1"/>
          <p:nvPr/>
        </p:nvSpPr>
        <p:spPr>
          <a:xfrm>
            <a:off x="643228" y="2389218"/>
            <a:ext cx="4771386" cy="3639450"/>
          </a:xfrm>
          <a:prstGeom prst="rect">
            <a:avLst/>
          </a:prstGeom>
        </p:spPr>
        <p:txBody>
          <a:bodyPr vert="horz" lIns="91440" tIns="45720" rIns="91440" bIns="45720" rtlCol="0" anchor="ctr">
            <a:normAutofit lnSpcReduction="10000"/>
          </a:bodyPr>
          <a:lstStyle/>
          <a:p>
            <a:pPr indent="-228600">
              <a:lnSpc>
                <a:spcPct val="90000"/>
              </a:lnSpc>
              <a:spcAft>
                <a:spcPts val="600"/>
              </a:spcAft>
              <a:buFont typeface="Arial" panose="020B0604020202020204" pitchFamily="34" charset="0"/>
              <a:buChar char="•"/>
            </a:pPr>
            <a:r>
              <a:rPr lang="en-US" altLang="en-US" sz="2800" dirty="0"/>
              <a:t>The agent function maps from percept histories to actions:</a:t>
            </a:r>
          </a:p>
          <a:p>
            <a:pPr>
              <a:lnSpc>
                <a:spcPct val="90000"/>
              </a:lnSpc>
              <a:spcAft>
                <a:spcPts val="600"/>
              </a:spcAft>
            </a:pPr>
            <a:r>
              <a:rPr lang="en-US" altLang="en-US" sz="2800" dirty="0"/>
              <a:t>                [</a:t>
            </a:r>
            <a:r>
              <a:rPr lang="en-US" altLang="en-US" sz="2800" i="1" dirty="0"/>
              <a:t>f</a:t>
            </a:r>
            <a:r>
              <a:rPr lang="en-US" altLang="en-US" sz="2800" dirty="0"/>
              <a:t>: P* </a:t>
            </a:r>
            <a:r>
              <a:rPr lang="en-US" altLang="en-US" sz="2800" dirty="0">
                <a:sym typeface="Wingdings" panose="05000000000000000000" pitchFamily="2" charset="2"/>
              </a:rPr>
              <a:t> </a:t>
            </a:r>
            <a:r>
              <a:rPr lang="en-US" altLang="en-US" sz="2800" dirty="0"/>
              <a:t>A]</a:t>
            </a:r>
          </a:p>
          <a:p>
            <a:pPr indent="-228600">
              <a:lnSpc>
                <a:spcPct val="90000"/>
              </a:lnSpc>
              <a:spcAft>
                <a:spcPts val="600"/>
              </a:spcAft>
              <a:buFont typeface="Arial" panose="020B0604020202020204" pitchFamily="34" charset="0"/>
              <a:buChar char="•"/>
            </a:pPr>
            <a:r>
              <a:rPr lang="en-US" altLang="en-US" sz="2800" dirty="0"/>
              <a:t>The agent program runs on the physical architecture to produce </a:t>
            </a:r>
            <a:r>
              <a:rPr lang="en-US" altLang="en-US" sz="2800" i="1" dirty="0"/>
              <a:t>f</a:t>
            </a:r>
            <a:endParaRPr lang="en-US" altLang="en-US" sz="2800" dirty="0"/>
          </a:p>
          <a:p>
            <a:pPr>
              <a:lnSpc>
                <a:spcPct val="90000"/>
              </a:lnSpc>
              <a:spcAft>
                <a:spcPts val="600"/>
              </a:spcAft>
            </a:pPr>
            <a:r>
              <a:rPr lang="en-US" altLang="en-US" sz="2800" dirty="0"/>
              <a:t>agent = architecture + program</a:t>
            </a:r>
          </a:p>
        </p:txBody>
      </p:sp>
      <p:pic>
        <p:nvPicPr>
          <p:cNvPr id="4" name="Picture 6">
            <a:extLst>
              <a:ext uri="{FF2B5EF4-FFF2-40B4-BE49-F238E27FC236}">
                <a16:creationId xmlns:a16="http://schemas.microsoft.com/office/drawing/2014/main" id="{25676756-1744-C443-8ED9-A8F042DA66C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223511" y="2893790"/>
            <a:ext cx="5962228" cy="24554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Rectangle 16">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178E0952-8F2C-6343-B052-CCAF8853D41F}"/>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ABA906BB-1B80-194E-BEE8-888D030B0C89}" type="slidenum">
              <a:rPr lang="en-US" smtClean="0">
                <a:solidFill>
                  <a:schemeClr val="tx1">
                    <a:tint val="75000"/>
                  </a:schemeClr>
                </a:solidFill>
              </a:rPr>
              <a:pPr>
                <a:spcAft>
                  <a:spcPts val="600"/>
                </a:spcAft>
              </a:pPr>
              <a:t>6</a:t>
            </a:fld>
            <a:endParaRPr lang="en-US">
              <a:solidFill>
                <a:schemeClr val="tx1">
                  <a:tint val="75000"/>
                </a:schemeClr>
              </a:solidFill>
            </a:endParaRPr>
          </a:p>
        </p:txBody>
      </p:sp>
    </p:spTree>
    <p:extLst>
      <p:ext uri="{BB962C8B-B14F-4D97-AF65-F5344CB8AC3E}">
        <p14:creationId xmlns:p14="http://schemas.microsoft.com/office/powerpoint/2010/main" val="18924636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D80C9EF-3CC6-4ECC-9C2D-9D0396C96E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F72AB6-30E5-9532-00F4-C67C270C2794}"/>
              </a:ext>
            </a:extLst>
          </p:cNvPr>
          <p:cNvSpPr>
            <a:spLocks noGrp="1"/>
          </p:cNvSpPr>
          <p:nvPr>
            <p:ph type="title"/>
          </p:nvPr>
        </p:nvSpPr>
        <p:spPr>
          <a:xfrm>
            <a:off x="795528" y="386930"/>
            <a:ext cx="10141799" cy="1300554"/>
          </a:xfrm>
        </p:spPr>
        <p:txBody>
          <a:bodyPr anchor="b">
            <a:normAutofit/>
          </a:bodyPr>
          <a:lstStyle/>
          <a:p>
            <a:r>
              <a:rPr lang="en-GB" sz="4800" b="1" dirty="0">
                <a:latin typeface="Arial" panose="020B0604020202020204" pitchFamily="34" charset="0"/>
                <a:cs typeface="Arial" panose="020B0604020202020204" pitchFamily="34" charset="0"/>
              </a:rPr>
              <a:t>Examples of Intelligent Agents</a:t>
            </a:r>
            <a:endParaRPr lang="en-PK" sz="4800" b="1" dirty="0">
              <a:latin typeface="Arial" panose="020B0604020202020204" pitchFamily="34" charset="0"/>
              <a:cs typeface="Arial" panose="020B0604020202020204" pitchFamily="34" charset="0"/>
            </a:endParaRPr>
          </a:p>
        </p:txBody>
      </p:sp>
      <p:sp>
        <p:nvSpPr>
          <p:cNvPr id="23" name="Rectangle 22">
            <a:extLst>
              <a:ext uri="{FF2B5EF4-FFF2-40B4-BE49-F238E27FC236}">
                <a16:creationId xmlns:a16="http://schemas.microsoft.com/office/drawing/2014/main" id="{5DA32751-37A2-45C0-BE94-63D375E27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car with a camera on the front&#10;&#10;Description automatically generated with medium confidence">
            <a:extLst>
              <a:ext uri="{FF2B5EF4-FFF2-40B4-BE49-F238E27FC236}">
                <a16:creationId xmlns:a16="http://schemas.microsoft.com/office/drawing/2014/main" id="{2D352CFD-2C86-C107-F68D-0F802DE913A8}"/>
              </a:ext>
            </a:extLst>
          </p:cNvPr>
          <p:cNvPicPr>
            <a:picLocks noChangeAspect="1"/>
          </p:cNvPicPr>
          <p:nvPr/>
        </p:nvPicPr>
        <p:blipFill>
          <a:blip r:embed="rId3">
            <a:extLst>
              <a:ext uri="{28A0092B-C50C-407E-A947-70E740481C1C}">
                <a14:useLocalDpi xmlns:a14="http://schemas.microsoft.com/office/drawing/2010/main" val="0"/>
              </a:ext>
            </a:extLst>
          </a:blip>
          <a:srcRect l="3152" r="4573" b="-2"/>
          <a:stretch/>
        </p:blipFill>
        <p:spPr>
          <a:xfrm>
            <a:off x="475213" y="2393074"/>
            <a:ext cx="5391214" cy="3888000"/>
          </a:xfrm>
          <a:prstGeom prst="rect">
            <a:avLst/>
          </a:prstGeom>
        </p:spPr>
      </p:pic>
      <p:sp>
        <p:nvSpPr>
          <p:cNvPr id="3" name="Content Placeholder 2">
            <a:extLst>
              <a:ext uri="{FF2B5EF4-FFF2-40B4-BE49-F238E27FC236}">
                <a16:creationId xmlns:a16="http://schemas.microsoft.com/office/drawing/2014/main" id="{7B35CF68-F6B5-8FCA-4572-6DFFA6C6CC54}"/>
              </a:ext>
            </a:extLst>
          </p:cNvPr>
          <p:cNvSpPr>
            <a:spLocks noGrp="1"/>
          </p:cNvSpPr>
          <p:nvPr>
            <p:ph idx="1"/>
          </p:nvPr>
        </p:nvSpPr>
        <p:spPr>
          <a:xfrm>
            <a:off x="6406428" y="2203079"/>
            <a:ext cx="4976933" cy="4035880"/>
          </a:xfrm>
        </p:spPr>
        <p:txBody>
          <a:bodyPr anchor="ctr">
            <a:normAutofit lnSpcReduction="10000"/>
          </a:bodyPr>
          <a:lstStyle/>
          <a:p>
            <a:pPr marL="0" indent="0" algn="just">
              <a:buNone/>
            </a:pPr>
            <a:r>
              <a:rPr lang="en-GB" sz="2400" b="1" dirty="0">
                <a:latin typeface="Arial" panose="020B0604020202020204" pitchFamily="34" charset="0"/>
                <a:cs typeface="Arial" panose="020B0604020202020204" pitchFamily="34" charset="0"/>
              </a:rPr>
              <a:t>Self-Driving Cars</a:t>
            </a:r>
          </a:p>
          <a:p>
            <a:pPr algn="just"/>
            <a:r>
              <a:rPr lang="en-GB" sz="2400" dirty="0">
                <a:latin typeface="Arial" panose="020B0604020202020204" pitchFamily="34" charset="0"/>
                <a:cs typeface="Arial" panose="020B0604020202020204" pitchFamily="34" charset="0"/>
              </a:rPr>
              <a:t>Perceive road conditions and make driving decisions.</a:t>
            </a:r>
          </a:p>
          <a:p>
            <a:pPr marL="0" indent="0" algn="just">
              <a:lnSpc>
                <a:spcPct val="100000"/>
              </a:lnSpc>
              <a:buNone/>
            </a:pPr>
            <a:r>
              <a:rPr lang="en-GB" sz="2400" b="1" dirty="0">
                <a:latin typeface="Arial" panose="020B0604020202020204" pitchFamily="34" charset="0"/>
                <a:cs typeface="Arial" panose="020B0604020202020204" pitchFamily="34" charset="0"/>
              </a:rPr>
              <a:t>Virtual Personal Assistants (e.g., Siri, Alexa)</a:t>
            </a:r>
          </a:p>
          <a:p>
            <a:pPr algn="just"/>
            <a:r>
              <a:rPr lang="en-GB" sz="2400" dirty="0">
                <a:latin typeface="Arial" panose="020B0604020202020204" pitchFamily="34" charset="0"/>
                <a:cs typeface="Arial" panose="020B0604020202020204" pitchFamily="34" charset="0"/>
              </a:rPr>
              <a:t>Respond to voice commands and perform tasks.</a:t>
            </a:r>
          </a:p>
          <a:p>
            <a:pPr marL="0" indent="0" algn="just">
              <a:buNone/>
            </a:pPr>
            <a:r>
              <a:rPr lang="en-GB" sz="2400" b="1" dirty="0">
                <a:latin typeface="Arial" panose="020B0604020202020204" pitchFamily="34" charset="0"/>
                <a:cs typeface="Arial" panose="020B0604020202020204" pitchFamily="34" charset="0"/>
              </a:rPr>
              <a:t>Robots in Manufacturing</a:t>
            </a:r>
          </a:p>
          <a:p>
            <a:pPr algn="just"/>
            <a:r>
              <a:rPr lang="en-GB" sz="2400" dirty="0">
                <a:latin typeface="Arial" panose="020B0604020202020204" pitchFamily="34" charset="0"/>
                <a:cs typeface="Arial" panose="020B0604020202020204" pitchFamily="34" charset="0"/>
              </a:rPr>
              <a:t>Automate tasks by perceiving object positions and adjusting actions.</a:t>
            </a:r>
            <a:endParaRPr lang="en-PK" sz="2400" dirty="0">
              <a:latin typeface="Arial" panose="020B0604020202020204" pitchFamily="34" charset="0"/>
              <a:cs typeface="Arial" panose="020B0604020202020204" pitchFamily="34" charset="0"/>
            </a:endParaRPr>
          </a:p>
        </p:txBody>
      </p:sp>
      <p:sp>
        <p:nvSpPr>
          <p:cNvPr id="27" name="Rectangle 26">
            <a:extLst>
              <a:ext uri="{FF2B5EF4-FFF2-40B4-BE49-F238E27FC236}">
                <a16:creationId xmlns:a16="http://schemas.microsoft.com/office/drawing/2014/main" id="{5A55FBCD-CD42-40F5-8A1B-3203F9CAE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2458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FFB60E8C-7224-44A4-87A0-46A1711DD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F72AB6-30E5-9532-00F4-C67C270C2794}"/>
              </a:ext>
            </a:extLst>
          </p:cNvPr>
          <p:cNvSpPr>
            <a:spLocks noGrp="1"/>
          </p:cNvSpPr>
          <p:nvPr>
            <p:ph type="title"/>
          </p:nvPr>
        </p:nvSpPr>
        <p:spPr>
          <a:xfrm>
            <a:off x="795528" y="386930"/>
            <a:ext cx="10141799" cy="1300554"/>
          </a:xfrm>
        </p:spPr>
        <p:txBody>
          <a:bodyPr anchor="b">
            <a:normAutofit/>
          </a:bodyPr>
          <a:lstStyle/>
          <a:p>
            <a:r>
              <a:rPr lang="en-GB" sz="4800" b="1" dirty="0">
                <a:latin typeface="Arial" panose="020B0604020202020204" pitchFamily="34" charset="0"/>
                <a:cs typeface="Arial" panose="020B0604020202020204" pitchFamily="34" charset="0"/>
              </a:rPr>
              <a:t>Agent's Interaction Cycle</a:t>
            </a:r>
            <a:endParaRPr lang="en-PK" sz="4800" b="1" dirty="0">
              <a:latin typeface="Arial" panose="020B0604020202020204" pitchFamily="34" charset="0"/>
              <a:cs typeface="Arial" panose="020B0604020202020204" pitchFamily="34" charset="0"/>
            </a:endParaRPr>
          </a:p>
        </p:txBody>
      </p:sp>
      <p:sp>
        <p:nvSpPr>
          <p:cNvPr id="34" name="Rectangle 33">
            <a:extLst>
              <a:ext uri="{FF2B5EF4-FFF2-40B4-BE49-F238E27FC236}">
                <a16:creationId xmlns:a16="http://schemas.microsoft.com/office/drawing/2014/main" id="{5DA32751-37A2-45C0-BE94-63D375E27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diagram of a diagram&#10;&#10;Description automatically generated">
            <a:extLst>
              <a:ext uri="{FF2B5EF4-FFF2-40B4-BE49-F238E27FC236}">
                <a16:creationId xmlns:a16="http://schemas.microsoft.com/office/drawing/2014/main" id="{8CB51866-F171-6D57-955E-47057D197D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068" y="2599509"/>
            <a:ext cx="6075255" cy="3419326"/>
          </a:xfrm>
          <a:prstGeom prst="rect">
            <a:avLst/>
          </a:prstGeom>
        </p:spPr>
      </p:pic>
      <p:sp>
        <p:nvSpPr>
          <p:cNvPr id="3" name="Content Placeholder 2">
            <a:extLst>
              <a:ext uri="{FF2B5EF4-FFF2-40B4-BE49-F238E27FC236}">
                <a16:creationId xmlns:a16="http://schemas.microsoft.com/office/drawing/2014/main" id="{7B35CF68-F6B5-8FCA-4572-6DFFA6C6CC54}"/>
              </a:ext>
            </a:extLst>
          </p:cNvPr>
          <p:cNvSpPr>
            <a:spLocks noGrp="1"/>
          </p:cNvSpPr>
          <p:nvPr>
            <p:ph idx="1"/>
          </p:nvPr>
        </p:nvSpPr>
        <p:spPr>
          <a:xfrm>
            <a:off x="6406428" y="2314936"/>
            <a:ext cx="4976933" cy="4156133"/>
          </a:xfrm>
        </p:spPr>
        <p:txBody>
          <a:bodyPr anchor="ctr">
            <a:normAutofit/>
          </a:bodyPr>
          <a:lstStyle/>
          <a:p>
            <a:pPr marL="0" indent="0" algn="just">
              <a:buNone/>
            </a:pPr>
            <a:r>
              <a:rPr lang="en-GB" sz="2400" b="1" dirty="0">
                <a:latin typeface="Arial" panose="020B0604020202020204" pitchFamily="34" charset="0"/>
                <a:cs typeface="Arial" panose="020B0604020202020204" pitchFamily="34" charset="0"/>
              </a:rPr>
              <a:t>Perception</a:t>
            </a:r>
          </a:p>
          <a:p>
            <a:pPr algn="just"/>
            <a:r>
              <a:rPr lang="en-GB" sz="2400" dirty="0">
                <a:latin typeface="Arial" panose="020B0604020202020204" pitchFamily="34" charset="0"/>
                <a:cs typeface="Arial" panose="020B0604020202020204" pitchFamily="34" charset="0"/>
              </a:rPr>
              <a:t>Collects information about the environment.</a:t>
            </a:r>
          </a:p>
          <a:p>
            <a:pPr marL="0" indent="0" algn="just">
              <a:buNone/>
            </a:pPr>
            <a:r>
              <a:rPr lang="en-GB" sz="2400" b="1" dirty="0">
                <a:latin typeface="Arial" panose="020B0604020202020204" pitchFamily="34" charset="0"/>
                <a:cs typeface="Arial" panose="020B0604020202020204" pitchFamily="34" charset="0"/>
              </a:rPr>
              <a:t>Reasoning/Decision Making</a:t>
            </a:r>
          </a:p>
          <a:p>
            <a:pPr algn="just"/>
            <a:r>
              <a:rPr lang="en-GB" sz="2400" dirty="0">
                <a:latin typeface="Arial" panose="020B0604020202020204" pitchFamily="34" charset="0"/>
                <a:cs typeface="Arial" panose="020B0604020202020204" pitchFamily="34" charset="0"/>
              </a:rPr>
              <a:t>Uses the information to make decisions.</a:t>
            </a:r>
          </a:p>
          <a:p>
            <a:pPr marL="0" indent="0" algn="just">
              <a:buNone/>
            </a:pPr>
            <a:r>
              <a:rPr lang="en-GB" sz="2400" b="1" dirty="0">
                <a:latin typeface="Arial" panose="020B0604020202020204" pitchFamily="34" charset="0"/>
                <a:cs typeface="Arial" panose="020B0604020202020204" pitchFamily="34" charset="0"/>
              </a:rPr>
              <a:t>Action</a:t>
            </a:r>
          </a:p>
          <a:p>
            <a:pPr algn="just"/>
            <a:r>
              <a:rPr lang="en-GB" sz="2400" dirty="0">
                <a:latin typeface="Arial" panose="020B0604020202020204" pitchFamily="34" charset="0"/>
                <a:cs typeface="Arial" panose="020B0604020202020204" pitchFamily="34" charset="0"/>
              </a:rPr>
              <a:t>Performs actions to affect the environment.</a:t>
            </a:r>
            <a:endParaRPr lang="en-PK" sz="2400" dirty="0">
              <a:latin typeface="Arial" panose="020B0604020202020204" pitchFamily="34" charset="0"/>
              <a:cs typeface="Arial" panose="020B0604020202020204" pitchFamily="34" charset="0"/>
            </a:endParaRPr>
          </a:p>
        </p:txBody>
      </p:sp>
      <p:sp>
        <p:nvSpPr>
          <p:cNvPr id="38" name="Rectangle 37">
            <a:extLst>
              <a:ext uri="{FF2B5EF4-FFF2-40B4-BE49-F238E27FC236}">
                <a16:creationId xmlns:a16="http://schemas.microsoft.com/office/drawing/2014/main" id="{5A55FBCD-CD42-40F5-8A1B-3203F9CAE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14474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FFB60E8C-7224-44A4-87A0-46A1711DD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F72AB6-30E5-9532-00F4-C67C270C2794}"/>
              </a:ext>
            </a:extLst>
          </p:cNvPr>
          <p:cNvSpPr>
            <a:spLocks noGrp="1"/>
          </p:cNvSpPr>
          <p:nvPr>
            <p:ph type="title"/>
          </p:nvPr>
        </p:nvSpPr>
        <p:spPr>
          <a:xfrm>
            <a:off x="795528" y="386930"/>
            <a:ext cx="10141799" cy="1300554"/>
          </a:xfrm>
        </p:spPr>
        <p:txBody>
          <a:bodyPr anchor="b">
            <a:normAutofit/>
          </a:bodyPr>
          <a:lstStyle/>
          <a:p>
            <a:r>
              <a:rPr lang="en-GB" sz="4800" b="1" dirty="0">
                <a:latin typeface="Arial" panose="020B0604020202020204" pitchFamily="34" charset="0"/>
                <a:cs typeface="Arial" panose="020B0604020202020204" pitchFamily="34" charset="0"/>
              </a:rPr>
              <a:t>Why Study Intelligent Agents?</a:t>
            </a:r>
            <a:endParaRPr lang="en-PK" sz="4800" b="1" dirty="0">
              <a:latin typeface="Arial" panose="020B0604020202020204" pitchFamily="34" charset="0"/>
              <a:cs typeface="Arial" panose="020B0604020202020204" pitchFamily="34" charset="0"/>
            </a:endParaRPr>
          </a:p>
        </p:txBody>
      </p:sp>
      <p:sp>
        <p:nvSpPr>
          <p:cNvPr id="34" name="Rectangle 33">
            <a:extLst>
              <a:ext uri="{FF2B5EF4-FFF2-40B4-BE49-F238E27FC236}">
                <a16:creationId xmlns:a16="http://schemas.microsoft.com/office/drawing/2014/main" id="{5DA32751-37A2-45C0-BE94-63D375E27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B35CF68-F6B5-8FCA-4572-6DFFA6C6CC54}"/>
              </a:ext>
            </a:extLst>
          </p:cNvPr>
          <p:cNvSpPr>
            <a:spLocks noGrp="1"/>
          </p:cNvSpPr>
          <p:nvPr>
            <p:ph idx="1"/>
          </p:nvPr>
        </p:nvSpPr>
        <p:spPr>
          <a:xfrm>
            <a:off x="1122744" y="2314936"/>
            <a:ext cx="8715737" cy="4156133"/>
          </a:xfrm>
        </p:spPr>
        <p:txBody>
          <a:bodyPr anchor="ctr">
            <a:normAutofit/>
          </a:bodyPr>
          <a:lstStyle/>
          <a:p>
            <a:pPr algn="just"/>
            <a:r>
              <a:rPr lang="en-GB" dirty="0">
                <a:latin typeface="Arial" panose="020B0604020202020204" pitchFamily="34" charset="0"/>
                <a:cs typeface="Arial" panose="020B0604020202020204" pitchFamily="34" charset="0"/>
              </a:rPr>
              <a:t>Understanding intelligent agents helps develop better AI systems that can solve complex, real-world problems.</a:t>
            </a:r>
          </a:p>
          <a:p>
            <a:pPr algn="just"/>
            <a:r>
              <a:rPr lang="en-GB" dirty="0">
                <a:latin typeface="Arial" panose="020B0604020202020204" pitchFamily="34" charset="0"/>
                <a:cs typeface="Arial" panose="020B0604020202020204" pitchFamily="34" charset="0"/>
              </a:rPr>
              <a:t>Foundation for AI applications across various fields like healthcare, finance, gaming, and robotics.</a:t>
            </a:r>
            <a:endParaRPr lang="en-PK" dirty="0">
              <a:latin typeface="Arial" panose="020B0604020202020204" pitchFamily="34" charset="0"/>
              <a:cs typeface="Arial" panose="020B0604020202020204" pitchFamily="34" charset="0"/>
            </a:endParaRPr>
          </a:p>
        </p:txBody>
      </p:sp>
      <p:sp>
        <p:nvSpPr>
          <p:cNvPr id="38" name="Rectangle 37">
            <a:extLst>
              <a:ext uri="{FF2B5EF4-FFF2-40B4-BE49-F238E27FC236}">
                <a16:creationId xmlns:a16="http://schemas.microsoft.com/office/drawing/2014/main" id="{5A55FBCD-CD42-40F5-8A1B-3203F9CAE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171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72AB6-30E5-9532-00F4-C67C270C2794}"/>
              </a:ext>
            </a:extLst>
          </p:cNvPr>
          <p:cNvSpPr>
            <a:spLocks noGrp="1"/>
          </p:cNvSpPr>
          <p:nvPr>
            <p:ph type="title"/>
          </p:nvPr>
        </p:nvSpPr>
        <p:spPr>
          <a:xfrm>
            <a:off x="6416235" y="891540"/>
            <a:ext cx="5633011" cy="1578308"/>
          </a:xfrm>
        </p:spPr>
        <p:txBody>
          <a:bodyPr>
            <a:normAutofit/>
          </a:bodyPr>
          <a:lstStyle/>
          <a:p>
            <a:r>
              <a:rPr lang="en-GB" sz="4000" b="1" dirty="0">
                <a:latin typeface="Arial" panose="020B0604020202020204" pitchFamily="34" charset="0"/>
                <a:cs typeface="Arial" panose="020B0604020202020204" pitchFamily="34" charset="0"/>
              </a:rPr>
              <a:t>Characteristics of Intelligent Agents</a:t>
            </a:r>
            <a:endParaRPr lang="en-PK" sz="4000" b="1" dirty="0">
              <a:latin typeface="Arial" panose="020B0604020202020204" pitchFamily="34" charset="0"/>
              <a:cs typeface="Arial" panose="020B0604020202020204" pitchFamily="34" charset="0"/>
            </a:endParaRPr>
          </a:p>
        </p:txBody>
      </p:sp>
      <p:pic>
        <p:nvPicPr>
          <p:cNvPr id="6" name="Picture 5" descr="Robot operating a machine">
            <a:extLst>
              <a:ext uri="{FF2B5EF4-FFF2-40B4-BE49-F238E27FC236}">
                <a16:creationId xmlns:a16="http://schemas.microsoft.com/office/drawing/2014/main" id="{F7B6E684-3264-DAA4-1A57-8367F3522C5A}"/>
              </a:ext>
            </a:extLst>
          </p:cNvPr>
          <p:cNvPicPr>
            <a:picLocks noChangeAspect="1"/>
          </p:cNvPicPr>
          <p:nvPr/>
        </p:nvPicPr>
        <p:blipFill>
          <a:blip r:embed="rId3"/>
          <a:srcRect l="12728" r="10807" b="1"/>
          <a:stretch/>
        </p:blipFill>
        <p:spPr>
          <a:xfrm>
            <a:off x="1" y="10"/>
            <a:ext cx="5775766" cy="6857990"/>
          </a:xfrm>
          <a:custGeom>
            <a:avLst/>
            <a:gdLst/>
            <a:ahLst/>
            <a:cxnLst/>
            <a:rect l="l" t="t" r="r" b="b"/>
            <a:pathLst>
              <a:path w="6832674" h="6858000">
                <a:moveTo>
                  <a:pt x="0" y="0"/>
                </a:moveTo>
                <a:lnTo>
                  <a:pt x="6832674" y="0"/>
                </a:lnTo>
                <a:lnTo>
                  <a:pt x="6749707" y="183520"/>
                </a:lnTo>
                <a:cubicBezTo>
                  <a:pt x="6327787" y="1181050"/>
                  <a:pt x="6094475" y="2277779"/>
                  <a:pt x="6094475" y="3429000"/>
                </a:cubicBezTo>
                <a:cubicBezTo>
                  <a:pt x="6094475" y="4580222"/>
                  <a:pt x="6327787" y="5676950"/>
                  <a:pt x="6749707" y="6674481"/>
                </a:cubicBezTo>
                <a:lnTo>
                  <a:pt x="6832674" y="6858000"/>
                </a:lnTo>
                <a:lnTo>
                  <a:pt x="0" y="6858000"/>
                </a:lnTo>
                <a:close/>
              </a:path>
            </a:pathLst>
          </a:custGeom>
        </p:spPr>
      </p:pic>
      <p:sp>
        <p:nvSpPr>
          <p:cNvPr id="3" name="Content Placeholder 2">
            <a:extLst>
              <a:ext uri="{FF2B5EF4-FFF2-40B4-BE49-F238E27FC236}">
                <a16:creationId xmlns:a16="http://schemas.microsoft.com/office/drawing/2014/main" id="{7B35CF68-F6B5-8FCA-4572-6DFFA6C6CC54}"/>
              </a:ext>
            </a:extLst>
          </p:cNvPr>
          <p:cNvSpPr>
            <a:spLocks noGrp="1"/>
          </p:cNvSpPr>
          <p:nvPr>
            <p:ph idx="1"/>
          </p:nvPr>
        </p:nvSpPr>
        <p:spPr>
          <a:xfrm>
            <a:off x="5775766" y="2294494"/>
            <a:ext cx="6413185" cy="4563496"/>
          </a:xfrm>
        </p:spPr>
        <p:txBody>
          <a:bodyPr>
            <a:normAutofit/>
          </a:bodyPr>
          <a:lstStyle/>
          <a:p>
            <a:pPr marL="0" indent="0" algn="just">
              <a:buNone/>
            </a:pPr>
            <a:r>
              <a:rPr lang="en-GB" sz="2400" b="1" dirty="0">
                <a:latin typeface="Arial" panose="020B0604020202020204" pitchFamily="34" charset="0"/>
                <a:cs typeface="Arial" panose="020B0604020202020204" pitchFamily="34" charset="0"/>
              </a:rPr>
              <a:t>Autonomy: </a:t>
            </a:r>
          </a:p>
          <a:p>
            <a:pPr algn="just"/>
            <a:r>
              <a:rPr lang="en-GB" sz="2400" dirty="0">
                <a:latin typeface="Arial" panose="020B0604020202020204" pitchFamily="34" charset="0"/>
                <a:cs typeface="Arial" panose="020B0604020202020204" pitchFamily="34" charset="0"/>
              </a:rPr>
              <a:t>Capable of making decisions without human intervention.</a:t>
            </a:r>
          </a:p>
          <a:p>
            <a:pPr marL="0" indent="0" algn="just">
              <a:buNone/>
            </a:pPr>
            <a:r>
              <a:rPr lang="en-GB" sz="2400" b="1" dirty="0">
                <a:latin typeface="Arial" panose="020B0604020202020204" pitchFamily="34" charset="0"/>
                <a:cs typeface="Arial" panose="020B0604020202020204" pitchFamily="34" charset="0"/>
              </a:rPr>
              <a:t>Reactivity: </a:t>
            </a:r>
          </a:p>
          <a:p>
            <a:pPr algn="just"/>
            <a:r>
              <a:rPr lang="en-GB" sz="2400" dirty="0">
                <a:latin typeface="Arial" panose="020B0604020202020204" pitchFamily="34" charset="0"/>
                <a:cs typeface="Arial" panose="020B0604020202020204" pitchFamily="34" charset="0"/>
              </a:rPr>
              <a:t>Responds to changes in the environment.</a:t>
            </a:r>
          </a:p>
          <a:p>
            <a:pPr marL="0" indent="0" algn="just">
              <a:buNone/>
            </a:pPr>
            <a:r>
              <a:rPr lang="en-GB" sz="2400" b="1" dirty="0">
                <a:latin typeface="Arial" panose="020B0604020202020204" pitchFamily="34" charset="0"/>
                <a:cs typeface="Arial" panose="020B0604020202020204" pitchFamily="34" charset="0"/>
              </a:rPr>
              <a:t>Proactivity: </a:t>
            </a:r>
          </a:p>
          <a:p>
            <a:pPr algn="just"/>
            <a:r>
              <a:rPr lang="en-GB" sz="2400" dirty="0">
                <a:latin typeface="Arial" panose="020B0604020202020204" pitchFamily="34" charset="0"/>
                <a:cs typeface="Arial" panose="020B0604020202020204" pitchFamily="34" charset="0"/>
              </a:rPr>
              <a:t>Takes initiative to achieve its goals.</a:t>
            </a:r>
          </a:p>
          <a:p>
            <a:pPr marL="0" indent="0" algn="just">
              <a:buNone/>
            </a:pPr>
            <a:r>
              <a:rPr lang="en-GB" sz="2400" b="1" dirty="0">
                <a:latin typeface="Arial" panose="020B0604020202020204" pitchFamily="34" charset="0"/>
                <a:cs typeface="Arial" panose="020B0604020202020204" pitchFamily="34" charset="0"/>
              </a:rPr>
              <a:t>Social Ability: </a:t>
            </a:r>
          </a:p>
          <a:p>
            <a:pPr algn="just"/>
            <a:r>
              <a:rPr lang="en-GB" sz="2400" dirty="0">
                <a:latin typeface="Arial" panose="020B0604020202020204" pitchFamily="34" charset="0"/>
                <a:cs typeface="Arial" panose="020B0604020202020204" pitchFamily="34" charset="0"/>
              </a:rPr>
              <a:t>Can interact with other agents or humans to fulfil its objectives.</a:t>
            </a:r>
            <a:endParaRPr lang="en-PK"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095150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FFB60E8C-7224-44A4-87A0-46A1711DD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F72AB6-30E5-9532-00F4-C67C270C2794}"/>
              </a:ext>
            </a:extLst>
          </p:cNvPr>
          <p:cNvSpPr>
            <a:spLocks noGrp="1"/>
          </p:cNvSpPr>
          <p:nvPr>
            <p:ph type="title"/>
          </p:nvPr>
        </p:nvSpPr>
        <p:spPr>
          <a:xfrm>
            <a:off x="795528" y="386930"/>
            <a:ext cx="10141799" cy="1300554"/>
          </a:xfrm>
        </p:spPr>
        <p:txBody>
          <a:bodyPr anchor="b">
            <a:normAutofit/>
          </a:bodyPr>
          <a:lstStyle/>
          <a:p>
            <a:r>
              <a:rPr lang="en-GB" sz="4800" b="1" dirty="0">
                <a:latin typeface="Arial" panose="020B0604020202020204" pitchFamily="34" charset="0"/>
                <a:cs typeface="Arial" panose="020B0604020202020204" pitchFamily="34" charset="0"/>
              </a:rPr>
              <a:t>The Concept of Rationality</a:t>
            </a:r>
            <a:endParaRPr lang="en-PK" sz="4800" b="1" dirty="0">
              <a:latin typeface="Arial" panose="020B0604020202020204" pitchFamily="34" charset="0"/>
              <a:cs typeface="Arial" panose="020B0604020202020204" pitchFamily="34" charset="0"/>
            </a:endParaRPr>
          </a:p>
        </p:txBody>
      </p:sp>
      <p:sp>
        <p:nvSpPr>
          <p:cNvPr id="34" name="Rectangle 33">
            <a:extLst>
              <a:ext uri="{FF2B5EF4-FFF2-40B4-BE49-F238E27FC236}">
                <a16:creationId xmlns:a16="http://schemas.microsoft.com/office/drawing/2014/main" id="{5DA32751-37A2-45C0-BE94-63D375E27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B35CF68-F6B5-8FCA-4572-6DFFA6C6CC54}"/>
              </a:ext>
            </a:extLst>
          </p:cNvPr>
          <p:cNvSpPr>
            <a:spLocks noGrp="1"/>
          </p:cNvSpPr>
          <p:nvPr>
            <p:ph idx="1"/>
          </p:nvPr>
        </p:nvSpPr>
        <p:spPr>
          <a:xfrm>
            <a:off x="496920" y="2314936"/>
            <a:ext cx="10784224" cy="4156133"/>
          </a:xfrm>
        </p:spPr>
        <p:txBody>
          <a:bodyPr anchor="ctr">
            <a:normAutofit/>
          </a:bodyPr>
          <a:lstStyle/>
          <a:p>
            <a:pPr marL="0" indent="0" algn="just">
              <a:buNone/>
            </a:pPr>
            <a:r>
              <a:rPr lang="en-GB" b="1" dirty="0">
                <a:latin typeface="Arial" panose="020B0604020202020204" pitchFamily="34" charset="0"/>
                <a:cs typeface="Arial" panose="020B0604020202020204" pitchFamily="34" charset="0"/>
              </a:rPr>
              <a:t>Rationality</a:t>
            </a:r>
          </a:p>
          <a:p>
            <a:pPr algn="just"/>
            <a:r>
              <a:rPr lang="en-US" sz="2400" dirty="0">
                <a:latin typeface="Arial" panose="020B0604020202020204" pitchFamily="34" charset="0"/>
                <a:cs typeface="Arial" panose="020B0604020202020204" pitchFamily="34" charset="0"/>
              </a:rPr>
              <a:t>Rationality means making the best possible decision based on the information available. A rational agent chooses actions that lead to the best expected outcome.</a:t>
            </a:r>
          </a:p>
          <a:p>
            <a:pPr algn="just"/>
            <a:r>
              <a:rPr lang="en-GB" sz="2400" b="1" dirty="0">
                <a:latin typeface="Arial" panose="020B0604020202020204" pitchFamily="34" charset="0"/>
                <a:cs typeface="Arial" panose="020B0604020202020204" pitchFamily="34" charset="0"/>
              </a:rPr>
              <a:t>Factors influencing rationality:</a:t>
            </a:r>
          </a:p>
          <a:p>
            <a:pPr lvl="1" algn="just"/>
            <a:r>
              <a:rPr lang="en-US" dirty="0">
                <a:latin typeface="Arial" panose="020B0604020202020204" pitchFamily="34" charset="0"/>
                <a:cs typeface="Arial" panose="020B0604020202020204" pitchFamily="34" charset="0"/>
              </a:rPr>
              <a:t>Performance Measure – How success is defined for the agent.</a:t>
            </a:r>
          </a:p>
          <a:p>
            <a:pPr lvl="1" algn="just"/>
            <a:r>
              <a:rPr lang="en-US" dirty="0">
                <a:latin typeface="Arial" panose="020B0604020202020204" pitchFamily="34" charset="0"/>
                <a:cs typeface="Arial" panose="020B0604020202020204" pitchFamily="34" charset="0"/>
              </a:rPr>
              <a:t>Percept Sequence – What the agent has sensed or observed over time.</a:t>
            </a:r>
          </a:p>
          <a:p>
            <a:pPr lvl="1" algn="just"/>
            <a:r>
              <a:rPr lang="en-US" dirty="0">
                <a:latin typeface="Arial" panose="020B0604020202020204" pitchFamily="34" charset="0"/>
                <a:cs typeface="Arial" panose="020B0604020202020204" pitchFamily="34" charset="0"/>
              </a:rPr>
              <a:t>Knowledge of the Environment – What the agent knows about the world.</a:t>
            </a:r>
          </a:p>
          <a:p>
            <a:pPr lvl="1" algn="just"/>
            <a:r>
              <a:rPr lang="en-US" dirty="0">
                <a:latin typeface="Arial" panose="020B0604020202020204" pitchFamily="34" charset="0"/>
                <a:cs typeface="Arial" panose="020B0604020202020204" pitchFamily="34" charset="0"/>
              </a:rPr>
              <a:t>Available Actions – The choices the agent can make.</a:t>
            </a:r>
          </a:p>
          <a:p>
            <a:pPr lvl="1" algn="just"/>
            <a:endParaRPr lang="en-PK" dirty="0">
              <a:latin typeface="Arial" panose="020B0604020202020204" pitchFamily="34" charset="0"/>
              <a:cs typeface="Arial" panose="020B0604020202020204" pitchFamily="34" charset="0"/>
            </a:endParaRPr>
          </a:p>
        </p:txBody>
      </p:sp>
      <p:sp>
        <p:nvSpPr>
          <p:cNvPr id="38" name="Rectangle 37">
            <a:extLst>
              <a:ext uri="{FF2B5EF4-FFF2-40B4-BE49-F238E27FC236}">
                <a16:creationId xmlns:a16="http://schemas.microsoft.com/office/drawing/2014/main" id="{5A55FBCD-CD42-40F5-8A1B-3203F9CAE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586458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3644BFD-D22E-4019-B666-387DA51AE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5FE9FE4C-C9E0-4C54-8010-EA9D29CD4D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7956356" y="1890469"/>
            <a:ext cx="5860051" cy="2079143"/>
            <a:chOff x="6081624" y="1998368"/>
            <a:chExt cx="5613457" cy="782175"/>
          </a:xfrm>
          <a:solidFill>
            <a:schemeClr val="accent4"/>
          </a:solidFill>
        </p:grpSpPr>
        <p:sp>
          <p:nvSpPr>
            <p:cNvPr id="13" name="Rectangle 12">
              <a:extLst>
                <a:ext uri="{FF2B5EF4-FFF2-40B4-BE49-F238E27FC236}">
                  <a16:creationId xmlns:a16="http://schemas.microsoft.com/office/drawing/2014/main" id="{56FAD6EF-0374-46BD-901E-E901DCA01F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4847ABE-275E-4DCA-B164-A672D517F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3776B14B-F2F4-4825-8DA8-8C7A0F2B39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466344"/>
            <a:ext cx="11111729" cy="591782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diagram of a agent&#10;&#10;Description automatically generated">
            <a:extLst>
              <a:ext uri="{FF2B5EF4-FFF2-40B4-BE49-F238E27FC236}">
                <a16:creationId xmlns:a16="http://schemas.microsoft.com/office/drawing/2014/main" id="{B00C10F3-3F6A-FA6C-FB28-3D9204A25467}"/>
              </a:ext>
            </a:extLst>
          </p:cNvPr>
          <p:cNvPicPr>
            <a:picLocks noChangeAspect="1"/>
          </p:cNvPicPr>
          <p:nvPr/>
        </p:nvPicPr>
        <p:blipFill>
          <a:blip r:embed="rId2">
            <a:extLst>
              <a:ext uri="{28A0092B-C50C-407E-A947-70E740481C1C}">
                <a14:useLocalDpi xmlns:a14="http://schemas.microsoft.com/office/drawing/2010/main" val="0"/>
              </a:ext>
            </a:extLst>
          </a:blip>
          <a:srcRect t="11200" r="-2" b="14728"/>
          <a:stretch/>
        </p:blipFill>
        <p:spPr>
          <a:xfrm>
            <a:off x="838200" y="704765"/>
            <a:ext cx="10628376" cy="5440003"/>
          </a:xfrm>
          <a:prstGeom prst="rect">
            <a:avLst/>
          </a:prstGeom>
        </p:spPr>
      </p:pic>
    </p:spTree>
    <p:extLst>
      <p:ext uri="{BB962C8B-B14F-4D97-AF65-F5344CB8AC3E}">
        <p14:creationId xmlns:p14="http://schemas.microsoft.com/office/powerpoint/2010/main" val="4041446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4863BA6-9E69-4918-5556-9AAFC39E8B13}"/>
              </a:ext>
            </a:extLst>
          </p:cNvPr>
          <p:cNvSpPr>
            <a:spLocks noGrp="1"/>
          </p:cNvSpPr>
          <p:nvPr>
            <p:ph type="title"/>
          </p:nvPr>
        </p:nvSpPr>
        <p:spPr>
          <a:xfrm>
            <a:off x="838200" y="365125"/>
            <a:ext cx="10515600" cy="1325563"/>
          </a:xfrm>
        </p:spPr>
        <p:txBody>
          <a:bodyPr>
            <a:normAutofit/>
          </a:bodyPr>
          <a:lstStyle/>
          <a:p>
            <a:r>
              <a:rPr lang="en-US" dirty="0"/>
              <a:t>PEAS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B16CF70-4F60-E3A0-7F72-C9F29EB11693}"/>
              </a:ext>
            </a:extLst>
          </p:cNvPr>
          <p:cNvSpPr>
            <a:spLocks noGrp="1"/>
          </p:cNvSpPr>
          <p:nvPr>
            <p:ph idx="1"/>
          </p:nvPr>
        </p:nvSpPr>
        <p:spPr>
          <a:xfrm>
            <a:off x="838200" y="1825625"/>
            <a:ext cx="10515600" cy="4351338"/>
          </a:xfrm>
        </p:spPr>
        <p:txBody>
          <a:bodyPr>
            <a:normAutofit/>
          </a:bodyPr>
          <a:lstStyle/>
          <a:p>
            <a:r>
              <a:rPr lang="en-US" sz="2600" dirty="0"/>
              <a:t>PEAS is a framework used to define the structure of an intelligent agent by identifying four key components:</a:t>
            </a:r>
          </a:p>
          <a:p>
            <a:pPr lvl="1"/>
            <a:r>
              <a:rPr lang="en-US" sz="2800" b="1" dirty="0"/>
              <a:t>Performance Measure </a:t>
            </a:r>
            <a:r>
              <a:rPr lang="en-US" sz="2800" dirty="0"/>
              <a:t>– The criteria that define the success of the agent’s actions (e.g., accuracy, speed, efficiency).</a:t>
            </a:r>
          </a:p>
          <a:p>
            <a:pPr lvl="1"/>
            <a:r>
              <a:rPr lang="en-US" sz="2800" b="1" dirty="0"/>
              <a:t>Environment</a:t>
            </a:r>
            <a:r>
              <a:rPr lang="en-US" sz="2800" dirty="0"/>
              <a:t> – The surroundings in which the agent operates (e.g., a chessboard, a self-driving car's road).</a:t>
            </a:r>
          </a:p>
          <a:p>
            <a:pPr lvl="1"/>
            <a:r>
              <a:rPr lang="en-US" sz="2800" b="1" dirty="0"/>
              <a:t>Actuators</a:t>
            </a:r>
            <a:r>
              <a:rPr lang="en-US" sz="2800" dirty="0"/>
              <a:t> – The parts that allow the agent to take action (e.g., robot arms, car wheels).</a:t>
            </a:r>
          </a:p>
          <a:p>
            <a:pPr lvl="1"/>
            <a:r>
              <a:rPr lang="en-US" sz="2800" b="1" dirty="0"/>
              <a:t>Sensors</a:t>
            </a:r>
            <a:r>
              <a:rPr lang="en-US" sz="2800" dirty="0"/>
              <a:t> – The parts that gather information from the environment (e.g., cameras, microphones).</a:t>
            </a:r>
          </a:p>
        </p:txBody>
      </p:sp>
    </p:spTree>
    <p:extLst>
      <p:ext uri="{BB962C8B-B14F-4D97-AF65-F5344CB8AC3E}">
        <p14:creationId xmlns:p14="http://schemas.microsoft.com/office/powerpoint/2010/main" val="20680433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59780E-D4AF-494A-906D-EFD1A53C1DD3}"/>
              </a:ext>
            </a:extLst>
          </p:cNvPr>
          <p:cNvSpPr>
            <a:spLocks noGrp="1"/>
          </p:cNvSpPr>
          <p:nvPr>
            <p:ph type="title"/>
          </p:nvPr>
        </p:nvSpPr>
        <p:spPr>
          <a:xfrm>
            <a:off x="686834" y="1153572"/>
            <a:ext cx="3200400" cy="4461163"/>
          </a:xfrm>
        </p:spPr>
        <p:txBody>
          <a:bodyPr>
            <a:normAutofit/>
          </a:bodyPr>
          <a:lstStyle/>
          <a:p>
            <a:r>
              <a:rPr lang="en-US">
                <a:solidFill>
                  <a:srgbClr val="FFFFFF"/>
                </a:solidFill>
              </a:rPr>
              <a:t>Cont…</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E0C7C66E-C75F-BA69-DAA5-F43D852EF8E6}"/>
              </a:ext>
            </a:extLst>
          </p:cNvPr>
          <p:cNvSpPr>
            <a:spLocks noGrp="1"/>
          </p:cNvSpPr>
          <p:nvPr>
            <p:ph idx="1"/>
          </p:nvPr>
        </p:nvSpPr>
        <p:spPr>
          <a:xfrm>
            <a:off x="4447308" y="591344"/>
            <a:ext cx="6906491" cy="5585619"/>
          </a:xfrm>
        </p:spPr>
        <p:txBody>
          <a:bodyPr anchor="ctr">
            <a:normAutofit/>
          </a:bodyPr>
          <a:lstStyle/>
          <a:p>
            <a:r>
              <a:rPr lang="en-US" dirty="0"/>
              <a:t>The </a:t>
            </a:r>
            <a:r>
              <a:rPr lang="en-US" b="1" dirty="0"/>
              <a:t>performance measure</a:t>
            </a:r>
            <a:r>
              <a:rPr lang="en-US" dirty="0"/>
              <a:t> determines what counts as a good decision, while the </a:t>
            </a:r>
            <a:r>
              <a:rPr lang="en-US" b="1" dirty="0"/>
              <a:t>environment, actuators, and sensors</a:t>
            </a:r>
            <a:r>
              <a:rPr lang="en-US" dirty="0"/>
              <a:t> influence how well the agent can perceive and act. </a:t>
            </a:r>
            <a:endParaRPr lang="en-US"/>
          </a:p>
          <a:p>
            <a:endParaRPr lang="en-US"/>
          </a:p>
          <a:p>
            <a:r>
              <a:rPr lang="en-US" dirty="0"/>
              <a:t>A rational agent uses these components to make the best possible choices.</a:t>
            </a:r>
            <a:endParaRPr lang="en-US"/>
          </a:p>
        </p:txBody>
      </p:sp>
    </p:spTree>
    <p:extLst>
      <p:ext uri="{BB962C8B-B14F-4D97-AF65-F5344CB8AC3E}">
        <p14:creationId xmlns:p14="http://schemas.microsoft.com/office/powerpoint/2010/main" val="23913588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4"/>
          <p:cNvSpPr>
            <a:spLocks noGrp="1" noChangeArrowheads="1"/>
          </p:cNvSpPr>
          <p:nvPr>
            <p:ph type="title"/>
          </p:nvPr>
        </p:nvSpPr>
        <p:spPr>
          <a:noFill/>
        </p:spPr>
        <p:txBody>
          <a:bodyPr/>
          <a:lstStyle/>
          <a:p>
            <a:pPr eaLnBrk="1" hangingPunct="1"/>
            <a:r>
              <a:rPr lang="en-US" altLang="zh-TW"/>
              <a:t>Nature of environments</a:t>
            </a:r>
            <a:endParaRPr lang="zh-TW" altLang="en-US"/>
          </a:p>
        </p:txBody>
      </p:sp>
      <p:sp>
        <p:nvSpPr>
          <p:cNvPr id="28674" name="Rectangle 3"/>
          <p:cNvSpPr>
            <a:spLocks noGrp="1" noChangeArrowheads="1"/>
          </p:cNvSpPr>
          <p:nvPr>
            <p:ph idx="1"/>
          </p:nvPr>
        </p:nvSpPr>
        <p:spPr/>
        <p:txBody>
          <a:bodyPr/>
          <a:lstStyle/>
          <a:p>
            <a:pPr eaLnBrk="1" hangingPunct="1"/>
            <a:r>
              <a:rPr lang="en-US" altLang="zh-TW"/>
              <a:t>A sketch of automated taxi driver</a:t>
            </a:r>
          </a:p>
        </p:txBody>
      </p:sp>
      <p:sp>
        <p:nvSpPr>
          <p:cNvPr id="28677" name="Slide Number Placeholder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新細明體" pitchFamily="18" charset="-120"/>
              </a:defRPr>
            </a:lvl1pPr>
            <a:lvl2pPr marL="742950" indent="-285750" eaLnBrk="0" hangingPunct="0">
              <a:defRPr kumimoji="1" sz="2400">
                <a:solidFill>
                  <a:schemeClr val="tx1"/>
                </a:solidFill>
                <a:latin typeface="Times New Roman" panose="02020603050405020304" pitchFamily="18" charset="0"/>
                <a:ea typeface="新細明體" pitchFamily="18" charset="-120"/>
              </a:defRPr>
            </a:lvl2pPr>
            <a:lvl3pPr marL="1143000" indent="-228600" eaLnBrk="0" hangingPunct="0">
              <a:defRPr kumimoji="1" sz="2400">
                <a:solidFill>
                  <a:schemeClr val="tx1"/>
                </a:solidFill>
                <a:latin typeface="Times New Roman" panose="02020603050405020304" pitchFamily="18" charset="0"/>
                <a:ea typeface="新細明體" pitchFamily="18" charset="-120"/>
              </a:defRPr>
            </a:lvl3pPr>
            <a:lvl4pPr marL="1600200" indent="-228600" eaLnBrk="0" hangingPunct="0">
              <a:defRPr kumimoji="1" sz="2400">
                <a:solidFill>
                  <a:schemeClr val="tx1"/>
                </a:solidFill>
                <a:latin typeface="Times New Roman" panose="02020603050405020304" pitchFamily="18" charset="0"/>
                <a:ea typeface="新細明體" pitchFamily="18" charset="-120"/>
              </a:defRPr>
            </a:lvl4pPr>
            <a:lvl5pPr marL="2057400" indent="-228600" eaLnBrk="0" hangingPunct="0">
              <a:defRPr kumimoji="1" sz="2400">
                <a:solidFill>
                  <a:schemeClr val="tx1"/>
                </a:solidFill>
                <a:latin typeface="Times New Roman" panose="02020603050405020304"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9pPr>
          </a:lstStyle>
          <a:p>
            <a:pPr eaLnBrk="1" hangingPunct="1"/>
            <a:fld id="{FAF05353-530E-42F2-9744-3BD105DE6865}" type="slidenum">
              <a:rPr kumimoji="0" lang="zh-TW" altLang="en-US" sz="1400">
                <a:solidFill>
                  <a:schemeClr val="tx2"/>
                </a:solidFill>
                <a:latin typeface="Arial Narrow" panose="020B0606020202030204" pitchFamily="34" charset="0"/>
              </a:rPr>
              <a:pPr eaLnBrk="1" hangingPunct="1"/>
              <a:t>15</a:t>
            </a:fld>
            <a:endParaRPr kumimoji="0" lang="en-US" altLang="zh-TW" sz="1400">
              <a:solidFill>
                <a:schemeClr val="tx2"/>
              </a:solidFill>
              <a:latin typeface="Arial Narrow" panose="020B0606020202030204" pitchFamily="34" charset="0"/>
            </a:endParaRPr>
          </a:p>
        </p:txBody>
      </p:sp>
      <p:pic>
        <p:nvPicPr>
          <p:cNvPr id="2" name="Picture 1"/>
          <p:cNvPicPr>
            <a:picLocks noChangeAspect="1"/>
          </p:cNvPicPr>
          <p:nvPr/>
        </p:nvPicPr>
        <p:blipFill>
          <a:blip r:embed="rId2"/>
          <a:stretch>
            <a:fillRect/>
          </a:stretch>
        </p:blipFill>
        <p:spPr>
          <a:xfrm>
            <a:off x="983432" y="2376164"/>
            <a:ext cx="9793088" cy="4168454"/>
          </a:xfrm>
          <a:prstGeom prst="rect">
            <a:avLst/>
          </a:prstGeom>
        </p:spPr>
      </p:pic>
    </p:spTree>
    <p:extLst>
      <p:ext uri="{BB962C8B-B14F-4D97-AF65-F5344CB8AC3E}">
        <p14:creationId xmlns:p14="http://schemas.microsoft.com/office/powerpoint/2010/main" val="31828865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8C7A802-68BF-4320-9A97-6325A41A81DD}" type="slidenum">
              <a:rPr lang="zh-TW" altLang="en-US" smtClean="0"/>
              <a:pPr/>
              <a:t>16</a:t>
            </a:fld>
            <a:endParaRPr lang="en-US" altLang="zh-TW"/>
          </a:p>
        </p:txBody>
      </p:sp>
      <p:pic>
        <p:nvPicPr>
          <p:cNvPr id="5" name="Picture 4"/>
          <p:cNvPicPr>
            <a:picLocks noChangeAspect="1"/>
          </p:cNvPicPr>
          <p:nvPr/>
        </p:nvPicPr>
        <p:blipFill>
          <a:blip r:embed="rId2"/>
          <a:stretch>
            <a:fillRect/>
          </a:stretch>
        </p:blipFill>
        <p:spPr>
          <a:xfrm>
            <a:off x="1151067" y="29119"/>
            <a:ext cx="9681883" cy="6799761"/>
          </a:xfrm>
          <a:prstGeom prst="rect">
            <a:avLst/>
          </a:prstGeom>
        </p:spPr>
      </p:pic>
    </p:spTree>
    <p:extLst>
      <p:ext uri="{BB962C8B-B14F-4D97-AF65-F5344CB8AC3E}">
        <p14:creationId xmlns:p14="http://schemas.microsoft.com/office/powerpoint/2010/main" val="2212158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Yellow question mark">
            <a:extLst>
              <a:ext uri="{FF2B5EF4-FFF2-40B4-BE49-F238E27FC236}">
                <a16:creationId xmlns:a16="http://schemas.microsoft.com/office/drawing/2014/main" id="{EC1169A0-CA79-DAC7-A3F7-E2C5738AC813}"/>
              </a:ext>
            </a:extLst>
          </p:cNvPr>
          <p:cNvPicPr>
            <a:picLocks noChangeAspect="1"/>
          </p:cNvPicPr>
          <p:nvPr/>
        </p:nvPicPr>
        <p:blipFill>
          <a:blip r:embed="rId2"/>
          <a:srcRect l="15401"/>
          <a:stretch/>
        </p:blipFill>
        <p:spPr>
          <a:xfrm>
            <a:off x="2522356" y="10"/>
            <a:ext cx="9669642" cy="6857990"/>
          </a:xfrm>
          <a:prstGeom prst="rect">
            <a:avLst/>
          </a:prstGeom>
        </p:spPr>
      </p:pic>
      <p:sp>
        <p:nvSpPr>
          <p:cNvPr id="18" name="Rectangle 17">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6E716F9-EF0F-9F16-78D1-62411A25E22F}"/>
              </a:ext>
            </a:extLst>
          </p:cNvPr>
          <p:cNvSpPr>
            <a:spLocks noGrp="1"/>
          </p:cNvSpPr>
          <p:nvPr>
            <p:ph idx="1"/>
          </p:nvPr>
        </p:nvSpPr>
        <p:spPr>
          <a:xfrm>
            <a:off x="838200" y="2434201"/>
            <a:ext cx="3822189" cy="3742762"/>
          </a:xfrm>
        </p:spPr>
        <p:txBody>
          <a:bodyPr>
            <a:normAutofit/>
          </a:bodyPr>
          <a:lstStyle/>
          <a:p>
            <a:pPr marL="0" indent="0">
              <a:buNone/>
            </a:pPr>
            <a:r>
              <a:rPr lang="en-US" sz="2000"/>
              <a:t>Any Question?</a:t>
            </a:r>
          </a:p>
        </p:txBody>
      </p:sp>
    </p:spTree>
    <p:extLst>
      <p:ext uri="{BB962C8B-B14F-4D97-AF65-F5344CB8AC3E}">
        <p14:creationId xmlns:p14="http://schemas.microsoft.com/office/powerpoint/2010/main" val="38363818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570</TotalTime>
  <Words>658</Words>
  <Application>Microsoft Office PowerPoint</Application>
  <PresentationFormat>Widescreen</PresentationFormat>
  <Paragraphs>93</Paragraphs>
  <Slides>17</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ＭＳ Ｐゴシック</vt:lpstr>
      <vt:lpstr>Aptos</vt:lpstr>
      <vt:lpstr>Aptos Display</vt:lpstr>
      <vt:lpstr>Arial</vt:lpstr>
      <vt:lpstr>Arial Narrow</vt:lpstr>
      <vt:lpstr>Franklin Gothic Book</vt:lpstr>
      <vt:lpstr>Google Sans</vt:lpstr>
      <vt:lpstr>Wingdings</vt:lpstr>
      <vt:lpstr>Office Theme</vt:lpstr>
      <vt:lpstr>Artificial Intelligence</vt:lpstr>
      <vt:lpstr>Today’s Goal</vt:lpstr>
      <vt:lpstr>PowerPoint Presentation</vt:lpstr>
      <vt:lpstr>Intelligent Agent</vt:lpstr>
      <vt:lpstr>Intelligent Agents</vt:lpstr>
      <vt:lpstr>Intelligent Agents</vt:lpstr>
      <vt:lpstr>Examples of Intelligent Agents</vt:lpstr>
      <vt:lpstr>Agent's Interaction Cycle</vt:lpstr>
      <vt:lpstr>Why Study Intelligent Agents?</vt:lpstr>
      <vt:lpstr>Characteristics of Intelligent Agents</vt:lpstr>
      <vt:lpstr>The Concept of Rationality</vt:lpstr>
      <vt:lpstr>PowerPoint Presentation</vt:lpstr>
      <vt:lpstr>PEAS</vt:lpstr>
      <vt:lpstr>Cont…</vt:lpstr>
      <vt:lpstr>Nature of environments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Mansoor Iqbal</dc:creator>
  <cp:lastModifiedBy>Habiba Arshad</cp:lastModifiedBy>
  <cp:revision>82</cp:revision>
  <dcterms:created xsi:type="dcterms:W3CDTF">2024-10-08T06:28:51Z</dcterms:created>
  <dcterms:modified xsi:type="dcterms:W3CDTF">2025-10-22T08:56:01Z</dcterms:modified>
</cp:coreProperties>
</file>