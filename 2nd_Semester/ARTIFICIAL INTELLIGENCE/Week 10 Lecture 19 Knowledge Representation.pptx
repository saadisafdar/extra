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  <p:sldMasterId id="2147483672" r:id="rId3"/>
  </p:sldMasterIdLst>
  <p:notesMasterIdLst>
    <p:notesMasterId r:id="rId20"/>
  </p:notesMasterIdLst>
  <p:sldIdLst>
    <p:sldId id="271" r:id="rId4"/>
    <p:sldId id="789" r:id="rId5"/>
    <p:sldId id="825" r:id="rId6"/>
    <p:sldId id="258" r:id="rId7"/>
    <p:sldId id="259" r:id="rId8"/>
    <p:sldId id="262" r:id="rId9"/>
    <p:sldId id="260" r:id="rId10"/>
    <p:sldId id="264" r:id="rId11"/>
    <p:sldId id="831" r:id="rId12"/>
    <p:sldId id="834" r:id="rId13"/>
    <p:sldId id="835" r:id="rId14"/>
    <p:sldId id="827" r:id="rId15"/>
    <p:sldId id="828" r:id="rId16"/>
    <p:sldId id="830" r:id="rId17"/>
    <p:sldId id="832" r:id="rId18"/>
    <p:sldId id="833" r:id="rId19"/>
  </p:sldIdLst>
  <p:sldSz cx="12192000" cy="6858000"/>
  <p:notesSz cx="6858000" cy="9144000"/>
  <p:defaultTextStyle>
    <a:defPPr>
      <a:defRPr lang="en-P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" Type="http://schemas.openxmlformats.org/officeDocument/2006/relationships/slideMaster" Target="slideMasters/slideMaster3.xml"/><Relationship Id="rId21" Type="http://schemas.openxmlformats.org/officeDocument/2006/relationships/presProps" Target="presProp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tableStyles" Target="tableStyle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theme" Target="theme/theme1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viewProps" Target="viewProps.xml"/></Relationships>
</file>

<file path=ppt/diagrams/_rels/data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rawing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7B301F5-07A3-4FE4-976C-CA4952C4C1A1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003EBE85-61C3-4A8C-B096-20383EA35C46}">
      <dgm:prSet/>
      <dgm:spPr/>
      <dgm:t>
        <a:bodyPr/>
        <a:lstStyle/>
        <a:p>
          <a:r>
            <a:rPr lang="en-US" dirty="0"/>
            <a:t>This week lecture will cover the following CLO’s:</a:t>
          </a:r>
        </a:p>
      </dgm:t>
    </dgm:pt>
    <dgm:pt modelId="{CA4AA996-65FD-4B8F-BBE0-A906A9E5220E}" type="parTrans" cxnId="{BCEEB6D3-EFBE-4684-AF7C-3A02210BE3D9}">
      <dgm:prSet/>
      <dgm:spPr/>
      <dgm:t>
        <a:bodyPr/>
        <a:lstStyle/>
        <a:p>
          <a:endParaRPr lang="en-US"/>
        </a:p>
      </dgm:t>
    </dgm:pt>
    <dgm:pt modelId="{793489B5-9C5E-4E77-A6F3-2F6B2B3AEB5A}" type="sibTrans" cxnId="{BCEEB6D3-EFBE-4684-AF7C-3A02210BE3D9}">
      <dgm:prSet/>
      <dgm:spPr/>
      <dgm:t>
        <a:bodyPr/>
        <a:lstStyle/>
        <a:p>
          <a:endParaRPr lang="en-US"/>
        </a:p>
      </dgm:t>
    </dgm:pt>
    <dgm:pt modelId="{0F6BED61-37A6-4265-9765-7643A715CD2C}">
      <dgm:prSet/>
      <dgm:spPr/>
      <dgm:t>
        <a:bodyPr/>
        <a:lstStyle/>
        <a:p>
          <a:pPr algn="just"/>
          <a:r>
            <a:rPr lang="en-US" b="1" dirty="0"/>
            <a:t>CLO1: </a:t>
          </a:r>
          <a:r>
            <a:rPr lang="en-US" b="0" dirty="0"/>
            <a:t>Discuss the key concepts in the field of artificial intelligence</a:t>
          </a:r>
          <a:endParaRPr lang="en-US" dirty="0"/>
        </a:p>
      </dgm:t>
    </dgm:pt>
    <dgm:pt modelId="{CE80463D-0B4E-4616-A7D3-FCA563D7C095}" type="parTrans" cxnId="{D4C01C85-8389-4770-954C-640B9194FA32}">
      <dgm:prSet/>
      <dgm:spPr/>
      <dgm:t>
        <a:bodyPr/>
        <a:lstStyle/>
        <a:p>
          <a:endParaRPr lang="en-US"/>
        </a:p>
      </dgm:t>
    </dgm:pt>
    <dgm:pt modelId="{991B6CDF-473C-43F2-B07A-CB69C404667A}" type="sibTrans" cxnId="{D4C01C85-8389-4770-954C-640B9194FA32}">
      <dgm:prSet/>
      <dgm:spPr/>
      <dgm:t>
        <a:bodyPr/>
        <a:lstStyle/>
        <a:p>
          <a:endParaRPr lang="en-US"/>
        </a:p>
      </dgm:t>
    </dgm:pt>
    <dgm:pt modelId="{EB5ACA34-5E81-4C34-9396-A967E2A2AB76}">
      <dgm:prSet/>
      <dgm:spPr/>
      <dgm:t>
        <a:bodyPr/>
        <a:lstStyle/>
        <a:p>
          <a:pPr algn="just"/>
          <a:r>
            <a:rPr lang="en-US" b="1" dirty="0"/>
            <a:t>CLO 2: Implement </a:t>
          </a:r>
          <a:r>
            <a:rPr lang="en-US" dirty="0"/>
            <a:t>artificial intelligence techniques and case studies</a:t>
          </a:r>
        </a:p>
      </dgm:t>
    </dgm:pt>
    <dgm:pt modelId="{9A070146-3875-47E3-94D7-B2C90F536C89}" type="parTrans" cxnId="{5B24FC3C-4ED4-4834-9B89-88E70A3EE3EC}">
      <dgm:prSet/>
      <dgm:spPr/>
      <dgm:t>
        <a:bodyPr/>
        <a:lstStyle/>
        <a:p>
          <a:endParaRPr lang="en-PK"/>
        </a:p>
      </dgm:t>
    </dgm:pt>
    <dgm:pt modelId="{430978D5-BF76-4915-9FA8-631F66362A49}" type="sibTrans" cxnId="{5B24FC3C-4ED4-4834-9B89-88E70A3EE3EC}">
      <dgm:prSet/>
      <dgm:spPr/>
      <dgm:t>
        <a:bodyPr/>
        <a:lstStyle/>
        <a:p>
          <a:endParaRPr lang="en-PK"/>
        </a:p>
      </dgm:t>
    </dgm:pt>
    <dgm:pt modelId="{1E8486E2-0691-4247-B9C3-FCB6AD71DA77}" type="pres">
      <dgm:prSet presAssocID="{87B301F5-07A3-4FE4-976C-CA4952C4C1A1}" presName="linear" presStyleCnt="0">
        <dgm:presLayoutVars>
          <dgm:animLvl val="lvl"/>
          <dgm:resizeHandles val="exact"/>
        </dgm:presLayoutVars>
      </dgm:prSet>
      <dgm:spPr/>
    </dgm:pt>
    <dgm:pt modelId="{CBC7B95D-FC8B-44BC-816F-8FC732EF125D}" type="pres">
      <dgm:prSet presAssocID="{003EBE85-61C3-4A8C-B096-20383EA35C46}" presName="parentText" presStyleLbl="node1" presStyleIdx="0" presStyleCnt="1">
        <dgm:presLayoutVars>
          <dgm:chMax val="0"/>
          <dgm:bulletEnabled val="1"/>
        </dgm:presLayoutVars>
      </dgm:prSet>
      <dgm:spPr/>
    </dgm:pt>
    <dgm:pt modelId="{A025C2BC-3DF5-4B12-A043-E15E948A1F98}" type="pres">
      <dgm:prSet presAssocID="{003EBE85-61C3-4A8C-B096-20383EA35C46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0BF05139-1E12-4DCD-98EF-7B0DABA33B58}" type="presOf" srcId="{87B301F5-07A3-4FE4-976C-CA4952C4C1A1}" destId="{1E8486E2-0691-4247-B9C3-FCB6AD71DA77}" srcOrd="0" destOrd="0" presId="urn:microsoft.com/office/officeart/2005/8/layout/vList2"/>
    <dgm:cxn modelId="{F6F4E43C-9CB5-4911-A20A-B55E9CCF2C4F}" type="presOf" srcId="{003EBE85-61C3-4A8C-B096-20383EA35C46}" destId="{CBC7B95D-FC8B-44BC-816F-8FC732EF125D}" srcOrd="0" destOrd="0" presId="urn:microsoft.com/office/officeart/2005/8/layout/vList2"/>
    <dgm:cxn modelId="{5B24FC3C-4ED4-4834-9B89-88E70A3EE3EC}" srcId="{003EBE85-61C3-4A8C-B096-20383EA35C46}" destId="{EB5ACA34-5E81-4C34-9396-A967E2A2AB76}" srcOrd="1" destOrd="0" parTransId="{9A070146-3875-47E3-94D7-B2C90F536C89}" sibTransId="{430978D5-BF76-4915-9FA8-631F66362A49}"/>
    <dgm:cxn modelId="{D4C01C85-8389-4770-954C-640B9194FA32}" srcId="{003EBE85-61C3-4A8C-B096-20383EA35C46}" destId="{0F6BED61-37A6-4265-9765-7643A715CD2C}" srcOrd="0" destOrd="0" parTransId="{CE80463D-0B4E-4616-A7D3-FCA563D7C095}" sibTransId="{991B6CDF-473C-43F2-B07A-CB69C404667A}"/>
    <dgm:cxn modelId="{8F12479A-C069-4E0A-BB1E-B76D7E4A0CF5}" type="presOf" srcId="{0F6BED61-37A6-4265-9765-7643A715CD2C}" destId="{A025C2BC-3DF5-4B12-A043-E15E948A1F98}" srcOrd="0" destOrd="0" presId="urn:microsoft.com/office/officeart/2005/8/layout/vList2"/>
    <dgm:cxn modelId="{7EA4AAC6-84B8-4CD7-8049-447BD7E93EBF}" type="presOf" srcId="{EB5ACA34-5E81-4C34-9396-A967E2A2AB76}" destId="{A025C2BC-3DF5-4B12-A043-E15E948A1F98}" srcOrd="0" destOrd="1" presId="urn:microsoft.com/office/officeart/2005/8/layout/vList2"/>
    <dgm:cxn modelId="{BCEEB6D3-EFBE-4684-AF7C-3A02210BE3D9}" srcId="{87B301F5-07A3-4FE4-976C-CA4952C4C1A1}" destId="{003EBE85-61C3-4A8C-B096-20383EA35C46}" srcOrd="0" destOrd="0" parTransId="{CA4AA996-65FD-4B8F-BBE0-A906A9E5220E}" sibTransId="{793489B5-9C5E-4E77-A6F3-2F6B2B3AEB5A}"/>
    <dgm:cxn modelId="{2897C92D-7832-425B-A7AE-4DE3AFB3DBD0}" type="presParOf" srcId="{1E8486E2-0691-4247-B9C3-FCB6AD71DA77}" destId="{CBC7B95D-FC8B-44BC-816F-8FC732EF125D}" srcOrd="0" destOrd="0" presId="urn:microsoft.com/office/officeart/2005/8/layout/vList2"/>
    <dgm:cxn modelId="{C49B8052-8CF3-4FDC-B7CA-CCA691C86E81}" type="presParOf" srcId="{1E8486E2-0691-4247-B9C3-FCB6AD71DA77}" destId="{A025C2BC-3DF5-4B12-A043-E15E948A1F98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ABAFF19-3AEA-4097-8AAE-B0E8391780F7}" type="doc">
      <dgm:prSet loTypeId="urn:microsoft.com/office/officeart/2005/8/layout/list1" loCatId="list" qsTypeId="urn:microsoft.com/office/officeart/2005/8/quickstyle/simple4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0C1BEE06-F90E-4F09-93B1-D550B806CA6C}">
      <dgm:prSet custT="1"/>
      <dgm:spPr/>
      <dgm:t>
        <a:bodyPr/>
        <a:lstStyle/>
        <a:p>
          <a:r>
            <a:rPr lang="en-GB" sz="2400" b="1" dirty="0"/>
            <a:t>CLO 1:</a:t>
          </a:r>
          <a:endParaRPr lang="en-US" sz="2400" dirty="0"/>
        </a:p>
      </dgm:t>
    </dgm:pt>
    <dgm:pt modelId="{1C6E13D2-05A4-4EA5-B0FB-6A1163A05D3F}" type="parTrans" cxnId="{EDA5AD18-5AD5-44AA-855C-93782C77F351}">
      <dgm:prSet/>
      <dgm:spPr/>
      <dgm:t>
        <a:bodyPr/>
        <a:lstStyle/>
        <a:p>
          <a:endParaRPr lang="en-US"/>
        </a:p>
      </dgm:t>
    </dgm:pt>
    <dgm:pt modelId="{31DBE3B1-489D-4A12-8CA6-D49A4738C6DE}" type="sibTrans" cxnId="{EDA5AD18-5AD5-44AA-855C-93782C77F351}">
      <dgm:prSet/>
      <dgm:spPr/>
      <dgm:t>
        <a:bodyPr/>
        <a:lstStyle/>
        <a:p>
          <a:endParaRPr lang="en-US"/>
        </a:p>
      </dgm:t>
    </dgm:pt>
    <dgm:pt modelId="{2B5DA1EB-E771-49A5-867E-D9665D475071}">
      <dgm:prSet custT="1"/>
      <dgm:spPr/>
      <dgm:t>
        <a:bodyPr/>
        <a:lstStyle/>
        <a:p>
          <a:r>
            <a:rPr lang="en-GB" sz="2400" dirty="0"/>
            <a:t>Introduction to Knowledge </a:t>
          </a:r>
          <a:r>
            <a:rPr lang="en-US" sz="2400" b="0" dirty="0">
              <a:solidFill>
                <a:schemeClr val="tx1"/>
              </a:solidFill>
              <a:latin typeface="+mj-lt"/>
              <a:ea typeface="+mj-ea"/>
              <a:cs typeface="+mj-cs"/>
            </a:rPr>
            <a:t>Representation</a:t>
          </a:r>
          <a:endParaRPr lang="en-US" sz="2400" b="0" dirty="0">
            <a:solidFill>
              <a:schemeClr val="tx1"/>
            </a:solidFill>
          </a:endParaRPr>
        </a:p>
      </dgm:t>
    </dgm:pt>
    <dgm:pt modelId="{DD750D13-57AD-4795-8AF1-C66AB423D0AD}" type="parTrans" cxnId="{710F3773-380C-452A-B8E5-ACE531C1737D}">
      <dgm:prSet/>
      <dgm:spPr/>
      <dgm:t>
        <a:bodyPr/>
        <a:lstStyle/>
        <a:p>
          <a:endParaRPr lang="en-US"/>
        </a:p>
      </dgm:t>
    </dgm:pt>
    <dgm:pt modelId="{448BFBFD-9308-4A33-BEA8-5A2FB6BB745D}" type="sibTrans" cxnId="{710F3773-380C-452A-B8E5-ACE531C1737D}">
      <dgm:prSet/>
      <dgm:spPr/>
      <dgm:t>
        <a:bodyPr/>
        <a:lstStyle/>
        <a:p>
          <a:endParaRPr lang="en-US"/>
        </a:p>
      </dgm:t>
    </dgm:pt>
    <dgm:pt modelId="{3F3DFE54-F6B7-43ED-84E5-2138CE660EB6}">
      <dgm:prSet custT="1"/>
      <dgm:spPr/>
      <dgm:t>
        <a:bodyPr/>
        <a:lstStyle/>
        <a:p>
          <a:r>
            <a:rPr lang="en-GB" sz="2400" b="1" dirty="0"/>
            <a:t>CLO 2:</a:t>
          </a:r>
          <a:endParaRPr lang="en-US" sz="2400" dirty="0"/>
        </a:p>
      </dgm:t>
    </dgm:pt>
    <dgm:pt modelId="{35603E27-4986-4093-BA13-540EF067230A}" type="parTrans" cxnId="{EA14688B-076D-4056-931B-F74C89BF1C9E}">
      <dgm:prSet/>
      <dgm:spPr/>
      <dgm:t>
        <a:bodyPr/>
        <a:lstStyle/>
        <a:p>
          <a:endParaRPr lang="en-US"/>
        </a:p>
      </dgm:t>
    </dgm:pt>
    <dgm:pt modelId="{A9A51733-DE1F-469E-8D4B-A6E9376ABC7F}" type="sibTrans" cxnId="{EA14688B-076D-4056-931B-F74C89BF1C9E}">
      <dgm:prSet/>
      <dgm:spPr/>
      <dgm:t>
        <a:bodyPr/>
        <a:lstStyle/>
        <a:p>
          <a:endParaRPr lang="en-US"/>
        </a:p>
      </dgm:t>
    </dgm:pt>
    <dgm:pt modelId="{BC9F2467-8675-4C7B-A23B-F5B8B939445E}">
      <dgm:prSet custT="1"/>
      <dgm:spPr/>
      <dgm:t>
        <a:bodyPr/>
        <a:lstStyle/>
        <a:p>
          <a:r>
            <a:rPr lang="en-US" sz="2400" dirty="0"/>
            <a:t>Case Studies: Knowledge-based Systems (Eliza, Student)</a:t>
          </a:r>
        </a:p>
      </dgm:t>
    </dgm:pt>
    <dgm:pt modelId="{4C54B955-7CC3-4BE7-8D3F-2A5FDB33B454}" type="parTrans" cxnId="{E9A8AFEE-FA31-4B1D-BCC6-EB81265C2F25}">
      <dgm:prSet/>
      <dgm:spPr/>
      <dgm:t>
        <a:bodyPr/>
        <a:lstStyle/>
        <a:p>
          <a:endParaRPr lang="en-US"/>
        </a:p>
      </dgm:t>
    </dgm:pt>
    <dgm:pt modelId="{2D52629A-90C7-4C02-B7FA-11727220C377}" type="sibTrans" cxnId="{E9A8AFEE-FA31-4B1D-BCC6-EB81265C2F25}">
      <dgm:prSet/>
      <dgm:spPr/>
      <dgm:t>
        <a:bodyPr/>
        <a:lstStyle/>
        <a:p>
          <a:endParaRPr lang="en-US"/>
        </a:p>
      </dgm:t>
    </dgm:pt>
    <dgm:pt modelId="{D834BA1F-3574-4DD1-BA2B-1AFDA1B9DFB4}" type="pres">
      <dgm:prSet presAssocID="{1ABAFF19-3AEA-4097-8AAE-B0E8391780F7}" presName="linear" presStyleCnt="0">
        <dgm:presLayoutVars>
          <dgm:dir/>
          <dgm:animLvl val="lvl"/>
          <dgm:resizeHandles val="exact"/>
        </dgm:presLayoutVars>
      </dgm:prSet>
      <dgm:spPr/>
    </dgm:pt>
    <dgm:pt modelId="{698E3174-0318-4F94-9674-373830A430B0}" type="pres">
      <dgm:prSet presAssocID="{0C1BEE06-F90E-4F09-93B1-D550B806CA6C}" presName="parentLin" presStyleCnt="0"/>
      <dgm:spPr/>
    </dgm:pt>
    <dgm:pt modelId="{3A3AD406-9F02-4B7C-A576-31CAD64141FB}" type="pres">
      <dgm:prSet presAssocID="{0C1BEE06-F90E-4F09-93B1-D550B806CA6C}" presName="parentLeftMargin" presStyleLbl="node1" presStyleIdx="0" presStyleCnt="2"/>
      <dgm:spPr/>
    </dgm:pt>
    <dgm:pt modelId="{49E13C96-EE4B-48D1-8768-AE8ECE07E331}" type="pres">
      <dgm:prSet presAssocID="{0C1BEE06-F90E-4F09-93B1-D550B806CA6C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0A19CEC3-B103-4F3A-9B3C-FE1A70884031}" type="pres">
      <dgm:prSet presAssocID="{0C1BEE06-F90E-4F09-93B1-D550B806CA6C}" presName="negativeSpace" presStyleCnt="0"/>
      <dgm:spPr/>
    </dgm:pt>
    <dgm:pt modelId="{2A8F8C97-D792-4E29-9ADB-A33A1728580F}" type="pres">
      <dgm:prSet presAssocID="{0C1BEE06-F90E-4F09-93B1-D550B806CA6C}" presName="childText" presStyleLbl="conFgAcc1" presStyleIdx="0" presStyleCnt="2" custLinFactNeighborX="-6264" custLinFactNeighborY="-8958">
        <dgm:presLayoutVars>
          <dgm:bulletEnabled val="1"/>
        </dgm:presLayoutVars>
      </dgm:prSet>
      <dgm:spPr/>
    </dgm:pt>
    <dgm:pt modelId="{E9D3FC74-370E-4118-9A41-52FB915D24B6}" type="pres">
      <dgm:prSet presAssocID="{31DBE3B1-489D-4A12-8CA6-D49A4738C6DE}" presName="spaceBetweenRectangles" presStyleCnt="0"/>
      <dgm:spPr/>
    </dgm:pt>
    <dgm:pt modelId="{DDC2F1DC-AC4E-4BD5-8F1F-3AB55F5B9E84}" type="pres">
      <dgm:prSet presAssocID="{3F3DFE54-F6B7-43ED-84E5-2138CE660EB6}" presName="parentLin" presStyleCnt="0"/>
      <dgm:spPr/>
    </dgm:pt>
    <dgm:pt modelId="{F0839E54-C2C9-4E12-8664-B616247CC422}" type="pres">
      <dgm:prSet presAssocID="{3F3DFE54-F6B7-43ED-84E5-2138CE660EB6}" presName="parentLeftMargin" presStyleLbl="node1" presStyleIdx="0" presStyleCnt="2"/>
      <dgm:spPr/>
    </dgm:pt>
    <dgm:pt modelId="{CD8EDF22-9A27-49D7-87DD-3C29CC93D73D}" type="pres">
      <dgm:prSet presAssocID="{3F3DFE54-F6B7-43ED-84E5-2138CE660EB6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72D71622-01F6-453A-84C1-5F1DDDB24708}" type="pres">
      <dgm:prSet presAssocID="{3F3DFE54-F6B7-43ED-84E5-2138CE660EB6}" presName="negativeSpace" presStyleCnt="0"/>
      <dgm:spPr/>
    </dgm:pt>
    <dgm:pt modelId="{6EB0EFF8-0C42-4EF9-9C2C-CFC7394E0CEC}" type="pres">
      <dgm:prSet presAssocID="{3F3DFE54-F6B7-43ED-84E5-2138CE660EB6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EDA5AD18-5AD5-44AA-855C-93782C77F351}" srcId="{1ABAFF19-3AEA-4097-8AAE-B0E8391780F7}" destId="{0C1BEE06-F90E-4F09-93B1-D550B806CA6C}" srcOrd="0" destOrd="0" parTransId="{1C6E13D2-05A4-4EA5-B0FB-6A1163A05D3F}" sibTransId="{31DBE3B1-489D-4A12-8CA6-D49A4738C6DE}"/>
    <dgm:cxn modelId="{51F1EF38-B93F-42C4-8499-9FA3E48A4234}" type="presOf" srcId="{2B5DA1EB-E771-49A5-867E-D9665D475071}" destId="{2A8F8C97-D792-4E29-9ADB-A33A1728580F}" srcOrd="0" destOrd="0" presId="urn:microsoft.com/office/officeart/2005/8/layout/list1"/>
    <dgm:cxn modelId="{710F3773-380C-452A-B8E5-ACE531C1737D}" srcId="{0C1BEE06-F90E-4F09-93B1-D550B806CA6C}" destId="{2B5DA1EB-E771-49A5-867E-D9665D475071}" srcOrd="0" destOrd="0" parTransId="{DD750D13-57AD-4795-8AF1-C66AB423D0AD}" sibTransId="{448BFBFD-9308-4A33-BEA8-5A2FB6BB745D}"/>
    <dgm:cxn modelId="{B0A9B776-35AF-48D4-BFF4-277D6353C2FC}" type="presOf" srcId="{0C1BEE06-F90E-4F09-93B1-D550B806CA6C}" destId="{3A3AD406-9F02-4B7C-A576-31CAD64141FB}" srcOrd="0" destOrd="0" presId="urn:microsoft.com/office/officeart/2005/8/layout/list1"/>
    <dgm:cxn modelId="{EA14688B-076D-4056-931B-F74C89BF1C9E}" srcId="{1ABAFF19-3AEA-4097-8AAE-B0E8391780F7}" destId="{3F3DFE54-F6B7-43ED-84E5-2138CE660EB6}" srcOrd="1" destOrd="0" parTransId="{35603E27-4986-4093-BA13-540EF067230A}" sibTransId="{A9A51733-DE1F-469E-8D4B-A6E9376ABC7F}"/>
    <dgm:cxn modelId="{C58C6D8D-0F6A-41DE-BE99-C70A31B35699}" type="presOf" srcId="{1ABAFF19-3AEA-4097-8AAE-B0E8391780F7}" destId="{D834BA1F-3574-4DD1-BA2B-1AFDA1B9DFB4}" srcOrd="0" destOrd="0" presId="urn:microsoft.com/office/officeart/2005/8/layout/list1"/>
    <dgm:cxn modelId="{03A4159A-4EBA-4FA7-8F3E-5BD1C16A34D0}" type="presOf" srcId="{3F3DFE54-F6B7-43ED-84E5-2138CE660EB6}" destId="{CD8EDF22-9A27-49D7-87DD-3C29CC93D73D}" srcOrd="1" destOrd="0" presId="urn:microsoft.com/office/officeart/2005/8/layout/list1"/>
    <dgm:cxn modelId="{CC8A0B9C-4640-40CE-ADE6-DF681DFEEE51}" type="presOf" srcId="{BC9F2467-8675-4C7B-A23B-F5B8B939445E}" destId="{6EB0EFF8-0C42-4EF9-9C2C-CFC7394E0CEC}" srcOrd="0" destOrd="0" presId="urn:microsoft.com/office/officeart/2005/8/layout/list1"/>
    <dgm:cxn modelId="{18CD7FB9-3224-4608-80A8-03227FC84AEF}" type="presOf" srcId="{0C1BEE06-F90E-4F09-93B1-D550B806CA6C}" destId="{49E13C96-EE4B-48D1-8768-AE8ECE07E331}" srcOrd="1" destOrd="0" presId="urn:microsoft.com/office/officeart/2005/8/layout/list1"/>
    <dgm:cxn modelId="{E86429EC-2392-47BA-9AB5-071E4B75E5F1}" type="presOf" srcId="{3F3DFE54-F6B7-43ED-84E5-2138CE660EB6}" destId="{F0839E54-C2C9-4E12-8664-B616247CC422}" srcOrd="0" destOrd="0" presId="urn:microsoft.com/office/officeart/2005/8/layout/list1"/>
    <dgm:cxn modelId="{E9A8AFEE-FA31-4B1D-BCC6-EB81265C2F25}" srcId="{3F3DFE54-F6B7-43ED-84E5-2138CE660EB6}" destId="{BC9F2467-8675-4C7B-A23B-F5B8B939445E}" srcOrd="0" destOrd="0" parTransId="{4C54B955-7CC3-4BE7-8D3F-2A5FDB33B454}" sibTransId="{2D52629A-90C7-4C02-B7FA-11727220C377}"/>
    <dgm:cxn modelId="{D16F14BC-919C-407D-9F91-3E9A927135BB}" type="presParOf" srcId="{D834BA1F-3574-4DD1-BA2B-1AFDA1B9DFB4}" destId="{698E3174-0318-4F94-9674-373830A430B0}" srcOrd="0" destOrd="0" presId="urn:microsoft.com/office/officeart/2005/8/layout/list1"/>
    <dgm:cxn modelId="{B62856A7-083E-400F-9694-9EB44D3B7BC0}" type="presParOf" srcId="{698E3174-0318-4F94-9674-373830A430B0}" destId="{3A3AD406-9F02-4B7C-A576-31CAD64141FB}" srcOrd="0" destOrd="0" presId="urn:microsoft.com/office/officeart/2005/8/layout/list1"/>
    <dgm:cxn modelId="{32A0C464-B9F5-4E90-AC51-22A63AD2C577}" type="presParOf" srcId="{698E3174-0318-4F94-9674-373830A430B0}" destId="{49E13C96-EE4B-48D1-8768-AE8ECE07E331}" srcOrd="1" destOrd="0" presId="urn:microsoft.com/office/officeart/2005/8/layout/list1"/>
    <dgm:cxn modelId="{5E5B1DDA-3810-44FD-8183-E6F7B748D5C5}" type="presParOf" srcId="{D834BA1F-3574-4DD1-BA2B-1AFDA1B9DFB4}" destId="{0A19CEC3-B103-4F3A-9B3C-FE1A70884031}" srcOrd="1" destOrd="0" presId="urn:microsoft.com/office/officeart/2005/8/layout/list1"/>
    <dgm:cxn modelId="{033ED4DB-9E6E-436F-8018-68F8CC396992}" type="presParOf" srcId="{D834BA1F-3574-4DD1-BA2B-1AFDA1B9DFB4}" destId="{2A8F8C97-D792-4E29-9ADB-A33A1728580F}" srcOrd="2" destOrd="0" presId="urn:microsoft.com/office/officeart/2005/8/layout/list1"/>
    <dgm:cxn modelId="{BDA5F5B3-5881-4124-843A-1FD46D6C56C2}" type="presParOf" srcId="{D834BA1F-3574-4DD1-BA2B-1AFDA1B9DFB4}" destId="{E9D3FC74-370E-4118-9A41-52FB915D24B6}" srcOrd="3" destOrd="0" presId="urn:microsoft.com/office/officeart/2005/8/layout/list1"/>
    <dgm:cxn modelId="{1CBDB688-C31F-4B6E-A5D5-E8677DC6B409}" type="presParOf" srcId="{D834BA1F-3574-4DD1-BA2B-1AFDA1B9DFB4}" destId="{DDC2F1DC-AC4E-4BD5-8F1F-3AB55F5B9E84}" srcOrd="4" destOrd="0" presId="urn:microsoft.com/office/officeart/2005/8/layout/list1"/>
    <dgm:cxn modelId="{0F5A7F57-31D3-4E79-835E-111F9624272E}" type="presParOf" srcId="{DDC2F1DC-AC4E-4BD5-8F1F-3AB55F5B9E84}" destId="{F0839E54-C2C9-4E12-8664-B616247CC422}" srcOrd="0" destOrd="0" presId="urn:microsoft.com/office/officeart/2005/8/layout/list1"/>
    <dgm:cxn modelId="{6A11352D-93F5-4A9F-AF17-71DF26BFE7D8}" type="presParOf" srcId="{DDC2F1DC-AC4E-4BD5-8F1F-3AB55F5B9E84}" destId="{CD8EDF22-9A27-49D7-87DD-3C29CC93D73D}" srcOrd="1" destOrd="0" presId="urn:microsoft.com/office/officeart/2005/8/layout/list1"/>
    <dgm:cxn modelId="{D91473F5-4CA9-4BD3-897D-18564E2185B0}" type="presParOf" srcId="{D834BA1F-3574-4DD1-BA2B-1AFDA1B9DFB4}" destId="{72D71622-01F6-453A-84C1-5F1DDDB24708}" srcOrd="5" destOrd="0" presId="urn:microsoft.com/office/officeart/2005/8/layout/list1"/>
    <dgm:cxn modelId="{08E9880D-CAAF-49C4-BBCA-83E123248F03}" type="presParOf" srcId="{D834BA1F-3574-4DD1-BA2B-1AFDA1B9DFB4}" destId="{6EB0EFF8-0C42-4EF9-9C2C-CFC7394E0CEC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A5B028C5-B079-4CE8-839F-C52878FFA934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8422859E-5605-4CF7-B614-87AF3E3E5FFE}">
      <dgm:prSet/>
      <dgm:spPr/>
      <dgm:t>
        <a:bodyPr/>
        <a:lstStyle/>
        <a:p>
          <a:r>
            <a:rPr lang="en-GB" b="1"/>
            <a:t>Logic-Based Systems: ELIZA</a:t>
          </a:r>
          <a:endParaRPr lang="en-US"/>
        </a:p>
      </dgm:t>
    </dgm:pt>
    <dgm:pt modelId="{FCAAC631-298F-4810-B6D7-A80D29580A4F}" type="parTrans" cxnId="{EB091163-A9DB-4C84-A9EC-7FA13F530424}">
      <dgm:prSet/>
      <dgm:spPr/>
      <dgm:t>
        <a:bodyPr/>
        <a:lstStyle/>
        <a:p>
          <a:endParaRPr lang="en-US"/>
        </a:p>
      </dgm:t>
    </dgm:pt>
    <dgm:pt modelId="{F7A19BEE-08DD-451C-B90E-D1689C51DAB1}" type="sibTrans" cxnId="{EB091163-A9DB-4C84-A9EC-7FA13F530424}">
      <dgm:prSet/>
      <dgm:spPr/>
      <dgm:t>
        <a:bodyPr/>
        <a:lstStyle/>
        <a:p>
          <a:endParaRPr lang="en-US"/>
        </a:p>
      </dgm:t>
    </dgm:pt>
    <dgm:pt modelId="{1ED829E5-305A-4CB3-85D1-10EF93D499FE}">
      <dgm:prSet custT="1"/>
      <dgm:spPr/>
      <dgm:t>
        <a:bodyPr/>
        <a:lstStyle/>
        <a:p>
          <a:pPr algn="just"/>
          <a:r>
            <a:rPr lang="en-GB" sz="2400" dirty="0"/>
            <a:t>Early chatbot designed to simulate human conversation using simple logical rules.</a:t>
          </a:r>
          <a:endParaRPr lang="en-US" sz="2400" dirty="0"/>
        </a:p>
      </dgm:t>
    </dgm:pt>
    <dgm:pt modelId="{E6006E8B-840A-42C6-8C61-794D6A472548}" type="parTrans" cxnId="{D21C3F4F-8217-4A90-B12E-9EED5D27721C}">
      <dgm:prSet/>
      <dgm:spPr/>
      <dgm:t>
        <a:bodyPr/>
        <a:lstStyle/>
        <a:p>
          <a:endParaRPr lang="en-US"/>
        </a:p>
      </dgm:t>
    </dgm:pt>
    <dgm:pt modelId="{D9D8EFF5-E0F3-4935-B492-006C888AD71B}" type="sibTrans" cxnId="{D21C3F4F-8217-4A90-B12E-9EED5D27721C}">
      <dgm:prSet/>
      <dgm:spPr/>
      <dgm:t>
        <a:bodyPr/>
        <a:lstStyle/>
        <a:p>
          <a:endParaRPr lang="en-US"/>
        </a:p>
      </dgm:t>
    </dgm:pt>
    <dgm:pt modelId="{9D0B7805-F685-4EF0-ABB2-41C00B57102E}">
      <dgm:prSet custT="1"/>
      <dgm:spPr/>
      <dgm:t>
        <a:bodyPr/>
        <a:lstStyle/>
        <a:p>
          <a:pPr algn="just"/>
          <a:r>
            <a:rPr lang="en-GB" sz="2400" dirty="0"/>
            <a:t>Worked on pattern matching and pre-defined responses.</a:t>
          </a:r>
          <a:endParaRPr lang="en-US" sz="2400" dirty="0"/>
        </a:p>
      </dgm:t>
    </dgm:pt>
    <dgm:pt modelId="{27424506-69F5-42E5-99A3-372890B99108}" type="parTrans" cxnId="{A675B7AB-2A27-41D4-A5C2-F1F3D4DA5213}">
      <dgm:prSet/>
      <dgm:spPr/>
      <dgm:t>
        <a:bodyPr/>
        <a:lstStyle/>
        <a:p>
          <a:endParaRPr lang="en-US"/>
        </a:p>
      </dgm:t>
    </dgm:pt>
    <dgm:pt modelId="{26148F0F-EDCD-46E8-AE0F-2B1B51410D70}" type="sibTrans" cxnId="{A675B7AB-2A27-41D4-A5C2-F1F3D4DA5213}">
      <dgm:prSet/>
      <dgm:spPr/>
      <dgm:t>
        <a:bodyPr/>
        <a:lstStyle/>
        <a:p>
          <a:endParaRPr lang="en-US"/>
        </a:p>
      </dgm:t>
    </dgm:pt>
    <dgm:pt modelId="{76548A54-3AFE-4075-9535-6FBB2FA4D559}">
      <dgm:prSet custT="1"/>
      <dgm:spPr/>
      <dgm:t>
        <a:bodyPr/>
        <a:lstStyle/>
        <a:p>
          <a:pPr algn="just"/>
          <a:r>
            <a:rPr lang="en-GB" sz="2400" dirty="0"/>
            <a:t>Example Interaction:</a:t>
          </a:r>
          <a:endParaRPr lang="en-US" sz="2400" dirty="0"/>
        </a:p>
      </dgm:t>
    </dgm:pt>
    <dgm:pt modelId="{9E23F8C0-6F69-432A-804A-E9B38A3D7201}" type="parTrans" cxnId="{719D2D85-6EAC-4945-9F15-34FEEAE8B09E}">
      <dgm:prSet/>
      <dgm:spPr/>
      <dgm:t>
        <a:bodyPr/>
        <a:lstStyle/>
        <a:p>
          <a:endParaRPr lang="en-US"/>
        </a:p>
      </dgm:t>
    </dgm:pt>
    <dgm:pt modelId="{48696D81-AB26-4B58-A810-D0821DE62D7E}" type="sibTrans" cxnId="{719D2D85-6EAC-4945-9F15-34FEEAE8B09E}">
      <dgm:prSet/>
      <dgm:spPr/>
      <dgm:t>
        <a:bodyPr/>
        <a:lstStyle/>
        <a:p>
          <a:endParaRPr lang="en-US"/>
        </a:p>
      </dgm:t>
    </dgm:pt>
    <dgm:pt modelId="{958AEDA1-7940-47DD-AC53-8E47E6D01677}">
      <dgm:prSet custT="1"/>
      <dgm:spPr/>
      <dgm:t>
        <a:bodyPr/>
        <a:lstStyle/>
        <a:p>
          <a:pPr algn="just"/>
          <a:r>
            <a:rPr lang="en-GB" sz="2400" dirty="0"/>
            <a:t>Input: "I feel sad.“</a:t>
          </a:r>
          <a:endParaRPr lang="en-US" sz="2400" dirty="0"/>
        </a:p>
      </dgm:t>
    </dgm:pt>
    <dgm:pt modelId="{C04F101A-069E-49FC-BACF-F6B1D736CBE0}" type="parTrans" cxnId="{61F33A9D-57A5-47E5-9400-37E768B59F8E}">
      <dgm:prSet/>
      <dgm:spPr/>
      <dgm:t>
        <a:bodyPr/>
        <a:lstStyle/>
        <a:p>
          <a:endParaRPr lang="en-US"/>
        </a:p>
      </dgm:t>
    </dgm:pt>
    <dgm:pt modelId="{AEA707F6-B956-4B59-96BB-7EF75E6795C0}" type="sibTrans" cxnId="{61F33A9D-57A5-47E5-9400-37E768B59F8E}">
      <dgm:prSet/>
      <dgm:spPr/>
      <dgm:t>
        <a:bodyPr/>
        <a:lstStyle/>
        <a:p>
          <a:endParaRPr lang="en-US"/>
        </a:p>
      </dgm:t>
    </dgm:pt>
    <dgm:pt modelId="{25658113-9226-48F1-A255-6691F87CB617}">
      <dgm:prSet custT="1"/>
      <dgm:spPr/>
      <dgm:t>
        <a:bodyPr/>
        <a:lstStyle/>
        <a:p>
          <a:pPr algn="just"/>
          <a:r>
            <a:rPr lang="en-GB" sz="2400" dirty="0"/>
            <a:t>Output: "Why do you feel sad?“</a:t>
          </a:r>
          <a:endParaRPr lang="en-US" sz="2400" dirty="0"/>
        </a:p>
      </dgm:t>
    </dgm:pt>
    <dgm:pt modelId="{4B1087D2-150B-4689-A296-E8A1D6B6521B}" type="parTrans" cxnId="{29793139-1336-49AF-AB49-3404DDDDAF96}">
      <dgm:prSet/>
      <dgm:spPr/>
      <dgm:t>
        <a:bodyPr/>
        <a:lstStyle/>
        <a:p>
          <a:endParaRPr lang="en-US"/>
        </a:p>
      </dgm:t>
    </dgm:pt>
    <dgm:pt modelId="{6FFC73AF-849F-42BD-987A-201E77EFC359}" type="sibTrans" cxnId="{29793139-1336-49AF-AB49-3404DDDDAF96}">
      <dgm:prSet/>
      <dgm:spPr/>
      <dgm:t>
        <a:bodyPr/>
        <a:lstStyle/>
        <a:p>
          <a:endParaRPr lang="en-US"/>
        </a:p>
      </dgm:t>
    </dgm:pt>
    <dgm:pt modelId="{61FFE7BF-62B2-49E8-8673-7E8BC093E3D9}">
      <dgm:prSet/>
      <dgm:spPr/>
      <dgm:t>
        <a:bodyPr/>
        <a:lstStyle/>
        <a:p>
          <a:r>
            <a:rPr lang="en-GB" b="1" dirty="0"/>
            <a:t>Logic-Based Systems: STUDENTA </a:t>
          </a:r>
          <a:endParaRPr lang="en-US" dirty="0"/>
        </a:p>
      </dgm:t>
    </dgm:pt>
    <dgm:pt modelId="{0292B470-5C67-4DDD-916B-EECE0AA83B91}" type="parTrans" cxnId="{D5336F5A-01B6-4983-A085-36ACFE1E58C0}">
      <dgm:prSet/>
      <dgm:spPr/>
      <dgm:t>
        <a:bodyPr/>
        <a:lstStyle/>
        <a:p>
          <a:endParaRPr lang="en-US"/>
        </a:p>
      </dgm:t>
    </dgm:pt>
    <dgm:pt modelId="{CE43BCC1-FA64-43C1-979C-7B0F40932AD7}" type="sibTrans" cxnId="{D5336F5A-01B6-4983-A085-36ACFE1E58C0}">
      <dgm:prSet/>
      <dgm:spPr/>
      <dgm:t>
        <a:bodyPr/>
        <a:lstStyle/>
        <a:p>
          <a:endParaRPr lang="en-US"/>
        </a:p>
      </dgm:t>
    </dgm:pt>
    <dgm:pt modelId="{79F54E61-3797-4C88-BCFB-BBD5B5BF61E8}">
      <dgm:prSet custT="1"/>
      <dgm:spPr/>
      <dgm:t>
        <a:bodyPr/>
        <a:lstStyle/>
        <a:p>
          <a:pPr algn="just"/>
          <a:r>
            <a:rPr lang="en-GB" sz="2400" dirty="0"/>
            <a:t>system designed to solve algebraic problems.</a:t>
          </a:r>
          <a:endParaRPr lang="en-US" sz="2400" dirty="0"/>
        </a:p>
      </dgm:t>
    </dgm:pt>
    <dgm:pt modelId="{72BDF2CB-218A-4F30-A39E-481DF20D10FA}" type="parTrans" cxnId="{823EEA36-8C03-4173-8623-B095C99FBAC2}">
      <dgm:prSet/>
      <dgm:spPr/>
      <dgm:t>
        <a:bodyPr/>
        <a:lstStyle/>
        <a:p>
          <a:endParaRPr lang="en-US"/>
        </a:p>
      </dgm:t>
    </dgm:pt>
    <dgm:pt modelId="{4C471611-DA98-43CB-BA3E-0E81DF103136}" type="sibTrans" cxnId="{823EEA36-8C03-4173-8623-B095C99FBAC2}">
      <dgm:prSet/>
      <dgm:spPr/>
      <dgm:t>
        <a:bodyPr/>
        <a:lstStyle/>
        <a:p>
          <a:endParaRPr lang="en-US"/>
        </a:p>
      </dgm:t>
    </dgm:pt>
    <dgm:pt modelId="{D1986514-2579-43A8-811D-A79E6ACE87A7}">
      <dgm:prSet custT="1"/>
      <dgm:spPr/>
      <dgm:t>
        <a:bodyPr/>
        <a:lstStyle/>
        <a:p>
          <a:pPr algn="just"/>
          <a:r>
            <a:rPr lang="en-GB" sz="2400" dirty="0"/>
            <a:t>Used logical rules to parse problems and solve equations.</a:t>
          </a:r>
          <a:endParaRPr lang="en-US" sz="2400" dirty="0"/>
        </a:p>
      </dgm:t>
    </dgm:pt>
    <dgm:pt modelId="{C1A38318-1E4D-467F-8828-BAA874BA2533}" type="parTrans" cxnId="{538D433E-5D95-4A61-B10E-9D8630B5B1EA}">
      <dgm:prSet/>
      <dgm:spPr/>
      <dgm:t>
        <a:bodyPr/>
        <a:lstStyle/>
        <a:p>
          <a:endParaRPr lang="en-US"/>
        </a:p>
      </dgm:t>
    </dgm:pt>
    <dgm:pt modelId="{0D771AA2-FE64-4D9B-862D-C0B8ADE54346}" type="sibTrans" cxnId="{538D433E-5D95-4A61-B10E-9D8630B5B1EA}">
      <dgm:prSet/>
      <dgm:spPr/>
      <dgm:t>
        <a:bodyPr/>
        <a:lstStyle/>
        <a:p>
          <a:endParaRPr lang="en-US"/>
        </a:p>
      </dgm:t>
    </dgm:pt>
    <dgm:pt modelId="{90E8F7C7-4F15-433C-8A9E-9C59E76139EC}">
      <dgm:prSet custT="1"/>
      <dgm:spPr/>
      <dgm:t>
        <a:bodyPr/>
        <a:lstStyle/>
        <a:p>
          <a:pPr algn="just"/>
          <a:r>
            <a:rPr lang="en-GB" sz="2400" dirty="0"/>
            <a:t>Example: </a:t>
          </a:r>
          <a:endParaRPr lang="en-US" sz="2400" dirty="0"/>
        </a:p>
      </dgm:t>
    </dgm:pt>
    <dgm:pt modelId="{18094C03-1D0E-407F-A0C5-F3674D99242E}" type="parTrans" cxnId="{AE9FF3D2-AA0B-41B2-848F-D479E08E8BCB}">
      <dgm:prSet/>
      <dgm:spPr/>
      <dgm:t>
        <a:bodyPr/>
        <a:lstStyle/>
        <a:p>
          <a:endParaRPr lang="en-US"/>
        </a:p>
      </dgm:t>
    </dgm:pt>
    <dgm:pt modelId="{DBDF5A7B-84A2-4A69-8167-F08415F3B7C8}" type="sibTrans" cxnId="{AE9FF3D2-AA0B-41B2-848F-D479E08E8BCB}">
      <dgm:prSet/>
      <dgm:spPr/>
      <dgm:t>
        <a:bodyPr/>
        <a:lstStyle/>
        <a:p>
          <a:endParaRPr lang="en-US"/>
        </a:p>
      </dgm:t>
    </dgm:pt>
    <dgm:pt modelId="{A60CC61A-F291-4520-9A95-34A8E815CAD6}">
      <dgm:prSet custT="1"/>
      <dgm:spPr/>
      <dgm:t>
        <a:bodyPr/>
        <a:lstStyle/>
        <a:p>
          <a:pPr algn="just"/>
          <a:r>
            <a:rPr lang="en-GB" sz="2400" dirty="0"/>
            <a:t>Solving 2x + 3 = 7.</a:t>
          </a:r>
          <a:endParaRPr lang="en-US" sz="2400" dirty="0"/>
        </a:p>
      </dgm:t>
    </dgm:pt>
    <dgm:pt modelId="{6B53A480-1929-4536-A801-6E5CF946E2C8}" type="parTrans" cxnId="{54B2A722-5BAB-4199-BC13-00AB0FE5E970}">
      <dgm:prSet/>
      <dgm:spPr/>
      <dgm:t>
        <a:bodyPr/>
        <a:lstStyle/>
        <a:p>
          <a:endParaRPr lang="en-US"/>
        </a:p>
      </dgm:t>
    </dgm:pt>
    <dgm:pt modelId="{CD635BDD-7C4E-43D6-9E6F-087FE1410646}" type="sibTrans" cxnId="{54B2A722-5BAB-4199-BC13-00AB0FE5E970}">
      <dgm:prSet/>
      <dgm:spPr/>
      <dgm:t>
        <a:bodyPr/>
        <a:lstStyle/>
        <a:p>
          <a:endParaRPr lang="en-US"/>
        </a:p>
      </dgm:t>
    </dgm:pt>
    <dgm:pt modelId="{F9FFE5EC-230C-440A-A9C5-82017983E710}" type="pres">
      <dgm:prSet presAssocID="{A5B028C5-B079-4CE8-839F-C52878FFA934}" presName="linear" presStyleCnt="0">
        <dgm:presLayoutVars>
          <dgm:animLvl val="lvl"/>
          <dgm:resizeHandles val="exact"/>
        </dgm:presLayoutVars>
      </dgm:prSet>
      <dgm:spPr/>
    </dgm:pt>
    <dgm:pt modelId="{E9BABA16-33AD-4D32-9860-AE1A8451E435}" type="pres">
      <dgm:prSet presAssocID="{8422859E-5605-4CF7-B614-87AF3E3E5FFE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8D993254-0ECF-4253-9E4A-73DF61FF3B76}" type="pres">
      <dgm:prSet presAssocID="{8422859E-5605-4CF7-B614-87AF3E3E5FFE}" presName="childText" presStyleLbl="revTx" presStyleIdx="0" presStyleCnt="2">
        <dgm:presLayoutVars>
          <dgm:bulletEnabled val="1"/>
        </dgm:presLayoutVars>
      </dgm:prSet>
      <dgm:spPr/>
    </dgm:pt>
    <dgm:pt modelId="{53D275C9-BC75-4BBA-B4FD-0E2071034530}" type="pres">
      <dgm:prSet presAssocID="{61FFE7BF-62B2-49E8-8673-7E8BC093E3D9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100ABC5D-75B3-4567-A3C0-BCA279E28EC8}" type="pres">
      <dgm:prSet presAssocID="{61FFE7BF-62B2-49E8-8673-7E8BC093E3D9}" presName="childText" presStyleLbl="revTx" presStyleIdx="1" presStyleCnt="2">
        <dgm:presLayoutVars>
          <dgm:bulletEnabled val="1"/>
        </dgm:presLayoutVars>
      </dgm:prSet>
      <dgm:spPr/>
    </dgm:pt>
  </dgm:ptLst>
  <dgm:cxnLst>
    <dgm:cxn modelId="{7A0FB904-67AC-4DBE-B7FD-A7B976D1C678}" type="presOf" srcId="{79F54E61-3797-4C88-BCFB-BBD5B5BF61E8}" destId="{100ABC5D-75B3-4567-A3C0-BCA279E28EC8}" srcOrd="0" destOrd="0" presId="urn:microsoft.com/office/officeart/2005/8/layout/vList2"/>
    <dgm:cxn modelId="{51BF180D-DE7B-458A-9FAF-009F33DF11E2}" type="presOf" srcId="{1ED829E5-305A-4CB3-85D1-10EF93D499FE}" destId="{8D993254-0ECF-4253-9E4A-73DF61FF3B76}" srcOrd="0" destOrd="0" presId="urn:microsoft.com/office/officeart/2005/8/layout/vList2"/>
    <dgm:cxn modelId="{54B2A722-5BAB-4199-BC13-00AB0FE5E970}" srcId="{90E8F7C7-4F15-433C-8A9E-9C59E76139EC}" destId="{A60CC61A-F291-4520-9A95-34A8E815CAD6}" srcOrd="0" destOrd="0" parTransId="{6B53A480-1929-4536-A801-6E5CF946E2C8}" sibTransId="{CD635BDD-7C4E-43D6-9E6F-087FE1410646}"/>
    <dgm:cxn modelId="{1106DF33-DA8B-4BC8-B89D-21A3996D2BE1}" type="presOf" srcId="{25658113-9226-48F1-A255-6691F87CB617}" destId="{8D993254-0ECF-4253-9E4A-73DF61FF3B76}" srcOrd="0" destOrd="4" presId="urn:microsoft.com/office/officeart/2005/8/layout/vList2"/>
    <dgm:cxn modelId="{823EEA36-8C03-4173-8623-B095C99FBAC2}" srcId="{61FFE7BF-62B2-49E8-8673-7E8BC093E3D9}" destId="{79F54E61-3797-4C88-BCFB-BBD5B5BF61E8}" srcOrd="0" destOrd="0" parTransId="{72BDF2CB-218A-4F30-A39E-481DF20D10FA}" sibTransId="{4C471611-DA98-43CB-BA3E-0E81DF103136}"/>
    <dgm:cxn modelId="{29793139-1336-49AF-AB49-3404DDDDAF96}" srcId="{76548A54-3AFE-4075-9535-6FBB2FA4D559}" destId="{25658113-9226-48F1-A255-6691F87CB617}" srcOrd="1" destOrd="0" parTransId="{4B1087D2-150B-4689-A296-E8A1D6B6521B}" sibTransId="{6FFC73AF-849F-42BD-987A-201E77EFC359}"/>
    <dgm:cxn modelId="{AFD7E73A-2CE6-4FB4-AE34-142443C995D0}" type="presOf" srcId="{A5B028C5-B079-4CE8-839F-C52878FFA934}" destId="{F9FFE5EC-230C-440A-A9C5-82017983E710}" srcOrd="0" destOrd="0" presId="urn:microsoft.com/office/officeart/2005/8/layout/vList2"/>
    <dgm:cxn modelId="{538D433E-5D95-4A61-B10E-9D8630B5B1EA}" srcId="{61FFE7BF-62B2-49E8-8673-7E8BC093E3D9}" destId="{D1986514-2579-43A8-811D-A79E6ACE87A7}" srcOrd="1" destOrd="0" parTransId="{C1A38318-1E4D-467F-8828-BAA874BA2533}" sibTransId="{0D771AA2-FE64-4D9B-862D-C0B8ADE54346}"/>
    <dgm:cxn modelId="{C5CAC63F-24C0-4E43-9FC5-B375C951B600}" type="presOf" srcId="{958AEDA1-7940-47DD-AC53-8E47E6D01677}" destId="{8D993254-0ECF-4253-9E4A-73DF61FF3B76}" srcOrd="0" destOrd="3" presId="urn:microsoft.com/office/officeart/2005/8/layout/vList2"/>
    <dgm:cxn modelId="{EB091163-A9DB-4C84-A9EC-7FA13F530424}" srcId="{A5B028C5-B079-4CE8-839F-C52878FFA934}" destId="{8422859E-5605-4CF7-B614-87AF3E3E5FFE}" srcOrd="0" destOrd="0" parTransId="{FCAAC631-298F-4810-B6D7-A80D29580A4F}" sibTransId="{F7A19BEE-08DD-451C-B90E-D1689C51DAB1}"/>
    <dgm:cxn modelId="{E8E02C45-B22B-46DC-BD75-DEDA7876A20B}" type="presOf" srcId="{90E8F7C7-4F15-433C-8A9E-9C59E76139EC}" destId="{100ABC5D-75B3-4567-A3C0-BCA279E28EC8}" srcOrd="0" destOrd="2" presId="urn:microsoft.com/office/officeart/2005/8/layout/vList2"/>
    <dgm:cxn modelId="{89142769-FEE8-4BF1-B9F2-80BA84CD5DAD}" type="presOf" srcId="{8422859E-5605-4CF7-B614-87AF3E3E5FFE}" destId="{E9BABA16-33AD-4D32-9860-AE1A8451E435}" srcOrd="0" destOrd="0" presId="urn:microsoft.com/office/officeart/2005/8/layout/vList2"/>
    <dgm:cxn modelId="{D177AF6B-049D-4E6E-9C55-97BCEBC73470}" type="presOf" srcId="{A60CC61A-F291-4520-9A95-34A8E815CAD6}" destId="{100ABC5D-75B3-4567-A3C0-BCA279E28EC8}" srcOrd="0" destOrd="3" presId="urn:microsoft.com/office/officeart/2005/8/layout/vList2"/>
    <dgm:cxn modelId="{D21C3F4F-8217-4A90-B12E-9EED5D27721C}" srcId="{8422859E-5605-4CF7-B614-87AF3E3E5FFE}" destId="{1ED829E5-305A-4CB3-85D1-10EF93D499FE}" srcOrd="0" destOrd="0" parTransId="{E6006E8B-840A-42C6-8C61-794D6A472548}" sibTransId="{D9D8EFF5-E0F3-4935-B492-006C888AD71B}"/>
    <dgm:cxn modelId="{D7FDDA74-BB48-40A8-BD88-CAAE0958FE49}" type="presOf" srcId="{61FFE7BF-62B2-49E8-8673-7E8BC093E3D9}" destId="{53D275C9-BC75-4BBA-B4FD-0E2071034530}" srcOrd="0" destOrd="0" presId="urn:microsoft.com/office/officeart/2005/8/layout/vList2"/>
    <dgm:cxn modelId="{D5336F5A-01B6-4983-A085-36ACFE1E58C0}" srcId="{A5B028C5-B079-4CE8-839F-C52878FFA934}" destId="{61FFE7BF-62B2-49E8-8673-7E8BC093E3D9}" srcOrd="1" destOrd="0" parTransId="{0292B470-5C67-4DDD-916B-EECE0AA83B91}" sibTransId="{CE43BCC1-FA64-43C1-979C-7B0F40932AD7}"/>
    <dgm:cxn modelId="{719D2D85-6EAC-4945-9F15-34FEEAE8B09E}" srcId="{8422859E-5605-4CF7-B614-87AF3E3E5FFE}" destId="{76548A54-3AFE-4075-9535-6FBB2FA4D559}" srcOrd="2" destOrd="0" parTransId="{9E23F8C0-6F69-432A-804A-E9B38A3D7201}" sibTransId="{48696D81-AB26-4B58-A810-D0821DE62D7E}"/>
    <dgm:cxn modelId="{0206929A-4431-4AEB-B478-C8143C334E8C}" type="presOf" srcId="{9D0B7805-F685-4EF0-ABB2-41C00B57102E}" destId="{8D993254-0ECF-4253-9E4A-73DF61FF3B76}" srcOrd="0" destOrd="1" presId="urn:microsoft.com/office/officeart/2005/8/layout/vList2"/>
    <dgm:cxn modelId="{61F33A9D-57A5-47E5-9400-37E768B59F8E}" srcId="{76548A54-3AFE-4075-9535-6FBB2FA4D559}" destId="{958AEDA1-7940-47DD-AC53-8E47E6D01677}" srcOrd="0" destOrd="0" parTransId="{C04F101A-069E-49FC-BACF-F6B1D736CBE0}" sibTransId="{AEA707F6-B956-4B59-96BB-7EF75E6795C0}"/>
    <dgm:cxn modelId="{A8A426A8-42C2-42E8-95AB-FF0F0CF945FD}" type="presOf" srcId="{76548A54-3AFE-4075-9535-6FBB2FA4D559}" destId="{8D993254-0ECF-4253-9E4A-73DF61FF3B76}" srcOrd="0" destOrd="2" presId="urn:microsoft.com/office/officeart/2005/8/layout/vList2"/>
    <dgm:cxn modelId="{A675B7AB-2A27-41D4-A5C2-F1F3D4DA5213}" srcId="{8422859E-5605-4CF7-B614-87AF3E3E5FFE}" destId="{9D0B7805-F685-4EF0-ABB2-41C00B57102E}" srcOrd="1" destOrd="0" parTransId="{27424506-69F5-42E5-99A3-372890B99108}" sibTransId="{26148F0F-EDCD-46E8-AE0F-2B1B51410D70}"/>
    <dgm:cxn modelId="{FA5E3FC1-8EB0-449C-AC6E-44055338DA9A}" type="presOf" srcId="{D1986514-2579-43A8-811D-A79E6ACE87A7}" destId="{100ABC5D-75B3-4567-A3C0-BCA279E28EC8}" srcOrd="0" destOrd="1" presId="urn:microsoft.com/office/officeart/2005/8/layout/vList2"/>
    <dgm:cxn modelId="{AE9FF3D2-AA0B-41B2-848F-D479E08E8BCB}" srcId="{61FFE7BF-62B2-49E8-8673-7E8BC093E3D9}" destId="{90E8F7C7-4F15-433C-8A9E-9C59E76139EC}" srcOrd="2" destOrd="0" parTransId="{18094C03-1D0E-407F-A0C5-F3674D99242E}" sibTransId="{DBDF5A7B-84A2-4A69-8167-F08415F3B7C8}"/>
    <dgm:cxn modelId="{1B752FB2-825A-4185-AC7B-555C4E5A97B6}" type="presParOf" srcId="{F9FFE5EC-230C-440A-A9C5-82017983E710}" destId="{E9BABA16-33AD-4D32-9860-AE1A8451E435}" srcOrd="0" destOrd="0" presId="urn:microsoft.com/office/officeart/2005/8/layout/vList2"/>
    <dgm:cxn modelId="{2DB00F94-39E1-4155-80AD-05A3D72CF8DF}" type="presParOf" srcId="{F9FFE5EC-230C-440A-A9C5-82017983E710}" destId="{8D993254-0ECF-4253-9E4A-73DF61FF3B76}" srcOrd="1" destOrd="0" presId="urn:microsoft.com/office/officeart/2005/8/layout/vList2"/>
    <dgm:cxn modelId="{C83EBA5D-8223-464A-9969-A83A18C389B3}" type="presParOf" srcId="{F9FFE5EC-230C-440A-A9C5-82017983E710}" destId="{53D275C9-BC75-4BBA-B4FD-0E2071034530}" srcOrd="2" destOrd="0" presId="urn:microsoft.com/office/officeart/2005/8/layout/vList2"/>
    <dgm:cxn modelId="{812D30E7-66EB-4AAF-A094-48843AC637E6}" type="presParOf" srcId="{F9FFE5EC-230C-440A-A9C5-82017983E710}" destId="{100ABC5D-75B3-4567-A3C0-BCA279E28EC8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349D883A-8E0C-4693-8AF4-E06367801E9C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2D4C11B2-7A4A-45F5-9701-A067EA9C90EC}">
      <dgm:prSet/>
      <dgm:spPr/>
      <dgm:t>
        <a:bodyPr/>
        <a:lstStyle/>
        <a:p>
          <a:r>
            <a:rPr lang="en-GB"/>
            <a:t>Differentiating data, information, and knowledge helps structure AI systems.</a:t>
          </a:r>
          <a:endParaRPr lang="en-US"/>
        </a:p>
      </dgm:t>
    </dgm:pt>
    <dgm:pt modelId="{875E5A49-11B7-4D17-A42E-BB6B9DACA200}" type="parTrans" cxnId="{768BEF3F-B5B2-4A10-AC3E-E5EB65D8AE57}">
      <dgm:prSet/>
      <dgm:spPr/>
      <dgm:t>
        <a:bodyPr/>
        <a:lstStyle/>
        <a:p>
          <a:endParaRPr lang="en-US"/>
        </a:p>
      </dgm:t>
    </dgm:pt>
    <dgm:pt modelId="{221EFE35-7E75-4A1A-B77D-EE06EE1F1D50}" type="sibTrans" cxnId="{768BEF3F-B5B2-4A10-AC3E-E5EB65D8AE57}">
      <dgm:prSet/>
      <dgm:spPr/>
      <dgm:t>
        <a:bodyPr/>
        <a:lstStyle/>
        <a:p>
          <a:endParaRPr lang="en-US"/>
        </a:p>
      </dgm:t>
    </dgm:pt>
    <dgm:pt modelId="{65FC5AB4-AC0C-48E9-985C-D1C009D72CA6}">
      <dgm:prSet/>
      <dgm:spPr/>
      <dgm:t>
        <a:bodyPr/>
        <a:lstStyle/>
        <a:p>
          <a:r>
            <a:rPr lang="en-GB"/>
            <a:t>Knowledge Representation organizes knowledge for reasoning and decision-making.</a:t>
          </a:r>
          <a:endParaRPr lang="en-US"/>
        </a:p>
      </dgm:t>
    </dgm:pt>
    <dgm:pt modelId="{9AB5028D-3F93-405C-8159-CE1F179F971C}" type="parTrans" cxnId="{4F1AA8EF-8A0E-48D2-A885-26E7DDE9A9F6}">
      <dgm:prSet/>
      <dgm:spPr/>
      <dgm:t>
        <a:bodyPr/>
        <a:lstStyle/>
        <a:p>
          <a:endParaRPr lang="en-US"/>
        </a:p>
      </dgm:t>
    </dgm:pt>
    <dgm:pt modelId="{22CE8946-2AD9-4A54-8CBC-CA28CD98D935}" type="sibTrans" cxnId="{4F1AA8EF-8A0E-48D2-A885-26E7DDE9A9F6}">
      <dgm:prSet/>
      <dgm:spPr/>
      <dgm:t>
        <a:bodyPr/>
        <a:lstStyle/>
        <a:p>
          <a:endParaRPr lang="en-US"/>
        </a:p>
      </dgm:t>
    </dgm:pt>
    <dgm:pt modelId="{BDF265F3-DE4D-46E8-8BE2-3B460B82D3C2}">
      <dgm:prSet/>
      <dgm:spPr/>
      <dgm:t>
        <a:bodyPr/>
        <a:lstStyle/>
        <a:p>
          <a:r>
            <a:rPr lang="en-GB" dirty="0"/>
            <a:t>Logic-Based and Probabilistic-Based approaches are used based on system requirements.</a:t>
          </a:r>
          <a:endParaRPr lang="en-US" dirty="0"/>
        </a:p>
      </dgm:t>
    </dgm:pt>
    <dgm:pt modelId="{1BB59204-AC93-4761-8A83-6CB2715BF97F}" type="parTrans" cxnId="{CE38D3A7-F2CD-4CFB-B293-9A88382A830E}">
      <dgm:prSet/>
      <dgm:spPr/>
      <dgm:t>
        <a:bodyPr/>
        <a:lstStyle/>
        <a:p>
          <a:endParaRPr lang="en-US"/>
        </a:p>
      </dgm:t>
    </dgm:pt>
    <dgm:pt modelId="{AEB4F2F7-032F-4297-B68B-C37510ECE59B}" type="sibTrans" cxnId="{CE38D3A7-F2CD-4CFB-B293-9A88382A830E}">
      <dgm:prSet/>
      <dgm:spPr/>
      <dgm:t>
        <a:bodyPr/>
        <a:lstStyle/>
        <a:p>
          <a:endParaRPr lang="en-US"/>
        </a:p>
      </dgm:t>
    </dgm:pt>
    <dgm:pt modelId="{6B49F8EC-809D-4767-B429-DE7F94BB91E7}">
      <dgm:prSet/>
      <dgm:spPr/>
      <dgm:t>
        <a:bodyPr/>
        <a:lstStyle/>
        <a:p>
          <a:r>
            <a:rPr lang="en-GB"/>
            <a:t>Case studies like ELIZA and STUDENT illustrate practical applications of knowledge representation.</a:t>
          </a:r>
          <a:endParaRPr lang="en-US"/>
        </a:p>
      </dgm:t>
    </dgm:pt>
    <dgm:pt modelId="{D55A0497-1F76-47A8-A482-C76729FB7935}" type="parTrans" cxnId="{1AABFA84-A5FE-4E22-A63A-BAF2F34F3EE3}">
      <dgm:prSet/>
      <dgm:spPr/>
      <dgm:t>
        <a:bodyPr/>
        <a:lstStyle/>
        <a:p>
          <a:endParaRPr lang="en-US"/>
        </a:p>
      </dgm:t>
    </dgm:pt>
    <dgm:pt modelId="{FBD492D8-235E-433D-AE9D-18942C752A57}" type="sibTrans" cxnId="{1AABFA84-A5FE-4E22-A63A-BAF2F34F3EE3}">
      <dgm:prSet/>
      <dgm:spPr/>
      <dgm:t>
        <a:bodyPr/>
        <a:lstStyle/>
        <a:p>
          <a:endParaRPr lang="en-US"/>
        </a:p>
      </dgm:t>
    </dgm:pt>
    <dgm:pt modelId="{98E4BCE3-2DC5-4996-8747-5B332CF4ACCB}" type="pres">
      <dgm:prSet presAssocID="{349D883A-8E0C-4693-8AF4-E06367801E9C}" presName="root" presStyleCnt="0">
        <dgm:presLayoutVars>
          <dgm:dir/>
          <dgm:resizeHandles val="exact"/>
        </dgm:presLayoutVars>
      </dgm:prSet>
      <dgm:spPr/>
    </dgm:pt>
    <dgm:pt modelId="{FBCEBCDE-B5A1-49F3-A311-4A298D726206}" type="pres">
      <dgm:prSet presAssocID="{349D883A-8E0C-4693-8AF4-E06367801E9C}" presName="container" presStyleCnt="0">
        <dgm:presLayoutVars>
          <dgm:dir/>
          <dgm:resizeHandles val="exact"/>
        </dgm:presLayoutVars>
      </dgm:prSet>
      <dgm:spPr/>
    </dgm:pt>
    <dgm:pt modelId="{32627528-02E8-4461-8BA6-25108BA65A67}" type="pres">
      <dgm:prSet presAssocID="{2D4C11B2-7A4A-45F5-9701-A067EA9C90EC}" presName="compNode" presStyleCnt="0"/>
      <dgm:spPr/>
    </dgm:pt>
    <dgm:pt modelId="{643A85CB-A454-4276-99E7-1D36A2CCD42E}" type="pres">
      <dgm:prSet presAssocID="{2D4C11B2-7A4A-45F5-9701-A067EA9C90EC}" presName="iconBgRect" presStyleLbl="bgShp" presStyleIdx="0" presStyleCnt="4"/>
      <dgm:spPr/>
    </dgm:pt>
    <dgm:pt modelId="{A34E09E3-EBEA-4A97-A981-49B62152458C}" type="pres">
      <dgm:prSet presAssocID="{2D4C11B2-7A4A-45F5-9701-A067EA9C90EC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atistics"/>
        </a:ext>
      </dgm:extLst>
    </dgm:pt>
    <dgm:pt modelId="{EC7FB265-C472-49F4-B223-04927E088415}" type="pres">
      <dgm:prSet presAssocID="{2D4C11B2-7A4A-45F5-9701-A067EA9C90EC}" presName="spaceRect" presStyleCnt="0"/>
      <dgm:spPr/>
    </dgm:pt>
    <dgm:pt modelId="{7843E760-76BC-4789-8487-5DDBD7B18420}" type="pres">
      <dgm:prSet presAssocID="{2D4C11B2-7A4A-45F5-9701-A067EA9C90EC}" presName="textRect" presStyleLbl="revTx" presStyleIdx="0" presStyleCnt="4">
        <dgm:presLayoutVars>
          <dgm:chMax val="1"/>
          <dgm:chPref val="1"/>
        </dgm:presLayoutVars>
      </dgm:prSet>
      <dgm:spPr/>
    </dgm:pt>
    <dgm:pt modelId="{CDDFCD68-ACE7-431F-B7AC-6D22EFDD0A03}" type="pres">
      <dgm:prSet presAssocID="{221EFE35-7E75-4A1A-B77D-EE06EE1F1D50}" presName="sibTrans" presStyleLbl="sibTrans2D1" presStyleIdx="0" presStyleCnt="0"/>
      <dgm:spPr/>
    </dgm:pt>
    <dgm:pt modelId="{13CA1157-E140-4E60-BD63-64C417CE8E2D}" type="pres">
      <dgm:prSet presAssocID="{65FC5AB4-AC0C-48E9-985C-D1C009D72CA6}" presName="compNode" presStyleCnt="0"/>
      <dgm:spPr/>
    </dgm:pt>
    <dgm:pt modelId="{B06AA26F-A93B-4AD4-964B-04199301D047}" type="pres">
      <dgm:prSet presAssocID="{65FC5AB4-AC0C-48E9-985C-D1C009D72CA6}" presName="iconBgRect" presStyleLbl="bgShp" presStyleIdx="1" presStyleCnt="4"/>
      <dgm:spPr/>
    </dgm:pt>
    <dgm:pt modelId="{66B5B8E7-25CD-4EA2-820A-E62EFCAEFA3B}" type="pres">
      <dgm:prSet presAssocID="{65FC5AB4-AC0C-48E9-985C-D1C009D72CA6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erson with Idea"/>
        </a:ext>
      </dgm:extLst>
    </dgm:pt>
    <dgm:pt modelId="{5E58B268-887F-4481-A4D7-119B0D01DF94}" type="pres">
      <dgm:prSet presAssocID="{65FC5AB4-AC0C-48E9-985C-D1C009D72CA6}" presName="spaceRect" presStyleCnt="0"/>
      <dgm:spPr/>
    </dgm:pt>
    <dgm:pt modelId="{4BD61A38-A7A8-4B61-A69C-B2354CD24210}" type="pres">
      <dgm:prSet presAssocID="{65FC5AB4-AC0C-48E9-985C-D1C009D72CA6}" presName="textRect" presStyleLbl="revTx" presStyleIdx="1" presStyleCnt="4">
        <dgm:presLayoutVars>
          <dgm:chMax val="1"/>
          <dgm:chPref val="1"/>
        </dgm:presLayoutVars>
      </dgm:prSet>
      <dgm:spPr/>
    </dgm:pt>
    <dgm:pt modelId="{B64C0054-3E68-4BC2-B45B-50143190305A}" type="pres">
      <dgm:prSet presAssocID="{22CE8946-2AD9-4A54-8CBC-CA28CD98D935}" presName="sibTrans" presStyleLbl="sibTrans2D1" presStyleIdx="0" presStyleCnt="0"/>
      <dgm:spPr/>
    </dgm:pt>
    <dgm:pt modelId="{7566449D-94AA-4760-9634-3701A618CE7D}" type="pres">
      <dgm:prSet presAssocID="{BDF265F3-DE4D-46E8-8BE2-3B460B82D3C2}" presName="compNode" presStyleCnt="0"/>
      <dgm:spPr/>
    </dgm:pt>
    <dgm:pt modelId="{62F57DEE-9769-4535-A134-712397629A70}" type="pres">
      <dgm:prSet presAssocID="{BDF265F3-DE4D-46E8-8BE2-3B460B82D3C2}" presName="iconBgRect" presStyleLbl="bgShp" presStyleIdx="2" presStyleCnt="4"/>
      <dgm:spPr/>
    </dgm:pt>
    <dgm:pt modelId="{7C445392-A58F-49B1-A222-9E4B332784EA}" type="pres">
      <dgm:prSet presAssocID="{BDF265F3-DE4D-46E8-8BE2-3B460B82D3C2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ze"/>
        </a:ext>
      </dgm:extLst>
    </dgm:pt>
    <dgm:pt modelId="{2358BEC7-51E6-4C24-875D-1D572C41C73F}" type="pres">
      <dgm:prSet presAssocID="{BDF265F3-DE4D-46E8-8BE2-3B460B82D3C2}" presName="spaceRect" presStyleCnt="0"/>
      <dgm:spPr/>
    </dgm:pt>
    <dgm:pt modelId="{4421B3EF-707E-4EA8-89DE-7ECDE29B1CF6}" type="pres">
      <dgm:prSet presAssocID="{BDF265F3-DE4D-46E8-8BE2-3B460B82D3C2}" presName="textRect" presStyleLbl="revTx" presStyleIdx="2" presStyleCnt="4">
        <dgm:presLayoutVars>
          <dgm:chMax val="1"/>
          <dgm:chPref val="1"/>
        </dgm:presLayoutVars>
      </dgm:prSet>
      <dgm:spPr/>
    </dgm:pt>
    <dgm:pt modelId="{9A40D375-CF4C-4B93-8803-9F1D49D0D0F7}" type="pres">
      <dgm:prSet presAssocID="{AEB4F2F7-032F-4297-B68B-C37510ECE59B}" presName="sibTrans" presStyleLbl="sibTrans2D1" presStyleIdx="0" presStyleCnt="0"/>
      <dgm:spPr/>
    </dgm:pt>
    <dgm:pt modelId="{1CA45B6A-CADC-4C56-8116-36A2B4253155}" type="pres">
      <dgm:prSet presAssocID="{6B49F8EC-809D-4767-B429-DE7F94BB91E7}" presName="compNode" presStyleCnt="0"/>
      <dgm:spPr/>
    </dgm:pt>
    <dgm:pt modelId="{89AF3722-3F5B-4FB7-8BDC-3FAD6D1AD75A}" type="pres">
      <dgm:prSet presAssocID="{6B49F8EC-809D-4767-B429-DE7F94BB91E7}" presName="iconBgRect" presStyleLbl="bgShp" presStyleIdx="3" presStyleCnt="4"/>
      <dgm:spPr/>
    </dgm:pt>
    <dgm:pt modelId="{5171F9C2-9DEF-4F77-891B-DDB18A9997A9}" type="pres">
      <dgm:prSet presAssocID="{6B49F8EC-809D-4767-B429-DE7F94BB91E7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assroom"/>
        </a:ext>
      </dgm:extLst>
    </dgm:pt>
    <dgm:pt modelId="{C5ADD1C8-48BE-47F2-A26B-6B5C494C22B1}" type="pres">
      <dgm:prSet presAssocID="{6B49F8EC-809D-4767-B429-DE7F94BB91E7}" presName="spaceRect" presStyleCnt="0"/>
      <dgm:spPr/>
    </dgm:pt>
    <dgm:pt modelId="{5BAF85A6-CF08-42AA-BAE1-74505D41B61B}" type="pres">
      <dgm:prSet presAssocID="{6B49F8EC-809D-4767-B429-DE7F94BB91E7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C2021D08-C8E6-4710-AF65-2CB988724E68}" type="presOf" srcId="{349D883A-8E0C-4693-8AF4-E06367801E9C}" destId="{98E4BCE3-2DC5-4996-8747-5B332CF4ACCB}" srcOrd="0" destOrd="0" presId="urn:microsoft.com/office/officeart/2018/2/layout/IconCircleList"/>
    <dgm:cxn modelId="{231A8C0A-F8A9-4D5D-B0C1-D880D757C8FB}" type="presOf" srcId="{BDF265F3-DE4D-46E8-8BE2-3B460B82D3C2}" destId="{4421B3EF-707E-4EA8-89DE-7ECDE29B1CF6}" srcOrd="0" destOrd="0" presId="urn:microsoft.com/office/officeart/2018/2/layout/IconCircleList"/>
    <dgm:cxn modelId="{0BC0DE0C-F880-4660-82E7-0C1C4BF51644}" type="presOf" srcId="{6B49F8EC-809D-4767-B429-DE7F94BB91E7}" destId="{5BAF85A6-CF08-42AA-BAE1-74505D41B61B}" srcOrd="0" destOrd="0" presId="urn:microsoft.com/office/officeart/2018/2/layout/IconCircleList"/>
    <dgm:cxn modelId="{2ED46D1C-BAF8-428F-A86D-E23D36933C14}" type="presOf" srcId="{65FC5AB4-AC0C-48E9-985C-D1C009D72CA6}" destId="{4BD61A38-A7A8-4B61-A69C-B2354CD24210}" srcOrd="0" destOrd="0" presId="urn:microsoft.com/office/officeart/2018/2/layout/IconCircleList"/>
    <dgm:cxn modelId="{CFA4762A-9C43-4E00-BDAA-20FD01EC979E}" type="presOf" srcId="{22CE8946-2AD9-4A54-8CBC-CA28CD98D935}" destId="{B64C0054-3E68-4BC2-B45B-50143190305A}" srcOrd="0" destOrd="0" presId="urn:microsoft.com/office/officeart/2018/2/layout/IconCircleList"/>
    <dgm:cxn modelId="{3CB2EE2B-BC65-42B0-A498-4A189936DDD1}" type="presOf" srcId="{221EFE35-7E75-4A1A-B77D-EE06EE1F1D50}" destId="{CDDFCD68-ACE7-431F-B7AC-6D22EFDD0A03}" srcOrd="0" destOrd="0" presId="urn:microsoft.com/office/officeart/2018/2/layout/IconCircleList"/>
    <dgm:cxn modelId="{CFD7AF3E-A8ED-4BCF-82F5-26014252B38D}" type="presOf" srcId="{2D4C11B2-7A4A-45F5-9701-A067EA9C90EC}" destId="{7843E760-76BC-4789-8487-5DDBD7B18420}" srcOrd="0" destOrd="0" presId="urn:microsoft.com/office/officeart/2018/2/layout/IconCircleList"/>
    <dgm:cxn modelId="{768BEF3F-B5B2-4A10-AC3E-E5EB65D8AE57}" srcId="{349D883A-8E0C-4693-8AF4-E06367801E9C}" destId="{2D4C11B2-7A4A-45F5-9701-A067EA9C90EC}" srcOrd="0" destOrd="0" parTransId="{875E5A49-11B7-4D17-A42E-BB6B9DACA200}" sibTransId="{221EFE35-7E75-4A1A-B77D-EE06EE1F1D50}"/>
    <dgm:cxn modelId="{8A028B67-1846-4B2D-9AA0-B942E2701530}" type="presOf" srcId="{AEB4F2F7-032F-4297-B68B-C37510ECE59B}" destId="{9A40D375-CF4C-4B93-8803-9F1D49D0D0F7}" srcOrd="0" destOrd="0" presId="urn:microsoft.com/office/officeart/2018/2/layout/IconCircleList"/>
    <dgm:cxn modelId="{1AABFA84-A5FE-4E22-A63A-BAF2F34F3EE3}" srcId="{349D883A-8E0C-4693-8AF4-E06367801E9C}" destId="{6B49F8EC-809D-4767-B429-DE7F94BB91E7}" srcOrd="3" destOrd="0" parTransId="{D55A0497-1F76-47A8-A482-C76729FB7935}" sibTransId="{FBD492D8-235E-433D-AE9D-18942C752A57}"/>
    <dgm:cxn modelId="{CE38D3A7-F2CD-4CFB-B293-9A88382A830E}" srcId="{349D883A-8E0C-4693-8AF4-E06367801E9C}" destId="{BDF265F3-DE4D-46E8-8BE2-3B460B82D3C2}" srcOrd="2" destOrd="0" parTransId="{1BB59204-AC93-4761-8A83-6CB2715BF97F}" sibTransId="{AEB4F2F7-032F-4297-B68B-C37510ECE59B}"/>
    <dgm:cxn modelId="{4F1AA8EF-8A0E-48D2-A885-26E7DDE9A9F6}" srcId="{349D883A-8E0C-4693-8AF4-E06367801E9C}" destId="{65FC5AB4-AC0C-48E9-985C-D1C009D72CA6}" srcOrd="1" destOrd="0" parTransId="{9AB5028D-3F93-405C-8159-CE1F179F971C}" sibTransId="{22CE8946-2AD9-4A54-8CBC-CA28CD98D935}"/>
    <dgm:cxn modelId="{06494179-BD74-4196-952B-291AF0807097}" type="presParOf" srcId="{98E4BCE3-2DC5-4996-8747-5B332CF4ACCB}" destId="{FBCEBCDE-B5A1-49F3-A311-4A298D726206}" srcOrd="0" destOrd="0" presId="urn:microsoft.com/office/officeart/2018/2/layout/IconCircleList"/>
    <dgm:cxn modelId="{B1A28362-5A80-47D8-90EA-42839AAD56FB}" type="presParOf" srcId="{FBCEBCDE-B5A1-49F3-A311-4A298D726206}" destId="{32627528-02E8-4461-8BA6-25108BA65A67}" srcOrd="0" destOrd="0" presId="urn:microsoft.com/office/officeart/2018/2/layout/IconCircleList"/>
    <dgm:cxn modelId="{AD145193-D784-4B6A-B02C-9D8421A4F4F2}" type="presParOf" srcId="{32627528-02E8-4461-8BA6-25108BA65A67}" destId="{643A85CB-A454-4276-99E7-1D36A2CCD42E}" srcOrd="0" destOrd="0" presId="urn:microsoft.com/office/officeart/2018/2/layout/IconCircleList"/>
    <dgm:cxn modelId="{4CAA5875-AD1A-404A-9582-0BD91B2BE661}" type="presParOf" srcId="{32627528-02E8-4461-8BA6-25108BA65A67}" destId="{A34E09E3-EBEA-4A97-A981-49B62152458C}" srcOrd="1" destOrd="0" presId="urn:microsoft.com/office/officeart/2018/2/layout/IconCircleList"/>
    <dgm:cxn modelId="{C83F8576-2278-4CE7-A1CD-5741324D4D08}" type="presParOf" srcId="{32627528-02E8-4461-8BA6-25108BA65A67}" destId="{EC7FB265-C472-49F4-B223-04927E088415}" srcOrd="2" destOrd="0" presId="urn:microsoft.com/office/officeart/2018/2/layout/IconCircleList"/>
    <dgm:cxn modelId="{5793FCB7-FDA4-4A13-952A-EC8099C7FAA6}" type="presParOf" srcId="{32627528-02E8-4461-8BA6-25108BA65A67}" destId="{7843E760-76BC-4789-8487-5DDBD7B18420}" srcOrd="3" destOrd="0" presId="urn:microsoft.com/office/officeart/2018/2/layout/IconCircleList"/>
    <dgm:cxn modelId="{2DB8A023-1675-4E9A-9527-F00DA2D4253E}" type="presParOf" srcId="{FBCEBCDE-B5A1-49F3-A311-4A298D726206}" destId="{CDDFCD68-ACE7-431F-B7AC-6D22EFDD0A03}" srcOrd="1" destOrd="0" presId="urn:microsoft.com/office/officeart/2018/2/layout/IconCircleList"/>
    <dgm:cxn modelId="{A38E0C80-E1E7-4B55-9788-B3DC38595A8D}" type="presParOf" srcId="{FBCEBCDE-B5A1-49F3-A311-4A298D726206}" destId="{13CA1157-E140-4E60-BD63-64C417CE8E2D}" srcOrd="2" destOrd="0" presId="urn:microsoft.com/office/officeart/2018/2/layout/IconCircleList"/>
    <dgm:cxn modelId="{40FE3B64-FC87-457F-B672-CFBD53D8C3AB}" type="presParOf" srcId="{13CA1157-E140-4E60-BD63-64C417CE8E2D}" destId="{B06AA26F-A93B-4AD4-964B-04199301D047}" srcOrd="0" destOrd="0" presId="urn:microsoft.com/office/officeart/2018/2/layout/IconCircleList"/>
    <dgm:cxn modelId="{CB7F207E-B1A3-4C7C-9BD1-E3681E88D8CF}" type="presParOf" srcId="{13CA1157-E140-4E60-BD63-64C417CE8E2D}" destId="{66B5B8E7-25CD-4EA2-820A-E62EFCAEFA3B}" srcOrd="1" destOrd="0" presId="urn:microsoft.com/office/officeart/2018/2/layout/IconCircleList"/>
    <dgm:cxn modelId="{F62F0C9A-562B-4A66-846C-257D95AF1765}" type="presParOf" srcId="{13CA1157-E140-4E60-BD63-64C417CE8E2D}" destId="{5E58B268-887F-4481-A4D7-119B0D01DF94}" srcOrd="2" destOrd="0" presId="urn:microsoft.com/office/officeart/2018/2/layout/IconCircleList"/>
    <dgm:cxn modelId="{59D7067C-7D67-4DDA-AD02-63036585DFBC}" type="presParOf" srcId="{13CA1157-E140-4E60-BD63-64C417CE8E2D}" destId="{4BD61A38-A7A8-4B61-A69C-B2354CD24210}" srcOrd="3" destOrd="0" presId="urn:microsoft.com/office/officeart/2018/2/layout/IconCircleList"/>
    <dgm:cxn modelId="{682F94C0-2CA9-4BA8-A784-E8E60DFB5D57}" type="presParOf" srcId="{FBCEBCDE-B5A1-49F3-A311-4A298D726206}" destId="{B64C0054-3E68-4BC2-B45B-50143190305A}" srcOrd="3" destOrd="0" presId="urn:microsoft.com/office/officeart/2018/2/layout/IconCircleList"/>
    <dgm:cxn modelId="{7F2FD2A4-A243-4658-993E-EC0B4D09CEE9}" type="presParOf" srcId="{FBCEBCDE-B5A1-49F3-A311-4A298D726206}" destId="{7566449D-94AA-4760-9634-3701A618CE7D}" srcOrd="4" destOrd="0" presId="urn:microsoft.com/office/officeart/2018/2/layout/IconCircleList"/>
    <dgm:cxn modelId="{BF0B0A82-DF5A-4D54-9A98-6C42E194B211}" type="presParOf" srcId="{7566449D-94AA-4760-9634-3701A618CE7D}" destId="{62F57DEE-9769-4535-A134-712397629A70}" srcOrd="0" destOrd="0" presId="urn:microsoft.com/office/officeart/2018/2/layout/IconCircleList"/>
    <dgm:cxn modelId="{1AECAF44-8A63-4C61-9BF8-07956A0F80AE}" type="presParOf" srcId="{7566449D-94AA-4760-9634-3701A618CE7D}" destId="{7C445392-A58F-49B1-A222-9E4B332784EA}" srcOrd="1" destOrd="0" presId="urn:microsoft.com/office/officeart/2018/2/layout/IconCircleList"/>
    <dgm:cxn modelId="{61BB96B3-BB77-4880-99E6-7F3CFD280BD4}" type="presParOf" srcId="{7566449D-94AA-4760-9634-3701A618CE7D}" destId="{2358BEC7-51E6-4C24-875D-1D572C41C73F}" srcOrd="2" destOrd="0" presId="urn:microsoft.com/office/officeart/2018/2/layout/IconCircleList"/>
    <dgm:cxn modelId="{4B92A4C8-EE49-4BCD-AEA4-249F6120726B}" type="presParOf" srcId="{7566449D-94AA-4760-9634-3701A618CE7D}" destId="{4421B3EF-707E-4EA8-89DE-7ECDE29B1CF6}" srcOrd="3" destOrd="0" presId="urn:microsoft.com/office/officeart/2018/2/layout/IconCircleList"/>
    <dgm:cxn modelId="{C2A904F8-AF04-411D-8DFC-041ACCBC9666}" type="presParOf" srcId="{FBCEBCDE-B5A1-49F3-A311-4A298D726206}" destId="{9A40D375-CF4C-4B93-8803-9F1D49D0D0F7}" srcOrd="5" destOrd="0" presId="urn:microsoft.com/office/officeart/2018/2/layout/IconCircleList"/>
    <dgm:cxn modelId="{2AF3D5A6-9843-4462-ABEB-EC1EE6EE174D}" type="presParOf" srcId="{FBCEBCDE-B5A1-49F3-A311-4A298D726206}" destId="{1CA45B6A-CADC-4C56-8116-36A2B4253155}" srcOrd="6" destOrd="0" presId="urn:microsoft.com/office/officeart/2018/2/layout/IconCircleList"/>
    <dgm:cxn modelId="{B104E96C-5A34-435A-8D80-464C9BFC010F}" type="presParOf" srcId="{1CA45B6A-CADC-4C56-8116-36A2B4253155}" destId="{89AF3722-3F5B-4FB7-8BDC-3FAD6D1AD75A}" srcOrd="0" destOrd="0" presId="urn:microsoft.com/office/officeart/2018/2/layout/IconCircleList"/>
    <dgm:cxn modelId="{466BEAF6-4E2B-43D9-98BA-550D956FB40B}" type="presParOf" srcId="{1CA45B6A-CADC-4C56-8116-36A2B4253155}" destId="{5171F9C2-9DEF-4F77-891B-DDB18A9997A9}" srcOrd="1" destOrd="0" presId="urn:microsoft.com/office/officeart/2018/2/layout/IconCircleList"/>
    <dgm:cxn modelId="{D721E251-60B3-46BC-B136-BB3790EF43B0}" type="presParOf" srcId="{1CA45B6A-CADC-4C56-8116-36A2B4253155}" destId="{C5ADD1C8-48BE-47F2-A26B-6B5C494C22B1}" srcOrd="2" destOrd="0" presId="urn:microsoft.com/office/officeart/2018/2/layout/IconCircleList"/>
    <dgm:cxn modelId="{EBF6E351-0560-4D83-9EAA-893A44DD9776}" type="presParOf" srcId="{1CA45B6A-CADC-4C56-8116-36A2B4253155}" destId="{5BAF85A6-CF08-42AA-BAE1-74505D41B61B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BC7B95D-FC8B-44BC-816F-8FC732EF125D}">
      <dsp:nvSpPr>
        <dsp:cNvPr id="0" name=""/>
        <dsp:cNvSpPr/>
      </dsp:nvSpPr>
      <dsp:spPr>
        <a:xfrm>
          <a:off x="0" y="26583"/>
          <a:ext cx="5918184" cy="2309579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0020" tIns="160020" rIns="160020" bIns="160020" numCol="1" spcCol="1270" anchor="ctr" anchorCtr="0">
          <a:noAutofit/>
        </a:bodyPr>
        <a:lstStyle/>
        <a:p>
          <a:pPr marL="0" lvl="0" indent="0" algn="l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200" kern="1200" dirty="0"/>
            <a:t>This week lecture will cover the following CLO’s:</a:t>
          </a:r>
        </a:p>
      </dsp:txBody>
      <dsp:txXfrm>
        <a:off x="112744" y="139327"/>
        <a:ext cx="5692696" cy="2084091"/>
      </dsp:txXfrm>
    </dsp:sp>
    <dsp:sp modelId="{A025C2BC-3DF5-4B12-A043-E15E948A1F98}">
      <dsp:nvSpPr>
        <dsp:cNvPr id="0" name=""/>
        <dsp:cNvSpPr/>
      </dsp:nvSpPr>
      <dsp:spPr>
        <a:xfrm>
          <a:off x="0" y="2336163"/>
          <a:ext cx="5918184" cy="30429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7902" tIns="53340" rIns="298704" bIns="53340" numCol="1" spcCol="1270" anchor="t" anchorCtr="0">
          <a:noAutofit/>
        </a:bodyPr>
        <a:lstStyle/>
        <a:p>
          <a:pPr marL="285750" lvl="1" indent="-285750" algn="just" defTabSz="14668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3300" b="1" kern="1200" dirty="0"/>
            <a:t>CLO1: </a:t>
          </a:r>
          <a:r>
            <a:rPr lang="en-US" sz="3300" b="0" kern="1200" dirty="0"/>
            <a:t>Discuss the key concepts in the field of artificial intelligence</a:t>
          </a:r>
          <a:endParaRPr lang="en-US" sz="3300" kern="1200" dirty="0"/>
        </a:p>
        <a:p>
          <a:pPr marL="285750" lvl="1" indent="-285750" algn="just" defTabSz="14668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3300" b="1" kern="1200" dirty="0"/>
            <a:t>CLO 2: Implement </a:t>
          </a:r>
          <a:r>
            <a:rPr lang="en-US" sz="3300" kern="1200" dirty="0"/>
            <a:t>artificial intelligence techniques and case studies</a:t>
          </a:r>
        </a:p>
      </dsp:txBody>
      <dsp:txXfrm>
        <a:off x="0" y="2336163"/>
        <a:ext cx="5918184" cy="30429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A8F8C97-D792-4E29-9ADB-A33A1728580F}">
      <dsp:nvSpPr>
        <dsp:cNvPr id="0" name=""/>
        <dsp:cNvSpPr/>
      </dsp:nvSpPr>
      <dsp:spPr>
        <a:xfrm>
          <a:off x="0" y="934913"/>
          <a:ext cx="6666833" cy="1835662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17420" tIns="1312164" rIns="517420" bIns="170688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400" kern="1200" dirty="0"/>
            <a:t>Introduction to Knowledge </a:t>
          </a:r>
          <a:r>
            <a:rPr lang="en-US" sz="2400" b="0" kern="1200" dirty="0">
              <a:solidFill>
                <a:schemeClr val="tx1"/>
              </a:solidFill>
              <a:latin typeface="+mj-lt"/>
              <a:ea typeface="+mj-ea"/>
              <a:cs typeface="+mj-cs"/>
            </a:rPr>
            <a:t>Representation</a:t>
          </a:r>
          <a:endParaRPr lang="en-US" sz="2400" b="0" kern="1200" dirty="0">
            <a:solidFill>
              <a:schemeClr val="tx1"/>
            </a:solidFill>
          </a:endParaRPr>
        </a:p>
      </dsp:txBody>
      <dsp:txXfrm>
        <a:off x="0" y="934913"/>
        <a:ext cx="6666833" cy="1835662"/>
      </dsp:txXfrm>
    </dsp:sp>
    <dsp:sp modelId="{49E13C96-EE4B-48D1-8768-AE8ECE07E331}">
      <dsp:nvSpPr>
        <dsp:cNvPr id="0" name=""/>
        <dsp:cNvSpPr/>
      </dsp:nvSpPr>
      <dsp:spPr>
        <a:xfrm>
          <a:off x="333341" y="35508"/>
          <a:ext cx="4666783" cy="185976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6393" tIns="0" rIns="176393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b="1" kern="1200" dirty="0"/>
            <a:t>CLO 1:</a:t>
          </a:r>
          <a:endParaRPr lang="en-US" sz="2400" kern="1200" dirty="0"/>
        </a:p>
      </dsp:txBody>
      <dsp:txXfrm>
        <a:off x="424127" y="126294"/>
        <a:ext cx="4485211" cy="1678188"/>
      </dsp:txXfrm>
    </dsp:sp>
    <dsp:sp modelId="{6EB0EFF8-0C42-4EF9-9C2C-CFC7394E0CEC}">
      <dsp:nvSpPr>
        <dsp:cNvPr id="0" name=""/>
        <dsp:cNvSpPr/>
      </dsp:nvSpPr>
      <dsp:spPr>
        <a:xfrm>
          <a:off x="0" y="4071130"/>
          <a:ext cx="6666833" cy="21829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6443614"/>
              <a:satOff val="-18493"/>
              <a:lumOff val="-29609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17420" tIns="1312164" rIns="517420" bIns="170688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 dirty="0"/>
            <a:t>Case Studies: Knowledge-based Systems (Eliza, Student)</a:t>
          </a:r>
        </a:p>
      </dsp:txBody>
      <dsp:txXfrm>
        <a:off x="0" y="4071130"/>
        <a:ext cx="6666833" cy="2182950"/>
      </dsp:txXfrm>
    </dsp:sp>
    <dsp:sp modelId="{CD8EDF22-9A27-49D7-87DD-3C29CC93D73D}">
      <dsp:nvSpPr>
        <dsp:cNvPr id="0" name=""/>
        <dsp:cNvSpPr/>
      </dsp:nvSpPr>
      <dsp:spPr>
        <a:xfrm>
          <a:off x="333341" y="3141250"/>
          <a:ext cx="4666783" cy="1859760"/>
        </a:xfrm>
        <a:prstGeom prst="roundRect">
          <a:avLst/>
        </a:prstGeom>
        <a:gradFill rotWithShape="0">
          <a:gsLst>
            <a:gs pos="0">
              <a:schemeClr val="accent2">
                <a:hueOff val="6443614"/>
                <a:satOff val="-18493"/>
                <a:lumOff val="-2960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6443614"/>
                <a:satOff val="-18493"/>
                <a:lumOff val="-2960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6443614"/>
                <a:satOff val="-18493"/>
                <a:lumOff val="-2960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6393" tIns="0" rIns="176393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b="1" kern="1200" dirty="0"/>
            <a:t>CLO 2:</a:t>
          </a:r>
          <a:endParaRPr lang="en-US" sz="2400" kern="1200" dirty="0"/>
        </a:p>
      </dsp:txBody>
      <dsp:txXfrm>
        <a:off x="424127" y="3232036"/>
        <a:ext cx="4485211" cy="167818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9BABA16-33AD-4D32-9860-AE1A8451E435}">
      <dsp:nvSpPr>
        <dsp:cNvPr id="0" name=""/>
        <dsp:cNvSpPr/>
      </dsp:nvSpPr>
      <dsp:spPr>
        <a:xfrm>
          <a:off x="0" y="21707"/>
          <a:ext cx="10927829" cy="61425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500" b="1" kern="1200"/>
            <a:t>Logic-Based Systems: ELIZA</a:t>
          </a:r>
          <a:endParaRPr lang="en-US" sz="2500" kern="1200"/>
        </a:p>
      </dsp:txBody>
      <dsp:txXfrm>
        <a:off x="29985" y="51692"/>
        <a:ext cx="10867859" cy="554280"/>
      </dsp:txXfrm>
    </dsp:sp>
    <dsp:sp modelId="{8D993254-0ECF-4253-9E4A-73DF61FF3B76}">
      <dsp:nvSpPr>
        <dsp:cNvPr id="0" name=""/>
        <dsp:cNvSpPr/>
      </dsp:nvSpPr>
      <dsp:spPr>
        <a:xfrm>
          <a:off x="0" y="635957"/>
          <a:ext cx="10927829" cy="2380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6959" tIns="30480" rIns="170688" bIns="30480" numCol="1" spcCol="1270" anchor="t" anchorCtr="0">
          <a:noAutofit/>
        </a:bodyPr>
        <a:lstStyle/>
        <a:p>
          <a:pPr marL="228600" lvl="1" indent="-228600" algn="just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GB" sz="2400" kern="1200" dirty="0"/>
            <a:t>Early chatbot designed to simulate human conversation using simple logical rules.</a:t>
          </a:r>
          <a:endParaRPr lang="en-US" sz="2400" kern="1200" dirty="0"/>
        </a:p>
        <a:p>
          <a:pPr marL="228600" lvl="1" indent="-228600" algn="just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GB" sz="2400" kern="1200" dirty="0"/>
            <a:t>Worked on pattern matching and pre-defined responses.</a:t>
          </a:r>
          <a:endParaRPr lang="en-US" sz="2400" kern="1200" dirty="0"/>
        </a:p>
        <a:p>
          <a:pPr marL="228600" lvl="1" indent="-228600" algn="just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GB" sz="2400" kern="1200" dirty="0"/>
            <a:t>Example Interaction:</a:t>
          </a:r>
          <a:endParaRPr lang="en-US" sz="2400" kern="1200" dirty="0"/>
        </a:p>
        <a:p>
          <a:pPr marL="457200" lvl="2" indent="-228600" algn="just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GB" sz="2400" kern="1200" dirty="0"/>
            <a:t>Input: "I feel sad.“</a:t>
          </a:r>
          <a:endParaRPr lang="en-US" sz="2400" kern="1200" dirty="0"/>
        </a:p>
        <a:p>
          <a:pPr marL="457200" lvl="2" indent="-228600" algn="just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GB" sz="2400" kern="1200" dirty="0"/>
            <a:t>Output: "Why do you feel sad?“</a:t>
          </a:r>
          <a:endParaRPr lang="en-US" sz="2400" kern="1200" dirty="0"/>
        </a:p>
      </dsp:txBody>
      <dsp:txXfrm>
        <a:off x="0" y="635957"/>
        <a:ext cx="10927829" cy="2380500"/>
      </dsp:txXfrm>
    </dsp:sp>
    <dsp:sp modelId="{53D275C9-BC75-4BBA-B4FD-0E2071034530}">
      <dsp:nvSpPr>
        <dsp:cNvPr id="0" name=""/>
        <dsp:cNvSpPr/>
      </dsp:nvSpPr>
      <dsp:spPr>
        <a:xfrm>
          <a:off x="0" y="3016457"/>
          <a:ext cx="10927829" cy="614250"/>
        </a:xfrm>
        <a:prstGeom prst="roundRect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500" b="1" kern="1200" dirty="0"/>
            <a:t>Logic-Based Systems: STUDENTA </a:t>
          </a:r>
          <a:endParaRPr lang="en-US" sz="2500" kern="1200" dirty="0"/>
        </a:p>
      </dsp:txBody>
      <dsp:txXfrm>
        <a:off x="29985" y="3046442"/>
        <a:ext cx="10867859" cy="554280"/>
      </dsp:txXfrm>
    </dsp:sp>
    <dsp:sp modelId="{100ABC5D-75B3-4567-A3C0-BCA279E28EC8}">
      <dsp:nvSpPr>
        <dsp:cNvPr id="0" name=""/>
        <dsp:cNvSpPr/>
      </dsp:nvSpPr>
      <dsp:spPr>
        <a:xfrm>
          <a:off x="0" y="3630708"/>
          <a:ext cx="10927829" cy="16301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6959" tIns="30480" rIns="170688" bIns="30480" numCol="1" spcCol="1270" anchor="t" anchorCtr="0">
          <a:noAutofit/>
        </a:bodyPr>
        <a:lstStyle/>
        <a:p>
          <a:pPr marL="228600" lvl="1" indent="-228600" algn="just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GB" sz="2400" kern="1200" dirty="0"/>
            <a:t>system designed to solve algebraic problems.</a:t>
          </a:r>
          <a:endParaRPr lang="en-US" sz="2400" kern="1200" dirty="0"/>
        </a:p>
        <a:p>
          <a:pPr marL="228600" lvl="1" indent="-228600" algn="just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GB" sz="2400" kern="1200" dirty="0"/>
            <a:t>Used logical rules to parse problems and solve equations.</a:t>
          </a:r>
          <a:endParaRPr lang="en-US" sz="2400" kern="1200" dirty="0"/>
        </a:p>
        <a:p>
          <a:pPr marL="228600" lvl="1" indent="-228600" algn="just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GB" sz="2400" kern="1200" dirty="0"/>
            <a:t>Example: </a:t>
          </a:r>
          <a:endParaRPr lang="en-US" sz="2400" kern="1200" dirty="0"/>
        </a:p>
        <a:p>
          <a:pPr marL="457200" lvl="2" indent="-228600" algn="just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GB" sz="2400" kern="1200" dirty="0"/>
            <a:t>Solving 2x + 3 = 7.</a:t>
          </a:r>
          <a:endParaRPr lang="en-US" sz="2400" kern="1200" dirty="0"/>
        </a:p>
      </dsp:txBody>
      <dsp:txXfrm>
        <a:off x="0" y="3630708"/>
        <a:ext cx="10927829" cy="1630125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43A85CB-A454-4276-99E7-1D36A2CCD42E}">
      <dsp:nvSpPr>
        <dsp:cNvPr id="0" name=""/>
        <dsp:cNvSpPr/>
      </dsp:nvSpPr>
      <dsp:spPr>
        <a:xfrm>
          <a:off x="282221" y="368029"/>
          <a:ext cx="1371985" cy="1371985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34E09E3-EBEA-4A97-A981-49B62152458C}">
      <dsp:nvSpPr>
        <dsp:cNvPr id="0" name=""/>
        <dsp:cNvSpPr/>
      </dsp:nvSpPr>
      <dsp:spPr>
        <a:xfrm>
          <a:off x="570337" y="656145"/>
          <a:ext cx="795751" cy="79575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843E760-76BC-4789-8487-5DDBD7B18420}">
      <dsp:nvSpPr>
        <dsp:cNvPr id="0" name=""/>
        <dsp:cNvSpPr/>
      </dsp:nvSpPr>
      <dsp:spPr>
        <a:xfrm>
          <a:off x="1948202" y="368029"/>
          <a:ext cx="3233964" cy="1371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100" kern="1200"/>
            <a:t>Differentiating data, information, and knowledge helps structure AI systems.</a:t>
          </a:r>
          <a:endParaRPr lang="en-US" sz="2100" kern="1200"/>
        </a:p>
      </dsp:txBody>
      <dsp:txXfrm>
        <a:off x="1948202" y="368029"/>
        <a:ext cx="3233964" cy="1371985"/>
      </dsp:txXfrm>
    </dsp:sp>
    <dsp:sp modelId="{B06AA26F-A93B-4AD4-964B-04199301D047}">
      <dsp:nvSpPr>
        <dsp:cNvPr id="0" name=""/>
        <dsp:cNvSpPr/>
      </dsp:nvSpPr>
      <dsp:spPr>
        <a:xfrm>
          <a:off x="5745661" y="368029"/>
          <a:ext cx="1371985" cy="1371985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6B5B8E7-25CD-4EA2-820A-E62EFCAEFA3B}">
      <dsp:nvSpPr>
        <dsp:cNvPr id="0" name=""/>
        <dsp:cNvSpPr/>
      </dsp:nvSpPr>
      <dsp:spPr>
        <a:xfrm>
          <a:off x="6033778" y="656145"/>
          <a:ext cx="795751" cy="79575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BD61A38-A7A8-4B61-A69C-B2354CD24210}">
      <dsp:nvSpPr>
        <dsp:cNvPr id="0" name=""/>
        <dsp:cNvSpPr/>
      </dsp:nvSpPr>
      <dsp:spPr>
        <a:xfrm>
          <a:off x="7411643" y="368029"/>
          <a:ext cx="3233964" cy="1371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100" kern="1200"/>
            <a:t>Knowledge Representation organizes knowledge for reasoning and decision-making.</a:t>
          </a:r>
          <a:endParaRPr lang="en-US" sz="2100" kern="1200"/>
        </a:p>
      </dsp:txBody>
      <dsp:txXfrm>
        <a:off x="7411643" y="368029"/>
        <a:ext cx="3233964" cy="1371985"/>
      </dsp:txXfrm>
    </dsp:sp>
    <dsp:sp modelId="{62F57DEE-9769-4535-A134-712397629A70}">
      <dsp:nvSpPr>
        <dsp:cNvPr id="0" name=""/>
        <dsp:cNvSpPr/>
      </dsp:nvSpPr>
      <dsp:spPr>
        <a:xfrm>
          <a:off x="282221" y="2452790"/>
          <a:ext cx="1371985" cy="1371985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C445392-A58F-49B1-A222-9E4B332784EA}">
      <dsp:nvSpPr>
        <dsp:cNvPr id="0" name=""/>
        <dsp:cNvSpPr/>
      </dsp:nvSpPr>
      <dsp:spPr>
        <a:xfrm>
          <a:off x="570337" y="2740907"/>
          <a:ext cx="795751" cy="79575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421B3EF-707E-4EA8-89DE-7ECDE29B1CF6}">
      <dsp:nvSpPr>
        <dsp:cNvPr id="0" name=""/>
        <dsp:cNvSpPr/>
      </dsp:nvSpPr>
      <dsp:spPr>
        <a:xfrm>
          <a:off x="1948202" y="2452790"/>
          <a:ext cx="3233964" cy="1371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100" kern="1200" dirty="0"/>
            <a:t>Logic-Based and Probabilistic-Based approaches are used based on system requirements.</a:t>
          </a:r>
          <a:endParaRPr lang="en-US" sz="2100" kern="1200" dirty="0"/>
        </a:p>
      </dsp:txBody>
      <dsp:txXfrm>
        <a:off x="1948202" y="2452790"/>
        <a:ext cx="3233964" cy="1371985"/>
      </dsp:txXfrm>
    </dsp:sp>
    <dsp:sp modelId="{89AF3722-3F5B-4FB7-8BDC-3FAD6D1AD75A}">
      <dsp:nvSpPr>
        <dsp:cNvPr id="0" name=""/>
        <dsp:cNvSpPr/>
      </dsp:nvSpPr>
      <dsp:spPr>
        <a:xfrm>
          <a:off x="5745661" y="2452790"/>
          <a:ext cx="1371985" cy="1371985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171F9C2-9DEF-4F77-891B-DDB18A9997A9}">
      <dsp:nvSpPr>
        <dsp:cNvPr id="0" name=""/>
        <dsp:cNvSpPr/>
      </dsp:nvSpPr>
      <dsp:spPr>
        <a:xfrm>
          <a:off x="6033778" y="2740907"/>
          <a:ext cx="795751" cy="795751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BAF85A6-CF08-42AA-BAE1-74505D41B61B}">
      <dsp:nvSpPr>
        <dsp:cNvPr id="0" name=""/>
        <dsp:cNvSpPr/>
      </dsp:nvSpPr>
      <dsp:spPr>
        <a:xfrm>
          <a:off x="7411643" y="2452790"/>
          <a:ext cx="3233964" cy="1371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100" kern="1200"/>
            <a:t>Case studies like ELIZA and STUDENT illustrate practical applications of knowledge representation.</a:t>
          </a:r>
          <a:endParaRPr lang="en-US" sz="2100" kern="1200"/>
        </a:p>
      </dsp:txBody>
      <dsp:txXfrm>
        <a:off x="7411643" y="2452790"/>
        <a:ext cx="3233964" cy="137198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P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D22099-AF8A-4701-B810-968115DD4CD5}" type="datetimeFigureOut">
              <a:rPr lang="en-PK" smtClean="0"/>
              <a:t>01/14/2026</a:t>
            </a:fld>
            <a:endParaRPr lang="en-P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P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A22CE8F-AF87-4DC9-8931-B46FD2A57B7E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7885244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7770C78-D1E4-43B4-9084-D5891F6FAD77}" type="slidenum">
              <a:rPr kumimoji="0" lang="en-PK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PK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861456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22CE8F-AF87-4DC9-8931-B46FD2A57B7E}" type="slidenum">
              <a:rPr lang="en-PK" smtClean="0"/>
              <a:t>3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8337621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9DBF6E-1F1A-43E5-E220-6BDA7505F1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0DB783-DEC2-A3C7-C92E-F68DB83AA3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CD0007-2303-FEB7-6AC0-EEB7E75F9E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268D2E-9289-42AC-B80C-6990639C6970}" type="datetime8">
              <a:rPr lang="en-PK" smtClean="0"/>
              <a:t>01/14/2026 09:16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4C1C67-3BAA-4BB7-E952-40087303A0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Note: Modus ponens allows one to eliminate a conditional statement from a logical proof or argument (the antecedents) and thereby not carry these antecedents forward in an ever-lengthening string of symbols.</a:t>
            </a:r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BAB63F-A8D1-625B-851E-0468772D27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F6AE5-FFBF-49E9-8C0A-67AD363D4ACB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7086739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140F5E-5A4A-48AB-F52F-4B3D819101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AED141-6028-3B45-E8E1-D75FBB31D1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91B5A7-5E7D-1482-A77F-6C1D9E69A9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6C460-4D55-46A8-8B39-F8D80668C204}" type="datetime8">
              <a:rPr lang="en-PK" smtClean="0"/>
              <a:t>01/14/2026 09:16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FE02F-9BDB-A3D2-C609-466E907B7C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Note: Modus ponens allows one to eliminate a conditional statement from a logical proof or argument (the antecedents) and thereby not carry these antecedents forward in an ever-lengthening string of symbols.</a:t>
            </a:r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FBAB45-FD81-4E1C-DA59-7E59E3E602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F6AE5-FFBF-49E9-8C0A-67AD363D4ACB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40458296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30F9AF-AFEF-5692-FA74-44D15087C3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400C95-EDA4-E6F5-4AF5-4A6CAA7854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3DCB0D-660C-5E86-7853-04235E37D9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202975-3265-4D6C-885C-67478BE3C7F2}" type="datetime8">
              <a:rPr lang="en-PK" smtClean="0"/>
              <a:t>01/14/2026 09:16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4171C3-5CDF-9D80-4EBE-656BDE541C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Note: Modus ponens allows one to eliminate a conditional statement from a logical proof or argument (the antecedents) and thereby not carry these antecedents forward in an ever-lengthening string of symbols.</a:t>
            </a:r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4E53F3-584B-156B-3CB7-CE2840A107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F6AE5-FFBF-49E9-8C0A-67AD363D4ACB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6755862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765848-8B44-647A-1750-A34E7339AB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6DC08F-EC6A-9CC6-A7BE-12D10FD1257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2273F5-CE29-B7C3-1DEE-634187AA6B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2B0614-7950-A619-551B-ED3E162EFF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BB4E42-362D-4DFA-8928-76DAAEE00EBB}" type="datetime8">
              <a:rPr lang="en-PK" smtClean="0"/>
              <a:t>01/14/2026 09:16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441B59-C8B5-6D0F-4399-F106AC82F8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Note: Modus ponens allows one to eliminate a conditional statement from a logical proof or argument (the antecedents) and thereby not carry these antecedents forward in an ever-lengthening string of symbols.</a:t>
            </a:r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4AFC60-2053-ECFF-5C50-368976D316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F6AE5-FFBF-49E9-8C0A-67AD363D4ACB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018933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DAF65F-F935-8509-0750-29F87FE67B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4D1EDD-2F32-8088-DCA4-940683FC44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F957DC-D663-7F27-98CF-5CFD4701F5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6DBE920-D195-F4B1-8A1C-DF099F1A71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98AEEDD-4D96-4D6A-F2B6-6E56E842034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CF1D32A-14A7-43A3-04BD-3E5C1D6C5A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F22A64-5408-49DB-841F-68B670D0A952}" type="datetime8">
              <a:rPr lang="en-PK" smtClean="0"/>
              <a:t>01/14/2026 09:16</a:t>
            </a:fld>
            <a:endParaRPr lang="en-PK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489F090-39B6-F704-B7FE-D92B0D991F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Note: Modus ponens allows one to eliminate a conditional statement from a logical proof or argument (the antecedents) and thereby not carry these antecedents forward in an ever-lengthening string of symbols.</a:t>
            </a:r>
            <a:endParaRPr lang="en-PK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A437A89-9DDA-2071-C1AA-F472229D41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F6AE5-FFBF-49E9-8C0A-67AD363D4ACB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0983875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8B27A3-5102-EE21-A807-3AC83BC7EC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9994ABC-C15D-FE70-E572-6DC603DD58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11D58-974E-4CAF-AC6D-5DBE315773AB}" type="datetime8">
              <a:rPr lang="en-PK" smtClean="0"/>
              <a:t>01/14/2026 09:16</a:t>
            </a:fld>
            <a:endParaRPr lang="en-P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B229E67-5D6A-62B9-0F07-7987F2233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Note: Modus ponens allows one to eliminate a conditional statement from a logical proof or argument (the antecedents) and thereby not carry these antecedents forward in an ever-lengthening string of symbols.</a:t>
            </a:r>
            <a:endParaRPr lang="en-P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1FEB484-C332-0992-D1F3-3F2F2D91BE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F6AE5-FFBF-49E9-8C0A-67AD363D4ACB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1064974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91F1087-2936-983D-89D2-679197D30A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752D9D-C6C1-49F2-AE52-02C80D6EEE70}" type="datetime8">
              <a:rPr lang="en-PK" smtClean="0"/>
              <a:t>01/14/2026 09:16</a:t>
            </a:fld>
            <a:endParaRPr lang="en-PK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780D7FA-42F7-2E29-B463-91C82A3EA3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Note: Modus ponens allows one to eliminate a conditional statement from a logical proof or argument (the antecedents) and thereby not carry these antecedents forward in an ever-lengthening string of symbols.</a:t>
            </a:r>
            <a:endParaRPr lang="en-P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84DD66-06F1-428F-8C28-7722073E4C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F6AE5-FFBF-49E9-8C0A-67AD363D4ACB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6861861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523CE5-E801-D5B4-C053-AF956615D1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C01F3B-C27D-DFCB-EC41-FE54E8B845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3F774E3-55AD-9EDB-210F-21390360F3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16F6D0-CE3D-181B-8D4A-CE6D944B2E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E860EF-E9C5-4154-ABA0-497C98888386}" type="datetime8">
              <a:rPr lang="en-PK" smtClean="0"/>
              <a:t>01/14/2026 09:16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E9E0BA-6765-5F28-D792-DFBAF369FB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Note: Modus ponens allows one to eliminate a conditional statement from a logical proof or argument (the antecedents) and thereby not carry these antecedents forward in an ever-lengthening string of symbols.</a:t>
            </a:r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142F7D-EC17-A880-F4CA-79F8DE7E7D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F6AE5-FFBF-49E9-8C0A-67AD363D4ACB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8022190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7CA6B2-0346-47D8-7C6C-CEB953FA44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2FD7669-0EBC-8316-FE6C-4E3AFA75DBB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30D761-DEC6-4E02-A5A6-68D7DAB6F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101B9B-2FB7-4E9B-93B1-2B1A71C6FC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1A3010-BD20-4C20-A139-F111CFCE4DED}" type="datetime8">
              <a:rPr lang="en-PK" smtClean="0"/>
              <a:t>01/14/2026 09:16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DA871A-2E8C-6DAA-29F7-58F546DA9B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Note: Modus ponens allows one to eliminate a conditional statement from a logical proof or argument (the antecedents) and thereby not carry these antecedents forward in an ever-lengthening string of symbols.</a:t>
            </a:r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073E63-5A89-7F39-0343-31B38AA0A5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F6AE5-FFBF-49E9-8C0A-67AD363D4ACB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5574573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04A0C1-36D1-D275-D29D-A5F174F13B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7EC01DC-96D5-483D-EB66-D069F943BA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E0D86A-33F6-CC08-D069-C2CD2DA22C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DF583-EA1F-490D-A440-28D5D4D1609B}" type="datetime8">
              <a:rPr lang="en-PK" smtClean="0"/>
              <a:t>01/14/2026 09:16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C4C501-4B4E-CD7A-A3CF-AAF9C06DB5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Note: Modus ponens allows one to eliminate a conditional statement from a logical proof or argument (the antecedents) and thereby not carry these antecedents forward in an ever-lengthening string of symbols.</a:t>
            </a:r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62088F-8BDE-3163-D288-747BB62CE6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F6AE5-FFBF-49E9-8C0A-67AD363D4ACB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3981855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8FFE489-8C8D-9284-62BE-5BD44DD32D4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BE0687B-E3ED-4012-AF0D-ED0C35C62C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72E4B5-4BD5-1EA2-4054-0181794E6F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E86CA3-BD67-4FC2-8043-563DA28C6DEF}" type="datetime8">
              <a:rPr lang="en-PK" smtClean="0"/>
              <a:t>01/14/2026 09:16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CB897C-3A1B-5B06-4673-7AD973890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Note: Modus ponens allows one to eliminate a conditional statement from a logical proof or argument (the antecedents) and thereby not carry these antecedents forward in an ever-lengthening string of symbols.</a:t>
            </a:r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320210-5709-B516-739E-CEF3220C1B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F6AE5-FFBF-49E9-8C0A-67AD363D4ACB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7421232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853720-3816-381E-EB06-FB553BB258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509A3BF-9B33-DBA2-7E40-BA8D755432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F9BF09-C8C7-FEBB-73F7-946D690698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A5E6FA-F9B2-43F4-93A1-754EFBD5F0B7}" type="datetime8">
              <a:rPr lang="en-PK" smtClean="0"/>
              <a:t>01/14/2026 09:16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452A2D-B611-36A4-1555-70458F8A44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Note: Modus ponens allows one to eliminate a conditional statement from a logical proof or argument (the antecedents) and thereby not carry these antecedents forward in an ever-lengthening string of symbols.</a:t>
            </a:r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B148D1-A7D7-FCDA-0382-278EF7CCC6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98E9BB-3426-4537-94B3-5BEC3C8DC2C6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52059534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E10FBD-5708-B085-7163-E9B8F55B5E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C8CFDE-AF79-6214-4E80-4629A71570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506B77-41C4-B60D-171B-4127A106DA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3D06E-F415-4185-80CC-C9C1D8DCF4BF}" type="datetime8">
              <a:rPr lang="en-PK" smtClean="0"/>
              <a:t>01/14/2026 09:16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C12C56-0D12-81DD-F88C-B3DF7C1918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Note: Modus ponens allows one to eliminate a conditional statement from a logical proof or argument (the antecedents) and thereby not carry these antecedents forward in an ever-lengthening string of symbols.</a:t>
            </a:r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2B8C87-E64E-2CF6-F59F-3426145095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98E9BB-3426-4537-94B3-5BEC3C8DC2C6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26619033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EC20F4-56B4-ED58-3666-E30DB62F54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9DD55C-3A71-9766-7BE1-256FF83201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C34CCA-0EC2-8307-6A0E-B2DE70E458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009A1A-9470-4BA4-A2A2-7BF1CBDD1AE9}" type="datetime8">
              <a:rPr lang="en-PK" smtClean="0"/>
              <a:t>01/14/2026 09:16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8B5AD0-2406-4741-9B27-130E3F62CD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Note: Modus ponens allows one to eliminate a conditional statement from a logical proof or argument (the antecedents) and thereby not carry these antecedents forward in an ever-lengthening string of symbols.</a:t>
            </a:r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E28277-6902-C86D-48CA-4EF489EEF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98E9BB-3426-4537-94B3-5BEC3C8DC2C6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420104321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78B771-A201-CABE-C531-1DEEA3F6CD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D12095-55BE-312A-0541-980C275F6B2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2BF5121-B39D-77AE-FDA8-79EB39DCD8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3E837C-E895-AB1D-35B1-D86D86CAD5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9879D1-4867-47B4-ABB5-00115205E094}" type="datetime8">
              <a:rPr lang="en-PK" smtClean="0"/>
              <a:t>01/14/2026 09:16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2D6123-FDDB-E74B-B67B-3B7436A58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Note: Modus ponens allows one to eliminate a conditional statement from a logical proof or argument (the antecedents) and thereby not carry these antecedents forward in an ever-lengthening string of symbols.</a:t>
            </a:r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34099A-D6CD-7317-CE16-5B189A67A8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98E9BB-3426-4537-94B3-5BEC3C8DC2C6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78553676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8B40B2-2987-4772-A133-4D54679C73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968140-1825-DBB1-561C-E023ED6AE9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96F8CF-4A87-97A7-E51E-E57DA829BD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DC6A12-68C0-50BD-32DF-9162AAC03A3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028C1AD-FE87-70BE-AE5A-60BA867E356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8C61F5D-B757-4D74-9774-E02C64ECB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6ACD6-7DB4-4B0B-80BA-170914EA3395}" type="datetime8">
              <a:rPr lang="en-PK" smtClean="0"/>
              <a:t>01/14/2026 09:16</a:t>
            </a:fld>
            <a:endParaRPr lang="en-PK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E5577DB-660B-4D6D-1ABD-CD10BED541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Note: Modus ponens allows one to eliminate a conditional statement from a logical proof or argument (the antecedents) and thereby not carry these antecedents forward in an ever-lengthening string of symbols.</a:t>
            </a:r>
            <a:endParaRPr lang="en-PK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D59736A-5F3E-FF09-F99B-AD539ED8EB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98E9BB-3426-4537-94B3-5BEC3C8DC2C6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78811168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334501-7D1D-32DF-175C-23D723FA31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E3C3BAA-C826-94A1-99A7-35E780AE0B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312407-BEAE-4152-B7BA-48543FBFA995}" type="datetime8">
              <a:rPr lang="en-PK" smtClean="0"/>
              <a:t>01/14/2026 09:16</a:t>
            </a:fld>
            <a:endParaRPr lang="en-P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081178B-4DCB-1221-F1E4-F1E1BB12B6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Note: Modus ponens allows one to eliminate a conditional statement from a logical proof or argument (the antecedents) and thereby not carry these antecedents forward in an ever-lengthening string of symbols.</a:t>
            </a:r>
            <a:endParaRPr lang="en-P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4CF76B-5981-48D4-1508-AC4C69CF3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98E9BB-3426-4537-94B3-5BEC3C8DC2C6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97564853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F672966-C101-DBA0-31A6-0DEDED54D6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8559E-9171-4385-8072-B0E593863BB5}" type="datetime8">
              <a:rPr lang="en-PK" smtClean="0"/>
              <a:t>01/14/2026 09:16</a:t>
            </a:fld>
            <a:endParaRPr lang="en-PK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EE2644B-ACC8-BACF-D571-05B35854EF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Note: Modus ponens allows one to eliminate a conditional statement from a logical proof or argument (the antecedents) and thereby not carry these antecedents forward in an ever-lengthening string of symbols.</a:t>
            </a:r>
            <a:endParaRPr lang="en-P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A988BF-9305-AA0B-6DC3-C0ABE5ECAB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98E9BB-3426-4537-94B3-5BEC3C8DC2C6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22843123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EFE64C-50F1-B827-5189-582FAD9267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D9AB93-9C36-D887-5560-612DD4D039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6BB17D3-FD48-BFB0-34D1-FF569AAE27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179BE8-7490-2442-C273-BD66D16FCA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8870C0-0CCF-4A43-BBA0-BD65E4FC916D}" type="datetime8">
              <a:rPr lang="en-PK" smtClean="0"/>
              <a:t>01/14/2026 09:16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D5BC4B-BA90-7AD7-16B6-69BDF87696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Note: Modus ponens allows one to eliminate a conditional statement from a logical proof or argument (the antecedents) and thereby not carry these antecedents forward in an ever-lengthening string of symbols.</a:t>
            </a:r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2A8F57-9EAE-C269-11A8-B5A74CDE64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98E9BB-3426-4537-94B3-5BEC3C8DC2C6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97252767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380BEE-A111-9AA1-C4B8-12E07D7C80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84BFE80-195D-9F83-E5BD-060B5AA0882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4A238C-BD32-C671-142B-4FE5368F5F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04E100-6E96-3ED0-92D2-1900C5852E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EED458-9B45-4ED9-810F-EDF3F113BFE8}" type="datetime8">
              <a:rPr lang="en-PK" smtClean="0"/>
              <a:t>01/14/2026 09:16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5F1DA5-7BB0-0309-3E65-44DDEF3141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Note: Modus ponens allows one to eliminate a conditional statement from a logical proof or argument (the antecedents) and thereby not carry these antecedents forward in an ever-lengthening string of symbols.</a:t>
            </a:r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BCBEC1-69B8-F2EB-CAFA-5A294439A1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98E9BB-3426-4537-94B3-5BEC3C8DC2C6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06359109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8CBA61-3CE4-676D-E6E6-A0F3A45D85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8BE53C3-DEB7-D4D6-59C2-76D2BCA233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EC23A6-4DEE-2B0F-F9E8-AF8E0897C7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F8A886-A279-4E48-9566-005C3CCF0512}" type="datetime8">
              <a:rPr lang="en-PK" smtClean="0"/>
              <a:t>01/14/2026 09:16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3BC7B1-D071-396D-DD27-D6F3B7A2FD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Note: Modus ponens allows one to eliminate a conditional statement from a logical proof or argument (the antecedents) and thereby not carry these antecedents forward in an ever-lengthening string of symbols.</a:t>
            </a:r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3EEB43-9506-19FD-C9B4-95B5C0754F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98E9BB-3426-4537-94B3-5BEC3C8DC2C6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1196309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2F5FC5C-5F00-9053-F0A9-CBBC1DB3BC6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9D03B86-E126-76D5-C128-6EBFBA70C2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B410F2-965D-9F7B-B99A-D14566919E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6FA2A8-78F7-44B2-B930-F12580E93FE9}" type="datetime8">
              <a:rPr lang="en-PK" smtClean="0"/>
              <a:t>01/14/2026 09:16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6D7986-9CB8-9DAB-9592-00A9C473E2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Note: Modus ponens allows one to eliminate a conditional statement from a logical proof or argument (the antecedents) and thereby not carry these antecedents forward in an ever-lengthening string of symbols.</a:t>
            </a:r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32B750-7CCD-A09C-870B-641AB42450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98E9BB-3426-4537-94B3-5BEC3C8DC2C6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429419986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853720-3816-381E-EB06-FB553BB258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509A3BF-9B33-DBA2-7E40-BA8D755432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F9BF09-C8C7-FEBB-73F7-946D690698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1B422B-D56B-48A6-BE4D-0AAC7D67A4F0}" type="datetimeFigureOut">
              <a:rPr lang="en-PK" smtClean="0"/>
              <a:t>01/14/2026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452A2D-B611-36A4-1555-70458F8A44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B148D1-A7D7-FCDA-0382-278EF7CCC6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98E9BB-3426-4537-94B3-5BEC3C8DC2C6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18373123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E10FBD-5708-B085-7163-E9B8F55B5E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C8CFDE-AF79-6214-4E80-4629A71570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506B77-41C4-B60D-171B-4127A106DA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1B422B-D56B-48A6-BE4D-0AAC7D67A4F0}" type="datetimeFigureOut">
              <a:rPr lang="en-PK" smtClean="0"/>
              <a:t>01/14/2026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C12C56-0D12-81DD-F88C-B3DF7C1918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2B8C87-E64E-2CF6-F59F-3426145095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98E9BB-3426-4537-94B3-5BEC3C8DC2C6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8171710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EC20F4-56B4-ED58-3666-E30DB62F54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9DD55C-3A71-9766-7BE1-256FF83201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C34CCA-0EC2-8307-6A0E-B2DE70E458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1B422B-D56B-48A6-BE4D-0AAC7D67A4F0}" type="datetimeFigureOut">
              <a:rPr lang="en-PK" smtClean="0"/>
              <a:t>01/14/2026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8B5AD0-2406-4741-9B27-130E3F62CD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E28277-6902-C86D-48CA-4EF489EEF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98E9BB-3426-4537-94B3-5BEC3C8DC2C6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23655275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78B771-A201-CABE-C531-1DEEA3F6CD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D12095-55BE-312A-0541-980C275F6B2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2BF5121-B39D-77AE-FDA8-79EB39DCD8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3E837C-E895-AB1D-35B1-D86D86CAD5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1B422B-D56B-48A6-BE4D-0AAC7D67A4F0}" type="datetimeFigureOut">
              <a:rPr lang="en-PK" smtClean="0"/>
              <a:t>01/14/2026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2D6123-FDDB-E74B-B67B-3B7436A58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34099A-D6CD-7317-CE16-5B189A67A8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98E9BB-3426-4537-94B3-5BEC3C8DC2C6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97788723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8B40B2-2987-4772-A133-4D54679C73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968140-1825-DBB1-561C-E023ED6AE9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96F8CF-4A87-97A7-E51E-E57DA829BD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DC6A12-68C0-50BD-32DF-9162AAC03A3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028C1AD-FE87-70BE-AE5A-60BA867E356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8C61F5D-B757-4D74-9774-E02C64ECB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1B422B-D56B-48A6-BE4D-0AAC7D67A4F0}" type="datetimeFigureOut">
              <a:rPr lang="en-PK" smtClean="0"/>
              <a:t>01/14/2026</a:t>
            </a:fld>
            <a:endParaRPr lang="en-PK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E5577DB-660B-4D6D-1ABD-CD10BED541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D59736A-5F3E-FF09-F99B-AD539ED8EB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98E9BB-3426-4537-94B3-5BEC3C8DC2C6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57780797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334501-7D1D-32DF-175C-23D723FA31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E3C3BAA-C826-94A1-99A7-35E780AE0B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1B422B-D56B-48A6-BE4D-0AAC7D67A4F0}" type="datetimeFigureOut">
              <a:rPr lang="en-PK" smtClean="0"/>
              <a:t>01/14/2026</a:t>
            </a:fld>
            <a:endParaRPr lang="en-P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081178B-4DCB-1221-F1E4-F1E1BB12B6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4CF76B-5981-48D4-1508-AC4C69CF3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98E9BB-3426-4537-94B3-5BEC3C8DC2C6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97195655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F672966-C101-DBA0-31A6-0DEDED54D6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1B422B-D56B-48A6-BE4D-0AAC7D67A4F0}" type="datetimeFigureOut">
              <a:rPr lang="en-PK" smtClean="0"/>
              <a:t>01/14/2026</a:t>
            </a:fld>
            <a:endParaRPr lang="en-PK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EE2644B-ACC8-BACF-D571-05B35854EF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A988BF-9305-AA0B-6DC3-C0ABE5ECAB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98E9BB-3426-4537-94B3-5BEC3C8DC2C6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7362199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EFE64C-50F1-B827-5189-582FAD9267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D9AB93-9C36-D887-5560-612DD4D039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6BB17D3-FD48-BFB0-34D1-FF569AAE27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179BE8-7490-2442-C273-BD66D16FCA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1B422B-D56B-48A6-BE4D-0AAC7D67A4F0}" type="datetimeFigureOut">
              <a:rPr lang="en-PK" smtClean="0"/>
              <a:t>01/14/2026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D5BC4B-BA90-7AD7-16B6-69BDF87696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2A8F57-9EAE-C269-11A8-B5A74CDE64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98E9BB-3426-4537-94B3-5BEC3C8DC2C6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68752904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380BEE-A111-9AA1-C4B8-12E07D7C80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84BFE80-195D-9F83-E5BD-060B5AA0882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4A238C-BD32-C671-142B-4FE5368F5F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04E100-6E96-3ED0-92D2-1900C5852E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1B422B-D56B-48A6-BE4D-0AAC7D67A4F0}" type="datetimeFigureOut">
              <a:rPr lang="en-PK" smtClean="0"/>
              <a:t>01/14/2026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5F1DA5-7BB0-0309-3E65-44DDEF3141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BCBEC1-69B8-F2EB-CAFA-5A294439A1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98E9BB-3426-4537-94B3-5BEC3C8DC2C6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55487284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8CBA61-3CE4-676D-E6E6-A0F3A45D85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8BE53C3-DEB7-D4D6-59C2-76D2BCA233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EC23A6-4DEE-2B0F-F9E8-AF8E0897C7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1B422B-D56B-48A6-BE4D-0AAC7D67A4F0}" type="datetimeFigureOut">
              <a:rPr lang="en-PK" smtClean="0"/>
              <a:t>01/14/2026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3BC7B1-D071-396D-DD27-D6F3B7A2FD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3EEB43-9506-19FD-C9B4-95B5C0754F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98E9BB-3426-4537-94B3-5BEC3C8DC2C6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401354598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2F5FC5C-5F00-9053-F0A9-CBBC1DB3BC6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9D03B86-E126-76D5-C128-6EBFBA70C2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B410F2-965D-9F7B-B99A-D14566919E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1B422B-D56B-48A6-BE4D-0AAC7D67A4F0}" type="datetimeFigureOut">
              <a:rPr lang="en-PK" smtClean="0"/>
              <a:t>01/14/2026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6D7986-9CB8-9DAB-9592-00A9C473E2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32B750-7CCD-A09C-870B-641AB42450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98E9BB-3426-4537-94B3-5BEC3C8DC2C6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8058015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348A50D-613C-02AB-581B-1EF8CBBB5B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868A3D-C8EE-C41F-48F9-726C438B28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75493D-4CF2-26D7-B747-6F625DBE2E0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ED636D9-B266-4646-B09B-4DC3FF6DEB0E}" type="datetime8">
              <a:rPr lang="en-PK" smtClean="0"/>
              <a:t>01/14/2026 09:16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B9FEE2-49F4-5CCC-6E73-A93A928D6A6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GB"/>
              <a:t>Note: Modus ponens allows one to eliminate a conditional statement from a logical proof or argument (the antecedents) and thereby not carry these antecedents forward in an ever-lengthening string of symbols.</a:t>
            </a:r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66B20A-6F5F-92E0-412B-7BC36CDF6F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73F6AE5-FFBF-49E9-8C0A-67AD363D4ACB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8421863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P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AE0A0BD-8E0B-039C-FB28-7DE93B8E33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CF0ED9-CAC2-E83A-68ED-C5161A9F58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547626-C717-A094-D7ED-9CC80A77972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F2A6A64-E084-48DF-BC71-B8BC8F551A5E}" type="datetime8">
              <a:rPr lang="en-PK" smtClean="0"/>
              <a:t>01/14/2026 09:16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285EE4-DEFC-CF01-936A-8A735E3CB9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GB"/>
              <a:t>Note: Modus ponens allows one to eliminate a conditional statement from a logical proof or argument (the antecedents) and thereby not carry these antecedents forward in an ever-lengthening string of symbols.</a:t>
            </a:r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368BF9-1FDB-07EF-4625-0F16BAFA2D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C98E9BB-3426-4537-94B3-5BEC3C8DC2C6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42213255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P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AE0A0BD-8E0B-039C-FB28-7DE93B8E33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CF0ED9-CAC2-E83A-68ED-C5161A9F58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547626-C717-A094-D7ED-9CC80A77972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B1B422B-D56B-48A6-BE4D-0AAC7D67A4F0}" type="datetimeFigureOut">
              <a:rPr lang="en-PK" smtClean="0"/>
              <a:t>01/14/2026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285EE4-DEFC-CF01-936A-8A735E3CB9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368BF9-1FDB-07EF-4625-0F16BAFA2D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C98E9BB-3426-4537-94B3-5BEC3C8DC2C6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4406541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P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3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6" name="Rectangle 75">
            <a:extLst>
              <a:ext uri="{FF2B5EF4-FFF2-40B4-BE49-F238E27FC236}">
                <a16:creationId xmlns:a16="http://schemas.microsoft.com/office/drawing/2014/main" id="{8C790BE2-4E4F-4AAF-81A2-4A6F4885E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D28B54C3-B57B-472A-B96E-1FCB67093D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0"/>
            <a:ext cx="12191999" cy="6858000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rgbClr val="000000"/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7DB3C429-F8DA-49B9-AF84-21996FCF7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-4"/>
            <a:ext cx="12192000" cy="6402581"/>
          </a:xfrm>
          <a:prstGeom prst="rect">
            <a:avLst/>
          </a:prstGeom>
          <a:gradFill>
            <a:gsLst>
              <a:gs pos="1000">
                <a:schemeClr val="accent1">
                  <a:lumMod val="75000"/>
                  <a:alpha val="59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E12088DD-B1AD-40E0-8B86-1D87A2CCD9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63054" y="-2653923"/>
            <a:ext cx="6858001" cy="12165846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rgbClr val="000000">
                  <a:alpha val="28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C4C9F2B0-1044-46EB-8AEB-C3BFFDE6C2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94763" y="0"/>
            <a:ext cx="6096001" cy="6858000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chemeClr val="accent1">
                  <a:lumMod val="75000"/>
                  <a:alpha val="50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0C395952-4E26-45A2-8756-2ADFD6E53C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4" y="-3"/>
            <a:ext cx="12182871" cy="6871922"/>
          </a:xfrm>
          <a:prstGeom prst="rect">
            <a:avLst/>
          </a:prstGeom>
          <a:gradFill>
            <a:gsLst>
              <a:gs pos="13000">
                <a:srgbClr val="000000">
                  <a:alpha val="35000"/>
                </a:srgbClr>
              </a:gs>
              <a:gs pos="99000">
                <a:schemeClr val="accent1">
                  <a:lumMod val="75000"/>
                  <a:alpha val="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88" name="Freeform: Shape 87">
            <a:extLst>
              <a:ext uri="{FF2B5EF4-FFF2-40B4-BE49-F238E27FC236}">
                <a16:creationId xmlns:a16="http://schemas.microsoft.com/office/drawing/2014/main" id="{4734BADF-9461-4621-B112-2D7BABEA7D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7713" y="4049"/>
            <a:ext cx="10216576" cy="4729040"/>
          </a:xfrm>
          <a:custGeom>
            <a:avLst/>
            <a:gdLst>
              <a:gd name="connsiteX0" fmla="*/ 0 w 10216576"/>
              <a:gd name="connsiteY0" fmla="*/ 0 h 4729040"/>
              <a:gd name="connsiteX1" fmla="*/ 10216576 w 10216576"/>
              <a:gd name="connsiteY1" fmla="*/ 0 h 4729040"/>
              <a:gd name="connsiteX2" fmla="*/ 10210268 w 10216576"/>
              <a:gd name="connsiteY2" fmla="*/ 124944 h 4729040"/>
              <a:gd name="connsiteX3" fmla="*/ 5108288 w 10216576"/>
              <a:gd name="connsiteY3" fmla="*/ 4729040 h 4729040"/>
              <a:gd name="connsiteX4" fmla="*/ 6309 w 10216576"/>
              <a:gd name="connsiteY4" fmla="*/ 124944 h 4729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216576" h="4729040">
                <a:moveTo>
                  <a:pt x="0" y="0"/>
                </a:moveTo>
                <a:lnTo>
                  <a:pt x="10216576" y="0"/>
                </a:lnTo>
                <a:lnTo>
                  <a:pt x="10210268" y="124944"/>
                </a:lnTo>
                <a:cubicBezTo>
                  <a:pt x="9947637" y="2710997"/>
                  <a:pt x="7763635" y="4729040"/>
                  <a:pt x="5108288" y="4729040"/>
                </a:cubicBezTo>
                <a:cubicBezTo>
                  <a:pt x="2452942" y="4729040"/>
                  <a:pt x="268937" y="2710997"/>
                  <a:pt x="6309" y="124944"/>
                </a:cubicBezTo>
                <a:close/>
              </a:path>
            </a:pathLst>
          </a:custGeom>
          <a:gradFill>
            <a:gsLst>
              <a:gs pos="7000">
                <a:schemeClr val="accent1">
                  <a:lumMod val="50000"/>
                  <a:alpha val="4000"/>
                </a:schemeClr>
              </a:gs>
              <a:gs pos="99000">
                <a:schemeClr val="accent1">
                  <a:alpha val="24000"/>
                </a:schemeClr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49733D3-B539-9FDF-841C-7CA34CBED4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26693" y="1030406"/>
            <a:ext cx="8147713" cy="3081242"/>
          </a:xfrm>
        </p:spPr>
        <p:txBody>
          <a:bodyPr anchor="ctr">
            <a:normAutofit/>
          </a:bodyPr>
          <a:lstStyle/>
          <a:p>
            <a:r>
              <a:rPr lang="en-GB" sz="48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Artificial Intelligence</a:t>
            </a:r>
            <a:br>
              <a:rPr lang="en-GB" sz="48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sz="48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CS-202</a:t>
            </a:r>
            <a:endParaRPr lang="en-PK" sz="4800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0CA6085-9456-8389-FD83-03FD37673D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59943" y="4316361"/>
            <a:ext cx="9078628" cy="1715352"/>
          </a:xfrm>
        </p:spPr>
        <p:txBody>
          <a:bodyPr anchor="ctr">
            <a:noAutofit/>
          </a:bodyPr>
          <a:lstStyle/>
          <a:p>
            <a:r>
              <a:rPr lang="en-GB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Topic: Knowledge Representation</a:t>
            </a:r>
          </a:p>
          <a:p>
            <a:r>
              <a:rPr lang="en-GB" sz="18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Habiba Arshad</a:t>
            </a:r>
          </a:p>
          <a:p>
            <a:r>
              <a:rPr lang="en-GB" sz="18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Department of Computer Science</a:t>
            </a:r>
          </a:p>
          <a:p>
            <a:r>
              <a:rPr lang="en-GB" sz="18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University of Wah</a:t>
            </a:r>
          </a:p>
        </p:txBody>
      </p:sp>
    </p:spTree>
    <p:extLst>
      <p:ext uri="{BB962C8B-B14F-4D97-AF65-F5344CB8AC3E}">
        <p14:creationId xmlns:p14="http://schemas.microsoft.com/office/powerpoint/2010/main" val="25819594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1F6BF70-C7D1-4AF9-8DB4-BEEB8A9C35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DE0E7B3-C946-4D46-D3F2-E5D4B28084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065" y="1097280"/>
            <a:ext cx="3796306" cy="4666207"/>
          </a:xfrm>
        </p:spPr>
        <p:txBody>
          <a:bodyPr anchor="ctr">
            <a:normAutofit/>
          </a:bodyPr>
          <a:lstStyle/>
          <a:p>
            <a:r>
              <a:rPr lang="en-GB" sz="4800" b="1" dirty="0">
                <a:latin typeface="Arial" panose="020B0604020202020204" pitchFamily="34" charset="0"/>
                <a:cs typeface="Arial" panose="020B0604020202020204" pitchFamily="34" charset="0"/>
              </a:rPr>
              <a:t>Week-10 CLO’s</a:t>
            </a:r>
            <a:endParaRPr lang="en-PK" sz="4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C66A8B6-1F6E-4FCC-93B9-B9986B6FD1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2576" y="5945955"/>
            <a:ext cx="12109423" cy="525780"/>
            <a:chOff x="82576" y="5945955"/>
            <a:chExt cx="12109423" cy="52578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CAF7C4FD-65AD-4BBE-886A-D2E923F94C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-103361" y="6131892"/>
              <a:ext cx="524256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1BA8278B-6DF7-481F-B1FA-FFE7D6C3C7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 flipH="1">
              <a:off x="5998176" y="277912"/>
              <a:ext cx="524256" cy="1186339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33706" y="587829"/>
            <a:ext cx="6505300" cy="568234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51412D1-217C-109E-B1DF-6DFBBBBDB9B7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5431536" y="587829"/>
          <a:ext cx="5918184" cy="540564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90695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77852DB-10CB-BAE7-752A-5098AF7A36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GB" sz="4000">
                <a:solidFill>
                  <a:srgbClr val="FFFFFF"/>
                </a:solidFill>
              </a:rPr>
              <a:t>CLO’s Mapping </a:t>
            </a:r>
            <a:endParaRPr lang="en-PK" sz="4000">
              <a:solidFill>
                <a:srgbClr val="FFFFFF"/>
              </a:solidFill>
            </a:endParaRPr>
          </a:p>
        </p:txBody>
      </p:sp>
      <p:graphicFrame>
        <p:nvGraphicFramePr>
          <p:cNvPr id="12" name="Content Placeholder 2">
            <a:extLst>
              <a:ext uri="{FF2B5EF4-FFF2-40B4-BE49-F238E27FC236}">
                <a16:creationId xmlns:a16="http://schemas.microsoft.com/office/drawing/2014/main" id="{D1DDC836-2DE9-75FA-5E18-375B488BD76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59385177"/>
              </p:ext>
            </p:extLst>
          </p:nvPr>
        </p:nvGraphicFramePr>
        <p:xfrm>
          <a:off x="4905052" y="321275"/>
          <a:ext cx="6666833" cy="628958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0934015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6DBC10D-E0E3-2095-5984-52FF4A0BFE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396" y="586855"/>
            <a:ext cx="4230100" cy="3387497"/>
          </a:xfrm>
        </p:spPr>
        <p:txBody>
          <a:bodyPr anchor="b">
            <a:normAutofit/>
          </a:bodyPr>
          <a:lstStyle/>
          <a:p>
            <a:pPr algn="r"/>
            <a:r>
              <a:rPr lang="en-GB" sz="4000" b="1" dirty="0">
                <a:solidFill>
                  <a:srgbClr val="FFFFFF"/>
                </a:solidFill>
              </a:rPr>
              <a:t>Knowledge Representation</a:t>
            </a:r>
            <a:endParaRPr lang="en-PK" sz="4000" b="1" dirty="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832CF4-80BD-83B8-FD98-A2C95A3B43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87341" y="649480"/>
            <a:ext cx="5868365" cy="5546047"/>
          </a:xfrm>
        </p:spPr>
        <p:txBody>
          <a:bodyPr anchor="ctr">
            <a:normAutofit/>
          </a:bodyPr>
          <a:lstStyle/>
          <a:p>
            <a:pPr algn="just"/>
            <a:r>
              <a:rPr lang="en-GB" sz="3200" dirty="0">
                <a:latin typeface="Arial" panose="020B0604020202020204" pitchFamily="34" charset="0"/>
                <a:cs typeface="Arial" panose="020B0604020202020204" pitchFamily="34" charset="0"/>
              </a:rPr>
              <a:t>Difference Among Data, Information, and Knowledge. </a:t>
            </a:r>
          </a:p>
          <a:p>
            <a:pPr algn="just"/>
            <a:r>
              <a:rPr lang="en-GB" sz="3200" dirty="0">
                <a:latin typeface="Arial" panose="020B0604020202020204" pitchFamily="34" charset="0"/>
                <a:cs typeface="Arial" panose="020B0604020202020204" pitchFamily="34" charset="0"/>
              </a:rPr>
              <a:t>Importance of Differentiating These Terms. </a:t>
            </a:r>
          </a:p>
          <a:p>
            <a:pPr algn="just"/>
            <a:r>
              <a:rPr lang="en-GB" sz="3200" dirty="0">
                <a:latin typeface="Arial" panose="020B0604020202020204" pitchFamily="34" charset="0"/>
                <a:cs typeface="Arial" panose="020B0604020202020204" pitchFamily="34" charset="0"/>
              </a:rPr>
              <a:t>Types of Knowledge Representation: </a:t>
            </a:r>
          </a:p>
          <a:p>
            <a:pPr lvl="1" algn="just"/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Logic-Based</a:t>
            </a:r>
          </a:p>
          <a:p>
            <a:pPr lvl="1" algn="just"/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Probabilistic-Based</a:t>
            </a:r>
            <a:endParaRPr lang="en-GB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68426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4E5E58B-E429-0D7A-DE21-7D21E716D5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it-IT" sz="4000" b="1" dirty="0">
                <a:solidFill>
                  <a:srgbClr val="FFFFFF"/>
                </a:solidFill>
              </a:rPr>
              <a:t>Key Aspects of Representation</a:t>
            </a:r>
            <a:endParaRPr lang="en-PK" sz="4000" b="1" dirty="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C617F3-9CAF-E2DF-ED1D-C6DBCD9B79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1885278"/>
            <a:ext cx="9724031" cy="4678183"/>
          </a:xfrm>
        </p:spPr>
        <p:txBody>
          <a:bodyPr anchor="ctr">
            <a:normAutofit/>
          </a:bodyPr>
          <a:lstStyle/>
          <a:p>
            <a:pPr algn="just"/>
            <a:r>
              <a:rPr lang="en-GB" b="1" dirty="0"/>
              <a:t>What is Knowledge Representation?</a:t>
            </a:r>
            <a:endParaRPr lang="en-GB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GB" dirty="0"/>
              <a:t>A critical part of Artificial Intelligence that focuses on </a:t>
            </a:r>
            <a:r>
              <a:rPr lang="en-GB" b="1" dirty="0"/>
              <a:t>organizing and structuring knowledge</a:t>
            </a:r>
            <a:r>
              <a:rPr lang="en-GB" dirty="0"/>
              <a:t> for machines to process and reason effectively.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GB" dirty="0"/>
              <a:t>Involves methods to encode information for reasoning and decision-making.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GB" dirty="0"/>
              <a:t>Enables AI systems to simulate human-like understanding and problem-solving.</a:t>
            </a:r>
          </a:p>
        </p:txBody>
      </p:sp>
    </p:spTree>
    <p:extLst>
      <p:ext uri="{BB962C8B-B14F-4D97-AF65-F5344CB8AC3E}">
        <p14:creationId xmlns:p14="http://schemas.microsoft.com/office/powerpoint/2010/main" val="5153793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038C1D8-EEF4-CFFA-24C7-EC177264BD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638" y="386930"/>
            <a:ext cx="10407230" cy="1188950"/>
          </a:xfrm>
        </p:spPr>
        <p:txBody>
          <a:bodyPr anchor="b">
            <a:normAutofit fontScale="90000"/>
          </a:bodyPr>
          <a:lstStyle/>
          <a:p>
            <a:r>
              <a:rPr lang="en-GB" sz="5400" b="1" dirty="0"/>
              <a:t>Difference Among Data, Information, and Knowledge</a:t>
            </a:r>
            <a:endParaRPr lang="en-PK" sz="5400" b="1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1998368"/>
            <a:ext cx="11695083" cy="782176"/>
            <a:chOff x="-2" y="1998368"/>
            <a:chExt cx="11695083" cy="782176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4E338B6D-9205-BFFC-3CC3-6F72BA36BA5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05114" y="2285881"/>
            <a:ext cx="10810755" cy="40626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PK" altLang="en-PK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</a:t>
            </a:r>
            <a:r>
              <a:rPr kumimoji="0" lang="en-GB" altLang="en-PK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</a:t>
            </a:r>
          </a:p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PK" altLang="en-PK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Raw, unprocessed facts or figures.</a:t>
            </a:r>
          </a:p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PK" altLang="en-PK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Example: Numbers, text, or measurements (e.g., "42," "Temperature = 30°C").</a:t>
            </a:r>
          </a:p>
          <a:p>
            <a:pPr mar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PK" altLang="en-PK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Information</a:t>
            </a:r>
            <a:endParaRPr kumimoji="0" lang="en-GB" altLang="en-PK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PK" altLang="en-PK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Processed or structured data that provides meaning.</a:t>
            </a:r>
          </a:p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PK" altLang="en-PK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Example: "Temperature in New York is 30°C."</a:t>
            </a:r>
          </a:p>
          <a:p>
            <a:pPr mar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PK" altLang="en-PK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Knowledge</a:t>
            </a:r>
            <a:endParaRPr kumimoji="0" lang="en-GB" altLang="en-PK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PK" altLang="en-PK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Application of information combined with context, experience, or reasoning.</a:t>
            </a:r>
          </a:p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PK" altLang="en-PK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Example: "It is hot in New York; people may need air conditioning."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PK" altLang="en-PK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52541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FFB60E8C-7224-44A4-87A0-46A1711DD2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45AE8C8-1C2F-2487-E2A5-D1843434D7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5528" y="386930"/>
            <a:ext cx="10141799" cy="1300554"/>
          </a:xfrm>
        </p:spPr>
        <p:txBody>
          <a:bodyPr anchor="b">
            <a:normAutofit/>
          </a:bodyPr>
          <a:lstStyle/>
          <a:p>
            <a:pPr marL="0" indent="0" algn="just">
              <a:buNone/>
            </a:pPr>
            <a:r>
              <a:rPr lang="en-GB" sz="4800" b="1" dirty="0"/>
              <a:t>Key Differences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DA32751-37A2-45C0-BE94-63D375E270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A55FBCD-CD42-40F5-8A1B-3203F9CAEE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3" name="Content Placeholder 12">
            <a:extLst>
              <a:ext uri="{FF2B5EF4-FFF2-40B4-BE49-F238E27FC236}">
                <a16:creationId xmlns:a16="http://schemas.microsoft.com/office/drawing/2014/main" id="{E051DB77-18DF-8A08-F5AB-570E1370C9E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81825809"/>
              </p:ext>
            </p:extLst>
          </p:nvPr>
        </p:nvGraphicFramePr>
        <p:xfrm>
          <a:off x="608627" y="2723306"/>
          <a:ext cx="10515600" cy="322753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2498050295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01417204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026913801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911770024"/>
                    </a:ext>
                  </a:extLst>
                </a:gridCol>
              </a:tblGrid>
              <a:tr h="758656">
                <a:tc>
                  <a:txBody>
                    <a:bodyPr/>
                    <a:lstStyle/>
                    <a:p>
                      <a:r>
                        <a:rPr lang="it-IT" sz="2400" b="1" dirty="0"/>
                        <a:t>Aspect	</a:t>
                      </a:r>
                      <a:endParaRPr lang="en-PK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2400" b="1" dirty="0"/>
                        <a:t>Data	</a:t>
                      </a:r>
                      <a:endParaRPr lang="en-PK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2400" b="1" dirty="0"/>
                        <a:t>Information	</a:t>
                      </a:r>
                      <a:endParaRPr lang="en-PK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2400" b="1" dirty="0"/>
                        <a:t>Knowledge</a:t>
                      </a:r>
                      <a:endParaRPr lang="en-PK" sz="2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1684075"/>
                  </a:ext>
                </a:extLst>
              </a:tr>
              <a:tr h="758656">
                <a:tc>
                  <a:txBody>
                    <a:bodyPr/>
                    <a:lstStyle/>
                    <a:p>
                      <a:r>
                        <a:rPr lang="en-GB" sz="2400" b="1" dirty="0"/>
                        <a:t>State</a:t>
                      </a:r>
                      <a:endParaRPr lang="en-PK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400" dirty="0"/>
                        <a:t>Raw Facts</a:t>
                      </a:r>
                      <a:endParaRPr lang="en-PK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2400" dirty="0"/>
                        <a:t>Processed data</a:t>
                      </a:r>
                      <a:endParaRPr lang="en-PK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2400" dirty="0"/>
                        <a:t>Applied information</a:t>
                      </a:r>
                      <a:endParaRPr lang="en-PK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9654479"/>
                  </a:ext>
                </a:extLst>
              </a:tr>
              <a:tr h="758656">
                <a:tc>
                  <a:txBody>
                    <a:bodyPr/>
                    <a:lstStyle/>
                    <a:p>
                      <a:r>
                        <a:rPr lang="en-GB" sz="2400" b="1" dirty="0"/>
                        <a:t>Purpose</a:t>
                      </a:r>
                      <a:endParaRPr lang="en-PK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400" dirty="0"/>
                        <a:t>Collection</a:t>
                      </a:r>
                      <a:endParaRPr lang="en-PK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2400" dirty="0"/>
                        <a:t>Organization/Interpretation</a:t>
                      </a:r>
                      <a:endParaRPr lang="en-PK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2400" dirty="0"/>
                        <a:t>Actionable insights</a:t>
                      </a:r>
                      <a:endParaRPr lang="en-PK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5327709"/>
                  </a:ext>
                </a:extLst>
              </a:tr>
              <a:tr h="758656">
                <a:tc>
                  <a:txBody>
                    <a:bodyPr/>
                    <a:lstStyle/>
                    <a:p>
                      <a:r>
                        <a:rPr lang="en-GB" sz="2400" b="1" dirty="0"/>
                        <a:t>Example</a:t>
                      </a:r>
                      <a:endParaRPr lang="en-PK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400" dirty="0"/>
                        <a:t>“100”</a:t>
                      </a:r>
                      <a:endParaRPr lang="en-PK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2400" dirty="0"/>
                        <a:t>"There are 100 apples"</a:t>
                      </a:r>
                      <a:endParaRPr lang="en-PK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400" dirty="0"/>
                        <a:t>"100 apples can be sold"</a:t>
                      </a:r>
                      <a:endParaRPr lang="en-PK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77251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659084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CACC516-C732-D8C2-4141-D41A1CC162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it-IT" sz="4000" b="1" dirty="0">
                <a:solidFill>
                  <a:srgbClr val="FFFFFF"/>
                </a:solidFill>
              </a:rPr>
              <a:t>Types of Knowledge Representation</a:t>
            </a:r>
            <a:endParaRPr lang="en-PK" sz="4000" b="1" dirty="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2B0F47-52CC-8805-28DB-1F6E087FAB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2273" y="1622744"/>
            <a:ext cx="10123357" cy="5090571"/>
          </a:xfrm>
        </p:spPr>
        <p:txBody>
          <a:bodyPr anchor="ctr">
            <a:normAutofit fontScale="92500" lnSpcReduction="10000"/>
          </a:bodyPr>
          <a:lstStyle/>
          <a:p>
            <a:pPr marL="0" indent="0" algn="just">
              <a:buNone/>
            </a:pPr>
            <a:r>
              <a:rPr lang="en-GB" sz="3500" b="1" dirty="0"/>
              <a:t>Logic-Based Knowledge Representation</a:t>
            </a:r>
          </a:p>
          <a:p>
            <a:pPr algn="just"/>
            <a:r>
              <a:rPr lang="en-GB" dirty="0"/>
              <a:t>Encodes knowledge using logical statements and rules.</a:t>
            </a:r>
          </a:p>
          <a:p>
            <a:pPr algn="just"/>
            <a:r>
              <a:rPr lang="en-GB" dirty="0"/>
              <a:t>Based on principles of propositional and first-order logic.</a:t>
            </a:r>
          </a:p>
          <a:p>
            <a:pPr marL="0" indent="0" algn="just">
              <a:buNone/>
            </a:pPr>
            <a:r>
              <a:rPr lang="en-GB" b="1" dirty="0"/>
              <a:t>Example</a:t>
            </a:r>
          </a:p>
          <a:p>
            <a:pPr algn="just"/>
            <a:r>
              <a:rPr lang="en-GB" dirty="0"/>
              <a:t>Fact: "All humans are mortal“.</a:t>
            </a:r>
          </a:p>
          <a:p>
            <a:pPr algn="just"/>
            <a:r>
              <a:rPr lang="en-GB" dirty="0"/>
              <a:t>Rule: "If Socrates is a human, Socrates is mortal.“</a:t>
            </a:r>
          </a:p>
          <a:p>
            <a:pPr marL="0" indent="0" algn="just">
              <a:buNone/>
            </a:pPr>
            <a:r>
              <a:rPr lang="en-GB" b="1" dirty="0"/>
              <a:t>Advantages</a:t>
            </a:r>
          </a:p>
          <a:p>
            <a:pPr algn="just"/>
            <a:r>
              <a:rPr lang="en-GB" dirty="0"/>
              <a:t>Precise and unambiguous.</a:t>
            </a:r>
          </a:p>
          <a:p>
            <a:pPr algn="just"/>
            <a:r>
              <a:rPr lang="en-GB" dirty="0"/>
              <a:t>Facilitates deduction and inference.</a:t>
            </a:r>
          </a:p>
          <a:p>
            <a:pPr marL="0" indent="0" algn="just">
              <a:buNone/>
            </a:pPr>
            <a:r>
              <a:rPr lang="en-GB" b="1" dirty="0"/>
              <a:t>Limitations</a:t>
            </a:r>
          </a:p>
          <a:p>
            <a:pPr algn="just"/>
            <a:r>
              <a:rPr lang="en-GB" dirty="0"/>
              <a:t>Does not handle uncertainty or incomplete information effectively.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31272981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FA9077D-51A6-5F9D-2F44-923FA68E7D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it-IT" sz="3700" b="1">
                <a:solidFill>
                  <a:srgbClr val="FFFFFF"/>
                </a:solidFill>
              </a:rPr>
              <a:t>Probabilistic-Based Knowledge Representation</a:t>
            </a:r>
            <a:endParaRPr lang="en-PK" sz="3700" b="1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FEA105-89B8-2E71-6E56-B8C94BEF6D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1885280"/>
            <a:ext cx="9724031" cy="4678182"/>
          </a:xfrm>
        </p:spPr>
        <p:txBody>
          <a:bodyPr anchor="ctr">
            <a:normAutofit/>
          </a:bodyPr>
          <a:lstStyle/>
          <a:p>
            <a:pPr algn="just"/>
            <a:r>
              <a:rPr lang="en-GB" sz="2400" dirty="0"/>
              <a:t>Encodes knowledge using probabilities to handle uncertainty.</a:t>
            </a:r>
          </a:p>
          <a:p>
            <a:pPr algn="just"/>
            <a:r>
              <a:rPr lang="en-GB" sz="2400" dirty="0"/>
              <a:t>Based on principles of probability theory and Bayesian reasoning.</a:t>
            </a:r>
          </a:p>
          <a:p>
            <a:pPr marL="0" indent="0" algn="just">
              <a:buNone/>
            </a:pPr>
            <a:r>
              <a:rPr lang="en-GB" sz="2400" b="1" dirty="0"/>
              <a:t>Example:</a:t>
            </a:r>
          </a:p>
          <a:p>
            <a:pPr algn="just"/>
            <a:r>
              <a:rPr lang="en-GB" sz="2400" dirty="0"/>
              <a:t>Fact: "There is a 70% chance it will rain tomorrow.“</a:t>
            </a:r>
          </a:p>
          <a:p>
            <a:pPr algn="just"/>
            <a:r>
              <a:rPr lang="en-GB" sz="2400" dirty="0"/>
              <a:t>Rule: "If it rains, there is an 80% chance traffic will be slow.“</a:t>
            </a:r>
          </a:p>
          <a:p>
            <a:pPr marL="0" indent="0" algn="just">
              <a:buNone/>
            </a:pPr>
            <a:r>
              <a:rPr lang="en-GB" sz="2400" b="1" dirty="0"/>
              <a:t>Advantages:</a:t>
            </a:r>
          </a:p>
          <a:p>
            <a:pPr algn="just"/>
            <a:r>
              <a:rPr lang="en-GB" sz="2400" dirty="0"/>
              <a:t>Handles uncertainty.</a:t>
            </a:r>
          </a:p>
          <a:p>
            <a:pPr algn="just"/>
            <a:r>
              <a:rPr lang="en-GB" sz="2400" dirty="0"/>
              <a:t>Useful in dynamic, real-world environments.</a:t>
            </a:r>
          </a:p>
          <a:p>
            <a:pPr marL="0" indent="0" algn="just">
              <a:buNone/>
            </a:pPr>
            <a:r>
              <a:rPr lang="en-GB" sz="2400" b="1" dirty="0"/>
              <a:t>Limitations:</a:t>
            </a:r>
          </a:p>
          <a:p>
            <a:pPr algn="just"/>
            <a:r>
              <a:rPr lang="en-GB" sz="2400" dirty="0"/>
              <a:t>Computationally intensive.</a:t>
            </a:r>
            <a:endParaRPr lang="en-PK" sz="2400" dirty="0"/>
          </a:p>
        </p:txBody>
      </p:sp>
    </p:spTree>
    <p:extLst>
      <p:ext uri="{BB962C8B-B14F-4D97-AF65-F5344CB8AC3E}">
        <p14:creationId xmlns:p14="http://schemas.microsoft.com/office/powerpoint/2010/main" val="30616074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30B7315-6430-643F-A92E-EE43E2F9F4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B5341BF-0459-3E76-C0B4-CFCA990A27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3E160B3-2780-FA7F-ECA9-981208844D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AB16515-8275-7811-3EC2-88C16B366F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03E7342-18BC-96E1-CEAB-7119D68217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F4501C1-32C8-243E-0770-C6D385F0E0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671A94F-17AF-F6BE-C43C-436C6E8C7C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it-IT" sz="3700" b="1" dirty="0">
                <a:solidFill>
                  <a:srgbClr val="FFFFFF"/>
                </a:solidFill>
              </a:rPr>
              <a:t>What is Probability Theory?</a:t>
            </a:r>
            <a:endParaRPr lang="en-PK" sz="3700" b="1" dirty="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E5195D-570E-3D13-2DC6-AC7178A8C9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1724628"/>
            <a:ext cx="9724031" cy="4838834"/>
          </a:xfrm>
        </p:spPr>
        <p:txBody>
          <a:bodyPr anchor="ctr">
            <a:normAutofit lnSpcReduction="10000"/>
          </a:bodyPr>
          <a:lstStyle/>
          <a:p>
            <a:pPr marL="0" indent="0" algn="just">
              <a:buNone/>
            </a:pPr>
            <a:r>
              <a:rPr lang="en-GB" b="1" dirty="0"/>
              <a:t>Definition</a:t>
            </a:r>
          </a:p>
          <a:p>
            <a:pPr algn="just"/>
            <a:r>
              <a:rPr lang="en-GB" sz="2400" dirty="0"/>
              <a:t>A branch of mathematics that deals with quantifying uncertainty.</a:t>
            </a:r>
          </a:p>
          <a:p>
            <a:pPr marL="0" indent="0" algn="just">
              <a:buNone/>
            </a:pPr>
            <a:r>
              <a:rPr lang="en-GB" b="1" dirty="0"/>
              <a:t>Components</a:t>
            </a:r>
          </a:p>
          <a:p>
            <a:pPr marL="0" indent="0" algn="just">
              <a:buNone/>
            </a:pPr>
            <a:r>
              <a:rPr lang="en-GB" sz="2400" b="1" dirty="0"/>
              <a:t>Random Variable</a:t>
            </a:r>
          </a:p>
          <a:p>
            <a:pPr algn="just"/>
            <a:r>
              <a:rPr lang="en-GB" sz="2400" dirty="0"/>
              <a:t>Represents an uncertain quantity (e.g., Rain, Temperature).</a:t>
            </a:r>
          </a:p>
          <a:p>
            <a:pPr marL="0" indent="0" algn="just">
              <a:buNone/>
            </a:pPr>
            <a:r>
              <a:rPr lang="en-GB" sz="2400" b="1" dirty="0"/>
              <a:t>Probability Distribution</a:t>
            </a:r>
          </a:p>
          <a:p>
            <a:pPr algn="just"/>
            <a:r>
              <a:rPr lang="en-GB" sz="2400" dirty="0"/>
              <a:t>Assigns probabilities to events.</a:t>
            </a:r>
          </a:p>
          <a:p>
            <a:pPr algn="just"/>
            <a:r>
              <a:rPr lang="en-GB" sz="2400" b="1" dirty="0"/>
              <a:t>Example: </a:t>
            </a:r>
            <a:r>
              <a:rPr lang="en-GB" sz="2400" dirty="0"/>
              <a:t>P(Rain) = 0.7 means a 70% chance of rain.</a:t>
            </a:r>
          </a:p>
          <a:p>
            <a:pPr marL="0" indent="0" algn="just">
              <a:buNone/>
            </a:pPr>
            <a:r>
              <a:rPr lang="en-GB" sz="2400" b="1" dirty="0"/>
              <a:t>Joint Probability</a:t>
            </a:r>
          </a:p>
          <a:p>
            <a:pPr algn="just"/>
            <a:r>
              <a:rPr lang="en-GB" sz="2400" dirty="0"/>
              <a:t>Probability of multiple events happening simultaneously.</a:t>
            </a:r>
          </a:p>
          <a:p>
            <a:pPr algn="just"/>
            <a:r>
              <a:rPr lang="en-GB" sz="2400" b="1" dirty="0"/>
              <a:t>Example: </a:t>
            </a:r>
            <a:r>
              <a:rPr lang="en-GB" sz="2400" dirty="0"/>
              <a:t>P(Rain ∧ Traffic) = 0.56.</a:t>
            </a:r>
            <a:endParaRPr lang="en-PK" sz="2400" dirty="0"/>
          </a:p>
        </p:txBody>
      </p:sp>
    </p:spTree>
    <p:extLst>
      <p:ext uri="{BB962C8B-B14F-4D97-AF65-F5344CB8AC3E}">
        <p14:creationId xmlns:p14="http://schemas.microsoft.com/office/powerpoint/2010/main" val="18786901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9E0D8E9-2ED5-ECE4-4B02-688419B5E2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71C6EB8-7149-0CF4-4E46-1CD0E11D6A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7F24AD8-2C5A-DE4F-897C-348CA630E6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461497C-59A8-0CA0-FF46-2D84FB7004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F30EC2F-500F-E616-09E3-9B2BA5F137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43EE37C-2D96-E14F-669F-47E582D4D0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F0B7177-2F45-C015-3597-E3D5FC5314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it-IT" sz="3700" b="1" dirty="0">
                <a:solidFill>
                  <a:srgbClr val="FFFFFF"/>
                </a:solidFill>
              </a:rPr>
              <a:t>What is Probability Theory?</a:t>
            </a:r>
            <a:endParaRPr lang="en-PK" sz="3700" b="1" dirty="0">
              <a:solidFill>
                <a:srgbClr val="FFFFF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C358486-9F84-969A-E641-174A86954E8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71599" y="1885278"/>
                <a:ext cx="9724031" cy="4839612"/>
              </a:xfrm>
            </p:spPr>
            <p:txBody>
              <a:bodyPr anchor="ctr">
                <a:normAutofit/>
              </a:bodyPr>
              <a:lstStyle/>
              <a:p>
                <a:pPr marL="0" indent="0" algn="just">
                  <a:buNone/>
                </a:pPr>
                <a:r>
                  <a:rPr lang="en-GB" sz="3200" b="1" dirty="0"/>
                  <a:t>Bayesian Reasoning</a:t>
                </a:r>
              </a:p>
              <a:p>
                <a:pPr algn="just"/>
                <a:r>
                  <a:rPr lang="en-GB" dirty="0"/>
                  <a:t>Based on Bayes' Theorem, which updates probabilities as more evidence becomes available.</a:t>
                </a:r>
              </a:p>
              <a:p>
                <a:pPr algn="just"/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𝐹𝑜𝑟𝑚𝑢𝑙𝑎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: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sepChr m:val="∣"/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d>
                    <m:r>
                      <a:rPr lang="en-GB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GB" i="1" smtClean="0">
                                <a:latin typeface="Cambria Math" panose="02040503050406030204" pitchFamily="18" charset="0"/>
                              </a:rPr>
                              <m:t>𝐸</m:t>
                            </m:r>
                          </m:num>
                          <m:den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𝐻</m:t>
                            </m:r>
                          </m:den>
                        </m:f>
                      </m:e>
                    </m:d>
                    <m:r>
                      <a:rPr lang="en-GB" i="1"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i="1">
                            <a:latin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𝐻</m:t>
                            </m:r>
                          </m:e>
                        </m:d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</m:d>
                      </m:den>
                    </m:f>
                  </m:oMath>
                </a14:m>
                <a:endParaRPr lang="en-GB" b="0" dirty="0"/>
              </a:p>
              <a:p>
                <a:pPr marL="0" indent="0">
                  <a:buNone/>
                </a:pPr>
                <a:r>
                  <a:rPr lang="en-GB" b="1" dirty="0"/>
                  <a:t>Where: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GB" sz="2400" b="1" dirty="0"/>
                  <a:t>P(H∣E): </a:t>
                </a:r>
                <a:r>
                  <a:rPr lang="en-GB" sz="2400" dirty="0"/>
                  <a:t>Posterior probability (Probability of hypothesis H given evidence E).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GB" sz="2400" b="1" dirty="0"/>
                  <a:t>P(E∣H): </a:t>
                </a:r>
                <a:r>
                  <a:rPr lang="en-GB" sz="2400" dirty="0"/>
                  <a:t>Likelihood (Probability of evidence given H).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GB" sz="2400" b="1" dirty="0"/>
                  <a:t>P(H): </a:t>
                </a:r>
                <a:r>
                  <a:rPr lang="en-GB" sz="2400" dirty="0"/>
                  <a:t>Prior probability (Initial probability of H).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GB" sz="2400" b="1" dirty="0"/>
                  <a:t>P(E): </a:t>
                </a:r>
                <a:r>
                  <a:rPr lang="en-GB" sz="2400" dirty="0"/>
                  <a:t>Marginal probability of E.</a:t>
                </a:r>
              </a:p>
              <a:p>
                <a:pPr algn="just"/>
                <a:endParaRPr lang="en-PK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C358486-9F84-969A-E641-174A86954E8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71599" y="1885278"/>
                <a:ext cx="9724031" cy="4839612"/>
              </a:xfrm>
              <a:blipFill>
                <a:blip r:embed="rId2"/>
                <a:stretch>
                  <a:fillRect l="-1567" t="-7053" r="-1567"/>
                </a:stretch>
              </a:blipFill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118454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ECD3383-377F-CCD3-1B08-63EB17980E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GB" sz="4000" b="1" dirty="0">
                <a:solidFill>
                  <a:srgbClr val="FFFFFF"/>
                </a:solidFill>
              </a:rPr>
              <a:t>Logic-Based Representation in Detail</a:t>
            </a:r>
            <a:endParaRPr lang="en-PK" sz="4000" dirty="0">
              <a:solidFill>
                <a:srgbClr val="FFFFFF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238865-BE7D-42F5-015D-161F9C9DD9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5460"/>
            <a:ext cx="10515600" cy="5056834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GB" sz="3500" b="1" dirty="0"/>
              <a:t>Components</a:t>
            </a:r>
          </a:p>
          <a:p>
            <a:pPr marL="0" indent="0">
              <a:buNone/>
            </a:pPr>
            <a:r>
              <a:rPr lang="en-GB" sz="2400" b="1" dirty="0"/>
              <a:t>Syntax</a:t>
            </a:r>
          </a:p>
          <a:p>
            <a:r>
              <a:rPr lang="en-GB" sz="2400" dirty="0"/>
              <a:t>Rules for writing valid expressions.</a:t>
            </a:r>
          </a:p>
          <a:p>
            <a:r>
              <a:rPr lang="en-GB" sz="2400" dirty="0"/>
              <a:t>Example: (A ∧ B) → C.</a:t>
            </a:r>
          </a:p>
          <a:p>
            <a:pPr marL="0" indent="0">
              <a:buNone/>
            </a:pPr>
            <a:r>
              <a:rPr lang="en-GB" sz="2400" b="1" dirty="0"/>
              <a:t>Semantics</a:t>
            </a:r>
          </a:p>
          <a:p>
            <a:r>
              <a:rPr lang="en-GB" sz="2400" dirty="0"/>
              <a:t>Meaning of the expressions.</a:t>
            </a:r>
          </a:p>
          <a:p>
            <a:r>
              <a:rPr lang="en-GB" sz="2400" dirty="0"/>
              <a:t>Example: "If A and B are true, then C is true.“</a:t>
            </a:r>
          </a:p>
          <a:p>
            <a:pPr marL="0" indent="0">
              <a:buNone/>
            </a:pPr>
            <a:r>
              <a:rPr lang="en-GB" sz="2400" b="1" dirty="0"/>
              <a:t>Inference Mechanism</a:t>
            </a:r>
          </a:p>
          <a:p>
            <a:r>
              <a:rPr lang="en-GB" sz="2400" dirty="0"/>
              <a:t>Uses logical rules to draw conclusions.</a:t>
            </a:r>
          </a:p>
          <a:p>
            <a:r>
              <a:rPr lang="en-GB" sz="2400" dirty="0"/>
              <a:t>Example: Modus Ponens (If A → B and A is true, then B is true).</a:t>
            </a:r>
          </a:p>
          <a:p>
            <a:pPr marL="0" indent="0">
              <a:buNone/>
            </a:pPr>
            <a:r>
              <a:rPr lang="en-GB" sz="2400" b="1" dirty="0"/>
              <a:t>Applications</a:t>
            </a:r>
          </a:p>
          <a:p>
            <a:r>
              <a:rPr lang="en-GB" sz="2400" dirty="0"/>
              <a:t>Knowledge-based systems (e.g., ELIZA).</a:t>
            </a:r>
          </a:p>
          <a:p>
            <a:r>
              <a:rPr lang="en-GB" sz="2400" dirty="0"/>
              <a:t>Expert systems for diagnosis.</a:t>
            </a:r>
            <a:endParaRPr lang="en-PK" sz="2400" dirty="0"/>
          </a:p>
        </p:txBody>
      </p:sp>
    </p:spTree>
    <p:extLst>
      <p:ext uri="{BB962C8B-B14F-4D97-AF65-F5344CB8AC3E}">
        <p14:creationId xmlns:p14="http://schemas.microsoft.com/office/powerpoint/2010/main" val="38951946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2D750CC-CB9C-8523-38EA-36A1F1BE78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GB" sz="3400" b="1" dirty="0">
                <a:solidFill>
                  <a:srgbClr val="FFFFFF"/>
                </a:solidFill>
              </a:rPr>
              <a:t>Probabilistic-Based Representation in Detail</a:t>
            </a:r>
            <a:endParaRPr lang="en-PK" sz="3400" b="1" dirty="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E87E40-1FA9-D204-0CF1-6329819F26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8101" y="1622746"/>
            <a:ext cx="10069975" cy="5078996"/>
          </a:xfrm>
        </p:spPr>
        <p:txBody>
          <a:bodyPr anchor="ctr">
            <a:normAutofit fontScale="92500" lnSpcReduction="20000"/>
          </a:bodyPr>
          <a:lstStyle/>
          <a:p>
            <a:pPr marL="0" indent="0" algn="just">
              <a:buNone/>
            </a:pPr>
            <a:r>
              <a:rPr lang="en-GB" sz="3900" b="1" dirty="0"/>
              <a:t>Components</a:t>
            </a:r>
          </a:p>
          <a:p>
            <a:pPr marL="0" indent="0" algn="just">
              <a:buNone/>
            </a:pPr>
            <a:r>
              <a:rPr lang="en-GB" b="1" dirty="0"/>
              <a:t>Probability Distribution</a:t>
            </a:r>
          </a:p>
          <a:p>
            <a:pPr algn="just"/>
            <a:r>
              <a:rPr lang="en-GB" sz="2600" dirty="0"/>
              <a:t>Assigns probabilities to events.</a:t>
            </a:r>
          </a:p>
          <a:p>
            <a:pPr algn="just"/>
            <a:r>
              <a:rPr lang="en-GB" sz="2600" b="1" dirty="0"/>
              <a:t>Example: </a:t>
            </a:r>
            <a:r>
              <a:rPr lang="en-GB" sz="2600" dirty="0"/>
              <a:t>P(Rain) = 0.7.</a:t>
            </a:r>
          </a:p>
          <a:p>
            <a:pPr marL="0" indent="0" algn="just">
              <a:buNone/>
            </a:pPr>
            <a:r>
              <a:rPr lang="en-GB" b="1" dirty="0"/>
              <a:t>Conditional Probabilities</a:t>
            </a:r>
          </a:p>
          <a:p>
            <a:pPr algn="just"/>
            <a:r>
              <a:rPr lang="en-GB" sz="2600" dirty="0"/>
              <a:t>Model dependencies.</a:t>
            </a:r>
          </a:p>
          <a:p>
            <a:pPr algn="just"/>
            <a:r>
              <a:rPr lang="en-GB" sz="2600" dirty="0"/>
              <a:t>Example: P(Traffic | Rain) = 0.8.</a:t>
            </a:r>
          </a:p>
          <a:p>
            <a:pPr marL="0" indent="0" algn="just">
              <a:buNone/>
            </a:pPr>
            <a:r>
              <a:rPr lang="en-GB" b="1" dirty="0"/>
              <a:t>Bayesian Networks: </a:t>
            </a:r>
          </a:p>
          <a:p>
            <a:pPr algn="just"/>
            <a:r>
              <a:rPr lang="en-GB" sz="2600" dirty="0"/>
              <a:t>Graphical models to represent dependencies among variables.</a:t>
            </a:r>
          </a:p>
          <a:p>
            <a:pPr marL="0" indent="0" algn="just">
              <a:buNone/>
            </a:pPr>
            <a:r>
              <a:rPr lang="en-GB" b="1" dirty="0"/>
              <a:t>Applications:</a:t>
            </a:r>
          </a:p>
          <a:p>
            <a:pPr algn="just"/>
            <a:r>
              <a:rPr lang="en-GB" sz="2600" dirty="0"/>
              <a:t>Weather forecasting.</a:t>
            </a:r>
          </a:p>
          <a:p>
            <a:pPr algn="just"/>
            <a:r>
              <a:rPr lang="en-GB" sz="2600" dirty="0"/>
              <a:t>Recommendation systems.</a:t>
            </a:r>
            <a:endParaRPr lang="en-PK" sz="1900" dirty="0"/>
          </a:p>
        </p:txBody>
      </p:sp>
    </p:spTree>
    <p:extLst>
      <p:ext uri="{BB962C8B-B14F-4D97-AF65-F5344CB8AC3E}">
        <p14:creationId xmlns:p14="http://schemas.microsoft.com/office/powerpoint/2010/main" val="20792685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38F59A4-4431-460D-8E49-6E65C189A5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8A919B9C-5C01-47E4-B2F2-45F589208A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E85A82CE-D835-4542-BE8D-62A8F5A943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063D7EF0-3AC8-4029-B55D-EBDD733D39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accent4">
                <a:lumMod val="75000"/>
                <a:alpha val="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3C701A7-356F-146C-F412-D2D6B429AA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365125"/>
            <a:ext cx="11090274" cy="1325563"/>
          </a:xfrm>
        </p:spPr>
        <p:txBody>
          <a:bodyPr>
            <a:normAutofit/>
          </a:bodyPr>
          <a:lstStyle/>
          <a:p>
            <a:r>
              <a:rPr lang="en-GB" sz="4000" b="1"/>
              <a:t>Comparison of Logic-Based and Probabilistic-Based Representation</a:t>
            </a:r>
            <a:endParaRPr lang="en-PK" sz="4000" b="1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7E155A5-6E69-816E-50BB-751D3F3EBBD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12625628"/>
              </p:ext>
            </p:extLst>
          </p:nvPr>
        </p:nvGraphicFramePr>
        <p:xfrm>
          <a:off x="547688" y="2540324"/>
          <a:ext cx="11093450" cy="334421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38436">
                  <a:extLst>
                    <a:ext uri="{9D8B030D-6E8A-4147-A177-3AD203B41FA5}">
                      <a16:colId xmlns:a16="http://schemas.microsoft.com/office/drawing/2014/main" val="3709630161"/>
                    </a:ext>
                  </a:extLst>
                </a:gridCol>
                <a:gridCol w="4390418">
                  <a:extLst>
                    <a:ext uri="{9D8B030D-6E8A-4147-A177-3AD203B41FA5}">
                      <a16:colId xmlns:a16="http://schemas.microsoft.com/office/drawing/2014/main" val="3175796384"/>
                    </a:ext>
                  </a:extLst>
                </a:gridCol>
                <a:gridCol w="4464596">
                  <a:extLst>
                    <a:ext uri="{9D8B030D-6E8A-4147-A177-3AD203B41FA5}">
                      <a16:colId xmlns:a16="http://schemas.microsoft.com/office/drawing/2014/main" val="3982055897"/>
                    </a:ext>
                  </a:extLst>
                </a:gridCol>
              </a:tblGrid>
              <a:tr h="51596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PK" sz="2500" b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</a:rPr>
                        <a:t>Aspect	</a:t>
                      </a:r>
                      <a:endParaRPr kumimoji="0" lang="en-PK" sz="25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marL="95549" marR="95549" marT="47775" marB="47775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PK" sz="2500" b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</a:rPr>
                        <a:t>Logic-Based	</a:t>
                      </a:r>
                      <a:endParaRPr kumimoji="0" lang="en-PK" sz="25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marL="95549" marR="95549" marT="47775" marB="47775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PK" sz="2500" b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</a:rPr>
                        <a:t>Probabilistic-Based</a:t>
                      </a:r>
                      <a:endParaRPr kumimoji="0" lang="en-PK" sz="25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marL="95549" marR="95549" marT="47775" marB="47775"/>
                </a:tc>
                <a:extLst>
                  <a:ext uri="{0D108BD9-81ED-4DB2-BD59-A6C34878D82A}">
                    <a16:rowId xmlns:a16="http://schemas.microsoft.com/office/drawing/2014/main" val="3795867953"/>
                  </a:ext>
                </a:extLst>
              </a:tr>
              <a:tr h="51596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K" sz="2500" b="1"/>
                        <a:t>Focus	</a:t>
                      </a:r>
                    </a:p>
                  </a:txBody>
                  <a:tcPr marL="95549" marR="95549" marT="47775" marB="47775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K" sz="25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Deterministic reasoning	</a:t>
                      </a:r>
                    </a:p>
                  </a:txBody>
                  <a:tcPr marL="95549" marR="95549" marT="47775" marB="47775"/>
                </a:tc>
                <a:tc>
                  <a:txBody>
                    <a:bodyPr/>
                    <a:lstStyle/>
                    <a:p>
                      <a:r>
                        <a:rPr lang="en-PK" sz="25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Uncertainty handling</a:t>
                      </a:r>
                    </a:p>
                  </a:txBody>
                  <a:tcPr marL="95549" marR="95549" marT="47775" marB="47775"/>
                </a:tc>
                <a:extLst>
                  <a:ext uri="{0D108BD9-81ED-4DB2-BD59-A6C34878D82A}">
                    <a16:rowId xmlns:a16="http://schemas.microsoft.com/office/drawing/2014/main" val="4268624784"/>
                  </a:ext>
                </a:extLst>
              </a:tr>
              <a:tr h="51596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K" sz="2500" b="1"/>
                        <a:t>Approach</a:t>
                      </a:r>
                    </a:p>
                  </a:txBody>
                  <a:tcPr marL="95549" marR="95549" marT="47775" marB="47775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K" sz="25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Deductive reasoning	</a:t>
                      </a:r>
                    </a:p>
                  </a:txBody>
                  <a:tcPr marL="95549" marR="95549" marT="47775" marB="47775"/>
                </a:tc>
                <a:tc>
                  <a:txBody>
                    <a:bodyPr/>
                    <a:lstStyle/>
                    <a:p>
                      <a:r>
                        <a:rPr lang="en-PK" sz="25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Bayesian reasoning</a:t>
                      </a:r>
                    </a:p>
                  </a:txBody>
                  <a:tcPr marL="95549" marR="95549" marT="47775" marB="47775"/>
                </a:tc>
                <a:extLst>
                  <a:ext uri="{0D108BD9-81ED-4DB2-BD59-A6C34878D82A}">
                    <a16:rowId xmlns:a16="http://schemas.microsoft.com/office/drawing/2014/main" val="2252041487"/>
                  </a:ext>
                </a:extLst>
              </a:tr>
              <a:tr h="89816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K" sz="2500" b="1"/>
                        <a:t>Strengths	</a:t>
                      </a:r>
                    </a:p>
                  </a:txBody>
                  <a:tcPr marL="95549" marR="95549" marT="47775" marB="47775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K" sz="25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Precision and structure	</a:t>
                      </a:r>
                    </a:p>
                    <a:p>
                      <a:endParaRPr lang="en-PK" sz="25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549" marR="95549" marT="47775" marB="47775"/>
                </a:tc>
                <a:tc>
                  <a:txBody>
                    <a:bodyPr/>
                    <a:lstStyle/>
                    <a:p>
                      <a:r>
                        <a:rPr lang="en-PK" sz="25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Handles real-world ambiguity</a:t>
                      </a:r>
                    </a:p>
                  </a:txBody>
                  <a:tcPr marL="95549" marR="95549" marT="47775" marB="47775"/>
                </a:tc>
                <a:extLst>
                  <a:ext uri="{0D108BD9-81ED-4DB2-BD59-A6C34878D82A}">
                    <a16:rowId xmlns:a16="http://schemas.microsoft.com/office/drawing/2014/main" val="3055992597"/>
                  </a:ext>
                </a:extLst>
              </a:tr>
              <a:tr h="89816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K" sz="2500" b="1"/>
                        <a:t>Examples	</a:t>
                      </a:r>
                    </a:p>
                    <a:p>
                      <a:endParaRPr lang="en-PK" sz="2500" b="1"/>
                    </a:p>
                  </a:txBody>
                  <a:tcPr marL="95549" marR="95549" marT="47775" marB="47775"/>
                </a:tc>
                <a:tc>
                  <a:txBody>
                    <a:bodyPr/>
                    <a:lstStyle/>
                    <a:p>
                      <a:r>
                        <a:rPr lang="en-PK" sz="25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Expert systems	</a:t>
                      </a:r>
                    </a:p>
                  </a:txBody>
                  <a:tcPr marL="95549" marR="95549" marT="47775" marB="47775"/>
                </a:tc>
                <a:tc>
                  <a:txBody>
                    <a:bodyPr/>
                    <a:lstStyle/>
                    <a:p>
                      <a:r>
                        <a:rPr lang="en-PK" sz="25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Medical diagnosis</a:t>
                      </a:r>
                    </a:p>
                  </a:txBody>
                  <a:tcPr marL="95549" marR="95549" marT="47775" marB="47775"/>
                </a:tc>
                <a:extLst>
                  <a:ext uri="{0D108BD9-81ED-4DB2-BD59-A6C34878D82A}">
                    <a16:rowId xmlns:a16="http://schemas.microsoft.com/office/drawing/2014/main" val="32616599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778655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4C8A069-1993-24A1-B73A-5868C0E5A5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it-IT" sz="4000" b="1" dirty="0">
                <a:solidFill>
                  <a:srgbClr val="FFFFFF"/>
                </a:solidFill>
              </a:rPr>
              <a:t>Case Studies</a:t>
            </a:r>
            <a:endParaRPr lang="en-PK" sz="4000" b="1" dirty="0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6A5115B-9A43-B67D-285C-7D5A2BCE5D7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6226875"/>
              </p:ext>
            </p:extLst>
          </p:nvPr>
        </p:nvGraphicFramePr>
        <p:xfrm>
          <a:off x="644056" y="1575459"/>
          <a:ext cx="10927829" cy="52825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916107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F9355B-67E8-1FBE-723F-8FF16409BD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it-IT" sz="4000" b="1">
                <a:solidFill>
                  <a:srgbClr val="FFFFFF"/>
                </a:solidFill>
              </a:rPr>
              <a:t>Key Points</a:t>
            </a:r>
            <a:endParaRPr lang="en-PK" sz="4000" b="1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A6F51F7-6CDB-FB19-3612-43CB576C7E8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75379695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575024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407</TotalTime>
  <Words>880</Words>
  <Application>Microsoft Office PowerPoint</Application>
  <PresentationFormat>Widescreen</PresentationFormat>
  <Paragraphs>158</Paragraphs>
  <Slides>16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Aptos</vt:lpstr>
      <vt:lpstr>Aptos Display</vt:lpstr>
      <vt:lpstr>Arial</vt:lpstr>
      <vt:lpstr>Cambria Math</vt:lpstr>
      <vt:lpstr>Office Theme</vt:lpstr>
      <vt:lpstr>1_Office Theme</vt:lpstr>
      <vt:lpstr>2_Office Theme</vt:lpstr>
      <vt:lpstr>Artificial Intelligence CS-202</vt:lpstr>
      <vt:lpstr>Week-10 CLO’s</vt:lpstr>
      <vt:lpstr>CLO’s Mapping </vt:lpstr>
      <vt:lpstr>Knowledge Representation</vt:lpstr>
      <vt:lpstr>Key Aspects of Representation</vt:lpstr>
      <vt:lpstr>Difference Among Data, Information, and Knowledge</vt:lpstr>
      <vt:lpstr>Key Differences</vt:lpstr>
      <vt:lpstr>Types of Knowledge Representation</vt:lpstr>
      <vt:lpstr>Probabilistic-Based Knowledge Representation</vt:lpstr>
      <vt:lpstr>What is Probability Theory?</vt:lpstr>
      <vt:lpstr>What is Probability Theory?</vt:lpstr>
      <vt:lpstr>Logic-Based Representation in Detail</vt:lpstr>
      <vt:lpstr>Probabilistic-Based Representation in Detail</vt:lpstr>
      <vt:lpstr>Comparison of Logic-Based and Probabilistic-Based Representation</vt:lpstr>
      <vt:lpstr>Case Studies</vt:lpstr>
      <vt:lpstr>Key Points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Mansoor Iqbal</dc:creator>
  <cp:lastModifiedBy>Habiba Arshad</cp:lastModifiedBy>
  <cp:revision>93</cp:revision>
  <dcterms:created xsi:type="dcterms:W3CDTF">2024-12-10T05:09:36Z</dcterms:created>
  <dcterms:modified xsi:type="dcterms:W3CDTF">2026-01-14T04:23:41Z</dcterms:modified>
</cp:coreProperties>
</file>