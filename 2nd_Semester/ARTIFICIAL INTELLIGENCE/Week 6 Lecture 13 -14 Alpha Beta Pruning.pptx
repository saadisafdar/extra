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789" r:id="rId4"/>
    <p:sldId id="825" r:id="rId5"/>
    <p:sldId id="384" r:id="rId6"/>
    <p:sldId id="385" r:id="rId7"/>
    <p:sldId id="394" r:id="rId8"/>
    <p:sldId id="406" r:id="rId9"/>
    <p:sldId id="407" r:id="rId10"/>
    <p:sldId id="401" r:id="rId11"/>
    <p:sldId id="386" r:id="rId12"/>
    <p:sldId id="572" r:id="rId13"/>
    <p:sldId id="573" r:id="rId14"/>
    <p:sldId id="575" r:id="rId15"/>
    <p:sldId id="576" r:id="rId16"/>
    <p:sldId id="577" r:id="rId17"/>
    <p:sldId id="578" r:id="rId18"/>
    <p:sldId id="579" r:id="rId19"/>
    <p:sldId id="580" r:id="rId20"/>
    <p:sldId id="581" r:id="rId21"/>
    <p:sldId id="837" r:id="rId22"/>
    <p:sldId id="582" r:id="rId2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752" autoAdjust="0"/>
  </p:normalViewPr>
  <p:slideViewPr>
    <p:cSldViewPr snapToGrid="0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B301F5-07A3-4FE4-976C-CA4952C4C1A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03EBE85-61C3-4A8C-B096-20383EA35C46}">
      <dgm:prSet/>
      <dgm:spPr/>
      <dgm:t>
        <a:bodyPr/>
        <a:lstStyle/>
        <a:p>
          <a:r>
            <a:rPr lang="en-US" dirty="0"/>
            <a:t>This week lecture will cover the following CLO’s:</a:t>
          </a:r>
        </a:p>
      </dgm:t>
    </dgm:pt>
    <dgm:pt modelId="{CA4AA996-65FD-4B8F-BBE0-A906A9E5220E}" type="parTrans" cxnId="{BCEEB6D3-EFBE-4684-AF7C-3A02210BE3D9}">
      <dgm:prSet/>
      <dgm:spPr/>
      <dgm:t>
        <a:bodyPr/>
        <a:lstStyle/>
        <a:p>
          <a:endParaRPr lang="en-US"/>
        </a:p>
      </dgm:t>
    </dgm:pt>
    <dgm:pt modelId="{793489B5-9C5E-4E77-A6F3-2F6B2B3AEB5A}" type="sibTrans" cxnId="{BCEEB6D3-EFBE-4684-AF7C-3A02210BE3D9}">
      <dgm:prSet/>
      <dgm:spPr/>
      <dgm:t>
        <a:bodyPr/>
        <a:lstStyle/>
        <a:p>
          <a:endParaRPr lang="en-US"/>
        </a:p>
      </dgm:t>
    </dgm:pt>
    <dgm:pt modelId="{0F6BED61-37A6-4265-9765-7643A715CD2C}">
      <dgm:prSet/>
      <dgm:spPr/>
      <dgm:t>
        <a:bodyPr/>
        <a:lstStyle/>
        <a:p>
          <a:pPr algn="just"/>
          <a:r>
            <a:rPr lang="en-US" b="1" dirty="0"/>
            <a:t>CLO1: </a:t>
          </a:r>
          <a:r>
            <a:rPr lang="en-US" b="0" dirty="0"/>
            <a:t>Discuss the key concepts in the field of artificial intelligence</a:t>
          </a:r>
          <a:endParaRPr lang="en-US" dirty="0"/>
        </a:p>
      </dgm:t>
    </dgm:pt>
    <dgm:pt modelId="{CE80463D-0B4E-4616-A7D3-FCA563D7C095}" type="parTrans" cxnId="{D4C01C85-8389-4770-954C-640B9194FA32}">
      <dgm:prSet/>
      <dgm:spPr/>
      <dgm:t>
        <a:bodyPr/>
        <a:lstStyle/>
        <a:p>
          <a:endParaRPr lang="en-US"/>
        </a:p>
      </dgm:t>
    </dgm:pt>
    <dgm:pt modelId="{991B6CDF-473C-43F2-B07A-CB69C404667A}" type="sibTrans" cxnId="{D4C01C85-8389-4770-954C-640B9194FA32}">
      <dgm:prSet/>
      <dgm:spPr/>
      <dgm:t>
        <a:bodyPr/>
        <a:lstStyle/>
        <a:p>
          <a:endParaRPr lang="en-US"/>
        </a:p>
      </dgm:t>
    </dgm:pt>
    <dgm:pt modelId="{EB5ACA34-5E81-4C34-9396-A967E2A2AB76}">
      <dgm:prSet/>
      <dgm:spPr/>
      <dgm:t>
        <a:bodyPr/>
        <a:lstStyle/>
        <a:p>
          <a:pPr algn="just"/>
          <a:r>
            <a:rPr lang="en-US" b="1" dirty="0"/>
            <a:t>CLO 2: Implement </a:t>
          </a:r>
          <a:r>
            <a:rPr lang="en-US" dirty="0"/>
            <a:t>artificial intelligence techniques and case studies</a:t>
          </a:r>
        </a:p>
      </dgm:t>
    </dgm:pt>
    <dgm:pt modelId="{9A070146-3875-47E3-94D7-B2C90F536C89}" type="parTrans" cxnId="{5B24FC3C-4ED4-4834-9B89-88E70A3EE3EC}">
      <dgm:prSet/>
      <dgm:spPr/>
      <dgm:t>
        <a:bodyPr/>
        <a:lstStyle/>
        <a:p>
          <a:endParaRPr lang="en-PK"/>
        </a:p>
      </dgm:t>
    </dgm:pt>
    <dgm:pt modelId="{430978D5-BF76-4915-9FA8-631F66362A49}" type="sibTrans" cxnId="{5B24FC3C-4ED4-4834-9B89-88E70A3EE3EC}">
      <dgm:prSet/>
      <dgm:spPr/>
      <dgm:t>
        <a:bodyPr/>
        <a:lstStyle/>
        <a:p>
          <a:endParaRPr lang="en-PK"/>
        </a:p>
      </dgm:t>
    </dgm:pt>
    <dgm:pt modelId="{1E8486E2-0691-4247-B9C3-FCB6AD71DA77}" type="pres">
      <dgm:prSet presAssocID="{87B301F5-07A3-4FE4-976C-CA4952C4C1A1}" presName="linear" presStyleCnt="0">
        <dgm:presLayoutVars>
          <dgm:animLvl val="lvl"/>
          <dgm:resizeHandles val="exact"/>
        </dgm:presLayoutVars>
      </dgm:prSet>
      <dgm:spPr/>
    </dgm:pt>
    <dgm:pt modelId="{CBC7B95D-FC8B-44BC-816F-8FC732EF125D}" type="pres">
      <dgm:prSet presAssocID="{003EBE85-61C3-4A8C-B096-20383EA35C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025C2BC-3DF5-4B12-A043-E15E948A1F98}" type="pres">
      <dgm:prSet presAssocID="{003EBE85-61C3-4A8C-B096-20383EA35C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BF05139-1E12-4DCD-98EF-7B0DABA33B58}" type="presOf" srcId="{87B301F5-07A3-4FE4-976C-CA4952C4C1A1}" destId="{1E8486E2-0691-4247-B9C3-FCB6AD71DA77}" srcOrd="0" destOrd="0" presId="urn:microsoft.com/office/officeart/2005/8/layout/vList2"/>
    <dgm:cxn modelId="{F6F4E43C-9CB5-4911-A20A-B55E9CCF2C4F}" type="presOf" srcId="{003EBE85-61C3-4A8C-B096-20383EA35C46}" destId="{CBC7B95D-FC8B-44BC-816F-8FC732EF125D}" srcOrd="0" destOrd="0" presId="urn:microsoft.com/office/officeart/2005/8/layout/vList2"/>
    <dgm:cxn modelId="{5B24FC3C-4ED4-4834-9B89-88E70A3EE3EC}" srcId="{003EBE85-61C3-4A8C-B096-20383EA35C46}" destId="{EB5ACA34-5E81-4C34-9396-A967E2A2AB76}" srcOrd="1" destOrd="0" parTransId="{9A070146-3875-47E3-94D7-B2C90F536C89}" sibTransId="{430978D5-BF76-4915-9FA8-631F66362A49}"/>
    <dgm:cxn modelId="{D4C01C85-8389-4770-954C-640B9194FA32}" srcId="{003EBE85-61C3-4A8C-B096-20383EA35C46}" destId="{0F6BED61-37A6-4265-9765-7643A715CD2C}" srcOrd="0" destOrd="0" parTransId="{CE80463D-0B4E-4616-A7D3-FCA563D7C095}" sibTransId="{991B6CDF-473C-43F2-B07A-CB69C404667A}"/>
    <dgm:cxn modelId="{8F12479A-C069-4E0A-BB1E-B76D7E4A0CF5}" type="presOf" srcId="{0F6BED61-37A6-4265-9765-7643A715CD2C}" destId="{A025C2BC-3DF5-4B12-A043-E15E948A1F98}" srcOrd="0" destOrd="0" presId="urn:microsoft.com/office/officeart/2005/8/layout/vList2"/>
    <dgm:cxn modelId="{7EA4AAC6-84B8-4CD7-8049-447BD7E93EBF}" type="presOf" srcId="{EB5ACA34-5E81-4C34-9396-A967E2A2AB76}" destId="{A025C2BC-3DF5-4B12-A043-E15E948A1F98}" srcOrd="0" destOrd="1" presId="urn:microsoft.com/office/officeart/2005/8/layout/vList2"/>
    <dgm:cxn modelId="{BCEEB6D3-EFBE-4684-AF7C-3A02210BE3D9}" srcId="{87B301F5-07A3-4FE4-976C-CA4952C4C1A1}" destId="{003EBE85-61C3-4A8C-B096-20383EA35C46}" srcOrd="0" destOrd="0" parTransId="{CA4AA996-65FD-4B8F-BBE0-A906A9E5220E}" sibTransId="{793489B5-9C5E-4E77-A6F3-2F6B2B3AEB5A}"/>
    <dgm:cxn modelId="{2897C92D-7832-425B-A7AE-4DE3AFB3DBD0}" type="presParOf" srcId="{1E8486E2-0691-4247-B9C3-FCB6AD71DA77}" destId="{CBC7B95D-FC8B-44BC-816F-8FC732EF125D}" srcOrd="0" destOrd="0" presId="urn:microsoft.com/office/officeart/2005/8/layout/vList2"/>
    <dgm:cxn modelId="{C49B8052-8CF3-4FDC-B7CA-CCA691C86E81}" type="presParOf" srcId="{1E8486E2-0691-4247-B9C3-FCB6AD71DA77}" destId="{A025C2BC-3DF5-4B12-A043-E15E948A1F9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BAFF19-3AEA-4097-8AAE-B0E8391780F7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C1BEE06-F90E-4F09-93B1-D550B806CA6C}">
      <dgm:prSet custT="1"/>
      <dgm:spPr/>
      <dgm:t>
        <a:bodyPr/>
        <a:lstStyle/>
        <a:p>
          <a:r>
            <a:rPr lang="en-GB" sz="2400" b="1" dirty="0"/>
            <a:t>CLO 1:</a:t>
          </a:r>
          <a:endParaRPr lang="en-US" sz="2400" dirty="0"/>
        </a:p>
      </dgm:t>
    </dgm:pt>
    <dgm:pt modelId="{1C6E13D2-05A4-4EA5-B0FB-6A1163A05D3F}" type="parTrans" cxnId="{EDA5AD18-5AD5-44AA-855C-93782C77F351}">
      <dgm:prSet/>
      <dgm:spPr/>
      <dgm:t>
        <a:bodyPr/>
        <a:lstStyle/>
        <a:p>
          <a:endParaRPr lang="en-US"/>
        </a:p>
      </dgm:t>
    </dgm:pt>
    <dgm:pt modelId="{31DBE3B1-489D-4A12-8CA6-D49A4738C6DE}" type="sibTrans" cxnId="{EDA5AD18-5AD5-44AA-855C-93782C77F351}">
      <dgm:prSet/>
      <dgm:spPr/>
      <dgm:t>
        <a:bodyPr/>
        <a:lstStyle/>
        <a:p>
          <a:endParaRPr lang="en-US"/>
        </a:p>
      </dgm:t>
    </dgm:pt>
    <dgm:pt modelId="{2B5DA1EB-E771-49A5-867E-D9665D475071}">
      <dgm:prSet custT="1"/>
      <dgm:spPr/>
      <dgm:t>
        <a:bodyPr/>
        <a:lstStyle/>
        <a:p>
          <a:r>
            <a:rPr lang="en-GB" sz="2400" dirty="0"/>
            <a:t>Introduction</a:t>
          </a:r>
          <a:endParaRPr lang="en-US" sz="2400" dirty="0"/>
        </a:p>
      </dgm:t>
    </dgm:pt>
    <dgm:pt modelId="{DD750D13-57AD-4795-8AF1-C66AB423D0AD}" type="parTrans" cxnId="{710F3773-380C-452A-B8E5-ACE531C1737D}">
      <dgm:prSet/>
      <dgm:spPr/>
      <dgm:t>
        <a:bodyPr/>
        <a:lstStyle/>
        <a:p>
          <a:endParaRPr lang="en-US"/>
        </a:p>
      </dgm:t>
    </dgm:pt>
    <dgm:pt modelId="{448BFBFD-9308-4A33-BEA8-5A2FB6BB745D}" type="sibTrans" cxnId="{710F3773-380C-452A-B8E5-ACE531C1737D}">
      <dgm:prSet/>
      <dgm:spPr/>
      <dgm:t>
        <a:bodyPr/>
        <a:lstStyle/>
        <a:p>
          <a:endParaRPr lang="en-US"/>
        </a:p>
      </dgm:t>
    </dgm:pt>
    <dgm:pt modelId="{C5A5AD3D-F4C8-4B09-87BB-353A6EA7C410}">
      <dgm:prSet custT="1"/>
      <dgm:spPr/>
      <dgm:t>
        <a:bodyPr/>
        <a:lstStyle/>
        <a:p>
          <a:r>
            <a:rPr lang="en-GB" sz="2400" dirty="0"/>
            <a:t>Game Playing in AI</a:t>
          </a:r>
          <a:endParaRPr lang="en-US" sz="2400" dirty="0"/>
        </a:p>
      </dgm:t>
    </dgm:pt>
    <dgm:pt modelId="{C65CC211-364F-41DA-A837-D39E1CAFD7D1}" type="parTrans" cxnId="{990B492A-0352-4BA5-8498-A3BA0489CEBA}">
      <dgm:prSet/>
      <dgm:spPr/>
      <dgm:t>
        <a:bodyPr/>
        <a:lstStyle/>
        <a:p>
          <a:endParaRPr lang="en-US"/>
        </a:p>
      </dgm:t>
    </dgm:pt>
    <dgm:pt modelId="{12E43FD0-309D-4D62-99D0-FCDD05A9B338}" type="sibTrans" cxnId="{990B492A-0352-4BA5-8498-A3BA0489CEBA}">
      <dgm:prSet/>
      <dgm:spPr/>
      <dgm:t>
        <a:bodyPr/>
        <a:lstStyle/>
        <a:p>
          <a:endParaRPr lang="en-US"/>
        </a:p>
      </dgm:t>
    </dgm:pt>
    <dgm:pt modelId="{C826B026-A7AD-42EF-9C2C-41497C02E674}">
      <dgm:prSet custT="1"/>
      <dgm:spPr/>
      <dgm:t>
        <a:bodyPr/>
        <a:lstStyle/>
        <a:p>
          <a:r>
            <a:rPr lang="en-GB" sz="2400" dirty="0"/>
            <a:t>Adversarial Search and the Minimax Algorithm</a:t>
          </a:r>
          <a:endParaRPr lang="en-US" sz="2400" dirty="0"/>
        </a:p>
      </dgm:t>
    </dgm:pt>
    <dgm:pt modelId="{DDA5660A-EA7B-4453-BBB7-043DBDEAF5FD}" type="parTrans" cxnId="{8166F093-3757-4F07-B35D-F8CB5C069A3E}">
      <dgm:prSet/>
      <dgm:spPr/>
      <dgm:t>
        <a:bodyPr/>
        <a:lstStyle/>
        <a:p>
          <a:endParaRPr lang="en-US"/>
        </a:p>
      </dgm:t>
    </dgm:pt>
    <dgm:pt modelId="{EFE2FC33-5443-4C4B-AA6C-9F41A19BCD2B}" type="sibTrans" cxnId="{8166F093-3757-4F07-B35D-F8CB5C069A3E}">
      <dgm:prSet/>
      <dgm:spPr/>
      <dgm:t>
        <a:bodyPr/>
        <a:lstStyle/>
        <a:p>
          <a:endParaRPr lang="en-US"/>
        </a:p>
      </dgm:t>
    </dgm:pt>
    <dgm:pt modelId="{EB8E5FE8-30D3-476E-84C6-BF3CDABD0589}">
      <dgm:prSet custT="1"/>
      <dgm:spPr/>
      <dgm:t>
        <a:bodyPr/>
        <a:lstStyle/>
        <a:p>
          <a:r>
            <a:rPr lang="en-GB" sz="2400" dirty="0"/>
            <a:t>Cut-Off Search</a:t>
          </a:r>
          <a:endParaRPr lang="en-US" sz="2400" dirty="0"/>
        </a:p>
      </dgm:t>
    </dgm:pt>
    <dgm:pt modelId="{C70C1339-60FD-4556-B070-743548F5AA4E}" type="parTrans" cxnId="{2411EA8F-5BFD-4205-A462-06B950D4154C}">
      <dgm:prSet/>
      <dgm:spPr/>
      <dgm:t>
        <a:bodyPr/>
        <a:lstStyle/>
        <a:p>
          <a:endParaRPr lang="en-US"/>
        </a:p>
      </dgm:t>
    </dgm:pt>
    <dgm:pt modelId="{6ABF7D02-873C-483B-86D9-59756C11F810}" type="sibTrans" cxnId="{2411EA8F-5BFD-4205-A462-06B950D4154C}">
      <dgm:prSet/>
      <dgm:spPr/>
      <dgm:t>
        <a:bodyPr/>
        <a:lstStyle/>
        <a:p>
          <a:endParaRPr lang="en-US"/>
        </a:p>
      </dgm:t>
    </dgm:pt>
    <dgm:pt modelId="{8CE97129-A35D-4A8E-8A2F-6554473753B0}">
      <dgm:prSet custT="1"/>
      <dgm:spPr/>
      <dgm:t>
        <a:bodyPr/>
        <a:lstStyle/>
        <a:p>
          <a:r>
            <a:rPr lang="en-GB" sz="2400" dirty="0"/>
            <a:t>Pruning Techniques (including Alpha-Beta Pruning)</a:t>
          </a:r>
          <a:endParaRPr lang="en-US" sz="2400" dirty="0"/>
        </a:p>
      </dgm:t>
    </dgm:pt>
    <dgm:pt modelId="{D11C7639-FD91-4D45-90A1-3580E55A60EA}" type="parTrans" cxnId="{CC058D81-5CC1-483F-9D95-931DB7D2165A}">
      <dgm:prSet/>
      <dgm:spPr/>
      <dgm:t>
        <a:bodyPr/>
        <a:lstStyle/>
        <a:p>
          <a:endParaRPr lang="en-US"/>
        </a:p>
      </dgm:t>
    </dgm:pt>
    <dgm:pt modelId="{E2464461-4B73-4A45-971F-317EF834F317}" type="sibTrans" cxnId="{CC058D81-5CC1-483F-9D95-931DB7D2165A}">
      <dgm:prSet/>
      <dgm:spPr/>
      <dgm:t>
        <a:bodyPr/>
        <a:lstStyle/>
        <a:p>
          <a:endParaRPr lang="en-US"/>
        </a:p>
      </dgm:t>
    </dgm:pt>
    <dgm:pt modelId="{3F3DFE54-F6B7-43ED-84E5-2138CE660EB6}">
      <dgm:prSet custT="1"/>
      <dgm:spPr/>
      <dgm:t>
        <a:bodyPr/>
        <a:lstStyle/>
        <a:p>
          <a:r>
            <a:rPr lang="en-GB" sz="2400" b="1" dirty="0"/>
            <a:t>CLO 2:</a:t>
          </a:r>
          <a:endParaRPr lang="en-US" sz="2400" dirty="0"/>
        </a:p>
      </dgm:t>
    </dgm:pt>
    <dgm:pt modelId="{35603E27-4986-4093-BA13-540EF067230A}" type="parTrans" cxnId="{EA14688B-076D-4056-931B-F74C89BF1C9E}">
      <dgm:prSet/>
      <dgm:spPr/>
      <dgm:t>
        <a:bodyPr/>
        <a:lstStyle/>
        <a:p>
          <a:endParaRPr lang="en-US"/>
        </a:p>
      </dgm:t>
    </dgm:pt>
    <dgm:pt modelId="{A9A51733-DE1F-469E-8D4B-A6E9376ABC7F}" type="sibTrans" cxnId="{EA14688B-076D-4056-931B-F74C89BF1C9E}">
      <dgm:prSet/>
      <dgm:spPr/>
      <dgm:t>
        <a:bodyPr/>
        <a:lstStyle/>
        <a:p>
          <a:endParaRPr lang="en-US"/>
        </a:p>
      </dgm:t>
    </dgm:pt>
    <dgm:pt modelId="{BC9F2467-8675-4C7B-A23B-F5B8B939445E}">
      <dgm:prSet custT="1"/>
      <dgm:spPr/>
      <dgm:t>
        <a:bodyPr/>
        <a:lstStyle/>
        <a:p>
          <a:r>
            <a:rPr lang="en-GB" sz="2400" dirty="0"/>
            <a:t>Implement</a:t>
          </a:r>
          <a:endParaRPr lang="en-US" sz="2400" dirty="0"/>
        </a:p>
      </dgm:t>
    </dgm:pt>
    <dgm:pt modelId="{4C54B955-7CC3-4BE7-8D3F-2A5FDB33B454}" type="parTrans" cxnId="{E9A8AFEE-FA31-4B1D-BCC6-EB81265C2F25}">
      <dgm:prSet/>
      <dgm:spPr/>
      <dgm:t>
        <a:bodyPr/>
        <a:lstStyle/>
        <a:p>
          <a:endParaRPr lang="en-US"/>
        </a:p>
      </dgm:t>
    </dgm:pt>
    <dgm:pt modelId="{2D52629A-90C7-4C02-B7FA-11727220C377}" type="sibTrans" cxnId="{E9A8AFEE-FA31-4B1D-BCC6-EB81265C2F25}">
      <dgm:prSet/>
      <dgm:spPr/>
      <dgm:t>
        <a:bodyPr/>
        <a:lstStyle/>
        <a:p>
          <a:endParaRPr lang="en-US"/>
        </a:p>
      </dgm:t>
    </dgm:pt>
    <dgm:pt modelId="{8D6A053C-E829-4FFA-B615-66B710820511}">
      <dgm:prSet custT="1"/>
      <dgm:spPr/>
      <dgm:t>
        <a:bodyPr/>
        <a:lstStyle/>
        <a:p>
          <a:r>
            <a:rPr lang="en-GB" sz="2400" dirty="0"/>
            <a:t>Adversarial Search and the Minimax Algorithm</a:t>
          </a:r>
          <a:endParaRPr lang="en-US" sz="2400" dirty="0"/>
        </a:p>
      </dgm:t>
    </dgm:pt>
    <dgm:pt modelId="{C11ADF9C-F86A-4BA1-A832-938E2DD4C8EF}" type="parTrans" cxnId="{98D5158A-8C70-41C1-B052-E3107E5ED881}">
      <dgm:prSet/>
      <dgm:spPr/>
      <dgm:t>
        <a:bodyPr/>
        <a:lstStyle/>
        <a:p>
          <a:endParaRPr lang="en-US"/>
        </a:p>
      </dgm:t>
    </dgm:pt>
    <dgm:pt modelId="{EFA06500-9CE7-42F8-BAD6-B53A812E2246}" type="sibTrans" cxnId="{98D5158A-8C70-41C1-B052-E3107E5ED881}">
      <dgm:prSet/>
      <dgm:spPr/>
      <dgm:t>
        <a:bodyPr/>
        <a:lstStyle/>
        <a:p>
          <a:endParaRPr lang="en-US"/>
        </a:p>
      </dgm:t>
    </dgm:pt>
    <dgm:pt modelId="{3EA3FF40-E4C6-4CA1-826F-29F2E43E9A22}">
      <dgm:prSet custT="1"/>
      <dgm:spPr/>
      <dgm:t>
        <a:bodyPr/>
        <a:lstStyle/>
        <a:p>
          <a:r>
            <a:rPr lang="en-GB" sz="2400" dirty="0"/>
            <a:t>Alpha-Beta Pruning</a:t>
          </a:r>
          <a:endParaRPr lang="en-US" sz="2400" dirty="0"/>
        </a:p>
      </dgm:t>
    </dgm:pt>
    <dgm:pt modelId="{2BDB4242-D0D9-41B5-BB65-A7D37D872ECA}" type="parTrans" cxnId="{71550294-30FC-4171-8469-73C69E76D196}">
      <dgm:prSet/>
      <dgm:spPr/>
      <dgm:t>
        <a:bodyPr/>
        <a:lstStyle/>
        <a:p>
          <a:endParaRPr lang="en-US"/>
        </a:p>
      </dgm:t>
    </dgm:pt>
    <dgm:pt modelId="{BFE78EAE-A143-47F8-8BB8-09CA3E84D1AD}" type="sibTrans" cxnId="{71550294-30FC-4171-8469-73C69E76D196}">
      <dgm:prSet/>
      <dgm:spPr/>
      <dgm:t>
        <a:bodyPr/>
        <a:lstStyle/>
        <a:p>
          <a:endParaRPr lang="en-US"/>
        </a:p>
      </dgm:t>
    </dgm:pt>
    <dgm:pt modelId="{64E97EF1-F64F-4D08-B52C-5F63805ACB97}">
      <dgm:prSet custT="1"/>
      <dgm:spPr/>
      <dgm:t>
        <a:bodyPr/>
        <a:lstStyle/>
        <a:p>
          <a:r>
            <a:rPr lang="en-GB" sz="2400" dirty="0"/>
            <a:t>Case Studies: Chess and Checkers</a:t>
          </a:r>
          <a:endParaRPr lang="en-US" sz="2400" dirty="0"/>
        </a:p>
      </dgm:t>
    </dgm:pt>
    <dgm:pt modelId="{C2D3F7D1-30DB-4CC6-B1CD-2D1AF21D1B16}" type="parTrans" cxnId="{3C02E09E-7018-42CC-8155-8D1F6A702B34}">
      <dgm:prSet/>
      <dgm:spPr/>
      <dgm:t>
        <a:bodyPr/>
        <a:lstStyle/>
        <a:p>
          <a:endParaRPr lang="en-US"/>
        </a:p>
      </dgm:t>
    </dgm:pt>
    <dgm:pt modelId="{0DD0157C-9A36-42EC-8BA3-4539FB11B774}" type="sibTrans" cxnId="{3C02E09E-7018-42CC-8155-8D1F6A702B34}">
      <dgm:prSet/>
      <dgm:spPr/>
      <dgm:t>
        <a:bodyPr/>
        <a:lstStyle/>
        <a:p>
          <a:endParaRPr lang="en-US"/>
        </a:p>
      </dgm:t>
    </dgm:pt>
    <dgm:pt modelId="{D834BA1F-3574-4DD1-BA2B-1AFDA1B9DFB4}" type="pres">
      <dgm:prSet presAssocID="{1ABAFF19-3AEA-4097-8AAE-B0E8391780F7}" presName="linear" presStyleCnt="0">
        <dgm:presLayoutVars>
          <dgm:dir/>
          <dgm:animLvl val="lvl"/>
          <dgm:resizeHandles val="exact"/>
        </dgm:presLayoutVars>
      </dgm:prSet>
      <dgm:spPr/>
    </dgm:pt>
    <dgm:pt modelId="{698E3174-0318-4F94-9674-373830A430B0}" type="pres">
      <dgm:prSet presAssocID="{0C1BEE06-F90E-4F09-93B1-D550B806CA6C}" presName="parentLin" presStyleCnt="0"/>
      <dgm:spPr/>
    </dgm:pt>
    <dgm:pt modelId="{3A3AD406-9F02-4B7C-A576-31CAD64141FB}" type="pres">
      <dgm:prSet presAssocID="{0C1BEE06-F90E-4F09-93B1-D550B806CA6C}" presName="parentLeftMargin" presStyleLbl="node1" presStyleIdx="0" presStyleCnt="2"/>
      <dgm:spPr/>
    </dgm:pt>
    <dgm:pt modelId="{49E13C96-EE4B-48D1-8768-AE8ECE07E331}" type="pres">
      <dgm:prSet presAssocID="{0C1BEE06-F90E-4F09-93B1-D550B806CA6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A19CEC3-B103-4F3A-9B3C-FE1A70884031}" type="pres">
      <dgm:prSet presAssocID="{0C1BEE06-F90E-4F09-93B1-D550B806CA6C}" presName="negativeSpace" presStyleCnt="0"/>
      <dgm:spPr/>
    </dgm:pt>
    <dgm:pt modelId="{2A8F8C97-D792-4E29-9ADB-A33A1728580F}" type="pres">
      <dgm:prSet presAssocID="{0C1BEE06-F90E-4F09-93B1-D550B806CA6C}" presName="childText" presStyleLbl="conFgAcc1" presStyleIdx="0" presStyleCnt="2">
        <dgm:presLayoutVars>
          <dgm:bulletEnabled val="1"/>
        </dgm:presLayoutVars>
      </dgm:prSet>
      <dgm:spPr/>
    </dgm:pt>
    <dgm:pt modelId="{E9D3FC74-370E-4118-9A41-52FB915D24B6}" type="pres">
      <dgm:prSet presAssocID="{31DBE3B1-489D-4A12-8CA6-D49A4738C6DE}" presName="spaceBetweenRectangles" presStyleCnt="0"/>
      <dgm:spPr/>
    </dgm:pt>
    <dgm:pt modelId="{DDC2F1DC-AC4E-4BD5-8F1F-3AB55F5B9E84}" type="pres">
      <dgm:prSet presAssocID="{3F3DFE54-F6B7-43ED-84E5-2138CE660EB6}" presName="parentLin" presStyleCnt="0"/>
      <dgm:spPr/>
    </dgm:pt>
    <dgm:pt modelId="{F0839E54-C2C9-4E12-8664-B616247CC422}" type="pres">
      <dgm:prSet presAssocID="{3F3DFE54-F6B7-43ED-84E5-2138CE660EB6}" presName="parentLeftMargin" presStyleLbl="node1" presStyleIdx="0" presStyleCnt="2"/>
      <dgm:spPr/>
    </dgm:pt>
    <dgm:pt modelId="{CD8EDF22-9A27-49D7-87DD-3C29CC93D73D}" type="pres">
      <dgm:prSet presAssocID="{3F3DFE54-F6B7-43ED-84E5-2138CE660EB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2D71622-01F6-453A-84C1-5F1DDDB24708}" type="pres">
      <dgm:prSet presAssocID="{3F3DFE54-F6B7-43ED-84E5-2138CE660EB6}" presName="negativeSpace" presStyleCnt="0"/>
      <dgm:spPr/>
    </dgm:pt>
    <dgm:pt modelId="{6EB0EFF8-0C42-4EF9-9C2C-CFC7394E0CEC}" type="pres">
      <dgm:prSet presAssocID="{3F3DFE54-F6B7-43ED-84E5-2138CE660EB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B197910-00FA-4695-B05D-94C8FAB96A43}" type="presOf" srcId="{8D6A053C-E829-4FFA-B615-66B710820511}" destId="{6EB0EFF8-0C42-4EF9-9C2C-CFC7394E0CEC}" srcOrd="0" destOrd="1" presId="urn:microsoft.com/office/officeart/2005/8/layout/list1"/>
    <dgm:cxn modelId="{EDA5AD18-5AD5-44AA-855C-93782C77F351}" srcId="{1ABAFF19-3AEA-4097-8AAE-B0E8391780F7}" destId="{0C1BEE06-F90E-4F09-93B1-D550B806CA6C}" srcOrd="0" destOrd="0" parTransId="{1C6E13D2-05A4-4EA5-B0FB-6A1163A05D3F}" sibTransId="{31DBE3B1-489D-4A12-8CA6-D49A4738C6DE}"/>
    <dgm:cxn modelId="{990B492A-0352-4BA5-8498-A3BA0489CEBA}" srcId="{2B5DA1EB-E771-49A5-867E-D9665D475071}" destId="{C5A5AD3D-F4C8-4B09-87BB-353A6EA7C410}" srcOrd="0" destOrd="0" parTransId="{C65CC211-364F-41DA-A837-D39E1CAFD7D1}" sibTransId="{12E43FD0-309D-4D62-99D0-FCDD05A9B338}"/>
    <dgm:cxn modelId="{51F1EF38-B93F-42C4-8499-9FA3E48A4234}" type="presOf" srcId="{2B5DA1EB-E771-49A5-867E-D9665D475071}" destId="{2A8F8C97-D792-4E29-9ADB-A33A1728580F}" srcOrd="0" destOrd="0" presId="urn:microsoft.com/office/officeart/2005/8/layout/list1"/>
    <dgm:cxn modelId="{710F3773-380C-452A-B8E5-ACE531C1737D}" srcId="{0C1BEE06-F90E-4F09-93B1-D550B806CA6C}" destId="{2B5DA1EB-E771-49A5-867E-D9665D475071}" srcOrd="0" destOrd="0" parTransId="{DD750D13-57AD-4795-8AF1-C66AB423D0AD}" sibTransId="{448BFBFD-9308-4A33-BEA8-5A2FB6BB745D}"/>
    <dgm:cxn modelId="{B0A9B776-35AF-48D4-BFF4-277D6353C2FC}" type="presOf" srcId="{0C1BEE06-F90E-4F09-93B1-D550B806CA6C}" destId="{3A3AD406-9F02-4B7C-A576-31CAD64141FB}" srcOrd="0" destOrd="0" presId="urn:microsoft.com/office/officeart/2005/8/layout/list1"/>
    <dgm:cxn modelId="{FA3D597B-F89B-4355-8533-2F8060B3F6AE}" type="presOf" srcId="{C5A5AD3D-F4C8-4B09-87BB-353A6EA7C410}" destId="{2A8F8C97-D792-4E29-9ADB-A33A1728580F}" srcOrd="0" destOrd="1" presId="urn:microsoft.com/office/officeart/2005/8/layout/list1"/>
    <dgm:cxn modelId="{CC058D81-5CC1-483F-9D95-931DB7D2165A}" srcId="{2B5DA1EB-E771-49A5-867E-D9665D475071}" destId="{8CE97129-A35D-4A8E-8A2F-6554473753B0}" srcOrd="3" destOrd="0" parTransId="{D11C7639-FD91-4D45-90A1-3580E55A60EA}" sibTransId="{E2464461-4B73-4A45-971F-317EF834F317}"/>
    <dgm:cxn modelId="{F8B6B885-FCEF-4DA4-B754-FF7086024ACB}" type="presOf" srcId="{64E97EF1-F64F-4D08-B52C-5F63805ACB97}" destId="{6EB0EFF8-0C42-4EF9-9C2C-CFC7394E0CEC}" srcOrd="0" destOrd="3" presId="urn:microsoft.com/office/officeart/2005/8/layout/list1"/>
    <dgm:cxn modelId="{98D5158A-8C70-41C1-B052-E3107E5ED881}" srcId="{BC9F2467-8675-4C7B-A23B-F5B8B939445E}" destId="{8D6A053C-E829-4FFA-B615-66B710820511}" srcOrd="0" destOrd="0" parTransId="{C11ADF9C-F86A-4BA1-A832-938E2DD4C8EF}" sibTransId="{EFA06500-9CE7-42F8-BAD6-B53A812E2246}"/>
    <dgm:cxn modelId="{EA14688B-076D-4056-931B-F74C89BF1C9E}" srcId="{1ABAFF19-3AEA-4097-8AAE-B0E8391780F7}" destId="{3F3DFE54-F6B7-43ED-84E5-2138CE660EB6}" srcOrd="1" destOrd="0" parTransId="{35603E27-4986-4093-BA13-540EF067230A}" sibTransId="{A9A51733-DE1F-469E-8D4B-A6E9376ABC7F}"/>
    <dgm:cxn modelId="{C58C6D8D-0F6A-41DE-BE99-C70A31B35699}" type="presOf" srcId="{1ABAFF19-3AEA-4097-8AAE-B0E8391780F7}" destId="{D834BA1F-3574-4DD1-BA2B-1AFDA1B9DFB4}" srcOrd="0" destOrd="0" presId="urn:microsoft.com/office/officeart/2005/8/layout/list1"/>
    <dgm:cxn modelId="{2411EA8F-5BFD-4205-A462-06B950D4154C}" srcId="{2B5DA1EB-E771-49A5-867E-D9665D475071}" destId="{EB8E5FE8-30D3-476E-84C6-BF3CDABD0589}" srcOrd="2" destOrd="0" parTransId="{C70C1339-60FD-4556-B070-743548F5AA4E}" sibTransId="{6ABF7D02-873C-483B-86D9-59756C11F810}"/>
    <dgm:cxn modelId="{8166F093-3757-4F07-B35D-F8CB5C069A3E}" srcId="{2B5DA1EB-E771-49A5-867E-D9665D475071}" destId="{C826B026-A7AD-42EF-9C2C-41497C02E674}" srcOrd="1" destOrd="0" parTransId="{DDA5660A-EA7B-4453-BBB7-043DBDEAF5FD}" sibTransId="{EFE2FC33-5443-4C4B-AA6C-9F41A19BCD2B}"/>
    <dgm:cxn modelId="{71550294-30FC-4171-8469-73C69E76D196}" srcId="{BC9F2467-8675-4C7B-A23B-F5B8B939445E}" destId="{3EA3FF40-E4C6-4CA1-826F-29F2E43E9A22}" srcOrd="1" destOrd="0" parTransId="{2BDB4242-D0D9-41B5-BB65-A7D37D872ECA}" sibTransId="{BFE78EAE-A143-47F8-8BB8-09CA3E84D1AD}"/>
    <dgm:cxn modelId="{03A4159A-4EBA-4FA7-8F3E-5BD1C16A34D0}" type="presOf" srcId="{3F3DFE54-F6B7-43ED-84E5-2138CE660EB6}" destId="{CD8EDF22-9A27-49D7-87DD-3C29CC93D73D}" srcOrd="1" destOrd="0" presId="urn:microsoft.com/office/officeart/2005/8/layout/list1"/>
    <dgm:cxn modelId="{CC8A0B9C-4640-40CE-ADE6-DF681DFEEE51}" type="presOf" srcId="{BC9F2467-8675-4C7B-A23B-F5B8B939445E}" destId="{6EB0EFF8-0C42-4EF9-9C2C-CFC7394E0CEC}" srcOrd="0" destOrd="0" presId="urn:microsoft.com/office/officeart/2005/8/layout/list1"/>
    <dgm:cxn modelId="{3C02E09E-7018-42CC-8155-8D1F6A702B34}" srcId="{BC9F2467-8675-4C7B-A23B-F5B8B939445E}" destId="{64E97EF1-F64F-4D08-B52C-5F63805ACB97}" srcOrd="2" destOrd="0" parTransId="{C2D3F7D1-30DB-4CC6-B1CD-2D1AF21D1B16}" sibTransId="{0DD0157C-9A36-42EC-8BA3-4539FB11B774}"/>
    <dgm:cxn modelId="{DA5636AF-7C73-485A-A660-CAB20AA4ACD4}" type="presOf" srcId="{EB8E5FE8-30D3-476E-84C6-BF3CDABD0589}" destId="{2A8F8C97-D792-4E29-9ADB-A33A1728580F}" srcOrd="0" destOrd="3" presId="urn:microsoft.com/office/officeart/2005/8/layout/list1"/>
    <dgm:cxn modelId="{18CD7FB9-3224-4608-80A8-03227FC84AEF}" type="presOf" srcId="{0C1BEE06-F90E-4F09-93B1-D550B806CA6C}" destId="{49E13C96-EE4B-48D1-8768-AE8ECE07E331}" srcOrd="1" destOrd="0" presId="urn:microsoft.com/office/officeart/2005/8/layout/list1"/>
    <dgm:cxn modelId="{33B622C4-00C5-42F6-ACBC-B9B64A8D451D}" type="presOf" srcId="{3EA3FF40-E4C6-4CA1-826F-29F2E43E9A22}" destId="{6EB0EFF8-0C42-4EF9-9C2C-CFC7394E0CEC}" srcOrd="0" destOrd="2" presId="urn:microsoft.com/office/officeart/2005/8/layout/list1"/>
    <dgm:cxn modelId="{5348FADA-74AE-4A98-80E5-9D724BC86801}" type="presOf" srcId="{8CE97129-A35D-4A8E-8A2F-6554473753B0}" destId="{2A8F8C97-D792-4E29-9ADB-A33A1728580F}" srcOrd="0" destOrd="4" presId="urn:microsoft.com/office/officeart/2005/8/layout/list1"/>
    <dgm:cxn modelId="{E86429EC-2392-47BA-9AB5-071E4B75E5F1}" type="presOf" srcId="{3F3DFE54-F6B7-43ED-84E5-2138CE660EB6}" destId="{F0839E54-C2C9-4E12-8664-B616247CC422}" srcOrd="0" destOrd="0" presId="urn:microsoft.com/office/officeart/2005/8/layout/list1"/>
    <dgm:cxn modelId="{E9A8AFEE-FA31-4B1D-BCC6-EB81265C2F25}" srcId="{3F3DFE54-F6B7-43ED-84E5-2138CE660EB6}" destId="{BC9F2467-8675-4C7B-A23B-F5B8B939445E}" srcOrd="0" destOrd="0" parTransId="{4C54B955-7CC3-4BE7-8D3F-2A5FDB33B454}" sibTransId="{2D52629A-90C7-4C02-B7FA-11727220C377}"/>
    <dgm:cxn modelId="{3ED412F8-B5FC-441A-8CBC-3F2538AE7FB1}" type="presOf" srcId="{C826B026-A7AD-42EF-9C2C-41497C02E674}" destId="{2A8F8C97-D792-4E29-9ADB-A33A1728580F}" srcOrd="0" destOrd="2" presId="urn:microsoft.com/office/officeart/2005/8/layout/list1"/>
    <dgm:cxn modelId="{D16F14BC-919C-407D-9F91-3E9A927135BB}" type="presParOf" srcId="{D834BA1F-3574-4DD1-BA2B-1AFDA1B9DFB4}" destId="{698E3174-0318-4F94-9674-373830A430B0}" srcOrd="0" destOrd="0" presId="urn:microsoft.com/office/officeart/2005/8/layout/list1"/>
    <dgm:cxn modelId="{B62856A7-083E-400F-9694-9EB44D3B7BC0}" type="presParOf" srcId="{698E3174-0318-4F94-9674-373830A430B0}" destId="{3A3AD406-9F02-4B7C-A576-31CAD64141FB}" srcOrd="0" destOrd="0" presId="urn:microsoft.com/office/officeart/2005/8/layout/list1"/>
    <dgm:cxn modelId="{32A0C464-B9F5-4E90-AC51-22A63AD2C577}" type="presParOf" srcId="{698E3174-0318-4F94-9674-373830A430B0}" destId="{49E13C96-EE4B-48D1-8768-AE8ECE07E331}" srcOrd="1" destOrd="0" presId="urn:microsoft.com/office/officeart/2005/8/layout/list1"/>
    <dgm:cxn modelId="{5E5B1DDA-3810-44FD-8183-E6F7B748D5C5}" type="presParOf" srcId="{D834BA1F-3574-4DD1-BA2B-1AFDA1B9DFB4}" destId="{0A19CEC3-B103-4F3A-9B3C-FE1A70884031}" srcOrd="1" destOrd="0" presId="urn:microsoft.com/office/officeart/2005/8/layout/list1"/>
    <dgm:cxn modelId="{033ED4DB-9E6E-436F-8018-68F8CC396992}" type="presParOf" srcId="{D834BA1F-3574-4DD1-BA2B-1AFDA1B9DFB4}" destId="{2A8F8C97-D792-4E29-9ADB-A33A1728580F}" srcOrd="2" destOrd="0" presId="urn:microsoft.com/office/officeart/2005/8/layout/list1"/>
    <dgm:cxn modelId="{BDA5F5B3-5881-4124-843A-1FD46D6C56C2}" type="presParOf" srcId="{D834BA1F-3574-4DD1-BA2B-1AFDA1B9DFB4}" destId="{E9D3FC74-370E-4118-9A41-52FB915D24B6}" srcOrd="3" destOrd="0" presId="urn:microsoft.com/office/officeart/2005/8/layout/list1"/>
    <dgm:cxn modelId="{1CBDB688-C31F-4B6E-A5D5-E8677DC6B409}" type="presParOf" srcId="{D834BA1F-3574-4DD1-BA2B-1AFDA1B9DFB4}" destId="{DDC2F1DC-AC4E-4BD5-8F1F-3AB55F5B9E84}" srcOrd="4" destOrd="0" presId="urn:microsoft.com/office/officeart/2005/8/layout/list1"/>
    <dgm:cxn modelId="{0F5A7F57-31D3-4E79-835E-111F9624272E}" type="presParOf" srcId="{DDC2F1DC-AC4E-4BD5-8F1F-3AB55F5B9E84}" destId="{F0839E54-C2C9-4E12-8664-B616247CC422}" srcOrd="0" destOrd="0" presId="urn:microsoft.com/office/officeart/2005/8/layout/list1"/>
    <dgm:cxn modelId="{6A11352D-93F5-4A9F-AF17-71DF26BFE7D8}" type="presParOf" srcId="{DDC2F1DC-AC4E-4BD5-8F1F-3AB55F5B9E84}" destId="{CD8EDF22-9A27-49D7-87DD-3C29CC93D73D}" srcOrd="1" destOrd="0" presId="urn:microsoft.com/office/officeart/2005/8/layout/list1"/>
    <dgm:cxn modelId="{D91473F5-4CA9-4BD3-897D-18564E2185B0}" type="presParOf" srcId="{D834BA1F-3574-4DD1-BA2B-1AFDA1B9DFB4}" destId="{72D71622-01F6-453A-84C1-5F1DDDB24708}" srcOrd="5" destOrd="0" presId="urn:microsoft.com/office/officeart/2005/8/layout/list1"/>
    <dgm:cxn modelId="{08E9880D-CAAF-49C4-BBCA-83E123248F03}" type="presParOf" srcId="{D834BA1F-3574-4DD1-BA2B-1AFDA1B9DFB4}" destId="{6EB0EFF8-0C42-4EF9-9C2C-CFC7394E0CE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7B95D-FC8B-44BC-816F-8FC732EF125D}">
      <dsp:nvSpPr>
        <dsp:cNvPr id="0" name=""/>
        <dsp:cNvSpPr/>
      </dsp:nvSpPr>
      <dsp:spPr>
        <a:xfrm>
          <a:off x="0" y="26583"/>
          <a:ext cx="5918184" cy="23095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This week lecture will cover the following CLO’s:</a:t>
          </a:r>
        </a:p>
      </dsp:txBody>
      <dsp:txXfrm>
        <a:off x="112744" y="139327"/>
        <a:ext cx="5692696" cy="2084091"/>
      </dsp:txXfrm>
    </dsp:sp>
    <dsp:sp modelId="{A025C2BC-3DF5-4B12-A043-E15E948A1F98}">
      <dsp:nvSpPr>
        <dsp:cNvPr id="0" name=""/>
        <dsp:cNvSpPr/>
      </dsp:nvSpPr>
      <dsp:spPr>
        <a:xfrm>
          <a:off x="0" y="2336163"/>
          <a:ext cx="5918184" cy="304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902" tIns="53340" rIns="298704" bIns="53340" numCol="1" spcCol="1270" anchor="t" anchorCtr="0">
          <a:noAutofit/>
        </a:bodyPr>
        <a:lstStyle/>
        <a:p>
          <a:pPr marL="285750" lvl="1" indent="-285750" algn="just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b="1" kern="1200" dirty="0"/>
            <a:t>CLO1: </a:t>
          </a:r>
          <a:r>
            <a:rPr lang="en-US" sz="3300" b="0" kern="1200" dirty="0"/>
            <a:t>Discuss the key concepts in the field of artificial intelligence</a:t>
          </a:r>
          <a:endParaRPr lang="en-US" sz="3300" kern="1200" dirty="0"/>
        </a:p>
        <a:p>
          <a:pPr marL="285750" lvl="1" indent="-285750" algn="just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b="1" kern="1200" dirty="0"/>
            <a:t>CLO 2: Implement </a:t>
          </a:r>
          <a:r>
            <a:rPr lang="en-US" sz="3300" kern="1200" dirty="0"/>
            <a:t>artificial intelligence techniques and case studies</a:t>
          </a:r>
        </a:p>
      </dsp:txBody>
      <dsp:txXfrm>
        <a:off x="0" y="2336163"/>
        <a:ext cx="5918184" cy="3042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F8C97-D792-4E29-9ADB-A33A1728580F}">
      <dsp:nvSpPr>
        <dsp:cNvPr id="0" name=""/>
        <dsp:cNvSpPr/>
      </dsp:nvSpPr>
      <dsp:spPr>
        <a:xfrm>
          <a:off x="0" y="280544"/>
          <a:ext cx="6666833" cy="3172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Introduction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Game Playing in AI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Adversarial Search and the Minimax Algorithm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Cut-Off Search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Pruning Techniques (including Alpha-Beta Pruning)</a:t>
          </a:r>
          <a:endParaRPr lang="en-US" sz="2400" kern="1200" dirty="0"/>
        </a:p>
      </dsp:txBody>
      <dsp:txXfrm>
        <a:off x="0" y="280544"/>
        <a:ext cx="6666833" cy="3172050"/>
      </dsp:txXfrm>
    </dsp:sp>
    <dsp:sp modelId="{49E13C96-EE4B-48D1-8768-AE8ECE07E331}">
      <dsp:nvSpPr>
        <dsp:cNvPr id="0" name=""/>
        <dsp:cNvSpPr/>
      </dsp:nvSpPr>
      <dsp:spPr>
        <a:xfrm>
          <a:off x="333341" y="104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CLO 1:</a:t>
          </a:r>
          <a:endParaRPr lang="en-US" sz="2400" kern="1200" dirty="0"/>
        </a:p>
      </dsp:txBody>
      <dsp:txXfrm>
        <a:off x="360721" y="27484"/>
        <a:ext cx="4612023" cy="506120"/>
      </dsp:txXfrm>
    </dsp:sp>
    <dsp:sp modelId="{6EB0EFF8-0C42-4EF9-9C2C-CFC7394E0CEC}">
      <dsp:nvSpPr>
        <dsp:cNvPr id="0" name=""/>
        <dsp:cNvSpPr/>
      </dsp:nvSpPr>
      <dsp:spPr>
        <a:xfrm>
          <a:off x="0" y="3835634"/>
          <a:ext cx="6666833" cy="2453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Implement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Adversarial Search and the Minimax Algorithm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Alpha-Beta Pruning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Case Studies: Chess and Checkers</a:t>
          </a:r>
          <a:endParaRPr lang="en-US" sz="2400" kern="1200" dirty="0"/>
        </a:p>
      </dsp:txBody>
      <dsp:txXfrm>
        <a:off x="0" y="3835634"/>
        <a:ext cx="6666833" cy="2453850"/>
      </dsp:txXfrm>
    </dsp:sp>
    <dsp:sp modelId="{CD8EDF22-9A27-49D7-87DD-3C29CC93D73D}">
      <dsp:nvSpPr>
        <dsp:cNvPr id="0" name=""/>
        <dsp:cNvSpPr/>
      </dsp:nvSpPr>
      <dsp:spPr>
        <a:xfrm>
          <a:off x="333341" y="3555194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CLO 2:</a:t>
          </a:r>
          <a:endParaRPr lang="en-US" sz="2400" kern="1200" dirty="0"/>
        </a:p>
      </dsp:txBody>
      <dsp:txXfrm>
        <a:off x="360721" y="3582574"/>
        <a:ext cx="4612023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07986-D4E9-4F20-BDDF-A86C85BB79C3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70C78-D1E4-43B4-9084-D5891F6FAD7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7802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70C78-D1E4-43B4-9084-D5891F6FAD77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6145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MinMax</a:t>
            </a:r>
            <a:r>
              <a:rPr lang="en-US" dirty="0"/>
              <a:t> Time Complexity O(</a:t>
            </a:r>
            <a:r>
              <a:rPr lang="en-US" dirty="0" err="1"/>
              <a:t>b^d</a:t>
            </a:r>
            <a:r>
              <a:rPr lang="en-US" dirty="0"/>
              <a:t>) as we have to explore all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70C78-D1E4-43B4-9084-D5891F6FAD77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9836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3689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7735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alpha</a:t>
            </a:r>
            <a:r>
              <a:rPr lang="en-US" baseline="0" dirty="0"/>
              <a:t> beta algorithm is much efficient than </a:t>
            </a:r>
            <a:r>
              <a:rPr lang="en-US" baseline="0" dirty="0" err="1"/>
              <a:t>minmax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09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3056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gi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3720-3816-381E-EB06-FB553BB25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9A3BF-9B33-DBA2-7E40-BA8D75543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9BF09-C8C7-FEBB-73F7-946D6906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52A2D-B611-36A4-1555-70458F8A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148D1-A7D7-FCDA-0382-278EF7CC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9010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0FBD-5708-B085-7163-E9B8F55B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CFDE-AF79-6214-4E80-4629A715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06B77-41C4-B60D-171B-4127A106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12C56-0D12-81DD-F88C-B3DF7C19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8C87-E64E-2CF6-F59F-34261450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430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20F4-56B4-ED58-3666-E30DB62F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DD55C-3A71-9766-7BE1-256FF8320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4CCA-0EC2-8307-6A0E-B2DE70E4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5AD0-2406-4741-9B27-130E3F62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28277-6902-C86D-48CA-4EF489EE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536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B771-A201-CABE-C531-1DEEA3F6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2095-55BE-312A-0541-980C275F6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F5121-B39D-77AE-FDA8-79EB39DCD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837C-E895-AB1D-35B1-D86D86CA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D6123-FDDB-E74B-B67B-3B7436A5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4099A-D6CD-7317-CE16-5B189A67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83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40B2-2987-4772-A133-4D54679C7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68140-1825-DBB1-561C-E023ED6AE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6F8CF-4A87-97A7-E51E-E57DA829B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C6A12-68C0-50BD-32DF-9162AAC03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8C1AD-FE87-70BE-AE5A-60BA867E3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61F5D-B757-4D74-9774-E02C64EC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577DB-660B-4D6D-1ABD-CD10BED5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9736A-5F3E-FF09-F99B-AD539ED8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199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4501-7D1D-32DF-175C-23D723FA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C3BAA-C826-94A1-99A7-35E780AE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1178B-4DCB-1221-F1E4-F1E1BB12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CF76B-5981-48D4-1508-AC4C69CF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159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72966-C101-DBA0-31A6-0DEDED54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2644B-ACC8-BACF-D571-05B35854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88BF-9305-AA0B-6DC3-C0ABE5EC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097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E64C-50F1-B827-5189-582FAD92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AB93-9C36-D887-5560-612DD4D03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B17D3-FD48-BFB0-34D1-FF569AAE2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BE8-7490-2442-C273-BD66D16FC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5BC4B-BA90-7AD7-16B6-69BDF876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A8F57-9EAE-C269-11A8-B5A74CDE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002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0BEE-A111-9AA1-C4B8-12E07D7C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BFE80-195D-9F83-E5BD-060B5AA08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A238C-BD32-C671-142B-4FE5368F5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4E100-6E96-3ED0-92D2-1900C585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1DA5-7BB0-0309-3E65-44DDEF314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CBEC1-69B8-F2EB-CAFA-5A294439A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202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BA61-3CE4-676D-E6E6-A0F3A45D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E53C3-DEB7-D4D6-59C2-76D2BCA2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C23A6-4DEE-2B0F-F9E8-AF8E0897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BC7B1-D071-396D-DD27-D6F3B7A2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EEB43-9506-19FD-C9B4-95B5C075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050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5FC5C-5F00-9053-F0A9-CBBC1DB3B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03B86-E126-76D5-C128-6EBFBA70C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10F2-965D-9F7B-B99A-D1456691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D7986-9CB8-9DAB-9592-00A9C473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2B750-7CCD-A09C-870B-641AB424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8638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Autofit/>
          </a:bodyPr>
          <a:lstStyle>
            <a:lvl1pPr>
              <a:defRPr sz="6600" b="1">
                <a:solidFill>
                  <a:srgbClr val="C00000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206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Lecture 01</a:t>
            </a:r>
          </a:p>
          <a:p>
            <a:r>
              <a:rPr lang="en-US" dirty="0"/>
              <a:t>Week 01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CF24E21C-9577-4E7D-B1EB-143A50264887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7704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solidFill>
                  <a:srgbClr val="C00000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2"/>
              </a:buBlip>
              <a:defRPr/>
            </a:lvl1pPr>
            <a:lvl2pPr>
              <a:buFontTx/>
              <a:buBlip>
                <a:blip r:embed="rId3"/>
              </a:buBlip>
              <a:defRPr/>
            </a:lvl2pPr>
            <a:lvl3pPr>
              <a:buFontTx/>
              <a:buBlip>
                <a:blip r:embed="rId4"/>
              </a:buBlip>
              <a:defRPr/>
            </a:lvl3pPr>
            <a:lvl4pPr>
              <a:buFont typeface="Courier New" pitchFamily="49" charset="0"/>
              <a:buChar char="o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7A802-68BF-4320-9A97-6325A41A81DD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64626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400" b="1" cap="all">
                <a:solidFill>
                  <a:srgbClr val="C00000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FAF27-ACE7-4052-9B57-4C1CEE7F3879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6160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solidFill>
                  <a:srgbClr val="C00000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7F304-41A7-4C9B-8E23-53926855A947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6725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solidFill>
                  <a:srgbClr val="C00000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547F90C4-20E5-4A36-BD7E-4B96B252935F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1361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3F8AD4B3-70B5-42DE-B62E-36E08B8EEFE9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8521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521BF-DC2B-4FE9-B976-814F7E5AA4D2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7073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9676-9741-42CE-9E5F-42808E141AB3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8095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01FF-DAB5-4FA2-B787-87A6BBCA5C36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634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>
                <a:solidFill>
                  <a:srgbClr val="C00000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A5AFF-62FB-441F-8727-12B55168CDD6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8047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52237-124A-48FF-960B-0799A17CB857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48714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36AC1B1B-32A4-4180-92E4-2F8D457076DD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087971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1" y="1600200"/>
            <a:ext cx="5592233" cy="2173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1" y="3925889"/>
            <a:ext cx="5592233" cy="2173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36AC1B1B-32A4-4180-92E4-2F8D457076DD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48267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0A0BD-8E0B-039C-FB28-7DE93B8E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F0ED9-CAC2-E83A-68ED-C5161A9F5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47626-C717-A094-D7ED-9CC80A779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B422B-D56B-48A6-BE4D-0AAC7D67A4F0}" type="datetimeFigureOut">
              <a:rPr lang="en-PK" smtClean="0"/>
              <a:t>12/04/2025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85EE4-DEFC-CF01-936A-8A735E3CB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68BF9-1FDB-07EF-4625-0F16BAFA2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8E9BB-3426-4537-94B3-5BEC3C8DC2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110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C1B1B-32A4-4180-92E4-2F8D457076DD}" type="slidenum">
              <a:rPr lang="zh-TW" altLang="en-US" smtClean="0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732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733D3-B539-9FDF-841C-7CA34CBED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GB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  <a:br>
              <a:rPr lang="en-GB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CS-202</a:t>
            </a:r>
            <a:endParaRPr lang="en-PK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A6085-9456-8389-FD83-03FD3767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4316361"/>
            <a:ext cx="9078628" cy="1715352"/>
          </a:xfrm>
        </p:spPr>
        <p:txBody>
          <a:bodyPr anchor="ctr">
            <a:noAutofit/>
          </a:bodyPr>
          <a:lstStyle/>
          <a:p>
            <a:r>
              <a:rPr lang="en-GB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Topic: Game Playing and Adversarial Search</a:t>
            </a:r>
          </a:p>
          <a:p>
            <a:r>
              <a:rPr lang="en-GB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Habiba Arshad</a:t>
            </a:r>
          </a:p>
          <a:p>
            <a:r>
              <a:rPr lang="en-GB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r>
              <a:rPr lang="en-GB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Wah</a:t>
            </a:r>
          </a:p>
        </p:txBody>
      </p:sp>
    </p:spTree>
    <p:extLst>
      <p:ext uri="{BB962C8B-B14F-4D97-AF65-F5344CB8AC3E}">
        <p14:creationId xmlns:p14="http://schemas.microsoft.com/office/powerpoint/2010/main" val="348727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0E7B3-C946-4D46-D3F2-E5D4B2808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097280"/>
            <a:ext cx="3796306" cy="4666207"/>
          </a:xfrm>
        </p:spPr>
        <p:txBody>
          <a:bodyPr anchor="ctr">
            <a:normAutofit/>
          </a:bodyPr>
          <a:lstStyle/>
          <a:p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Week-5 CLO</a:t>
            </a:r>
            <a:endParaRPr lang="en-PK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1412D1-217C-109E-B1DF-6DFBBBBDB9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158699"/>
              </p:ext>
            </p:extLst>
          </p:nvPr>
        </p:nvGraphicFramePr>
        <p:xfrm>
          <a:off x="5431536" y="587829"/>
          <a:ext cx="5918184" cy="5405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6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852DB-10CB-BAE7-752A-5098AF7A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CLO’s Mapping </a:t>
            </a:r>
            <a:endParaRPr lang="en-PK" sz="4000">
              <a:solidFill>
                <a:srgbClr val="FFFFFF"/>
              </a:solidFill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1DDC836-2DE9-75FA-5E18-375B488BD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408685"/>
              </p:ext>
            </p:extLst>
          </p:nvPr>
        </p:nvGraphicFramePr>
        <p:xfrm>
          <a:off x="4905052" y="321275"/>
          <a:ext cx="6666833" cy="6289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340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l="3705" r="1" b="1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8C7A802-68BF-4320-9A97-6325A41A81DD}" type="slidenum">
              <a:rPr kumimoji="0" lang="en-US" altLang="zh-TW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60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t="9910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8C7A802-68BF-4320-9A97-6325A41A81DD}" type="slidenum">
              <a:rPr kumimoji="0" lang="en-US" altLang="zh-TW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54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t="194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8C7A802-68BF-4320-9A97-6325A41A81DD}" type="slidenum">
              <a:rPr kumimoji="0" lang="en-US" altLang="zh-TW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61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859" r="-1" b="-1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8C7A802-68BF-4320-9A97-6325A41A81DD}" type="slidenum">
              <a:rPr kumimoji="0" lang="en-US" altLang="zh-TW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TW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996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814" y="643467"/>
            <a:ext cx="9208372" cy="557106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8C7A802-68BF-4320-9A97-6325A41A81DD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569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rcRect t="9685" b="1739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8C7A802-68BF-4320-9A97-6325A41A81DD}" type="slidenum">
              <a:rPr kumimoji="0" lang="en-US" altLang="zh-TW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TW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57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21045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8C7A802-68BF-4320-9A97-6325A41A81DD}" type="slidenum">
              <a:rPr kumimoji="0" lang="en-US" altLang="zh-TW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TW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05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Cubes connected with a red line">
            <a:extLst>
              <a:ext uri="{FF2B5EF4-FFF2-40B4-BE49-F238E27FC236}">
                <a16:creationId xmlns:a16="http://schemas.microsoft.com/office/drawing/2014/main" id="{AAA59C9A-9A20-5D1F-3A74-2781798C20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43" r="13912" b="-1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Alpha-Beta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0196" y="2285999"/>
            <a:ext cx="6781802" cy="4500881"/>
          </a:xfrm>
        </p:spPr>
        <p:txBody>
          <a:bodyPr anchor="ctr">
            <a:normAutofit fontScale="85000" lnSpcReduction="10000"/>
          </a:bodyPr>
          <a:lstStyle/>
          <a:p>
            <a:r>
              <a:rPr lang="en-US" sz="3000" dirty="0"/>
              <a:t>An optimization technique/ modified version of the minimax algorithm. </a:t>
            </a:r>
          </a:p>
          <a:p>
            <a:r>
              <a:rPr lang="en-US" sz="3000" dirty="0"/>
              <a:t>We cannot eliminate the exponential expansion of minimax, but we can cut it to half using </a:t>
            </a:r>
            <a:r>
              <a:rPr lang="en-US" sz="3000" b="1" dirty="0"/>
              <a:t>pruning</a:t>
            </a:r>
            <a:r>
              <a:rPr lang="en-US" sz="3000" dirty="0"/>
              <a:t> technique</a:t>
            </a:r>
          </a:p>
          <a:p>
            <a:pPr lvl="1"/>
            <a:r>
              <a:rPr lang="en-US" sz="3000" dirty="0"/>
              <a:t>A technique by which without checking each node of the game tree we can compute the correct minimax decision</a:t>
            </a:r>
          </a:p>
          <a:p>
            <a:pPr lvl="1"/>
            <a:r>
              <a:rPr lang="en-US" sz="3000" dirty="0"/>
              <a:t>Pruning makes the algorithm fast, as sometimes it not only prunes the leaves but also entire sub-tree that is not really affecting the final decision but making algorithm slow</a:t>
            </a:r>
          </a:p>
          <a:p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13752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Involves two threshold parameter Alpha and beta for future expansion, so name </a:t>
            </a:r>
            <a:r>
              <a:rPr lang="en-US" b="1" dirty="0"/>
              <a:t>alpha-beta pruning/</a:t>
            </a:r>
            <a:r>
              <a:rPr lang="en-US" b="1" dirty="0" err="1"/>
              <a:t>Algo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/>
              <a:t>The two-parameter can be defined as:</a:t>
            </a:r>
          </a:p>
          <a:p>
            <a:pPr lvl="1"/>
            <a:r>
              <a:rPr lang="en-US" b="1" dirty="0"/>
              <a:t>Alpha:</a:t>
            </a:r>
            <a:r>
              <a:rPr lang="en-US" dirty="0"/>
              <a:t> The best (highest-value) choice we have found so far at any point along the path of Maximizer. The initial value of alpha is </a:t>
            </a:r>
            <a:r>
              <a:rPr lang="en-US" b="1" dirty="0"/>
              <a:t>-∞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Beta:</a:t>
            </a:r>
            <a:r>
              <a:rPr lang="en-US" dirty="0"/>
              <a:t> The best (lowest-value) choice we have found so far at any point along the path of Minimizer. The initial value of beta is </a:t>
            </a:r>
            <a:r>
              <a:rPr lang="en-US" b="1" dirty="0"/>
              <a:t>+∞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Cut off search by exploring less no of nodes</a:t>
            </a:r>
          </a:p>
          <a:p>
            <a:pPr lvl="1"/>
            <a:r>
              <a:rPr lang="en-US" dirty="0"/>
              <a:t>If a best path is found, remaining paths are not explored instead we cut off them</a:t>
            </a:r>
          </a:p>
        </p:txBody>
      </p:sp>
    </p:spTree>
    <p:extLst>
      <p:ext uri="{BB962C8B-B14F-4D97-AF65-F5344CB8AC3E}">
        <p14:creationId xmlns:p14="http://schemas.microsoft.com/office/powerpoint/2010/main" val="2449095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2838"/>
            <a:ext cx="10515600" cy="4351338"/>
          </a:xfrm>
        </p:spPr>
        <p:txBody>
          <a:bodyPr/>
          <a:lstStyle/>
          <a:p>
            <a:r>
              <a:rPr lang="en-US" sz="2400" b="1" dirty="0"/>
              <a:t>Step 1</a:t>
            </a:r>
            <a:r>
              <a:rPr lang="en-US" sz="2400" dirty="0"/>
              <a:t>: At the first step the, Max player will start first move from node A (Max), will move downwards to B-&gt;D and terminal node and find </a:t>
            </a:r>
            <a:r>
              <a:rPr lang="el-GR" sz="2400" b="1" dirty="0"/>
              <a:t>α</a:t>
            </a:r>
            <a:r>
              <a:rPr lang="en-US" sz="2400" b="1" dirty="0"/>
              <a:t> and </a:t>
            </a:r>
            <a:r>
              <a:rPr lang="el-GR" sz="2400" dirty="0"/>
              <a:t>β</a:t>
            </a:r>
            <a:r>
              <a:rPr lang="en-US" sz="2400" dirty="0"/>
              <a:t> values using utility values.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841" y="2514600"/>
            <a:ext cx="7018530" cy="430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81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</a:t>
            </a:r>
            <a:r>
              <a:rPr lang="en-US" dirty="0"/>
              <a:t>: </a:t>
            </a:r>
            <a:r>
              <a:rPr lang="en-US" sz="2400" dirty="0"/>
              <a:t>at node D, left value of 2 will be assigned to </a:t>
            </a:r>
            <a:r>
              <a:rPr lang="el-GR" sz="2400" b="1" dirty="0"/>
              <a:t>α</a:t>
            </a:r>
            <a:r>
              <a:rPr lang="en-US" sz="2400" b="1" dirty="0"/>
              <a:t>. </a:t>
            </a:r>
            <a:r>
              <a:rPr lang="en-US" sz="2400" dirty="0"/>
              <a:t>Now it’s mean that value of D will be ≥ 2 as its max turn. Now check other node that has value of 3 and it is turn of Max, so </a:t>
            </a:r>
            <a:r>
              <a:rPr lang="el-GR" sz="2400" dirty="0"/>
              <a:t>α</a:t>
            </a:r>
            <a:r>
              <a:rPr lang="en-US" sz="2400" dirty="0"/>
              <a:t> value be updated with 3 and D node will have value of 3.  </a:t>
            </a:r>
          </a:p>
          <a:p>
            <a:r>
              <a:rPr lang="en-US" b="1" dirty="0"/>
              <a:t>Step 3: </a:t>
            </a:r>
            <a:r>
              <a:rPr lang="en-US" sz="2400" dirty="0"/>
              <a:t>now at node B, assign value of node D to </a:t>
            </a:r>
            <a:r>
              <a:rPr lang="el-GR" sz="2400" dirty="0"/>
              <a:t>β</a:t>
            </a:r>
            <a:r>
              <a:rPr lang="en-US" sz="2400" dirty="0"/>
              <a:t> at node B. as its min turn its mean node B will have value ≤ 3. </a:t>
            </a:r>
          </a:p>
          <a:p>
            <a:r>
              <a:rPr lang="en-US" sz="2400" dirty="0"/>
              <a:t>After that, next successor E will be traversed which will get value of </a:t>
            </a:r>
            <a:r>
              <a:rPr lang="el-GR" sz="2400" dirty="0"/>
              <a:t>α</a:t>
            </a:r>
            <a:r>
              <a:rPr lang="en-US" sz="2400" dirty="0"/>
              <a:t>=5 from left leaf of E. as it’s max turn, its mean that node E will have value of ≥ 5, where as node B already have a minimum value of 3. So, there is no need to traverse the other successor of E and hence pruned.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481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5022" y="1447801"/>
            <a:ext cx="8045757" cy="495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107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</a:t>
            </a:r>
            <a:r>
              <a:rPr lang="en-US" dirty="0"/>
              <a:t> </a:t>
            </a:r>
            <a:r>
              <a:rPr lang="en-US" sz="2400" dirty="0"/>
              <a:t>now at node A, </a:t>
            </a:r>
            <a:r>
              <a:rPr lang="el-GR" sz="2400" dirty="0"/>
              <a:t>α</a:t>
            </a:r>
            <a:r>
              <a:rPr lang="en-US" sz="2400" dirty="0"/>
              <a:t> will get value of 3. as its turn of max, so value of A will be ≥ 3.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Here any other path that will give value less than 3 will be pruned. 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459" y="2604796"/>
            <a:ext cx="7049294" cy="425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23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Step 5:</a:t>
            </a:r>
            <a:r>
              <a:rPr lang="en-US" sz="2400" dirty="0"/>
              <a:t>Now, node C from right side will be traversed, which will go downward to F and F will get value of 0 for </a:t>
            </a:r>
            <a:r>
              <a:rPr lang="el-GR" sz="2400" dirty="0"/>
              <a:t>α</a:t>
            </a:r>
            <a:r>
              <a:rPr lang="en-US" sz="2400" dirty="0"/>
              <a:t>. As it s turn of Max so value for F will be ≥ 0. right successor of F has value 1, so </a:t>
            </a:r>
            <a:r>
              <a:rPr lang="el-GR" sz="2400" dirty="0"/>
              <a:t>α</a:t>
            </a:r>
            <a:r>
              <a:rPr lang="en-US" sz="2400" dirty="0"/>
              <a:t> value be updated with 1 and F will get max value of 1. </a:t>
            </a:r>
          </a:p>
          <a:p>
            <a:r>
              <a:rPr lang="en-US" sz="2400" b="1" dirty="0"/>
              <a:t>Step 6:</a:t>
            </a:r>
            <a:r>
              <a:rPr lang="en-US" sz="2400" dirty="0"/>
              <a:t> F will return value of 1 to </a:t>
            </a:r>
            <a:r>
              <a:rPr lang="el-GR" sz="2400" dirty="0"/>
              <a:t>β</a:t>
            </a:r>
            <a:r>
              <a:rPr lang="en-US" sz="2400" dirty="0"/>
              <a:t> at node C. as its turn of Min and value of C will be ≤ 1, whereas node A already has max value of 3, so another value generated after traversing nodes further will return value ≤ 1. Therefore, no need to explore further and right complete branch of C will be pruned.</a:t>
            </a:r>
          </a:p>
          <a:p>
            <a:endParaRPr lang="en-US" sz="2400" dirty="0"/>
          </a:p>
          <a:p>
            <a:r>
              <a:rPr lang="en-US" sz="2400" dirty="0"/>
              <a:t>A will retain utility value of 3 i.e. optimal value for maximizer.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21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if max follows A-&gt;B-&gt;D-&gt;I, it will definitely win with the utility of 3. 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506" y="2209800"/>
            <a:ext cx="7315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41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Complexity is dependent on traversal ordering of nodes.  It can be of two types:</a:t>
            </a:r>
          </a:p>
          <a:p>
            <a:r>
              <a:rPr lang="en-US" sz="2400" b="1" dirty="0"/>
              <a:t>Worst ordering</a:t>
            </a:r>
          </a:p>
          <a:p>
            <a:pPr lvl="1"/>
            <a:r>
              <a:rPr lang="en-US" sz="2000" dirty="0"/>
              <a:t>In some cases, alpha-beta pruning algorithm does not prune any of the leaves of the tree, and works exactly as minimax algorithm. </a:t>
            </a:r>
          </a:p>
          <a:p>
            <a:pPr lvl="1"/>
            <a:r>
              <a:rPr lang="en-US" sz="2000" dirty="0"/>
              <a:t>In this case, the best move occurs on the right side of the tree and it also consumes more time because of alpha-beta factors. </a:t>
            </a:r>
          </a:p>
          <a:p>
            <a:pPr lvl="1"/>
            <a:r>
              <a:rPr lang="en-US" sz="2000" dirty="0"/>
              <a:t>The time complexity for such an order is O(</a:t>
            </a:r>
            <a:r>
              <a:rPr lang="en-US" sz="2000" dirty="0" err="1"/>
              <a:t>b</a:t>
            </a:r>
            <a:r>
              <a:rPr lang="en-US" sz="2000" baseline="30000" dirty="0" err="1"/>
              <a:t>d</a:t>
            </a:r>
            <a:r>
              <a:rPr lang="en-US" sz="2000" dirty="0"/>
              <a:t>).</a:t>
            </a:r>
          </a:p>
          <a:p>
            <a:r>
              <a:rPr lang="en-US" sz="2400" b="1" dirty="0"/>
              <a:t>Ideal ordering:</a:t>
            </a:r>
            <a:r>
              <a:rPr lang="en-US" sz="2400" dirty="0"/>
              <a:t> </a:t>
            </a:r>
          </a:p>
          <a:p>
            <a:pPr lvl="1"/>
            <a:r>
              <a:rPr lang="en-US" sz="2000" dirty="0"/>
              <a:t>The ideal ordering for alpha-beta pruning occurs when lots of pruning happens in the tree, and best moves occur at the left side of the tree. </a:t>
            </a:r>
          </a:p>
          <a:p>
            <a:pPr lvl="1"/>
            <a:r>
              <a:rPr lang="en-US" sz="2000" dirty="0"/>
              <a:t>We apply DFS hence, it first search left of the tree and go deep twice as minimax algorithm in the same amount of time.</a:t>
            </a:r>
          </a:p>
          <a:p>
            <a:pPr lvl="1"/>
            <a:r>
              <a:rPr lang="en-US" sz="2000" dirty="0"/>
              <a:t>Complexity in ideal ordering is O(</a:t>
            </a:r>
            <a:r>
              <a:rPr lang="en-US" sz="2000" dirty="0" err="1"/>
              <a:t>b</a:t>
            </a:r>
            <a:r>
              <a:rPr lang="en-US" sz="2000" baseline="30000" dirty="0" err="1"/>
              <a:t>d</a:t>
            </a:r>
            <a:r>
              <a:rPr lang="en-US" sz="2000" baseline="30000" dirty="0"/>
              <a:t>/2</a:t>
            </a:r>
            <a:r>
              <a:rPr lang="en-US" sz="2000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31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C7FDE-4472-1CAF-E960-313F2A3B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Alpa – Beta Pruning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46715D-DB60-E80C-2862-6BDB37A03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6318" y="904568"/>
            <a:ext cx="7630481" cy="51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40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Find the best path and optimal value for Max using alpha-beta pruning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812" y="1742952"/>
            <a:ext cx="8764588" cy="511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05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944</Words>
  <Application>Microsoft Office PowerPoint</Application>
  <PresentationFormat>Widescreen</PresentationFormat>
  <Paragraphs>80</Paragraphs>
  <Slides>21</Slides>
  <Notes>6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Arial Narrow</vt:lpstr>
      <vt:lpstr>Calibri</vt:lpstr>
      <vt:lpstr>Courier New</vt:lpstr>
      <vt:lpstr>Office Theme</vt:lpstr>
      <vt:lpstr>1_Office Theme</vt:lpstr>
      <vt:lpstr>Artificial Intelligence CS-202</vt:lpstr>
      <vt:lpstr>Week-5 CLO</vt:lpstr>
      <vt:lpstr>CLO’s Mapping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Alpha-Beta Pruning</vt:lpstr>
      <vt:lpstr>Contd..</vt:lpstr>
      <vt:lpstr>Example</vt:lpstr>
      <vt:lpstr>Contd..</vt:lpstr>
      <vt:lpstr>Contd..</vt:lpstr>
      <vt:lpstr>Contd..</vt:lpstr>
      <vt:lpstr>Contd..</vt:lpstr>
      <vt:lpstr>Contd..</vt:lpstr>
      <vt:lpstr>Complexity </vt:lpstr>
      <vt:lpstr>Task Alpa – Beta Pruning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Mansoor Iqbal</dc:creator>
  <cp:lastModifiedBy>Habiba Arshad</cp:lastModifiedBy>
  <cp:revision>117</cp:revision>
  <dcterms:created xsi:type="dcterms:W3CDTF">2024-10-08T06:28:51Z</dcterms:created>
  <dcterms:modified xsi:type="dcterms:W3CDTF">2025-12-04T05:57:50Z</dcterms:modified>
</cp:coreProperties>
</file>