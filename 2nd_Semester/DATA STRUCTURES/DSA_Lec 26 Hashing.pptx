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24"/>
  </p:notesMasterIdLst>
  <p:handoutMasterIdLst>
    <p:handoutMasterId r:id="rId25"/>
  </p:handoutMasterIdLst>
  <p:sldIdLst>
    <p:sldId id="415" r:id="rId2"/>
    <p:sldId id="432" r:id="rId3"/>
    <p:sldId id="402" r:id="rId4"/>
    <p:sldId id="422" r:id="rId5"/>
    <p:sldId id="423" r:id="rId6"/>
    <p:sldId id="424" r:id="rId7"/>
    <p:sldId id="425" r:id="rId8"/>
    <p:sldId id="426" r:id="rId9"/>
    <p:sldId id="427" r:id="rId10"/>
    <p:sldId id="406" r:id="rId11"/>
    <p:sldId id="407" r:id="rId12"/>
    <p:sldId id="416" r:id="rId13"/>
    <p:sldId id="408" r:id="rId14"/>
    <p:sldId id="433" r:id="rId15"/>
    <p:sldId id="409" r:id="rId16"/>
    <p:sldId id="430" r:id="rId17"/>
    <p:sldId id="403" r:id="rId18"/>
    <p:sldId id="428" r:id="rId19"/>
    <p:sldId id="431" r:id="rId20"/>
    <p:sldId id="412" r:id="rId21"/>
    <p:sldId id="413" r:id="rId22"/>
    <p:sldId id="42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22AA22"/>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5" autoAdjust="0"/>
    <p:restoredTop sz="90065" autoAdjust="0"/>
  </p:normalViewPr>
  <p:slideViewPr>
    <p:cSldViewPr>
      <p:cViewPr varScale="1">
        <p:scale>
          <a:sx n="77" d="100"/>
          <a:sy n="77" d="100"/>
        </p:scale>
        <p:origin x="522" y="78"/>
      </p:cViewPr>
      <p:guideLst>
        <p:guide orient="horz" pos="2160"/>
        <p:guide pos="384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213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slide" Target="slides/slide10.xml"/><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0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ClrTx/>
              <a:buSzTx/>
              <a:buFontTx/>
              <a:buNone/>
              <a:defRPr sz="1200"/>
            </a:lvl1pPr>
          </a:lstStyle>
          <a:p>
            <a:endParaRPr lang="en-US"/>
          </a:p>
        </p:txBody>
      </p:sp>
      <p:sp>
        <p:nvSpPr>
          <p:cNvPr id="17408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SzTx/>
              <a:buFontTx/>
              <a:buNone/>
              <a:defRPr sz="1200"/>
            </a:lvl1pPr>
          </a:lstStyle>
          <a:p>
            <a:endParaRPr lang="en-US"/>
          </a:p>
        </p:txBody>
      </p:sp>
      <p:sp>
        <p:nvSpPr>
          <p:cNvPr id="17408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a:lvl1pPr>
          </a:lstStyle>
          <a:p>
            <a:endParaRPr lang="en-US"/>
          </a:p>
        </p:txBody>
      </p:sp>
      <p:sp>
        <p:nvSpPr>
          <p:cNvPr id="17408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a:lvl1pPr>
          </a:lstStyle>
          <a:p>
            <a:fld id="{83B2FA1C-BB3F-4970-A298-D3FCC02047FE}" type="slidenum">
              <a:rPr lang="en-US"/>
              <a:pPr/>
              <a:t>‹#›</a:t>
            </a:fld>
            <a:endParaRPr lang="en-US"/>
          </a:p>
        </p:txBody>
      </p:sp>
    </p:spTree>
    <p:extLst>
      <p:ext uri="{BB962C8B-B14F-4D97-AF65-F5344CB8AC3E}">
        <p14:creationId xmlns:p14="http://schemas.microsoft.com/office/powerpoint/2010/main" val="22309751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944085-8AA0-4873-ADC9-BD167A1CF284}" type="datetimeFigureOut">
              <a:rPr lang="en-US" smtClean="0"/>
              <a:pPr/>
              <a:t>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38053C-CAA8-4935-85BA-07BEFF0D64B1}" type="slidenum">
              <a:rPr lang="en-US" smtClean="0"/>
              <a:pPr/>
              <a:t>‹#›</a:t>
            </a:fld>
            <a:endParaRPr lang="en-US"/>
          </a:p>
        </p:txBody>
      </p:sp>
    </p:spTree>
    <p:extLst>
      <p:ext uri="{BB962C8B-B14F-4D97-AF65-F5344CB8AC3E}">
        <p14:creationId xmlns:p14="http://schemas.microsoft.com/office/powerpoint/2010/main" val="655664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n = number of keys (data items)</a:t>
                </a:r>
              </a:p>
              <a:p>
                <a14:m>
                  <m:oMath xmlns:m="http://schemas.openxmlformats.org/officeDocument/2006/math">
                    <m:r>
                      <a:rPr lang="en-US" sz="1200" i="1" kern="1200">
                        <a:solidFill>
                          <a:schemeClr val="tx1"/>
                        </a:solidFill>
                        <a:latin typeface="+mn-lt"/>
                        <a:ea typeface="+mn-ea"/>
                        <a:cs typeface="+mn-cs"/>
                      </a:rPr>
                      <m:t>𝑚</m:t>
                    </m:r>
                  </m:oMath>
                </a14:m>
                <a:r>
                  <a:rPr lang="en-US" dirty="0"/>
                  <a:t>= size of hash table (number of slots)</a:t>
                </a:r>
              </a:p>
              <a:p>
                <a:r>
                  <a:rPr lang="en-US" b="1" dirty="0"/>
                  <a:t>k = key</a:t>
                </a:r>
                <a:endParaRPr lang="en-US" dirty="0"/>
              </a:p>
              <a:p>
                <a:r>
                  <a:rPr lang="en-US" dirty="0"/>
                  <a:t>It is the </a:t>
                </a:r>
                <a:r>
                  <a:rPr lang="en-US" b="1" dirty="0"/>
                  <a:t>data value</a:t>
                </a:r>
                <a:r>
                  <a:rPr lang="en-US" dirty="0"/>
                  <a:t> you want to store or search in the hash table.</a:t>
                </a:r>
              </a:p>
              <a:p>
                <a:r>
                  <a:rPr lang="en-US" dirty="0"/>
                  <a:t>Examples of k:</a:t>
                </a:r>
              </a:p>
              <a:p>
                <a:r>
                  <a:rPr lang="en-US" dirty="0"/>
                  <a:t>Roll number → 25</a:t>
                </a:r>
              </a:p>
              <a:p>
                <a:r>
                  <a:rPr lang="en-US" dirty="0"/>
                  <a:t>ID number → 1023</a:t>
                </a:r>
              </a:p>
              <a:p>
                <a:r>
                  <a:rPr lang="en-US" dirty="0"/>
                  <a:t>Any integer key</a:t>
                </a:r>
              </a:p>
              <a:p>
                <a:r>
                  <a:rPr lang="en-US" dirty="0"/>
                  <a:t>So in your example:</a:t>
                </a:r>
              </a:p>
              <a:p>
                <a:endParaRPr lang="en-US" dirty="0"/>
              </a:p>
              <a:p>
                <a:endParaRPr lang="en-US" dirty="0"/>
              </a:p>
            </p:txBody>
          </p:sp>
        </mc:Choice>
        <mc:Fallback>
          <p:sp>
            <p:nvSpPr>
              <p:cNvPr id="3" name="Notes Placeholder 2"/>
              <p:cNvSpPr>
                <a:spLocks noGrp="1"/>
              </p:cNvSpPr>
              <p:nvPr>
                <p:ph type="body" idx="1"/>
              </p:nvPr>
            </p:nvSpPr>
            <p:spPr/>
            <p:txBody>
              <a:bodyPr/>
              <a:lstStyle/>
              <a:p>
                <a:r>
                  <a:rPr lang="en-US" dirty="0"/>
                  <a:t>n = number of keys (data items)</a:t>
                </a:r>
              </a:p>
              <a:p>
                <a:r>
                  <a:rPr lang="en-US" sz="1200" i="0" kern="1200">
                    <a:solidFill>
                      <a:schemeClr val="tx1"/>
                    </a:solidFill>
                    <a:latin typeface="+mn-lt"/>
                    <a:ea typeface="+mn-ea"/>
                    <a:cs typeface="+mn-cs"/>
                  </a:rPr>
                  <a:t>𝑚</a:t>
                </a:r>
                <a:r>
                  <a:rPr lang="en-US" dirty="0"/>
                  <a:t>= size of hash table (number of slots)</a:t>
                </a:r>
              </a:p>
              <a:p>
                <a:r>
                  <a:rPr lang="en-US" b="1" dirty="0"/>
                  <a:t>k = key</a:t>
                </a:r>
                <a:endParaRPr lang="en-US" dirty="0"/>
              </a:p>
              <a:p>
                <a:r>
                  <a:rPr lang="en-US" dirty="0"/>
                  <a:t>It is the </a:t>
                </a:r>
                <a:r>
                  <a:rPr lang="en-US" b="1" dirty="0"/>
                  <a:t>data value</a:t>
                </a:r>
                <a:r>
                  <a:rPr lang="en-US" dirty="0"/>
                  <a:t> you want to store or search in the hash table.</a:t>
                </a:r>
              </a:p>
              <a:p>
                <a:r>
                  <a:rPr lang="en-US" dirty="0"/>
                  <a:t>Examples of k:</a:t>
                </a:r>
              </a:p>
              <a:p>
                <a:r>
                  <a:rPr lang="en-US" dirty="0"/>
                  <a:t>Roll number → 25</a:t>
                </a:r>
              </a:p>
              <a:p>
                <a:r>
                  <a:rPr lang="en-US" dirty="0"/>
                  <a:t>ID number → 1023</a:t>
                </a:r>
              </a:p>
              <a:p>
                <a:r>
                  <a:rPr lang="en-US" dirty="0"/>
                  <a:t>Any integer key</a:t>
                </a:r>
              </a:p>
              <a:p>
                <a:r>
                  <a:rPr lang="en-US" dirty="0"/>
                  <a:t>So in your example:</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8538053C-CAA8-4935-85BA-07BEFF0D64B1}" type="slidenum">
              <a:rPr lang="en-US" smtClean="0"/>
              <a:pPr/>
              <a:t>11</a:t>
            </a:fld>
            <a:endParaRPr lang="en-US"/>
          </a:p>
        </p:txBody>
      </p:sp>
    </p:spTree>
    <p:extLst>
      <p:ext uri="{BB962C8B-B14F-4D97-AF65-F5344CB8AC3E}">
        <p14:creationId xmlns:p14="http://schemas.microsoft.com/office/powerpoint/2010/main" val="3687904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to Hash: 12, 44, 132, 74</a:t>
            </a:r>
          </a:p>
          <a:p>
            <a:r>
              <a:rPr lang="en-US" dirty="0"/>
              <a:t>If table size = 100 → extract 2 digits</a:t>
            </a:r>
            <a:br>
              <a:rPr lang="en-US" dirty="0"/>
            </a:br>
            <a:r>
              <a:rPr lang="en-US" dirty="0"/>
              <a:t>If table size = 1000 → extract 3 digits</a:t>
            </a:r>
          </a:p>
        </p:txBody>
      </p:sp>
      <p:sp>
        <p:nvSpPr>
          <p:cNvPr id="4" name="Slide Number Placeholder 3"/>
          <p:cNvSpPr>
            <a:spLocks noGrp="1"/>
          </p:cNvSpPr>
          <p:nvPr>
            <p:ph type="sldNum" sz="quarter" idx="5"/>
          </p:nvPr>
        </p:nvSpPr>
        <p:spPr/>
        <p:txBody>
          <a:bodyPr/>
          <a:lstStyle/>
          <a:p>
            <a:fld id="{8538053C-CAA8-4935-85BA-07BEFF0D64B1}" type="slidenum">
              <a:rPr lang="en-US" smtClean="0"/>
              <a:pPr/>
              <a:t>13</a:t>
            </a:fld>
            <a:endParaRPr lang="en-US"/>
          </a:p>
        </p:txBody>
      </p:sp>
    </p:spTree>
    <p:extLst>
      <p:ext uri="{BB962C8B-B14F-4D97-AF65-F5344CB8AC3E}">
        <p14:creationId xmlns:p14="http://schemas.microsoft.com/office/powerpoint/2010/main" val="4004765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https://www.gatevidyalay.com/collision-resolution-techniques-separate-chaining/</a:t>
            </a:r>
          </a:p>
        </p:txBody>
      </p:sp>
      <p:sp>
        <p:nvSpPr>
          <p:cNvPr id="4" name="Slide Number Placeholder 3"/>
          <p:cNvSpPr>
            <a:spLocks noGrp="1"/>
          </p:cNvSpPr>
          <p:nvPr>
            <p:ph type="sldNum" sz="quarter" idx="5"/>
          </p:nvPr>
        </p:nvSpPr>
        <p:spPr/>
        <p:txBody>
          <a:bodyPr/>
          <a:lstStyle/>
          <a:p>
            <a:fld id="{8538053C-CAA8-4935-85BA-07BEFF0D64B1}" type="slidenum">
              <a:rPr lang="en-US" smtClean="0"/>
              <a:pPr/>
              <a:t>22</a:t>
            </a:fld>
            <a:endParaRPr lang="en-US"/>
          </a:p>
        </p:txBody>
      </p:sp>
    </p:spTree>
    <p:extLst>
      <p:ext uri="{BB962C8B-B14F-4D97-AF65-F5344CB8AC3E}">
        <p14:creationId xmlns:p14="http://schemas.microsoft.com/office/powerpoint/2010/main" val="3380912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A1482B-28E6-423B-9E45-5BB01BD8E6BD}"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04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33A8DD-A503-4672-B309-4EC95AC195F3}" type="slidenum">
              <a:rPr lang="en-US" smtClean="0"/>
              <a:pPr/>
              <a:t>‹#›</a:t>
            </a:fld>
            <a:endParaRPr lang="en-US"/>
          </a:p>
        </p:txBody>
      </p:sp>
    </p:spTree>
    <p:extLst>
      <p:ext uri="{BB962C8B-B14F-4D97-AF65-F5344CB8AC3E}">
        <p14:creationId xmlns:p14="http://schemas.microsoft.com/office/powerpoint/2010/main" val="3456746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6CB627-B9AE-42BC-9F2E-91E7D5DFAD5E}"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040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18C901-E647-4143-B13D-EA4208ADE751}" type="slidenum">
              <a:rPr lang="en-US" smtClean="0"/>
              <a:pPr/>
              <a:t>‹#›</a:t>
            </a:fld>
            <a:endParaRPr lang="en-US"/>
          </a:p>
        </p:txBody>
      </p:sp>
    </p:spTree>
    <p:extLst>
      <p:ext uri="{BB962C8B-B14F-4D97-AF65-F5344CB8AC3E}">
        <p14:creationId xmlns:p14="http://schemas.microsoft.com/office/powerpoint/2010/main" val="1462780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1F8342-9AD0-4277-A762-E9E9A4ABC876}" type="slidenum">
              <a:rPr lang="en-US" smtClean="0"/>
              <a:pPr/>
              <a:t>‹#›</a:t>
            </a:fld>
            <a:endParaRPr lang="en-US"/>
          </a:p>
        </p:txBody>
      </p:sp>
    </p:spTree>
    <p:extLst>
      <p:ext uri="{BB962C8B-B14F-4D97-AF65-F5344CB8AC3E}">
        <p14:creationId xmlns:p14="http://schemas.microsoft.com/office/powerpoint/2010/main" val="2179982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9FFA39-E80D-4CB0-86EC-F7F2B614B0F1}" type="slidenum">
              <a:rPr lang="en-US" smtClean="0"/>
              <a:pPr/>
              <a:t>‹#›</a:t>
            </a:fld>
            <a:endParaRPr lang="en-US"/>
          </a:p>
        </p:txBody>
      </p:sp>
    </p:spTree>
    <p:extLst>
      <p:ext uri="{BB962C8B-B14F-4D97-AF65-F5344CB8AC3E}">
        <p14:creationId xmlns:p14="http://schemas.microsoft.com/office/powerpoint/2010/main" val="2861674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2B8FAF7-94E2-4BD1-8A16-4CFCC8C1195F}" type="slidenum">
              <a:rPr lang="en-US" smtClean="0"/>
              <a:pPr/>
              <a:t>‹#›</a:t>
            </a:fld>
            <a:endParaRPr lang="en-US"/>
          </a:p>
        </p:txBody>
      </p:sp>
    </p:spTree>
    <p:extLst>
      <p:ext uri="{BB962C8B-B14F-4D97-AF65-F5344CB8AC3E}">
        <p14:creationId xmlns:p14="http://schemas.microsoft.com/office/powerpoint/2010/main" val="287576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96A474C-C95D-4A95-99AA-D768EF1EB9E5}" type="slidenum">
              <a:rPr lang="en-US" smtClean="0"/>
              <a:pPr/>
              <a:t>‹#›</a:t>
            </a:fld>
            <a:endParaRPr lang="en-US"/>
          </a:p>
        </p:txBody>
      </p:sp>
    </p:spTree>
    <p:extLst>
      <p:ext uri="{BB962C8B-B14F-4D97-AF65-F5344CB8AC3E}">
        <p14:creationId xmlns:p14="http://schemas.microsoft.com/office/powerpoint/2010/main" val="1412895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C12D71-FEDE-4F63-B7A2-B2E5725F5C43}" type="slidenum">
              <a:rPr lang="en-US" smtClean="0"/>
              <a:pPr/>
              <a:t>‹#›</a:t>
            </a:fld>
            <a:endParaRPr lang="en-US"/>
          </a:p>
        </p:txBody>
      </p:sp>
    </p:spTree>
    <p:extLst>
      <p:ext uri="{BB962C8B-B14F-4D97-AF65-F5344CB8AC3E}">
        <p14:creationId xmlns:p14="http://schemas.microsoft.com/office/powerpoint/2010/main" val="8458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315529-846C-418D-BBAA-96EB779D2F18}" type="slidenum">
              <a:rPr lang="en-US" smtClean="0"/>
              <a:pPr/>
              <a:t>‹#›</a:t>
            </a:fld>
            <a:endParaRPr lang="en-US"/>
          </a:p>
        </p:txBody>
      </p:sp>
    </p:spTree>
    <p:extLst>
      <p:ext uri="{BB962C8B-B14F-4D97-AF65-F5344CB8AC3E}">
        <p14:creationId xmlns:p14="http://schemas.microsoft.com/office/powerpoint/2010/main" val="462847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D70F6F-64A5-45D2-92A8-DEE5E373BD4D}" type="slidenum">
              <a:rPr lang="en-US" smtClean="0"/>
              <a:pPr/>
              <a:t>‹#›</a:t>
            </a:fld>
            <a:endParaRPr lang="en-US"/>
          </a:p>
        </p:txBody>
      </p:sp>
    </p:spTree>
    <p:extLst>
      <p:ext uri="{BB962C8B-B14F-4D97-AF65-F5344CB8AC3E}">
        <p14:creationId xmlns:p14="http://schemas.microsoft.com/office/powerpoint/2010/main" val="3060303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03092BD-99D2-4CA6-A4D5-DE9949E0E680}"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71172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1295400"/>
            <a:ext cx="10058400" cy="2509520"/>
          </a:xfrm>
        </p:spPr>
        <p:txBody>
          <a:bodyPr>
            <a:normAutofit/>
          </a:bodyPr>
          <a:lstStyle/>
          <a:p>
            <a:pPr algn="ctr"/>
            <a:r>
              <a:rPr lang="en-US" dirty="0"/>
              <a:t>Data Structures</a:t>
            </a:r>
          </a:p>
        </p:txBody>
      </p:sp>
      <p:sp>
        <p:nvSpPr>
          <p:cNvPr id="3" name="Subtitle 2"/>
          <p:cNvSpPr>
            <a:spLocks noGrp="1"/>
          </p:cNvSpPr>
          <p:nvPr>
            <p:ph type="subTitle" idx="1"/>
          </p:nvPr>
        </p:nvSpPr>
        <p:spPr>
          <a:xfrm>
            <a:off x="1676400" y="4419600"/>
            <a:ext cx="7854696" cy="1600200"/>
          </a:xfrm>
        </p:spPr>
        <p:txBody>
          <a:bodyPr>
            <a:normAutofit fontScale="85000" lnSpcReduction="20000"/>
          </a:bodyPr>
          <a:lstStyle/>
          <a:p>
            <a:pPr algn="l"/>
            <a:endParaRPr lang="en-US" dirty="0"/>
          </a:p>
          <a:p>
            <a:pPr algn="l"/>
            <a:r>
              <a:rPr lang="en-US" dirty="0"/>
              <a:t>Course Code: CS-201</a:t>
            </a:r>
          </a:p>
          <a:p>
            <a:pPr algn="l"/>
            <a:r>
              <a:rPr lang="en-US" dirty="0"/>
              <a:t>Topic: Hashing</a:t>
            </a:r>
          </a:p>
          <a:p>
            <a:r>
              <a:rPr lang="en-US" dirty="0"/>
              <a:t>Instructor: </a:t>
            </a:r>
            <a:r>
              <a:rPr lang="en-US" dirty="0" err="1"/>
              <a:t>habiba</a:t>
            </a:r>
            <a:r>
              <a:rPr lang="en-US" dirty="0"/>
              <a:t> </a:t>
            </a:r>
            <a:r>
              <a:rPr lang="en-US" dirty="0" err="1"/>
              <a:t>arshad</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D0C4D-3546-0C4C-4124-3CA7ED8F7F99}"/>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D653C920-0658-E9AD-0452-5AC8001CB76A}"/>
              </a:ext>
            </a:extLst>
          </p:cNvPr>
          <p:cNvSpPr>
            <a:spLocks noGrp="1"/>
          </p:cNvSpPr>
          <p:nvPr>
            <p:ph idx="1"/>
          </p:nvPr>
        </p:nvSpPr>
        <p:spPr/>
        <p:txBody>
          <a:bodyPr/>
          <a:lstStyle/>
          <a:p>
            <a:r>
              <a:rPr lang="en-US" sz="2800" dirty="0"/>
              <a:t>CLO1: Explain the fundamentals of data structure as well as algorithms that operate on them GA2, BT C2</a:t>
            </a:r>
          </a:p>
          <a:p>
            <a:r>
              <a:rPr lang="en-US" sz="2800" dirty="0"/>
              <a:t>CLO2: Apply and design various data structures methods for specified applications. GA4, C3</a:t>
            </a:r>
          </a:p>
          <a:p>
            <a:endParaRPr lang="en-US" dirty="0"/>
          </a:p>
        </p:txBody>
      </p:sp>
    </p:spTree>
    <p:extLst>
      <p:ext uri="{BB962C8B-B14F-4D97-AF65-F5344CB8AC3E}">
        <p14:creationId xmlns:p14="http://schemas.microsoft.com/office/powerpoint/2010/main" val="2241681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a:xfrm>
            <a:off x="1143000" y="762000"/>
            <a:ext cx="8001000" cy="571500"/>
          </a:xfrm>
        </p:spPr>
        <p:txBody>
          <a:bodyPr>
            <a:noAutofit/>
          </a:bodyPr>
          <a:lstStyle/>
          <a:p>
            <a:r>
              <a:rPr lang="en-US" dirty="0"/>
              <a:t>Hashing</a:t>
            </a:r>
          </a:p>
        </p:txBody>
      </p:sp>
      <p:sp>
        <p:nvSpPr>
          <p:cNvPr id="243715" name="Rectangle 3" descr="Rectangle: Click to edit Master text styles&#10;Second level&#10;Third level&#10;Fourth level&#10;Fifth level"/>
          <p:cNvSpPr>
            <a:spLocks noGrp="1" noChangeArrowheads="1"/>
          </p:cNvSpPr>
          <p:nvPr>
            <p:ph idx="1"/>
          </p:nvPr>
        </p:nvSpPr>
        <p:spPr>
          <a:xfrm>
            <a:off x="1219200" y="2057400"/>
            <a:ext cx="9982200" cy="3962400"/>
          </a:xfrm>
          <a:noFill/>
          <a:ln/>
        </p:spPr>
        <p:txBody>
          <a:bodyPr>
            <a:normAutofit/>
          </a:bodyPr>
          <a:lstStyle/>
          <a:p>
            <a:pPr>
              <a:lnSpc>
                <a:spcPct val="90000"/>
              </a:lnSpc>
            </a:pPr>
            <a:r>
              <a:rPr lang="en-US" sz="2800" dirty="0"/>
              <a:t>Hashing is designed to solve the problem to efficiently find or store an item in a collection.</a:t>
            </a:r>
          </a:p>
          <a:p>
            <a:pPr>
              <a:lnSpc>
                <a:spcPct val="90000"/>
              </a:lnSpc>
            </a:pPr>
            <a:r>
              <a:rPr lang="en-US" sz="2800" dirty="0"/>
              <a:t>This process of mapping a range of keys (input data) onto an address space is known as </a:t>
            </a:r>
            <a:r>
              <a:rPr lang="en-US" sz="2800" b="1" dirty="0">
                <a:solidFill>
                  <a:srgbClr val="CC0000"/>
                </a:solidFill>
              </a:rPr>
              <a:t>hashing</a:t>
            </a:r>
            <a:r>
              <a:rPr lang="en-US" sz="2800" dirty="0"/>
              <a:t>.</a:t>
            </a:r>
          </a:p>
          <a:p>
            <a:pPr>
              <a:lnSpc>
                <a:spcPct val="90000"/>
              </a:lnSpc>
            </a:pPr>
            <a:r>
              <a:rPr lang="en-US" sz="2800" dirty="0"/>
              <a:t>The function used to find the </a:t>
            </a:r>
            <a:r>
              <a:rPr lang="en-US" sz="2800" b="1" dirty="0">
                <a:solidFill>
                  <a:srgbClr val="CC0000"/>
                </a:solidFill>
              </a:rPr>
              <a:t>hash value</a:t>
            </a:r>
            <a:r>
              <a:rPr lang="en-US" sz="2800" dirty="0"/>
              <a:t> for a key is called the </a:t>
            </a:r>
            <a:r>
              <a:rPr lang="en-US" sz="2800" b="1" dirty="0">
                <a:solidFill>
                  <a:srgbClr val="CC0000"/>
                </a:solidFill>
              </a:rPr>
              <a:t>hashing function</a:t>
            </a:r>
            <a:r>
              <a:rPr lang="en-US" sz="2800" dirty="0"/>
              <a:t>.</a:t>
            </a:r>
          </a:p>
          <a:p>
            <a:pPr>
              <a:lnSpc>
                <a:spcPct val="90000"/>
              </a:lnSpc>
            </a:pPr>
            <a:r>
              <a:rPr lang="en-US" sz="2800" dirty="0"/>
              <a:t>Using this insertion and search operations are very fast irrespective of the size of the data.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69223-BD92-B55C-7636-520DBCDFF5BC}"/>
              </a:ext>
            </a:extLst>
          </p:cNvPr>
          <p:cNvSpPr>
            <a:spLocks noGrp="1"/>
          </p:cNvSpPr>
          <p:nvPr>
            <p:ph type="title"/>
          </p:nvPr>
        </p:nvSpPr>
        <p:spPr/>
        <p:txBody>
          <a:bodyPr/>
          <a:lstStyle/>
          <a:p>
            <a:r>
              <a:rPr lang="en-US" dirty="0"/>
              <a:t>Hashing</a:t>
            </a:r>
          </a:p>
        </p:txBody>
      </p:sp>
      <p:sp>
        <p:nvSpPr>
          <p:cNvPr id="3" name="Content Placeholder 2">
            <a:extLst>
              <a:ext uri="{FF2B5EF4-FFF2-40B4-BE49-F238E27FC236}">
                <a16:creationId xmlns:a16="http://schemas.microsoft.com/office/drawing/2014/main" id="{BEB5C4DC-01E0-56E8-A89F-7EFB7ED6F95B}"/>
              </a:ext>
            </a:extLst>
          </p:cNvPr>
          <p:cNvSpPr>
            <a:spLocks noGrp="1"/>
          </p:cNvSpPr>
          <p:nvPr>
            <p:ph idx="1"/>
          </p:nvPr>
        </p:nvSpPr>
        <p:spPr/>
        <p:txBody>
          <a:bodyPr>
            <a:normAutofit/>
          </a:bodyPr>
          <a:lstStyle/>
          <a:p>
            <a:pPr algn="just"/>
            <a:r>
              <a:rPr lang="en-US" sz="3600" dirty="0"/>
              <a:t>It uses hash tables to store the data in an array format. Each value in the array has been assigned a unique index number. Hash tables use a technique to generate these unique index numbers for each value stored in an array format. This technique is called the hash technique.</a:t>
            </a:r>
          </a:p>
        </p:txBody>
      </p:sp>
    </p:spTree>
    <p:extLst>
      <p:ext uri="{BB962C8B-B14F-4D97-AF65-F5344CB8AC3E}">
        <p14:creationId xmlns:p14="http://schemas.microsoft.com/office/powerpoint/2010/main" val="515837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46796-0747-E59E-C675-FBC560B5C14B}"/>
              </a:ext>
            </a:extLst>
          </p:cNvPr>
          <p:cNvSpPr>
            <a:spLocks noGrp="1"/>
          </p:cNvSpPr>
          <p:nvPr>
            <p:ph type="title"/>
          </p:nvPr>
        </p:nvSpPr>
        <p:spPr/>
        <p:txBody>
          <a:bodyPr/>
          <a:lstStyle/>
          <a:p>
            <a:r>
              <a:rPr lang="en-US" dirty="0"/>
              <a:t>Hashing</a:t>
            </a:r>
          </a:p>
        </p:txBody>
      </p:sp>
      <p:sp>
        <p:nvSpPr>
          <p:cNvPr id="3" name="Content Placeholder 2">
            <a:extLst>
              <a:ext uri="{FF2B5EF4-FFF2-40B4-BE49-F238E27FC236}">
                <a16:creationId xmlns:a16="http://schemas.microsoft.com/office/drawing/2014/main" id="{74924B9B-3440-6425-49C1-47E9A8F36C3C}"/>
              </a:ext>
            </a:extLst>
          </p:cNvPr>
          <p:cNvSpPr>
            <a:spLocks noGrp="1"/>
          </p:cNvSpPr>
          <p:nvPr>
            <p:ph idx="1"/>
          </p:nvPr>
        </p:nvSpPr>
        <p:spPr/>
        <p:txBody>
          <a:bodyPr>
            <a:normAutofit/>
          </a:bodyPr>
          <a:lstStyle/>
          <a:p>
            <a:pPr algn="just"/>
            <a:r>
              <a:rPr lang="en-US" sz="3200" dirty="0"/>
              <a:t>You only need to find the index of the desired item, rather than finding the data. With indexing, you can quickly scan the entire list and retrieve the item you wish. </a:t>
            </a:r>
          </a:p>
          <a:p>
            <a:pPr algn="just"/>
            <a:r>
              <a:rPr lang="en-US" sz="3200" dirty="0"/>
              <a:t>Indexing also helps in inserting operations when you need to insert data at a specific location. No matter how big or small the table is, you can update and retrieve data within seconds.</a:t>
            </a:r>
          </a:p>
          <a:p>
            <a:endParaRPr lang="en-US" sz="2800" dirty="0"/>
          </a:p>
        </p:txBody>
      </p:sp>
    </p:spTree>
    <p:extLst>
      <p:ext uri="{BB962C8B-B14F-4D97-AF65-F5344CB8AC3E}">
        <p14:creationId xmlns:p14="http://schemas.microsoft.com/office/powerpoint/2010/main" val="1927580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46796-0747-E59E-C675-FBC560B5C14B}"/>
              </a:ext>
            </a:extLst>
          </p:cNvPr>
          <p:cNvSpPr>
            <a:spLocks noGrp="1"/>
          </p:cNvSpPr>
          <p:nvPr>
            <p:ph type="title"/>
          </p:nvPr>
        </p:nvSpPr>
        <p:spPr/>
        <p:txBody>
          <a:bodyPr/>
          <a:lstStyle/>
          <a:p>
            <a:r>
              <a:rPr lang="en-US" dirty="0"/>
              <a:t>Hash Table</a:t>
            </a:r>
          </a:p>
        </p:txBody>
      </p:sp>
      <p:sp>
        <p:nvSpPr>
          <p:cNvPr id="3" name="Content Placeholder 2">
            <a:extLst>
              <a:ext uri="{FF2B5EF4-FFF2-40B4-BE49-F238E27FC236}">
                <a16:creationId xmlns:a16="http://schemas.microsoft.com/office/drawing/2014/main" id="{74924B9B-3440-6425-49C1-47E9A8F36C3C}"/>
              </a:ext>
            </a:extLst>
          </p:cNvPr>
          <p:cNvSpPr>
            <a:spLocks noGrp="1"/>
          </p:cNvSpPr>
          <p:nvPr>
            <p:ph idx="1"/>
          </p:nvPr>
        </p:nvSpPr>
        <p:spPr/>
        <p:txBody>
          <a:bodyPr>
            <a:normAutofit/>
          </a:bodyPr>
          <a:lstStyle/>
          <a:p>
            <a:pPr algn="just"/>
            <a:r>
              <a:rPr lang="en-US" sz="3200" dirty="0"/>
              <a:t>The hash table is basically an array of elements, and the hash techniques of search are performed on a part of the item i.e. key. Each key has been mapped to a number, the range remains from 0 to table size - 1</a:t>
            </a:r>
          </a:p>
          <a:p>
            <a:pPr algn="just"/>
            <a:r>
              <a:rPr lang="en-US" sz="3200" dirty="0"/>
              <a:t>Hash tables are used to store the key-value pairs. The hash table then uses the hash function to generate an index. Hashing uses this unique index to perform insert, update, and search operations.</a:t>
            </a:r>
          </a:p>
        </p:txBody>
      </p:sp>
    </p:spTree>
    <p:extLst>
      <p:ext uri="{BB962C8B-B14F-4D97-AF65-F5344CB8AC3E}">
        <p14:creationId xmlns:p14="http://schemas.microsoft.com/office/powerpoint/2010/main" val="2289116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20AE-C234-D8F9-3547-19E689B02178}"/>
              </a:ext>
            </a:extLst>
          </p:cNvPr>
          <p:cNvSpPr>
            <a:spLocks noGrp="1"/>
          </p:cNvSpPr>
          <p:nvPr>
            <p:ph type="title"/>
          </p:nvPr>
        </p:nvSpPr>
        <p:spPr/>
        <p:txBody>
          <a:bodyPr/>
          <a:lstStyle/>
          <a:p>
            <a:r>
              <a:rPr lang="en-US" dirty="0"/>
              <a:t>Hashing Process</a:t>
            </a:r>
          </a:p>
        </p:txBody>
      </p:sp>
      <p:sp>
        <p:nvSpPr>
          <p:cNvPr id="3" name="Content Placeholder 2">
            <a:extLst>
              <a:ext uri="{FF2B5EF4-FFF2-40B4-BE49-F238E27FC236}">
                <a16:creationId xmlns:a16="http://schemas.microsoft.com/office/drawing/2014/main" id="{63273FFF-625A-FC10-0F71-5DB8C7726CBE}"/>
              </a:ext>
            </a:extLst>
          </p:cNvPr>
          <p:cNvSpPr>
            <a:spLocks noGrp="1"/>
          </p:cNvSpPr>
          <p:nvPr>
            <p:ph idx="1"/>
          </p:nvPr>
        </p:nvSpPr>
        <p:spPr/>
        <p:txBody>
          <a:bodyPr>
            <a:normAutofit/>
          </a:bodyPr>
          <a:lstStyle/>
          <a:p>
            <a:r>
              <a:rPr lang="en-US" sz="2800" dirty="0"/>
              <a:t>Hashing in data structure is a two-step process.</a:t>
            </a:r>
          </a:p>
          <a:p>
            <a:pPr>
              <a:buFont typeface="Wingdings" panose="05000000000000000000" pitchFamily="2" charset="2"/>
              <a:buChar char="Ø"/>
            </a:pPr>
            <a:r>
              <a:rPr lang="en-US" sz="2800" dirty="0"/>
              <a:t>The hash function converts the item into a small integer or hash value. This integer is used as an index to store the original data.</a:t>
            </a:r>
          </a:p>
          <a:p>
            <a:pPr>
              <a:buFont typeface="Wingdings" panose="05000000000000000000" pitchFamily="2" charset="2"/>
              <a:buChar char="Ø"/>
            </a:pPr>
            <a:r>
              <a:rPr lang="en-US" sz="2800" dirty="0"/>
              <a:t>It stores the data in a hash table. You can use a hash key to locate data quickly.</a:t>
            </a:r>
          </a:p>
        </p:txBody>
      </p:sp>
      <p:pic>
        <p:nvPicPr>
          <p:cNvPr id="4" name="Picture 3">
            <a:extLst>
              <a:ext uri="{FF2B5EF4-FFF2-40B4-BE49-F238E27FC236}">
                <a16:creationId xmlns:a16="http://schemas.microsoft.com/office/drawing/2014/main" id="{6B34C38E-9885-DC44-8C5F-5BA0071697D2}"/>
              </a:ext>
            </a:extLst>
          </p:cNvPr>
          <p:cNvPicPr>
            <a:picLocks noChangeAspect="1"/>
          </p:cNvPicPr>
          <p:nvPr/>
        </p:nvPicPr>
        <p:blipFill rotWithShape="1">
          <a:blip r:embed="rId2"/>
          <a:srcRect b="15714"/>
          <a:stretch/>
        </p:blipFill>
        <p:spPr>
          <a:xfrm>
            <a:off x="3200401" y="4038600"/>
            <a:ext cx="6324600" cy="2760676"/>
          </a:xfrm>
          <a:prstGeom prst="rect">
            <a:avLst/>
          </a:prstGeom>
        </p:spPr>
      </p:pic>
    </p:spTree>
    <p:extLst>
      <p:ext uri="{BB962C8B-B14F-4D97-AF65-F5344CB8AC3E}">
        <p14:creationId xmlns:p14="http://schemas.microsoft.com/office/powerpoint/2010/main" val="412350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D583C-C1EE-2824-DABC-9FAA6291E7A5}"/>
              </a:ext>
            </a:extLst>
          </p:cNvPr>
          <p:cNvSpPr>
            <a:spLocks noGrp="1"/>
          </p:cNvSpPr>
          <p:nvPr>
            <p:ph type="title"/>
          </p:nvPr>
        </p:nvSpPr>
        <p:spPr/>
        <p:txBody>
          <a:bodyPr/>
          <a:lstStyle/>
          <a:p>
            <a:r>
              <a:rPr lang="en-US" dirty="0"/>
              <a:t>Hashing Example</a:t>
            </a:r>
          </a:p>
        </p:txBody>
      </p:sp>
      <p:sp>
        <p:nvSpPr>
          <p:cNvPr id="3" name="Content Placeholder 2">
            <a:extLst>
              <a:ext uri="{FF2B5EF4-FFF2-40B4-BE49-F238E27FC236}">
                <a16:creationId xmlns:a16="http://schemas.microsoft.com/office/drawing/2014/main" id="{0F64AF33-FAFB-4BCF-D8DF-AA9FB466FF83}"/>
              </a:ext>
            </a:extLst>
          </p:cNvPr>
          <p:cNvSpPr>
            <a:spLocks noGrp="1"/>
          </p:cNvSpPr>
          <p:nvPr>
            <p:ph idx="1"/>
          </p:nvPr>
        </p:nvSpPr>
        <p:spPr/>
        <p:txBody>
          <a:bodyPr>
            <a:normAutofit/>
          </a:bodyPr>
          <a:lstStyle/>
          <a:p>
            <a:r>
              <a:rPr lang="en-US" sz="2800" dirty="0"/>
              <a:t>The following are real-life examples of hashing in the data structure –</a:t>
            </a:r>
          </a:p>
          <a:p>
            <a:endParaRPr lang="en-US" sz="2800" dirty="0"/>
          </a:p>
          <a:p>
            <a:r>
              <a:rPr lang="en-US" sz="2800" dirty="0"/>
              <a:t>In schools, the teacher assigns a unique roll number to each student. Later, the teacher uses that roll number to retrieve information about that student.</a:t>
            </a:r>
          </a:p>
          <a:p>
            <a:r>
              <a:rPr lang="en-US" sz="2800" dirty="0"/>
              <a:t>A library has an infinite number of books. The librarian assigns a unique number to each book. This unique number helps in identifying the position of the books on the bookshelf.</a:t>
            </a:r>
          </a:p>
        </p:txBody>
      </p:sp>
    </p:spTree>
    <p:extLst>
      <p:ext uri="{BB962C8B-B14F-4D97-AF65-F5344CB8AC3E}">
        <p14:creationId xmlns:p14="http://schemas.microsoft.com/office/powerpoint/2010/main" val="1123218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8545-89AE-9BE5-0406-D68E14E49902}"/>
              </a:ext>
            </a:extLst>
          </p:cNvPr>
          <p:cNvSpPr>
            <a:spLocks noGrp="1"/>
          </p:cNvSpPr>
          <p:nvPr>
            <p:ph type="title"/>
          </p:nvPr>
        </p:nvSpPr>
        <p:spPr/>
        <p:txBody>
          <a:bodyPr/>
          <a:lstStyle/>
          <a:p>
            <a:r>
              <a:rPr lang="en-US" dirty="0"/>
              <a:t>Hash Function</a:t>
            </a:r>
          </a:p>
        </p:txBody>
      </p:sp>
      <p:sp>
        <p:nvSpPr>
          <p:cNvPr id="3" name="Content Placeholder 2">
            <a:extLst>
              <a:ext uri="{FF2B5EF4-FFF2-40B4-BE49-F238E27FC236}">
                <a16:creationId xmlns:a16="http://schemas.microsoft.com/office/drawing/2014/main" id="{57A99813-8701-1063-B721-556137D9924E}"/>
              </a:ext>
            </a:extLst>
          </p:cNvPr>
          <p:cNvSpPr>
            <a:spLocks noGrp="1"/>
          </p:cNvSpPr>
          <p:nvPr>
            <p:ph idx="1"/>
          </p:nvPr>
        </p:nvSpPr>
        <p:spPr/>
        <p:txBody>
          <a:bodyPr>
            <a:normAutofit/>
          </a:bodyPr>
          <a:lstStyle/>
          <a:p>
            <a:pPr algn="just"/>
            <a:r>
              <a:rPr lang="en-US" sz="3200" dirty="0"/>
              <a:t>The hash function in a data structure maps the arbitrary size of data to fixed-sized data. It returns the following values:  a small integer value (also known as hash value), hash codes, and hash sums.</a:t>
            </a:r>
          </a:p>
          <a:p>
            <a:pPr algn="just"/>
            <a:r>
              <a:rPr lang="en-US" sz="3200" dirty="0"/>
              <a:t>There may be more than one functions to compute the position to store/retrieve a value in a hash table.</a:t>
            </a:r>
          </a:p>
          <a:p>
            <a:endParaRPr lang="en-US" sz="2800" dirty="0"/>
          </a:p>
        </p:txBody>
      </p:sp>
    </p:spTree>
    <p:extLst>
      <p:ext uri="{BB962C8B-B14F-4D97-AF65-F5344CB8AC3E}">
        <p14:creationId xmlns:p14="http://schemas.microsoft.com/office/powerpoint/2010/main" val="3283189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2" name="Rectangle 4"/>
          <p:cNvSpPr>
            <a:spLocks noGrp="1" noChangeArrowheads="1"/>
          </p:cNvSpPr>
          <p:nvPr>
            <p:ph type="title"/>
          </p:nvPr>
        </p:nvSpPr>
        <p:spPr>
          <a:xfrm>
            <a:off x="1143000" y="838200"/>
            <a:ext cx="8001000" cy="571500"/>
          </a:xfrm>
          <a:noFill/>
          <a:ln/>
        </p:spPr>
        <p:txBody>
          <a:bodyPr>
            <a:noAutofit/>
          </a:bodyPr>
          <a:lstStyle/>
          <a:p>
            <a:r>
              <a:rPr lang="en-US" dirty="0"/>
              <a:t>Hash Functions</a:t>
            </a:r>
          </a:p>
        </p:txBody>
      </p:sp>
      <p:sp>
        <p:nvSpPr>
          <p:cNvPr id="247813" name="Rectangle 5" descr="Rectangle: Click to edit Master text styles&#10;Second level&#10;Third level&#10;Fourth level&#10;Fifth level"/>
          <p:cNvSpPr>
            <a:spLocks noGrp="1" noChangeArrowheads="1"/>
          </p:cNvSpPr>
          <p:nvPr>
            <p:ph idx="1"/>
          </p:nvPr>
        </p:nvSpPr>
        <p:spPr>
          <a:xfrm>
            <a:off x="990600" y="1981200"/>
            <a:ext cx="10058400" cy="4229100"/>
          </a:xfrm>
          <a:noFill/>
          <a:ln/>
        </p:spPr>
        <p:txBody>
          <a:bodyPr>
            <a:normAutofit lnSpcReduction="10000"/>
          </a:bodyPr>
          <a:lstStyle/>
          <a:p>
            <a:pPr>
              <a:lnSpc>
                <a:spcPct val="80000"/>
              </a:lnSpc>
            </a:pPr>
            <a:r>
              <a:rPr lang="en-US" sz="2800" dirty="0"/>
              <a:t>The principle criteria used in selecting a hash function are as follows</a:t>
            </a:r>
          </a:p>
          <a:p>
            <a:pPr>
              <a:lnSpc>
                <a:spcPct val="80000"/>
              </a:lnSpc>
              <a:buFont typeface="Wingdings" panose="05000000000000000000" pitchFamily="2" charset="2"/>
              <a:buChar char="Ø"/>
            </a:pPr>
            <a:r>
              <a:rPr lang="en-US" sz="2800" dirty="0"/>
              <a:t>A good hash function is easy to compute.</a:t>
            </a:r>
          </a:p>
          <a:p>
            <a:pPr>
              <a:lnSpc>
                <a:spcPct val="80000"/>
              </a:lnSpc>
              <a:buFont typeface="Wingdings" panose="05000000000000000000" pitchFamily="2" charset="2"/>
              <a:buChar char="Ø"/>
            </a:pPr>
            <a:r>
              <a:rPr lang="en-US" sz="2800" dirty="0"/>
              <a:t>A good hash function never gets stuck in clustering and distributes keys evenly across the hash table.</a:t>
            </a:r>
          </a:p>
          <a:p>
            <a:pPr>
              <a:lnSpc>
                <a:spcPct val="80000"/>
              </a:lnSpc>
              <a:buFont typeface="Wingdings" panose="05000000000000000000" pitchFamily="2" charset="2"/>
              <a:buChar char="Ø"/>
            </a:pPr>
            <a:r>
              <a:rPr lang="en-US" sz="2800" dirty="0"/>
              <a:t>A good hash function avoids collision when two elements or items get assigned to the same hash value.</a:t>
            </a:r>
          </a:p>
          <a:p>
            <a:pPr>
              <a:lnSpc>
                <a:spcPct val="80000"/>
              </a:lnSpc>
            </a:pPr>
            <a:r>
              <a:rPr lang="en-US" sz="2800" dirty="0"/>
              <a:t>Following are some commonly used Hash Functions:</a:t>
            </a:r>
          </a:p>
          <a:p>
            <a:pPr lvl="1">
              <a:lnSpc>
                <a:spcPct val="80000"/>
              </a:lnSpc>
            </a:pPr>
            <a:r>
              <a:rPr lang="en-US" sz="2600" dirty="0">
                <a:solidFill>
                  <a:srgbClr val="22AA22"/>
                </a:solidFill>
              </a:rPr>
              <a:t>Division Method</a:t>
            </a:r>
          </a:p>
          <a:p>
            <a:pPr lvl="1">
              <a:lnSpc>
                <a:spcPct val="80000"/>
              </a:lnSpc>
            </a:pPr>
            <a:r>
              <a:rPr lang="en-US" sz="2600" dirty="0" err="1">
                <a:solidFill>
                  <a:srgbClr val="22AA22"/>
                </a:solidFill>
              </a:rPr>
              <a:t>Midsquare</a:t>
            </a:r>
            <a:r>
              <a:rPr lang="en-US" sz="2600" dirty="0">
                <a:solidFill>
                  <a:srgbClr val="22AA22"/>
                </a:solidFill>
              </a:rPr>
              <a:t> Method</a:t>
            </a:r>
          </a:p>
          <a:p>
            <a:pPr lvl="1">
              <a:lnSpc>
                <a:spcPct val="80000"/>
              </a:lnSpc>
            </a:pPr>
            <a:r>
              <a:rPr lang="en-US" sz="2600" dirty="0">
                <a:solidFill>
                  <a:srgbClr val="22AA22"/>
                </a:solidFill>
              </a:rPr>
              <a:t>Folding Method</a:t>
            </a:r>
            <a:endParaRPr lang="en-US" sz="2600" b="1" dirty="0">
              <a:solidFill>
                <a:srgbClr val="22AA2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ChangeArrowheads="1"/>
          </p:cNvSpPr>
          <p:nvPr/>
        </p:nvSpPr>
        <p:spPr bwMode="auto">
          <a:xfrm>
            <a:off x="2209800" y="952500"/>
            <a:ext cx="5562600" cy="571500"/>
          </a:xfrm>
          <a:prstGeom prst="rect">
            <a:avLst/>
          </a:prstGeom>
          <a:noFill/>
          <a:ln w="9525">
            <a:noFill/>
            <a:miter lim="800000"/>
            <a:headEnd/>
            <a:tailEnd/>
          </a:ln>
          <a:effectLst/>
        </p:spPr>
        <p:txBody>
          <a:bodyPr anchor="b"/>
          <a:lstStyle/>
          <a:p>
            <a:pPr>
              <a:lnSpc>
                <a:spcPct val="100000"/>
              </a:lnSpc>
              <a:spcBef>
                <a:spcPct val="0"/>
              </a:spcBef>
              <a:buClrTx/>
              <a:buSzTx/>
            </a:pPr>
            <a:r>
              <a:rPr lang="en-US" sz="5000" dirty="0">
                <a:solidFill>
                  <a:schemeClr val="tx2"/>
                </a:solidFill>
                <a:latin typeface="+mj-lt"/>
                <a:ea typeface="+mj-ea"/>
                <a:cs typeface="+mj-cs"/>
              </a:rPr>
              <a:t>Division Method</a:t>
            </a:r>
          </a:p>
        </p:txBody>
      </p:sp>
      <p:sp>
        <p:nvSpPr>
          <p:cNvPr id="248835" name="Rectangle 3" descr="Rectangle: Click to edit Master text styles&#10;Second level&#10;Third level&#10;Fourth level&#10;Fifth level"/>
          <p:cNvSpPr>
            <a:spLocks noChangeArrowheads="1"/>
          </p:cNvSpPr>
          <p:nvPr/>
        </p:nvSpPr>
        <p:spPr bwMode="auto">
          <a:xfrm>
            <a:off x="2209800" y="3429000"/>
            <a:ext cx="8001000" cy="457200"/>
          </a:xfrm>
          <a:prstGeom prst="rect">
            <a:avLst/>
          </a:prstGeom>
          <a:noFill/>
          <a:ln w="9525">
            <a:noFill/>
            <a:miter lim="800000"/>
            <a:headEnd/>
            <a:tailEnd/>
          </a:ln>
          <a:effectLst/>
        </p:spPr>
        <p:txBody>
          <a:bodyPr/>
          <a:lstStyle/>
          <a:p>
            <a:pPr algn="ctr">
              <a:buClr>
                <a:schemeClr val="hlink"/>
              </a:buClr>
              <a:buSzPct val="110000"/>
            </a:pPr>
            <a:r>
              <a:rPr lang="en-US" i="1">
                <a:solidFill>
                  <a:schemeClr val="hlink"/>
                </a:solidFill>
                <a:latin typeface="Times New Roman" charset="0"/>
              </a:rPr>
              <a:t>H(k)</a:t>
            </a:r>
            <a:r>
              <a:rPr lang="en-US">
                <a:solidFill>
                  <a:schemeClr val="hlink"/>
                </a:solidFill>
                <a:latin typeface="Times New Roman" charset="0"/>
              </a:rPr>
              <a:t> = </a:t>
            </a:r>
            <a:r>
              <a:rPr lang="en-US" i="1">
                <a:solidFill>
                  <a:schemeClr val="hlink"/>
                </a:solidFill>
                <a:latin typeface="Times New Roman" charset="0"/>
              </a:rPr>
              <a:t>k</a:t>
            </a:r>
            <a:r>
              <a:rPr lang="en-US">
                <a:solidFill>
                  <a:schemeClr val="hlink"/>
                </a:solidFill>
                <a:latin typeface="Times New Roman" charset="0"/>
              </a:rPr>
              <a:t> (mod </a:t>
            </a:r>
            <a:r>
              <a:rPr lang="en-US" i="1">
                <a:solidFill>
                  <a:schemeClr val="hlink"/>
                </a:solidFill>
                <a:latin typeface="Times New Roman" charset="0"/>
              </a:rPr>
              <a:t>m</a:t>
            </a:r>
            <a:r>
              <a:rPr lang="en-US">
                <a:solidFill>
                  <a:schemeClr val="hlink"/>
                </a:solidFill>
                <a:latin typeface="Times New Roman" charset="0"/>
              </a:rPr>
              <a:t>)</a:t>
            </a:r>
            <a:endParaRPr lang="en-US" b="1">
              <a:solidFill>
                <a:schemeClr val="hlink"/>
              </a:solidFill>
              <a:latin typeface="Times New Roman" charset="0"/>
            </a:endParaRPr>
          </a:p>
        </p:txBody>
      </p:sp>
      <p:sp>
        <p:nvSpPr>
          <p:cNvPr id="248837" name="Rectangle 5" descr="Rectangle: Click to edit Master text styles&#10;Second level&#10;Third level&#10;Fourth level&#10;Fifth level"/>
          <p:cNvSpPr>
            <a:spLocks noChangeArrowheads="1"/>
          </p:cNvSpPr>
          <p:nvPr/>
        </p:nvSpPr>
        <p:spPr bwMode="auto">
          <a:xfrm>
            <a:off x="1219200" y="1752600"/>
            <a:ext cx="9829800" cy="1981200"/>
          </a:xfrm>
          <a:prstGeom prst="rect">
            <a:avLst/>
          </a:prstGeom>
          <a:noFill/>
          <a:ln w="9525">
            <a:noFill/>
            <a:miter lim="800000"/>
            <a:headEnd/>
            <a:tailEnd/>
          </a:ln>
          <a:effectLst/>
        </p:spPr>
        <p:txBody>
          <a:bodyPr/>
          <a:lstStyle/>
          <a:p>
            <a:pPr>
              <a:lnSpc>
                <a:spcPct val="100000"/>
              </a:lnSpc>
              <a:buClr>
                <a:schemeClr val="hlink"/>
              </a:buClr>
              <a:buSzPct val="110000"/>
            </a:pPr>
            <a:r>
              <a:rPr lang="en-US" sz="2400" dirty="0">
                <a:latin typeface="Times New Roman" charset="0"/>
              </a:rPr>
              <a:t>Choose a number </a:t>
            </a:r>
            <a:r>
              <a:rPr lang="en-US" sz="2400" i="1" dirty="0">
                <a:solidFill>
                  <a:srgbClr val="FF0000"/>
                </a:solidFill>
                <a:latin typeface="Times New Roman" charset="0"/>
              </a:rPr>
              <a:t>m</a:t>
            </a:r>
            <a:r>
              <a:rPr lang="en-US" sz="2400" dirty="0">
                <a:latin typeface="Times New Roman" charset="0"/>
              </a:rPr>
              <a:t> larger than the number </a:t>
            </a:r>
            <a:r>
              <a:rPr lang="en-US" sz="2400" i="1" dirty="0">
                <a:solidFill>
                  <a:srgbClr val="FF0000"/>
                </a:solidFill>
                <a:latin typeface="Times New Roman" charset="0"/>
              </a:rPr>
              <a:t>n</a:t>
            </a:r>
            <a:r>
              <a:rPr lang="en-US" sz="2400" dirty="0">
                <a:latin typeface="Times New Roman" charset="0"/>
              </a:rPr>
              <a:t> of keys in</a:t>
            </a:r>
            <a:r>
              <a:rPr lang="en-US" sz="2400" dirty="0">
                <a:solidFill>
                  <a:srgbClr val="FF0000"/>
                </a:solidFill>
                <a:latin typeface="Times New Roman" charset="0"/>
              </a:rPr>
              <a:t> </a:t>
            </a:r>
            <a:r>
              <a:rPr lang="en-US" sz="2400" i="1" dirty="0">
                <a:solidFill>
                  <a:srgbClr val="FF0000"/>
                </a:solidFill>
                <a:latin typeface="Times New Roman" charset="0"/>
              </a:rPr>
              <a:t>K</a:t>
            </a:r>
            <a:r>
              <a:rPr lang="en-US" sz="2400" dirty="0">
                <a:latin typeface="Times New Roman" charset="0"/>
              </a:rPr>
              <a:t>.  (The number </a:t>
            </a:r>
            <a:r>
              <a:rPr lang="en-US" sz="2400" i="1" dirty="0">
                <a:solidFill>
                  <a:srgbClr val="FF0000"/>
                </a:solidFill>
                <a:latin typeface="Times New Roman" charset="0"/>
              </a:rPr>
              <a:t>m</a:t>
            </a:r>
            <a:r>
              <a:rPr lang="en-US" sz="2400" dirty="0">
                <a:latin typeface="Times New Roman" charset="0"/>
              </a:rPr>
              <a:t> is usually chosen to be a </a:t>
            </a:r>
            <a:r>
              <a:rPr lang="en-US" sz="2400" dirty="0">
                <a:solidFill>
                  <a:srgbClr val="FF00FF"/>
                </a:solidFill>
                <a:latin typeface="Times New Roman" charset="0"/>
              </a:rPr>
              <a:t>prime number</a:t>
            </a:r>
            <a:r>
              <a:rPr lang="en-US" sz="2400" dirty="0">
                <a:latin typeface="Times New Roman" charset="0"/>
              </a:rPr>
              <a:t> or a number without small divisors, since this frequently minimizes the number of collisions.)  The hash function </a:t>
            </a:r>
            <a:r>
              <a:rPr lang="en-US" sz="2400" i="1" dirty="0">
                <a:latin typeface="Times New Roman" charset="0"/>
              </a:rPr>
              <a:t>H</a:t>
            </a:r>
            <a:r>
              <a:rPr lang="en-US" sz="2400" dirty="0">
                <a:latin typeface="Times New Roman" charset="0"/>
              </a:rPr>
              <a:t> is defined by</a:t>
            </a:r>
            <a:endParaRPr lang="en-US" sz="2400" b="1" dirty="0">
              <a:solidFill>
                <a:srgbClr val="00CC66"/>
              </a:solidFill>
              <a:latin typeface="Times New Roman" charset="0"/>
            </a:endParaRPr>
          </a:p>
        </p:txBody>
      </p:sp>
      <p:sp>
        <p:nvSpPr>
          <p:cNvPr id="248838" name="Rectangle 6" descr="Rectangle: Click to edit Master text styles&#10;Second level&#10;Third level&#10;Fourth level&#10;Fifth level"/>
          <p:cNvSpPr>
            <a:spLocks noChangeArrowheads="1"/>
          </p:cNvSpPr>
          <p:nvPr/>
        </p:nvSpPr>
        <p:spPr bwMode="auto">
          <a:xfrm>
            <a:off x="1676400" y="3886200"/>
            <a:ext cx="8534400" cy="914400"/>
          </a:xfrm>
          <a:prstGeom prst="rect">
            <a:avLst/>
          </a:prstGeom>
          <a:noFill/>
          <a:ln w="9525">
            <a:noFill/>
            <a:miter lim="800000"/>
            <a:headEnd/>
            <a:tailEnd/>
          </a:ln>
          <a:effectLst/>
        </p:spPr>
        <p:txBody>
          <a:bodyPr/>
          <a:lstStyle/>
          <a:p>
            <a:pPr>
              <a:lnSpc>
                <a:spcPct val="100000"/>
              </a:lnSpc>
              <a:buClr>
                <a:schemeClr val="hlink"/>
              </a:buClr>
              <a:buSzPct val="110000"/>
            </a:pPr>
            <a:r>
              <a:rPr lang="en-US" dirty="0">
                <a:latin typeface="Times New Roman" charset="0"/>
              </a:rPr>
              <a:t>Here </a:t>
            </a:r>
            <a:r>
              <a:rPr lang="en-US" i="1" dirty="0">
                <a:latin typeface="Times New Roman" charset="0"/>
              </a:rPr>
              <a:t>k</a:t>
            </a:r>
            <a:r>
              <a:rPr lang="en-US" dirty="0">
                <a:latin typeface="Times New Roman" charset="0"/>
              </a:rPr>
              <a:t> (mod </a:t>
            </a:r>
            <a:r>
              <a:rPr lang="en-US" i="1" dirty="0">
                <a:latin typeface="Times New Roman" charset="0"/>
              </a:rPr>
              <a:t>m</a:t>
            </a:r>
            <a:r>
              <a:rPr lang="en-US" dirty="0">
                <a:latin typeface="Times New Roman" charset="0"/>
              </a:rPr>
              <a:t>) denotes the remainder when </a:t>
            </a:r>
            <a:r>
              <a:rPr lang="en-US" i="1" dirty="0">
                <a:latin typeface="Times New Roman" charset="0"/>
              </a:rPr>
              <a:t>k</a:t>
            </a:r>
            <a:r>
              <a:rPr lang="en-US" dirty="0">
                <a:latin typeface="Times New Roman" charset="0"/>
              </a:rPr>
              <a:t> is divided by </a:t>
            </a:r>
            <a:r>
              <a:rPr lang="en-US" i="1" dirty="0">
                <a:latin typeface="Times New Roman" charset="0"/>
              </a:rPr>
              <a:t>m</a:t>
            </a:r>
            <a:r>
              <a:rPr lang="en-US" dirty="0">
                <a:latin typeface="Times New Roman" charset="0"/>
              </a:rPr>
              <a:t>.</a:t>
            </a:r>
            <a:endParaRPr lang="en-US" b="1" dirty="0">
              <a:solidFill>
                <a:srgbClr val="00CC66"/>
              </a:solidFill>
              <a:latin typeface="Times New Roman" charset="0"/>
            </a:endParaRPr>
          </a:p>
        </p:txBody>
      </p:sp>
      <p:sp>
        <p:nvSpPr>
          <p:cNvPr id="248839" name="Rectangle 7" descr="Rectangle: Click to edit Master text styles&#10;Second level&#10;Third level&#10;Fourth level&#10;Fifth level"/>
          <p:cNvSpPr>
            <a:spLocks noChangeArrowheads="1"/>
          </p:cNvSpPr>
          <p:nvPr/>
        </p:nvSpPr>
        <p:spPr bwMode="auto">
          <a:xfrm>
            <a:off x="1371600" y="4572000"/>
            <a:ext cx="8839200" cy="1752600"/>
          </a:xfrm>
          <a:prstGeom prst="rect">
            <a:avLst/>
          </a:prstGeom>
          <a:noFill/>
          <a:ln w="9525">
            <a:noFill/>
            <a:miter lim="800000"/>
            <a:headEnd/>
            <a:tailEnd/>
          </a:ln>
          <a:effectLst/>
        </p:spPr>
        <p:txBody>
          <a:bodyPr/>
          <a:lstStyle/>
          <a:p>
            <a:pPr>
              <a:lnSpc>
                <a:spcPct val="100000"/>
              </a:lnSpc>
              <a:buClr>
                <a:schemeClr val="hlink"/>
              </a:buClr>
              <a:buSzPct val="110000"/>
              <a:tabLst>
                <a:tab pos="912813" algn="l"/>
                <a:tab pos="1766888" algn="l"/>
              </a:tabLst>
            </a:pPr>
            <a:r>
              <a:rPr lang="en-US" sz="2800" dirty="0">
                <a:latin typeface="Times New Roman" charset="0"/>
              </a:rPr>
              <a:t>For Example:</a:t>
            </a:r>
          </a:p>
          <a:p>
            <a:pPr>
              <a:lnSpc>
                <a:spcPct val="100000"/>
              </a:lnSpc>
              <a:buClr>
                <a:schemeClr val="hlink"/>
              </a:buClr>
              <a:buSzPct val="110000"/>
              <a:tabLst>
                <a:tab pos="912813" algn="l"/>
                <a:tab pos="1766888" algn="l"/>
              </a:tabLst>
            </a:pPr>
            <a:r>
              <a:rPr lang="en-US" sz="2800" i="1" dirty="0">
                <a:latin typeface="Times New Roman" charset="0"/>
              </a:rPr>
              <a:t>	H(k)	= k </a:t>
            </a:r>
            <a:r>
              <a:rPr lang="en-US" sz="2800" dirty="0">
                <a:latin typeface="Times New Roman" charset="0"/>
              </a:rPr>
              <a:t>(mod </a:t>
            </a:r>
            <a:r>
              <a:rPr lang="en-US" sz="2800" i="1" dirty="0">
                <a:latin typeface="Times New Roman" charset="0"/>
              </a:rPr>
              <a:t>m</a:t>
            </a:r>
            <a:r>
              <a:rPr lang="en-US" sz="2800" dirty="0">
                <a:latin typeface="Times New Roman" charset="0"/>
              </a:rPr>
              <a:t>)</a:t>
            </a:r>
            <a:endParaRPr lang="en-US" sz="2800" i="1" dirty="0">
              <a:latin typeface="Times New Roman" charset="0"/>
            </a:endParaRPr>
          </a:p>
          <a:p>
            <a:pPr>
              <a:lnSpc>
                <a:spcPct val="100000"/>
              </a:lnSpc>
              <a:buClr>
                <a:schemeClr val="hlink"/>
              </a:buClr>
              <a:buSzPct val="110000"/>
              <a:tabLst>
                <a:tab pos="912813" algn="l"/>
                <a:tab pos="1766888" algn="l"/>
              </a:tabLst>
            </a:pPr>
            <a:r>
              <a:rPr lang="en-US" sz="2800" i="1" dirty="0">
                <a:latin typeface="Times New Roman" charset="0"/>
              </a:rPr>
              <a:t>	H(25)	= 25 mod 13				m = 13</a:t>
            </a:r>
            <a:endParaRPr lang="en-US" sz="2800" b="1" i="1" dirty="0">
              <a:solidFill>
                <a:srgbClr val="00CC66"/>
              </a:solidFill>
              <a:latin typeface="Times New Roman" charset="0"/>
            </a:endParaRPr>
          </a:p>
          <a:p>
            <a:pPr>
              <a:lnSpc>
                <a:spcPct val="100000"/>
              </a:lnSpc>
              <a:buClr>
                <a:schemeClr val="hlink"/>
              </a:buClr>
              <a:buSzPct val="110000"/>
              <a:tabLst>
                <a:tab pos="912813" algn="l"/>
                <a:tab pos="1766888" algn="l"/>
              </a:tabLst>
            </a:pPr>
            <a:r>
              <a:rPr lang="en-US" sz="2800" i="1" dirty="0">
                <a:latin typeface="Times New Roman" charset="0"/>
              </a:rPr>
              <a:t>		= 12</a:t>
            </a:r>
          </a:p>
        </p:txBody>
      </p:sp>
    </p:spTree>
    <p:extLst>
      <p:ext uri="{BB962C8B-B14F-4D97-AF65-F5344CB8AC3E}">
        <p14:creationId xmlns:p14="http://schemas.microsoft.com/office/powerpoint/2010/main" val="1325139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8991600" cy="1143000"/>
          </a:xfrm>
        </p:spPr>
        <p:txBody>
          <a:bodyPr/>
          <a:lstStyle/>
          <a:p>
            <a:r>
              <a:rPr lang="en-US" dirty="0"/>
              <a:t>Simple definition and examples</a:t>
            </a:r>
          </a:p>
        </p:txBody>
      </p:sp>
      <p:sp>
        <p:nvSpPr>
          <p:cNvPr id="3" name="Content Placeholder 2"/>
          <p:cNvSpPr>
            <a:spLocks noGrp="1"/>
          </p:cNvSpPr>
          <p:nvPr>
            <p:ph idx="1"/>
          </p:nvPr>
        </p:nvSpPr>
        <p:spPr>
          <a:xfrm>
            <a:off x="762000" y="1219200"/>
            <a:ext cx="9448800" cy="1981200"/>
          </a:xfrm>
        </p:spPr>
        <p:txBody>
          <a:bodyPr>
            <a:normAutofit/>
          </a:bodyPr>
          <a:lstStyle/>
          <a:p>
            <a:pPr algn="just"/>
            <a:r>
              <a:rPr lang="en-US" sz="2000" dirty="0"/>
              <a:t>A hash fn takes a data item to be stored or retrieved and computes the 1</a:t>
            </a:r>
            <a:r>
              <a:rPr lang="en-US" sz="2000" baseline="30000" dirty="0"/>
              <a:t>st</a:t>
            </a:r>
            <a:r>
              <a:rPr lang="en-US" sz="2000" dirty="0"/>
              <a:t> choice for a location for the item.</a:t>
            </a:r>
          </a:p>
          <a:p>
            <a:r>
              <a:rPr lang="en-US" sz="2000" dirty="0"/>
              <a:t>Data: 15, 558, 32, 132, 102, 5</a:t>
            </a:r>
          </a:p>
          <a:p>
            <a:pPr algn="ctr"/>
            <a:r>
              <a:rPr lang="en-US" sz="2000" dirty="0"/>
              <a:t>H(n)= n mod 11</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78261691"/>
              </p:ext>
            </p:extLst>
          </p:nvPr>
        </p:nvGraphicFramePr>
        <p:xfrm>
          <a:off x="2438400" y="2905760"/>
          <a:ext cx="6934202" cy="741680"/>
        </p:xfrm>
        <a:graphic>
          <a:graphicData uri="http://schemas.openxmlformats.org/drawingml/2006/table">
            <a:tbl>
              <a:tblPr firstRow="1" bandRow="1">
                <a:tableStyleId>{5C22544A-7EE6-4342-B048-85BDC9FD1C3A}</a:tableStyleId>
              </a:tblPr>
              <a:tblGrid>
                <a:gridCol w="630382">
                  <a:extLst>
                    <a:ext uri="{9D8B030D-6E8A-4147-A177-3AD203B41FA5}">
                      <a16:colId xmlns:a16="http://schemas.microsoft.com/office/drawing/2014/main" val="20000"/>
                    </a:ext>
                  </a:extLst>
                </a:gridCol>
                <a:gridCol w="630382">
                  <a:extLst>
                    <a:ext uri="{9D8B030D-6E8A-4147-A177-3AD203B41FA5}">
                      <a16:colId xmlns:a16="http://schemas.microsoft.com/office/drawing/2014/main" val="20001"/>
                    </a:ext>
                  </a:extLst>
                </a:gridCol>
                <a:gridCol w="630382">
                  <a:extLst>
                    <a:ext uri="{9D8B030D-6E8A-4147-A177-3AD203B41FA5}">
                      <a16:colId xmlns:a16="http://schemas.microsoft.com/office/drawing/2014/main" val="20002"/>
                    </a:ext>
                  </a:extLst>
                </a:gridCol>
                <a:gridCol w="630382">
                  <a:extLst>
                    <a:ext uri="{9D8B030D-6E8A-4147-A177-3AD203B41FA5}">
                      <a16:colId xmlns:a16="http://schemas.microsoft.com/office/drawing/2014/main" val="20003"/>
                    </a:ext>
                  </a:extLst>
                </a:gridCol>
                <a:gridCol w="630382">
                  <a:extLst>
                    <a:ext uri="{9D8B030D-6E8A-4147-A177-3AD203B41FA5}">
                      <a16:colId xmlns:a16="http://schemas.microsoft.com/office/drawing/2014/main" val="20004"/>
                    </a:ext>
                  </a:extLst>
                </a:gridCol>
                <a:gridCol w="630382">
                  <a:extLst>
                    <a:ext uri="{9D8B030D-6E8A-4147-A177-3AD203B41FA5}">
                      <a16:colId xmlns:a16="http://schemas.microsoft.com/office/drawing/2014/main" val="20005"/>
                    </a:ext>
                  </a:extLst>
                </a:gridCol>
                <a:gridCol w="630382">
                  <a:extLst>
                    <a:ext uri="{9D8B030D-6E8A-4147-A177-3AD203B41FA5}">
                      <a16:colId xmlns:a16="http://schemas.microsoft.com/office/drawing/2014/main" val="20006"/>
                    </a:ext>
                  </a:extLst>
                </a:gridCol>
                <a:gridCol w="630382">
                  <a:extLst>
                    <a:ext uri="{9D8B030D-6E8A-4147-A177-3AD203B41FA5}">
                      <a16:colId xmlns:a16="http://schemas.microsoft.com/office/drawing/2014/main" val="20007"/>
                    </a:ext>
                  </a:extLst>
                </a:gridCol>
                <a:gridCol w="630382">
                  <a:extLst>
                    <a:ext uri="{9D8B030D-6E8A-4147-A177-3AD203B41FA5}">
                      <a16:colId xmlns:a16="http://schemas.microsoft.com/office/drawing/2014/main" val="20008"/>
                    </a:ext>
                  </a:extLst>
                </a:gridCol>
                <a:gridCol w="630382">
                  <a:extLst>
                    <a:ext uri="{9D8B030D-6E8A-4147-A177-3AD203B41FA5}">
                      <a16:colId xmlns:a16="http://schemas.microsoft.com/office/drawing/2014/main" val="20009"/>
                    </a:ext>
                  </a:extLst>
                </a:gridCol>
                <a:gridCol w="630382">
                  <a:extLst>
                    <a:ext uri="{9D8B030D-6E8A-4147-A177-3AD203B41FA5}">
                      <a16:colId xmlns:a16="http://schemas.microsoft.com/office/drawing/2014/main" val="20010"/>
                    </a:ext>
                  </a:extLst>
                </a:gridCol>
              </a:tblGrid>
              <a:tr h="370840">
                <a:tc>
                  <a:txBody>
                    <a:bodyPr/>
                    <a:lstStyle/>
                    <a:p>
                      <a:r>
                        <a:rPr lang="en-US" dirty="0"/>
                        <a:t>132</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15</a:t>
                      </a:r>
                    </a:p>
                  </a:txBody>
                  <a:tcPr/>
                </a:tc>
                <a:tc>
                  <a:txBody>
                    <a:bodyPr/>
                    <a:lstStyle/>
                    <a:p>
                      <a:r>
                        <a:rPr lang="en-US" dirty="0"/>
                        <a:t>5</a:t>
                      </a:r>
                    </a:p>
                  </a:txBody>
                  <a:tcPr/>
                </a:tc>
                <a:tc>
                  <a:txBody>
                    <a:bodyPr/>
                    <a:lstStyle/>
                    <a:p>
                      <a:endParaRPr lang="en-US" dirty="0"/>
                    </a:p>
                  </a:txBody>
                  <a:tcPr/>
                </a:tc>
                <a:tc>
                  <a:txBody>
                    <a:bodyPr/>
                    <a:lstStyle/>
                    <a:p>
                      <a:endParaRPr lang="en-US" dirty="0"/>
                    </a:p>
                  </a:txBody>
                  <a:tcPr/>
                </a:tc>
                <a:tc>
                  <a:txBody>
                    <a:bodyPr/>
                    <a:lstStyle/>
                    <a:p>
                      <a:r>
                        <a:rPr lang="en-US" dirty="0"/>
                        <a:t>558</a:t>
                      </a:r>
                    </a:p>
                  </a:txBody>
                  <a:tcPr/>
                </a:tc>
                <a:tc>
                  <a:txBody>
                    <a:bodyPr/>
                    <a:lstStyle/>
                    <a:p>
                      <a:endParaRPr lang="en-US" dirty="0"/>
                    </a:p>
                  </a:txBody>
                  <a:tcPr/>
                </a:tc>
                <a:tc>
                  <a:txBody>
                    <a:bodyPr/>
                    <a:lstStyle/>
                    <a:p>
                      <a:r>
                        <a:rPr lang="en-US" dirty="0"/>
                        <a:t>32</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937966222"/>
              </p:ext>
            </p:extLst>
          </p:nvPr>
        </p:nvGraphicFramePr>
        <p:xfrm>
          <a:off x="2133598" y="3926840"/>
          <a:ext cx="7543803" cy="2473960"/>
        </p:xfrm>
        <a:graphic>
          <a:graphicData uri="http://schemas.openxmlformats.org/drawingml/2006/table">
            <a:tbl>
              <a:tblPr firstRow="1" bandRow="1">
                <a:tableStyleId>{5C22544A-7EE6-4342-B048-85BDC9FD1C3A}</a:tableStyleId>
              </a:tblPr>
              <a:tblGrid>
                <a:gridCol w="2514601">
                  <a:extLst>
                    <a:ext uri="{9D8B030D-6E8A-4147-A177-3AD203B41FA5}">
                      <a16:colId xmlns:a16="http://schemas.microsoft.com/office/drawing/2014/main" val="20000"/>
                    </a:ext>
                  </a:extLst>
                </a:gridCol>
                <a:gridCol w="2514601">
                  <a:extLst>
                    <a:ext uri="{9D8B030D-6E8A-4147-A177-3AD203B41FA5}">
                      <a16:colId xmlns:a16="http://schemas.microsoft.com/office/drawing/2014/main" val="20001"/>
                    </a:ext>
                  </a:extLst>
                </a:gridCol>
                <a:gridCol w="2514601">
                  <a:extLst>
                    <a:ext uri="{9D8B030D-6E8A-4147-A177-3AD203B41FA5}">
                      <a16:colId xmlns:a16="http://schemas.microsoft.com/office/drawing/2014/main" val="20002"/>
                    </a:ext>
                  </a:extLst>
                </a:gridCol>
              </a:tblGrid>
              <a:tr h="494792">
                <a:tc>
                  <a:txBody>
                    <a:bodyPr/>
                    <a:lstStyle/>
                    <a:p>
                      <a:r>
                        <a:rPr lang="en-US" dirty="0"/>
                        <a:t>H(15)</a:t>
                      </a:r>
                    </a:p>
                  </a:txBody>
                  <a:tcPr/>
                </a:tc>
                <a:tc>
                  <a:txBody>
                    <a:bodyPr/>
                    <a:lstStyle/>
                    <a:p>
                      <a:r>
                        <a:rPr lang="en-US" dirty="0"/>
                        <a:t>15 mod 11</a:t>
                      </a:r>
                    </a:p>
                  </a:txBody>
                  <a:tcPr/>
                </a:tc>
                <a:tc>
                  <a:txBody>
                    <a:bodyPr/>
                    <a:lstStyle/>
                    <a:p>
                      <a:r>
                        <a:rPr lang="en-US" dirty="0"/>
                        <a:t>4</a:t>
                      </a:r>
                    </a:p>
                  </a:txBody>
                  <a:tcPr/>
                </a:tc>
                <a:extLst>
                  <a:ext uri="{0D108BD9-81ED-4DB2-BD59-A6C34878D82A}">
                    <a16:rowId xmlns:a16="http://schemas.microsoft.com/office/drawing/2014/main" val="10000"/>
                  </a:ext>
                </a:extLst>
              </a:tr>
              <a:tr h="494792">
                <a:tc>
                  <a:txBody>
                    <a:bodyPr/>
                    <a:lstStyle/>
                    <a:p>
                      <a:r>
                        <a:rPr lang="en-US" dirty="0"/>
                        <a:t>H(558)</a:t>
                      </a:r>
                    </a:p>
                  </a:txBody>
                  <a:tcPr/>
                </a:tc>
                <a:tc>
                  <a:txBody>
                    <a:bodyPr/>
                    <a:lstStyle/>
                    <a:p>
                      <a:r>
                        <a:rPr lang="en-US" dirty="0"/>
                        <a:t>558 mod 11</a:t>
                      </a:r>
                    </a:p>
                  </a:txBody>
                  <a:tcPr/>
                </a:tc>
                <a:tc>
                  <a:txBody>
                    <a:bodyPr/>
                    <a:lstStyle/>
                    <a:p>
                      <a:r>
                        <a:rPr lang="en-US" dirty="0"/>
                        <a:t>8</a:t>
                      </a:r>
                    </a:p>
                  </a:txBody>
                  <a:tcPr/>
                </a:tc>
                <a:extLst>
                  <a:ext uri="{0D108BD9-81ED-4DB2-BD59-A6C34878D82A}">
                    <a16:rowId xmlns:a16="http://schemas.microsoft.com/office/drawing/2014/main" val="10001"/>
                  </a:ext>
                </a:extLst>
              </a:tr>
              <a:tr h="494792">
                <a:tc>
                  <a:txBody>
                    <a:bodyPr/>
                    <a:lstStyle/>
                    <a:p>
                      <a:r>
                        <a:rPr lang="en-US" dirty="0"/>
                        <a:t>H(32)</a:t>
                      </a:r>
                    </a:p>
                  </a:txBody>
                  <a:tcPr/>
                </a:tc>
                <a:tc>
                  <a:txBody>
                    <a:bodyPr/>
                    <a:lstStyle/>
                    <a:p>
                      <a:r>
                        <a:rPr lang="en-US" dirty="0"/>
                        <a:t>32 mod 11</a:t>
                      </a:r>
                    </a:p>
                  </a:txBody>
                  <a:tcPr/>
                </a:tc>
                <a:tc>
                  <a:txBody>
                    <a:bodyPr/>
                    <a:lstStyle/>
                    <a:p>
                      <a:r>
                        <a:rPr lang="en-US" dirty="0"/>
                        <a:t>10</a:t>
                      </a:r>
                    </a:p>
                  </a:txBody>
                  <a:tcPr/>
                </a:tc>
                <a:extLst>
                  <a:ext uri="{0D108BD9-81ED-4DB2-BD59-A6C34878D82A}">
                    <a16:rowId xmlns:a16="http://schemas.microsoft.com/office/drawing/2014/main" val="10002"/>
                  </a:ext>
                </a:extLst>
              </a:tr>
              <a:tr h="494792">
                <a:tc>
                  <a:txBody>
                    <a:bodyPr/>
                    <a:lstStyle/>
                    <a:p>
                      <a:r>
                        <a:rPr lang="en-US" dirty="0"/>
                        <a:t>H(132)</a:t>
                      </a:r>
                    </a:p>
                  </a:txBody>
                  <a:tcPr/>
                </a:tc>
                <a:tc>
                  <a:txBody>
                    <a:bodyPr/>
                    <a:lstStyle/>
                    <a:p>
                      <a:r>
                        <a:rPr lang="en-US" dirty="0"/>
                        <a:t>132 mod 11</a:t>
                      </a:r>
                    </a:p>
                  </a:txBody>
                  <a:tcPr/>
                </a:tc>
                <a:tc>
                  <a:txBody>
                    <a:bodyPr/>
                    <a:lstStyle/>
                    <a:p>
                      <a:r>
                        <a:rPr lang="en-US" dirty="0"/>
                        <a:t>0</a:t>
                      </a:r>
                    </a:p>
                  </a:txBody>
                  <a:tcPr/>
                </a:tc>
                <a:extLst>
                  <a:ext uri="{0D108BD9-81ED-4DB2-BD59-A6C34878D82A}">
                    <a16:rowId xmlns:a16="http://schemas.microsoft.com/office/drawing/2014/main" val="10003"/>
                  </a:ext>
                </a:extLst>
              </a:tr>
              <a:tr h="494792">
                <a:tc>
                  <a:txBody>
                    <a:bodyPr/>
                    <a:lstStyle/>
                    <a:p>
                      <a:r>
                        <a:rPr lang="en-US" dirty="0"/>
                        <a:t>H(5)</a:t>
                      </a:r>
                    </a:p>
                  </a:txBody>
                  <a:tcPr/>
                </a:tc>
                <a:tc>
                  <a:txBody>
                    <a:bodyPr/>
                    <a:lstStyle/>
                    <a:p>
                      <a:r>
                        <a:rPr lang="en-US" dirty="0"/>
                        <a:t>5 mod 11</a:t>
                      </a:r>
                    </a:p>
                  </a:txBody>
                  <a:tcPr/>
                </a:tc>
                <a:tc>
                  <a:txBody>
                    <a:bodyPr/>
                    <a:lstStyle/>
                    <a:p>
                      <a:r>
                        <a:rPr lang="en-US" dirty="0"/>
                        <a:t>5</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2209800" y="876300"/>
            <a:ext cx="5943600" cy="571500"/>
          </a:xfrm>
          <a:prstGeom prst="rect">
            <a:avLst/>
          </a:prstGeom>
          <a:noFill/>
          <a:ln w="9525">
            <a:noFill/>
            <a:miter lim="800000"/>
            <a:headEnd/>
            <a:tailEnd/>
          </a:ln>
          <a:effectLst/>
        </p:spPr>
        <p:txBody>
          <a:bodyPr anchor="b"/>
          <a:lstStyle/>
          <a:p>
            <a:pPr>
              <a:lnSpc>
                <a:spcPct val="100000"/>
              </a:lnSpc>
              <a:spcBef>
                <a:spcPct val="0"/>
              </a:spcBef>
              <a:buClrTx/>
              <a:buSzTx/>
              <a:buFont typeface="Wingdings" pitchFamily="2" charset="2"/>
              <a:buNone/>
            </a:pPr>
            <a:r>
              <a:rPr lang="en-US" sz="5000" dirty="0" err="1">
                <a:solidFill>
                  <a:schemeClr val="tx2"/>
                </a:solidFill>
                <a:latin typeface="+mj-lt"/>
                <a:ea typeface="+mj-ea"/>
                <a:cs typeface="+mj-cs"/>
              </a:rPr>
              <a:t>Midsquare</a:t>
            </a:r>
            <a:r>
              <a:rPr lang="en-US" sz="5000" dirty="0">
                <a:solidFill>
                  <a:schemeClr val="tx2"/>
                </a:solidFill>
                <a:latin typeface="+mj-lt"/>
                <a:ea typeface="+mj-ea"/>
                <a:cs typeface="+mj-cs"/>
              </a:rPr>
              <a:t> Method</a:t>
            </a:r>
          </a:p>
        </p:txBody>
      </p:sp>
      <p:sp>
        <p:nvSpPr>
          <p:cNvPr id="249859" name="Rectangle 3" descr="Rectangle: Click to edit Master text styles&#10;Second level&#10;Third level&#10;Fourth level&#10;Fifth level"/>
          <p:cNvSpPr>
            <a:spLocks noChangeArrowheads="1"/>
          </p:cNvSpPr>
          <p:nvPr/>
        </p:nvSpPr>
        <p:spPr bwMode="auto">
          <a:xfrm>
            <a:off x="2209800" y="2840182"/>
            <a:ext cx="8001000" cy="457200"/>
          </a:xfrm>
          <a:prstGeom prst="rect">
            <a:avLst/>
          </a:prstGeom>
          <a:noFill/>
          <a:ln w="9525">
            <a:noFill/>
            <a:miter lim="800000"/>
            <a:headEnd/>
            <a:tailEnd/>
          </a:ln>
          <a:effectLst/>
        </p:spPr>
        <p:txBody>
          <a:bodyPr/>
          <a:lstStyle/>
          <a:p>
            <a:pPr algn="ctr">
              <a:buClr>
                <a:schemeClr val="hlink"/>
              </a:buClr>
              <a:buSzPct val="110000"/>
            </a:pPr>
            <a:r>
              <a:rPr lang="en-US" sz="2800" i="1" dirty="0">
                <a:latin typeface="Times New Roman" charset="0"/>
              </a:rPr>
              <a:t>H(k)</a:t>
            </a:r>
            <a:r>
              <a:rPr lang="en-US" sz="2800" dirty="0">
                <a:latin typeface="Times New Roman" charset="0"/>
              </a:rPr>
              <a:t> = </a:t>
            </a:r>
            <a:r>
              <a:rPr lang="en-US" sz="2800" i="1" dirty="0">
                <a:latin typeface="Times New Roman" charset="0"/>
              </a:rPr>
              <a:t>l</a:t>
            </a:r>
            <a:endParaRPr lang="en-US" sz="2800" b="1" i="1" dirty="0">
              <a:solidFill>
                <a:srgbClr val="00CC66"/>
              </a:solidFill>
              <a:latin typeface="Times New Roman" charset="0"/>
            </a:endParaRPr>
          </a:p>
        </p:txBody>
      </p:sp>
      <p:sp>
        <p:nvSpPr>
          <p:cNvPr id="249860" name="Rectangle 4" descr="Rectangle: Click to edit Master text styles&#10;Second level&#10;Third level&#10;Fourth level&#10;Fifth level"/>
          <p:cNvSpPr>
            <a:spLocks noChangeArrowheads="1"/>
          </p:cNvSpPr>
          <p:nvPr/>
        </p:nvSpPr>
        <p:spPr bwMode="auto">
          <a:xfrm>
            <a:off x="1257300" y="1447801"/>
            <a:ext cx="10172700" cy="914400"/>
          </a:xfrm>
          <a:prstGeom prst="rect">
            <a:avLst/>
          </a:prstGeom>
          <a:noFill/>
          <a:ln w="9525">
            <a:noFill/>
            <a:miter lim="800000"/>
            <a:headEnd/>
            <a:tailEnd/>
          </a:ln>
          <a:effectLst/>
        </p:spPr>
        <p:txBody>
          <a:bodyPr/>
          <a:lstStyle/>
          <a:p>
            <a:pPr>
              <a:lnSpc>
                <a:spcPct val="100000"/>
              </a:lnSpc>
              <a:buClr>
                <a:schemeClr val="hlink"/>
              </a:buClr>
              <a:buSzPct val="110000"/>
            </a:pPr>
            <a:r>
              <a:rPr lang="en-US" sz="2400" dirty="0">
                <a:latin typeface="Times New Roman" charset="0"/>
              </a:rPr>
              <a:t>The mid-square method is a hashing technique that generates hash values by squaring the key and then extracting the middle portion of the resulting number. This method is simple and often produces well-distributed hash values, especially when the key values are evenly distributed.</a:t>
            </a:r>
            <a:endParaRPr lang="en-US" sz="2400" b="1" dirty="0">
              <a:solidFill>
                <a:srgbClr val="00CC66"/>
              </a:solidFill>
              <a:latin typeface="Times New Roman" charset="0"/>
            </a:endParaRPr>
          </a:p>
        </p:txBody>
      </p:sp>
      <p:sp>
        <p:nvSpPr>
          <p:cNvPr id="249861" name="Rectangle 5" descr="Rectangle: Click to edit Master text styles&#10;Second level&#10;Third level&#10;Fourth level&#10;Fifth level"/>
          <p:cNvSpPr>
            <a:spLocks noChangeArrowheads="1"/>
          </p:cNvSpPr>
          <p:nvPr/>
        </p:nvSpPr>
        <p:spPr bwMode="auto">
          <a:xfrm>
            <a:off x="1291936" y="3297382"/>
            <a:ext cx="9144000" cy="1295400"/>
          </a:xfrm>
          <a:prstGeom prst="rect">
            <a:avLst/>
          </a:prstGeom>
          <a:noFill/>
          <a:ln w="9525">
            <a:noFill/>
            <a:miter lim="800000"/>
            <a:headEnd/>
            <a:tailEnd/>
          </a:ln>
          <a:effectLst/>
        </p:spPr>
        <p:txBody>
          <a:bodyPr/>
          <a:lstStyle/>
          <a:p>
            <a:pPr>
              <a:lnSpc>
                <a:spcPct val="100000"/>
              </a:lnSpc>
              <a:buClr>
                <a:schemeClr val="hlink"/>
              </a:buClr>
              <a:buSzPct val="110000"/>
            </a:pPr>
            <a:r>
              <a:rPr lang="en-US" sz="2800" dirty="0">
                <a:latin typeface="Times New Roman" charset="0"/>
              </a:rPr>
              <a:t>Where </a:t>
            </a:r>
            <a:r>
              <a:rPr lang="en-US" sz="2800" i="1" dirty="0">
                <a:latin typeface="Times New Roman" charset="0"/>
              </a:rPr>
              <a:t>l</a:t>
            </a:r>
            <a:r>
              <a:rPr lang="en-US" sz="2800" dirty="0">
                <a:latin typeface="Times New Roman" charset="0"/>
              </a:rPr>
              <a:t> is obtained by deleting digits from both ends of </a:t>
            </a:r>
            <a:r>
              <a:rPr lang="en-US" sz="2800" i="1" dirty="0">
                <a:latin typeface="Times New Roman" charset="0"/>
              </a:rPr>
              <a:t>k</a:t>
            </a:r>
            <a:r>
              <a:rPr lang="en-US" sz="2800" i="1" baseline="30000" dirty="0">
                <a:latin typeface="Times New Roman" charset="0"/>
              </a:rPr>
              <a:t>2</a:t>
            </a:r>
            <a:r>
              <a:rPr lang="en-US" sz="2800" dirty="0">
                <a:latin typeface="Times New Roman" charset="0"/>
              </a:rPr>
              <a:t>.  We emphasize that the same positions of </a:t>
            </a:r>
            <a:r>
              <a:rPr lang="en-US" sz="2800" i="1" dirty="0">
                <a:latin typeface="Times New Roman" charset="0"/>
              </a:rPr>
              <a:t>k</a:t>
            </a:r>
            <a:r>
              <a:rPr lang="en-US" sz="2800" i="1" baseline="30000" dirty="0">
                <a:latin typeface="Times New Roman" charset="0"/>
              </a:rPr>
              <a:t>2</a:t>
            </a:r>
            <a:r>
              <a:rPr lang="en-US" sz="2800" dirty="0">
                <a:latin typeface="Times New Roman" charset="0"/>
              </a:rPr>
              <a:t> must be used for all of the keys</a:t>
            </a:r>
            <a:r>
              <a:rPr lang="en-US" dirty="0">
                <a:latin typeface="Times New Roman" charset="0"/>
              </a:rPr>
              <a:t>.</a:t>
            </a:r>
            <a:endParaRPr lang="en-US" b="1" dirty="0">
              <a:solidFill>
                <a:srgbClr val="00CC66"/>
              </a:solidFill>
              <a:latin typeface="Times New Roman" charset="0"/>
            </a:endParaRPr>
          </a:p>
        </p:txBody>
      </p:sp>
      <p:sp>
        <p:nvSpPr>
          <p:cNvPr id="249862" name="Rectangle 6" descr="Rectangle: Click to edit Master text styles&#10;Second level&#10;Third level&#10;Fourth level&#10;Fifth level"/>
          <p:cNvSpPr>
            <a:spLocks noChangeArrowheads="1"/>
          </p:cNvSpPr>
          <p:nvPr/>
        </p:nvSpPr>
        <p:spPr bwMode="auto">
          <a:xfrm>
            <a:off x="2230902" y="4571999"/>
            <a:ext cx="8839196" cy="1295400"/>
          </a:xfrm>
          <a:prstGeom prst="rect">
            <a:avLst/>
          </a:prstGeom>
          <a:noFill/>
          <a:ln w="9525">
            <a:noFill/>
            <a:miter lim="800000"/>
            <a:headEnd/>
            <a:tailEnd/>
          </a:ln>
          <a:effectLst/>
        </p:spPr>
        <p:txBody>
          <a:bodyPr/>
          <a:lstStyle/>
          <a:p>
            <a:pPr>
              <a:lnSpc>
                <a:spcPct val="100000"/>
              </a:lnSpc>
              <a:buClr>
                <a:schemeClr val="hlink"/>
              </a:buClr>
              <a:buSzPct val="110000"/>
            </a:pPr>
            <a:r>
              <a:rPr lang="en-US" dirty="0">
                <a:latin typeface="Times New Roman" charset="0"/>
              </a:rPr>
              <a:t>For Example:</a:t>
            </a:r>
          </a:p>
          <a:p>
            <a:pPr>
              <a:lnSpc>
                <a:spcPct val="100000"/>
              </a:lnSpc>
              <a:buClr>
                <a:schemeClr val="hlink"/>
              </a:buClr>
              <a:buSzPct val="110000"/>
            </a:pPr>
            <a:r>
              <a:rPr lang="en-US" i="1" dirty="0">
                <a:latin typeface="Times New Roman" charset="0"/>
              </a:rPr>
              <a:t>	H(k) = l</a:t>
            </a:r>
          </a:p>
          <a:p>
            <a:pPr>
              <a:lnSpc>
                <a:spcPct val="100000"/>
              </a:lnSpc>
              <a:buClr>
                <a:schemeClr val="hlink"/>
              </a:buClr>
              <a:buSzPct val="110000"/>
            </a:pPr>
            <a:r>
              <a:rPr lang="en-US" i="1" dirty="0">
                <a:latin typeface="Times New Roman" charset="0"/>
              </a:rPr>
              <a:t>	H(25) = 2				                              25</a:t>
            </a:r>
            <a:r>
              <a:rPr lang="en-US" i="1" baseline="30000" dirty="0">
                <a:latin typeface="Times New Roman" charset="0"/>
              </a:rPr>
              <a:t>2</a:t>
            </a:r>
            <a:r>
              <a:rPr lang="en-US" i="1" dirty="0">
                <a:latin typeface="Times New Roman" charset="0"/>
              </a:rPr>
              <a:t> = 6</a:t>
            </a:r>
            <a:r>
              <a:rPr lang="en-US" i="1" dirty="0">
                <a:solidFill>
                  <a:srgbClr val="FF0000"/>
                </a:solidFill>
                <a:latin typeface="Times New Roman" charset="0"/>
              </a:rPr>
              <a:t>2</a:t>
            </a:r>
            <a:r>
              <a:rPr lang="en-US" i="1" dirty="0">
                <a:latin typeface="Times New Roman" charset="0"/>
              </a:rPr>
              <a:t>5</a:t>
            </a:r>
            <a:endParaRPr lang="en-US" b="1" i="1" dirty="0">
              <a:solidFill>
                <a:srgbClr val="00CC66"/>
              </a:solidFill>
              <a:latin typeface="Times New Roman" charset="0"/>
            </a:endParaRPr>
          </a:p>
        </p:txBody>
      </p:sp>
      <p:sp>
        <p:nvSpPr>
          <p:cNvPr id="249863" name="Line 7"/>
          <p:cNvSpPr>
            <a:spLocks noChangeShapeType="1"/>
          </p:cNvSpPr>
          <p:nvPr/>
        </p:nvSpPr>
        <p:spPr bwMode="auto">
          <a:xfrm>
            <a:off x="8001000" y="5410200"/>
            <a:ext cx="0" cy="228600"/>
          </a:xfrm>
          <a:prstGeom prst="line">
            <a:avLst/>
          </a:prstGeom>
          <a:noFill/>
          <a:ln w="9525">
            <a:solidFill>
              <a:schemeClr val="tx1"/>
            </a:solidFill>
            <a:miter lim="800000"/>
            <a:headEnd/>
            <a:tailEnd/>
          </a:ln>
          <a:effectLst/>
        </p:spPr>
        <p:txBody>
          <a:bodyPr wrap="none"/>
          <a:lstStyle/>
          <a:p>
            <a:endParaRPr lang="en-US"/>
          </a:p>
        </p:txBody>
      </p:sp>
      <p:sp>
        <p:nvSpPr>
          <p:cNvPr id="249865" name="Line 9"/>
          <p:cNvSpPr>
            <a:spLocks noChangeShapeType="1"/>
          </p:cNvSpPr>
          <p:nvPr/>
        </p:nvSpPr>
        <p:spPr bwMode="auto">
          <a:xfrm flipH="1">
            <a:off x="3657600" y="5638800"/>
            <a:ext cx="4343400" cy="0"/>
          </a:xfrm>
          <a:prstGeom prst="line">
            <a:avLst/>
          </a:prstGeom>
          <a:noFill/>
          <a:ln w="9525">
            <a:solidFill>
              <a:schemeClr val="tx1"/>
            </a:solidFill>
            <a:miter lim="800000"/>
            <a:headEnd/>
            <a:tailEnd/>
          </a:ln>
          <a:effectLst/>
        </p:spPr>
        <p:txBody>
          <a:bodyPr wrap="none"/>
          <a:lstStyle/>
          <a:p>
            <a:endParaRPr lang="en-US"/>
          </a:p>
        </p:txBody>
      </p:sp>
      <p:sp>
        <p:nvSpPr>
          <p:cNvPr id="249866" name="Line 10"/>
          <p:cNvSpPr>
            <a:spLocks noChangeShapeType="1"/>
          </p:cNvSpPr>
          <p:nvPr/>
        </p:nvSpPr>
        <p:spPr bwMode="auto">
          <a:xfrm flipV="1">
            <a:off x="3657600" y="5410200"/>
            <a:ext cx="0" cy="228600"/>
          </a:xfrm>
          <a:prstGeom prst="line">
            <a:avLst/>
          </a:prstGeom>
          <a:noFill/>
          <a:ln w="9525">
            <a:solidFill>
              <a:schemeClr val="tx1"/>
            </a:solidFill>
            <a:miter lim="800000"/>
            <a:headEnd/>
            <a:tailEnd type="triangle" w="med" len="med"/>
          </a:ln>
          <a:effectLst/>
        </p:spPr>
        <p:txBody>
          <a:bodyPr wrap="none"/>
          <a:lstStyle/>
          <a:p>
            <a:endParaRPr lang="en-US"/>
          </a:p>
        </p:txBody>
      </p:sp>
    </p:spTree>
    <p:extLst>
      <p:ext uri="{BB962C8B-B14F-4D97-AF65-F5344CB8AC3E}">
        <p14:creationId xmlns:p14="http://schemas.microsoft.com/office/powerpoint/2010/main" val="1354133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4BB3A0-22C2-9182-9E9D-CE2B1714B7E5}"/>
              </a:ext>
            </a:extLst>
          </p:cNvPr>
          <p:cNvSpPr txBox="1"/>
          <p:nvPr/>
        </p:nvSpPr>
        <p:spPr>
          <a:xfrm>
            <a:off x="1295400" y="1219200"/>
            <a:ext cx="9829800" cy="3046988"/>
          </a:xfrm>
          <a:prstGeom prst="rect">
            <a:avLst/>
          </a:prstGeom>
          <a:noFill/>
        </p:spPr>
        <p:txBody>
          <a:bodyPr wrap="square">
            <a:spAutoFit/>
          </a:bodyPr>
          <a:lstStyle/>
          <a:p>
            <a:r>
              <a:rPr lang="en-US" sz="3200" dirty="0"/>
              <a:t>Steps for Mid Square Method</a:t>
            </a:r>
          </a:p>
          <a:p>
            <a:pPr marL="457200" indent="-457200">
              <a:buFont typeface="Arial" panose="020B0604020202020204" pitchFamily="34" charset="0"/>
              <a:buChar char="•"/>
            </a:pPr>
            <a:r>
              <a:rPr lang="en-US" sz="3200" b="1" dirty="0"/>
              <a:t>Square the Key: </a:t>
            </a:r>
            <a:r>
              <a:rPr lang="en-US" sz="3200" dirty="0"/>
              <a:t>Take the numeric key and square it.</a:t>
            </a:r>
          </a:p>
          <a:p>
            <a:pPr marL="457200" indent="-457200">
              <a:buFont typeface="Arial" panose="020B0604020202020204" pitchFamily="34" charset="0"/>
              <a:buChar char="•"/>
            </a:pPr>
            <a:r>
              <a:rPr lang="en-US" sz="3200" b="1" dirty="0"/>
              <a:t>Extract the Middle Digits:</a:t>
            </a:r>
            <a:r>
              <a:rPr lang="en-US" sz="3200" dirty="0"/>
              <a:t> Select a fixed number of digits from the middle of the squared result. The position and length of these digits depend on the size of the hash table.</a:t>
            </a:r>
          </a:p>
        </p:txBody>
      </p:sp>
    </p:spTree>
    <p:extLst>
      <p:ext uri="{BB962C8B-B14F-4D97-AF65-F5344CB8AC3E}">
        <p14:creationId xmlns:p14="http://schemas.microsoft.com/office/powerpoint/2010/main" val="805090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ChangeArrowheads="1"/>
          </p:cNvSpPr>
          <p:nvPr/>
        </p:nvSpPr>
        <p:spPr bwMode="auto">
          <a:xfrm>
            <a:off x="1066800" y="685800"/>
            <a:ext cx="6324600" cy="838200"/>
          </a:xfrm>
          <a:prstGeom prst="rect">
            <a:avLst/>
          </a:prstGeom>
          <a:noFill/>
          <a:ln w="9525">
            <a:noFill/>
            <a:miter lim="800000"/>
            <a:headEnd/>
            <a:tailEnd/>
          </a:ln>
          <a:effectLst/>
        </p:spPr>
        <p:txBody>
          <a:bodyPr anchor="b"/>
          <a:lstStyle/>
          <a:p>
            <a:pPr>
              <a:lnSpc>
                <a:spcPct val="100000"/>
              </a:lnSpc>
              <a:spcBef>
                <a:spcPct val="0"/>
              </a:spcBef>
              <a:buClrTx/>
              <a:buSzTx/>
            </a:pPr>
            <a:r>
              <a:rPr lang="en-US" sz="5000" dirty="0">
                <a:latin typeface="+mj-lt"/>
                <a:ea typeface="+mj-ea"/>
                <a:cs typeface="+mj-cs"/>
              </a:rPr>
              <a:t>Folding Method</a:t>
            </a:r>
          </a:p>
        </p:txBody>
      </p:sp>
      <p:sp>
        <p:nvSpPr>
          <p:cNvPr id="250884" name="Rectangle 4" descr="Rectangle: Click to edit Master text styles&#10;Second level&#10;Third level&#10;Fourth level&#10;Fifth level"/>
          <p:cNvSpPr>
            <a:spLocks noChangeArrowheads="1"/>
          </p:cNvSpPr>
          <p:nvPr/>
        </p:nvSpPr>
        <p:spPr bwMode="auto">
          <a:xfrm>
            <a:off x="1091044" y="1548245"/>
            <a:ext cx="10262755" cy="1295400"/>
          </a:xfrm>
          <a:prstGeom prst="rect">
            <a:avLst/>
          </a:prstGeom>
          <a:noFill/>
          <a:ln w="9525">
            <a:noFill/>
            <a:miter lim="800000"/>
            <a:headEnd/>
            <a:tailEnd/>
          </a:ln>
          <a:effectLst/>
        </p:spPr>
        <p:txBody>
          <a:bodyPr/>
          <a:lstStyle/>
          <a:p>
            <a:pPr>
              <a:lnSpc>
                <a:spcPct val="100000"/>
              </a:lnSpc>
              <a:buClr>
                <a:schemeClr val="hlink"/>
              </a:buClr>
              <a:buSzPct val="110000"/>
            </a:pPr>
            <a:r>
              <a:rPr lang="en-US" sz="2400" dirty="0">
                <a:latin typeface="Times New Roman" charset="0"/>
              </a:rPr>
              <a:t>The folding method for constructing hash functions begins by dividing the item into equal-size pieces (the last piece may not be of equal size). These pieces are then added together to give the resulting hash value.</a:t>
            </a:r>
            <a:endParaRPr lang="en-US" sz="2400" b="1" dirty="0">
              <a:solidFill>
                <a:srgbClr val="00CC66"/>
              </a:solidFill>
              <a:latin typeface="Times New Roman" charset="0"/>
            </a:endParaRPr>
          </a:p>
        </p:txBody>
      </p:sp>
      <p:sp>
        <p:nvSpPr>
          <p:cNvPr id="250892" name="Rectangle 12" descr="Rectangle: Click to edit Master text styles&#10;Second level&#10;Third level&#10;Fourth level&#10;Fifth level"/>
          <p:cNvSpPr>
            <a:spLocks noChangeArrowheads="1"/>
          </p:cNvSpPr>
          <p:nvPr/>
        </p:nvSpPr>
        <p:spPr bwMode="auto">
          <a:xfrm>
            <a:off x="1066800" y="2895600"/>
            <a:ext cx="10363200" cy="3276600"/>
          </a:xfrm>
          <a:prstGeom prst="rect">
            <a:avLst/>
          </a:prstGeom>
          <a:noFill/>
          <a:ln w="9525">
            <a:noFill/>
            <a:miter lim="800000"/>
            <a:headEnd/>
            <a:tailEnd/>
          </a:ln>
          <a:effectLst/>
        </p:spPr>
        <p:txBody>
          <a:bodyPr/>
          <a:lstStyle/>
          <a:p>
            <a:pPr>
              <a:lnSpc>
                <a:spcPct val="100000"/>
              </a:lnSpc>
              <a:buClr>
                <a:schemeClr val="hlink"/>
              </a:buClr>
              <a:buSzPct val="110000"/>
              <a:tabLst>
                <a:tab pos="2063750" algn="r"/>
                <a:tab pos="2282825" algn="l"/>
              </a:tabLst>
            </a:pPr>
            <a:r>
              <a:rPr lang="en-US" dirty="0">
                <a:latin typeface="Times New Roman" charset="0"/>
              </a:rPr>
              <a:t>For Example:</a:t>
            </a:r>
          </a:p>
          <a:p>
            <a:pPr>
              <a:lnSpc>
                <a:spcPct val="100000"/>
              </a:lnSpc>
              <a:buClr>
                <a:schemeClr val="hlink"/>
              </a:buClr>
              <a:buSzPct val="110000"/>
              <a:tabLst>
                <a:tab pos="2063750" algn="r"/>
                <a:tab pos="2282825" algn="l"/>
              </a:tabLst>
            </a:pPr>
            <a:endParaRPr lang="en-US" dirty="0">
              <a:latin typeface="Times New Roman" charset="0"/>
            </a:endParaRPr>
          </a:p>
          <a:p>
            <a:pPr>
              <a:lnSpc>
                <a:spcPct val="100000"/>
              </a:lnSpc>
              <a:buClr>
                <a:schemeClr val="hlink"/>
              </a:buClr>
              <a:buSzPct val="110000"/>
              <a:tabLst>
                <a:tab pos="2063750" algn="r"/>
                <a:tab pos="2282825" algn="l"/>
              </a:tabLst>
            </a:pPr>
            <a:r>
              <a:rPr lang="en-US" i="1" dirty="0">
                <a:latin typeface="Times New Roman" charset="0"/>
              </a:rPr>
              <a:t>	</a:t>
            </a:r>
            <a:r>
              <a:rPr lang="en-US" sz="2400" i="1" dirty="0">
                <a:latin typeface="Times New Roman" charset="0"/>
              </a:rPr>
              <a:t>For example, if our item was the phone number </a:t>
            </a:r>
            <a:r>
              <a:rPr lang="en-US" sz="2400" b="1" i="1" dirty="0">
                <a:latin typeface="Times New Roman" charset="0"/>
              </a:rPr>
              <a:t>436-555-4601</a:t>
            </a:r>
            <a:r>
              <a:rPr lang="en-US" sz="2400" i="1" dirty="0">
                <a:latin typeface="Times New Roman" charset="0"/>
              </a:rPr>
              <a:t>, we would take the digits and divide them into groups of 2 </a:t>
            </a:r>
            <a:r>
              <a:rPr lang="en-US" sz="2400" b="1" i="1" dirty="0">
                <a:latin typeface="Times New Roman" charset="0"/>
              </a:rPr>
              <a:t>(43,65,55,46,01). </a:t>
            </a:r>
            <a:r>
              <a:rPr lang="en-US" sz="2400" i="1" dirty="0">
                <a:latin typeface="Times New Roman" charset="0"/>
              </a:rPr>
              <a:t>After the addition, </a:t>
            </a:r>
          </a:p>
          <a:p>
            <a:pPr>
              <a:lnSpc>
                <a:spcPct val="100000"/>
              </a:lnSpc>
              <a:buClr>
                <a:schemeClr val="hlink"/>
              </a:buClr>
              <a:buSzPct val="110000"/>
              <a:tabLst>
                <a:tab pos="2063750" algn="r"/>
                <a:tab pos="2282825" algn="l"/>
              </a:tabLst>
            </a:pPr>
            <a:r>
              <a:rPr lang="en-US" sz="2400" i="1" dirty="0">
                <a:latin typeface="Times New Roman" charset="0"/>
              </a:rPr>
              <a:t>, we get </a:t>
            </a:r>
            <a:r>
              <a:rPr lang="en-US" sz="2400" b="1" i="1" dirty="0">
                <a:latin typeface="Times New Roman" charset="0"/>
              </a:rPr>
              <a:t>210.</a:t>
            </a:r>
            <a:r>
              <a:rPr lang="en-US" sz="2400" i="1" dirty="0">
                <a:latin typeface="Times New Roman" charset="0"/>
              </a:rPr>
              <a:t> </a:t>
            </a:r>
          </a:p>
          <a:p>
            <a:pPr>
              <a:lnSpc>
                <a:spcPct val="100000"/>
              </a:lnSpc>
              <a:buClr>
                <a:schemeClr val="hlink"/>
              </a:buClr>
              <a:buSzPct val="110000"/>
              <a:tabLst>
                <a:tab pos="2063750" algn="r"/>
                <a:tab pos="2282825" algn="l"/>
              </a:tabLst>
            </a:pPr>
            <a:r>
              <a:rPr lang="en-US" sz="2400" i="1" dirty="0">
                <a:latin typeface="Times New Roman" charset="0"/>
              </a:rPr>
              <a:t>If we assume our </a:t>
            </a:r>
            <a:r>
              <a:rPr lang="en-US" sz="2400" b="1" i="1" dirty="0">
                <a:latin typeface="Times New Roman" charset="0"/>
              </a:rPr>
              <a:t>hash table has 11 slots</a:t>
            </a:r>
            <a:r>
              <a:rPr lang="en-US" sz="2400" i="1" dirty="0">
                <a:latin typeface="Times New Roman" charset="0"/>
              </a:rPr>
              <a:t>, then we need to perform the extra step of dividing by 11 and keeping the remainder. In this case </a:t>
            </a:r>
            <a:r>
              <a:rPr lang="en-US" sz="2400" b="1" i="1" dirty="0">
                <a:latin typeface="Times New Roman" charset="0"/>
              </a:rPr>
              <a:t>210%11 is 1</a:t>
            </a:r>
            <a:r>
              <a:rPr lang="en-US" sz="2400" i="1" dirty="0">
                <a:latin typeface="Times New Roman" charset="0"/>
              </a:rPr>
              <a:t>, so the phone number </a:t>
            </a:r>
            <a:r>
              <a:rPr lang="en-US" sz="2400" b="1" i="1" dirty="0">
                <a:latin typeface="Times New Roman" charset="0"/>
              </a:rPr>
              <a:t>436-555-4601 hashes to slot 1. </a:t>
            </a:r>
          </a:p>
        </p:txBody>
      </p:sp>
    </p:spTree>
    <p:extLst>
      <p:ext uri="{BB962C8B-B14F-4D97-AF65-F5344CB8AC3E}">
        <p14:creationId xmlns:p14="http://schemas.microsoft.com/office/powerpoint/2010/main" val="2345080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8991600" cy="1143000"/>
          </a:xfrm>
        </p:spPr>
        <p:txBody>
          <a:bodyPr/>
          <a:lstStyle/>
          <a:p>
            <a:r>
              <a:rPr lang="en-US" dirty="0"/>
              <a:t>Simple definition and examples</a:t>
            </a:r>
          </a:p>
        </p:txBody>
      </p:sp>
      <p:sp>
        <p:nvSpPr>
          <p:cNvPr id="3" name="Content Placeholder 2"/>
          <p:cNvSpPr>
            <a:spLocks noGrp="1"/>
          </p:cNvSpPr>
          <p:nvPr>
            <p:ph idx="1"/>
          </p:nvPr>
        </p:nvSpPr>
        <p:spPr>
          <a:xfrm>
            <a:off x="762000" y="1219200"/>
            <a:ext cx="10896600" cy="2667000"/>
          </a:xfrm>
        </p:spPr>
        <p:txBody>
          <a:bodyPr>
            <a:normAutofit fontScale="92500"/>
          </a:bodyPr>
          <a:lstStyle/>
          <a:p>
            <a:pPr algn="just"/>
            <a:r>
              <a:rPr lang="en-US" sz="2400" dirty="0"/>
              <a:t>A hash fn takes a data item to be stored or retrieved and computes the 1</a:t>
            </a:r>
            <a:r>
              <a:rPr lang="en-US" sz="2400" baseline="30000" dirty="0"/>
              <a:t>st</a:t>
            </a:r>
            <a:r>
              <a:rPr lang="en-US" sz="2400" dirty="0"/>
              <a:t> choice for a location for the item.</a:t>
            </a:r>
          </a:p>
          <a:p>
            <a:r>
              <a:rPr lang="en-US" sz="2400" dirty="0"/>
              <a:t>Data: 15, 558, 32, 132, 102, 5</a:t>
            </a:r>
          </a:p>
          <a:p>
            <a:pPr algn="ctr"/>
            <a:r>
              <a:rPr lang="en-US" sz="2400" dirty="0"/>
              <a:t>H(n)= n mod 11</a:t>
            </a:r>
          </a:p>
          <a:p>
            <a:pPr algn="just"/>
            <a:r>
              <a:rPr lang="en-US" sz="2400" dirty="0"/>
              <a:t>If already fill, then stored in next higher empty cell. This process is called collision resolution policy.. Store the number in the next higher unoccupied cell e.g. </a:t>
            </a:r>
            <a:r>
              <a:rPr lang="en-US" sz="2400" b="1" dirty="0"/>
              <a:t>257 is stored at position 6.</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6938913"/>
              </p:ext>
            </p:extLst>
          </p:nvPr>
        </p:nvGraphicFramePr>
        <p:xfrm>
          <a:off x="2209800" y="3906520"/>
          <a:ext cx="6934202" cy="741680"/>
        </p:xfrm>
        <a:graphic>
          <a:graphicData uri="http://schemas.openxmlformats.org/drawingml/2006/table">
            <a:tbl>
              <a:tblPr firstRow="1" bandRow="1">
                <a:tableStyleId>{5C22544A-7EE6-4342-B048-85BDC9FD1C3A}</a:tableStyleId>
              </a:tblPr>
              <a:tblGrid>
                <a:gridCol w="630382">
                  <a:extLst>
                    <a:ext uri="{9D8B030D-6E8A-4147-A177-3AD203B41FA5}">
                      <a16:colId xmlns:a16="http://schemas.microsoft.com/office/drawing/2014/main" val="20000"/>
                    </a:ext>
                  </a:extLst>
                </a:gridCol>
                <a:gridCol w="630382">
                  <a:extLst>
                    <a:ext uri="{9D8B030D-6E8A-4147-A177-3AD203B41FA5}">
                      <a16:colId xmlns:a16="http://schemas.microsoft.com/office/drawing/2014/main" val="20001"/>
                    </a:ext>
                  </a:extLst>
                </a:gridCol>
                <a:gridCol w="630382">
                  <a:extLst>
                    <a:ext uri="{9D8B030D-6E8A-4147-A177-3AD203B41FA5}">
                      <a16:colId xmlns:a16="http://schemas.microsoft.com/office/drawing/2014/main" val="20002"/>
                    </a:ext>
                  </a:extLst>
                </a:gridCol>
                <a:gridCol w="630382">
                  <a:extLst>
                    <a:ext uri="{9D8B030D-6E8A-4147-A177-3AD203B41FA5}">
                      <a16:colId xmlns:a16="http://schemas.microsoft.com/office/drawing/2014/main" val="20003"/>
                    </a:ext>
                  </a:extLst>
                </a:gridCol>
                <a:gridCol w="630382">
                  <a:extLst>
                    <a:ext uri="{9D8B030D-6E8A-4147-A177-3AD203B41FA5}">
                      <a16:colId xmlns:a16="http://schemas.microsoft.com/office/drawing/2014/main" val="20004"/>
                    </a:ext>
                  </a:extLst>
                </a:gridCol>
                <a:gridCol w="630382">
                  <a:extLst>
                    <a:ext uri="{9D8B030D-6E8A-4147-A177-3AD203B41FA5}">
                      <a16:colId xmlns:a16="http://schemas.microsoft.com/office/drawing/2014/main" val="20005"/>
                    </a:ext>
                  </a:extLst>
                </a:gridCol>
                <a:gridCol w="630382">
                  <a:extLst>
                    <a:ext uri="{9D8B030D-6E8A-4147-A177-3AD203B41FA5}">
                      <a16:colId xmlns:a16="http://schemas.microsoft.com/office/drawing/2014/main" val="20006"/>
                    </a:ext>
                  </a:extLst>
                </a:gridCol>
                <a:gridCol w="630382">
                  <a:extLst>
                    <a:ext uri="{9D8B030D-6E8A-4147-A177-3AD203B41FA5}">
                      <a16:colId xmlns:a16="http://schemas.microsoft.com/office/drawing/2014/main" val="20007"/>
                    </a:ext>
                  </a:extLst>
                </a:gridCol>
                <a:gridCol w="630382">
                  <a:extLst>
                    <a:ext uri="{9D8B030D-6E8A-4147-A177-3AD203B41FA5}">
                      <a16:colId xmlns:a16="http://schemas.microsoft.com/office/drawing/2014/main" val="20008"/>
                    </a:ext>
                  </a:extLst>
                </a:gridCol>
                <a:gridCol w="630382">
                  <a:extLst>
                    <a:ext uri="{9D8B030D-6E8A-4147-A177-3AD203B41FA5}">
                      <a16:colId xmlns:a16="http://schemas.microsoft.com/office/drawing/2014/main" val="20009"/>
                    </a:ext>
                  </a:extLst>
                </a:gridCol>
                <a:gridCol w="630382">
                  <a:extLst>
                    <a:ext uri="{9D8B030D-6E8A-4147-A177-3AD203B41FA5}">
                      <a16:colId xmlns:a16="http://schemas.microsoft.com/office/drawing/2014/main" val="20010"/>
                    </a:ext>
                  </a:extLst>
                </a:gridCol>
              </a:tblGrid>
              <a:tr h="370840">
                <a:tc>
                  <a:txBody>
                    <a:bodyPr/>
                    <a:lstStyle/>
                    <a:p>
                      <a:r>
                        <a:rPr lang="en-US" dirty="0"/>
                        <a:t>132</a:t>
                      </a:r>
                    </a:p>
                  </a:txBody>
                  <a:tcPr/>
                </a:tc>
                <a:tc>
                  <a:txBody>
                    <a:bodyPr/>
                    <a:lstStyle/>
                    <a:p>
                      <a:endParaRPr lang="en-US" dirty="0"/>
                    </a:p>
                  </a:txBody>
                  <a:tcPr/>
                </a:tc>
                <a:tc>
                  <a:txBody>
                    <a:bodyPr/>
                    <a:lstStyle/>
                    <a:p>
                      <a:endParaRPr lang="en-US" dirty="0"/>
                    </a:p>
                  </a:txBody>
                  <a:tcPr/>
                </a:tc>
                <a:tc>
                  <a:txBody>
                    <a:bodyPr/>
                    <a:lstStyle/>
                    <a:p>
                      <a:r>
                        <a:rPr lang="en-US" dirty="0"/>
                        <a:t>102</a:t>
                      </a:r>
                    </a:p>
                  </a:txBody>
                  <a:tcPr/>
                </a:tc>
                <a:tc>
                  <a:txBody>
                    <a:bodyPr/>
                    <a:lstStyle/>
                    <a:p>
                      <a:r>
                        <a:rPr lang="en-US" dirty="0"/>
                        <a:t>15</a:t>
                      </a:r>
                    </a:p>
                  </a:txBody>
                  <a:tcPr/>
                </a:tc>
                <a:tc>
                  <a:txBody>
                    <a:bodyPr/>
                    <a:lstStyle/>
                    <a:p>
                      <a:r>
                        <a:rPr lang="en-US" dirty="0"/>
                        <a:t>5</a:t>
                      </a:r>
                    </a:p>
                  </a:txBody>
                  <a:tcPr/>
                </a:tc>
                <a:tc>
                  <a:txBody>
                    <a:bodyPr/>
                    <a:lstStyle/>
                    <a:p>
                      <a:r>
                        <a:rPr lang="en-US" dirty="0"/>
                        <a:t>257</a:t>
                      </a:r>
                    </a:p>
                  </a:txBody>
                  <a:tcPr/>
                </a:tc>
                <a:tc>
                  <a:txBody>
                    <a:bodyPr/>
                    <a:lstStyle/>
                    <a:p>
                      <a:endParaRPr lang="en-US" dirty="0"/>
                    </a:p>
                  </a:txBody>
                  <a:tcPr/>
                </a:tc>
                <a:tc>
                  <a:txBody>
                    <a:bodyPr/>
                    <a:lstStyle/>
                    <a:p>
                      <a:r>
                        <a:rPr lang="en-US" dirty="0"/>
                        <a:t>558</a:t>
                      </a:r>
                    </a:p>
                  </a:txBody>
                  <a:tcPr/>
                </a:tc>
                <a:tc>
                  <a:txBody>
                    <a:bodyPr/>
                    <a:lstStyle/>
                    <a:p>
                      <a:endParaRPr lang="en-US" dirty="0"/>
                    </a:p>
                  </a:txBody>
                  <a:tcPr/>
                </a:tc>
                <a:tc>
                  <a:txBody>
                    <a:bodyPr/>
                    <a:lstStyle/>
                    <a:p>
                      <a:r>
                        <a:rPr lang="en-US" dirty="0"/>
                        <a:t>32</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2209798" y="4775200"/>
          <a:ext cx="6934203" cy="1854200"/>
        </p:xfrm>
        <a:graphic>
          <a:graphicData uri="http://schemas.openxmlformats.org/drawingml/2006/table">
            <a:tbl>
              <a:tblPr firstRow="1" bandRow="1">
                <a:tableStyleId>{5C22544A-7EE6-4342-B048-85BDC9FD1C3A}</a:tableStyleId>
              </a:tblPr>
              <a:tblGrid>
                <a:gridCol w="2311401">
                  <a:extLst>
                    <a:ext uri="{9D8B030D-6E8A-4147-A177-3AD203B41FA5}">
                      <a16:colId xmlns:a16="http://schemas.microsoft.com/office/drawing/2014/main" val="20000"/>
                    </a:ext>
                  </a:extLst>
                </a:gridCol>
                <a:gridCol w="2311401">
                  <a:extLst>
                    <a:ext uri="{9D8B030D-6E8A-4147-A177-3AD203B41FA5}">
                      <a16:colId xmlns:a16="http://schemas.microsoft.com/office/drawing/2014/main" val="20001"/>
                    </a:ext>
                  </a:extLst>
                </a:gridCol>
                <a:gridCol w="2311401">
                  <a:extLst>
                    <a:ext uri="{9D8B030D-6E8A-4147-A177-3AD203B41FA5}">
                      <a16:colId xmlns:a16="http://schemas.microsoft.com/office/drawing/2014/main" val="20002"/>
                    </a:ext>
                  </a:extLst>
                </a:gridCol>
              </a:tblGrid>
              <a:tr h="370840">
                <a:tc>
                  <a:txBody>
                    <a:bodyPr/>
                    <a:lstStyle/>
                    <a:p>
                      <a:r>
                        <a:rPr lang="en-US" dirty="0"/>
                        <a:t>H(15)</a:t>
                      </a:r>
                    </a:p>
                  </a:txBody>
                  <a:tcPr/>
                </a:tc>
                <a:tc>
                  <a:txBody>
                    <a:bodyPr/>
                    <a:lstStyle/>
                    <a:p>
                      <a:r>
                        <a:rPr lang="en-US" dirty="0"/>
                        <a:t>15 mod 11</a:t>
                      </a:r>
                    </a:p>
                  </a:txBody>
                  <a:tcPr/>
                </a:tc>
                <a:tc>
                  <a:txBody>
                    <a:bodyPr/>
                    <a:lstStyle/>
                    <a:p>
                      <a:r>
                        <a:rPr lang="en-US" dirty="0"/>
                        <a:t>4</a:t>
                      </a:r>
                    </a:p>
                  </a:txBody>
                  <a:tcPr/>
                </a:tc>
                <a:extLst>
                  <a:ext uri="{0D108BD9-81ED-4DB2-BD59-A6C34878D82A}">
                    <a16:rowId xmlns:a16="http://schemas.microsoft.com/office/drawing/2014/main" val="10000"/>
                  </a:ext>
                </a:extLst>
              </a:tr>
              <a:tr h="370840">
                <a:tc>
                  <a:txBody>
                    <a:bodyPr/>
                    <a:lstStyle/>
                    <a:p>
                      <a:r>
                        <a:rPr lang="en-US" dirty="0"/>
                        <a:t>H(558)</a:t>
                      </a:r>
                    </a:p>
                  </a:txBody>
                  <a:tcPr/>
                </a:tc>
                <a:tc>
                  <a:txBody>
                    <a:bodyPr/>
                    <a:lstStyle/>
                    <a:p>
                      <a:r>
                        <a:rPr lang="en-US" dirty="0"/>
                        <a:t>558 mod 11</a:t>
                      </a:r>
                    </a:p>
                  </a:txBody>
                  <a:tcPr/>
                </a:tc>
                <a:tc>
                  <a:txBody>
                    <a:bodyPr/>
                    <a:lstStyle/>
                    <a:p>
                      <a:r>
                        <a:rPr lang="en-US" dirty="0"/>
                        <a:t>8</a:t>
                      </a:r>
                    </a:p>
                  </a:txBody>
                  <a:tcPr/>
                </a:tc>
                <a:extLst>
                  <a:ext uri="{0D108BD9-81ED-4DB2-BD59-A6C34878D82A}">
                    <a16:rowId xmlns:a16="http://schemas.microsoft.com/office/drawing/2014/main" val="10001"/>
                  </a:ext>
                </a:extLst>
              </a:tr>
              <a:tr h="370840">
                <a:tc>
                  <a:txBody>
                    <a:bodyPr/>
                    <a:lstStyle/>
                    <a:p>
                      <a:r>
                        <a:rPr lang="en-US" dirty="0"/>
                        <a:t>H(32)</a:t>
                      </a:r>
                    </a:p>
                  </a:txBody>
                  <a:tcPr/>
                </a:tc>
                <a:tc>
                  <a:txBody>
                    <a:bodyPr/>
                    <a:lstStyle/>
                    <a:p>
                      <a:r>
                        <a:rPr lang="en-US" dirty="0"/>
                        <a:t>32 mod 11</a:t>
                      </a:r>
                    </a:p>
                  </a:txBody>
                  <a:tcPr/>
                </a:tc>
                <a:tc>
                  <a:txBody>
                    <a:bodyPr/>
                    <a:lstStyle/>
                    <a:p>
                      <a:r>
                        <a:rPr lang="en-US" dirty="0"/>
                        <a:t>10</a:t>
                      </a:r>
                    </a:p>
                  </a:txBody>
                  <a:tcPr/>
                </a:tc>
                <a:extLst>
                  <a:ext uri="{0D108BD9-81ED-4DB2-BD59-A6C34878D82A}">
                    <a16:rowId xmlns:a16="http://schemas.microsoft.com/office/drawing/2014/main" val="10002"/>
                  </a:ext>
                </a:extLst>
              </a:tr>
              <a:tr h="370840">
                <a:tc>
                  <a:txBody>
                    <a:bodyPr/>
                    <a:lstStyle/>
                    <a:p>
                      <a:r>
                        <a:rPr lang="en-US" dirty="0"/>
                        <a:t>H(132)</a:t>
                      </a:r>
                    </a:p>
                  </a:txBody>
                  <a:tcPr/>
                </a:tc>
                <a:tc>
                  <a:txBody>
                    <a:bodyPr/>
                    <a:lstStyle/>
                    <a:p>
                      <a:r>
                        <a:rPr lang="en-US" dirty="0"/>
                        <a:t>132 mod 11</a:t>
                      </a:r>
                    </a:p>
                  </a:txBody>
                  <a:tcPr/>
                </a:tc>
                <a:tc>
                  <a:txBody>
                    <a:bodyPr/>
                    <a:lstStyle/>
                    <a:p>
                      <a:r>
                        <a:rPr lang="en-US" dirty="0"/>
                        <a:t>0</a:t>
                      </a:r>
                    </a:p>
                  </a:txBody>
                  <a:tcPr/>
                </a:tc>
                <a:extLst>
                  <a:ext uri="{0D108BD9-81ED-4DB2-BD59-A6C34878D82A}">
                    <a16:rowId xmlns:a16="http://schemas.microsoft.com/office/drawing/2014/main" val="10003"/>
                  </a:ext>
                </a:extLst>
              </a:tr>
              <a:tr h="370840">
                <a:tc>
                  <a:txBody>
                    <a:bodyPr/>
                    <a:lstStyle/>
                    <a:p>
                      <a:r>
                        <a:rPr lang="en-US" dirty="0"/>
                        <a:t>H(5)</a:t>
                      </a:r>
                    </a:p>
                  </a:txBody>
                  <a:tcPr/>
                </a:tc>
                <a:tc>
                  <a:txBody>
                    <a:bodyPr/>
                    <a:lstStyle/>
                    <a:p>
                      <a:r>
                        <a:rPr lang="en-US" dirty="0"/>
                        <a:t>5 mod 11</a:t>
                      </a:r>
                    </a:p>
                  </a:txBody>
                  <a:tcPr/>
                </a:tc>
                <a:tc>
                  <a:txBody>
                    <a:bodyPr/>
                    <a:lstStyle/>
                    <a:p>
                      <a:r>
                        <a:rPr lang="en-US" dirty="0"/>
                        <a:t>5</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56659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2133600" y="952500"/>
            <a:ext cx="8001000" cy="571500"/>
          </a:xfrm>
        </p:spPr>
        <p:txBody>
          <a:bodyPr>
            <a:noAutofit/>
          </a:bodyPr>
          <a:lstStyle/>
          <a:p>
            <a:r>
              <a:rPr lang="en-US" dirty="0"/>
              <a:t>Collisions</a:t>
            </a:r>
          </a:p>
        </p:txBody>
      </p:sp>
      <p:sp>
        <p:nvSpPr>
          <p:cNvPr id="244739" name="Rectangle 3" descr="Rectangle: Click to edit Master text styles&#10;Second level&#10;Third level&#10;Fourth level&#10;Fifth level"/>
          <p:cNvSpPr>
            <a:spLocks noGrp="1" noChangeArrowheads="1"/>
          </p:cNvSpPr>
          <p:nvPr>
            <p:ph idx="1"/>
          </p:nvPr>
        </p:nvSpPr>
        <p:spPr>
          <a:xfrm>
            <a:off x="990600" y="1752600"/>
            <a:ext cx="10210800" cy="4572000"/>
          </a:xfrm>
          <a:noFill/>
          <a:ln/>
        </p:spPr>
        <p:txBody>
          <a:bodyPr>
            <a:normAutofit/>
          </a:bodyPr>
          <a:lstStyle/>
          <a:p>
            <a:pPr algn="just">
              <a:lnSpc>
                <a:spcPct val="90000"/>
              </a:lnSpc>
            </a:pPr>
            <a:r>
              <a:rPr lang="en-US" sz="2800" dirty="0"/>
              <a:t>When two keys have the same hash value (they map to the same location) we have what is called a </a:t>
            </a:r>
            <a:r>
              <a:rPr lang="en-US" sz="2800" b="1" dirty="0">
                <a:solidFill>
                  <a:srgbClr val="CC0000"/>
                </a:solidFill>
              </a:rPr>
              <a:t>collision</a:t>
            </a:r>
            <a:r>
              <a:rPr lang="en-US" sz="2800" dirty="0"/>
              <a:t>.</a:t>
            </a:r>
          </a:p>
          <a:p>
            <a:pPr algn="just">
              <a:lnSpc>
                <a:spcPct val="90000"/>
              </a:lnSpc>
            </a:pPr>
            <a:r>
              <a:rPr lang="en-US" sz="2800" dirty="0"/>
              <a:t>When using a hash table we must have some </a:t>
            </a:r>
            <a:r>
              <a:rPr lang="en-US" sz="2800" b="1" dirty="0">
                <a:solidFill>
                  <a:srgbClr val="CC0000"/>
                </a:solidFill>
              </a:rPr>
              <a:t>collision resolution method</a:t>
            </a:r>
            <a:r>
              <a:rPr lang="en-US" sz="280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9F3689E-BF8B-85BF-46AB-0593DD18C5E5}"/>
              </a:ext>
            </a:extLst>
          </p:cNvPr>
          <p:cNvPicPr>
            <a:picLocks noGrp="1" noChangeAspect="1"/>
          </p:cNvPicPr>
          <p:nvPr>
            <p:ph idx="4294967295"/>
          </p:nvPr>
        </p:nvPicPr>
        <p:blipFill>
          <a:blip r:embed="rId2"/>
          <a:stretch>
            <a:fillRect/>
          </a:stretch>
        </p:blipFill>
        <p:spPr>
          <a:xfrm>
            <a:off x="2133600" y="423926"/>
            <a:ext cx="8305800" cy="6010147"/>
          </a:xfrm>
          <a:prstGeom prst="rect">
            <a:avLst/>
          </a:prstGeom>
        </p:spPr>
      </p:pic>
    </p:spTree>
    <p:extLst>
      <p:ext uri="{BB962C8B-B14F-4D97-AF65-F5344CB8AC3E}">
        <p14:creationId xmlns:p14="http://schemas.microsoft.com/office/powerpoint/2010/main" val="715458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8C034-3224-C83C-0707-B812B7529162}"/>
              </a:ext>
            </a:extLst>
          </p:cNvPr>
          <p:cNvSpPr>
            <a:spLocks noGrp="1"/>
          </p:cNvSpPr>
          <p:nvPr>
            <p:ph type="title"/>
          </p:nvPr>
        </p:nvSpPr>
        <p:spPr/>
        <p:txBody>
          <a:bodyPr/>
          <a:lstStyle/>
          <a:p>
            <a:r>
              <a:rPr lang="en-US" dirty="0"/>
              <a:t>Separate Chaining</a:t>
            </a:r>
          </a:p>
        </p:txBody>
      </p:sp>
      <p:sp>
        <p:nvSpPr>
          <p:cNvPr id="3" name="Content Placeholder 2">
            <a:extLst>
              <a:ext uri="{FF2B5EF4-FFF2-40B4-BE49-F238E27FC236}">
                <a16:creationId xmlns:a16="http://schemas.microsoft.com/office/drawing/2014/main" id="{D7A00554-9E44-6664-B7CE-BB084C91ABA1}"/>
              </a:ext>
            </a:extLst>
          </p:cNvPr>
          <p:cNvSpPr>
            <a:spLocks noGrp="1"/>
          </p:cNvSpPr>
          <p:nvPr>
            <p:ph idx="1"/>
          </p:nvPr>
        </p:nvSpPr>
        <p:spPr/>
        <p:txBody>
          <a:bodyPr/>
          <a:lstStyle/>
          <a:p>
            <a:r>
              <a:rPr lang="en-US" dirty="0"/>
              <a:t>To handle the collision,</a:t>
            </a:r>
          </a:p>
          <a:p>
            <a:endParaRPr lang="en-US" dirty="0"/>
          </a:p>
          <a:p>
            <a:pPr>
              <a:buFont typeface="Wingdings" panose="05000000000000000000" pitchFamily="2" charset="2"/>
              <a:buChar char="Ø"/>
            </a:pPr>
            <a:r>
              <a:rPr lang="en-US" dirty="0"/>
              <a:t>This technique creates a linked list to the slot for which collision occurs.</a:t>
            </a:r>
          </a:p>
          <a:p>
            <a:pPr>
              <a:buFont typeface="Wingdings" panose="05000000000000000000" pitchFamily="2" charset="2"/>
              <a:buChar char="Ø"/>
            </a:pPr>
            <a:r>
              <a:rPr lang="en-US" dirty="0"/>
              <a:t>The new key is then inserted in the linked list.</a:t>
            </a:r>
          </a:p>
          <a:p>
            <a:pPr>
              <a:buFont typeface="Wingdings" panose="05000000000000000000" pitchFamily="2" charset="2"/>
              <a:buChar char="Ø"/>
            </a:pPr>
            <a:r>
              <a:rPr lang="en-US" dirty="0"/>
              <a:t>These linked lists to the slots appear like chains.</a:t>
            </a:r>
          </a:p>
          <a:p>
            <a:pPr>
              <a:buFont typeface="Wingdings" panose="05000000000000000000" pitchFamily="2" charset="2"/>
              <a:buChar char="Ø"/>
            </a:pPr>
            <a:r>
              <a:rPr lang="en-US" dirty="0"/>
              <a:t>That is why, this technique is called as separate chaining.</a:t>
            </a:r>
          </a:p>
        </p:txBody>
      </p:sp>
    </p:spTree>
    <p:extLst>
      <p:ext uri="{BB962C8B-B14F-4D97-AF65-F5344CB8AC3E}">
        <p14:creationId xmlns:p14="http://schemas.microsoft.com/office/powerpoint/2010/main" val="1461617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ChangeArrowheads="1"/>
          </p:cNvSpPr>
          <p:nvPr/>
        </p:nvSpPr>
        <p:spPr bwMode="auto">
          <a:xfrm>
            <a:off x="1066800" y="628650"/>
            <a:ext cx="8001000" cy="571500"/>
          </a:xfrm>
          <a:prstGeom prst="rect">
            <a:avLst/>
          </a:prstGeom>
          <a:noFill/>
          <a:ln w="9525">
            <a:noFill/>
            <a:miter lim="800000"/>
            <a:headEnd/>
            <a:tailEnd/>
          </a:ln>
          <a:effectLst/>
        </p:spPr>
        <p:txBody>
          <a:bodyPr anchor="b"/>
          <a:lstStyle/>
          <a:p>
            <a:pPr>
              <a:lnSpc>
                <a:spcPct val="100000"/>
              </a:lnSpc>
              <a:spcBef>
                <a:spcPct val="0"/>
              </a:spcBef>
              <a:buClrTx/>
              <a:buSzTx/>
            </a:pPr>
            <a:r>
              <a:rPr lang="en-US" sz="5000" dirty="0">
                <a:solidFill>
                  <a:schemeClr val="tx2"/>
                </a:solidFill>
                <a:latin typeface="+mj-lt"/>
                <a:ea typeface="+mj-ea"/>
                <a:cs typeface="+mj-cs"/>
              </a:rPr>
              <a:t>Chaining</a:t>
            </a:r>
          </a:p>
        </p:txBody>
      </p:sp>
      <p:sp>
        <p:nvSpPr>
          <p:cNvPr id="253955" name="Rectangle 3" descr="Rectangle: Click to edit Master text styles&#10;Second level&#10;Third level&#10;Fourth level&#10;Fifth level"/>
          <p:cNvSpPr>
            <a:spLocks noChangeArrowheads="1"/>
          </p:cNvSpPr>
          <p:nvPr/>
        </p:nvSpPr>
        <p:spPr bwMode="auto">
          <a:xfrm>
            <a:off x="990600" y="1600200"/>
            <a:ext cx="8991600" cy="2362200"/>
          </a:xfrm>
          <a:prstGeom prst="rect">
            <a:avLst/>
          </a:prstGeom>
          <a:noFill/>
          <a:ln w="9525">
            <a:noFill/>
            <a:miter lim="800000"/>
            <a:headEnd/>
            <a:tailEnd/>
          </a:ln>
          <a:effectLst/>
        </p:spPr>
        <p:txBody>
          <a:bodyPr/>
          <a:lstStyle/>
          <a:p>
            <a:pPr marL="342900" indent="-342900">
              <a:buClr>
                <a:schemeClr val="hlink"/>
              </a:buClr>
              <a:buSzPct val="110000"/>
              <a:buBlip>
                <a:blip r:embed="rId2"/>
              </a:buBlip>
            </a:pPr>
            <a:r>
              <a:rPr lang="en-US" sz="2000" dirty="0"/>
              <a:t>Chaining involves maintaining two tables in memory.</a:t>
            </a:r>
          </a:p>
          <a:p>
            <a:pPr marL="742950" lvl="1" indent="-285750">
              <a:buClr>
                <a:schemeClr val="tx1"/>
              </a:buClr>
              <a:buSzPct val="110000"/>
              <a:buFont typeface="Wingdings" pitchFamily="2" charset="2"/>
              <a:buChar char="§"/>
            </a:pPr>
            <a:r>
              <a:rPr lang="en-US" sz="1400" dirty="0"/>
              <a:t>Hash Address Table</a:t>
            </a:r>
          </a:p>
          <a:p>
            <a:pPr marL="742950" lvl="1" indent="-285750">
              <a:buClr>
                <a:schemeClr val="tx1"/>
              </a:buClr>
              <a:buSzPct val="110000"/>
              <a:buFont typeface="Wingdings" pitchFamily="2" charset="2"/>
              <a:buChar char="§"/>
            </a:pPr>
            <a:r>
              <a:rPr lang="en-US" sz="1400" dirty="0"/>
              <a:t>Second Values Table</a:t>
            </a:r>
          </a:p>
          <a:p>
            <a:pPr marL="342900" indent="-342900">
              <a:buClr>
                <a:schemeClr val="hlink"/>
              </a:buClr>
              <a:buSzPct val="110000"/>
              <a:buBlip>
                <a:blip r:embed="rId2"/>
              </a:buBlip>
            </a:pPr>
            <a:r>
              <a:rPr lang="en-US" sz="2000" dirty="0"/>
              <a:t>First table is called Hash Address Table which contains links to the Values Table</a:t>
            </a:r>
          </a:p>
          <a:p>
            <a:pPr marL="342900" indent="-342900">
              <a:buClr>
                <a:schemeClr val="hlink"/>
              </a:buClr>
              <a:buSzPct val="110000"/>
              <a:buBlip>
                <a:blip r:embed="rId2"/>
              </a:buBlip>
            </a:pPr>
            <a:r>
              <a:rPr lang="en-US" sz="2000" dirty="0"/>
              <a:t>Second Tables contains Values Records, where each record consists on Data and a Pointer to the next Record</a:t>
            </a:r>
            <a:endParaRPr lang="en-US" sz="1400" dirty="0"/>
          </a:p>
        </p:txBody>
      </p:sp>
      <p:grpSp>
        <p:nvGrpSpPr>
          <p:cNvPr id="254181" name="Group 229"/>
          <p:cNvGrpSpPr>
            <a:grpSpLocks/>
          </p:cNvGrpSpPr>
          <p:nvPr/>
        </p:nvGrpSpPr>
        <p:grpSpPr bwMode="auto">
          <a:xfrm>
            <a:off x="3276600" y="3886200"/>
            <a:ext cx="5562600" cy="2590800"/>
            <a:chOff x="1104" y="2448"/>
            <a:chExt cx="3504" cy="1632"/>
          </a:xfrm>
        </p:grpSpPr>
        <p:sp>
          <p:nvSpPr>
            <p:cNvPr id="253994" name="Text Box 42"/>
            <p:cNvSpPr txBox="1">
              <a:spLocks noChangeArrowheads="1"/>
            </p:cNvSpPr>
            <p:nvPr/>
          </p:nvSpPr>
          <p:spPr bwMode="auto">
            <a:xfrm>
              <a:off x="1104" y="244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0</a:t>
              </a:r>
            </a:p>
          </p:txBody>
        </p:sp>
        <p:sp>
          <p:nvSpPr>
            <p:cNvPr id="253995" name="Text Box 43"/>
            <p:cNvSpPr txBox="1">
              <a:spLocks noChangeArrowheads="1"/>
            </p:cNvSpPr>
            <p:nvPr/>
          </p:nvSpPr>
          <p:spPr bwMode="auto">
            <a:xfrm>
              <a:off x="1114" y="268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1</a:t>
              </a:r>
            </a:p>
          </p:txBody>
        </p:sp>
        <p:sp>
          <p:nvSpPr>
            <p:cNvPr id="253996" name="Text Box 44"/>
            <p:cNvSpPr txBox="1">
              <a:spLocks noChangeArrowheads="1"/>
            </p:cNvSpPr>
            <p:nvPr/>
          </p:nvSpPr>
          <p:spPr bwMode="auto">
            <a:xfrm>
              <a:off x="1114" y="292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2</a:t>
              </a:r>
            </a:p>
          </p:txBody>
        </p:sp>
        <p:sp>
          <p:nvSpPr>
            <p:cNvPr id="253997" name="Text Box 45"/>
            <p:cNvSpPr txBox="1">
              <a:spLocks noChangeArrowheads="1"/>
            </p:cNvSpPr>
            <p:nvPr/>
          </p:nvSpPr>
          <p:spPr bwMode="auto">
            <a:xfrm>
              <a:off x="1114" y="316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3</a:t>
              </a:r>
            </a:p>
          </p:txBody>
        </p:sp>
        <p:sp>
          <p:nvSpPr>
            <p:cNvPr id="253998" name="Text Box 46"/>
            <p:cNvSpPr txBox="1">
              <a:spLocks noChangeArrowheads="1"/>
            </p:cNvSpPr>
            <p:nvPr/>
          </p:nvSpPr>
          <p:spPr bwMode="auto">
            <a:xfrm>
              <a:off x="1114" y="338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4</a:t>
              </a:r>
            </a:p>
          </p:txBody>
        </p:sp>
        <p:sp>
          <p:nvSpPr>
            <p:cNvPr id="253999" name="Text Box 47"/>
            <p:cNvSpPr txBox="1">
              <a:spLocks noChangeArrowheads="1"/>
            </p:cNvSpPr>
            <p:nvPr/>
          </p:nvSpPr>
          <p:spPr bwMode="auto">
            <a:xfrm>
              <a:off x="1114" y="362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5</a:t>
              </a:r>
            </a:p>
          </p:txBody>
        </p:sp>
        <p:sp>
          <p:nvSpPr>
            <p:cNvPr id="254000" name="Text Box 48"/>
            <p:cNvSpPr txBox="1">
              <a:spLocks noChangeArrowheads="1"/>
            </p:cNvSpPr>
            <p:nvPr/>
          </p:nvSpPr>
          <p:spPr bwMode="auto">
            <a:xfrm>
              <a:off x="1114" y="386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6</a:t>
              </a:r>
            </a:p>
          </p:txBody>
        </p:sp>
        <p:sp>
          <p:nvSpPr>
            <p:cNvPr id="254029" name="Oval 77"/>
            <p:cNvSpPr>
              <a:spLocks noChangeArrowheads="1"/>
            </p:cNvSpPr>
            <p:nvPr/>
          </p:nvSpPr>
          <p:spPr bwMode="auto">
            <a:xfrm>
              <a:off x="1392"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088" name="Rectangle 136"/>
            <p:cNvSpPr>
              <a:spLocks noChangeArrowheads="1"/>
            </p:cNvSpPr>
            <p:nvPr/>
          </p:nvSpPr>
          <p:spPr bwMode="auto">
            <a:xfrm>
              <a:off x="1296"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089" name="Oval 137"/>
            <p:cNvSpPr>
              <a:spLocks noChangeArrowheads="1"/>
            </p:cNvSpPr>
            <p:nvPr/>
          </p:nvSpPr>
          <p:spPr bwMode="auto">
            <a:xfrm>
              <a:off x="1392" y="273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090" name="Rectangle 138"/>
            <p:cNvSpPr>
              <a:spLocks noChangeArrowheads="1"/>
            </p:cNvSpPr>
            <p:nvPr/>
          </p:nvSpPr>
          <p:spPr bwMode="auto">
            <a:xfrm>
              <a:off x="1296" y="268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091" name="Oval 139"/>
            <p:cNvSpPr>
              <a:spLocks noChangeArrowheads="1"/>
            </p:cNvSpPr>
            <p:nvPr/>
          </p:nvSpPr>
          <p:spPr bwMode="auto">
            <a:xfrm>
              <a:off x="1392" y="297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092" name="Rectangle 140"/>
            <p:cNvSpPr>
              <a:spLocks noChangeArrowheads="1"/>
            </p:cNvSpPr>
            <p:nvPr/>
          </p:nvSpPr>
          <p:spPr bwMode="auto">
            <a:xfrm>
              <a:off x="1296" y="292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093" name="Oval 141"/>
            <p:cNvSpPr>
              <a:spLocks noChangeArrowheads="1"/>
            </p:cNvSpPr>
            <p:nvPr/>
          </p:nvSpPr>
          <p:spPr bwMode="auto">
            <a:xfrm>
              <a:off x="1392" y="321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094" name="Rectangle 142"/>
            <p:cNvSpPr>
              <a:spLocks noChangeArrowheads="1"/>
            </p:cNvSpPr>
            <p:nvPr/>
          </p:nvSpPr>
          <p:spPr bwMode="auto">
            <a:xfrm>
              <a:off x="1296" y="316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095" name="Oval 143"/>
            <p:cNvSpPr>
              <a:spLocks noChangeArrowheads="1"/>
            </p:cNvSpPr>
            <p:nvPr/>
          </p:nvSpPr>
          <p:spPr bwMode="auto">
            <a:xfrm>
              <a:off x="1392" y="345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096" name="Rectangle 144"/>
            <p:cNvSpPr>
              <a:spLocks noChangeArrowheads="1"/>
            </p:cNvSpPr>
            <p:nvPr/>
          </p:nvSpPr>
          <p:spPr bwMode="auto">
            <a:xfrm>
              <a:off x="1296" y="340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097" name="Oval 145"/>
            <p:cNvSpPr>
              <a:spLocks noChangeArrowheads="1"/>
            </p:cNvSpPr>
            <p:nvPr/>
          </p:nvSpPr>
          <p:spPr bwMode="auto">
            <a:xfrm>
              <a:off x="1392" y="369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098" name="Rectangle 146"/>
            <p:cNvSpPr>
              <a:spLocks noChangeArrowheads="1"/>
            </p:cNvSpPr>
            <p:nvPr/>
          </p:nvSpPr>
          <p:spPr bwMode="auto">
            <a:xfrm>
              <a:off x="1296" y="364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099" name="Oval 147"/>
            <p:cNvSpPr>
              <a:spLocks noChangeArrowheads="1"/>
            </p:cNvSpPr>
            <p:nvPr/>
          </p:nvSpPr>
          <p:spPr bwMode="auto">
            <a:xfrm>
              <a:off x="1392" y="393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00" name="Rectangle 148"/>
            <p:cNvSpPr>
              <a:spLocks noChangeArrowheads="1"/>
            </p:cNvSpPr>
            <p:nvPr/>
          </p:nvSpPr>
          <p:spPr bwMode="auto">
            <a:xfrm>
              <a:off x="1296" y="3888"/>
              <a:ext cx="288" cy="192"/>
            </a:xfrm>
            <a:prstGeom prst="rect">
              <a:avLst/>
            </a:prstGeom>
            <a:noFill/>
            <a:ln w="12700">
              <a:solidFill>
                <a:schemeClr val="tx1"/>
              </a:solidFill>
              <a:miter lim="800000"/>
              <a:headEnd/>
              <a:tailEnd/>
            </a:ln>
            <a:effectLst/>
          </p:spPr>
          <p:txBody>
            <a:bodyPr wrap="none" anchor="ctr"/>
            <a:lstStyle/>
            <a:p>
              <a:endParaRPr lang="en-US"/>
            </a:p>
          </p:txBody>
        </p:sp>
        <p:grpSp>
          <p:nvGrpSpPr>
            <p:cNvPr id="254108" name="Group 156"/>
            <p:cNvGrpSpPr>
              <a:grpSpLocks/>
            </p:cNvGrpSpPr>
            <p:nvPr/>
          </p:nvGrpSpPr>
          <p:grpSpPr bwMode="auto">
            <a:xfrm>
              <a:off x="1584" y="2461"/>
              <a:ext cx="1008" cy="192"/>
              <a:chOff x="2256" y="2736"/>
              <a:chExt cx="1008" cy="192"/>
            </a:xfrm>
          </p:grpSpPr>
          <p:sp>
            <p:nvSpPr>
              <p:cNvPr id="254103" name="Rectangle 151"/>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04" name="Oval 152"/>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05" name="Rectangle 153"/>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06" name="Line 154"/>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09" name="Group 157"/>
            <p:cNvGrpSpPr>
              <a:grpSpLocks/>
            </p:cNvGrpSpPr>
            <p:nvPr/>
          </p:nvGrpSpPr>
          <p:grpSpPr bwMode="auto">
            <a:xfrm>
              <a:off x="2592" y="2461"/>
              <a:ext cx="1008" cy="192"/>
              <a:chOff x="2256" y="2736"/>
              <a:chExt cx="1008" cy="192"/>
            </a:xfrm>
          </p:grpSpPr>
          <p:sp>
            <p:nvSpPr>
              <p:cNvPr id="254110" name="Rectangle 158"/>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11" name="Oval 159"/>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12" name="Rectangle 160"/>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13" name="Line 161"/>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14" name="Group 162"/>
            <p:cNvGrpSpPr>
              <a:grpSpLocks/>
            </p:cNvGrpSpPr>
            <p:nvPr/>
          </p:nvGrpSpPr>
          <p:grpSpPr bwMode="auto">
            <a:xfrm>
              <a:off x="3600" y="2461"/>
              <a:ext cx="1008" cy="192"/>
              <a:chOff x="2256" y="2736"/>
              <a:chExt cx="1008" cy="192"/>
            </a:xfrm>
          </p:grpSpPr>
          <p:sp>
            <p:nvSpPr>
              <p:cNvPr id="254115" name="Rectangle 163"/>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16" name="Oval 164"/>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17" name="Rectangle 165"/>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18" name="Line 166"/>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19" name="Group 167"/>
            <p:cNvGrpSpPr>
              <a:grpSpLocks/>
            </p:cNvGrpSpPr>
            <p:nvPr/>
          </p:nvGrpSpPr>
          <p:grpSpPr bwMode="auto">
            <a:xfrm>
              <a:off x="1584" y="2688"/>
              <a:ext cx="1008" cy="192"/>
              <a:chOff x="2256" y="2736"/>
              <a:chExt cx="1008" cy="192"/>
            </a:xfrm>
          </p:grpSpPr>
          <p:sp>
            <p:nvSpPr>
              <p:cNvPr id="254120" name="Rectangle 168"/>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21" name="Oval 169"/>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22" name="Rectangle 170"/>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23" name="Line 171"/>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39" name="Group 187"/>
            <p:cNvGrpSpPr>
              <a:grpSpLocks/>
            </p:cNvGrpSpPr>
            <p:nvPr/>
          </p:nvGrpSpPr>
          <p:grpSpPr bwMode="auto">
            <a:xfrm>
              <a:off x="1584" y="3168"/>
              <a:ext cx="1008" cy="192"/>
              <a:chOff x="2256" y="2736"/>
              <a:chExt cx="1008" cy="192"/>
            </a:xfrm>
          </p:grpSpPr>
          <p:sp>
            <p:nvSpPr>
              <p:cNvPr id="254140" name="Rectangle 188"/>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41" name="Oval 189"/>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42" name="Rectangle 190"/>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43" name="Line 191"/>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49" name="Group 197"/>
            <p:cNvGrpSpPr>
              <a:grpSpLocks/>
            </p:cNvGrpSpPr>
            <p:nvPr/>
          </p:nvGrpSpPr>
          <p:grpSpPr bwMode="auto">
            <a:xfrm>
              <a:off x="1584" y="3408"/>
              <a:ext cx="1008" cy="192"/>
              <a:chOff x="2256" y="2736"/>
              <a:chExt cx="1008" cy="192"/>
            </a:xfrm>
          </p:grpSpPr>
          <p:sp>
            <p:nvSpPr>
              <p:cNvPr id="254150" name="Rectangle 198"/>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51" name="Oval 199"/>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52" name="Rectangle 200"/>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53" name="Line 201"/>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54" name="Group 202"/>
            <p:cNvGrpSpPr>
              <a:grpSpLocks/>
            </p:cNvGrpSpPr>
            <p:nvPr/>
          </p:nvGrpSpPr>
          <p:grpSpPr bwMode="auto">
            <a:xfrm>
              <a:off x="2592" y="3408"/>
              <a:ext cx="1008" cy="192"/>
              <a:chOff x="2256" y="2736"/>
              <a:chExt cx="1008" cy="192"/>
            </a:xfrm>
          </p:grpSpPr>
          <p:sp>
            <p:nvSpPr>
              <p:cNvPr id="254155" name="Rectangle 203"/>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56" name="Oval 204"/>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57" name="Rectangle 205"/>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58" name="Line 206"/>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69" name="Group 217"/>
            <p:cNvGrpSpPr>
              <a:grpSpLocks/>
            </p:cNvGrpSpPr>
            <p:nvPr/>
          </p:nvGrpSpPr>
          <p:grpSpPr bwMode="auto">
            <a:xfrm>
              <a:off x="1584" y="3888"/>
              <a:ext cx="1008" cy="192"/>
              <a:chOff x="2256" y="2736"/>
              <a:chExt cx="1008" cy="192"/>
            </a:xfrm>
          </p:grpSpPr>
          <p:sp>
            <p:nvSpPr>
              <p:cNvPr id="254170" name="Rectangle 218"/>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71" name="Oval 219"/>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72" name="Rectangle 220"/>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73" name="Line 221"/>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nvGrpSpPr>
            <p:cNvPr id="254174" name="Group 222"/>
            <p:cNvGrpSpPr>
              <a:grpSpLocks/>
            </p:cNvGrpSpPr>
            <p:nvPr/>
          </p:nvGrpSpPr>
          <p:grpSpPr bwMode="auto">
            <a:xfrm>
              <a:off x="3600" y="3408"/>
              <a:ext cx="1008" cy="192"/>
              <a:chOff x="2256" y="2736"/>
              <a:chExt cx="1008" cy="192"/>
            </a:xfrm>
          </p:grpSpPr>
          <p:sp>
            <p:nvSpPr>
              <p:cNvPr id="254175" name="Rectangle 223"/>
              <p:cNvSpPr>
                <a:spLocks noChangeArrowheads="1"/>
              </p:cNvSpPr>
              <p:nvPr/>
            </p:nvSpPr>
            <p:spPr bwMode="auto">
              <a:xfrm>
                <a:off x="2496" y="2736"/>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sz="1400"/>
              </a:p>
            </p:txBody>
          </p:sp>
          <p:sp>
            <p:nvSpPr>
              <p:cNvPr id="254176" name="Oval 224"/>
              <p:cNvSpPr>
                <a:spLocks noChangeArrowheads="1"/>
              </p:cNvSpPr>
              <p:nvPr/>
            </p:nvSpPr>
            <p:spPr bwMode="auto">
              <a:xfrm>
                <a:off x="3072" y="2784"/>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4177" name="Rectangle 225"/>
              <p:cNvSpPr>
                <a:spLocks noChangeArrowheads="1"/>
              </p:cNvSpPr>
              <p:nvPr/>
            </p:nvSpPr>
            <p:spPr bwMode="auto">
              <a:xfrm>
                <a:off x="2976" y="2736"/>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4178" name="Line 226"/>
              <p:cNvSpPr>
                <a:spLocks noChangeShapeType="1"/>
              </p:cNvSpPr>
              <p:nvPr/>
            </p:nvSpPr>
            <p:spPr bwMode="auto">
              <a:xfrm>
                <a:off x="2256" y="2832"/>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spTree>
    <p:extLst>
      <p:ext uri="{BB962C8B-B14F-4D97-AF65-F5344CB8AC3E}">
        <p14:creationId xmlns:p14="http://schemas.microsoft.com/office/powerpoint/2010/main" val="999234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ChangeArrowheads="1"/>
          </p:cNvSpPr>
          <p:nvPr/>
        </p:nvSpPr>
        <p:spPr bwMode="auto">
          <a:xfrm>
            <a:off x="1905000" y="609600"/>
            <a:ext cx="8001000" cy="571500"/>
          </a:xfrm>
          <a:prstGeom prst="rect">
            <a:avLst/>
          </a:prstGeom>
          <a:noFill/>
          <a:ln w="9525">
            <a:noFill/>
            <a:miter lim="800000"/>
            <a:headEnd/>
            <a:tailEnd/>
          </a:ln>
          <a:effectLst/>
        </p:spPr>
        <p:txBody>
          <a:bodyPr anchor="b"/>
          <a:lstStyle/>
          <a:p>
            <a:pPr>
              <a:lnSpc>
                <a:spcPct val="100000"/>
              </a:lnSpc>
              <a:spcBef>
                <a:spcPct val="0"/>
              </a:spcBef>
              <a:buClrTx/>
              <a:buSzTx/>
              <a:buFont typeface="Wingdings" pitchFamily="2" charset="2"/>
              <a:buNone/>
            </a:pPr>
            <a:r>
              <a:rPr lang="en-US" sz="5000" dirty="0">
                <a:solidFill>
                  <a:schemeClr val="tx2"/>
                </a:solidFill>
                <a:latin typeface="+mj-lt"/>
                <a:ea typeface="+mj-ea"/>
                <a:cs typeface="+mj-cs"/>
              </a:rPr>
              <a:t>Chaining Example</a:t>
            </a:r>
          </a:p>
        </p:txBody>
      </p:sp>
      <p:sp>
        <p:nvSpPr>
          <p:cNvPr id="254979" name="Text Box 3"/>
          <p:cNvSpPr txBox="1">
            <a:spLocks noChangeArrowheads="1"/>
          </p:cNvSpPr>
          <p:nvPr/>
        </p:nvSpPr>
        <p:spPr bwMode="auto">
          <a:xfrm>
            <a:off x="2209800" y="1066800"/>
            <a:ext cx="1225272" cy="369332"/>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b="1">
                <a:solidFill>
                  <a:srgbClr val="FF0000"/>
                </a:solidFill>
              </a:rPr>
              <a:t>Insert Keys</a:t>
            </a:r>
          </a:p>
        </p:txBody>
      </p:sp>
      <p:grpSp>
        <p:nvGrpSpPr>
          <p:cNvPr id="255246" name="Group 270"/>
          <p:cNvGrpSpPr>
            <a:grpSpLocks/>
          </p:cNvGrpSpPr>
          <p:nvPr/>
        </p:nvGrpSpPr>
        <p:grpSpPr bwMode="auto">
          <a:xfrm>
            <a:off x="3276600" y="3886200"/>
            <a:ext cx="762000" cy="2590800"/>
            <a:chOff x="1104" y="2448"/>
            <a:chExt cx="480" cy="1632"/>
          </a:xfrm>
        </p:grpSpPr>
        <p:sp>
          <p:nvSpPr>
            <p:cNvPr id="255179" name="Text Box 203"/>
            <p:cNvSpPr txBox="1">
              <a:spLocks noChangeArrowheads="1"/>
            </p:cNvSpPr>
            <p:nvPr/>
          </p:nvSpPr>
          <p:spPr bwMode="auto">
            <a:xfrm>
              <a:off x="1104" y="244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0</a:t>
              </a:r>
            </a:p>
          </p:txBody>
        </p:sp>
        <p:sp>
          <p:nvSpPr>
            <p:cNvPr id="255180" name="Text Box 204"/>
            <p:cNvSpPr txBox="1">
              <a:spLocks noChangeArrowheads="1"/>
            </p:cNvSpPr>
            <p:nvPr/>
          </p:nvSpPr>
          <p:spPr bwMode="auto">
            <a:xfrm>
              <a:off x="1114" y="268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1</a:t>
              </a:r>
            </a:p>
          </p:txBody>
        </p:sp>
        <p:sp>
          <p:nvSpPr>
            <p:cNvPr id="255181" name="Text Box 205"/>
            <p:cNvSpPr txBox="1">
              <a:spLocks noChangeArrowheads="1"/>
            </p:cNvSpPr>
            <p:nvPr/>
          </p:nvSpPr>
          <p:spPr bwMode="auto">
            <a:xfrm>
              <a:off x="1114" y="292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2</a:t>
              </a:r>
            </a:p>
          </p:txBody>
        </p:sp>
        <p:sp>
          <p:nvSpPr>
            <p:cNvPr id="255182" name="Text Box 206"/>
            <p:cNvSpPr txBox="1">
              <a:spLocks noChangeArrowheads="1"/>
            </p:cNvSpPr>
            <p:nvPr/>
          </p:nvSpPr>
          <p:spPr bwMode="auto">
            <a:xfrm>
              <a:off x="1114" y="316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3</a:t>
              </a:r>
            </a:p>
          </p:txBody>
        </p:sp>
        <p:sp>
          <p:nvSpPr>
            <p:cNvPr id="255183" name="Text Box 207"/>
            <p:cNvSpPr txBox="1">
              <a:spLocks noChangeArrowheads="1"/>
            </p:cNvSpPr>
            <p:nvPr/>
          </p:nvSpPr>
          <p:spPr bwMode="auto">
            <a:xfrm>
              <a:off x="1114" y="338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4</a:t>
              </a:r>
            </a:p>
          </p:txBody>
        </p:sp>
        <p:sp>
          <p:nvSpPr>
            <p:cNvPr id="255184" name="Text Box 208"/>
            <p:cNvSpPr txBox="1">
              <a:spLocks noChangeArrowheads="1"/>
            </p:cNvSpPr>
            <p:nvPr/>
          </p:nvSpPr>
          <p:spPr bwMode="auto">
            <a:xfrm>
              <a:off x="1114" y="362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5</a:t>
              </a:r>
            </a:p>
          </p:txBody>
        </p:sp>
        <p:sp>
          <p:nvSpPr>
            <p:cNvPr id="255185" name="Text Box 209"/>
            <p:cNvSpPr txBox="1">
              <a:spLocks noChangeArrowheads="1"/>
            </p:cNvSpPr>
            <p:nvPr/>
          </p:nvSpPr>
          <p:spPr bwMode="auto">
            <a:xfrm>
              <a:off x="1114" y="3868"/>
              <a:ext cx="186" cy="212"/>
            </a:xfrm>
            <a:prstGeom prst="rect">
              <a:avLst/>
            </a:prstGeom>
            <a:noFill/>
            <a:ln w="9525">
              <a:noFill/>
              <a:miter lim="800000"/>
              <a:headEnd/>
              <a:tailEnd/>
            </a:ln>
            <a:effectLst/>
          </p:spPr>
          <p:txBody>
            <a:bodyPr wrap="none">
              <a:spAutoFit/>
            </a:bodyPr>
            <a:lstStyle/>
            <a:p>
              <a:pPr algn="r">
                <a:lnSpc>
                  <a:spcPct val="100000"/>
                </a:lnSpc>
                <a:spcBef>
                  <a:spcPct val="0"/>
                </a:spcBef>
                <a:buClrTx/>
                <a:buSzTx/>
                <a:buFontTx/>
                <a:buNone/>
              </a:pPr>
              <a:r>
                <a:rPr lang="en-US" sz="1600">
                  <a:solidFill>
                    <a:srgbClr val="22AA22"/>
                  </a:solidFill>
                </a:rPr>
                <a:t>6</a:t>
              </a:r>
            </a:p>
          </p:txBody>
        </p:sp>
        <p:sp>
          <p:nvSpPr>
            <p:cNvPr id="255186" name="Oval 210"/>
            <p:cNvSpPr>
              <a:spLocks noChangeArrowheads="1"/>
            </p:cNvSpPr>
            <p:nvPr/>
          </p:nvSpPr>
          <p:spPr bwMode="auto">
            <a:xfrm>
              <a:off x="1392"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187" name="Rectangle 211"/>
            <p:cNvSpPr>
              <a:spLocks noChangeArrowheads="1"/>
            </p:cNvSpPr>
            <p:nvPr/>
          </p:nvSpPr>
          <p:spPr bwMode="auto">
            <a:xfrm>
              <a:off x="1296"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188" name="Oval 212"/>
            <p:cNvSpPr>
              <a:spLocks noChangeArrowheads="1"/>
            </p:cNvSpPr>
            <p:nvPr/>
          </p:nvSpPr>
          <p:spPr bwMode="auto">
            <a:xfrm>
              <a:off x="1392" y="273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189" name="Rectangle 213"/>
            <p:cNvSpPr>
              <a:spLocks noChangeArrowheads="1"/>
            </p:cNvSpPr>
            <p:nvPr/>
          </p:nvSpPr>
          <p:spPr bwMode="auto">
            <a:xfrm>
              <a:off x="1296" y="268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190" name="Oval 214"/>
            <p:cNvSpPr>
              <a:spLocks noChangeArrowheads="1"/>
            </p:cNvSpPr>
            <p:nvPr/>
          </p:nvSpPr>
          <p:spPr bwMode="auto">
            <a:xfrm>
              <a:off x="1392" y="297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191" name="Rectangle 215"/>
            <p:cNvSpPr>
              <a:spLocks noChangeArrowheads="1"/>
            </p:cNvSpPr>
            <p:nvPr/>
          </p:nvSpPr>
          <p:spPr bwMode="auto">
            <a:xfrm>
              <a:off x="1296" y="292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192" name="Oval 216"/>
            <p:cNvSpPr>
              <a:spLocks noChangeArrowheads="1"/>
            </p:cNvSpPr>
            <p:nvPr/>
          </p:nvSpPr>
          <p:spPr bwMode="auto">
            <a:xfrm>
              <a:off x="1392" y="321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193" name="Rectangle 217"/>
            <p:cNvSpPr>
              <a:spLocks noChangeArrowheads="1"/>
            </p:cNvSpPr>
            <p:nvPr/>
          </p:nvSpPr>
          <p:spPr bwMode="auto">
            <a:xfrm>
              <a:off x="1296" y="316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194" name="Oval 218"/>
            <p:cNvSpPr>
              <a:spLocks noChangeArrowheads="1"/>
            </p:cNvSpPr>
            <p:nvPr/>
          </p:nvSpPr>
          <p:spPr bwMode="auto">
            <a:xfrm>
              <a:off x="1392" y="345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195" name="Rectangle 219"/>
            <p:cNvSpPr>
              <a:spLocks noChangeArrowheads="1"/>
            </p:cNvSpPr>
            <p:nvPr/>
          </p:nvSpPr>
          <p:spPr bwMode="auto">
            <a:xfrm>
              <a:off x="1296" y="340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196" name="Oval 220"/>
            <p:cNvSpPr>
              <a:spLocks noChangeArrowheads="1"/>
            </p:cNvSpPr>
            <p:nvPr/>
          </p:nvSpPr>
          <p:spPr bwMode="auto">
            <a:xfrm>
              <a:off x="1392" y="369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197" name="Rectangle 221"/>
            <p:cNvSpPr>
              <a:spLocks noChangeArrowheads="1"/>
            </p:cNvSpPr>
            <p:nvPr/>
          </p:nvSpPr>
          <p:spPr bwMode="auto">
            <a:xfrm>
              <a:off x="1296" y="3648"/>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198" name="Oval 222"/>
            <p:cNvSpPr>
              <a:spLocks noChangeArrowheads="1"/>
            </p:cNvSpPr>
            <p:nvPr/>
          </p:nvSpPr>
          <p:spPr bwMode="auto">
            <a:xfrm>
              <a:off x="1392" y="3936"/>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199" name="Rectangle 223"/>
            <p:cNvSpPr>
              <a:spLocks noChangeArrowheads="1"/>
            </p:cNvSpPr>
            <p:nvPr/>
          </p:nvSpPr>
          <p:spPr bwMode="auto">
            <a:xfrm>
              <a:off x="1296" y="3888"/>
              <a:ext cx="288" cy="192"/>
            </a:xfrm>
            <a:prstGeom prst="rect">
              <a:avLst/>
            </a:prstGeom>
            <a:noFill/>
            <a:ln w="12700">
              <a:solidFill>
                <a:schemeClr val="tx1"/>
              </a:solidFill>
              <a:miter lim="800000"/>
              <a:headEnd/>
              <a:tailEnd/>
            </a:ln>
            <a:effectLst/>
          </p:spPr>
          <p:txBody>
            <a:bodyPr wrap="none" anchor="ctr"/>
            <a:lstStyle/>
            <a:p>
              <a:endParaRPr lang="en-US"/>
            </a:p>
          </p:txBody>
        </p:sp>
      </p:grpSp>
      <p:grpSp>
        <p:nvGrpSpPr>
          <p:cNvPr id="255302" name="Group 326"/>
          <p:cNvGrpSpPr>
            <a:grpSpLocks/>
          </p:cNvGrpSpPr>
          <p:nvPr/>
        </p:nvGrpSpPr>
        <p:grpSpPr bwMode="auto">
          <a:xfrm>
            <a:off x="2209800" y="1600200"/>
            <a:ext cx="3429000" cy="2611438"/>
            <a:chOff x="432" y="1008"/>
            <a:chExt cx="2160" cy="1645"/>
          </a:xfrm>
        </p:grpSpPr>
        <p:sp>
          <p:nvSpPr>
            <p:cNvPr id="254982" name="Text Box 6"/>
            <p:cNvSpPr txBox="1">
              <a:spLocks noChangeArrowheads="1"/>
            </p:cNvSpPr>
            <p:nvPr/>
          </p:nvSpPr>
          <p:spPr bwMode="auto">
            <a:xfrm>
              <a:off x="432" y="1008"/>
              <a:ext cx="1361" cy="233"/>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a:t>h</a:t>
              </a:r>
              <a:r>
                <a:rPr lang="en-US" baseline="-25000"/>
                <a:t> </a:t>
              </a:r>
              <a:r>
                <a:rPr lang="en-US"/>
                <a:t>(14) = 14 mod 7 = 0</a:t>
              </a:r>
              <a:endParaRPr lang="en-US">
                <a:solidFill>
                  <a:srgbClr val="FF0000"/>
                </a:solidFill>
              </a:endParaRPr>
            </a:p>
          </p:txBody>
        </p:sp>
        <p:grpSp>
          <p:nvGrpSpPr>
            <p:cNvPr id="255245" name="Group 269"/>
            <p:cNvGrpSpPr>
              <a:grpSpLocks/>
            </p:cNvGrpSpPr>
            <p:nvPr/>
          </p:nvGrpSpPr>
          <p:grpSpPr bwMode="auto">
            <a:xfrm>
              <a:off x="1584" y="2461"/>
              <a:ext cx="1008" cy="192"/>
              <a:chOff x="1584" y="2461"/>
              <a:chExt cx="1008" cy="192"/>
            </a:xfrm>
          </p:grpSpPr>
          <p:sp>
            <p:nvSpPr>
              <p:cNvPr id="255201" name="Rectangle 225"/>
              <p:cNvSpPr>
                <a:spLocks noChangeArrowheads="1"/>
              </p:cNvSpPr>
              <p:nvPr/>
            </p:nvSpPr>
            <p:spPr bwMode="auto">
              <a:xfrm>
                <a:off x="1824" y="2461"/>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r>
                  <a:rPr lang="en-US" sz="1400"/>
                  <a:t>14</a:t>
                </a:r>
              </a:p>
            </p:txBody>
          </p:sp>
          <p:sp>
            <p:nvSpPr>
              <p:cNvPr id="255202" name="Oval 226"/>
              <p:cNvSpPr>
                <a:spLocks noChangeArrowheads="1"/>
              </p:cNvSpPr>
              <p:nvPr/>
            </p:nvSpPr>
            <p:spPr bwMode="auto">
              <a:xfrm>
                <a:off x="2400"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203" name="Rectangle 227"/>
              <p:cNvSpPr>
                <a:spLocks noChangeArrowheads="1"/>
              </p:cNvSpPr>
              <p:nvPr/>
            </p:nvSpPr>
            <p:spPr bwMode="auto">
              <a:xfrm>
                <a:off x="2304"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204" name="Line 228"/>
              <p:cNvSpPr>
                <a:spLocks noChangeShapeType="1"/>
              </p:cNvSpPr>
              <p:nvPr/>
            </p:nvSpPr>
            <p:spPr bwMode="auto">
              <a:xfrm>
                <a:off x="1584" y="2557"/>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grpSp>
        <p:nvGrpSpPr>
          <p:cNvPr id="255303" name="Group 327"/>
          <p:cNvGrpSpPr>
            <a:grpSpLocks/>
          </p:cNvGrpSpPr>
          <p:nvPr/>
        </p:nvGrpSpPr>
        <p:grpSpPr bwMode="auto">
          <a:xfrm>
            <a:off x="2209800" y="1919288"/>
            <a:ext cx="3429000" cy="2652712"/>
            <a:chOff x="432" y="1209"/>
            <a:chExt cx="2160" cy="1671"/>
          </a:xfrm>
        </p:grpSpPr>
        <p:sp>
          <p:nvSpPr>
            <p:cNvPr id="255252" name="Text Box 276"/>
            <p:cNvSpPr txBox="1">
              <a:spLocks noChangeArrowheads="1"/>
            </p:cNvSpPr>
            <p:nvPr/>
          </p:nvSpPr>
          <p:spPr bwMode="auto">
            <a:xfrm>
              <a:off x="432" y="1209"/>
              <a:ext cx="1395" cy="233"/>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a:t>h</a:t>
              </a:r>
              <a:r>
                <a:rPr lang="en-US" baseline="-25000"/>
                <a:t> </a:t>
              </a:r>
              <a:r>
                <a:rPr lang="en-US"/>
                <a:t>(15) = 15  mod 7 = 1</a:t>
              </a:r>
              <a:endParaRPr lang="en-US">
                <a:solidFill>
                  <a:srgbClr val="FF0000"/>
                </a:solidFill>
              </a:endParaRPr>
            </a:p>
          </p:txBody>
        </p:sp>
        <p:grpSp>
          <p:nvGrpSpPr>
            <p:cNvPr id="255257" name="Group 281"/>
            <p:cNvGrpSpPr>
              <a:grpSpLocks/>
            </p:cNvGrpSpPr>
            <p:nvPr/>
          </p:nvGrpSpPr>
          <p:grpSpPr bwMode="auto">
            <a:xfrm>
              <a:off x="1584" y="2688"/>
              <a:ext cx="1008" cy="192"/>
              <a:chOff x="1584" y="2461"/>
              <a:chExt cx="1008" cy="192"/>
            </a:xfrm>
          </p:grpSpPr>
          <p:sp>
            <p:nvSpPr>
              <p:cNvPr id="255258" name="Rectangle 282"/>
              <p:cNvSpPr>
                <a:spLocks noChangeArrowheads="1"/>
              </p:cNvSpPr>
              <p:nvPr/>
            </p:nvSpPr>
            <p:spPr bwMode="auto">
              <a:xfrm>
                <a:off x="1824" y="2461"/>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r>
                  <a:rPr lang="en-US" sz="1400"/>
                  <a:t>15</a:t>
                </a:r>
              </a:p>
            </p:txBody>
          </p:sp>
          <p:sp>
            <p:nvSpPr>
              <p:cNvPr id="255259" name="Oval 283"/>
              <p:cNvSpPr>
                <a:spLocks noChangeArrowheads="1"/>
              </p:cNvSpPr>
              <p:nvPr/>
            </p:nvSpPr>
            <p:spPr bwMode="auto">
              <a:xfrm>
                <a:off x="2400"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260" name="Rectangle 284"/>
              <p:cNvSpPr>
                <a:spLocks noChangeArrowheads="1"/>
              </p:cNvSpPr>
              <p:nvPr/>
            </p:nvSpPr>
            <p:spPr bwMode="auto">
              <a:xfrm>
                <a:off x="2304"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261" name="Line 285"/>
              <p:cNvSpPr>
                <a:spLocks noChangeShapeType="1"/>
              </p:cNvSpPr>
              <p:nvPr/>
            </p:nvSpPr>
            <p:spPr bwMode="auto">
              <a:xfrm>
                <a:off x="1584" y="2557"/>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grpSp>
        <p:nvGrpSpPr>
          <p:cNvPr id="255307" name="Group 331"/>
          <p:cNvGrpSpPr>
            <a:grpSpLocks/>
          </p:cNvGrpSpPr>
          <p:nvPr/>
        </p:nvGrpSpPr>
        <p:grpSpPr bwMode="auto">
          <a:xfrm>
            <a:off x="2209800" y="3195638"/>
            <a:ext cx="3429000" cy="2138362"/>
            <a:chOff x="432" y="2013"/>
            <a:chExt cx="2160" cy="1347"/>
          </a:xfrm>
        </p:grpSpPr>
        <p:sp>
          <p:nvSpPr>
            <p:cNvPr id="255256" name="Text Box 280"/>
            <p:cNvSpPr txBox="1">
              <a:spLocks noChangeArrowheads="1"/>
            </p:cNvSpPr>
            <p:nvPr/>
          </p:nvSpPr>
          <p:spPr bwMode="auto">
            <a:xfrm>
              <a:off x="432" y="2013"/>
              <a:ext cx="1361" cy="233"/>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a:t>h</a:t>
              </a:r>
              <a:r>
                <a:rPr lang="en-US" baseline="-25000"/>
                <a:t> </a:t>
              </a:r>
              <a:r>
                <a:rPr lang="en-US"/>
                <a:t>(17) = 17 mod 7 = 3</a:t>
              </a:r>
              <a:endParaRPr lang="en-US">
                <a:solidFill>
                  <a:srgbClr val="FF0000"/>
                </a:solidFill>
              </a:endParaRPr>
            </a:p>
          </p:txBody>
        </p:sp>
        <p:grpSp>
          <p:nvGrpSpPr>
            <p:cNvPr id="255267" name="Group 291"/>
            <p:cNvGrpSpPr>
              <a:grpSpLocks/>
            </p:cNvGrpSpPr>
            <p:nvPr/>
          </p:nvGrpSpPr>
          <p:grpSpPr bwMode="auto">
            <a:xfrm>
              <a:off x="1584" y="3168"/>
              <a:ext cx="1008" cy="192"/>
              <a:chOff x="1584" y="2461"/>
              <a:chExt cx="1008" cy="192"/>
            </a:xfrm>
          </p:grpSpPr>
          <p:sp>
            <p:nvSpPr>
              <p:cNvPr id="255268" name="Rectangle 292"/>
              <p:cNvSpPr>
                <a:spLocks noChangeArrowheads="1"/>
              </p:cNvSpPr>
              <p:nvPr/>
            </p:nvSpPr>
            <p:spPr bwMode="auto">
              <a:xfrm>
                <a:off x="1824" y="2461"/>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r>
                  <a:rPr lang="en-US" sz="1400"/>
                  <a:t>17</a:t>
                </a:r>
              </a:p>
            </p:txBody>
          </p:sp>
          <p:sp>
            <p:nvSpPr>
              <p:cNvPr id="255269" name="Oval 293"/>
              <p:cNvSpPr>
                <a:spLocks noChangeArrowheads="1"/>
              </p:cNvSpPr>
              <p:nvPr/>
            </p:nvSpPr>
            <p:spPr bwMode="auto">
              <a:xfrm>
                <a:off x="2400"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270" name="Rectangle 294"/>
              <p:cNvSpPr>
                <a:spLocks noChangeArrowheads="1"/>
              </p:cNvSpPr>
              <p:nvPr/>
            </p:nvSpPr>
            <p:spPr bwMode="auto">
              <a:xfrm>
                <a:off x="2304"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271" name="Line 295"/>
              <p:cNvSpPr>
                <a:spLocks noChangeShapeType="1"/>
              </p:cNvSpPr>
              <p:nvPr/>
            </p:nvSpPr>
            <p:spPr bwMode="auto">
              <a:xfrm>
                <a:off x="1584" y="2557"/>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grpSp>
        <p:nvGrpSpPr>
          <p:cNvPr id="255304" name="Group 328"/>
          <p:cNvGrpSpPr>
            <a:grpSpLocks/>
          </p:cNvGrpSpPr>
          <p:nvPr/>
        </p:nvGrpSpPr>
        <p:grpSpPr bwMode="auto">
          <a:xfrm>
            <a:off x="2209800" y="2238376"/>
            <a:ext cx="3429000" cy="4238625"/>
            <a:chOff x="432" y="1410"/>
            <a:chExt cx="2160" cy="2670"/>
          </a:xfrm>
        </p:grpSpPr>
        <p:sp>
          <p:nvSpPr>
            <p:cNvPr id="255253" name="Text Box 277"/>
            <p:cNvSpPr txBox="1">
              <a:spLocks noChangeArrowheads="1"/>
            </p:cNvSpPr>
            <p:nvPr/>
          </p:nvSpPr>
          <p:spPr bwMode="auto">
            <a:xfrm>
              <a:off x="432" y="1410"/>
              <a:ext cx="1361" cy="233"/>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a:t>h</a:t>
              </a:r>
              <a:r>
                <a:rPr lang="en-US" baseline="-25000"/>
                <a:t> </a:t>
              </a:r>
              <a:r>
                <a:rPr lang="en-US"/>
                <a:t>(20) = 20 mod 7 = 6</a:t>
              </a:r>
              <a:endParaRPr lang="en-US">
                <a:solidFill>
                  <a:srgbClr val="FF0000"/>
                </a:solidFill>
              </a:endParaRPr>
            </a:p>
          </p:txBody>
        </p:sp>
        <p:grpSp>
          <p:nvGrpSpPr>
            <p:cNvPr id="255282" name="Group 306"/>
            <p:cNvGrpSpPr>
              <a:grpSpLocks/>
            </p:cNvGrpSpPr>
            <p:nvPr/>
          </p:nvGrpSpPr>
          <p:grpSpPr bwMode="auto">
            <a:xfrm>
              <a:off x="1584" y="3888"/>
              <a:ext cx="1008" cy="192"/>
              <a:chOff x="1584" y="2461"/>
              <a:chExt cx="1008" cy="192"/>
            </a:xfrm>
          </p:grpSpPr>
          <p:sp>
            <p:nvSpPr>
              <p:cNvPr id="255283" name="Rectangle 307"/>
              <p:cNvSpPr>
                <a:spLocks noChangeArrowheads="1"/>
              </p:cNvSpPr>
              <p:nvPr/>
            </p:nvSpPr>
            <p:spPr bwMode="auto">
              <a:xfrm>
                <a:off x="1824" y="2461"/>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r>
                  <a:rPr lang="en-US" sz="1400"/>
                  <a:t>20</a:t>
                </a:r>
              </a:p>
            </p:txBody>
          </p:sp>
          <p:sp>
            <p:nvSpPr>
              <p:cNvPr id="255284" name="Oval 308"/>
              <p:cNvSpPr>
                <a:spLocks noChangeArrowheads="1"/>
              </p:cNvSpPr>
              <p:nvPr/>
            </p:nvSpPr>
            <p:spPr bwMode="auto">
              <a:xfrm>
                <a:off x="2400"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285" name="Rectangle 309"/>
              <p:cNvSpPr>
                <a:spLocks noChangeArrowheads="1"/>
              </p:cNvSpPr>
              <p:nvPr/>
            </p:nvSpPr>
            <p:spPr bwMode="auto">
              <a:xfrm>
                <a:off x="2304"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286" name="Line 310"/>
              <p:cNvSpPr>
                <a:spLocks noChangeShapeType="1"/>
              </p:cNvSpPr>
              <p:nvPr/>
            </p:nvSpPr>
            <p:spPr bwMode="auto">
              <a:xfrm>
                <a:off x="1584" y="2557"/>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grpSp>
        <p:nvGrpSpPr>
          <p:cNvPr id="255305" name="Group 329"/>
          <p:cNvGrpSpPr>
            <a:grpSpLocks/>
          </p:cNvGrpSpPr>
          <p:nvPr/>
        </p:nvGrpSpPr>
        <p:grpSpPr bwMode="auto">
          <a:xfrm>
            <a:off x="2209800" y="2557464"/>
            <a:ext cx="5048250" cy="1652587"/>
            <a:chOff x="432" y="1611"/>
            <a:chExt cx="3180" cy="1041"/>
          </a:xfrm>
        </p:grpSpPr>
        <p:sp>
          <p:nvSpPr>
            <p:cNvPr id="255254" name="Text Box 278"/>
            <p:cNvSpPr txBox="1">
              <a:spLocks noChangeArrowheads="1"/>
            </p:cNvSpPr>
            <p:nvPr/>
          </p:nvSpPr>
          <p:spPr bwMode="auto">
            <a:xfrm>
              <a:off x="432" y="1611"/>
              <a:ext cx="1361" cy="233"/>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a:t>h</a:t>
              </a:r>
              <a:r>
                <a:rPr lang="en-US" baseline="-25000"/>
                <a:t> </a:t>
              </a:r>
              <a:r>
                <a:rPr lang="en-US"/>
                <a:t>(21) = 21 mod 7 = 0</a:t>
              </a:r>
              <a:endParaRPr lang="en-US">
                <a:solidFill>
                  <a:srgbClr val="FF0000"/>
                </a:solidFill>
              </a:endParaRPr>
            </a:p>
          </p:txBody>
        </p:sp>
        <p:grpSp>
          <p:nvGrpSpPr>
            <p:cNvPr id="255287" name="Group 311"/>
            <p:cNvGrpSpPr>
              <a:grpSpLocks/>
            </p:cNvGrpSpPr>
            <p:nvPr/>
          </p:nvGrpSpPr>
          <p:grpSpPr bwMode="auto">
            <a:xfrm>
              <a:off x="2604" y="2460"/>
              <a:ext cx="1008" cy="192"/>
              <a:chOff x="1584" y="2461"/>
              <a:chExt cx="1008" cy="192"/>
            </a:xfrm>
          </p:grpSpPr>
          <p:sp>
            <p:nvSpPr>
              <p:cNvPr id="255288" name="Rectangle 312"/>
              <p:cNvSpPr>
                <a:spLocks noChangeArrowheads="1"/>
              </p:cNvSpPr>
              <p:nvPr/>
            </p:nvSpPr>
            <p:spPr bwMode="auto">
              <a:xfrm>
                <a:off x="1824" y="2461"/>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r>
                  <a:rPr lang="en-US" sz="1400"/>
                  <a:t>21</a:t>
                </a:r>
              </a:p>
            </p:txBody>
          </p:sp>
          <p:sp>
            <p:nvSpPr>
              <p:cNvPr id="255289" name="Oval 313"/>
              <p:cNvSpPr>
                <a:spLocks noChangeArrowheads="1"/>
              </p:cNvSpPr>
              <p:nvPr/>
            </p:nvSpPr>
            <p:spPr bwMode="auto">
              <a:xfrm>
                <a:off x="2400"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290" name="Rectangle 314"/>
              <p:cNvSpPr>
                <a:spLocks noChangeArrowheads="1"/>
              </p:cNvSpPr>
              <p:nvPr/>
            </p:nvSpPr>
            <p:spPr bwMode="auto">
              <a:xfrm>
                <a:off x="2304"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291" name="Line 315"/>
              <p:cNvSpPr>
                <a:spLocks noChangeShapeType="1"/>
              </p:cNvSpPr>
              <p:nvPr/>
            </p:nvSpPr>
            <p:spPr bwMode="auto">
              <a:xfrm>
                <a:off x="1584" y="2557"/>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grpSp>
        <p:nvGrpSpPr>
          <p:cNvPr id="255306" name="Group 330"/>
          <p:cNvGrpSpPr>
            <a:grpSpLocks/>
          </p:cNvGrpSpPr>
          <p:nvPr/>
        </p:nvGrpSpPr>
        <p:grpSpPr bwMode="auto">
          <a:xfrm>
            <a:off x="2209800" y="2876551"/>
            <a:ext cx="6667500" cy="1331913"/>
            <a:chOff x="432" y="1812"/>
            <a:chExt cx="4200" cy="839"/>
          </a:xfrm>
        </p:grpSpPr>
        <p:sp>
          <p:nvSpPr>
            <p:cNvPr id="255255" name="Text Box 279"/>
            <p:cNvSpPr txBox="1">
              <a:spLocks noChangeArrowheads="1"/>
            </p:cNvSpPr>
            <p:nvPr/>
          </p:nvSpPr>
          <p:spPr bwMode="auto">
            <a:xfrm>
              <a:off x="432" y="1812"/>
              <a:ext cx="1361" cy="233"/>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a:t>h</a:t>
              </a:r>
              <a:r>
                <a:rPr lang="en-US" baseline="-25000"/>
                <a:t> </a:t>
              </a:r>
              <a:r>
                <a:rPr lang="en-US"/>
                <a:t>(35) = 35 mod 7 = 0</a:t>
              </a:r>
              <a:endParaRPr lang="en-US">
                <a:solidFill>
                  <a:srgbClr val="FF0000"/>
                </a:solidFill>
              </a:endParaRPr>
            </a:p>
          </p:txBody>
        </p:sp>
        <p:grpSp>
          <p:nvGrpSpPr>
            <p:cNvPr id="255292" name="Group 316"/>
            <p:cNvGrpSpPr>
              <a:grpSpLocks/>
            </p:cNvGrpSpPr>
            <p:nvPr/>
          </p:nvGrpSpPr>
          <p:grpSpPr bwMode="auto">
            <a:xfrm>
              <a:off x="3624" y="2459"/>
              <a:ext cx="1008" cy="192"/>
              <a:chOff x="1584" y="2461"/>
              <a:chExt cx="1008" cy="192"/>
            </a:xfrm>
          </p:grpSpPr>
          <p:sp>
            <p:nvSpPr>
              <p:cNvPr id="255293" name="Rectangle 317"/>
              <p:cNvSpPr>
                <a:spLocks noChangeArrowheads="1"/>
              </p:cNvSpPr>
              <p:nvPr/>
            </p:nvSpPr>
            <p:spPr bwMode="auto">
              <a:xfrm>
                <a:off x="1824" y="2461"/>
                <a:ext cx="480" cy="192"/>
              </a:xfrm>
              <a:prstGeom prst="rect">
                <a:avLst/>
              </a:prstGeom>
              <a:solidFill>
                <a:schemeClr val="bg1"/>
              </a:solidFill>
              <a:ln w="12700">
                <a:solidFill>
                  <a:schemeClr val="tx1"/>
                </a:solidFill>
                <a:miter lim="800000"/>
                <a:headEnd/>
                <a:tailEnd/>
              </a:ln>
              <a:effectLst/>
            </p:spPr>
            <p:txBody>
              <a:bodyPr wrap="none" anchor="ctr"/>
              <a:lstStyle/>
              <a:p>
                <a:pPr algn="ctr">
                  <a:lnSpc>
                    <a:spcPct val="100000"/>
                  </a:lnSpc>
                  <a:spcBef>
                    <a:spcPct val="0"/>
                  </a:spcBef>
                  <a:buClrTx/>
                  <a:buSzTx/>
                  <a:buFontTx/>
                  <a:buNone/>
                </a:pPr>
                <a:r>
                  <a:rPr lang="en-US" sz="1400"/>
                  <a:t>35</a:t>
                </a:r>
              </a:p>
            </p:txBody>
          </p:sp>
          <p:sp>
            <p:nvSpPr>
              <p:cNvPr id="255294" name="Oval 318"/>
              <p:cNvSpPr>
                <a:spLocks noChangeArrowheads="1"/>
              </p:cNvSpPr>
              <p:nvPr/>
            </p:nvSpPr>
            <p:spPr bwMode="auto">
              <a:xfrm>
                <a:off x="2400" y="2509"/>
                <a:ext cx="96" cy="96"/>
              </a:xfrm>
              <a:prstGeom prst="ellipse">
                <a:avLst/>
              </a:prstGeom>
              <a:solidFill>
                <a:schemeClr val="tx1"/>
              </a:solidFill>
              <a:ln w="9525">
                <a:solidFill>
                  <a:schemeClr val="tx1"/>
                </a:solidFill>
                <a:miter lim="800000"/>
                <a:headEnd/>
                <a:tailEnd/>
              </a:ln>
              <a:effectLst/>
            </p:spPr>
            <p:txBody>
              <a:bodyPr wrap="none" anchor="ctr"/>
              <a:lstStyle/>
              <a:p>
                <a:pPr algn="ctr">
                  <a:lnSpc>
                    <a:spcPct val="100000"/>
                  </a:lnSpc>
                  <a:spcBef>
                    <a:spcPct val="0"/>
                  </a:spcBef>
                  <a:buClrTx/>
                  <a:buSzTx/>
                  <a:buFontTx/>
                  <a:buNone/>
                </a:pPr>
                <a:endParaRPr lang="en-US"/>
              </a:p>
            </p:txBody>
          </p:sp>
          <p:sp>
            <p:nvSpPr>
              <p:cNvPr id="255295" name="Rectangle 319"/>
              <p:cNvSpPr>
                <a:spLocks noChangeArrowheads="1"/>
              </p:cNvSpPr>
              <p:nvPr/>
            </p:nvSpPr>
            <p:spPr bwMode="auto">
              <a:xfrm>
                <a:off x="2304" y="2461"/>
                <a:ext cx="288" cy="192"/>
              </a:xfrm>
              <a:prstGeom prst="rect">
                <a:avLst/>
              </a:prstGeom>
              <a:noFill/>
              <a:ln w="12700">
                <a:solidFill>
                  <a:schemeClr val="tx1"/>
                </a:solidFill>
                <a:miter lim="800000"/>
                <a:headEnd/>
                <a:tailEnd/>
              </a:ln>
              <a:effectLst/>
            </p:spPr>
            <p:txBody>
              <a:bodyPr wrap="none" anchor="ctr"/>
              <a:lstStyle/>
              <a:p>
                <a:endParaRPr lang="en-US"/>
              </a:p>
            </p:txBody>
          </p:sp>
          <p:sp>
            <p:nvSpPr>
              <p:cNvPr id="255296" name="Line 320"/>
              <p:cNvSpPr>
                <a:spLocks noChangeShapeType="1"/>
              </p:cNvSpPr>
              <p:nvPr/>
            </p:nvSpPr>
            <p:spPr bwMode="auto">
              <a:xfrm>
                <a:off x="1584" y="2557"/>
                <a:ext cx="240" cy="0"/>
              </a:xfrm>
              <a:prstGeom prst="line">
                <a:avLst/>
              </a:prstGeom>
              <a:noFill/>
              <a:ln w="9525">
                <a:solidFill>
                  <a:schemeClr val="tx1"/>
                </a:solidFill>
                <a:miter lim="800000"/>
                <a:headEnd/>
                <a:tailEnd type="triangle" w="med" len="med"/>
              </a:ln>
              <a:effectLst/>
            </p:spPr>
            <p:txBody>
              <a:bodyPr wrap="none"/>
              <a:lstStyle/>
              <a:p>
                <a:endParaRPr lang="en-US"/>
              </a:p>
            </p:txBody>
          </p:sp>
        </p:grpSp>
      </p:grpSp>
      <p:sp>
        <p:nvSpPr>
          <p:cNvPr id="255308" name="Text Box 332"/>
          <p:cNvSpPr txBox="1">
            <a:spLocks noChangeArrowheads="1"/>
          </p:cNvSpPr>
          <p:nvPr/>
        </p:nvSpPr>
        <p:spPr bwMode="auto">
          <a:xfrm>
            <a:off x="7848600" y="6019800"/>
            <a:ext cx="1258678" cy="369332"/>
          </a:xfrm>
          <a:prstGeom prst="rect">
            <a:avLst/>
          </a:prstGeom>
          <a:noFill/>
          <a:ln w="9525">
            <a:noFill/>
            <a:miter lim="800000"/>
            <a:headEnd/>
            <a:tailEnd/>
          </a:ln>
          <a:effectLst/>
        </p:spPr>
        <p:txBody>
          <a:bodyPr wrap="none">
            <a:spAutoFit/>
          </a:bodyPr>
          <a:lstStyle/>
          <a:p>
            <a:pPr>
              <a:lnSpc>
                <a:spcPct val="100000"/>
              </a:lnSpc>
              <a:spcBef>
                <a:spcPct val="0"/>
              </a:spcBef>
              <a:buClrTx/>
              <a:buSzTx/>
              <a:buFontTx/>
              <a:buNone/>
            </a:pPr>
            <a:r>
              <a:rPr lang="en-US"/>
              <a:t>and so on…</a:t>
            </a:r>
          </a:p>
        </p:txBody>
      </p:sp>
    </p:spTree>
    <p:extLst>
      <p:ext uri="{BB962C8B-B14F-4D97-AF65-F5344CB8AC3E}">
        <p14:creationId xmlns:p14="http://schemas.microsoft.com/office/powerpoint/2010/main" val="189296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55302"/>
                                        </p:tgtEl>
                                        <p:attrNameLst>
                                          <p:attrName>style.visibility</p:attrName>
                                        </p:attrNameLst>
                                      </p:cBhvr>
                                      <p:to>
                                        <p:strVal val="visible"/>
                                      </p:to>
                                    </p:set>
                                    <p:animEffect transition="in" filter="slide(fromBottom)">
                                      <p:cBhvr>
                                        <p:cTn id="7" dur="500"/>
                                        <p:tgtEl>
                                          <p:spTgt spid="25530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55303"/>
                                        </p:tgtEl>
                                        <p:attrNameLst>
                                          <p:attrName>style.visibility</p:attrName>
                                        </p:attrNameLst>
                                      </p:cBhvr>
                                      <p:to>
                                        <p:strVal val="visible"/>
                                      </p:to>
                                    </p:set>
                                    <p:animEffect transition="in" filter="slide(fromBottom)">
                                      <p:cBhvr>
                                        <p:cTn id="12" dur="500"/>
                                        <p:tgtEl>
                                          <p:spTgt spid="25530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55304"/>
                                        </p:tgtEl>
                                        <p:attrNameLst>
                                          <p:attrName>style.visibility</p:attrName>
                                        </p:attrNameLst>
                                      </p:cBhvr>
                                      <p:to>
                                        <p:strVal val="visible"/>
                                      </p:to>
                                    </p:set>
                                    <p:animEffect transition="in" filter="slide(fromBottom)">
                                      <p:cBhvr>
                                        <p:cTn id="17" dur="500"/>
                                        <p:tgtEl>
                                          <p:spTgt spid="25530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55305"/>
                                        </p:tgtEl>
                                        <p:attrNameLst>
                                          <p:attrName>style.visibility</p:attrName>
                                        </p:attrNameLst>
                                      </p:cBhvr>
                                      <p:to>
                                        <p:strVal val="visible"/>
                                      </p:to>
                                    </p:set>
                                    <p:animEffect transition="in" filter="slide(fromBottom)">
                                      <p:cBhvr>
                                        <p:cTn id="22" dur="500"/>
                                        <p:tgtEl>
                                          <p:spTgt spid="25530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55306"/>
                                        </p:tgtEl>
                                        <p:attrNameLst>
                                          <p:attrName>style.visibility</p:attrName>
                                        </p:attrNameLst>
                                      </p:cBhvr>
                                      <p:to>
                                        <p:strVal val="visible"/>
                                      </p:to>
                                    </p:set>
                                    <p:animEffect transition="in" filter="slide(fromBottom)">
                                      <p:cBhvr>
                                        <p:cTn id="27" dur="500"/>
                                        <p:tgtEl>
                                          <p:spTgt spid="25530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55307"/>
                                        </p:tgtEl>
                                        <p:attrNameLst>
                                          <p:attrName>style.visibility</p:attrName>
                                        </p:attrNameLst>
                                      </p:cBhvr>
                                      <p:to>
                                        <p:strVal val="visible"/>
                                      </p:to>
                                    </p:set>
                                    <p:animEffect transition="in" filter="slide(fromBottom)">
                                      <p:cBhvr>
                                        <p:cTn id="32" dur="500"/>
                                        <p:tgtEl>
                                          <p:spTgt spid="255307"/>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55308"/>
                                        </p:tgtEl>
                                        <p:attrNameLst>
                                          <p:attrName>style.visibility</p:attrName>
                                        </p:attrNameLst>
                                      </p:cBhvr>
                                      <p:to>
                                        <p:strVal val="visible"/>
                                      </p:to>
                                    </p:set>
                                    <p:animEffect transition="in" filter="slide(fromBottom)">
                                      <p:cBhvr>
                                        <p:cTn id="37" dur="500"/>
                                        <p:tgtEl>
                                          <p:spTgt spid="255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30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41C9-8A9B-24B2-AE33-6D9E54A93FF4}"/>
              </a:ext>
            </a:extLst>
          </p:cNvPr>
          <p:cNvSpPr>
            <a:spLocks noGrp="1"/>
          </p:cNvSpPr>
          <p:nvPr>
            <p:ph type="title"/>
          </p:nvPr>
        </p:nvSpPr>
        <p:spPr/>
        <p:txBody>
          <a:bodyPr/>
          <a:lstStyle/>
          <a:p>
            <a:r>
              <a:rPr lang="en-US" dirty="0"/>
              <a:t>Chaining Example</a:t>
            </a:r>
          </a:p>
        </p:txBody>
      </p:sp>
      <p:sp>
        <p:nvSpPr>
          <p:cNvPr id="3" name="Content Placeholder 2">
            <a:extLst>
              <a:ext uri="{FF2B5EF4-FFF2-40B4-BE49-F238E27FC236}">
                <a16:creationId xmlns:a16="http://schemas.microsoft.com/office/drawing/2014/main" id="{0FBF0B1D-8983-4512-1933-FC5266DADED9}"/>
              </a:ext>
            </a:extLst>
          </p:cNvPr>
          <p:cNvSpPr>
            <a:spLocks noGrp="1"/>
          </p:cNvSpPr>
          <p:nvPr>
            <p:ph idx="1"/>
          </p:nvPr>
        </p:nvSpPr>
        <p:spPr/>
        <p:txBody>
          <a:bodyPr>
            <a:normAutofit/>
          </a:bodyPr>
          <a:lstStyle/>
          <a:p>
            <a:r>
              <a:rPr lang="en-US" sz="3600" dirty="0"/>
              <a:t>Using the hash function ‘key mod 7’, insert the following sequence of keys in the hash table-</a:t>
            </a:r>
          </a:p>
          <a:p>
            <a:r>
              <a:rPr lang="en-US" sz="3600" dirty="0"/>
              <a:t>50, 700, 76, 85, 92, 73 and 101</a:t>
            </a:r>
          </a:p>
          <a:p>
            <a:endParaRPr lang="en-US" sz="3600" dirty="0"/>
          </a:p>
          <a:p>
            <a:r>
              <a:rPr lang="en-US" sz="3600" dirty="0"/>
              <a:t>Use separate chaining technique for collision resolution.</a:t>
            </a:r>
          </a:p>
        </p:txBody>
      </p:sp>
    </p:spTree>
    <p:extLst>
      <p:ext uri="{BB962C8B-B14F-4D97-AF65-F5344CB8AC3E}">
        <p14:creationId xmlns:p14="http://schemas.microsoft.com/office/powerpoint/2010/main" val="178282949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14879</TotalTime>
  <Words>1636</Words>
  <Application>Microsoft Office PowerPoint</Application>
  <PresentationFormat>Widescreen</PresentationFormat>
  <Paragraphs>205</Paragraphs>
  <Slides>22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Retrospect</vt:lpstr>
      <vt:lpstr>Data Structures</vt:lpstr>
      <vt:lpstr>CLO Covered</vt:lpstr>
      <vt:lpstr>Hashing</vt:lpstr>
      <vt:lpstr>Hashing</vt:lpstr>
      <vt:lpstr>Hashing</vt:lpstr>
      <vt:lpstr>Hash Table</vt:lpstr>
      <vt:lpstr>Hashing Process</vt:lpstr>
      <vt:lpstr>Hashing Example</vt:lpstr>
      <vt:lpstr>Hash Function</vt:lpstr>
      <vt:lpstr>Hash Functions</vt:lpstr>
      <vt:lpstr>PowerPoint Presentation</vt:lpstr>
      <vt:lpstr>Simple definition and examples</vt:lpstr>
      <vt:lpstr>PowerPoint Presentation</vt:lpstr>
      <vt:lpstr>PowerPoint Presentation</vt:lpstr>
      <vt:lpstr>PowerPoint Presentation</vt:lpstr>
      <vt:lpstr>Simple definition and examples</vt:lpstr>
      <vt:lpstr>Collisions</vt:lpstr>
      <vt:lpstr>PowerPoint Presentation</vt:lpstr>
      <vt:lpstr>Separate Chaining</vt:lpstr>
      <vt:lpstr>PowerPoint Presentation</vt:lpstr>
      <vt:lpstr>PowerPoint Presentation</vt:lpstr>
      <vt:lpstr>Chaining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CSCI6370: Topics in Computer Science  Advanced Topics in Algorithms and Applications  Fall Semester, 2002</dc:title>
  <dc:creator>XIAODONG-TONG</dc:creator>
  <cp:lastModifiedBy>Rida Zahra</cp:lastModifiedBy>
  <cp:revision>421</cp:revision>
  <dcterms:created xsi:type="dcterms:W3CDTF">2002-08-21T01:49:00Z</dcterms:created>
  <dcterms:modified xsi:type="dcterms:W3CDTF">2026-02-03T09:15:55Z</dcterms:modified>
</cp:coreProperties>
</file>