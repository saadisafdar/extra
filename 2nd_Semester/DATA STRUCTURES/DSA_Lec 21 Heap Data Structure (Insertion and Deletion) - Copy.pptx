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7" r:id="rId2"/>
    <p:sldId id="360" r:id="rId3"/>
    <p:sldId id="357" r:id="rId4"/>
    <p:sldId id="333" r:id="rId5"/>
    <p:sldId id="334" r:id="rId6"/>
    <p:sldId id="335" r:id="rId7"/>
    <p:sldId id="336" r:id="rId8"/>
    <p:sldId id="337" r:id="rId9"/>
    <p:sldId id="338" r:id="rId10"/>
    <p:sldId id="339" r:id="rId11"/>
    <p:sldId id="340" r:id="rId12"/>
    <p:sldId id="341" r:id="rId13"/>
    <p:sldId id="342" r:id="rId14"/>
    <p:sldId id="343" r:id="rId15"/>
    <p:sldId id="344" r:id="rId16"/>
    <p:sldId id="310" r:id="rId17"/>
    <p:sldId id="307" r:id="rId18"/>
    <p:sldId id="308" r:id="rId19"/>
    <p:sldId id="309" r:id="rId20"/>
    <p:sldId id="311" r:id="rId21"/>
    <p:sldId id="345" r:id="rId22"/>
    <p:sldId id="346" r:id="rId23"/>
    <p:sldId id="347" r:id="rId24"/>
    <p:sldId id="348" r:id="rId25"/>
    <p:sldId id="361" r:id="rId26"/>
    <p:sldId id="364" r:id="rId27"/>
    <p:sldId id="356" r:id="rId28"/>
    <p:sldId id="312" r:id="rId29"/>
    <p:sldId id="349" r:id="rId30"/>
    <p:sldId id="350" r:id="rId31"/>
    <p:sldId id="351" r:id="rId32"/>
    <p:sldId id="352" r:id="rId33"/>
    <p:sldId id="353" r:id="rId34"/>
    <p:sldId id="354" r:id="rId35"/>
    <p:sldId id="362" r:id="rId36"/>
    <p:sldId id="366" r:id="rId37"/>
    <p:sldId id="313" r:id="rId38"/>
    <p:sldId id="314"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980" autoAdjust="0"/>
  </p:normalViewPr>
  <p:slideViewPr>
    <p:cSldViewPr snapToGrid="0">
      <p:cViewPr varScale="1">
        <p:scale>
          <a:sx n="74" d="100"/>
          <a:sy n="74" d="100"/>
        </p:scale>
        <p:origin x="57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99DD95-B072-47B1-9365-D8D2A417E8D0}" type="datetimeFigureOut">
              <a:rPr lang="en-US" smtClean="0"/>
              <a:t>1/19/2026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621F61-C48F-40DA-8F31-49E36B7CBFA4}" type="slidenum">
              <a:rPr lang="en-US" smtClean="0"/>
              <a:t>‹#›</a:t>
            </a:fld>
            <a:endParaRPr lang="en-US"/>
          </a:p>
        </p:txBody>
      </p:sp>
    </p:spTree>
    <p:extLst>
      <p:ext uri="{BB962C8B-B14F-4D97-AF65-F5344CB8AC3E}">
        <p14:creationId xmlns:p14="http://schemas.microsoft.com/office/powerpoint/2010/main" val="855296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https://www.baeldung.com/cs/heap-insertion-complexity</a:t>
            </a:r>
          </a:p>
          <a:p>
            <a:r>
              <a:rPr lang="en-US"/>
              <a:t>https://youtu.be/NEtwJASLU8Q?list=PLdo5W4Nhv31bbKJzrsKfMpo_grxuLl8LU</a:t>
            </a:r>
            <a:endParaRPr lang="en-US" dirty="0"/>
          </a:p>
        </p:txBody>
      </p:sp>
      <p:sp>
        <p:nvSpPr>
          <p:cNvPr id="4" name="Slide Number Placeholder 3"/>
          <p:cNvSpPr>
            <a:spLocks noGrp="1"/>
          </p:cNvSpPr>
          <p:nvPr>
            <p:ph type="sldNum" sz="quarter" idx="5"/>
          </p:nvPr>
        </p:nvSpPr>
        <p:spPr/>
        <p:txBody>
          <a:bodyPr/>
          <a:lstStyle/>
          <a:p>
            <a:fld id="{77621F61-C48F-40DA-8F31-49E36B7CBFA4}" type="slidenum">
              <a:rPr lang="en-US" smtClean="0"/>
              <a:t>25</a:t>
            </a:fld>
            <a:endParaRPr lang="en-US"/>
          </a:p>
        </p:txBody>
      </p:sp>
    </p:spTree>
    <p:extLst>
      <p:ext uri="{BB962C8B-B14F-4D97-AF65-F5344CB8AC3E}">
        <p14:creationId xmlns:p14="http://schemas.microsoft.com/office/powerpoint/2010/main" val="2457430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https://www.baeldung.com/cs/binary-tree-max-heapify</a:t>
            </a:r>
          </a:p>
          <a:p>
            <a:r>
              <a:rPr lang="en-US"/>
              <a:t>https://www.geeksforgeeks.org/insertion-and-deletion-in-heaps/</a:t>
            </a:r>
            <a:endParaRPr lang="en-US" dirty="0"/>
          </a:p>
        </p:txBody>
      </p:sp>
      <p:sp>
        <p:nvSpPr>
          <p:cNvPr id="4" name="Slide Number Placeholder 3"/>
          <p:cNvSpPr>
            <a:spLocks noGrp="1"/>
          </p:cNvSpPr>
          <p:nvPr>
            <p:ph type="sldNum" sz="quarter" idx="5"/>
          </p:nvPr>
        </p:nvSpPr>
        <p:spPr/>
        <p:txBody>
          <a:bodyPr/>
          <a:lstStyle/>
          <a:p>
            <a:fld id="{77621F61-C48F-40DA-8F31-49E36B7CBFA4}" type="slidenum">
              <a:rPr lang="en-US" smtClean="0"/>
              <a:t>35</a:t>
            </a:fld>
            <a:endParaRPr lang="en-US"/>
          </a:p>
        </p:txBody>
      </p:sp>
    </p:spTree>
    <p:extLst>
      <p:ext uri="{BB962C8B-B14F-4D97-AF65-F5344CB8AC3E}">
        <p14:creationId xmlns:p14="http://schemas.microsoft.com/office/powerpoint/2010/main" val="102430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454FF5-30A8-47B4-9DDB-BF6FEEBA62FE}"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A3F96C-C079-429F-AA93-E16773E7EF3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1798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454FF5-30A8-47B4-9DDB-BF6FEEBA62FE}"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A3F96C-C079-429F-AA93-E16773E7EF35}" type="slidenum">
              <a:rPr lang="en-US" smtClean="0"/>
              <a:t>‹#›</a:t>
            </a:fld>
            <a:endParaRPr lang="en-US"/>
          </a:p>
        </p:txBody>
      </p:sp>
    </p:spTree>
    <p:extLst>
      <p:ext uri="{BB962C8B-B14F-4D97-AF65-F5344CB8AC3E}">
        <p14:creationId xmlns:p14="http://schemas.microsoft.com/office/powerpoint/2010/main" val="3159923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454FF5-30A8-47B4-9DDB-BF6FEEBA62FE}"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A3F96C-C079-429F-AA93-E16773E7EF3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7526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454FF5-30A8-47B4-9DDB-BF6FEEBA62FE}" type="datetimeFigureOut">
              <a:rPr lang="en-US" smtClean="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A3F96C-C079-429F-AA93-E16773E7EF35}" type="slidenum">
              <a:rPr lang="en-US" smtClean="0"/>
              <a:t>‹#›</a:t>
            </a:fld>
            <a:endParaRPr lang="en-US"/>
          </a:p>
        </p:txBody>
      </p:sp>
    </p:spTree>
    <p:extLst>
      <p:ext uri="{BB962C8B-B14F-4D97-AF65-F5344CB8AC3E}">
        <p14:creationId xmlns:p14="http://schemas.microsoft.com/office/powerpoint/2010/main" val="183840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454FF5-30A8-47B4-9DDB-BF6FEEBA62FE}" type="datetimeFigureOut">
              <a:rPr lang="en-US" smtClean="0"/>
              <a:t>1/19/2026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A3F96C-C079-429F-AA93-E16773E7EF35}" type="slidenum">
              <a:rPr lang="en-US" smtClean="0"/>
              <a:t>‹#›</a:t>
            </a:fld>
            <a:endParaRPr lang="en-US"/>
          </a:p>
        </p:txBody>
      </p:sp>
    </p:spTree>
    <p:extLst>
      <p:ext uri="{BB962C8B-B14F-4D97-AF65-F5344CB8AC3E}">
        <p14:creationId xmlns:p14="http://schemas.microsoft.com/office/powerpoint/2010/main" val="3352777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454FF5-30A8-47B4-9DDB-BF6FEEBA62FE}" type="datetimeFigureOut">
              <a:rPr lang="en-US" smtClean="0"/>
              <a:t>1/19/2026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A3F96C-C079-429F-AA93-E16773E7EF35}" type="slidenum">
              <a:rPr lang="en-US" smtClean="0"/>
              <a:t>‹#›</a:t>
            </a:fld>
            <a:endParaRPr lang="en-US"/>
          </a:p>
        </p:txBody>
      </p:sp>
    </p:spTree>
    <p:extLst>
      <p:ext uri="{BB962C8B-B14F-4D97-AF65-F5344CB8AC3E}">
        <p14:creationId xmlns:p14="http://schemas.microsoft.com/office/powerpoint/2010/main" val="2688787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7454FF5-30A8-47B4-9DDB-BF6FEEBA62FE}" type="datetimeFigureOut">
              <a:rPr lang="en-US" smtClean="0"/>
              <a:t>1/19/2026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38A3F96C-C079-429F-AA93-E16773E7EF35}" type="slidenum">
              <a:rPr lang="en-US" smtClean="0"/>
              <a:t>‹#›</a:t>
            </a:fld>
            <a:endParaRPr lang="en-US"/>
          </a:p>
        </p:txBody>
      </p:sp>
    </p:spTree>
    <p:extLst>
      <p:ext uri="{BB962C8B-B14F-4D97-AF65-F5344CB8AC3E}">
        <p14:creationId xmlns:p14="http://schemas.microsoft.com/office/powerpoint/2010/main" val="1279811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7454FF5-30A8-47B4-9DDB-BF6FEEBA62FE}" type="datetimeFigureOut">
              <a:rPr lang="en-US" smtClean="0"/>
              <a:t>1/19/2026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8A3F96C-C079-429F-AA93-E16773E7EF35}" type="slidenum">
              <a:rPr lang="en-US" smtClean="0"/>
              <a:t>‹#›</a:t>
            </a:fld>
            <a:endParaRPr lang="en-US"/>
          </a:p>
        </p:txBody>
      </p:sp>
    </p:spTree>
    <p:extLst>
      <p:ext uri="{BB962C8B-B14F-4D97-AF65-F5344CB8AC3E}">
        <p14:creationId xmlns:p14="http://schemas.microsoft.com/office/powerpoint/2010/main" val="2809418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454FF5-30A8-47B4-9DDB-BF6FEEBA62FE}" type="datetimeFigureOut">
              <a:rPr lang="en-US" smtClean="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A3F96C-C079-429F-AA93-E16773E7EF35}" type="slidenum">
              <a:rPr lang="en-US" smtClean="0"/>
              <a:t>‹#›</a:t>
            </a:fld>
            <a:endParaRPr lang="en-US"/>
          </a:p>
        </p:txBody>
      </p:sp>
    </p:spTree>
    <p:extLst>
      <p:ext uri="{BB962C8B-B14F-4D97-AF65-F5344CB8AC3E}">
        <p14:creationId xmlns:p14="http://schemas.microsoft.com/office/powerpoint/2010/main" val="1960483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454FF5-30A8-47B4-9DDB-BF6FEEBA62FE}"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A3F96C-C079-429F-AA93-E16773E7EF35}" type="slidenum">
              <a:rPr lang="en-US" smtClean="0"/>
              <a:t>‹#›</a:t>
            </a:fld>
            <a:endParaRPr lang="en-US"/>
          </a:p>
        </p:txBody>
      </p:sp>
    </p:spTree>
    <p:extLst>
      <p:ext uri="{BB962C8B-B14F-4D97-AF65-F5344CB8AC3E}">
        <p14:creationId xmlns:p14="http://schemas.microsoft.com/office/powerpoint/2010/main" val="1679313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454FF5-30A8-47B4-9DDB-BF6FEEBA62FE}"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A3F96C-C079-429F-AA93-E16773E7EF35}" type="slidenum">
              <a:rPr lang="en-US" smtClean="0"/>
              <a:t>‹#›</a:t>
            </a:fld>
            <a:endParaRPr lang="en-US"/>
          </a:p>
        </p:txBody>
      </p:sp>
    </p:spTree>
    <p:extLst>
      <p:ext uri="{BB962C8B-B14F-4D97-AF65-F5344CB8AC3E}">
        <p14:creationId xmlns:p14="http://schemas.microsoft.com/office/powerpoint/2010/main" val="47107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7454FF5-30A8-47B4-9DDB-BF6FEEBA62FE}" type="datetimeFigureOut">
              <a:rPr lang="en-US" smtClean="0"/>
              <a:t>1/19/2026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8A3F96C-C079-429F-AA93-E16773E7EF35}"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5334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977D9-232E-57A6-651D-F401E149D3EC}"/>
              </a:ext>
            </a:extLst>
          </p:cNvPr>
          <p:cNvSpPr>
            <a:spLocks noGrp="1"/>
          </p:cNvSpPr>
          <p:nvPr>
            <p:ph type="ctrTitle"/>
          </p:nvPr>
        </p:nvSpPr>
        <p:spPr/>
        <p:txBody>
          <a:bodyPr/>
          <a:lstStyle/>
          <a:p>
            <a:pPr algn="ctr"/>
            <a:r>
              <a:rPr lang="en-US" dirty="0"/>
              <a:t>Data Structure and Algorithm</a:t>
            </a:r>
          </a:p>
        </p:txBody>
      </p:sp>
      <p:sp>
        <p:nvSpPr>
          <p:cNvPr id="3" name="Subtitle 2">
            <a:extLst>
              <a:ext uri="{FF2B5EF4-FFF2-40B4-BE49-F238E27FC236}">
                <a16:creationId xmlns:a16="http://schemas.microsoft.com/office/drawing/2014/main" id="{9C8885BB-5F97-FC6A-EC08-9141FF4B6C2D}"/>
              </a:ext>
            </a:extLst>
          </p:cNvPr>
          <p:cNvSpPr>
            <a:spLocks noGrp="1"/>
          </p:cNvSpPr>
          <p:nvPr>
            <p:ph type="subTitle" idx="1"/>
          </p:nvPr>
        </p:nvSpPr>
        <p:spPr/>
        <p:txBody>
          <a:bodyPr>
            <a:normAutofit/>
          </a:bodyPr>
          <a:lstStyle/>
          <a:p>
            <a:r>
              <a:rPr lang="en-US" dirty="0"/>
              <a:t>Course code: cs-201</a:t>
            </a:r>
          </a:p>
          <a:p>
            <a:r>
              <a:rPr lang="en-US" dirty="0"/>
              <a:t>Topic: Heaps data structure</a:t>
            </a:r>
          </a:p>
        </p:txBody>
      </p:sp>
    </p:spTree>
    <p:extLst>
      <p:ext uri="{BB962C8B-B14F-4D97-AF65-F5344CB8AC3E}">
        <p14:creationId xmlns:p14="http://schemas.microsoft.com/office/powerpoint/2010/main" val="2767845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AA54E-E611-74A6-2AEE-8565ED0FA4D4}"/>
              </a:ext>
            </a:extLst>
          </p:cNvPr>
          <p:cNvSpPr>
            <a:spLocks noGrp="1"/>
          </p:cNvSpPr>
          <p:nvPr>
            <p:ph type="title"/>
          </p:nvPr>
        </p:nvSpPr>
        <p:spPr/>
        <p:txBody>
          <a:bodyPr/>
          <a:lstStyle/>
          <a:p>
            <a:r>
              <a:rPr lang="en-US" dirty="0"/>
              <a:t>Goals</a:t>
            </a:r>
          </a:p>
        </p:txBody>
      </p:sp>
      <p:sp>
        <p:nvSpPr>
          <p:cNvPr id="3" name="Content Placeholder 2">
            <a:extLst>
              <a:ext uri="{FF2B5EF4-FFF2-40B4-BE49-F238E27FC236}">
                <a16:creationId xmlns:a16="http://schemas.microsoft.com/office/drawing/2014/main" id="{742879E1-CBDC-E5B4-D44F-912EE01B3D24}"/>
              </a:ext>
            </a:extLst>
          </p:cNvPr>
          <p:cNvSpPr>
            <a:spLocks noGrp="1"/>
          </p:cNvSpPr>
          <p:nvPr>
            <p:ph idx="1"/>
          </p:nvPr>
        </p:nvSpPr>
        <p:spPr/>
        <p:txBody>
          <a:bodyPr/>
          <a:lstStyle/>
          <a:p>
            <a:pPr>
              <a:buFont typeface="Wingdings" panose="05000000000000000000" pitchFamily="2" charset="2"/>
              <a:buChar char="Ø"/>
            </a:pPr>
            <a:r>
              <a:rPr lang="en-US" sz="2400" dirty="0"/>
              <a:t>Heap DS</a:t>
            </a:r>
          </a:p>
          <a:p>
            <a:pPr>
              <a:buFont typeface="Wingdings" panose="05000000000000000000" pitchFamily="2" charset="2"/>
              <a:buChar char="Ø"/>
            </a:pPr>
            <a:r>
              <a:rPr lang="en-US" sz="2400" dirty="0"/>
              <a:t>Insertion in Heap</a:t>
            </a:r>
          </a:p>
          <a:p>
            <a:pPr>
              <a:buFont typeface="Wingdings" panose="05000000000000000000" pitchFamily="2" charset="2"/>
              <a:buChar char="Ø"/>
            </a:pPr>
            <a:r>
              <a:rPr lang="en-US" sz="2400" dirty="0"/>
              <a:t>Deletion in Heap</a:t>
            </a:r>
            <a:endParaRPr lang="en-US" dirty="0"/>
          </a:p>
        </p:txBody>
      </p:sp>
    </p:spTree>
    <p:extLst>
      <p:ext uri="{BB962C8B-B14F-4D97-AF65-F5344CB8AC3E}">
        <p14:creationId xmlns:p14="http://schemas.microsoft.com/office/powerpoint/2010/main" val="3611012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CB909-1D44-7EC0-0520-616F7930EFBA}"/>
              </a:ext>
            </a:extLst>
          </p:cNvPr>
          <p:cNvSpPr>
            <a:spLocks noGrp="1"/>
          </p:cNvSpPr>
          <p:nvPr>
            <p:ph type="title"/>
          </p:nvPr>
        </p:nvSpPr>
        <p:spPr/>
        <p:txBody>
          <a:bodyPr/>
          <a:lstStyle/>
          <a:p>
            <a:r>
              <a:rPr lang="en-US" sz="4800" b="1" spc="-5" dirty="0">
                <a:solidFill>
                  <a:schemeClr val="tx1"/>
                </a:solidFill>
              </a:rPr>
              <a:t>Heap Tree Structure</a:t>
            </a:r>
            <a:endParaRPr lang="en-US" dirty="0"/>
          </a:p>
        </p:txBody>
      </p:sp>
      <p:sp>
        <p:nvSpPr>
          <p:cNvPr id="3" name="Content Placeholder 2">
            <a:extLst>
              <a:ext uri="{FF2B5EF4-FFF2-40B4-BE49-F238E27FC236}">
                <a16:creationId xmlns:a16="http://schemas.microsoft.com/office/drawing/2014/main" id="{9E2401CC-2C8F-B9A5-22D5-D843F81846AF}"/>
              </a:ext>
            </a:extLst>
          </p:cNvPr>
          <p:cNvSpPr>
            <a:spLocks noGrp="1"/>
          </p:cNvSpPr>
          <p:nvPr>
            <p:ph idx="1"/>
          </p:nvPr>
        </p:nvSpPr>
        <p:spPr/>
        <p:txBody>
          <a:bodyPr/>
          <a:lstStyle/>
          <a:p>
            <a:pPr algn="just"/>
            <a:r>
              <a:rPr lang="en-US" sz="2400" dirty="0"/>
              <a:t>In computer science, a </a:t>
            </a:r>
            <a:r>
              <a:rPr lang="en-US" sz="2400" b="1" dirty="0"/>
              <a:t>heap</a:t>
            </a:r>
            <a:r>
              <a:rPr lang="en-US" sz="2400" dirty="0"/>
              <a:t> is a specialized tree-based data structure that satisfies the </a:t>
            </a:r>
            <a:r>
              <a:rPr lang="en-US" sz="2400" i="1" dirty="0"/>
              <a:t>heap property:</a:t>
            </a:r>
            <a:r>
              <a:rPr lang="en-US" sz="2400" dirty="0"/>
              <a:t> if </a:t>
            </a:r>
            <a:r>
              <a:rPr lang="en-US" sz="2400" i="1" dirty="0"/>
              <a:t>B</a:t>
            </a:r>
            <a:r>
              <a:rPr lang="en-US" sz="2400" dirty="0"/>
              <a:t> is a child node of </a:t>
            </a:r>
            <a:r>
              <a:rPr lang="en-US" sz="2400" i="1" dirty="0"/>
              <a:t>A</a:t>
            </a:r>
            <a:r>
              <a:rPr lang="en-US" sz="2400" dirty="0"/>
              <a:t>, then key(</a:t>
            </a:r>
            <a:r>
              <a:rPr lang="en-US" sz="2400" i="1" dirty="0"/>
              <a:t>A</a:t>
            </a:r>
            <a:r>
              <a:rPr lang="en-US" sz="2400" dirty="0"/>
              <a:t>) ≥ key(</a:t>
            </a:r>
            <a:r>
              <a:rPr lang="en-US" sz="2400" i="1" dirty="0"/>
              <a:t>B</a:t>
            </a:r>
            <a:r>
              <a:rPr lang="en-US" sz="2400" dirty="0"/>
              <a:t>). </a:t>
            </a:r>
          </a:p>
          <a:p>
            <a:pPr algn="just"/>
            <a:r>
              <a:rPr lang="en-US" sz="2400" dirty="0"/>
              <a:t>This implies that an element with the greatest key is always in the root node, and so such a heap is sometimes called a </a:t>
            </a:r>
            <a:r>
              <a:rPr lang="en-US" sz="2400" i="1" dirty="0"/>
              <a:t>max-heap</a:t>
            </a:r>
            <a:r>
              <a:rPr lang="en-US" sz="2400" dirty="0"/>
              <a:t>. </a:t>
            </a:r>
          </a:p>
          <a:p>
            <a:pPr algn="just"/>
            <a:r>
              <a:rPr lang="en-US" sz="2400" dirty="0"/>
              <a:t>(Alternatively, if the comparison is reversed, the smallest element is always in the root node, which results in a </a:t>
            </a:r>
            <a:r>
              <a:rPr lang="en-US" sz="2400" i="1" dirty="0"/>
              <a:t>min-heap</a:t>
            </a:r>
            <a:r>
              <a:rPr lang="en-US" sz="2400" dirty="0"/>
              <a:t>.)</a:t>
            </a:r>
          </a:p>
          <a:p>
            <a:pPr algn="just"/>
            <a:r>
              <a:rPr lang="en-US" sz="2400" dirty="0"/>
              <a:t>Node value should be greater than or equal to both children.</a:t>
            </a:r>
          </a:p>
          <a:p>
            <a:endParaRPr lang="en-US" dirty="0"/>
          </a:p>
        </p:txBody>
      </p:sp>
    </p:spTree>
    <p:extLst>
      <p:ext uri="{BB962C8B-B14F-4D97-AF65-F5344CB8AC3E}">
        <p14:creationId xmlns:p14="http://schemas.microsoft.com/office/powerpoint/2010/main" val="4235688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Heap Tree Structure</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4</a:t>
            </a:fld>
            <a:endParaRPr sz="900">
              <a:solidFill>
                <a:prstClr val="black"/>
              </a:solidFill>
              <a:latin typeface="Malgun Gothic"/>
              <a:cs typeface="Malgun Gothic"/>
            </a:endParaRPr>
          </a:p>
        </p:txBody>
      </p:sp>
      <p:sp>
        <p:nvSpPr>
          <p:cNvPr id="12" name="Content Placeholder 2">
            <a:extLst>
              <a:ext uri="{FF2B5EF4-FFF2-40B4-BE49-F238E27FC236}">
                <a16:creationId xmlns:a16="http://schemas.microsoft.com/office/drawing/2014/main" id="{D5590F1E-738A-49D3-B66D-FA56F0131C89}"/>
              </a:ext>
            </a:extLst>
          </p:cNvPr>
          <p:cNvSpPr>
            <a:spLocks noGrp="1"/>
          </p:cNvSpPr>
          <p:nvPr>
            <p:ph idx="1"/>
          </p:nvPr>
        </p:nvSpPr>
        <p:spPr>
          <a:xfrm>
            <a:off x="1061678" y="2012531"/>
            <a:ext cx="10058353" cy="4389120"/>
          </a:xfrm>
        </p:spPr>
        <p:txBody>
          <a:bodyPr>
            <a:normAutofit/>
          </a:bodyPr>
          <a:lstStyle/>
          <a:p>
            <a:pPr algn="just"/>
            <a:r>
              <a:rPr lang="en-US" sz="2800" dirty="0"/>
              <a:t>Heap is a complete binary tree. </a:t>
            </a:r>
            <a:r>
              <a:rPr lang="en-US" sz="2800" dirty="0">
                <a:latin typeface="inter-regular"/>
              </a:rPr>
              <a:t>T</a:t>
            </a:r>
            <a:r>
              <a:rPr lang="en-US" sz="2800" i="0" dirty="0">
                <a:effectLst/>
                <a:latin typeface="inter-regular"/>
              </a:rPr>
              <a:t>he binary tree is a tree in which the node can have utmost two children. </a:t>
            </a:r>
            <a:endParaRPr lang="en-US" sz="2800" dirty="0"/>
          </a:p>
          <a:p>
            <a:pPr algn="just"/>
            <a:r>
              <a:rPr lang="en-US" sz="2800" dirty="0"/>
              <a:t>It is implemented in array as sequential representation rather than linked list.</a:t>
            </a:r>
          </a:p>
        </p:txBody>
      </p:sp>
    </p:spTree>
    <p:extLst>
      <p:ext uri="{BB962C8B-B14F-4D97-AF65-F5344CB8AC3E}">
        <p14:creationId xmlns:p14="http://schemas.microsoft.com/office/powerpoint/2010/main" val="1451657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Types of Heap Tree Structure</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5</a:t>
            </a:fld>
            <a:endParaRPr sz="900">
              <a:solidFill>
                <a:prstClr val="black"/>
              </a:solidFill>
              <a:latin typeface="Malgun Gothic"/>
              <a:cs typeface="Malgun Gothic"/>
            </a:endParaRPr>
          </a:p>
        </p:txBody>
      </p:sp>
      <p:sp>
        <p:nvSpPr>
          <p:cNvPr id="12" name="Content Placeholder 2">
            <a:extLst>
              <a:ext uri="{FF2B5EF4-FFF2-40B4-BE49-F238E27FC236}">
                <a16:creationId xmlns:a16="http://schemas.microsoft.com/office/drawing/2014/main" id="{D5590F1E-738A-49D3-B66D-FA56F0131C89}"/>
              </a:ext>
            </a:extLst>
          </p:cNvPr>
          <p:cNvSpPr>
            <a:spLocks noGrp="1"/>
          </p:cNvSpPr>
          <p:nvPr>
            <p:ph idx="1"/>
          </p:nvPr>
        </p:nvSpPr>
        <p:spPr>
          <a:xfrm>
            <a:off x="1164612" y="2291138"/>
            <a:ext cx="10058353" cy="4389120"/>
          </a:xfrm>
        </p:spPr>
        <p:txBody>
          <a:bodyPr>
            <a:normAutofit/>
          </a:bodyPr>
          <a:lstStyle/>
          <a:p>
            <a:pPr algn="just"/>
            <a:r>
              <a:rPr lang="en-US" sz="2400" b="0" i="0" dirty="0">
                <a:solidFill>
                  <a:srgbClr val="333333"/>
                </a:solidFill>
                <a:effectLst/>
                <a:latin typeface="inter-regular"/>
              </a:rPr>
              <a:t>There are two types of the heap:</a:t>
            </a:r>
          </a:p>
          <a:p>
            <a:pPr algn="just">
              <a:buFont typeface="Arial" panose="020B0604020202020204" pitchFamily="34" charset="0"/>
              <a:buChar char="•"/>
            </a:pPr>
            <a:r>
              <a:rPr lang="en-US" sz="2400" b="0" i="0" dirty="0">
                <a:solidFill>
                  <a:srgbClr val="000000"/>
                </a:solidFill>
                <a:effectLst/>
                <a:latin typeface="inter-regular"/>
              </a:rPr>
              <a:t>Min Heap</a:t>
            </a:r>
          </a:p>
          <a:p>
            <a:pPr algn="just">
              <a:buFont typeface="Arial" panose="020B0604020202020204" pitchFamily="34" charset="0"/>
              <a:buChar char="•"/>
            </a:pPr>
            <a:r>
              <a:rPr lang="en-US" sz="2400" b="0" i="0" dirty="0">
                <a:solidFill>
                  <a:srgbClr val="000000"/>
                </a:solidFill>
                <a:effectLst/>
                <a:latin typeface="inter-regular"/>
              </a:rPr>
              <a:t>Max heap</a:t>
            </a:r>
            <a:endParaRPr lang="en-US" b="0" i="0" dirty="0">
              <a:solidFill>
                <a:srgbClr val="000000"/>
              </a:solidFill>
              <a:effectLst/>
              <a:latin typeface="inter-regular"/>
            </a:endParaRPr>
          </a:p>
        </p:txBody>
      </p:sp>
    </p:spTree>
    <p:extLst>
      <p:ext uri="{BB962C8B-B14F-4D97-AF65-F5344CB8AC3E}">
        <p14:creationId xmlns:p14="http://schemas.microsoft.com/office/powerpoint/2010/main" val="1265258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Min Heap </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6</a:t>
            </a:fld>
            <a:endParaRPr sz="900">
              <a:solidFill>
                <a:prstClr val="black"/>
              </a:solidFill>
              <a:latin typeface="Malgun Gothic"/>
              <a:cs typeface="Malgun Gothic"/>
            </a:endParaRPr>
          </a:p>
        </p:txBody>
      </p:sp>
      <p:sp>
        <p:nvSpPr>
          <p:cNvPr id="12" name="Content Placeholder 2">
            <a:extLst>
              <a:ext uri="{FF2B5EF4-FFF2-40B4-BE49-F238E27FC236}">
                <a16:creationId xmlns:a16="http://schemas.microsoft.com/office/drawing/2014/main" id="{D5590F1E-738A-49D3-B66D-FA56F0131C89}"/>
              </a:ext>
            </a:extLst>
          </p:cNvPr>
          <p:cNvSpPr>
            <a:spLocks noGrp="1"/>
          </p:cNvSpPr>
          <p:nvPr>
            <p:ph idx="1"/>
          </p:nvPr>
        </p:nvSpPr>
        <p:spPr>
          <a:xfrm>
            <a:off x="1164612" y="2291138"/>
            <a:ext cx="6758609" cy="4389120"/>
          </a:xfrm>
        </p:spPr>
        <p:txBody>
          <a:bodyPr>
            <a:normAutofit/>
          </a:bodyPr>
          <a:lstStyle/>
          <a:p>
            <a:pPr algn="just"/>
            <a:r>
              <a:rPr lang="en-US" sz="2400" b="0" i="0" dirty="0">
                <a:solidFill>
                  <a:srgbClr val="333333"/>
                </a:solidFill>
                <a:effectLst/>
                <a:latin typeface="inter-regular"/>
              </a:rPr>
              <a:t>The value of the parent node should be less than or equal to either of its children.</a:t>
            </a:r>
          </a:p>
          <a:p>
            <a:pPr algn="just"/>
            <a:r>
              <a:rPr lang="en-US" sz="2400" i="0" dirty="0">
                <a:solidFill>
                  <a:srgbClr val="333333"/>
                </a:solidFill>
                <a:effectLst/>
                <a:latin typeface="inter-bold"/>
              </a:rPr>
              <a:t>Let's understand the min-heap through an example.</a:t>
            </a:r>
            <a:endParaRPr lang="en-US" sz="2400" i="0" dirty="0">
              <a:solidFill>
                <a:srgbClr val="333333"/>
              </a:solidFill>
              <a:effectLst/>
              <a:latin typeface="inter-regular"/>
            </a:endParaRPr>
          </a:p>
        </p:txBody>
      </p:sp>
      <p:pic>
        <p:nvPicPr>
          <p:cNvPr id="3" name="Picture 2">
            <a:extLst>
              <a:ext uri="{FF2B5EF4-FFF2-40B4-BE49-F238E27FC236}">
                <a16:creationId xmlns:a16="http://schemas.microsoft.com/office/drawing/2014/main" id="{4D5C7C9D-0BEF-4AB5-B710-0310C4A3B2E5}"/>
              </a:ext>
            </a:extLst>
          </p:cNvPr>
          <p:cNvPicPr>
            <a:picLocks noChangeAspect="1"/>
          </p:cNvPicPr>
          <p:nvPr/>
        </p:nvPicPr>
        <p:blipFill>
          <a:blip r:embed="rId2"/>
          <a:stretch>
            <a:fillRect/>
          </a:stretch>
        </p:blipFill>
        <p:spPr>
          <a:xfrm>
            <a:off x="7923221" y="1754217"/>
            <a:ext cx="3885565" cy="2626641"/>
          </a:xfrm>
          <a:prstGeom prst="rect">
            <a:avLst/>
          </a:prstGeom>
        </p:spPr>
      </p:pic>
      <p:sp>
        <p:nvSpPr>
          <p:cNvPr id="14" name="TextBox 13">
            <a:extLst>
              <a:ext uri="{FF2B5EF4-FFF2-40B4-BE49-F238E27FC236}">
                <a16:creationId xmlns:a16="http://schemas.microsoft.com/office/drawing/2014/main" id="{D32BE70B-1DAC-4064-A2FA-C51BCE290526}"/>
              </a:ext>
            </a:extLst>
          </p:cNvPr>
          <p:cNvSpPr txBox="1"/>
          <p:nvPr/>
        </p:nvSpPr>
        <p:spPr>
          <a:xfrm>
            <a:off x="1239038" y="4919115"/>
            <a:ext cx="9698965" cy="830997"/>
          </a:xfrm>
          <a:prstGeom prst="rect">
            <a:avLst/>
          </a:prstGeom>
          <a:noFill/>
        </p:spPr>
        <p:txBody>
          <a:bodyPr wrap="square">
            <a:spAutoFit/>
          </a:bodyPr>
          <a:lstStyle/>
          <a:p>
            <a:r>
              <a:rPr lang="en-US" sz="2400" b="0" i="0" dirty="0">
                <a:solidFill>
                  <a:srgbClr val="333333"/>
                </a:solidFill>
                <a:effectLst/>
                <a:latin typeface="inter-regular"/>
              </a:rPr>
              <a:t>In the figure, 11 is the root node, and the value of the root node is less than the value of all the other nodes (left child or a right child).</a:t>
            </a:r>
            <a:endParaRPr lang="en-US" sz="2400" dirty="0"/>
          </a:p>
        </p:txBody>
      </p:sp>
    </p:spTree>
    <p:extLst>
      <p:ext uri="{BB962C8B-B14F-4D97-AF65-F5344CB8AC3E}">
        <p14:creationId xmlns:p14="http://schemas.microsoft.com/office/powerpoint/2010/main" val="919109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Max Heap </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7</a:t>
            </a:fld>
            <a:endParaRPr sz="900">
              <a:solidFill>
                <a:prstClr val="black"/>
              </a:solidFill>
              <a:latin typeface="Malgun Gothic"/>
              <a:cs typeface="Malgun Gothic"/>
            </a:endParaRPr>
          </a:p>
        </p:txBody>
      </p:sp>
      <p:sp>
        <p:nvSpPr>
          <p:cNvPr id="12" name="Content Placeholder 2">
            <a:extLst>
              <a:ext uri="{FF2B5EF4-FFF2-40B4-BE49-F238E27FC236}">
                <a16:creationId xmlns:a16="http://schemas.microsoft.com/office/drawing/2014/main" id="{D5590F1E-738A-49D3-B66D-FA56F0131C89}"/>
              </a:ext>
            </a:extLst>
          </p:cNvPr>
          <p:cNvSpPr>
            <a:spLocks noGrp="1"/>
          </p:cNvSpPr>
          <p:nvPr>
            <p:ph idx="1"/>
          </p:nvPr>
        </p:nvSpPr>
        <p:spPr>
          <a:xfrm>
            <a:off x="1061678" y="2012531"/>
            <a:ext cx="10058353" cy="4389120"/>
          </a:xfrm>
        </p:spPr>
        <p:txBody>
          <a:bodyPr>
            <a:normAutofit/>
          </a:bodyPr>
          <a:lstStyle/>
          <a:p>
            <a:pPr algn="just"/>
            <a:r>
              <a:rPr lang="en-US" sz="2400" b="0" i="0" dirty="0">
                <a:solidFill>
                  <a:srgbClr val="333333"/>
                </a:solidFill>
                <a:effectLst/>
                <a:latin typeface="inter-regular"/>
              </a:rPr>
              <a:t>The value of the parent node is greater than or equal to its children.</a:t>
            </a:r>
          </a:p>
          <a:p>
            <a:pPr algn="just"/>
            <a:r>
              <a:rPr lang="en-US" sz="2400" dirty="0">
                <a:solidFill>
                  <a:srgbClr val="333333"/>
                </a:solidFill>
                <a:latin typeface="inter-regular"/>
              </a:rPr>
              <a:t>44 is root node that is greater than both left and right child. So, it is fulfilling the max heap property. </a:t>
            </a:r>
            <a:endParaRPr lang="en-US" sz="2400" b="0" i="0" dirty="0">
              <a:solidFill>
                <a:srgbClr val="333333"/>
              </a:solidFill>
              <a:effectLst/>
              <a:latin typeface="inter-regular"/>
            </a:endParaRPr>
          </a:p>
        </p:txBody>
      </p:sp>
      <p:pic>
        <p:nvPicPr>
          <p:cNvPr id="1026" name="Picture 2" descr="Heap Data Structure">
            <a:extLst>
              <a:ext uri="{FF2B5EF4-FFF2-40B4-BE49-F238E27FC236}">
                <a16:creationId xmlns:a16="http://schemas.microsoft.com/office/drawing/2014/main" id="{AF8BF4A0-6C4B-47AC-97EF-29831C6CAF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0246" y="3224601"/>
            <a:ext cx="3726162" cy="3137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3150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Creation of Max Heap Tree</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8</a:t>
            </a:fld>
            <a:endParaRPr sz="900">
              <a:solidFill>
                <a:prstClr val="black"/>
              </a:solidFill>
              <a:latin typeface="Malgun Gothic"/>
              <a:cs typeface="Malgun Gothic"/>
            </a:endParaRPr>
          </a:p>
        </p:txBody>
      </p:sp>
      <p:sp>
        <p:nvSpPr>
          <p:cNvPr id="12" name="Content Placeholder 2">
            <a:extLst>
              <a:ext uri="{FF2B5EF4-FFF2-40B4-BE49-F238E27FC236}">
                <a16:creationId xmlns:a16="http://schemas.microsoft.com/office/drawing/2014/main" id="{D5590F1E-738A-49D3-B66D-FA56F0131C89}"/>
              </a:ext>
            </a:extLst>
          </p:cNvPr>
          <p:cNvSpPr>
            <a:spLocks noGrp="1"/>
          </p:cNvSpPr>
          <p:nvPr>
            <p:ph idx="1"/>
          </p:nvPr>
        </p:nvSpPr>
        <p:spPr>
          <a:xfrm>
            <a:off x="1164612" y="2291138"/>
            <a:ext cx="10058353" cy="4389120"/>
          </a:xfrm>
        </p:spPr>
        <p:txBody>
          <a:bodyPr>
            <a:normAutofit/>
          </a:bodyPr>
          <a:lstStyle/>
          <a:p>
            <a:pPr algn="just"/>
            <a:r>
              <a:rPr lang="en-US" sz="2800" b="0" i="0" dirty="0">
                <a:solidFill>
                  <a:srgbClr val="333333"/>
                </a:solidFill>
                <a:effectLst/>
                <a:latin typeface="inter-regular"/>
              </a:rPr>
              <a:t>Suppose we want to create the max heap tree. </a:t>
            </a:r>
          </a:p>
          <a:p>
            <a:pPr algn="just"/>
            <a:r>
              <a:rPr lang="en-US" sz="2800" b="0" i="0" dirty="0">
                <a:solidFill>
                  <a:srgbClr val="333333"/>
                </a:solidFill>
                <a:effectLst/>
                <a:latin typeface="inter-regular"/>
              </a:rPr>
              <a:t>To create the max heap tree, we need to consider the following two cases:</a:t>
            </a:r>
          </a:p>
          <a:p>
            <a:pPr lvl="1" algn="just"/>
            <a:r>
              <a:rPr lang="en-US" sz="2400" b="0" i="0" dirty="0">
                <a:solidFill>
                  <a:srgbClr val="000000"/>
                </a:solidFill>
                <a:effectLst/>
                <a:latin typeface="inter-regular"/>
              </a:rPr>
              <a:t>First, we have to insert the element in such a way that the property of the complete binary tree must be maintained.</a:t>
            </a:r>
          </a:p>
          <a:p>
            <a:pPr lvl="1" algn="just"/>
            <a:r>
              <a:rPr lang="en-US" sz="2400" b="0" i="0" dirty="0">
                <a:solidFill>
                  <a:srgbClr val="000000"/>
                </a:solidFill>
                <a:effectLst/>
                <a:latin typeface="inter-regular"/>
              </a:rPr>
              <a:t>Secondly, the value of the parent node should be greater than the either of its child.</a:t>
            </a:r>
          </a:p>
          <a:p>
            <a:pPr algn="just"/>
            <a:endParaRPr lang="en-US" b="0" i="0" dirty="0">
              <a:solidFill>
                <a:srgbClr val="333333"/>
              </a:solidFill>
              <a:effectLst/>
              <a:latin typeface="inter-regular"/>
            </a:endParaRPr>
          </a:p>
        </p:txBody>
      </p:sp>
    </p:spTree>
    <p:extLst>
      <p:ext uri="{BB962C8B-B14F-4D97-AF65-F5344CB8AC3E}">
        <p14:creationId xmlns:p14="http://schemas.microsoft.com/office/powerpoint/2010/main" val="2471526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Creation of Max Heap Tree</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9</a:t>
            </a:fld>
            <a:endParaRPr sz="900">
              <a:solidFill>
                <a:prstClr val="black"/>
              </a:solidFill>
              <a:latin typeface="Malgun Gothic"/>
              <a:cs typeface="Malgun Gothic"/>
            </a:endParaRPr>
          </a:p>
        </p:txBody>
      </p:sp>
      <p:sp>
        <p:nvSpPr>
          <p:cNvPr id="12" name="Content Placeholder 2">
            <a:extLst>
              <a:ext uri="{FF2B5EF4-FFF2-40B4-BE49-F238E27FC236}">
                <a16:creationId xmlns:a16="http://schemas.microsoft.com/office/drawing/2014/main" id="{D5590F1E-738A-49D3-B66D-FA56F0131C89}"/>
              </a:ext>
            </a:extLst>
          </p:cNvPr>
          <p:cNvSpPr>
            <a:spLocks noGrp="1"/>
          </p:cNvSpPr>
          <p:nvPr>
            <p:ph idx="1"/>
          </p:nvPr>
        </p:nvSpPr>
        <p:spPr>
          <a:xfrm>
            <a:off x="1164716" y="2012531"/>
            <a:ext cx="10058353" cy="4389120"/>
          </a:xfrm>
        </p:spPr>
        <p:txBody>
          <a:bodyPr>
            <a:normAutofit/>
          </a:bodyPr>
          <a:lstStyle/>
          <a:p>
            <a:pPr algn="just"/>
            <a:r>
              <a:rPr lang="en-US" sz="2400" b="0" i="0" dirty="0">
                <a:solidFill>
                  <a:srgbClr val="333333"/>
                </a:solidFill>
                <a:effectLst/>
                <a:latin typeface="inter-regular"/>
              </a:rPr>
              <a:t>For Example</a:t>
            </a:r>
          </a:p>
          <a:p>
            <a:pPr marL="0" indent="0" algn="ctr">
              <a:buNone/>
            </a:pPr>
            <a:r>
              <a:rPr lang="en-US" sz="2400" b="1" i="0" dirty="0">
                <a:solidFill>
                  <a:srgbClr val="333333"/>
                </a:solidFill>
                <a:effectLst/>
                <a:latin typeface="inter-bold"/>
              </a:rPr>
              <a:t>44, 33, 77, 11, 55, 88, 66</a:t>
            </a:r>
            <a:endParaRPr lang="en-US" sz="2400" b="0" i="0" dirty="0">
              <a:solidFill>
                <a:srgbClr val="000000"/>
              </a:solidFill>
              <a:effectLst/>
              <a:latin typeface="inter-regular"/>
            </a:endParaRPr>
          </a:p>
          <a:p>
            <a:pPr algn="just"/>
            <a:r>
              <a:rPr lang="en-US" sz="2400" b="1" i="0" dirty="0">
                <a:solidFill>
                  <a:srgbClr val="333333"/>
                </a:solidFill>
                <a:effectLst/>
                <a:latin typeface="inter-bold"/>
              </a:rPr>
              <a:t>Step 1:</a:t>
            </a:r>
            <a:r>
              <a:rPr lang="en-US" sz="2400" b="0" i="0" dirty="0">
                <a:solidFill>
                  <a:srgbClr val="333333"/>
                </a:solidFill>
                <a:effectLst/>
                <a:latin typeface="inter-regular"/>
              </a:rPr>
              <a:t> First we add the 44 element in the tree as shown below:</a:t>
            </a:r>
          </a:p>
        </p:txBody>
      </p:sp>
      <p:pic>
        <p:nvPicPr>
          <p:cNvPr id="3" name="Picture 2">
            <a:extLst>
              <a:ext uri="{FF2B5EF4-FFF2-40B4-BE49-F238E27FC236}">
                <a16:creationId xmlns:a16="http://schemas.microsoft.com/office/drawing/2014/main" id="{7D0BEAC6-1330-4A02-BBE5-86AA863E6045}"/>
              </a:ext>
            </a:extLst>
          </p:cNvPr>
          <p:cNvPicPr>
            <a:picLocks noChangeAspect="1"/>
          </p:cNvPicPr>
          <p:nvPr/>
        </p:nvPicPr>
        <p:blipFill>
          <a:blip r:embed="rId2"/>
          <a:stretch>
            <a:fillRect/>
          </a:stretch>
        </p:blipFill>
        <p:spPr>
          <a:xfrm>
            <a:off x="5355038" y="4267200"/>
            <a:ext cx="1485900" cy="1171575"/>
          </a:xfrm>
          <a:prstGeom prst="rect">
            <a:avLst/>
          </a:prstGeom>
        </p:spPr>
      </p:pic>
    </p:spTree>
    <p:extLst>
      <p:ext uri="{BB962C8B-B14F-4D97-AF65-F5344CB8AC3E}">
        <p14:creationId xmlns:p14="http://schemas.microsoft.com/office/powerpoint/2010/main" val="3462251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Creation of Max Heap Tree</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10</a:t>
            </a:fld>
            <a:endParaRPr sz="900">
              <a:solidFill>
                <a:prstClr val="black"/>
              </a:solidFill>
              <a:latin typeface="Malgun Gothic"/>
              <a:cs typeface="Malgun Gothic"/>
            </a:endParaRPr>
          </a:p>
        </p:txBody>
      </p:sp>
      <p:sp>
        <p:nvSpPr>
          <p:cNvPr id="12" name="Content Placeholder 2">
            <a:extLst>
              <a:ext uri="{FF2B5EF4-FFF2-40B4-BE49-F238E27FC236}">
                <a16:creationId xmlns:a16="http://schemas.microsoft.com/office/drawing/2014/main" id="{D5590F1E-738A-49D3-B66D-FA56F0131C89}"/>
              </a:ext>
            </a:extLst>
          </p:cNvPr>
          <p:cNvSpPr>
            <a:spLocks noGrp="1"/>
          </p:cNvSpPr>
          <p:nvPr>
            <p:ph idx="1"/>
          </p:nvPr>
        </p:nvSpPr>
        <p:spPr>
          <a:xfrm>
            <a:off x="1123842" y="2012531"/>
            <a:ext cx="9934026" cy="4389120"/>
          </a:xfrm>
        </p:spPr>
        <p:txBody>
          <a:bodyPr>
            <a:normAutofit/>
          </a:bodyPr>
          <a:lstStyle/>
          <a:p>
            <a:pPr algn="just"/>
            <a:r>
              <a:rPr lang="en-US" sz="2400" b="1" i="0" dirty="0">
                <a:solidFill>
                  <a:srgbClr val="333333"/>
                </a:solidFill>
                <a:effectLst/>
                <a:latin typeface="inter-bold"/>
              </a:rPr>
              <a:t>Step 2:</a:t>
            </a:r>
            <a:r>
              <a:rPr lang="en-US" sz="2400" b="0" i="0" dirty="0">
                <a:solidFill>
                  <a:srgbClr val="333333"/>
                </a:solidFill>
                <a:effectLst/>
                <a:latin typeface="inter-regular"/>
              </a:rPr>
              <a:t> The next element is 33. As we know that insertion in the binary tree always starts from the left side so 33 will be added at the left of 44 as shown below:</a:t>
            </a:r>
          </a:p>
        </p:txBody>
      </p:sp>
      <p:pic>
        <p:nvPicPr>
          <p:cNvPr id="4" name="Picture 3">
            <a:extLst>
              <a:ext uri="{FF2B5EF4-FFF2-40B4-BE49-F238E27FC236}">
                <a16:creationId xmlns:a16="http://schemas.microsoft.com/office/drawing/2014/main" id="{E870F8CE-9376-444F-91D0-5CE543EA118A}"/>
              </a:ext>
            </a:extLst>
          </p:cNvPr>
          <p:cNvPicPr>
            <a:picLocks noChangeAspect="1"/>
          </p:cNvPicPr>
          <p:nvPr/>
        </p:nvPicPr>
        <p:blipFill>
          <a:blip r:embed="rId2"/>
          <a:stretch>
            <a:fillRect/>
          </a:stretch>
        </p:blipFill>
        <p:spPr>
          <a:xfrm>
            <a:off x="4495800" y="3914722"/>
            <a:ext cx="2604118" cy="2142817"/>
          </a:xfrm>
          <a:prstGeom prst="rect">
            <a:avLst/>
          </a:prstGeom>
        </p:spPr>
      </p:pic>
    </p:spTree>
    <p:extLst>
      <p:ext uri="{BB962C8B-B14F-4D97-AF65-F5344CB8AC3E}">
        <p14:creationId xmlns:p14="http://schemas.microsoft.com/office/powerpoint/2010/main" val="2246882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Creation of Max Heap Tree</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11</a:t>
            </a:fld>
            <a:endParaRPr sz="900">
              <a:solidFill>
                <a:prstClr val="black"/>
              </a:solidFill>
              <a:latin typeface="Malgun Gothic"/>
              <a:cs typeface="Malgun Gothic"/>
            </a:endParaRPr>
          </a:p>
        </p:txBody>
      </p:sp>
      <p:sp>
        <p:nvSpPr>
          <p:cNvPr id="12" name="Content Placeholder 2">
            <a:extLst>
              <a:ext uri="{FF2B5EF4-FFF2-40B4-BE49-F238E27FC236}">
                <a16:creationId xmlns:a16="http://schemas.microsoft.com/office/drawing/2014/main" id="{D5590F1E-738A-49D3-B66D-FA56F0131C89}"/>
              </a:ext>
            </a:extLst>
          </p:cNvPr>
          <p:cNvSpPr>
            <a:spLocks noGrp="1"/>
          </p:cNvSpPr>
          <p:nvPr>
            <p:ph idx="1"/>
          </p:nvPr>
        </p:nvSpPr>
        <p:spPr>
          <a:xfrm>
            <a:off x="1106181" y="1983599"/>
            <a:ext cx="5083787" cy="4389120"/>
          </a:xfrm>
        </p:spPr>
        <p:txBody>
          <a:bodyPr>
            <a:normAutofit/>
          </a:bodyPr>
          <a:lstStyle/>
          <a:p>
            <a:pPr algn="just"/>
            <a:r>
              <a:rPr lang="en-US" sz="2400" b="1" i="0" dirty="0">
                <a:solidFill>
                  <a:srgbClr val="333333"/>
                </a:solidFill>
                <a:effectLst/>
                <a:latin typeface="inter-bold"/>
              </a:rPr>
              <a:t>Step 3:</a:t>
            </a:r>
            <a:r>
              <a:rPr lang="en-US" sz="2400" b="0" i="0" dirty="0">
                <a:solidFill>
                  <a:srgbClr val="333333"/>
                </a:solidFill>
                <a:effectLst/>
                <a:latin typeface="inter-regular"/>
              </a:rPr>
              <a:t> The next element is 77 and it will be added to the right of the 44 as shown below:</a:t>
            </a:r>
          </a:p>
          <a:p>
            <a:br>
              <a:rPr lang="en-US" dirty="0"/>
            </a:br>
            <a:endParaRPr lang="en-US" b="0" i="0" dirty="0">
              <a:solidFill>
                <a:srgbClr val="333333"/>
              </a:solidFill>
              <a:effectLst/>
              <a:latin typeface="inter-regular"/>
            </a:endParaRPr>
          </a:p>
        </p:txBody>
      </p:sp>
      <p:pic>
        <p:nvPicPr>
          <p:cNvPr id="3" name="Picture 2">
            <a:extLst>
              <a:ext uri="{FF2B5EF4-FFF2-40B4-BE49-F238E27FC236}">
                <a16:creationId xmlns:a16="http://schemas.microsoft.com/office/drawing/2014/main" id="{4AF5C82D-3F60-45B9-9D24-41D21D551D9D}"/>
              </a:ext>
            </a:extLst>
          </p:cNvPr>
          <p:cNvPicPr>
            <a:picLocks noChangeAspect="1"/>
          </p:cNvPicPr>
          <p:nvPr/>
        </p:nvPicPr>
        <p:blipFill>
          <a:blip r:embed="rId2"/>
          <a:stretch>
            <a:fillRect/>
          </a:stretch>
        </p:blipFill>
        <p:spPr>
          <a:xfrm>
            <a:off x="1891290" y="3313693"/>
            <a:ext cx="3333750" cy="1933575"/>
          </a:xfrm>
          <a:prstGeom prst="rect">
            <a:avLst/>
          </a:prstGeom>
        </p:spPr>
      </p:pic>
      <p:sp>
        <p:nvSpPr>
          <p:cNvPr id="14" name="Content Placeholder 2">
            <a:extLst>
              <a:ext uri="{FF2B5EF4-FFF2-40B4-BE49-F238E27FC236}">
                <a16:creationId xmlns:a16="http://schemas.microsoft.com/office/drawing/2014/main" id="{65E67706-7DC6-4950-BDA4-F67AD5C8F2AF}"/>
              </a:ext>
            </a:extLst>
          </p:cNvPr>
          <p:cNvSpPr txBox="1">
            <a:spLocks/>
          </p:cNvSpPr>
          <p:nvPr/>
        </p:nvSpPr>
        <p:spPr>
          <a:xfrm>
            <a:off x="6417990" y="1965855"/>
            <a:ext cx="5083787" cy="4389120"/>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0" i="0" dirty="0">
                <a:solidFill>
                  <a:srgbClr val="333333"/>
                </a:solidFill>
                <a:effectLst/>
                <a:latin typeface="inter-regular"/>
              </a:rPr>
              <a:t>As we can observe that the tree does not satisfy the max heap property, i.e., parent node 44 is less than the R-child 77. So, we will swap these two values as shown below:</a:t>
            </a:r>
            <a:endParaRPr lang="en-US" dirty="0">
              <a:solidFill>
                <a:srgbClr val="333333"/>
              </a:solidFill>
              <a:latin typeface="inter-regular"/>
            </a:endParaRPr>
          </a:p>
        </p:txBody>
      </p:sp>
      <p:pic>
        <p:nvPicPr>
          <p:cNvPr id="5" name="Picture 4">
            <a:extLst>
              <a:ext uri="{FF2B5EF4-FFF2-40B4-BE49-F238E27FC236}">
                <a16:creationId xmlns:a16="http://schemas.microsoft.com/office/drawing/2014/main" id="{3C646B54-20C6-4BF2-A0A2-D41132AE61AB}"/>
              </a:ext>
            </a:extLst>
          </p:cNvPr>
          <p:cNvPicPr>
            <a:picLocks noChangeAspect="1"/>
          </p:cNvPicPr>
          <p:nvPr/>
        </p:nvPicPr>
        <p:blipFill>
          <a:blip r:embed="rId3"/>
          <a:stretch>
            <a:fillRect/>
          </a:stretch>
        </p:blipFill>
        <p:spPr>
          <a:xfrm>
            <a:off x="7365840" y="4648110"/>
            <a:ext cx="3810000" cy="2209800"/>
          </a:xfrm>
          <a:prstGeom prst="rect">
            <a:avLst/>
          </a:prstGeom>
        </p:spPr>
      </p:pic>
    </p:spTree>
    <p:extLst>
      <p:ext uri="{BB962C8B-B14F-4D97-AF65-F5344CB8AC3E}">
        <p14:creationId xmlns:p14="http://schemas.microsoft.com/office/powerpoint/2010/main" val="572234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Creation of Max Heap Tree</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12</a:t>
            </a:fld>
            <a:endParaRPr sz="900">
              <a:solidFill>
                <a:prstClr val="black"/>
              </a:solidFill>
              <a:latin typeface="Malgun Gothic"/>
              <a:cs typeface="Malgun Gothic"/>
            </a:endParaRPr>
          </a:p>
        </p:txBody>
      </p:sp>
      <p:sp>
        <p:nvSpPr>
          <p:cNvPr id="12" name="Content Placeholder 2">
            <a:extLst>
              <a:ext uri="{FF2B5EF4-FFF2-40B4-BE49-F238E27FC236}">
                <a16:creationId xmlns:a16="http://schemas.microsoft.com/office/drawing/2014/main" id="{D5590F1E-738A-49D3-B66D-FA56F0131C89}"/>
              </a:ext>
            </a:extLst>
          </p:cNvPr>
          <p:cNvSpPr>
            <a:spLocks noGrp="1"/>
          </p:cNvSpPr>
          <p:nvPr>
            <p:ph idx="1"/>
          </p:nvPr>
        </p:nvSpPr>
        <p:spPr>
          <a:xfrm>
            <a:off x="1133783" y="1880227"/>
            <a:ext cx="9914143" cy="4389120"/>
          </a:xfrm>
        </p:spPr>
        <p:txBody>
          <a:bodyPr>
            <a:normAutofit/>
          </a:bodyPr>
          <a:lstStyle/>
          <a:p>
            <a:pPr algn="just"/>
            <a:r>
              <a:rPr lang="en-US" sz="2400" b="1" i="0" dirty="0">
                <a:solidFill>
                  <a:srgbClr val="333333"/>
                </a:solidFill>
                <a:effectLst/>
                <a:latin typeface="inter-bold"/>
              </a:rPr>
              <a:t>Step 4:</a:t>
            </a:r>
            <a:r>
              <a:rPr lang="en-US" sz="2400" b="0" i="0" dirty="0">
                <a:solidFill>
                  <a:srgbClr val="333333"/>
                </a:solidFill>
                <a:effectLst/>
                <a:latin typeface="inter-regular"/>
              </a:rPr>
              <a:t> The next element is 11. The node 11 is added to the left of 33 as shown below</a:t>
            </a:r>
            <a:r>
              <a:rPr lang="en-US" b="0" i="0" dirty="0">
                <a:solidFill>
                  <a:srgbClr val="333333"/>
                </a:solidFill>
                <a:effectLst/>
                <a:latin typeface="inter-regular"/>
              </a:rPr>
              <a:t>:</a:t>
            </a:r>
          </a:p>
        </p:txBody>
      </p:sp>
      <p:sp>
        <p:nvSpPr>
          <p:cNvPr id="14" name="Content Placeholder 2">
            <a:extLst>
              <a:ext uri="{FF2B5EF4-FFF2-40B4-BE49-F238E27FC236}">
                <a16:creationId xmlns:a16="http://schemas.microsoft.com/office/drawing/2014/main" id="{65E67706-7DC6-4950-BDA4-F67AD5C8F2AF}"/>
              </a:ext>
            </a:extLst>
          </p:cNvPr>
          <p:cNvSpPr txBox="1">
            <a:spLocks/>
          </p:cNvSpPr>
          <p:nvPr/>
        </p:nvSpPr>
        <p:spPr>
          <a:xfrm>
            <a:off x="6417990" y="2237613"/>
            <a:ext cx="5083787" cy="4389120"/>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dirty="0">
              <a:solidFill>
                <a:srgbClr val="333333"/>
              </a:solidFill>
              <a:latin typeface="inter-regular"/>
            </a:endParaRPr>
          </a:p>
        </p:txBody>
      </p:sp>
      <p:pic>
        <p:nvPicPr>
          <p:cNvPr id="4" name="Picture 3">
            <a:extLst>
              <a:ext uri="{FF2B5EF4-FFF2-40B4-BE49-F238E27FC236}">
                <a16:creationId xmlns:a16="http://schemas.microsoft.com/office/drawing/2014/main" id="{476A55A4-C94E-4177-889D-ACAF9D1C4614}"/>
              </a:ext>
            </a:extLst>
          </p:cNvPr>
          <p:cNvPicPr>
            <a:picLocks noChangeAspect="1"/>
          </p:cNvPicPr>
          <p:nvPr/>
        </p:nvPicPr>
        <p:blipFill>
          <a:blip r:embed="rId2"/>
          <a:stretch>
            <a:fillRect/>
          </a:stretch>
        </p:blipFill>
        <p:spPr>
          <a:xfrm>
            <a:off x="3630886" y="2862090"/>
            <a:ext cx="4286250" cy="3200400"/>
          </a:xfrm>
          <a:prstGeom prst="rect">
            <a:avLst/>
          </a:prstGeom>
        </p:spPr>
      </p:pic>
    </p:spTree>
    <p:extLst>
      <p:ext uri="{BB962C8B-B14F-4D97-AF65-F5344CB8AC3E}">
        <p14:creationId xmlns:p14="http://schemas.microsoft.com/office/powerpoint/2010/main" val="3746673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Creation of Max Heap Tree</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13</a:t>
            </a:fld>
            <a:endParaRPr sz="900">
              <a:solidFill>
                <a:prstClr val="black"/>
              </a:solidFill>
              <a:latin typeface="Malgun Gothic"/>
              <a:cs typeface="Malgun Gothic"/>
            </a:endParaRPr>
          </a:p>
        </p:txBody>
      </p:sp>
      <p:sp>
        <p:nvSpPr>
          <p:cNvPr id="14" name="Content Placeholder 2">
            <a:extLst>
              <a:ext uri="{FF2B5EF4-FFF2-40B4-BE49-F238E27FC236}">
                <a16:creationId xmlns:a16="http://schemas.microsoft.com/office/drawing/2014/main" id="{65E67706-7DC6-4950-BDA4-F67AD5C8F2AF}"/>
              </a:ext>
            </a:extLst>
          </p:cNvPr>
          <p:cNvSpPr txBox="1">
            <a:spLocks/>
          </p:cNvSpPr>
          <p:nvPr/>
        </p:nvSpPr>
        <p:spPr>
          <a:xfrm>
            <a:off x="6417990" y="2237613"/>
            <a:ext cx="5083787" cy="4389120"/>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dirty="0">
              <a:solidFill>
                <a:srgbClr val="333333"/>
              </a:solidFill>
              <a:latin typeface="inter-regular"/>
            </a:endParaRPr>
          </a:p>
        </p:txBody>
      </p:sp>
      <p:sp>
        <p:nvSpPr>
          <p:cNvPr id="16" name="Content Placeholder 2">
            <a:extLst>
              <a:ext uri="{FF2B5EF4-FFF2-40B4-BE49-F238E27FC236}">
                <a16:creationId xmlns:a16="http://schemas.microsoft.com/office/drawing/2014/main" id="{EABA591A-DAB6-4E21-8A6F-7C479D6CDC90}"/>
              </a:ext>
            </a:extLst>
          </p:cNvPr>
          <p:cNvSpPr txBox="1">
            <a:spLocks/>
          </p:cNvSpPr>
          <p:nvPr/>
        </p:nvSpPr>
        <p:spPr>
          <a:xfrm>
            <a:off x="1188348" y="2237613"/>
            <a:ext cx="5083787" cy="4389120"/>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i="0" dirty="0">
                <a:solidFill>
                  <a:srgbClr val="333333"/>
                </a:solidFill>
                <a:effectLst/>
                <a:latin typeface="inter-bold"/>
              </a:rPr>
              <a:t>Step 5:</a:t>
            </a:r>
            <a:r>
              <a:rPr lang="en-US" b="0" i="0" dirty="0">
                <a:solidFill>
                  <a:srgbClr val="333333"/>
                </a:solidFill>
                <a:effectLst/>
                <a:latin typeface="inter-regular"/>
              </a:rPr>
              <a:t> The next element is 55. To make it a complete binary tree, we will add the node 55 to the right of 33 as shown below:</a:t>
            </a:r>
            <a:endParaRPr lang="en-US" dirty="0">
              <a:solidFill>
                <a:srgbClr val="333333"/>
              </a:solidFill>
              <a:latin typeface="inter-regular"/>
            </a:endParaRPr>
          </a:p>
        </p:txBody>
      </p:sp>
      <p:pic>
        <p:nvPicPr>
          <p:cNvPr id="6" name="Picture 5">
            <a:extLst>
              <a:ext uri="{FF2B5EF4-FFF2-40B4-BE49-F238E27FC236}">
                <a16:creationId xmlns:a16="http://schemas.microsoft.com/office/drawing/2014/main" id="{F558A166-16D6-4A8F-855E-4E1D82BF6C7D}"/>
              </a:ext>
            </a:extLst>
          </p:cNvPr>
          <p:cNvPicPr>
            <a:picLocks noChangeAspect="1"/>
          </p:cNvPicPr>
          <p:nvPr/>
        </p:nvPicPr>
        <p:blipFill>
          <a:blip r:embed="rId2"/>
          <a:stretch>
            <a:fillRect/>
          </a:stretch>
        </p:blipFill>
        <p:spPr>
          <a:xfrm>
            <a:off x="1640988" y="3814035"/>
            <a:ext cx="3734351" cy="3144324"/>
          </a:xfrm>
          <a:prstGeom prst="rect">
            <a:avLst/>
          </a:prstGeom>
        </p:spPr>
      </p:pic>
      <p:sp>
        <p:nvSpPr>
          <p:cNvPr id="19" name="TextBox 18">
            <a:extLst>
              <a:ext uri="{FF2B5EF4-FFF2-40B4-BE49-F238E27FC236}">
                <a16:creationId xmlns:a16="http://schemas.microsoft.com/office/drawing/2014/main" id="{369D17BA-B3EE-4D13-9AB8-34504E617B2D}"/>
              </a:ext>
            </a:extLst>
          </p:cNvPr>
          <p:cNvSpPr txBox="1"/>
          <p:nvPr/>
        </p:nvSpPr>
        <p:spPr>
          <a:xfrm>
            <a:off x="6369111" y="2286426"/>
            <a:ext cx="5289489" cy="2677656"/>
          </a:xfrm>
          <a:prstGeom prst="rect">
            <a:avLst/>
          </a:prstGeom>
          <a:noFill/>
        </p:spPr>
        <p:txBody>
          <a:bodyPr wrap="square">
            <a:spAutoFit/>
          </a:bodyPr>
          <a:lstStyle/>
          <a:p>
            <a:pPr marL="285750" indent="-285750" algn="just">
              <a:buFont typeface="Arial" panose="020B0604020202020204" pitchFamily="34" charset="0"/>
              <a:buChar char="•"/>
            </a:pPr>
            <a:r>
              <a:rPr lang="en-US" sz="2400" b="0" i="0" dirty="0">
                <a:solidFill>
                  <a:srgbClr val="333333"/>
                </a:solidFill>
                <a:effectLst/>
                <a:latin typeface="inter-regular"/>
              </a:rPr>
              <a:t>As we can observe that it does not satisfy the property of the max heap because 33&lt;55, so we will swap these two values as shown below:</a:t>
            </a:r>
          </a:p>
          <a:p>
            <a:pPr marL="285750" indent="-285750" algn="just">
              <a:buFont typeface="Arial" panose="020B0604020202020204" pitchFamily="34" charset="0"/>
              <a:buChar char="•"/>
            </a:pPr>
            <a:endParaRPr lang="en-US" sz="2400" b="0" i="0" dirty="0">
              <a:solidFill>
                <a:srgbClr val="333333"/>
              </a:solidFill>
              <a:effectLst/>
              <a:latin typeface="inter-regular"/>
            </a:endParaRPr>
          </a:p>
          <a:p>
            <a:pPr marL="285750" indent="-285750">
              <a:buFont typeface="Arial" panose="020B0604020202020204" pitchFamily="34" charset="0"/>
              <a:buChar char="•"/>
            </a:pPr>
            <a:br>
              <a:rPr lang="en-US" sz="2400" dirty="0"/>
            </a:br>
            <a:endParaRPr lang="en-US" sz="2400" dirty="0"/>
          </a:p>
        </p:txBody>
      </p:sp>
      <p:pic>
        <p:nvPicPr>
          <p:cNvPr id="8" name="Picture 7">
            <a:extLst>
              <a:ext uri="{FF2B5EF4-FFF2-40B4-BE49-F238E27FC236}">
                <a16:creationId xmlns:a16="http://schemas.microsoft.com/office/drawing/2014/main" id="{55678E23-E779-4E25-94A9-9247EC6DC8A1}"/>
              </a:ext>
            </a:extLst>
          </p:cNvPr>
          <p:cNvPicPr>
            <a:picLocks noChangeAspect="1"/>
          </p:cNvPicPr>
          <p:nvPr/>
        </p:nvPicPr>
        <p:blipFill>
          <a:blip r:embed="rId3"/>
          <a:stretch>
            <a:fillRect/>
          </a:stretch>
        </p:blipFill>
        <p:spPr>
          <a:xfrm>
            <a:off x="7014060" y="3829175"/>
            <a:ext cx="3734351" cy="3144324"/>
          </a:xfrm>
          <a:prstGeom prst="rect">
            <a:avLst/>
          </a:prstGeom>
        </p:spPr>
      </p:pic>
    </p:spTree>
    <p:extLst>
      <p:ext uri="{BB962C8B-B14F-4D97-AF65-F5344CB8AC3E}">
        <p14:creationId xmlns:p14="http://schemas.microsoft.com/office/powerpoint/2010/main" val="1169256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Creation of Max Heap Tree</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14</a:t>
            </a:fld>
            <a:endParaRPr sz="900">
              <a:solidFill>
                <a:prstClr val="black"/>
              </a:solidFill>
              <a:latin typeface="Malgun Gothic"/>
              <a:cs typeface="Malgun Gothic"/>
            </a:endParaRPr>
          </a:p>
        </p:txBody>
      </p:sp>
      <p:sp>
        <p:nvSpPr>
          <p:cNvPr id="14" name="Content Placeholder 2">
            <a:extLst>
              <a:ext uri="{FF2B5EF4-FFF2-40B4-BE49-F238E27FC236}">
                <a16:creationId xmlns:a16="http://schemas.microsoft.com/office/drawing/2014/main" id="{65E67706-7DC6-4950-BDA4-F67AD5C8F2AF}"/>
              </a:ext>
            </a:extLst>
          </p:cNvPr>
          <p:cNvSpPr txBox="1">
            <a:spLocks/>
          </p:cNvSpPr>
          <p:nvPr/>
        </p:nvSpPr>
        <p:spPr>
          <a:xfrm>
            <a:off x="6417990" y="2237613"/>
            <a:ext cx="5083787" cy="4389120"/>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dirty="0">
              <a:solidFill>
                <a:srgbClr val="333333"/>
              </a:solidFill>
              <a:latin typeface="inter-regular"/>
            </a:endParaRPr>
          </a:p>
        </p:txBody>
      </p:sp>
      <p:sp>
        <p:nvSpPr>
          <p:cNvPr id="16" name="Content Placeholder 2">
            <a:extLst>
              <a:ext uri="{FF2B5EF4-FFF2-40B4-BE49-F238E27FC236}">
                <a16:creationId xmlns:a16="http://schemas.microsoft.com/office/drawing/2014/main" id="{EABA591A-DAB6-4E21-8A6F-7C479D6CDC90}"/>
              </a:ext>
            </a:extLst>
          </p:cNvPr>
          <p:cNvSpPr txBox="1">
            <a:spLocks/>
          </p:cNvSpPr>
          <p:nvPr/>
        </p:nvSpPr>
        <p:spPr>
          <a:xfrm>
            <a:off x="1188348" y="2237613"/>
            <a:ext cx="4182781" cy="4389120"/>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i="0" dirty="0">
                <a:solidFill>
                  <a:srgbClr val="333333"/>
                </a:solidFill>
                <a:effectLst/>
                <a:latin typeface="inter-bold"/>
              </a:rPr>
              <a:t>Step 6:</a:t>
            </a:r>
            <a:r>
              <a:rPr lang="en-US" b="0" i="0" dirty="0">
                <a:solidFill>
                  <a:srgbClr val="333333"/>
                </a:solidFill>
                <a:effectLst/>
                <a:latin typeface="inter-regular"/>
              </a:rPr>
              <a:t> The next element is 88. The left subtree is completed so we will add 88 to the left of 44 as shown below:</a:t>
            </a:r>
            <a:endParaRPr lang="en-US" dirty="0">
              <a:solidFill>
                <a:srgbClr val="333333"/>
              </a:solidFill>
              <a:latin typeface="inter-regular"/>
            </a:endParaRPr>
          </a:p>
        </p:txBody>
      </p:sp>
      <p:sp>
        <p:nvSpPr>
          <p:cNvPr id="19" name="TextBox 18">
            <a:extLst>
              <a:ext uri="{FF2B5EF4-FFF2-40B4-BE49-F238E27FC236}">
                <a16:creationId xmlns:a16="http://schemas.microsoft.com/office/drawing/2014/main" id="{369D17BA-B3EE-4D13-9AB8-34504E617B2D}"/>
              </a:ext>
            </a:extLst>
          </p:cNvPr>
          <p:cNvSpPr txBox="1"/>
          <p:nvPr/>
        </p:nvSpPr>
        <p:spPr>
          <a:xfrm>
            <a:off x="5440025" y="2286426"/>
            <a:ext cx="4008775" cy="4154984"/>
          </a:xfrm>
          <a:prstGeom prst="rect">
            <a:avLst/>
          </a:prstGeom>
          <a:noFill/>
        </p:spPr>
        <p:txBody>
          <a:bodyPr wrap="square">
            <a:spAutoFit/>
          </a:bodyPr>
          <a:lstStyle/>
          <a:p>
            <a:pPr algn="just"/>
            <a:r>
              <a:rPr lang="en-US" sz="2400" b="0" i="0" dirty="0">
                <a:solidFill>
                  <a:srgbClr val="333333"/>
                </a:solidFill>
                <a:effectLst/>
                <a:latin typeface="inter-regular"/>
              </a:rPr>
              <a:t>As we can observe in the above figure that it does not satisfy the property of the max heap because 44&lt;88, so we will swap these two values </a:t>
            </a:r>
          </a:p>
          <a:p>
            <a:pPr algn="just"/>
            <a:endParaRPr lang="en-US" sz="2400" dirty="0">
              <a:solidFill>
                <a:srgbClr val="333333"/>
              </a:solidFill>
              <a:latin typeface="inter-regular"/>
            </a:endParaRPr>
          </a:p>
          <a:p>
            <a:pPr algn="just"/>
            <a:endParaRPr lang="en-US" sz="2400" b="0" i="0" dirty="0">
              <a:solidFill>
                <a:srgbClr val="333333"/>
              </a:solidFill>
              <a:effectLst/>
              <a:latin typeface="inter-regular"/>
            </a:endParaRPr>
          </a:p>
          <a:p>
            <a:pPr algn="just"/>
            <a:r>
              <a:rPr lang="en-US" sz="2400" b="0" i="0" dirty="0">
                <a:solidFill>
                  <a:srgbClr val="333333"/>
                </a:solidFill>
                <a:effectLst/>
                <a:latin typeface="inter-regular"/>
              </a:rPr>
              <a:t>Again, it is violating the max heap property because 88&gt;77 so we will swap these two values.</a:t>
            </a:r>
            <a:endParaRPr lang="en-US" sz="2400" dirty="0"/>
          </a:p>
        </p:txBody>
      </p:sp>
      <p:pic>
        <p:nvPicPr>
          <p:cNvPr id="3" name="Picture 2">
            <a:extLst>
              <a:ext uri="{FF2B5EF4-FFF2-40B4-BE49-F238E27FC236}">
                <a16:creationId xmlns:a16="http://schemas.microsoft.com/office/drawing/2014/main" id="{C8037A68-E290-4437-B20D-E117DDE2C0C9}"/>
              </a:ext>
            </a:extLst>
          </p:cNvPr>
          <p:cNvPicPr>
            <a:picLocks noChangeAspect="1"/>
          </p:cNvPicPr>
          <p:nvPr/>
        </p:nvPicPr>
        <p:blipFill>
          <a:blip r:embed="rId2"/>
          <a:stretch>
            <a:fillRect/>
          </a:stretch>
        </p:blipFill>
        <p:spPr>
          <a:xfrm>
            <a:off x="1064222" y="4239042"/>
            <a:ext cx="3138862" cy="2316480"/>
          </a:xfrm>
          <a:prstGeom prst="rect">
            <a:avLst/>
          </a:prstGeom>
        </p:spPr>
      </p:pic>
      <p:cxnSp>
        <p:nvCxnSpPr>
          <p:cNvPr id="5" name="Straight Connector 4">
            <a:extLst>
              <a:ext uri="{FF2B5EF4-FFF2-40B4-BE49-F238E27FC236}">
                <a16:creationId xmlns:a16="http://schemas.microsoft.com/office/drawing/2014/main" id="{85E39536-13F9-4585-9FA1-29C49A3E201C}"/>
              </a:ext>
            </a:extLst>
          </p:cNvPr>
          <p:cNvCxnSpPr/>
          <p:nvPr/>
        </p:nvCxnSpPr>
        <p:spPr>
          <a:xfrm>
            <a:off x="8910727" y="3625254"/>
            <a:ext cx="9753" cy="22186"/>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7602C4E-3DBC-450B-8210-6A051739D77C}"/>
              </a:ext>
            </a:extLst>
          </p:cNvPr>
          <p:cNvPicPr>
            <a:picLocks noChangeAspect="1"/>
          </p:cNvPicPr>
          <p:nvPr/>
        </p:nvPicPr>
        <p:blipFill>
          <a:blip r:embed="rId3"/>
          <a:stretch>
            <a:fillRect/>
          </a:stretch>
        </p:blipFill>
        <p:spPr>
          <a:xfrm>
            <a:off x="9448800" y="2163945"/>
            <a:ext cx="2764940" cy="2333609"/>
          </a:xfrm>
          <a:prstGeom prst="rect">
            <a:avLst/>
          </a:prstGeom>
        </p:spPr>
      </p:pic>
      <p:pic>
        <p:nvPicPr>
          <p:cNvPr id="12" name="Picture 11">
            <a:extLst>
              <a:ext uri="{FF2B5EF4-FFF2-40B4-BE49-F238E27FC236}">
                <a16:creationId xmlns:a16="http://schemas.microsoft.com/office/drawing/2014/main" id="{5C3EAE1C-4406-4430-934A-6C71F6953C65}"/>
              </a:ext>
            </a:extLst>
          </p:cNvPr>
          <p:cNvPicPr>
            <a:picLocks noChangeAspect="1"/>
          </p:cNvPicPr>
          <p:nvPr/>
        </p:nvPicPr>
        <p:blipFill>
          <a:blip r:embed="rId4"/>
          <a:stretch>
            <a:fillRect/>
          </a:stretch>
        </p:blipFill>
        <p:spPr>
          <a:xfrm>
            <a:off x="9490766" y="4573965"/>
            <a:ext cx="2615079" cy="2207534"/>
          </a:xfrm>
          <a:prstGeom prst="rect">
            <a:avLst/>
          </a:prstGeom>
        </p:spPr>
      </p:pic>
    </p:spTree>
    <p:extLst>
      <p:ext uri="{BB962C8B-B14F-4D97-AF65-F5344CB8AC3E}">
        <p14:creationId xmlns:p14="http://schemas.microsoft.com/office/powerpoint/2010/main" val="795992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Creation of Max Heap Tree</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15</a:t>
            </a:fld>
            <a:endParaRPr sz="900">
              <a:solidFill>
                <a:prstClr val="black"/>
              </a:solidFill>
              <a:latin typeface="Malgun Gothic"/>
              <a:cs typeface="Malgun Gothic"/>
            </a:endParaRPr>
          </a:p>
        </p:txBody>
      </p:sp>
      <p:sp>
        <p:nvSpPr>
          <p:cNvPr id="14" name="Content Placeholder 2">
            <a:extLst>
              <a:ext uri="{FF2B5EF4-FFF2-40B4-BE49-F238E27FC236}">
                <a16:creationId xmlns:a16="http://schemas.microsoft.com/office/drawing/2014/main" id="{65E67706-7DC6-4950-BDA4-F67AD5C8F2AF}"/>
              </a:ext>
            </a:extLst>
          </p:cNvPr>
          <p:cNvSpPr txBox="1">
            <a:spLocks/>
          </p:cNvSpPr>
          <p:nvPr/>
        </p:nvSpPr>
        <p:spPr>
          <a:xfrm>
            <a:off x="6417990" y="2237613"/>
            <a:ext cx="5083787" cy="4389120"/>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dirty="0">
              <a:solidFill>
                <a:srgbClr val="333333"/>
              </a:solidFill>
              <a:latin typeface="inter-regular"/>
            </a:endParaRPr>
          </a:p>
        </p:txBody>
      </p:sp>
      <p:sp>
        <p:nvSpPr>
          <p:cNvPr id="16" name="Content Placeholder 2">
            <a:extLst>
              <a:ext uri="{FF2B5EF4-FFF2-40B4-BE49-F238E27FC236}">
                <a16:creationId xmlns:a16="http://schemas.microsoft.com/office/drawing/2014/main" id="{EABA591A-DAB6-4E21-8A6F-7C479D6CDC90}"/>
              </a:ext>
            </a:extLst>
          </p:cNvPr>
          <p:cNvSpPr txBox="1">
            <a:spLocks/>
          </p:cNvSpPr>
          <p:nvPr/>
        </p:nvSpPr>
        <p:spPr>
          <a:xfrm>
            <a:off x="1188348" y="2002371"/>
            <a:ext cx="10216670" cy="4389120"/>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i="0" dirty="0">
                <a:solidFill>
                  <a:srgbClr val="333333"/>
                </a:solidFill>
                <a:effectLst/>
                <a:latin typeface="inter-bold"/>
              </a:rPr>
              <a:t>Step 7:</a:t>
            </a:r>
            <a:r>
              <a:rPr lang="en-US" b="0" i="0" dirty="0">
                <a:solidFill>
                  <a:srgbClr val="333333"/>
                </a:solidFill>
                <a:effectLst/>
                <a:latin typeface="inter-regular"/>
              </a:rPr>
              <a:t> The next element is 66. To make a complete binary tree, we will add the 66 element to the right side of 77 as shown below:</a:t>
            </a:r>
          </a:p>
          <a:p>
            <a:pPr algn="just"/>
            <a:r>
              <a:rPr lang="en-US" b="0" i="0" dirty="0">
                <a:solidFill>
                  <a:srgbClr val="333333"/>
                </a:solidFill>
                <a:effectLst/>
                <a:latin typeface="inter-regular"/>
              </a:rPr>
              <a:t>Here, we can observe that the tree satisfies the property of max heap; therefore, it is a heap tree.</a:t>
            </a:r>
          </a:p>
        </p:txBody>
      </p:sp>
      <p:pic>
        <p:nvPicPr>
          <p:cNvPr id="5" name="Picture 4">
            <a:extLst>
              <a:ext uri="{FF2B5EF4-FFF2-40B4-BE49-F238E27FC236}">
                <a16:creationId xmlns:a16="http://schemas.microsoft.com/office/drawing/2014/main" id="{341299F3-60C1-41F5-A152-2349BD442064}"/>
              </a:ext>
            </a:extLst>
          </p:cNvPr>
          <p:cNvPicPr>
            <a:picLocks noChangeAspect="1"/>
          </p:cNvPicPr>
          <p:nvPr/>
        </p:nvPicPr>
        <p:blipFill>
          <a:blip r:embed="rId2"/>
          <a:stretch>
            <a:fillRect/>
          </a:stretch>
        </p:blipFill>
        <p:spPr>
          <a:xfrm>
            <a:off x="4209529" y="3861653"/>
            <a:ext cx="4174308" cy="2916503"/>
          </a:xfrm>
          <a:prstGeom prst="rect">
            <a:avLst/>
          </a:prstGeom>
        </p:spPr>
      </p:pic>
    </p:spTree>
    <p:extLst>
      <p:ext uri="{BB962C8B-B14F-4D97-AF65-F5344CB8AC3E}">
        <p14:creationId xmlns:p14="http://schemas.microsoft.com/office/powerpoint/2010/main" val="115490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Task</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16</a:t>
            </a:fld>
            <a:endParaRPr sz="900">
              <a:solidFill>
                <a:prstClr val="black"/>
              </a:solidFill>
              <a:latin typeface="Malgun Gothic"/>
              <a:cs typeface="Malgun Gothic"/>
            </a:endParaRPr>
          </a:p>
        </p:txBody>
      </p:sp>
      <p:sp>
        <p:nvSpPr>
          <p:cNvPr id="12" name="Content Placeholder 2">
            <a:extLst>
              <a:ext uri="{FF2B5EF4-FFF2-40B4-BE49-F238E27FC236}">
                <a16:creationId xmlns:a16="http://schemas.microsoft.com/office/drawing/2014/main" id="{D5590F1E-738A-49D3-B66D-FA56F0131C89}"/>
              </a:ext>
            </a:extLst>
          </p:cNvPr>
          <p:cNvSpPr>
            <a:spLocks noGrp="1"/>
          </p:cNvSpPr>
          <p:nvPr>
            <p:ph idx="1"/>
          </p:nvPr>
        </p:nvSpPr>
        <p:spPr>
          <a:xfrm>
            <a:off x="1164612" y="2291137"/>
            <a:ext cx="10058353" cy="1959849"/>
          </a:xfrm>
        </p:spPr>
        <p:txBody>
          <a:bodyPr>
            <a:normAutofit fontScale="62500" lnSpcReduction="20000"/>
          </a:bodyPr>
          <a:lstStyle/>
          <a:p>
            <a:r>
              <a:rPr lang="en-US" sz="4900" dirty="0"/>
              <a:t>Insert following data in Heap</a:t>
            </a:r>
          </a:p>
          <a:p>
            <a:r>
              <a:rPr lang="en-US" sz="4900" dirty="0"/>
              <a:t>Insert in Heap Data: 44, 30, 50, 22, 60, 55, 77</a:t>
            </a:r>
          </a:p>
          <a:p>
            <a:endParaRPr lang="en-US" sz="3100" dirty="0"/>
          </a:p>
          <a:p>
            <a:r>
              <a:rPr lang="en-US" sz="4900" dirty="0"/>
              <a:t>Data: 97, 88, 95, 66, 55, 95, 48, 66, 35, 48</a:t>
            </a:r>
            <a:endParaRPr lang="en-US" sz="2600" dirty="0"/>
          </a:p>
        </p:txBody>
      </p:sp>
    </p:spTree>
    <p:extLst>
      <p:ext uri="{BB962C8B-B14F-4D97-AF65-F5344CB8AC3E}">
        <p14:creationId xmlns:p14="http://schemas.microsoft.com/office/powerpoint/2010/main" val="1675774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Heap Tree Structure</a:t>
            </a:r>
            <a:endParaRPr lang="en-US" sz="4000" b="1" spc="-10" dirty="0">
              <a:solidFill>
                <a:schemeClr val="tx1"/>
              </a:solidFill>
            </a:endParaRPr>
          </a:p>
        </p:txBody>
      </p:sp>
      <p:sp>
        <p:nvSpPr>
          <p:cNvPr id="10" name="object 10"/>
          <p:cNvSpPr txBox="1"/>
          <p:nvPr/>
        </p:nvSpPr>
        <p:spPr>
          <a:xfrm>
            <a:off x="10793542" y="5483296"/>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17</a:t>
            </a:fld>
            <a:endParaRPr sz="900">
              <a:solidFill>
                <a:prstClr val="black"/>
              </a:solidFill>
              <a:latin typeface="Malgun Gothic"/>
              <a:cs typeface="Malgun Gothic"/>
            </a:endParaRPr>
          </a:p>
        </p:txBody>
      </p:sp>
      <p:sp>
        <p:nvSpPr>
          <p:cNvPr id="14" name="Oval 5">
            <a:extLst>
              <a:ext uri="{FF2B5EF4-FFF2-40B4-BE49-F238E27FC236}">
                <a16:creationId xmlns:a16="http://schemas.microsoft.com/office/drawing/2014/main" id="{E2892222-679C-4B66-9706-9B767896E1C9}"/>
              </a:ext>
            </a:extLst>
          </p:cNvPr>
          <p:cNvSpPr>
            <a:spLocks noChangeArrowheads="1"/>
          </p:cNvSpPr>
          <p:nvPr/>
        </p:nvSpPr>
        <p:spPr bwMode="auto">
          <a:xfrm>
            <a:off x="2397881" y="294005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44</a:t>
            </a:r>
          </a:p>
        </p:txBody>
      </p:sp>
      <p:sp>
        <p:nvSpPr>
          <p:cNvPr id="15" name="Oval 5">
            <a:extLst>
              <a:ext uri="{FF2B5EF4-FFF2-40B4-BE49-F238E27FC236}">
                <a16:creationId xmlns:a16="http://schemas.microsoft.com/office/drawing/2014/main" id="{A4C5013F-DE72-4A7E-8D71-04D9658C6B03}"/>
              </a:ext>
            </a:extLst>
          </p:cNvPr>
          <p:cNvSpPr>
            <a:spLocks noChangeArrowheads="1"/>
          </p:cNvSpPr>
          <p:nvPr/>
        </p:nvSpPr>
        <p:spPr bwMode="auto">
          <a:xfrm>
            <a:off x="5217281" y="2952407"/>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44</a:t>
            </a:r>
          </a:p>
        </p:txBody>
      </p:sp>
      <p:sp>
        <p:nvSpPr>
          <p:cNvPr id="16" name="Oval 6">
            <a:extLst>
              <a:ext uri="{FF2B5EF4-FFF2-40B4-BE49-F238E27FC236}">
                <a16:creationId xmlns:a16="http://schemas.microsoft.com/office/drawing/2014/main" id="{D4F51C0F-2676-4A8E-9157-63AB54074CB7}"/>
              </a:ext>
            </a:extLst>
          </p:cNvPr>
          <p:cNvSpPr>
            <a:spLocks noChangeArrowheads="1"/>
          </p:cNvSpPr>
          <p:nvPr/>
        </p:nvSpPr>
        <p:spPr bwMode="auto">
          <a:xfrm>
            <a:off x="3888544" y="376795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30</a:t>
            </a:r>
          </a:p>
        </p:txBody>
      </p:sp>
      <p:sp>
        <p:nvSpPr>
          <p:cNvPr id="17" name="Line 12">
            <a:extLst>
              <a:ext uri="{FF2B5EF4-FFF2-40B4-BE49-F238E27FC236}">
                <a16:creationId xmlns:a16="http://schemas.microsoft.com/office/drawing/2014/main" id="{A6961B2F-6377-4EAC-9EBB-DFFACD795E08}"/>
              </a:ext>
            </a:extLst>
          </p:cNvPr>
          <p:cNvSpPr>
            <a:spLocks noChangeShapeType="1"/>
          </p:cNvSpPr>
          <p:nvPr/>
        </p:nvSpPr>
        <p:spPr bwMode="auto">
          <a:xfrm flipH="1">
            <a:off x="4626731" y="3405488"/>
            <a:ext cx="738187" cy="453081"/>
          </a:xfrm>
          <a:prstGeom prst="line">
            <a:avLst/>
          </a:prstGeom>
          <a:noFill/>
          <a:ln w="9525">
            <a:solidFill>
              <a:schemeClr val="tx1"/>
            </a:solidFill>
            <a:round/>
            <a:headEnd/>
            <a:tailEnd/>
          </a:ln>
        </p:spPr>
        <p:txBody>
          <a:bodyPr/>
          <a:lstStyle/>
          <a:p>
            <a:endParaRPr lang="en-US"/>
          </a:p>
        </p:txBody>
      </p:sp>
      <p:sp>
        <p:nvSpPr>
          <p:cNvPr id="19" name="Oval 5">
            <a:extLst>
              <a:ext uri="{FF2B5EF4-FFF2-40B4-BE49-F238E27FC236}">
                <a16:creationId xmlns:a16="http://schemas.microsoft.com/office/drawing/2014/main" id="{D4E0B5AB-C84C-421A-9ACB-0FC1A4C9193C}"/>
              </a:ext>
            </a:extLst>
          </p:cNvPr>
          <p:cNvSpPr>
            <a:spLocks noChangeArrowheads="1"/>
          </p:cNvSpPr>
          <p:nvPr/>
        </p:nvSpPr>
        <p:spPr bwMode="auto">
          <a:xfrm>
            <a:off x="7784269" y="294005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44</a:t>
            </a:r>
          </a:p>
        </p:txBody>
      </p:sp>
      <p:sp>
        <p:nvSpPr>
          <p:cNvPr id="20" name="Oval 6">
            <a:extLst>
              <a:ext uri="{FF2B5EF4-FFF2-40B4-BE49-F238E27FC236}">
                <a16:creationId xmlns:a16="http://schemas.microsoft.com/office/drawing/2014/main" id="{D7D19978-B1C7-44BB-A330-5949F02243DB}"/>
              </a:ext>
            </a:extLst>
          </p:cNvPr>
          <p:cNvSpPr>
            <a:spLocks noChangeArrowheads="1"/>
          </p:cNvSpPr>
          <p:nvPr/>
        </p:nvSpPr>
        <p:spPr bwMode="auto">
          <a:xfrm>
            <a:off x="6455532" y="375559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30</a:t>
            </a:r>
          </a:p>
        </p:txBody>
      </p:sp>
      <p:sp>
        <p:nvSpPr>
          <p:cNvPr id="21" name="Oval 7">
            <a:extLst>
              <a:ext uri="{FF2B5EF4-FFF2-40B4-BE49-F238E27FC236}">
                <a16:creationId xmlns:a16="http://schemas.microsoft.com/office/drawing/2014/main" id="{7C8406BE-3987-4567-BA7B-1BFF35071205}"/>
              </a:ext>
            </a:extLst>
          </p:cNvPr>
          <p:cNvSpPr>
            <a:spLocks noChangeArrowheads="1"/>
          </p:cNvSpPr>
          <p:nvPr/>
        </p:nvSpPr>
        <p:spPr bwMode="auto">
          <a:xfrm>
            <a:off x="9408281" y="375559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22" name="Line 12">
            <a:extLst>
              <a:ext uri="{FF2B5EF4-FFF2-40B4-BE49-F238E27FC236}">
                <a16:creationId xmlns:a16="http://schemas.microsoft.com/office/drawing/2014/main" id="{21361557-92A8-4C08-A589-872E986CD0ED}"/>
              </a:ext>
            </a:extLst>
          </p:cNvPr>
          <p:cNvSpPr>
            <a:spLocks noChangeShapeType="1"/>
          </p:cNvSpPr>
          <p:nvPr/>
        </p:nvSpPr>
        <p:spPr bwMode="auto">
          <a:xfrm flipH="1">
            <a:off x="7193719" y="3393131"/>
            <a:ext cx="738187" cy="453081"/>
          </a:xfrm>
          <a:prstGeom prst="line">
            <a:avLst/>
          </a:prstGeom>
          <a:noFill/>
          <a:ln w="9525">
            <a:solidFill>
              <a:schemeClr val="tx1"/>
            </a:solidFill>
            <a:round/>
            <a:headEnd/>
            <a:tailEnd/>
          </a:ln>
        </p:spPr>
        <p:txBody>
          <a:bodyPr/>
          <a:lstStyle/>
          <a:p>
            <a:endParaRPr lang="en-US"/>
          </a:p>
        </p:txBody>
      </p:sp>
      <p:sp>
        <p:nvSpPr>
          <p:cNvPr id="23" name="Line 13">
            <a:extLst>
              <a:ext uri="{FF2B5EF4-FFF2-40B4-BE49-F238E27FC236}">
                <a16:creationId xmlns:a16="http://schemas.microsoft.com/office/drawing/2014/main" id="{9D888E5B-90F1-4AC2-9BEA-6A202074F06B}"/>
              </a:ext>
            </a:extLst>
          </p:cNvPr>
          <p:cNvSpPr>
            <a:spLocks noChangeShapeType="1"/>
          </p:cNvSpPr>
          <p:nvPr/>
        </p:nvSpPr>
        <p:spPr bwMode="auto">
          <a:xfrm>
            <a:off x="8670094" y="3393131"/>
            <a:ext cx="885825" cy="362465"/>
          </a:xfrm>
          <a:prstGeom prst="line">
            <a:avLst/>
          </a:prstGeom>
          <a:noFill/>
          <a:ln w="9525">
            <a:solidFill>
              <a:schemeClr val="tx1"/>
            </a:solidFill>
            <a:prstDash val="dash"/>
            <a:round/>
            <a:headEnd/>
            <a:tailEnd/>
          </a:ln>
        </p:spPr>
        <p:txBody>
          <a:bodyPr/>
          <a:lstStyle/>
          <a:p>
            <a:endParaRPr lang="en-US"/>
          </a:p>
        </p:txBody>
      </p:sp>
      <p:sp>
        <p:nvSpPr>
          <p:cNvPr id="24" name="Oval 5">
            <a:extLst>
              <a:ext uri="{FF2B5EF4-FFF2-40B4-BE49-F238E27FC236}">
                <a16:creationId xmlns:a16="http://schemas.microsoft.com/office/drawing/2014/main" id="{B8C05E93-A2C7-44C1-87F4-B365C5CD2959}"/>
              </a:ext>
            </a:extLst>
          </p:cNvPr>
          <p:cNvSpPr>
            <a:spLocks noChangeArrowheads="1"/>
          </p:cNvSpPr>
          <p:nvPr/>
        </p:nvSpPr>
        <p:spPr bwMode="auto">
          <a:xfrm>
            <a:off x="2978905" y="477857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25" name="Oval 6">
            <a:extLst>
              <a:ext uri="{FF2B5EF4-FFF2-40B4-BE49-F238E27FC236}">
                <a16:creationId xmlns:a16="http://schemas.microsoft.com/office/drawing/2014/main" id="{7BA4616C-C075-43D7-A606-7F1D9EB37416}"/>
              </a:ext>
            </a:extLst>
          </p:cNvPr>
          <p:cNvSpPr>
            <a:spLocks noChangeArrowheads="1"/>
          </p:cNvSpPr>
          <p:nvPr/>
        </p:nvSpPr>
        <p:spPr bwMode="auto">
          <a:xfrm>
            <a:off x="1650168" y="5594119"/>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30</a:t>
            </a:r>
          </a:p>
        </p:txBody>
      </p:sp>
      <p:sp>
        <p:nvSpPr>
          <p:cNvPr id="26" name="Oval 7">
            <a:extLst>
              <a:ext uri="{FF2B5EF4-FFF2-40B4-BE49-F238E27FC236}">
                <a16:creationId xmlns:a16="http://schemas.microsoft.com/office/drawing/2014/main" id="{E06D9846-600A-4660-BA5E-E0553C88D09E}"/>
              </a:ext>
            </a:extLst>
          </p:cNvPr>
          <p:cNvSpPr>
            <a:spLocks noChangeArrowheads="1"/>
          </p:cNvSpPr>
          <p:nvPr/>
        </p:nvSpPr>
        <p:spPr bwMode="auto">
          <a:xfrm>
            <a:off x="4602917" y="5594119"/>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44</a:t>
            </a:r>
          </a:p>
        </p:txBody>
      </p:sp>
      <p:sp>
        <p:nvSpPr>
          <p:cNvPr id="27" name="Line 12">
            <a:extLst>
              <a:ext uri="{FF2B5EF4-FFF2-40B4-BE49-F238E27FC236}">
                <a16:creationId xmlns:a16="http://schemas.microsoft.com/office/drawing/2014/main" id="{19025304-DBD3-44C3-8FC7-276677B850AA}"/>
              </a:ext>
            </a:extLst>
          </p:cNvPr>
          <p:cNvSpPr>
            <a:spLocks noChangeShapeType="1"/>
          </p:cNvSpPr>
          <p:nvPr/>
        </p:nvSpPr>
        <p:spPr bwMode="auto">
          <a:xfrm flipH="1">
            <a:off x="2388355" y="5231654"/>
            <a:ext cx="738187" cy="453081"/>
          </a:xfrm>
          <a:prstGeom prst="line">
            <a:avLst/>
          </a:prstGeom>
          <a:noFill/>
          <a:ln w="9525">
            <a:solidFill>
              <a:schemeClr val="tx1"/>
            </a:solidFill>
            <a:round/>
            <a:headEnd/>
            <a:tailEnd/>
          </a:ln>
        </p:spPr>
        <p:txBody>
          <a:bodyPr/>
          <a:lstStyle/>
          <a:p>
            <a:endParaRPr lang="en-US"/>
          </a:p>
        </p:txBody>
      </p:sp>
      <p:sp>
        <p:nvSpPr>
          <p:cNvPr id="28" name="Line 13">
            <a:extLst>
              <a:ext uri="{FF2B5EF4-FFF2-40B4-BE49-F238E27FC236}">
                <a16:creationId xmlns:a16="http://schemas.microsoft.com/office/drawing/2014/main" id="{89BCF031-F20C-4824-BDF1-F82A735089BB}"/>
              </a:ext>
            </a:extLst>
          </p:cNvPr>
          <p:cNvSpPr>
            <a:spLocks noChangeShapeType="1"/>
          </p:cNvSpPr>
          <p:nvPr/>
        </p:nvSpPr>
        <p:spPr bwMode="auto">
          <a:xfrm>
            <a:off x="3864730" y="5231654"/>
            <a:ext cx="885825" cy="362465"/>
          </a:xfrm>
          <a:prstGeom prst="line">
            <a:avLst/>
          </a:prstGeom>
          <a:noFill/>
          <a:ln w="9525">
            <a:solidFill>
              <a:schemeClr val="tx1"/>
            </a:solidFill>
            <a:prstDash val="solid"/>
            <a:round/>
            <a:headEnd/>
            <a:tailEnd/>
          </a:ln>
        </p:spPr>
        <p:txBody>
          <a:bodyPr/>
          <a:lstStyle/>
          <a:p>
            <a:endParaRPr lang="en-US"/>
          </a:p>
        </p:txBody>
      </p:sp>
      <p:sp>
        <p:nvSpPr>
          <p:cNvPr id="29" name="Oval 5">
            <a:extLst>
              <a:ext uri="{FF2B5EF4-FFF2-40B4-BE49-F238E27FC236}">
                <a16:creationId xmlns:a16="http://schemas.microsoft.com/office/drawing/2014/main" id="{D44A3AA9-5D04-4931-95D7-6F94F98FC751}"/>
              </a:ext>
            </a:extLst>
          </p:cNvPr>
          <p:cNvSpPr>
            <a:spLocks noChangeArrowheads="1"/>
          </p:cNvSpPr>
          <p:nvPr/>
        </p:nvSpPr>
        <p:spPr bwMode="auto">
          <a:xfrm>
            <a:off x="7855705" y="4479952"/>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30" name="Oval 6">
            <a:extLst>
              <a:ext uri="{FF2B5EF4-FFF2-40B4-BE49-F238E27FC236}">
                <a16:creationId xmlns:a16="http://schemas.microsoft.com/office/drawing/2014/main" id="{37C028A1-A6ED-40E4-88D6-01A444F41A8F}"/>
              </a:ext>
            </a:extLst>
          </p:cNvPr>
          <p:cNvSpPr>
            <a:spLocks noChangeArrowheads="1"/>
          </p:cNvSpPr>
          <p:nvPr/>
        </p:nvSpPr>
        <p:spPr bwMode="auto">
          <a:xfrm>
            <a:off x="6526968" y="5295498"/>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30</a:t>
            </a:r>
          </a:p>
        </p:txBody>
      </p:sp>
      <p:sp>
        <p:nvSpPr>
          <p:cNvPr id="32" name="Oval 7">
            <a:extLst>
              <a:ext uri="{FF2B5EF4-FFF2-40B4-BE49-F238E27FC236}">
                <a16:creationId xmlns:a16="http://schemas.microsoft.com/office/drawing/2014/main" id="{6857636A-37C3-439C-8919-E0B5735C0995}"/>
              </a:ext>
            </a:extLst>
          </p:cNvPr>
          <p:cNvSpPr>
            <a:spLocks noChangeArrowheads="1"/>
          </p:cNvSpPr>
          <p:nvPr/>
        </p:nvSpPr>
        <p:spPr bwMode="auto">
          <a:xfrm>
            <a:off x="9479717" y="5295498"/>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44</a:t>
            </a:r>
          </a:p>
        </p:txBody>
      </p:sp>
      <p:sp>
        <p:nvSpPr>
          <p:cNvPr id="36" name="Oval 10">
            <a:extLst>
              <a:ext uri="{FF2B5EF4-FFF2-40B4-BE49-F238E27FC236}">
                <a16:creationId xmlns:a16="http://schemas.microsoft.com/office/drawing/2014/main" id="{5217FD75-3BCF-44C2-8D05-E759CF59CB2F}"/>
              </a:ext>
            </a:extLst>
          </p:cNvPr>
          <p:cNvSpPr>
            <a:spLocks noChangeArrowheads="1"/>
          </p:cNvSpPr>
          <p:nvPr/>
        </p:nvSpPr>
        <p:spPr bwMode="auto">
          <a:xfrm>
            <a:off x="5641143" y="629227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22</a:t>
            </a:r>
          </a:p>
        </p:txBody>
      </p:sp>
      <p:sp>
        <p:nvSpPr>
          <p:cNvPr id="38" name="Line 12">
            <a:extLst>
              <a:ext uri="{FF2B5EF4-FFF2-40B4-BE49-F238E27FC236}">
                <a16:creationId xmlns:a16="http://schemas.microsoft.com/office/drawing/2014/main" id="{A62824CF-0E76-4865-8BA9-963C4539101C}"/>
              </a:ext>
            </a:extLst>
          </p:cNvPr>
          <p:cNvSpPr>
            <a:spLocks noChangeShapeType="1"/>
          </p:cNvSpPr>
          <p:nvPr/>
        </p:nvSpPr>
        <p:spPr bwMode="auto">
          <a:xfrm flipH="1">
            <a:off x="7265155" y="4933033"/>
            <a:ext cx="738187" cy="453081"/>
          </a:xfrm>
          <a:prstGeom prst="line">
            <a:avLst/>
          </a:prstGeom>
          <a:noFill/>
          <a:ln w="9525">
            <a:solidFill>
              <a:schemeClr val="tx1"/>
            </a:solidFill>
            <a:round/>
            <a:headEnd/>
            <a:tailEnd/>
          </a:ln>
        </p:spPr>
        <p:txBody>
          <a:bodyPr/>
          <a:lstStyle/>
          <a:p>
            <a:endParaRPr lang="en-US"/>
          </a:p>
        </p:txBody>
      </p:sp>
      <p:sp>
        <p:nvSpPr>
          <p:cNvPr id="40" name="Line 13">
            <a:extLst>
              <a:ext uri="{FF2B5EF4-FFF2-40B4-BE49-F238E27FC236}">
                <a16:creationId xmlns:a16="http://schemas.microsoft.com/office/drawing/2014/main" id="{9CC6ED55-B17F-492F-B01B-0F9A70DB8834}"/>
              </a:ext>
            </a:extLst>
          </p:cNvPr>
          <p:cNvSpPr>
            <a:spLocks noChangeShapeType="1"/>
          </p:cNvSpPr>
          <p:nvPr/>
        </p:nvSpPr>
        <p:spPr bwMode="auto">
          <a:xfrm>
            <a:off x="8741530" y="4933033"/>
            <a:ext cx="885825" cy="362465"/>
          </a:xfrm>
          <a:prstGeom prst="line">
            <a:avLst/>
          </a:prstGeom>
          <a:noFill/>
          <a:ln w="9525">
            <a:solidFill>
              <a:schemeClr val="tx1"/>
            </a:solidFill>
            <a:round/>
            <a:headEnd/>
            <a:tailEnd/>
          </a:ln>
        </p:spPr>
        <p:txBody>
          <a:bodyPr/>
          <a:lstStyle/>
          <a:p>
            <a:endParaRPr lang="en-US"/>
          </a:p>
        </p:txBody>
      </p:sp>
      <p:sp>
        <p:nvSpPr>
          <p:cNvPr id="41" name="Line 16">
            <a:extLst>
              <a:ext uri="{FF2B5EF4-FFF2-40B4-BE49-F238E27FC236}">
                <a16:creationId xmlns:a16="http://schemas.microsoft.com/office/drawing/2014/main" id="{A17F3D7C-27EA-4C7D-8DA9-8AFFFBD91D46}"/>
              </a:ext>
            </a:extLst>
          </p:cNvPr>
          <p:cNvSpPr>
            <a:spLocks noChangeShapeType="1"/>
          </p:cNvSpPr>
          <p:nvPr/>
        </p:nvSpPr>
        <p:spPr bwMode="auto">
          <a:xfrm flipH="1">
            <a:off x="6231692" y="5839195"/>
            <a:ext cx="442912" cy="453081"/>
          </a:xfrm>
          <a:prstGeom prst="line">
            <a:avLst/>
          </a:prstGeom>
          <a:noFill/>
          <a:ln w="9525">
            <a:solidFill>
              <a:schemeClr val="tx1"/>
            </a:solidFill>
            <a:round/>
            <a:headEnd/>
            <a:tailEnd/>
          </a:ln>
        </p:spPr>
        <p:txBody>
          <a:bodyPr/>
          <a:lstStyle/>
          <a:p>
            <a:endParaRPr lang="en-US"/>
          </a:p>
        </p:txBody>
      </p:sp>
      <p:sp>
        <p:nvSpPr>
          <p:cNvPr id="42" name="TextBox 41">
            <a:extLst>
              <a:ext uri="{FF2B5EF4-FFF2-40B4-BE49-F238E27FC236}">
                <a16:creationId xmlns:a16="http://schemas.microsoft.com/office/drawing/2014/main" id="{F55BE31A-4E13-45BC-A31B-E2DDD8E033FB}"/>
              </a:ext>
            </a:extLst>
          </p:cNvPr>
          <p:cNvSpPr txBox="1"/>
          <p:nvPr/>
        </p:nvSpPr>
        <p:spPr>
          <a:xfrm>
            <a:off x="2521705" y="2178049"/>
            <a:ext cx="5334000" cy="400110"/>
          </a:xfrm>
          <a:prstGeom prst="rect">
            <a:avLst/>
          </a:prstGeom>
          <a:noFill/>
        </p:spPr>
        <p:txBody>
          <a:bodyPr wrap="square" rtlCol="0">
            <a:spAutoFit/>
          </a:bodyPr>
          <a:lstStyle/>
          <a:p>
            <a:r>
              <a:rPr lang="en-US" sz="2000" b="1" dirty="0"/>
              <a:t>Insert in Heap Data: 44, 30, 50, 22, 60, 55, 77</a:t>
            </a:r>
          </a:p>
        </p:txBody>
      </p:sp>
    </p:spTree>
    <p:extLst>
      <p:ext uri="{BB962C8B-B14F-4D97-AF65-F5344CB8AC3E}">
        <p14:creationId xmlns:p14="http://schemas.microsoft.com/office/powerpoint/2010/main" val="3986423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5">
            <a:extLst>
              <a:ext uri="{FF2B5EF4-FFF2-40B4-BE49-F238E27FC236}">
                <a16:creationId xmlns:a16="http://schemas.microsoft.com/office/drawing/2014/main" id="{A4B7C090-4345-469C-9BC3-544C26213EE0}"/>
              </a:ext>
            </a:extLst>
          </p:cNvPr>
          <p:cNvSpPr>
            <a:spLocks noChangeArrowheads="1"/>
          </p:cNvSpPr>
          <p:nvPr/>
        </p:nvSpPr>
        <p:spPr bwMode="auto">
          <a:xfrm>
            <a:off x="3814763" y="762001"/>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5" name="Oval 6">
            <a:extLst>
              <a:ext uri="{FF2B5EF4-FFF2-40B4-BE49-F238E27FC236}">
                <a16:creationId xmlns:a16="http://schemas.microsoft.com/office/drawing/2014/main" id="{5994F883-B0E9-4D1C-831D-DDE6052B2D26}"/>
              </a:ext>
            </a:extLst>
          </p:cNvPr>
          <p:cNvSpPr>
            <a:spLocks noChangeArrowheads="1"/>
          </p:cNvSpPr>
          <p:nvPr/>
        </p:nvSpPr>
        <p:spPr bwMode="auto">
          <a:xfrm>
            <a:off x="2486026" y="1577547"/>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30</a:t>
            </a:r>
          </a:p>
        </p:txBody>
      </p:sp>
      <p:sp>
        <p:nvSpPr>
          <p:cNvPr id="6" name="Oval 7">
            <a:extLst>
              <a:ext uri="{FF2B5EF4-FFF2-40B4-BE49-F238E27FC236}">
                <a16:creationId xmlns:a16="http://schemas.microsoft.com/office/drawing/2014/main" id="{C1EA29FC-AC47-45D1-800C-D7D9130A2771}"/>
              </a:ext>
            </a:extLst>
          </p:cNvPr>
          <p:cNvSpPr>
            <a:spLocks noChangeArrowheads="1"/>
          </p:cNvSpPr>
          <p:nvPr/>
        </p:nvSpPr>
        <p:spPr bwMode="auto">
          <a:xfrm>
            <a:off x="5438775" y="1577547"/>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44</a:t>
            </a:r>
          </a:p>
        </p:txBody>
      </p:sp>
      <p:sp>
        <p:nvSpPr>
          <p:cNvPr id="7" name="Oval 10">
            <a:extLst>
              <a:ext uri="{FF2B5EF4-FFF2-40B4-BE49-F238E27FC236}">
                <a16:creationId xmlns:a16="http://schemas.microsoft.com/office/drawing/2014/main" id="{17E4AC66-DB1B-49ED-A85F-BAF09D1C98B2}"/>
              </a:ext>
            </a:extLst>
          </p:cNvPr>
          <p:cNvSpPr>
            <a:spLocks noChangeArrowheads="1"/>
          </p:cNvSpPr>
          <p:nvPr/>
        </p:nvSpPr>
        <p:spPr bwMode="auto">
          <a:xfrm>
            <a:off x="1600201" y="2574325"/>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22</a:t>
            </a:r>
          </a:p>
        </p:txBody>
      </p:sp>
      <p:sp>
        <p:nvSpPr>
          <p:cNvPr id="8" name="Line 12">
            <a:extLst>
              <a:ext uri="{FF2B5EF4-FFF2-40B4-BE49-F238E27FC236}">
                <a16:creationId xmlns:a16="http://schemas.microsoft.com/office/drawing/2014/main" id="{0EA90CCD-D009-4B3E-853B-ECB88FF1BA31}"/>
              </a:ext>
            </a:extLst>
          </p:cNvPr>
          <p:cNvSpPr>
            <a:spLocks noChangeShapeType="1"/>
          </p:cNvSpPr>
          <p:nvPr/>
        </p:nvSpPr>
        <p:spPr bwMode="auto">
          <a:xfrm flipH="1">
            <a:off x="3224213" y="1215082"/>
            <a:ext cx="738187" cy="453081"/>
          </a:xfrm>
          <a:prstGeom prst="line">
            <a:avLst/>
          </a:prstGeom>
          <a:noFill/>
          <a:ln w="9525">
            <a:solidFill>
              <a:schemeClr val="tx1"/>
            </a:solidFill>
            <a:round/>
            <a:headEnd/>
            <a:tailEnd/>
          </a:ln>
        </p:spPr>
        <p:txBody>
          <a:bodyPr/>
          <a:lstStyle/>
          <a:p>
            <a:endParaRPr lang="en-US"/>
          </a:p>
        </p:txBody>
      </p:sp>
      <p:sp>
        <p:nvSpPr>
          <p:cNvPr id="9" name="Line 13">
            <a:extLst>
              <a:ext uri="{FF2B5EF4-FFF2-40B4-BE49-F238E27FC236}">
                <a16:creationId xmlns:a16="http://schemas.microsoft.com/office/drawing/2014/main" id="{26B162D9-A25F-4B40-8C6E-F721BDD14DBE}"/>
              </a:ext>
            </a:extLst>
          </p:cNvPr>
          <p:cNvSpPr>
            <a:spLocks noChangeShapeType="1"/>
          </p:cNvSpPr>
          <p:nvPr/>
        </p:nvSpPr>
        <p:spPr bwMode="auto">
          <a:xfrm>
            <a:off x="4700588" y="1215082"/>
            <a:ext cx="885825" cy="362465"/>
          </a:xfrm>
          <a:prstGeom prst="line">
            <a:avLst/>
          </a:prstGeom>
          <a:noFill/>
          <a:ln w="9525">
            <a:solidFill>
              <a:schemeClr val="tx1"/>
            </a:solidFill>
            <a:round/>
            <a:headEnd/>
            <a:tailEnd/>
          </a:ln>
        </p:spPr>
        <p:txBody>
          <a:bodyPr/>
          <a:lstStyle/>
          <a:p>
            <a:endParaRPr lang="en-US"/>
          </a:p>
        </p:txBody>
      </p:sp>
      <p:sp>
        <p:nvSpPr>
          <p:cNvPr id="10" name="Line 16">
            <a:extLst>
              <a:ext uri="{FF2B5EF4-FFF2-40B4-BE49-F238E27FC236}">
                <a16:creationId xmlns:a16="http://schemas.microsoft.com/office/drawing/2014/main" id="{96EDA9ED-14F2-4F04-8B0B-F5D9BFD65DFC}"/>
              </a:ext>
            </a:extLst>
          </p:cNvPr>
          <p:cNvSpPr>
            <a:spLocks noChangeShapeType="1"/>
          </p:cNvSpPr>
          <p:nvPr/>
        </p:nvSpPr>
        <p:spPr bwMode="auto">
          <a:xfrm flipH="1">
            <a:off x="2190750" y="2121244"/>
            <a:ext cx="442912" cy="453081"/>
          </a:xfrm>
          <a:prstGeom prst="line">
            <a:avLst/>
          </a:prstGeom>
          <a:noFill/>
          <a:ln w="9525">
            <a:solidFill>
              <a:schemeClr val="tx1"/>
            </a:solidFill>
            <a:round/>
            <a:headEnd/>
            <a:tailEnd/>
          </a:ln>
        </p:spPr>
        <p:txBody>
          <a:bodyPr/>
          <a:lstStyle/>
          <a:p>
            <a:endParaRPr lang="en-US"/>
          </a:p>
        </p:txBody>
      </p:sp>
      <p:sp>
        <p:nvSpPr>
          <p:cNvPr id="11" name="Oval 19">
            <a:extLst>
              <a:ext uri="{FF2B5EF4-FFF2-40B4-BE49-F238E27FC236}">
                <a16:creationId xmlns:a16="http://schemas.microsoft.com/office/drawing/2014/main" id="{9A3B7995-204E-4782-9473-62B6E42AE273}"/>
              </a:ext>
            </a:extLst>
          </p:cNvPr>
          <p:cNvSpPr>
            <a:spLocks noChangeArrowheads="1"/>
          </p:cNvSpPr>
          <p:nvPr/>
        </p:nvSpPr>
        <p:spPr bwMode="auto">
          <a:xfrm>
            <a:off x="3352503" y="265670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60</a:t>
            </a:r>
          </a:p>
        </p:txBody>
      </p:sp>
      <p:sp>
        <p:nvSpPr>
          <p:cNvPr id="12" name="Line 21">
            <a:extLst>
              <a:ext uri="{FF2B5EF4-FFF2-40B4-BE49-F238E27FC236}">
                <a16:creationId xmlns:a16="http://schemas.microsoft.com/office/drawing/2014/main" id="{069ECA62-5F4E-4BCF-AAB7-88E46A4FC1A5}"/>
              </a:ext>
            </a:extLst>
          </p:cNvPr>
          <p:cNvSpPr>
            <a:spLocks noChangeShapeType="1"/>
          </p:cNvSpPr>
          <p:nvPr/>
        </p:nvSpPr>
        <p:spPr bwMode="auto">
          <a:xfrm>
            <a:off x="3048000" y="2124334"/>
            <a:ext cx="590550" cy="543697"/>
          </a:xfrm>
          <a:prstGeom prst="line">
            <a:avLst/>
          </a:prstGeom>
          <a:noFill/>
          <a:ln w="9525">
            <a:solidFill>
              <a:schemeClr val="tx1"/>
            </a:solidFill>
            <a:prstDash val="dash"/>
            <a:round/>
            <a:headEnd/>
            <a:tailEnd/>
          </a:ln>
        </p:spPr>
        <p:txBody>
          <a:bodyPr/>
          <a:lstStyle/>
          <a:p>
            <a:endParaRPr lang="en-US"/>
          </a:p>
        </p:txBody>
      </p:sp>
      <p:sp>
        <p:nvSpPr>
          <p:cNvPr id="13" name="Oval 5">
            <a:extLst>
              <a:ext uri="{FF2B5EF4-FFF2-40B4-BE49-F238E27FC236}">
                <a16:creationId xmlns:a16="http://schemas.microsoft.com/office/drawing/2014/main" id="{E929F093-B827-4E72-B0FF-7F48BB4E4411}"/>
              </a:ext>
            </a:extLst>
          </p:cNvPr>
          <p:cNvSpPr>
            <a:spLocks noChangeArrowheads="1"/>
          </p:cNvSpPr>
          <p:nvPr/>
        </p:nvSpPr>
        <p:spPr bwMode="auto">
          <a:xfrm>
            <a:off x="8081964" y="762001"/>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14" name="Oval 6">
            <a:extLst>
              <a:ext uri="{FF2B5EF4-FFF2-40B4-BE49-F238E27FC236}">
                <a16:creationId xmlns:a16="http://schemas.microsoft.com/office/drawing/2014/main" id="{A7732F7B-C0CB-4FC9-AFE1-CFCCAD8A526A}"/>
              </a:ext>
            </a:extLst>
          </p:cNvPr>
          <p:cNvSpPr>
            <a:spLocks noChangeArrowheads="1"/>
          </p:cNvSpPr>
          <p:nvPr/>
        </p:nvSpPr>
        <p:spPr bwMode="auto">
          <a:xfrm>
            <a:off x="6753227" y="1577547"/>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60</a:t>
            </a:r>
          </a:p>
        </p:txBody>
      </p:sp>
      <p:sp>
        <p:nvSpPr>
          <p:cNvPr id="15" name="Oval 7">
            <a:extLst>
              <a:ext uri="{FF2B5EF4-FFF2-40B4-BE49-F238E27FC236}">
                <a16:creationId xmlns:a16="http://schemas.microsoft.com/office/drawing/2014/main" id="{3FBE1A48-FF31-434D-901E-39C53D511550}"/>
              </a:ext>
            </a:extLst>
          </p:cNvPr>
          <p:cNvSpPr>
            <a:spLocks noChangeArrowheads="1"/>
          </p:cNvSpPr>
          <p:nvPr/>
        </p:nvSpPr>
        <p:spPr bwMode="auto">
          <a:xfrm>
            <a:off x="9705976" y="1577547"/>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44</a:t>
            </a:r>
          </a:p>
        </p:txBody>
      </p:sp>
      <p:sp>
        <p:nvSpPr>
          <p:cNvPr id="16" name="Oval 10">
            <a:extLst>
              <a:ext uri="{FF2B5EF4-FFF2-40B4-BE49-F238E27FC236}">
                <a16:creationId xmlns:a16="http://schemas.microsoft.com/office/drawing/2014/main" id="{1A9BEB49-9E1A-4857-BC3D-4E306B82EBC9}"/>
              </a:ext>
            </a:extLst>
          </p:cNvPr>
          <p:cNvSpPr>
            <a:spLocks noChangeArrowheads="1"/>
          </p:cNvSpPr>
          <p:nvPr/>
        </p:nvSpPr>
        <p:spPr bwMode="auto">
          <a:xfrm>
            <a:off x="5867402" y="2574325"/>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22</a:t>
            </a:r>
          </a:p>
        </p:txBody>
      </p:sp>
      <p:sp>
        <p:nvSpPr>
          <p:cNvPr id="17" name="Line 12">
            <a:extLst>
              <a:ext uri="{FF2B5EF4-FFF2-40B4-BE49-F238E27FC236}">
                <a16:creationId xmlns:a16="http://schemas.microsoft.com/office/drawing/2014/main" id="{8D5A9B8A-7F17-4FC2-91A4-C0D3E3570863}"/>
              </a:ext>
            </a:extLst>
          </p:cNvPr>
          <p:cNvSpPr>
            <a:spLocks noChangeShapeType="1"/>
          </p:cNvSpPr>
          <p:nvPr/>
        </p:nvSpPr>
        <p:spPr bwMode="auto">
          <a:xfrm flipH="1">
            <a:off x="7491414" y="1215082"/>
            <a:ext cx="738187" cy="453081"/>
          </a:xfrm>
          <a:prstGeom prst="line">
            <a:avLst/>
          </a:prstGeom>
          <a:noFill/>
          <a:ln w="9525">
            <a:solidFill>
              <a:schemeClr val="tx1"/>
            </a:solidFill>
            <a:round/>
            <a:headEnd/>
            <a:tailEnd/>
          </a:ln>
        </p:spPr>
        <p:txBody>
          <a:bodyPr/>
          <a:lstStyle/>
          <a:p>
            <a:endParaRPr lang="en-US"/>
          </a:p>
        </p:txBody>
      </p:sp>
      <p:sp>
        <p:nvSpPr>
          <p:cNvPr id="18" name="Line 13">
            <a:extLst>
              <a:ext uri="{FF2B5EF4-FFF2-40B4-BE49-F238E27FC236}">
                <a16:creationId xmlns:a16="http://schemas.microsoft.com/office/drawing/2014/main" id="{FF36CCB7-9792-4A7A-82D9-EEC51F1F0CDD}"/>
              </a:ext>
            </a:extLst>
          </p:cNvPr>
          <p:cNvSpPr>
            <a:spLocks noChangeShapeType="1"/>
          </p:cNvSpPr>
          <p:nvPr/>
        </p:nvSpPr>
        <p:spPr bwMode="auto">
          <a:xfrm>
            <a:off x="8967789" y="1215082"/>
            <a:ext cx="885825" cy="362465"/>
          </a:xfrm>
          <a:prstGeom prst="line">
            <a:avLst/>
          </a:prstGeom>
          <a:noFill/>
          <a:ln w="9525">
            <a:solidFill>
              <a:schemeClr val="tx1"/>
            </a:solidFill>
            <a:round/>
            <a:headEnd/>
            <a:tailEnd/>
          </a:ln>
        </p:spPr>
        <p:txBody>
          <a:bodyPr/>
          <a:lstStyle/>
          <a:p>
            <a:endParaRPr lang="en-US"/>
          </a:p>
        </p:txBody>
      </p:sp>
      <p:sp>
        <p:nvSpPr>
          <p:cNvPr id="19" name="Line 16">
            <a:extLst>
              <a:ext uri="{FF2B5EF4-FFF2-40B4-BE49-F238E27FC236}">
                <a16:creationId xmlns:a16="http://schemas.microsoft.com/office/drawing/2014/main" id="{D7F3C9FF-64EB-45C2-9E91-13DA524FF4B3}"/>
              </a:ext>
            </a:extLst>
          </p:cNvPr>
          <p:cNvSpPr>
            <a:spLocks noChangeShapeType="1"/>
          </p:cNvSpPr>
          <p:nvPr/>
        </p:nvSpPr>
        <p:spPr bwMode="auto">
          <a:xfrm flipH="1">
            <a:off x="6457951" y="2121244"/>
            <a:ext cx="442912" cy="453081"/>
          </a:xfrm>
          <a:prstGeom prst="line">
            <a:avLst/>
          </a:prstGeom>
          <a:noFill/>
          <a:ln w="9525">
            <a:solidFill>
              <a:schemeClr val="tx1"/>
            </a:solidFill>
            <a:round/>
            <a:headEnd/>
            <a:tailEnd/>
          </a:ln>
        </p:spPr>
        <p:txBody>
          <a:bodyPr/>
          <a:lstStyle/>
          <a:p>
            <a:endParaRPr lang="en-US"/>
          </a:p>
        </p:txBody>
      </p:sp>
      <p:sp>
        <p:nvSpPr>
          <p:cNvPr id="20" name="Oval 19">
            <a:extLst>
              <a:ext uri="{FF2B5EF4-FFF2-40B4-BE49-F238E27FC236}">
                <a16:creationId xmlns:a16="http://schemas.microsoft.com/office/drawing/2014/main" id="{BE6831C2-9393-4EB9-B341-47A1E17D401B}"/>
              </a:ext>
            </a:extLst>
          </p:cNvPr>
          <p:cNvSpPr>
            <a:spLocks noChangeArrowheads="1"/>
          </p:cNvSpPr>
          <p:nvPr/>
        </p:nvSpPr>
        <p:spPr bwMode="auto">
          <a:xfrm>
            <a:off x="7619704" y="265670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30</a:t>
            </a:r>
          </a:p>
        </p:txBody>
      </p:sp>
      <p:sp>
        <p:nvSpPr>
          <p:cNvPr id="21" name="Line 21">
            <a:extLst>
              <a:ext uri="{FF2B5EF4-FFF2-40B4-BE49-F238E27FC236}">
                <a16:creationId xmlns:a16="http://schemas.microsoft.com/office/drawing/2014/main" id="{271D58BD-C60F-48EB-89BA-4BDC14A1F791}"/>
              </a:ext>
            </a:extLst>
          </p:cNvPr>
          <p:cNvSpPr>
            <a:spLocks noChangeShapeType="1"/>
          </p:cNvSpPr>
          <p:nvPr/>
        </p:nvSpPr>
        <p:spPr bwMode="auto">
          <a:xfrm>
            <a:off x="7315201" y="2124334"/>
            <a:ext cx="590550" cy="543697"/>
          </a:xfrm>
          <a:prstGeom prst="line">
            <a:avLst/>
          </a:prstGeom>
          <a:noFill/>
          <a:ln w="9525">
            <a:solidFill>
              <a:schemeClr val="tx1"/>
            </a:solidFill>
            <a:prstDash val="dash"/>
            <a:round/>
            <a:headEnd/>
            <a:tailEnd/>
          </a:ln>
        </p:spPr>
        <p:txBody>
          <a:bodyPr/>
          <a:lstStyle/>
          <a:p>
            <a:endParaRPr lang="en-US"/>
          </a:p>
        </p:txBody>
      </p:sp>
      <p:sp>
        <p:nvSpPr>
          <p:cNvPr id="22" name="Oval 5">
            <a:extLst>
              <a:ext uri="{FF2B5EF4-FFF2-40B4-BE49-F238E27FC236}">
                <a16:creationId xmlns:a16="http://schemas.microsoft.com/office/drawing/2014/main" id="{2EA84B69-50F3-49BE-8DFF-66C1038163D5}"/>
              </a:ext>
            </a:extLst>
          </p:cNvPr>
          <p:cNvSpPr>
            <a:spLocks noChangeArrowheads="1"/>
          </p:cNvSpPr>
          <p:nvPr/>
        </p:nvSpPr>
        <p:spPr bwMode="auto">
          <a:xfrm>
            <a:off x="3814763" y="3962401"/>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60</a:t>
            </a:r>
          </a:p>
        </p:txBody>
      </p:sp>
      <p:sp>
        <p:nvSpPr>
          <p:cNvPr id="23" name="Oval 6">
            <a:extLst>
              <a:ext uri="{FF2B5EF4-FFF2-40B4-BE49-F238E27FC236}">
                <a16:creationId xmlns:a16="http://schemas.microsoft.com/office/drawing/2014/main" id="{192B4154-EAA4-4288-91C7-057F10BCED8F}"/>
              </a:ext>
            </a:extLst>
          </p:cNvPr>
          <p:cNvSpPr>
            <a:spLocks noChangeArrowheads="1"/>
          </p:cNvSpPr>
          <p:nvPr/>
        </p:nvSpPr>
        <p:spPr bwMode="auto">
          <a:xfrm>
            <a:off x="2486026" y="4777947"/>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24" name="Oval 7">
            <a:extLst>
              <a:ext uri="{FF2B5EF4-FFF2-40B4-BE49-F238E27FC236}">
                <a16:creationId xmlns:a16="http://schemas.microsoft.com/office/drawing/2014/main" id="{773264CF-3358-4B09-A2C8-544B79A5B079}"/>
              </a:ext>
            </a:extLst>
          </p:cNvPr>
          <p:cNvSpPr>
            <a:spLocks noChangeArrowheads="1"/>
          </p:cNvSpPr>
          <p:nvPr/>
        </p:nvSpPr>
        <p:spPr bwMode="auto">
          <a:xfrm>
            <a:off x="5438775" y="4777947"/>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44</a:t>
            </a:r>
          </a:p>
        </p:txBody>
      </p:sp>
      <p:sp>
        <p:nvSpPr>
          <p:cNvPr id="25" name="Oval 10">
            <a:extLst>
              <a:ext uri="{FF2B5EF4-FFF2-40B4-BE49-F238E27FC236}">
                <a16:creationId xmlns:a16="http://schemas.microsoft.com/office/drawing/2014/main" id="{9CCD3BC2-EA9E-4F9B-97FF-0FD91964B772}"/>
              </a:ext>
            </a:extLst>
          </p:cNvPr>
          <p:cNvSpPr>
            <a:spLocks noChangeArrowheads="1"/>
          </p:cNvSpPr>
          <p:nvPr/>
        </p:nvSpPr>
        <p:spPr bwMode="auto">
          <a:xfrm>
            <a:off x="1600201" y="5774725"/>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22</a:t>
            </a:r>
          </a:p>
        </p:txBody>
      </p:sp>
      <p:sp>
        <p:nvSpPr>
          <p:cNvPr id="26" name="Line 12">
            <a:extLst>
              <a:ext uri="{FF2B5EF4-FFF2-40B4-BE49-F238E27FC236}">
                <a16:creationId xmlns:a16="http://schemas.microsoft.com/office/drawing/2014/main" id="{2E173C1F-C5AF-4CB0-9BC2-F1A109542D5F}"/>
              </a:ext>
            </a:extLst>
          </p:cNvPr>
          <p:cNvSpPr>
            <a:spLocks noChangeShapeType="1"/>
          </p:cNvSpPr>
          <p:nvPr/>
        </p:nvSpPr>
        <p:spPr bwMode="auto">
          <a:xfrm flipH="1">
            <a:off x="3224213" y="4415482"/>
            <a:ext cx="738187" cy="453081"/>
          </a:xfrm>
          <a:prstGeom prst="line">
            <a:avLst/>
          </a:prstGeom>
          <a:noFill/>
          <a:ln w="9525">
            <a:solidFill>
              <a:schemeClr val="tx1"/>
            </a:solidFill>
            <a:round/>
            <a:headEnd/>
            <a:tailEnd/>
          </a:ln>
        </p:spPr>
        <p:txBody>
          <a:bodyPr/>
          <a:lstStyle/>
          <a:p>
            <a:endParaRPr lang="en-US"/>
          </a:p>
        </p:txBody>
      </p:sp>
      <p:sp>
        <p:nvSpPr>
          <p:cNvPr id="27" name="Line 13">
            <a:extLst>
              <a:ext uri="{FF2B5EF4-FFF2-40B4-BE49-F238E27FC236}">
                <a16:creationId xmlns:a16="http://schemas.microsoft.com/office/drawing/2014/main" id="{09666D97-F66C-4AC4-B5F2-B6335D554979}"/>
              </a:ext>
            </a:extLst>
          </p:cNvPr>
          <p:cNvSpPr>
            <a:spLocks noChangeShapeType="1"/>
          </p:cNvSpPr>
          <p:nvPr/>
        </p:nvSpPr>
        <p:spPr bwMode="auto">
          <a:xfrm>
            <a:off x="4700588" y="4415482"/>
            <a:ext cx="885825" cy="362465"/>
          </a:xfrm>
          <a:prstGeom prst="line">
            <a:avLst/>
          </a:prstGeom>
          <a:noFill/>
          <a:ln w="9525">
            <a:solidFill>
              <a:schemeClr val="tx1"/>
            </a:solidFill>
            <a:round/>
            <a:headEnd/>
            <a:tailEnd/>
          </a:ln>
        </p:spPr>
        <p:txBody>
          <a:bodyPr/>
          <a:lstStyle/>
          <a:p>
            <a:endParaRPr lang="en-US"/>
          </a:p>
        </p:txBody>
      </p:sp>
      <p:sp>
        <p:nvSpPr>
          <p:cNvPr id="28" name="Line 16">
            <a:extLst>
              <a:ext uri="{FF2B5EF4-FFF2-40B4-BE49-F238E27FC236}">
                <a16:creationId xmlns:a16="http://schemas.microsoft.com/office/drawing/2014/main" id="{1D81684D-1C5C-4732-9395-43D04B69156A}"/>
              </a:ext>
            </a:extLst>
          </p:cNvPr>
          <p:cNvSpPr>
            <a:spLocks noChangeShapeType="1"/>
          </p:cNvSpPr>
          <p:nvPr/>
        </p:nvSpPr>
        <p:spPr bwMode="auto">
          <a:xfrm flipH="1">
            <a:off x="2190750" y="5321644"/>
            <a:ext cx="442912" cy="453081"/>
          </a:xfrm>
          <a:prstGeom prst="line">
            <a:avLst/>
          </a:prstGeom>
          <a:noFill/>
          <a:ln w="9525">
            <a:solidFill>
              <a:schemeClr val="tx1"/>
            </a:solidFill>
            <a:round/>
            <a:headEnd/>
            <a:tailEnd/>
          </a:ln>
        </p:spPr>
        <p:txBody>
          <a:bodyPr/>
          <a:lstStyle/>
          <a:p>
            <a:endParaRPr lang="en-US"/>
          </a:p>
        </p:txBody>
      </p:sp>
      <p:sp>
        <p:nvSpPr>
          <p:cNvPr id="29" name="Oval 19">
            <a:extLst>
              <a:ext uri="{FF2B5EF4-FFF2-40B4-BE49-F238E27FC236}">
                <a16:creationId xmlns:a16="http://schemas.microsoft.com/office/drawing/2014/main" id="{D958F35A-CF68-455C-BED2-831001CF332D}"/>
              </a:ext>
            </a:extLst>
          </p:cNvPr>
          <p:cNvSpPr>
            <a:spLocks noChangeArrowheads="1"/>
          </p:cNvSpPr>
          <p:nvPr/>
        </p:nvSpPr>
        <p:spPr bwMode="auto">
          <a:xfrm>
            <a:off x="3352503" y="585710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30</a:t>
            </a:r>
          </a:p>
        </p:txBody>
      </p:sp>
      <p:sp>
        <p:nvSpPr>
          <p:cNvPr id="30" name="Line 21">
            <a:extLst>
              <a:ext uri="{FF2B5EF4-FFF2-40B4-BE49-F238E27FC236}">
                <a16:creationId xmlns:a16="http://schemas.microsoft.com/office/drawing/2014/main" id="{3146B096-B890-45BB-9545-4433EA7EFE5B}"/>
              </a:ext>
            </a:extLst>
          </p:cNvPr>
          <p:cNvSpPr>
            <a:spLocks noChangeShapeType="1"/>
          </p:cNvSpPr>
          <p:nvPr/>
        </p:nvSpPr>
        <p:spPr bwMode="auto">
          <a:xfrm>
            <a:off x="3048000" y="5324734"/>
            <a:ext cx="590550" cy="543697"/>
          </a:xfrm>
          <a:prstGeom prst="line">
            <a:avLst/>
          </a:prstGeom>
          <a:noFill/>
          <a:ln w="9525">
            <a:solidFill>
              <a:schemeClr val="tx1"/>
            </a:solidFill>
            <a:prstDash val="solid"/>
            <a:round/>
            <a:headEnd/>
            <a:tailEnd/>
          </a:ln>
        </p:spPr>
        <p:txBody>
          <a:bodyPr/>
          <a:lstStyle/>
          <a:p>
            <a:endParaRPr lang="en-US"/>
          </a:p>
        </p:txBody>
      </p:sp>
      <p:sp>
        <p:nvSpPr>
          <p:cNvPr id="31" name="Oval 30">
            <a:extLst>
              <a:ext uri="{FF2B5EF4-FFF2-40B4-BE49-F238E27FC236}">
                <a16:creationId xmlns:a16="http://schemas.microsoft.com/office/drawing/2014/main" id="{E4B7CA7B-73F9-4C40-931D-D3BC10E72D26}"/>
              </a:ext>
            </a:extLst>
          </p:cNvPr>
          <p:cNvSpPr>
            <a:spLocks noChangeArrowheads="1"/>
          </p:cNvSpPr>
          <p:nvPr/>
        </p:nvSpPr>
        <p:spPr bwMode="auto">
          <a:xfrm>
            <a:off x="4648201" y="585710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55</a:t>
            </a:r>
          </a:p>
        </p:txBody>
      </p:sp>
      <p:sp>
        <p:nvSpPr>
          <p:cNvPr id="32" name="Line 21">
            <a:extLst>
              <a:ext uri="{FF2B5EF4-FFF2-40B4-BE49-F238E27FC236}">
                <a16:creationId xmlns:a16="http://schemas.microsoft.com/office/drawing/2014/main" id="{8AC61D2F-B2F5-40A5-9938-E107CB620356}"/>
              </a:ext>
            </a:extLst>
          </p:cNvPr>
          <p:cNvSpPr>
            <a:spLocks noChangeShapeType="1"/>
          </p:cNvSpPr>
          <p:nvPr/>
        </p:nvSpPr>
        <p:spPr bwMode="auto">
          <a:xfrm flipH="1">
            <a:off x="5086350" y="5257801"/>
            <a:ext cx="552450" cy="610630"/>
          </a:xfrm>
          <a:prstGeom prst="line">
            <a:avLst/>
          </a:prstGeom>
          <a:noFill/>
          <a:ln w="9525">
            <a:solidFill>
              <a:schemeClr val="tx1"/>
            </a:solidFill>
            <a:prstDash val="dash"/>
            <a:round/>
            <a:headEnd/>
            <a:tailEnd/>
          </a:ln>
        </p:spPr>
        <p:txBody>
          <a:bodyPr/>
          <a:lstStyle/>
          <a:p>
            <a:endParaRPr lang="en-US"/>
          </a:p>
        </p:txBody>
      </p:sp>
      <p:sp>
        <p:nvSpPr>
          <p:cNvPr id="33" name="Oval 5">
            <a:extLst>
              <a:ext uri="{FF2B5EF4-FFF2-40B4-BE49-F238E27FC236}">
                <a16:creationId xmlns:a16="http://schemas.microsoft.com/office/drawing/2014/main" id="{04B4A2D4-3870-4D16-81BB-0727B902D2DB}"/>
              </a:ext>
            </a:extLst>
          </p:cNvPr>
          <p:cNvSpPr>
            <a:spLocks noChangeArrowheads="1"/>
          </p:cNvSpPr>
          <p:nvPr/>
        </p:nvSpPr>
        <p:spPr bwMode="auto">
          <a:xfrm>
            <a:off x="8081963" y="4038601"/>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60</a:t>
            </a:r>
          </a:p>
        </p:txBody>
      </p:sp>
      <p:sp>
        <p:nvSpPr>
          <p:cNvPr id="34" name="Oval 6">
            <a:extLst>
              <a:ext uri="{FF2B5EF4-FFF2-40B4-BE49-F238E27FC236}">
                <a16:creationId xmlns:a16="http://schemas.microsoft.com/office/drawing/2014/main" id="{09F6ABA4-2BB6-4322-AFB5-D0DEEB9BEFF8}"/>
              </a:ext>
            </a:extLst>
          </p:cNvPr>
          <p:cNvSpPr>
            <a:spLocks noChangeArrowheads="1"/>
          </p:cNvSpPr>
          <p:nvPr/>
        </p:nvSpPr>
        <p:spPr bwMode="auto">
          <a:xfrm>
            <a:off x="6753226" y="4854147"/>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35" name="Oval 7">
            <a:extLst>
              <a:ext uri="{FF2B5EF4-FFF2-40B4-BE49-F238E27FC236}">
                <a16:creationId xmlns:a16="http://schemas.microsoft.com/office/drawing/2014/main" id="{8B8D4DDC-A366-4BD0-A24A-A28B226D07F2}"/>
              </a:ext>
            </a:extLst>
          </p:cNvPr>
          <p:cNvSpPr>
            <a:spLocks noChangeArrowheads="1"/>
          </p:cNvSpPr>
          <p:nvPr/>
        </p:nvSpPr>
        <p:spPr bwMode="auto">
          <a:xfrm>
            <a:off x="9705975" y="4854147"/>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55</a:t>
            </a:r>
          </a:p>
        </p:txBody>
      </p:sp>
      <p:sp>
        <p:nvSpPr>
          <p:cNvPr id="36" name="Oval 10">
            <a:extLst>
              <a:ext uri="{FF2B5EF4-FFF2-40B4-BE49-F238E27FC236}">
                <a16:creationId xmlns:a16="http://schemas.microsoft.com/office/drawing/2014/main" id="{1EAB805C-F341-494B-986E-F6BC676BC4EF}"/>
              </a:ext>
            </a:extLst>
          </p:cNvPr>
          <p:cNvSpPr>
            <a:spLocks noChangeArrowheads="1"/>
          </p:cNvSpPr>
          <p:nvPr/>
        </p:nvSpPr>
        <p:spPr bwMode="auto">
          <a:xfrm>
            <a:off x="5867401" y="5850925"/>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22</a:t>
            </a:r>
          </a:p>
        </p:txBody>
      </p:sp>
      <p:sp>
        <p:nvSpPr>
          <p:cNvPr id="37" name="Line 12">
            <a:extLst>
              <a:ext uri="{FF2B5EF4-FFF2-40B4-BE49-F238E27FC236}">
                <a16:creationId xmlns:a16="http://schemas.microsoft.com/office/drawing/2014/main" id="{E7EFD9E2-151C-4100-8A97-F3196FD6824C}"/>
              </a:ext>
            </a:extLst>
          </p:cNvPr>
          <p:cNvSpPr>
            <a:spLocks noChangeShapeType="1"/>
          </p:cNvSpPr>
          <p:nvPr/>
        </p:nvSpPr>
        <p:spPr bwMode="auto">
          <a:xfrm flipH="1">
            <a:off x="7491413" y="4491682"/>
            <a:ext cx="738187" cy="453081"/>
          </a:xfrm>
          <a:prstGeom prst="line">
            <a:avLst/>
          </a:prstGeom>
          <a:noFill/>
          <a:ln w="9525">
            <a:solidFill>
              <a:schemeClr val="tx1"/>
            </a:solidFill>
            <a:round/>
            <a:headEnd/>
            <a:tailEnd/>
          </a:ln>
        </p:spPr>
        <p:txBody>
          <a:bodyPr/>
          <a:lstStyle/>
          <a:p>
            <a:endParaRPr lang="en-US"/>
          </a:p>
        </p:txBody>
      </p:sp>
      <p:sp>
        <p:nvSpPr>
          <p:cNvPr id="38" name="Line 13">
            <a:extLst>
              <a:ext uri="{FF2B5EF4-FFF2-40B4-BE49-F238E27FC236}">
                <a16:creationId xmlns:a16="http://schemas.microsoft.com/office/drawing/2014/main" id="{690EF2AC-ABD2-47F8-92A0-AF0FD1255EA5}"/>
              </a:ext>
            </a:extLst>
          </p:cNvPr>
          <p:cNvSpPr>
            <a:spLocks noChangeShapeType="1"/>
          </p:cNvSpPr>
          <p:nvPr/>
        </p:nvSpPr>
        <p:spPr bwMode="auto">
          <a:xfrm>
            <a:off x="8967788" y="4491682"/>
            <a:ext cx="885825" cy="362465"/>
          </a:xfrm>
          <a:prstGeom prst="line">
            <a:avLst/>
          </a:prstGeom>
          <a:noFill/>
          <a:ln w="9525">
            <a:solidFill>
              <a:schemeClr val="tx1"/>
            </a:solidFill>
            <a:round/>
            <a:headEnd/>
            <a:tailEnd/>
          </a:ln>
        </p:spPr>
        <p:txBody>
          <a:bodyPr/>
          <a:lstStyle/>
          <a:p>
            <a:endParaRPr lang="en-US"/>
          </a:p>
        </p:txBody>
      </p:sp>
      <p:sp>
        <p:nvSpPr>
          <p:cNvPr id="39" name="Line 16">
            <a:extLst>
              <a:ext uri="{FF2B5EF4-FFF2-40B4-BE49-F238E27FC236}">
                <a16:creationId xmlns:a16="http://schemas.microsoft.com/office/drawing/2014/main" id="{E535B210-24DD-4C43-97C2-A98B80EA5872}"/>
              </a:ext>
            </a:extLst>
          </p:cNvPr>
          <p:cNvSpPr>
            <a:spLocks noChangeShapeType="1"/>
          </p:cNvSpPr>
          <p:nvPr/>
        </p:nvSpPr>
        <p:spPr bwMode="auto">
          <a:xfrm flipH="1">
            <a:off x="6457950" y="5397844"/>
            <a:ext cx="442912" cy="453081"/>
          </a:xfrm>
          <a:prstGeom prst="line">
            <a:avLst/>
          </a:prstGeom>
          <a:noFill/>
          <a:ln w="9525">
            <a:solidFill>
              <a:schemeClr val="tx1"/>
            </a:solidFill>
            <a:round/>
            <a:headEnd/>
            <a:tailEnd/>
          </a:ln>
        </p:spPr>
        <p:txBody>
          <a:bodyPr/>
          <a:lstStyle/>
          <a:p>
            <a:endParaRPr lang="en-US"/>
          </a:p>
        </p:txBody>
      </p:sp>
      <p:sp>
        <p:nvSpPr>
          <p:cNvPr id="40" name="Oval 19">
            <a:extLst>
              <a:ext uri="{FF2B5EF4-FFF2-40B4-BE49-F238E27FC236}">
                <a16:creationId xmlns:a16="http://schemas.microsoft.com/office/drawing/2014/main" id="{74A0B5FE-B751-4D99-8572-37CA9E35D358}"/>
              </a:ext>
            </a:extLst>
          </p:cNvPr>
          <p:cNvSpPr>
            <a:spLocks noChangeArrowheads="1"/>
          </p:cNvSpPr>
          <p:nvPr/>
        </p:nvSpPr>
        <p:spPr bwMode="auto">
          <a:xfrm>
            <a:off x="7619703" y="593330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30</a:t>
            </a:r>
          </a:p>
        </p:txBody>
      </p:sp>
      <p:sp>
        <p:nvSpPr>
          <p:cNvPr id="41" name="Line 21">
            <a:extLst>
              <a:ext uri="{FF2B5EF4-FFF2-40B4-BE49-F238E27FC236}">
                <a16:creationId xmlns:a16="http://schemas.microsoft.com/office/drawing/2014/main" id="{B80FF167-9094-4C23-8B69-FE202572CD90}"/>
              </a:ext>
            </a:extLst>
          </p:cNvPr>
          <p:cNvSpPr>
            <a:spLocks noChangeShapeType="1"/>
          </p:cNvSpPr>
          <p:nvPr/>
        </p:nvSpPr>
        <p:spPr bwMode="auto">
          <a:xfrm>
            <a:off x="7315200" y="5400934"/>
            <a:ext cx="590550" cy="543697"/>
          </a:xfrm>
          <a:prstGeom prst="line">
            <a:avLst/>
          </a:prstGeom>
          <a:noFill/>
          <a:ln w="9525">
            <a:solidFill>
              <a:schemeClr val="tx1"/>
            </a:solidFill>
            <a:prstDash val="solid"/>
            <a:round/>
            <a:headEnd/>
            <a:tailEnd/>
          </a:ln>
        </p:spPr>
        <p:txBody>
          <a:bodyPr/>
          <a:lstStyle/>
          <a:p>
            <a:endParaRPr lang="en-US"/>
          </a:p>
        </p:txBody>
      </p:sp>
      <p:sp>
        <p:nvSpPr>
          <p:cNvPr id="42" name="Oval 41">
            <a:extLst>
              <a:ext uri="{FF2B5EF4-FFF2-40B4-BE49-F238E27FC236}">
                <a16:creationId xmlns:a16="http://schemas.microsoft.com/office/drawing/2014/main" id="{92B8CC0B-E50C-4CB7-AE88-8286C69E1EEF}"/>
              </a:ext>
            </a:extLst>
          </p:cNvPr>
          <p:cNvSpPr>
            <a:spLocks noChangeArrowheads="1"/>
          </p:cNvSpPr>
          <p:nvPr/>
        </p:nvSpPr>
        <p:spPr bwMode="auto">
          <a:xfrm>
            <a:off x="8915401" y="593330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44</a:t>
            </a:r>
          </a:p>
        </p:txBody>
      </p:sp>
      <p:sp>
        <p:nvSpPr>
          <p:cNvPr id="43" name="Line 21">
            <a:extLst>
              <a:ext uri="{FF2B5EF4-FFF2-40B4-BE49-F238E27FC236}">
                <a16:creationId xmlns:a16="http://schemas.microsoft.com/office/drawing/2014/main" id="{11E75E06-CB0F-4FCC-A26A-2DFDAC4C3A54}"/>
              </a:ext>
            </a:extLst>
          </p:cNvPr>
          <p:cNvSpPr>
            <a:spLocks noChangeShapeType="1"/>
          </p:cNvSpPr>
          <p:nvPr/>
        </p:nvSpPr>
        <p:spPr bwMode="auto">
          <a:xfrm flipH="1">
            <a:off x="9353550" y="5334001"/>
            <a:ext cx="552450" cy="610630"/>
          </a:xfrm>
          <a:prstGeom prst="line">
            <a:avLst/>
          </a:prstGeom>
          <a:noFill/>
          <a:ln w="9525" cmpd="sng">
            <a:solidFill>
              <a:schemeClr val="tx1"/>
            </a:solidFill>
            <a:prstDash val="solid"/>
            <a:round/>
            <a:headEnd/>
            <a:tailEnd/>
          </a:ln>
        </p:spPr>
        <p:txBody>
          <a:bodyPr/>
          <a:lstStyle/>
          <a:p>
            <a:endParaRPr lang="en-US"/>
          </a:p>
        </p:txBody>
      </p:sp>
    </p:spTree>
    <p:extLst>
      <p:ext uri="{BB962C8B-B14F-4D97-AF65-F5344CB8AC3E}">
        <p14:creationId xmlns:p14="http://schemas.microsoft.com/office/powerpoint/2010/main" val="2714596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Group 45">
            <a:extLst>
              <a:ext uri="{FF2B5EF4-FFF2-40B4-BE49-F238E27FC236}">
                <a16:creationId xmlns:a16="http://schemas.microsoft.com/office/drawing/2014/main" id="{56017669-C691-4157-8E2B-79CB392C04C6}"/>
              </a:ext>
            </a:extLst>
          </p:cNvPr>
          <p:cNvGrpSpPr/>
          <p:nvPr/>
        </p:nvGrpSpPr>
        <p:grpSpPr>
          <a:xfrm>
            <a:off x="1752600" y="762000"/>
            <a:ext cx="4343400" cy="2447667"/>
            <a:chOff x="76200" y="685800"/>
            <a:chExt cx="5638800" cy="2447667"/>
          </a:xfrm>
        </p:grpSpPr>
        <p:sp>
          <p:nvSpPr>
            <p:cNvPr id="47" name="Oval 5">
              <a:extLst>
                <a:ext uri="{FF2B5EF4-FFF2-40B4-BE49-F238E27FC236}">
                  <a16:creationId xmlns:a16="http://schemas.microsoft.com/office/drawing/2014/main" id="{229C9626-1CB2-4BED-A6B7-D6A65823D51A}"/>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60</a:t>
              </a:r>
            </a:p>
          </p:txBody>
        </p:sp>
        <p:sp>
          <p:nvSpPr>
            <p:cNvPr id="48" name="Oval 6">
              <a:extLst>
                <a:ext uri="{FF2B5EF4-FFF2-40B4-BE49-F238E27FC236}">
                  <a16:creationId xmlns:a16="http://schemas.microsoft.com/office/drawing/2014/main" id="{4435433C-7154-4B68-A380-FDD8EC15AFDA}"/>
                </a:ext>
              </a:extLst>
            </p:cNvPr>
            <p:cNvSpPr>
              <a:spLocks noChangeArrowheads="1"/>
            </p:cNvSpPr>
            <p:nvPr/>
          </p:nvSpPr>
          <p:spPr bwMode="auto">
            <a:xfrm>
              <a:off x="962025"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49" name="Oval 7">
              <a:extLst>
                <a:ext uri="{FF2B5EF4-FFF2-40B4-BE49-F238E27FC236}">
                  <a16:creationId xmlns:a16="http://schemas.microsoft.com/office/drawing/2014/main" id="{9D38DB32-F7A7-4723-A356-9F0566B9B653}"/>
                </a:ext>
              </a:extLst>
            </p:cNvPr>
            <p:cNvSpPr>
              <a:spLocks noChangeArrowheads="1"/>
            </p:cNvSpPr>
            <p:nvPr/>
          </p:nvSpPr>
          <p:spPr bwMode="auto">
            <a:xfrm>
              <a:off x="3914774"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55</a:t>
              </a:r>
            </a:p>
          </p:txBody>
        </p:sp>
        <p:sp>
          <p:nvSpPr>
            <p:cNvPr id="50" name="Oval 10">
              <a:extLst>
                <a:ext uri="{FF2B5EF4-FFF2-40B4-BE49-F238E27FC236}">
                  <a16:creationId xmlns:a16="http://schemas.microsoft.com/office/drawing/2014/main" id="{1F9B4899-41B2-4067-ADE2-7E65F22C2C7E}"/>
                </a:ext>
              </a:extLst>
            </p:cNvPr>
            <p:cNvSpPr>
              <a:spLocks noChangeArrowheads="1"/>
            </p:cNvSpPr>
            <p:nvPr/>
          </p:nvSpPr>
          <p:spPr bwMode="auto">
            <a:xfrm>
              <a:off x="76200" y="249812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22</a:t>
              </a:r>
            </a:p>
          </p:txBody>
        </p:sp>
        <p:sp>
          <p:nvSpPr>
            <p:cNvPr id="51" name="Line 12">
              <a:extLst>
                <a:ext uri="{FF2B5EF4-FFF2-40B4-BE49-F238E27FC236}">
                  <a16:creationId xmlns:a16="http://schemas.microsoft.com/office/drawing/2014/main" id="{444AC049-91F6-4AE9-8C73-BD8FE7D07170}"/>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sp>
          <p:nvSpPr>
            <p:cNvPr id="52" name="Line 13">
              <a:extLst>
                <a:ext uri="{FF2B5EF4-FFF2-40B4-BE49-F238E27FC236}">
                  <a16:creationId xmlns:a16="http://schemas.microsoft.com/office/drawing/2014/main" id="{23FED588-978C-4A3D-B1D0-BD8BA2CF4095}"/>
                </a:ext>
              </a:extLst>
            </p:cNvPr>
            <p:cNvSpPr>
              <a:spLocks noChangeShapeType="1"/>
            </p:cNvSpPr>
            <p:nvPr/>
          </p:nvSpPr>
          <p:spPr bwMode="auto">
            <a:xfrm>
              <a:off x="3176587" y="1138881"/>
              <a:ext cx="885825" cy="362465"/>
            </a:xfrm>
            <a:prstGeom prst="line">
              <a:avLst/>
            </a:prstGeom>
            <a:noFill/>
            <a:ln w="9525">
              <a:solidFill>
                <a:schemeClr val="tx1"/>
              </a:solidFill>
              <a:round/>
              <a:headEnd/>
              <a:tailEnd/>
            </a:ln>
          </p:spPr>
          <p:txBody>
            <a:bodyPr/>
            <a:lstStyle/>
            <a:p>
              <a:endParaRPr lang="en-US"/>
            </a:p>
          </p:txBody>
        </p:sp>
        <p:sp>
          <p:nvSpPr>
            <p:cNvPr id="53" name="Line 16">
              <a:extLst>
                <a:ext uri="{FF2B5EF4-FFF2-40B4-BE49-F238E27FC236}">
                  <a16:creationId xmlns:a16="http://schemas.microsoft.com/office/drawing/2014/main" id="{6C61C97E-128D-4808-9102-733282D6FF25}"/>
                </a:ext>
              </a:extLst>
            </p:cNvPr>
            <p:cNvSpPr>
              <a:spLocks noChangeShapeType="1"/>
            </p:cNvSpPr>
            <p:nvPr/>
          </p:nvSpPr>
          <p:spPr bwMode="auto">
            <a:xfrm flipH="1">
              <a:off x="666750" y="2045043"/>
              <a:ext cx="442912" cy="453081"/>
            </a:xfrm>
            <a:prstGeom prst="line">
              <a:avLst/>
            </a:prstGeom>
            <a:noFill/>
            <a:ln w="9525">
              <a:solidFill>
                <a:schemeClr val="tx1"/>
              </a:solidFill>
              <a:round/>
              <a:headEnd/>
              <a:tailEnd/>
            </a:ln>
          </p:spPr>
          <p:txBody>
            <a:bodyPr/>
            <a:lstStyle/>
            <a:p>
              <a:endParaRPr lang="en-US"/>
            </a:p>
          </p:txBody>
        </p:sp>
        <p:sp>
          <p:nvSpPr>
            <p:cNvPr id="54" name="Oval 19">
              <a:extLst>
                <a:ext uri="{FF2B5EF4-FFF2-40B4-BE49-F238E27FC236}">
                  <a16:creationId xmlns:a16="http://schemas.microsoft.com/office/drawing/2014/main" id="{ABB7F9D1-A63D-477F-B0A1-CB5E9E2994B1}"/>
                </a:ext>
              </a:extLst>
            </p:cNvPr>
            <p:cNvSpPr>
              <a:spLocks noChangeArrowheads="1"/>
            </p:cNvSpPr>
            <p:nvPr/>
          </p:nvSpPr>
          <p:spPr bwMode="auto">
            <a:xfrm>
              <a:off x="1828502"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30</a:t>
              </a:r>
            </a:p>
          </p:txBody>
        </p:sp>
        <p:sp>
          <p:nvSpPr>
            <p:cNvPr id="55" name="Line 21">
              <a:extLst>
                <a:ext uri="{FF2B5EF4-FFF2-40B4-BE49-F238E27FC236}">
                  <a16:creationId xmlns:a16="http://schemas.microsoft.com/office/drawing/2014/main" id="{4C866FA4-7136-40B9-A3D5-19F7D3A34B9D}"/>
                </a:ext>
              </a:extLst>
            </p:cNvPr>
            <p:cNvSpPr>
              <a:spLocks noChangeShapeType="1"/>
            </p:cNvSpPr>
            <p:nvPr/>
          </p:nvSpPr>
          <p:spPr bwMode="auto">
            <a:xfrm>
              <a:off x="1524000" y="2048133"/>
              <a:ext cx="590550" cy="543697"/>
            </a:xfrm>
            <a:prstGeom prst="line">
              <a:avLst/>
            </a:prstGeom>
            <a:noFill/>
            <a:ln w="9525">
              <a:solidFill>
                <a:schemeClr val="tx1"/>
              </a:solidFill>
              <a:prstDash val="solid"/>
              <a:round/>
              <a:headEnd/>
              <a:tailEnd/>
            </a:ln>
          </p:spPr>
          <p:txBody>
            <a:bodyPr/>
            <a:lstStyle/>
            <a:p>
              <a:endParaRPr lang="en-US"/>
            </a:p>
          </p:txBody>
        </p:sp>
        <p:sp>
          <p:nvSpPr>
            <p:cNvPr id="56" name="Oval 55">
              <a:extLst>
                <a:ext uri="{FF2B5EF4-FFF2-40B4-BE49-F238E27FC236}">
                  <a16:creationId xmlns:a16="http://schemas.microsoft.com/office/drawing/2014/main" id="{9C108FFF-BEA4-475E-B8B5-7D7A2F83A7AD}"/>
                </a:ext>
              </a:extLst>
            </p:cNvPr>
            <p:cNvSpPr>
              <a:spLocks noChangeArrowheads="1"/>
            </p:cNvSpPr>
            <p:nvPr/>
          </p:nvSpPr>
          <p:spPr bwMode="auto">
            <a:xfrm>
              <a:off x="3124200"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44</a:t>
              </a:r>
            </a:p>
          </p:txBody>
        </p:sp>
        <p:sp>
          <p:nvSpPr>
            <p:cNvPr id="57" name="Line 21">
              <a:extLst>
                <a:ext uri="{FF2B5EF4-FFF2-40B4-BE49-F238E27FC236}">
                  <a16:creationId xmlns:a16="http://schemas.microsoft.com/office/drawing/2014/main" id="{EDC8DA09-5AA0-4666-BC29-C9BA050F774E}"/>
                </a:ext>
              </a:extLst>
            </p:cNvPr>
            <p:cNvSpPr>
              <a:spLocks noChangeShapeType="1"/>
            </p:cNvSpPr>
            <p:nvPr/>
          </p:nvSpPr>
          <p:spPr bwMode="auto">
            <a:xfrm flipH="1">
              <a:off x="3562350" y="1981201"/>
              <a:ext cx="552450" cy="610630"/>
            </a:xfrm>
            <a:prstGeom prst="line">
              <a:avLst/>
            </a:prstGeom>
            <a:noFill/>
            <a:ln w="9525" cmpd="sng">
              <a:solidFill>
                <a:schemeClr val="tx1"/>
              </a:solidFill>
              <a:prstDash val="solid"/>
              <a:round/>
              <a:headEnd/>
              <a:tailEnd/>
            </a:ln>
          </p:spPr>
          <p:txBody>
            <a:bodyPr/>
            <a:lstStyle/>
            <a:p>
              <a:endParaRPr lang="en-US"/>
            </a:p>
          </p:txBody>
        </p:sp>
        <p:sp>
          <p:nvSpPr>
            <p:cNvPr id="58" name="Oval 19">
              <a:extLst>
                <a:ext uri="{FF2B5EF4-FFF2-40B4-BE49-F238E27FC236}">
                  <a16:creationId xmlns:a16="http://schemas.microsoft.com/office/drawing/2014/main" id="{8FB4F6DF-1047-4B6B-A02A-4548EDA41BEF}"/>
                </a:ext>
              </a:extLst>
            </p:cNvPr>
            <p:cNvSpPr>
              <a:spLocks noChangeArrowheads="1"/>
            </p:cNvSpPr>
            <p:nvPr/>
          </p:nvSpPr>
          <p:spPr bwMode="auto">
            <a:xfrm>
              <a:off x="4829175" y="258977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77</a:t>
              </a:r>
            </a:p>
          </p:txBody>
        </p:sp>
        <p:sp>
          <p:nvSpPr>
            <p:cNvPr id="59" name="Line 21">
              <a:extLst>
                <a:ext uri="{FF2B5EF4-FFF2-40B4-BE49-F238E27FC236}">
                  <a16:creationId xmlns:a16="http://schemas.microsoft.com/office/drawing/2014/main" id="{6AB7040A-89BA-480C-B00F-623804A57281}"/>
                </a:ext>
              </a:extLst>
            </p:cNvPr>
            <p:cNvSpPr>
              <a:spLocks noChangeShapeType="1"/>
            </p:cNvSpPr>
            <p:nvPr/>
          </p:nvSpPr>
          <p:spPr bwMode="auto">
            <a:xfrm>
              <a:off x="4524673" y="2057400"/>
              <a:ext cx="590550" cy="543697"/>
            </a:xfrm>
            <a:prstGeom prst="line">
              <a:avLst/>
            </a:prstGeom>
            <a:noFill/>
            <a:ln w="9525">
              <a:solidFill>
                <a:schemeClr val="tx1"/>
              </a:solidFill>
              <a:prstDash val="dash"/>
              <a:round/>
              <a:headEnd/>
              <a:tailEnd/>
            </a:ln>
          </p:spPr>
          <p:txBody>
            <a:bodyPr/>
            <a:lstStyle/>
            <a:p>
              <a:endParaRPr lang="en-US"/>
            </a:p>
          </p:txBody>
        </p:sp>
      </p:grpSp>
      <p:grpSp>
        <p:nvGrpSpPr>
          <p:cNvPr id="60" name="Group 59">
            <a:extLst>
              <a:ext uri="{FF2B5EF4-FFF2-40B4-BE49-F238E27FC236}">
                <a16:creationId xmlns:a16="http://schemas.microsoft.com/office/drawing/2014/main" id="{4B7E458E-5D0E-42B3-A10E-723441C33BFA}"/>
              </a:ext>
            </a:extLst>
          </p:cNvPr>
          <p:cNvGrpSpPr/>
          <p:nvPr/>
        </p:nvGrpSpPr>
        <p:grpSpPr>
          <a:xfrm>
            <a:off x="6172200" y="838200"/>
            <a:ext cx="4343400" cy="2447667"/>
            <a:chOff x="76200" y="685800"/>
            <a:chExt cx="5638800" cy="2447667"/>
          </a:xfrm>
        </p:grpSpPr>
        <p:sp>
          <p:nvSpPr>
            <p:cNvPr id="61" name="Oval 5">
              <a:extLst>
                <a:ext uri="{FF2B5EF4-FFF2-40B4-BE49-F238E27FC236}">
                  <a16:creationId xmlns:a16="http://schemas.microsoft.com/office/drawing/2014/main" id="{1E214742-45CF-4E83-9EA4-B11DFE00F7FF}"/>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60</a:t>
              </a:r>
            </a:p>
          </p:txBody>
        </p:sp>
        <p:sp>
          <p:nvSpPr>
            <p:cNvPr id="62" name="Oval 6">
              <a:extLst>
                <a:ext uri="{FF2B5EF4-FFF2-40B4-BE49-F238E27FC236}">
                  <a16:creationId xmlns:a16="http://schemas.microsoft.com/office/drawing/2014/main" id="{C24ACB8F-9F70-4471-9170-11DC589B36BD}"/>
                </a:ext>
              </a:extLst>
            </p:cNvPr>
            <p:cNvSpPr>
              <a:spLocks noChangeArrowheads="1"/>
            </p:cNvSpPr>
            <p:nvPr/>
          </p:nvSpPr>
          <p:spPr bwMode="auto">
            <a:xfrm>
              <a:off x="962025"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63" name="Oval 7">
              <a:extLst>
                <a:ext uri="{FF2B5EF4-FFF2-40B4-BE49-F238E27FC236}">
                  <a16:creationId xmlns:a16="http://schemas.microsoft.com/office/drawing/2014/main" id="{30402DA3-0B00-4003-81FE-A4186577D05F}"/>
                </a:ext>
              </a:extLst>
            </p:cNvPr>
            <p:cNvSpPr>
              <a:spLocks noChangeArrowheads="1"/>
            </p:cNvSpPr>
            <p:nvPr/>
          </p:nvSpPr>
          <p:spPr bwMode="auto">
            <a:xfrm>
              <a:off x="3914774"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77</a:t>
              </a:r>
            </a:p>
          </p:txBody>
        </p:sp>
        <p:sp>
          <p:nvSpPr>
            <p:cNvPr id="64" name="Oval 10">
              <a:extLst>
                <a:ext uri="{FF2B5EF4-FFF2-40B4-BE49-F238E27FC236}">
                  <a16:creationId xmlns:a16="http://schemas.microsoft.com/office/drawing/2014/main" id="{374DA30F-F660-40BE-9E4B-DF59F033D13B}"/>
                </a:ext>
              </a:extLst>
            </p:cNvPr>
            <p:cNvSpPr>
              <a:spLocks noChangeArrowheads="1"/>
            </p:cNvSpPr>
            <p:nvPr/>
          </p:nvSpPr>
          <p:spPr bwMode="auto">
            <a:xfrm>
              <a:off x="76200" y="249812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22</a:t>
              </a:r>
            </a:p>
          </p:txBody>
        </p:sp>
        <p:sp>
          <p:nvSpPr>
            <p:cNvPr id="65" name="Line 12">
              <a:extLst>
                <a:ext uri="{FF2B5EF4-FFF2-40B4-BE49-F238E27FC236}">
                  <a16:creationId xmlns:a16="http://schemas.microsoft.com/office/drawing/2014/main" id="{9F17569E-0C7D-42D8-852B-8420876BF273}"/>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sp>
          <p:nvSpPr>
            <p:cNvPr id="66" name="Line 13">
              <a:extLst>
                <a:ext uri="{FF2B5EF4-FFF2-40B4-BE49-F238E27FC236}">
                  <a16:creationId xmlns:a16="http://schemas.microsoft.com/office/drawing/2014/main" id="{549E50BC-B1C8-4AC2-A0F8-C0CE8045A99A}"/>
                </a:ext>
              </a:extLst>
            </p:cNvPr>
            <p:cNvSpPr>
              <a:spLocks noChangeShapeType="1"/>
            </p:cNvSpPr>
            <p:nvPr/>
          </p:nvSpPr>
          <p:spPr bwMode="auto">
            <a:xfrm>
              <a:off x="3176587" y="1138881"/>
              <a:ext cx="885825" cy="362465"/>
            </a:xfrm>
            <a:prstGeom prst="line">
              <a:avLst/>
            </a:prstGeom>
            <a:noFill/>
            <a:ln w="9525">
              <a:solidFill>
                <a:schemeClr val="tx1"/>
              </a:solidFill>
              <a:round/>
              <a:headEnd/>
              <a:tailEnd/>
            </a:ln>
          </p:spPr>
          <p:txBody>
            <a:bodyPr/>
            <a:lstStyle/>
            <a:p>
              <a:endParaRPr lang="en-US"/>
            </a:p>
          </p:txBody>
        </p:sp>
        <p:sp>
          <p:nvSpPr>
            <p:cNvPr id="67" name="Line 16">
              <a:extLst>
                <a:ext uri="{FF2B5EF4-FFF2-40B4-BE49-F238E27FC236}">
                  <a16:creationId xmlns:a16="http://schemas.microsoft.com/office/drawing/2014/main" id="{22FFE9C4-A8A5-4C14-B4ED-FDB3E9205047}"/>
                </a:ext>
              </a:extLst>
            </p:cNvPr>
            <p:cNvSpPr>
              <a:spLocks noChangeShapeType="1"/>
            </p:cNvSpPr>
            <p:nvPr/>
          </p:nvSpPr>
          <p:spPr bwMode="auto">
            <a:xfrm flipH="1">
              <a:off x="666750" y="2045043"/>
              <a:ext cx="442912" cy="453081"/>
            </a:xfrm>
            <a:prstGeom prst="line">
              <a:avLst/>
            </a:prstGeom>
            <a:noFill/>
            <a:ln w="9525">
              <a:solidFill>
                <a:schemeClr val="tx1"/>
              </a:solidFill>
              <a:round/>
              <a:headEnd/>
              <a:tailEnd/>
            </a:ln>
          </p:spPr>
          <p:txBody>
            <a:bodyPr/>
            <a:lstStyle/>
            <a:p>
              <a:endParaRPr lang="en-US"/>
            </a:p>
          </p:txBody>
        </p:sp>
        <p:sp>
          <p:nvSpPr>
            <p:cNvPr id="68" name="Oval 19">
              <a:extLst>
                <a:ext uri="{FF2B5EF4-FFF2-40B4-BE49-F238E27FC236}">
                  <a16:creationId xmlns:a16="http://schemas.microsoft.com/office/drawing/2014/main" id="{974C2755-D3C5-434F-A2B9-0E3CFC636C6E}"/>
                </a:ext>
              </a:extLst>
            </p:cNvPr>
            <p:cNvSpPr>
              <a:spLocks noChangeArrowheads="1"/>
            </p:cNvSpPr>
            <p:nvPr/>
          </p:nvSpPr>
          <p:spPr bwMode="auto">
            <a:xfrm>
              <a:off x="1828502"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30</a:t>
              </a:r>
            </a:p>
          </p:txBody>
        </p:sp>
        <p:sp>
          <p:nvSpPr>
            <p:cNvPr id="69" name="Line 21">
              <a:extLst>
                <a:ext uri="{FF2B5EF4-FFF2-40B4-BE49-F238E27FC236}">
                  <a16:creationId xmlns:a16="http://schemas.microsoft.com/office/drawing/2014/main" id="{EAD29EB5-1D04-4BDA-B332-8B3F2D216288}"/>
                </a:ext>
              </a:extLst>
            </p:cNvPr>
            <p:cNvSpPr>
              <a:spLocks noChangeShapeType="1"/>
            </p:cNvSpPr>
            <p:nvPr/>
          </p:nvSpPr>
          <p:spPr bwMode="auto">
            <a:xfrm>
              <a:off x="1524000" y="2048133"/>
              <a:ext cx="590550" cy="543697"/>
            </a:xfrm>
            <a:prstGeom prst="line">
              <a:avLst/>
            </a:prstGeom>
            <a:noFill/>
            <a:ln w="9525">
              <a:solidFill>
                <a:schemeClr val="tx1"/>
              </a:solidFill>
              <a:prstDash val="solid"/>
              <a:round/>
              <a:headEnd/>
              <a:tailEnd/>
            </a:ln>
          </p:spPr>
          <p:txBody>
            <a:bodyPr/>
            <a:lstStyle/>
            <a:p>
              <a:endParaRPr lang="en-US"/>
            </a:p>
          </p:txBody>
        </p:sp>
        <p:sp>
          <p:nvSpPr>
            <p:cNvPr id="70" name="Oval 69">
              <a:extLst>
                <a:ext uri="{FF2B5EF4-FFF2-40B4-BE49-F238E27FC236}">
                  <a16:creationId xmlns:a16="http://schemas.microsoft.com/office/drawing/2014/main" id="{9FFCA3A8-CF1A-49E3-9948-21C6170C8B58}"/>
                </a:ext>
              </a:extLst>
            </p:cNvPr>
            <p:cNvSpPr>
              <a:spLocks noChangeArrowheads="1"/>
            </p:cNvSpPr>
            <p:nvPr/>
          </p:nvSpPr>
          <p:spPr bwMode="auto">
            <a:xfrm>
              <a:off x="3124200"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44</a:t>
              </a:r>
            </a:p>
          </p:txBody>
        </p:sp>
        <p:sp>
          <p:nvSpPr>
            <p:cNvPr id="71" name="Line 21">
              <a:extLst>
                <a:ext uri="{FF2B5EF4-FFF2-40B4-BE49-F238E27FC236}">
                  <a16:creationId xmlns:a16="http://schemas.microsoft.com/office/drawing/2014/main" id="{4CCCF5A0-DAA8-4215-A2A7-7AEE2DE66E43}"/>
                </a:ext>
              </a:extLst>
            </p:cNvPr>
            <p:cNvSpPr>
              <a:spLocks noChangeShapeType="1"/>
            </p:cNvSpPr>
            <p:nvPr/>
          </p:nvSpPr>
          <p:spPr bwMode="auto">
            <a:xfrm flipH="1">
              <a:off x="3562350" y="1981201"/>
              <a:ext cx="552450" cy="610630"/>
            </a:xfrm>
            <a:prstGeom prst="line">
              <a:avLst/>
            </a:prstGeom>
            <a:noFill/>
            <a:ln w="9525" cmpd="sng">
              <a:solidFill>
                <a:schemeClr val="tx1"/>
              </a:solidFill>
              <a:prstDash val="solid"/>
              <a:round/>
              <a:headEnd/>
              <a:tailEnd/>
            </a:ln>
          </p:spPr>
          <p:txBody>
            <a:bodyPr/>
            <a:lstStyle/>
            <a:p>
              <a:endParaRPr lang="en-US"/>
            </a:p>
          </p:txBody>
        </p:sp>
        <p:sp>
          <p:nvSpPr>
            <p:cNvPr id="72" name="Oval 19">
              <a:extLst>
                <a:ext uri="{FF2B5EF4-FFF2-40B4-BE49-F238E27FC236}">
                  <a16:creationId xmlns:a16="http://schemas.microsoft.com/office/drawing/2014/main" id="{60923E9D-C58D-4A8B-A7F0-20AC20E5D864}"/>
                </a:ext>
              </a:extLst>
            </p:cNvPr>
            <p:cNvSpPr>
              <a:spLocks noChangeArrowheads="1"/>
            </p:cNvSpPr>
            <p:nvPr/>
          </p:nvSpPr>
          <p:spPr bwMode="auto">
            <a:xfrm>
              <a:off x="4829175" y="258977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55</a:t>
              </a:r>
            </a:p>
          </p:txBody>
        </p:sp>
        <p:sp>
          <p:nvSpPr>
            <p:cNvPr id="73" name="Line 21">
              <a:extLst>
                <a:ext uri="{FF2B5EF4-FFF2-40B4-BE49-F238E27FC236}">
                  <a16:creationId xmlns:a16="http://schemas.microsoft.com/office/drawing/2014/main" id="{876CFD60-BE46-48B0-B382-68F729421660}"/>
                </a:ext>
              </a:extLst>
            </p:cNvPr>
            <p:cNvSpPr>
              <a:spLocks noChangeShapeType="1"/>
            </p:cNvSpPr>
            <p:nvPr/>
          </p:nvSpPr>
          <p:spPr bwMode="auto">
            <a:xfrm>
              <a:off x="4524673" y="2057400"/>
              <a:ext cx="590550" cy="543697"/>
            </a:xfrm>
            <a:prstGeom prst="line">
              <a:avLst/>
            </a:prstGeom>
            <a:noFill/>
            <a:ln w="9525">
              <a:solidFill>
                <a:schemeClr val="tx1"/>
              </a:solidFill>
              <a:prstDash val="dash"/>
              <a:round/>
              <a:headEnd/>
              <a:tailEnd/>
            </a:ln>
          </p:spPr>
          <p:txBody>
            <a:bodyPr/>
            <a:lstStyle/>
            <a:p>
              <a:endParaRPr lang="en-US"/>
            </a:p>
          </p:txBody>
        </p:sp>
      </p:grpSp>
      <p:grpSp>
        <p:nvGrpSpPr>
          <p:cNvPr id="74" name="Group 73">
            <a:extLst>
              <a:ext uri="{FF2B5EF4-FFF2-40B4-BE49-F238E27FC236}">
                <a16:creationId xmlns:a16="http://schemas.microsoft.com/office/drawing/2014/main" id="{5435EC67-A775-4499-AA61-FD2BD9E11D16}"/>
              </a:ext>
            </a:extLst>
          </p:cNvPr>
          <p:cNvGrpSpPr/>
          <p:nvPr/>
        </p:nvGrpSpPr>
        <p:grpSpPr>
          <a:xfrm>
            <a:off x="4038600" y="3581400"/>
            <a:ext cx="4343400" cy="2447667"/>
            <a:chOff x="76200" y="685800"/>
            <a:chExt cx="5638800" cy="2447667"/>
          </a:xfrm>
        </p:grpSpPr>
        <p:sp>
          <p:nvSpPr>
            <p:cNvPr id="75" name="Oval 5">
              <a:extLst>
                <a:ext uri="{FF2B5EF4-FFF2-40B4-BE49-F238E27FC236}">
                  <a16:creationId xmlns:a16="http://schemas.microsoft.com/office/drawing/2014/main" id="{80C381E1-ADF7-427E-A0FE-765C583BF6BA}"/>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77</a:t>
              </a:r>
            </a:p>
          </p:txBody>
        </p:sp>
        <p:sp>
          <p:nvSpPr>
            <p:cNvPr id="76" name="Oval 6">
              <a:extLst>
                <a:ext uri="{FF2B5EF4-FFF2-40B4-BE49-F238E27FC236}">
                  <a16:creationId xmlns:a16="http://schemas.microsoft.com/office/drawing/2014/main" id="{E4787025-83D0-4F67-92AE-78964757C754}"/>
                </a:ext>
              </a:extLst>
            </p:cNvPr>
            <p:cNvSpPr>
              <a:spLocks noChangeArrowheads="1"/>
            </p:cNvSpPr>
            <p:nvPr/>
          </p:nvSpPr>
          <p:spPr bwMode="auto">
            <a:xfrm>
              <a:off x="962025"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77" name="Oval 7">
              <a:extLst>
                <a:ext uri="{FF2B5EF4-FFF2-40B4-BE49-F238E27FC236}">
                  <a16:creationId xmlns:a16="http://schemas.microsoft.com/office/drawing/2014/main" id="{5A756AFB-BC02-4F77-80C3-380EA42E1680}"/>
                </a:ext>
              </a:extLst>
            </p:cNvPr>
            <p:cNvSpPr>
              <a:spLocks noChangeArrowheads="1"/>
            </p:cNvSpPr>
            <p:nvPr/>
          </p:nvSpPr>
          <p:spPr bwMode="auto">
            <a:xfrm>
              <a:off x="3914774"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60</a:t>
              </a:r>
            </a:p>
          </p:txBody>
        </p:sp>
        <p:sp>
          <p:nvSpPr>
            <p:cNvPr id="78" name="Oval 10">
              <a:extLst>
                <a:ext uri="{FF2B5EF4-FFF2-40B4-BE49-F238E27FC236}">
                  <a16:creationId xmlns:a16="http://schemas.microsoft.com/office/drawing/2014/main" id="{C002A92D-F2BA-457C-AF12-FA1414F2784E}"/>
                </a:ext>
              </a:extLst>
            </p:cNvPr>
            <p:cNvSpPr>
              <a:spLocks noChangeArrowheads="1"/>
            </p:cNvSpPr>
            <p:nvPr/>
          </p:nvSpPr>
          <p:spPr bwMode="auto">
            <a:xfrm>
              <a:off x="76200" y="249812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22</a:t>
              </a:r>
            </a:p>
          </p:txBody>
        </p:sp>
        <p:sp>
          <p:nvSpPr>
            <p:cNvPr id="79" name="Line 12">
              <a:extLst>
                <a:ext uri="{FF2B5EF4-FFF2-40B4-BE49-F238E27FC236}">
                  <a16:creationId xmlns:a16="http://schemas.microsoft.com/office/drawing/2014/main" id="{F8EC4A0E-90E8-423C-A3B0-C29C9F250079}"/>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sp>
          <p:nvSpPr>
            <p:cNvPr id="80" name="Line 13">
              <a:extLst>
                <a:ext uri="{FF2B5EF4-FFF2-40B4-BE49-F238E27FC236}">
                  <a16:creationId xmlns:a16="http://schemas.microsoft.com/office/drawing/2014/main" id="{B5CDF96F-46C7-43E7-9D68-8AC33CA46AEF}"/>
                </a:ext>
              </a:extLst>
            </p:cNvPr>
            <p:cNvSpPr>
              <a:spLocks noChangeShapeType="1"/>
            </p:cNvSpPr>
            <p:nvPr/>
          </p:nvSpPr>
          <p:spPr bwMode="auto">
            <a:xfrm>
              <a:off x="3176587" y="1138881"/>
              <a:ext cx="885825" cy="362465"/>
            </a:xfrm>
            <a:prstGeom prst="line">
              <a:avLst/>
            </a:prstGeom>
            <a:noFill/>
            <a:ln w="9525">
              <a:solidFill>
                <a:schemeClr val="tx1"/>
              </a:solidFill>
              <a:round/>
              <a:headEnd/>
              <a:tailEnd/>
            </a:ln>
          </p:spPr>
          <p:txBody>
            <a:bodyPr/>
            <a:lstStyle/>
            <a:p>
              <a:endParaRPr lang="en-US"/>
            </a:p>
          </p:txBody>
        </p:sp>
        <p:sp>
          <p:nvSpPr>
            <p:cNvPr id="81" name="Line 16">
              <a:extLst>
                <a:ext uri="{FF2B5EF4-FFF2-40B4-BE49-F238E27FC236}">
                  <a16:creationId xmlns:a16="http://schemas.microsoft.com/office/drawing/2014/main" id="{1A2C2A27-1789-4067-AFFC-D780CAACC5E9}"/>
                </a:ext>
              </a:extLst>
            </p:cNvPr>
            <p:cNvSpPr>
              <a:spLocks noChangeShapeType="1"/>
            </p:cNvSpPr>
            <p:nvPr/>
          </p:nvSpPr>
          <p:spPr bwMode="auto">
            <a:xfrm flipH="1">
              <a:off x="666750" y="2045043"/>
              <a:ext cx="442912" cy="453081"/>
            </a:xfrm>
            <a:prstGeom prst="line">
              <a:avLst/>
            </a:prstGeom>
            <a:noFill/>
            <a:ln w="9525">
              <a:solidFill>
                <a:schemeClr val="tx1"/>
              </a:solidFill>
              <a:round/>
              <a:headEnd/>
              <a:tailEnd/>
            </a:ln>
          </p:spPr>
          <p:txBody>
            <a:bodyPr/>
            <a:lstStyle/>
            <a:p>
              <a:endParaRPr lang="en-US"/>
            </a:p>
          </p:txBody>
        </p:sp>
        <p:sp>
          <p:nvSpPr>
            <p:cNvPr id="82" name="Oval 19">
              <a:extLst>
                <a:ext uri="{FF2B5EF4-FFF2-40B4-BE49-F238E27FC236}">
                  <a16:creationId xmlns:a16="http://schemas.microsoft.com/office/drawing/2014/main" id="{E857544A-282D-4DD9-8DDF-2FE73580AF36}"/>
                </a:ext>
              </a:extLst>
            </p:cNvPr>
            <p:cNvSpPr>
              <a:spLocks noChangeArrowheads="1"/>
            </p:cNvSpPr>
            <p:nvPr/>
          </p:nvSpPr>
          <p:spPr bwMode="auto">
            <a:xfrm>
              <a:off x="1828502"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30</a:t>
              </a:r>
            </a:p>
          </p:txBody>
        </p:sp>
        <p:sp>
          <p:nvSpPr>
            <p:cNvPr id="83" name="Line 21">
              <a:extLst>
                <a:ext uri="{FF2B5EF4-FFF2-40B4-BE49-F238E27FC236}">
                  <a16:creationId xmlns:a16="http://schemas.microsoft.com/office/drawing/2014/main" id="{E25699DF-DE30-47A8-BF8B-873688B239D8}"/>
                </a:ext>
              </a:extLst>
            </p:cNvPr>
            <p:cNvSpPr>
              <a:spLocks noChangeShapeType="1"/>
            </p:cNvSpPr>
            <p:nvPr/>
          </p:nvSpPr>
          <p:spPr bwMode="auto">
            <a:xfrm>
              <a:off x="1524000" y="2048133"/>
              <a:ext cx="590550" cy="543697"/>
            </a:xfrm>
            <a:prstGeom prst="line">
              <a:avLst/>
            </a:prstGeom>
            <a:noFill/>
            <a:ln w="9525">
              <a:solidFill>
                <a:schemeClr val="tx1"/>
              </a:solidFill>
              <a:prstDash val="solid"/>
              <a:round/>
              <a:headEnd/>
              <a:tailEnd/>
            </a:ln>
          </p:spPr>
          <p:txBody>
            <a:bodyPr/>
            <a:lstStyle/>
            <a:p>
              <a:endParaRPr lang="en-US"/>
            </a:p>
          </p:txBody>
        </p:sp>
        <p:sp>
          <p:nvSpPr>
            <p:cNvPr id="84" name="Oval 83">
              <a:extLst>
                <a:ext uri="{FF2B5EF4-FFF2-40B4-BE49-F238E27FC236}">
                  <a16:creationId xmlns:a16="http://schemas.microsoft.com/office/drawing/2014/main" id="{81773CC9-89BF-4CD8-B3CF-070431C6DEAF}"/>
                </a:ext>
              </a:extLst>
            </p:cNvPr>
            <p:cNvSpPr>
              <a:spLocks noChangeArrowheads="1"/>
            </p:cNvSpPr>
            <p:nvPr/>
          </p:nvSpPr>
          <p:spPr bwMode="auto">
            <a:xfrm>
              <a:off x="3124200"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44</a:t>
              </a:r>
            </a:p>
          </p:txBody>
        </p:sp>
        <p:sp>
          <p:nvSpPr>
            <p:cNvPr id="85" name="Line 21">
              <a:extLst>
                <a:ext uri="{FF2B5EF4-FFF2-40B4-BE49-F238E27FC236}">
                  <a16:creationId xmlns:a16="http://schemas.microsoft.com/office/drawing/2014/main" id="{644C3D6F-A2F6-4CDF-9316-B141D5F53829}"/>
                </a:ext>
              </a:extLst>
            </p:cNvPr>
            <p:cNvSpPr>
              <a:spLocks noChangeShapeType="1"/>
            </p:cNvSpPr>
            <p:nvPr/>
          </p:nvSpPr>
          <p:spPr bwMode="auto">
            <a:xfrm flipH="1">
              <a:off x="3562350" y="1981201"/>
              <a:ext cx="552450" cy="610630"/>
            </a:xfrm>
            <a:prstGeom prst="line">
              <a:avLst/>
            </a:prstGeom>
            <a:noFill/>
            <a:ln w="9525" cmpd="sng">
              <a:solidFill>
                <a:schemeClr val="tx1"/>
              </a:solidFill>
              <a:prstDash val="solid"/>
              <a:round/>
              <a:headEnd/>
              <a:tailEnd/>
            </a:ln>
          </p:spPr>
          <p:txBody>
            <a:bodyPr/>
            <a:lstStyle/>
            <a:p>
              <a:endParaRPr lang="en-US"/>
            </a:p>
          </p:txBody>
        </p:sp>
        <p:sp>
          <p:nvSpPr>
            <p:cNvPr id="86" name="Oval 19">
              <a:extLst>
                <a:ext uri="{FF2B5EF4-FFF2-40B4-BE49-F238E27FC236}">
                  <a16:creationId xmlns:a16="http://schemas.microsoft.com/office/drawing/2014/main" id="{CBAC94FF-92A3-4FDA-80B4-FEE6E6AD19EF}"/>
                </a:ext>
              </a:extLst>
            </p:cNvPr>
            <p:cNvSpPr>
              <a:spLocks noChangeArrowheads="1"/>
            </p:cNvSpPr>
            <p:nvPr/>
          </p:nvSpPr>
          <p:spPr bwMode="auto">
            <a:xfrm>
              <a:off x="4829175" y="258977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55</a:t>
              </a:r>
            </a:p>
          </p:txBody>
        </p:sp>
        <p:sp>
          <p:nvSpPr>
            <p:cNvPr id="87" name="Line 21">
              <a:extLst>
                <a:ext uri="{FF2B5EF4-FFF2-40B4-BE49-F238E27FC236}">
                  <a16:creationId xmlns:a16="http://schemas.microsoft.com/office/drawing/2014/main" id="{FE7D859D-E029-4E5D-AF17-513754756C29}"/>
                </a:ext>
              </a:extLst>
            </p:cNvPr>
            <p:cNvSpPr>
              <a:spLocks noChangeShapeType="1"/>
            </p:cNvSpPr>
            <p:nvPr/>
          </p:nvSpPr>
          <p:spPr bwMode="auto">
            <a:xfrm>
              <a:off x="4524673" y="2057400"/>
              <a:ext cx="590550" cy="543697"/>
            </a:xfrm>
            <a:prstGeom prst="line">
              <a:avLst/>
            </a:prstGeom>
            <a:noFill/>
            <a:ln w="9525">
              <a:solidFill>
                <a:schemeClr val="tx1"/>
              </a:solidFill>
              <a:prstDash val="solid"/>
              <a:round/>
              <a:headEnd/>
              <a:tailEnd/>
            </a:ln>
          </p:spPr>
          <p:txBody>
            <a:bodyPr/>
            <a:lstStyle/>
            <a:p>
              <a:endParaRPr lang="en-US"/>
            </a:p>
          </p:txBody>
        </p:sp>
      </p:grpSp>
    </p:spTree>
    <p:extLst>
      <p:ext uri="{BB962C8B-B14F-4D97-AF65-F5344CB8AC3E}">
        <p14:creationId xmlns:p14="http://schemas.microsoft.com/office/powerpoint/2010/main" val="3557930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Insertion in Heap</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20</a:t>
            </a:fld>
            <a:endParaRPr sz="900">
              <a:solidFill>
                <a:prstClr val="black"/>
              </a:solidFill>
              <a:latin typeface="Malgun Gothic"/>
              <a:cs typeface="Malgun Gothic"/>
            </a:endParaRPr>
          </a:p>
        </p:txBody>
      </p:sp>
      <p:sp>
        <p:nvSpPr>
          <p:cNvPr id="14" name="Content Placeholder 2">
            <a:extLst>
              <a:ext uri="{FF2B5EF4-FFF2-40B4-BE49-F238E27FC236}">
                <a16:creationId xmlns:a16="http://schemas.microsoft.com/office/drawing/2014/main" id="{37F996B0-A723-48DF-8356-FEF1BF457471}"/>
              </a:ext>
            </a:extLst>
          </p:cNvPr>
          <p:cNvSpPr txBox="1">
            <a:spLocks/>
          </p:cNvSpPr>
          <p:nvPr/>
        </p:nvSpPr>
        <p:spPr>
          <a:xfrm>
            <a:off x="1064172" y="2177206"/>
            <a:ext cx="10178775" cy="5181600"/>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To insert a node in max/ min heap following points should be considered</a:t>
            </a:r>
          </a:p>
          <a:p>
            <a:r>
              <a:rPr lang="en-US" dirty="0"/>
              <a:t>Cannot start insertion from root node</a:t>
            </a:r>
          </a:p>
          <a:p>
            <a:r>
              <a:rPr lang="en-US" dirty="0"/>
              <a:t>Insertion starts from leaf.</a:t>
            </a:r>
          </a:p>
          <a:p>
            <a:r>
              <a:rPr lang="en-US" dirty="0"/>
              <a:t>Follow the property of complete binary tree</a:t>
            </a:r>
          </a:p>
          <a:p>
            <a:r>
              <a:rPr lang="en-US" dirty="0"/>
              <a:t>Insert data as left as possible</a:t>
            </a:r>
          </a:p>
        </p:txBody>
      </p:sp>
    </p:spTree>
    <p:extLst>
      <p:ext uri="{BB962C8B-B14F-4D97-AF65-F5344CB8AC3E}">
        <p14:creationId xmlns:p14="http://schemas.microsoft.com/office/powerpoint/2010/main" val="3617110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Insertion in Heap</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21</a:t>
            </a:fld>
            <a:endParaRPr sz="900">
              <a:solidFill>
                <a:prstClr val="black"/>
              </a:solidFill>
              <a:latin typeface="Malgun Gothic"/>
              <a:cs typeface="Malgun Gothic"/>
            </a:endParaRPr>
          </a:p>
        </p:txBody>
      </p:sp>
      <p:sp>
        <p:nvSpPr>
          <p:cNvPr id="14" name="Content Placeholder 2">
            <a:extLst>
              <a:ext uri="{FF2B5EF4-FFF2-40B4-BE49-F238E27FC236}">
                <a16:creationId xmlns:a16="http://schemas.microsoft.com/office/drawing/2014/main" id="{37F996B0-A723-48DF-8356-FEF1BF457471}"/>
              </a:ext>
            </a:extLst>
          </p:cNvPr>
          <p:cNvSpPr txBox="1">
            <a:spLocks/>
          </p:cNvSpPr>
          <p:nvPr/>
        </p:nvSpPr>
        <p:spPr>
          <a:xfrm>
            <a:off x="1080675" y="2146637"/>
            <a:ext cx="10178775" cy="5181600"/>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grpSp>
        <p:nvGrpSpPr>
          <p:cNvPr id="12" name="Group 11">
            <a:extLst>
              <a:ext uri="{FF2B5EF4-FFF2-40B4-BE49-F238E27FC236}">
                <a16:creationId xmlns:a16="http://schemas.microsoft.com/office/drawing/2014/main" id="{2D00B095-6A7A-4587-9C6C-284B9F2F027A}"/>
              </a:ext>
            </a:extLst>
          </p:cNvPr>
          <p:cNvGrpSpPr/>
          <p:nvPr/>
        </p:nvGrpSpPr>
        <p:grpSpPr>
          <a:xfrm>
            <a:off x="3919155" y="2812905"/>
            <a:ext cx="4343400" cy="2447667"/>
            <a:chOff x="76200" y="685800"/>
            <a:chExt cx="5638800" cy="2447667"/>
          </a:xfrm>
        </p:grpSpPr>
        <p:sp>
          <p:nvSpPr>
            <p:cNvPr id="13" name="Oval 5">
              <a:extLst>
                <a:ext uri="{FF2B5EF4-FFF2-40B4-BE49-F238E27FC236}">
                  <a16:creationId xmlns:a16="http://schemas.microsoft.com/office/drawing/2014/main" id="{0A64856C-CA67-4C45-8047-93CF1B55767F}"/>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70</a:t>
              </a:r>
            </a:p>
          </p:txBody>
        </p:sp>
        <p:sp>
          <p:nvSpPr>
            <p:cNvPr id="15" name="Oval 6">
              <a:extLst>
                <a:ext uri="{FF2B5EF4-FFF2-40B4-BE49-F238E27FC236}">
                  <a16:creationId xmlns:a16="http://schemas.microsoft.com/office/drawing/2014/main" id="{4676C913-51E8-4F87-9776-6C05C72CF5F0}"/>
                </a:ext>
              </a:extLst>
            </p:cNvPr>
            <p:cNvSpPr>
              <a:spLocks noChangeArrowheads="1"/>
            </p:cNvSpPr>
            <p:nvPr/>
          </p:nvSpPr>
          <p:spPr bwMode="auto">
            <a:xfrm>
              <a:off x="962025"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16" name="Oval 7">
              <a:extLst>
                <a:ext uri="{FF2B5EF4-FFF2-40B4-BE49-F238E27FC236}">
                  <a16:creationId xmlns:a16="http://schemas.microsoft.com/office/drawing/2014/main" id="{8AC82DFC-37EF-48EE-A722-94162869829F}"/>
                </a:ext>
              </a:extLst>
            </p:cNvPr>
            <p:cNvSpPr>
              <a:spLocks noChangeArrowheads="1"/>
            </p:cNvSpPr>
            <p:nvPr/>
          </p:nvSpPr>
          <p:spPr bwMode="auto">
            <a:xfrm>
              <a:off x="3914774"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40</a:t>
              </a:r>
            </a:p>
          </p:txBody>
        </p:sp>
        <p:sp>
          <p:nvSpPr>
            <p:cNvPr id="17" name="Oval 10">
              <a:extLst>
                <a:ext uri="{FF2B5EF4-FFF2-40B4-BE49-F238E27FC236}">
                  <a16:creationId xmlns:a16="http://schemas.microsoft.com/office/drawing/2014/main" id="{BD0C824C-D0F3-4917-9030-AA7134CE1CB1}"/>
                </a:ext>
              </a:extLst>
            </p:cNvPr>
            <p:cNvSpPr>
              <a:spLocks noChangeArrowheads="1"/>
            </p:cNvSpPr>
            <p:nvPr/>
          </p:nvSpPr>
          <p:spPr bwMode="auto">
            <a:xfrm>
              <a:off x="76200" y="249812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45</a:t>
              </a:r>
            </a:p>
          </p:txBody>
        </p:sp>
        <p:sp>
          <p:nvSpPr>
            <p:cNvPr id="19" name="Line 12">
              <a:extLst>
                <a:ext uri="{FF2B5EF4-FFF2-40B4-BE49-F238E27FC236}">
                  <a16:creationId xmlns:a16="http://schemas.microsoft.com/office/drawing/2014/main" id="{EDD006DB-828C-480A-9B70-23567BFEBA01}"/>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sp>
          <p:nvSpPr>
            <p:cNvPr id="20" name="Line 13">
              <a:extLst>
                <a:ext uri="{FF2B5EF4-FFF2-40B4-BE49-F238E27FC236}">
                  <a16:creationId xmlns:a16="http://schemas.microsoft.com/office/drawing/2014/main" id="{442F358F-5CF0-4596-B33D-678D2A15FF02}"/>
                </a:ext>
              </a:extLst>
            </p:cNvPr>
            <p:cNvSpPr>
              <a:spLocks noChangeShapeType="1"/>
            </p:cNvSpPr>
            <p:nvPr/>
          </p:nvSpPr>
          <p:spPr bwMode="auto">
            <a:xfrm>
              <a:off x="3176587" y="1138881"/>
              <a:ext cx="885825" cy="362465"/>
            </a:xfrm>
            <a:prstGeom prst="line">
              <a:avLst/>
            </a:prstGeom>
            <a:noFill/>
            <a:ln w="9525">
              <a:solidFill>
                <a:schemeClr val="tx1"/>
              </a:solidFill>
              <a:round/>
              <a:headEnd/>
              <a:tailEnd/>
            </a:ln>
          </p:spPr>
          <p:txBody>
            <a:bodyPr/>
            <a:lstStyle/>
            <a:p>
              <a:endParaRPr lang="en-US"/>
            </a:p>
          </p:txBody>
        </p:sp>
        <p:sp>
          <p:nvSpPr>
            <p:cNvPr id="21" name="Line 16">
              <a:extLst>
                <a:ext uri="{FF2B5EF4-FFF2-40B4-BE49-F238E27FC236}">
                  <a16:creationId xmlns:a16="http://schemas.microsoft.com/office/drawing/2014/main" id="{1F4CDC61-E9E2-4E68-8E0D-2CB245CC098A}"/>
                </a:ext>
              </a:extLst>
            </p:cNvPr>
            <p:cNvSpPr>
              <a:spLocks noChangeShapeType="1"/>
            </p:cNvSpPr>
            <p:nvPr/>
          </p:nvSpPr>
          <p:spPr bwMode="auto">
            <a:xfrm flipH="1">
              <a:off x="666750" y="2045043"/>
              <a:ext cx="442912" cy="453081"/>
            </a:xfrm>
            <a:prstGeom prst="line">
              <a:avLst/>
            </a:prstGeom>
            <a:noFill/>
            <a:ln w="9525">
              <a:solidFill>
                <a:schemeClr val="tx1"/>
              </a:solidFill>
              <a:round/>
              <a:headEnd/>
              <a:tailEnd/>
            </a:ln>
          </p:spPr>
          <p:txBody>
            <a:bodyPr/>
            <a:lstStyle/>
            <a:p>
              <a:endParaRPr lang="en-US"/>
            </a:p>
          </p:txBody>
        </p:sp>
        <p:sp>
          <p:nvSpPr>
            <p:cNvPr id="22" name="Oval 19">
              <a:extLst>
                <a:ext uri="{FF2B5EF4-FFF2-40B4-BE49-F238E27FC236}">
                  <a16:creationId xmlns:a16="http://schemas.microsoft.com/office/drawing/2014/main" id="{91553E44-79C1-4043-86E2-0681011FA795}"/>
                </a:ext>
              </a:extLst>
            </p:cNvPr>
            <p:cNvSpPr>
              <a:spLocks noChangeArrowheads="1"/>
            </p:cNvSpPr>
            <p:nvPr/>
          </p:nvSpPr>
          <p:spPr bwMode="auto">
            <a:xfrm>
              <a:off x="1828502"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35</a:t>
              </a:r>
            </a:p>
          </p:txBody>
        </p:sp>
        <p:sp>
          <p:nvSpPr>
            <p:cNvPr id="23" name="Line 21">
              <a:extLst>
                <a:ext uri="{FF2B5EF4-FFF2-40B4-BE49-F238E27FC236}">
                  <a16:creationId xmlns:a16="http://schemas.microsoft.com/office/drawing/2014/main" id="{979E5D29-3DE7-4B1E-9941-A96BB7A7AB4D}"/>
                </a:ext>
              </a:extLst>
            </p:cNvPr>
            <p:cNvSpPr>
              <a:spLocks noChangeShapeType="1"/>
            </p:cNvSpPr>
            <p:nvPr/>
          </p:nvSpPr>
          <p:spPr bwMode="auto">
            <a:xfrm>
              <a:off x="1524000" y="2048133"/>
              <a:ext cx="590550" cy="543697"/>
            </a:xfrm>
            <a:prstGeom prst="line">
              <a:avLst/>
            </a:prstGeom>
            <a:noFill/>
            <a:ln w="9525">
              <a:solidFill>
                <a:schemeClr val="tx1"/>
              </a:solidFill>
              <a:prstDash val="solid"/>
              <a:round/>
              <a:headEnd/>
              <a:tailEnd/>
            </a:ln>
          </p:spPr>
          <p:txBody>
            <a:bodyPr/>
            <a:lstStyle/>
            <a:p>
              <a:endParaRPr lang="en-US"/>
            </a:p>
          </p:txBody>
        </p:sp>
        <p:sp>
          <p:nvSpPr>
            <p:cNvPr id="24" name="Oval 23">
              <a:extLst>
                <a:ext uri="{FF2B5EF4-FFF2-40B4-BE49-F238E27FC236}">
                  <a16:creationId xmlns:a16="http://schemas.microsoft.com/office/drawing/2014/main" id="{E311117A-B112-486B-BFD0-444E7886B722}"/>
                </a:ext>
              </a:extLst>
            </p:cNvPr>
            <p:cNvSpPr>
              <a:spLocks noChangeArrowheads="1"/>
            </p:cNvSpPr>
            <p:nvPr/>
          </p:nvSpPr>
          <p:spPr bwMode="auto">
            <a:xfrm>
              <a:off x="3124200"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39</a:t>
              </a:r>
            </a:p>
          </p:txBody>
        </p:sp>
        <p:sp>
          <p:nvSpPr>
            <p:cNvPr id="25" name="Line 21">
              <a:extLst>
                <a:ext uri="{FF2B5EF4-FFF2-40B4-BE49-F238E27FC236}">
                  <a16:creationId xmlns:a16="http://schemas.microsoft.com/office/drawing/2014/main" id="{329B5D91-C0F1-44BF-A98D-432B8A132497}"/>
                </a:ext>
              </a:extLst>
            </p:cNvPr>
            <p:cNvSpPr>
              <a:spLocks noChangeShapeType="1"/>
            </p:cNvSpPr>
            <p:nvPr/>
          </p:nvSpPr>
          <p:spPr bwMode="auto">
            <a:xfrm flipH="1">
              <a:off x="3562350" y="1981201"/>
              <a:ext cx="552450" cy="610630"/>
            </a:xfrm>
            <a:prstGeom prst="line">
              <a:avLst/>
            </a:prstGeom>
            <a:noFill/>
            <a:ln w="9525" cmpd="sng">
              <a:solidFill>
                <a:schemeClr val="tx1"/>
              </a:solidFill>
              <a:prstDash val="solid"/>
              <a:round/>
              <a:headEnd/>
              <a:tailEnd/>
            </a:ln>
          </p:spPr>
          <p:txBody>
            <a:bodyPr/>
            <a:lstStyle/>
            <a:p>
              <a:endParaRPr lang="en-US"/>
            </a:p>
          </p:txBody>
        </p:sp>
        <p:sp>
          <p:nvSpPr>
            <p:cNvPr id="26" name="Oval 19">
              <a:extLst>
                <a:ext uri="{FF2B5EF4-FFF2-40B4-BE49-F238E27FC236}">
                  <a16:creationId xmlns:a16="http://schemas.microsoft.com/office/drawing/2014/main" id="{4BB18628-0C99-46F3-8F9F-7525CD226568}"/>
                </a:ext>
              </a:extLst>
            </p:cNvPr>
            <p:cNvSpPr>
              <a:spLocks noChangeArrowheads="1"/>
            </p:cNvSpPr>
            <p:nvPr/>
          </p:nvSpPr>
          <p:spPr bwMode="auto">
            <a:xfrm>
              <a:off x="4829175" y="258977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16</a:t>
              </a:r>
            </a:p>
          </p:txBody>
        </p:sp>
        <p:sp>
          <p:nvSpPr>
            <p:cNvPr id="27" name="Line 21">
              <a:extLst>
                <a:ext uri="{FF2B5EF4-FFF2-40B4-BE49-F238E27FC236}">
                  <a16:creationId xmlns:a16="http://schemas.microsoft.com/office/drawing/2014/main" id="{09458506-8311-41C4-BBC3-5479D1890818}"/>
                </a:ext>
              </a:extLst>
            </p:cNvPr>
            <p:cNvSpPr>
              <a:spLocks noChangeShapeType="1"/>
            </p:cNvSpPr>
            <p:nvPr/>
          </p:nvSpPr>
          <p:spPr bwMode="auto">
            <a:xfrm>
              <a:off x="4524673" y="2057400"/>
              <a:ext cx="590550" cy="543697"/>
            </a:xfrm>
            <a:prstGeom prst="line">
              <a:avLst/>
            </a:prstGeom>
            <a:noFill/>
            <a:ln w="9525">
              <a:solidFill>
                <a:schemeClr val="tx1"/>
              </a:solidFill>
              <a:prstDash val="solid"/>
              <a:round/>
              <a:headEnd/>
              <a:tailEnd/>
            </a:ln>
          </p:spPr>
          <p:txBody>
            <a:bodyPr/>
            <a:lstStyle/>
            <a:p>
              <a:endParaRPr lang="en-US"/>
            </a:p>
          </p:txBody>
        </p:sp>
      </p:grpSp>
      <p:sp>
        <p:nvSpPr>
          <p:cNvPr id="28" name="Content Placeholder 2">
            <a:extLst>
              <a:ext uri="{FF2B5EF4-FFF2-40B4-BE49-F238E27FC236}">
                <a16:creationId xmlns:a16="http://schemas.microsoft.com/office/drawing/2014/main" id="{45BBD69E-D21F-48A0-A838-6DA1FEA0106C}"/>
              </a:ext>
            </a:extLst>
          </p:cNvPr>
          <p:cNvSpPr txBox="1">
            <a:spLocks/>
          </p:cNvSpPr>
          <p:nvPr/>
        </p:nvSpPr>
        <p:spPr>
          <a:xfrm>
            <a:off x="1064172" y="2177206"/>
            <a:ext cx="10178775" cy="1223222"/>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Suppose we want to insert 60 in the following max heap tree</a:t>
            </a:r>
          </a:p>
        </p:txBody>
      </p:sp>
      <p:sp>
        <p:nvSpPr>
          <p:cNvPr id="29" name="Oval 10">
            <a:extLst>
              <a:ext uri="{FF2B5EF4-FFF2-40B4-BE49-F238E27FC236}">
                <a16:creationId xmlns:a16="http://schemas.microsoft.com/office/drawing/2014/main" id="{346BD1E2-90D5-4B51-BAD7-EA8CD2205E16}"/>
              </a:ext>
            </a:extLst>
          </p:cNvPr>
          <p:cNvSpPr>
            <a:spLocks noChangeArrowheads="1"/>
          </p:cNvSpPr>
          <p:nvPr/>
        </p:nvSpPr>
        <p:spPr bwMode="auto">
          <a:xfrm>
            <a:off x="3306487" y="5589289"/>
            <a:ext cx="6823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10</a:t>
            </a:r>
          </a:p>
        </p:txBody>
      </p:sp>
      <p:sp>
        <p:nvSpPr>
          <p:cNvPr id="30" name="Line 16">
            <a:extLst>
              <a:ext uri="{FF2B5EF4-FFF2-40B4-BE49-F238E27FC236}">
                <a16:creationId xmlns:a16="http://schemas.microsoft.com/office/drawing/2014/main" id="{A975DAA9-7CE9-4D36-8A9E-0E148121226F}"/>
              </a:ext>
            </a:extLst>
          </p:cNvPr>
          <p:cNvSpPr>
            <a:spLocks noChangeShapeType="1"/>
          </p:cNvSpPr>
          <p:nvPr/>
        </p:nvSpPr>
        <p:spPr bwMode="auto">
          <a:xfrm flipH="1">
            <a:off x="3761370" y="5136208"/>
            <a:ext cx="341162" cy="453081"/>
          </a:xfrm>
          <a:prstGeom prst="line">
            <a:avLst/>
          </a:prstGeom>
          <a:noFill/>
          <a:ln w="9525">
            <a:solidFill>
              <a:schemeClr val="tx1"/>
            </a:solidFill>
            <a:round/>
            <a:headEnd/>
            <a:tailEnd/>
          </a:ln>
        </p:spPr>
        <p:txBody>
          <a:bodyPr/>
          <a:lstStyle/>
          <a:p>
            <a:endParaRPr lang="en-US"/>
          </a:p>
        </p:txBody>
      </p:sp>
      <p:sp>
        <p:nvSpPr>
          <p:cNvPr id="32" name="Oval 19">
            <a:extLst>
              <a:ext uri="{FF2B5EF4-FFF2-40B4-BE49-F238E27FC236}">
                <a16:creationId xmlns:a16="http://schemas.microsoft.com/office/drawing/2014/main" id="{08CC24BF-0C3C-4A27-AECA-47E775A8A8A5}"/>
              </a:ext>
            </a:extLst>
          </p:cNvPr>
          <p:cNvSpPr>
            <a:spLocks noChangeArrowheads="1"/>
          </p:cNvSpPr>
          <p:nvPr/>
        </p:nvSpPr>
        <p:spPr bwMode="auto">
          <a:xfrm>
            <a:off x="4656233" y="5671668"/>
            <a:ext cx="6823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9</a:t>
            </a:r>
          </a:p>
        </p:txBody>
      </p:sp>
      <p:sp>
        <p:nvSpPr>
          <p:cNvPr id="36" name="Line 21">
            <a:extLst>
              <a:ext uri="{FF2B5EF4-FFF2-40B4-BE49-F238E27FC236}">
                <a16:creationId xmlns:a16="http://schemas.microsoft.com/office/drawing/2014/main" id="{A7B717D4-CF9A-4000-A81A-869C3A07626A}"/>
              </a:ext>
            </a:extLst>
          </p:cNvPr>
          <p:cNvSpPr>
            <a:spLocks noChangeShapeType="1"/>
          </p:cNvSpPr>
          <p:nvPr/>
        </p:nvSpPr>
        <p:spPr bwMode="auto">
          <a:xfrm>
            <a:off x="4421684" y="5139298"/>
            <a:ext cx="454883" cy="543697"/>
          </a:xfrm>
          <a:prstGeom prst="line">
            <a:avLst/>
          </a:prstGeom>
          <a:noFill/>
          <a:ln w="9525">
            <a:solidFill>
              <a:schemeClr val="tx1"/>
            </a:solidFill>
            <a:prstDash val="solid"/>
            <a:round/>
            <a:headEnd/>
            <a:tailEnd/>
          </a:ln>
        </p:spPr>
        <p:txBody>
          <a:bodyPr/>
          <a:lstStyle/>
          <a:p>
            <a:endParaRPr lang="en-US"/>
          </a:p>
        </p:txBody>
      </p:sp>
    </p:spTree>
    <p:extLst>
      <p:ext uri="{BB962C8B-B14F-4D97-AF65-F5344CB8AC3E}">
        <p14:creationId xmlns:p14="http://schemas.microsoft.com/office/powerpoint/2010/main" val="13433523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Insertion in Heap</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22</a:t>
            </a:fld>
            <a:endParaRPr sz="900">
              <a:solidFill>
                <a:prstClr val="black"/>
              </a:solidFill>
              <a:latin typeface="Malgun Gothic"/>
              <a:cs typeface="Malgun Gothic"/>
            </a:endParaRPr>
          </a:p>
        </p:txBody>
      </p:sp>
      <p:sp>
        <p:nvSpPr>
          <p:cNvPr id="14" name="Content Placeholder 2">
            <a:extLst>
              <a:ext uri="{FF2B5EF4-FFF2-40B4-BE49-F238E27FC236}">
                <a16:creationId xmlns:a16="http://schemas.microsoft.com/office/drawing/2014/main" id="{37F996B0-A723-48DF-8356-FEF1BF457471}"/>
              </a:ext>
            </a:extLst>
          </p:cNvPr>
          <p:cNvSpPr txBox="1">
            <a:spLocks/>
          </p:cNvSpPr>
          <p:nvPr/>
        </p:nvSpPr>
        <p:spPr>
          <a:xfrm>
            <a:off x="1080675" y="2146637"/>
            <a:ext cx="10178775" cy="5181600"/>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grpSp>
        <p:nvGrpSpPr>
          <p:cNvPr id="12" name="Group 11">
            <a:extLst>
              <a:ext uri="{FF2B5EF4-FFF2-40B4-BE49-F238E27FC236}">
                <a16:creationId xmlns:a16="http://schemas.microsoft.com/office/drawing/2014/main" id="{2D00B095-6A7A-4587-9C6C-284B9F2F027A}"/>
              </a:ext>
            </a:extLst>
          </p:cNvPr>
          <p:cNvGrpSpPr/>
          <p:nvPr/>
        </p:nvGrpSpPr>
        <p:grpSpPr>
          <a:xfrm>
            <a:off x="4703786" y="2250412"/>
            <a:ext cx="4343400" cy="2447667"/>
            <a:chOff x="76200" y="685800"/>
            <a:chExt cx="5638800" cy="2447667"/>
          </a:xfrm>
        </p:grpSpPr>
        <p:sp>
          <p:nvSpPr>
            <p:cNvPr id="13" name="Oval 5">
              <a:extLst>
                <a:ext uri="{FF2B5EF4-FFF2-40B4-BE49-F238E27FC236}">
                  <a16:creationId xmlns:a16="http://schemas.microsoft.com/office/drawing/2014/main" id="{0A64856C-CA67-4C45-8047-93CF1B55767F}"/>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70</a:t>
              </a:r>
            </a:p>
          </p:txBody>
        </p:sp>
        <p:sp>
          <p:nvSpPr>
            <p:cNvPr id="15" name="Oval 6">
              <a:extLst>
                <a:ext uri="{FF2B5EF4-FFF2-40B4-BE49-F238E27FC236}">
                  <a16:creationId xmlns:a16="http://schemas.microsoft.com/office/drawing/2014/main" id="{4676C913-51E8-4F87-9776-6C05C72CF5F0}"/>
                </a:ext>
              </a:extLst>
            </p:cNvPr>
            <p:cNvSpPr>
              <a:spLocks noChangeArrowheads="1"/>
            </p:cNvSpPr>
            <p:nvPr/>
          </p:nvSpPr>
          <p:spPr bwMode="auto">
            <a:xfrm>
              <a:off x="962025"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16" name="Oval 7">
              <a:extLst>
                <a:ext uri="{FF2B5EF4-FFF2-40B4-BE49-F238E27FC236}">
                  <a16:creationId xmlns:a16="http://schemas.microsoft.com/office/drawing/2014/main" id="{8AC82DFC-37EF-48EE-A722-94162869829F}"/>
                </a:ext>
              </a:extLst>
            </p:cNvPr>
            <p:cNvSpPr>
              <a:spLocks noChangeArrowheads="1"/>
            </p:cNvSpPr>
            <p:nvPr/>
          </p:nvSpPr>
          <p:spPr bwMode="auto">
            <a:xfrm>
              <a:off x="3914774"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40</a:t>
              </a:r>
            </a:p>
          </p:txBody>
        </p:sp>
        <p:sp>
          <p:nvSpPr>
            <p:cNvPr id="17" name="Oval 10">
              <a:extLst>
                <a:ext uri="{FF2B5EF4-FFF2-40B4-BE49-F238E27FC236}">
                  <a16:creationId xmlns:a16="http://schemas.microsoft.com/office/drawing/2014/main" id="{BD0C824C-D0F3-4917-9030-AA7134CE1CB1}"/>
                </a:ext>
              </a:extLst>
            </p:cNvPr>
            <p:cNvSpPr>
              <a:spLocks noChangeArrowheads="1"/>
            </p:cNvSpPr>
            <p:nvPr/>
          </p:nvSpPr>
          <p:spPr bwMode="auto">
            <a:xfrm>
              <a:off x="76200" y="249812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45</a:t>
              </a:r>
            </a:p>
          </p:txBody>
        </p:sp>
        <p:sp>
          <p:nvSpPr>
            <p:cNvPr id="19" name="Line 12">
              <a:extLst>
                <a:ext uri="{FF2B5EF4-FFF2-40B4-BE49-F238E27FC236}">
                  <a16:creationId xmlns:a16="http://schemas.microsoft.com/office/drawing/2014/main" id="{EDD006DB-828C-480A-9B70-23567BFEBA01}"/>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sp>
          <p:nvSpPr>
            <p:cNvPr id="20" name="Line 13">
              <a:extLst>
                <a:ext uri="{FF2B5EF4-FFF2-40B4-BE49-F238E27FC236}">
                  <a16:creationId xmlns:a16="http://schemas.microsoft.com/office/drawing/2014/main" id="{442F358F-5CF0-4596-B33D-678D2A15FF02}"/>
                </a:ext>
              </a:extLst>
            </p:cNvPr>
            <p:cNvSpPr>
              <a:spLocks noChangeShapeType="1"/>
            </p:cNvSpPr>
            <p:nvPr/>
          </p:nvSpPr>
          <p:spPr bwMode="auto">
            <a:xfrm>
              <a:off x="3176587" y="1138881"/>
              <a:ext cx="885825" cy="362465"/>
            </a:xfrm>
            <a:prstGeom prst="line">
              <a:avLst/>
            </a:prstGeom>
            <a:noFill/>
            <a:ln w="9525">
              <a:solidFill>
                <a:schemeClr val="tx1"/>
              </a:solidFill>
              <a:round/>
              <a:headEnd/>
              <a:tailEnd/>
            </a:ln>
          </p:spPr>
          <p:txBody>
            <a:bodyPr/>
            <a:lstStyle/>
            <a:p>
              <a:endParaRPr lang="en-US"/>
            </a:p>
          </p:txBody>
        </p:sp>
        <p:sp>
          <p:nvSpPr>
            <p:cNvPr id="21" name="Line 16">
              <a:extLst>
                <a:ext uri="{FF2B5EF4-FFF2-40B4-BE49-F238E27FC236}">
                  <a16:creationId xmlns:a16="http://schemas.microsoft.com/office/drawing/2014/main" id="{1F4CDC61-E9E2-4E68-8E0D-2CB245CC098A}"/>
                </a:ext>
              </a:extLst>
            </p:cNvPr>
            <p:cNvSpPr>
              <a:spLocks noChangeShapeType="1"/>
            </p:cNvSpPr>
            <p:nvPr/>
          </p:nvSpPr>
          <p:spPr bwMode="auto">
            <a:xfrm flipH="1">
              <a:off x="666750" y="2045043"/>
              <a:ext cx="442912" cy="453081"/>
            </a:xfrm>
            <a:prstGeom prst="line">
              <a:avLst/>
            </a:prstGeom>
            <a:noFill/>
            <a:ln w="9525">
              <a:solidFill>
                <a:schemeClr val="tx1"/>
              </a:solidFill>
              <a:round/>
              <a:headEnd/>
              <a:tailEnd/>
            </a:ln>
          </p:spPr>
          <p:txBody>
            <a:bodyPr/>
            <a:lstStyle/>
            <a:p>
              <a:endParaRPr lang="en-US"/>
            </a:p>
          </p:txBody>
        </p:sp>
        <p:sp>
          <p:nvSpPr>
            <p:cNvPr id="22" name="Oval 19">
              <a:extLst>
                <a:ext uri="{FF2B5EF4-FFF2-40B4-BE49-F238E27FC236}">
                  <a16:creationId xmlns:a16="http://schemas.microsoft.com/office/drawing/2014/main" id="{91553E44-79C1-4043-86E2-0681011FA795}"/>
                </a:ext>
              </a:extLst>
            </p:cNvPr>
            <p:cNvSpPr>
              <a:spLocks noChangeArrowheads="1"/>
            </p:cNvSpPr>
            <p:nvPr/>
          </p:nvSpPr>
          <p:spPr bwMode="auto">
            <a:xfrm>
              <a:off x="1828502"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35</a:t>
              </a:r>
            </a:p>
          </p:txBody>
        </p:sp>
        <p:sp>
          <p:nvSpPr>
            <p:cNvPr id="23" name="Line 21">
              <a:extLst>
                <a:ext uri="{FF2B5EF4-FFF2-40B4-BE49-F238E27FC236}">
                  <a16:creationId xmlns:a16="http://schemas.microsoft.com/office/drawing/2014/main" id="{979E5D29-3DE7-4B1E-9941-A96BB7A7AB4D}"/>
                </a:ext>
              </a:extLst>
            </p:cNvPr>
            <p:cNvSpPr>
              <a:spLocks noChangeShapeType="1"/>
            </p:cNvSpPr>
            <p:nvPr/>
          </p:nvSpPr>
          <p:spPr bwMode="auto">
            <a:xfrm>
              <a:off x="1524000" y="2048133"/>
              <a:ext cx="590550" cy="543697"/>
            </a:xfrm>
            <a:prstGeom prst="line">
              <a:avLst/>
            </a:prstGeom>
            <a:noFill/>
            <a:ln w="9525">
              <a:solidFill>
                <a:schemeClr val="tx1"/>
              </a:solidFill>
              <a:prstDash val="solid"/>
              <a:round/>
              <a:headEnd/>
              <a:tailEnd/>
            </a:ln>
          </p:spPr>
          <p:txBody>
            <a:bodyPr/>
            <a:lstStyle/>
            <a:p>
              <a:endParaRPr lang="en-US"/>
            </a:p>
          </p:txBody>
        </p:sp>
        <p:sp>
          <p:nvSpPr>
            <p:cNvPr id="24" name="Oval 23">
              <a:extLst>
                <a:ext uri="{FF2B5EF4-FFF2-40B4-BE49-F238E27FC236}">
                  <a16:creationId xmlns:a16="http://schemas.microsoft.com/office/drawing/2014/main" id="{E311117A-B112-486B-BFD0-444E7886B722}"/>
                </a:ext>
              </a:extLst>
            </p:cNvPr>
            <p:cNvSpPr>
              <a:spLocks noChangeArrowheads="1"/>
            </p:cNvSpPr>
            <p:nvPr/>
          </p:nvSpPr>
          <p:spPr bwMode="auto">
            <a:xfrm>
              <a:off x="3124200"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39</a:t>
              </a:r>
            </a:p>
          </p:txBody>
        </p:sp>
        <p:sp>
          <p:nvSpPr>
            <p:cNvPr id="25" name="Line 21">
              <a:extLst>
                <a:ext uri="{FF2B5EF4-FFF2-40B4-BE49-F238E27FC236}">
                  <a16:creationId xmlns:a16="http://schemas.microsoft.com/office/drawing/2014/main" id="{329B5D91-C0F1-44BF-A98D-432B8A132497}"/>
                </a:ext>
              </a:extLst>
            </p:cNvPr>
            <p:cNvSpPr>
              <a:spLocks noChangeShapeType="1"/>
            </p:cNvSpPr>
            <p:nvPr/>
          </p:nvSpPr>
          <p:spPr bwMode="auto">
            <a:xfrm flipH="1">
              <a:off x="3562350" y="1981201"/>
              <a:ext cx="552450" cy="610630"/>
            </a:xfrm>
            <a:prstGeom prst="line">
              <a:avLst/>
            </a:prstGeom>
            <a:noFill/>
            <a:ln w="9525" cmpd="sng">
              <a:solidFill>
                <a:schemeClr val="tx1"/>
              </a:solidFill>
              <a:prstDash val="solid"/>
              <a:round/>
              <a:headEnd/>
              <a:tailEnd/>
            </a:ln>
          </p:spPr>
          <p:txBody>
            <a:bodyPr/>
            <a:lstStyle/>
            <a:p>
              <a:endParaRPr lang="en-US"/>
            </a:p>
          </p:txBody>
        </p:sp>
        <p:sp>
          <p:nvSpPr>
            <p:cNvPr id="26" name="Oval 19">
              <a:extLst>
                <a:ext uri="{FF2B5EF4-FFF2-40B4-BE49-F238E27FC236}">
                  <a16:creationId xmlns:a16="http://schemas.microsoft.com/office/drawing/2014/main" id="{4BB18628-0C99-46F3-8F9F-7525CD226568}"/>
                </a:ext>
              </a:extLst>
            </p:cNvPr>
            <p:cNvSpPr>
              <a:spLocks noChangeArrowheads="1"/>
            </p:cNvSpPr>
            <p:nvPr/>
          </p:nvSpPr>
          <p:spPr bwMode="auto">
            <a:xfrm>
              <a:off x="4829175" y="258977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16</a:t>
              </a:r>
            </a:p>
          </p:txBody>
        </p:sp>
        <p:sp>
          <p:nvSpPr>
            <p:cNvPr id="27" name="Line 21">
              <a:extLst>
                <a:ext uri="{FF2B5EF4-FFF2-40B4-BE49-F238E27FC236}">
                  <a16:creationId xmlns:a16="http://schemas.microsoft.com/office/drawing/2014/main" id="{09458506-8311-41C4-BBC3-5479D1890818}"/>
                </a:ext>
              </a:extLst>
            </p:cNvPr>
            <p:cNvSpPr>
              <a:spLocks noChangeShapeType="1"/>
            </p:cNvSpPr>
            <p:nvPr/>
          </p:nvSpPr>
          <p:spPr bwMode="auto">
            <a:xfrm>
              <a:off x="4524673" y="2057400"/>
              <a:ext cx="590550" cy="543697"/>
            </a:xfrm>
            <a:prstGeom prst="line">
              <a:avLst/>
            </a:prstGeom>
            <a:noFill/>
            <a:ln w="9525">
              <a:solidFill>
                <a:schemeClr val="tx1"/>
              </a:solidFill>
              <a:prstDash val="solid"/>
              <a:round/>
              <a:headEnd/>
              <a:tailEnd/>
            </a:ln>
          </p:spPr>
          <p:txBody>
            <a:bodyPr/>
            <a:lstStyle/>
            <a:p>
              <a:endParaRPr lang="en-US"/>
            </a:p>
          </p:txBody>
        </p:sp>
      </p:grpSp>
      <p:sp>
        <p:nvSpPr>
          <p:cNvPr id="28" name="Content Placeholder 2">
            <a:extLst>
              <a:ext uri="{FF2B5EF4-FFF2-40B4-BE49-F238E27FC236}">
                <a16:creationId xmlns:a16="http://schemas.microsoft.com/office/drawing/2014/main" id="{45BBD69E-D21F-48A0-A838-6DA1FEA0106C}"/>
              </a:ext>
            </a:extLst>
          </p:cNvPr>
          <p:cNvSpPr txBox="1">
            <a:spLocks/>
          </p:cNvSpPr>
          <p:nvPr/>
        </p:nvSpPr>
        <p:spPr>
          <a:xfrm>
            <a:off x="1064172" y="2177206"/>
            <a:ext cx="10178775" cy="4680794"/>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Fill the left most position first.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This tree satisfy the complete binary tree property but not heap property.</a:t>
            </a:r>
          </a:p>
        </p:txBody>
      </p:sp>
      <p:sp>
        <p:nvSpPr>
          <p:cNvPr id="29" name="Oval 10">
            <a:extLst>
              <a:ext uri="{FF2B5EF4-FFF2-40B4-BE49-F238E27FC236}">
                <a16:creationId xmlns:a16="http://schemas.microsoft.com/office/drawing/2014/main" id="{346BD1E2-90D5-4B51-BAD7-EA8CD2205E16}"/>
              </a:ext>
            </a:extLst>
          </p:cNvPr>
          <p:cNvSpPr>
            <a:spLocks noChangeArrowheads="1"/>
          </p:cNvSpPr>
          <p:nvPr/>
        </p:nvSpPr>
        <p:spPr bwMode="auto">
          <a:xfrm>
            <a:off x="4091118" y="5026796"/>
            <a:ext cx="6823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10</a:t>
            </a:r>
          </a:p>
        </p:txBody>
      </p:sp>
      <p:sp>
        <p:nvSpPr>
          <p:cNvPr id="30" name="Line 16">
            <a:extLst>
              <a:ext uri="{FF2B5EF4-FFF2-40B4-BE49-F238E27FC236}">
                <a16:creationId xmlns:a16="http://schemas.microsoft.com/office/drawing/2014/main" id="{A975DAA9-7CE9-4D36-8A9E-0E148121226F}"/>
              </a:ext>
            </a:extLst>
          </p:cNvPr>
          <p:cNvSpPr>
            <a:spLocks noChangeShapeType="1"/>
          </p:cNvSpPr>
          <p:nvPr/>
        </p:nvSpPr>
        <p:spPr bwMode="auto">
          <a:xfrm flipH="1">
            <a:off x="4546001" y="4573715"/>
            <a:ext cx="341162" cy="453081"/>
          </a:xfrm>
          <a:prstGeom prst="line">
            <a:avLst/>
          </a:prstGeom>
          <a:noFill/>
          <a:ln w="9525">
            <a:solidFill>
              <a:schemeClr val="tx1"/>
            </a:solidFill>
            <a:round/>
            <a:headEnd/>
            <a:tailEnd/>
          </a:ln>
        </p:spPr>
        <p:txBody>
          <a:bodyPr/>
          <a:lstStyle/>
          <a:p>
            <a:endParaRPr lang="en-US"/>
          </a:p>
        </p:txBody>
      </p:sp>
      <p:sp>
        <p:nvSpPr>
          <p:cNvPr id="32" name="Oval 19">
            <a:extLst>
              <a:ext uri="{FF2B5EF4-FFF2-40B4-BE49-F238E27FC236}">
                <a16:creationId xmlns:a16="http://schemas.microsoft.com/office/drawing/2014/main" id="{08CC24BF-0C3C-4A27-AECA-47E775A8A8A5}"/>
              </a:ext>
            </a:extLst>
          </p:cNvPr>
          <p:cNvSpPr>
            <a:spLocks noChangeArrowheads="1"/>
          </p:cNvSpPr>
          <p:nvPr/>
        </p:nvSpPr>
        <p:spPr bwMode="auto">
          <a:xfrm>
            <a:off x="5083612" y="5098558"/>
            <a:ext cx="6823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9</a:t>
            </a:r>
          </a:p>
        </p:txBody>
      </p:sp>
      <p:sp>
        <p:nvSpPr>
          <p:cNvPr id="36" name="Line 21">
            <a:extLst>
              <a:ext uri="{FF2B5EF4-FFF2-40B4-BE49-F238E27FC236}">
                <a16:creationId xmlns:a16="http://schemas.microsoft.com/office/drawing/2014/main" id="{A7B717D4-CF9A-4000-A81A-869C3A07626A}"/>
              </a:ext>
            </a:extLst>
          </p:cNvPr>
          <p:cNvSpPr>
            <a:spLocks noChangeShapeType="1"/>
          </p:cNvSpPr>
          <p:nvPr/>
        </p:nvSpPr>
        <p:spPr bwMode="auto">
          <a:xfrm>
            <a:off x="5206316" y="4576806"/>
            <a:ext cx="179796" cy="532370"/>
          </a:xfrm>
          <a:prstGeom prst="line">
            <a:avLst/>
          </a:prstGeom>
          <a:noFill/>
          <a:ln w="9525">
            <a:solidFill>
              <a:schemeClr val="tx1"/>
            </a:solidFill>
            <a:prstDash val="solid"/>
            <a:round/>
            <a:headEnd/>
            <a:tailEnd/>
          </a:ln>
        </p:spPr>
        <p:txBody>
          <a:bodyPr/>
          <a:lstStyle/>
          <a:p>
            <a:endParaRPr lang="en-US"/>
          </a:p>
        </p:txBody>
      </p:sp>
      <p:sp>
        <p:nvSpPr>
          <p:cNvPr id="38" name="Oval 37">
            <a:extLst>
              <a:ext uri="{FF2B5EF4-FFF2-40B4-BE49-F238E27FC236}">
                <a16:creationId xmlns:a16="http://schemas.microsoft.com/office/drawing/2014/main" id="{97134391-91D4-4386-A5BB-4210383D6CC3}"/>
              </a:ext>
            </a:extLst>
          </p:cNvPr>
          <p:cNvSpPr>
            <a:spLocks noChangeArrowheads="1"/>
          </p:cNvSpPr>
          <p:nvPr/>
        </p:nvSpPr>
        <p:spPr bwMode="auto">
          <a:xfrm>
            <a:off x="5815709" y="5095662"/>
            <a:ext cx="679176" cy="492367"/>
          </a:xfrm>
          <a:prstGeom prst="ellipse">
            <a:avLst/>
          </a:prstGeom>
          <a:solidFill>
            <a:srgbClr val="FFFF00"/>
          </a:solidFill>
          <a:ln w="9525">
            <a:solidFill>
              <a:schemeClr val="tx1"/>
            </a:solidFill>
            <a:round/>
            <a:headEnd/>
            <a:tailEnd/>
          </a:ln>
        </p:spPr>
        <p:txBody>
          <a:bodyPr wrap="none" anchor="ctr"/>
          <a:lstStyle/>
          <a:p>
            <a:pPr algn="ctr"/>
            <a:r>
              <a:rPr lang="en-US" dirty="0">
                <a:latin typeface="Times New Roman" pitchFamily="18" charset="0"/>
              </a:rPr>
              <a:t>60</a:t>
            </a:r>
          </a:p>
        </p:txBody>
      </p:sp>
      <p:sp>
        <p:nvSpPr>
          <p:cNvPr id="40" name="Line 21">
            <a:extLst>
              <a:ext uri="{FF2B5EF4-FFF2-40B4-BE49-F238E27FC236}">
                <a16:creationId xmlns:a16="http://schemas.microsoft.com/office/drawing/2014/main" id="{93DF5B7B-5EC5-41C1-9E95-F74037910131}"/>
              </a:ext>
            </a:extLst>
          </p:cNvPr>
          <p:cNvSpPr>
            <a:spLocks noChangeShapeType="1"/>
          </p:cNvSpPr>
          <p:nvPr/>
        </p:nvSpPr>
        <p:spPr bwMode="auto">
          <a:xfrm flipH="1">
            <a:off x="6085090" y="4762241"/>
            <a:ext cx="188776" cy="346936"/>
          </a:xfrm>
          <a:prstGeom prst="line">
            <a:avLst/>
          </a:prstGeom>
          <a:noFill/>
          <a:ln w="9525">
            <a:solidFill>
              <a:schemeClr val="tx1"/>
            </a:solidFill>
            <a:prstDash val="dash"/>
            <a:round/>
            <a:headEnd/>
            <a:tailEnd/>
          </a:ln>
        </p:spPr>
        <p:txBody>
          <a:bodyPr/>
          <a:lstStyle/>
          <a:p>
            <a:endParaRPr lang="en-US"/>
          </a:p>
        </p:txBody>
      </p:sp>
    </p:spTree>
    <p:extLst>
      <p:ext uri="{BB962C8B-B14F-4D97-AF65-F5344CB8AC3E}">
        <p14:creationId xmlns:p14="http://schemas.microsoft.com/office/powerpoint/2010/main" val="3272813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Insertion in Heap</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23</a:t>
            </a:fld>
            <a:endParaRPr sz="900">
              <a:solidFill>
                <a:prstClr val="black"/>
              </a:solidFill>
              <a:latin typeface="Malgun Gothic"/>
              <a:cs typeface="Malgun Gothic"/>
            </a:endParaRPr>
          </a:p>
        </p:txBody>
      </p:sp>
      <p:sp>
        <p:nvSpPr>
          <p:cNvPr id="14" name="Content Placeholder 2">
            <a:extLst>
              <a:ext uri="{FF2B5EF4-FFF2-40B4-BE49-F238E27FC236}">
                <a16:creationId xmlns:a16="http://schemas.microsoft.com/office/drawing/2014/main" id="{37F996B0-A723-48DF-8356-FEF1BF457471}"/>
              </a:ext>
            </a:extLst>
          </p:cNvPr>
          <p:cNvSpPr txBox="1">
            <a:spLocks/>
          </p:cNvSpPr>
          <p:nvPr/>
        </p:nvSpPr>
        <p:spPr>
          <a:xfrm>
            <a:off x="1080675" y="2146637"/>
            <a:ext cx="10178775" cy="5181600"/>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grpSp>
        <p:nvGrpSpPr>
          <p:cNvPr id="12" name="Group 11">
            <a:extLst>
              <a:ext uri="{FF2B5EF4-FFF2-40B4-BE49-F238E27FC236}">
                <a16:creationId xmlns:a16="http://schemas.microsoft.com/office/drawing/2014/main" id="{2D00B095-6A7A-4587-9C6C-284B9F2F027A}"/>
              </a:ext>
            </a:extLst>
          </p:cNvPr>
          <p:cNvGrpSpPr/>
          <p:nvPr/>
        </p:nvGrpSpPr>
        <p:grpSpPr>
          <a:xfrm>
            <a:off x="4164900" y="2714322"/>
            <a:ext cx="4343400" cy="2447667"/>
            <a:chOff x="76200" y="685800"/>
            <a:chExt cx="5638800" cy="2447667"/>
          </a:xfrm>
        </p:grpSpPr>
        <p:sp>
          <p:nvSpPr>
            <p:cNvPr id="13" name="Oval 5">
              <a:extLst>
                <a:ext uri="{FF2B5EF4-FFF2-40B4-BE49-F238E27FC236}">
                  <a16:creationId xmlns:a16="http://schemas.microsoft.com/office/drawing/2014/main" id="{0A64856C-CA67-4C45-8047-93CF1B55767F}"/>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70</a:t>
              </a:r>
            </a:p>
          </p:txBody>
        </p:sp>
        <p:sp>
          <p:nvSpPr>
            <p:cNvPr id="15" name="Oval 6">
              <a:extLst>
                <a:ext uri="{FF2B5EF4-FFF2-40B4-BE49-F238E27FC236}">
                  <a16:creationId xmlns:a16="http://schemas.microsoft.com/office/drawing/2014/main" id="{4676C913-51E8-4F87-9776-6C05C72CF5F0}"/>
                </a:ext>
              </a:extLst>
            </p:cNvPr>
            <p:cNvSpPr>
              <a:spLocks noChangeArrowheads="1"/>
            </p:cNvSpPr>
            <p:nvPr/>
          </p:nvSpPr>
          <p:spPr bwMode="auto">
            <a:xfrm>
              <a:off x="962025"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16" name="Oval 7">
              <a:extLst>
                <a:ext uri="{FF2B5EF4-FFF2-40B4-BE49-F238E27FC236}">
                  <a16:creationId xmlns:a16="http://schemas.microsoft.com/office/drawing/2014/main" id="{8AC82DFC-37EF-48EE-A722-94162869829F}"/>
                </a:ext>
              </a:extLst>
            </p:cNvPr>
            <p:cNvSpPr>
              <a:spLocks noChangeArrowheads="1"/>
            </p:cNvSpPr>
            <p:nvPr/>
          </p:nvSpPr>
          <p:spPr bwMode="auto">
            <a:xfrm>
              <a:off x="3914774"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40</a:t>
              </a:r>
            </a:p>
          </p:txBody>
        </p:sp>
        <p:sp>
          <p:nvSpPr>
            <p:cNvPr id="17" name="Oval 10">
              <a:extLst>
                <a:ext uri="{FF2B5EF4-FFF2-40B4-BE49-F238E27FC236}">
                  <a16:creationId xmlns:a16="http://schemas.microsoft.com/office/drawing/2014/main" id="{BD0C824C-D0F3-4917-9030-AA7134CE1CB1}"/>
                </a:ext>
              </a:extLst>
            </p:cNvPr>
            <p:cNvSpPr>
              <a:spLocks noChangeArrowheads="1"/>
            </p:cNvSpPr>
            <p:nvPr/>
          </p:nvSpPr>
          <p:spPr bwMode="auto">
            <a:xfrm>
              <a:off x="76200" y="249812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45</a:t>
              </a:r>
            </a:p>
          </p:txBody>
        </p:sp>
        <p:sp>
          <p:nvSpPr>
            <p:cNvPr id="19" name="Line 12">
              <a:extLst>
                <a:ext uri="{FF2B5EF4-FFF2-40B4-BE49-F238E27FC236}">
                  <a16:creationId xmlns:a16="http://schemas.microsoft.com/office/drawing/2014/main" id="{EDD006DB-828C-480A-9B70-23567BFEBA01}"/>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sp>
          <p:nvSpPr>
            <p:cNvPr id="20" name="Line 13">
              <a:extLst>
                <a:ext uri="{FF2B5EF4-FFF2-40B4-BE49-F238E27FC236}">
                  <a16:creationId xmlns:a16="http://schemas.microsoft.com/office/drawing/2014/main" id="{442F358F-5CF0-4596-B33D-678D2A15FF02}"/>
                </a:ext>
              </a:extLst>
            </p:cNvPr>
            <p:cNvSpPr>
              <a:spLocks noChangeShapeType="1"/>
            </p:cNvSpPr>
            <p:nvPr/>
          </p:nvSpPr>
          <p:spPr bwMode="auto">
            <a:xfrm>
              <a:off x="3176587" y="1138881"/>
              <a:ext cx="885825" cy="362465"/>
            </a:xfrm>
            <a:prstGeom prst="line">
              <a:avLst/>
            </a:prstGeom>
            <a:noFill/>
            <a:ln w="9525">
              <a:solidFill>
                <a:schemeClr val="tx1"/>
              </a:solidFill>
              <a:round/>
              <a:headEnd/>
              <a:tailEnd/>
            </a:ln>
          </p:spPr>
          <p:txBody>
            <a:bodyPr/>
            <a:lstStyle/>
            <a:p>
              <a:endParaRPr lang="en-US"/>
            </a:p>
          </p:txBody>
        </p:sp>
        <p:sp>
          <p:nvSpPr>
            <p:cNvPr id="21" name="Line 16">
              <a:extLst>
                <a:ext uri="{FF2B5EF4-FFF2-40B4-BE49-F238E27FC236}">
                  <a16:creationId xmlns:a16="http://schemas.microsoft.com/office/drawing/2014/main" id="{1F4CDC61-E9E2-4E68-8E0D-2CB245CC098A}"/>
                </a:ext>
              </a:extLst>
            </p:cNvPr>
            <p:cNvSpPr>
              <a:spLocks noChangeShapeType="1"/>
            </p:cNvSpPr>
            <p:nvPr/>
          </p:nvSpPr>
          <p:spPr bwMode="auto">
            <a:xfrm flipH="1">
              <a:off x="666750" y="2045043"/>
              <a:ext cx="442912" cy="453081"/>
            </a:xfrm>
            <a:prstGeom prst="line">
              <a:avLst/>
            </a:prstGeom>
            <a:noFill/>
            <a:ln w="9525">
              <a:solidFill>
                <a:schemeClr val="tx1"/>
              </a:solidFill>
              <a:round/>
              <a:headEnd/>
              <a:tailEnd/>
            </a:ln>
          </p:spPr>
          <p:txBody>
            <a:bodyPr/>
            <a:lstStyle/>
            <a:p>
              <a:endParaRPr lang="en-US"/>
            </a:p>
          </p:txBody>
        </p:sp>
        <p:sp>
          <p:nvSpPr>
            <p:cNvPr id="22" name="Oval 19">
              <a:extLst>
                <a:ext uri="{FF2B5EF4-FFF2-40B4-BE49-F238E27FC236}">
                  <a16:creationId xmlns:a16="http://schemas.microsoft.com/office/drawing/2014/main" id="{91553E44-79C1-4043-86E2-0681011FA795}"/>
                </a:ext>
              </a:extLst>
            </p:cNvPr>
            <p:cNvSpPr>
              <a:spLocks noChangeArrowheads="1"/>
            </p:cNvSpPr>
            <p:nvPr/>
          </p:nvSpPr>
          <p:spPr bwMode="auto">
            <a:xfrm>
              <a:off x="1828502" y="2580503"/>
              <a:ext cx="885825" cy="543697"/>
            </a:xfrm>
            <a:prstGeom prst="ellipse">
              <a:avLst/>
            </a:prstGeom>
            <a:solidFill>
              <a:srgbClr val="FFC000"/>
            </a:solidFill>
            <a:ln w="9525">
              <a:solidFill>
                <a:schemeClr val="tx1"/>
              </a:solidFill>
              <a:round/>
              <a:headEnd/>
              <a:tailEnd/>
            </a:ln>
          </p:spPr>
          <p:txBody>
            <a:bodyPr wrap="none" anchor="ctr"/>
            <a:lstStyle/>
            <a:p>
              <a:pPr algn="ctr"/>
              <a:r>
                <a:rPr lang="en-US" dirty="0">
                  <a:latin typeface="Times New Roman" pitchFamily="18" charset="0"/>
                </a:rPr>
                <a:t>60</a:t>
              </a:r>
            </a:p>
          </p:txBody>
        </p:sp>
        <p:sp>
          <p:nvSpPr>
            <p:cNvPr id="23" name="Line 21">
              <a:extLst>
                <a:ext uri="{FF2B5EF4-FFF2-40B4-BE49-F238E27FC236}">
                  <a16:creationId xmlns:a16="http://schemas.microsoft.com/office/drawing/2014/main" id="{979E5D29-3DE7-4B1E-9941-A96BB7A7AB4D}"/>
                </a:ext>
              </a:extLst>
            </p:cNvPr>
            <p:cNvSpPr>
              <a:spLocks noChangeShapeType="1"/>
            </p:cNvSpPr>
            <p:nvPr/>
          </p:nvSpPr>
          <p:spPr bwMode="auto">
            <a:xfrm>
              <a:off x="1524000" y="2048133"/>
              <a:ext cx="590550" cy="543697"/>
            </a:xfrm>
            <a:prstGeom prst="line">
              <a:avLst/>
            </a:prstGeom>
            <a:noFill/>
            <a:ln w="9525">
              <a:solidFill>
                <a:schemeClr val="tx1"/>
              </a:solidFill>
              <a:prstDash val="solid"/>
              <a:round/>
              <a:headEnd/>
              <a:tailEnd/>
            </a:ln>
          </p:spPr>
          <p:txBody>
            <a:bodyPr/>
            <a:lstStyle/>
            <a:p>
              <a:endParaRPr lang="en-US"/>
            </a:p>
          </p:txBody>
        </p:sp>
        <p:sp>
          <p:nvSpPr>
            <p:cNvPr id="24" name="Oval 23">
              <a:extLst>
                <a:ext uri="{FF2B5EF4-FFF2-40B4-BE49-F238E27FC236}">
                  <a16:creationId xmlns:a16="http://schemas.microsoft.com/office/drawing/2014/main" id="{E311117A-B112-486B-BFD0-444E7886B722}"/>
                </a:ext>
              </a:extLst>
            </p:cNvPr>
            <p:cNvSpPr>
              <a:spLocks noChangeArrowheads="1"/>
            </p:cNvSpPr>
            <p:nvPr/>
          </p:nvSpPr>
          <p:spPr bwMode="auto">
            <a:xfrm>
              <a:off x="3124200"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39</a:t>
              </a:r>
            </a:p>
          </p:txBody>
        </p:sp>
        <p:sp>
          <p:nvSpPr>
            <p:cNvPr id="25" name="Line 21">
              <a:extLst>
                <a:ext uri="{FF2B5EF4-FFF2-40B4-BE49-F238E27FC236}">
                  <a16:creationId xmlns:a16="http://schemas.microsoft.com/office/drawing/2014/main" id="{329B5D91-C0F1-44BF-A98D-432B8A132497}"/>
                </a:ext>
              </a:extLst>
            </p:cNvPr>
            <p:cNvSpPr>
              <a:spLocks noChangeShapeType="1"/>
            </p:cNvSpPr>
            <p:nvPr/>
          </p:nvSpPr>
          <p:spPr bwMode="auto">
            <a:xfrm flipH="1">
              <a:off x="3562350" y="1981201"/>
              <a:ext cx="552450" cy="610630"/>
            </a:xfrm>
            <a:prstGeom prst="line">
              <a:avLst/>
            </a:prstGeom>
            <a:noFill/>
            <a:ln w="9525" cmpd="sng">
              <a:solidFill>
                <a:schemeClr val="tx1"/>
              </a:solidFill>
              <a:prstDash val="solid"/>
              <a:round/>
              <a:headEnd/>
              <a:tailEnd/>
            </a:ln>
          </p:spPr>
          <p:txBody>
            <a:bodyPr/>
            <a:lstStyle/>
            <a:p>
              <a:endParaRPr lang="en-US"/>
            </a:p>
          </p:txBody>
        </p:sp>
        <p:sp>
          <p:nvSpPr>
            <p:cNvPr id="26" name="Oval 19">
              <a:extLst>
                <a:ext uri="{FF2B5EF4-FFF2-40B4-BE49-F238E27FC236}">
                  <a16:creationId xmlns:a16="http://schemas.microsoft.com/office/drawing/2014/main" id="{4BB18628-0C99-46F3-8F9F-7525CD226568}"/>
                </a:ext>
              </a:extLst>
            </p:cNvPr>
            <p:cNvSpPr>
              <a:spLocks noChangeArrowheads="1"/>
            </p:cNvSpPr>
            <p:nvPr/>
          </p:nvSpPr>
          <p:spPr bwMode="auto">
            <a:xfrm>
              <a:off x="4829175" y="258977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16</a:t>
              </a:r>
            </a:p>
          </p:txBody>
        </p:sp>
        <p:sp>
          <p:nvSpPr>
            <p:cNvPr id="27" name="Line 21">
              <a:extLst>
                <a:ext uri="{FF2B5EF4-FFF2-40B4-BE49-F238E27FC236}">
                  <a16:creationId xmlns:a16="http://schemas.microsoft.com/office/drawing/2014/main" id="{09458506-8311-41C4-BBC3-5479D1890818}"/>
                </a:ext>
              </a:extLst>
            </p:cNvPr>
            <p:cNvSpPr>
              <a:spLocks noChangeShapeType="1"/>
            </p:cNvSpPr>
            <p:nvPr/>
          </p:nvSpPr>
          <p:spPr bwMode="auto">
            <a:xfrm>
              <a:off x="4524673" y="2057400"/>
              <a:ext cx="590550" cy="543697"/>
            </a:xfrm>
            <a:prstGeom prst="line">
              <a:avLst/>
            </a:prstGeom>
            <a:noFill/>
            <a:ln w="9525">
              <a:solidFill>
                <a:schemeClr val="tx1"/>
              </a:solidFill>
              <a:prstDash val="solid"/>
              <a:round/>
              <a:headEnd/>
              <a:tailEnd/>
            </a:ln>
          </p:spPr>
          <p:txBody>
            <a:bodyPr/>
            <a:lstStyle/>
            <a:p>
              <a:endParaRPr lang="en-US"/>
            </a:p>
          </p:txBody>
        </p:sp>
      </p:grpSp>
      <p:sp>
        <p:nvSpPr>
          <p:cNvPr id="28" name="Content Placeholder 2">
            <a:extLst>
              <a:ext uri="{FF2B5EF4-FFF2-40B4-BE49-F238E27FC236}">
                <a16:creationId xmlns:a16="http://schemas.microsoft.com/office/drawing/2014/main" id="{45BBD69E-D21F-48A0-A838-6DA1FEA0106C}"/>
              </a:ext>
            </a:extLst>
          </p:cNvPr>
          <p:cNvSpPr txBox="1">
            <a:spLocks/>
          </p:cNvSpPr>
          <p:nvPr/>
        </p:nvSpPr>
        <p:spPr>
          <a:xfrm>
            <a:off x="1064172" y="2177206"/>
            <a:ext cx="10178775" cy="4680794"/>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Swap 60 with 35</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29" name="Oval 10">
            <a:extLst>
              <a:ext uri="{FF2B5EF4-FFF2-40B4-BE49-F238E27FC236}">
                <a16:creationId xmlns:a16="http://schemas.microsoft.com/office/drawing/2014/main" id="{346BD1E2-90D5-4B51-BAD7-EA8CD2205E16}"/>
              </a:ext>
            </a:extLst>
          </p:cNvPr>
          <p:cNvSpPr>
            <a:spLocks noChangeArrowheads="1"/>
          </p:cNvSpPr>
          <p:nvPr/>
        </p:nvSpPr>
        <p:spPr bwMode="auto">
          <a:xfrm>
            <a:off x="3552232" y="5490706"/>
            <a:ext cx="6823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10</a:t>
            </a:r>
          </a:p>
        </p:txBody>
      </p:sp>
      <p:sp>
        <p:nvSpPr>
          <p:cNvPr id="30" name="Line 16">
            <a:extLst>
              <a:ext uri="{FF2B5EF4-FFF2-40B4-BE49-F238E27FC236}">
                <a16:creationId xmlns:a16="http://schemas.microsoft.com/office/drawing/2014/main" id="{A975DAA9-7CE9-4D36-8A9E-0E148121226F}"/>
              </a:ext>
            </a:extLst>
          </p:cNvPr>
          <p:cNvSpPr>
            <a:spLocks noChangeShapeType="1"/>
          </p:cNvSpPr>
          <p:nvPr/>
        </p:nvSpPr>
        <p:spPr bwMode="auto">
          <a:xfrm flipH="1">
            <a:off x="4007115" y="5037625"/>
            <a:ext cx="341162" cy="453081"/>
          </a:xfrm>
          <a:prstGeom prst="line">
            <a:avLst/>
          </a:prstGeom>
          <a:noFill/>
          <a:ln w="9525">
            <a:solidFill>
              <a:schemeClr val="tx1"/>
            </a:solidFill>
            <a:round/>
            <a:headEnd/>
            <a:tailEnd/>
          </a:ln>
        </p:spPr>
        <p:txBody>
          <a:bodyPr/>
          <a:lstStyle/>
          <a:p>
            <a:endParaRPr lang="en-US"/>
          </a:p>
        </p:txBody>
      </p:sp>
      <p:sp>
        <p:nvSpPr>
          <p:cNvPr id="32" name="Oval 19">
            <a:extLst>
              <a:ext uri="{FF2B5EF4-FFF2-40B4-BE49-F238E27FC236}">
                <a16:creationId xmlns:a16="http://schemas.microsoft.com/office/drawing/2014/main" id="{08CC24BF-0C3C-4A27-AECA-47E775A8A8A5}"/>
              </a:ext>
            </a:extLst>
          </p:cNvPr>
          <p:cNvSpPr>
            <a:spLocks noChangeArrowheads="1"/>
          </p:cNvSpPr>
          <p:nvPr/>
        </p:nvSpPr>
        <p:spPr bwMode="auto">
          <a:xfrm>
            <a:off x="4544726" y="5562468"/>
            <a:ext cx="6823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9</a:t>
            </a:r>
          </a:p>
        </p:txBody>
      </p:sp>
      <p:sp>
        <p:nvSpPr>
          <p:cNvPr id="36" name="Line 21">
            <a:extLst>
              <a:ext uri="{FF2B5EF4-FFF2-40B4-BE49-F238E27FC236}">
                <a16:creationId xmlns:a16="http://schemas.microsoft.com/office/drawing/2014/main" id="{A7B717D4-CF9A-4000-A81A-869C3A07626A}"/>
              </a:ext>
            </a:extLst>
          </p:cNvPr>
          <p:cNvSpPr>
            <a:spLocks noChangeShapeType="1"/>
          </p:cNvSpPr>
          <p:nvPr/>
        </p:nvSpPr>
        <p:spPr bwMode="auto">
          <a:xfrm>
            <a:off x="4667430" y="5040716"/>
            <a:ext cx="179796" cy="532370"/>
          </a:xfrm>
          <a:prstGeom prst="line">
            <a:avLst/>
          </a:prstGeom>
          <a:noFill/>
          <a:ln w="9525">
            <a:solidFill>
              <a:schemeClr val="tx1"/>
            </a:solidFill>
            <a:prstDash val="solid"/>
            <a:round/>
            <a:headEnd/>
            <a:tailEnd/>
          </a:ln>
        </p:spPr>
        <p:txBody>
          <a:bodyPr/>
          <a:lstStyle/>
          <a:p>
            <a:endParaRPr lang="en-US"/>
          </a:p>
        </p:txBody>
      </p:sp>
      <p:sp>
        <p:nvSpPr>
          <p:cNvPr id="38" name="Oval 37">
            <a:extLst>
              <a:ext uri="{FF2B5EF4-FFF2-40B4-BE49-F238E27FC236}">
                <a16:creationId xmlns:a16="http://schemas.microsoft.com/office/drawing/2014/main" id="{97134391-91D4-4386-A5BB-4210383D6CC3}"/>
              </a:ext>
            </a:extLst>
          </p:cNvPr>
          <p:cNvSpPr>
            <a:spLocks noChangeArrowheads="1"/>
          </p:cNvSpPr>
          <p:nvPr/>
        </p:nvSpPr>
        <p:spPr bwMode="auto">
          <a:xfrm>
            <a:off x="5276823" y="5559572"/>
            <a:ext cx="679176" cy="492367"/>
          </a:xfrm>
          <a:prstGeom prst="ellipse">
            <a:avLst/>
          </a:prstGeom>
          <a:solidFill>
            <a:srgbClr val="FFC000"/>
          </a:solidFill>
          <a:ln w="9525">
            <a:solidFill>
              <a:schemeClr val="tx1"/>
            </a:solidFill>
            <a:round/>
            <a:headEnd/>
            <a:tailEnd/>
          </a:ln>
        </p:spPr>
        <p:txBody>
          <a:bodyPr wrap="none" anchor="ctr"/>
          <a:lstStyle/>
          <a:p>
            <a:pPr algn="ctr"/>
            <a:r>
              <a:rPr lang="en-US" dirty="0">
                <a:latin typeface="Times New Roman" pitchFamily="18" charset="0"/>
              </a:rPr>
              <a:t>35</a:t>
            </a:r>
          </a:p>
        </p:txBody>
      </p:sp>
      <p:sp>
        <p:nvSpPr>
          <p:cNvPr id="41" name="Line 16">
            <a:extLst>
              <a:ext uri="{FF2B5EF4-FFF2-40B4-BE49-F238E27FC236}">
                <a16:creationId xmlns:a16="http://schemas.microsoft.com/office/drawing/2014/main" id="{CEDC5F71-6903-441E-AE23-AC28501F4C9D}"/>
              </a:ext>
            </a:extLst>
          </p:cNvPr>
          <p:cNvSpPr>
            <a:spLocks noChangeShapeType="1"/>
          </p:cNvSpPr>
          <p:nvPr/>
        </p:nvSpPr>
        <p:spPr bwMode="auto">
          <a:xfrm flipH="1">
            <a:off x="5583341" y="5133869"/>
            <a:ext cx="196485" cy="425614"/>
          </a:xfrm>
          <a:prstGeom prst="line">
            <a:avLst/>
          </a:prstGeom>
          <a:noFill/>
          <a:ln w="9525">
            <a:solidFill>
              <a:schemeClr val="tx1"/>
            </a:solidFill>
            <a:round/>
            <a:headEnd/>
            <a:tailEnd/>
          </a:ln>
        </p:spPr>
        <p:txBody>
          <a:bodyPr/>
          <a:lstStyle/>
          <a:p>
            <a:endParaRPr lang="en-US"/>
          </a:p>
        </p:txBody>
      </p:sp>
    </p:spTree>
    <p:extLst>
      <p:ext uri="{BB962C8B-B14F-4D97-AF65-F5344CB8AC3E}">
        <p14:creationId xmlns:p14="http://schemas.microsoft.com/office/powerpoint/2010/main" val="820204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Insertion in Heap</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24</a:t>
            </a:fld>
            <a:endParaRPr sz="900">
              <a:solidFill>
                <a:prstClr val="black"/>
              </a:solidFill>
              <a:latin typeface="Malgun Gothic"/>
              <a:cs typeface="Malgun Gothic"/>
            </a:endParaRPr>
          </a:p>
        </p:txBody>
      </p:sp>
      <p:sp>
        <p:nvSpPr>
          <p:cNvPr id="14" name="Content Placeholder 2">
            <a:extLst>
              <a:ext uri="{FF2B5EF4-FFF2-40B4-BE49-F238E27FC236}">
                <a16:creationId xmlns:a16="http://schemas.microsoft.com/office/drawing/2014/main" id="{37F996B0-A723-48DF-8356-FEF1BF457471}"/>
              </a:ext>
            </a:extLst>
          </p:cNvPr>
          <p:cNvSpPr txBox="1">
            <a:spLocks/>
          </p:cNvSpPr>
          <p:nvPr/>
        </p:nvSpPr>
        <p:spPr>
          <a:xfrm>
            <a:off x="1080675" y="2146637"/>
            <a:ext cx="10178775" cy="5181600"/>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grpSp>
        <p:nvGrpSpPr>
          <p:cNvPr id="12" name="Group 11">
            <a:extLst>
              <a:ext uri="{FF2B5EF4-FFF2-40B4-BE49-F238E27FC236}">
                <a16:creationId xmlns:a16="http://schemas.microsoft.com/office/drawing/2014/main" id="{2D00B095-6A7A-4587-9C6C-284B9F2F027A}"/>
              </a:ext>
            </a:extLst>
          </p:cNvPr>
          <p:cNvGrpSpPr/>
          <p:nvPr/>
        </p:nvGrpSpPr>
        <p:grpSpPr>
          <a:xfrm>
            <a:off x="2019661" y="2897318"/>
            <a:ext cx="4343400" cy="2447667"/>
            <a:chOff x="76200" y="685800"/>
            <a:chExt cx="5638800" cy="2447667"/>
          </a:xfrm>
        </p:grpSpPr>
        <p:sp>
          <p:nvSpPr>
            <p:cNvPr id="13" name="Oval 5">
              <a:extLst>
                <a:ext uri="{FF2B5EF4-FFF2-40B4-BE49-F238E27FC236}">
                  <a16:creationId xmlns:a16="http://schemas.microsoft.com/office/drawing/2014/main" id="{0A64856C-CA67-4C45-8047-93CF1B55767F}"/>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70</a:t>
              </a:r>
            </a:p>
          </p:txBody>
        </p:sp>
        <p:sp>
          <p:nvSpPr>
            <p:cNvPr id="15" name="Oval 6">
              <a:extLst>
                <a:ext uri="{FF2B5EF4-FFF2-40B4-BE49-F238E27FC236}">
                  <a16:creationId xmlns:a16="http://schemas.microsoft.com/office/drawing/2014/main" id="{4676C913-51E8-4F87-9776-6C05C72CF5F0}"/>
                </a:ext>
              </a:extLst>
            </p:cNvPr>
            <p:cNvSpPr>
              <a:spLocks noChangeArrowheads="1"/>
            </p:cNvSpPr>
            <p:nvPr/>
          </p:nvSpPr>
          <p:spPr bwMode="auto">
            <a:xfrm>
              <a:off x="962025"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16" name="Oval 7">
              <a:extLst>
                <a:ext uri="{FF2B5EF4-FFF2-40B4-BE49-F238E27FC236}">
                  <a16:creationId xmlns:a16="http://schemas.microsoft.com/office/drawing/2014/main" id="{8AC82DFC-37EF-48EE-A722-94162869829F}"/>
                </a:ext>
              </a:extLst>
            </p:cNvPr>
            <p:cNvSpPr>
              <a:spLocks noChangeArrowheads="1"/>
            </p:cNvSpPr>
            <p:nvPr/>
          </p:nvSpPr>
          <p:spPr bwMode="auto">
            <a:xfrm>
              <a:off x="3914774"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40</a:t>
              </a:r>
            </a:p>
          </p:txBody>
        </p:sp>
        <p:sp>
          <p:nvSpPr>
            <p:cNvPr id="17" name="Oval 10">
              <a:extLst>
                <a:ext uri="{FF2B5EF4-FFF2-40B4-BE49-F238E27FC236}">
                  <a16:creationId xmlns:a16="http://schemas.microsoft.com/office/drawing/2014/main" id="{BD0C824C-D0F3-4917-9030-AA7134CE1CB1}"/>
                </a:ext>
              </a:extLst>
            </p:cNvPr>
            <p:cNvSpPr>
              <a:spLocks noChangeArrowheads="1"/>
            </p:cNvSpPr>
            <p:nvPr/>
          </p:nvSpPr>
          <p:spPr bwMode="auto">
            <a:xfrm>
              <a:off x="76200" y="249812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45</a:t>
              </a:r>
            </a:p>
          </p:txBody>
        </p:sp>
        <p:sp>
          <p:nvSpPr>
            <p:cNvPr id="19" name="Line 12">
              <a:extLst>
                <a:ext uri="{FF2B5EF4-FFF2-40B4-BE49-F238E27FC236}">
                  <a16:creationId xmlns:a16="http://schemas.microsoft.com/office/drawing/2014/main" id="{EDD006DB-828C-480A-9B70-23567BFEBA01}"/>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sp>
          <p:nvSpPr>
            <p:cNvPr id="20" name="Line 13">
              <a:extLst>
                <a:ext uri="{FF2B5EF4-FFF2-40B4-BE49-F238E27FC236}">
                  <a16:creationId xmlns:a16="http://schemas.microsoft.com/office/drawing/2014/main" id="{442F358F-5CF0-4596-B33D-678D2A15FF02}"/>
                </a:ext>
              </a:extLst>
            </p:cNvPr>
            <p:cNvSpPr>
              <a:spLocks noChangeShapeType="1"/>
            </p:cNvSpPr>
            <p:nvPr/>
          </p:nvSpPr>
          <p:spPr bwMode="auto">
            <a:xfrm>
              <a:off x="3176587" y="1138881"/>
              <a:ext cx="885825" cy="362465"/>
            </a:xfrm>
            <a:prstGeom prst="line">
              <a:avLst/>
            </a:prstGeom>
            <a:noFill/>
            <a:ln w="9525">
              <a:solidFill>
                <a:schemeClr val="tx1"/>
              </a:solidFill>
              <a:round/>
              <a:headEnd/>
              <a:tailEnd/>
            </a:ln>
          </p:spPr>
          <p:txBody>
            <a:bodyPr/>
            <a:lstStyle/>
            <a:p>
              <a:endParaRPr lang="en-US"/>
            </a:p>
          </p:txBody>
        </p:sp>
        <p:sp>
          <p:nvSpPr>
            <p:cNvPr id="21" name="Line 16">
              <a:extLst>
                <a:ext uri="{FF2B5EF4-FFF2-40B4-BE49-F238E27FC236}">
                  <a16:creationId xmlns:a16="http://schemas.microsoft.com/office/drawing/2014/main" id="{1F4CDC61-E9E2-4E68-8E0D-2CB245CC098A}"/>
                </a:ext>
              </a:extLst>
            </p:cNvPr>
            <p:cNvSpPr>
              <a:spLocks noChangeShapeType="1"/>
            </p:cNvSpPr>
            <p:nvPr/>
          </p:nvSpPr>
          <p:spPr bwMode="auto">
            <a:xfrm flipH="1">
              <a:off x="666750" y="2045043"/>
              <a:ext cx="442912" cy="453081"/>
            </a:xfrm>
            <a:prstGeom prst="line">
              <a:avLst/>
            </a:prstGeom>
            <a:noFill/>
            <a:ln w="9525">
              <a:solidFill>
                <a:schemeClr val="tx1"/>
              </a:solidFill>
              <a:round/>
              <a:headEnd/>
              <a:tailEnd/>
            </a:ln>
          </p:spPr>
          <p:txBody>
            <a:bodyPr/>
            <a:lstStyle/>
            <a:p>
              <a:endParaRPr lang="en-US"/>
            </a:p>
          </p:txBody>
        </p:sp>
        <p:sp>
          <p:nvSpPr>
            <p:cNvPr id="22" name="Oval 19">
              <a:extLst>
                <a:ext uri="{FF2B5EF4-FFF2-40B4-BE49-F238E27FC236}">
                  <a16:creationId xmlns:a16="http://schemas.microsoft.com/office/drawing/2014/main" id="{91553E44-79C1-4043-86E2-0681011FA795}"/>
                </a:ext>
              </a:extLst>
            </p:cNvPr>
            <p:cNvSpPr>
              <a:spLocks noChangeArrowheads="1"/>
            </p:cNvSpPr>
            <p:nvPr/>
          </p:nvSpPr>
          <p:spPr bwMode="auto">
            <a:xfrm>
              <a:off x="1828502" y="2580503"/>
              <a:ext cx="885825" cy="543697"/>
            </a:xfrm>
            <a:prstGeom prst="ellipse">
              <a:avLst/>
            </a:prstGeom>
            <a:solidFill>
              <a:srgbClr val="FFC000"/>
            </a:solidFill>
            <a:ln w="9525">
              <a:solidFill>
                <a:schemeClr val="tx1"/>
              </a:solidFill>
              <a:round/>
              <a:headEnd/>
              <a:tailEnd/>
            </a:ln>
          </p:spPr>
          <p:txBody>
            <a:bodyPr wrap="none" anchor="ctr"/>
            <a:lstStyle/>
            <a:p>
              <a:pPr algn="ctr"/>
              <a:r>
                <a:rPr lang="en-US" dirty="0">
                  <a:latin typeface="Times New Roman" pitchFamily="18" charset="0"/>
                </a:rPr>
                <a:t>60</a:t>
              </a:r>
            </a:p>
          </p:txBody>
        </p:sp>
        <p:sp>
          <p:nvSpPr>
            <p:cNvPr id="23" name="Line 21">
              <a:extLst>
                <a:ext uri="{FF2B5EF4-FFF2-40B4-BE49-F238E27FC236}">
                  <a16:creationId xmlns:a16="http://schemas.microsoft.com/office/drawing/2014/main" id="{979E5D29-3DE7-4B1E-9941-A96BB7A7AB4D}"/>
                </a:ext>
              </a:extLst>
            </p:cNvPr>
            <p:cNvSpPr>
              <a:spLocks noChangeShapeType="1"/>
            </p:cNvSpPr>
            <p:nvPr/>
          </p:nvSpPr>
          <p:spPr bwMode="auto">
            <a:xfrm>
              <a:off x="1524000" y="2048133"/>
              <a:ext cx="590550" cy="543697"/>
            </a:xfrm>
            <a:prstGeom prst="line">
              <a:avLst/>
            </a:prstGeom>
            <a:noFill/>
            <a:ln w="9525">
              <a:solidFill>
                <a:schemeClr val="tx1"/>
              </a:solidFill>
              <a:prstDash val="solid"/>
              <a:round/>
              <a:headEnd/>
              <a:tailEnd/>
            </a:ln>
          </p:spPr>
          <p:txBody>
            <a:bodyPr/>
            <a:lstStyle/>
            <a:p>
              <a:endParaRPr lang="en-US"/>
            </a:p>
          </p:txBody>
        </p:sp>
        <p:sp>
          <p:nvSpPr>
            <p:cNvPr id="24" name="Oval 23">
              <a:extLst>
                <a:ext uri="{FF2B5EF4-FFF2-40B4-BE49-F238E27FC236}">
                  <a16:creationId xmlns:a16="http://schemas.microsoft.com/office/drawing/2014/main" id="{E311117A-B112-486B-BFD0-444E7886B722}"/>
                </a:ext>
              </a:extLst>
            </p:cNvPr>
            <p:cNvSpPr>
              <a:spLocks noChangeArrowheads="1"/>
            </p:cNvSpPr>
            <p:nvPr/>
          </p:nvSpPr>
          <p:spPr bwMode="auto">
            <a:xfrm>
              <a:off x="3124200"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39</a:t>
              </a:r>
            </a:p>
          </p:txBody>
        </p:sp>
        <p:sp>
          <p:nvSpPr>
            <p:cNvPr id="25" name="Line 21">
              <a:extLst>
                <a:ext uri="{FF2B5EF4-FFF2-40B4-BE49-F238E27FC236}">
                  <a16:creationId xmlns:a16="http://schemas.microsoft.com/office/drawing/2014/main" id="{329B5D91-C0F1-44BF-A98D-432B8A132497}"/>
                </a:ext>
              </a:extLst>
            </p:cNvPr>
            <p:cNvSpPr>
              <a:spLocks noChangeShapeType="1"/>
            </p:cNvSpPr>
            <p:nvPr/>
          </p:nvSpPr>
          <p:spPr bwMode="auto">
            <a:xfrm flipH="1">
              <a:off x="3562350" y="1981201"/>
              <a:ext cx="552450" cy="610630"/>
            </a:xfrm>
            <a:prstGeom prst="line">
              <a:avLst/>
            </a:prstGeom>
            <a:noFill/>
            <a:ln w="9525" cmpd="sng">
              <a:solidFill>
                <a:schemeClr val="tx1"/>
              </a:solidFill>
              <a:prstDash val="solid"/>
              <a:round/>
              <a:headEnd/>
              <a:tailEnd/>
            </a:ln>
          </p:spPr>
          <p:txBody>
            <a:bodyPr/>
            <a:lstStyle/>
            <a:p>
              <a:endParaRPr lang="en-US"/>
            </a:p>
          </p:txBody>
        </p:sp>
        <p:sp>
          <p:nvSpPr>
            <p:cNvPr id="26" name="Oval 19">
              <a:extLst>
                <a:ext uri="{FF2B5EF4-FFF2-40B4-BE49-F238E27FC236}">
                  <a16:creationId xmlns:a16="http://schemas.microsoft.com/office/drawing/2014/main" id="{4BB18628-0C99-46F3-8F9F-7525CD226568}"/>
                </a:ext>
              </a:extLst>
            </p:cNvPr>
            <p:cNvSpPr>
              <a:spLocks noChangeArrowheads="1"/>
            </p:cNvSpPr>
            <p:nvPr/>
          </p:nvSpPr>
          <p:spPr bwMode="auto">
            <a:xfrm>
              <a:off x="4829175" y="258977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16</a:t>
              </a:r>
            </a:p>
          </p:txBody>
        </p:sp>
        <p:sp>
          <p:nvSpPr>
            <p:cNvPr id="27" name="Line 21">
              <a:extLst>
                <a:ext uri="{FF2B5EF4-FFF2-40B4-BE49-F238E27FC236}">
                  <a16:creationId xmlns:a16="http://schemas.microsoft.com/office/drawing/2014/main" id="{09458506-8311-41C4-BBC3-5479D1890818}"/>
                </a:ext>
              </a:extLst>
            </p:cNvPr>
            <p:cNvSpPr>
              <a:spLocks noChangeShapeType="1"/>
            </p:cNvSpPr>
            <p:nvPr/>
          </p:nvSpPr>
          <p:spPr bwMode="auto">
            <a:xfrm>
              <a:off x="4524673" y="2057400"/>
              <a:ext cx="590550" cy="543697"/>
            </a:xfrm>
            <a:prstGeom prst="line">
              <a:avLst/>
            </a:prstGeom>
            <a:noFill/>
            <a:ln w="9525">
              <a:solidFill>
                <a:schemeClr val="tx1"/>
              </a:solidFill>
              <a:prstDash val="solid"/>
              <a:round/>
              <a:headEnd/>
              <a:tailEnd/>
            </a:ln>
          </p:spPr>
          <p:txBody>
            <a:bodyPr/>
            <a:lstStyle/>
            <a:p>
              <a:endParaRPr lang="en-US"/>
            </a:p>
          </p:txBody>
        </p:sp>
      </p:grpSp>
      <p:sp>
        <p:nvSpPr>
          <p:cNvPr id="28" name="Content Placeholder 2">
            <a:extLst>
              <a:ext uri="{FF2B5EF4-FFF2-40B4-BE49-F238E27FC236}">
                <a16:creationId xmlns:a16="http://schemas.microsoft.com/office/drawing/2014/main" id="{45BBD69E-D21F-48A0-A838-6DA1FEA0106C}"/>
              </a:ext>
            </a:extLst>
          </p:cNvPr>
          <p:cNvSpPr txBox="1">
            <a:spLocks/>
          </p:cNvSpPr>
          <p:nvPr/>
        </p:nvSpPr>
        <p:spPr>
          <a:xfrm>
            <a:off x="1064172" y="2177206"/>
            <a:ext cx="10178775" cy="4680794"/>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Now 50&lt;60 </a:t>
            </a:r>
          </a:p>
          <a:p>
            <a:pPr marL="0" indent="0">
              <a:buNone/>
            </a:pPr>
            <a:r>
              <a:rPr lang="en-US" dirty="0"/>
              <a:t>swap</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29" name="Oval 10">
            <a:extLst>
              <a:ext uri="{FF2B5EF4-FFF2-40B4-BE49-F238E27FC236}">
                <a16:creationId xmlns:a16="http://schemas.microsoft.com/office/drawing/2014/main" id="{346BD1E2-90D5-4B51-BAD7-EA8CD2205E16}"/>
              </a:ext>
            </a:extLst>
          </p:cNvPr>
          <p:cNvSpPr>
            <a:spLocks noChangeArrowheads="1"/>
          </p:cNvSpPr>
          <p:nvPr/>
        </p:nvSpPr>
        <p:spPr bwMode="auto">
          <a:xfrm>
            <a:off x="1406993" y="5673702"/>
            <a:ext cx="6823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10</a:t>
            </a:r>
          </a:p>
        </p:txBody>
      </p:sp>
      <p:sp>
        <p:nvSpPr>
          <p:cNvPr id="30" name="Line 16">
            <a:extLst>
              <a:ext uri="{FF2B5EF4-FFF2-40B4-BE49-F238E27FC236}">
                <a16:creationId xmlns:a16="http://schemas.microsoft.com/office/drawing/2014/main" id="{A975DAA9-7CE9-4D36-8A9E-0E148121226F}"/>
              </a:ext>
            </a:extLst>
          </p:cNvPr>
          <p:cNvSpPr>
            <a:spLocks noChangeShapeType="1"/>
          </p:cNvSpPr>
          <p:nvPr/>
        </p:nvSpPr>
        <p:spPr bwMode="auto">
          <a:xfrm flipH="1">
            <a:off x="1861876" y="5220621"/>
            <a:ext cx="341162" cy="453081"/>
          </a:xfrm>
          <a:prstGeom prst="line">
            <a:avLst/>
          </a:prstGeom>
          <a:noFill/>
          <a:ln w="9525">
            <a:solidFill>
              <a:schemeClr val="tx1"/>
            </a:solidFill>
            <a:round/>
            <a:headEnd/>
            <a:tailEnd/>
          </a:ln>
        </p:spPr>
        <p:txBody>
          <a:bodyPr/>
          <a:lstStyle/>
          <a:p>
            <a:endParaRPr lang="en-US"/>
          </a:p>
        </p:txBody>
      </p:sp>
      <p:sp>
        <p:nvSpPr>
          <p:cNvPr id="32" name="Oval 19">
            <a:extLst>
              <a:ext uri="{FF2B5EF4-FFF2-40B4-BE49-F238E27FC236}">
                <a16:creationId xmlns:a16="http://schemas.microsoft.com/office/drawing/2014/main" id="{08CC24BF-0C3C-4A27-AECA-47E775A8A8A5}"/>
              </a:ext>
            </a:extLst>
          </p:cNvPr>
          <p:cNvSpPr>
            <a:spLocks noChangeArrowheads="1"/>
          </p:cNvSpPr>
          <p:nvPr/>
        </p:nvSpPr>
        <p:spPr bwMode="auto">
          <a:xfrm>
            <a:off x="2399487" y="5745464"/>
            <a:ext cx="6823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9</a:t>
            </a:r>
          </a:p>
        </p:txBody>
      </p:sp>
      <p:sp>
        <p:nvSpPr>
          <p:cNvPr id="36" name="Line 21">
            <a:extLst>
              <a:ext uri="{FF2B5EF4-FFF2-40B4-BE49-F238E27FC236}">
                <a16:creationId xmlns:a16="http://schemas.microsoft.com/office/drawing/2014/main" id="{A7B717D4-CF9A-4000-A81A-869C3A07626A}"/>
              </a:ext>
            </a:extLst>
          </p:cNvPr>
          <p:cNvSpPr>
            <a:spLocks noChangeShapeType="1"/>
          </p:cNvSpPr>
          <p:nvPr/>
        </p:nvSpPr>
        <p:spPr bwMode="auto">
          <a:xfrm>
            <a:off x="2522191" y="5223712"/>
            <a:ext cx="179796" cy="532370"/>
          </a:xfrm>
          <a:prstGeom prst="line">
            <a:avLst/>
          </a:prstGeom>
          <a:noFill/>
          <a:ln w="9525">
            <a:solidFill>
              <a:schemeClr val="tx1"/>
            </a:solidFill>
            <a:prstDash val="solid"/>
            <a:round/>
            <a:headEnd/>
            <a:tailEnd/>
          </a:ln>
        </p:spPr>
        <p:txBody>
          <a:bodyPr/>
          <a:lstStyle/>
          <a:p>
            <a:endParaRPr lang="en-US"/>
          </a:p>
        </p:txBody>
      </p:sp>
      <p:sp>
        <p:nvSpPr>
          <p:cNvPr id="38" name="Oval 37">
            <a:extLst>
              <a:ext uri="{FF2B5EF4-FFF2-40B4-BE49-F238E27FC236}">
                <a16:creationId xmlns:a16="http://schemas.microsoft.com/office/drawing/2014/main" id="{97134391-91D4-4386-A5BB-4210383D6CC3}"/>
              </a:ext>
            </a:extLst>
          </p:cNvPr>
          <p:cNvSpPr>
            <a:spLocks noChangeArrowheads="1"/>
          </p:cNvSpPr>
          <p:nvPr/>
        </p:nvSpPr>
        <p:spPr bwMode="auto">
          <a:xfrm>
            <a:off x="3131584" y="5742568"/>
            <a:ext cx="679176" cy="492367"/>
          </a:xfrm>
          <a:prstGeom prst="ellipse">
            <a:avLst/>
          </a:prstGeom>
          <a:solidFill>
            <a:srgbClr val="FFC000"/>
          </a:solidFill>
          <a:ln w="9525">
            <a:solidFill>
              <a:schemeClr val="tx1"/>
            </a:solidFill>
            <a:round/>
            <a:headEnd/>
            <a:tailEnd/>
          </a:ln>
        </p:spPr>
        <p:txBody>
          <a:bodyPr wrap="none" anchor="ctr"/>
          <a:lstStyle/>
          <a:p>
            <a:pPr algn="ctr"/>
            <a:r>
              <a:rPr lang="en-US" dirty="0">
                <a:latin typeface="Times New Roman" pitchFamily="18" charset="0"/>
              </a:rPr>
              <a:t>35</a:t>
            </a:r>
          </a:p>
        </p:txBody>
      </p:sp>
      <p:sp>
        <p:nvSpPr>
          <p:cNvPr id="41" name="Line 16">
            <a:extLst>
              <a:ext uri="{FF2B5EF4-FFF2-40B4-BE49-F238E27FC236}">
                <a16:creationId xmlns:a16="http://schemas.microsoft.com/office/drawing/2014/main" id="{CEDC5F71-6903-441E-AE23-AC28501F4C9D}"/>
              </a:ext>
            </a:extLst>
          </p:cNvPr>
          <p:cNvSpPr>
            <a:spLocks noChangeShapeType="1"/>
          </p:cNvSpPr>
          <p:nvPr/>
        </p:nvSpPr>
        <p:spPr bwMode="auto">
          <a:xfrm flipH="1">
            <a:off x="3438102" y="5316865"/>
            <a:ext cx="196485" cy="425614"/>
          </a:xfrm>
          <a:prstGeom prst="line">
            <a:avLst/>
          </a:prstGeom>
          <a:noFill/>
          <a:ln w="9525">
            <a:solidFill>
              <a:schemeClr val="tx1"/>
            </a:solidFill>
            <a:round/>
            <a:headEnd/>
            <a:tailEnd/>
          </a:ln>
        </p:spPr>
        <p:txBody>
          <a:bodyPr/>
          <a:lstStyle/>
          <a:p>
            <a:endParaRPr lang="en-US"/>
          </a:p>
        </p:txBody>
      </p:sp>
      <p:sp>
        <p:nvSpPr>
          <p:cNvPr id="3" name="TextBox 2">
            <a:extLst>
              <a:ext uri="{FF2B5EF4-FFF2-40B4-BE49-F238E27FC236}">
                <a16:creationId xmlns:a16="http://schemas.microsoft.com/office/drawing/2014/main" id="{ED40FD48-F1BF-49CB-925E-120135615883}"/>
              </a:ext>
            </a:extLst>
          </p:cNvPr>
          <p:cNvSpPr txBox="1"/>
          <p:nvPr/>
        </p:nvSpPr>
        <p:spPr>
          <a:xfrm>
            <a:off x="3438102" y="4268918"/>
            <a:ext cx="804846" cy="369332"/>
          </a:xfrm>
          <a:prstGeom prst="rect">
            <a:avLst/>
          </a:prstGeom>
          <a:noFill/>
        </p:spPr>
        <p:txBody>
          <a:bodyPr wrap="square" rtlCol="0">
            <a:spAutoFit/>
          </a:bodyPr>
          <a:lstStyle/>
          <a:p>
            <a:r>
              <a:rPr lang="en-US" dirty="0"/>
              <a:t>50&lt;60</a:t>
            </a:r>
          </a:p>
        </p:txBody>
      </p:sp>
      <p:grpSp>
        <p:nvGrpSpPr>
          <p:cNvPr id="40" name="Group 39">
            <a:extLst>
              <a:ext uri="{FF2B5EF4-FFF2-40B4-BE49-F238E27FC236}">
                <a16:creationId xmlns:a16="http://schemas.microsoft.com/office/drawing/2014/main" id="{28736359-4AC4-4755-8526-9B72F6064208}"/>
              </a:ext>
            </a:extLst>
          </p:cNvPr>
          <p:cNvGrpSpPr/>
          <p:nvPr/>
        </p:nvGrpSpPr>
        <p:grpSpPr>
          <a:xfrm>
            <a:off x="7105641" y="2949440"/>
            <a:ext cx="4343400" cy="2447667"/>
            <a:chOff x="76200" y="685800"/>
            <a:chExt cx="5638800" cy="2447667"/>
          </a:xfrm>
        </p:grpSpPr>
        <p:sp>
          <p:nvSpPr>
            <p:cNvPr id="42" name="Oval 5">
              <a:extLst>
                <a:ext uri="{FF2B5EF4-FFF2-40B4-BE49-F238E27FC236}">
                  <a16:creationId xmlns:a16="http://schemas.microsoft.com/office/drawing/2014/main" id="{7CB90919-B270-4D77-A901-34A74CDA9265}"/>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70</a:t>
              </a:r>
            </a:p>
          </p:txBody>
        </p:sp>
        <p:sp>
          <p:nvSpPr>
            <p:cNvPr id="43" name="Oval 6">
              <a:extLst>
                <a:ext uri="{FF2B5EF4-FFF2-40B4-BE49-F238E27FC236}">
                  <a16:creationId xmlns:a16="http://schemas.microsoft.com/office/drawing/2014/main" id="{A077DA7F-DAEA-4B67-BEE2-15B7D7B544DB}"/>
                </a:ext>
              </a:extLst>
            </p:cNvPr>
            <p:cNvSpPr>
              <a:spLocks noChangeArrowheads="1"/>
            </p:cNvSpPr>
            <p:nvPr/>
          </p:nvSpPr>
          <p:spPr bwMode="auto">
            <a:xfrm>
              <a:off x="962025" y="1501346"/>
              <a:ext cx="885825" cy="543697"/>
            </a:xfrm>
            <a:prstGeom prst="ellipse">
              <a:avLst/>
            </a:prstGeom>
            <a:solidFill>
              <a:srgbClr val="FFC000"/>
            </a:solidFill>
            <a:ln w="9525">
              <a:solidFill>
                <a:schemeClr val="tx1"/>
              </a:solidFill>
              <a:round/>
              <a:headEnd/>
              <a:tailEnd/>
            </a:ln>
          </p:spPr>
          <p:txBody>
            <a:bodyPr wrap="none" anchor="ctr"/>
            <a:lstStyle/>
            <a:p>
              <a:pPr algn="ctr"/>
              <a:r>
                <a:rPr lang="en-US" dirty="0">
                  <a:latin typeface="Times New Roman" pitchFamily="18" charset="0"/>
                </a:rPr>
                <a:t>60</a:t>
              </a:r>
            </a:p>
          </p:txBody>
        </p:sp>
        <p:sp>
          <p:nvSpPr>
            <p:cNvPr id="44" name="Oval 7">
              <a:extLst>
                <a:ext uri="{FF2B5EF4-FFF2-40B4-BE49-F238E27FC236}">
                  <a16:creationId xmlns:a16="http://schemas.microsoft.com/office/drawing/2014/main" id="{DB5C1DDC-5418-4B52-98AC-524385EAA43A}"/>
                </a:ext>
              </a:extLst>
            </p:cNvPr>
            <p:cNvSpPr>
              <a:spLocks noChangeArrowheads="1"/>
            </p:cNvSpPr>
            <p:nvPr/>
          </p:nvSpPr>
          <p:spPr bwMode="auto">
            <a:xfrm>
              <a:off x="3914774"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40</a:t>
              </a:r>
            </a:p>
          </p:txBody>
        </p:sp>
        <p:sp>
          <p:nvSpPr>
            <p:cNvPr id="45" name="Oval 10">
              <a:extLst>
                <a:ext uri="{FF2B5EF4-FFF2-40B4-BE49-F238E27FC236}">
                  <a16:creationId xmlns:a16="http://schemas.microsoft.com/office/drawing/2014/main" id="{3F726F3A-21B9-4CF2-A467-906612EA8AAD}"/>
                </a:ext>
              </a:extLst>
            </p:cNvPr>
            <p:cNvSpPr>
              <a:spLocks noChangeArrowheads="1"/>
            </p:cNvSpPr>
            <p:nvPr/>
          </p:nvSpPr>
          <p:spPr bwMode="auto">
            <a:xfrm>
              <a:off x="76200" y="249812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45</a:t>
              </a:r>
            </a:p>
          </p:txBody>
        </p:sp>
        <p:sp>
          <p:nvSpPr>
            <p:cNvPr id="46" name="Line 12">
              <a:extLst>
                <a:ext uri="{FF2B5EF4-FFF2-40B4-BE49-F238E27FC236}">
                  <a16:creationId xmlns:a16="http://schemas.microsoft.com/office/drawing/2014/main" id="{9E76BC02-B24D-44EC-ADB2-8A6F7C0A87F9}"/>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sp>
          <p:nvSpPr>
            <p:cNvPr id="47" name="Line 13">
              <a:extLst>
                <a:ext uri="{FF2B5EF4-FFF2-40B4-BE49-F238E27FC236}">
                  <a16:creationId xmlns:a16="http://schemas.microsoft.com/office/drawing/2014/main" id="{ED4659BE-70B4-4B4D-99A7-C9498C37BA4C}"/>
                </a:ext>
              </a:extLst>
            </p:cNvPr>
            <p:cNvSpPr>
              <a:spLocks noChangeShapeType="1"/>
            </p:cNvSpPr>
            <p:nvPr/>
          </p:nvSpPr>
          <p:spPr bwMode="auto">
            <a:xfrm>
              <a:off x="3176587" y="1138881"/>
              <a:ext cx="885825" cy="362465"/>
            </a:xfrm>
            <a:prstGeom prst="line">
              <a:avLst/>
            </a:prstGeom>
            <a:noFill/>
            <a:ln w="9525">
              <a:solidFill>
                <a:schemeClr val="tx1"/>
              </a:solidFill>
              <a:round/>
              <a:headEnd/>
              <a:tailEnd/>
            </a:ln>
          </p:spPr>
          <p:txBody>
            <a:bodyPr/>
            <a:lstStyle/>
            <a:p>
              <a:endParaRPr lang="en-US"/>
            </a:p>
          </p:txBody>
        </p:sp>
        <p:sp>
          <p:nvSpPr>
            <p:cNvPr id="48" name="Line 16">
              <a:extLst>
                <a:ext uri="{FF2B5EF4-FFF2-40B4-BE49-F238E27FC236}">
                  <a16:creationId xmlns:a16="http://schemas.microsoft.com/office/drawing/2014/main" id="{DAA1BB4E-5600-4E80-858C-BFE1981D4393}"/>
                </a:ext>
              </a:extLst>
            </p:cNvPr>
            <p:cNvSpPr>
              <a:spLocks noChangeShapeType="1"/>
            </p:cNvSpPr>
            <p:nvPr/>
          </p:nvSpPr>
          <p:spPr bwMode="auto">
            <a:xfrm flipH="1">
              <a:off x="666750" y="2045043"/>
              <a:ext cx="442912" cy="453081"/>
            </a:xfrm>
            <a:prstGeom prst="line">
              <a:avLst/>
            </a:prstGeom>
            <a:noFill/>
            <a:ln w="9525">
              <a:solidFill>
                <a:schemeClr val="tx1"/>
              </a:solidFill>
              <a:round/>
              <a:headEnd/>
              <a:tailEnd/>
            </a:ln>
          </p:spPr>
          <p:txBody>
            <a:bodyPr/>
            <a:lstStyle/>
            <a:p>
              <a:endParaRPr lang="en-US"/>
            </a:p>
          </p:txBody>
        </p:sp>
        <p:sp>
          <p:nvSpPr>
            <p:cNvPr id="49" name="Oval 19">
              <a:extLst>
                <a:ext uri="{FF2B5EF4-FFF2-40B4-BE49-F238E27FC236}">
                  <a16:creationId xmlns:a16="http://schemas.microsoft.com/office/drawing/2014/main" id="{147D6900-9817-4170-8086-43F4F9AE5037}"/>
                </a:ext>
              </a:extLst>
            </p:cNvPr>
            <p:cNvSpPr>
              <a:spLocks noChangeArrowheads="1"/>
            </p:cNvSpPr>
            <p:nvPr/>
          </p:nvSpPr>
          <p:spPr bwMode="auto">
            <a:xfrm>
              <a:off x="1828502" y="2580503"/>
              <a:ext cx="885825" cy="543697"/>
            </a:xfrm>
            <a:prstGeom prst="ellipse">
              <a:avLst/>
            </a:prstGeom>
            <a:solidFill>
              <a:srgbClr val="FFC000"/>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50" name="Line 21">
              <a:extLst>
                <a:ext uri="{FF2B5EF4-FFF2-40B4-BE49-F238E27FC236}">
                  <a16:creationId xmlns:a16="http://schemas.microsoft.com/office/drawing/2014/main" id="{2D7AD81C-A839-4353-98C7-09DDE7327019}"/>
                </a:ext>
              </a:extLst>
            </p:cNvPr>
            <p:cNvSpPr>
              <a:spLocks noChangeShapeType="1"/>
            </p:cNvSpPr>
            <p:nvPr/>
          </p:nvSpPr>
          <p:spPr bwMode="auto">
            <a:xfrm>
              <a:off x="1524000" y="2048133"/>
              <a:ext cx="590550" cy="543697"/>
            </a:xfrm>
            <a:prstGeom prst="line">
              <a:avLst/>
            </a:prstGeom>
            <a:noFill/>
            <a:ln w="9525">
              <a:solidFill>
                <a:schemeClr val="tx1"/>
              </a:solidFill>
              <a:prstDash val="solid"/>
              <a:round/>
              <a:headEnd/>
              <a:tailEnd/>
            </a:ln>
          </p:spPr>
          <p:txBody>
            <a:bodyPr/>
            <a:lstStyle/>
            <a:p>
              <a:endParaRPr lang="en-US"/>
            </a:p>
          </p:txBody>
        </p:sp>
        <p:sp>
          <p:nvSpPr>
            <p:cNvPr id="51" name="Oval 50">
              <a:extLst>
                <a:ext uri="{FF2B5EF4-FFF2-40B4-BE49-F238E27FC236}">
                  <a16:creationId xmlns:a16="http://schemas.microsoft.com/office/drawing/2014/main" id="{560DD4D7-50A8-4813-86B0-E3FB693980A8}"/>
                </a:ext>
              </a:extLst>
            </p:cNvPr>
            <p:cNvSpPr>
              <a:spLocks noChangeArrowheads="1"/>
            </p:cNvSpPr>
            <p:nvPr/>
          </p:nvSpPr>
          <p:spPr bwMode="auto">
            <a:xfrm>
              <a:off x="3124200"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39</a:t>
              </a:r>
            </a:p>
          </p:txBody>
        </p:sp>
        <p:sp>
          <p:nvSpPr>
            <p:cNvPr id="52" name="Line 21">
              <a:extLst>
                <a:ext uri="{FF2B5EF4-FFF2-40B4-BE49-F238E27FC236}">
                  <a16:creationId xmlns:a16="http://schemas.microsoft.com/office/drawing/2014/main" id="{EE22F988-EC78-40DB-9745-16891C7B7BAA}"/>
                </a:ext>
              </a:extLst>
            </p:cNvPr>
            <p:cNvSpPr>
              <a:spLocks noChangeShapeType="1"/>
            </p:cNvSpPr>
            <p:nvPr/>
          </p:nvSpPr>
          <p:spPr bwMode="auto">
            <a:xfrm flipH="1">
              <a:off x="3562350" y="1981201"/>
              <a:ext cx="552450" cy="610630"/>
            </a:xfrm>
            <a:prstGeom prst="line">
              <a:avLst/>
            </a:prstGeom>
            <a:noFill/>
            <a:ln w="9525" cmpd="sng">
              <a:solidFill>
                <a:schemeClr val="tx1"/>
              </a:solidFill>
              <a:prstDash val="solid"/>
              <a:round/>
              <a:headEnd/>
              <a:tailEnd/>
            </a:ln>
          </p:spPr>
          <p:txBody>
            <a:bodyPr/>
            <a:lstStyle/>
            <a:p>
              <a:endParaRPr lang="en-US"/>
            </a:p>
          </p:txBody>
        </p:sp>
        <p:sp>
          <p:nvSpPr>
            <p:cNvPr id="53" name="Oval 19">
              <a:extLst>
                <a:ext uri="{FF2B5EF4-FFF2-40B4-BE49-F238E27FC236}">
                  <a16:creationId xmlns:a16="http://schemas.microsoft.com/office/drawing/2014/main" id="{A5B2B66A-DCBB-44C2-A991-250941097D7A}"/>
                </a:ext>
              </a:extLst>
            </p:cNvPr>
            <p:cNvSpPr>
              <a:spLocks noChangeArrowheads="1"/>
            </p:cNvSpPr>
            <p:nvPr/>
          </p:nvSpPr>
          <p:spPr bwMode="auto">
            <a:xfrm>
              <a:off x="4829175" y="258977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16</a:t>
              </a:r>
            </a:p>
          </p:txBody>
        </p:sp>
        <p:sp>
          <p:nvSpPr>
            <p:cNvPr id="54" name="Line 21">
              <a:extLst>
                <a:ext uri="{FF2B5EF4-FFF2-40B4-BE49-F238E27FC236}">
                  <a16:creationId xmlns:a16="http://schemas.microsoft.com/office/drawing/2014/main" id="{FBAB2E3B-BF36-4B8C-818F-55B078B90C36}"/>
                </a:ext>
              </a:extLst>
            </p:cNvPr>
            <p:cNvSpPr>
              <a:spLocks noChangeShapeType="1"/>
            </p:cNvSpPr>
            <p:nvPr/>
          </p:nvSpPr>
          <p:spPr bwMode="auto">
            <a:xfrm>
              <a:off x="4524673" y="2057400"/>
              <a:ext cx="590550" cy="543697"/>
            </a:xfrm>
            <a:prstGeom prst="line">
              <a:avLst/>
            </a:prstGeom>
            <a:noFill/>
            <a:ln w="9525">
              <a:solidFill>
                <a:schemeClr val="tx1"/>
              </a:solidFill>
              <a:prstDash val="solid"/>
              <a:round/>
              <a:headEnd/>
              <a:tailEnd/>
            </a:ln>
          </p:spPr>
          <p:txBody>
            <a:bodyPr/>
            <a:lstStyle/>
            <a:p>
              <a:endParaRPr lang="en-US"/>
            </a:p>
          </p:txBody>
        </p:sp>
      </p:grpSp>
      <p:sp>
        <p:nvSpPr>
          <p:cNvPr id="55" name="Oval 10">
            <a:extLst>
              <a:ext uri="{FF2B5EF4-FFF2-40B4-BE49-F238E27FC236}">
                <a16:creationId xmlns:a16="http://schemas.microsoft.com/office/drawing/2014/main" id="{C59F123C-4FA4-45B7-8CC4-D36044A1D10A}"/>
              </a:ext>
            </a:extLst>
          </p:cNvPr>
          <p:cNvSpPr>
            <a:spLocks noChangeArrowheads="1"/>
          </p:cNvSpPr>
          <p:nvPr/>
        </p:nvSpPr>
        <p:spPr bwMode="auto">
          <a:xfrm>
            <a:off x="6492973" y="5725824"/>
            <a:ext cx="6823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10</a:t>
            </a:r>
          </a:p>
        </p:txBody>
      </p:sp>
      <p:sp>
        <p:nvSpPr>
          <p:cNvPr id="56" name="Line 16">
            <a:extLst>
              <a:ext uri="{FF2B5EF4-FFF2-40B4-BE49-F238E27FC236}">
                <a16:creationId xmlns:a16="http://schemas.microsoft.com/office/drawing/2014/main" id="{2B39D606-8B06-45FF-A2D9-06B5D416E6D8}"/>
              </a:ext>
            </a:extLst>
          </p:cNvPr>
          <p:cNvSpPr>
            <a:spLocks noChangeShapeType="1"/>
          </p:cNvSpPr>
          <p:nvPr/>
        </p:nvSpPr>
        <p:spPr bwMode="auto">
          <a:xfrm flipH="1">
            <a:off x="6947856" y="5272743"/>
            <a:ext cx="341162" cy="453081"/>
          </a:xfrm>
          <a:prstGeom prst="line">
            <a:avLst/>
          </a:prstGeom>
          <a:noFill/>
          <a:ln w="9525">
            <a:solidFill>
              <a:schemeClr val="tx1"/>
            </a:solidFill>
            <a:round/>
            <a:headEnd/>
            <a:tailEnd/>
          </a:ln>
        </p:spPr>
        <p:txBody>
          <a:bodyPr/>
          <a:lstStyle/>
          <a:p>
            <a:endParaRPr lang="en-US"/>
          </a:p>
        </p:txBody>
      </p:sp>
      <p:sp>
        <p:nvSpPr>
          <p:cNvPr id="57" name="Oval 19">
            <a:extLst>
              <a:ext uri="{FF2B5EF4-FFF2-40B4-BE49-F238E27FC236}">
                <a16:creationId xmlns:a16="http://schemas.microsoft.com/office/drawing/2014/main" id="{8FC1B62D-D2BD-4691-A8CB-A8BDE5FCE192}"/>
              </a:ext>
            </a:extLst>
          </p:cNvPr>
          <p:cNvSpPr>
            <a:spLocks noChangeArrowheads="1"/>
          </p:cNvSpPr>
          <p:nvPr/>
        </p:nvSpPr>
        <p:spPr bwMode="auto">
          <a:xfrm>
            <a:off x="7485467" y="5797586"/>
            <a:ext cx="6823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9</a:t>
            </a:r>
          </a:p>
        </p:txBody>
      </p:sp>
      <p:sp>
        <p:nvSpPr>
          <p:cNvPr id="58" name="Line 21">
            <a:extLst>
              <a:ext uri="{FF2B5EF4-FFF2-40B4-BE49-F238E27FC236}">
                <a16:creationId xmlns:a16="http://schemas.microsoft.com/office/drawing/2014/main" id="{F33EDE39-8921-453F-95A0-45AE18270F2C}"/>
              </a:ext>
            </a:extLst>
          </p:cNvPr>
          <p:cNvSpPr>
            <a:spLocks noChangeShapeType="1"/>
          </p:cNvSpPr>
          <p:nvPr/>
        </p:nvSpPr>
        <p:spPr bwMode="auto">
          <a:xfrm>
            <a:off x="7608171" y="5275834"/>
            <a:ext cx="179796" cy="532370"/>
          </a:xfrm>
          <a:prstGeom prst="line">
            <a:avLst/>
          </a:prstGeom>
          <a:noFill/>
          <a:ln w="9525">
            <a:solidFill>
              <a:schemeClr val="tx1"/>
            </a:solidFill>
            <a:prstDash val="solid"/>
            <a:round/>
            <a:headEnd/>
            <a:tailEnd/>
          </a:ln>
        </p:spPr>
        <p:txBody>
          <a:bodyPr/>
          <a:lstStyle/>
          <a:p>
            <a:endParaRPr lang="en-US"/>
          </a:p>
        </p:txBody>
      </p:sp>
      <p:sp>
        <p:nvSpPr>
          <p:cNvPr id="59" name="Oval 58">
            <a:extLst>
              <a:ext uri="{FF2B5EF4-FFF2-40B4-BE49-F238E27FC236}">
                <a16:creationId xmlns:a16="http://schemas.microsoft.com/office/drawing/2014/main" id="{6EE5EAA3-27FC-446B-9B61-C73A7F879760}"/>
              </a:ext>
            </a:extLst>
          </p:cNvPr>
          <p:cNvSpPr>
            <a:spLocks noChangeArrowheads="1"/>
          </p:cNvSpPr>
          <p:nvPr/>
        </p:nvSpPr>
        <p:spPr bwMode="auto">
          <a:xfrm>
            <a:off x="8217564" y="5794690"/>
            <a:ext cx="679176" cy="49236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35</a:t>
            </a:r>
          </a:p>
        </p:txBody>
      </p:sp>
      <p:sp>
        <p:nvSpPr>
          <p:cNvPr id="60" name="Line 16">
            <a:extLst>
              <a:ext uri="{FF2B5EF4-FFF2-40B4-BE49-F238E27FC236}">
                <a16:creationId xmlns:a16="http://schemas.microsoft.com/office/drawing/2014/main" id="{52EA53CE-AF14-4F91-9601-9B795125D803}"/>
              </a:ext>
            </a:extLst>
          </p:cNvPr>
          <p:cNvSpPr>
            <a:spLocks noChangeShapeType="1"/>
          </p:cNvSpPr>
          <p:nvPr/>
        </p:nvSpPr>
        <p:spPr bwMode="auto">
          <a:xfrm flipH="1">
            <a:off x="8524082" y="5368987"/>
            <a:ext cx="196485" cy="425614"/>
          </a:xfrm>
          <a:prstGeom prst="line">
            <a:avLst/>
          </a:prstGeom>
          <a:noFill/>
          <a:ln w="9525">
            <a:solidFill>
              <a:schemeClr val="tx1"/>
            </a:solidFill>
            <a:round/>
            <a:headEnd/>
            <a:tailEnd/>
          </a:ln>
        </p:spPr>
        <p:txBody>
          <a:bodyPr/>
          <a:lstStyle/>
          <a:p>
            <a:endParaRPr lang="en-US"/>
          </a:p>
        </p:txBody>
      </p:sp>
    </p:spTree>
    <p:extLst>
      <p:ext uri="{BB962C8B-B14F-4D97-AF65-F5344CB8AC3E}">
        <p14:creationId xmlns:p14="http://schemas.microsoft.com/office/powerpoint/2010/main" val="41558145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4947EF8-A15D-4983-59E6-FD06F217261B}"/>
              </a:ext>
            </a:extLst>
          </p:cNvPr>
          <p:cNvPicPr>
            <a:picLocks noGrp="1" noChangeAspect="1"/>
          </p:cNvPicPr>
          <p:nvPr>
            <p:ph idx="4294967295"/>
          </p:nvPr>
        </p:nvPicPr>
        <p:blipFill>
          <a:blip r:embed="rId3"/>
          <a:stretch>
            <a:fillRect/>
          </a:stretch>
        </p:blipFill>
        <p:spPr>
          <a:xfrm>
            <a:off x="613187" y="193507"/>
            <a:ext cx="10757646" cy="6265862"/>
          </a:xfrm>
          <a:prstGeom prst="rect">
            <a:avLst/>
          </a:prstGeom>
        </p:spPr>
      </p:pic>
    </p:spTree>
    <p:extLst>
      <p:ext uri="{BB962C8B-B14F-4D97-AF65-F5344CB8AC3E}">
        <p14:creationId xmlns:p14="http://schemas.microsoft.com/office/powerpoint/2010/main" val="24836552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79C30-89B2-FBAA-99A1-6367678BC6C7}"/>
              </a:ext>
            </a:extLst>
          </p:cNvPr>
          <p:cNvSpPr>
            <a:spLocks noGrp="1"/>
          </p:cNvSpPr>
          <p:nvPr>
            <p:ph type="title"/>
          </p:nvPr>
        </p:nvSpPr>
        <p:spPr/>
        <p:txBody>
          <a:bodyPr/>
          <a:lstStyle/>
          <a:p>
            <a:r>
              <a:rPr lang="en-US" dirty="0"/>
              <a:t>Time Complexity</a:t>
            </a:r>
          </a:p>
        </p:txBody>
      </p:sp>
      <p:sp>
        <p:nvSpPr>
          <p:cNvPr id="3" name="Content Placeholder 2">
            <a:extLst>
              <a:ext uri="{FF2B5EF4-FFF2-40B4-BE49-F238E27FC236}">
                <a16:creationId xmlns:a16="http://schemas.microsoft.com/office/drawing/2014/main" id="{0E55C7AA-B1AC-ECEB-60B6-3D0E59487779}"/>
              </a:ext>
            </a:extLst>
          </p:cNvPr>
          <p:cNvSpPr>
            <a:spLocks noGrp="1"/>
          </p:cNvSpPr>
          <p:nvPr>
            <p:ph idx="1"/>
          </p:nvPr>
        </p:nvSpPr>
        <p:spPr/>
        <p:txBody>
          <a:bodyPr/>
          <a:lstStyle/>
          <a:p>
            <a:r>
              <a:rPr lang="en-US" sz="2400" dirty="0"/>
              <a:t>The </a:t>
            </a:r>
            <a:r>
              <a:rPr lang="en-US" sz="2400" b="1" dirty="0"/>
              <a:t>best-case scenario </a:t>
            </a:r>
            <a:r>
              <a:rPr lang="en-US" sz="2400" dirty="0"/>
              <a:t>for insertion is when the new element does not need to be moved, which occurs in constant time, </a:t>
            </a:r>
            <a:r>
              <a:rPr lang="en-US" sz="2400" b="1" dirty="0"/>
              <a:t>O(1)</a:t>
            </a:r>
            <a:r>
              <a:rPr lang="en-US" sz="2400" dirty="0"/>
              <a:t>. </a:t>
            </a:r>
          </a:p>
          <a:p>
            <a:r>
              <a:rPr lang="en-US" sz="2400" dirty="0"/>
              <a:t>However, in the </a:t>
            </a:r>
            <a:r>
              <a:rPr lang="en-US" sz="2400" b="1" dirty="0"/>
              <a:t>worst-case scenario</a:t>
            </a:r>
            <a:r>
              <a:rPr lang="en-US" sz="2400" dirty="0"/>
              <a:t>, the new element may need to be swapped up through the heap until it reaches the root. Since a heap is a complete binary tree, the height of the tree is </a:t>
            </a:r>
            <a:r>
              <a:rPr lang="en-US" sz="2400" b="1" dirty="0"/>
              <a:t>O(log n), </a:t>
            </a:r>
            <a:r>
              <a:rPr lang="en-US" sz="2400" dirty="0"/>
              <a:t>where n is the number of elements in the heap. Therefore, the worst-case time complexity for insertion is </a:t>
            </a:r>
            <a:r>
              <a:rPr lang="en-US" sz="2400" b="1" dirty="0"/>
              <a:t>O(log n).</a:t>
            </a:r>
          </a:p>
          <a:p>
            <a:r>
              <a:rPr lang="en-US" sz="2400" dirty="0"/>
              <a:t>The </a:t>
            </a:r>
            <a:r>
              <a:rPr lang="en-US" sz="2400" b="1" dirty="0"/>
              <a:t>average-case time complexity </a:t>
            </a:r>
            <a:r>
              <a:rPr lang="en-US" sz="2400" dirty="0"/>
              <a:t>for insertion also turns out to be </a:t>
            </a:r>
            <a:r>
              <a:rPr lang="en-US" sz="2400" b="1" dirty="0"/>
              <a:t>O(log n), </a:t>
            </a:r>
            <a:r>
              <a:rPr lang="en-US" sz="2400" dirty="0"/>
              <a:t>considering that the new element might need to be swapped up to a level that's halfway up the heap on average.</a:t>
            </a:r>
          </a:p>
          <a:p>
            <a:endParaRPr lang="en-US" sz="2400" dirty="0"/>
          </a:p>
          <a:p>
            <a:endParaRPr lang="en-US" dirty="0"/>
          </a:p>
        </p:txBody>
      </p:sp>
    </p:spTree>
    <p:extLst>
      <p:ext uri="{BB962C8B-B14F-4D97-AF65-F5344CB8AC3E}">
        <p14:creationId xmlns:p14="http://schemas.microsoft.com/office/powerpoint/2010/main" val="7183108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Insertion in Heap</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27</a:t>
            </a:fld>
            <a:endParaRPr sz="900">
              <a:solidFill>
                <a:prstClr val="black"/>
              </a:solidFill>
              <a:latin typeface="Malgun Gothic"/>
              <a:cs typeface="Malgun Gothic"/>
            </a:endParaRPr>
          </a:p>
        </p:txBody>
      </p:sp>
      <p:sp>
        <p:nvSpPr>
          <p:cNvPr id="14" name="Content Placeholder 2">
            <a:extLst>
              <a:ext uri="{FF2B5EF4-FFF2-40B4-BE49-F238E27FC236}">
                <a16:creationId xmlns:a16="http://schemas.microsoft.com/office/drawing/2014/main" id="{37F996B0-A723-48DF-8356-FEF1BF457471}"/>
              </a:ext>
            </a:extLst>
          </p:cNvPr>
          <p:cNvSpPr txBox="1">
            <a:spLocks/>
          </p:cNvSpPr>
          <p:nvPr/>
        </p:nvSpPr>
        <p:spPr>
          <a:xfrm>
            <a:off x="1080675" y="2146637"/>
            <a:ext cx="10178775" cy="5181600"/>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sp>
        <p:nvSpPr>
          <p:cNvPr id="28" name="Content Placeholder 2">
            <a:extLst>
              <a:ext uri="{FF2B5EF4-FFF2-40B4-BE49-F238E27FC236}">
                <a16:creationId xmlns:a16="http://schemas.microsoft.com/office/drawing/2014/main" id="{45BBD69E-D21F-48A0-A838-6DA1FEA0106C}"/>
              </a:ext>
            </a:extLst>
          </p:cNvPr>
          <p:cNvSpPr txBox="1">
            <a:spLocks/>
          </p:cNvSpPr>
          <p:nvPr/>
        </p:nvSpPr>
        <p:spPr>
          <a:xfrm>
            <a:off x="1064172" y="2177206"/>
            <a:ext cx="10178775" cy="4680794"/>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grpSp>
        <p:nvGrpSpPr>
          <p:cNvPr id="40" name="Group 39">
            <a:extLst>
              <a:ext uri="{FF2B5EF4-FFF2-40B4-BE49-F238E27FC236}">
                <a16:creationId xmlns:a16="http://schemas.microsoft.com/office/drawing/2014/main" id="{28736359-4AC4-4755-8526-9B72F6064208}"/>
              </a:ext>
            </a:extLst>
          </p:cNvPr>
          <p:cNvGrpSpPr/>
          <p:nvPr/>
        </p:nvGrpSpPr>
        <p:grpSpPr>
          <a:xfrm>
            <a:off x="4151648" y="2897318"/>
            <a:ext cx="4343400" cy="2447667"/>
            <a:chOff x="76200" y="685800"/>
            <a:chExt cx="5638800" cy="2447667"/>
          </a:xfrm>
        </p:grpSpPr>
        <p:sp>
          <p:nvSpPr>
            <p:cNvPr id="42" name="Oval 5">
              <a:extLst>
                <a:ext uri="{FF2B5EF4-FFF2-40B4-BE49-F238E27FC236}">
                  <a16:creationId xmlns:a16="http://schemas.microsoft.com/office/drawing/2014/main" id="{7CB90919-B270-4D77-A901-34A74CDA9265}"/>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70</a:t>
              </a:r>
            </a:p>
          </p:txBody>
        </p:sp>
        <p:sp>
          <p:nvSpPr>
            <p:cNvPr id="43" name="Oval 6">
              <a:extLst>
                <a:ext uri="{FF2B5EF4-FFF2-40B4-BE49-F238E27FC236}">
                  <a16:creationId xmlns:a16="http://schemas.microsoft.com/office/drawing/2014/main" id="{A077DA7F-DAEA-4B67-BEE2-15B7D7B544DB}"/>
                </a:ext>
              </a:extLst>
            </p:cNvPr>
            <p:cNvSpPr>
              <a:spLocks noChangeArrowheads="1"/>
            </p:cNvSpPr>
            <p:nvPr/>
          </p:nvSpPr>
          <p:spPr bwMode="auto">
            <a:xfrm>
              <a:off x="962025" y="1501346"/>
              <a:ext cx="885825" cy="543697"/>
            </a:xfrm>
            <a:prstGeom prst="ellipse">
              <a:avLst/>
            </a:prstGeom>
            <a:solidFill>
              <a:srgbClr val="FFC000"/>
            </a:solidFill>
            <a:ln w="9525">
              <a:solidFill>
                <a:schemeClr val="tx1"/>
              </a:solidFill>
              <a:round/>
              <a:headEnd/>
              <a:tailEnd/>
            </a:ln>
          </p:spPr>
          <p:txBody>
            <a:bodyPr wrap="none" anchor="ctr"/>
            <a:lstStyle/>
            <a:p>
              <a:pPr algn="ctr"/>
              <a:r>
                <a:rPr lang="en-US" dirty="0">
                  <a:latin typeface="Times New Roman" pitchFamily="18" charset="0"/>
                </a:rPr>
                <a:t>60</a:t>
              </a:r>
            </a:p>
          </p:txBody>
        </p:sp>
        <p:sp>
          <p:nvSpPr>
            <p:cNvPr id="44" name="Oval 7">
              <a:extLst>
                <a:ext uri="{FF2B5EF4-FFF2-40B4-BE49-F238E27FC236}">
                  <a16:creationId xmlns:a16="http://schemas.microsoft.com/office/drawing/2014/main" id="{DB5C1DDC-5418-4B52-98AC-524385EAA43A}"/>
                </a:ext>
              </a:extLst>
            </p:cNvPr>
            <p:cNvSpPr>
              <a:spLocks noChangeArrowheads="1"/>
            </p:cNvSpPr>
            <p:nvPr/>
          </p:nvSpPr>
          <p:spPr bwMode="auto">
            <a:xfrm>
              <a:off x="3914774"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40</a:t>
              </a:r>
            </a:p>
          </p:txBody>
        </p:sp>
        <p:sp>
          <p:nvSpPr>
            <p:cNvPr id="45" name="Oval 10">
              <a:extLst>
                <a:ext uri="{FF2B5EF4-FFF2-40B4-BE49-F238E27FC236}">
                  <a16:creationId xmlns:a16="http://schemas.microsoft.com/office/drawing/2014/main" id="{3F726F3A-21B9-4CF2-A467-906612EA8AAD}"/>
                </a:ext>
              </a:extLst>
            </p:cNvPr>
            <p:cNvSpPr>
              <a:spLocks noChangeArrowheads="1"/>
            </p:cNvSpPr>
            <p:nvPr/>
          </p:nvSpPr>
          <p:spPr bwMode="auto">
            <a:xfrm>
              <a:off x="76200" y="249812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45</a:t>
              </a:r>
            </a:p>
          </p:txBody>
        </p:sp>
        <p:sp>
          <p:nvSpPr>
            <p:cNvPr id="46" name="Line 12">
              <a:extLst>
                <a:ext uri="{FF2B5EF4-FFF2-40B4-BE49-F238E27FC236}">
                  <a16:creationId xmlns:a16="http://schemas.microsoft.com/office/drawing/2014/main" id="{9E76BC02-B24D-44EC-ADB2-8A6F7C0A87F9}"/>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sp>
          <p:nvSpPr>
            <p:cNvPr id="47" name="Line 13">
              <a:extLst>
                <a:ext uri="{FF2B5EF4-FFF2-40B4-BE49-F238E27FC236}">
                  <a16:creationId xmlns:a16="http://schemas.microsoft.com/office/drawing/2014/main" id="{ED4659BE-70B4-4B4D-99A7-C9498C37BA4C}"/>
                </a:ext>
              </a:extLst>
            </p:cNvPr>
            <p:cNvSpPr>
              <a:spLocks noChangeShapeType="1"/>
            </p:cNvSpPr>
            <p:nvPr/>
          </p:nvSpPr>
          <p:spPr bwMode="auto">
            <a:xfrm>
              <a:off x="3176587" y="1138881"/>
              <a:ext cx="885825" cy="362465"/>
            </a:xfrm>
            <a:prstGeom prst="line">
              <a:avLst/>
            </a:prstGeom>
            <a:noFill/>
            <a:ln w="9525">
              <a:solidFill>
                <a:schemeClr val="tx1"/>
              </a:solidFill>
              <a:round/>
              <a:headEnd/>
              <a:tailEnd/>
            </a:ln>
          </p:spPr>
          <p:txBody>
            <a:bodyPr/>
            <a:lstStyle/>
            <a:p>
              <a:endParaRPr lang="en-US"/>
            </a:p>
          </p:txBody>
        </p:sp>
        <p:sp>
          <p:nvSpPr>
            <p:cNvPr id="48" name="Line 16">
              <a:extLst>
                <a:ext uri="{FF2B5EF4-FFF2-40B4-BE49-F238E27FC236}">
                  <a16:creationId xmlns:a16="http://schemas.microsoft.com/office/drawing/2014/main" id="{DAA1BB4E-5600-4E80-858C-BFE1981D4393}"/>
                </a:ext>
              </a:extLst>
            </p:cNvPr>
            <p:cNvSpPr>
              <a:spLocks noChangeShapeType="1"/>
            </p:cNvSpPr>
            <p:nvPr/>
          </p:nvSpPr>
          <p:spPr bwMode="auto">
            <a:xfrm flipH="1">
              <a:off x="666750" y="2045043"/>
              <a:ext cx="442912" cy="453081"/>
            </a:xfrm>
            <a:prstGeom prst="line">
              <a:avLst/>
            </a:prstGeom>
            <a:noFill/>
            <a:ln w="9525">
              <a:solidFill>
                <a:schemeClr val="tx1"/>
              </a:solidFill>
              <a:round/>
              <a:headEnd/>
              <a:tailEnd/>
            </a:ln>
          </p:spPr>
          <p:txBody>
            <a:bodyPr/>
            <a:lstStyle/>
            <a:p>
              <a:endParaRPr lang="en-US"/>
            </a:p>
          </p:txBody>
        </p:sp>
        <p:sp>
          <p:nvSpPr>
            <p:cNvPr id="49" name="Oval 19">
              <a:extLst>
                <a:ext uri="{FF2B5EF4-FFF2-40B4-BE49-F238E27FC236}">
                  <a16:creationId xmlns:a16="http://schemas.microsoft.com/office/drawing/2014/main" id="{147D6900-9817-4170-8086-43F4F9AE5037}"/>
                </a:ext>
              </a:extLst>
            </p:cNvPr>
            <p:cNvSpPr>
              <a:spLocks noChangeArrowheads="1"/>
            </p:cNvSpPr>
            <p:nvPr/>
          </p:nvSpPr>
          <p:spPr bwMode="auto">
            <a:xfrm>
              <a:off x="1828502" y="2580503"/>
              <a:ext cx="885825" cy="543697"/>
            </a:xfrm>
            <a:prstGeom prst="ellipse">
              <a:avLst/>
            </a:prstGeom>
            <a:solidFill>
              <a:srgbClr val="FFC000"/>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50" name="Line 21">
              <a:extLst>
                <a:ext uri="{FF2B5EF4-FFF2-40B4-BE49-F238E27FC236}">
                  <a16:creationId xmlns:a16="http://schemas.microsoft.com/office/drawing/2014/main" id="{2D7AD81C-A839-4353-98C7-09DDE7327019}"/>
                </a:ext>
              </a:extLst>
            </p:cNvPr>
            <p:cNvSpPr>
              <a:spLocks noChangeShapeType="1"/>
            </p:cNvSpPr>
            <p:nvPr/>
          </p:nvSpPr>
          <p:spPr bwMode="auto">
            <a:xfrm>
              <a:off x="1524000" y="2048133"/>
              <a:ext cx="590550" cy="543697"/>
            </a:xfrm>
            <a:prstGeom prst="line">
              <a:avLst/>
            </a:prstGeom>
            <a:noFill/>
            <a:ln w="9525">
              <a:solidFill>
                <a:schemeClr val="tx1"/>
              </a:solidFill>
              <a:prstDash val="solid"/>
              <a:round/>
              <a:headEnd/>
              <a:tailEnd/>
            </a:ln>
          </p:spPr>
          <p:txBody>
            <a:bodyPr/>
            <a:lstStyle/>
            <a:p>
              <a:endParaRPr lang="en-US"/>
            </a:p>
          </p:txBody>
        </p:sp>
        <p:sp>
          <p:nvSpPr>
            <p:cNvPr id="51" name="Oval 50">
              <a:extLst>
                <a:ext uri="{FF2B5EF4-FFF2-40B4-BE49-F238E27FC236}">
                  <a16:creationId xmlns:a16="http://schemas.microsoft.com/office/drawing/2014/main" id="{560DD4D7-50A8-4813-86B0-E3FB693980A8}"/>
                </a:ext>
              </a:extLst>
            </p:cNvPr>
            <p:cNvSpPr>
              <a:spLocks noChangeArrowheads="1"/>
            </p:cNvSpPr>
            <p:nvPr/>
          </p:nvSpPr>
          <p:spPr bwMode="auto">
            <a:xfrm>
              <a:off x="3124200"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39</a:t>
              </a:r>
            </a:p>
          </p:txBody>
        </p:sp>
        <p:sp>
          <p:nvSpPr>
            <p:cNvPr id="52" name="Line 21">
              <a:extLst>
                <a:ext uri="{FF2B5EF4-FFF2-40B4-BE49-F238E27FC236}">
                  <a16:creationId xmlns:a16="http://schemas.microsoft.com/office/drawing/2014/main" id="{EE22F988-EC78-40DB-9745-16891C7B7BAA}"/>
                </a:ext>
              </a:extLst>
            </p:cNvPr>
            <p:cNvSpPr>
              <a:spLocks noChangeShapeType="1"/>
            </p:cNvSpPr>
            <p:nvPr/>
          </p:nvSpPr>
          <p:spPr bwMode="auto">
            <a:xfrm flipH="1">
              <a:off x="3562350" y="1981201"/>
              <a:ext cx="552450" cy="610630"/>
            </a:xfrm>
            <a:prstGeom prst="line">
              <a:avLst/>
            </a:prstGeom>
            <a:noFill/>
            <a:ln w="9525" cmpd="sng">
              <a:solidFill>
                <a:schemeClr val="tx1"/>
              </a:solidFill>
              <a:prstDash val="solid"/>
              <a:round/>
              <a:headEnd/>
              <a:tailEnd/>
            </a:ln>
          </p:spPr>
          <p:txBody>
            <a:bodyPr/>
            <a:lstStyle/>
            <a:p>
              <a:endParaRPr lang="en-US"/>
            </a:p>
          </p:txBody>
        </p:sp>
        <p:sp>
          <p:nvSpPr>
            <p:cNvPr id="53" name="Oval 19">
              <a:extLst>
                <a:ext uri="{FF2B5EF4-FFF2-40B4-BE49-F238E27FC236}">
                  <a16:creationId xmlns:a16="http://schemas.microsoft.com/office/drawing/2014/main" id="{A5B2B66A-DCBB-44C2-A991-250941097D7A}"/>
                </a:ext>
              </a:extLst>
            </p:cNvPr>
            <p:cNvSpPr>
              <a:spLocks noChangeArrowheads="1"/>
            </p:cNvSpPr>
            <p:nvPr/>
          </p:nvSpPr>
          <p:spPr bwMode="auto">
            <a:xfrm>
              <a:off x="4829175" y="258977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16</a:t>
              </a:r>
            </a:p>
          </p:txBody>
        </p:sp>
        <p:sp>
          <p:nvSpPr>
            <p:cNvPr id="54" name="Line 21">
              <a:extLst>
                <a:ext uri="{FF2B5EF4-FFF2-40B4-BE49-F238E27FC236}">
                  <a16:creationId xmlns:a16="http://schemas.microsoft.com/office/drawing/2014/main" id="{FBAB2E3B-BF36-4B8C-818F-55B078B90C36}"/>
                </a:ext>
              </a:extLst>
            </p:cNvPr>
            <p:cNvSpPr>
              <a:spLocks noChangeShapeType="1"/>
            </p:cNvSpPr>
            <p:nvPr/>
          </p:nvSpPr>
          <p:spPr bwMode="auto">
            <a:xfrm>
              <a:off x="4524673" y="2057400"/>
              <a:ext cx="590550" cy="543697"/>
            </a:xfrm>
            <a:prstGeom prst="line">
              <a:avLst/>
            </a:prstGeom>
            <a:noFill/>
            <a:ln w="9525">
              <a:solidFill>
                <a:schemeClr val="tx1"/>
              </a:solidFill>
              <a:prstDash val="solid"/>
              <a:round/>
              <a:headEnd/>
              <a:tailEnd/>
            </a:ln>
          </p:spPr>
          <p:txBody>
            <a:bodyPr/>
            <a:lstStyle/>
            <a:p>
              <a:endParaRPr lang="en-US"/>
            </a:p>
          </p:txBody>
        </p:sp>
      </p:grpSp>
      <p:sp>
        <p:nvSpPr>
          <p:cNvPr id="55" name="Oval 10">
            <a:extLst>
              <a:ext uri="{FF2B5EF4-FFF2-40B4-BE49-F238E27FC236}">
                <a16:creationId xmlns:a16="http://schemas.microsoft.com/office/drawing/2014/main" id="{C59F123C-4FA4-45B7-8CC4-D36044A1D10A}"/>
              </a:ext>
            </a:extLst>
          </p:cNvPr>
          <p:cNvSpPr>
            <a:spLocks noChangeArrowheads="1"/>
          </p:cNvSpPr>
          <p:nvPr/>
        </p:nvSpPr>
        <p:spPr bwMode="auto">
          <a:xfrm>
            <a:off x="3538980" y="5673702"/>
            <a:ext cx="6823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10</a:t>
            </a:r>
          </a:p>
        </p:txBody>
      </p:sp>
      <p:sp>
        <p:nvSpPr>
          <p:cNvPr id="56" name="Line 16">
            <a:extLst>
              <a:ext uri="{FF2B5EF4-FFF2-40B4-BE49-F238E27FC236}">
                <a16:creationId xmlns:a16="http://schemas.microsoft.com/office/drawing/2014/main" id="{2B39D606-8B06-45FF-A2D9-06B5D416E6D8}"/>
              </a:ext>
            </a:extLst>
          </p:cNvPr>
          <p:cNvSpPr>
            <a:spLocks noChangeShapeType="1"/>
          </p:cNvSpPr>
          <p:nvPr/>
        </p:nvSpPr>
        <p:spPr bwMode="auto">
          <a:xfrm flipH="1">
            <a:off x="3993863" y="5220621"/>
            <a:ext cx="341162" cy="453081"/>
          </a:xfrm>
          <a:prstGeom prst="line">
            <a:avLst/>
          </a:prstGeom>
          <a:noFill/>
          <a:ln w="9525">
            <a:solidFill>
              <a:schemeClr val="tx1"/>
            </a:solidFill>
            <a:round/>
            <a:headEnd/>
            <a:tailEnd/>
          </a:ln>
        </p:spPr>
        <p:txBody>
          <a:bodyPr/>
          <a:lstStyle/>
          <a:p>
            <a:endParaRPr lang="en-US"/>
          </a:p>
        </p:txBody>
      </p:sp>
      <p:sp>
        <p:nvSpPr>
          <p:cNvPr id="57" name="Oval 19">
            <a:extLst>
              <a:ext uri="{FF2B5EF4-FFF2-40B4-BE49-F238E27FC236}">
                <a16:creationId xmlns:a16="http://schemas.microsoft.com/office/drawing/2014/main" id="{8FC1B62D-D2BD-4691-A8CB-A8BDE5FCE192}"/>
              </a:ext>
            </a:extLst>
          </p:cNvPr>
          <p:cNvSpPr>
            <a:spLocks noChangeArrowheads="1"/>
          </p:cNvSpPr>
          <p:nvPr/>
        </p:nvSpPr>
        <p:spPr bwMode="auto">
          <a:xfrm>
            <a:off x="4531474" y="5745464"/>
            <a:ext cx="6823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9</a:t>
            </a:r>
          </a:p>
        </p:txBody>
      </p:sp>
      <p:sp>
        <p:nvSpPr>
          <p:cNvPr id="58" name="Line 21">
            <a:extLst>
              <a:ext uri="{FF2B5EF4-FFF2-40B4-BE49-F238E27FC236}">
                <a16:creationId xmlns:a16="http://schemas.microsoft.com/office/drawing/2014/main" id="{F33EDE39-8921-453F-95A0-45AE18270F2C}"/>
              </a:ext>
            </a:extLst>
          </p:cNvPr>
          <p:cNvSpPr>
            <a:spLocks noChangeShapeType="1"/>
          </p:cNvSpPr>
          <p:nvPr/>
        </p:nvSpPr>
        <p:spPr bwMode="auto">
          <a:xfrm>
            <a:off x="4654178" y="5223712"/>
            <a:ext cx="179796" cy="532370"/>
          </a:xfrm>
          <a:prstGeom prst="line">
            <a:avLst/>
          </a:prstGeom>
          <a:noFill/>
          <a:ln w="9525">
            <a:solidFill>
              <a:schemeClr val="tx1"/>
            </a:solidFill>
            <a:prstDash val="solid"/>
            <a:round/>
            <a:headEnd/>
            <a:tailEnd/>
          </a:ln>
        </p:spPr>
        <p:txBody>
          <a:bodyPr/>
          <a:lstStyle/>
          <a:p>
            <a:endParaRPr lang="en-US"/>
          </a:p>
        </p:txBody>
      </p:sp>
      <p:sp>
        <p:nvSpPr>
          <p:cNvPr id="59" name="Oval 58">
            <a:extLst>
              <a:ext uri="{FF2B5EF4-FFF2-40B4-BE49-F238E27FC236}">
                <a16:creationId xmlns:a16="http://schemas.microsoft.com/office/drawing/2014/main" id="{6EE5EAA3-27FC-446B-9B61-C73A7F879760}"/>
              </a:ext>
            </a:extLst>
          </p:cNvPr>
          <p:cNvSpPr>
            <a:spLocks noChangeArrowheads="1"/>
          </p:cNvSpPr>
          <p:nvPr/>
        </p:nvSpPr>
        <p:spPr bwMode="auto">
          <a:xfrm>
            <a:off x="5263571" y="5742568"/>
            <a:ext cx="679176" cy="49236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35</a:t>
            </a:r>
          </a:p>
        </p:txBody>
      </p:sp>
      <p:sp>
        <p:nvSpPr>
          <p:cNvPr id="60" name="Line 16">
            <a:extLst>
              <a:ext uri="{FF2B5EF4-FFF2-40B4-BE49-F238E27FC236}">
                <a16:creationId xmlns:a16="http://schemas.microsoft.com/office/drawing/2014/main" id="{52EA53CE-AF14-4F91-9601-9B795125D803}"/>
              </a:ext>
            </a:extLst>
          </p:cNvPr>
          <p:cNvSpPr>
            <a:spLocks noChangeShapeType="1"/>
          </p:cNvSpPr>
          <p:nvPr/>
        </p:nvSpPr>
        <p:spPr bwMode="auto">
          <a:xfrm flipH="1">
            <a:off x="5570089" y="5316865"/>
            <a:ext cx="196485" cy="425614"/>
          </a:xfrm>
          <a:prstGeom prst="line">
            <a:avLst/>
          </a:prstGeom>
          <a:noFill/>
          <a:ln w="9525">
            <a:solidFill>
              <a:schemeClr val="tx1"/>
            </a:solidFill>
            <a:round/>
            <a:headEnd/>
            <a:tailEnd/>
          </a:ln>
        </p:spPr>
        <p:txBody>
          <a:bodyPr/>
          <a:lstStyle/>
          <a:p>
            <a:endParaRPr lang="en-US"/>
          </a:p>
        </p:txBody>
      </p:sp>
      <p:sp>
        <p:nvSpPr>
          <p:cNvPr id="61" name="TextBox 60">
            <a:extLst>
              <a:ext uri="{FF2B5EF4-FFF2-40B4-BE49-F238E27FC236}">
                <a16:creationId xmlns:a16="http://schemas.microsoft.com/office/drawing/2014/main" id="{765383CB-7480-4386-BEBB-C92A1A0C0C79}"/>
              </a:ext>
            </a:extLst>
          </p:cNvPr>
          <p:cNvSpPr txBox="1"/>
          <p:nvPr/>
        </p:nvSpPr>
        <p:spPr>
          <a:xfrm>
            <a:off x="1254157" y="2443573"/>
            <a:ext cx="6097656" cy="1200329"/>
          </a:xfrm>
          <a:prstGeom prst="rect">
            <a:avLst/>
          </a:prstGeom>
          <a:noFill/>
        </p:spPr>
        <p:txBody>
          <a:bodyPr wrap="square">
            <a:spAutoFit/>
          </a:bodyPr>
          <a:lstStyle/>
          <a:p>
            <a:pPr marL="0" indent="0">
              <a:buNone/>
            </a:pPr>
            <a:r>
              <a:rPr lang="en-US" sz="2400" b="1" dirty="0"/>
              <a:t>Yours Turn!</a:t>
            </a:r>
          </a:p>
          <a:p>
            <a:pPr marL="0" indent="0">
              <a:buNone/>
            </a:pPr>
            <a:endParaRPr lang="en-US" sz="2400" b="1" dirty="0"/>
          </a:p>
          <a:p>
            <a:pPr marL="0" indent="0">
              <a:buNone/>
            </a:pPr>
            <a:r>
              <a:rPr lang="en-US" sz="2400" b="1" dirty="0"/>
              <a:t>Insert 72</a:t>
            </a:r>
          </a:p>
        </p:txBody>
      </p:sp>
    </p:spTree>
    <p:extLst>
      <p:ext uri="{BB962C8B-B14F-4D97-AF65-F5344CB8AC3E}">
        <p14:creationId xmlns:p14="http://schemas.microsoft.com/office/powerpoint/2010/main" val="3027189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Deletion in Heap</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28</a:t>
            </a:fld>
            <a:endParaRPr sz="900">
              <a:solidFill>
                <a:prstClr val="black"/>
              </a:solidFill>
              <a:latin typeface="Malgun Gothic"/>
              <a:cs typeface="Malgun Gothic"/>
            </a:endParaRPr>
          </a:p>
        </p:txBody>
      </p:sp>
      <p:sp>
        <p:nvSpPr>
          <p:cNvPr id="12" name="Content Placeholder 2">
            <a:extLst>
              <a:ext uri="{FF2B5EF4-FFF2-40B4-BE49-F238E27FC236}">
                <a16:creationId xmlns:a16="http://schemas.microsoft.com/office/drawing/2014/main" id="{8BE963B2-4472-4A2F-9E9A-F2D83883B687}"/>
              </a:ext>
            </a:extLst>
          </p:cNvPr>
          <p:cNvSpPr>
            <a:spLocks noGrp="1"/>
          </p:cNvSpPr>
          <p:nvPr>
            <p:ph idx="1"/>
          </p:nvPr>
        </p:nvSpPr>
        <p:spPr>
          <a:xfrm>
            <a:off x="1094090" y="2012531"/>
            <a:ext cx="9979186" cy="4389120"/>
          </a:xfrm>
        </p:spPr>
        <p:txBody>
          <a:bodyPr>
            <a:normAutofit/>
          </a:bodyPr>
          <a:lstStyle/>
          <a:p>
            <a:r>
              <a:rPr lang="en-US" sz="2400" dirty="0"/>
              <a:t>In case of deletion, always root element is deleted first and it is replaced by last element. Besides condition of heap is maintained. </a:t>
            </a:r>
          </a:p>
        </p:txBody>
      </p:sp>
      <p:grpSp>
        <p:nvGrpSpPr>
          <p:cNvPr id="13" name="Group 12">
            <a:extLst>
              <a:ext uri="{FF2B5EF4-FFF2-40B4-BE49-F238E27FC236}">
                <a16:creationId xmlns:a16="http://schemas.microsoft.com/office/drawing/2014/main" id="{C7294390-F00C-4C02-9EC3-8E9B1AFBB5BD}"/>
              </a:ext>
            </a:extLst>
          </p:cNvPr>
          <p:cNvGrpSpPr/>
          <p:nvPr/>
        </p:nvGrpSpPr>
        <p:grpSpPr>
          <a:xfrm>
            <a:off x="3919155" y="3224601"/>
            <a:ext cx="4343400" cy="2447667"/>
            <a:chOff x="76200" y="685800"/>
            <a:chExt cx="5638800" cy="2447667"/>
          </a:xfrm>
        </p:grpSpPr>
        <p:sp>
          <p:nvSpPr>
            <p:cNvPr id="15" name="Oval 5">
              <a:extLst>
                <a:ext uri="{FF2B5EF4-FFF2-40B4-BE49-F238E27FC236}">
                  <a16:creationId xmlns:a16="http://schemas.microsoft.com/office/drawing/2014/main" id="{CBED30CD-A0B6-44ED-989D-65F163F8952F}"/>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16" name="Oval 6">
              <a:extLst>
                <a:ext uri="{FF2B5EF4-FFF2-40B4-BE49-F238E27FC236}">
                  <a16:creationId xmlns:a16="http://schemas.microsoft.com/office/drawing/2014/main" id="{877D2036-5366-487D-A611-67E46FB1709A}"/>
                </a:ext>
              </a:extLst>
            </p:cNvPr>
            <p:cNvSpPr>
              <a:spLocks noChangeArrowheads="1"/>
            </p:cNvSpPr>
            <p:nvPr/>
          </p:nvSpPr>
          <p:spPr bwMode="auto">
            <a:xfrm>
              <a:off x="962025"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40</a:t>
              </a:r>
            </a:p>
          </p:txBody>
        </p:sp>
        <p:sp>
          <p:nvSpPr>
            <p:cNvPr id="17" name="Oval 7">
              <a:extLst>
                <a:ext uri="{FF2B5EF4-FFF2-40B4-BE49-F238E27FC236}">
                  <a16:creationId xmlns:a16="http://schemas.microsoft.com/office/drawing/2014/main" id="{5F6635DF-6547-491F-83F7-D09AB05336D7}"/>
                </a:ext>
              </a:extLst>
            </p:cNvPr>
            <p:cNvSpPr>
              <a:spLocks noChangeArrowheads="1"/>
            </p:cNvSpPr>
            <p:nvPr/>
          </p:nvSpPr>
          <p:spPr bwMode="auto">
            <a:xfrm>
              <a:off x="3914774"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19" name="Oval 10">
              <a:extLst>
                <a:ext uri="{FF2B5EF4-FFF2-40B4-BE49-F238E27FC236}">
                  <a16:creationId xmlns:a16="http://schemas.microsoft.com/office/drawing/2014/main" id="{18854853-0A29-4AC7-884A-6DDD5FF85427}"/>
                </a:ext>
              </a:extLst>
            </p:cNvPr>
            <p:cNvSpPr>
              <a:spLocks noChangeArrowheads="1"/>
            </p:cNvSpPr>
            <p:nvPr/>
          </p:nvSpPr>
          <p:spPr bwMode="auto">
            <a:xfrm>
              <a:off x="76200" y="249812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20</a:t>
              </a:r>
            </a:p>
          </p:txBody>
        </p:sp>
        <p:sp>
          <p:nvSpPr>
            <p:cNvPr id="20" name="Line 12">
              <a:extLst>
                <a:ext uri="{FF2B5EF4-FFF2-40B4-BE49-F238E27FC236}">
                  <a16:creationId xmlns:a16="http://schemas.microsoft.com/office/drawing/2014/main" id="{875A8571-4975-4CF4-8974-F6D1C7E6A835}"/>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sp>
          <p:nvSpPr>
            <p:cNvPr id="21" name="Line 13">
              <a:extLst>
                <a:ext uri="{FF2B5EF4-FFF2-40B4-BE49-F238E27FC236}">
                  <a16:creationId xmlns:a16="http://schemas.microsoft.com/office/drawing/2014/main" id="{4BC607A7-94DE-4093-B20B-F70A0E0158E6}"/>
                </a:ext>
              </a:extLst>
            </p:cNvPr>
            <p:cNvSpPr>
              <a:spLocks noChangeShapeType="1"/>
            </p:cNvSpPr>
            <p:nvPr/>
          </p:nvSpPr>
          <p:spPr bwMode="auto">
            <a:xfrm>
              <a:off x="3176587" y="1138881"/>
              <a:ext cx="885825" cy="362465"/>
            </a:xfrm>
            <a:prstGeom prst="line">
              <a:avLst/>
            </a:prstGeom>
            <a:noFill/>
            <a:ln w="9525">
              <a:solidFill>
                <a:schemeClr val="tx1"/>
              </a:solidFill>
              <a:round/>
              <a:headEnd/>
              <a:tailEnd/>
            </a:ln>
          </p:spPr>
          <p:txBody>
            <a:bodyPr/>
            <a:lstStyle/>
            <a:p>
              <a:endParaRPr lang="en-US"/>
            </a:p>
          </p:txBody>
        </p:sp>
        <p:sp>
          <p:nvSpPr>
            <p:cNvPr id="22" name="Line 16">
              <a:extLst>
                <a:ext uri="{FF2B5EF4-FFF2-40B4-BE49-F238E27FC236}">
                  <a16:creationId xmlns:a16="http://schemas.microsoft.com/office/drawing/2014/main" id="{25CE5CFA-7D40-4005-AE2B-01C07D0B206F}"/>
                </a:ext>
              </a:extLst>
            </p:cNvPr>
            <p:cNvSpPr>
              <a:spLocks noChangeShapeType="1"/>
            </p:cNvSpPr>
            <p:nvPr/>
          </p:nvSpPr>
          <p:spPr bwMode="auto">
            <a:xfrm flipH="1">
              <a:off x="666750" y="2045043"/>
              <a:ext cx="442912" cy="453081"/>
            </a:xfrm>
            <a:prstGeom prst="line">
              <a:avLst/>
            </a:prstGeom>
            <a:noFill/>
            <a:ln w="9525">
              <a:solidFill>
                <a:schemeClr val="tx1"/>
              </a:solidFill>
              <a:round/>
              <a:headEnd/>
              <a:tailEnd/>
            </a:ln>
          </p:spPr>
          <p:txBody>
            <a:bodyPr/>
            <a:lstStyle/>
            <a:p>
              <a:endParaRPr lang="en-US"/>
            </a:p>
          </p:txBody>
        </p:sp>
        <p:sp>
          <p:nvSpPr>
            <p:cNvPr id="23" name="Oval 19">
              <a:extLst>
                <a:ext uri="{FF2B5EF4-FFF2-40B4-BE49-F238E27FC236}">
                  <a16:creationId xmlns:a16="http://schemas.microsoft.com/office/drawing/2014/main" id="{9BF8B98E-74B7-4A8E-A5CB-2B847197383F}"/>
                </a:ext>
              </a:extLst>
            </p:cNvPr>
            <p:cNvSpPr>
              <a:spLocks noChangeArrowheads="1"/>
            </p:cNvSpPr>
            <p:nvPr/>
          </p:nvSpPr>
          <p:spPr bwMode="auto">
            <a:xfrm>
              <a:off x="1828502"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22</a:t>
              </a:r>
            </a:p>
          </p:txBody>
        </p:sp>
        <p:sp>
          <p:nvSpPr>
            <p:cNvPr id="24" name="Line 21">
              <a:extLst>
                <a:ext uri="{FF2B5EF4-FFF2-40B4-BE49-F238E27FC236}">
                  <a16:creationId xmlns:a16="http://schemas.microsoft.com/office/drawing/2014/main" id="{B12178AA-C4D5-4054-9210-DC2987A044FB}"/>
                </a:ext>
              </a:extLst>
            </p:cNvPr>
            <p:cNvSpPr>
              <a:spLocks noChangeShapeType="1"/>
            </p:cNvSpPr>
            <p:nvPr/>
          </p:nvSpPr>
          <p:spPr bwMode="auto">
            <a:xfrm>
              <a:off x="1524000" y="2048133"/>
              <a:ext cx="590550" cy="543697"/>
            </a:xfrm>
            <a:prstGeom prst="line">
              <a:avLst/>
            </a:prstGeom>
            <a:noFill/>
            <a:ln w="9525">
              <a:solidFill>
                <a:schemeClr val="tx1"/>
              </a:solidFill>
              <a:prstDash val="solid"/>
              <a:round/>
              <a:headEnd/>
              <a:tailEnd/>
            </a:ln>
          </p:spPr>
          <p:txBody>
            <a:bodyPr/>
            <a:lstStyle/>
            <a:p>
              <a:endParaRPr lang="en-US"/>
            </a:p>
          </p:txBody>
        </p:sp>
        <p:sp>
          <p:nvSpPr>
            <p:cNvPr id="25" name="Oval 24">
              <a:extLst>
                <a:ext uri="{FF2B5EF4-FFF2-40B4-BE49-F238E27FC236}">
                  <a16:creationId xmlns:a16="http://schemas.microsoft.com/office/drawing/2014/main" id="{1A867C4A-669E-4B65-8C16-1D33817EFDCF}"/>
                </a:ext>
              </a:extLst>
            </p:cNvPr>
            <p:cNvSpPr>
              <a:spLocks noChangeArrowheads="1"/>
            </p:cNvSpPr>
            <p:nvPr/>
          </p:nvSpPr>
          <p:spPr bwMode="auto">
            <a:xfrm>
              <a:off x="3124200"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35</a:t>
              </a:r>
            </a:p>
          </p:txBody>
        </p:sp>
        <p:sp>
          <p:nvSpPr>
            <p:cNvPr id="26" name="Line 21">
              <a:extLst>
                <a:ext uri="{FF2B5EF4-FFF2-40B4-BE49-F238E27FC236}">
                  <a16:creationId xmlns:a16="http://schemas.microsoft.com/office/drawing/2014/main" id="{DBA83E4D-80DC-46D4-8A16-3E1194B1B407}"/>
                </a:ext>
              </a:extLst>
            </p:cNvPr>
            <p:cNvSpPr>
              <a:spLocks noChangeShapeType="1"/>
            </p:cNvSpPr>
            <p:nvPr/>
          </p:nvSpPr>
          <p:spPr bwMode="auto">
            <a:xfrm flipH="1">
              <a:off x="3562350" y="1981201"/>
              <a:ext cx="552450" cy="610630"/>
            </a:xfrm>
            <a:prstGeom prst="line">
              <a:avLst/>
            </a:prstGeom>
            <a:noFill/>
            <a:ln w="9525" cmpd="sng">
              <a:solidFill>
                <a:schemeClr val="tx1"/>
              </a:solidFill>
              <a:prstDash val="solid"/>
              <a:round/>
              <a:headEnd/>
              <a:tailEnd/>
            </a:ln>
          </p:spPr>
          <p:txBody>
            <a:bodyPr/>
            <a:lstStyle/>
            <a:p>
              <a:endParaRPr lang="en-US"/>
            </a:p>
          </p:txBody>
        </p:sp>
        <p:sp>
          <p:nvSpPr>
            <p:cNvPr id="27" name="Oval 19">
              <a:extLst>
                <a:ext uri="{FF2B5EF4-FFF2-40B4-BE49-F238E27FC236}">
                  <a16:creationId xmlns:a16="http://schemas.microsoft.com/office/drawing/2014/main" id="{ED2A3911-C29C-43E4-B1C8-8DC0D21B1F77}"/>
                </a:ext>
              </a:extLst>
            </p:cNvPr>
            <p:cNvSpPr>
              <a:spLocks noChangeArrowheads="1"/>
            </p:cNvSpPr>
            <p:nvPr/>
          </p:nvSpPr>
          <p:spPr bwMode="auto">
            <a:xfrm>
              <a:off x="4829175" y="258977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45</a:t>
              </a:r>
            </a:p>
          </p:txBody>
        </p:sp>
        <p:sp>
          <p:nvSpPr>
            <p:cNvPr id="28" name="Line 21">
              <a:extLst>
                <a:ext uri="{FF2B5EF4-FFF2-40B4-BE49-F238E27FC236}">
                  <a16:creationId xmlns:a16="http://schemas.microsoft.com/office/drawing/2014/main" id="{AC1FFD64-43B2-4875-80E0-823534B12CA8}"/>
                </a:ext>
              </a:extLst>
            </p:cNvPr>
            <p:cNvSpPr>
              <a:spLocks noChangeShapeType="1"/>
            </p:cNvSpPr>
            <p:nvPr/>
          </p:nvSpPr>
          <p:spPr bwMode="auto">
            <a:xfrm>
              <a:off x="4524673" y="2057400"/>
              <a:ext cx="590550" cy="543697"/>
            </a:xfrm>
            <a:prstGeom prst="line">
              <a:avLst/>
            </a:prstGeom>
            <a:noFill/>
            <a:ln w="9525">
              <a:solidFill>
                <a:schemeClr val="tx1"/>
              </a:solidFill>
              <a:prstDash val="solid"/>
              <a:round/>
              <a:headEnd/>
              <a:tailEnd/>
            </a:ln>
          </p:spPr>
          <p:txBody>
            <a:bodyPr/>
            <a:lstStyle/>
            <a:p>
              <a:endParaRPr lang="en-US"/>
            </a:p>
          </p:txBody>
        </p:sp>
      </p:grpSp>
    </p:spTree>
    <p:extLst>
      <p:ext uri="{BB962C8B-B14F-4D97-AF65-F5344CB8AC3E}">
        <p14:creationId xmlns:p14="http://schemas.microsoft.com/office/powerpoint/2010/main" val="6572092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Deletion in Heap</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29</a:t>
            </a:fld>
            <a:endParaRPr sz="900">
              <a:solidFill>
                <a:prstClr val="black"/>
              </a:solidFill>
              <a:latin typeface="Malgun Gothic"/>
              <a:cs typeface="Malgun Gothic"/>
            </a:endParaRPr>
          </a:p>
        </p:txBody>
      </p:sp>
      <p:sp>
        <p:nvSpPr>
          <p:cNvPr id="6" name="Content Placeholder 5">
            <a:extLst>
              <a:ext uri="{FF2B5EF4-FFF2-40B4-BE49-F238E27FC236}">
                <a16:creationId xmlns:a16="http://schemas.microsoft.com/office/drawing/2014/main" id="{C56B9AF3-72B0-49C7-A24F-667636942ACF}"/>
              </a:ext>
            </a:extLst>
          </p:cNvPr>
          <p:cNvSpPr>
            <a:spLocks noGrp="1"/>
          </p:cNvSpPr>
          <p:nvPr>
            <p:ph idx="1"/>
          </p:nvPr>
        </p:nvSpPr>
        <p:spPr>
          <a:xfrm>
            <a:off x="838200" y="2234483"/>
            <a:ext cx="10515600" cy="3942479"/>
          </a:xfrm>
        </p:spPr>
        <p:txBody>
          <a:bodyPr>
            <a:normAutofit/>
          </a:bodyPr>
          <a:lstStyle/>
          <a:p>
            <a:pPr marL="0" indent="0">
              <a:buNone/>
            </a:pPr>
            <a:r>
              <a:rPr lang="en-US" sz="2400" dirty="0"/>
              <a:t>To delete 44 in max heap tree</a:t>
            </a:r>
          </a:p>
        </p:txBody>
      </p:sp>
      <p:pic>
        <p:nvPicPr>
          <p:cNvPr id="8" name="Picture 7">
            <a:extLst>
              <a:ext uri="{FF2B5EF4-FFF2-40B4-BE49-F238E27FC236}">
                <a16:creationId xmlns:a16="http://schemas.microsoft.com/office/drawing/2014/main" id="{DF946152-1B73-4A62-8649-94A6BA05369C}"/>
              </a:ext>
            </a:extLst>
          </p:cNvPr>
          <p:cNvPicPr>
            <a:picLocks noChangeAspect="1"/>
          </p:cNvPicPr>
          <p:nvPr/>
        </p:nvPicPr>
        <p:blipFill>
          <a:blip r:embed="rId2"/>
          <a:stretch>
            <a:fillRect/>
          </a:stretch>
        </p:blipFill>
        <p:spPr>
          <a:xfrm>
            <a:off x="3077264" y="2812905"/>
            <a:ext cx="5638800" cy="3280939"/>
          </a:xfrm>
          <a:prstGeom prst="rect">
            <a:avLst/>
          </a:prstGeom>
        </p:spPr>
      </p:pic>
    </p:spTree>
    <p:extLst>
      <p:ext uri="{BB962C8B-B14F-4D97-AF65-F5344CB8AC3E}">
        <p14:creationId xmlns:p14="http://schemas.microsoft.com/office/powerpoint/2010/main" val="15637475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Deletion in Heap</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30</a:t>
            </a:fld>
            <a:endParaRPr sz="900">
              <a:solidFill>
                <a:prstClr val="black"/>
              </a:solidFill>
              <a:latin typeface="Malgun Gothic"/>
              <a:cs typeface="Malgun Gothic"/>
            </a:endParaRPr>
          </a:p>
        </p:txBody>
      </p:sp>
      <p:pic>
        <p:nvPicPr>
          <p:cNvPr id="4" name="Content Placeholder 3">
            <a:extLst>
              <a:ext uri="{FF2B5EF4-FFF2-40B4-BE49-F238E27FC236}">
                <a16:creationId xmlns:a16="http://schemas.microsoft.com/office/drawing/2014/main" id="{D30115C1-4949-4F23-B681-251FAB07050C}"/>
              </a:ext>
            </a:extLst>
          </p:cNvPr>
          <p:cNvPicPr>
            <a:picLocks noGrp="1" noChangeAspect="1"/>
          </p:cNvPicPr>
          <p:nvPr>
            <p:ph idx="1"/>
          </p:nvPr>
        </p:nvPicPr>
        <p:blipFill>
          <a:blip r:embed="rId2"/>
          <a:stretch>
            <a:fillRect/>
          </a:stretch>
        </p:blipFill>
        <p:spPr>
          <a:xfrm>
            <a:off x="2438400" y="2802966"/>
            <a:ext cx="6705600" cy="3527564"/>
          </a:xfrm>
        </p:spPr>
      </p:pic>
      <p:sp>
        <p:nvSpPr>
          <p:cNvPr id="12" name="Content Placeholder 5">
            <a:extLst>
              <a:ext uri="{FF2B5EF4-FFF2-40B4-BE49-F238E27FC236}">
                <a16:creationId xmlns:a16="http://schemas.microsoft.com/office/drawing/2014/main" id="{E8BCCD99-D83F-43A1-B05A-02BF3AC79029}"/>
              </a:ext>
            </a:extLst>
          </p:cNvPr>
          <p:cNvSpPr txBox="1">
            <a:spLocks/>
          </p:cNvSpPr>
          <p:nvPr/>
        </p:nvSpPr>
        <p:spPr>
          <a:xfrm>
            <a:off x="1222774" y="2234483"/>
            <a:ext cx="10161105" cy="3942479"/>
          </a:xfrm>
          <a:prstGeom prst="rect">
            <a:avLst/>
          </a:prstGeom>
        </p:spPr>
        <p:txBody>
          <a:bodyPr vert="horz" lIns="91440" tIns="45720" rIns="91440" bIns="45720" rtlCol="0">
            <a:normAutofit/>
          </a:bodyPr>
          <a:lstStyle>
            <a:lvl1pPr marL="228598" indent="-228598" algn="l" defTabSz="91439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5" indent="-228598" algn="l" defTabSz="91439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2" indent="-228598" algn="l" defTabSz="91439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0"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8" algn="l" defTabSz="91439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Swap it with the last element</a:t>
            </a:r>
          </a:p>
        </p:txBody>
      </p:sp>
    </p:spTree>
    <p:extLst>
      <p:ext uri="{BB962C8B-B14F-4D97-AF65-F5344CB8AC3E}">
        <p14:creationId xmlns:p14="http://schemas.microsoft.com/office/powerpoint/2010/main" val="42733040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Deletion in Heap</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31</a:t>
            </a:fld>
            <a:endParaRPr sz="900">
              <a:solidFill>
                <a:prstClr val="black"/>
              </a:solidFill>
              <a:latin typeface="Malgun Gothic"/>
              <a:cs typeface="Malgun Gothic"/>
            </a:endParaRPr>
          </a:p>
        </p:txBody>
      </p:sp>
      <p:pic>
        <p:nvPicPr>
          <p:cNvPr id="9" name="Picture 8">
            <a:extLst>
              <a:ext uri="{FF2B5EF4-FFF2-40B4-BE49-F238E27FC236}">
                <a16:creationId xmlns:a16="http://schemas.microsoft.com/office/drawing/2014/main" id="{0AF20D9E-4623-40E8-B0C8-3BC65111FAEB}"/>
              </a:ext>
            </a:extLst>
          </p:cNvPr>
          <p:cNvPicPr>
            <a:picLocks noChangeAspect="1"/>
          </p:cNvPicPr>
          <p:nvPr/>
        </p:nvPicPr>
        <p:blipFill>
          <a:blip r:embed="rId2"/>
          <a:stretch>
            <a:fillRect/>
          </a:stretch>
        </p:blipFill>
        <p:spPr>
          <a:xfrm>
            <a:off x="1222775" y="2378104"/>
            <a:ext cx="4951358" cy="2879696"/>
          </a:xfrm>
          <a:prstGeom prst="rect">
            <a:avLst/>
          </a:prstGeom>
        </p:spPr>
      </p:pic>
      <p:pic>
        <p:nvPicPr>
          <p:cNvPr id="6" name="Picture 5">
            <a:extLst>
              <a:ext uri="{FF2B5EF4-FFF2-40B4-BE49-F238E27FC236}">
                <a16:creationId xmlns:a16="http://schemas.microsoft.com/office/drawing/2014/main" id="{6CC84749-F156-4756-9433-2CB98FEA611C}"/>
              </a:ext>
            </a:extLst>
          </p:cNvPr>
          <p:cNvPicPr>
            <a:picLocks noChangeAspect="1"/>
          </p:cNvPicPr>
          <p:nvPr/>
        </p:nvPicPr>
        <p:blipFill>
          <a:blip r:embed="rId3"/>
          <a:stretch>
            <a:fillRect/>
          </a:stretch>
        </p:blipFill>
        <p:spPr>
          <a:xfrm>
            <a:off x="6400800" y="2644471"/>
            <a:ext cx="4968335" cy="2879696"/>
          </a:xfrm>
          <a:prstGeom prst="rect">
            <a:avLst/>
          </a:prstGeom>
        </p:spPr>
      </p:pic>
    </p:spTree>
    <p:extLst>
      <p:ext uri="{BB962C8B-B14F-4D97-AF65-F5344CB8AC3E}">
        <p14:creationId xmlns:p14="http://schemas.microsoft.com/office/powerpoint/2010/main" val="24995661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Deletion in Heap</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32</a:t>
            </a:fld>
            <a:endParaRPr sz="900">
              <a:solidFill>
                <a:prstClr val="black"/>
              </a:solidFill>
              <a:latin typeface="Malgun Gothic"/>
              <a:cs typeface="Malgun Gothic"/>
            </a:endParaRPr>
          </a:p>
        </p:txBody>
      </p:sp>
      <p:pic>
        <p:nvPicPr>
          <p:cNvPr id="7" name="Content Placeholder 6">
            <a:extLst>
              <a:ext uri="{FF2B5EF4-FFF2-40B4-BE49-F238E27FC236}">
                <a16:creationId xmlns:a16="http://schemas.microsoft.com/office/drawing/2014/main" id="{9AE55EB8-D350-48CC-9EDD-BA0F29625429}"/>
              </a:ext>
            </a:extLst>
          </p:cNvPr>
          <p:cNvPicPr>
            <a:picLocks noGrp="1" noChangeAspect="1"/>
          </p:cNvPicPr>
          <p:nvPr>
            <p:ph idx="1"/>
          </p:nvPr>
        </p:nvPicPr>
        <p:blipFill>
          <a:blip r:embed="rId2"/>
          <a:stretch>
            <a:fillRect/>
          </a:stretch>
        </p:blipFill>
        <p:spPr>
          <a:xfrm>
            <a:off x="7040946" y="2667000"/>
            <a:ext cx="4313294" cy="2682472"/>
          </a:xfrm>
        </p:spPr>
      </p:pic>
      <p:pic>
        <p:nvPicPr>
          <p:cNvPr id="4" name="Picture 3">
            <a:extLst>
              <a:ext uri="{FF2B5EF4-FFF2-40B4-BE49-F238E27FC236}">
                <a16:creationId xmlns:a16="http://schemas.microsoft.com/office/drawing/2014/main" id="{FD358BC3-984D-41D9-ACA1-C38883BD2814}"/>
              </a:ext>
            </a:extLst>
          </p:cNvPr>
          <p:cNvPicPr>
            <a:picLocks noChangeAspect="1"/>
          </p:cNvPicPr>
          <p:nvPr/>
        </p:nvPicPr>
        <p:blipFill>
          <a:blip r:embed="rId3"/>
          <a:stretch>
            <a:fillRect/>
          </a:stretch>
        </p:blipFill>
        <p:spPr>
          <a:xfrm>
            <a:off x="1222775" y="2543199"/>
            <a:ext cx="4623589" cy="2806273"/>
          </a:xfrm>
          <a:prstGeom prst="rect">
            <a:avLst/>
          </a:prstGeom>
        </p:spPr>
      </p:pic>
    </p:spTree>
    <p:extLst>
      <p:ext uri="{BB962C8B-B14F-4D97-AF65-F5344CB8AC3E}">
        <p14:creationId xmlns:p14="http://schemas.microsoft.com/office/powerpoint/2010/main" val="38629766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Deletion in Heap</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33</a:t>
            </a:fld>
            <a:endParaRPr sz="900">
              <a:solidFill>
                <a:prstClr val="black"/>
              </a:solidFill>
              <a:latin typeface="Malgun Gothic"/>
              <a:cs typeface="Malgun Gothic"/>
            </a:endParaRPr>
          </a:p>
        </p:txBody>
      </p:sp>
      <p:pic>
        <p:nvPicPr>
          <p:cNvPr id="7" name="Content Placeholder 6">
            <a:extLst>
              <a:ext uri="{FF2B5EF4-FFF2-40B4-BE49-F238E27FC236}">
                <a16:creationId xmlns:a16="http://schemas.microsoft.com/office/drawing/2014/main" id="{9285CB4A-D3CB-44A0-AD36-743CFB5FE5A7}"/>
              </a:ext>
            </a:extLst>
          </p:cNvPr>
          <p:cNvPicPr>
            <a:picLocks noGrp="1" noChangeAspect="1"/>
          </p:cNvPicPr>
          <p:nvPr>
            <p:ph idx="1"/>
          </p:nvPr>
        </p:nvPicPr>
        <p:blipFill>
          <a:blip r:embed="rId2"/>
          <a:stretch>
            <a:fillRect/>
          </a:stretch>
        </p:blipFill>
        <p:spPr>
          <a:xfrm>
            <a:off x="1371599" y="2378104"/>
            <a:ext cx="4802315" cy="2879696"/>
          </a:xfrm>
        </p:spPr>
      </p:pic>
      <p:pic>
        <p:nvPicPr>
          <p:cNvPr id="6" name="Picture 5">
            <a:extLst>
              <a:ext uri="{FF2B5EF4-FFF2-40B4-BE49-F238E27FC236}">
                <a16:creationId xmlns:a16="http://schemas.microsoft.com/office/drawing/2014/main" id="{17F8FCD6-3477-479C-8430-3A23E23FFFCE}"/>
              </a:ext>
            </a:extLst>
          </p:cNvPr>
          <p:cNvPicPr>
            <a:picLocks noChangeAspect="1"/>
          </p:cNvPicPr>
          <p:nvPr/>
        </p:nvPicPr>
        <p:blipFill>
          <a:blip r:embed="rId3"/>
          <a:stretch>
            <a:fillRect/>
          </a:stretch>
        </p:blipFill>
        <p:spPr>
          <a:xfrm>
            <a:off x="6553200" y="2536149"/>
            <a:ext cx="5014097" cy="3102651"/>
          </a:xfrm>
          <a:prstGeom prst="rect">
            <a:avLst/>
          </a:prstGeom>
        </p:spPr>
      </p:pic>
    </p:spTree>
    <p:extLst>
      <p:ext uri="{BB962C8B-B14F-4D97-AF65-F5344CB8AC3E}">
        <p14:creationId xmlns:p14="http://schemas.microsoft.com/office/powerpoint/2010/main" val="1175676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642" y="800461"/>
            <a:ext cx="10264427" cy="1212070"/>
          </a:xfrm>
          <a:prstGeom prst="rect">
            <a:avLst/>
          </a:prstGeom>
        </p:spPr>
        <p:txBody>
          <a:bodyPr vert="horz" lIns="91438" tIns="45718" rIns="91438" bIns="45718" rtlCol="0" anchor="ctr">
            <a:normAutofit/>
          </a:bodyPr>
          <a:lstStyle/>
          <a:p>
            <a:pPr marL="12700"/>
            <a:r>
              <a:rPr lang="en-US" sz="4000" b="1" spc="-5" dirty="0">
                <a:solidFill>
                  <a:schemeClr val="tx1"/>
                </a:solidFill>
              </a:rPr>
              <a:t>Deletion in Heap</a:t>
            </a:r>
            <a:endParaRPr lang="en-US" sz="4000" b="1" spc="-10" dirty="0">
              <a:solidFill>
                <a:schemeClr val="tx1"/>
              </a:solidFill>
            </a:endParaRPr>
          </a:p>
        </p:txBody>
      </p:sp>
      <p:sp>
        <p:nvSpPr>
          <p:cNvPr id="10" name="object 10"/>
          <p:cNvSpPr txBox="1"/>
          <p:nvPr/>
        </p:nvSpPr>
        <p:spPr>
          <a:xfrm>
            <a:off x="10798306" y="6616573"/>
            <a:ext cx="139697" cy="161583"/>
          </a:xfrm>
          <a:prstGeom prst="rect">
            <a:avLst/>
          </a:prstGeom>
        </p:spPr>
        <p:txBody>
          <a:bodyPr vert="horz" wrap="square" lIns="0" tIns="22860" rIns="0" bIns="0" rtlCol="0">
            <a:spAutoFit/>
          </a:bodyPr>
          <a:lstStyle/>
          <a:p>
            <a:pPr marL="38100" defTabSz="829909">
              <a:spcBef>
                <a:spcPts val="180"/>
              </a:spcBef>
            </a:pPr>
            <a:fld id="{81D60167-4931-47E6-BA6A-407CBD079E47}" type="slidenum">
              <a:rPr sz="900" dirty="0">
                <a:solidFill>
                  <a:prstClr val="black"/>
                </a:solidFill>
                <a:latin typeface="Malgun Gothic"/>
                <a:cs typeface="Malgun Gothic"/>
              </a:rPr>
              <a:pPr marL="38100" defTabSz="829909">
                <a:spcBef>
                  <a:spcPts val="180"/>
                </a:spcBef>
              </a:pPr>
              <a:t>34</a:t>
            </a:fld>
            <a:endParaRPr sz="900">
              <a:solidFill>
                <a:prstClr val="black"/>
              </a:solidFill>
              <a:latin typeface="Malgun Gothic"/>
              <a:cs typeface="Malgun Gothic"/>
            </a:endParaRPr>
          </a:p>
        </p:txBody>
      </p:sp>
      <p:pic>
        <p:nvPicPr>
          <p:cNvPr id="4" name="Content Placeholder 3">
            <a:extLst>
              <a:ext uri="{FF2B5EF4-FFF2-40B4-BE49-F238E27FC236}">
                <a16:creationId xmlns:a16="http://schemas.microsoft.com/office/drawing/2014/main" id="{6B3C1715-13E4-4214-BE9D-B96E101760CF}"/>
              </a:ext>
            </a:extLst>
          </p:cNvPr>
          <p:cNvPicPr>
            <a:picLocks noGrp="1" noChangeAspect="1"/>
          </p:cNvPicPr>
          <p:nvPr>
            <p:ph idx="1"/>
          </p:nvPr>
        </p:nvPicPr>
        <p:blipFill>
          <a:blip r:embed="rId2"/>
          <a:stretch>
            <a:fillRect/>
          </a:stretch>
        </p:blipFill>
        <p:spPr>
          <a:xfrm>
            <a:off x="1629922" y="1876433"/>
            <a:ext cx="8801855" cy="4901723"/>
          </a:xfrm>
        </p:spPr>
      </p:pic>
    </p:spTree>
    <p:extLst>
      <p:ext uri="{BB962C8B-B14F-4D97-AF65-F5344CB8AC3E}">
        <p14:creationId xmlns:p14="http://schemas.microsoft.com/office/powerpoint/2010/main" val="33162663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EF049CC-6133-CBBB-6CB0-E5F82AF35B57}"/>
              </a:ext>
            </a:extLst>
          </p:cNvPr>
          <p:cNvPicPr>
            <a:picLocks noGrp="1" noChangeAspect="1"/>
          </p:cNvPicPr>
          <p:nvPr>
            <p:ph idx="4294967295"/>
          </p:nvPr>
        </p:nvPicPr>
        <p:blipFill>
          <a:blip r:embed="rId3"/>
          <a:stretch>
            <a:fillRect/>
          </a:stretch>
        </p:blipFill>
        <p:spPr>
          <a:xfrm>
            <a:off x="833717" y="195020"/>
            <a:ext cx="10524565" cy="6227295"/>
          </a:xfrm>
          <a:prstGeom prst="rect">
            <a:avLst/>
          </a:prstGeom>
        </p:spPr>
      </p:pic>
    </p:spTree>
    <p:extLst>
      <p:ext uri="{BB962C8B-B14F-4D97-AF65-F5344CB8AC3E}">
        <p14:creationId xmlns:p14="http://schemas.microsoft.com/office/powerpoint/2010/main" val="3900830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546EC-4689-41B8-4F7E-5E242BBD4E08}"/>
              </a:ext>
            </a:extLst>
          </p:cNvPr>
          <p:cNvSpPr>
            <a:spLocks noGrp="1"/>
          </p:cNvSpPr>
          <p:nvPr>
            <p:ph type="title"/>
          </p:nvPr>
        </p:nvSpPr>
        <p:spPr/>
        <p:txBody>
          <a:bodyPr/>
          <a:lstStyle/>
          <a:p>
            <a:r>
              <a:rPr lang="en-US" dirty="0"/>
              <a:t>Time Complexity</a:t>
            </a:r>
          </a:p>
        </p:txBody>
      </p:sp>
      <p:sp>
        <p:nvSpPr>
          <p:cNvPr id="3" name="Content Placeholder 2">
            <a:extLst>
              <a:ext uri="{FF2B5EF4-FFF2-40B4-BE49-F238E27FC236}">
                <a16:creationId xmlns:a16="http://schemas.microsoft.com/office/drawing/2014/main" id="{0302AB8F-DD16-28FD-889E-014315E543C3}"/>
              </a:ext>
            </a:extLst>
          </p:cNvPr>
          <p:cNvSpPr>
            <a:spLocks noGrp="1"/>
          </p:cNvSpPr>
          <p:nvPr>
            <p:ph idx="1"/>
          </p:nvPr>
        </p:nvSpPr>
        <p:spPr/>
        <p:txBody>
          <a:bodyPr/>
          <a:lstStyle/>
          <a:p>
            <a:r>
              <a:rPr lang="en-US" dirty="0"/>
              <a:t>The </a:t>
            </a:r>
            <a:r>
              <a:rPr lang="en-US" b="1" dirty="0"/>
              <a:t>best-case scenario </a:t>
            </a:r>
            <a:r>
              <a:rPr lang="en-US" dirty="0"/>
              <a:t>for deletion is when the last element that replaces the root is already in the correct position, requiring no further action. This also occurs in constant time, </a:t>
            </a:r>
            <a:r>
              <a:rPr lang="en-US" b="1" dirty="0"/>
              <a:t>O(1)</a:t>
            </a:r>
            <a:r>
              <a:rPr lang="en-US" dirty="0"/>
              <a:t>. The worst-case scenario for deletion, similar to insertion, involves </a:t>
            </a:r>
            <a:r>
              <a:rPr lang="en-US" dirty="0" err="1"/>
              <a:t>heapifying</a:t>
            </a:r>
            <a:r>
              <a:rPr lang="en-US" dirty="0"/>
              <a:t> the new root down to the lowest level of the heap, which has a time complexity of </a:t>
            </a:r>
            <a:r>
              <a:rPr lang="en-US" b="1" dirty="0"/>
              <a:t>O(log n).</a:t>
            </a:r>
          </a:p>
          <a:p>
            <a:r>
              <a:rPr lang="en-US" dirty="0"/>
              <a:t>The </a:t>
            </a:r>
            <a:r>
              <a:rPr lang="en-US" b="1" dirty="0"/>
              <a:t>average-case time complexity </a:t>
            </a:r>
            <a:r>
              <a:rPr lang="en-US" dirty="0"/>
              <a:t>for deletion is also </a:t>
            </a:r>
            <a:r>
              <a:rPr lang="en-US" b="1" dirty="0"/>
              <a:t>O(log n), </a:t>
            </a:r>
            <a:r>
              <a:rPr lang="en-US" dirty="0"/>
              <a:t>as the new root might need to be swapped down to a level that's halfway down the heap on average.</a:t>
            </a:r>
          </a:p>
          <a:p>
            <a:endParaRPr lang="en-US" dirty="0"/>
          </a:p>
        </p:txBody>
      </p:sp>
    </p:spTree>
    <p:extLst>
      <p:ext uri="{BB962C8B-B14F-4D97-AF65-F5344CB8AC3E}">
        <p14:creationId xmlns:p14="http://schemas.microsoft.com/office/powerpoint/2010/main" val="12730756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C112830-A240-4F33-A5F5-2277C5EAC134}"/>
              </a:ext>
            </a:extLst>
          </p:cNvPr>
          <p:cNvGrpSpPr/>
          <p:nvPr/>
        </p:nvGrpSpPr>
        <p:grpSpPr>
          <a:xfrm>
            <a:off x="1861752" y="685800"/>
            <a:ext cx="3319848" cy="2438400"/>
            <a:chOff x="76200" y="685800"/>
            <a:chExt cx="4724399" cy="2438400"/>
          </a:xfrm>
        </p:grpSpPr>
        <p:sp>
          <p:nvSpPr>
            <p:cNvPr id="5" name="Oval 5">
              <a:extLst>
                <a:ext uri="{FF2B5EF4-FFF2-40B4-BE49-F238E27FC236}">
                  <a16:creationId xmlns:a16="http://schemas.microsoft.com/office/drawing/2014/main" id="{065036BD-2427-45F2-8085-DBD86FE4E8D5}"/>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45</a:t>
              </a:r>
            </a:p>
          </p:txBody>
        </p:sp>
        <p:sp>
          <p:nvSpPr>
            <p:cNvPr id="6" name="Oval 6">
              <a:extLst>
                <a:ext uri="{FF2B5EF4-FFF2-40B4-BE49-F238E27FC236}">
                  <a16:creationId xmlns:a16="http://schemas.microsoft.com/office/drawing/2014/main" id="{D67A00CC-1A1B-43A7-A82A-7E571A0CA4CD}"/>
                </a:ext>
              </a:extLst>
            </p:cNvPr>
            <p:cNvSpPr>
              <a:spLocks noChangeArrowheads="1"/>
            </p:cNvSpPr>
            <p:nvPr/>
          </p:nvSpPr>
          <p:spPr bwMode="auto">
            <a:xfrm>
              <a:off x="962025"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40</a:t>
              </a:r>
            </a:p>
          </p:txBody>
        </p:sp>
        <p:sp>
          <p:nvSpPr>
            <p:cNvPr id="7" name="Oval 7">
              <a:extLst>
                <a:ext uri="{FF2B5EF4-FFF2-40B4-BE49-F238E27FC236}">
                  <a16:creationId xmlns:a16="http://schemas.microsoft.com/office/drawing/2014/main" id="{790B7D8A-5582-4B57-B8AA-0ABFE6A35C01}"/>
                </a:ext>
              </a:extLst>
            </p:cNvPr>
            <p:cNvSpPr>
              <a:spLocks noChangeArrowheads="1"/>
            </p:cNvSpPr>
            <p:nvPr/>
          </p:nvSpPr>
          <p:spPr bwMode="auto">
            <a:xfrm>
              <a:off x="3914774"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8" name="Oval 10">
              <a:extLst>
                <a:ext uri="{FF2B5EF4-FFF2-40B4-BE49-F238E27FC236}">
                  <a16:creationId xmlns:a16="http://schemas.microsoft.com/office/drawing/2014/main" id="{62C56CA8-FFFA-44BE-B38F-B35021177F0F}"/>
                </a:ext>
              </a:extLst>
            </p:cNvPr>
            <p:cNvSpPr>
              <a:spLocks noChangeArrowheads="1"/>
            </p:cNvSpPr>
            <p:nvPr/>
          </p:nvSpPr>
          <p:spPr bwMode="auto">
            <a:xfrm>
              <a:off x="76200" y="249812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20</a:t>
              </a:r>
            </a:p>
          </p:txBody>
        </p:sp>
        <p:sp>
          <p:nvSpPr>
            <p:cNvPr id="9" name="Line 12">
              <a:extLst>
                <a:ext uri="{FF2B5EF4-FFF2-40B4-BE49-F238E27FC236}">
                  <a16:creationId xmlns:a16="http://schemas.microsoft.com/office/drawing/2014/main" id="{DA1E6175-945E-429B-BD8C-C828932C1EC5}"/>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sp>
          <p:nvSpPr>
            <p:cNvPr id="10" name="Line 13">
              <a:extLst>
                <a:ext uri="{FF2B5EF4-FFF2-40B4-BE49-F238E27FC236}">
                  <a16:creationId xmlns:a16="http://schemas.microsoft.com/office/drawing/2014/main" id="{8180757E-9AA9-41B7-AAE6-5D5791B167E5}"/>
                </a:ext>
              </a:extLst>
            </p:cNvPr>
            <p:cNvSpPr>
              <a:spLocks noChangeShapeType="1"/>
            </p:cNvSpPr>
            <p:nvPr/>
          </p:nvSpPr>
          <p:spPr bwMode="auto">
            <a:xfrm>
              <a:off x="3176587" y="1138881"/>
              <a:ext cx="885825" cy="362465"/>
            </a:xfrm>
            <a:prstGeom prst="line">
              <a:avLst/>
            </a:prstGeom>
            <a:noFill/>
            <a:ln w="9525">
              <a:solidFill>
                <a:schemeClr val="tx1"/>
              </a:solidFill>
              <a:round/>
              <a:headEnd/>
              <a:tailEnd/>
            </a:ln>
          </p:spPr>
          <p:txBody>
            <a:bodyPr/>
            <a:lstStyle/>
            <a:p>
              <a:endParaRPr lang="en-US"/>
            </a:p>
          </p:txBody>
        </p:sp>
        <p:sp>
          <p:nvSpPr>
            <p:cNvPr id="11" name="Line 16">
              <a:extLst>
                <a:ext uri="{FF2B5EF4-FFF2-40B4-BE49-F238E27FC236}">
                  <a16:creationId xmlns:a16="http://schemas.microsoft.com/office/drawing/2014/main" id="{076BEEA0-75E5-4E26-991B-473AB0B9D374}"/>
                </a:ext>
              </a:extLst>
            </p:cNvPr>
            <p:cNvSpPr>
              <a:spLocks noChangeShapeType="1"/>
            </p:cNvSpPr>
            <p:nvPr/>
          </p:nvSpPr>
          <p:spPr bwMode="auto">
            <a:xfrm flipH="1">
              <a:off x="666750" y="2045043"/>
              <a:ext cx="442912" cy="453081"/>
            </a:xfrm>
            <a:prstGeom prst="line">
              <a:avLst/>
            </a:prstGeom>
            <a:noFill/>
            <a:ln w="9525">
              <a:solidFill>
                <a:schemeClr val="tx1"/>
              </a:solidFill>
              <a:round/>
              <a:headEnd/>
              <a:tailEnd/>
            </a:ln>
          </p:spPr>
          <p:txBody>
            <a:bodyPr/>
            <a:lstStyle/>
            <a:p>
              <a:endParaRPr lang="en-US"/>
            </a:p>
          </p:txBody>
        </p:sp>
        <p:sp>
          <p:nvSpPr>
            <p:cNvPr id="12" name="Oval 19">
              <a:extLst>
                <a:ext uri="{FF2B5EF4-FFF2-40B4-BE49-F238E27FC236}">
                  <a16:creationId xmlns:a16="http://schemas.microsoft.com/office/drawing/2014/main" id="{A247D0F4-22A7-40D1-A4B1-3FAB78FCBC58}"/>
                </a:ext>
              </a:extLst>
            </p:cNvPr>
            <p:cNvSpPr>
              <a:spLocks noChangeArrowheads="1"/>
            </p:cNvSpPr>
            <p:nvPr/>
          </p:nvSpPr>
          <p:spPr bwMode="auto">
            <a:xfrm>
              <a:off x="1828502"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22</a:t>
              </a:r>
            </a:p>
          </p:txBody>
        </p:sp>
        <p:sp>
          <p:nvSpPr>
            <p:cNvPr id="13" name="Line 21">
              <a:extLst>
                <a:ext uri="{FF2B5EF4-FFF2-40B4-BE49-F238E27FC236}">
                  <a16:creationId xmlns:a16="http://schemas.microsoft.com/office/drawing/2014/main" id="{FC73267A-705D-4AB7-89CF-D1F51DEEA365}"/>
                </a:ext>
              </a:extLst>
            </p:cNvPr>
            <p:cNvSpPr>
              <a:spLocks noChangeShapeType="1"/>
            </p:cNvSpPr>
            <p:nvPr/>
          </p:nvSpPr>
          <p:spPr bwMode="auto">
            <a:xfrm>
              <a:off x="1524000" y="2048133"/>
              <a:ext cx="590550" cy="543697"/>
            </a:xfrm>
            <a:prstGeom prst="line">
              <a:avLst/>
            </a:prstGeom>
            <a:noFill/>
            <a:ln w="9525">
              <a:solidFill>
                <a:schemeClr val="tx1"/>
              </a:solidFill>
              <a:prstDash val="solid"/>
              <a:round/>
              <a:headEnd/>
              <a:tailEnd/>
            </a:ln>
          </p:spPr>
          <p:txBody>
            <a:bodyPr/>
            <a:lstStyle/>
            <a:p>
              <a:endParaRPr lang="en-US"/>
            </a:p>
          </p:txBody>
        </p:sp>
        <p:sp>
          <p:nvSpPr>
            <p:cNvPr id="14" name="Oval 13">
              <a:extLst>
                <a:ext uri="{FF2B5EF4-FFF2-40B4-BE49-F238E27FC236}">
                  <a16:creationId xmlns:a16="http://schemas.microsoft.com/office/drawing/2014/main" id="{4DD689ED-2E46-4689-B4D9-B34256DC4AE6}"/>
                </a:ext>
              </a:extLst>
            </p:cNvPr>
            <p:cNvSpPr>
              <a:spLocks noChangeArrowheads="1"/>
            </p:cNvSpPr>
            <p:nvPr/>
          </p:nvSpPr>
          <p:spPr bwMode="auto">
            <a:xfrm>
              <a:off x="3124200"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35</a:t>
              </a:r>
            </a:p>
          </p:txBody>
        </p:sp>
        <p:sp>
          <p:nvSpPr>
            <p:cNvPr id="15" name="Line 21">
              <a:extLst>
                <a:ext uri="{FF2B5EF4-FFF2-40B4-BE49-F238E27FC236}">
                  <a16:creationId xmlns:a16="http://schemas.microsoft.com/office/drawing/2014/main" id="{9A7EDCBA-1E18-4828-9230-F14695887247}"/>
                </a:ext>
              </a:extLst>
            </p:cNvPr>
            <p:cNvSpPr>
              <a:spLocks noChangeShapeType="1"/>
            </p:cNvSpPr>
            <p:nvPr/>
          </p:nvSpPr>
          <p:spPr bwMode="auto">
            <a:xfrm flipH="1">
              <a:off x="3562350" y="1981201"/>
              <a:ext cx="552450" cy="610630"/>
            </a:xfrm>
            <a:prstGeom prst="line">
              <a:avLst/>
            </a:prstGeom>
            <a:noFill/>
            <a:ln w="9525" cmpd="sng">
              <a:solidFill>
                <a:schemeClr val="tx1"/>
              </a:solidFill>
              <a:prstDash val="solid"/>
              <a:round/>
              <a:headEnd/>
              <a:tailEnd/>
            </a:ln>
          </p:spPr>
          <p:txBody>
            <a:bodyPr/>
            <a:lstStyle/>
            <a:p>
              <a:endParaRPr lang="en-US"/>
            </a:p>
          </p:txBody>
        </p:sp>
      </p:grpSp>
      <p:grpSp>
        <p:nvGrpSpPr>
          <p:cNvPr id="16" name="Group 15">
            <a:extLst>
              <a:ext uri="{FF2B5EF4-FFF2-40B4-BE49-F238E27FC236}">
                <a16:creationId xmlns:a16="http://schemas.microsoft.com/office/drawing/2014/main" id="{E6032BBA-67EC-4DBB-9B4D-EC0B183500D8}"/>
              </a:ext>
            </a:extLst>
          </p:cNvPr>
          <p:cNvGrpSpPr/>
          <p:nvPr/>
        </p:nvGrpSpPr>
        <p:grpSpPr>
          <a:xfrm>
            <a:off x="6052752" y="762000"/>
            <a:ext cx="3319848" cy="2438400"/>
            <a:chOff x="76200" y="685800"/>
            <a:chExt cx="4724399" cy="2438400"/>
          </a:xfrm>
        </p:grpSpPr>
        <p:sp>
          <p:nvSpPr>
            <p:cNvPr id="17" name="Oval 5">
              <a:extLst>
                <a:ext uri="{FF2B5EF4-FFF2-40B4-BE49-F238E27FC236}">
                  <a16:creationId xmlns:a16="http://schemas.microsoft.com/office/drawing/2014/main" id="{08FB9BDE-76C1-459B-93D9-C05453475848}"/>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50</a:t>
              </a:r>
            </a:p>
          </p:txBody>
        </p:sp>
        <p:sp>
          <p:nvSpPr>
            <p:cNvPr id="18" name="Oval 6">
              <a:extLst>
                <a:ext uri="{FF2B5EF4-FFF2-40B4-BE49-F238E27FC236}">
                  <a16:creationId xmlns:a16="http://schemas.microsoft.com/office/drawing/2014/main" id="{03E2BA7B-6AA9-4C18-ADB7-21F428BED4D3}"/>
                </a:ext>
              </a:extLst>
            </p:cNvPr>
            <p:cNvSpPr>
              <a:spLocks noChangeArrowheads="1"/>
            </p:cNvSpPr>
            <p:nvPr/>
          </p:nvSpPr>
          <p:spPr bwMode="auto">
            <a:xfrm>
              <a:off x="962025"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40</a:t>
              </a:r>
            </a:p>
          </p:txBody>
        </p:sp>
        <p:sp>
          <p:nvSpPr>
            <p:cNvPr id="19" name="Oval 7">
              <a:extLst>
                <a:ext uri="{FF2B5EF4-FFF2-40B4-BE49-F238E27FC236}">
                  <a16:creationId xmlns:a16="http://schemas.microsoft.com/office/drawing/2014/main" id="{0F03F436-B670-4085-9DE9-D4454C286A75}"/>
                </a:ext>
              </a:extLst>
            </p:cNvPr>
            <p:cNvSpPr>
              <a:spLocks noChangeArrowheads="1"/>
            </p:cNvSpPr>
            <p:nvPr/>
          </p:nvSpPr>
          <p:spPr bwMode="auto">
            <a:xfrm>
              <a:off x="3914774"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45</a:t>
              </a:r>
            </a:p>
          </p:txBody>
        </p:sp>
        <p:sp>
          <p:nvSpPr>
            <p:cNvPr id="20" name="Oval 10">
              <a:extLst>
                <a:ext uri="{FF2B5EF4-FFF2-40B4-BE49-F238E27FC236}">
                  <a16:creationId xmlns:a16="http://schemas.microsoft.com/office/drawing/2014/main" id="{F7FF2D92-C1C3-4640-819E-CFFE0C17BD0E}"/>
                </a:ext>
              </a:extLst>
            </p:cNvPr>
            <p:cNvSpPr>
              <a:spLocks noChangeArrowheads="1"/>
            </p:cNvSpPr>
            <p:nvPr/>
          </p:nvSpPr>
          <p:spPr bwMode="auto">
            <a:xfrm>
              <a:off x="76200" y="249812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20</a:t>
              </a:r>
            </a:p>
          </p:txBody>
        </p:sp>
        <p:sp>
          <p:nvSpPr>
            <p:cNvPr id="21" name="Line 12">
              <a:extLst>
                <a:ext uri="{FF2B5EF4-FFF2-40B4-BE49-F238E27FC236}">
                  <a16:creationId xmlns:a16="http://schemas.microsoft.com/office/drawing/2014/main" id="{C5E4356F-6C31-4282-8229-F7FF19E03D01}"/>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sp>
          <p:nvSpPr>
            <p:cNvPr id="22" name="Line 13">
              <a:extLst>
                <a:ext uri="{FF2B5EF4-FFF2-40B4-BE49-F238E27FC236}">
                  <a16:creationId xmlns:a16="http://schemas.microsoft.com/office/drawing/2014/main" id="{5E0E236D-CE70-4995-91E8-EB7F5F6B3661}"/>
                </a:ext>
              </a:extLst>
            </p:cNvPr>
            <p:cNvSpPr>
              <a:spLocks noChangeShapeType="1"/>
            </p:cNvSpPr>
            <p:nvPr/>
          </p:nvSpPr>
          <p:spPr bwMode="auto">
            <a:xfrm>
              <a:off x="3176587" y="1138881"/>
              <a:ext cx="885825" cy="362465"/>
            </a:xfrm>
            <a:prstGeom prst="line">
              <a:avLst/>
            </a:prstGeom>
            <a:noFill/>
            <a:ln w="9525">
              <a:solidFill>
                <a:schemeClr val="tx1"/>
              </a:solidFill>
              <a:round/>
              <a:headEnd/>
              <a:tailEnd/>
            </a:ln>
          </p:spPr>
          <p:txBody>
            <a:bodyPr/>
            <a:lstStyle/>
            <a:p>
              <a:endParaRPr lang="en-US"/>
            </a:p>
          </p:txBody>
        </p:sp>
        <p:sp>
          <p:nvSpPr>
            <p:cNvPr id="23" name="Line 16">
              <a:extLst>
                <a:ext uri="{FF2B5EF4-FFF2-40B4-BE49-F238E27FC236}">
                  <a16:creationId xmlns:a16="http://schemas.microsoft.com/office/drawing/2014/main" id="{AF08B03F-78EB-47C9-B45B-6009260CF0A1}"/>
                </a:ext>
              </a:extLst>
            </p:cNvPr>
            <p:cNvSpPr>
              <a:spLocks noChangeShapeType="1"/>
            </p:cNvSpPr>
            <p:nvPr/>
          </p:nvSpPr>
          <p:spPr bwMode="auto">
            <a:xfrm flipH="1">
              <a:off x="666750" y="2045043"/>
              <a:ext cx="442912" cy="453081"/>
            </a:xfrm>
            <a:prstGeom prst="line">
              <a:avLst/>
            </a:prstGeom>
            <a:noFill/>
            <a:ln w="9525">
              <a:solidFill>
                <a:schemeClr val="tx1"/>
              </a:solidFill>
              <a:round/>
              <a:headEnd/>
              <a:tailEnd/>
            </a:ln>
          </p:spPr>
          <p:txBody>
            <a:bodyPr/>
            <a:lstStyle/>
            <a:p>
              <a:endParaRPr lang="en-US"/>
            </a:p>
          </p:txBody>
        </p:sp>
        <p:sp>
          <p:nvSpPr>
            <p:cNvPr id="24" name="Oval 19">
              <a:extLst>
                <a:ext uri="{FF2B5EF4-FFF2-40B4-BE49-F238E27FC236}">
                  <a16:creationId xmlns:a16="http://schemas.microsoft.com/office/drawing/2014/main" id="{C60826B7-706D-407E-9FBA-50AE3E919897}"/>
                </a:ext>
              </a:extLst>
            </p:cNvPr>
            <p:cNvSpPr>
              <a:spLocks noChangeArrowheads="1"/>
            </p:cNvSpPr>
            <p:nvPr/>
          </p:nvSpPr>
          <p:spPr bwMode="auto">
            <a:xfrm>
              <a:off x="1828502"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22</a:t>
              </a:r>
            </a:p>
          </p:txBody>
        </p:sp>
        <p:sp>
          <p:nvSpPr>
            <p:cNvPr id="25" name="Line 21">
              <a:extLst>
                <a:ext uri="{FF2B5EF4-FFF2-40B4-BE49-F238E27FC236}">
                  <a16:creationId xmlns:a16="http://schemas.microsoft.com/office/drawing/2014/main" id="{28A1C310-981B-4AEF-8D5B-63AA5E6EA77E}"/>
                </a:ext>
              </a:extLst>
            </p:cNvPr>
            <p:cNvSpPr>
              <a:spLocks noChangeShapeType="1"/>
            </p:cNvSpPr>
            <p:nvPr/>
          </p:nvSpPr>
          <p:spPr bwMode="auto">
            <a:xfrm>
              <a:off x="1524000" y="2048133"/>
              <a:ext cx="590550" cy="543697"/>
            </a:xfrm>
            <a:prstGeom prst="line">
              <a:avLst/>
            </a:prstGeom>
            <a:noFill/>
            <a:ln w="9525">
              <a:solidFill>
                <a:schemeClr val="tx1"/>
              </a:solidFill>
              <a:prstDash val="solid"/>
              <a:round/>
              <a:headEnd/>
              <a:tailEnd/>
            </a:ln>
          </p:spPr>
          <p:txBody>
            <a:bodyPr/>
            <a:lstStyle/>
            <a:p>
              <a:endParaRPr lang="en-US"/>
            </a:p>
          </p:txBody>
        </p:sp>
        <p:sp>
          <p:nvSpPr>
            <p:cNvPr id="26" name="Oval 25">
              <a:extLst>
                <a:ext uri="{FF2B5EF4-FFF2-40B4-BE49-F238E27FC236}">
                  <a16:creationId xmlns:a16="http://schemas.microsoft.com/office/drawing/2014/main" id="{C4C17BD7-83DD-43F5-9844-C4CB7AD76F52}"/>
                </a:ext>
              </a:extLst>
            </p:cNvPr>
            <p:cNvSpPr>
              <a:spLocks noChangeArrowheads="1"/>
            </p:cNvSpPr>
            <p:nvPr/>
          </p:nvSpPr>
          <p:spPr bwMode="auto">
            <a:xfrm>
              <a:off x="3124200"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35</a:t>
              </a:r>
            </a:p>
          </p:txBody>
        </p:sp>
        <p:sp>
          <p:nvSpPr>
            <p:cNvPr id="27" name="Line 21">
              <a:extLst>
                <a:ext uri="{FF2B5EF4-FFF2-40B4-BE49-F238E27FC236}">
                  <a16:creationId xmlns:a16="http://schemas.microsoft.com/office/drawing/2014/main" id="{1FE5F158-6E78-478D-8069-70E0751A5F8C}"/>
                </a:ext>
              </a:extLst>
            </p:cNvPr>
            <p:cNvSpPr>
              <a:spLocks noChangeShapeType="1"/>
            </p:cNvSpPr>
            <p:nvPr/>
          </p:nvSpPr>
          <p:spPr bwMode="auto">
            <a:xfrm flipH="1">
              <a:off x="3562350" y="1981201"/>
              <a:ext cx="552450" cy="610630"/>
            </a:xfrm>
            <a:prstGeom prst="line">
              <a:avLst/>
            </a:prstGeom>
            <a:noFill/>
            <a:ln w="9525" cmpd="sng">
              <a:solidFill>
                <a:schemeClr val="tx1"/>
              </a:solidFill>
              <a:prstDash val="solid"/>
              <a:round/>
              <a:headEnd/>
              <a:tailEnd/>
            </a:ln>
          </p:spPr>
          <p:txBody>
            <a:bodyPr/>
            <a:lstStyle/>
            <a:p>
              <a:endParaRPr lang="en-US"/>
            </a:p>
          </p:txBody>
        </p:sp>
      </p:grpSp>
      <p:grpSp>
        <p:nvGrpSpPr>
          <p:cNvPr id="28" name="Group 27">
            <a:extLst>
              <a:ext uri="{FF2B5EF4-FFF2-40B4-BE49-F238E27FC236}">
                <a16:creationId xmlns:a16="http://schemas.microsoft.com/office/drawing/2014/main" id="{711383DD-7426-45C4-B73A-3DBCA71FEF9D}"/>
              </a:ext>
            </a:extLst>
          </p:cNvPr>
          <p:cNvGrpSpPr/>
          <p:nvPr/>
        </p:nvGrpSpPr>
        <p:grpSpPr>
          <a:xfrm>
            <a:off x="1861752" y="3733800"/>
            <a:ext cx="3319848" cy="2438400"/>
            <a:chOff x="76200" y="685800"/>
            <a:chExt cx="4724399" cy="2438400"/>
          </a:xfrm>
        </p:grpSpPr>
        <p:sp>
          <p:nvSpPr>
            <p:cNvPr id="29" name="Oval 5">
              <a:extLst>
                <a:ext uri="{FF2B5EF4-FFF2-40B4-BE49-F238E27FC236}">
                  <a16:creationId xmlns:a16="http://schemas.microsoft.com/office/drawing/2014/main" id="{7FFE3018-4D91-4139-97CD-5D8DEAAC5B10}"/>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35</a:t>
              </a:r>
            </a:p>
          </p:txBody>
        </p:sp>
        <p:sp>
          <p:nvSpPr>
            <p:cNvPr id="30" name="Oval 6">
              <a:extLst>
                <a:ext uri="{FF2B5EF4-FFF2-40B4-BE49-F238E27FC236}">
                  <a16:creationId xmlns:a16="http://schemas.microsoft.com/office/drawing/2014/main" id="{35DF16FA-9620-4E58-A91E-D1A4027C7602}"/>
                </a:ext>
              </a:extLst>
            </p:cNvPr>
            <p:cNvSpPr>
              <a:spLocks noChangeArrowheads="1"/>
            </p:cNvSpPr>
            <p:nvPr/>
          </p:nvSpPr>
          <p:spPr bwMode="auto">
            <a:xfrm>
              <a:off x="962025"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40</a:t>
              </a:r>
            </a:p>
          </p:txBody>
        </p:sp>
        <p:sp>
          <p:nvSpPr>
            <p:cNvPr id="31" name="Oval 7">
              <a:extLst>
                <a:ext uri="{FF2B5EF4-FFF2-40B4-BE49-F238E27FC236}">
                  <a16:creationId xmlns:a16="http://schemas.microsoft.com/office/drawing/2014/main" id="{82E2A47F-29CB-4D88-AC4B-5BB2F716ADDB}"/>
                </a:ext>
              </a:extLst>
            </p:cNvPr>
            <p:cNvSpPr>
              <a:spLocks noChangeArrowheads="1"/>
            </p:cNvSpPr>
            <p:nvPr/>
          </p:nvSpPr>
          <p:spPr bwMode="auto">
            <a:xfrm>
              <a:off x="3914774"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45</a:t>
              </a:r>
            </a:p>
          </p:txBody>
        </p:sp>
        <p:sp>
          <p:nvSpPr>
            <p:cNvPr id="32" name="Oval 10">
              <a:extLst>
                <a:ext uri="{FF2B5EF4-FFF2-40B4-BE49-F238E27FC236}">
                  <a16:creationId xmlns:a16="http://schemas.microsoft.com/office/drawing/2014/main" id="{6EC1F66D-8264-48DD-B52A-EA4AE7640988}"/>
                </a:ext>
              </a:extLst>
            </p:cNvPr>
            <p:cNvSpPr>
              <a:spLocks noChangeArrowheads="1"/>
            </p:cNvSpPr>
            <p:nvPr/>
          </p:nvSpPr>
          <p:spPr bwMode="auto">
            <a:xfrm>
              <a:off x="76200" y="249812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20</a:t>
              </a:r>
            </a:p>
          </p:txBody>
        </p:sp>
        <p:sp>
          <p:nvSpPr>
            <p:cNvPr id="33" name="Line 12">
              <a:extLst>
                <a:ext uri="{FF2B5EF4-FFF2-40B4-BE49-F238E27FC236}">
                  <a16:creationId xmlns:a16="http://schemas.microsoft.com/office/drawing/2014/main" id="{8AD4FF81-D85C-48DC-8EB5-B93454FF7A48}"/>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sp>
          <p:nvSpPr>
            <p:cNvPr id="34" name="Line 13">
              <a:extLst>
                <a:ext uri="{FF2B5EF4-FFF2-40B4-BE49-F238E27FC236}">
                  <a16:creationId xmlns:a16="http://schemas.microsoft.com/office/drawing/2014/main" id="{9CB3FCB8-5F69-4B4C-BBC4-9B7EB89AC08E}"/>
                </a:ext>
              </a:extLst>
            </p:cNvPr>
            <p:cNvSpPr>
              <a:spLocks noChangeShapeType="1"/>
            </p:cNvSpPr>
            <p:nvPr/>
          </p:nvSpPr>
          <p:spPr bwMode="auto">
            <a:xfrm>
              <a:off x="3176587" y="1138881"/>
              <a:ext cx="885825" cy="362465"/>
            </a:xfrm>
            <a:prstGeom prst="line">
              <a:avLst/>
            </a:prstGeom>
            <a:noFill/>
            <a:ln w="9525">
              <a:solidFill>
                <a:schemeClr val="tx1"/>
              </a:solidFill>
              <a:round/>
              <a:headEnd/>
              <a:tailEnd/>
            </a:ln>
          </p:spPr>
          <p:txBody>
            <a:bodyPr/>
            <a:lstStyle/>
            <a:p>
              <a:endParaRPr lang="en-US"/>
            </a:p>
          </p:txBody>
        </p:sp>
        <p:sp>
          <p:nvSpPr>
            <p:cNvPr id="35" name="Line 16">
              <a:extLst>
                <a:ext uri="{FF2B5EF4-FFF2-40B4-BE49-F238E27FC236}">
                  <a16:creationId xmlns:a16="http://schemas.microsoft.com/office/drawing/2014/main" id="{BE2D01E2-D161-46D5-A273-B8B01B8ADE9D}"/>
                </a:ext>
              </a:extLst>
            </p:cNvPr>
            <p:cNvSpPr>
              <a:spLocks noChangeShapeType="1"/>
            </p:cNvSpPr>
            <p:nvPr/>
          </p:nvSpPr>
          <p:spPr bwMode="auto">
            <a:xfrm flipH="1">
              <a:off x="666750" y="2045043"/>
              <a:ext cx="442912" cy="453081"/>
            </a:xfrm>
            <a:prstGeom prst="line">
              <a:avLst/>
            </a:prstGeom>
            <a:noFill/>
            <a:ln w="9525">
              <a:solidFill>
                <a:schemeClr val="tx1"/>
              </a:solidFill>
              <a:round/>
              <a:headEnd/>
              <a:tailEnd/>
            </a:ln>
          </p:spPr>
          <p:txBody>
            <a:bodyPr/>
            <a:lstStyle/>
            <a:p>
              <a:endParaRPr lang="en-US"/>
            </a:p>
          </p:txBody>
        </p:sp>
        <p:sp>
          <p:nvSpPr>
            <p:cNvPr id="36" name="Oval 19">
              <a:extLst>
                <a:ext uri="{FF2B5EF4-FFF2-40B4-BE49-F238E27FC236}">
                  <a16:creationId xmlns:a16="http://schemas.microsoft.com/office/drawing/2014/main" id="{0577AF77-8C43-4FC0-B44E-25587525BD14}"/>
                </a:ext>
              </a:extLst>
            </p:cNvPr>
            <p:cNvSpPr>
              <a:spLocks noChangeArrowheads="1"/>
            </p:cNvSpPr>
            <p:nvPr/>
          </p:nvSpPr>
          <p:spPr bwMode="auto">
            <a:xfrm>
              <a:off x="1828502"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22</a:t>
              </a:r>
            </a:p>
          </p:txBody>
        </p:sp>
        <p:sp>
          <p:nvSpPr>
            <p:cNvPr id="37" name="Line 21">
              <a:extLst>
                <a:ext uri="{FF2B5EF4-FFF2-40B4-BE49-F238E27FC236}">
                  <a16:creationId xmlns:a16="http://schemas.microsoft.com/office/drawing/2014/main" id="{21838B5A-E7EE-42D0-9921-63B2D19B1D9D}"/>
                </a:ext>
              </a:extLst>
            </p:cNvPr>
            <p:cNvSpPr>
              <a:spLocks noChangeShapeType="1"/>
            </p:cNvSpPr>
            <p:nvPr/>
          </p:nvSpPr>
          <p:spPr bwMode="auto">
            <a:xfrm>
              <a:off x="1524000" y="2048133"/>
              <a:ext cx="590550" cy="543697"/>
            </a:xfrm>
            <a:prstGeom prst="line">
              <a:avLst/>
            </a:prstGeom>
            <a:noFill/>
            <a:ln w="9525">
              <a:solidFill>
                <a:schemeClr val="tx1"/>
              </a:solidFill>
              <a:prstDash val="solid"/>
              <a:round/>
              <a:headEnd/>
              <a:tailEnd/>
            </a:ln>
          </p:spPr>
          <p:txBody>
            <a:bodyPr/>
            <a:lstStyle/>
            <a:p>
              <a:endParaRPr lang="en-US"/>
            </a:p>
          </p:txBody>
        </p:sp>
      </p:grpSp>
      <p:grpSp>
        <p:nvGrpSpPr>
          <p:cNvPr id="38" name="Group 37">
            <a:extLst>
              <a:ext uri="{FF2B5EF4-FFF2-40B4-BE49-F238E27FC236}">
                <a16:creationId xmlns:a16="http://schemas.microsoft.com/office/drawing/2014/main" id="{6DEFFD87-1A42-4B02-A442-BBB1C23D1603}"/>
              </a:ext>
            </a:extLst>
          </p:cNvPr>
          <p:cNvGrpSpPr/>
          <p:nvPr/>
        </p:nvGrpSpPr>
        <p:grpSpPr>
          <a:xfrm>
            <a:off x="6052752" y="3733800"/>
            <a:ext cx="3319848" cy="2438400"/>
            <a:chOff x="76200" y="685800"/>
            <a:chExt cx="4724399" cy="2438400"/>
          </a:xfrm>
        </p:grpSpPr>
        <p:sp>
          <p:nvSpPr>
            <p:cNvPr id="39" name="Oval 5">
              <a:extLst>
                <a:ext uri="{FF2B5EF4-FFF2-40B4-BE49-F238E27FC236}">
                  <a16:creationId xmlns:a16="http://schemas.microsoft.com/office/drawing/2014/main" id="{A819CDAE-4C56-4FB1-BE57-470EF88CB133}"/>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45</a:t>
              </a:r>
            </a:p>
          </p:txBody>
        </p:sp>
        <p:sp>
          <p:nvSpPr>
            <p:cNvPr id="40" name="Oval 6">
              <a:extLst>
                <a:ext uri="{FF2B5EF4-FFF2-40B4-BE49-F238E27FC236}">
                  <a16:creationId xmlns:a16="http://schemas.microsoft.com/office/drawing/2014/main" id="{BE71AEBF-C571-4B51-9E97-B64A3D08CDBA}"/>
                </a:ext>
              </a:extLst>
            </p:cNvPr>
            <p:cNvSpPr>
              <a:spLocks noChangeArrowheads="1"/>
            </p:cNvSpPr>
            <p:nvPr/>
          </p:nvSpPr>
          <p:spPr bwMode="auto">
            <a:xfrm>
              <a:off x="962025"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40</a:t>
              </a:r>
            </a:p>
          </p:txBody>
        </p:sp>
        <p:sp>
          <p:nvSpPr>
            <p:cNvPr id="41" name="Oval 7">
              <a:extLst>
                <a:ext uri="{FF2B5EF4-FFF2-40B4-BE49-F238E27FC236}">
                  <a16:creationId xmlns:a16="http://schemas.microsoft.com/office/drawing/2014/main" id="{A3A717C6-0D19-4B39-89EB-B1C2940A68BA}"/>
                </a:ext>
              </a:extLst>
            </p:cNvPr>
            <p:cNvSpPr>
              <a:spLocks noChangeArrowheads="1"/>
            </p:cNvSpPr>
            <p:nvPr/>
          </p:nvSpPr>
          <p:spPr bwMode="auto">
            <a:xfrm>
              <a:off x="3914774"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35</a:t>
              </a:r>
            </a:p>
          </p:txBody>
        </p:sp>
        <p:sp>
          <p:nvSpPr>
            <p:cNvPr id="42" name="Oval 10">
              <a:extLst>
                <a:ext uri="{FF2B5EF4-FFF2-40B4-BE49-F238E27FC236}">
                  <a16:creationId xmlns:a16="http://schemas.microsoft.com/office/drawing/2014/main" id="{CCC68643-8304-41FC-8627-DFDC4BF5C140}"/>
                </a:ext>
              </a:extLst>
            </p:cNvPr>
            <p:cNvSpPr>
              <a:spLocks noChangeArrowheads="1"/>
            </p:cNvSpPr>
            <p:nvPr/>
          </p:nvSpPr>
          <p:spPr bwMode="auto">
            <a:xfrm>
              <a:off x="76200" y="249812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20</a:t>
              </a:r>
            </a:p>
          </p:txBody>
        </p:sp>
        <p:sp>
          <p:nvSpPr>
            <p:cNvPr id="43" name="Line 12">
              <a:extLst>
                <a:ext uri="{FF2B5EF4-FFF2-40B4-BE49-F238E27FC236}">
                  <a16:creationId xmlns:a16="http://schemas.microsoft.com/office/drawing/2014/main" id="{81E3A6AD-B7D0-4D20-9CCB-2D67A105BAEE}"/>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sp>
          <p:nvSpPr>
            <p:cNvPr id="44" name="Line 13">
              <a:extLst>
                <a:ext uri="{FF2B5EF4-FFF2-40B4-BE49-F238E27FC236}">
                  <a16:creationId xmlns:a16="http://schemas.microsoft.com/office/drawing/2014/main" id="{5B2B7B1E-489F-41EF-8752-3B6174CB366A}"/>
                </a:ext>
              </a:extLst>
            </p:cNvPr>
            <p:cNvSpPr>
              <a:spLocks noChangeShapeType="1"/>
            </p:cNvSpPr>
            <p:nvPr/>
          </p:nvSpPr>
          <p:spPr bwMode="auto">
            <a:xfrm>
              <a:off x="3176587" y="1138881"/>
              <a:ext cx="885825" cy="362465"/>
            </a:xfrm>
            <a:prstGeom prst="line">
              <a:avLst/>
            </a:prstGeom>
            <a:noFill/>
            <a:ln w="9525">
              <a:solidFill>
                <a:schemeClr val="tx1"/>
              </a:solidFill>
              <a:round/>
              <a:headEnd/>
              <a:tailEnd/>
            </a:ln>
          </p:spPr>
          <p:txBody>
            <a:bodyPr/>
            <a:lstStyle/>
            <a:p>
              <a:endParaRPr lang="en-US"/>
            </a:p>
          </p:txBody>
        </p:sp>
        <p:sp>
          <p:nvSpPr>
            <p:cNvPr id="45" name="Line 16">
              <a:extLst>
                <a:ext uri="{FF2B5EF4-FFF2-40B4-BE49-F238E27FC236}">
                  <a16:creationId xmlns:a16="http://schemas.microsoft.com/office/drawing/2014/main" id="{5F4FE146-69FC-43C8-A093-5FBB759A8D4C}"/>
                </a:ext>
              </a:extLst>
            </p:cNvPr>
            <p:cNvSpPr>
              <a:spLocks noChangeShapeType="1"/>
            </p:cNvSpPr>
            <p:nvPr/>
          </p:nvSpPr>
          <p:spPr bwMode="auto">
            <a:xfrm flipH="1">
              <a:off x="666750" y="2045043"/>
              <a:ext cx="442912" cy="453081"/>
            </a:xfrm>
            <a:prstGeom prst="line">
              <a:avLst/>
            </a:prstGeom>
            <a:noFill/>
            <a:ln w="9525">
              <a:solidFill>
                <a:schemeClr val="tx1"/>
              </a:solidFill>
              <a:round/>
              <a:headEnd/>
              <a:tailEnd/>
            </a:ln>
          </p:spPr>
          <p:txBody>
            <a:bodyPr/>
            <a:lstStyle/>
            <a:p>
              <a:endParaRPr lang="en-US"/>
            </a:p>
          </p:txBody>
        </p:sp>
        <p:sp>
          <p:nvSpPr>
            <p:cNvPr id="46" name="Oval 19">
              <a:extLst>
                <a:ext uri="{FF2B5EF4-FFF2-40B4-BE49-F238E27FC236}">
                  <a16:creationId xmlns:a16="http://schemas.microsoft.com/office/drawing/2014/main" id="{98640543-D56C-4C67-B11B-363E1671AF52}"/>
                </a:ext>
              </a:extLst>
            </p:cNvPr>
            <p:cNvSpPr>
              <a:spLocks noChangeArrowheads="1"/>
            </p:cNvSpPr>
            <p:nvPr/>
          </p:nvSpPr>
          <p:spPr bwMode="auto">
            <a:xfrm>
              <a:off x="1828502" y="2580503"/>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22</a:t>
              </a:r>
            </a:p>
          </p:txBody>
        </p:sp>
        <p:sp>
          <p:nvSpPr>
            <p:cNvPr id="47" name="Line 21">
              <a:extLst>
                <a:ext uri="{FF2B5EF4-FFF2-40B4-BE49-F238E27FC236}">
                  <a16:creationId xmlns:a16="http://schemas.microsoft.com/office/drawing/2014/main" id="{26D23A5E-40A9-4FF8-B5C2-94F01D6D4F54}"/>
                </a:ext>
              </a:extLst>
            </p:cNvPr>
            <p:cNvSpPr>
              <a:spLocks noChangeShapeType="1"/>
            </p:cNvSpPr>
            <p:nvPr/>
          </p:nvSpPr>
          <p:spPr bwMode="auto">
            <a:xfrm>
              <a:off x="1524000" y="2048133"/>
              <a:ext cx="590550" cy="543697"/>
            </a:xfrm>
            <a:prstGeom prst="line">
              <a:avLst/>
            </a:prstGeom>
            <a:noFill/>
            <a:ln w="9525">
              <a:solidFill>
                <a:schemeClr val="tx1"/>
              </a:solidFill>
              <a:prstDash val="solid"/>
              <a:round/>
              <a:headEnd/>
              <a:tailEnd/>
            </a:ln>
          </p:spPr>
          <p:txBody>
            <a:bodyPr/>
            <a:lstStyle/>
            <a:p>
              <a:endParaRPr lang="en-US"/>
            </a:p>
          </p:txBody>
        </p:sp>
      </p:grpSp>
    </p:spTree>
    <p:extLst>
      <p:ext uri="{BB962C8B-B14F-4D97-AF65-F5344CB8AC3E}">
        <p14:creationId xmlns:p14="http://schemas.microsoft.com/office/powerpoint/2010/main" val="22758400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620DBEB-A528-430F-9D70-66F63C5AEC80}"/>
              </a:ext>
            </a:extLst>
          </p:cNvPr>
          <p:cNvGrpSpPr/>
          <p:nvPr/>
        </p:nvGrpSpPr>
        <p:grpSpPr>
          <a:xfrm>
            <a:off x="2133600" y="685800"/>
            <a:ext cx="3319848" cy="2356021"/>
            <a:chOff x="76200" y="685800"/>
            <a:chExt cx="4724399" cy="2356021"/>
          </a:xfrm>
        </p:grpSpPr>
        <p:sp>
          <p:nvSpPr>
            <p:cNvPr id="5" name="Oval 5">
              <a:extLst>
                <a:ext uri="{FF2B5EF4-FFF2-40B4-BE49-F238E27FC236}">
                  <a16:creationId xmlns:a16="http://schemas.microsoft.com/office/drawing/2014/main" id="{644867D5-0517-4692-8B1E-074E0FAD33A9}"/>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22</a:t>
              </a:r>
            </a:p>
          </p:txBody>
        </p:sp>
        <p:sp>
          <p:nvSpPr>
            <p:cNvPr id="6" name="Oval 6">
              <a:extLst>
                <a:ext uri="{FF2B5EF4-FFF2-40B4-BE49-F238E27FC236}">
                  <a16:creationId xmlns:a16="http://schemas.microsoft.com/office/drawing/2014/main" id="{85C3686C-8E1E-41F8-A0C2-DC00E6FBC543}"/>
                </a:ext>
              </a:extLst>
            </p:cNvPr>
            <p:cNvSpPr>
              <a:spLocks noChangeArrowheads="1"/>
            </p:cNvSpPr>
            <p:nvPr/>
          </p:nvSpPr>
          <p:spPr bwMode="auto">
            <a:xfrm>
              <a:off x="962026" y="1501346"/>
              <a:ext cx="885826"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40</a:t>
              </a:r>
            </a:p>
          </p:txBody>
        </p:sp>
        <p:sp>
          <p:nvSpPr>
            <p:cNvPr id="7" name="Oval 7">
              <a:extLst>
                <a:ext uri="{FF2B5EF4-FFF2-40B4-BE49-F238E27FC236}">
                  <a16:creationId xmlns:a16="http://schemas.microsoft.com/office/drawing/2014/main" id="{AD0BE29F-C18A-43AF-BE89-6A5CC8AB1EA1}"/>
                </a:ext>
              </a:extLst>
            </p:cNvPr>
            <p:cNvSpPr>
              <a:spLocks noChangeArrowheads="1"/>
            </p:cNvSpPr>
            <p:nvPr/>
          </p:nvSpPr>
          <p:spPr bwMode="auto">
            <a:xfrm>
              <a:off x="3914774"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35</a:t>
              </a:r>
            </a:p>
          </p:txBody>
        </p:sp>
        <p:sp>
          <p:nvSpPr>
            <p:cNvPr id="8" name="Oval 10">
              <a:extLst>
                <a:ext uri="{FF2B5EF4-FFF2-40B4-BE49-F238E27FC236}">
                  <a16:creationId xmlns:a16="http://schemas.microsoft.com/office/drawing/2014/main" id="{529BDEC5-BDE0-45C0-ABEF-2CD24E2E335D}"/>
                </a:ext>
              </a:extLst>
            </p:cNvPr>
            <p:cNvSpPr>
              <a:spLocks noChangeArrowheads="1"/>
            </p:cNvSpPr>
            <p:nvPr/>
          </p:nvSpPr>
          <p:spPr bwMode="auto">
            <a:xfrm>
              <a:off x="76200" y="249812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20</a:t>
              </a:r>
            </a:p>
          </p:txBody>
        </p:sp>
        <p:sp>
          <p:nvSpPr>
            <p:cNvPr id="9" name="Line 12">
              <a:extLst>
                <a:ext uri="{FF2B5EF4-FFF2-40B4-BE49-F238E27FC236}">
                  <a16:creationId xmlns:a16="http://schemas.microsoft.com/office/drawing/2014/main" id="{2A8FC374-535C-4873-A8C1-6C14274577F0}"/>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sp>
          <p:nvSpPr>
            <p:cNvPr id="10" name="Line 13">
              <a:extLst>
                <a:ext uri="{FF2B5EF4-FFF2-40B4-BE49-F238E27FC236}">
                  <a16:creationId xmlns:a16="http://schemas.microsoft.com/office/drawing/2014/main" id="{574604EB-2363-4173-AC44-5AB17D1F80FB}"/>
                </a:ext>
              </a:extLst>
            </p:cNvPr>
            <p:cNvSpPr>
              <a:spLocks noChangeShapeType="1"/>
            </p:cNvSpPr>
            <p:nvPr/>
          </p:nvSpPr>
          <p:spPr bwMode="auto">
            <a:xfrm>
              <a:off x="3176587" y="1138881"/>
              <a:ext cx="885825" cy="362465"/>
            </a:xfrm>
            <a:prstGeom prst="line">
              <a:avLst/>
            </a:prstGeom>
            <a:noFill/>
            <a:ln w="9525">
              <a:solidFill>
                <a:schemeClr val="tx1"/>
              </a:solidFill>
              <a:round/>
              <a:headEnd/>
              <a:tailEnd/>
            </a:ln>
          </p:spPr>
          <p:txBody>
            <a:bodyPr/>
            <a:lstStyle/>
            <a:p>
              <a:endParaRPr lang="en-US"/>
            </a:p>
          </p:txBody>
        </p:sp>
        <p:sp>
          <p:nvSpPr>
            <p:cNvPr id="11" name="Line 16">
              <a:extLst>
                <a:ext uri="{FF2B5EF4-FFF2-40B4-BE49-F238E27FC236}">
                  <a16:creationId xmlns:a16="http://schemas.microsoft.com/office/drawing/2014/main" id="{469C9E23-F2FE-450D-93F3-069E691246BB}"/>
                </a:ext>
              </a:extLst>
            </p:cNvPr>
            <p:cNvSpPr>
              <a:spLocks noChangeShapeType="1"/>
            </p:cNvSpPr>
            <p:nvPr/>
          </p:nvSpPr>
          <p:spPr bwMode="auto">
            <a:xfrm flipH="1">
              <a:off x="666750" y="2045043"/>
              <a:ext cx="442912" cy="453081"/>
            </a:xfrm>
            <a:prstGeom prst="line">
              <a:avLst/>
            </a:prstGeom>
            <a:noFill/>
            <a:ln w="9525">
              <a:solidFill>
                <a:schemeClr val="tx1"/>
              </a:solidFill>
              <a:round/>
              <a:headEnd/>
              <a:tailEnd/>
            </a:ln>
          </p:spPr>
          <p:txBody>
            <a:bodyPr/>
            <a:lstStyle/>
            <a:p>
              <a:endParaRPr lang="en-US"/>
            </a:p>
          </p:txBody>
        </p:sp>
      </p:grpSp>
      <p:grpSp>
        <p:nvGrpSpPr>
          <p:cNvPr id="12" name="Group 11">
            <a:extLst>
              <a:ext uri="{FF2B5EF4-FFF2-40B4-BE49-F238E27FC236}">
                <a16:creationId xmlns:a16="http://schemas.microsoft.com/office/drawing/2014/main" id="{A371A827-42CA-4E8B-9AB7-0DE6AC26550F}"/>
              </a:ext>
            </a:extLst>
          </p:cNvPr>
          <p:cNvGrpSpPr/>
          <p:nvPr/>
        </p:nvGrpSpPr>
        <p:grpSpPr>
          <a:xfrm>
            <a:off x="6172200" y="609600"/>
            <a:ext cx="3319848" cy="2356021"/>
            <a:chOff x="76200" y="685800"/>
            <a:chExt cx="4724399" cy="2356021"/>
          </a:xfrm>
        </p:grpSpPr>
        <p:sp>
          <p:nvSpPr>
            <p:cNvPr id="13" name="Oval 5">
              <a:extLst>
                <a:ext uri="{FF2B5EF4-FFF2-40B4-BE49-F238E27FC236}">
                  <a16:creationId xmlns:a16="http://schemas.microsoft.com/office/drawing/2014/main" id="{69531868-30DF-433B-A22D-4821877C0167}"/>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40</a:t>
              </a:r>
            </a:p>
          </p:txBody>
        </p:sp>
        <p:sp>
          <p:nvSpPr>
            <p:cNvPr id="14" name="Oval 6">
              <a:extLst>
                <a:ext uri="{FF2B5EF4-FFF2-40B4-BE49-F238E27FC236}">
                  <a16:creationId xmlns:a16="http://schemas.microsoft.com/office/drawing/2014/main" id="{E014364B-C548-49F3-B200-DE4841D17217}"/>
                </a:ext>
              </a:extLst>
            </p:cNvPr>
            <p:cNvSpPr>
              <a:spLocks noChangeArrowheads="1"/>
            </p:cNvSpPr>
            <p:nvPr/>
          </p:nvSpPr>
          <p:spPr bwMode="auto">
            <a:xfrm>
              <a:off x="962025"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22</a:t>
              </a:r>
            </a:p>
          </p:txBody>
        </p:sp>
        <p:sp>
          <p:nvSpPr>
            <p:cNvPr id="15" name="Oval 7">
              <a:extLst>
                <a:ext uri="{FF2B5EF4-FFF2-40B4-BE49-F238E27FC236}">
                  <a16:creationId xmlns:a16="http://schemas.microsoft.com/office/drawing/2014/main" id="{B575A97C-A01A-4C6E-AA81-2D186746CE92}"/>
                </a:ext>
              </a:extLst>
            </p:cNvPr>
            <p:cNvSpPr>
              <a:spLocks noChangeArrowheads="1"/>
            </p:cNvSpPr>
            <p:nvPr/>
          </p:nvSpPr>
          <p:spPr bwMode="auto">
            <a:xfrm>
              <a:off x="3914774"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35</a:t>
              </a:r>
            </a:p>
          </p:txBody>
        </p:sp>
        <p:sp>
          <p:nvSpPr>
            <p:cNvPr id="16" name="Oval 10">
              <a:extLst>
                <a:ext uri="{FF2B5EF4-FFF2-40B4-BE49-F238E27FC236}">
                  <a16:creationId xmlns:a16="http://schemas.microsoft.com/office/drawing/2014/main" id="{EA2B149D-5CD8-4E47-94D0-BAF0DEF206AD}"/>
                </a:ext>
              </a:extLst>
            </p:cNvPr>
            <p:cNvSpPr>
              <a:spLocks noChangeArrowheads="1"/>
            </p:cNvSpPr>
            <p:nvPr/>
          </p:nvSpPr>
          <p:spPr bwMode="auto">
            <a:xfrm>
              <a:off x="76200" y="2498124"/>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20</a:t>
              </a:r>
            </a:p>
          </p:txBody>
        </p:sp>
        <p:sp>
          <p:nvSpPr>
            <p:cNvPr id="17" name="Line 12">
              <a:extLst>
                <a:ext uri="{FF2B5EF4-FFF2-40B4-BE49-F238E27FC236}">
                  <a16:creationId xmlns:a16="http://schemas.microsoft.com/office/drawing/2014/main" id="{BCA1C43E-3CC0-4AF2-B5DC-EBF722BDD027}"/>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sp>
          <p:nvSpPr>
            <p:cNvPr id="18" name="Line 13">
              <a:extLst>
                <a:ext uri="{FF2B5EF4-FFF2-40B4-BE49-F238E27FC236}">
                  <a16:creationId xmlns:a16="http://schemas.microsoft.com/office/drawing/2014/main" id="{559F9A66-5AAB-4D43-87B2-A09BACC64C28}"/>
                </a:ext>
              </a:extLst>
            </p:cNvPr>
            <p:cNvSpPr>
              <a:spLocks noChangeShapeType="1"/>
            </p:cNvSpPr>
            <p:nvPr/>
          </p:nvSpPr>
          <p:spPr bwMode="auto">
            <a:xfrm>
              <a:off x="3176587" y="1138881"/>
              <a:ext cx="885825" cy="362465"/>
            </a:xfrm>
            <a:prstGeom prst="line">
              <a:avLst/>
            </a:prstGeom>
            <a:noFill/>
            <a:ln w="9525">
              <a:solidFill>
                <a:schemeClr val="tx1"/>
              </a:solidFill>
              <a:round/>
              <a:headEnd/>
              <a:tailEnd/>
            </a:ln>
          </p:spPr>
          <p:txBody>
            <a:bodyPr/>
            <a:lstStyle/>
            <a:p>
              <a:endParaRPr lang="en-US"/>
            </a:p>
          </p:txBody>
        </p:sp>
        <p:sp>
          <p:nvSpPr>
            <p:cNvPr id="19" name="Line 16">
              <a:extLst>
                <a:ext uri="{FF2B5EF4-FFF2-40B4-BE49-F238E27FC236}">
                  <a16:creationId xmlns:a16="http://schemas.microsoft.com/office/drawing/2014/main" id="{11D72CBE-E7C3-4512-9959-890D30E29D9F}"/>
                </a:ext>
              </a:extLst>
            </p:cNvPr>
            <p:cNvSpPr>
              <a:spLocks noChangeShapeType="1"/>
            </p:cNvSpPr>
            <p:nvPr/>
          </p:nvSpPr>
          <p:spPr bwMode="auto">
            <a:xfrm flipH="1">
              <a:off x="666750" y="2045043"/>
              <a:ext cx="442912" cy="453081"/>
            </a:xfrm>
            <a:prstGeom prst="line">
              <a:avLst/>
            </a:prstGeom>
            <a:noFill/>
            <a:ln w="9525">
              <a:solidFill>
                <a:schemeClr val="tx1"/>
              </a:solidFill>
              <a:round/>
              <a:headEnd/>
              <a:tailEnd/>
            </a:ln>
          </p:spPr>
          <p:txBody>
            <a:bodyPr/>
            <a:lstStyle/>
            <a:p>
              <a:endParaRPr lang="en-US"/>
            </a:p>
          </p:txBody>
        </p:sp>
      </p:grpSp>
      <p:grpSp>
        <p:nvGrpSpPr>
          <p:cNvPr id="20" name="Group 19">
            <a:extLst>
              <a:ext uri="{FF2B5EF4-FFF2-40B4-BE49-F238E27FC236}">
                <a16:creationId xmlns:a16="http://schemas.microsoft.com/office/drawing/2014/main" id="{E70A2612-740A-4378-A82C-0D0105B89412}"/>
              </a:ext>
            </a:extLst>
          </p:cNvPr>
          <p:cNvGrpSpPr/>
          <p:nvPr/>
        </p:nvGrpSpPr>
        <p:grpSpPr>
          <a:xfrm>
            <a:off x="1795848" y="3505200"/>
            <a:ext cx="2697376" cy="1359243"/>
            <a:chOff x="962025" y="685800"/>
            <a:chExt cx="3838574" cy="1359243"/>
          </a:xfrm>
        </p:grpSpPr>
        <p:sp>
          <p:nvSpPr>
            <p:cNvPr id="21" name="Oval 5">
              <a:extLst>
                <a:ext uri="{FF2B5EF4-FFF2-40B4-BE49-F238E27FC236}">
                  <a16:creationId xmlns:a16="http://schemas.microsoft.com/office/drawing/2014/main" id="{959A0494-ADAA-44E9-BD5D-2C629F74BE06}"/>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20</a:t>
              </a:r>
            </a:p>
          </p:txBody>
        </p:sp>
        <p:sp>
          <p:nvSpPr>
            <p:cNvPr id="22" name="Oval 6">
              <a:extLst>
                <a:ext uri="{FF2B5EF4-FFF2-40B4-BE49-F238E27FC236}">
                  <a16:creationId xmlns:a16="http://schemas.microsoft.com/office/drawing/2014/main" id="{FBC1E9CA-098F-4F0F-BA59-2743180EB8BD}"/>
                </a:ext>
              </a:extLst>
            </p:cNvPr>
            <p:cNvSpPr>
              <a:spLocks noChangeArrowheads="1"/>
            </p:cNvSpPr>
            <p:nvPr/>
          </p:nvSpPr>
          <p:spPr bwMode="auto">
            <a:xfrm>
              <a:off x="962025"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22</a:t>
              </a:r>
            </a:p>
          </p:txBody>
        </p:sp>
        <p:sp>
          <p:nvSpPr>
            <p:cNvPr id="23" name="Oval 7">
              <a:extLst>
                <a:ext uri="{FF2B5EF4-FFF2-40B4-BE49-F238E27FC236}">
                  <a16:creationId xmlns:a16="http://schemas.microsoft.com/office/drawing/2014/main" id="{9B0451AA-5446-4A5E-8757-6872D90487EA}"/>
                </a:ext>
              </a:extLst>
            </p:cNvPr>
            <p:cNvSpPr>
              <a:spLocks noChangeArrowheads="1"/>
            </p:cNvSpPr>
            <p:nvPr/>
          </p:nvSpPr>
          <p:spPr bwMode="auto">
            <a:xfrm>
              <a:off x="3914774"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35</a:t>
              </a:r>
            </a:p>
          </p:txBody>
        </p:sp>
        <p:sp>
          <p:nvSpPr>
            <p:cNvPr id="24" name="Line 12">
              <a:extLst>
                <a:ext uri="{FF2B5EF4-FFF2-40B4-BE49-F238E27FC236}">
                  <a16:creationId xmlns:a16="http://schemas.microsoft.com/office/drawing/2014/main" id="{EBB6C006-609F-44AC-808E-777C86BAFB9A}"/>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sp>
          <p:nvSpPr>
            <p:cNvPr id="25" name="Line 13">
              <a:extLst>
                <a:ext uri="{FF2B5EF4-FFF2-40B4-BE49-F238E27FC236}">
                  <a16:creationId xmlns:a16="http://schemas.microsoft.com/office/drawing/2014/main" id="{D4348805-4C9C-41D7-8931-EA93D5982081}"/>
                </a:ext>
              </a:extLst>
            </p:cNvPr>
            <p:cNvSpPr>
              <a:spLocks noChangeShapeType="1"/>
            </p:cNvSpPr>
            <p:nvPr/>
          </p:nvSpPr>
          <p:spPr bwMode="auto">
            <a:xfrm>
              <a:off x="3176587" y="1138881"/>
              <a:ext cx="885825" cy="362465"/>
            </a:xfrm>
            <a:prstGeom prst="line">
              <a:avLst/>
            </a:prstGeom>
            <a:noFill/>
            <a:ln w="9525">
              <a:solidFill>
                <a:schemeClr val="tx1"/>
              </a:solidFill>
              <a:round/>
              <a:headEnd/>
              <a:tailEnd/>
            </a:ln>
          </p:spPr>
          <p:txBody>
            <a:bodyPr/>
            <a:lstStyle/>
            <a:p>
              <a:endParaRPr lang="en-US"/>
            </a:p>
          </p:txBody>
        </p:sp>
      </p:grpSp>
      <p:grpSp>
        <p:nvGrpSpPr>
          <p:cNvPr id="26" name="Group 25">
            <a:extLst>
              <a:ext uri="{FF2B5EF4-FFF2-40B4-BE49-F238E27FC236}">
                <a16:creationId xmlns:a16="http://schemas.microsoft.com/office/drawing/2014/main" id="{DAEEE7B0-ACF5-4FC6-BD76-BF948FF2DD06}"/>
              </a:ext>
            </a:extLst>
          </p:cNvPr>
          <p:cNvGrpSpPr/>
          <p:nvPr/>
        </p:nvGrpSpPr>
        <p:grpSpPr>
          <a:xfrm>
            <a:off x="4843848" y="3517557"/>
            <a:ext cx="2697376" cy="1359243"/>
            <a:chOff x="962025" y="685800"/>
            <a:chExt cx="3838574" cy="1359243"/>
          </a:xfrm>
        </p:grpSpPr>
        <p:sp>
          <p:nvSpPr>
            <p:cNvPr id="27" name="Oval 5">
              <a:extLst>
                <a:ext uri="{FF2B5EF4-FFF2-40B4-BE49-F238E27FC236}">
                  <a16:creationId xmlns:a16="http://schemas.microsoft.com/office/drawing/2014/main" id="{7BDD8D35-5812-40B3-8D09-6439F845C074}"/>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35</a:t>
              </a:r>
            </a:p>
          </p:txBody>
        </p:sp>
        <p:sp>
          <p:nvSpPr>
            <p:cNvPr id="28" name="Oval 6">
              <a:extLst>
                <a:ext uri="{FF2B5EF4-FFF2-40B4-BE49-F238E27FC236}">
                  <a16:creationId xmlns:a16="http://schemas.microsoft.com/office/drawing/2014/main" id="{11003FEB-176B-40B5-80CE-EB115BBF2920}"/>
                </a:ext>
              </a:extLst>
            </p:cNvPr>
            <p:cNvSpPr>
              <a:spLocks noChangeArrowheads="1"/>
            </p:cNvSpPr>
            <p:nvPr/>
          </p:nvSpPr>
          <p:spPr bwMode="auto">
            <a:xfrm>
              <a:off x="962025"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22</a:t>
              </a:r>
            </a:p>
          </p:txBody>
        </p:sp>
        <p:sp>
          <p:nvSpPr>
            <p:cNvPr id="29" name="Oval 7">
              <a:extLst>
                <a:ext uri="{FF2B5EF4-FFF2-40B4-BE49-F238E27FC236}">
                  <a16:creationId xmlns:a16="http://schemas.microsoft.com/office/drawing/2014/main" id="{BA3F3212-2AA6-49DE-BDF1-9E87793D0A63}"/>
                </a:ext>
              </a:extLst>
            </p:cNvPr>
            <p:cNvSpPr>
              <a:spLocks noChangeArrowheads="1"/>
            </p:cNvSpPr>
            <p:nvPr/>
          </p:nvSpPr>
          <p:spPr bwMode="auto">
            <a:xfrm>
              <a:off x="3914774"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20</a:t>
              </a:r>
            </a:p>
          </p:txBody>
        </p:sp>
        <p:sp>
          <p:nvSpPr>
            <p:cNvPr id="30" name="Line 12">
              <a:extLst>
                <a:ext uri="{FF2B5EF4-FFF2-40B4-BE49-F238E27FC236}">
                  <a16:creationId xmlns:a16="http://schemas.microsoft.com/office/drawing/2014/main" id="{150EEBEE-E7FC-40C4-BE90-A59B25597EDD}"/>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sp>
          <p:nvSpPr>
            <p:cNvPr id="31" name="Line 13">
              <a:extLst>
                <a:ext uri="{FF2B5EF4-FFF2-40B4-BE49-F238E27FC236}">
                  <a16:creationId xmlns:a16="http://schemas.microsoft.com/office/drawing/2014/main" id="{0B3FEE55-D2ED-4263-8C2A-17F9C29ADE62}"/>
                </a:ext>
              </a:extLst>
            </p:cNvPr>
            <p:cNvSpPr>
              <a:spLocks noChangeShapeType="1"/>
            </p:cNvSpPr>
            <p:nvPr/>
          </p:nvSpPr>
          <p:spPr bwMode="auto">
            <a:xfrm>
              <a:off x="3176587" y="1138881"/>
              <a:ext cx="885825" cy="362465"/>
            </a:xfrm>
            <a:prstGeom prst="line">
              <a:avLst/>
            </a:prstGeom>
            <a:noFill/>
            <a:ln w="9525">
              <a:solidFill>
                <a:schemeClr val="tx1"/>
              </a:solidFill>
              <a:round/>
              <a:headEnd/>
              <a:tailEnd/>
            </a:ln>
          </p:spPr>
          <p:txBody>
            <a:bodyPr/>
            <a:lstStyle/>
            <a:p>
              <a:endParaRPr lang="en-US"/>
            </a:p>
          </p:txBody>
        </p:sp>
      </p:grpSp>
      <p:grpSp>
        <p:nvGrpSpPr>
          <p:cNvPr id="32" name="Group 31">
            <a:extLst>
              <a:ext uri="{FF2B5EF4-FFF2-40B4-BE49-F238E27FC236}">
                <a16:creationId xmlns:a16="http://schemas.microsoft.com/office/drawing/2014/main" id="{0EABD98D-6749-4C40-9841-BFCB26EEA2F1}"/>
              </a:ext>
            </a:extLst>
          </p:cNvPr>
          <p:cNvGrpSpPr/>
          <p:nvPr/>
        </p:nvGrpSpPr>
        <p:grpSpPr>
          <a:xfrm>
            <a:off x="8164470" y="3505200"/>
            <a:ext cx="1556179" cy="1359243"/>
            <a:chOff x="962025" y="685800"/>
            <a:chExt cx="2214562" cy="1359243"/>
          </a:xfrm>
        </p:grpSpPr>
        <p:sp>
          <p:nvSpPr>
            <p:cNvPr id="33" name="Oval 5">
              <a:extLst>
                <a:ext uri="{FF2B5EF4-FFF2-40B4-BE49-F238E27FC236}">
                  <a16:creationId xmlns:a16="http://schemas.microsoft.com/office/drawing/2014/main" id="{FBB7458E-A267-4393-8AC8-66D86C0AFCB0}"/>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20</a:t>
              </a:r>
            </a:p>
          </p:txBody>
        </p:sp>
        <p:sp>
          <p:nvSpPr>
            <p:cNvPr id="34" name="Oval 6">
              <a:extLst>
                <a:ext uri="{FF2B5EF4-FFF2-40B4-BE49-F238E27FC236}">
                  <a16:creationId xmlns:a16="http://schemas.microsoft.com/office/drawing/2014/main" id="{A4676EF5-48EB-4B2F-B80D-59239A49AE2B}"/>
                </a:ext>
              </a:extLst>
            </p:cNvPr>
            <p:cNvSpPr>
              <a:spLocks noChangeArrowheads="1"/>
            </p:cNvSpPr>
            <p:nvPr/>
          </p:nvSpPr>
          <p:spPr bwMode="auto">
            <a:xfrm>
              <a:off x="962025"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22</a:t>
              </a:r>
            </a:p>
          </p:txBody>
        </p:sp>
        <p:sp>
          <p:nvSpPr>
            <p:cNvPr id="35" name="Line 12">
              <a:extLst>
                <a:ext uri="{FF2B5EF4-FFF2-40B4-BE49-F238E27FC236}">
                  <a16:creationId xmlns:a16="http://schemas.microsoft.com/office/drawing/2014/main" id="{784B4446-7BE4-4D07-AF60-F27C7DF7050A}"/>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grpSp>
      <p:grpSp>
        <p:nvGrpSpPr>
          <p:cNvPr id="36" name="Group 35">
            <a:extLst>
              <a:ext uri="{FF2B5EF4-FFF2-40B4-BE49-F238E27FC236}">
                <a16:creationId xmlns:a16="http://schemas.microsoft.com/office/drawing/2014/main" id="{35DF8405-3EAD-4E8D-AA87-CB0AA756118F}"/>
              </a:ext>
            </a:extLst>
          </p:cNvPr>
          <p:cNvGrpSpPr/>
          <p:nvPr/>
        </p:nvGrpSpPr>
        <p:grpSpPr>
          <a:xfrm>
            <a:off x="2024449" y="5181600"/>
            <a:ext cx="1556179" cy="1359243"/>
            <a:chOff x="962025" y="685800"/>
            <a:chExt cx="2214562" cy="1359243"/>
          </a:xfrm>
        </p:grpSpPr>
        <p:sp>
          <p:nvSpPr>
            <p:cNvPr id="37" name="Oval 5">
              <a:extLst>
                <a:ext uri="{FF2B5EF4-FFF2-40B4-BE49-F238E27FC236}">
                  <a16:creationId xmlns:a16="http://schemas.microsoft.com/office/drawing/2014/main" id="{7EEA339C-8E64-4F4F-BAC5-2A1DD1BD6663}"/>
                </a:ext>
              </a:extLst>
            </p:cNvPr>
            <p:cNvSpPr>
              <a:spLocks noChangeArrowheads="1"/>
            </p:cNvSpPr>
            <p:nvPr/>
          </p:nvSpPr>
          <p:spPr bwMode="auto">
            <a:xfrm>
              <a:off x="2290762" y="685800"/>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22</a:t>
              </a:r>
            </a:p>
          </p:txBody>
        </p:sp>
        <p:sp>
          <p:nvSpPr>
            <p:cNvPr id="38" name="Oval 6">
              <a:extLst>
                <a:ext uri="{FF2B5EF4-FFF2-40B4-BE49-F238E27FC236}">
                  <a16:creationId xmlns:a16="http://schemas.microsoft.com/office/drawing/2014/main" id="{3204E4A5-CC0A-459A-8CA0-21DEC521A260}"/>
                </a:ext>
              </a:extLst>
            </p:cNvPr>
            <p:cNvSpPr>
              <a:spLocks noChangeArrowheads="1"/>
            </p:cNvSpPr>
            <p:nvPr/>
          </p:nvSpPr>
          <p:spPr bwMode="auto">
            <a:xfrm>
              <a:off x="962025" y="1501346"/>
              <a:ext cx="885825"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20</a:t>
              </a:r>
            </a:p>
          </p:txBody>
        </p:sp>
        <p:sp>
          <p:nvSpPr>
            <p:cNvPr id="39" name="Line 12">
              <a:extLst>
                <a:ext uri="{FF2B5EF4-FFF2-40B4-BE49-F238E27FC236}">
                  <a16:creationId xmlns:a16="http://schemas.microsoft.com/office/drawing/2014/main" id="{42794851-5BE8-408C-8D0B-5BA66ABF4705}"/>
                </a:ext>
              </a:extLst>
            </p:cNvPr>
            <p:cNvSpPr>
              <a:spLocks noChangeShapeType="1"/>
            </p:cNvSpPr>
            <p:nvPr/>
          </p:nvSpPr>
          <p:spPr bwMode="auto">
            <a:xfrm flipH="1">
              <a:off x="1700212" y="1138881"/>
              <a:ext cx="738187" cy="453081"/>
            </a:xfrm>
            <a:prstGeom prst="line">
              <a:avLst/>
            </a:prstGeom>
            <a:noFill/>
            <a:ln w="9525">
              <a:solidFill>
                <a:schemeClr val="tx1"/>
              </a:solidFill>
              <a:round/>
              <a:headEnd/>
              <a:tailEnd/>
            </a:ln>
          </p:spPr>
          <p:txBody>
            <a:bodyPr/>
            <a:lstStyle/>
            <a:p>
              <a:endParaRPr lang="en-US"/>
            </a:p>
          </p:txBody>
        </p:sp>
      </p:grpSp>
      <p:sp>
        <p:nvSpPr>
          <p:cNvPr id="40" name="Oval 5">
            <a:extLst>
              <a:ext uri="{FF2B5EF4-FFF2-40B4-BE49-F238E27FC236}">
                <a16:creationId xmlns:a16="http://schemas.microsoft.com/office/drawing/2014/main" id="{3478F232-982A-4C0A-8BC7-3198BFB17325}"/>
              </a:ext>
            </a:extLst>
          </p:cNvPr>
          <p:cNvSpPr>
            <a:spLocks noChangeArrowheads="1"/>
          </p:cNvSpPr>
          <p:nvPr/>
        </p:nvSpPr>
        <p:spPr bwMode="auto">
          <a:xfrm>
            <a:off x="5059576" y="5628503"/>
            <a:ext cx="622472" cy="543697"/>
          </a:xfrm>
          <a:prstGeom prst="ellipse">
            <a:avLst/>
          </a:prstGeom>
          <a:solidFill>
            <a:schemeClr val="accent1"/>
          </a:solidFill>
          <a:ln w="9525">
            <a:solidFill>
              <a:schemeClr val="tx1"/>
            </a:solidFill>
            <a:round/>
            <a:headEnd/>
            <a:tailEnd/>
          </a:ln>
        </p:spPr>
        <p:txBody>
          <a:bodyPr wrap="none" anchor="ctr"/>
          <a:lstStyle/>
          <a:p>
            <a:pPr algn="ctr"/>
            <a:r>
              <a:rPr lang="en-US" dirty="0">
                <a:latin typeface="Times New Roman" pitchFamily="18" charset="0"/>
              </a:rPr>
              <a:t>20</a:t>
            </a:r>
          </a:p>
        </p:txBody>
      </p:sp>
    </p:spTree>
    <p:extLst>
      <p:ext uri="{BB962C8B-B14F-4D97-AF65-F5344CB8AC3E}">
        <p14:creationId xmlns:p14="http://schemas.microsoft.com/office/powerpoint/2010/main" val="270438104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1873</TotalTime>
  <Words>1453</Words>
  <Application>Microsoft Office PowerPoint</Application>
  <PresentationFormat>Widescreen</PresentationFormat>
  <Paragraphs>316</Paragraphs>
  <Slides>38</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Malgun Gothic</vt:lpstr>
      <vt:lpstr>Arial</vt:lpstr>
      <vt:lpstr>Calibri</vt:lpstr>
      <vt:lpstr>Calibri Light</vt:lpstr>
      <vt:lpstr>inter-bold</vt:lpstr>
      <vt:lpstr>inter-regular</vt:lpstr>
      <vt:lpstr>Times New Roman</vt:lpstr>
      <vt:lpstr>Wingdings</vt:lpstr>
      <vt:lpstr>Retrospect</vt:lpstr>
      <vt:lpstr>Data Structure and Algorithm</vt:lpstr>
      <vt:lpstr>Goals</vt:lpstr>
      <vt:lpstr>Heap Tree Structure</vt:lpstr>
      <vt:lpstr>Heap Tree Structure</vt:lpstr>
      <vt:lpstr>Types of Heap Tree Structure</vt:lpstr>
      <vt:lpstr>Min Heap </vt:lpstr>
      <vt:lpstr>Max Heap </vt:lpstr>
      <vt:lpstr>Creation of Max Heap Tree</vt:lpstr>
      <vt:lpstr>Creation of Max Heap Tree</vt:lpstr>
      <vt:lpstr>Creation of Max Heap Tree</vt:lpstr>
      <vt:lpstr>Creation of Max Heap Tree</vt:lpstr>
      <vt:lpstr>Creation of Max Heap Tree</vt:lpstr>
      <vt:lpstr>Creation of Max Heap Tree</vt:lpstr>
      <vt:lpstr>Creation of Max Heap Tree</vt:lpstr>
      <vt:lpstr>Creation of Max Heap Tree</vt:lpstr>
      <vt:lpstr>Task</vt:lpstr>
      <vt:lpstr>Heap Tree Structure</vt:lpstr>
      <vt:lpstr>PowerPoint Presentation</vt:lpstr>
      <vt:lpstr>PowerPoint Presentation</vt:lpstr>
      <vt:lpstr>Insertion in Heap</vt:lpstr>
      <vt:lpstr>Insertion in Heap</vt:lpstr>
      <vt:lpstr>Insertion in Heap</vt:lpstr>
      <vt:lpstr>Insertion in Heap</vt:lpstr>
      <vt:lpstr>Insertion in Heap</vt:lpstr>
      <vt:lpstr>PowerPoint Presentation</vt:lpstr>
      <vt:lpstr>Time Complexity</vt:lpstr>
      <vt:lpstr>Insertion in Heap</vt:lpstr>
      <vt:lpstr>Deletion in Heap</vt:lpstr>
      <vt:lpstr>Deletion in Heap</vt:lpstr>
      <vt:lpstr>Deletion in Heap</vt:lpstr>
      <vt:lpstr>Deletion in Heap</vt:lpstr>
      <vt:lpstr>Deletion in Heap</vt:lpstr>
      <vt:lpstr>Deletion in Heap</vt:lpstr>
      <vt:lpstr>Deletion in Heap</vt:lpstr>
      <vt:lpstr>PowerPoint Presentation</vt:lpstr>
      <vt:lpstr>Time Complexity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 and Algorithm</dc:title>
  <dc:creator>Habiba Arshad</dc:creator>
  <cp:lastModifiedBy>Rida Zahra</cp:lastModifiedBy>
  <cp:revision>25</cp:revision>
  <dcterms:created xsi:type="dcterms:W3CDTF">2022-12-21T05:23:19Z</dcterms:created>
  <dcterms:modified xsi:type="dcterms:W3CDTF">2026-01-20T05:46:40Z</dcterms:modified>
</cp:coreProperties>
</file>