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371" r:id="rId3"/>
    <p:sldId id="401" r:id="rId4"/>
    <p:sldId id="372" r:id="rId5"/>
    <p:sldId id="301" r:id="rId6"/>
    <p:sldId id="360" r:id="rId7"/>
    <p:sldId id="381" r:id="rId8"/>
    <p:sldId id="380" r:id="rId9"/>
    <p:sldId id="382" r:id="rId10"/>
    <p:sldId id="302" r:id="rId11"/>
    <p:sldId id="305" r:id="rId12"/>
    <p:sldId id="307" r:id="rId13"/>
    <p:sldId id="306" r:id="rId14"/>
    <p:sldId id="362" r:id="rId15"/>
    <p:sldId id="308" r:id="rId16"/>
    <p:sldId id="388" r:id="rId17"/>
    <p:sldId id="363" r:id="rId18"/>
    <p:sldId id="329" r:id="rId19"/>
    <p:sldId id="330" r:id="rId20"/>
    <p:sldId id="391" r:id="rId21"/>
    <p:sldId id="392" r:id="rId22"/>
    <p:sldId id="378" r:id="rId23"/>
    <p:sldId id="393" r:id="rId24"/>
    <p:sldId id="394" r:id="rId25"/>
    <p:sldId id="395" r:id="rId26"/>
    <p:sldId id="396" r:id="rId27"/>
    <p:sldId id="397" r:id="rId28"/>
    <p:sldId id="398" r:id="rId29"/>
    <p:sldId id="399" r:id="rId30"/>
    <p:sldId id="400" r:id="rId31"/>
    <p:sldId id="365"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3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E9B621-F624-4008-BCAC-94E3CB87C1F8}"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A6732A-1953-4C1D-8E3D-786D14C9AFAE}" type="slidenum">
              <a:rPr lang="en-US" smtClean="0"/>
              <a:t>‹#›</a:t>
            </a:fld>
            <a:endParaRPr lang="en-US"/>
          </a:p>
        </p:txBody>
      </p:sp>
    </p:spTree>
    <p:extLst>
      <p:ext uri="{BB962C8B-B14F-4D97-AF65-F5344CB8AC3E}">
        <p14:creationId xmlns:p14="http://schemas.microsoft.com/office/powerpoint/2010/main" val="51612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0C5D2F17-AD39-555D-C68B-C945AAE97518}"/>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F831554E-B82F-4E49-0360-08E4063FD5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2772" name="Slide Number Placeholder 3">
            <a:extLst>
              <a:ext uri="{FF2B5EF4-FFF2-40B4-BE49-F238E27FC236}">
                <a16:creationId xmlns:a16="http://schemas.microsoft.com/office/drawing/2014/main" id="{4A807010-0681-0DCE-EBF6-089476D10F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900877C-0147-4051-A518-8712F1B77464}" type="slidenum">
              <a:rPr lang="en-US" altLang="en-US" sz="1200">
                <a:latin typeface="Calibri" panose="020F0502020204030204" pitchFamily="34" charset="0"/>
              </a:rPr>
              <a:pPr/>
              <a:t>25</a:t>
            </a:fld>
            <a:endParaRPr lang="en-US" altLang="en-US" sz="120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1A2976-7099-4296-9472-53CF18B28915}"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C213E-D6EE-4B9D-AC22-36FA710AB9E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2025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1A2976-7099-4296-9472-53CF18B28915}"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734028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1A2976-7099-4296-9472-53CF18B28915}"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C213E-D6EE-4B9D-AC22-36FA710AB9E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917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1A2976-7099-4296-9472-53CF18B28915}"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2839632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1A2976-7099-4296-9472-53CF18B28915}"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3293639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1A2976-7099-4296-9472-53CF18B28915}"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2388367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61A2976-7099-4296-9472-53CF18B28915}" type="datetimeFigureOut">
              <a:rPr lang="en-US" smtClean="0"/>
              <a:t>12/2/2025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1232754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61A2976-7099-4296-9472-53CF18B28915}" type="datetimeFigureOut">
              <a:rPr lang="en-US" smtClean="0"/>
              <a:t>12/2/2025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FFC213E-D6EE-4B9D-AC22-36FA710AB9E2}" type="slidenum">
              <a:rPr lang="en-US" smtClean="0"/>
              <a:t>‹#›</a:t>
            </a:fld>
            <a:endParaRPr lang="en-US"/>
          </a:p>
        </p:txBody>
      </p:sp>
    </p:spTree>
    <p:extLst>
      <p:ext uri="{BB962C8B-B14F-4D97-AF65-F5344CB8AC3E}">
        <p14:creationId xmlns:p14="http://schemas.microsoft.com/office/powerpoint/2010/main" val="2449320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1A2976-7099-4296-9472-53CF18B28915}"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2141278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1A2976-7099-4296-9472-53CF18B28915}"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2105569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1A2976-7099-4296-9472-53CF18B28915}"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457026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61A2976-7099-4296-9472-53CF18B28915}" type="datetimeFigureOut">
              <a:rPr lang="en-US" smtClean="0"/>
              <a:t>12/2/2025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FFC213E-D6EE-4B9D-AC22-36FA710AB9E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13212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51019-D6D8-B4E5-437E-353D5189EB60}"/>
              </a:ext>
            </a:extLst>
          </p:cNvPr>
          <p:cNvSpPr>
            <a:spLocks noGrp="1"/>
          </p:cNvSpPr>
          <p:nvPr>
            <p:ph type="ctrTitle"/>
          </p:nvPr>
        </p:nvSpPr>
        <p:spPr/>
        <p:txBody>
          <a:bodyPr/>
          <a:lstStyle/>
          <a:p>
            <a:pPr algn="ctr"/>
            <a:r>
              <a:rPr lang="en-US" dirty="0"/>
              <a:t>Data Structure and Algorithm</a:t>
            </a:r>
          </a:p>
        </p:txBody>
      </p:sp>
      <p:sp>
        <p:nvSpPr>
          <p:cNvPr id="3" name="Subtitle 2">
            <a:extLst>
              <a:ext uri="{FF2B5EF4-FFF2-40B4-BE49-F238E27FC236}">
                <a16:creationId xmlns:a16="http://schemas.microsoft.com/office/drawing/2014/main" id="{DFA729D7-3FF1-E12D-AEA7-6C6EFAF0E753}"/>
              </a:ext>
            </a:extLst>
          </p:cNvPr>
          <p:cNvSpPr>
            <a:spLocks noGrp="1"/>
          </p:cNvSpPr>
          <p:nvPr>
            <p:ph type="subTitle" idx="1"/>
          </p:nvPr>
        </p:nvSpPr>
        <p:spPr/>
        <p:txBody>
          <a:bodyPr>
            <a:normAutofit/>
          </a:bodyPr>
          <a:lstStyle/>
          <a:p>
            <a:r>
              <a:rPr lang="en-US" dirty="0"/>
              <a:t>Course code: cs-201</a:t>
            </a:r>
          </a:p>
          <a:p>
            <a:r>
              <a:rPr lang="en-US" dirty="0"/>
              <a:t>Topic: stack and its operations</a:t>
            </a:r>
          </a:p>
        </p:txBody>
      </p:sp>
    </p:spTree>
    <p:extLst>
      <p:ext uri="{BB962C8B-B14F-4D97-AF65-F5344CB8AC3E}">
        <p14:creationId xmlns:p14="http://schemas.microsoft.com/office/powerpoint/2010/main" val="929867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2581-365E-011A-CC8B-75B6902F76EC}"/>
              </a:ext>
            </a:extLst>
          </p:cNvPr>
          <p:cNvSpPr>
            <a:spLocks noGrp="1"/>
          </p:cNvSpPr>
          <p:nvPr>
            <p:ph type="title"/>
          </p:nvPr>
        </p:nvSpPr>
        <p:spPr/>
        <p:txBody>
          <a:bodyPr/>
          <a:lstStyle/>
          <a:p>
            <a:r>
              <a:rPr lang="en-US" dirty="0"/>
              <a:t>Goal for today</a:t>
            </a:r>
          </a:p>
        </p:txBody>
      </p:sp>
      <p:sp>
        <p:nvSpPr>
          <p:cNvPr id="3" name="Content Placeholder 2">
            <a:extLst>
              <a:ext uri="{FF2B5EF4-FFF2-40B4-BE49-F238E27FC236}">
                <a16:creationId xmlns:a16="http://schemas.microsoft.com/office/drawing/2014/main" id="{7D836995-CA9F-5F5D-8D20-E38EEAC6D4CA}"/>
              </a:ext>
            </a:extLst>
          </p:cNvPr>
          <p:cNvSpPr>
            <a:spLocks noGrp="1"/>
          </p:cNvSpPr>
          <p:nvPr>
            <p:ph idx="1"/>
          </p:nvPr>
        </p:nvSpPr>
        <p:spPr/>
        <p:txBody>
          <a:bodyPr/>
          <a:lstStyle/>
          <a:p>
            <a:r>
              <a:rPr lang="en-GB" altLang="en-US" sz="3200" dirty="0"/>
              <a:t>To introduce :</a:t>
            </a:r>
          </a:p>
          <a:p>
            <a:pPr lvl="1"/>
            <a:r>
              <a:rPr lang="en-GB" altLang="en-US" sz="2800" dirty="0"/>
              <a:t>Stacks</a:t>
            </a:r>
          </a:p>
          <a:p>
            <a:pPr lvl="1"/>
            <a:r>
              <a:rPr lang="en-GB" altLang="en-US" sz="2800" dirty="0"/>
              <a:t>Algorithms for insertion and deletion in stacks</a:t>
            </a:r>
          </a:p>
          <a:p>
            <a:pPr lvl="1"/>
            <a:r>
              <a:rPr lang="en-GB" altLang="en-US" sz="2800" dirty="0"/>
              <a:t>Applications of stacks</a:t>
            </a:r>
          </a:p>
          <a:p>
            <a:endParaRPr lang="en-US" dirty="0"/>
          </a:p>
        </p:txBody>
      </p:sp>
    </p:spTree>
    <p:extLst>
      <p:ext uri="{BB962C8B-B14F-4D97-AF65-F5344CB8AC3E}">
        <p14:creationId xmlns:p14="http://schemas.microsoft.com/office/powerpoint/2010/main" val="755052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9DCA9-8D9E-B536-2637-AB7D3B2A4AD6}"/>
              </a:ext>
            </a:extLst>
          </p:cNvPr>
          <p:cNvSpPr>
            <a:spLocks noGrp="1"/>
          </p:cNvSpPr>
          <p:nvPr>
            <p:ph type="title"/>
          </p:nvPr>
        </p:nvSpPr>
        <p:spPr/>
        <p:txBody>
          <a:bodyPr/>
          <a:lstStyle/>
          <a:p>
            <a:r>
              <a:rPr lang="en-US" dirty="0"/>
              <a:t>CLO Covered</a:t>
            </a:r>
          </a:p>
        </p:txBody>
      </p:sp>
      <p:sp>
        <p:nvSpPr>
          <p:cNvPr id="3" name="Content Placeholder 2">
            <a:extLst>
              <a:ext uri="{FF2B5EF4-FFF2-40B4-BE49-F238E27FC236}">
                <a16:creationId xmlns:a16="http://schemas.microsoft.com/office/drawing/2014/main" id="{84847418-C0D2-F27D-770D-BC97F49B18C5}"/>
              </a:ext>
            </a:extLst>
          </p:cNvPr>
          <p:cNvSpPr>
            <a:spLocks noGrp="1"/>
          </p:cNvSpPr>
          <p:nvPr>
            <p:ph idx="1"/>
          </p:nvPr>
        </p:nvSpPr>
        <p:spPr/>
        <p:txBody>
          <a:bodyPr/>
          <a:lstStyle/>
          <a:p>
            <a:r>
              <a:rPr lang="en-US" dirty="0"/>
              <a:t>CLO 2: </a:t>
            </a:r>
            <a:r>
              <a:rPr lang="en-US" b="1" dirty="0"/>
              <a:t>Apply</a:t>
            </a:r>
            <a:r>
              <a:rPr lang="en-US" dirty="0"/>
              <a:t> and design various data structures methods for specified applications. GA4</a:t>
            </a:r>
          </a:p>
        </p:txBody>
      </p:sp>
    </p:spTree>
    <p:extLst>
      <p:ext uri="{BB962C8B-B14F-4D97-AF65-F5344CB8AC3E}">
        <p14:creationId xmlns:p14="http://schemas.microsoft.com/office/powerpoint/2010/main" val="1056753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D4E518E-16ED-5BF0-C5FA-CC4A342A8EA4}"/>
              </a:ext>
            </a:extLst>
          </p:cNvPr>
          <p:cNvSpPr>
            <a:spLocks noGrp="1" noChangeArrowheads="1"/>
          </p:cNvSpPr>
          <p:nvPr>
            <p:ph type="title"/>
          </p:nvPr>
        </p:nvSpPr>
        <p:spPr/>
        <p:txBody>
          <a:bodyPr/>
          <a:lstStyle/>
          <a:p>
            <a:pPr eaLnBrk="1" hangingPunct="1">
              <a:defRPr/>
            </a:pPr>
            <a:r>
              <a:rPr lang="en-US" dirty="0"/>
              <a:t>Stacks</a:t>
            </a:r>
          </a:p>
        </p:txBody>
      </p:sp>
      <p:sp>
        <p:nvSpPr>
          <p:cNvPr id="14339" name="Rectangle 3">
            <a:extLst>
              <a:ext uri="{FF2B5EF4-FFF2-40B4-BE49-F238E27FC236}">
                <a16:creationId xmlns:a16="http://schemas.microsoft.com/office/drawing/2014/main" id="{26FFFE59-1945-AE51-70B5-948AD71C53F9}"/>
              </a:ext>
            </a:extLst>
          </p:cNvPr>
          <p:cNvSpPr>
            <a:spLocks noGrp="1" noChangeArrowheads="1"/>
          </p:cNvSpPr>
          <p:nvPr>
            <p:ph idx="1"/>
          </p:nvPr>
        </p:nvSpPr>
        <p:spPr>
          <a:xfrm>
            <a:off x="1253411" y="2006083"/>
            <a:ext cx="9822025" cy="4411663"/>
          </a:xfrm>
        </p:spPr>
        <p:txBody>
          <a:bodyPr>
            <a:normAutofit/>
          </a:bodyPr>
          <a:lstStyle/>
          <a:p>
            <a:pPr algn="just"/>
            <a:r>
              <a:rPr lang="en-US" altLang="en-US" sz="2400" dirty="0"/>
              <a:t>There are certain frequent situations in computer science when one wants to restrict insertion and deletions so that they can take place only at the beginning or at the end not in the middle.</a:t>
            </a:r>
          </a:p>
          <a:p>
            <a:pPr lvl="1"/>
            <a:endParaRPr lang="en-US" altLang="en-US" sz="2000" dirty="0"/>
          </a:p>
          <a:p>
            <a:pPr lvl="1"/>
            <a:r>
              <a:rPr lang="en-US" altLang="en-US" sz="2000" b="1" dirty="0"/>
              <a:t>Stack (LIFO)</a:t>
            </a:r>
          </a:p>
          <a:p>
            <a:pPr lvl="1"/>
            <a:r>
              <a:rPr lang="en-US" altLang="en-US" sz="2000" b="1" dirty="0"/>
              <a:t>Queue (FIFO)</a:t>
            </a:r>
          </a:p>
          <a:p>
            <a:pPr lvl="1">
              <a:buFont typeface="Verdana" panose="020B0604030504040204" pitchFamily="34" charset="0"/>
              <a:buNone/>
            </a:pPr>
            <a:r>
              <a:rPr lang="en-US" altLang="en-US" sz="2800" dirty="0"/>
              <a:t>These are actually conditions on linked list and linear arrays.</a:t>
            </a:r>
            <a:endParaRPr lang="en-US"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Stack</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5</a:t>
            </a:fld>
            <a:endParaRPr sz="900">
              <a:latin typeface="Malgun Gothic"/>
              <a:cs typeface="Malgun Gothic"/>
            </a:endParaRPr>
          </a:p>
        </p:txBody>
      </p:sp>
      <p:sp>
        <p:nvSpPr>
          <p:cNvPr id="11" name="Rectangle 3"/>
          <p:cNvSpPr>
            <a:spLocks noGrp="1" noChangeArrowheads="1"/>
          </p:cNvSpPr>
          <p:nvPr>
            <p:ph idx="1"/>
          </p:nvPr>
        </p:nvSpPr>
        <p:spPr>
          <a:xfrm>
            <a:off x="1354272" y="2341848"/>
            <a:ext cx="9723360" cy="1755775"/>
          </a:xfrm>
        </p:spPr>
        <p:txBody>
          <a:bodyPr/>
          <a:lstStyle/>
          <a:p>
            <a:pPr eaLnBrk="1" hangingPunct="1">
              <a:buFont typeface="Wingdings" panose="05000000000000000000" pitchFamily="2" charset="2"/>
              <a:buNone/>
            </a:pPr>
            <a:r>
              <a:rPr lang="ja-JP" altLang="en-US">
                <a:latin typeface="Helvetica" charset="0"/>
              </a:rPr>
              <a:t>“</a:t>
            </a:r>
            <a:r>
              <a:rPr lang="en-US" altLang="ja-JP">
                <a:latin typeface="Helvetica" charset="0"/>
              </a:rPr>
              <a:t>A </a:t>
            </a:r>
            <a:r>
              <a:rPr lang="en-US" altLang="ja-JP" b="1" i="1">
                <a:latin typeface="Helvetica" charset="0"/>
              </a:rPr>
              <a:t>Stack</a:t>
            </a:r>
            <a:r>
              <a:rPr lang="en-US" altLang="ja-JP">
                <a:latin typeface="Helvetica" charset="0"/>
              </a:rPr>
              <a:t> is a special kind of list in which all insertions and deletions take place at one end, called the </a:t>
            </a:r>
            <a:r>
              <a:rPr lang="en-US" altLang="ja-JP" b="1" i="1">
                <a:latin typeface="Helvetica" charset="0"/>
              </a:rPr>
              <a:t>Top</a:t>
            </a:r>
            <a:r>
              <a:rPr lang="ja-JP" altLang="en-US" i="1">
                <a:latin typeface="Helvetica" charset="0"/>
              </a:rPr>
              <a:t>”</a:t>
            </a:r>
            <a:endParaRPr lang="en-US" altLang="ja-JP" i="1">
              <a:latin typeface="Helvetica" charset="0"/>
            </a:endParaRPr>
          </a:p>
          <a:p>
            <a:pPr eaLnBrk="1" hangingPunct="1">
              <a:buFont typeface="Wingdings" panose="05000000000000000000" pitchFamily="2" charset="2"/>
              <a:buNone/>
            </a:pPr>
            <a:endParaRPr lang="en-US" i="1">
              <a:latin typeface="Helvetica" charset="0"/>
            </a:endParaRPr>
          </a:p>
        </p:txBody>
      </p:sp>
      <p:sp>
        <p:nvSpPr>
          <p:cNvPr id="13" name="Rectangle 4"/>
          <p:cNvSpPr>
            <a:spLocks noChangeArrowheads="1"/>
          </p:cNvSpPr>
          <p:nvPr/>
        </p:nvSpPr>
        <p:spPr bwMode="auto">
          <a:xfrm>
            <a:off x="1229174" y="3693820"/>
            <a:ext cx="9723360" cy="2363788"/>
          </a:xfrm>
          <a:prstGeom prst="rect">
            <a:avLst/>
          </a:prstGeom>
          <a:noFill/>
          <a:ln w="9525">
            <a:noFill/>
            <a:miter lim="800000"/>
          </a:ln>
        </p:spPr>
        <p:txBody>
          <a:bodyPr/>
          <a:lstStyle/>
          <a:p>
            <a:pPr marL="342900" indent="-342900">
              <a:spcBef>
                <a:spcPct val="20000"/>
              </a:spcBef>
              <a:buClr>
                <a:schemeClr val="accent1"/>
              </a:buClr>
            </a:pPr>
            <a:r>
              <a:rPr lang="en-US" sz="3200" dirty="0">
                <a:latin typeface="Helvetica" charset="0"/>
              </a:rPr>
              <a:t>Other Names</a:t>
            </a:r>
          </a:p>
          <a:p>
            <a:pPr marL="342900" indent="-342900">
              <a:spcBef>
                <a:spcPct val="20000"/>
              </a:spcBef>
              <a:buClr>
                <a:schemeClr val="tx1"/>
              </a:buClr>
              <a:buFont typeface="Wingdings" panose="05000000000000000000" pitchFamily="2" charset="2"/>
              <a:buChar char="§"/>
            </a:pPr>
            <a:r>
              <a:rPr lang="en-US" sz="3200" dirty="0">
                <a:latin typeface="Helvetica" charset="0"/>
              </a:rPr>
              <a:t>Pushdown List</a:t>
            </a:r>
          </a:p>
          <a:p>
            <a:pPr marL="342900" indent="-342900">
              <a:spcBef>
                <a:spcPct val="20000"/>
              </a:spcBef>
              <a:buClr>
                <a:schemeClr val="tx1"/>
              </a:buClr>
              <a:buFont typeface="Wingdings" panose="05000000000000000000" pitchFamily="2" charset="2"/>
              <a:buChar char="§"/>
            </a:pPr>
            <a:r>
              <a:rPr lang="en-US" sz="3200" dirty="0">
                <a:latin typeface="Helvetica" charset="0"/>
              </a:rPr>
              <a:t>Last In First Out (LIFO)</a:t>
            </a:r>
          </a:p>
          <a:p>
            <a:pPr marL="342900" indent="-342900">
              <a:spcBef>
                <a:spcPct val="20000"/>
              </a:spcBef>
              <a:buClr>
                <a:schemeClr val="accent1"/>
              </a:buClr>
            </a:pPr>
            <a:endParaRPr lang="en-US" sz="3200" i="1" dirty="0">
              <a:latin typeface="Helvetica" charset="0"/>
            </a:endParaRPr>
          </a:p>
        </p:txBody>
      </p:sp>
    </p:spTree>
    <p:extLst>
      <p:ext uri="{BB962C8B-B14F-4D97-AF65-F5344CB8AC3E}">
        <p14:creationId xmlns:p14="http://schemas.microsoft.com/office/powerpoint/2010/main" val="1264608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Stack</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6</a:t>
            </a:fld>
            <a:endParaRPr sz="900">
              <a:latin typeface="Malgun Gothic"/>
              <a:cs typeface="Malgun Gothic"/>
            </a:endParaRPr>
          </a:p>
        </p:txBody>
      </p:sp>
      <p:sp>
        <p:nvSpPr>
          <p:cNvPr id="11" name="Rectangle 3"/>
          <p:cNvSpPr>
            <a:spLocks noGrp="1" noChangeArrowheads="1"/>
          </p:cNvSpPr>
          <p:nvPr>
            <p:ph idx="1"/>
          </p:nvPr>
        </p:nvSpPr>
        <p:spPr>
          <a:xfrm>
            <a:off x="1354272" y="2341848"/>
            <a:ext cx="9723360" cy="3373152"/>
          </a:xfrm>
        </p:spPr>
        <p:txBody>
          <a:bodyPr>
            <a:normAutofit fontScale="92500" lnSpcReduction="10000"/>
          </a:bodyPr>
          <a:lstStyle/>
          <a:p>
            <a:pPr algn="just">
              <a:buFont typeface="Arial" panose="020B0604020202020204" pitchFamily="34" charset="0"/>
              <a:buChar char="•"/>
            </a:pPr>
            <a:r>
              <a:rPr lang="en-US" sz="2400" b="0" i="0" dirty="0">
                <a:solidFill>
                  <a:srgbClr val="000000"/>
                </a:solidFill>
                <a:effectLst/>
                <a:latin typeface="inter-regular"/>
              </a:rPr>
              <a:t>It is called as stack because it behaves like a real-world stack, piles of books, etc.</a:t>
            </a:r>
          </a:p>
          <a:p>
            <a:pPr algn="just">
              <a:buFont typeface="Arial" panose="020B0604020202020204" pitchFamily="34" charset="0"/>
              <a:buChar char="•"/>
            </a:pPr>
            <a:r>
              <a:rPr lang="en-US" sz="2400" b="0" i="0" dirty="0">
                <a:solidFill>
                  <a:srgbClr val="000000"/>
                </a:solidFill>
                <a:effectLst/>
                <a:latin typeface="inter-regular"/>
              </a:rPr>
              <a:t>A Stack is an abstract data type with a pre-defined capacity, which means that it can store the elements of a limited size. </a:t>
            </a:r>
          </a:p>
          <a:p>
            <a:pPr algn="just">
              <a:buFont typeface="Arial" panose="020B0604020202020204" pitchFamily="34" charset="0"/>
              <a:buChar char="•"/>
            </a:pPr>
            <a:r>
              <a:rPr lang="en-US" sz="2600" dirty="0">
                <a:solidFill>
                  <a:schemeClr val="tx1"/>
                </a:solidFill>
              </a:rPr>
              <a:t>Stores a set of elements in a particular order</a:t>
            </a:r>
          </a:p>
          <a:p>
            <a:pPr algn="just">
              <a:buFont typeface="Arial" panose="020B0604020202020204" pitchFamily="34" charset="0"/>
              <a:buChar char="•"/>
            </a:pPr>
            <a:r>
              <a:rPr lang="en-US" sz="2400" b="0" i="0" dirty="0">
                <a:solidFill>
                  <a:srgbClr val="000000"/>
                </a:solidFill>
                <a:effectLst/>
                <a:latin typeface="inter-regular"/>
              </a:rPr>
              <a:t>It is a data structure that follows some order to insert and delete the elements, and that order can be </a:t>
            </a:r>
          </a:p>
          <a:p>
            <a:pPr marL="569913" indent="-90488" algn="just">
              <a:buFont typeface="Wingdings" panose="05000000000000000000" pitchFamily="2" charset="2"/>
              <a:buChar char="Ø"/>
            </a:pPr>
            <a:r>
              <a:rPr lang="en-US" sz="2400" b="0" i="0" dirty="0">
                <a:solidFill>
                  <a:srgbClr val="000000"/>
                </a:solidFill>
                <a:effectLst/>
                <a:latin typeface="inter-regular"/>
              </a:rPr>
              <a:t>LIFO (Last –</a:t>
            </a:r>
            <a:r>
              <a:rPr lang="en-US" sz="2400" dirty="0">
                <a:solidFill>
                  <a:srgbClr val="000000"/>
                </a:solidFill>
                <a:latin typeface="inter-regular"/>
              </a:rPr>
              <a:t> In – First – Out)</a:t>
            </a:r>
          </a:p>
          <a:p>
            <a:pPr marL="569913" indent="-90488" algn="just">
              <a:buFont typeface="Wingdings" panose="05000000000000000000" pitchFamily="2" charset="2"/>
              <a:buChar char="Ø"/>
            </a:pPr>
            <a:r>
              <a:rPr lang="en-US" sz="2400" b="0" i="0" dirty="0">
                <a:solidFill>
                  <a:srgbClr val="000000"/>
                </a:solidFill>
                <a:effectLst/>
                <a:latin typeface="inter-regular"/>
              </a:rPr>
              <a:t>FILO</a:t>
            </a:r>
            <a:r>
              <a:rPr lang="en-US" sz="2400" dirty="0">
                <a:solidFill>
                  <a:srgbClr val="000000"/>
                </a:solidFill>
                <a:latin typeface="inter-regular"/>
              </a:rPr>
              <a:t> (First – In – Last – Out)</a:t>
            </a:r>
            <a:endParaRPr lang="en-US" sz="2400" b="0" i="0" dirty="0">
              <a:solidFill>
                <a:srgbClr val="000000"/>
              </a:solidFill>
              <a:effectLst/>
              <a:latin typeface="inter-regular"/>
            </a:endParaRPr>
          </a:p>
          <a:p>
            <a:pPr eaLnBrk="1" hangingPunct="1">
              <a:buFont typeface="Wingdings" panose="05000000000000000000" pitchFamily="2" charset="2"/>
              <a:buNone/>
            </a:pPr>
            <a:endParaRPr lang="en-US" i="1" dirty="0">
              <a:latin typeface="Helvetica" charset="0"/>
            </a:endParaRPr>
          </a:p>
        </p:txBody>
      </p:sp>
    </p:spTree>
    <p:extLst>
      <p:ext uri="{BB962C8B-B14F-4D97-AF65-F5344CB8AC3E}">
        <p14:creationId xmlns:p14="http://schemas.microsoft.com/office/powerpoint/2010/main" val="3903038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9A048121-7F53-8EDB-13C5-F7CB30F06D48}"/>
              </a:ext>
            </a:extLst>
          </p:cNvPr>
          <p:cNvSpPr>
            <a:spLocks noGrp="1" noChangeArrowheads="1"/>
          </p:cNvSpPr>
          <p:nvPr>
            <p:ph type="title"/>
          </p:nvPr>
        </p:nvSpPr>
        <p:spPr>
          <a:xfrm>
            <a:off x="1244082" y="692150"/>
            <a:ext cx="8229600" cy="868362"/>
          </a:xfrm>
        </p:spPr>
        <p:txBody>
          <a:bodyPr/>
          <a:lstStyle/>
          <a:p>
            <a:pPr>
              <a:defRPr/>
            </a:pPr>
            <a:r>
              <a:rPr lang="en-US" dirty="0"/>
              <a:t>Stack</a:t>
            </a:r>
          </a:p>
        </p:txBody>
      </p:sp>
      <p:sp>
        <p:nvSpPr>
          <p:cNvPr id="129027" name="Rectangle 3">
            <a:extLst>
              <a:ext uri="{FF2B5EF4-FFF2-40B4-BE49-F238E27FC236}">
                <a16:creationId xmlns:a16="http://schemas.microsoft.com/office/drawing/2014/main" id="{7D7A44CA-AD0C-88B8-48CC-1FEC07D58B03}"/>
              </a:ext>
            </a:extLst>
          </p:cNvPr>
          <p:cNvSpPr>
            <a:spLocks noGrp="1" noChangeArrowheads="1"/>
          </p:cNvSpPr>
          <p:nvPr>
            <p:ph type="body" idx="1"/>
          </p:nvPr>
        </p:nvSpPr>
        <p:spPr>
          <a:xfrm>
            <a:off x="2133600" y="1791478"/>
            <a:ext cx="8001000" cy="4374372"/>
          </a:xfrm>
        </p:spPr>
        <p:txBody>
          <a:bodyPr>
            <a:normAutofit fontScale="32500" lnSpcReduction="20000"/>
          </a:bodyPr>
          <a:lstStyle/>
          <a:p>
            <a:pPr>
              <a:lnSpc>
                <a:spcPct val="90000"/>
              </a:lnSpc>
              <a:defRPr/>
            </a:pPr>
            <a:endParaRPr lang="en-US" sz="9800" dirty="0"/>
          </a:p>
          <a:p>
            <a:pPr>
              <a:lnSpc>
                <a:spcPct val="90000"/>
              </a:lnSpc>
              <a:defRPr/>
            </a:pPr>
            <a:r>
              <a:rPr lang="en-US" sz="9800" dirty="0"/>
              <a:t>Stack principle: </a:t>
            </a:r>
            <a:r>
              <a:rPr lang="en-US" sz="9800" dirty="0">
                <a:solidFill>
                  <a:srgbClr val="FF3300"/>
                </a:solidFill>
              </a:rPr>
              <a:t>LAST  IN  FIRST  OUT</a:t>
            </a:r>
            <a:r>
              <a:rPr lang="en-US" sz="9800" dirty="0"/>
              <a:t>= </a:t>
            </a:r>
            <a:r>
              <a:rPr lang="en-US" sz="9800" dirty="0">
                <a:solidFill>
                  <a:srgbClr val="006600"/>
                </a:solidFill>
              </a:rPr>
              <a:t>LIFO</a:t>
            </a:r>
          </a:p>
          <a:p>
            <a:pPr>
              <a:lnSpc>
                <a:spcPct val="90000"/>
              </a:lnSpc>
              <a:defRPr/>
            </a:pPr>
            <a:endParaRPr lang="en-US" sz="9800" dirty="0">
              <a:solidFill>
                <a:srgbClr val="006600"/>
              </a:solidFill>
            </a:endParaRPr>
          </a:p>
          <a:p>
            <a:pPr>
              <a:lnSpc>
                <a:spcPct val="90000"/>
              </a:lnSpc>
              <a:defRPr/>
            </a:pPr>
            <a:r>
              <a:rPr lang="en-US" sz="9800" dirty="0"/>
              <a:t>It means: the last element inserted is the first one to be removed</a:t>
            </a:r>
          </a:p>
          <a:p>
            <a:pPr>
              <a:lnSpc>
                <a:spcPct val="90000"/>
              </a:lnSpc>
              <a:defRPr/>
            </a:pPr>
            <a:endParaRPr lang="en-US" sz="9800" dirty="0"/>
          </a:p>
          <a:p>
            <a:pPr>
              <a:lnSpc>
                <a:spcPct val="90000"/>
              </a:lnSpc>
              <a:defRPr/>
            </a:pPr>
            <a:r>
              <a:rPr lang="en-US" sz="9800" dirty="0"/>
              <a:t>Which is the first element to pick up?</a:t>
            </a:r>
          </a:p>
          <a:p>
            <a:pPr>
              <a:lnSpc>
                <a:spcPct val="90000"/>
              </a:lnSpc>
              <a:buFontTx/>
              <a:buNone/>
              <a:defRPr/>
            </a:pPr>
            <a:endParaRPr lang="en-US" dirty="0"/>
          </a:p>
          <a:p>
            <a:pPr>
              <a:lnSpc>
                <a:spcPct val="90000"/>
              </a:lnSpc>
              <a:buFontTx/>
              <a:buNone/>
              <a:defRPr/>
            </a:pPr>
            <a:r>
              <a:rPr lang="en-US" sz="1800" dirty="0"/>
              <a:t>    </a:t>
            </a:r>
          </a:p>
        </p:txBody>
      </p:sp>
      <p:sp>
        <p:nvSpPr>
          <p:cNvPr id="17412" name="Slide Number Placeholder 3">
            <a:extLst>
              <a:ext uri="{FF2B5EF4-FFF2-40B4-BE49-F238E27FC236}">
                <a16:creationId xmlns:a16="http://schemas.microsoft.com/office/drawing/2014/main" id="{427A22B7-A816-4811-2220-9B5A96BBD40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993A39F-44D9-42E7-BF7E-27A4A57A5E05}" type="slidenum">
              <a:rPr lang="en-US" altLang="en-US" sz="1000">
                <a:latin typeface="Times New Roman" panose="02020603050405020304" pitchFamily="18" charset="0"/>
              </a:rPr>
              <a:pPr>
                <a:spcBef>
                  <a:spcPct val="0"/>
                </a:spcBef>
                <a:buClrTx/>
                <a:buSzTx/>
                <a:buFontTx/>
                <a:buNone/>
              </a:pPr>
              <a:t>7</a:t>
            </a:fld>
            <a:endParaRPr lang="en-US" altLang="en-US" sz="100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D188A-8B89-B68A-3F2D-3B3536B1FDDE}"/>
              </a:ext>
            </a:extLst>
          </p:cNvPr>
          <p:cNvSpPr>
            <a:spLocks noGrp="1"/>
          </p:cNvSpPr>
          <p:nvPr>
            <p:ph type="title"/>
          </p:nvPr>
        </p:nvSpPr>
        <p:spPr>
          <a:xfrm>
            <a:off x="1188098" y="731838"/>
            <a:ext cx="8229600" cy="868362"/>
          </a:xfrm>
        </p:spPr>
        <p:txBody>
          <a:bodyPr/>
          <a:lstStyle/>
          <a:p>
            <a:pPr>
              <a:defRPr/>
            </a:pPr>
            <a:r>
              <a:rPr lang="en-US" dirty="0"/>
              <a:t>Stack </a:t>
            </a:r>
          </a:p>
        </p:txBody>
      </p:sp>
      <p:sp>
        <p:nvSpPr>
          <p:cNvPr id="16387" name="Content Placeholder 2">
            <a:extLst>
              <a:ext uri="{FF2B5EF4-FFF2-40B4-BE49-F238E27FC236}">
                <a16:creationId xmlns:a16="http://schemas.microsoft.com/office/drawing/2014/main" id="{9CC147CF-E822-F15D-75D6-3D447677E834}"/>
              </a:ext>
            </a:extLst>
          </p:cNvPr>
          <p:cNvSpPr>
            <a:spLocks noGrp="1"/>
          </p:cNvSpPr>
          <p:nvPr>
            <p:ph idx="1"/>
          </p:nvPr>
        </p:nvSpPr>
        <p:spPr>
          <a:xfrm>
            <a:off x="1318725" y="1898164"/>
            <a:ext cx="9893757" cy="4983163"/>
          </a:xfrm>
        </p:spPr>
        <p:txBody>
          <a:bodyPr>
            <a:normAutofit/>
          </a:bodyPr>
          <a:lstStyle/>
          <a:p>
            <a:r>
              <a:rPr lang="en-US" altLang="en-US" sz="2800" dirty="0"/>
              <a:t>Two basic operations are associated with Stack</a:t>
            </a:r>
          </a:p>
          <a:p>
            <a:pPr lvl="1"/>
            <a:r>
              <a:rPr lang="en-US" altLang="en-US" sz="2400" dirty="0"/>
              <a:t>Push : Insert an element into a stack</a:t>
            </a:r>
          </a:p>
          <a:p>
            <a:pPr lvl="1"/>
            <a:r>
              <a:rPr lang="en-US" altLang="en-US" sz="2400" dirty="0"/>
              <a:t>Pop : Delete an element from a stack </a:t>
            </a:r>
          </a:p>
        </p:txBody>
      </p:sp>
      <p:sp>
        <p:nvSpPr>
          <p:cNvPr id="16388" name="Slide Number Placeholder 3">
            <a:extLst>
              <a:ext uri="{FF2B5EF4-FFF2-40B4-BE49-F238E27FC236}">
                <a16:creationId xmlns:a16="http://schemas.microsoft.com/office/drawing/2014/main" id="{F1422AD5-E70C-8D64-21D2-328ADB7CDD4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E311E0B-5EFC-4BB6-83E9-295E11FDF0D3}" type="slidenum">
              <a:rPr lang="en-US" altLang="en-US" sz="1000">
                <a:latin typeface="Times New Roman" panose="02020603050405020304" pitchFamily="18" charset="0"/>
              </a:rPr>
              <a:pPr>
                <a:spcBef>
                  <a:spcPct val="0"/>
                </a:spcBef>
                <a:buClrTx/>
                <a:buSzTx/>
                <a:buFontTx/>
                <a:buNone/>
              </a:pPr>
              <a:t>8</a:t>
            </a:fld>
            <a:endParaRPr lang="en-US" altLang="en-US" sz="1000">
              <a:latin typeface="Times New Roman" panose="02020603050405020304" pitchFamily="18" charset="0"/>
            </a:endParaRPr>
          </a:p>
        </p:txBody>
      </p:sp>
      <p:pic>
        <p:nvPicPr>
          <p:cNvPr id="3" name="Picture 2" descr="Screen Clipping">
            <a:extLst>
              <a:ext uri="{FF2B5EF4-FFF2-40B4-BE49-F238E27FC236}">
                <a16:creationId xmlns:a16="http://schemas.microsoft.com/office/drawing/2014/main" id="{E2918A93-438C-39C7-FB05-7D79CFFC1C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3306" y="3498979"/>
            <a:ext cx="5725388" cy="27637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94FB3FD5-58CE-F4DD-1517-6092C8759AB3}"/>
              </a:ext>
            </a:extLst>
          </p:cNvPr>
          <p:cNvSpPr>
            <a:spLocks noGrp="1" noChangeArrowheads="1"/>
          </p:cNvSpPr>
          <p:nvPr>
            <p:ph type="title"/>
          </p:nvPr>
        </p:nvSpPr>
        <p:spPr/>
        <p:txBody>
          <a:bodyPr/>
          <a:lstStyle/>
          <a:p>
            <a:pPr eaLnBrk="1" hangingPunct="1">
              <a:defRPr/>
            </a:pPr>
            <a:r>
              <a:rPr lang="en-US" dirty="0"/>
              <a:t>Real time applications of stacks</a:t>
            </a:r>
          </a:p>
        </p:txBody>
      </p:sp>
      <p:sp>
        <p:nvSpPr>
          <p:cNvPr id="18435" name="Rectangle 3">
            <a:extLst>
              <a:ext uri="{FF2B5EF4-FFF2-40B4-BE49-F238E27FC236}">
                <a16:creationId xmlns:a16="http://schemas.microsoft.com/office/drawing/2014/main" id="{03BC6F2E-2AF3-2BE3-6802-C2D6B3648020}"/>
              </a:ext>
            </a:extLst>
          </p:cNvPr>
          <p:cNvSpPr>
            <a:spLocks noGrp="1" noChangeArrowheads="1"/>
          </p:cNvSpPr>
          <p:nvPr>
            <p:ph idx="1"/>
          </p:nvPr>
        </p:nvSpPr>
        <p:spPr/>
        <p:txBody>
          <a:bodyPr/>
          <a:lstStyle/>
          <a:p>
            <a:pPr algn="just" eaLnBrk="1" hangingPunct="1"/>
            <a:r>
              <a:rPr lang="en-US" altLang="en-US" sz="2800" dirty="0"/>
              <a:t>Backtracking features:</a:t>
            </a:r>
          </a:p>
          <a:p>
            <a:pPr algn="just" eaLnBrk="1" hangingPunct="1"/>
            <a:endParaRPr lang="en-US" altLang="en-US" sz="2800" dirty="0"/>
          </a:p>
          <a:p>
            <a:pPr lvl="1" algn="just" eaLnBrk="1" hangingPunct="1"/>
            <a:r>
              <a:rPr lang="en-US" altLang="en-US" sz="2400" dirty="0"/>
              <a:t>Undo feature in word.</a:t>
            </a:r>
          </a:p>
          <a:p>
            <a:pPr lvl="1" algn="just" eaLnBrk="1" hangingPunct="1"/>
            <a:r>
              <a:rPr lang="en-US" altLang="en-US" sz="2400" dirty="0"/>
              <a:t>To previous choice point in a game.</a:t>
            </a:r>
          </a:p>
          <a:p>
            <a:pPr lvl="1" algn="just" eaLnBrk="1" hangingPunct="1"/>
            <a:r>
              <a:rPr lang="en-US" altLang="en-US" sz="2400" dirty="0"/>
              <a:t>To retrieve recently used objects in cache.</a:t>
            </a: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Stack (Examples)</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10</a:t>
            </a:fld>
            <a:endParaRPr sz="900">
              <a:latin typeface="Malgun Gothic"/>
              <a:cs typeface="Malgun Gothic"/>
            </a:endParaRPr>
          </a:p>
        </p:txBody>
      </p:sp>
      <p:pic>
        <p:nvPicPr>
          <p:cNvPr id="3084" name="Picture 12" descr="Applications of Stack in Data Structure - javatpoint">
            <a:extLst>
              <a:ext uri="{FF2B5EF4-FFF2-40B4-BE49-F238E27FC236}">
                <a16:creationId xmlns:a16="http://schemas.microsoft.com/office/drawing/2014/main" id="{0D349F86-3DB8-4FDF-A487-F415348B8F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317" y="1873825"/>
            <a:ext cx="8293503" cy="248805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tack Data Structure Application">
            <a:extLst>
              <a:ext uri="{FF2B5EF4-FFF2-40B4-BE49-F238E27FC236}">
                <a16:creationId xmlns:a16="http://schemas.microsoft.com/office/drawing/2014/main" id="{38F61C3A-6B52-4C12-90F8-D8D05E26C4E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291" t="18029" r="14810" b="13186"/>
          <a:stretch/>
        </p:blipFill>
        <p:spPr bwMode="auto">
          <a:xfrm>
            <a:off x="3886200" y="4361876"/>
            <a:ext cx="4800600" cy="2338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0225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Common Operations on Stacks</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11</a:t>
            </a:fld>
            <a:endParaRPr sz="900">
              <a:latin typeface="Malgun Gothic"/>
              <a:cs typeface="Malgun Gothic"/>
            </a:endParaRPr>
          </a:p>
        </p:txBody>
      </p:sp>
      <p:sp>
        <p:nvSpPr>
          <p:cNvPr id="13" name="Rectangle 3"/>
          <p:cNvSpPr>
            <a:spLocks noGrp="1" noChangeArrowheads="1"/>
          </p:cNvSpPr>
          <p:nvPr>
            <p:ph idx="1"/>
          </p:nvPr>
        </p:nvSpPr>
        <p:spPr>
          <a:xfrm>
            <a:off x="968797" y="1938747"/>
            <a:ext cx="10515600" cy="4351338"/>
          </a:xfrm>
        </p:spPr>
        <p:txBody>
          <a:bodyPr>
            <a:normAutofit/>
          </a:bodyPr>
          <a:lstStyle/>
          <a:p>
            <a:pPr algn="just">
              <a:buFont typeface="Arial" panose="020B0604020202020204" pitchFamily="34" charset="0"/>
              <a:buChar char="•"/>
            </a:pPr>
            <a:r>
              <a:rPr lang="en-US" sz="2400" b="1" i="0" dirty="0">
                <a:solidFill>
                  <a:srgbClr val="000000"/>
                </a:solidFill>
                <a:effectLst/>
              </a:rPr>
              <a:t>push():</a:t>
            </a:r>
            <a:r>
              <a:rPr lang="en-US" sz="2400" b="0" i="0" dirty="0">
                <a:solidFill>
                  <a:srgbClr val="000000"/>
                </a:solidFill>
                <a:effectLst/>
              </a:rPr>
              <a:t> When we insert an element in a stack then the operation is known as a push. If the stack is full then the overflow condition occurs.</a:t>
            </a:r>
          </a:p>
          <a:p>
            <a:pPr algn="just">
              <a:buFont typeface="Arial" panose="020B0604020202020204" pitchFamily="34" charset="0"/>
              <a:buChar char="•"/>
            </a:pPr>
            <a:r>
              <a:rPr lang="en-US" sz="2400" b="1" i="0" dirty="0">
                <a:solidFill>
                  <a:srgbClr val="000000"/>
                </a:solidFill>
                <a:effectLst/>
              </a:rPr>
              <a:t>pop():</a:t>
            </a:r>
            <a:r>
              <a:rPr lang="en-US" sz="2400" b="0" i="0" dirty="0">
                <a:solidFill>
                  <a:srgbClr val="000000"/>
                </a:solidFill>
                <a:effectLst/>
              </a:rPr>
              <a:t> When we delete an element from the stack, the operation is known as a pop. If the stack is empty means that no element exists in the stack, this state is known as an underflow state.</a:t>
            </a:r>
          </a:p>
          <a:p>
            <a:pPr algn="just">
              <a:buFont typeface="Arial" panose="020B0604020202020204" pitchFamily="34" charset="0"/>
              <a:buChar char="•"/>
            </a:pPr>
            <a:r>
              <a:rPr lang="en-US" sz="2400" b="1" i="0" dirty="0" err="1">
                <a:solidFill>
                  <a:srgbClr val="000000"/>
                </a:solidFill>
                <a:effectLst/>
              </a:rPr>
              <a:t>isEmpty</a:t>
            </a:r>
            <a:r>
              <a:rPr lang="en-US" sz="2400" b="1" i="0" dirty="0">
                <a:solidFill>
                  <a:srgbClr val="000000"/>
                </a:solidFill>
                <a:effectLst/>
              </a:rPr>
              <a:t>():</a:t>
            </a:r>
            <a:r>
              <a:rPr lang="en-US" sz="2400" b="0" i="0" dirty="0">
                <a:solidFill>
                  <a:srgbClr val="000000"/>
                </a:solidFill>
                <a:effectLst/>
              </a:rPr>
              <a:t> It determines whether the stack is empty or not.</a:t>
            </a:r>
          </a:p>
          <a:p>
            <a:pPr algn="just">
              <a:buFont typeface="Arial" panose="020B0604020202020204" pitchFamily="34" charset="0"/>
              <a:buChar char="•"/>
            </a:pPr>
            <a:r>
              <a:rPr lang="en-US" sz="2400" b="1" i="0" dirty="0" err="1">
                <a:solidFill>
                  <a:srgbClr val="000000"/>
                </a:solidFill>
                <a:effectLst/>
              </a:rPr>
              <a:t>isFull</a:t>
            </a:r>
            <a:r>
              <a:rPr lang="en-US" sz="2400" b="1" i="0" dirty="0">
                <a:solidFill>
                  <a:srgbClr val="000000"/>
                </a:solidFill>
                <a:effectLst/>
              </a:rPr>
              <a:t>():</a:t>
            </a:r>
            <a:r>
              <a:rPr lang="en-US" sz="2400" b="0" i="0" dirty="0">
                <a:solidFill>
                  <a:srgbClr val="000000"/>
                </a:solidFill>
                <a:effectLst/>
              </a:rPr>
              <a:t> It determines whether the stack is full or not.’</a:t>
            </a:r>
          </a:p>
          <a:p>
            <a:pPr algn="just">
              <a:buFont typeface="Arial" panose="020B0604020202020204" pitchFamily="34" charset="0"/>
              <a:buChar char="•"/>
            </a:pPr>
            <a:r>
              <a:rPr lang="en-US" sz="2400" b="1" dirty="0">
                <a:solidFill>
                  <a:srgbClr val="000000"/>
                </a:solidFill>
              </a:rPr>
              <a:t>peek(): </a:t>
            </a:r>
            <a:r>
              <a:rPr lang="en-US" sz="2400" dirty="0">
                <a:solidFill>
                  <a:srgbClr val="000000"/>
                </a:solidFill>
              </a:rPr>
              <a:t>It returns the element at the given position.</a:t>
            </a:r>
          </a:p>
          <a:p>
            <a:pPr algn="just">
              <a:buFont typeface="Arial" panose="020B0604020202020204" pitchFamily="34" charset="0"/>
              <a:buChar char="•"/>
            </a:pPr>
            <a:r>
              <a:rPr lang="en-US" sz="2400" b="1" dirty="0">
                <a:solidFill>
                  <a:srgbClr val="000000"/>
                </a:solidFill>
              </a:rPr>
              <a:t>display(): </a:t>
            </a:r>
            <a:r>
              <a:rPr lang="en-US" sz="2400" dirty="0">
                <a:solidFill>
                  <a:srgbClr val="000000"/>
                </a:solidFill>
              </a:rPr>
              <a:t>It prints all the elements available in the stack.</a:t>
            </a:r>
          </a:p>
          <a:p>
            <a:pPr algn="just">
              <a:buFont typeface="Arial" panose="020B0604020202020204" pitchFamily="34" charset="0"/>
              <a:buChar char="•"/>
            </a:pPr>
            <a:endParaRPr lang="en-US" sz="2400" dirty="0">
              <a:solidFill>
                <a:srgbClr val="000000"/>
              </a:solidFill>
            </a:endParaRPr>
          </a:p>
          <a:p>
            <a:pPr algn="just">
              <a:buFont typeface="Arial" panose="020B0604020202020204" pitchFamily="34" charset="0"/>
              <a:buChar char="•"/>
            </a:pPr>
            <a:endParaRPr lang="en-US" sz="2400" dirty="0">
              <a:solidFill>
                <a:srgbClr val="000000"/>
              </a:solidFill>
            </a:endParaRPr>
          </a:p>
          <a:p>
            <a:pPr marL="609600" indent="-609600">
              <a:buFontTx/>
              <a:buAutoNum type="arabicPeriod"/>
              <a:defRPr/>
            </a:pPr>
            <a:endParaRPr lang="en-US" dirty="0"/>
          </a:p>
        </p:txBody>
      </p:sp>
    </p:spTree>
    <p:extLst>
      <p:ext uri="{BB962C8B-B14F-4D97-AF65-F5344CB8AC3E}">
        <p14:creationId xmlns:p14="http://schemas.microsoft.com/office/powerpoint/2010/main" val="3782511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Push and Pop Operations on Stack</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12</a:t>
            </a:fld>
            <a:endParaRPr sz="900">
              <a:latin typeface="Malgun Gothic"/>
              <a:cs typeface="Malgun Gothic"/>
            </a:endParaRPr>
          </a:p>
        </p:txBody>
      </p:sp>
      <p:pic>
        <p:nvPicPr>
          <p:cNvPr id="12" name="Picture 2"/>
          <p:cNvPicPr>
            <a:picLocks noChangeAspect="1" noChangeArrowheads="1"/>
          </p:cNvPicPr>
          <p:nvPr/>
        </p:nvPicPr>
        <p:blipFill>
          <a:blip r:embed="rId2"/>
          <a:srcRect/>
          <a:stretch>
            <a:fillRect/>
          </a:stretch>
        </p:blipFill>
        <p:spPr bwMode="auto">
          <a:xfrm>
            <a:off x="2691717" y="2256404"/>
            <a:ext cx="6477000" cy="1647825"/>
          </a:xfrm>
          <a:prstGeom prst="rect">
            <a:avLst/>
          </a:prstGeom>
          <a:noFill/>
          <a:ln w="9525">
            <a:noFill/>
            <a:miter lim="800000"/>
            <a:headEnd/>
            <a:tailEnd/>
          </a:ln>
          <a:effectLst/>
        </p:spPr>
      </p:pic>
      <p:pic>
        <p:nvPicPr>
          <p:cNvPr id="14" name="Picture 3"/>
          <p:cNvPicPr>
            <a:picLocks noChangeAspect="1" noChangeArrowheads="1"/>
          </p:cNvPicPr>
          <p:nvPr/>
        </p:nvPicPr>
        <p:blipFill>
          <a:blip r:embed="rId3"/>
          <a:srcRect/>
          <a:stretch>
            <a:fillRect/>
          </a:stretch>
        </p:blipFill>
        <p:spPr bwMode="auto">
          <a:xfrm>
            <a:off x="3082802" y="4068907"/>
            <a:ext cx="6057900" cy="2686050"/>
          </a:xfrm>
          <a:prstGeom prst="rect">
            <a:avLst/>
          </a:prstGeom>
          <a:noFill/>
          <a:ln w="9525">
            <a:noFill/>
            <a:miter lim="800000"/>
            <a:headEnd/>
            <a:tailEnd/>
          </a:ln>
          <a:effectLst/>
        </p:spPr>
      </p:pic>
    </p:spTree>
    <p:extLst>
      <p:ext uri="{BB962C8B-B14F-4D97-AF65-F5344CB8AC3E}">
        <p14:creationId xmlns:p14="http://schemas.microsoft.com/office/powerpoint/2010/main" val="229434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 Stacks Representation</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13</a:t>
            </a:fld>
            <a:endParaRPr sz="900">
              <a:latin typeface="Malgun Gothic"/>
              <a:cs typeface="Malgun Gothic"/>
            </a:endParaRPr>
          </a:p>
        </p:txBody>
      </p:sp>
      <p:sp>
        <p:nvSpPr>
          <p:cNvPr id="13" name="Rectangle 3"/>
          <p:cNvSpPr>
            <a:spLocks noGrp="1" noChangeArrowheads="1"/>
          </p:cNvSpPr>
          <p:nvPr>
            <p:ph idx="1"/>
          </p:nvPr>
        </p:nvSpPr>
        <p:spPr>
          <a:xfrm>
            <a:off x="1100206" y="2012494"/>
            <a:ext cx="10515600" cy="4351338"/>
          </a:xfrm>
        </p:spPr>
        <p:txBody>
          <a:bodyPr>
            <a:normAutofit/>
          </a:bodyPr>
          <a:lstStyle/>
          <a:p>
            <a:pPr>
              <a:defRPr/>
            </a:pPr>
            <a:r>
              <a:rPr lang="en-US" sz="2400" dirty="0"/>
              <a:t>Stack data structure can be implemented in two ways. They are as follows...</a:t>
            </a:r>
          </a:p>
          <a:p>
            <a:pPr marL="746125">
              <a:buFont typeface="Wingdings" panose="05000000000000000000" pitchFamily="2" charset="2"/>
              <a:buChar char="Ø"/>
              <a:defRPr/>
            </a:pPr>
            <a:r>
              <a:rPr lang="en-US" sz="2400" dirty="0"/>
              <a:t>Linear Array (Static memory allocation)</a:t>
            </a:r>
          </a:p>
          <a:p>
            <a:pPr marL="746125">
              <a:buFont typeface="Wingdings" panose="05000000000000000000" pitchFamily="2" charset="2"/>
              <a:buChar char="Ø"/>
              <a:defRPr/>
            </a:pPr>
            <a:r>
              <a:rPr lang="en-US" sz="2400" dirty="0"/>
              <a:t>One way Linked List (Dynamic memory allocation)</a:t>
            </a:r>
          </a:p>
        </p:txBody>
      </p:sp>
    </p:spTree>
    <p:extLst>
      <p:ext uri="{BB962C8B-B14F-4D97-AF65-F5344CB8AC3E}">
        <p14:creationId xmlns:p14="http://schemas.microsoft.com/office/powerpoint/2010/main" val="3378096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Static and Dynamic Stacks</a:t>
            </a: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14</a:t>
            </a:fld>
            <a:endParaRPr sz="900">
              <a:latin typeface="Malgun Gothic"/>
              <a:cs typeface="Malgun Gothic"/>
            </a:endParaRPr>
          </a:p>
        </p:txBody>
      </p:sp>
      <p:sp>
        <p:nvSpPr>
          <p:cNvPr id="13" name="Rectangle 3"/>
          <p:cNvSpPr>
            <a:spLocks noGrp="1" noChangeArrowheads="1"/>
          </p:cNvSpPr>
          <p:nvPr>
            <p:ph idx="1"/>
          </p:nvPr>
        </p:nvSpPr>
        <p:spPr>
          <a:xfrm>
            <a:off x="968797" y="2012494"/>
            <a:ext cx="10515600" cy="4351338"/>
          </a:xfrm>
        </p:spPr>
        <p:txBody>
          <a:bodyPr>
            <a:normAutofit/>
          </a:bodyPr>
          <a:lstStyle/>
          <a:p>
            <a:pPr>
              <a:defRPr/>
            </a:pPr>
            <a:r>
              <a:rPr lang="en-US" sz="2400" b="1" dirty="0"/>
              <a:t>Stack using array</a:t>
            </a:r>
          </a:p>
          <a:p>
            <a:pPr lvl="1">
              <a:defRPr/>
            </a:pPr>
            <a:r>
              <a:rPr lang="en-US" sz="2000" dirty="0"/>
              <a:t>When a stack is implemented using an array, that stack can organize an only limited number of elements. </a:t>
            </a:r>
          </a:p>
          <a:p>
            <a:pPr lvl="1">
              <a:defRPr/>
            </a:pPr>
            <a:r>
              <a:rPr lang="en-US" sz="2000" b="1" dirty="0"/>
              <a:t>Static type</a:t>
            </a:r>
            <a:r>
              <a:rPr lang="en-US" sz="2000" dirty="0"/>
              <a:t>, i.e. they have a </a:t>
            </a:r>
            <a:r>
              <a:rPr lang="en-US" sz="2000" b="1" dirty="0"/>
              <a:t>fixed size</a:t>
            </a:r>
            <a:r>
              <a:rPr lang="en-US" sz="2000" dirty="0"/>
              <a:t>, and are </a:t>
            </a:r>
            <a:r>
              <a:rPr lang="en-US" sz="2000" i="1" dirty="0"/>
              <a:t>implemented as</a:t>
            </a:r>
            <a:r>
              <a:rPr lang="en-US" sz="2000" dirty="0"/>
              <a:t> </a:t>
            </a:r>
            <a:r>
              <a:rPr lang="en-US" sz="2000" b="1" dirty="0"/>
              <a:t>arrays</a:t>
            </a:r>
            <a:r>
              <a:rPr lang="en-US" sz="2000" dirty="0"/>
              <a:t>.</a:t>
            </a:r>
          </a:p>
          <a:p>
            <a:pPr lvl="1">
              <a:defRPr/>
            </a:pPr>
            <a:endParaRPr lang="en-US" sz="2000" dirty="0"/>
          </a:p>
          <a:p>
            <a:pPr>
              <a:defRPr/>
            </a:pPr>
            <a:r>
              <a:rPr lang="en-US" sz="2400" b="1" dirty="0"/>
              <a:t>Stack using linked list</a:t>
            </a:r>
          </a:p>
          <a:p>
            <a:pPr lvl="1">
              <a:defRPr/>
            </a:pPr>
            <a:r>
              <a:rPr lang="en-US" sz="2000" dirty="0"/>
              <a:t>When a stack is implemented using a linked list, that stack can organize an unlimited number of elements.</a:t>
            </a:r>
          </a:p>
          <a:p>
            <a:pPr lvl="1">
              <a:defRPr/>
            </a:pPr>
            <a:r>
              <a:rPr lang="en-US" sz="2000" b="1" dirty="0"/>
              <a:t>Dynamic type</a:t>
            </a:r>
            <a:r>
              <a:rPr lang="en-US" sz="2000" dirty="0"/>
              <a:t>, i.e. they </a:t>
            </a:r>
            <a:r>
              <a:rPr lang="en-US" sz="2000" b="1" dirty="0"/>
              <a:t>grow in size</a:t>
            </a:r>
            <a:r>
              <a:rPr lang="en-US" sz="2000" dirty="0"/>
              <a:t> as needed, and </a:t>
            </a:r>
            <a:r>
              <a:rPr lang="en-US" sz="2000" i="1" dirty="0"/>
              <a:t>implemented as </a:t>
            </a:r>
            <a:r>
              <a:rPr lang="en-US" sz="2000" b="1" dirty="0"/>
              <a:t>linked lists</a:t>
            </a:r>
          </a:p>
        </p:txBody>
      </p:sp>
    </p:spTree>
    <p:extLst>
      <p:ext uri="{BB962C8B-B14F-4D97-AF65-F5344CB8AC3E}">
        <p14:creationId xmlns:p14="http://schemas.microsoft.com/office/powerpoint/2010/main" val="3329133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An Array Implementation of Stacks</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15</a:t>
            </a:fld>
            <a:endParaRPr sz="900">
              <a:latin typeface="Malgun Gothic"/>
              <a:cs typeface="Malgun Gothic"/>
            </a:endParaRPr>
          </a:p>
        </p:txBody>
      </p:sp>
      <p:sp>
        <p:nvSpPr>
          <p:cNvPr id="13" name="Rectangle 3"/>
          <p:cNvSpPr txBox="1">
            <a:spLocks noChangeArrowheads="1"/>
          </p:cNvSpPr>
          <p:nvPr/>
        </p:nvSpPr>
        <p:spPr>
          <a:xfrm>
            <a:off x="1161774" y="1920647"/>
            <a:ext cx="9706505" cy="1524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80000"/>
              </a:lnSpc>
              <a:buFont typeface="Arial" panose="020B0604020202020204" pitchFamily="34" charset="0"/>
              <a:buNone/>
              <a:defRPr/>
            </a:pPr>
            <a:r>
              <a:rPr lang="en-US" sz="2400" b="1" dirty="0"/>
              <a:t>First Implementation</a:t>
            </a:r>
            <a:endParaRPr lang="en-US" sz="1400" dirty="0"/>
          </a:p>
          <a:p>
            <a:pPr marL="609600" indent="-609600">
              <a:lnSpc>
                <a:spcPct val="80000"/>
              </a:lnSpc>
              <a:buClr>
                <a:schemeClr val="bg2">
                  <a:lumMod val="50000"/>
                </a:schemeClr>
              </a:buClr>
              <a:buSzPct val="100000"/>
              <a:defRPr/>
            </a:pPr>
            <a:r>
              <a:rPr lang="en-US" dirty="0"/>
              <a:t>Elements are stored in contiguous cells of an array.</a:t>
            </a:r>
          </a:p>
          <a:p>
            <a:pPr marL="609600" indent="-609600">
              <a:lnSpc>
                <a:spcPct val="80000"/>
              </a:lnSpc>
              <a:buClr>
                <a:schemeClr val="bg2">
                  <a:lumMod val="50000"/>
                </a:schemeClr>
              </a:buClr>
              <a:buSzPct val="100000"/>
              <a:defRPr/>
            </a:pPr>
            <a:r>
              <a:rPr lang="en-US" dirty="0"/>
              <a:t>New elements can be inserted to the top of the list.</a:t>
            </a:r>
          </a:p>
          <a:p>
            <a:pPr marL="609600" indent="-609600">
              <a:lnSpc>
                <a:spcPct val="80000"/>
              </a:lnSpc>
              <a:buFont typeface="Arial" panose="020B0604020202020204" pitchFamily="34" charset="0"/>
              <a:buNone/>
              <a:defRPr/>
            </a:pPr>
            <a:endParaRPr lang="en-US" sz="2400" dirty="0"/>
          </a:p>
        </p:txBody>
      </p:sp>
      <p:sp>
        <p:nvSpPr>
          <p:cNvPr id="15" name="Rectangle 4"/>
          <p:cNvSpPr>
            <a:spLocks noChangeArrowheads="1"/>
          </p:cNvSpPr>
          <p:nvPr/>
        </p:nvSpPr>
        <p:spPr bwMode="auto">
          <a:xfrm>
            <a:off x="5105400" y="6078539"/>
            <a:ext cx="2438400" cy="517525"/>
          </a:xfrm>
          <a:prstGeom prst="rect">
            <a:avLst/>
          </a:prstGeom>
          <a:noFill/>
          <a:ln w="9525">
            <a:noFill/>
            <a:miter lim="800000"/>
          </a:ln>
        </p:spPr>
        <p:txBody>
          <a:bodyPr/>
          <a:lstStyle/>
          <a:p>
            <a:pPr>
              <a:spcBef>
                <a:spcPct val="20000"/>
              </a:spcBef>
              <a:buClr>
                <a:schemeClr val="accent1"/>
              </a:buClr>
              <a:buFont typeface="Wingdings" panose="05000000000000000000" pitchFamily="2" charset="2"/>
              <a:buNone/>
            </a:pPr>
            <a:endParaRPr lang="en-GB"/>
          </a:p>
        </p:txBody>
      </p:sp>
      <p:sp>
        <p:nvSpPr>
          <p:cNvPr id="16" name="Rectangle 5"/>
          <p:cNvSpPr>
            <a:spLocks noChangeArrowheads="1"/>
          </p:cNvSpPr>
          <p:nvPr/>
        </p:nvSpPr>
        <p:spPr bwMode="auto">
          <a:xfrm>
            <a:off x="5105400" y="5561014"/>
            <a:ext cx="2438400" cy="517525"/>
          </a:xfrm>
          <a:prstGeom prst="rect">
            <a:avLst/>
          </a:prstGeom>
          <a:noFill/>
          <a:ln w="9525">
            <a:noFill/>
            <a:miter lim="800000"/>
          </a:ln>
        </p:spPr>
        <p:txBody>
          <a:bodyPr/>
          <a:lstStyle/>
          <a:p>
            <a:pPr>
              <a:spcBef>
                <a:spcPct val="20000"/>
              </a:spcBef>
              <a:buClr>
                <a:schemeClr val="accent1"/>
              </a:buClr>
              <a:buFont typeface="Wingdings" panose="05000000000000000000" pitchFamily="2" charset="2"/>
              <a:buNone/>
            </a:pPr>
            <a:endParaRPr lang="en-GB"/>
          </a:p>
        </p:txBody>
      </p:sp>
      <p:sp>
        <p:nvSpPr>
          <p:cNvPr id="17" name="Rectangle 6"/>
          <p:cNvSpPr>
            <a:spLocks noChangeArrowheads="1"/>
          </p:cNvSpPr>
          <p:nvPr/>
        </p:nvSpPr>
        <p:spPr bwMode="auto">
          <a:xfrm>
            <a:off x="5105400" y="4648201"/>
            <a:ext cx="2438400" cy="455613"/>
          </a:xfrm>
          <a:prstGeom prst="rect">
            <a:avLst/>
          </a:prstGeom>
          <a:noFill/>
          <a:ln w="9525">
            <a:noFill/>
            <a:miter lim="800000"/>
          </a:ln>
        </p:spPr>
        <p:txBody>
          <a:bodyPr/>
          <a:lstStyle/>
          <a:p>
            <a:pPr marL="342900" indent="-342900">
              <a:buClr>
                <a:schemeClr val="accent1"/>
              </a:buClr>
            </a:pPr>
            <a:r>
              <a:rPr lang="en-US" sz="2400" dirty="0">
                <a:cs typeface="Times New Roman" panose="02020603050405020304" pitchFamily="18" charset="0"/>
              </a:rPr>
              <a:t>Last Element</a:t>
            </a:r>
            <a:endParaRPr lang="en-US" sz="2400" dirty="0"/>
          </a:p>
        </p:txBody>
      </p:sp>
      <p:sp>
        <p:nvSpPr>
          <p:cNvPr id="19" name="Rectangle 7"/>
          <p:cNvSpPr>
            <a:spLocks noChangeArrowheads="1"/>
          </p:cNvSpPr>
          <p:nvPr/>
        </p:nvSpPr>
        <p:spPr bwMode="auto">
          <a:xfrm>
            <a:off x="5105400" y="4649788"/>
            <a:ext cx="2438400" cy="455612"/>
          </a:xfrm>
          <a:prstGeom prst="rect">
            <a:avLst/>
          </a:prstGeom>
          <a:noFill/>
          <a:ln w="9525">
            <a:noFill/>
            <a:miter lim="800000"/>
          </a:ln>
        </p:spPr>
        <p:txBody>
          <a:bodyPr/>
          <a:lstStyle/>
          <a:p>
            <a:pPr marL="342900" indent="-342900">
              <a:buClr>
                <a:schemeClr val="accent1"/>
              </a:buClr>
            </a:pPr>
            <a:endParaRPr lang="en-GB" sz="2400"/>
          </a:p>
        </p:txBody>
      </p:sp>
      <p:sp>
        <p:nvSpPr>
          <p:cNvPr id="20" name="Rectangle 8"/>
          <p:cNvSpPr>
            <a:spLocks noChangeArrowheads="1"/>
          </p:cNvSpPr>
          <p:nvPr/>
        </p:nvSpPr>
        <p:spPr bwMode="auto">
          <a:xfrm>
            <a:off x="5105400" y="5635626"/>
            <a:ext cx="2438400" cy="460375"/>
          </a:xfrm>
          <a:prstGeom prst="rect">
            <a:avLst/>
          </a:prstGeom>
          <a:noFill/>
          <a:ln w="9525">
            <a:noFill/>
            <a:miter lim="800000"/>
          </a:ln>
        </p:spPr>
        <p:txBody>
          <a:bodyPr/>
          <a:lstStyle/>
          <a:p>
            <a:pPr>
              <a:spcBef>
                <a:spcPct val="20000"/>
              </a:spcBef>
              <a:buClr>
                <a:schemeClr val="accent1"/>
              </a:buClr>
              <a:buFont typeface="Wingdings" panose="05000000000000000000" pitchFamily="2" charset="2"/>
              <a:buNone/>
            </a:pPr>
            <a:r>
              <a:rPr lang="en-US" sz="2400" dirty="0">
                <a:cs typeface="Times New Roman" panose="02020603050405020304" pitchFamily="18" charset="0"/>
              </a:rPr>
              <a:t>Second Element</a:t>
            </a:r>
          </a:p>
        </p:txBody>
      </p:sp>
      <p:sp>
        <p:nvSpPr>
          <p:cNvPr id="21" name="Rectangle 9"/>
          <p:cNvSpPr>
            <a:spLocks noChangeArrowheads="1"/>
          </p:cNvSpPr>
          <p:nvPr/>
        </p:nvSpPr>
        <p:spPr bwMode="auto">
          <a:xfrm>
            <a:off x="5105400" y="3733801"/>
            <a:ext cx="2438400" cy="455613"/>
          </a:xfrm>
          <a:prstGeom prst="rect">
            <a:avLst/>
          </a:prstGeom>
          <a:noFill/>
          <a:ln w="9525">
            <a:noFill/>
            <a:miter lim="800000"/>
          </a:ln>
        </p:spPr>
        <p:txBody>
          <a:bodyPr/>
          <a:lstStyle/>
          <a:p>
            <a:pPr marL="342900" indent="-342900">
              <a:buClr>
                <a:schemeClr val="accent1"/>
              </a:buClr>
            </a:pPr>
            <a:endParaRPr lang="en-US" sz="2400" dirty="0">
              <a:cs typeface="Times New Roman" panose="02020603050405020304" pitchFamily="18" charset="0"/>
            </a:endParaRPr>
          </a:p>
        </p:txBody>
      </p:sp>
      <p:sp>
        <p:nvSpPr>
          <p:cNvPr id="22" name="Line 10"/>
          <p:cNvSpPr>
            <a:spLocks noChangeShapeType="1"/>
          </p:cNvSpPr>
          <p:nvPr/>
        </p:nvSpPr>
        <p:spPr bwMode="auto">
          <a:xfrm>
            <a:off x="5105400" y="3733800"/>
            <a:ext cx="2438400" cy="0"/>
          </a:xfrm>
          <a:prstGeom prst="line">
            <a:avLst/>
          </a:prstGeom>
          <a:noFill/>
          <a:ln w="12700" cap="rnd">
            <a:solidFill>
              <a:srgbClr val="000000"/>
            </a:solidFill>
            <a:round/>
          </a:ln>
        </p:spPr>
        <p:txBody>
          <a:bodyPr/>
          <a:lstStyle/>
          <a:p>
            <a:endParaRPr lang="en-US"/>
          </a:p>
        </p:txBody>
      </p:sp>
      <p:sp>
        <p:nvSpPr>
          <p:cNvPr id="23" name="Line 11"/>
          <p:cNvSpPr>
            <a:spLocks noChangeShapeType="1"/>
          </p:cNvSpPr>
          <p:nvPr/>
        </p:nvSpPr>
        <p:spPr bwMode="auto">
          <a:xfrm>
            <a:off x="5105400" y="6596063"/>
            <a:ext cx="2438400" cy="0"/>
          </a:xfrm>
          <a:prstGeom prst="line">
            <a:avLst/>
          </a:prstGeom>
          <a:noFill/>
          <a:ln w="12700" cap="rnd">
            <a:solidFill>
              <a:srgbClr val="000000"/>
            </a:solidFill>
            <a:round/>
          </a:ln>
        </p:spPr>
        <p:txBody>
          <a:bodyPr/>
          <a:lstStyle/>
          <a:p>
            <a:endParaRPr lang="en-US"/>
          </a:p>
        </p:txBody>
      </p:sp>
      <p:sp>
        <p:nvSpPr>
          <p:cNvPr id="24" name="Line 12"/>
          <p:cNvSpPr>
            <a:spLocks noChangeShapeType="1"/>
          </p:cNvSpPr>
          <p:nvPr/>
        </p:nvSpPr>
        <p:spPr bwMode="auto">
          <a:xfrm>
            <a:off x="5105400" y="3733801"/>
            <a:ext cx="0" cy="2862263"/>
          </a:xfrm>
          <a:prstGeom prst="line">
            <a:avLst/>
          </a:prstGeom>
          <a:noFill/>
          <a:ln w="12700" cap="rnd">
            <a:solidFill>
              <a:srgbClr val="000000"/>
            </a:solidFill>
            <a:round/>
          </a:ln>
        </p:spPr>
        <p:txBody>
          <a:bodyPr/>
          <a:lstStyle/>
          <a:p>
            <a:endParaRPr lang="en-US"/>
          </a:p>
        </p:txBody>
      </p:sp>
      <p:sp>
        <p:nvSpPr>
          <p:cNvPr id="25" name="Line 13"/>
          <p:cNvSpPr>
            <a:spLocks noChangeShapeType="1"/>
          </p:cNvSpPr>
          <p:nvPr/>
        </p:nvSpPr>
        <p:spPr bwMode="auto">
          <a:xfrm>
            <a:off x="7543800" y="3733801"/>
            <a:ext cx="0" cy="2862263"/>
          </a:xfrm>
          <a:prstGeom prst="line">
            <a:avLst/>
          </a:prstGeom>
          <a:noFill/>
          <a:ln w="12700" cap="rnd">
            <a:solidFill>
              <a:srgbClr val="000000"/>
            </a:solidFill>
            <a:round/>
          </a:ln>
        </p:spPr>
        <p:txBody>
          <a:bodyPr/>
          <a:lstStyle/>
          <a:p>
            <a:endParaRPr lang="en-US"/>
          </a:p>
        </p:txBody>
      </p:sp>
      <p:sp>
        <p:nvSpPr>
          <p:cNvPr id="26" name="Line 14"/>
          <p:cNvSpPr>
            <a:spLocks noChangeShapeType="1"/>
          </p:cNvSpPr>
          <p:nvPr/>
        </p:nvSpPr>
        <p:spPr bwMode="auto">
          <a:xfrm>
            <a:off x="5105400" y="4189413"/>
            <a:ext cx="2438400" cy="0"/>
          </a:xfrm>
          <a:prstGeom prst="line">
            <a:avLst/>
          </a:prstGeom>
          <a:noFill/>
          <a:ln w="12700" cap="rnd">
            <a:solidFill>
              <a:srgbClr val="000000"/>
            </a:solidFill>
            <a:round/>
          </a:ln>
        </p:spPr>
        <p:txBody>
          <a:bodyPr/>
          <a:lstStyle/>
          <a:p>
            <a:endParaRPr lang="en-US"/>
          </a:p>
        </p:txBody>
      </p:sp>
      <p:sp>
        <p:nvSpPr>
          <p:cNvPr id="27" name="Line 15"/>
          <p:cNvSpPr>
            <a:spLocks noChangeShapeType="1"/>
          </p:cNvSpPr>
          <p:nvPr/>
        </p:nvSpPr>
        <p:spPr bwMode="auto">
          <a:xfrm>
            <a:off x="5105400" y="4649788"/>
            <a:ext cx="2438400" cy="0"/>
          </a:xfrm>
          <a:prstGeom prst="line">
            <a:avLst/>
          </a:prstGeom>
          <a:noFill/>
          <a:ln w="12700" cap="rnd">
            <a:solidFill>
              <a:srgbClr val="000000"/>
            </a:solidFill>
            <a:round/>
          </a:ln>
        </p:spPr>
        <p:txBody>
          <a:bodyPr/>
          <a:lstStyle/>
          <a:p>
            <a:endParaRPr lang="en-US"/>
          </a:p>
        </p:txBody>
      </p:sp>
      <p:sp>
        <p:nvSpPr>
          <p:cNvPr id="28" name="Line 16"/>
          <p:cNvSpPr>
            <a:spLocks noChangeShapeType="1"/>
          </p:cNvSpPr>
          <p:nvPr/>
        </p:nvSpPr>
        <p:spPr bwMode="auto">
          <a:xfrm>
            <a:off x="5105400" y="5105400"/>
            <a:ext cx="2438400" cy="0"/>
          </a:xfrm>
          <a:prstGeom prst="line">
            <a:avLst/>
          </a:prstGeom>
          <a:noFill/>
          <a:ln w="12700" cap="rnd">
            <a:solidFill>
              <a:srgbClr val="000000"/>
            </a:solidFill>
            <a:round/>
          </a:ln>
        </p:spPr>
        <p:txBody>
          <a:bodyPr/>
          <a:lstStyle/>
          <a:p>
            <a:endParaRPr lang="en-US"/>
          </a:p>
        </p:txBody>
      </p:sp>
      <p:sp>
        <p:nvSpPr>
          <p:cNvPr id="29" name="Line 17"/>
          <p:cNvSpPr>
            <a:spLocks noChangeShapeType="1"/>
          </p:cNvSpPr>
          <p:nvPr/>
        </p:nvSpPr>
        <p:spPr bwMode="auto">
          <a:xfrm>
            <a:off x="5105400" y="5561013"/>
            <a:ext cx="2438400" cy="0"/>
          </a:xfrm>
          <a:prstGeom prst="line">
            <a:avLst/>
          </a:prstGeom>
          <a:noFill/>
          <a:ln w="12700" cap="rnd">
            <a:solidFill>
              <a:srgbClr val="000000"/>
            </a:solidFill>
            <a:round/>
          </a:ln>
        </p:spPr>
        <p:txBody>
          <a:bodyPr/>
          <a:lstStyle/>
          <a:p>
            <a:endParaRPr lang="en-US"/>
          </a:p>
        </p:txBody>
      </p:sp>
      <p:sp>
        <p:nvSpPr>
          <p:cNvPr id="30" name="Line 18"/>
          <p:cNvSpPr>
            <a:spLocks noChangeShapeType="1"/>
          </p:cNvSpPr>
          <p:nvPr/>
        </p:nvSpPr>
        <p:spPr bwMode="auto">
          <a:xfrm>
            <a:off x="5105400" y="6078538"/>
            <a:ext cx="2438400" cy="0"/>
          </a:xfrm>
          <a:prstGeom prst="line">
            <a:avLst/>
          </a:prstGeom>
          <a:noFill/>
          <a:ln w="12700" cap="rnd">
            <a:solidFill>
              <a:srgbClr val="000000"/>
            </a:solidFill>
            <a:round/>
          </a:ln>
        </p:spPr>
        <p:txBody>
          <a:bodyPr/>
          <a:lstStyle/>
          <a:p>
            <a:endParaRPr lang="en-US"/>
          </a:p>
        </p:txBody>
      </p:sp>
      <p:sp>
        <p:nvSpPr>
          <p:cNvPr id="32" name="AutoShape 19"/>
          <p:cNvSpPr/>
          <p:nvPr/>
        </p:nvSpPr>
        <p:spPr bwMode="auto">
          <a:xfrm>
            <a:off x="7620000" y="3733800"/>
            <a:ext cx="152400" cy="914400"/>
          </a:xfrm>
          <a:prstGeom prst="rightBrace">
            <a:avLst>
              <a:gd name="adj1" fmla="val 95833"/>
              <a:gd name="adj2" fmla="val 50000"/>
            </a:avLst>
          </a:prstGeom>
          <a:noFill/>
          <a:ln w="9525">
            <a:solidFill>
              <a:schemeClr val="tx1"/>
            </a:solidFill>
            <a:round/>
          </a:ln>
        </p:spPr>
        <p:txBody>
          <a:bodyPr wrap="none" anchor="ctr"/>
          <a:lstStyle/>
          <a:p>
            <a:endParaRPr lang="fr-FR"/>
          </a:p>
        </p:txBody>
      </p:sp>
      <p:sp>
        <p:nvSpPr>
          <p:cNvPr id="34" name="AutoShape 20"/>
          <p:cNvSpPr/>
          <p:nvPr/>
        </p:nvSpPr>
        <p:spPr bwMode="auto">
          <a:xfrm>
            <a:off x="7620000" y="4724400"/>
            <a:ext cx="152400" cy="1905000"/>
          </a:xfrm>
          <a:prstGeom prst="rightBrace">
            <a:avLst>
              <a:gd name="adj1" fmla="val 54167"/>
              <a:gd name="adj2" fmla="val 50000"/>
            </a:avLst>
          </a:prstGeom>
          <a:noFill/>
          <a:ln w="9525">
            <a:solidFill>
              <a:schemeClr val="tx1"/>
            </a:solidFill>
            <a:round/>
          </a:ln>
        </p:spPr>
        <p:txBody>
          <a:bodyPr wrap="none" anchor="ctr"/>
          <a:lstStyle/>
          <a:p>
            <a:endParaRPr lang="fr-FR"/>
          </a:p>
        </p:txBody>
      </p:sp>
      <p:sp>
        <p:nvSpPr>
          <p:cNvPr id="36" name="Text Box 21"/>
          <p:cNvSpPr txBox="1">
            <a:spLocks noChangeArrowheads="1"/>
          </p:cNvSpPr>
          <p:nvPr/>
        </p:nvSpPr>
        <p:spPr bwMode="auto">
          <a:xfrm>
            <a:off x="7772400" y="5486400"/>
            <a:ext cx="1066800" cy="457200"/>
          </a:xfrm>
          <a:prstGeom prst="rect">
            <a:avLst/>
          </a:prstGeom>
          <a:noFill/>
          <a:ln w="9525">
            <a:noFill/>
            <a:miter lim="800000"/>
          </a:ln>
        </p:spPr>
        <p:txBody>
          <a:bodyPr>
            <a:spAutoFit/>
          </a:bodyPr>
          <a:lstStyle/>
          <a:p>
            <a:pPr>
              <a:spcBef>
                <a:spcPct val="50000"/>
              </a:spcBef>
            </a:pPr>
            <a:r>
              <a:rPr lang="en-US" sz="2400" dirty="0"/>
              <a:t>List</a:t>
            </a:r>
          </a:p>
        </p:txBody>
      </p:sp>
      <p:sp>
        <p:nvSpPr>
          <p:cNvPr id="38" name="Text Box 22"/>
          <p:cNvSpPr txBox="1">
            <a:spLocks noChangeArrowheads="1"/>
          </p:cNvSpPr>
          <p:nvPr/>
        </p:nvSpPr>
        <p:spPr bwMode="auto">
          <a:xfrm>
            <a:off x="7772400" y="3962400"/>
            <a:ext cx="1066800" cy="457200"/>
          </a:xfrm>
          <a:prstGeom prst="rect">
            <a:avLst/>
          </a:prstGeom>
          <a:noFill/>
          <a:ln w="9525">
            <a:noFill/>
            <a:miter lim="800000"/>
          </a:ln>
        </p:spPr>
        <p:txBody>
          <a:bodyPr>
            <a:spAutoFit/>
          </a:bodyPr>
          <a:lstStyle/>
          <a:p>
            <a:pPr>
              <a:spcBef>
                <a:spcPct val="50000"/>
              </a:spcBef>
            </a:pPr>
            <a:r>
              <a:rPr lang="en-US" sz="2400" dirty="0"/>
              <a:t>Empty</a:t>
            </a:r>
          </a:p>
        </p:txBody>
      </p:sp>
      <p:sp>
        <p:nvSpPr>
          <p:cNvPr id="40" name="Text Box 23"/>
          <p:cNvSpPr txBox="1">
            <a:spLocks noChangeArrowheads="1"/>
          </p:cNvSpPr>
          <p:nvPr/>
        </p:nvSpPr>
        <p:spPr bwMode="auto">
          <a:xfrm>
            <a:off x="3429000" y="3657600"/>
            <a:ext cx="1752600" cy="457200"/>
          </a:xfrm>
          <a:prstGeom prst="rect">
            <a:avLst/>
          </a:prstGeom>
          <a:noFill/>
          <a:ln w="9525">
            <a:noFill/>
            <a:miter lim="800000"/>
          </a:ln>
        </p:spPr>
        <p:txBody>
          <a:bodyPr>
            <a:spAutoFit/>
          </a:bodyPr>
          <a:lstStyle/>
          <a:p>
            <a:pPr>
              <a:spcBef>
                <a:spcPct val="50000"/>
              </a:spcBef>
            </a:pPr>
            <a:r>
              <a:rPr lang="en-US" sz="2400" i="1" dirty="0" err="1"/>
              <a:t>maxlength</a:t>
            </a:r>
            <a:endParaRPr lang="en-US" sz="2400" i="1" dirty="0"/>
          </a:p>
        </p:txBody>
      </p:sp>
      <p:grpSp>
        <p:nvGrpSpPr>
          <p:cNvPr id="41" name="Group 24"/>
          <p:cNvGrpSpPr/>
          <p:nvPr/>
        </p:nvGrpSpPr>
        <p:grpSpPr bwMode="auto">
          <a:xfrm>
            <a:off x="2743200" y="4572000"/>
            <a:ext cx="2286000" cy="533400"/>
            <a:chOff x="672" y="2928"/>
            <a:chExt cx="1440" cy="336"/>
          </a:xfrm>
        </p:grpSpPr>
        <p:sp>
          <p:nvSpPr>
            <p:cNvPr id="42" name="Rectangle 25"/>
            <p:cNvSpPr>
              <a:spLocks noChangeArrowheads="1"/>
            </p:cNvSpPr>
            <p:nvPr/>
          </p:nvSpPr>
          <p:spPr bwMode="auto">
            <a:xfrm>
              <a:off x="1056" y="2928"/>
              <a:ext cx="768" cy="336"/>
            </a:xfrm>
            <a:prstGeom prst="rect">
              <a:avLst/>
            </a:prstGeom>
            <a:solidFill>
              <a:schemeClr val="accent1"/>
            </a:solidFill>
            <a:ln w="9525">
              <a:solidFill>
                <a:schemeClr val="tx1"/>
              </a:solidFill>
              <a:miter lim="800000"/>
            </a:ln>
          </p:spPr>
          <p:txBody>
            <a:bodyPr wrap="none" anchor="ctr"/>
            <a:lstStyle/>
            <a:p>
              <a:endParaRPr lang="fr-FR"/>
            </a:p>
          </p:txBody>
        </p:sp>
        <p:sp>
          <p:nvSpPr>
            <p:cNvPr id="43" name="Line 26"/>
            <p:cNvSpPr>
              <a:spLocks noChangeShapeType="1"/>
            </p:cNvSpPr>
            <p:nvPr/>
          </p:nvSpPr>
          <p:spPr bwMode="auto">
            <a:xfrm>
              <a:off x="1440" y="3120"/>
              <a:ext cx="672" cy="0"/>
            </a:xfrm>
            <a:prstGeom prst="line">
              <a:avLst/>
            </a:prstGeom>
            <a:noFill/>
            <a:ln w="9525">
              <a:solidFill>
                <a:schemeClr val="tx1"/>
              </a:solidFill>
              <a:round/>
              <a:tailEnd type="triangle" w="med" len="med"/>
            </a:ln>
          </p:spPr>
          <p:txBody>
            <a:bodyPr/>
            <a:lstStyle/>
            <a:p>
              <a:endParaRPr lang="en-US"/>
            </a:p>
          </p:txBody>
        </p:sp>
        <p:sp>
          <p:nvSpPr>
            <p:cNvPr id="44" name="Text Box 27"/>
            <p:cNvSpPr txBox="1">
              <a:spLocks noChangeArrowheads="1"/>
            </p:cNvSpPr>
            <p:nvPr/>
          </p:nvSpPr>
          <p:spPr bwMode="auto">
            <a:xfrm>
              <a:off x="672" y="2928"/>
              <a:ext cx="384" cy="288"/>
            </a:xfrm>
            <a:prstGeom prst="rect">
              <a:avLst/>
            </a:prstGeom>
            <a:noFill/>
            <a:ln w="9525">
              <a:noFill/>
              <a:miter lim="800000"/>
            </a:ln>
          </p:spPr>
          <p:txBody>
            <a:bodyPr>
              <a:spAutoFit/>
            </a:bodyPr>
            <a:lstStyle/>
            <a:p>
              <a:pPr>
                <a:spcBef>
                  <a:spcPct val="50000"/>
                </a:spcBef>
              </a:pPr>
              <a:r>
                <a:rPr lang="en-US" sz="2400" i="1"/>
                <a:t>top</a:t>
              </a:r>
            </a:p>
          </p:txBody>
        </p:sp>
      </p:grpSp>
      <p:sp>
        <p:nvSpPr>
          <p:cNvPr id="45" name="Rectangle 44"/>
          <p:cNvSpPr/>
          <p:nvPr/>
        </p:nvSpPr>
        <p:spPr>
          <a:xfrm>
            <a:off x="5173484" y="6091536"/>
            <a:ext cx="1971117" cy="461665"/>
          </a:xfrm>
          <a:prstGeom prst="rect">
            <a:avLst/>
          </a:prstGeom>
        </p:spPr>
        <p:txBody>
          <a:bodyPr wrap="none">
            <a:spAutoFit/>
          </a:bodyPr>
          <a:lstStyle/>
          <a:p>
            <a:pPr marL="342900" indent="-342900">
              <a:buClr>
                <a:schemeClr val="accent1"/>
              </a:buClr>
            </a:pPr>
            <a:r>
              <a:rPr lang="en-US" sz="2400" dirty="0">
                <a:cs typeface="Times New Roman" panose="02020603050405020304" pitchFamily="18" charset="0"/>
              </a:rPr>
              <a:t>First Element</a:t>
            </a:r>
          </a:p>
        </p:txBody>
      </p:sp>
    </p:spTree>
    <p:extLst>
      <p:ext uri="{BB962C8B-B14F-4D97-AF65-F5344CB8AC3E}">
        <p14:creationId xmlns:p14="http://schemas.microsoft.com/office/powerpoint/2010/main" val="2725577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382FC-0FA3-508B-4EB5-E05A6AF58ED7}"/>
              </a:ext>
            </a:extLst>
          </p:cNvPr>
          <p:cNvSpPr>
            <a:spLocks noGrp="1"/>
          </p:cNvSpPr>
          <p:nvPr>
            <p:ph type="title"/>
          </p:nvPr>
        </p:nvSpPr>
        <p:spPr/>
        <p:txBody>
          <a:bodyPr/>
          <a:lstStyle/>
          <a:p>
            <a:pPr>
              <a:defRPr/>
            </a:pPr>
            <a:r>
              <a:rPr lang="en-US" dirty="0"/>
              <a:t>Array Representation of Stack</a:t>
            </a:r>
          </a:p>
        </p:txBody>
      </p:sp>
      <p:sp>
        <p:nvSpPr>
          <p:cNvPr id="24579" name="Slide Number Placeholder 3">
            <a:extLst>
              <a:ext uri="{FF2B5EF4-FFF2-40B4-BE49-F238E27FC236}">
                <a16:creationId xmlns:a16="http://schemas.microsoft.com/office/drawing/2014/main" id="{EA8221E3-645F-8E2F-2D92-E89F753094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6F1A8D91-935A-4C71-AF6D-57068BE379A2}" type="slidenum">
              <a:rPr lang="en-US" altLang="en-US" sz="1000">
                <a:solidFill>
                  <a:schemeClr val="tx2"/>
                </a:solidFill>
                <a:latin typeface="Trebuchet MS" panose="020B0603020202020204" pitchFamily="34" charset="0"/>
              </a:rPr>
              <a:pPr>
                <a:spcBef>
                  <a:spcPct val="0"/>
                </a:spcBef>
                <a:buClrTx/>
                <a:buSzTx/>
                <a:buFontTx/>
                <a:buNone/>
              </a:pPr>
              <a:t>16</a:t>
            </a:fld>
            <a:endParaRPr lang="en-US" altLang="en-US" sz="1000">
              <a:solidFill>
                <a:schemeClr val="tx2"/>
              </a:solidFill>
              <a:latin typeface="Trebuchet MS" panose="020B0603020202020204" pitchFamily="34" charset="0"/>
            </a:endParaRPr>
          </a:p>
        </p:txBody>
      </p:sp>
      <p:graphicFrame>
        <p:nvGraphicFramePr>
          <p:cNvPr id="29" name="Content Placeholder 28">
            <a:extLst>
              <a:ext uri="{FF2B5EF4-FFF2-40B4-BE49-F238E27FC236}">
                <a16:creationId xmlns:a16="http://schemas.microsoft.com/office/drawing/2014/main" id="{025F6B5D-FFFA-D4E2-ED6D-4CEFA9E4C481}"/>
              </a:ext>
            </a:extLst>
          </p:cNvPr>
          <p:cNvGraphicFramePr>
            <a:graphicFrameLocks noGrp="1"/>
          </p:cNvGraphicFramePr>
          <p:nvPr>
            <p:ph idx="1"/>
          </p:nvPr>
        </p:nvGraphicFramePr>
        <p:xfrm>
          <a:off x="1981200" y="2971800"/>
          <a:ext cx="8229600" cy="1158876"/>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28700">
                  <a:extLst>
                    <a:ext uri="{9D8B030D-6E8A-4147-A177-3AD203B41FA5}">
                      <a16:colId xmlns:a16="http://schemas.microsoft.com/office/drawing/2014/main" val="20007"/>
                    </a:ext>
                  </a:extLst>
                </a:gridCol>
              </a:tblGrid>
              <a:tr h="579438">
                <a:tc>
                  <a:txBody>
                    <a:bodyPr/>
                    <a:lstStyle/>
                    <a:p>
                      <a:r>
                        <a:rPr lang="en-US" sz="3200" dirty="0">
                          <a:solidFill>
                            <a:schemeClr val="tx1"/>
                          </a:solidFill>
                        </a:rPr>
                        <a:t>AA</a:t>
                      </a:r>
                    </a:p>
                  </a:txBody>
                  <a:tcPr marT="45745" marB="457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200" dirty="0">
                          <a:solidFill>
                            <a:schemeClr val="tx1"/>
                          </a:solidFill>
                        </a:rPr>
                        <a:t>BB</a:t>
                      </a:r>
                    </a:p>
                  </a:txBody>
                  <a:tcPr marT="45745" marB="457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200" dirty="0">
                          <a:solidFill>
                            <a:schemeClr val="tx1"/>
                          </a:solidFill>
                        </a:rPr>
                        <a:t>CC</a:t>
                      </a:r>
                    </a:p>
                  </a:txBody>
                  <a:tcPr marT="45745" marB="457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T="45745" marB="457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a:p>
                  </a:txBody>
                  <a:tcPr marT="45745" marB="457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a:p>
                  </a:txBody>
                  <a:tcPr marT="45745" marB="457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a:p>
                  </a:txBody>
                  <a:tcPr marT="45745" marB="457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T="45745" marB="457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79438">
                <a:tc>
                  <a:txBody>
                    <a:bodyPr/>
                    <a:lstStyle/>
                    <a:p>
                      <a:r>
                        <a:rPr lang="en-US" sz="3200" dirty="0">
                          <a:solidFill>
                            <a:schemeClr val="tx1"/>
                          </a:solidFill>
                        </a:rPr>
                        <a:t>1</a:t>
                      </a:r>
                    </a:p>
                  </a:txBody>
                  <a:tcPr marT="45745" marB="457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r>
                        <a:rPr lang="en-US" sz="3200" dirty="0">
                          <a:solidFill>
                            <a:schemeClr val="tx1"/>
                          </a:solidFill>
                        </a:rPr>
                        <a:t>2</a:t>
                      </a:r>
                    </a:p>
                  </a:txBody>
                  <a:tcPr marT="45745" marB="457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r>
                        <a:rPr lang="en-US" sz="3200" dirty="0">
                          <a:solidFill>
                            <a:schemeClr val="tx1"/>
                          </a:solidFill>
                        </a:rPr>
                        <a:t>3</a:t>
                      </a:r>
                    </a:p>
                  </a:txBody>
                  <a:tcPr marT="45745" marB="457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r>
                        <a:rPr lang="en-US" sz="3200" dirty="0"/>
                        <a:t>4</a:t>
                      </a:r>
                    </a:p>
                  </a:txBody>
                  <a:tcPr marT="45745" marB="457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r>
                        <a:rPr lang="en-US" sz="3200" dirty="0"/>
                        <a:t>5</a:t>
                      </a:r>
                    </a:p>
                  </a:txBody>
                  <a:tcPr marT="45745" marB="457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r>
                        <a:rPr lang="en-US" sz="3200" dirty="0"/>
                        <a:t>6</a:t>
                      </a:r>
                    </a:p>
                  </a:txBody>
                  <a:tcPr marT="45745" marB="457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r>
                        <a:rPr lang="en-US" sz="3200" dirty="0"/>
                        <a:t>7</a:t>
                      </a:r>
                    </a:p>
                  </a:txBody>
                  <a:tcPr marT="45745" marB="457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r>
                        <a:rPr lang="en-US" sz="3200" dirty="0"/>
                        <a:t>8</a:t>
                      </a:r>
                    </a:p>
                  </a:txBody>
                  <a:tcPr marT="45745" marB="4574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24608" name="TextBox 29">
            <a:extLst>
              <a:ext uri="{FF2B5EF4-FFF2-40B4-BE49-F238E27FC236}">
                <a16:creationId xmlns:a16="http://schemas.microsoft.com/office/drawing/2014/main" id="{7F1292E0-D8A3-E486-91D5-9A546A7B7FE9}"/>
              </a:ext>
            </a:extLst>
          </p:cNvPr>
          <p:cNvSpPr txBox="1">
            <a:spLocks noChangeArrowheads="1"/>
          </p:cNvSpPr>
          <p:nvPr/>
        </p:nvSpPr>
        <p:spPr bwMode="auto">
          <a:xfrm>
            <a:off x="4800600" y="2209800"/>
            <a:ext cx="1676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STACK </a:t>
            </a:r>
          </a:p>
        </p:txBody>
      </p:sp>
      <p:sp>
        <p:nvSpPr>
          <p:cNvPr id="24609" name="TextBox 30">
            <a:extLst>
              <a:ext uri="{FF2B5EF4-FFF2-40B4-BE49-F238E27FC236}">
                <a16:creationId xmlns:a16="http://schemas.microsoft.com/office/drawing/2014/main" id="{6F12BA94-9434-503D-F4CE-96BC8217D184}"/>
              </a:ext>
            </a:extLst>
          </p:cNvPr>
          <p:cNvSpPr txBox="1">
            <a:spLocks noChangeArrowheads="1"/>
          </p:cNvSpPr>
          <p:nvPr/>
        </p:nvSpPr>
        <p:spPr bwMode="auto">
          <a:xfrm>
            <a:off x="2209800" y="4648200"/>
            <a:ext cx="1066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TOP</a:t>
            </a:r>
          </a:p>
        </p:txBody>
      </p:sp>
      <p:sp>
        <p:nvSpPr>
          <p:cNvPr id="24610" name="TextBox 31">
            <a:extLst>
              <a:ext uri="{FF2B5EF4-FFF2-40B4-BE49-F238E27FC236}">
                <a16:creationId xmlns:a16="http://schemas.microsoft.com/office/drawing/2014/main" id="{B43B4AB1-362B-0148-B5E2-46590667A47D}"/>
              </a:ext>
            </a:extLst>
          </p:cNvPr>
          <p:cNvSpPr txBox="1">
            <a:spLocks noChangeArrowheads="1"/>
          </p:cNvSpPr>
          <p:nvPr/>
        </p:nvSpPr>
        <p:spPr bwMode="auto">
          <a:xfrm>
            <a:off x="3352800" y="4648200"/>
            <a:ext cx="533400" cy="584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3</a:t>
            </a:r>
          </a:p>
        </p:txBody>
      </p:sp>
      <p:cxnSp>
        <p:nvCxnSpPr>
          <p:cNvPr id="34" name="Straight Connector 33">
            <a:extLst>
              <a:ext uri="{FF2B5EF4-FFF2-40B4-BE49-F238E27FC236}">
                <a16:creationId xmlns:a16="http://schemas.microsoft.com/office/drawing/2014/main" id="{BEAA5245-C716-3CE0-FA1F-C6378FB450A4}"/>
              </a:ext>
            </a:extLst>
          </p:cNvPr>
          <p:cNvCxnSpPr>
            <a:stCxn id="24610" idx="3"/>
          </p:cNvCxnSpPr>
          <p:nvPr/>
        </p:nvCxnSpPr>
        <p:spPr>
          <a:xfrm>
            <a:off x="3886200" y="4940300"/>
            <a:ext cx="609600" cy="127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DC6E3527-6394-A924-DD24-FE018137B130}"/>
              </a:ext>
            </a:extLst>
          </p:cNvPr>
          <p:cNvCxnSpPr/>
          <p:nvPr/>
        </p:nvCxnSpPr>
        <p:spPr>
          <a:xfrm rot="5400000" flipH="1" flipV="1">
            <a:off x="3962401" y="4419601"/>
            <a:ext cx="1066800" cy="3175"/>
          </a:xfrm>
          <a:prstGeom prst="straightConnector1">
            <a:avLst/>
          </a:prstGeom>
          <a:ln w="38100" cap="rnd">
            <a:solidFill>
              <a:srgbClr val="FF0000"/>
            </a:solidFill>
            <a:bevel/>
            <a:tailEnd type="triangle"/>
          </a:ln>
        </p:spPr>
        <p:style>
          <a:lnRef idx="1">
            <a:schemeClr val="accent1"/>
          </a:lnRef>
          <a:fillRef idx="0">
            <a:schemeClr val="accent1"/>
          </a:fillRef>
          <a:effectRef idx="0">
            <a:schemeClr val="accent1"/>
          </a:effectRef>
          <a:fontRef idx="minor">
            <a:schemeClr val="tx1"/>
          </a:fontRef>
        </p:style>
      </p:cxnSp>
      <p:sp>
        <p:nvSpPr>
          <p:cNvPr id="24613" name="TextBox 36">
            <a:extLst>
              <a:ext uri="{FF2B5EF4-FFF2-40B4-BE49-F238E27FC236}">
                <a16:creationId xmlns:a16="http://schemas.microsoft.com/office/drawing/2014/main" id="{16FC7B96-7FE5-C53D-E8E5-DB99C412FBA8}"/>
              </a:ext>
            </a:extLst>
          </p:cNvPr>
          <p:cNvSpPr txBox="1">
            <a:spLocks noChangeArrowheads="1"/>
          </p:cNvSpPr>
          <p:nvPr/>
        </p:nvSpPr>
        <p:spPr bwMode="auto">
          <a:xfrm>
            <a:off x="7086600" y="4648200"/>
            <a:ext cx="1981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MAXSTK</a:t>
            </a:r>
          </a:p>
        </p:txBody>
      </p:sp>
      <p:sp>
        <p:nvSpPr>
          <p:cNvPr id="24614" name="TextBox 37">
            <a:extLst>
              <a:ext uri="{FF2B5EF4-FFF2-40B4-BE49-F238E27FC236}">
                <a16:creationId xmlns:a16="http://schemas.microsoft.com/office/drawing/2014/main" id="{1BF77178-80CF-7632-E419-F4BE3ABCD8FE}"/>
              </a:ext>
            </a:extLst>
          </p:cNvPr>
          <p:cNvSpPr txBox="1">
            <a:spLocks noChangeArrowheads="1"/>
          </p:cNvSpPr>
          <p:nvPr/>
        </p:nvSpPr>
        <p:spPr bwMode="auto">
          <a:xfrm>
            <a:off x="9220200" y="4648200"/>
            <a:ext cx="533400" cy="584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8</a:t>
            </a:r>
          </a:p>
        </p:txBody>
      </p:sp>
      <p:cxnSp>
        <p:nvCxnSpPr>
          <p:cNvPr id="40" name="Straight Arrow Connector 39">
            <a:extLst>
              <a:ext uri="{FF2B5EF4-FFF2-40B4-BE49-F238E27FC236}">
                <a16:creationId xmlns:a16="http://schemas.microsoft.com/office/drawing/2014/main" id="{CCCDCFEF-F925-C593-2A41-63AA9AC54DBE}"/>
              </a:ext>
            </a:extLst>
          </p:cNvPr>
          <p:cNvCxnSpPr>
            <a:stCxn id="24614" idx="0"/>
          </p:cNvCxnSpPr>
          <p:nvPr/>
        </p:nvCxnSpPr>
        <p:spPr>
          <a:xfrm rot="16200000" flipV="1">
            <a:off x="9163050" y="4324350"/>
            <a:ext cx="609600" cy="381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2C020BEF-B1EF-4F0B-53FB-0318CF20F24C}"/>
              </a:ext>
            </a:extLst>
          </p:cNvPr>
          <p:cNvSpPr txBox="1">
            <a:spLocks noChangeArrowheads="1"/>
          </p:cNvSpPr>
          <p:nvPr/>
        </p:nvSpPr>
        <p:spPr bwMode="auto">
          <a:xfrm>
            <a:off x="1905000" y="5410201"/>
            <a:ext cx="7924800" cy="10779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TOP = 0 or TOP = NULL will indicates that the stack is empty </a:t>
            </a:r>
          </a:p>
        </p:txBody>
      </p:sp>
    </p:spTree>
    <p:extLst>
      <p:ext uri="{BB962C8B-B14F-4D97-AF65-F5344CB8AC3E}">
        <p14:creationId xmlns:p14="http://schemas.microsoft.com/office/powerpoint/2010/main" val="19235665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checkerboard(across)">
                                      <p:cBhvr>
                                        <p:cTn id="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An Array Implementation of Stacks</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17</a:t>
            </a:fld>
            <a:endParaRPr sz="900">
              <a:latin typeface="Malgun Gothic"/>
              <a:cs typeface="Malgun Gothic"/>
            </a:endParaRPr>
          </a:p>
        </p:txBody>
      </p:sp>
      <p:sp>
        <p:nvSpPr>
          <p:cNvPr id="13" name="Rectangle 3"/>
          <p:cNvSpPr txBox="1">
            <a:spLocks noChangeArrowheads="1"/>
          </p:cNvSpPr>
          <p:nvPr/>
        </p:nvSpPr>
        <p:spPr>
          <a:xfrm>
            <a:off x="1516594" y="1894114"/>
            <a:ext cx="9706505" cy="47225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defRPr/>
            </a:pPr>
            <a:r>
              <a:rPr lang="en-US" sz="2400" dirty="0"/>
              <a:t>A stack data structure can be </a:t>
            </a:r>
            <a:r>
              <a:rPr lang="en-US" sz="2400" dirty="0">
                <a:solidFill>
                  <a:srgbClr val="FF0000"/>
                </a:solidFill>
              </a:rPr>
              <a:t>implemented using a one-dimensional </a:t>
            </a:r>
            <a:r>
              <a:rPr lang="en-US" sz="2400" dirty="0"/>
              <a:t>array.</a:t>
            </a:r>
          </a:p>
          <a:p>
            <a:pPr>
              <a:lnSpc>
                <a:spcPct val="80000"/>
              </a:lnSpc>
              <a:defRPr/>
            </a:pPr>
            <a:r>
              <a:rPr lang="en-US" sz="2400" dirty="0"/>
              <a:t> But stack implemented using array </a:t>
            </a:r>
            <a:r>
              <a:rPr lang="en-US" sz="2400" dirty="0">
                <a:solidFill>
                  <a:srgbClr val="FF0000"/>
                </a:solidFill>
              </a:rPr>
              <a:t>stores only a fixed number </a:t>
            </a:r>
            <a:r>
              <a:rPr lang="en-US" sz="2400" dirty="0"/>
              <a:t>of data values. </a:t>
            </a:r>
          </a:p>
          <a:p>
            <a:pPr>
              <a:lnSpc>
                <a:spcPct val="80000"/>
              </a:lnSpc>
              <a:defRPr/>
            </a:pPr>
            <a:r>
              <a:rPr lang="en-US" sz="2400" dirty="0"/>
              <a:t>This implementation is very simple. Just define a one dimensional array of specific size and </a:t>
            </a:r>
            <a:r>
              <a:rPr lang="en-US" sz="2400" dirty="0">
                <a:solidFill>
                  <a:srgbClr val="FF0000"/>
                </a:solidFill>
              </a:rPr>
              <a:t>insert or delete the values into </a:t>
            </a:r>
            <a:r>
              <a:rPr lang="en-US" sz="2400" dirty="0"/>
              <a:t>that array by </a:t>
            </a:r>
            <a:r>
              <a:rPr lang="en-US" sz="2400" dirty="0">
                <a:solidFill>
                  <a:srgbClr val="FF0000"/>
                </a:solidFill>
              </a:rPr>
              <a:t>using LIFO </a:t>
            </a:r>
            <a:r>
              <a:rPr lang="en-US" sz="2400" dirty="0"/>
              <a:t>principle with the </a:t>
            </a:r>
            <a:r>
              <a:rPr lang="en-US" sz="2400" dirty="0">
                <a:solidFill>
                  <a:srgbClr val="FF0000"/>
                </a:solidFill>
              </a:rPr>
              <a:t>help of a variable called 'top’. </a:t>
            </a:r>
          </a:p>
          <a:p>
            <a:pPr>
              <a:lnSpc>
                <a:spcPct val="80000"/>
              </a:lnSpc>
              <a:defRPr/>
            </a:pPr>
            <a:r>
              <a:rPr lang="en-US" sz="2400" dirty="0"/>
              <a:t>Initially, the </a:t>
            </a:r>
            <a:r>
              <a:rPr lang="en-US" sz="2400" dirty="0">
                <a:solidFill>
                  <a:srgbClr val="FF0000"/>
                </a:solidFill>
              </a:rPr>
              <a:t>top is set to -1. </a:t>
            </a:r>
          </a:p>
          <a:p>
            <a:pPr>
              <a:lnSpc>
                <a:spcPct val="80000"/>
              </a:lnSpc>
              <a:defRPr/>
            </a:pPr>
            <a:r>
              <a:rPr lang="en-US" sz="2400" dirty="0"/>
              <a:t>Whenever we want to </a:t>
            </a:r>
            <a:r>
              <a:rPr lang="en-US" sz="2400" dirty="0">
                <a:solidFill>
                  <a:srgbClr val="FF0000"/>
                </a:solidFill>
              </a:rPr>
              <a:t>insert a value into the stack, increment the top value by one and then insert. </a:t>
            </a:r>
          </a:p>
          <a:p>
            <a:pPr>
              <a:lnSpc>
                <a:spcPct val="80000"/>
              </a:lnSpc>
              <a:defRPr/>
            </a:pPr>
            <a:r>
              <a:rPr lang="en-US" sz="2400" dirty="0"/>
              <a:t>Whenever we want to </a:t>
            </a:r>
            <a:r>
              <a:rPr lang="en-US" sz="2400" dirty="0">
                <a:solidFill>
                  <a:srgbClr val="FF0000"/>
                </a:solidFill>
              </a:rPr>
              <a:t>delete a value </a:t>
            </a:r>
            <a:r>
              <a:rPr lang="en-US" sz="2400" dirty="0"/>
              <a:t>from the stack, then </a:t>
            </a:r>
            <a:r>
              <a:rPr lang="en-US" sz="2400" dirty="0">
                <a:solidFill>
                  <a:srgbClr val="FF0000"/>
                </a:solidFill>
              </a:rPr>
              <a:t>delete the top value and decrement the top value by one.</a:t>
            </a:r>
          </a:p>
        </p:txBody>
      </p:sp>
    </p:spTree>
    <p:extLst>
      <p:ext uri="{BB962C8B-B14F-4D97-AF65-F5344CB8AC3E}">
        <p14:creationId xmlns:p14="http://schemas.microsoft.com/office/powerpoint/2010/main" val="2421206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Push():Insertion in stack</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18</a:t>
            </a:fld>
            <a:endParaRPr sz="900">
              <a:latin typeface="Malgun Gothic"/>
              <a:cs typeface="Malgun Gothic"/>
            </a:endParaRPr>
          </a:p>
        </p:txBody>
      </p:sp>
      <p:sp>
        <p:nvSpPr>
          <p:cNvPr id="16" name="Content Placeholder 2"/>
          <p:cNvSpPr>
            <a:spLocks noGrp="1"/>
          </p:cNvSpPr>
          <p:nvPr>
            <p:ph idx="1"/>
          </p:nvPr>
        </p:nvSpPr>
        <p:spPr>
          <a:xfrm>
            <a:off x="1229838" y="1828800"/>
            <a:ext cx="10515600" cy="4815152"/>
          </a:xfrm>
        </p:spPr>
        <p:txBody>
          <a:bodyPr>
            <a:normAutofit/>
          </a:bodyPr>
          <a:lstStyle/>
          <a:p>
            <a:pPr marL="0" indent="0">
              <a:buNone/>
            </a:pPr>
            <a:r>
              <a:rPr lang="en-US" sz="2400" dirty="0"/>
              <a:t> </a:t>
            </a:r>
            <a:r>
              <a:rPr lang="en-US" sz="2800" dirty="0"/>
              <a:t>if(top == MAXSIZE)</a:t>
            </a:r>
          </a:p>
          <a:p>
            <a:pPr marL="0" indent="0">
              <a:buNone/>
            </a:pPr>
            <a:r>
              <a:rPr lang="en-US" sz="2800" dirty="0"/>
              <a:t> </a:t>
            </a:r>
            <a:r>
              <a:rPr lang="en-US" altLang="en-US" sz="2800" dirty="0"/>
              <a:t>print: Overflow, Exit [ Stack already filled]</a:t>
            </a:r>
          </a:p>
          <a:p>
            <a:pPr marL="0" indent="0">
              <a:buNone/>
            </a:pPr>
            <a:r>
              <a:rPr lang="en-US" sz="2800" dirty="0"/>
              <a:t>   else </a:t>
            </a:r>
          </a:p>
          <a:p>
            <a:pPr marL="0" indent="0">
              <a:buNone/>
            </a:pPr>
            <a:r>
              <a:rPr lang="en-US" sz="2800" dirty="0"/>
              <a:t>      top = top + 1;   </a:t>
            </a:r>
          </a:p>
          <a:p>
            <a:pPr marL="0" indent="0">
              <a:buNone/>
            </a:pPr>
            <a:r>
              <a:rPr lang="en-US" sz="2800" dirty="0"/>
              <a:t>      stack[top] = data;</a:t>
            </a:r>
          </a:p>
          <a:p>
            <a:pPr marL="0" indent="0">
              <a:buNone/>
            </a:pPr>
            <a:r>
              <a:rPr lang="en-US" sz="2400" dirty="0"/>
              <a:t>   </a:t>
            </a:r>
          </a:p>
        </p:txBody>
      </p:sp>
      <p:pic>
        <p:nvPicPr>
          <p:cNvPr id="3" name="Picture 4" descr="Stack Push Operation">
            <a:extLst>
              <a:ext uri="{FF2B5EF4-FFF2-40B4-BE49-F238E27FC236}">
                <a16:creationId xmlns:a16="http://schemas.microsoft.com/office/drawing/2014/main" id="{E0E86DB1-A5CD-F7C7-25BC-F3E1D951F3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2668" y="2080727"/>
            <a:ext cx="4614102" cy="3554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833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blinds(horizontal)">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blinds(horizontal)">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blinds(horizontal)">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blinds(horizontal)">
                                      <p:cBhvr>
                                        <p:cTn id="22" dur="500"/>
                                        <p:tgtEl>
                                          <p:spTgt spid="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
                                            <p:txEl>
                                              <p:pRg st="4" end="4"/>
                                            </p:txEl>
                                          </p:spTgt>
                                        </p:tgtEl>
                                        <p:attrNameLst>
                                          <p:attrName>style.visibility</p:attrName>
                                        </p:attrNameLst>
                                      </p:cBhvr>
                                      <p:to>
                                        <p:strVal val="visible"/>
                                      </p:to>
                                    </p:set>
                                    <p:animEffect transition="in" filter="blinds(horizontal)">
                                      <p:cBhvr>
                                        <p:cTn id="27" dur="500"/>
                                        <p:tgtEl>
                                          <p:spTgt spid="1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
                                            <p:txEl>
                                              <p:pRg st="5" end="5"/>
                                            </p:txEl>
                                          </p:spTgt>
                                        </p:tgtEl>
                                        <p:attrNameLst>
                                          <p:attrName>style.visibility</p:attrName>
                                        </p:attrNameLst>
                                      </p:cBhvr>
                                      <p:to>
                                        <p:strVal val="visible"/>
                                      </p:to>
                                    </p:set>
                                    <p:animEffect transition="in" filter="blinds(horizontal)">
                                      <p:cBhvr>
                                        <p:cTn id="32" dur="500"/>
                                        <p:tgtEl>
                                          <p:spTgt spid="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Pop():Deletion in stack</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19</a:t>
            </a:fld>
            <a:endParaRPr sz="900">
              <a:latin typeface="Malgun Gothic"/>
              <a:cs typeface="Malgun Gothic"/>
            </a:endParaRPr>
          </a:p>
        </p:txBody>
      </p:sp>
      <p:sp>
        <p:nvSpPr>
          <p:cNvPr id="3" name="Content Placeholder 2"/>
          <p:cNvSpPr>
            <a:spLocks noGrp="1"/>
          </p:cNvSpPr>
          <p:nvPr>
            <p:ph idx="1"/>
          </p:nvPr>
        </p:nvSpPr>
        <p:spPr>
          <a:xfrm>
            <a:off x="1524000" y="2177169"/>
            <a:ext cx="9829800" cy="3999793"/>
          </a:xfrm>
        </p:spPr>
        <p:txBody>
          <a:bodyPr>
            <a:noAutofit/>
          </a:bodyPr>
          <a:lstStyle/>
          <a:p>
            <a:pPr marL="0" indent="0">
              <a:lnSpc>
                <a:spcPct val="110000"/>
              </a:lnSpc>
              <a:buNone/>
            </a:pPr>
            <a:r>
              <a:rPr lang="en-US" sz="2400" dirty="0"/>
              <a:t>if(top == -1)</a:t>
            </a:r>
          </a:p>
          <a:p>
            <a:pPr marL="0" indent="0">
              <a:lnSpc>
                <a:spcPct val="110000"/>
              </a:lnSpc>
              <a:buNone/>
            </a:pPr>
            <a:r>
              <a:rPr lang="en-US" altLang="en-US" sz="2400" dirty="0"/>
              <a:t>print: Underflow, Exit [ Stack is empty]</a:t>
            </a:r>
            <a:endParaRPr lang="en-US" sz="2400" dirty="0"/>
          </a:p>
          <a:p>
            <a:pPr marL="0" indent="0">
              <a:lnSpc>
                <a:spcPct val="110000"/>
              </a:lnSpc>
              <a:buNone/>
            </a:pPr>
            <a:r>
              <a:rPr lang="en-US" sz="2400" dirty="0"/>
              <a:t>  else </a:t>
            </a:r>
          </a:p>
          <a:p>
            <a:pPr marL="0" indent="0">
              <a:lnSpc>
                <a:spcPct val="110000"/>
              </a:lnSpc>
              <a:buNone/>
            </a:pPr>
            <a:r>
              <a:rPr lang="en-US" sz="2400" dirty="0"/>
              <a:t>      data = stack[top];</a:t>
            </a:r>
          </a:p>
          <a:p>
            <a:pPr marL="0" indent="0">
              <a:lnSpc>
                <a:spcPct val="110000"/>
              </a:lnSpc>
              <a:buNone/>
            </a:pPr>
            <a:r>
              <a:rPr lang="en-US" sz="2400" dirty="0"/>
              <a:t>      top = top - 1;   </a:t>
            </a:r>
          </a:p>
          <a:p>
            <a:pPr marL="0" indent="0">
              <a:lnSpc>
                <a:spcPct val="110000"/>
              </a:lnSpc>
              <a:buNone/>
            </a:pPr>
            <a:r>
              <a:rPr lang="en-US" sz="2400" dirty="0"/>
              <a:t>      </a:t>
            </a:r>
          </a:p>
        </p:txBody>
      </p:sp>
      <p:pic>
        <p:nvPicPr>
          <p:cNvPr id="4" name="Picture 2" descr="Stack Pop Operation">
            <a:extLst>
              <a:ext uri="{FF2B5EF4-FFF2-40B4-BE49-F238E27FC236}">
                <a16:creationId xmlns:a16="http://schemas.microsoft.com/office/drawing/2014/main" id="{BCB9D8AB-9D74-10D0-F324-AEBDD13D48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144" y="2452188"/>
            <a:ext cx="4286250" cy="2409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4785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73BB77AA-80BA-5648-C016-1F3188A6D54F}"/>
              </a:ext>
            </a:extLst>
          </p:cNvPr>
          <p:cNvSpPr>
            <a:spLocks noGrp="1"/>
          </p:cNvSpPr>
          <p:nvPr>
            <p:ph idx="1"/>
          </p:nvPr>
        </p:nvSpPr>
        <p:spPr>
          <a:xfrm>
            <a:off x="1524000" y="228600"/>
            <a:ext cx="4876800" cy="6400800"/>
          </a:xfrm>
          <a:ln>
            <a:solidFill>
              <a:schemeClr val="accent1"/>
            </a:solidFill>
            <a:miter lim="800000"/>
            <a:headEnd/>
            <a:tailEnd/>
          </a:ln>
        </p:spPr>
        <p:txBody>
          <a:bodyPr>
            <a:normAutofit fontScale="70000" lnSpcReduction="20000"/>
          </a:bodyPr>
          <a:lstStyle/>
          <a:p>
            <a:pPr marL="0" indent="0">
              <a:buNone/>
            </a:pPr>
            <a:r>
              <a:rPr lang="en-US" altLang="en-US" sz="300"/>
              <a:t>#</a:t>
            </a:r>
            <a:r>
              <a:rPr lang="en-US" altLang="en-US" sz="1400"/>
              <a:t>include &lt;conio.h&gt;</a:t>
            </a:r>
          </a:p>
          <a:p>
            <a:pPr marL="0" indent="0">
              <a:buNone/>
            </a:pPr>
            <a:r>
              <a:rPr lang="en-US" altLang="en-US" sz="1400"/>
              <a:t>#include &lt;iostream.h&gt;</a:t>
            </a:r>
          </a:p>
          <a:p>
            <a:pPr marL="0" indent="0">
              <a:buNone/>
            </a:pPr>
            <a:r>
              <a:rPr lang="en-US" altLang="en-US" sz="1400"/>
              <a:t>#include &lt;process.h&gt;</a:t>
            </a:r>
          </a:p>
          <a:p>
            <a:pPr marL="0" indent="0">
              <a:buNone/>
            </a:pPr>
            <a:r>
              <a:rPr lang="en-US" altLang="en-US" sz="1400"/>
              <a:t>#define  STACKSIZE  10 //   int const STACKSIZE = 10;</a:t>
            </a:r>
          </a:p>
          <a:p>
            <a:pPr marL="0" indent="0">
              <a:buNone/>
            </a:pPr>
            <a:r>
              <a:rPr lang="en-US" altLang="en-US" sz="1400"/>
              <a:t>//  global  variable and array declaration</a:t>
            </a:r>
          </a:p>
          <a:p>
            <a:pPr marL="0" indent="0">
              <a:buNone/>
            </a:pPr>
            <a:r>
              <a:rPr lang="en-US" altLang="en-US" sz="1400"/>
              <a:t>int Top=-1;</a:t>
            </a:r>
          </a:p>
          <a:p>
            <a:pPr marL="0" indent="0">
              <a:buNone/>
            </a:pPr>
            <a:r>
              <a:rPr lang="en-US" altLang="en-US" sz="1400"/>
              <a:t>int Stack[STACKSIZE];</a:t>
            </a:r>
          </a:p>
          <a:p>
            <a:pPr marL="0" indent="0">
              <a:buNone/>
            </a:pPr>
            <a:r>
              <a:rPr lang="en-US" altLang="en-US" sz="1400"/>
              <a:t>void Push(int);    //   functions prototyping</a:t>
            </a:r>
          </a:p>
          <a:p>
            <a:pPr marL="0" indent="0">
              <a:buNone/>
            </a:pPr>
            <a:r>
              <a:rPr lang="en-US" altLang="en-US" sz="1400"/>
              <a:t>int  Pop(void);</a:t>
            </a:r>
          </a:p>
          <a:p>
            <a:pPr marL="0" indent="0">
              <a:buNone/>
            </a:pPr>
            <a:r>
              <a:rPr lang="en-US" altLang="en-US" sz="1400"/>
              <a:t>bool IsEmpty(void);</a:t>
            </a:r>
          </a:p>
          <a:p>
            <a:pPr marL="0" indent="0">
              <a:buNone/>
            </a:pPr>
            <a:r>
              <a:rPr lang="en-US" altLang="en-US" sz="1400"/>
              <a:t>bool IsFull(void);</a:t>
            </a:r>
          </a:p>
          <a:p>
            <a:pPr marL="0" indent="0">
              <a:buNone/>
            </a:pPr>
            <a:r>
              <a:rPr lang="en-US" altLang="en-US" sz="1400"/>
              <a:t>void Traverse(void);</a:t>
            </a:r>
          </a:p>
          <a:p>
            <a:pPr marL="0" indent="0">
              <a:buNone/>
            </a:pPr>
            <a:r>
              <a:rPr lang="en-US" altLang="en-US" sz="1400"/>
              <a:t>int main( )</a:t>
            </a:r>
          </a:p>
          <a:p>
            <a:pPr marL="0" indent="0">
              <a:buNone/>
            </a:pPr>
            <a:r>
              <a:rPr lang="en-US" altLang="en-US" sz="1400"/>
              <a:t>{ int item,  choice;</a:t>
            </a:r>
          </a:p>
          <a:p>
            <a:pPr marL="0" indent="0">
              <a:buNone/>
            </a:pPr>
            <a:r>
              <a:rPr lang="en-US" altLang="en-US" sz="1400"/>
              <a:t>   while( 1 )</a:t>
            </a:r>
          </a:p>
          <a:p>
            <a:pPr marL="0" indent="0">
              <a:buNone/>
            </a:pPr>
            <a:r>
              <a:rPr lang="en-US" altLang="en-US" sz="1400"/>
              <a:t>    {</a:t>
            </a:r>
          </a:p>
          <a:p>
            <a:pPr marL="0" indent="0">
              <a:buNone/>
            </a:pPr>
            <a:r>
              <a:rPr lang="en-US" altLang="en-US" sz="1400"/>
              <a:t>cout&lt;&lt; "\n\n\n\n\n";</a:t>
            </a:r>
          </a:p>
          <a:p>
            <a:pPr marL="0" indent="0">
              <a:buNone/>
            </a:pPr>
            <a:r>
              <a:rPr lang="en-US" altLang="en-US" sz="1400"/>
              <a:t>cout&lt;&lt; "     *******  STACK  OPERATIONS ********* \n\n";</a:t>
            </a:r>
          </a:p>
          <a:p>
            <a:pPr marL="0" indent="0">
              <a:buNone/>
            </a:pPr>
            <a:r>
              <a:rPr lang="en-US" altLang="en-US" sz="1400"/>
              <a:t>cout&lt;&lt; "  1-  Push item \n  2-  Pop Item \n";</a:t>
            </a:r>
          </a:p>
          <a:p>
            <a:pPr marL="0" indent="0">
              <a:buNone/>
            </a:pPr>
            <a:r>
              <a:rPr lang="en-US" altLang="en-US" sz="1400"/>
              <a:t>cout&lt;&lt; "  3-  Traverse / Display  Stack Items \n  4-  Exit.";</a:t>
            </a:r>
          </a:p>
          <a:p>
            <a:pPr marL="0" indent="0">
              <a:buNone/>
            </a:pPr>
            <a:r>
              <a:rPr lang="en-US" altLang="en-US" sz="1400"/>
              <a:t>cout&lt;&lt; " \n\n\t  Your choice ---&gt; ";</a:t>
            </a:r>
          </a:p>
          <a:p>
            <a:pPr marL="0" indent="0">
              <a:buNone/>
            </a:pPr>
            <a:r>
              <a:rPr lang="en-US" altLang="en-US" sz="1400"/>
              <a:t>cin&gt;&gt; choice;</a:t>
            </a:r>
          </a:p>
        </p:txBody>
      </p:sp>
      <p:sp>
        <p:nvSpPr>
          <p:cNvPr id="4" name="Content Placeholder 2">
            <a:extLst>
              <a:ext uri="{FF2B5EF4-FFF2-40B4-BE49-F238E27FC236}">
                <a16:creationId xmlns:a16="http://schemas.microsoft.com/office/drawing/2014/main" id="{D4AEF0F3-07F2-86DA-03A6-3B431414092C}"/>
              </a:ext>
            </a:extLst>
          </p:cNvPr>
          <p:cNvSpPr txBox="1">
            <a:spLocks/>
          </p:cNvSpPr>
          <p:nvPr/>
        </p:nvSpPr>
        <p:spPr bwMode="auto">
          <a:xfrm>
            <a:off x="6400800" y="242888"/>
            <a:ext cx="4038600" cy="6400800"/>
          </a:xfrm>
          <a:prstGeom prst="rect">
            <a:avLst/>
          </a:prstGeom>
          <a:noFill/>
          <a:ln>
            <a:solidFill>
              <a:schemeClr val="accent1"/>
            </a:solidFill>
          </a:ln>
          <a:effectLst>
            <a:outerShdw blurRad="50800" dist="50800" dir="5400000" algn="ctr" rotWithShape="0">
              <a:schemeClr val="bg1"/>
            </a:outerShdw>
          </a:effectLst>
        </p:spPr>
        <p:txBody>
          <a:bodyPr/>
          <a:lstStyle>
            <a:lvl1pPr marL="273050" indent="-273050" algn="l" rtl="0" eaLnBrk="0" fontAlgn="base" hangingPunct="0">
              <a:spcBef>
                <a:spcPts val="600"/>
              </a:spcBef>
              <a:spcAft>
                <a:spcPct val="0"/>
              </a:spcAft>
              <a:buClr>
                <a:schemeClr val="tx2"/>
              </a:buClr>
              <a:buSzPct val="73000"/>
              <a:buFont typeface="Wingdings 2" panose="05020102010507070707" pitchFamily="18" charset="2"/>
              <a:buChar char=""/>
              <a:defRPr sz="2600" kern="1200">
                <a:solidFill>
                  <a:schemeClr val="tx1"/>
                </a:solidFill>
                <a:latin typeface="+mn-lt"/>
                <a:ea typeface="+mn-ea"/>
                <a:cs typeface="+mn-cs"/>
              </a:defRPr>
            </a:lvl1pPr>
            <a:lvl2pPr marL="520700" indent="-228600" algn="l" rtl="0" eaLnBrk="0" fontAlgn="base" hangingPunct="0">
              <a:spcBef>
                <a:spcPts val="500"/>
              </a:spcBef>
              <a:spcAft>
                <a:spcPct val="0"/>
              </a:spcAft>
              <a:buClr>
                <a:srgbClr val="F9B639"/>
              </a:buClr>
              <a:buSzPct val="80000"/>
              <a:buFont typeface="Wingdings 2" panose="05020102010507070707" pitchFamily="18" charset="2"/>
              <a:buChar char=""/>
              <a:defRPr sz="2300" kern="1200">
                <a:solidFill>
                  <a:srgbClr val="6C6C6C"/>
                </a:solidFill>
                <a:latin typeface="+mn-lt"/>
                <a:ea typeface="+mn-ea"/>
                <a:cs typeface="+mn-cs"/>
              </a:defRPr>
            </a:lvl2pPr>
            <a:lvl3pPr marL="758825" indent="-228600" algn="l" rtl="0" eaLnBrk="0" fontAlgn="base" hangingPunct="0">
              <a:spcBef>
                <a:spcPts val="400"/>
              </a:spcBef>
              <a:spcAft>
                <a:spcPct val="0"/>
              </a:spcAft>
              <a:buClr>
                <a:srgbClr val="F9B639"/>
              </a:buClr>
              <a:buSzPct val="60000"/>
              <a:buFont typeface="Wingdings" panose="05000000000000000000" pitchFamily="2" charset="2"/>
              <a:buChar char=""/>
              <a:defRPr sz="2000" kern="1200">
                <a:solidFill>
                  <a:schemeClr val="tx1"/>
                </a:solidFill>
                <a:latin typeface="+mn-lt"/>
                <a:ea typeface="+mn-ea"/>
                <a:cs typeface="+mn-cs"/>
              </a:defRPr>
            </a:lvl3pPr>
            <a:lvl4pPr marL="1004888" indent="-228600" algn="l" rtl="0" eaLnBrk="0" fontAlgn="base" hangingPunct="0">
              <a:spcBef>
                <a:spcPct val="20000"/>
              </a:spcBef>
              <a:spcAft>
                <a:spcPct val="0"/>
              </a:spcAft>
              <a:buClr>
                <a:srgbClr val="F9B639"/>
              </a:buClr>
              <a:buSzPct val="80000"/>
              <a:buFont typeface="Wingdings 2" panose="05020102010507070707" pitchFamily="18" charset="2"/>
              <a:buChar char=""/>
              <a:defRPr sz="2000" kern="1200">
                <a:solidFill>
                  <a:srgbClr val="6C6C6C"/>
                </a:solidFill>
                <a:latin typeface="+mn-lt"/>
                <a:ea typeface="+mn-ea"/>
                <a:cs typeface="+mn-cs"/>
              </a:defRPr>
            </a:lvl4pPr>
            <a:lvl5pPr marL="1279525" indent="-228600" algn="l" rtl="0" eaLnBrk="0" fontAlgn="base" hangingPunct="0">
              <a:spcBef>
                <a:spcPts val="400"/>
              </a:spcBef>
              <a:spcAft>
                <a:spcPct val="0"/>
              </a:spcAft>
              <a:buClr>
                <a:srgbClr val="F9B639"/>
              </a:buClr>
              <a:buSzPct val="70000"/>
              <a:buFont typeface="Wingdings" panose="05000000000000000000" pitchFamily="2" charset="2"/>
              <a:buChar char=""/>
              <a:defRPr sz="20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None/>
              <a:defRPr/>
            </a:pPr>
            <a:r>
              <a:rPr lang="en-US" sz="1400" dirty="0"/>
              <a:t> switch(choice)</a:t>
            </a:r>
          </a:p>
          <a:p>
            <a:pPr marL="0" indent="0">
              <a:buNone/>
              <a:defRPr/>
            </a:pPr>
            <a:r>
              <a:rPr lang="en-US" sz="1400" dirty="0"/>
              <a:t>{ case 1: if(</a:t>
            </a:r>
            <a:r>
              <a:rPr lang="en-US" sz="1400" dirty="0" err="1"/>
              <a:t>IsFull</a:t>
            </a:r>
            <a:r>
              <a:rPr lang="en-US" sz="1400" dirty="0"/>
              <a:t>())</a:t>
            </a:r>
            <a:r>
              <a:rPr lang="en-US" sz="1400" dirty="0" err="1"/>
              <a:t>cout</a:t>
            </a:r>
            <a:r>
              <a:rPr lang="en-US" sz="1400" dirty="0"/>
              <a:t>&lt;&lt; "\n Stack Full/Overflow\n";</a:t>
            </a:r>
          </a:p>
          <a:p>
            <a:pPr marL="0" indent="0">
              <a:buNone/>
              <a:defRPr/>
            </a:pPr>
            <a:r>
              <a:rPr lang="en-US" sz="1400" dirty="0"/>
              <a:t>   else</a:t>
            </a:r>
          </a:p>
          <a:p>
            <a:pPr marL="0" indent="0">
              <a:buNone/>
              <a:defRPr/>
            </a:pPr>
            <a:r>
              <a:rPr lang="en-US" sz="1400" dirty="0"/>
              <a:t>    { </a:t>
            </a:r>
            <a:r>
              <a:rPr lang="en-US" sz="1400" dirty="0" err="1"/>
              <a:t>cout</a:t>
            </a:r>
            <a:r>
              <a:rPr lang="en-US" sz="1400" dirty="0"/>
              <a:t>&lt;&lt; "\n Enter a number: "; </a:t>
            </a:r>
            <a:r>
              <a:rPr lang="en-US" sz="1400" dirty="0" err="1"/>
              <a:t>cin</a:t>
            </a:r>
            <a:r>
              <a:rPr lang="en-US" sz="1400" dirty="0"/>
              <a:t>&gt;&gt;item;</a:t>
            </a:r>
          </a:p>
          <a:p>
            <a:pPr marL="0" indent="0">
              <a:buNone/>
              <a:defRPr/>
            </a:pPr>
            <a:r>
              <a:rPr lang="en-US" sz="1400" dirty="0"/>
              <a:t>     Push(item); }</a:t>
            </a:r>
          </a:p>
          <a:p>
            <a:pPr marL="0" indent="0">
              <a:buNone/>
              <a:defRPr/>
            </a:pPr>
            <a:r>
              <a:rPr lang="en-US" sz="1400" dirty="0"/>
              <a:t>   break;</a:t>
            </a:r>
          </a:p>
          <a:p>
            <a:pPr marL="0" indent="0">
              <a:buNone/>
              <a:defRPr/>
            </a:pPr>
            <a:r>
              <a:rPr lang="en-US" sz="1400" dirty="0"/>
              <a:t>  case 2: if(</a:t>
            </a:r>
            <a:r>
              <a:rPr lang="en-US" sz="1400" dirty="0" err="1"/>
              <a:t>IsEmpty</a:t>
            </a:r>
            <a:r>
              <a:rPr lang="en-US" sz="1400" dirty="0"/>
              <a:t>())</a:t>
            </a:r>
            <a:r>
              <a:rPr lang="en-US" sz="1400" dirty="0" err="1"/>
              <a:t>cout</a:t>
            </a:r>
            <a:r>
              <a:rPr lang="en-US" sz="1400" dirty="0"/>
              <a:t>&lt;&lt; "\n Stack is empty) \n";</a:t>
            </a:r>
          </a:p>
          <a:p>
            <a:pPr marL="0" indent="0">
              <a:buNone/>
              <a:defRPr/>
            </a:pPr>
            <a:r>
              <a:rPr lang="en-US" sz="1400" dirty="0"/>
              <a:t>    else</a:t>
            </a:r>
          </a:p>
          <a:p>
            <a:pPr marL="0" indent="0">
              <a:buNone/>
              <a:defRPr/>
            </a:pPr>
            <a:r>
              <a:rPr lang="en-US" sz="1400" dirty="0"/>
              <a:t> {item=Pop();</a:t>
            </a:r>
          </a:p>
          <a:p>
            <a:pPr marL="0" indent="0">
              <a:buNone/>
              <a:defRPr/>
            </a:pPr>
            <a:r>
              <a:rPr lang="en-US" sz="1400" dirty="0" err="1"/>
              <a:t>cout</a:t>
            </a:r>
            <a:r>
              <a:rPr lang="en-US" sz="1400" dirty="0"/>
              <a:t>&lt;&lt; "\n deleted from Stack = "&lt;&lt;item&lt;&lt;</a:t>
            </a:r>
            <a:r>
              <a:rPr lang="en-US" sz="1400" dirty="0" err="1"/>
              <a:t>endl</a:t>
            </a:r>
            <a:r>
              <a:rPr lang="en-US" sz="1400" dirty="0"/>
              <a:t>;}</a:t>
            </a:r>
          </a:p>
          <a:p>
            <a:pPr marL="0" indent="0">
              <a:buNone/>
              <a:defRPr/>
            </a:pPr>
            <a:r>
              <a:rPr lang="en-US" sz="1400" dirty="0"/>
              <a:t>    break;</a:t>
            </a:r>
          </a:p>
          <a:p>
            <a:pPr marL="0" indent="0">
              <a:buNone/>
              <a:defRPr/>
            </a:pPr>
            <a:r>
              <a:rPr lang="en-US" sz="1400" dirty="0"/>
              <a:t>    case 3: if(</a:t>
            </a:r>
            <a:r>
              <a:rPr lang="en-US" sz="1400" dirty="0" err="1"/>
              <a:t>IsEmpty</a:t>
            </a:r>
            <a:r>
              <a:rPr lang="en-US" sz="1400" dirty="0"/>
              <a:t>())</a:t>
            </a:r>
            <a:r>
              <a:rPr lang="en-US" sz="1400" dirty="0" err="1"/>
              <a:t>cout</a:t>
            </a:r>
            <a:r>
              <a:rPr lang="en-US" sz="1400" dirty="0"/>
              <a:t>&lt;&lt; "\n Stack is empty) \n";</a:t>
            </a:r>
          </a:p>
          <a:p>
            <a:pPr marL="0" indent="0">
              <a:buNone/>
              <a:defRPr/>
            </a:pPr>
            <a:r>
              <a:rPr lang="en-US" sz="1400" dirty="0"/>
              <a:t> else</a:t>
            </a:r>
          </a:p>
          <a:p>
            <a:pPr marL="0" indent="0">
              <a:buNone/>
              <a:defRPr/>
            </a:pPr>
            <a:r>
              <a:rPr lang="en-US" sz="1400" dirty="0"/>
              <a:t>  { </a:t>
            </a:r>
            <a:r>
              <a:rPr lang="en-US" sz="1400" dirty="0" err="1"/>
              <a:t>cout</a:t>
            </a:r>
            <a:r>
              <a:rPr lang="en-US" sz="1400" dirty="0"/>
              <a:t>&lt;&lt; "\n List of Item pushed on Stack:\n";</a:t>
            </a:r>
          </a:p>
          <a:p>
            <a:pPr marL="0" indent="0">
              <a:buNone/>
              <a:defRPr/>
            </a:pPr>
            <a:r>
              <a:rPr lang="en-US" sz="1400" dirty="0"/>
              <a:t>      Traverse();</a:t>
            </a:r>
          </a:p>
          <a:p>
            <a:pPr marL="0" indent="0">
              <a:buNone/>
              <a:defRPr/>
            </a:pPr>
            <a:r>
              <a:rPr lang="en-US" sz="1400" dirty="0"/>
              <a:t>   }</a:t>
            </a:r>
          </a:p>
          <a:p>
            <a:pPr marL="0" indent="0">
              <a:buNone/>
              <a:defRPr/>
            </a:pPr>
            <a:r>
              <a:rPr lang="en-US" sz="1400" dirty="0"/>
              <a:t>    break;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174C276F-3269-1B45-4B89-83415753EF35}"/>
              </a:ext>
            </a:extLst>
          </p:cNvPr>
          <p:cNvSpPr>
            <a:spLocks noGrp="1"/>
          </p:cNvSpPr>
          <p:nvPr>
            <p:ph idx="1"/>
          </p:nvPr>
        </p:nvSpPr>
        <p:spPr>
          <a:xfrm>
            <a:off x="1981200" y="228601"/>
            <a:ext cx="7239000" cy="6227763"/>
          </a:xfrm>
        </p:spPr>
        <p:txBody>
          <a:bodyPr>
            <a:normAutofit fontScale="70000" lnSpcReduction="20000"/>
          </a:bodyPr>
          <a:lstStyle/>
          <a:p>
            <a:pPr marL="0" indent="0">
              <a:buNone/>
            </a:pPr>
            <a:r>
              <a:rPr lang="en-US" altLang="en-US" sz="1400"/>
              <a:t> case 4:  exit(0);</a:t>
            </a:r>
          </a:p>
          <a:p>
            <a:pPr marL="0" indent="0">
              <a:buNone/>
            </a:pPr>
            <a:r>
              <a:rPr lang="en-US" altLang="en-US" sz="1400"/>
              <a:t>  default:</a:t>
            </a:r>
          </a:p>
          <a:p>
            <a:pPr marL="0" indent="0">
              <a:buNone/>
            </a:pPr>
            <a:r>
              <a:rPr lang="en-US" altLang="en-US" sz="1400"/>
              <a:t>cout&lt;&lt; "\n\n\t Invalid Choice: \n";</a:t>
            </a:r>
          </a:p>
          <a:p>
            <a:pPr marL="0" indent="0">
              <a:buNone/>
            </a:pPr>
            <a:r>
              <a:rPr lang="en-US" altLang="en-US" sz="1400"/>
              <a:t> } // end of  switch block</a:t>
            </a:r>
          </a:p>
          <a:p>
            <a:pPr marL="0" indent="0">
              <a:buNone/>
            </a:pPr>
            <a:r>
              <a:rPr lang="en-US" altLang="en-US" sz="1400"/>
              <a:t>      }  // end of while loop</a:t>
            </a:r>
          </a:p>
          <a:p>
            <a:pPr marL="0" indent="0">
              <a:buNone/>
            </a:pPr>
            <a:r>
              <a:rPr lang="en-US" altLang="en-US" sz="1400"/>
              <a:t> }  // end of of main() function</a:t>
            </a:r>
          </a:p>
          <a:p>
            <a:pPr marL="0" indent="0">
              <a:buNone/>
            </a:pPr>
            <a:r>
              <a:rPr lang="en-US" altLang="en-US" sz="1400"/>
              <a:t>void Push(int item)</a:t>
            </a:r>
          </a:p>
          <a:p>
            <a:pPr marL="0" indent="0">
              <a:buNone/>
            </a:pPr>
            <a:r>
              <a:rPr lang="en-US" altLang="en-US" sz="1400"/>
              <a:t>{</a:t>
            </a:r>
          </a:p>
          <a:p>
            <a:pPr marL="0" indent="0">
              <a:buNone/>
            </a:pPr>
            <a:r>
              <a:rPr lang="en-US" altLang="en-US" sz="1400"/>
              <a:t>  Stack[++Top] = item;</a:t>
            </a:r>
          </a:p>
          <a:p>
            <a:pPr marL="0" indent="0">
              <a:buNone/>
            </a:pPr>
            <a:r>
              <a:rPr lang="en-US" altLang="en-US" sz="1400"/>
              <a:t>}</a:t>
            </a:r>
          </a:p>
          <a:p>
            <a:pPr marL="0" indent="0">
              <a:buNone/>
            </a:pPr>
            <a:r>
              <a:rPr lang="en-US" altLang="en-US" sz="1400"/>
              <a:t>int Pop( )</a:t>
            </a:r>
          </a:p>
          <a:p>
            <a:pPr marL="0" indent="0">
              <a:buNone/>
            </a:pPr>
            <a:r>
              <a:rPr lang="en-US" altLang="en-US" sz="1400"/>
              <a:t>{</a:t>
            </a:r>
          </a:p>
          <a:p>
            <a:pPr marL="0" indent="0">
              <a:buNone/>
            </a:pPr>
            <a:r>
              <a:rPr lang="en-US" altLang="en-US" sz="1400"/>
              <a:t>   return Stack[Top--];</a:t>
            </a:r>
          </a:p>
          <a:p>
            <a:pPr marL="0" indent="0">
              <a:buNone/>
            </a:pPr>
            <a:r>
              <a:rPr lang="en-US" altLang="en-US" sz="1400"/>
              <a:t>}</a:t>
            </a:r>
          </a:p>
          <a:p>
            <a:pPr marL="0" indent="0">
              <a:buNone/>
            </a:pPr>
            <a:r>
              <a:rPr lang="en-US" altLang="en-US" sz="1400"/>
              <a:t>bool IsEmpty( )</a:t>
            </a:r>
          </a:p>
          <a:p>
            <a:pPr marL="0" indent="0">
              <a:buNone/>
            </a:pPr>
            <a:r>
              <a:rPr lang="en-US" altLang="en-US" sz="1400"/>
              <a:t>{ if(Top == -1 ) return true else return false; }</a:t>
            </a:r>
          </a:p>
          <a:p>
            <a:pPr marL="0" indent="0">
              <a:buNone/>
            </a:pPr>
            <a:r>
              <a:rPr lang="en-US" altLang="en-US" sz="1400"/>
              <a:t>bool IsFull( )</a:t>
            </a:r>
          </a:p>
          <a:p>
            <a:pPr marL="0" indent="0">
              <a:buNone/>
            </a:pPr>
            <a:r>
              <a:rPr lang="en-US" altLang="en-US" sz="1400"/>
              <a:t>{ if(Top == STACKSIZE-1 ) return true else return false; }</a:t>
            </a:r>
          </a:p>
          <a:p>
            <a:pPr marL="0" indent="0">
              <a:buNone/>
            </a:pPr>
            <a:r>
              <a:rPr lang="en-US" altLang="en-US" sz="1400"/>
              <a:t>void Traverse( )</a:t>
            </a:r>
          </a:p>
          <a:p>
            <a:pPr marL="0" indent="0">
              <a:buNone/>
            </a:pPr>
            <a:r>
              <a:rPr lang="en-US" altLang="en-US" sz="1400"/>
              <a:t> { int TopTemp = Top;</a:t>
            </a:r>
          </a:p>
          <a:p>
            <a:pPr marL="0" indent="0">
              <a:buNone/>
            </a:pPr>
            <a:r>
              <a:rPr lang="en-US" altLang="en-US" sz="1400"/>
              <a:t>    do{ cout&lt;&lt; Stack[TopTemp--]&lt;&lt;endl;} while(TopTemp&gt;= 0);</a:t>
            </a:r>
          </a:p>
          <a:p>
            <a:pPr marL="0" indent="0">
              <a:buNone/>
            </a:pPr>
            <a:r>
              <a:rPr lang="en-US" altLang="en-US" sz="140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D7B5FCDC-A8CC-59EA-1AFB-EDE14748813E}"/>
              </a:ext>
            </a:extLst>
          </p:cNvPr>
          <p:cNvSpPr>
            <a:spLocks noGrp="1" noChangeArrowheads="1"/>
          </p:cNvSpPr>
          <p:nvPr>
            <p:ph type="title"/>
          </p:nvPr>
        </p:nvSpPr>
        <p:spPr>
          <a:xfrm>
            <a:off x="1150775" y="419877"/>
            <a:ext cx="8229600" cy="1143000"/>
          </a:xfrm>
        </p:spPr>
        <p:txBody>
          <a:bodyPr>
            <a:normAutofit/>
          </a:bodyPr>
          <a:lstStyle/>
          <a:p>
            <a:pPr eaLnBrk="1" hangingPunct="1">
              <a:defRPr/>
            </a:pPr>
            <a:r>
              <a:rPr lang="en-US" dirty="0"/>
              <a:t>Stacks algorithms using linked list</a:t>
            </a:r>
          </a:p>
        </p:txBody>
      </p:sp>
      <p:sp>
        <p:nvSpPr>
          <p:cNvPr id="23555" name="Rectangle 3">
            <a:extLst>
              <a:ext uri="{FF2B5EF4-FFF2-40B4-BE49-F238E27FC236}">
                <a16:creationId xmlns:a16="http://schemas.microsoft.com/office/drawing/2014/main" id="{0C5CC75E-DCE9-93C0-DC07-483101B18869}"/>
              </a:ext>
            </a:extLst>
          </p:cNvPr>
          <p:cNvSpPr>
            <a:spLocks noGrp="1" noChangeArrowheads="1"/>
          </p:cNvSpPr>
          <p:nvPr>
            <p:ph idx="1"/>
          </p:nvPr>
        </p:nvSpPr>
        <p:spPr>
          <a:xfrm>
            <a:off x="1278294" y="1959429"/>
            <a:ext cx="8932506" cy="4329404"/>
          </a:xfrm>
        </p:spPr>
        <p:txBody>
          <a:bodyPr>
            <a:normAutofit/>
          </a:bodyPr>
          <a:lstStyle/>
          <a:p>
            <a:pPr algn="just" eaLnBrk="1" hangingPunct="1">
              <a:lnSpc>
                <a:spcPct val="90000"/>
              </a:lnSpc>
              <a:buFont typeface="Wingdings" panose="05000000000000000000" pitchFamily="2" charset="2"/>
              <a:buChar char="§"/>
            </a:pPr>
            <a:r>
              <a:rPr lang="en-US" altLang="en-US" sz="2800" b="1" dirty="0"/>
              <a:t>Insertion</a:t>
            </a:r>
          </a:p>
          <a:p>
            <a:pPr marL="879475" lvl="1" indent="-514350" algn="just">
              <a:buFont typeface="Wingdings" panose="05000000000000000000" pitchFamily="2" charset="2"/>
              <a:buChar char="§"/>
            </a:pPr>
            <a:endParaRPr lang="en-US" altLang="en-US" sz="2400" dirty="0"/>
          </a:p>
          <a:p>
            <a:pPr algn="just" eaLnBrk="1" hangingPunct="1">
              <a:lnSpc>
                <a:spcPct val="90000"/>
              </a:lnSpc>
              <a:buFont typeface="Wingdings" panose="05000000000000000000" pitchFamily="2" charset="2"/>
              <a:buChar char="§"/>
            </a:pPr>
            <a:r>
              <a:rPr lang="en-US" altLang="en-US" sz="2800" b="1" dirty="0"/>
              <a:t>Deletion</a:t>
            </a:r>
          </a:p>
          <a:p>
            <a:pPr marL="879475" lvl="1" indent="-514350" algn="just">
              <a:buNone/>
            </a:pPr>
            <a:endParaRPr lang="en-US" altLang="en-US" dirty="0"/>
          </a:p>
        </p:txBody>
      </p:sp>
    </p:spTree>
    <p:extLst>
      <p:ext uri="{BB962C8B-B14F-4D97-AF65-F5344CB8AC3E}">
        <p14:creationId xmlns:p14="http://schemas.microsoft.com/office/powerpoint/2010/main" val="2927096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7FBED-C0B2-BCFE-9459-4AD22DB0FE7B}"/>
              </a:ext>
            </a:extLst>
          </p:cNvPr>
          <p:cNvSpPr>
            <a:spLocks noGrp="1"/>
          </p:cNvSpPr>
          <p:nvPr>
            <p:ph type="title"/>
          </p:nvPr>
        </p:nvSpPr>
        <p:spPr/>
        <p:txBody>
          <a:bodyPr>
            <a:normAutofit/>
          </a:bodyPr>
          <a:lstStyle/>
          <a:p>
            <a:pPr>
              <a:defRPr/>
            </a:pPr>
            <a:r>
              <a:rPr lang="en-US" dirty="0"/>
              <a:t>Linked List Representation of Stack </a:t>
            </a:r>
          </a:p>
        </p:txBody>
      </p:sp>
      <p:grpSp>
        <p:nvGrpSpPr>
          <p:cNvPr id="29700" name="Group 24">
            <a:extLst>
              <a:ext uri="{FF2B5EF4-FFF2-40B4-BE49-F238E27FC236}">
                <a16:creationId xmlns:a16="http://schemas.microsoft.com/office/drawing/2014/main" id="{657D23E0-E2C8-CED8-7993-E1EC9627943A}"/>
              </a:ext>
            </a:extLst>
          </p:cNvPr>
          <p:cNvGrpSpPr>
            <a:grpSpLocks/>
          </p:cNvGrpSpPr>
          <p:nvPr/>
        </p:nvGrpSpPr>
        <p:grpSpPr bwMode="auto">
          <a:xfrm>
            <a:off x="1752600" y="2590801"/>
            <a:ext cx="7848600" cy="1298575"/>
            <a:chOff x="228600" y="2590800"/>
            <a:chExt cx="7848600" cy="1298575"/>
          </a:xfrm>
        </p:grpSpPr>
        <p:grpSp>
          <p:nvGrpSpPr>
            <p:cNvPr id="29705" name="Group 6">
              <a:extLst>
                <a:ext uri="{FF2B5EF4-FFF2-40B4-BE49-F238E27FC236}">
                  <a16:creationId xmlns:a16="http://schemas.microsoft.com/office/drawing/2014/main" id="{2EB7CD96-CC8F-4840-339F-8A7D65F4F0B2}"/>
                </a:ext>
              </a:extLst>
            </p:cNvPr>
            <p:cNvGrpSpPr>
              <a:grpSpLocks/>
            </p:cNvGrpSpPr>
            <p:nvPr/>
          </p:nvGrpSpPr>
          <p:grpSpPr bwMode="auto">
            <a:xfrm>
              <a:off x="1524000" y="3276600"/>
              <a:ext cx="1600200" cy="612775"/>
              <a:chOff x="2667000" y="3124200"/>
              <a:chExt cx="765175" cy="384175"/>
            </a:xfrm>
          </p:grpSpPr>
          <p:sp>
            <p:nvSpPr>
              <p:cNvPr id="29717" name="Rectangle 17">
                <a:extLst>
                  <a:ext uri="{FF2B5EF4-FFF2-40B4-BE49-F238E27FC236}">
                    <a16:creationId xmlns:a16="http://schemas.microsoft.com/office/drawing/2014/main" id="{7D6F02AA-AC13-1C4B-B36A-15120268D68A}"/>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29718" name="Rectangle 18">
                <a:extLst>
                  <a:ext uri="{FF2B5EF4-FFF2-40B4-BE49-F238E27FC236}">
                    <a16:creationId xmlns:a16="http://schemas.microsoft.com/office/drawing/2014/main" id="{05874C3F-0143-78FF-5F97-335F280A7418}"/>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CC</a:t>
                </a:r>
              </a:p>
            </p:txBody>
          </p:sp>
        </p:grpSp>
        <p:sp>
          <p:nvSpPr>
            <p:cNvPr id="29706" name="Rectangle 18">
              <a:extLst>
                <a:ext uri="{FF2B5EF4-FFF2-40B4-BE49-F238E27FC236}">
                  <a16:creationId xmlns:a16="http://schemas.microsoft.com/office/drawing/2014/main" id="{A00C218E-FCA6-606A-4C1D-3D88EDBC6AC5}"/>
                </a:ext>
              </a:extLst>
            </p:cNvPr>
            <p:cNvSpPr>
              <a:spLocks noChangeArrowheads="1"/>
            </p:cNvSpPr>
            <p:nvPr/>
          </p:nvSpPr>
          <p:spPr bwMode="auto">
            <a:xfrm>
              <a:off x="762000" y="3505200"/>
              <a:ext cx="152400" cy="381000"/>
            </a:xfrm>
            <a:prstGeom prst="rect">
              <a:avLst/>
            </a:prstGeom>
            <a:solidFill>
              <a:srgbClr val="00B050"/>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grpSp>
          <p:nvGrpSpPr>
            <p:cNvPr id="29707" name="Group 18">
              <a:extLst>
                <a:ext uri="{FF2B5EF4-FFF2-40B4-BE49-F238E27FC236}">
                  <a16:creationId xmlns:a16="http://schemas.microsoft.com/office/drawing/2014/main" id="{C2BE042D-E343-9B01-EECF-6A23C4FA53F6}"/>
                </a:ext>
              </a:extLst>
            </p:cNvPr>
            <p:cNvGrpSpPr>
              <a:grpSpLocks/>
            </p:cNvGrpSpPr>
            <p:nvPr/>
          </p:nvGrpSpPr>
          <p:grpSpPr bwMode="auto">
            <a:xfrm>
              <a:off x="6705600" y="3276600"/>
              <a:ext cx="1371600" cy="612775"/>
              <a:chOff x="2667000" y="3124200"/>
              <a:chExt cx="765175" cy="384175"/>
            </a:xfrm>
          </p:grpSpPr>
          <p:sp>
            <p:nvSpPr>
              <p:cNvPr id="29715" name="Rectangle 17">
                <a:extLst>
                  <a:ext uri="{FF2B5EF4-FFF2-40B4-BE49-F238E27FC236}">
                    <a16:creationId xmlns:a16="http://schemas.microsoft.com/office/drawing/2014/main" id="{B588D1FD-6A70-E745-89C8-D2017016E321}"/>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X</a:t>
                </a:r>
              </a:p>
            </p:txBody>
          </p:sp>
          <p:sp>
            <p:nvSpPr>
              <p:cNvPr id="29716" name="Rectangle 18">
                <a:extLst>
                  <a:ext uri="{FF2B5EF4-FFF2-40B4-BE49-F238E27FC236}">
                    <a16:creationId xmlns:a16="http://schemas.microsoft.com/office/drawing/2014/main" id="{F2C0061E-313E-AA76-DBFF-5E1FFE34E87F}"/>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AA</a:t>
                </a:r>
              </a:p>
            </p:txBody>
          </p:sp>
        </p:grpSp>
        <p:grpSp>
          <p:nvGrpSpPr>
            <p:cNvPr id="29708" name="Group 21">
              <a:extLst>
                <a:ext uri="{FF2B5EF4-FFF2-40B4-BE49-F238E27FC236}">
                  <a16:creationId xmlns:a16="http://schemas.microsoft.com/office/drawing/2014/main" id="{EAFF7B6F-06D3-5FF3-CDD5-9D56839B3238}"/>
                </a:ext>
              </a:extLst>
            </p:cNvPr>
            <p:cNvGrpSpPr>
              <a:grpSpLocks/>
            </p:cNvGrpSpPr>
            <p:nvPr/>
          </p:nvGrpSpPr>
          <p:grpSpPr bwMode="auto">
            <a:xfrm>
              <a:off x="4114800" y="3276600"/>
              <a:ext cx="1447800" cy="612775"/>
              <a:chOff x="2667000" y="3124200"/>
              <a:chExt cx="765175" cy="384175"/>
            </a:xfrm>
          </p:grpSpPr>
          <p:sp>
            <p:nvSpPr>
              <p:cNvPr id="29713" name="Rectangle 17">
                <a:extLst>
                  <a:ext uri="{FF2B5EF4-FFF2-40B4-BE49-F238E27FC236}">
                    <a16:creationId xmlns:a16="http://schemas.microsoft.com/office/drawing/2014/main" id="{5087DA65-E638-D082-2143-04FBEC816F97}"/>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29714" name="Rectangle 18">
                <a:extLst>
                  <a:ext uri="{FF2B5EF4-FFF2-40B4-BE49-F238E27FC236}">
                    <a16:creationId xmlns:a16="http://schemas.microsoft.com/office/drawing/2014/main" id="{9AAE50BF-BFCE-F59C-E420-4FE3CCEDCFA9}"/>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BB</a:t>
                </a:r>
              </a:p>
            </p:txBody>
          </p:sp>
        </p:grpSp>
        <p:sp>
          <p:nvSpPr>
            <p:cNvPr id="29709" name="Line 25">
              <a:extLst>
                <a:ext uri="{FF2B5EF4-FFF2-40B4-BE49-F238E27FC236}">
                  <a16:creationId xmlns:a16="http://schemas.microsoft.com/office/drawing/2014/main" id="{3E116911-1966-DD36-D6E5-C4B0648AB4D8}"/>
                </a:ext>
              </a:extLst>
            </p:cNvPr>
            <p:cNvSpPr>
              <a:spLocks noChangeShapeType="1"/>
            </p:cNvSpPr>
            <p:nvPr/>
          </p:nvSpPr>
          <p:spPr bwMode="auto">
            <a:xfrm rot="240000" flipV="1">
              <a:off x="838959" y="3681464"/>
              <a:ext cx="685800" cy="45719"/>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10" name="Line 25">
              <a:extLst>
                <a:ext uri="{FF2B5EF4-FFF2-40B4-BE49-F238E27FC236}">
                  <a16:creationId xmlns:a16="http://schemas.microsoft.com/office/drawing/2014/main" id="{8713CE4C-D963-9ABD-3950-C6289C767855}"/>
                </a:ext>
              </a:extLst>
            </p:cNvPr>
            <p:cNvSpPr>
              <a:spLocks noChangeShapeType="1"/>
            </p:cNvSpPr>
            <p:nvPr/>
          </p:nvSpPr>
          <p:spPr bwMode="auto">
            <a:xfrm rot="240000" flipV="1">
              <a:off x="2819207" y="3550385"/>
              <a:ext cx="1297095" cy="45719"/>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11" name="Line 25">
              <a:extLst>
                <a:ext uri="{FF2B5EF4-FFF2-40B4-BE49-F238E27FC236}">
                  <a16:creationId xmlns:a16="http://schemas.microsoft.com/office/drawing/2014/main" id="{77CDCF3B-62C4-B700-9B86-31A5944A0E9B}"/>
                </a:ext>
              </a:extLst>
            </p:cNvPr>
            <p:cNvSpPr>
              <a:spLocks noChangeShapeType="1"/>
            </p:cNvSpPr>
            <p:nvPr/>
          </p:nvSpPr>
          <p:spPr bwMode="auto">
            <a:xfrm rot="240000" flipV="1">
              <a:off x="5336662" y="3476556"/>
              <a:ext cx="1367795" cy="124076"/>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12" name="TextBox 43">
              <a:extLst>
                <a:ext uri="{FF2B5EF4-FFF2-40B4-BE49-F238E27FC236}">
                  <a16:creationId xmlns:a16="http://schemas.microsoft.com/office/drawing/2014/main" id="{C41AA6A8-AA70-6E75-7F28-3DB0EC047105}"/>
                </a:ext>
              </a:extLst>
            </p:cNvPr>
            <p:cNvSpPr txBox="1">
              <a:spLocks noChangeArrowheads="1"/>
            </p:cNvSpPr>
            <p:nvPr/>
          </p:nvSpPr>
          <p:spPr bwMode="auto">
            <a:xfrm>
              <a:off x="228600" y="2590800"/>
              <a:ext cx="1219200" cy="584775"/>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TOP </a:t>
              </a:r>
            </a:p>
          </p:txBody>
        </p:sp>
      </p:grpSp>
      <p:sp>
        <p:nvSpPr>
          <p:cNvPr id="29701" name="TextBox 44">
            <a:extLst>
              <a:ext uri="{FF2B5EF4-FFF2-40B4-BE49-F238E27FC236}">
                <a16:creationId xmlns:a16="http://schemas.microsoft.com/office/drawing/2014/main" id="{A3154CB1-6382-5B6E-6E6A-0733E6198714}"/>
              </a:ext>
            </a:extLst>
          </p:cNvPr>
          <p:cNvSpPr txBox="1">
            <a:spLocks noChangeArrowheads="1"/>
          </p:cNvSpPr>
          <p:nvPr/>
        </p:nvSpPr>
        <p:spPr bwMode="auto">
          <a:xfrm>
            <a:off x="2209800" y="4114801"/>
            <a:ext cx="3505200" cy="646113"/>
          </a:xfrm>
          <a:prstGeom prst="rect">
            <a:avLst/>
          </a:prstGeom>
          <a:solidFill>
            <a:schemeClr val="bg1"/>
          </a:solidFill>
          <a:ln w="12700">
            <a:solidFill>
              <a:schemeClr val="tx1"/>
            </a:solidFill>
            <a:miter lim="800000"/>
            <a:headEnd/>
            <a:tailEnd/>
          </a:ln>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600"/>
              <a:t>Top Of Stack </a:t>
            </a:r>
          </a:p>
        </p:txBody>
      </p:sp>
      <p:sp>
        <p:nvSpPr>
          <p:cNvPr id="29702" name="Slide Number Placeholder 33">
            <a:extLst>
              <a:ext uri="{FF2B5EF4-FFF2-40B4-BE49-F238E27FC236}">
                <a16:creationId xmlns:a16="http://schemas.microsoft.com/office/drawing/2014/main" id="{554A3E2D-BB06-F039-F5F3-1A40D0C3C92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0C96807-BC27-4F09-880F-C2E2668B8DA9}" type="slidenum">
              <a:rPr lang="en-US" altLang="en-US" sz="1000">
                <a:solidFill>
                  <a:schemeClr val="tx2"/>
                </a:solidFill>
                <a:latin typeface="Trebuchet MS" panose="020B0603020202020204" pitchFamily="34" charset="0"/>
              </a:rPr>
              <a:pPr>
                <a:spcBef>
                  <a:spcPct val="0"/>
                </a:spcBef>
                <a:buClrTx/>
                <a:buSzTx/>
                <a:buFontTx/>
                <a:buNone/>
              </a:pPr>
              <a:t>23</a:t>
            </a:fld>
            <a:endParaRPr lang="en-US" altLang="en-US" sz="1000">
              <a:solidFill>
                <a:schemeClr val="tx2"/>
              </a:solidFill>
              <a:latin typeface="Trebuchet MS" panose="020B0603020202020204" pitchFamily="34" charset="0"/>
            </a:endParaRPr>
          </a:p>
        </p:txBody>
      </p:sp>
      <p:sp>
        <p:nvSpPr>
          <p:cNvPr id="29703" name="TextBox 34">
            <a:extLst>
              <a:ext uri="{FF2B5EF4-FFF2-40B4-BE49-F238E27FC236}">
                <a16:creationId xmlns:a16="http://schemas.microsoft.com/office/drawing/2014/main" id="{2DCF840F-8B87-BCC2-161B-EEDC1237A673}"/>
              </a:ext>
            </a:extLst>
          </p:cNvPr>
          <p:cNvSpPr txBox="1">
            <a:spLocks noChangeArrowheads="1"/>
          </p:cNvSpPr>
          <p:nvPr/>
        </p:nvSpPr>
        <p:spPr bwMode="auto">
          <a:xfrm>
            <a:off x="7162800" y="4038601"/>
            <a:ext cx="3886200" cy="646113"/>
          </a:xfrm>
          <a:prstGeom prst="rect">
            <a:avLst/>
          </a:prstGeom>
          <a:solidFill>
            <a:schemeClr val="bg1"/>
          </a:solidFill>
          <a:ln w="12700">
            <a:solidFill>
              <a:schemeClr val="tx1"/>
            </a:solidFill>
            <a:miter lim="800000"/>
            <a:headEnd/>
            <a:tailEnd/>
          </a:ln>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600"/>
              <a:t>Bottom Of Stack </a:t>
            </a:r>
          </a:p>
        </p:txBody>
      </p:sp>
      <p:sp>
        <p:nvSpPr>
          <p:cNvPr id="29704" name="TextBox 21">
            <a:extLst>
              <a:ext uri="{FF2B5EF4-FFF2-40B4-BE49-F238E27FC236}">
                <a16:creationId xmlns:a16="http://schemas.microsoft.com/office/drawing/2014/main" id="{F03BC170-F14A-5D8A-D94C-2ECEA17D68F7}"/>
              </a:ext>
            </a:extLst>
          </p:cNvPr>
          <p:cNvSpPr txBox="1">
            <a:spLocks noChangeArrowheads="1"/>
          </p:cNvSpPr>
          <p:nvPr/>
        </p:nvSpPr>
        <p:spPr bwMode="auto">
          <a:xfrm>
            <a:off x="3048000" y="2590800"/>
            <a:ext cx="1219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Head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15E2D-99E1-6099-7A79-E45044E22DD7}"/>
              </a:ext>
            </a:extLst>
          </p:cNvPr>
          <p:cNvSpPr>
            <a:spLocks noGrp="1"/>
          </p:cNvSpPr>
          <p:nvPr>
            <p:ph type="title"/>
          </p:nvPr>
        </p:nvSpPr>
        <p:spPr/>
        <p:txBody>
          <a:bodyPr/>
          <a:lstStyle/>
          <a:p>
            <a:pPr>
              <a:defRPr/>
            </a:pPr>
            <a:r>
              <a:rPr lang="en-US" dirty="0"/>
              <a:t>PUSH Operation </a:t>
            </a:r>
          </a:p>
        </p:txBody>
      </p:sp>
      <p:sp>
        <p:nvSpPr>
          <p:cNvPr id="30723" name="Content Placeholder 2">
            <a:extLst>
              <a:ext uri="{FF2B5EF4-FFF2-40B4-BE49-F238E27FC236}">
                <a16:creationId xmlns:a16="http://schemas.microsoft.com/office/drawing/2014/main" id="{72884161-22A6-4E7D-112E-26701CC1A55F}"/>
              </a:ext>
            </a:extLst>
          </p:cNvPr>
          <p:cNvSpPr>
            <a:spLocks noGrp="1"/>
          </p:cNvSpPr>
          <p:nvPr>
            <p:ph idx="1"/>
          </p:nvPr>
        </p:nvSpPr>
        <p:spPr/>
        <p:txBody>
          <a:bodyPr>
            <a:normAutofit/>
          </a:bodyPr>
          <a:lstStyle/>
          <a:p>
            <a:r>
              <a:rPr lang="en-US" altLang="en-US" sz="2800" dirty="0"/>
              <a:t>Push operation into the stack is accomplished by inserting a node into the front of the list [</a:t>
            </a:r>
            <a:r>
              <a:rPr lang="en-US" altLang="en-US" sz="2800" b="1" dirty="0">
                <a:solidFill>
                  <a:srgbClr val="FF0000"/>
                </a:solidFill>
              </a:rPr>
              <a:t>Insert it as the first node in the list</a:t>
            </a:r>
            <a:r>
              <a:rPr lang="en-US" altLang="en-US" sz="2800" dirty="0"/>
              <a:t>] </a:t>
            </a:r>
          </a:p>
        </p:txBody>
      </p:sp>
      <p:sp>
        <p:nvSpPr>
          <p:cNvPr id="30724" name="Slide Number Placeholder 3">
            <a:extLst>
              <a:ext uri="{FF2B5EF4-FFF2-40B4-BE49-F238E27FC236}">
                <a16:creationId xmlns:a16="http://schemas.microsoft.com/office/drawing/2014/main" id="{AD0222C7-80BA-AB49-47F4-7F8AE251396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BB048D66-BAAD-45D6-9B70-7F7342B84608}" type="slidenum">
              <a:rPr lang="en-US" altLang="en-US" sz="1000">
                <a:solidFill>
                  <a:schemeClr val="tx2"/>
                </a:solidFill>
                <a:latin typeface="Trebuchet MS" panose="020B0603020202020204" pitchFamily="34" charset="0"/>
              </a:rPr>
              <a:pPr>
                <a:spcBef>
                  <a:spcPct val="0"/>
                </a:spcBef>
                <a:buClrTx/>
                <a:buSzTx/>
                <a:buFontTx/>
                <a:buNone/>
              </a:pPr>
              <a:t>24</a:t>
            </a:fld>
            <a:endParaRPr lang="en-US" altLang="en-US" sz="1000">
              <a:solidFill>
                <a:schemeClr val="tx2"/>
              </a:solidFill>
              <a:latin typeface="Trebuchet MS" panose="020B0603020202020204" pitchFamily="34" charset="0"/>
            </a:endParaRPr>
          </a:p>
        </p:txBody>
      </p:sp>
      <p:grpSp>
        <p:nvGrpSpPr>
          <p:cNvPr id="30725" name="Group 4">
            <a:extLst>
              <a:ext uri="{FF2B5EF4-FFF2-40B4-BE49-F238E27FC236}">
                <a16:creationId xmlns:a16="http://schemas.microsoft.com/office/drawing/2014/main" id="{8AE730C6-BE2D-E8BC-EC7B-6E40BB2D11F1}"/>
              </a:ext>
            </a:extLst>
          </p:cNvPr>
          <p:cNvGrpSpPr>
            <a:grpSpLocks/>
          </p:cNvGrpSpPr>
          <p:nvPr/>
        </p:nvGrpSpPr>
        <p:grpSpPr bwMode="auto">
          <a:xfrm>
            <a:off x="1981200" y="4038601"/>
            <a:ext cx="7848600" cy="1298575"/>
            <a:chOff x="228600" y="2590800"/>
            <a:chExt cx="7848600" cy="1298575"/>
          </a:xfrm>
        </p:grpSpPr>
        <p:grpSp>
          <p:nvGrpSpPr>
            <p:cNvPr id="30730" name="Group 6">
              <a:extLst>
                <a:ext uri="{FF2B5EF4-FFF2-40B4-BE49-F238E27FC236}">
                  <a16:creationId xmlns:a16="http://schemas.microsoft.com/office/drawing/2014/main" id="{44C935C7-1E97-92D9-DD6B-0EAC81C783A1}"/>
                </a:ext>
              </a:extLst>
            </p:cNvPr>
            <p:cNvGrpSpPr>
              <a:grpSpLocks/>
            </p:cNvGrpSpPr>
            <p:nvPr/>
          </p:nvGrpSpPr>
          <p:grpSpPr bwMode="auto">
            <a:xfrm>
              <a:off x="1524000" y="3276600"/>
              <a:ext cx="1600200" cy="612775"/>
              <a:chOff x="2667000" y="3124200"/>
              <a:chExt cx="765175" cy="384175"/>
            </a:xfrm>
          </p:grpSpPr>
          <p:sp>
            <p:nvSpPr>
              <p:cNvPr id="30742" name="Rectangle 17">
                <a:extLst>
                  <a:ext uri="{FF2B5EF4-FFF2-40B4-BE49-F238E27FC236}">
                    <a16:creationId xmlns:a16="http://schemas.microsoft.com/office/drawing/2014/main" id="{7B44B52C-ED0E-C130-25A9-7963F3B6E780}"/>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0743" name="Rectangle 18">
                <a:extLst>
                  <a:ext uri="{FF2B5EF4-FFF2-40B4-BE49-F238E27FC236}">
                    <a16:creationId xmlns:a16="http://schemas.microsoft.com/office/drawing/2014/main" id="{66B1F5F4-BA88-F44B-71D4-84EAA721BAB1}"/>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CC</a:t>
                </a:r>
              </a:p>
            </p:txBody>
          </p:sp>
        </p:grpSp>
        <p:sp>
          <p:nvSpPr>
            <p:cNvPr id="30731" name="Rectangle 18">
              <a:extLst>
                <a:ext uri="{FF2B5EF4-FFF2-40B4-BE49-F238E27FC236}">
                  <a16:creationId xmlns:a16="http://schemas.microsoft.com/office/drawing/2014/main" id="{10272DF2-8FA5-1207-7359-2996568DE8C5}"/>
                </a:ext>
              </a:extLst>
            </p:cNvPr>
            <p:cNvSpPr>
              <a:spLocks noChangeArrowheads="1"/>
            </p:cNvSpPr>
            <p:nvPr/>
          </p:nvSpPr>
          <p:spPr bwMode="auto">
            <a:xfrm>
              <a:off x="762000" y="3505200"/>
              <a:ext cx="152400" cy="381000"/>
            </a:xfrm>
            <a:prstGeom prst="rect">
              <a:avLst/>
            </a:prstGeom>
            <a:solidFill>
              <a:srgbClr val="00B050"/>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grpSp>
          <p:nvGrpSpPr>
            <p:cNvPr id="30732" name="Group 18">
              <a:extLst>
                <a:ext uri="{FF2B5EF4-FFF2-40B4-BE49-F238E27FC236}">
                  <a16:creationId xmlns:a16="http://schemas.microsoft.com/office/drawing/2014/main" id="{461D4756-A5C1-24C3-BD0A-397C9C1CAE52}"/>
                </a:ext>
              </a:extLst>
            </p:cNvPr>
            <p:cNvGrpSpPr>
              <a:grpSpLocks/>
            </p:cNvGrpSpPr>
            <p:nvPr/>
          </p:nvGrpSpPr>
          <p:grpSpPr bwMode="auto">
            <a:xfrm>
              <a:off x="6705603" y="3276600"/>
              <a:ext cx="1371601" cy="612775"/>
              <a:chOff x="2667000" y="3124200"/>
              <a:chExt cx="765175" cy="384175"/>
            </a:xfrm>
          </p:grpSpPr>
          <p:sp>
            <p:nvSpPr>
              <p:cNvPr id="30740" name="Rectangle 17">
                <a:extLst>
                  <a:ext uri="{FF2B5EF4-FFF2-40B4-BE49-F238E27FC236}">
                    <a16:creationId xmlns:a16="http://schemas.microsoft.com/office/drawing/2014/main" id="{961A9C58-6B7E-1C08-052C-2C0CF6809DC0}"/>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X</a:t>
                </a:r>
              </a:p>
            </p:txBody>
          </p:sp>
          <p:sp>
            <p:nvSpPr>
              <p:cNvPr id="30741" name="Rectangle 18">
                <a:extLst>
                  <a:ext uri="{FF2B5EF4-FFF2-40B4-BE49-F238E27FC236}">
                    <a16:creationId xmlns:a16="http://schemas.microsoft.com/office/drawing/2014/main" id="{86523DFD-5A84-8759-A539-429DDF7D337E}"/>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AA</a:t>
                </a:r>
              </a:p>
            </p:txBody>
          </p:sp>
        </p:grpSp>
        <p:grpSp>
          <p:nvGrpSpPr>
            <p:cNvPr id="30733" name="Group 21">
              <a:extLst>
                <a:ext uri="{FF2B5EF4-FFF2-40B4-BE49-F238E27FC236}">
                  <a16:creationId xmlns:a16="http://schemas.microsoft.com/office/drawing/2014/main" id="{015D1069-C2D0-0DF6-6144-5AD7DE68588E}"/>
                </a:ext>
              </a:extLst>
            </p:cNvPr>
            <p:cNvGrpSpPr>
              <a:grpSpLocks/>
            </p:cNvGrpSpPr>
            <p:nvPr/>
          </p:nvGrpSpPr>
          <p:grpSpPr bwMode="auto">
            <a:xfrm>
              <a:off x="4114803" y="3276600"/>
              <a:ext cx="1447801" cy="612775"/>
              <a:chOff x="2667000" y="3124200"/>
              <a:chExt cx="765175" cy="384175"/>
            </a:xfrm>
          </p:grpSpPr>
          <p:sp>
            <p:nvSpPr>
              <p:cNvPr id="30738" name="Rectangle 17">
                <a:extLst>
                  <a:ext uri="{FF2B5EF4-FFF2-40B4-BE49-F238E27FC236}">
                    <a16:creationId xmlns:a16="http://schemas.microsoft.com/office/drawing/2014/main" id="{66566328-3523-0DA7-9F35-909C3AC96C09}"/>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0739" name="Rectangle 18">
                <a:extLst>
                  <a:ext uri="{FF2B5EF4-FFF2-40B4-BE49-F238E27FC236}">
                    <a16:creationId xmlns:a16="http://schemas.microsoft.com/office/drawing/2014/main" id="{BD901FEB-EB0E-6ECF-41F3-5FD791AB4129}"/>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BB</a:t>
                </a:r>
              </a:p>
            </p:txBody>
          </p:sp>
        </p:grpSp>
        <p:sp>
          <p:nvSpPr>
            <p:cNvPr id="30734" name="Line 25">
              <a:extLst>
                <a:ext uri="{FF2B5EF4-FFF2-40B4-BE49-F238E27FC236}">
                  <a16:creationId xmlns:a16="http://schemas.microsoft.com/office/drawing/2014/main" id="{30D91B7E-CCA7-A614-BEAE-0B6A82C4AFF3}"/>
                </a:ext>
              </a:extLst>
            </p:cNvPr>
            <p:cNvSpPr>
              <a:spLocks noChangeShapeType="1"/>
            </p:cNvSpPr>
            <p:nvPr/>
          </p:nvSpPr>
          <p:spPr bwMode="auto">
            <a:xfrm rot="240000" flipV="1">
              <a:off x="838959" y="3681464"/>
              <a:ext cx="685800" cy="45719"/>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35" name="Line 25">
              <a:extLst>
                <a:ext uri="{FF2B5EF4-FFF2-40B4-BE49-F238E27FC236}">
                  <a16:creationId xmlns:a16="http://schemas.microsoft.com/office/drawing/2014/main" id="{E5C41035-437F-265D-1D91-5D27D793D892}"/>
                </a:ext>
              </a:extLst>
            </p:cNvPr>
            <p:cNvSpPr>
              <a:spLocks noChangeShapeType="1"/>
            </p:cNvSpPr>
            <p:nvPr/>
          </p:nvSpPr>
          <p:spPr bwMode="auto">
            <a:xfrm rot="240000" flipV="1">
              <a:off x="2819207" y="3550385"/>
              <a:ext cx="1297095" cy="45719"/>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36" name="Line 25">
              <a:extLst>
                <a:ext uri="{FF2B5EF4-FFF2-40B4-BE49-F238E27FC236}">
                  <a16:creationId xmlns:a16="http://schemas.microsoft.com/office/drawing/2014/main" id="{F8970460-A18C-5B39-33BA-888879044B4E}"/>
                </a:ext>
              </a:extLst>
            </p:cNvPr>
            <p:cNvSpPr>
              <a:spLocks noChangeShapeType="1"/>
            </p:cNvSpPr>
            <p:nvPr/>
          </p:nvSpPr>
          <p:spPr bwMode="auto">
            <a:xfrm rot="240000" flipV="1">
              <a:off x="5336662" y="3476556"/>
              <a:ext cx="1367795" cy="124076"/>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37" name="TextBox 12">
              <a:extLst>
                <a:ext uri="{FF2B5EF4-FFF2-40B4-BE49-F238E27FC236}">
                  <a16:creationId xmlns:a16="http://schemas.microsoft.com/office/drawing/2014/main" id="{2E382CA6-3558-6B71-2429-5B743AB3417E}"/>
                </a:ext>
              </a:extLst>
            </p:cNvPr>
            <p:cNvSpPr txBox="1">
              <a:spLocks noChangeArrowheads="1"/>
            </p:cNvSpPr>
            <p:nvPr/>
          </p:nvSpPr>
          <p:spPr bwMode="auto">
            <a:xfrm>
              <a:off x="228600" y="2590800"/>
              <a:ext cx="1219200" cy="584775"/>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TOP </a:t>
              </a:r>
            </a:p>
          </p:txBody>
        </p:sp>
      </p:grpSp>
      <p:grpSp>
        <p:nvGrpSpPr>
          <p:cNvPr id="20" name="Group 6">
            <a:extLst>
              <a:ext uri="{FF2B5EF4-FFF2-40B4-BE49-F238E27FC236}">
                <a16:creationId xmlns:a16="http://schemas.microsoft.com/office/drawing/2014/main" id="{483DBBA8-6901-3635-EDC6-BE62BBF007BA}"/>
              </a:ext>
            </a:extLst>
          </p:cNvPr>
          <p:cNvGrpSpPr>
            <a:grpSpLocks/>
          </p:cNvGrpSpPr>
          <p:nvPr/>
        </p:nvGrpSpPr>
        <p:grpSpPr bwMode="auto">
          <a:xfrm>
            <a:off x="6934200" y="5791200"/>
            <a:ext cx="1905000" cy="609600"/>
            <a:chOff x="2667000" y="3124200"/>
            <a:chExt cx="765175" cy="384175"/>
          </a:xfrm>
        </p:grpSpPr>
        <p:sp>
          <p:nvSpPr>
            <p:cNvPr id="30728" name="Rectangle 17">
              <a:extLst>
                <a:ext uri="{FF2B5EF4-FFF2-40B4-BE49-F238E27FC236}">
                  <a16:creationId xmlns:a16="http://schemas.microsoft.com/office/drawing/2014/main" id="{D624087B-E98E-EA2D-0E05-A2104A7C3A5E}"/>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0729" name="Rectangle 18">
              <a:extLst>
                <a:ext uri="{FF2B5EF4-FFF2-40B4-BE49-F238E27FC236}">
                  <a16:creationId xmlns:a16="http://schemas.microsoft.com/office/drawing/2014/main" id="{83F362CF-0050-2C1A-B1B7-081D49A19D9C}"/>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DD</a:t>
              </a:r>
            </a:p>
          </p:txBody>
        </p:sp>
      </p:grpSp>
      <p:sp>
        <p:nvSpPr>
          <p:cNvPr id="23" name="TextBox 22">
            <a:extLst>
              <a:ext uri="{FF2B5EF4-FFF2-40B4-BE49-F238E27FC236}">
                <a16:creationId xmlns:a16="http://schemas.microsoft.com/office/drawing/2014/main" id="{0B350E7A-A999-EA7F-CE13-DFBB5BCCCB87}"/>
              </a:ext>
            </a:extLst>
          </p:cNvPr>
          <p:cNvSpPr txBox="1">
            <a:spLocks noChangeArrowheads="1"/>
          </p:cNvSpPr>
          <p:nvPr/>
        </p:nvSpPr>
        <p:spPr bwMode="auto">
          <a:xfrm>
            <a:off x="1828800" y="5791200"/>
            <a:ext cx="4800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PUSH DD into STACK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checkerboard(across)">
                                      <p:cBhvr>
                                        <p:cTn id="7" dur="500"/>
                                        <p:tgtEl>
                                          <p:spTgt spid="23"/>
                                        </p:tgtEl>
                                      </p:cBhvr>
                                    </p:animEffect>
                                  </p:childTnLst>
                                </p:cTn>
                              </p:par>
                              <p:par>
                                <p:cTn id="8" presetID="5" presetClass="entr" presetSubtype="1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checkerboard(across)">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46F5B-2A3D-88F6-C2AC-7E3FD24C87B8}"/>
              </a:ext>
            </a:extLst>
          </p:cNvPr>
          <p:cNvSpPr>
            <a:spLocks noGrp="1"/>
          </p:cNvSpPr>
          <p:nvPr>
            <p:ph type="title"/>
          </p:nvPr>
        </p:nvSpPr>
        <p:spPr/>
        <p:txBody>
          <a:bodyPr/>
          <a:lstStyle/>
          <a:p>
            <a:pPr>
              <a:defRPr/>
            </a:pPr>
            <a:r>
              <a:rPr lang="en-US" dirty="0"/>
              <a:t>PUSH Operation </a:t>
            </a:r>
          </a:p>
        </p:txBody>
      </p:sp>
      <p:sp>
        <p:nvSpPr>
          <p:cNvPr id="31747" name="Slide Number Placeholder 3">
            <a:extLst>
              <a:ext uri="{FF2B5EF4-FFF2-40B4-BE49-F238E27FC236}">
                <a16:creationId xmlns:a16="http://schemas.microsoft.com/office/drawing/2014/main" id="{A8BAF18C-94BC-E4EC-2E2C-1B82CB4BD9C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C53FA8C6-A8D6-4FEA-929E-A74CFC198DFC}" type="slidenum">
              <a:rPr lang="en-US" altLang="en-US" sz="1000">
                <a:solidFill>
                  <a:schemeClr val="tx2"/>
                </a:solidFill>
                <a:latin typeface="Trebuchet MS" panose="020B0603020202020204" pitchFamily="34" charset="0"/>
              </a:rPr>
              <a:pPr>
                <a:spcBef>
                  <a:spcPct val="0"/>
                </a:spcBef>
                <a:buClrTx/>
                <a:buSzTx/>
                <a:buFontTx/>
                <a:buNone/>
              </a:pPr>
              <a:t>25</a:t>
            </a:fld>
            <a:endParaRPr lang="en-US" altLang="en-US" sz="1000">
              <a:solidFill>
                <a:schemeClr val="tx2"/>
              </a:solidFill>
              <a:latin typeface="Trebuchet MS" panose="020B0603020202020204" pitchFamily="34" charset="0"/>
            </a:endParaRPr>
          </a:p>
        </p:txBody>
      </p:sp>
      <p:grpSp>
        <p:nvGrpSpPr>
          <p:cNvPr id="31748" name="Group 4">
            <a:extLst>
              <a:ext uri="{FF2B5EF4-FFF2-40B4-BE49-F238E27FC236}">
                <a16:creationId xmlns:a16="http://schemas.microsoft.com/office/drawing/2014/main" id="{07C53CA3-2306-47B5-340C-D82446779AAF}"/>
              </a:ext>
            </a:extLst>
          </p:cNvPr>
          <p:cNvGrpSpPr>
            <a:grpSpLocks/>
          </p:cNvGrpSpPr>
          <p:nvPr/>
        </p:nvGrpSpPr>
        <p:grpSpPr bwMode="auto">
          <a:xfrm>
            <a:off x="1981200" y="2590801"/>
            <a:ext cx="7848600" cy="1298575"/>
            <a:chOff x="228600" y="2590800"/>
            <a:chExt cx="7848604" cy="1298575"/>
          </a:xfrm>
        </p:grpSpPr>
        <p:grpSp>
          <p:nvGrpSpPr>
            <p:cNvPr id="31770" name="Group 6">
              <a:extLst>
                <a:ext uri="{FF2B5EF4-FFF2-40B4-BE49-F238E27FC236}">
                  <a16:creationId xmlns:a16="http://schemas.microsoft.com/office/drawing/2014/main" id="{DBBDCFE7-58C5-33E3-98FD-FC8901A6C4D0}"/>
                </a:ext>
              </a:extLst>
            </p:cNvPr>
            <p:cNvGrpSpPr>
              <a:grpSpLocks/>
            </p:cNvGrpSpPr>
            <p:nvPr/>
          </p:nvGrpSpPr>
          <p:grpSpPr bwMode="auto">
            <a:xfrm>
              <a:off x="1524000" y="3276600"/>
              <a:ext cx="1600200" cy="612775"/>
              <a:chOff x="2667000" y="3124200"/>
              <a:chExt cx="765175" cy="384175"/>
            </a:xfrm>
          </p:grpSpPr>
          <p:sp>
            <p:nvSpPr>
              <p:cNvPr id="31782" name="Rectangle 17">
                <a:extLst>
                  <a:ext uri="{FF2B5EF4-FFF2-40B4-BE49-F238E27FC236}">
                    <a16:creationId xmlns:a16="http://schemas.microsoft.com/office/drawing/2014/main" id="{DA0D674E-1835-907E-D102-DF271190073F}"/>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1783" name="Rectangle 18">
                <a:extLst>
                  <a:ext uri="{FF2B5EF4-FFF2-40B4-BE49-F238E27FC236}">
                    <a16:creationId xmlns:a16="http://schemas.microsoft.com/office/drawing/2014/main" id="{3B6A41A4-BCBE-71E2-2FD0-364FEB163BE9}"/>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CC</a:t>
                </a:r>
              </a:p>
            </p:txBody>
          </p:sp>
        </p:grpSp>
        <p:sp>
          <p:nvSpPr>
            <p:cNvPr id="31771" name="Rectangle 18">
              <a:extLst>
                <a:ext uri="{FF2B5EF4-FFF2-40B4-BE49-F238E27FC236}">
                  <a16:creationId xmlns:a16="http://schemas.microsoft.com/office/drawing/2014/main" id="{568E8E39-46CD-5890-1C3D-03718F27B671}"/>
                </a:ext>
              </a:extLst>
            </p:cNvPr>
            <p:cNvSpPr>
              <a:spLocks noChangeArrowheads="1"/>
            </p:cNvSpPr>
            <p:nvPr/>
          </p:nvSpPr>
          <p:spPr bwMode="auto">
            <a:xfrm>
              <a:off x="762000" y="3505200"/>
              <a:ext cx="152400" cy="381000"/>
            </a:xfrm>
            <a:prstGeom prst="rect">
              <a:avLst/>
            </a:prstGeom>
            <a:solidFill>
              <a:srgbClr val="00B050"/>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grpSp>
          <p:nvGrpSpPr>
            <p:cNvPr id="31772" name="Group 18">
              <a:extLst>
                <a:ext uri="{FF2B5EF4-FFF2-40B4-BE49-F238E27FC236}">
                  <a16:creationId xmlns:a16="http://schemas.microsoft.com/office/drawing/2014/main" id="{9ED04BEF-BE7D-3196-23EC-C2C461140A8E}"/>
                </a:ext>
              </a:extLst>
            </p:cNvPr>
            <p:cNvGrpSpPr>
              <a:grpSpLocks/>
            </p:cNvGrpSpPr>
            <p:nvPr/>
          </p:nvGrpSpPr>
          <p:grpSpPr bwMode="auto">
            <a:xfrm>
              <a:off x="6705603" y="3276600"/>
              <a:ext cx="1371601" cy="612775"/>
              <a:chOff x="2667000" y="3124200"/>
              <a:chExt cx="765175" cy="384175"/>
            </a:xfrm>
          </p:grpSpPr>
          <p:sp>
            <p:nvSpPr>
              <p:cNvPr id="31780" name="Rectangle 17">
                <a:extLst>
                  <a:ext uri="{FF2B5EF4-FFF2-40B4-BE49-F238E27FC236}">
                    <a16:creationId xmlns:a16="http://schemas.microsoft.com/office/drawing/2014/main" id="{E7232064-44F9-0C87-F4DA-47FE265CE9F2}"/>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X</a:t>
                </a:r>
              </a:p>
            </p:txBody>
          </p:sp>
          <p:sp>
            <p:nvSpPr>
              <p:cNvPr id="31781" name="Rectangle 18">
                <a:extLst>
                  <a:ext uri="{FF2B5EF4-FFF2-40B4-BE49-F238E27FC236}">
                    <a16:creationId xmlns:a16="http://schemas.microsoft.com/office/drawing/2014/main" id="{8D2A7655-9C14-AA00-7F33-5A37A1A2D89B}"/>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AA</a:t>
                </a:r>
              </a:p>
            </p:txBody>
          </p:sp>
        </p:grpSp>
        <p:grpSp>
          <p:nvGrpSpPr>
            <p:cNvPr id="31773" name="Group 21">
              <a:extLst>
                <a:ext uri="{FF2B5EF4-FFF2-40B4-BE49-F238E27FC236}">
                  <a16:creationId xmlns:a16="http://schemas.microsoft.com/office/drawing/2014/main" id="{EEBD3E85-91F1-E50D-0AC8-700E0F8F5758}"/>
                </a:ext>
              </a:extLst>
            </p:cNvPr>
            <p:cNvGrpSpPr>
              <a:grpSpLocks/>
            </p:cNvGrpSpPr>
            <p:nvPr/>
          </p:nvGrpSpPr>
          <p:grpSpPr bwMode="auto">
            <a:xfrm>
              <a:off x="4114803" y="3276600"/>
              <a:ext cx="1447801" cy="612775"/>
              <a:chOff x="2667000" y="3124200"/>
              <a:chExt cx="765175" cy="384175"/>
            </a:xfrm>
          </p:grpSpPr>
          <p:sp>
            <p:nvSpPr>
              <p:cNvPr id="31778" name="Rectangle 17">
                <a:extLst>
                  <a:ext uri="{FF2B5EF4-FFF2-40B4-BE49-F238E27FC236}">
                    <a16:creationId xmlns:a16="http://schemas.microsoft.com/office/drawing/2014/main" id="{6D9D529E-82CE-398B-B8E7-0FAC9109D491}"/>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1779" name="Rectangle 18">
                <a:extLst>
                  <a:ext uri="{FF2B5EF4-FFF2-40B4-BE49-F238E27FC236}">
                    <a16:creationId xmlns:a16="http://schemas.microsoft.com/office/drawing/2014/main" id="{B2E3473D-9C5F-8DAF-546C-2D40A8CF0EAF}"/>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BB</a:t>
                </a:r>
              </a:p>
            </p:txBody>
          </p:sp>
        </p:grpSp>
        <p:sp>
          <p:nvSpPr>
            <p:cNvPr id="31774" name="Line 25">
              <a:extLst>
                <a:ext uri="{FF2B5EF4-FFF2-40B4-BE49-F238E27FC236}">
                  <a16:creationId xmlns:a16="http://schemas.microsoft.com/office/drawing/2014/main" id="{19FAE4D3-CB0D-0EF5-0DA3-9D2339770143}"/>
                </a:ext>
              </a:extLst>
            </p:cNvPr>
            <p:cNvSpPr>
              <a:spLocks noChangeShapeType="1"/>
            </p:cNvSpPr>
            <p:nvPr/>
          </p:nvSpPr>
          <p:spPr bwMode="auto">
            <a:xfrm rot="240000" flipV="1">
              <a:off x="838959" y="3681464"/>
              <a:ext cx="685800" cy="45719"/>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75" name="Line 25">
              <a:extLst>
                <a:ext uri="{FF2B5EF4-FFF2-40B4-BE49-F238E27FC236}">
                  <a16:creationId xmlns:a16="http://schemas.microsoft.com/office/drawing/2014/main" id="{1A9EE08C-52A1-A88A-78FE-47E43E4C4AEA}"/>
                </a:ext>
              </a:extLst>
            </p:cNvPr>
            <p:cNvSpPr>
              <a:spLocks noChangeShapeType="1"/>
            </p:cNvSpPr>
            <p:nvPr/>
          </p:nvSpPr>
          <p:spPr bwMode="auto">
            <a:xfrm rot="240000" flipV="1">
              <a:off x="2836656" y="3587565"/>
              <a:ext cx="1276596" cy="88913"/>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76" name="Line 25">
              <a:extLst>
                <a:ext uri="{FF2B5EF4-FFF2-40B4-BE49-F238E27FC236}">
                  <a16:creationId xmlns:a16="http://schemas.microsoft.com/office/drawing/2014/main" id="{D7395CF6-5EE1-938B-58EA-F52C99B2F2DF}"/>
                </a:ext>
              </a:extLst>
            </p:cNvPr>
            <p:cNvSpPr>
              <a:spLocks noChangeShapeType="1"/>
            </p:cNvSpPr>
            <p:nvPr/>
          </p:nvSpPr>
          <p:spPr bwMode="auto">
            <a:xfrm rot="240000" flipV="1">
              <a:off x="5335671" y="3590514"/>
              <a:ext cx="1368262" cy="95679"/>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77" name="TextBox 12">
              <a:extLst>
                <a:ext uri="{FF2B5EF4-FFF2-40B4-BE49-F238E27FC236}">
                  <a16:creationId xmlns:a16="http://schemas.microsoft.com/office/drawing/2014/main" id="{16620B4A-45F6-6556-2310-BC10EC73EE15}"/>
                </a:ext>
              </a:extLst>
            </p:cNvPr>
            <p:cNvSpPr txBox="1">
              <a:spLocks noChangeArrowheads="1"/>
            </p:cNvSpPr>
            <p:nvPr/>
          </p:nvSpPr>
          <p:spPr bwMode="auto">
            <a:xfrm>
              <a:off x="228600" y="2590800"/>
              <a:ext cx="1219200" cy="584775"/>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TOP </a:t>
              </a:r>
            </a:p>
          </p:txBody>
        </p:sp>
      </p:grpSp>
      <p:grpSp>
        <p:nvGrpSpPr>
          <p:cNvPr id="45" name="Group 44">
            <a:extLst>
              <a:ext uri="{FF2B5EF4-FFF2-40B4-BE49-F238E27FC236}">
                <a16:creationId xmlns:a16="http://schemas.microsoft.com/office/drawing/2014/main" id="{D9C1C5E9-0F9B-AF60-DBEF-2F1D09D7E819}"/>
              </a:ext>
            </a:extLst>
          </p:cNvPr>
          <p:cNvGrpSpPr>
            <a:grpSpLocks/>
          </p:cNvGrpSpPr>
          <p:nvPr/>
        </p:nvGrpSpPr>
        <p:grpSpPr bwMode="auto">
          <a:xfrm>
            <a:off x="1524000" y="4648201"/>
            <a:ext cx="8458200" cy="1298575"/>
            <a:chOff x="0" y="4648200"/>
            <a:chExt cx="8458204" cy="1298575"/>
          </a:xfrm>
        </p:grpSpPr>
        <p:grpSp>
          <p:nvGrpSpPr>
            <p:cNvPr id="31752" name="Group 6">
              <a:extLst>
                <a:ext uri="{FF2B5EF4-FFF2-40B4-BE49-F238E27FC236}">
                  <a16:creationId xmlns:a16="http://schemas.microsoft.com/office/drawing/2014/main" id="{1B80B19D-7161-655A-FD62-14B2D58663EE}"/>
                </a:ext>
              </a:extLst>
            </p:cNvPr>
            <p:cNvGrpSpPr>
              <a:grpSpLocks/>
            </p:cNvGrpSpPr>
            <p:nvPr/>
          </p:nvGrpSpPr>
          <p:grpSpPr bwMode="auto">
            <a:xfrm>
              <a:off x="3276600" y="5257800"/>
              <a:ext cx="1447800" cy="612775"/>
              <a:chOff x="2667000" y="3124200"/>
              <a:chExt cx="765175" cy="384175"/>
            </a:xfrm>
          </p:grpSpPr>
          <p:sp>
            <p:nvSpPr>
              <p:cNvPr id="31768" name="Rectangle 36">
                <a:extLst>
                  <a:ext uri="{FF2B5EF4-FFF2-40B4-BE49-F238E27FC236}">
                    <a16:creationId xmlns:a16="http://schemas.microsoft.com/office/drawing/2014/main" id="{5FB5113C-B8C6-4F1C-99DC-8AB601926A29}"/>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1769" name="Rectangle 37">
                <a:extLst>
                  <a:ext uri="{FF2B5EF4-FFF2-40B4-BE49-F238E27FC236}">
                    <a16:creationId xmlns:a16="http://schemas.microsoft.com/office/drawing/2014/main" id="{CC96D8CB-FD19-ED00-A9B7-AF7882320971}"/>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CC</a:t>
                </a:r>
              </a:p>
            </p:txBody>
          </p:sp>
        </p:grpSp>
        <p:sp>
          <p:nvSpPr>
            <p:cNvPr id="31753" name="Rectangle 18">
              <a:extLst>
                <a:ext uri="{FF2B5EF4-FFF2-40B4-BE49-F238E27FC236}">
                  <a16:creationId xmlns:a16="http://schemas.microsoft.com/office/drawing/2014/main" id="{5C56775C-AF44-E91F-C208-42D80F408099}"/>
                </a:ext>
              </a:extLst>
            </p:cNvPr>
            <p:cNvSpPr>
              <a:spLocks noChangeArrowheads="1"/>
            </p:cNvSpPr>
            <p:nvPr/>
          </p:nvSpPr>
          <p:spPr bwMode="auto">
            <a:xfrm>
              <a:off x="609600" y="5410200"/>
              <a:ext cx="152400" cy="381000"/>
            </a:xfrm>
            <a:prstGeom prst="rect">
              <a:avLst/>
            </a:prstGeom>
            <a:solidFill>
              <a:srgbClr val="00B050"/>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grpSp>
          <p:nvGrpSpPr>
            <p:cNvPr id="31754" name="Group 18">
              <a:extLst>
                <a:ext uri="{FF2B5EF4-FFF2-40B4-BE49-F238E27FC236}">
                  <a16:creationId xmlns:a16="http://schemas.microsoft.com/office/drawing/2014/main" id="{14FBC6DF-BFB7-6868-9E61-07F9E7F8116C}"/>
                </a:ext>
              </a:extLst>
            </p:cNvPr>
            <p:cNvGrpSpPr>
              <a:grpSpLocks/>
            </p:cNvGrpSpPr>
            <p:nvPr/>
          </p:nvGrpSpPr>
          <p:grpSpPr bwMode="auto">
            <a:xfrm>
              <a:off x="7239000" y="5181601"/>
              <a:ext cx="1219204" cy="609600"/>
              <a:chOff x="2667000" y="3124200"/>
              <a:chExt cx="765175" cy="384175"/>
            </a:xfrm>
          </p:grpSpPr>
          <p:sp>
            <p:nvSpPr>
              <p:cNvPr id="31766" name="Rectangle 17">
                <a:extLst>
                  <a:ext uri="{FF2B5EF4-FFF2-40B4-BE49-F238E27FC236}">
                    <a16:creationId xmlns:a16="http://schemas.microsoft.com/office/drawing/2014/main" id="{DCA3B3E9-989C-D671-FFFC-61DF70C48765}"/>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X</a:t>
                </a:r>
              </a:p>
            </p:txBody>
          </p:sp>
          <p:sp>
            <p:nvSpPr>
              <p:cNvPr id="31767" name="Rectangle 18">
                <a:extLst>
                  <a:ext uri="{FF2B5EF4-FFF2-40B4-BE49-F238E27FC236}">
                    <a16:creationId xmlns:a16="http://schemas.microsoft.com/office/drawing/2014/main" id="{53D689FA-3031-D1F7-B4CC-775B07103312}"/>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2800"/>
                  <a:t>AA</a:t>
                </a:r>
              </a:p>
            </p:txBody>
          </p:sp>
        </p:grpSp>
        <p:grpSp>
          <p:nvGrpSpPr>
            <p:cNvPr id="31755" name="Group 21">
              <a:extLst>
                <a:ext uri="{FF2B5EF4-FFF2-40B4-BE49-F238E27FC236}">
                  <a16:creationId xmlns:a16="http://schemas.microsoft.com/office/drawing/2014/main" id="{97997513-304C-F3AD-E294-ED0641D7C5ED}"/>
                </a:ext>
              </a:extLst>
            </p:cNvPr>
            <p:cNvGrpSpPr>
              <a:grpSpLocks/>
            </p:cNvGrpSpPr>
            <p:nvPr/>
          </p:nvGrpSpPr>
          <p:grpSpPr bwMode="auto">
            <a:xfrm>
              <a:off x="5257800" y="5181600"/>
              <a:ext cx="1447801" cy="612775"/>
              <a:chOff x="2667000" y="3124200"/>
              <a:chExt cx="765175" cy="384175"/>
            </a:xfrm>
          </p:grpSpPr>
          <p:sp>
            <p:nvSpPr>
              <p:cNvPr id="31764" name="Rectangle 17">
                <a:extLst>
                  <a:ext uri="{FF2B5EF4-FFF2-40B4-BE49-F238E27FC236}">
                    <a16:creationId xmlns:a16="http://schemas.microsoft.com/office/drawing/2014/main" id="{B44F53AC-15E5-C39A-9B18-3A17E7D26D9B}"/>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1765" name="Rectangle 18">
                <a:extLst>
                  <a:ext uri="{FF2B5EF4-FFF2-40B4-BE49-F238E27FC236}">
                    <a16:creationId xmlns:a16="http://schemas.microsoft.com/office/drawing/2014/main" id="{7144EA41-724A-08C3-1F68-D58AA2423F93}"/>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BB</a:t>
                </a:r>
              </a:p>
            </p:txBody>
          </p:sp>
        </p:grpSp>
        <p:sp>
          <p:nvSpPr>
            <p:cNvPr id="31756" name="Line 25">
              <a:extLst>
                <a:ext uri="{FF2B5EF4-FFF2-40B4-BE49-F238E27FC236}">
                  <a16:creationId xmlns:a16="http://schemas.microsoft.com/office/drawing/2014/main" id="{DB1FF531-4EB8-17F4-D0DB-87537FA055DB}"/>
                </a:ext>
              </a:extLst>
            </p:cNvPr>
            <p:cNvSpPr>
              <a:spLocks noChangeShapeType="1"/>
            </p:cNvSpPr>
            <p:nvPr/>
          </p:nvSpPr>
          <p:spPr bwMode="auto">
            <a:xfrm rot="240000" flipV="1">
              <a:off x="686559" y="5586463"/>
              <a:ext cx="685800" cy="45719"/>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7" name="Line 25">
              <a:extLst>
                <a:ext uri="{FF2B5EF4-FFF2-40B4-BE49-F238E27FC236}">
                  <a16:creationId xmlns:a16="http://schemas.microsoft.com/office/drawing/2014/main" id="{486D2DB4-6AD7-2ADF-BA97-32442486F057}"/>
                </a:ext>
              </a:extLst>
            </p:cNvPr>
            <p:cNvSpPr>
              <a:spLocks noChangeShapeType="1"/>
            </p:cNvSpPr>
            <p:nvPr/>
          </p:nvSpPr>
          <p:spPr bwMode="auto">
            <a:xfrm rot="240000" flipV="1">
              <a:off x="4344507" y="5523499"/>
              <a:ext cx="906180" cy="63366"/>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8" name="Line 25">
              <a:extLst>
                <a:ext uri="{FF2B5EF4-FFF2-40B4-BE49-F238E27FC236}">
                  <a16:creationId xmlns:a16="http://schemas.microsoft.com/office/drawing/2014/main" id="{8BE4D795-5179-02B7-1D24-EB328BCFC743}"/>
                </a:ext>
              </a:extLst>
            </p:cNvPr>
            <p:cNvSpPr>
              <a:spLocks noChangeShapeType="1"/>
            </p:cNvSpPr>
            <p:nvPr/>
          </p:nvSpPr>
          <p:spPr bwMode="auto">
            <a:xfrm rot="240000" flipV="1">
              <a:off x="6253029" y="5528465"/>
              <a:ext cx="986038" cy="76036"/>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9" name="TextBox 31">
              <a:extLst>
                <a:ext uri="{FF2B5EF4-FFF2-40B4-BE49-F238E27FC236}">
                  <a16:creationId xmlns:a16="http://schemas.microsoft.com/office/drawing/2014/main" id="{AF8098F5-FD7B-A0B9-B358-6482BE25F09E}"/>
                </a:ext>
              </a:extLst>
            </p:cNvPr>
            <p:cNvSpPr txBox="1">
              <a:spLocks noChangeArrowheads="1"/>
            </p:cNvSpPr>
            <p:nvPr/>
          </p:nvSpPr>
          <p:spPr bwMode="auto">
            <a:xfrm>
              <a:off x="0" y="4648200"/>
              <a:ext cx="1219200" cy="584775"/>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TOP </a:t>
              </a:r>
            </a:p>
          </p:txBody>
        </p:sp>
        <p:grpSp>
          <p:nvGrpSpPr>
            <p:cNvPr id="31760" name="Group 21">
              <a:extLst>
                <a:ext uri="{FF2B5EF4-FFF2-40B4-BE49-F238E27FC236}">
                  <a16:creationId xmlns:a16="http://schemas.microsoft.com/office/drawing/2014/main" id="{A741B706-ECFF-A33E-7F3E-85ABC5DDFBD5}"/>
                </a:ext>
              </a:extLst>
            </p:cNvPr>
            <p:cNvGrpSpPr>
              <a:grpSpLocks/>
            </p:cNvGrpSpPr>
            <p:nvPr/>
          </p:nvGrpSpPr>
          <p:grpSpPr bwMode="auto">
            <a:xfrm>
              <a:off x="1371601" y="5334000"/>
              <a:ext cx="1295400" cy="612775"/>
              <a:chOff x="2667000" y="3124200"/>
              <a:chExt cx="765175" cy="384175"/>
            </a:xfrm>
          </p:grpSpPr>
          <p:sp>
            <p:nvSpPr>
              <p:cNvPr id="31762" name="Rectangle 17">
                <a:extLst>
                  <a:ext uri="{FF2B5EF4-FFF2-40B4-BE49-F238E27FC236}">
                    <a16:creationId xmlns:a16="http://schemas.microsoft.com/office/drawing/2014/main" id="{FA734CD8-BFA0-F722-ECF2-3F0AA0D07D87}"/>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1763" name="Rectangle 18">
                <a:extLst>
                  <a:ext uri="{FF2B5EF4-FFF2-40B4-BE49-F238E27FC236}">
                    <a16:creationId xmlns:a16="http://schemas.microsoft.com/office/drawing/2014/main" id="{2710F2F4-2683-1B1E-B5FE-EAA241CCA465}"/>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DD</a:t>
                </a:r>
              </a:p>
            </p:txBody>
          </p:sp>
        </p:grpSp>
        <p:sp>
          <p:nvSpPr>
            <p:cNvPr id="31761" name="Line 25">
              <a:extLst>
                <a:ext uri="{FF2B5EF4-FFF2-40B4-BE49-F238E27FC236}">
                  <a16:creationId xmlns:a16="http://schemas.microsoft.com/office/drawing/2014/main" id="{E15D576E-FB46-EA27-F51C-B429606893BD}"/>
                </a:ext>
              </a:extLst>
            </p:cNvPr>
            <p:cNvSpPr>
              <a:spLocks noChangeShapeType="1"/>
            </p:cNvSpPr>
            <p:nvPr/>
          </p:nvSpPr>
          <p:spPr bwMode="auto">
            <a:xfrm rot="240000" flipV="1">
              <a:off x="2591559" y="5510264"/>
              <a:ext cx="685800" cy="45719"/>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31750" name="TextBox 42">
            <a:extLst>
              <a:ext uri="{FF2B5EF4-FFF2-40B4-BE49-F238E27FC236}">
                <a16:creationId xmlns:a16="http://schemas.microsoft.com/office/drawing/2014/main" id="{8C209841-8186-24A1-A871-3F7A8F204315}"/>
              </a:ext>
            </a:extLst>
          </p:cNvPr>
          <p:cNvSpPr txBox="1">
            <a:spLocks noChangeArrowheads="1"/>
          </p:cNvSpPr>
          <p:nvPr/>
        </p:nvSpPr>
        <p:spPr bwMode="auto">
          <a:xfrm>
            <a:off x="2971800" y="1676400"/>
            <a:ext cx="6553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STACK before PUSH Operation </a:t>
            </a:r>
          </a:p>
        </p:txBody>
      </p:sp>
      <p:sp>
        <p:nvSpPr>
          <p:cNvPr id="44" name="TextBox 43">
            <a:extLst>
              <a:ext uri="{FF2B5EF4-FFF2-40B4-BE49-F238E27FC236}">
                <a16:creationId xmlns:a16="http://schemas.microsoft.com/office/drawing/2014/main" id="{17A2DDC4-B8B6-61B4-BE73-85D1D809FC15}"/>
              </a:ext>
            </a:extLst>
          </p:cNvPr>
          <p:cNvSpPr txBox="1">
            <a:spLocks noChangeArrowheads="1"/>
          </p:cNvSpPr>
          <p:nvPr/>
        </p:nvSpPr>
        <p:spPr bwMode="auto">
          <a:xfrm>
            <a:off x="2971800" y="4191000"/>
            <a:ext cx="6553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STACK After  PUSH Operation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checkerboard(across)">
                                      <p:cBhvr>
                                        <p:cTn id="7" dur="500"/>
                                        <p:tgtEl>
                                          <p:spTgt spid="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checkerboard(across)">
                                      <p:cBhvr>
                                        <p:cTn id="1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C1A70-0354-F29D-2405-F3790C9BA13B}"/>
              </a:ext>
            </a:extLst>
          </p:cNvPr>
          <p:cNvSpPr>
            <a:spLocks noGrp="1"/>
          </p:cNvSpPr>
          <p:nvPr>
            <p:ph type="title"/>
          </p:nvPr>
        </p:nvSpPr>
        <p:spPr>
          <a:xfrm>
            <a:off x="1337388" y="759828"/>
            <a:ext cx="8229600" cy="792162"/>
          </a:xfrm>
        </p:spPr>
        <p:txBody>
          <a:bodyPr/>
          <a:lstStyle/>
          <a:p>
            <a:pPr>
              <a:defRPr/>
            </a:pPr>
            <a:r>
              <a:rPr lang="en-US" dirty="0"/>
              <a:t>PUSH Operation using linked list </a:t>
            </a:r>
          </a:p>
        </p:txBody>
      </p:sp>
      <p:sp>
        <p:nvSpPr>
          <p:cNvPr id="33795" name="Content Placeholder 2">
            <a:extLst>
              <a:ext uri="{FF2B5EF4-FFF2-40B4-BE49-F238E27FC236}">
                <a16:creationId xmlns:a16="http://schemas.microsoft.com/office/drawing/2014/main" id="{64424B09-3C3E-0D40-3AB4-E18553458979}"/>
              </a:ext>
            </a:extLst>
          </p:cNvPr>
          <p:cNvSpPr>
            <a:spLocks noGrp="1"/>
          </p:cNvSpPr>
          <p:nvPr>
            <p:ph idx="1"/>
          </p:nvPr>
        </p:nvSpPr>
        <p:spPr>
          <a:xfrm>
            <a:off x="1449354" y="1894114"/>
            <a:ext cx="9588759" cy="4204058"/>
          </a:xfrm>
        </p:spPr>
        <p:txBody>
          <a:bodyPr/>
          <a:lstStyle/>
          <a:p>
            <a:pPr>
              <a:buFont typeface="Wingdings 2" panose="05020102010507070707" pitchFamily="18" charset="2"/>
              <a:buNone/>
            </a:pPr>
            <a:endParaRPr lang="en-US" altLang="en-US" dirty="0"/>
          </a:p>
          <a:p>
            <a:pPr marL="879475" lvl="1" indent="-514350" algn="just">
              <a:buNone/>
            </a:pPr>
            <a:r>
              <a:rPr lang="en-US" altLang="en-US" sz="2400" dirty="0"/>
              <a:t>struct node *</a:t>
            </a:r>
            <a:r>
              <a:rPr lang="en-US" altLang="en-US" sz="2400" dirty="0" err="1"/>
              <a:t>newnode</a:t>
            </a:r>
            <a:r>
              <a:rPr lang="en-US" altLang="en-US" sz="2400" dirty="0"/>
              <a:t>;</a:t>
            </a:r>
          </a:p>
          <a:p>
            <a:pPr marL="879475" lvl="1" indent="-514350" algn="just">
              <a:buNone/>
            </a:pPr>
            <a:r>
              <a:rPr lang="en-US" altLang="en-US" sz="2400" dirty="0" err="1"/>
              <a:t>newnode</a:t>
            </a:r>
            <a:r>
              <a:rPr lang="en-US" altLang="en-US" sz="2400" dirty="0"/>
              <a:t>=(struct node*)malloc(</a:t>
            </a:r>
            <a:r>
              <a:rPr lang="en-US" altLang="en-US" sz="2400" dirty="0" err="1"/>
              <a:t>sizeof</a:t>
            </a:r>
            <a:r>
              <a:rPr lang="en-US" altLang="en-US" sz="2400" dirty="0"/>
              <a:t>(struct node));</a:t>
            </a:r>
          </a:p>
          <a:p>
            <a:pPr marL="879475" lvl="1" indent="-514350" algn="just">
              <a:buNone/>
            </a:pPr>
            <a:r>
              <a:rPr lang="en-US" altLang="en-US" sz="2400" dirty="0" err="1"/>
              <a:t>newnode</a:t>
            </a:r>
            <a:r>
              <a:rPr lang="en-US" altLang="en-US" sz="2400" dirty="0"/>
              <a:t> -&gt;data=item;    </a:t>
            </a:r>
            <a:r>
              <a:rPr lang="en-US" altLang="en-US" sz="2400" dirty="0">
                <a:solidFill>
                  <a:srgbClr val="00B050"/>
                </a:solidFill>
              </a:rPr>
              <a:t>//any type of data such as number or name</a:t>
            </a:r>
          </a:p>
          <a:p>
            <a:pPr marL="879475" lvl="1" indent="-514350" algn="just">
              <a:buNone/>
            </a:pPr>
            <a:r>
              <a:rPr lang="en-US" altLang="en-US" sz="2400" dirty="0" err="1"/>
              <a:t>newnode</a:t>
            </a:r>
            <a:r>
              <a:rPr lang="en-US" altLang="en-US" sz="2400" dirty="0"/>
              <a:t> -&gt;link=top;   </a:t>
            </a:r>
          </a:p>
          <a:p>
            <a:pPr marL="879475" lvl="1" indent="-514350" algn="just">
              <a:buNone/>
            </a:pPr>
            <a:r>
              <a:rPr lang="en-US" altLang="en-US" sz="2400" dirty="0"/>
              <a:t>top=</a:t>
            </a:r>
            <a:r>
              <a:rPr lang="en-US" altLang="en-US" sz="2400" dirty="0" err="1"/>
              <a:t>newnode</a:t>
            </a:r>
            <a:r>
              <a:rPr lang="en-US" altLang="en-US" sz="2400" dirty="0"/>
              <a:t>;</a:t>
            </a:r>
          </a:p>
          <a:p>
            <a:endParaRPr lang="en-US" altLang="en-US" dirty="0"/>
          </a:p>
        </p:txBody>
      </p:sp>
      <p:sp>
        <p:nvSpPr>
          <p:cNvPr id="33796" name="Slide Number Placeholder 3">
            <a:extLst>
              <a:ext uri="{FF2B5EF4-FFF2-40B4-BE49-F238E27FC236}">
                <a16:creationId xmlns:a16="http://schemas.microsoft.com/office/drawing/2014/main" id="{086DC84C-A80D-5386-5CB5-E0EFCD71C56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7A25ED8F-FF36-40E7-B7F1-223449A17AC8}" type="slidenum">
              <a:rPr lang="en-US" altLang="en-US" sz="1000">
                <a:solidFill>
                  <a:schemeClr val="tx2"/>
                </a:solidFill>
                <a:latin typeface="Trebuchet MS" panose="020B0603020202020204" pitchFamily="34" charset="0"/>
              </a:rPr>
              <a:pPr>
                <a:spcBef>
                  <a:spcPct val="0"/>
                </a:spcBef>
                <a:buClrTx/>
                <a:buSzTx/>
                <a:buFontTx/>
                <a:buNone/>
              </a:pPr>
              <a:t>26</a:t>
            </a:fld>
            <a:endParaRPr lang="en-US" altLang="en-US" sz="1000">
              <a:solidFill>
                <a:schemeClr val="tx2"/>
              </a:solidFill>
              <a:latin typeface="Trebuchet MS" panose="020B0603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EF4F9-0C14-50E0-2414-138D12C0F580}"/>
              </a:ext>
            </a:extLst>
          </p:cNvPr>
          <p:cNvSpPr>
            <a:spLocks noGrp="1"/>
          </p:cNvSpPr>
          <p:nvPr>
            <p:ph type="title"/>
          </p:nvPr>
        </p:nvSpPr>
        <p:spPr>
          <a:xfrm>
            <a:off x="1082351" y="731836"/>
            <a:ext cx="8229600" cy="868362"/>
          </a:xfrm>
        </p:spPr>
        <p:txBody>
          <a:bodyPr/>
          <a:lstStyle/>
          <a:p>
            <a:pPr>
              <a:defRPr/>
            </a:pPr>
            <a:r>
              <a:rPr lang="en-US" dirty="0"/>
              <a:t>POP Operation </a:t>
            </a:r>
          </a:p>
        </p:txBody>
      </p:sp>
      <p:sp>
        <p:nvSpPr>
          <p:cNvPr id="34819" name="Content Placeholder 2">
            <a:extLst>
              <a:ext uri="{FF2B5EF4-FFF2-40B4-BE49-F238E27FC236}">
                <a16:creationId xmlns:a16="http://schemas.microsoft.com/office/drawing/2014/main" id="{EC0576E3-F5C5-666F-67CB-CBE1B46F7E8D}"/>
              </a:ext>
            </a:extLst>
          </p:cNvPr>
          <p:cNvSpPr>
            <a:spLocks noGrp="1"/>
          </p:cNvSpPr>
          <p:nvPr>
            <p:ph idx="1"/>
          </p:nvPr>
        </p:nvSpPr>
        <p:spPr>
          <a:xfrm>
            <a:off x="1082351" y="1707502"/>
            <a:ext cx="9128449" cy="4418662"/>
          </a:xfrm>
        </p:spPr>
        <p:txBody>
          <a:bodyPr/>
          <a:lstStyle/>
          <a:p>
            <a:endParaRPr lang="en-US" altLang="en-US" dirty="0"/>
          </a:p>
          <a:p>
            <a:r>
              <a:rPr lang="en-US" altLang="en-US" sz="2800" dirty="0"/>
              <a:t>POP operation is accomplished by deleting the  node pointed to by the TOP pointer [</a:t>
            </a:r>
            <a:r>
              <a:rPr lang="en-US" altLang="en-US" sz="2800" b="1" dirty="0">
                <a:solidFill>
                  <a:srgbClr val="FF0000"/>
                </a:solidFill>
              </a:rPr>
              <a:t>Delete the first node in the list</a:t>
            </a:r>
            <a:r>
              <a:rPr lang="en-US" altLang="en-US" sz="2800" dirty="0"/>
              <a:t>] </a:t>
            </a:r>
          </a:p>
        </p:txBody>
      </p:sp>
      <p:sp>
        <p:nvSpPr>
          <p:cNvPr id="34820" name="Slide Number Placeholder 3">
            <a:extLst>
              <a:ext uri="{FF2B5EF4-FFF2-40B4-BE49-F238E27FC236}">
                <a16:creationId xmlns:a16="http://schemas.microsoft.com/office/drawing/2014/main" id="{AC57F969-8268-B055-5BA2-EEE73872C75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FDF923E-E2FB-4F2E-B3AA-62582B893B5F}" type="slidenum">
              <a:rPr lang="en-US" altLang="en-US" sz="1000">
                <a:solidFill>
                  <a:schemeClr val="tx2"/>
                </a:solidFill>
                <a:latin typeface="Trebuchet MS" panose="020B0603020202020204" pitchFamily="34" charset="0"/>
              </a:rPr>
              <a:pPr>
                <a:spcBef>
                  <a:spcPct val="0"/>
                </a:spcBef>
                <a:buClrTx/>
                <a:buSzTx/>
                <a:buFontTx/>
                <a:buNone/>
              </a:pPr>
              <a:t>27</a:t>
            </a:fld>
            <a:endParaRPr lang="en-US" altLang="en-US" sz="1000">
              <a:solidFill>
                <a:schemeClr val="tx2"/>
              </a:solidFill>
              <a:latin typeface="Trebuchet MS" panose="020B0603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18640-D78C-2D2C-D667-520EE378715D}"/>
              </a:ext>
            </a:extLst>
          </p:cNvPr>
          <p:cNvSpPr>
            <a:spLocks noGrp="1"/>
          </p:cNvSpPr>
          <p:nvPr>
            <p:ph type="title"/>
          </p:nvPr>
        </p:nvSpPr>
        <p:spPr>
          <a:xfrm>
            <a:off x="1981200" y="274638"/>
            <a:ext cx="8229600" cy="868362"/>
          </a:xfrm>
        </p:spPr>
        <p:txBody>
          <a:bodyPr/>
          <a:lstStyle/>
          <a:p>
            <a:pPr>
              <a:defRPr/>
            </a:pPr>
            <a:r>
              <a:rPr lang="en-US" dirty="0"/>
              <a:t>POP Operation </a:t>
            </a:r>
          </a:p>
        </p:txBody>
      </p:sp>
      <p:sp>
        <p:nvSpPr>
          <p:cNvPr id="35843" name="Slide Number Placeholder 3">
            <a:extLst>
              <a:ext uri="{FF2B5EF4-FFF2-40B4-BE49-F238E27FC236}">
                <a16:creationId xmlns:a16="http://schemas.microsoft.com/office/drawing/2014/main" id="{A818E182-574D-9F07-B3CA-BA40023620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5FC3381-4E17-4D43-8279-914673433313}" type="slidenum">
              <a:rPr lang="en-US" altLang="en-US" sz="1000">
                <a:solidFill>
                  <a:schemeClr val="tx2"/>
                </a:solidFill>
                <a:latin typeface="Trebuchet MS" panose="020B0603020202020204" pitchFamily="34" charset="0"/>
              </a:rPr>
              <a:pPr>
                <a:spcBef>
                  <a:spcPct val="0"/>
                </a:spcBef>
                <a:buClrTx/>
                <a:buSzTx/>
                <a:buFontTx/>
                <a:buNone/>
              </a:pPr>
              <a:t>28</a:t>
            </a:fld>
            <a:endParaRPr lang="en-US" altLang="en-US" sz="1000">
              <a:solidFill>
                <a:schemeClr val="tx2"/>
              </a:solidFill>
              <a:latin typeface="Trebuchet MS" panose="020B0603020202020204" pitchFamily="34" charset="0"/>
            </a:endParaRPr>
          </a:p>
        </p:txBody>
      </p:sp>
      <p:grpSp>
        <p:nvGrpSpPr>
          <p:cNvPr id="3" name="Group 4">
            <a:extLst>
              <a:ext uri="{FF2B5EF4-FFF2-40B4-BE49-F238E27FC236}">
                <a16:creationId xmlns:a16="http://schemas.microsoft.com/office/drawing/2014/main" id="{91C71FE2-FD9C-F493-377E-B5B138D031E3}"/>
              </a:ext>
            </a:extLst>
          </p:cNvPr>
          <p:cNvGrpSpPr>
            <a:grpSpLocks/>
          </p:cNvGrpSpPr>
          <p:nvPr/>
        </p:nvGrpSpPr>
        <p:grpSpPr bwMode="auto">
          <a:xfrm>
            <a:off x="2209800" y="4648201"/>
            <a:ext cx="7848600" cy="1298575"/>
            <a:chOff x="228600" y="2590800"/>
            <a:chExt cx="7848600" cy="1298575"/>
          </a:xfrm>
        </p:grpSpPr>
        <p:grpSp>
          <p:nvGrpSpPr>
            <p:cNvPr id="35866" name="Group 6">
              <a:extLst>
                <a:ext uri="{FF2B5EF4-FFF2-40B4-BE49-F238E27FC236}">
                  <a16:creationId xmlns:a16="http://schemas.microsoft.com/office/drawing/2014/main" id="{CEE06143-D092-40F9-0FAB-72F5591F9055}"/>
                </a:ext>
              </a:extLst>
            </p:cNvPr>
            <p:cNvGrpSpPr>
              <a:grpSpLocks/>
            </p:cNvGrpSpPr>
            <p:nvPr/>
          </p:nvGrpSpPr>
          <p:grpSpPr bwMode="auto">
            <a:xfrm>
              <a:off x="1524000" y="3276600"/>
              <a:ext cx="1600200" cy="612775"/>
              <a:chOff x="2667000" y="3124200"/>
              <a:chExt cx="765175" cy="384175"/>
            </a:xfrm>
          </p:grpSpPr>
          <p:sp>
            <p:nvSpPr>
              <p:cNvPr id="35878" name="Rectangle 17">
                <a:extLst>
                  <a:ext uri="{FF2B5EF4-FFF2-40B4-BE49-F238E27FC236}">
                    <a16:creationId xmlns:a16="http://schemas.microsoft.com/office/drawing/2014/main" id="{1FA8BCB8-1FF4-C6AC-E21A-795AEECC058A}"/>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5879" name="Rectangle 18">
                <a:extLst>
                  <a:ext uri="{FF2B5EF4-FFF2-40B4-BE49-F238E27FC236}">
                    <a16:creationId xmlns:a16="http://schemas.microsoft.com/office/drawing/2014/main" id="{F4CFC67A-77D3-05FF-10F4-19493390E958}"/>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CC</a:t>
                </a:r>
              </a:p>
            </p:txBody>
          </p:sp>
        </p:grpSp>
        <p:sp>
          <p:nvSpPr>
            <p:cNvPr id="35867" name="Rectangle 18">
              <a:extLst>
                <a:ext uri="{FF2B5EF4-FFF2-40B4-BE49-F238E27FC236}">
                  <a16:creationId xmlns:a16="http://schemas.microsoft.com/office/drawing/2014/main" id="{5CFFC55F-F74B-15DE-8C78-C370EF0232CC}"/>
                </a:ext>
              </a:extLst>
            </p:cNvPr>
            <p:cNvSpPr>
              <a:spLocks noChangeArrowheads="1"/>
            </p:cNvSpPr>
            <p:nvPr/>
          </p:nvSpPr>
          <p:spPr bwMode="auto">
            <a:xfrm>
              <a:off x="762000" y="3505200"/>
              <a:ext cx="152400" cy="381000"/>
            </a:xfrm>
            <a:prstGeom prst="rect">
              <a:avLst/>
            </a:prstGeom>
            <a:solidFill>
              <a:srgbClr val="00B050"/>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grpSp>
          <p:nvGrpSpPr>
            <p:cNvPr id="35868" name="Group 18">
              <a:extLst>
                <a:ext uri="{FF2B5EF4-FFF2-40B4-BE49-F238E27FC236}">
                  <a16:creationId xmlns:a16="http://schemas.microsoft.com/office/drawing/2014/main" id="{FCBC2FAB-D84A-507D-74AD-A1BB87A7062B}"/>
                </a:ext>
              </a:extLst>
            </p:cNvPr>
            <p:cNvGrpSpPr>
              <a:grpSpLocks/>
            </p:cNvGrpSpPr>
            <p:nvPr/>
          </p:nvGrpSpPr>
          <p:grpSpPr bwMode="auto">
            <a:xfrm>
              <a:off x="6705603" y="3276600"/>
              <a:ext cx="1371601" cy="612775"/>
              <a:chOff x="2667000" y="3124200"/>
              <a:chExt cx="765175" cy="384175"/>
            </a:xfrm>
          </p:grpSpPr>
          <p:sp>
            <p:nvSpPr>
              <p:cNvPr id="35876" name="Rectangle 17">
                <a:extLst>
                  <a:ext uri="{FF2B5EF4-FFF2-40B4-BE49-F238E27FC236}">
                    <a16:creationId xmlns:a16="http://schemas.microsoft.com/office/drawing/2014/main" id="{31DA82D5-76D9-7885-651B-E7C5D29A87F0}"/>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X</a:t>
                </a:r>
              </a:p>
            </p:txBody>
          </p:sp>
          <p:sp>
            <p:nvSpPr>
              <p:cNvPr id="35877" name="Rectangle 18">
                <a:extLst>
                  <a:ext uri="{FF2B5EF4-FFF2-40B4-BE49-F238E27FC236}">
                    <a16:creationId xmlns:a16="http://schemas.microsoft.com/office/drawing/2014/main" id="{9B3C94C2-6D73-C2AC-2C3D-459690DAD170}"/>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AA</a:t>
                </a:r>
              </a:p>
            </p:txBody>
          </p:sp>
        </p:grpSp>
        <p:grpSp>
          <p:nvGrpSpPr>
            <p:cNvPr id="35869" name="Group 21">
              <a:extLst>
                <a:ext uri="{FF2B5EF4-FFF2-40B4-BE49-F238E27FC236}">
                  <a16:creationId xmlns:a16="http://schemas.microsoft.com/office/drawing/2014/main" id="{08F4E386-B14E-FDAC-1BD0-D501622278D5}"/>
                </a:ext>
              </a:extLst>
            </p:cNvPr>
            <p:cNvGrpSpPr>
              <a:grpSpLocks/>
            </p:cNvGrpSpPr>
            <p:nvPr/>
          </p:nvGrpSpPr>
          <p:grpSpPr bwMode="auto">
            <a:xfrm>
              <a:off x="4114803" y="3276600"/>
              <a:ext cx="1447801" cy="612775"/>
              <a:chOff x="2667000" y="3124200"/>
              <a:chExt cx="765175" cy="384175"/>
            </a:xfrm>
          </p:grpSpPr>
          <p:sp>
            <p:nvSpPr>
              <p:cNvPr id="35874" name="Rectangle 17">
                <a:extLst>
                  <a:ext uri="{FF2B5EF4-FFF2-40B4-BE49-F238E27FC236}">
                    <a16:creationId xmlns:a16="http://schemas.microsoft.com/office/drawing/2014/main" id="{684832EA-E648-6AAB-C950-C17C7EEA161F}"/>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5875" name="Rectangle 18">
                <a:extLst>
                  <a:ext uri="{FF2B5EF4-FFF2-40B4-BE49-F238E27FC236}">
                    <a16:creationId xmlns:a16="http://schemas.microsoft.com/office/drawing/2014/main" id="{47F7F534-9FF3-A4A6-5013-3D07379D6DF3}"/>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BB</a:t>
                </a:r>
              </a:p>
            </p:txBody>
          </p:sp>
        </p:grpSp>
        <p:sp>
          <p:nvSpPr>
            <p:cNvPr id="35870" name="Line 25">
              <a:extLst>
                <a:ext uri="{FF2B5EF4-FFF2-40B4-BE49-F238E27FC236}">
                  <a16:creationId xmlns:a16="http://schemas.microsoft.com/office/drawing/2014/main" id="{5F5DA652-2D55-E018-A6A5-13E1370B0EF6}"/>
                </a:ext>
              </a:extLst>
            </p:cNvPr>
            <p:cNvSpPr>
              <a:spLocks noChangeShapeType="1"/>
            </p:cNvSpPr>
            <p:nvPr/>
          </p:nvSpPr>
          <p:spPr bwMode="auto">
            <a:xfrm rot="240000" flipV="1">
              <a:off x="838959" y="3681464"/>
              <a:ext cx="685800" cy="45719"/>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71" name="Line 25">
              <a:extLst>
                <a:ext uri="{FF2B5EF4-FFF2-40B4-BE49-F238E27FC236}">
                  <a16:creationId xmlns:a16="http://schemas.microsoft.com/office/drawing/2014/main" id="{C4E09910-81EC-E380-C63C-3122A962186C}"/>
                </a:ext>
              </a:extLst>
            </p:cNvPr>
            <p:cNvSpPr>
              <a:spLocks noChangeShapeType="1"/>
            </p:cNvSpPr>
            <p:nvPr/>
          </p:nvSpPr>
          <p:spPr bwMode="auto">
            <a:xfrm rot="240000" flipV="1">
              <a:off x="2819207" y="3550385"/>
              <a:ext cx="1297095" cy="45719"/>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72" name="Line 25">
              <a:extLst>
                <a:ext uri="{FF2B5EF4-FFF2-40B4-BE49-F238E27FC236}">
                  <a16:creationId xmlns:a16="http://schemas.microsoft.com/office/drawing/2014/main" id="{3ABBD691-D92B-4389-74AD-97BD08A4EFB6}"/>
                </a:ext>
              </a:extLst>
            </p:cNvPr>
            <p:cNvSpPr>
              <a:spLocks noChangeShapeType="1"/>
            </p:cNvSpPr>
            <p:nvPr/>
          </p:nvSpPr>
          <p:spPr bwMode="auto">
            <a:xfrm rot="240000" flipV="1">
              <a:off x="5336662" y="3476556"/>
              <a:ext cx="1367795" cy="124076"/>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73" name="TextBox 12">
              <a:extLst>
                <a:ext uri="{FF2B5EF4-FFF2-40B4-BE49-F238E27FC236}">
                  <a16:creationId xmlns:a16="http://schemas.microsoft.com/office/drawing/2014/main" id="{19A9B70D-A261-382B-0829-C75C210B78FB}"/>
                </a:ext>
              </a:extLst>
            </p:cNvPr>
            <p:cNvSpPr txBox="1">
              <a:spLocks noChangeArrowheads="1"/>
            </p:cNvSpPr>
            <p:nvPr/>
          </p:nvSpPr>
          <p:spPr bwMode="auto">
            <a:xfrm>
              <a:off x="228600" y="2590800"/>
              <a:ext cx="1219200" cy="584775"/>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TOP </a:t>
              </a:r>
            </a:p>
          </p:txBody>
        </p:sp>
      </p:grpSp>
      <p:grpSp>
        <p:nvGrpSpPr>
          <p:cNvPr id="35845" name="Group 44">
            <a:extLst>
              <a:ext uri="{FF2B5EF4-FFF2-40B4-BE49-F238E27FC236}">
                <a16:creationId xmlns:a16="http://schemas.microsoft.com/office/drawing/2014/main" id="{FC4E4ADA-B3F8-BF13-B9A0-9D61428B4184}"/>
              </a:ext>
            </a:extLst>
          </p:cNvPr>
          <p:cNvGrpSpPr>
            <a:grpSpLocks/>
          </p:cNvGrpSpPr>
          <p:nvPr/>
        </p:nvGrpSpPr>
        <p:grpSpPr bwMode="auto">
          <a:xfrm>
            <a:off x="1524000" y="2133601"/>
            <a:ext cx="8458200" cy="1298575"/>
            <a:chOff x="0" y="4648200"/>
            <a:chExt cx="8458204" cy="1298575"/>
          </a:xfrm>
        </p:grpSpPr>
        <p:grpSp>
          <p:nvGrpSpPr>
            <p:cNvPr id="35848" name="Group 6">
              <a:extLst>
                <a:ext uri="{FF2B5EF4-FFF2-40B4-BE49-F238E27FC236}">
                  <a16:creationId xmlns:a16="http://schemas.microsoft.com/office/drawing/2014/main" id="{BE823A3F-3F73-966C-7493-B8D720EED1FB}"/>
                </a:ext>
              </a:extLst>
            </p:cNvPr>
            <p:cNvGrpSpPr>
              <a:grpSpLocks/>
            </p:cNvGrpSpPr>
            <p:nvPr/>
          </p:nvGrpSpPr>
          <p:grpSpPr bwMode="auto">
            <a:xfrm>
              <a:off x="3276600" y="5257800"/>
              <a:ext cx="1447800" cy="612775"/>
              <a:chOff x="2667000" y="3124200"/>
              <a:chExt cx="765175" cy="384175"/>
            </a:xfrm>
          </p:grpSpPr>
          <p:sp>
            <p:nvSpPr>
              <p:cNvPr id="35864" name="Rectangle 36">
                <a:extLst>
                  <a:ext uri="{FF2B5EF4-FFF2-40B4-BE49-F238E27FC236}">
                    <a16:creationId xmlns:a16="http://schemas.microsoft.com/office/drawing/2014/main" id="{97AEB3F5-A164-CFD8-8EF5-A8D31F56C83F}"/>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5865" name="Rectangle 37">
                <a:extLst>
                  <a:ext uri="{FF2B5EF4-FFF2-40B4-BE49-F238E27FC236}">
                    <a16:creationId xmlns:a16="http://schemas.microsoft.com/office/drawing/2014/main" id="{11F42BBF-70BA-11F0-FDBE-D2B189159CC5}"/>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CC</a:t>
                </a:r>
              </a:p>
            </p:txBody>
          </p:sp>
        </p:grpSp>
        <p:sp>
          <p:nvSpPr>
            <p:cNvPr id="35849" name="Rectangle 18">
              <a:extLst>
                <a:ext uri="{FF2B5EF4-FFF2-40B4-BE49-F238E27FC236}">
                  <a16:creationId xmlns:a16="http://schemas.microsoft.com/office/drawing/2014/main" id="{3B30A1F2-5097-CF6D-1443-B23569E8B18E}"/>
                </a:ext>
              </a:extLst>
            </p:cNvPr>
            <p:cNvSpPr>
              <a:spLocks noChangeArrowheads="1"/>
            </p:cNvSpPr>
            <p:nvPr/>
          </p:nvSpPr>
          <p:spPr bwMode="auto">
            <a:xfrm>
              <a:off x="609600" y="5410200"/>
              <a:ext cx="152400" cy="381000"/>
            </a:xfrm>
            <a:prstGeom prst="rect">
              <a:avLst/>
            </a:prstGeom>
            <a:solidFill>
              <a:srgbClr val="00B050"/>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grpSp>
          <p:nvGrpSpPr>
            <p:cNvPr id="35850" name="Group 18">
              <a:extLst>
                <a:ext uri="{FF2B5EF4-FFF2-40B4-BE49-F238E27FC236}">
                  <a16:creationId xmlns:a16="http://schemas.microsoft.com/office/drawing/2014/main" id="{448290FD-5EC7-58F8-8732-852DC8F3ED56}"/>
                </a:ext>
              </a:extLst>
            </p:cNvPr>
            <p:cNvGrpSpPr>
              <a:grpSpLocks/>
            </p:cNvGrpSpPr>
            <p:nvPr/>
          </p:nvGrpSpPr>
          <p:grpSpPr bwMode="auto">
            <a:xfrm>
              <a:off x="7239000" y="5181601"/>
              <a:ext cx="1219204" cy="609600"/>
              <a:chOff x="2667000" y="3124200"/>
              <a:chExt cx="765175" cy="384175"/>
            </a:xfrm>
          </p:grpSpPr>
          <p:sp>
            <p:nvSpPr>
              <p:cNvPr id="35862" name="Rectangle 17">
                <a:extLst>
                  <a:ext uri="{FF2B5EF4-FFF2-40B4-BE49-F238E27FC236}">
                    <a16:creationId xmlns:a16="http://schemas.microsoft.com/office/drawing/2014/main" id="{FF7799CC-529F-736D-D859-C713EB07ADA6}"/>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X</a:t>
                </a:r>
              </a:p>
            </p:txBody>
          </p:sp>
          <p:sp>
            <p:nvSpPr>
              <p:cNvPr id="35863" name="Rectangle 18">
                <a:extLst>
                  <a:ext uri="{FF2B5EF4-FFF2-40B4-BE49-F238E27FC236}">
                    <a16:creationId xmlns:a16="http://schemas.microsoft.com/office/drawing/2014/main" id="{B5867801-498B-415A-1344-D41E2718B1F3}"/>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2800"/>
                  <a:t>AA</a:t>
                </a:r>
              </a:p>
            </p:txBody>
          </p:sp>
        </p:grpSp>
        <p:grpSp>
          <p:nvGrpSpPr>
            <p:cNvPr id="35851" name="Group 21">
              <a:extLst>
                <a:ext uri="{FF2B5EF4-FFF2-40B4-BE49-F238E27FC236}">
                  <a16:creationId xmlns:a16="http://schemas.microsoft.com/office/drawing/2014/main" id="{F190AA35-D111-3F35-E326-593047C7845E}"/>
                </a:ext>
              </a:extLst>
            </p:cNvPr>
            <p:cNvGrpSpPr>
              <a:grpSpLocks/>
            </p:cNvGrpSpPr>
            <p:nvPr/>
          </p:nvGrpSpPr>
          <p:grpSpPr bwMode="auto">
            <a:xfrm>
              <a:off x="5257800" y="5181600"/>
              <a:ext cx="1447801" cy="612775"/>
              <a:chOff x="2667000" y="3124200"/>
              <a:chExt cx="765175" cy="384175"/>
            </a:xfrm>
          </p:grpSpPr>
          <p:sp>
            <p:nvSpPr>
              <p:cNvPr id="35860" name="Rectangle 17">
                <a:extLst>
                  <a:ext uri="{FF2B5EF4-FFF2-40B4-BE49-F238E27FC236}">
                    <a16:creationId xmlns:a16="http://schemas.microsoft.com/office/drawing/2014/main" id="{52E08C5E-3D5C-F778-7318-67A664A38D5F}"/>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5861" name="Rectangle 18">
                <a:extLst>
                  <a:ext uri="{FF2B5EF4-FFF2-40B4-BE49-F238E27FC236}">
                    <a16:creationId xmlns:a16="http://schemas.microsoft.com/office/drawing/2014/main" id="{5DDA3DA1-7A7E-ECCF-F353-58E47C976CD2}"/>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BB</a:t>
                </a:r>
              </a:p>
            </p:txBody>
          </p:sp>
        </p:grpSp>
        <p:sp>
          <p:nvSpPr>
            <p:cNvPr id="35852" name="Line 25">
              <a:extLst>
                <a:ext uri="{FF2B5EF4-FFF2-40B4-BE49-F238E27FC236}">
                  <a16:creationId xmlns:a16="http://schemas.microsoft.com/office/drawing/2014/main" id="{40272BBA-9F1D-87BA-6A93-5F1271FD29D4}"/>
                </a:ext>
              </a:extLst>
            </p:cNvPr>
            <p:cNvSpPr>
              <a:spLocks noChangeShapeType="1"/>
            </p:cNvSpPr>
            <p:nvPr/>
          </p:nvSpPr>
          <p:spPr bwMode="auto">
            <a:xfrm rot="240000" flipV="1">
              <a:off x="686559" y="5586463"/>
              <a:ext cx="685800" cy="45719"/>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53" name="Line 25">
              <a:extLst>
                <a:ext uri="{FF2B5EF4-FFF2-40B4-BE49-F238E27FC236}">
                  <a16:creationId xmlns:a16="http://schemas.microsoft.com/office/drawing/2014/main" id="{5F100406-4BF5-A8F7-0EA1-E5EEFEAEF20E}"/>
                </a:ext>
              </a:extLst>
            </p:cNvPr>
            <p:cNvSpPr>
              <a:spLocks noChangeShapeType="1"/>
            </p:cNvSpPr>
            <p:nvPr/>
          </p:nvSpPr>
          <p:spPr bwMode="auto">
            <a:xfrm rot="240000" flipV="1">
              <a:off x="4346676" y="5468801"/>
              <a:ext cx="909574" cy="125675"/>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54" name="Line 25">
              <a:extLst>
                <a:ext uri="{FF2B5EF4-FFF2-40B4-BE49-F238E27FC236}">
                  <a16:creationId xmlns:a16="http://schemas.microsoft.com/office/drawing/2014/main" id="{BE4891D5-CE58-34C2-B1FF-70B5E376CE72}"/>
                </a:ext>
              </a:extLst>
            </p:cNvPr>
            <p:cNvSpPr>
              <a:spLocks noChangeShapeType="1"/>
            </p:cNvSpPr>
            <p:nvPr/>
          </p:nvSpPr>
          <p:spPr bwMode="auto">
            <a:xfrm rot="240000" flipV="1">
              <a:off x="6248938" y="5444705"/>
              <a:ext cx="991042" cy="50041"/>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55" name="TextBox 31">
              <a:extLst>
                <a:ext uri="{FF2B5EF4-FFF2-40B4-BE49-F238E27FC236}">
                  <a16:creationId xmlns:a16="http://schemas.microsoft.com/office/drawing/2014/main" id="{8BF9E836-65B2-4364-02B8-A4C522794419}"/>
                </a:ext>
              </a:extLst>
            </p:cNvPr>
            <p:cNvSpPr txBox="1">
              <a:spLocks noChangeArrowheads="1"/>
            </p:cNvSpPr>
            <p:nvPr/>
          </p:nvSpPr>
          <p:spPr bwMode="auto">
            <a:xfrm>
              <a:off x="0" y="4648200"/>
              <a:ext cx="1219200" cy="584775"/>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TOP </a:t>
              </a:r>
            </a:p>
          </p:txBody>
        </p:sp>
        <p:grpSp>
          <p:nvGrpSpPr>
            <p:cNvPr id="35856" name="Group 21">
              <a:extLst>
                <a:ext uri="{FF2B5EF4-FFF2-40B4-BE49-F238E27FC236}">
                  <a16:creationId xmlns:a16="http://schemas.microsoft.com/office/drawing/2014/main" id="{515E3D72-849F-B60B-8A06-C6C53CA086F0}"/>
                </a:ext>
              </a:extLst>
            </p:cNvPr>
            <p:cNvGrpSpPr>
              <a:grpSpLocks/>
            </p:cNvGrpSpPr>
            <p:nvPr/>
          </p:nvGrpSpPr>
          <p:grpSpPr bwMode="auto">
            <a:xfrm>
              <a:off x="1371601" y="5334000"/>
              <a:ext cx="1295400" cy="612775"/>
              <a:chOff x="2667000" y="3124200"/>
              <a:chExt cx="765175" cy="384175"/>
            </a:xfrm>
          </p:grpSpPr>
          <p:sp>
            <p:nvSpPr>
              <p:cNvPr id="35858" name="Rectangle 17">
                <a:extLst>
                  <a:ext uri="{FF2B5EF4-FFF2-40B4-BE49-F238E27FC236}">
                    <a16:creationId xmlns:a16="http://schemas.microsoft.com/office/drawing/2014/main" id="{94AE4CFC-110A-8DEA-7694-CF3963491C6E}"/>
                  </a:ext>
                </a:extLst>
              </p:cNvPr>
              <p:cNvSpPr>
                <a:spLocks noChangeArrowheads="1"/>
              </p:cNvSpPr>
              <p:nvPr/>
            </p:nvSpPr>
            <p:spPr bwMode="auto">
              <a:xfrm>
                <a:off x="3048000" y="3124200"/>
                <a:ext cx="384175" cy="384175"/>
              </a:xfrm>
              <a:prstGeom prst="rect">
                <a:avLst/>
              </a:prstGeom>
              <a:solidFill>
                <a:schemeClr val="accent1"/>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endParaRPr lang="en-US" altLang="en-US" sz="2400"/>
              </a:p>
            </p:txBody>
          </p:sp>
          <p:sp>
            <p:nvSpPr>
              <p:cNvPr id="35859" name="Rectangle 18">
                <a:extLst>
                  <a:ext uri="{FF2B5EF4-FFF2-40B4-BE49-F238E27FC236}">
                    <a16:creationId xmlns:a16="http://schemas.microsoft.com/office/drawing/2014/main" id="{9D6BFD63-2B48-E093-239F-530BF23A4E6E}"/>
                  </a:ext>
                </a:extLst>
              </p:cNvPr>
              <p:cNvSpPr>
                <a:spLocks noChangeArrowheads="1"/>
              </p:cNvSpPr>
              <p:nvPr/>
            </p:nvSpPr>
            <p:spPr bwMode="auto">
              <a:xfrm>
                <a:off x="2667000" y="3124200"/>
                <a:ext cx="381000" cy="381000"/>
              </a:xfrm>
              <a:prstGeom prst="rect">
                <a:avLst/>
              </a:prstGeom>
              <a:solidFill>
                <a:schemeClr val="folHlink"/>
              </a:solidFill>
              <a:ln w="2857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DD</a:t>
                </a:r>
              </a:p>
            </p:txBody>
          </p:sp>
        </p:grpSp>
        <p:sp>
          <p:nvSpPr>
            <p:cNvPr id="35857" name="Line 25">
              <a:extLst>
                <a:ext uri="{FF2B5EF4-FFF2-40B4-BE49-F238E27FC236}">
                  <a16:creationId xmlns:a16="http://schemas.microsoft.com/office/drawing/2014/main" id="{80FDBA33-7597-E495-572C-F789DD46D6EB}"/>
                </a:ext>
              </a:extLst>
            </p:cNvPr>
            <p:cNvSpPr>
              <a:spLocks noChangeShapeType="1"/>
            </p:cNvSpPr>
            <p:nvPr/>
          </p:nvSpPr>
          <p:spPr bwMode="auto">
            <a:xfrm rot="240000" flipV="1">
              <a:off x="2591559" y="5510264"/>
              <a:ext cx="685800" cy="45719"/>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35846" name="TextBox 42">
            <a:extLst>
              <a:ext uri="{FF2B5EF4-FFF2-40B4-BE49-F238E27FC236}">
                <a16:creationId xmlns:a16="http://schemas.microsoft.com/office/drawing/2014/main" id="{68D05241-4A72-8F5F-FAF8-4212ACAB8233}"/>
              </a:ext>
            </a:extLst>
          </p:cNvPr>
          <p:cNvSpPr txBox="1">
            <a:spLocks noChangeArrowheads="1"/>
          </p:cNvSpPr>
          <p:nvPr/>
        </p:nvSpPr>
        <p:spPr bwMode="auto">
          <a:xfrm>
            <a:off x="2971800" y="1371600"/>
            <a:ext cx="6553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STACK before POP  Operation </a:t>
            </a:r>
          </a:p>
        </p:txBody>
      </p:sp>
      <p:sp>
        <p:nvSpPr>
          <p:cNvPr id="44" name="TextBox 43">
            <a:extLst>
              <a:ext uri="{FF2B5EF4-FFF2-40B4-BE49-F238E27FC236}">
                <a16:creationId xmlns:a16="http://schemas.microsoft.com/office/drawing/2014/main" id="{FFB077B4-F0E2-C391-7169-34EF2109B8F9}"/>
              </a:ext>
            </a:extLst>
          </p:cNvPr>
          <p:cNvSpPr txBox="1">
            <a:spLocks noChangeArrowheads="1"/>
          </p:cNvSpPr>
          <p:nvPr/>
        </p:nvSpPr>
        <p:spPr bwMode="auto">
          <a:xfrm>
            <a:off x="2819400" y="3810000"/>
            <a:ext cx="6553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3200"/>
              <a:t>STACK After  POP Operation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checkerboard(across)">
                                      <p:cBhvr>
                                        <p:cTn id="1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E3283-17C0-86D2-A1A6-5A2A2E3C631C}"/>
              </a:ext>
            </a:extLst>
          </p:cNvPr>
          <p:cNvSpPr>
            <a:spLocks noGrp="1"/>
          </p:cNvSpPr>
          <p:nvPr>
            <p:ph type="title"/>
          </p:nvPr>
        </p:nvSpPr>
        <p:spPr>
          <a:xfrm>
            <a:off x="1337388" y="685183"/>
            <a:ext cx="8229600" cy="792162"/>
          </a:xfrm>
        </p:spPr>
        <p:txBody>
          <a:bodyPr/>
          <a:lstStyle/>
          <a:p>
            <a:pPr>
              <a:defRPr/>
            </a:pPr>
            <a:r>
              <a:rPr lang="en-US" dirty="0"/>
              <a:t>POP Operation using linked list </a:t>
            </a:r>
          </a:p>
        </p:txBody>
      </p:sp>
      <p:sp>
        <p:nvSpPr>
          <p:cNvPr id="36867" name="Content Placeholder 2">
            <a:extLst>
              <a:ext uri="{FF2B5EF4-FFF2-40B4-BE49-F238E27FC236}">
                <a16:creationId xmlns:a16="http://schemas.microsoft.com/office/drawing/2014/main" id="{979662BB-A416-26DB-86B8-9748D7E4F36F}"/>
              </a:ext>
            </a:extLst>
          </p:cNvPr>
          <p:cNvSpPr>
            <a:spLocks noGrp="1"/>
          </p:cNvSpPr>
          <p:nvPr>
            <p:ph idx="1"/>
          </p:nvPr>
        </p:nvSpPr>
        <p:spPr>
          <a:xfrm>
            <a:off x="1244081" y="1698171"/>
            <a:ext cx="8229600" cy="4474646"/>
          </a:xfrm>
        </p:spPr>
        <p:txBody>
          <a:bodyPr>
            <a:normAutofit/>
          </a:bodyPr>
          <a:lstStyle/>
          <a:p>
            <a:pPr>
              <a:buFont typeface="Wingdings 2" panose="05020102010507070707" pitchFamily="18" charset="2"/>
              <a:buNone/>
            </a:pPr>
            <a:endParaRPr lang="en-US" altLang="en-US" dirty="0"/>
          </a:p>
          <a:p>
            <a:pPr marL="879475" lvl="1" indent="-514350" algn="just">
              <a:buNone/>
            </a:pPr>
            <a:r>
              <a:rPr lang="en-US" altLang="en-US" sz="2400" dirty="0"/>
              <a:t>deletion from top</a:t>
            </a:r>
          </a:p>
          <a:p>
            <a:pPr marL="879475" lvl="1" indent="-514350" algn="just">
              <a:buNone/>
            </a:pPr>
            <a:r>
              <a:rPr lang="en-US" altLang="en-US" sz="2400" dirty="0"/>
              <a:t>struct node * temp;</a:t>
            </a:r>
          </a:p>
          <a:p>
            <a:pPr marL="879475" lvl="1" indent="-514350" algn="just">
              <a:buNone/>
            </a:pPr>
            <a:r>
              <a:rPr lang="en-US" altLang="en-US" sz="2400" dirty="0"/>
              <a:t>temp=top;</a:t>
            </a:r>
          </a:p>
          <a:p>
            <a:pPr marL="879475" lvl="1" indent="-514350" algn="just">
              <a:buNone/>
            </a:pPr>
            <a:r>
              <a:rPr lang="en-US" altLang="en-US" sz="2400" dirty="0"/>
              <a:t>if top == null </a:t>
            </a:r>
          </a:p>
          <a:p>
            <a:pPr marL="879475" lvl="1" indent="-514350" algn="just">
              <a:buNone/>
            </a:pPr>
            <a:r>
              <a:rPr lang="en-US" altLang="en-US" sz="2400" dirty="0"/>
              <a:t>        then write underflow and exit</a:t>
            </a:r>
          </a:p>
          <a:p>
            <a:pPr marL="879475" lvl="1" indent="-514350" algn="just">
              <a:buNone/>
            </a:pPr>
            <a:r>
              <a:rPr lang="en-US" altLang="en-US" sz="2400" dirty="0"/>
              <a:t>print: top -&gt;data;</a:t>
            </a:r>
          </a:p>
          <a:p>
            <a:pPr marL="879475" lvl="1" indent="-514350" algn="just">
              <a:buNone/>
            </a:pPr>
            <a:r>
              <a:rPr lang="en-US" altLang="en-US" sz="2400" dirty="0"/>
              <a:t>top=top-&gt;link;</a:t>
            </a:r>
          </a:p>
          <a:p>
            <a:pPr marL="879475" lvl="1" indent="-514350" algn="just">
              <a:buNone/>
            </a:pPr>
            <a:r>
              <a:rPr lang="en-US" altLang="en-US" sz="2400" dirty="0"/>
              <a:t>free( temp);</a:t>
            </a:r>
          </a:p>
          <a:p>
            <a:pPr marL="879475" lvl="1" indent="-514350" algn="just">
              <a:buNone/>
            </a:pPr>
            <a:endParaRPr lang="en-US" altLang="en-US" dirty="0"/>
          </a:p>
        </p:txBody>
      </p:sp>
      <p:sp>
        <p:nvSpPr>
          <p:cNvPr id="36868" name="Slide Number Placeholder 3">
            <a:extLst>
              <a:ext uri="{FF2B5EF4-FFF2-40B4-BE49-F238E27FC236}">
                <a16:creationId xmlns:a16="http://schemas.microsoft.com/office/drawing/2014/main" id="{A4DB98A5-D4D7-D3CE-3581-5D58EA6CF71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4695035-4617-4BF6-8BFB-543CDBA7E1BA}" type="slidenum">
              <a:rPr lang="en-US" altLang="en-US" sz="1000">
                <a:solidFill>
                  <a:schemeClr val="tx2"/>
                </a:solidFill>
                <a:latin typeface="Trebuchet MS" panose="020B0603020202020204" pitchFamily="34" charset="0"/>
              </a:rPr>
              <a:pPr>
                <a:spcBef>
                  <a:spcPct val="0"/>
                </a:spcBef>
                <a:buClrTx/>
                <a:buSzTx/>
                <a:buFontTx/>
                <a:buNone/>
              </a:pPr>
              <a:t>29</a:t>
            </a:fld>
            <a:endParaRPr lang="en-US" altLang="en-US" sz="1000">
              <a:solidFill>
                <a:schemeClr val="tx2"/>
              </a:solidFill>
              <a:latin typeface="Trebuchet MS" panose="020B0603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3836B5D-666C-0711-A9DF-BD438BB04FBC}"/>
              </a:ext>
            </a:extLst>
          </p:cNvPr>
          <p:cNvSpPr>
            <a:spLocks noGrp="1" noChangeArrowheads="1"/>
          </p:cNvSpPr>
          <p:nvPr>
            <p:ph type="title"/>
          </p:nvPr>
        </p:nvSpPr>
        <p:spPr/>
        <p:txBody>
          <a:bodyPr/>
          <a:lstStyle/>
          <a:p>
            <a:pPr eaLnBrk="1" hangingPunct="1">
              <a:defRPr/>
            </a:pPr>
            <a:r>
              <a:rPr lang="en-US" dirty="0"/>
              <a:t>Application of stacks</a:t>
            </a:r>
          </a:p>
        </p:txBody>
      </p:sp>
      <p:sp>
        <p:nvSpPr>
          <p:cNvPr id="37891" name="Content Placeholder 3">
            <a:extLst>
              <a:ext uri="{FF2B5EF4-FFF2-40B4-BE49-F238E27FC236}">
                <a16:creationId xmlns:a16="http://schemas.microsoft.com/office/drawing/2014/main" id="{17D13A4B-67EA-00C7-3A31-D2E3C222677F}"/>
              </a:ext>
            </a:extLst>
          </p:cNvPr>
          <p:cNvSpPr>
            <a:spLocks noGrp="1"/>
          </p:cNvSpPr>
          <p:nvPr>
            <p:ph idx="1"/>
          </p:nvPr>
        </p:nvSpPr>
        <p:spPr/>
        <p:txBody>
          <a:bodyPr>
            <a:normAutofit/>
          </a:bodyPr>
          <a:lstStyle/>
          <a:p>
            <a:pPr>
              <a:buFont typeface="Wingdings" panose="05000000000000000000" pitchFamily="2" charset="2"/>
              <a:buChar char="§"/>
            </a:pPr>
            <a:r>
              <a:rPr lang="en-US" altLang="en-US" sz="2800" dirty="0"/>
              <a:t>Reversal of strings.</a:t>
            </a:r>
          </a:p>
          <a:p>
            <a:pPr>
              <a:buFont typeface="Wingdings" panose="05000000000000000000" pitchFamily="2" charset="2"/>
              <a:buChar char="§"/>
            </a:pPr>
            <a:r>
              <a:rPr lang="en-US" altLang="en-US" sz="2800" dirty="0"/>
              <a:t>Checking validity of brackets.</a:t>
            </a:r>
          </a:p>
          <a:p>
            <a:pPr>
              <a:buFont typeface="Wingdings" panose="05000000000000000000" pitchFamily="2" charset="2"/>
              <a:buChar char="§"/>
            </a:pPr>
            <a:r>
              <a:rPr lang="en-US" altLang="en-US" sz="2800" dirty="0"/>
              <a:t>Converting infix to postfix and prefix.</a:t>
            </a:r>
          </a:p>
          <a:p>
            <a:pPr>
              <a:buFont typeface="Wingdings" panose="05000000000000000000" pitchFamily="2" charset="2"/>
              <a:buChar char="§"/>
            </a:pPr>
            <a:r>
              <a:rPr lang="en-US" altLang="en-US" sz="2800" dirty="0"/>
              <a:t>Evaluating the postfix expression.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Your Turn</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31</a:t>
            </a:fld>
            <a:endParaRPr sz="900">
              <a:latin typeface="Malgun Gothic"/>
              <a:cs typeface="Malgun Gothic"/>
            </a:endParaRPr>
          </a:p>
        </p:txBody>
      </p:sp>
      <p:sp>
        <p:nvSpPr>
          <p:cNvPr id="4" name="Content Placeholder 3">
            <a:extLst>
              <a:ext uri="{FF2B5EF4-FFF2-40B4-BE49-F238E27FC236}">
                <a16:creationId xmlns:a16="http://schemas.microsoft.com/office/drawing/2014/main" id="{1FBE1944-41AD-4138-AFA8-4EA09FA0FDAA}"/>
              </a:ext>
            </a:extLst>
          </p:cNvPr>
          <p:cNvSpPr>
            <a:spLocks noGrp="1"/>
          </p:cNvSpPr>
          <p:nvPr>
            <p:ph idx="1"/>
          </p:nvPr>
        </p:nvSpPr>
        <p:spPr>
          <a:xfrm>
            <a:off x="958506" y="1916644"/>
            <a:ext cx="10691390" cy="4351338"/>
          </a:xfrm>
        </p:spPr>
        <p:txBody>
          <a:bodyPr>
            <a:normAutofit fontScale="92500"/>
          </a:bodyPr>
          <a:lstStyle/>
          <a:p>
            <a:r>
              <a:rPr lang="en-US" sz="2400" dirty="0"/>
              <a:t>Consider the following stack of characters, where STACK is allocated N=8 memory cells:</a:t>
            </a:r>
          </a:p>
          <a:p>
            <a:pPr lvl="1"/>
            <a:r>
              <a:rPr lang="en-US" sz="2000" dirty="0"/>
              <a:t>STACK: 	A, C, D, F, K, __, __, __, </a:t>
            </a:r>
          </a:p>
          <a:p>
            <a:r>
              <a:rPr lang="en-US" sz="2400" dirty="0"/>
              <a:t>“__” is used to represent empty memory cells. Describe the stack as the following operations take place:</a:t>
            </a:r>
          </a:p>
          <a:p>
            <a:pPr marL="514350" indent="-514350">
              <a:lnSpc>
                <a:spcPct val="150000"/>
              </a:lnSpc>
              <a:buFont typeface="+mj-lt"/>
              <a:buAutoNum type="alphaLcPeriod"/>
            </a:pPr>
            <a:r>
              <a:rPr lang="en-US" sz="2300" dirty="0"/>
              <a:t>POP(STACK, ITEM)</a:t>
            </a:r>
          </a:p>
          <a:p>
            <a:pPr marL="514350" indent="-514350">
              <a:lnSpc>
                <a:spcPct val="150000"/>
              </a:lnSpc>
              <a:buFont typeface="+mj-lt"/>
              <a:buAutoNum type="alphaLcPeriod"/>
            </a:pPr>
            <a:r>
              <a:rPr lang="en-US" sz="2300" dirty="0"/>
              <a:t>POP(STACK, ITEM)</a:t>
            </a:r>
          </a:p>
          <a:p>
            <a:pPr marL="514350" indent="-514350">
              <a:lnSpc>
                <a:spcPct val="150000"/>
              </a:lnSpc>
              <a:buFont typeface="+mj-lt"/>
              <a:buAutoNum type="alphaLcPeriod"/>
            </a:pPr>
            <a:r>
              <a:rPr lang="en-US" sz="2300" dirty="0"/>
              <a:t>PUSH(STACK, L)</a:t>
            </a:r>
          </a:p>
          <a:p>
            <a:pPr marL="514350" indent="-514350">
              <a:lnSpc>
                <a:spcPct val="150000"/>
              </a:lnSpc>
              <a:buFont typeface="+mj-lt"/>
              <a:buAutoNum type="alphaLcPeriod"/>
            </a:pPr>
            <a:r>
              <a:rPr lang="en-US" sz="2300" dirty="0"/>
              <a:t>PUSH(STACK, P)</a:t>
            </a:r>
          </a:p>
          <a:p>
            <a:pPr marL="514350" indent="-514350">
              <a:buFont typeface="+mj-lt"/>
              <a:buAutoNum type="alphaLcPeriod"/>
            </a:pPr>
            <a:endParaRPr lang="en-US" sz="2400" dirty="0"/>
          </a:p>
        </p:txBody>
      </p:sp>
      <p:sp>
        <p:nvSpPr>
          <p:cNvPr id="5" name="TextBox 4">
            <a:extLst>
              <a:ext uri="{FF2B5EF4-FFF2-40B4-BE49-F238E27FC236}">
                <a16:creationId xmlns:a16="http://schemas.microsoft.com/office/drawing/2014/main" id="{FBF73CE1-F00E-4787-864C-D22659A44EC4}"/>
              </a:ext>
            </a:extLst>
          </p:cNvPr>
          <p:cNvSpPr txBox="1"/>
          <p:nvPr/>
        </p:nvSpPr>
        <p:spPr>
          <a:xfrm>
            <a:off x="6014804" y="3429000"/>
            <a:ext cx="4613529" cy="1891287"/>
          </a:xfrm>
          <a:prstGeom prst="rect">
            <a:avLst/>
          </a:prstGeom>
          <a:noFill/>
        </p:spPr>
        <p:txBody>
          <a:bodyPr wrap="square" rtlCol="0">
            <a:spAutoFit/>
          </a:bodyPr>
          <a:lstStyle/>
          <a:p>
            <a:pPr marL="514350" indent="-514350">
              <a:lnSpc>
                <a:spcPct val="150000"/>
              </a:lnSpc>
              <a:buFont typeface="+mj-lt"/>
              <a:buAutoNum type="alphaLcPeriod" startAt="5"/>
            </a:pPr>
            <a:r>
              <a:rPr lang="en-US" sz="2000" dirty="0">
                <a:solidFill>
                  <a:schemeClr val="tx1">
                    <a:lumMod val="75000"/>
                    <a:lumOff val="25000"/>
                  </a:schemeClr>
                </a:solidFill>
              </a:rPr>
              <a:t>POP(STACK, ITEM)</a:t>
            </a:r>
          </a:p>
          <a:p>
            <a:pPr marL="514350" indent="-514350">
              <a:lnSpc>
                <a:spcPct val="150000"/>
              </a:lnSpc>
              <a:buFont typeface="+mj-lt"/>
              <a:buAutoNum type="alphaLcPeriod" startAt="5"/>
            </a:pPr>
            <a:r>
              <a:rPr lang="en-US" sz="2000" dirty="0">
                <a:solidFill>
                  <a:schemeClr val="tx1">
                    <a:lumMod val="75000"/>
                    <a:lumOff val="25000"/>
                  </a:schemeClr>
                </a:solidFill>
              </a:rPr>
              <a:t>PUSH(STACK, R)</a:t>
            </a:r>
          </a:p>
          <a:p>
            <a:pPr marL="514350" indent="-514350">
              <a:lnSpc>
                <a:spcPct val="150000"/>
              </a:lnSpc>
              <a:buFont typeface="+mj-lt"/>
              <a:buAutoNum type="alphaLcPeriod" startAt="5"/>
            </a:pPr>
            <a:r>
              <a:rPr lang="en-US" sz="2000" dirty="0">
                <a:solidFill>
                  <a:schemeClr val="tx1">
                    <a:lumMod val="75000"/>
                    <a:lumOff val="25000"/>
                  </a:schemeClr>
                </a:solidFill>
              </a:rPr>
              <a:t>PUSH(STACK, S)</a:t>
            </a:r>
          </a:p>
          <a:p>
            <a:pPr marL="514350" indent="-514350">
              <a:lnSpc>
                <a:spcPct val="150000"/>
              </a:lnSpc>
              <a:buFont typeface="+mj-lt"/>
              <a:buAutoNum type="alphaLcPeriod" startAt="5"/>
            </a:pPr>
            <a:r>
              <a:rPr lang="en-US" sz="2000" dirty="0">
                <a:solidFill>
                  <a:schemeClr val="tx1">
                    <a:lumMod val="75000"/>
                    <a:lumOff val="25000"/>
                  </a:schemeClr>
                </a:solidFill>
              </a:rPr>
              <a:t>POP(STACK, ITEM)</a:t>
            </a:r>
            <a:endParaRPr lang="en-US" sz="2400" dirty="0">
              <a:solidFill>
                <a:schemeClr val="tx1">
                  <a:lumMod val="75000"/>
                  <a:lumOff val="25000"/>
                </a:schemeClr>
              </a:solidFill>
            </a:endParaRPr>
          </a:p>
        </p:txBody>
      </p:sp>
    </p:spTree>
    <p:extLst>
      <p:ext uri="{BB962C8B-B14F-4D97-AF65-F5344CB8AC3E}">
        <p14:creationId xmlns:p14="http://schemas.microsoft.com/office/powerpoint/2010/main" val="286495237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1481</TotalTime>
  <Words>1669</Words>
  <Application>Microsoft Office PowerPoint</Application>
  <PresentationFormat>Widescreen</PresentationFormat>
  <Paragraphs>290</Paragraphs>
  <Slides>31</Slides>
  <Notes>1</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31</vt:i4>
      </vt:variant>
    </vt:vector>
  </HeadingPairs>
  <TitlesOfParts>
    <vt:vector size="43" baseType="lpstr">
      <vt:lpstr>Malgun Gothic</vt:lpstr>
      <vt:lpstr>Arial</vt:lpstr>
      <vt:lpstr>Calibri</vt:lpstr>
      <vt:lpstr>Calibri Light</vt:lpstr>
      <vt:lpstr>Helvetica</vt:lpstr>
      <vt:lpstr>inter-regular</vt:lpstr>
      <vt:lpstr>Times New Roman</vt:lpstr>
      <vt:lpstr>Trebuchet MS</vt:lpstr>
      <vt:lpstr>Verdana</vt:lpstr>
      <vt:lpstr>Wingdings</vt:lpstr>
      <vt:lpstr>Wingdings 2</vt:lpstr>
      <vt:lpstr>Retrospect</vt:lpstr>
      <vt:lpstr>Data Structure and Algorithm</vt:lpstr>
      <vt:lpstr>Goal for today</vt:lpstr>
      <vt:lpstr>CLO Covered</vt:lpstr>
      <vt:lpstr>Stacks</vt:lpstr>
      <vt:lpstr>Stack</vt:lpstr>
      <vt:lpstr>Stack</vt:lpstr>
      <vt:lpstr>Stack</vt:lpstr>
      <vt:lpstr>Stack </vt:lpstr>
      <vt:lpstr>Real time applications of stacks</vt:lpstr>
      <vt:lpstr>Stack (Examples)</vt:lpstr>
      <vt:lpstr>Common Operations on Stacks</vt:lpstr>
      <vt:lpstr>Push and Pop Operations on Stack</vt:lpstr>
      <vt:lpstr> Stacks Representation</vt:lpstr>
      <vt:lpstr>Static and Dynamic Stacks</vt:lpstr>
      <vt:lpstr>An Array Implementation of Stacks</vt:lpstr>
      <vt:lpstr>Array Representation of Stack</vt:lpstr>
      <vt:lpstr>An Array Implementation of Stacks</vt:lpstr>
      <vt:lpstr>Push():Insertion in stack</vt:lpstr>
      <vt:lpstr>Pop():Deletion in stack</vt:lpstr>
      <vt:lpstr>PowerPoint Presentation</vt:lpstr>
      <vt:lpstr>PowerPoint Presentation</vt:lpstr>
      <vt:lpstr>Stacks algorithms using linked list</vt:lpstr>
      <vt:lpstr>Linked List Representation of Stack </vt:lpstr>
      <vt:lpstr>PUSH Operation </vt:lpstr>
      <vt:lpstr>PUSH Operation </vt:lpstr>
      <vt:lpstr>PUSH Operation using linked list </vt:lpstr>
      <vt:lpstr>POP Operation </vt:lpstr>
      <vt:lpstr>POP Operation </vt:lpstr>
      <vt:lpstr>POP Operation using linked list </vt:lpstr>
      <vt:lpstr>Application of stacks</vt:lpstr>
      <vt:lpstr>Your Turn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Habiba Arshad</dc:creator>
  <cp:lastModifiedBy>Rida Zahra</cp:lastModifiedBy>
  <cp:revision>21</cp:revision>
  <dcterms:created xsi:type="dcterms:W3CDTF">2022-11-09T10:25:05Z</dcterms:created>
  <dcterms:modified xsi:type="dcterms:W3CDTF">2025-12-03T03:54:04Z</dcterms:modified>
</cp:coreProperties>
</file>