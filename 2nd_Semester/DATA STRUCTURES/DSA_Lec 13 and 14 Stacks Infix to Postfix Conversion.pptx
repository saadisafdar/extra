
<file path=[Content_Types].xml><?xml version="1.0" encoding="utf-8"?>
<Types xmlns="http://schemas.openxmlformats.org/package/2006/content-types">
  <Default Extension="bin" ContentType="image/unknown"/>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0"/>
  </p:notesMasterIdLst>
  <p:sldIdLst>
    <p:sldId id="256" r:id="rId2"/>
    <p:sldId id="371" r:id="rId3"/>
    <p:sldId id="419" r:id="rId4"/>
    <p:sldId id="400" r:id="rId5"/>
    <p:sldId id="401" r:id="rId6"/>
    <p:sldId id="372" r:id="rId7"/>
    <p:sldId id="307" r:id="rId8"/>
    <p:sldId id="313" r:id="rId9"/>
    <p:sldId id="314" r:id="rId10"/>
    <p:sldId id="315" r:id="rId11"/>
    <p:sldId id="316" r:id="rId12"/>
    <p:sldId id="366" r:id="rId13"/>
    <p:sldId id="368" r:id="rId14"/>
    <p:sldId id="402" r:id="rId15"/>
    <p:sldId id="367" r:id="rId16"/>
    <p:sldId id="317" r:id="rId17"/>
    <p:sldId id="369" r:id="rId18"/>
    <p:sldId id="370" r:id="rId19"/>
    <p:sldId id="319" r:id="rId20"/>
    <p:sldId id="318" r:id="rId21"/>
    <p:sldId id="356" r:id="rId22"/>
    <p:sldId id="413" r:id="rId23"/>
    <p:sldId id="412" r:id="rId24"/>
    <p:sldId id="364" r:id="rId25"/>
    <p:sldId id="403" r:id="rId26"/>
    <p:sldId id="404" r:id="rId27"/>
    <p:sldId id="417" r:id="rId28"/>
    <p:sldId id="418"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6709" autoAdjust="0"/>
  </p:normalViewPr>
  <p:slideViewPr>
    <p:cSldViewPr snapToGrid="0">
      <p:cViewPr varScale="1">
        <p:scale>
          <a:sx n="71" d="100"/>
          <a:sy n="71" d="100"/>
        </p:scale>
        <p:origin x="1138" y="6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E9B621-F624-4008-BCAC-94E3CB87C1F8}" type="datetimeFigureOut">
              <a:rPr lang="en-US" smtClean="0"/>
              <a:t>11/25/2024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A6732A-1953-4C1D-8E3D-786D14C9AFAE}" type="slidenum">
              <a:rPr lang="en-US" smtClean="0"/>
              <a:t>‹#›</a:t>
            </a:fld>
            <a:endParaRPr lang="en-US"/>
          </a:p>
        </p:txBody>
      </p:sp>
    </p:spTree>
    <p:extLst>
      <p:ext uri="{BB962C8B-B14F-4D97-AF65-F5344CB8AC3E}">
        <p14:creationId xmlns:p14="http://schemas.microsoft.com/office/powerpoint/2010/main" val="516121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two operators having same priority can stay together in stack</a:t>
            </a:r>
          </a:p>
          <a:p>
            <a:r>
              <a:rPr lang="en-US" dirty="0"/>
              <a:t>Lowest priority cannot be placed before highest priority operator.</a:t>
            </a:r>
          </a:p>
        </p:txBody>
      </p:sp>
      <p:sp>
        <p:nvSpPr>
          <p:cNvPr id="4" name="Slide Number Placeholder 3"/>
          <p:cNvSpPr>
            <a:spLocks noGrp="1"/>
          </p:cNvSpPr>
          <p:nvPr>
            <p:ph type="sldNum" sz="quarter" idx="5"/>
          </p:nvPr>
        </p:nvSpPr>
        <p:spPr/>
        <p:txBody>
          <a:bodyPr/>
          <a:lstStyle/>
          <a:p>
            <a:fld id="{F0A6732A-1953-4C1D-8E3D-786D14C9AFAE}" type="slidenum">
              <a:rPr lang="en-US" smtClean="0"/>
              <a:t>18</a:t>
            </a:fld>
            <a:endParaRPr lang="en-US"/>
          </a:p>
        </p:txBody>
      </p:sp>
    </p:spTree>
    <p:extLst>
      <p:ext uri="{BB962C8B-B14F-4D97-AF65-F5344CB8AC3E}">
        <p14:creationId xmlns:p14="http://schemas.microsoft.com/office/powerpoint/2010/main" val="7502481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https://www.javatpoint.com/convert-infix-to-postfix-notation</a:t>
            </a:r>
          </a:p>
        </p:txBody>
      </p:sp>
      <p:sp>
        <p:nvSpPr>
          <p:cNvPr id="4" name="Slide Number Placeholder 3"/>
          <p:cNvSpPr>
            <a:spLocks noGrp="1"/>
          </p:cNvSpPr>
          <p:nvPr>
            <p:ph type="sldNum" sz="quarter" idx="5"/>
          </p:nvPr>
        </p:nvSpPr>
        <p:spPr/>
        <p:txBody>
          <a:bodyPr/>
          <a:lstStyle/>
          <a:p>
            <a:fld id="{88EDD04F-ABCF-4176-A96D-0EEF40782311}" type="slidenum">
              <a:rPr lang="en-US" smtClean="0"/>
              <a:t>19</a:t>
            </a:fld>
            <a:endParaRPr lang="en-US"/>
          </a:p>
        </p:txBody>
      </p:sp>
    </p:spTree>
    <p:extLst>
      <p:ext uri="{BB962C8B-B14F-4D97-AF65-F5344CB8AC3E}">
        <p14:creationId xmlns:p14="http://schemas.microsoft.com/office/powerpoint/2010/main" val="20989058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8EDD04F-ABCF-4176-A96D-0EEF40782311}" type="slidenum">
              <a:rPr lang="en-US" smtClean="0"/>
              <a:t>21</a:t>
            </a:fld>
            <a:endParaRPr lang="en-US"/>
          </a:p>
        </p:txBody>
      </p:sp>
    </p:spTree>
    <p:extLst>
      <p:ext uri="{BB962C8B-B14F-4D97-AF65-F5344CB8AC3E}">
        <p14:creationId xmlns:p14="http://schemas.microsoft.com/office/powerpoint/2010/main" val="32193080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61A2976-7099-4296-9472-53CF18B28915}" type="datetimeFigureOut">
              <a:rPr lang="en-US" smtClean="0"/>
              <a:t>11/25/2024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FC213E-D6EE-4B9D-AC22-36FA710AB9E2}"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20259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1A2976-7099-4296-9472-53CF18B28915}" type="datetimeFigureOut">
              <a:rPr lang="en-US" smtClean="0"/>
              <a:t>11/25/2024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FC213E-D6EE-4B9D-AC22-36FA710AB9E2}" type="slidenum">
              <a:rPr lang="en-US" smtClean="0"/>
              <a:t>‹#›</a:t>
            </a:fld>
            <a:endParaRPr lang="en-US"/>
          </a:p>
        </p:txBody>
      </p:sp>
    </p:spTree>
    <p:extLst>
      <p:ext uri="{BB962C8B-B14F-4D97-AF65-F5344CB8AC3E}">
        <p14:creationId xmlns:p14="http://schemas.microsoft.com/office/powerpoint/2010/main" val="7340280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61A2976-7099-4296-9472-53CF18B28915}" type="datetimeFigureOut">
              <a:rPr lang="en-US" smtClean="0"/>
              <a:t>11/25/2024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FC213E-D6EE-4B9D-AC22-36FA710AB9E2}"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39175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61A2976-7099-4296-9472-53CF18B28915}" type="datetimeFigureOut">
              <a:rPr lang="en-US" smtClean="0"/>
              <a:t>11/25/2024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FC213E-D6EE-4B9D-AC22-36FA710AB9E2}" type="slidenum">
              <a:rPr lang="en-US" smtClean="0"/>
              <a:t>‹#›</a:t>
            </a:fld>
            <a:endParaRPr lang="en-US"/>
          </a:p>
        </p:txBody>
      </p:sp>
    </p:spTree>
    <p:extLst>
      <p:ext uri="{BB962C8B-B14F-4D97-AF65-F5344CB8AC3E}">
        <p14:creationId xmlns:p14="http://schemas.microsoft.com/office/powerpoint/2010/main" val="28396324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61A2976-7099-4296-9472-53CF18B28915}" type="datetimeFigureOut">
              <a:rPr lang="en-US" smtClean="0"/>
              <a:t>11/25/2024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FC213E-D6EE-4B9D-AC22-36FA710AB9E2}" type="slidenum">
              <a:rPr lang="en-US" smtClean="0"/>
              <a:t>‹#›</a:t>
            </a:fld>
            <a:endParaRPr lang="en-US"/>
          </a:p>
        </p:txBody>
      </p:sp>
    </p:spTree>
    <p:extLst>
      <p:ext uri="{BB962C8B-B14F-4D97-AF65-F5344CB8AC3E}">
        <p14:creationId xmlns:p14="http://schemas.microsoft.com/office/powerpoint/2010/main" val="32936390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61A2976-7099-4296-9472-53CF18B28915}" type="datetimeFigureOut">
              <a:rPr lang="en-US" smtClean="0"/>
              <a:t>11/25/2024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FC213E-D6EE-4B9D-AC22-36FA710AB9E2}" type="slidenum">
              <a:rPr lang="en-US" smtClean="0"/>
              <a:t>‹#›</a:t>
            </a:fld>
            <a:endParaRPr lang="en-US"/>
          </a:p>
        </p:txBody>
      </p:sp>
    </p:spTree>
    <p:extLst>
      <p:ext uri="{BB962C8B-B14F-4D97-AF65-F5344CB8AC3E}">
        <p14:creationId xmlns:p14="http://schemas.microsoft.com/office/powerpoint/2010/main" val="23883678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861A2976-7099-4296-9472-53CF18B28915}" type="datetimeFigureOut">
              <a:rPr lang="en-US" smtClean="0"/>
              <a:t>11/25/2024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5FFC213E-D6EE-4B9D-AC22-36FA710AB9E2}" type="slidenum">
              <a:rPr lang="en-US" smtClean="0"/>
              <a:t>‹#›</a:t>
            </a:fld>
            <a:endParaRPr lang="en-US"/>
          </a:p>
        </p:txBody>
      </p:sp>
    </p:spTree>
    <p:extLst>
      <p:ext uri="{BB962C8B-B14F-4D97-AF65-F5344CB8AC3E}">
        <p14:creationId xmlns:p14="http://schemas.microsoft.com/office/powerpoint/2010/main" val="12327541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861A2976-7099-4296-9472-53CF18B28915}" type="datetimeFigureOut">
              <a:rPr lang="en-US" smtClean="0"/>
              <a:t>11/25/2024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5FFC213E-D6EE-4B9D-AC22-36FA710AB9E2}" type="slidenum">
              <a:rPr lang="en-US" smtClean="0"/>
              <a:t>‹#›</a:t>
            </a:fld>
            <a:endParaRPr lang="en-US"/>
          </a:p>
        </p:txBody>
      </p:sp>
    </p:spTree>
    <p:extLst>
      <p:ext uri="{BB962C8B-B14F-4D97-AF65-F5344CB8AC3E}">
        <p14:creationId xmlns:p14="http://schemas.microsoft.com/office/powerpoint/2010/main" val="24493205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61A2976-7099-4296-9472-53CF18B28915}" type="datetimeFigureOut">
              <a:rPr lang="en-US" smtClean="0"/>
              <a:t>11/25/2024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FC213E-D6EE-4B9D-AC22-36FA710AB9E2}" type="slidenum">
              <a:rPr lang="en-US" smtClean="0"/>
              <a:t>‹#›</a:t>
            </a:fld>
            <a:endParaRPr lang="en-US"/>
          </a:p>
        </p:txBody>
      </p:sp>
    </p:spTree>
    <p:extLst>
      <p:ext uri="{BB962C8B-B14F-4D97-AF65-F5344CB8AC3E}">
        <p14:creationId xmlns:p14="http://schemas.microsoft.com/office/powerpoint/2010/main" val="21412788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1A2976-7099-4296-9472-53CF18B28915}" type="datetimeFigureOut">
              <a:rPr lang="en-US" smtClean="0"/>
              <a:t>11/25/2024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FC213E-D6EE-4B9D-AC22-36FA710AB9E2}" type="slidenum">
              <a:rPr lang="en-US" smtClean="0"/>
              <a:t>‹#›</a:t>
            </a:fld>
            <a:endParaRPr lang="en-US"/>
          </a:p>
        </p:txBody>
      </p:sp>
    </p:spTree>
    <p:extLst>
      <p:ext uri="{BB962C8B-B14F-4D97-AF65-F5344CB8AC3E}">
        <p14:creationId xmlns:p14="http://schemas.microsoft.com/office/powerpoint/2010/main" val="21055697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1A2976-7099-4296-9472-53CF18B28915}" type="datetimeFigureOut">
              <a:rPr lang="en-US" smtClean="0"/>
              <a:t>11/25/2024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FC213E-D6EE-4B9D-AC22-36FA710AB9E2}" type="slidenum">
              <a:rPr lang="en-US" smtClean="0"/>
              <a:t>‹#›</a:t>
            </a:fld>
            <a:endParaRPr lang="en-US"/>
          </a:p>
        </p:txBody>
      </p:sp>
    </p:spTree>
    <p:extLst>
      <p:ext uri="{BB962C8B-B14F-4D97-AF65-F5344CB8AC3E}">
        <p14:creationId xmlns:p14="http://schemas.microsoft.com/office/powerpoint/2010/main" val="4570264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861A2976-7099-4296-9472-53CF18B28915}" type="datetimeFigureOut">
              <a:rPr lang="en-US" smtClean="0"/>
              <a:t>11/25/2024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5FFC213E-D6EE-4B9D-AC22-36FA710AB9E2}"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13212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bin"/><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51019-D6D8-B4E5-437E-353D5189EB60}"/>
              </a:ext>
            </a:extLst>
          </p:cNvPr>
          <p:cNvSpPr>
            <a:spLocks noGrp="1"/>
          </p:cNvSpPr>
          <p:nvPr>
            <p:ph type="ctrTitle"/>
          </p:nvPr>
        </p:nvSpPr>
        <p:spPr/>
        <p:txBody>
          <a:bodyPr/>
          <a:lstStyle/>
          <a:p>
            <a:pPr algn="ctr"/>
            <a:r>
              <a:rPr lang="en-US" dirty="0"/>
              <a:t>Data Structure and Algorithm</a:t>
            </a:r>
          </a:p>
        </p:txBody>
      </p:sp>
      <p:sp>
        <p:nvSpPr>
          <p:cNvPr id="3" name="Subtitle 2">
            <a:extLst>
              <a:ext uri="{FF2B5EF4-FFF2-40B4-BE49-F238E27FC236}">
                <a16:creationId xmlns:a16="http://schemas.microsoft.com/office/drawing/2014/main" id="{DFA729D7-3FF1-E12D-AEA7-6C6EFAF0E753}"/>
              </a:ext>
            </a:extLst>
          </p:cNvPr>
          <p:cNvSpPr>
            <a:spLocks noGrp="1"/>
          </p:cNvSpPr>
          <p:nvPr>
            <p:ph type="subTitle" idx="1"/>
          </p:nvPr>
        </p:nvSpPr>
        <p:spPr/>
        <p:txBody>
          <a:bodyPr>
            <a:normAutofit fontScale="85000" lnSpcReduction="20000"/>
          </a:bodyPr>
          <a:lstStyle/>
          <a:p>
            <a:r>
              <a:rPr lang="en-US" dirty="0"/>
              <a:t>Course code: cs-201</a:t>
            </a:r>
          </a:p>
          <a:p>
            <a:r>
              <a:rPr lang="en-US" dirty="0"/>
              <a:t>Topic: Infix to postfix conversion- stacks</a:t>
            </a:r>
          </a:p>
          <a:p>
            <a:r>
              <a:rPr lang="en-US" dirty="0"/>
              <a:t>Instructor: </a:t>
            </a:r>
            <a:r>
              <a:rPr lang="en-US" dirty="0" err="1"/>
              <a:t>habiba</a:t>
            </a:r>
            <a:r>
              <a:rPr lang="en-US" dirty="0"/>
              <a:t> </a:t>
            </a:r>
            <a:r>
              <a:rPr lang="en-US" dirty="0" err="1"/>
              <a:t>arshad</a:t>
            </a:r>
            <a:endParaRPr lang="en-US" dirty="0"/>
          </a:p>
        </p:txBody>
      </p:sp>
    </p:spTree>
    <p:extLst>
      <p:ext uri="{BB962C8B-B14F-4D97-AF65-F5344CB8AC3E}">
        <p14:creationId xmlns:p14="http://schemas.microsoft.com/office/powerpoint/2010/main" val="9298679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D2581-365E-011A-CC8B-75B6902F76EC}"/>
              </a:ext>
            </a:extLst>
          </p:cNvPr>
          <p:cNvSpPr>
            <a:spLocks noGrp="1"/>
          </p:cNvSpPr>
          <p:nvPr>
            <p:ph type="title"/>
          </p:nvPr>
        </p:nvSpPr>
        <p:spPr/>
        <p:txBody>
          <a:bodyPr/>
          <a:lstStyle/>
          <a:p>
            <a:r>
              <a:rPr lang="en-US" dirty="0"/>
              <a:t>Goal for today</a:t>
            </a:r>
          </a:p>
        </p:txBody>
      </p:sp>
      <p:sp>
        <p:nvSpPr>
          <p:cNvPr id="3" name="Content Placeholder 2">
            <a:extLst>
              <a:ext uri="{FF2B5EF4-FFF2-40B4-BE49-F238E27FC236}">
                <a16:creationId xmlns:a16="http://schemas.microsoft.com/office/drawing/2014/main" id="{7D836995-CA9F-5F5D-8D20-E38EEAC6D4CA}"/>
              </a:ext>
            </a:extLst>
          </p:cNvPr>
          <p:cNvSpPr>
            <a:spLocks noGrp="1"/>
          </p:cNvSpPr>
          <p:nvPr>
            <p:ph idx="1"/>
          </p:nvPr>
        </p:nvSpPr>
        <p:spPr/>
        <p:txBody>
          <a:bodyPr/>
          <a:lstStyle/>
          <a:p>
            <a:pPr>
              <a:buFont typeface="Wingdings" panose="05000000000000000000" pitchFamily="2" charset="2"/>
              <a:buChar char="Ø"/>
            </a:pPr>
            <a:r>
              <a:rPr lang="en-GB" altLang="en-US" sz="3200" dirty="0"/>
              <a:t>Reversal of Strings</a:t>
            </a:r>
          </a:p>
          <a:p>
            <a:pPr>
              <a:buFont typeface="Wingdings" panose="05000000000000000000" pitchFamily="2" charset="2"/>
              <a:buChar char="Ø"/>
            </a:pPr>
            <a:r>
              <a:rPr lang="en-GB" altLang="en-US" sz="3200" dirty="0"/>
              <a:t>Infix to postfix conversion using stack</a:t>
            </a:r>
          </a:p>
          <a:p>
            <a:pPr>
              <a:buFont typeface="Wingdings" panose="05000000000000000000" pitchFamily="2" charset="2"/>
              <a:buChar char="Ø"/>
            </a:pPr>
            <a:r>
              <a:rPr lang="en-US" sz="3200" dirty="0"/>
              <a:t>evaluation of postfix expression</a:t>
            </a:r>
            <a:endParaRPr lang="en-GB" altLang="en-US" sz="3200" dirty="0"/>
          </a:p>
          <a:p>
            <a:endParaRPr lang="en-US" dirty="0"/>
          </a:p>
        </p:txBody>
      </p:sp>
    </p:spTree>
    <p:extLst>
      <p:ext uri="{BB962C8B-B14F-4D97-AF65-F5344CB8AC3E}">
        <p14:creationId xmlns:p14="http://schemas.microsoft.com/office/powerpoint/2010/main" val="7550526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C7CF5-B27A-91B5-0719-5771CD1BF3A0}"/>
              </a:ext>
            </a:extLst>
          </p:cNvPr>
          <p:cNvSpPr>
            <a:spLocks noGrp="1"/>
          </p:cNvSpPr>
          <p:nvPr>
            <p:ph type="title"/>
          </p:nvPr>
        </p:nvSpPr>
        <p:spPr>
          <a:xfrm>
            <a:off x="1097280" y="286603"/>
            <a:ext cx="10058400" cy="617039"/>
          </a:xfrm>
        </p:spPr>
        <p:txBody>
          <a:bodyPr>
            <a:normAutofit fontScale="90000"/>
          </a:bodyPr>
          <a:lstStyle/>
          <a:p>
            <a:r>
              <a:rPr lang="en-US" dirty="0"/>
              <a:t>Practice Task</a:t>
            </a:r>
          </a:p>
        </p:txBody>
      </p:sp>
      <p:sp>
        <p:nvSpPr>
          <p:cNvPr id="3" name="Content Placeholder 2">
            <a:extLst>
              <a:ext uri="{FF2B5EF4-FFF2-40B4-BE49-F238E27FC236}">
                <a16:creationId xmlns:a16="http://schemas.microsoft.com/office/drawing/2014/main" id="{E88CF619-E2EA-D05B-D557-80087BDA7B72}"/>
              </a:ext>
            </a:extLst>
          </p:cNvPr>
          <p:cNvSpPr>
            <a:spLocks noGrp="1"/>
          </p:cNvSpPr>
          <p:nvPr>
            <p:ph idx="1"/>
          </p:nvPr>
        </p:nvSpPr>
        <p:spPr>
          <a:xfrm>
            <a:off x="656216" y="742278"/>
            <a:ext cx="10499464" cy="5712310"/>
          </a:xfrm>
        </p:spPr>
        <p:txBody>
          <a:bodyPr>
            <a:normAutofit fontScale="92500" lnSpcReduction="20000"/>
          </a:bodyPr>
          <a:lstStyle/>
          <a:p>
            <a:pPr marL="0" marR="0" algn="just">
              <a:lnSpc>
                <a:spcPct val="107000"/>
              </a:lnSpc>
              <a:spcAft>
                <a:spcPts val="800"/>
              </a:spcAft>
            </a:pPr>
            <a:r>
              <a:rPr lang="en-US" sz="2600" dirty="0">
                <a:effectLst/>
                <a:latin typeface="Times New Roman" panose="02020603050405020304" pitchFamily="18" charset="0"/>
                <a:ea typeface="Calibri" panose="020F0502020204030204" pitchFamily="34" charset="0"/>
                <a:cs typeface="Times New Roman" panose="02020603050405020304" pitchFamily="18" charset="0"/>
              </a:rPr>
              <a:t>Write an algorithm to perform ‘push’ and ‘pop’ operations in Stack and by considering the following stack of city names, show the pictorial representation of stack as the below mentioned operations take place:                                                                                    </a:t>
            </a:r>
          </a:p>
          <a:p>
            <a:pPr marL="0" marR="0" algn="just">
              <a:lnSpc>
                <a:spcPct val="107000"/>
              </a:lnSpc>
              <a:spcAft>
                <a:spcPts val="800"/>
              </a:spcAft>
            </a:pPr>
            <a:r>
              <a:rPr lang="en-US" sz="2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600" b="1" dirty="0">
                <a:effectLst/>
                <a:latin typeface="Times New Roman" panose="02020603050405020304" pitchFamily="18" charset="0"/>
                <a:ea typeface="Calibri" panose="020F0502020204030204" pitchFamily="34" charset="0"/>
                <a:cs typeface="Times New Roman" panose="02020603050405020304" pitchFamily="18" charset="0"/>
              </a:rPr>
              <a:t>STACK:</a:t>
            </a:r>
            <a:r>
              <a:rPr lang="en-US" sz="2600" dirty="0">
                <a:effectLst/>
                <a:latin typeface="Times New Roman" panose="02020603050405020304" pitchFamily="18" charset="0"/>
                <a:ea typeface="Calibri" panose="020F0502020204030204" pitchFamily="34" charset="0"/>
                <a:cs typeface="Times New Roman" panose="02020603050405020304" pitchFamily="18" charset="0"/>
              </a:rPr>
              <a:t> London, Berlin, Rome, Paris, _____, ______</a:t>
            </a:r>
            <a:endParaRPr lang="en-US" sz="26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Aft>
                <a:spcPts val="800"/>
              </a:spcAft>
            </a:pPr>
            <a:r>
              <a:rPr lang="en-US" sz="2600" b="1" dirty="0">
                <a:effectLst/>
                <a:latin typeface="Times New Roman" panose="02020603050405020304" pitchFamily="18" charset="0"/>
                <a:ea typeface="Calibri" panose="020F0502020204030204" pitchFamily="34" charset="0"/>
                <a:cs typeface="Times New Roman" panose="02020603050405020304" pitchFamily="18" charset="0"/>
              </a:rPr>
              <a:t>Operations:</a:t>
            </a:r>
            <a:endParaRPr lang="en-US" sz="2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buFont typeface="+mj-lt"/>
              <a:buAutoNum type="alphaLcPeriod"/>
            </a:pPr>
            <a:r>
              <a:rPr lang="en-US" sz="2600" dirty="0">
                <a:effectLst/>
                <a:latin typeface="Times New Roman" panose="02020603050405020304" pitchFamily="18" charset="0"/>
                <a:ea typeface="Calibri" panose="020F0502020204030204" pitchFamily="34" charset="0"/>
                <a:cs typeface="Times New Roman" panose="02020603050405020304" pitchFamily="18" charset="0"/>
              </a:rPr>
              <a:t>PUSH (STACK, Athens)</a:t>
            </a:r>
            <a:endParaRPr lang="en-US" sz="2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buFont typeface="+mj-lt"/>
              <a:buAutoNum type="alphaLcPeriod"/>
            </a:pPr>
            <a:r>
              <a:rPr lang="en-US" sz="2600" dirty="0">
                <a:effectLst/>
                <a:latin typeface="Times New Roman" panose="02020603050405020304" pitchFamily="18" charset="0"/>
                <a:ea typeface="Calibri" panose="020F0502020204030204" pitchFamily="34" charset="0"/>
                <a:cs typeface="Times New Roman" panose="02020603050405020304" pitchFamily="18" charset="0"/>
              </a:rPr>
              <a:t>POP (STACK, ITEM)</a:t>
            </a:r>
            <a:endParaRPr lang="en-US" sz="2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buFont typeface="+mj-lt"/>
              <a:buAutoNum type="alphaLcPeriod"/>
            </a:pPr>
            <a:r>
              <a:rPr lang="en-US" sz="2600" dirty="0">
                <a:effectLst/>
                <a:latin typeface="Times New Roman" panose="02020603050405020304" pitchFamily="18" charset="0"/>
                <a:ea typeface="Calibri" panose="020F0502020204030204" pitchFamily="34" charset="0"/>
                <a:cs typeface="Times New Roman" panose="02020603050405020304" pitchFamily="18" charset="0"/>
              </a:rPr>
              <a:t>POP (STACK, ITEM)</a:t>
            </a:r>
            <a:endParaRPr lang="en-US" sz="2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buFont typeface="+mj-lt"/>
              <a:buAutoNum type="alphaLcPeriod"/>
            </a:pPr>
            <a:r>
              <a:rPr lang="en-US" sz="2600" dirty="0">
                <a:effectLst/>
                <a:latin typeface="Times New Roman" panose="02020603050405020304" pitchFamily="18" charset="0"/>
                <a:ea typeface="Calibri" panose="020F0502020204030204" pitchFamily="34" charset="0"/>
                <a:cs typeface="Times New Roman" panose="02020603050405020304" pitchFamily="18" charset="0"/>
              </a:rPr>
              <a:t>PUSH (STACK, Madrid)</a:t>
            </a:r>
            <a:endParaRPr lang="en-US" sz="2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buFont typeface="+mj-lt"/>
              <a:buAutoNum type="alphaLcPeriod"/>
            </a:pPr>
            <a:r>
              <a:rPr lang="en-US" sz="2600" dirty="0">
                <a:effectLst/>
                <a:latin typeface="Times New Roman" panose="02020603050405020304" pitchFamily="18" charset="0"/>
                <a:ea typeface="Calibri" panose="020F0502020204030204" pitchFamily="34" charset="0"/>
                <a:cs typeface="Times New Roman" panose="02020603050405020304" pitchFamily="18" charset="0"/>
              </a:rPr>
              <a:t>PUSH (STACK, Moscow)</a:t>
            </a:r>
            <a:endParaRPr lang="en-US" sz="2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Aft>
                <a:spcPts val="800"/>
              </a:spcAft>
              <a:buFont typeface="+mj-lt"/>
              <a:buAutoNum type="alphaLcPeriod"/>
            </a:pPr>
            <a:r>
              <a:rPr lang="en-US" sz="2600" dirty="0">
                <a:effectLst/>
                <a:latin typeface="Times New Roman" panose="02020603050405020304" pitchFamily="18" charset="0"/>
                <a:ea typeface="Calibri" panose="020F0502020204030204" pitchFamily="34" charset="0"/>
                <a:cs typeface="Times New Roman" panose="02020603050405020304" pitchFamily="18" charset="0"/>
              </a:rPr>
              <a:t>POP (STACK, ITEM)</a:t>
            </a:r>
            <a:endParaRPr lang="en-US" sz="26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6465723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F3836B5D-666C-0711-A9DF-BD438BB04FBC}"/>
              </a:ext>
            </a:extLst>
          </p:cNvPr>
          <p:cNvSpPr>
            <a:spLocks noGrp="1" noChangeArrowheads="1"/>
          </p:cNvSpPr>
          <p:nvPr>
            <p:ph type="title"/>
          </p:nvPr>
        </p:nvSpPr>
        <p:spPr/>
        <p:txBody>
          <a:bodyPr/>
          <a:lstStyle/>
          <a:p>
            <a:pPr eaLnBrk="1" hangingPunct="1">
              <a:defRPr/>
            </a:pPr>
            <a:r>
              <a:rPr lang="en-US" dirty="0"/>
              <a:t>Application of stacks</a:t>
            </a:r>
          </a:p>
        </p:txBody>
      </p:sp>
      <p:sp>
        <p:nvSpPr>
          <p:cNvPr id="37891" name="Content Placeholder 3">
            <a:extLst>
              <a:ext uri="{FF2B5EF4-FFF2-40B4-BE49-F238E27FC236}">
                <a16:creationId xmlns:a16="http://schemas.microsoft.com/office/drawing/2014/main" id="{17D13A4B-67EA-00C7-3A31-D2E3C222677F}"/>
              </a:ext>
            </a:extLst>
          </p:cNvPr>
          <p:cNvSpPr>
            <a:spLocks noGrp="1"/>
          </p:cNvSpPr>
          <p:nvPr>
            <p:ph idx="1"/>
          </p:nvPr>
        </p:nvSpPr>
        <p:spPr/>
        <p:txBody>
          <a:bodyPr>
            <a:normAutofit/>
          </a:bodyPr>
          <a:lstStyle/>
          <a:p>
            <a:pPr>
              <a:buFont typeface="Wingdings" panose="05000000000000000000" pitchFamily="2" charset="2"/>
              <a:buChar char="§"/>
            </a:pPr>
            <a:r>
              <a:rPr lang="en-US" altLang="en-US" sz="2800" dirty="0"/>
              <a:t>Reversal of strings.</a:t>
            </a:r>
          </a:p>
          <a:p>
            <a:pPr>
              <a:buFont typeface="Wingdings" panose="05000000000000000000" pitchFamily="2" charset="2"/>
              <a:buChar char="§"/>
            </a:pPr>
            <a:r>
              <a:rPr lang="en-US" altLang="en-US" sz="2800" dirty="0"/>
              <a:t>Checking validity of brackets.</a:t>
            </a:r>
          </a:p>
          <a:p>
            <a:pPr>
              <a:buFont typeface="Wingdings" panose="05000000000000000000" pitchFamily="2" charset="2"/>
              <a:buChar char="§"/>
            </a:pPr>
            <a:r>
              <a:rPr lang="en-US" altLang="en-US" sz="2800" dirty="0"/>
              <a:t>Converting infix to postfix and prefix.</a:t>
            </a:r>
          </a:p>
          <a:p>
            <a:pPr>
              <a:buFont typeface="Wingdings" panose="05000000000000000000" pitchFamily="2" charset="2"/>
              <a:buChar char="§"/>
            </a:pPr>
            <a:r>
              <a:rPr lang="en-US" altLang="en-US" sz="2800" dirty="0"/>
              <a:t>Evaluating the postfix expression.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3736D-AC86-1D80-53FF-47EEC4ABF092}"/>
              </a:ext>
            </a:extLst>
          </p:cNvPr>
          <p:cNvSpPr>
            <a:spLocks noGrp="1"/>
          </p:cNvSpPr>
          <p:nvPr>
            <p:ph type="title"/>
          </p:nvPr>
        </p:nvSpPr>
        <p:spPr/>
        <p:txBody>
          <a:bodyPr/>
          <a:lstStyle/>
          <a:p>
            <a:r>
              <a:rPr lang="en-US" dirty="0"/>
              <a:t>Checking expression validity</a:t>
            </a:r>
          </a:p>
        </p:txBody>
      </p:sp>
      <p:sp>
        <p:nvSpPr>
          <p:cNvPr id="3" name="Content Placeholder 2">
            <a:extLst>
              <a:ext uri="{FF2B5EF4-FFF2-40B4-BE49-F238E27FC236}">
                <a16:creationId xmlns:a16="http://schemas.microsoft.com/office/drawing/2014/main" id="{E2D93259-6045-3B2E-8348-C49EAA752178}"/>
              </a:ext>
            </a:extLst>
          </p:cNvPr>
          <p:cNvSpPr>
            <a:spLocks noGrp="1"/>
          </p:cNvSpPr>
          <p:nvPr>
            <p:ph idx="1"/>
          </p:nvPr>
        </p:nvSpPr>
        <p:spPr/>
        <p:txBody>
          <a:bodyPr/>
          <a:lstStyle/>
          <a:p>
            <a:r>
              <a:rPr lang="en-US" sz="2400" dirty="0"/>
              <a:t>Total number of left parenthesis should be equal to number of right parenthesis in the expression.</a:t>
            </a:r>
          </a:p>
          <a:p>
            <a:r>
              <a:rPr lang="en-US" sz="2400" dirty="0"/>
              <a:t>For every right parenthesis in the expression there should be left parenthesis of the same type.</a:t>
            </a:r>
          </a:p>
          <a:p>
            <a:r>
              <a:rPr lang="en-US" sz="2400" dirty="0"/>
              <a:t>For example:</a:t>
            </a:r>
          </a:p>
          <a:p>
            <a:pPr marL="512763" indent="0">
              <a:buNone/>
            </a:pPr>
            <a:r>
              <a:rPr lang="en-US" sz="2400" b="1" dirty="0"/>
              <a:t>[19-5*(9+4)	</a:t>
            </a:r>
            <a:endParaRPr lang="en-US" sz="2400" b="1" dirty="0">
              <a:solidFill>
                <a:srgbClr val="FF0000"/>
              </a:solidFill>
            </a:endParaRPr>
          </a:p>
          <a:p>
            <a:pPr marL="512763" indent="0">
              <a:buNone/>
            </a:pPr>
            <a:r>
              <a:rPr lang="en-US" sz="2400" b="1" dirty="0"/>
              <a:t>(1+5}		</a:t>
            </a:r>
            <a:endParaRPr lang="en-US" sz="2400" b="1" dirty="0">
              <a:solidFill>
                <a:srgbClr val="FF0000"/>
              </a:solidFill>
            </a:endParaRPr>
          </a:p>
          <a:p>
            <a:pPr marL="512763" indent="0">
              <a:buNone/>
            </a:pPr>
            <a:r>
              <a:rPr lang="en-US" sz="2400" b="1" dirty="0"/>
              <a:t>[5+4*(9-2)]	</a:t>
            </a:r>
            <a:endParaRPr lang="en-US" sz="2400" b="1" dirty="0">
              <a:solidFill>
                <a:srgbClr val="00B050"/>
              </a:solidFill>
            </a:endParaRPr>
          </a:p>
          <a:p>
            <a:endParaRPr lang="en-US" dirty="0"/>
          </a:p>
        </p:txBody>
      </p:sp>
      <p:sp>
        <p:nvSpPr>
          <p:cNvPr id="4" name="TextBox 3">
            <a:extLst>
              <a:ext uri="{FF2B5EF4-FFF2-40B4-BE49-F238E27FC236}">
                <a16:creationId xmlns:a16="http://schemas.microsoft.com/office/drawing/2014/main" id="{253612B3-8668-2DEB-B9CC-5071E3A396E0}"/>
              </a:ext>
            </a:extLst>
          </p:cNvPr>
          <p:cNvSpPr txBox="1"/>
          <p:nvPr/>
        </p:nvSpPr>
        <p:spPr>
          <a:xfrm>
            <a:off x="3236167" y="3857414"/>
            <a:ext cx="5719665" cy="1697068"/>
          </a:xfrm>
          <a:prstGeom prst="rect">
            <a:avLst/>
          </a:prstGeom>
          <a:noFill/>
        </p:spPr>
        <p:txBody>
          <a:bodyPr wrap="square" rtlCol="0">
            <a:spAutoFit/>
          </a:bodyPr>
          <a:lstStyle/>
          <a:p>
            <a:pPr marL="512763" indent="0">
              <a:lnSpc>
                <a:spcPct val="150000"/>
              </a:lnSpc>
              <a:buNone/>
            </a:pPr>
            <a:r>
              <a:rPr lang="en-US" sz="2400" b="1" dirty="0">
                <a:solidFill>
                  <a:srgbClr val="FF0000"/>
                </a:solidFill>
              </a:rPr>
              <a:t>Invalid</a:t>
            </a:r>
          </a:p>
          <a:p>
            <a:pPr marL="512763" indent="0">
              <a:lnSpc>
                <a:spcPct val="150000"/>
              </a:lnSpc>
              <a:buNone/>
            </a:pPr>
            <a:r>
              <a:rPr lang="en-US" sz="2400" b="1" dirty="0">
                <a:solidFill>
                  <a:srgbClr val="FF0000"/>
                </a:solidFill>
              </a:rPr>
              <a:t>Invalid</a:t>
            </a:r>
          </a:p>
          <a:p>
            <a:pPr marL="512763" indent="0">
              <a:lnSpc>
                <a:spcPct val="150000"/>
              </a:lnSpc>
              <a:buNone/>
            </a:pPr>
            <a:r>
              <a:rPr lang="en-US" sz="2400" b="1" dirty="0">
                <a:solidFill>
                  <a:srgbClr val="00B050"/>
                </a:solidFill>
              </a:rPr>
              <a:t>Valid</a:t>
            </a:r>
            <a:endParaRPr lang="en-US" sz="2800" b="1" dirty="0">
              <a:solidFill>
                <a:srgbClr val="00B050"/>
              </a:solidFill>
            </a:endParaRPr>
          </a:p>
        </p:txBody>
      </p:sp>
    </p:spTree>
    <p:extLst>
      <p:ext uri="{BB962C8B-B14F-4D97-AF65-F5344CB8AC3E}">
        <p14:creationId xmlns:p14="http://schemas.microsoft.com/office/powerpoint/2010/main" val="150892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F3BDF-31E1-7BBF-53F7-EBE4B612FBDB}"/>
              </a:ext>
            </a:extLst>
          </p:cNvPr>
          <p:cNvSpPr>
            <a:spLocks noGrp="1"/>
          </p:cNvSpPr>
          <p:nvPr>
            <p:ph type="title"/>
          </p:nvPr>
        </p:nvSpPr>
        <p:spPr/>
        <p:txBody>
          <a:bodyPr/>
          <a:lstStyle/>
          <a:p>
            <a:r>
              <a:rPr lang="en-US" dirty="0"/>
              <a:t>Algorithm for reversal of strings</a:t>
            </a:r>
          </a:p>
        </p:txBody>
      </p:sp>
      <p:sp>
        <p:nvSpPr>
          <p:cNvPr id="3" name="Content Placeholder 2">
            <a:extLst>
              <a:ext uri="{FF2B5EF4-FFF2-40B4-BE49-F238E27FC236}">
                <a16:creationId xmlns:a16="http://schemas.microsoft.com/office/drawing/2014/main" id="{CADB7E88-7C64-B250-6B4D-E32A5217A8B8}"/>
              </a:ext>
            </a:extLst>
          </p:cNvPr>
          <p:cNvSpPr>
            <a:spLocks noGrp="1"/>
          </p:cNvSpPr>
          <p:nvPr>
            <p:ph idx="1"/>
          </p:nvPr>
        </p:nvSpPr>
        <p:spPr/>
        <p:txBody>
          <a:bodyPr/>
          <a:lstStyle/>
          <a:p>
            <a:pPr marL="344488" indent="-288925" algn="just" eaLnBrk="1" hangingPunct="1">
              <a:buFont typeface="Wingdings" panose="05000000000000000000" pitchFamily="2" charset="2"/>
              <a:buChar char="Ø"/>
            </a:pPr>
            <a:r>
              <a:rPr lang="en-US" altLang="en-US" sz="2800" dirty="0"/>
              <a:t>Create an empty stack.</a:t>
            </a:r>
          </a:p>
          <a:p>
            <a:pPr marL="344488" indent="-288925" algn="just" eaLnBrk="1" hangingPunct="1">
              <a:buFont typeface="Wingdings" panose="05000000000000000000" pitchFamily="2" charset="2"/>
              <a:buChar char="Ø"/>
            </a:pPr>
            <a:r>
              <a:rPr lang="en-US" altLang="en-US" sz="2800" dirty="0"/>
              <a:t>One by one push all characters of string to stack.</a:t>
            </a:r>
          </a:p>
          <a:p>
            <a:pPr marL="344488" indent="-288925" algn="just" eaLnBrk="1" hangingPunct="1">
              <a:buFont typeface="Wingdings" panose="05000000000000000000" pitchFamily="2" charset="2"/>
              <a:buChar char="Ø"/>
            </a:pPr>
            <a:r>
              <a:rPr lang="en-US" altLang="en-US" sz="2800" dirty="0"/>
              <a:t>One by one pop all characters from stack and put them back to string.</a:t>
            </a:r>
          </a:p>
          <a:p>
            <a:endParaRPr lang="en-US" dirty="0"/>
          </a:p>
        </p:txBody>
      </p:sp>
    </p:spTree>
    <p:extLst>
      <p:ext uri="{BB962C8B-B14F-4D97-AF65-F5344CB8AC3E}">
        <p14:creationId xmlns:p14="http://schemas.microsoft.com/office/powerpoint/2010/main" val="39179016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b="1" spc="-5" dirty="0">
                <a:solidFill>
                  <a:schemeClr val="tx1"/>
                </a:solidFill>
              </a:rPr>
              <a:t>Push and Pop Operations on Stack</a:t>
            </a:r>
            <a:endParaRPr lang="en-US" sz="4000" b="1" kern="1200" spc="-10" dirty="0">
              <a:solidFill>
                <a:schemeClr val="tx1"/>
              </a:solidFill>
              <a:latin typeface="+mj-lt"/>
              <a:ea typeface="+mj-ea"/>
              <a:cs typeface="+mj-cs"/>
            </a:endParaRPr>
          </a:p>
        </p:txBody>
      </p:sp>
      <p:sp>
        <p:nvSpPr>
          <p:cNvPr id="10" name="object 10"/>
          <p:cNvSpPr txBox="1"/>
          <p:nvPr/>
        </p:nvSpPr>
        <p:spPr>
          <a:xfrm>
            <a:off x="10798429" y="6616656"/>
            <a:ext cx="139700" cy="438582"/>
          </a:xfrm>
          <a:prstGeom prst="rect">
            <a:avLst/>
          </a:prstGeom>
        </p:spPr>
        <p:txBody>
          <a:bodyPr vert="horz" wrap="square" lIns="0" tIns="22860" rIns="0" bIns="0" rtlCol="0">
            <a:spAutoFit/>
          </a:bodyPr>
          <a:lstStyle/>
          <a:p>
            <a:pPr marL="38100">
              <a:spcBef>
                <a:spcPts val="180"/>
              </a:spcBef>
            </a:pPr>
            <a:fld id="{81D60167-4931-47E6-BA6A-407CBD079E47}" type="slidenum">
              <a:rPr sz="900" dirty="0">
                <a:latin typeface="Malgun Gothic"/>
                <a:cs typeface="Malgun Gothic"/>
              </a:rPr>
              <a:pPr marL="38100">
                <a:spcBef>
                  <a:spcPts val="180"/>
                </a:spcBef>
              </a:pPr>
              <a:t>7</a:t>
            </a:fld>
            <a:endParaRPr sz="900">
              <a:latin typeface="Malgun Gothic"/>
              <a:cs typeface="Malgun Gothic"/>
            </a:endParaRPr>
          </a:p>
        </p:txBody>
      </p:sp>
      <p:pic>
        <p:nvPicPr>
          <p:cNvPr id="12" name="Picture 2"/>
          <p:cNvPicPr>
            <a:picLocks noChangeAspect="1" noChangeArrowheads="1"/>
          </p:cNvPicPr>
          <p:nvPr/>
        </p:nvPicPr>
        <p:blipFill>
          <a:blip r:embed="rId2"/>
          <a:srcRect/>
          <a:stretch>
            <a:fillRect/>
          </a:stretch>
        </p:blipFill>
        <p:spPr bwMode="auto">
          <a:xfrm>
            <a:off x="2691717" y="2256404"/>
            <a:ext cx="6477000" cy="1647825"/>
          </a:xfrm>
          <a:prstGeom prst="rect">
            <a:avLst/>
          </a:prstGeom>
          <a:noFill/>
          <a:ln w="9525">
            <a:noFill/>
            <a:miter lim="800000"/>
            <a:headEnd/>
            <a:tailEnd/>
          </a:ln>
          <a:effectLst/>
        </p:spPr>
      </p:pic>
      <p:pic>
        <p:nvPicPr>
          <p:cNvPr id="14" name="Picture 3"/>
          <p:cNvPicPr>
            <a:picLocks noChangeAspect="1" noChangeArrowheads="1"/>
          </p:cNvPicPr>
          <p:nvPr/>
        </p:nvPicPr>
        <p:blipFill>
          <a:blip r:embed="rId3"/>
          <a:srcRect/>
          <a:stretch>
            <a:fillRect/>
          </a:stretch>
        </p:blipFill>
        <p:spPr bwMode="auto">
          <a:xfrm>
            <a:off x="3082802" y="4068907"/>
            <a:ext cx="6057900" cy="2686050"/>
          </a:xfrm>
          <a:prstGeom prst="rect">
            <a:avLst/>
          </a:prstGeom>
          <a:noFill/>
          <a:ln w="9525">
            <a:noFill/>
            <a:miter lim="800000"/>
            <a:headEnd/>
            <a:tailEnd/>
          </a:ln>
          <a:effectLst/>
        </p:spPr>
      </p:pic>
    </p:spTree>
    <p:extLst>
      <p:ext uri="{BB962C8B-B14F-4D97-AF65-F5344CB8AC3E}">
        <p14:creationId xmlns:p14="http://schemas.microsoft.com/office/powerpoint/2010/main" val="2294341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b="1" spc="-5" dirty="0">
                <a:solidFill>
                  <a:schemeClr val="tx1"/>
                </a:solidFill>
              </a:rPr>
              <a:t>Reversal of string</a:t>
            </a:r>
            <a:endParaRPr lang="en-US" sz="4000" b="1" kern="1200" spc="-10" dirty="0">
              <a:solidFill>
                <a:schemeClr val="tx1"/>
              </a:solidFill>
              <a:latin typeface="+mj-lt"/>
              <a:ea typeface="+mj-ea"/>
              <a:cs typeface="+mj-cs"/>
            </a:endParaRPr>
          </a:p>
        </p:txBody>
      </p:sp>
      <p:sp>
        <p:nvSpPr>
          <p:cNvPr id="10" name="object 10"/>
          <p:cNvSpPr txBox="1"/>
          <p:nvPr/>
        </p:nvSpPr>
        <p:spPr>
          <a:xfrm>
            <a:off x="10798429" y="6616656"/>
            <a:ext cx="139700" cy="438582"/>
          </a:xfrm>
          <a:prstGeom prst="rect">
            <a:avLst/>
          </a:prstGeom>
        </p:spPr>
        <p:txBody>
          <a:bodyPr vert="horz" wrap="square" lIns="0" tIns="22860" rIns="0" bIns="0" rtlCol="0">
            <a:spAutoFit/>
          </a:bodyPr>
          <a:lstStyle/>
          <a:p>
            <a:pPr marL="38100">
              <a:spcBef>
                <a:spcPts val="180"/>
              </a:spcBef>
            </a:pPr>
            <a:fld id="{81D60167-4931-47E6-BA6A-407CBD079E47}" type="slidenum">
              <a:rPr sz="900" dirty="0">
                <a:latin typeface="Malgun Gothic"/>
                <a:cs typeface="Malgun Gothic"/>
              </a:rPr>
              <a:pPr marL="38100">
                <a:spcBef>
                  <a:spcPts val="180"/>
                </a:spcBef>
              </a:pPr>
              <a:t>8</a:t>
            </a:fld>
            <a:endParaRPr sz="900">
              <a:latin typeface="Malgun Gothic"/>
              <a:cs typeface="Malgun Gothic"/>
            </a:endParaRPr>
          </a:p>
        </p:txBody>
      </p:sp>
      <p:graphicFrame>
        <p:nvGraphicFramePr>
          <p:cNvPr id="12" name="Content Placeholder 3"/>
          <p:cNvGraphicFramePr>
            <a:graphicFrameLocks noGrp="1"/>
          </p:cNvGraphicFramePr>
          <p:nvPr>
            <p:ph idx="1"/>
          </p:nvPr>
        </p:nvGraphicFramePr>
        <p:xfrm>
          <a:off x="2057400" y="2478111"/>
          <a:ext cx="3048000" cy="222504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tblGrid>
              <a:tr h="370840">
                <a:tc>
                  <a:txBody>
                    <a:bodyPr/>
                    <a:lstStyle/>
                    <a:p>
                      <a:pPr algn="ctr"/>
                      <a:r>
                        <a:rPr lang="en-US" dirty="0"/>
                        <a:t>Top/Index</a:t>
                      </a:r>
                    </a:p>
                  </a:txBody>
                  <a:tcPr/>
                </a:tc>
                <a:tc>
                  <a:txBody>
                    <a:bodyPr/>
                    <a:lstStyle/>
                    <a:p>
                      <a:pPr algn="ctr"/>
                      <a:r>
                        <a:rPr lang="en-US" dirty="0"/>
                        <a:t>Data</a:t>
                      </a:r>
                    </a:p>
                  </a:txBody>
                  <a:tcPr/>
                </a:tc>
                <a:extLst>
                  <a:ext uri="{0D108BD9-81ED-4DB2-BD59-A6C34878D82A}">
                    <a16:rowId xmlns:a16="http://schemas.microsoft.com/office/drawing/2014/main" val="10000"/>
                  </a:ext>
                </a:extLst>
              </a:tr>
              <a:tr h="370840">
                <a:tc>
                  <a:txBody>
                    <a:bodyPr/>
                    <a:lstStyle/>
                    <a:p>
                      <a:pPr algn="ctr"/>
                      <a:r>
                        <a:rPr lang="en-US" dirty="0"/>
                        <a:t>4</a:t>
                      </a:r>
                    </a:p>
                  </a:txBody>
                  <a:tcPr/>
                </a:tc>
                <a:tc>
                  <a:txBody>
                    <a:bodyPr/>
                    <a:lstStyle/>
                    <a:p>
                      <a:pPr algn="ctr"/>
                      <a:r>
                        <a:rPr lang="en-US" dirty="0"/>
                        <a:t>A</a:t>
                      </a:r>
                    </a:p>
                  </a:txBody>
                  <a:tcPr/>
                </a:tc>
                <a:extLst>
                  <a:ext uri="{0D108BD9-81ED-4DB2-BD59-A6C34878D82A}">
                    <a16:rowId xmlns:a16="http://schemas.microsoft.com/office/drawing/2014/main" val="10001"/>
                  </a:ext>
                </a:extLst>
              </a:tr>
              <a:tr h="370840">
                <a:tc>
                  <a:txBody>
                    <a:bodyPr/>
                    <a:lstStyle/>
                    <a:p>
                      <a:pPr algn="ctr"/>
                      <a:r>
                        <a:rPr lang="en-US" dirty="0"/>
                        <a:t>3</a:t>
                      </a:r>
                    </a:p>
                  </a:txBody>
                  <a:tcPr/>
                </a:tc>
                <a:tc>
                  <a:txBody>
                    <a:bodyPr/>
                    <a:lstStyle/>
                    <a:p>
                      <a:pPr algn="ctr"/>
                      <a:r>
                        <a:rPr lang="en-US" dirty="0"/>
                        <a:t>I</a:t>
                      </a:r>
                    </a:p>
                  </a:txBody>
                  <a:tcPr/>
                </a:tc>
                <a:extLst>
                  <a:ext uri="{0D108BD9-81ED-4DB2-BD59-A6C34878D82A}">
                    <a16:rowId xmlns:a16="http://schemas.microsoft.com/office/drawing/2014/main" val="10002"/>
                  </a:ext>
                </a:extLst>
              </a:tr>
              <a:tr h="370840">
                <a:tc>
                  <a:txBody>
                    <a:bodyPr/>
                    <a:lstStyle/>
                    <a:p>
                      <a:pPr algn="ctr"/>
                      <a:r>
                        <a:rPr lang="en-US" dirty="0"/>
                        <a:t>2</a:t>
                      </a:r>
                    </a:p>
                  </a:txBody>
                  <a:tcPr/>
                </a:tc>
                <a:tc>
                  <a:txBody>
                    <a:bodyPr/>
                    <a:lstStyle/>
                    <a:p>
                      <a:pPr algn="ctr"/>
                      <a:r>
                        <a:rPr lang="en-US" dirty="0"/>
                        <a:t>R</a:t>
                      </a:r>
                    </a:p>
                  </a:txBody>
                  <a:tcPr/>
                </a:tc>
                <a:extLst>
                  <a:ext uri="{0D108BD9-81ED-4DB2-BD59-A6C34878D82A}">
                    <a16:rowId xmlns:a16="http://schemas.microsoft.com/office/drawing/2014/main" val="10003"/>
                  </a:ext>
                </a:extLst>
              </a:tr>
              <a:tr h="370840">
                <a:tc>
                  <a:txBody>
                    <a:bodyPr/>
                    <a:lstStyle/>
                    <a:p>
                      <a:pPr algn="ctr"/>
                      <a:r>
                        <a:rPr lang="en-US" dirty="0"/>
                        <a:t>1</a:t>
                      </a:r>
                    </a:p>
                  </a:txBody>
                  <a:tcPr/>
                </a:tc>
                <a:tc>
                  <a:txBody>
                    <a:bodyPr/>
                    <a:lstStyle/>
                    <a:p>
                      <a:pPr algn="ctr"/>
                      <a:r>
                        <a:rPr lang="en-US" dirty="0"/>
                        <a:t>A</a:t>
                      </a:r>
                    </a:p>
                  </a:txBody>
                  <a:tcPr/>
                </a:tc>
                <a:extLst>
                  <a:ext uri="{0D108BD9-81ED-4DB2-BD59-A6C34878D82A}">
                    <a16:rowId xmlns:a16="http://schemas.microsoft.com/office/drawing/2014/main" val="10004"/>
                  </a:ext>
                </a:extLst>
              </a:tr>
              <a:tr h="370840">
                <a:tc>
                  <a:txBody>
                    <a:bodyPr/>
                    <a:lstStyle/>
                    <a:p>
                      <a:pPr algn="ctr"/>
                      <a:r>
                        <a:rPr lang="en-US" dirty="0"/>
                        <a:t>0</a:t>
                      </a:r>
                    </a:p>
                  </a:txBody>
                  <a:tcPr/>
                </a:tc>
                <a:tc>
                  <a:txBody>
                    <a:bodyPr/>
                    <a:lstStyle/>
                    <a:p>
                      <a:pPr algn="ctr"/>
                      <a:r>
                        <a:rPr lang="en-US" dirty="0"/>
                        <a:t>M</a:t>
                      </a:r>
                    </a:p>
                  </a:txBody>
                  <a:tcPr/>
                </a:tc>
                <a:extLst>
                  <a:ext uri="{0D108BD9-81ED-4DB2-BD59-A6C34878D82A}">
                    <a16:rowId xmlns:a16="http://schemas.microsoft.com/office/drawing/2014/main" val="10005"/>
                  </a:ext>
                </a:extLst>
              </a:tr>
            </a:tbl>
          </a:graphicData>
        </a:graphic>
      </p:graphicFrame>
      <p:graphicFrame>
        <p:nvGraphicFramePr>
          <p:cNvPr id="13" name="Content Placeholder 3"/>
          <p:cNvGraphicFramePr/>
          <p:nvPr/>
        </p:nvGraphicFramePr>
        <p:xfrm>
          <a:off x="6816012" y="2478111"/>
          <a:ext cx="3048000" cy="222504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tblGrid>
              <a:tr h="370840">
                <a:tc>
                  <a:txBody>
                    <a:bodyPr/>
                    <a:lstStyle/>
                    <a:p>
                      <a:pPr algn="ctr"/>
                      <a:r>
                        <a:rPr lang="en-US" dirty="0"/>
                        <a:t>Top/Index</a:t>
                      </a:r>
                    </a:p>
                  </a:txBody>
                  <a:tcPr/>
                </a:tc>
                <a:tc>
                  <a:txBody>
                    <a:bodyPr/>
                    <a:lstStyle/>
                    <a:p>
                      <a:pPr algn="ctr"/>
                      <a:r>
                        <a:rPr lang="en-US" dirty="0"/>
                        <a:t>Data</a:t>
                      </a:r>
                    </a:p>
                  </a:txBody>
                  <a:tcPr/>
                </a:tc>
                <a:extLst>
                  <a:ext uri="{0D108BD9-81ED-4DB2-BD59-A6C34878D82A}">
                    <a16:rowId xmlns:a16="http://schemas.microsoft.com/office/drawing/2014/main" val="10000"/>
                  </a:ext>
                </a:extLst>
              </a:tr>
              <a:tr h="370840">
                <a:tc>
                  <a:txBody>
                    <a:bodyPr/>
                    <a:lstStyle/>
                    <a:p>
                      <a:pPr algn="ctr"/>
                      <a:r>
                        <a:rPr lang="en-US" dirty="0"/>
                        <a:t>4</a:t>
                      </a:r>
                    </a:p>
                  </a:txBody>
                  <a:tcPr/>
                </a:tc>
                <a:tc>
                  <a:txBody>
                    <a:bodyPr/>
                    <a:lstStyle/>
                    <a:p>
                      <a:pPr algn="ctr"/>
                      <a:r>
                        <a:rPr lang="en-US" dirty="0"/>
                        <a:t>M</a:t>
                      </a:r>
                    </a:p>
                  </a:txBody>
                  <a:tcPr/>
                </a:tc>
                <a:extLst>
                  <a:ext uri="{0D108BD9-81ED-4DB2-BD59-A6C34878D82A}">
                    <a16:rowId xmlns:a16="http://schemas.microsoft.com/office/drawing/2014/main" val="10001"/>
                  </a:ext>
                </a:extLst>
              </a:tr>
              <a:tr h="370840">
                <a:tc>
                  <a:txBody>
                    <a:bodyPr/>
                    <a:lstStyle/>
                    <a:p>
                      <a:pPr algn="ctr"/>
                      <a:r>
                        <a:rPr lang="en-US" dirty="0"/>
                        <a:t>3</a:t>
                      </a:r>
                    </a:p>
                  </a:txBody>
                  <a:tcPr/>
                </a:tc>
                <a:tc>
                  <a:txBody>
                    <a:bodyPr/>
                    <a:lstStyle/>
                    <a:p>
                      <a:pPr algn="ctr"/>
                      <a:r>
                        <a:rPr lang="en-US" dirty="0"/>
                        <a:t>A</a:t>
                      </a:r>
                    </a:p>
                  </a:txBody>
                  <a:tcPr/>
                </a:tc>
                <a:extLst>
                  <a:ext uri="{0D108BD9-81ED-4DB2-BD59-A6C34878D82A}">
                    <a16:rowId xmlns:a16="http://schemas.microsoft.com/office/drawing/2014/main" val="10002"/>
                  </a:ext>
                </a:extLst>
              </a:tr>
              <a:tr h="370840">
                <a:tc>
                  <a:txBody>
                    <a:bodyPr/>
                    <a:lstStyle/>
                    <a:p>
                      <a:pPr algn="ctr"/>
                      <a:r>
                        <a:rPr lang="en-US" dirty="0"/>
                        <a:t>2</a:t>
                      </a:r>
                    </a:p>
                  </a:txBody>
                  <a:tcPr/>
                </a:tc>
                <a:tc>
                  <a:txBody>
                    <a:bodyPr/>
                    <a:lstStyle/>
                    <a:p>
                      <a:pPr algn="ctr"/>
                      <a:r>
                        <a:rPr lang="en-US" dirty="0"/>
                        <a:t>R</a:t>
                      </a:r>
                    </a:p>
                  </a:txBody>
                  <a:tcPr/>
                </a:tc>
                <a:extLst>
                  <a:ext uri="{0D108BD9-81ED-4DB2-BD59-A6C34878D82A}">
                    <a16:rowId xmlns:a16="http://schemas.microsoft.com/office/drawing/2014/main" val="10003"/>
                  </a:ext>
                </a:extLst>
              </a:tr>
              <a:tr h="370840">
                <a:tc>
                  <a:txBody>
                    <a:bodyPr/>
                    <a:lstStyle/>
                    <a:p>
                      <a:pPr algn="ctr"/>
                      <a:r>
                        <a:rPr lang="en-US" dirty="0"/>
                        <a:t>1</a:t>
                      </a:r>
                    </a:p>
                  </a:txBody>
                  <a:tcPr/>
                </a:tc>
                <a:tc>
                  <a:txBody>
                    <a:bodyPr/>
                    <a:lstStyle/>
                    <a:p>
                      <a:pPr algn="ctr"/>
                      <a:r>
                        <a:rPr lang="en-US" dirty="0"/>
                        <a:t>I</a:t>
                      </a:r>
                    </a:p>
                  </a:txBody>
                  <a:tcPr/>
                </a:tc>
                <a:extLst>
                  <a:ext uri="{0D108BD9-81ED-4DB2-BD59-A6C34878D82A}">
                    <a16:rowId xmlns:a16="http://schemas.microsoft.com/office/drawing/2014/main" val="10004"/>
                  </a:ext>
                </a:extLst>
              </a:tr>
              <a:tr h="370840">
                <a:tc>
                  <a:txBody>
                    <a:bodyPr/>
                    <a:lstStyle/>
                    <a:p>
                      <a:pPr algn="ctr"/>
                      <a:r>
                        <a:rPr lang="en-US" dirty="0"/>
                        <a:t>0</a:t>
                      </a:r>
                    </a:p>
                  </a:txBody>
                  <a:tcPr/>
                </a:tc>
                <a:tc>
                  <a:txBody>
                    <a:bodyPr/>
                    <a:lstStyle/>
                    <a:p>
                      <a:pPr algn="ctr"/>
                      <a:r>
                        <a:rPr lang="en-US" dirty="0"/>
                        <a:t>A</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1351197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b="1" spc="-5" dirty="0">
                <a:solidFill>
                  <a:schemeClr val="tx1"/>
                </a:solidFill>
              </a:rPr>
              <a:t>Algebraic Expression</a:t>
            </a:r>
            <a:endParaRPr lang="en-US" sz="4000" b="1" kern="1200" spc="-10" dirty="0">
              <a:solidFill>
                <a:schemeClr val="tx1"/>
              </a:solidFill>
              <a:latin typeface="+mj-lt"/>
              <a:ea typeface="+mj-ea"/>
              <a:cs typeface="+mj-cs"/>
            </a:endParaRPr>
          </a:p>
        </p:txBody>
      </p:sp>
      <p:sp>
        <p:nvSpPr>
          <p:cNvPr id="10" name="object 10"/>
          <p:cNvSpPr txBox="1"/>
          <p:nvPr/>
        </p:nvSpPr>
        <p:spPr>
          <a:xfrm>
            <a:off x="10798429" y="6616656"/>
            <a:ext cx="139700" cy="438582"/>
          </a:xfrm>
          <a:prstGeom prst="rect">
            <a:avLst/>
          </a:prstGeom>
        </p:spPr>
        <p:txBody>
          <a:bodyPr vert="horz" wrap="square" lIns="0" tIns="22860" rIns="0" bIns="0" rtlCol="0">
            <a:spAutoFit/>
          </a:bodyPr>
          <a:lstStyle/>
          <a:p>
            <a:pPr marL="38100">
              <a:spcBef>
                <a:spcPts val="180"/>
              </a:spcBef>
            </a:pPr>
            <a:fld id="{81D60167-4931-47E6-BA6A-407CBD079E47}" type="slidenum">
              <a:rPr sz="900" dirty="0">
                <a:latin typeface="Malgun Gothic"/>
                <a:cs typeface="Malgun Gothic"/>
              </a:rPr>
              <a:pPr marL="38100">
                <a:spcBef>
                  <a:spcPts val="180"/>
                </a:spcBef>
              </a:pPr>
              <a:t>9</a:t>
            </a:fld>
            <a:endParaRPr sz="900">
              <a:latin typeface="Malgun Gothic"/>
              <a:cs typeface="Malgun Gothic"/>
            </a:endParaRPr>
          </a:p>
        </p:txBody>
      </p:sp>
      <p:sp>
        <p:nvSpPr>
          <p:cNvPr id="14" name="Rectangle 3"/>
          <p:cNvSpPr>
            <a:spLocks noGrp="1" noChangeArrowheads="1"/>
          </p:cNvSpPr>
          <p:nvPr>
            <p:ph idx="1"/>
          </p:nvPr>
        </p:nvSpPr>
        <p:spPr>
          <a:xfrm>
            <a:off x="1353666" y="2177170"/>
            <a:ext cx="9869433" cy="5181600"/>
          </a:xfrm>
        </p:spPr>
        <p:txBody>
          <a:bodyPr/>
          <a:lstStyle/>
          <a:p>
            <a:pPr marL="0" indent="0">
              <a:lnSpc>
                <a:spcPct val="80000"/>
              </a:lnSpc>
              <a:spcBef>
                <a:spcPct val="50000"/>
              </a:spcBef>
              <a:buNone/>
              <a:defRPr/>
            </a:pPr>
            <a:endParaRPr lang="en-US" sz="2400" dirty="0">
              <a:latin typeface="Calibri" panose="020F0502020204030204" charset="0"/>
            </a:endParaRPr>
          </a:p>
          <a:p>
            <a:pPr algn="just">
              <a:lnSpc>
                <a:spcPct val="80000"/>
              </a:lnSpc>
              <a:defRPr/>
            </a:pPr>
            <a:r>
              <a:rPr lang="en-US" sz="2800" dirty="0"/>
              <a:t>An algebraic expression is a legal combination of operands and the operators. </a:t>
            </a:r>
          </a:p>
          <a:p>
            <a:pPr algn="just">
              <a:lnSpc>
                <a:spcPct val="80000"/>
              </a:lnSpc>
              <a:defRPr/>
            </a:pPr>
            <a:endParaRPr lang="en-US" sz="2800" dirty="0"/>
          </a:p>
          <a:p>
            <a:pPr lvl="1" algn="just" eaLnBrk="1" hangingPunct="1">
              <a:lnSpc>
                <a:spcPct val="80000"/>
              </a:lnSpc>
              <a:spcBef>
                <a:spcPct val="50000"/>
              </a:spcBef>
              <a:defRPr/>
            </a:pPr>
            <a:r>
              <a:rPr lang="en-US" sz="2400" dirty="0"/>
              <a:t>Operand is the quantity on which a mathematical operation is performed. </a:t>
            </a:r>
          </a:p>
          <a:p>
            <a:pPr lvl="1" algn="just" eaLnBrk="1" hangingPunct="1">
              <a:lnSpc>
                <a:spcPct val="80000"/>
              </a:lnSpc>
              <a:spcBef>
                <a:spcPct val="50000"/>
              </a:spcBef>
              <a:defRPr/>
            </a:pPr>
            <a:r>
              <a:rPr lang="en-US" sz="2400" dirty="0"/>
              <a:t>Operator is a symbol which signifies a mathematical or logical operation. </a:t>
            </a:r>
          </a:p>
          <a:p>
            <a:pPr marL="0" indent="0">
              <a:lnSpc>
                <a:spcPct val="80000"/>
              </a:lnSpc>
              <a:spcBef>
                <a:spcPct val="50000"/>
              </a:spcBef>
              <a:buNone/>
              <a:defRPr/>
            </a:pPr>
            <a:endParaRPr lang="en-US" sz="2400" dirty="0">
              <a:latin typeface="Calibri" panose="020F0502020204030204" charset="0"/>
            </a:endParaRPr>
          </a:p>
        </p:txBody>
      </p:sp>
      <p:pic>
        <p:nvPicPr>
          <p:cNvPr id="1026" name="Picture 2" descr="C Operators and Expressions - JustdoCodings">
            <a:extLst>
              <a:ext uri="{FF2B5EF4-FFF2-40B4-BE49-F238E27FC236}">
                <a16:creationId xmlns:a16="http://schemas.microsoft.com/office/drawing/2014/main" id="{DCC40DFC-77F0-4D83-A4A6-16F710333B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58313" y="0"/>
            <a:ext cx="2833687" cy="2590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1532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fr-FR" sz="4000" b="1" spc="-5" dirty="0">
                <a:solidFill>
                  <a:schemeClr val="tx1"/>
                </a:solidFill>
              </a:rPr>
              <a:t>Infix, </a:t>
            </a:r>
            <a:r>
              <a:rPr lang="fr-FR" sz="4000" b="1" spc="-5" dirty="0" err="1">
                <a:solidFill>
                  <a:schemeClr val="tx1"/>
                </a:solidFill>
              </a:rPr>
              <a:t>Postfix</a:t>
            </a:r>
            <a:r>
              <a:rPr lang="fr-FR" sz="4000" b="1" spc="-5" dirty="0">
                <a:solidFill>
                  <a:schemeClr val="tx1"/>
                </a:solidFill>
              </a:rPr>
              <a:t> and </a:t>
            </a:r>
            <a:r>
              <a:rPr lang="fr-FR" sz="4000" b="1" spc="-5" dirty="0" err="1">
                <a:solidFill>
                  <a:schemeClr val="tx1"/>
                </a:solidFill>
              </a:rPr>
              <a:t>Prefix</a:t>
            </a:r>
            <a:r>
              <a:rPr lang="fr-FR" sz="4000" b="1" spc="-5" dirty="0">
                <a:solidFill>
                  <a:schemeClr val="tx1"/>
                </a:solidFill>
              </a:rPr>
              <a:t> Expressions</a:t>
            </a:r>
            <a:endParaRPr lang="en-US" sz="4000" b="1" kern="1200" spc="-10" dirty="0">
              <a:solidFill>
                <a:schemeClr val="tx1"/>
              </a:solidFill>
              <a:latin typeface="+mj-lt"/>
              <a:ea typeface="+mj-ea"/>
              <a:cs typeface="+mj-cs"/>
            </a:endParaRPr>
          </a:p>
        </p:txBody>
      </p:sp>
      <p:sp>
        <p:nvSpPr>
          <p:cNvPr id="10" name="object 10"/>
          <p:cNvSpPr txBox="1"/>
          <p:nvPr/>
        </p:nvSpPr>
        <p:spPr>
          <a:xfrm>
            <a:off x="10798429" y="6616656"/>
            <a:ext cx="139700" cy="438582"/>
          </a:xfrm>
          <a:prstGeom prst="rect">
            <a:avLst/>
          </a:prstGeom>
        </p:spPr>
        <p:txBody>
          <a:bodyPr vert="horz" wrap="square" lIns="0" tIns="22860" rIns="0" bIns="0" rtlCol="0">
            <a:spAutoFit/>
          </a:bodyPr>
          <a:lstStyle/>
          <a:p>
            <a:pPr marL="38100">
              <a:spcBef>
                <a:spcPts val="180"/>
              </a:spcBef>
            </a:pPr>
            <a:fld id="{81D60167-4931-47E6-BA6A-407CBD079E47}" type="slidenum">
              <a:rPr sz="900" dirty="0">
                <a:latin typeface="Malgun Gothic"/>
                <a:cs typeface="Malgun Gothic"/>
              </a:rPr>
              <a:pPr marL="38100">
                <a:spcBef>
                  <a:spcPts val="180"/>
                </a:spcBef>
              </a:pPr>
              <a:t>10</a:t>
            </a:fld>
            <a:endParaRPr sz="900">
              <a:latin typeface="Malgun Gothic"/>
              <a:cs typeface="Malgun Gothic"/>
            </a:endParaRPr>
          </a:p>
        </p:txBody>
      </p:sp>
      <p:sp>
        <p:nvSpPr>
          <p:cNvPr id="14" name="Rectangle 3"/>
          <p:cNvSpPr>
            <a:spLocks noGrp="1" noChangeArrowheads="1"/>
          </p:cNvSpPr>
          <p:nvPr>
            <p:ph idx="1"/>
          </p:nvPr>
        </p:nvSpPr>
        <p:spPr>
          <a:xfrm>
            <a:off x="998846" y="1794615"/>
            <a:ext cx="9869433" cy="4262993"/>
          </a:xfrm>
        </p:spPr>
        <p:txBody>
          <a:bodyPr>
            <a:normAutofit lnSpcReduction="10000"/>
          </a:bodyPr>
          <a:lstStyle/>
          <a:p>
            <a:pPr marL="0" indent="0">
              <a:lnSpc>
                <a:spcPct val="80000"/>
              </a:lnSpc>
              <a:spcBef>
                <a:spcPct val="50000"/>
              </a:spcBef>
              <a:buNone/>
              <a:defRPr/>
            </a:pPr>
            <a:endParaRPr lang="en-US" sz="2400" dirty="0">
              <a:latin typeface="Calibri" panose="020F0502020204030204" charset="0"/>
            </a:endParaRPr>
          </a:p>
          <a:p>
            <a:pPr>
              <a:lnSpc>
                <a:spcPct val="80000"/>
              </a:lnSpc>
              <a:defRPr/>
            </a:pPr>
            <a:r>
              <a:rPr lang="en-US" dirty="0"/>
              <a:t>An </a:t>
            </a:r>
            <a:r>
              <a:rPr lang="en-US" sz="2400" b="1" dirty="0">
                <a:solidFill>
                  <a:srgbClr val="00B0F0"/>
                </a:solidFill>
                <a:latin typeface="Calibri" panose="020F0502020204030204" charset="0"/>
              </a:rPr>
              <a:t>INFIX:</a:t>
            </a:r>
            <a:r>
              <a:rPr lang="en-US" sz="2400" dirty="0">
                <a:solidFill>
                  <a:srgbClr val="00B0F0"/>
                </a:solidFill>
                <a:latin typeface="Calibri" panose="020F0502020204030204" charset="0"/>
              </a:rPr>
              <a:t>  </a:t>
            </a:r>
            <a:r>
              <a:rPr lang="en-US" sz="2400" dirty="0">
                <a:latin typeface="Calibri" panose="020F0502020204030204" charset="0"/>
              </a:rPr>
              <a:t>expressions in which operands surround the operator. E.g. A+B</a:t>
            </a:r>
          </a:p>
          <a:p>
            <a:pPr>
              <a:lnSpc>
                <a:spcPct val="80000"/>
              </a:lnSpc>
              <a:defRPr/>
            </a:pPr>
            <a:endParaRPr lang="en-US" sz="2400" dirty="0">
              <a:solidFill>
                <a:srgbClr val="00B0F0"/>
              </a:solidFill>
              <a:latin typeface="Calibri" panose="020F0502020204030204" charset="0"/>
            </a:endParaRPr>
          </a:p>
          <a:p>
            <a:pPr>
              <a:lnSpc>
                <a:spcPct val="80000"/>
              </a:lnSpc>
              <a:defRPr/>
            </a:pPr>
            <a:r>
              <a:rPr lang="en-US" sz="2400" b="1" dirty="0">
                <a:solidFill>
                  <a:srgbClr val="00B0F0"/>
                </a:solidFill>
                <a:latin typeface="Calibri" panose="020F0502020204030204" charset="0"/>
              </a:rPr>
              <a:t>POSTFIX</a:t>
            </a:r>
            <a:r>
              <a:rPr lang="en-US" sz="2400" dirty="0">
                <a:latin typeface="Calibri" panose="020F0502020204030204" charset="0"/>
              </a:rPr>
              <a:t>: operator comes after the operands, also Known as Reverse Polish Notation (RPN). E.g. AB+</a:t>
            </a:r>
          </a:p>
          <a:p>
            <a:pPr>
              <a:lnSpc>
                <a:spcPct val="80000"/>
              </a:lnSpc>
              <a:defRPr/>
            </a:pPr>
            <a:endParaRPr lang="en-US" sz="2400" dirty="0">
              <a:latin typeface="Calibri" panose="020F0502020204030204" charset="0"/>
            </a:endParaRPr>
          </a:p>
          <a:p>
            <a:pPr>
              <a:lnSpc>
                <a:spcPct val="80000"/>
              </a:lnSpc>
              <a:defRPr/>
            </a:pPr>
            <a:r>
              <a:rPr lang="en-US" sz="2400" b="1" dirty="0">
                <a:solidFill>
                  <a:srgbClr val="00B0F0"/>
                </a:solidFill>
                <a:latin typeface="Calibri" panose="020F0502020204030204" charset="0"/>
              </a:rPr>
              <a:t>PREFIX</a:t>
            </a:r>
            <a:r>
              <a:rPr lang="en-US" sz="2400" b="1" dirty="0">
                <a:solidFill>
                  <a:srgbClr val="FFFF66"/>
                </a:solidFill>
                <a:latin typeface="Calibri" panose="020F0502020204030204" charset="0"/>
              </a:rPr>
              <a:t>:</a:t>
            </a:r>
            <a:r>
              <a:rPr lang="en-US" sz="2400" dirty="0">
                <a:latin typeface="Calibri" panose="020F0502020204030204" charset="0"/>
              </a:rPr>
              <a:t>  operator comes before the operands, also Known as Polish notation. E.g. +AB</a:t>
            </a:r>
          </a:p>
          <a:p>
            <a:pPr>
              <a:lnSpc>
                <a:spcPct val="80000"/>
              </a:lnSpc>
              <a:defRPr/>
            </a:pPr>
            <a:endParaRPr lang="en-US" sz="2400" dirty="0">
              <a:latin typeface="Calibri" panose="020F0502020204030204" charset="0"/>
            </a:endParaRPr>
          </a:p>
          <a:p>
            <a:pPr>
              <a:lnSpc>
                <a:spcPct val="80000"/>
              </a:lnSpc>
              <a:defRPr/>
            </a:pPr>
            <a:r>
              <a:rPr lang="en-US" sz="2400" dirty="0">
                <a:latin typeface="Calibri" panose="020F0502020204030204" charset="0"/>
              </a:rPr>
              <a:t>Example</a:t>
            </a:r>
          </a:p>
          <a:p>
            <a:pPr lvl="1">
              <a:defRPr/>
            </a:pPr>
            <a:r>
              <a:rPr lang="en-US" sz="2300" dirty="0"/>
              <a:t>Infix: A+B-C  Postfix: AB+C-  Prefix: -+ABC</a:t>
            </a:r>
          </a:p>
        </p:txBody>
      </p:sp>
    </p:spTree>
    <p:extLst>
      <p:ext uri="{BB962C8B-B14F-4D97-AF65-F5344CB8AC3E}">
        <p14:creationId xmlns:p14="http://schemas.microsoft.com/office/powerpoint/2010/main" val="26732146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b="1" spc="-5" dirty="0">
                <a:solidFill>
                  <a:schemeClr val="tx1"/>
                </a:solidFill>
              </a:rPr>
              <a:t>Why do we need PREFIX/POSTFIX?</a:t>
            </a:r>
            <a:endParaRPr lang="en-US" sz="4000" b="1" kern="1200" spc="-10" dirty="0">
              <a:solidFill>
                <a:schemeClr val="tx1"/>
              </a:solidFill>
              <a:latin typeface="+mj-lt"/>
              <a:ea typeface="+mj-ea"/>
              <a:cs typeface="+mj-cs"/>
            </a:endParaRPr>
          </a:p>
        </p:txBody>
      </p:sp>
      <p:sp>
        <p:nvSpPr>
          <p:cNvPr id="10" name="object 10"/>
          <p:cNvSpPr txBox="1"/>
          <p:nvPr/>
        </p:nvSpPr>
        <p:spPr>
          <a:xfrm>
            <a:off x="10798429" y="6616656"/>
            <a:ext cx="139700" cy="438582"/>
          </a:xfrm>
          <a:prstGeom prst="rect">
            <a:avLst/>
          </a:prstGeom>
        </p:spPr>
        <p:txBody>
          <a:bodyPr vert="horz" wrap="square" lIns="0" tIns="22860" rIns="0" bIns="0" rtlCol="0">
            <a:spAutoFit/>
          </a:bodyPr>
          <a:lstStyle/>
          <a:p>
            <a:pPr marL="38100">
              <a:spcBef>
                <a:spcPts val="180"/>
              </a:spcBef>
            </a:pPr>
            <a:fld id="{81D60167-4931-47E6-BA6A-407CBD079E47}" type="slidenum">
              <a:rPr sz="900" dirty="0">
                <a:latin typeface="Malgun Gothic"/>
                <a:cs typeface="Malgun Gothic"/>
              </a:rPr>
              <a:pPr marL="38100">
                <a:spcBef>
                  <a:spcPts val="180"/>
                </a:spcBef>
              </a:pPr>
              <a:t>11</a:t>
            </a:fld>
            <a:endParaRPr sz="900">
              <a:latin typeface="Malgun Gothic"/>
              <a:cs typeface="Malgun Gothic"/>
            </a:endParaRPr>
          </a:p>
        </p:txBody>
      </p:sp>
      <p:sp>
        <p:nvSpPr>
          <p:cNvPr id="14" name="Rectangle 3"/>
          <p:cNvSpPr>
            <a:spLocks noGrp="1" noChangeArrowheads="1"/>
          </p:cNvSpPr>
          <p:nvPr>
            <p:ph idx="1"/>
          </p:nvPr>
        </p:nvSpPr>
        <p:spPr>
          <a:xfrm>
            <a:off x="1353666" y="2177170"/>
            <a:ext cx="9869433" cy="5181600"/>
          </a:xfrm>
        </p:spPr>
        <p:txBody>
          <a:bodyPr/>
          <a:lstStyle/>
          <a:p>
            <a:pPr marL="0" indent="0">
              <a:lnSpc>
                <a:spcPct val="80000"/>
              </a:lnSpc>
              <a:spcBef>
                <a:spcPct val="50000"/>
              </a:spcBef>
              <a:buNone/>
              <a:defRPr/>
            </a:pPr>
            <a:endParaRPr lang="en-US" sz="2400" dirty="0">
              <a:latin typeface="Calibri" panose="020F0502020204030204" charset="0"/>
            </a:endParaRPr>
          </a:p>
          <a:p>
            <a:pPr>
              <a:lnSpc>
                <a:spcPct val="80000"/>
              </a:lnSpc>
            </a:pPr>
            <a:r>
              <a:rPr lang="en-US" sz="2400" dirty="0">
                <a:latin typeface="Calibri" panose="020F0502020204030204" charset="0"/>
              </a:rPr>
              <a:t>Appear</a:t>
            </a:r>
            <a:r>
              <a:rPr lang="fr-FR" sz="2400" dirty="0" err="1">
                <a:latin typeface="Calibri" panose="020F0502020204030204" charset="0"/>
              </a:rPr>
              <a:t>ance</a:t>
            </a:r>
            <a:r>
              <a:rPr lang="fr-FR" sz="2400" dirty="0">
                <a:latin typeface="Calibri" panose="020F0502020204030204" charset="0"/>
              </a:rPr>
              <a:t> </a:t>
            </a:r>
            <a:r>
              <a:rPr lang="fr-FR" sz="2400" dirty="0" err="1">
                <a:latin typeface="Calibri" panose="020F0502020204030204" charset="0"/>
              </a:rPr>
              <a:t>may</a:t>
            </a:r>
            <a:r>
              <a:rPr lang="fr-FR" sz="2400" dirty="0">
                <a:latin typeface="Calibri" panose="020F0502020204030204" charset="0"/>
              </a:rPr>
              <a:t> </a:t>
            </a:r>
            <a:r>
              <a:rPr lang="fr-FR" sz="2400" dirty="0" err="1">
                <a:latin typeface="Calibri" panose="020F0502020204030204" charset="0"/>
              </a:rPr>
              <a:t>be</a:t>
            </a:r>
            <a:r>
              <a:rPr lang="fr-FR" sz="2400" dirty="0">
                <a:latin typeface="Calibri" panose="020F0502020204030204" charset="0"/>
              </a:rPr>
              <a:t> </a:t>
            </a:r>
            <a:r>
              <a:rPr lang="fr-FR" sz="2400" dirty="0" err="1">
                <a:latin typeface="Calibri" panose="020F0502020204030204" charset="0"/>
              </a:rPr>
              <a:t>misleading</a:t>
            </a:r>
            <a:r>
              <a:rPr lang="fr-FR" sz="2400" dirty="0">
                <a:latin typeface="Calibri" panose="020F0502020204030204" charset="0"/>
              </a:rPr>
              <a:t>, </a:t>
            </a:r>
            <a:r>
              <a:rPr lang="en-US" sz="2400" dirty="0">
                <a:solidFill>
                  <a:schemeClr val="hlink"/>
                </a:solidFill>
                <a:latin typeface="Calibri" panose="020F0502020204030204" charset="0"/>
              </a:rPr>
              <a:t>INFIX </a:t>
            </a:r>
            <a:r>
              <a:rPr lang="en-US" sz="2400" dirty="0">
                <a:latin typeface="Calibri" panose="020F0502020204030204" charset="0"/>
              </a:rPr>
              <a:t>notations are not as simple as they seem </a:t>
            </a:r>
          </a:p>
          <a:p>
            <a:pPr>
              <a:lnSpc>
                <a:spcPct val="80000"/>
              </a:lnSpc>
            </a:pPr>
            <a:endParaRPr lang="en-US" sz="2400" dirty="0">
              <a:latin typeface="Calibri" panose="020F0502020204030204" charset="0"/>
            </a:endParaRPr>
          </a:p>
          <a:p>
            <a:pPr>
              <a:lnSpc>
                <a:spcPct val="80000"/>
              </a:lnSpc>
            </a:pPr>
            <a:r>
              <a:rPr lang="en-US" sz="2400" dirty="0">
                <a:latin typeface="Calibri" panose="020F0502020204030204" charset="0"/>
              </a:rPr>
              <a:t>When you write an arithmetic expression such as B * C, the form of the expression provides you with information so that you can interpret it correctly. </a:t>
            </a:r>
          </a:p>
          <a:p>
            <a:pPr>
              <a:lnSpc>
                <a:spcPct val="80000"/>
              </a:lnSpc>
            </a:pPr>
            <a:r>
              <a:rPr lang="en-US" sz="2400" dirty="0">
                <a:latin typeface="Calibri" panose="020F0502020204030204" charset="0"/>
              </a:rPr>
              <a:t>In this case we know that the variable B is being multiplied by the variable C since the multiplication operator * appears between them in the expression. This type of notation is referred to as infix since the operator is in between the two operands that it is working on.</a:t>
            </a:r>
            <a:endParaRPr lang="en-US" sz="2000" dirty="0">
              <a:latin typeface="Calibri" panose="020F0502020204030204" charset="0"/>
            </a:endParaRPr>
          </a:p>
        </p:txBody>
      </p:sp>
    </p:spTree>
    <p:extLst>
      <p:ext uri="{BB962C8B-B14F-4D97-AF65-F5344CB8AC3E}">
        <p14:creationId xmlns:p14="http://schemas.microsoft.com/office/powerpoint/2010/main" val="33758490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b="1" spc="-5" dirty="0">
                <a:solidFill>
                  <a:schemeClr val="tx1"/>
                </a:solidFill>
              </a:rPr>
              <a:t>Why do we need PREFIX/POSTFIX?</a:t>
            </a:r>
            <a:endParaRPr lang="en-US" sz="4000" b="1" kern="1200" spc="-10" dirty="0">
              <a:solidFill>
                <a:schemeClr val="tx1"/>
              </a:solidFill>
              <a:latin typeface="+mj-lt"/>
              <a:ea typeface="+mj-ea"/>
              <a:cs typeface="+mj-cs"/>
            </a:endParaRPr>
          </a:p>
        </p:txBody>
      </p:sp>
      <p:sp>
        <p:nvSpPr>
          <p:cNvPr id="10" name="object 10"/>
          <p:cNvSpPr txBox="1"/>
          <p:nvPr/>
        </p:nvSpPr>
        <p:spPr>
          <a:xfrm>
            <a:off x="10798429" y="6616656"/>
            <a:ext cx="139700" cy="438582"/>
          </a:xfrm>
          <a:prstGeom prst="rect">
            <a:avLst/>
          </a:prstGeom>
        </p:spPr>
        <p:txBody>
          <a:bodyPr vert="horz" wrap="square" lIns="0" tIns="22860" rIns="0" bIns="0" rtlCol="0">
            <a:spAutoFit/>
          </a:bodyPr>
          <a:lstStyle/>
          <a:p>
            <a:pPr marL="38100">
              <a:spcBef>
                <a:spcPts val="180"/>
              </a:spcBef>
            </a:pPr>
            <a:fld id="{81D60167-4931-47E6-BA6A-407CBD079E47}" type="slidenum">
              <a:rPr sz="900" dirty="0">
                <a:latin typeface="Malgun Gothic"/>
                <a:cs typeface="Malgun Gothic"/>
              </a:rPr>
              <a:pPr marL="38100">
                <a:spcBef>
                  <a:spcPts val="180"/>
                </a:spcBef>
              </a:pPr>
              <a:t>12</a:t>
            </a:fld>
            <a:endParaRPr sz="900">
              <a:latin typeface="Malgun Gothic"/>
              <a:cs typeface="Malgun Gothic"/>
            </a:endParaRPr>
          </a:p>
        </p:txBody>
      </p:sp>
      <p:sp>
        <p:nvSpPr>
          <p:cNvPr id="14" name="Rectangle 3"/>
          <p:cNvSpPr>
            <a:spLocks noGrp="1" noChangeArrowheads="1"/>
          </p:cNvSpPr>
          <p:nvPr>
            <p:ph idx="1"/>
          </p:nvPr>
        </p:nvSpPr>
        <p:spPr>
          <a:xfrm>
            <a:off x="1353666" y="2177170"/>
            <a:ext cx="9869433" cy="5181600"/>
          </a:xfrm>
        </p:spPr>
        <p:txBody>
          <a:bodyPr/>
          <a:lstStyle/>
          <a:p>
            <a:pPr marL="0" indent="0">
              <a:lnSpc>
                <a:spcPct val="80000"/>
              </a:lnSpc>
              <a:spcBef>
                <a:spcPct val="50000"/>
              </a:spcBef>
              <a:buNone/>
              <a:defRPr/>
            </a:pPr>
            <a:endParaRPr lang="en-US" sz="2400" dirty="0">
              <a:latin typeface="Calibri" panose="020F0502020204030204" charset="0"/>
            </a:endParaRPr>
          </a:p>
          <a:p>
            <a:pPr>
              <a:lnSpc>
                <a:spcPct val="80000"/>
              </a:lnSpc>
            </a:pPr>
            <a:r>
              <a:rPr lang="en-US" sz="2400" dirty="0">
                <a:latin typeface="Calibri" panose="020F0502020204030204" charset="0"/>
              </a:rPr>
              <a:t>Consider another infix example, A + B * C. </a:t>
            </a:r>
          </a:p>
          <a:p>
            <a:pPr>
              <a:lnSpc>
                <a:spcPct val="80000"/>
              </a:lnSpc>
            </a:pPr>
            <a:r>
              <a:rPr lang="en-US" sz="2400" dirty="0">
                <a:latin typeface="Calibri" panose="020F0502020204030204" charset="0"/>
              </a:rPr>
              <a:t>The operators + and * still appear between the operands, but there is a problem. </a:t>
            </a:r>
          </a:p>
          <a:p>
            <a:pPr>
              <a:lnSpc>
                <a:spcPct val="80000"/>
              </a:lnSpc>
            </a:pPr>
            <a:r>
              <a:rPr lang="en-US" sz="2400" dirty="0">
                <a:latin typeface="Calibri" panose="020F0502020204030204" charset="0"/>
              </a:rPr>
              <a:t>Which operands do they work on? Does the + work on A and B or does the * take B and C? The expression seems ambiguous.</a:t>
            </a:r>
          </a:p>
          <a:p>
            <a:pPr>
              <a:lnSpc>
                <a:spcPct val="80000"/>
              </a:lnSpc>
            </a:pPr>
            <a:r>
              <a:rPr lang="en-US" sz="2400" dirty="0">
                <a:latin typeface="Calibri" panose="020F0502020204030204" charset="0"/>
              </a:rPr>
              <a:t>Solve this problem using operator precedence rules</a:t>
            </a:r>
          </a:p>
          <a:p>
            <a:pPr marL="0" indent="0">
              <a:lnSpc>
                <a:spcPct val="80000"/>
              </a:lnSpc>
              <a:buNone/>
            </a:pPr>
            <a:endParaRPr lang="en-US" sz="2000" dirty="0">
              <a:latin typeface="Calibri" panose="020F0502020204030204" charset="0"/>
            </a:endParaRPr>
          </a:p>
        </p:txBody>
      </p:sp>
    </p:spTree>
    <p:extLst>
      <p:ext uri="{BB962C8B-B14F-4D97-AF65-F5344CB8AC3E}">
        <p14:creationId xmlns:p14="http://schemas.microsoft.com/office/powerpoint/2010/main" val="34428495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b="1" spc="-5" dirty="0">
                <a:solidFill>
                  <a:schemeClr val="tx1"/>
                </a:solidFill>
              </a:rPr>
              <a:t>Why do we need PREFIX/POSTFIX?</a:t>
            </a:r>
            <a:endParaRPr lang="en-US" sz="4000" b="1" kern="1200" spc="-10" dirty="0">
              <a:solidFill>
                <a:schemeClr val="tx1"/>
              </a:solidFill>
              <a:latin typeface="+mj-lt"/>
              <a:ea typeface="+mj-ea"/>
              <a:cs typeface="+mj-cs"/>
            </a:endParaRPr>
          </a:p>
        </p:txBody>
      </p:sp>
      <p:sp>
        <p:nvSpPr>
          <p:cNvPr id="10" name="object 10"/>
          <p:cNvSpPr txBox="1"/>
          <p:nvPr/>
        </p:nvSpPr>
        <p:spPr>
          <a:xfrm>
            <a:off x="10798429" y="6616656"/>
            <a:ext cx="139700" cy="438582"/>
          </a:xfrm>
          <a:prstGeom prst="rect">
            <a:avLst/>
          </a:prstGeom>
        </p:spPr>
        <p:txBody>
          <a:bodyPr vert="horz" wrap="square" lIns="0" tIns="22860" rIns="0" bIns="0" rtlCol="0">
            <a:spAutoFit/>
          </a:bodyPr>
          <a:lstStyle/>
          <a:p>
            <a:pPr marL="38100">
              <a:spcBef>
                <a:spcPts val="180"/>
              </a:spcBef>
            </a:pPr>
            <a:fld id="{81D60167-4931-47E6-BA6A-407CBD079E47}" type="slidenum">
              <a:rPr sz="900" dirty="0">
                <a:latin typeface="Malgun Gothic"/>
                <a:cs typeface="Malgun Gothic"/>
              </a:rPr>
              <a:pPr marL="38100">
                <a:spcBef>
                  <a:spcPts val="180"/>
                </a:spcBef>
              </a:pPr>
              <a:t>13</a:t>
            </a:fld>
            <a:endParaRPr sz="900">
              <a:latin typeface="Malgun Gothic"/>
              <a:cs typeface="Malgun Gothic"/>
            </a:endParaRPr>
          </a:p>
        </p:txBody>
      </p:sp>
      <p:sp>
        <p:nvSpPr>
          <p:cNvPr id="14" name="Rectangle 3"/>
          <p:cNvSpPr>
            <a:spLocks noGrp="1" noChangeArrowheads="1"/>
          </p:cNvSpPr>
          <p:nvPr>
            <p:ph idx="1"/>
          </p:nvPr>
        </p:nvSpPr>
        <p:spPr>
          <a:xfrm>
            <a:off x="1353666" y="2177170"/>
            <a:ext cx="9869433" cy="5181600"/>
          </a:xfrm>
        </p:spPr>
        <p:txBody>
          <a:bodyPr/>
          <a:lstStyle/>
          <a:p>
            <a:pPr marL="0" indent="0">
              <a:lnSpc>
                <a:spcPct val="80000"/>
              </a:lnSpc>
              <a:spcBef>
                <a:spcPct val="50000"/>
              </a:spcBef>
              <a:buNone/>
              <a:defRPr/>
            </a:pPr>
            <a:endParaRPr lang="en-US" sz="2400" dirty="0">
              <a:latin typeface="Calibri" panose="020F0502020204030204" charset="0"/>
            </a:endParaRPr>
          </a:p>
          <a:p>
            <a:pPr marL="0" indent="0">
              <a:lnSpc>
                <a:spcPct val="80000"/>
              </a:lnSpc>
              <a:buNone/>
            </a:pPr>
            <a:endParaRPr lang="en-US" sz="2000" dirty="0">
              <a:latin typeface="Calibri" panose="020F0502020204030204" charset="0"/>
            </a:endParaRPr>
          </a:p>
        </p:txBody>
      </p:sp>
      <p:graphicFrame>
        <p:nvGraphicFramePr>
          <p:cNvPr id="3" name="Table 2">
            <a:extLst>
              <a:ext uri="{FF2B5EF4-FFF2-40B4-BE49-F238E27FC236}">
                <a16:creationId xmlns:a16="http://schemas.microsoft.com/office/drawing/2014/main" id="{AAB8375F-FA0D-47B9-BDA7-79EA07F89BE4}"/>
              </a:ext>
            </a:extLst>
          </p:cNvPr>
          <p:cNvGraphicFramePr>
            <a:graphicFrameLocks noGrp="1"/>
          </p:cNvGraphicFramePr>
          <p:nvPr>
            <p:extLst>
              <p:ext uri="{D42A27DB-BD31-4B8C-83A1-F6EECF244321}">
                <p14:modId xmlns:p14="http://schemas.microsoft.com/office/powerpoint/2010/main" val="3777409052"/>
              </p:ext>
            </p:extLst>
          </p:nvPr>
        </p:nvGraphicFramePr>
        <p:xfrm>
          <a:off x="2267338" y="2012494"/>
          <a:ext cx="8332236" cy="2042160"/>
        </p:xfrm>
        <a:graphic>
          <a:graphicData uri="http://schemas.openxmlformats.org/drawingml/2006/table">
            <a:tbl>
              <a:tblPr/>
              <a:tblGrid>
                <a:gridCol w="2777412">
                  <a:extLst>
                    <a:ext uri="{9D8B030D-6E8A-4147-A177-3AD203B41FA5}">
                      <a16:colId xmlns:a16="http://schemas.microsoft.com/office/drawing/2014/main" val="3661938694"/>
                    </a:ext>
                  </a:extLst>
                </a:gridCol>
                <a:gridCol w="2777412">
                  <a:extLst>
                    <a:ext uri="{9D8B030D-6E8A-4147-A177-3AD203B41FA5}">
                      <a16:colId xmlns:a16="http://schemas.microsoft.com/office/drawing/2014/main" val="655880259"/>
                    </a:ext>
                  </a:extLst>
                </a:gridCol>
                <a:gridCol w="2777412">
                  <a:extLst>
                    <a:ext uri="{9D8B030D-6E8A-4147-A177-3AD203B41FA5}">
                      <a16:colId xmlns:a16="http://schemas.microsoft.com/office/drawing/2014/main" val="3193246292"/>
                    </a:ext>
                  </a:extLst>
                </a:gridCol>
              </a:tblGrid>
              <a:tr h="0">
                <a:tc>
                  <a:txBody>
                    <a:bodyPr/>
                    <a:lstStyle/>
                    <a:p>
                      <a:pPr algn="l" fontAlgn="t"/>
                      <a:r>
                        <a:rPr lang="en-US" b="1" dirty="0">
                          <a:solidFill>
                            <a:srgbClr val="000000"/>
                          </a:solidFill>
                          <a:effectLst/>
                          <a:latin typeface="times new roman" panose="02020603050405020304" pitchFamily="18" charset="0"/>
                        </a:rPr>
                        <a:t>Operators</a:t>
                      </a:r>
                    </a:p>
                  </a:txBody>
                  <a:tcPr marT="91440" marB="91440">
                    <a:lnL w="7620" cap="flat" cmpd="sng" algn="ctr">
                      <a:solidFill>
                        <a:srgbClr val="E034FE"/>
                      </a:solidFill>
                      <a:prstDash val="solid"/>
                      <a:round/>
                      <a:headEnd type="none" w="med" len="med"/>
                      <a:tailEnd type="none" w="med" len="med"/>
                    </a:lnL>
                    <a:lnR w="7620" cap="flat" cmpd="sng" algn="ctr">
                      <a:solidFill>
                        <a:srgbClr val="E034FE"/>
                      </a:solidFill>
                      <a:prstDash val="solid"/>
                      <a:round/>
                      <a:headEnd type="none" w="med" len="med"/>
                      <a:tailEnd type="none" w="med" len="med"/>
                    </a:lnR>
                    <a:lnT w="7620" cap="flat" cmpd="sng" algn="ctr">
                      <a:solidFill>
                        <a:srgbClr val="E034F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US" b="1" dirty="0">
                          <a:solidFill>
                            <a:srgbClr val="000000"/>
                          </a:solidFill>
                          <a:effectLst/>
                          <a:latin typeface="times new roman" panose="02020603050405020304" pitchFamily="18" charset="0"/>
                        </a:rPr>
                        <a:t>Symbols</a:t>
                      </a:r>
                    </a:p>
                  </a:txBody>
                  <a:tcPr marT="91440" marB="91440">
                    <a:lnL w="7620" cap="flat" cmpd="sng" algn="ctr">
                      <a:solidFill>
                        <a:srgbClr val="E034FE"/>
                      </a:solidFill>
                      <a:prstDash val="solid"/>
                      <a:round/>
                      <a:headEnd type="none" w="med" len="med"/>
                      <a:tailEnd type="none" w="med" len="med"/>
                    </a:lnL>
                    <a:lnR w="7620" cap="flat" cmpd="sng" algn="ctr">
                      <a:solidFill>
                        <a:srgbClr val="E034FE"/>
                      </a:solidFill>
                      <a:prstDash val="solid"/>
                      <a:round/>
                      <a:headEnd type="none" w="med" len="med"/>
                      <a:tailEnd type="none" w="med" len="med"/>
                    </a:lnR>
                    <a:lnT w="7620" cap="flat" cmpd="sng" algn="ctr">
                      <a:solidFill>
                        <a:srgbClr val="E034F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US" b="1" dirty="0">
                          <a:solidFill>
                            <a:srgbClr val="000000"/>
                          </a:solidFill>
                          <a:effectLst/>
                          <a:latin typeface="times new roman" panose="02020603050405020304" pitchFamily="18" charset="0"/>
                        </a:rPr>
                        <a:t>Associativity</a:t>
                      </a:r>
                    </a:p>
                  </a:txBody>
                  <a:tcPr marT="91440" marB="91440">
                    <a:lnL w="7620" cap="flat" cmpd="sng" algn="ctr">
                      <a:solidFill>
                        <a:srgbClr val="E034FE"/>
                      </a:solidFill>
                      <a:prstDash val="solid"/>
                      <a:round/>
                      <a:headEnd type="none" w="med" len="med"/>
                      <a:tailEnd type="none" w="med" len="med"/>
                    </a:lnL>
                    <a:lnR w="7620" cap="flat" cmpd="sng" algn="ctr">
                      <a:solidFill>
                        <a:srgbClr val="E034FE"/>
                      </a:solidFill>
                      <a:prstDash val="solid"/>
                      <a:round/>
                      <a:headEnd type="none" w="med" len="med"/>
                      <a:tailEnd type="none" w="med" len="med"/>
                    </a:lnR>
                    <a:lnT w="7620" cap="flat" cmpd="sng" algn="ctr">
                      <a:solidFill>
                        <a:srgbClr val="E034F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3023544385"/>
                  </a:ext>
                </a:extLst>
              </a:tr>
              <a:tr h="0">
                <a:tc>
                  <a:txBody>
                    <a:bodyPr/>
                    <a:lstStyle/>
                    <a:p>
                      <a:pPr algn="just" fontAlgn="t"/>
                      <a:r>
                        <a:rPr lang="en-US">
                          <a:solidFill>
                            <a:srgbClr val="333333"/>
                          </a:solidFill>
                          <a:effectLst/>
                          <a:latin typeface="inter-regular"/>
                        </a:rPr>
                        <a:t>Parenthesis</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dirty="0">
                          <a:solidFill>
                            <a:srgbClr val="333333"/>
                          </a:solidFill>
                          <a:effectLst/>
                          <a:latin typeface="inter-regular"/>
                        </a:rPr>
                        <a:t>( ), {}, [ ]</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dirty="0">
                          <a:solidFill>
                            <a:srgbClr val="333333"/>
                          </a:solidFill>
                          <a:effectLst/>
                          <a:latin typeface="inter-regular"/>
                        </a:rPr>
                        <a:t>Left to Right</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273335775"/>
                  </a:ext>
                </a:extLst>
              </a:tr>
              <a:tr h="0">
                <a:tc>
                  <a:txBody>
                    <a:bodyPr/>
                    <a:lstStyle/>
                    <a:p>
                      <a:pPr algn="just" fontAlgn="t"/>
                      <a:r>
                        <a:rPr lang="en-US">
                          <a:solidFill>
                            <a:srgbClr val="333333"/>
                          </a:solidFill>
                          <a:effectLst/>
                          <a:latin typeface="inter-regular"/>
                        </a:rPr>
                        <a:t>Exponents</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dirty="0">
                          <a:solidFill>
                            <a:srgbClr val="333333"/>
                          </a:solidFill>
                          <a:effectLst/>
                          <a:latin typeface="inter-regular"/>
                        </a:rPr>
                        <a:t>^</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dirty="0">
                          <a:solidFill>
                            <a:srgbClr val="333333"/>
                          </a:solidFill>
                          <a:effectLst/>
                          <a:latin typeface="inter-regular"/>
                        </a:rPr>
                        <a:t>Right to Left</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2980548990"/>
                  </a:ext>
                </a:extLst>
              </a:tr>
              <a:tr h="0">
                <a:tc>
                  <a:txBody>
                    <a:bodyPr/>
                    <a:lstStyle/>
                    <a:p>
                      <a:pPr algn="just" fontAlgn="t"/>
                      <a:r>
                        <a:rPr lang="en-US">
                          <a:solidFill>
                            <a:srgbClr val="333333"/>
                          </a:solidFill>
                          <a:effectLst/>
                          <a:latin typeface="inter-regular"/>
                        </a:rPr>
                        <a:t>Multiplication and Division</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dirty="0">
                          <a:solidFill>
                            <a:srgbClr val="333333"/>
                          </a:solidFill>
                          <a:effectLst/>
                          <a:latin typeface="inter-regular"/>
                        </a:rPr>
                        <a:t>*, /</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dirty="0">
                          <a:solidFill>
                            <a:srgbClr val="333333"/>
                          </a:solidFill>
                          <a:effectLst/>
                          <a:latin typeface="inter-regular"/>
                        </a:rPr>
                        <a:t>Left to Right</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060493575"/>
                  </a:ext>
                </a:extLst>
              </a:tr>
              <a:tr h="0">
                <a:tc>
                  <a:txBody>
                    <a:bodyPr/>
                    <a:lstStyle/>
                    <a:p>
                      <a:pPr algn="just" fontAlgn="t"/>
                      <a:r>
                        <a:rPr lang="en-US">
                          <a:solidFill>
                            <a:srgbClr val="333333"/>
                          </a:solidFill>
                          <a:effectLst/>
                          <a:latin typeface="inter-regular"/>
                        </a:rPr>
                        <a:t>Addition and Subtraction</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dirty="0">
                          <a:solidFill>
                            <a:srgbClr val="333333"/>
                          </a:solidFill>
                          <a:effectLst/>
                          <a:latin typeface="inter-regular"/>
                        </a:rPr>
                        <a:t>+ , -</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dirty="0">
                          <a:solidFill>
                            <a:srgbClr val="333333"/>
                          </a:solidFill>
                          <a:effectLst/>
                          <a:latin typeface="inter-regular"/>
                        </a:rPr>
                        <a:t>Left to Right</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715014186"/>
                  </a:ext>
                </a:extLst>
              </a:tr>
            </a:tbl>
          </a:graphicData>
        </a:graphic>
      </p:graphicFrame>
      <p:sp>
        <p:nvSpPr>
          <p:cNvPr id="4" name="Rectangle 1">
            <a:extLst>
              <a:ext uri="{FF2B5EF4-FFF2-40B4-BE49-F238E27FC236}">
                <a16:creationId xmlns:a16="http://schemas.microsoft.com/office/drawing/2014/main" id="{55B10738-3B97-4BE0-B1E2-A2F748A76F4B}"/>
              </a:ext>
            </a:extLst>
          </p:cNvPr>
          <p:cNvSpPr>
            <a:spLocks noChangeArrowheads="1"/>
          </p:cNvSpPr>
          <p:nvPr/>
        </p:nvSpPr>
        <p:spPr bwMode="auto">
          <a:xfrm>
            <a:off x="1141904" y="4219330"/>
            <a:ext cx="10523511"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333333"/>
                </a:solidFill>
                <a:effectLst/>
                <a:latin typeface="inter-regular"/>
              </a:rPr>
              <a:t>Operators of higher precedence are used before operators of lower precedence. The only thing that can change that order is the presence of parentheses. The precedence order for arithmetic operators places multiplication and division above addition and subtraction. If two operators of equal precedence appear, then a left-to-right ordering or associativity is used.</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664865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500B40B-3950-75AB-C21F-E49206DE8D41}"/>
              </a:ext>
            </a:extLst>
          </p:cNvPr>
          <p:cNvPicPr>
            <a:picLocks noGrp="1" noChangeAspect="1"/>
          </p:cNvPicPr>
          <p:nvPr>
            <p:ph idx="1"/>
          </p:nvPr>
        </p:nvPicPr>
        <p:blipFill>
          <a:blip r:embed="rId2"/>
          <a:stretch>
            <a:fillRect/>
          </a:stretch>
        </p:blipFill>
        <p:spPr>
          <a:xfrm>
            <a:off x="2062065" y="289249"/>
            <a:ext cx="8117633" cy="6055568"/>
          </a:xfrm>
          <a:prstGeom prst="rect">
            <a:avLst/>
          </a:prstGeom>
        </p:spPr>
      </p:pic>
    </p:spTree>
    <p:extLst>
      <p:ext uri="{BB962C8B-B14F-4D97-AF65-F5344CB8AC3E}">
        <p14:creationId xmlns:p14="http://schemas.microsoft.com/office/powerpoint/2010/main" val="11211729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b="1" spc="-5" dirty="0">
                <a:solidFill>
                  <a:schemeClr val="tx1"/>
                </a:solidFill>
              </a:rPr>
              <a:t>Why do we need PREFIX/POSTFIX?</a:t>
            </a:r>
            <a:endParaRPr lang="en-US" sz="4000" b="1" kern="1200" spc="-10" dirty="0">
              <a:solidFill>
                <a:schemeClr val="tx1"/>
              </a:solidFill>
              <a:latin typeface="+mj-lt"/>
              <a:ea typeface="+mj-ea"/>
              <a:cs typeface="+mj-cs"/>
            </a:endParaRPr>
          </a:p>
        </p:txBody>
      </p:sp>
      <p:sp>
        <p:nvSpPr>
          <p:cNvPr id="10" name="object 10"/>
          <p:cNvSpPr txBox="1"/>
          <p:nvPr/>
        </p:nvSpPr>
        <p:spPr>
          <a:xfrm>
            <a:off x="10798429" y="6616656"/>
            <a:ext cx="139700" cy="438582"/>
          </a:xfrm>
          <a:prstGeom prst="rect">
            <a:avLst/>
          </a:prstGeom>
        </p:spPr>
        <p:txBody>
          <a:bodyPr vert="horz" wrap="square" lIns="0" tIns="22860" rIns="0" bIns="0" rtlCol="0">
            <a:spAutoFit/>
          </a:bodyPr>
          <a:lstStyle/>
          <a:p>
            <a:pPr marL="38100">
              <a:spcBef>
                <a:spcPts val="180"/>
              </a:spcBef>
            </a:pPr>
            <a:fld id="{81D60167-4931-47E6-BA6A-407CBD079E47}" type="slidenum">
              <a:rPr sz="900" dirty="0">
                <a:latin typeface="Malgun Gothic"/>
                <a:cs typeface="Malgun Gothic"/>
              </a:rPr>
              <a:pPr marL="38100">
                <a:spcBef>
                  <a:spcPts val="180"/>
                </a:spcBef>
              </a:pPr>
              <a:t>15</a:t>
            </a:fld>
            <a:endParaRPr sz="900">
              <a:latin typeface="Malgun Gothic"/>
              <a:cs typeface="Malgun Gothic"/>
            </a:endParaRPr>
          </a:p>
        </p:txBody>
      </p:sp>
      <p:sp>
        <p:nvSpPr>
          <p:cNvPr id="14" name="Rectangle 3"/>
          <p:cNvSpPr>
            <a:spLocks noGrp="1" noChangeArrowheads="1"/>
          </p:cNvSpPr>
          <p:nvPr>
            <p:ph idx="1"/>
          </p:nvPr>
        </p:nvSpPr>
        <p:spPr>
          <a:xfrm>
            <a:off x="1253871" y="1873638"/>
            <a:ext cx="9869433" cy="5181600"/>
          </a:xfrm>
        </p:spPr>
        <p:txBody>
          <a:bodyPr/>
          <a:lstStyle/>
          <a:p>
            <a:pPr marL="0" indent="0">
              <a:lnSpc>
                <a:spcPct val="80000"/>
              </a:lnSpc>
              <a:spcBef>
                <a:spcPct val="50000"/>
              </a:spcBef>
              <a:buNone/>
              <a:defRPr/>
            </a:pPr>
            <a:endParaRPr lang="en-US" sz="2400" dirty="0">
              <a:latin typeface="Calibri" panose="020F0502020204030204" charset="0"/>
            </a:endParaRPr>
          </a:p>
          <a:p>
            <a:pPr>
              <a:lnSpc>
                <a:spcPct val="80000"/>
              </a:lnSpc>
            </a:pPr>
            <a:r>
              <a:rPr lang="en-US" sz="2800" dirty="0">
                <a:latin typeface="Calibri" panose="020F0502020204030204" charset="0"/>
              </a:rPr>
              <a:t>To evaluate an infix expression we need to consider</a:t>
            </a:r>
          </a:p>
          <a:p>
            <a:pPr lvl="1">
              <a:lnSpc>
                <a:spcPct val="80000"/>
              </a:lnSpc>
            </a:pPr>
            <a:r>
              <a:rPr lang="en-US" sz="2400" dirty="0">
                <a:latin typeface="Calibri" panose="020F0502020204030204" charset="0"/>
              </a:rPr>
              <a:t>Operators</a:t>
            </a:r>
            <a:r>
              <a:rPr lang="ja-JP" altLang="en-US" sz="2400" dirty="0">
                <a:latin typeface="Calibri" panose="020F0502020204030204" charset="0"/>
              </a:rPr>
              <a:t>’</a:t>
            </a:r>
            <a:r>
              <a:rPr lang="en-US" altLang="ja-JP" sz="2400" dirty="0">
                <a:latin typeface="Calibri" panose="020F0502020204030204" charset="0"/>
              </a:rPr>
              <a:t> Priority </a:t>
            </a:r>
          </a:p>
          <a:p>
            <a:pPr lvl="1">
              <a:lnSpc>
                <a:spcPct val="80000"/>
              </a:lnSpc>
            </a:pPr>
            <a:r>
              <a:rPr lang="en-US" sz="2400" dirty="0">
                <a:latin typeface="Calibri" panose="020F0502020204030204" charset="0"/>
              </a:rPr>
              <a:t>Associative property</a:t>
            </a:r>
          </a:p>
          <a:p>
            <a:pPr lvl="1">
              <a:lnSpc>
                <a:spcPct val="80000"/>
              </a:lnSpc>
            </a:pPr>
            <a:r>
              <a:rPr lang="en-US" altLang="ko-KR" sz="2400" dirty="0">
                <a:latin typeface="Calibri" panose="020F0502020204030204" charset="0"/>
                <a:ea typeface="Gulim" pitchFamily="34" charset="-127"/>
              </a:rPr>
              <a:t>Delimiters</a:t>
            </a:r>
            <a:endParaRPr lang="en-US" sz="2400" dirty="0">
              <a:latin typeface="Calibri" panose="020F0502020204030204" charset="0"/>
            </a:endParaRPr>
          </a:p>
        </p:txBody>
      </p:sp>
    </p:spTree>
    <p:extLst>
      <p:ext uri="{BB962C8B-B14F-4D97-AF65-F5344CB8AC3E}">
        <p14:creationId xmlns:p14="http://schemas.microsoft.com/office/powerpoint/2010/main" val="11736030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b="1" spc="-5" dirty="0">
                <a:solidFill>
                  <a:schemeClr val="tx1"/>
                </a:solidFill>
              </a:rPr>
              <a:t>Why do we need PREFIX/POSTFIX?</a:t>
            </a:r>
            <a:endParaRPr lang="en-US" sz="4000" b="1" kern="1200" spc="-10" dirty="0">
              <a:solidFill>
                <a:schemeClr val="tx1"/>
              </a:solidFill>
              <a:latin typeface="+mj-lt"/>
              <a:ea typeface="+mj-ea"/>
              <a:cs typeface="+mj-cs"/>
            </a:endParaRPr>
          </a:p>
        </p:txBody>
      </p:sp>
      <p:sp>
        <p:nvSpPr>
          <p:cNvPr id="10" name="object 10"/>
          <p:cNvSpPr txBox="1"/>
          <p:nvPr/>
        </p:nvSpPr>
        <p:spPr>
          <a:xfrm>
            <a:off x="10798429" y="6616656"/>
            <a:ext cx="139700" cy="438582"/>
          </a:xfrm>
          <a:prstGeom prst="rect">
            <a:avLst/>
          </a:prstGeom>
        </p:spPr>
        <p:txBody>
          <a:bodyPr vert="horz" wrap="square" lIns="0" tIns="22860" rIns="0" bIns="0" rtlCol="0">
            <a:spAutoFit/>
          </a:bodyPr>
          <a:lstStyle/>
          <a:p>
            <a:pPr marL="38100">
              <a:spcBef>
                <a:spcPts val="180"/>
              </a:spcBef>
            </a:pPr>
            <a:fld id="{81D60167-4931-47E6-BA6A-407CBD079E47}" type="slidenum">
              <a:rPr sz="900" dirty="0">
                <a:latin typeface="Malgun Gothic"/>
                <a:cs typeface="Malgun Gothic"/>
              </a:rPr>
              <a:pPr marL="38100">
                <a:spcBef>
                  <a:spcPts val="180"/>
                </a:spcBef>
              </a:pPr>
              <a:t>16</a:t>
            </a:fld>
            <a:endParaRPr sz="900">
              <a:latin typeface="Malgun Gothic"/>
              <a:cs typeface="Malgun Gothic"/>
            </a:endParaRPr>
          </a:p>
        </p:txBody>
      </p:sp>
      <p:sp>
        <p:nvSpPr>
          <p:cNvPr id="14" name="Rectangle 3"/>
          <p:cNvSpPr>
            <a:spLocks noGrp="1" noChangeArrowheads="1"/>
          </p:cNvSpPr>
          <p:nvPr>
            <p:ph idx="1"/>
          </p:nvPr>
        </p:nvSpPr>
        <p:spPr>
          <a:xfrm>
            <a:off x="928996" y="1654347"/>
            <a:ext cx="9869433" cy="4242600"/>
          </a:xfrm>
        </p:spPr>
        <p:txBody>
          <a:bodyPr/>
          <a:lstStyle/>
          <a:p>
            <a:pPr marL="0" indent="0">
              <a:lnSpc>
                <a:spcPct val="80000"/>
              </a:lnSpc>
              <a:spcBef>
                <a:spcPct val="50000"/>
              </a:spcBef>
              <a:buNone/>
              <a:defRPr/>
            </a:pPr>
            <a:endParaRPr lang="en-US" sz="2400" dirty="0">
              <a:latin typeface="Calibri" panose="020F0502020204030204" charset="0"/>
            </a:endParaRPr>
          </a:p>
          <a:p>
            <a:pPr>
              <a:defRPr/>
            </a:pPr>
            <a:r>
              <a:rPr lang="en-US" altLang="ko-KR" sz="2400" dirty="0">
                <a:latin typeface="Calibri" panose="020F0502020204030204" charset="0"/>
                <a:ea typeface="굴림" charset="0"/>
                <a:cs typeface="굴림" charset="0"/>
              </a:rPr>
              <a:t>Infix Expression Is Hard To Parse and difficult to evaluate. </a:t>
            </a:r>
          </a:p>
          <a:p>
            <a:pPr>
              <a:defRPr/>
            </a:pPr>
            <a:r>
              <a:rPr lang="en-US" altLang="ko-KR" sz="2400" dirty="0">
                <a:latin typeface="Calibri" panose="020F0502020204030204" charset="0"/>
                <a:ea typeface="굴림" charset="0"/>
                <a:cs typeface="굴림" charset="0"/>
              </a:rPr>
              <a:t> Postfix and prefix  do not rely on operator priority and are easier to parse.</a:t>
            </a:r>
          </a:p>
          <a:p>
            <a:pPr>
              <a:defRPr/>
            </a:pPr>
            <a:r>
              <a:rPr lang="en-US" sz="2400" dirty="0">
                <a:latin typeface="Calibri" panose="020F0502020204030204" charset="0"/>
              </a:rPr>
              <a:t>An expression in infix form is thus converted into prefix or postfix form and then evaluated without considering the operators priority and delimiters. </a:t>
            </a:r>
          </a:p>
          <a:p>
            <a:pPr>
              <a:defRPr/>
            </a:pPr>
            <a:r>
              <a:rPr lang="en-US" sz="2400" dirty="0">
                <a:latin typeface="Calibri" panose="020F0502020204030204" charset="0"/>
              </a:rPr>
              <a:t>In polish notation we don’t have a need of any parenthesis and by scanning from left to right we can evaluate the expression one by one. There is no need of traversal in expression at different places for evaluation.</a:t>
            </a:r>
          </a:p>
          <a:p>
            <a:pPr>
              <a:defRPr/>
            </a:pPr>
            <a:endParaRPr lang="en-US" sz="2400" dirty="0">
              <a:latin typeface="Calibri" panose="020F0502020204030204" charset="0"/>
            </a:endParaRPr>
          </a:p>
          <a:p>
            <a:pPr marL="0" indent="0">
              <a:buNone/>
              <a:defRPr/>
            </a:pPr>
            <a:endParaRPr lang="fr-FR" sz="2400" dirty="0">
              <a:latin typeface="Calibri" panose="020F0502020204030204" charset="0"/>
              <a:ea typeface="굴림" charset="0"/>
              <a:cs typeface="굴림" charset="0"/>
            </a:endParaRPr>
          </a:p>
        </p:txBody>
      </p:sp>
    </p:spTree>
    <p:extLst>
      <p:ext uri="{BB962C8B-B14F-4D97-AF65-F5344CB8AC3E}">
        <p14:creationId xmlns:p14="http://schemas.microsoft.com/office/powerpoint/2010/main" val="8056720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b="1" spc="-5" dirty="0">
                <a:solidFill>
                  <a:schemeClr val="tx1"/>
                </a:solidFill>
              </a:rPr>
              <a:t>Rules</a:t>
            </a:r>
            <a:r>
              <a:rPr lang="en-US" sz="4000" b="1" kern="1200" spc="-5" dirty="0">
                <a:solidFill>
                  <a:schemeClr val="tx1"/>
                </a:solidFill>
                <a:latin typeface="+mj-lt"/>
                <a:ea typeface="+mj-ea"/>
                <a:cs typeface="+mj-cs"/>
              </a:rPr>
              <a:t> to convert infix to post</a:t>
            </a:r>
            <a:r>
              <a:rPr lang="en-US" sz="4000" b="1" spc="-5" dirty="0">
                <a:solidFill>
                  <a:schemeClr val="tx1"/>
                </a:solidFill>
              </a:rPr>
              <a:t>fix expression</a:t>
            </a:r>
            <a:endParaRPr lang="en-US" sz="4000" b="1" kern="1200" spc="-10" dirty="0">
              <a:solidFill>
                <a:schemeClr val="tx1"/>
              </a:solidFill>
              <a:latin typeface="+mj-lt"/>
              <a:ea typeface="+mj-ea"/>
              <a:cs typeface="+mj-cs"/>
            </a:endParaRPr>
          </a:p>
        </p:txBody>
      </p:sp>
      <p:sp>
        <p:nvSpPr>
          <p:cNvPr id="10" name="object 10"/>
          <p:cNvSpPr txBox="1"/>
          <p:nvPr/>
        </p:nvSpPr>
        <p:spPr>
          <a:xfrm>
            <a:off x="10798429" y="6616656"/>
            <a:ext cx="139700" cy="438582"/>
          </a:xfrm>
          <a:prstGeom prst="rect">
            <a:avLst/>
          </a:prstGeom>
        </p:spPr>
        <p:txBody>
          <a:bodyPr vert="horz" wrap="square" lIns="0" tIns="22860" rIns="0" bIns="0" rtlCol="0">
            <a:spAutoFit/>
          </a:bodyPr>
          <a:lstStyle/>
          <a:p>
            <a:pPr marL="38100">
              <a:spcBef>
                <a:spcPts val="180"/>
              </a:spcBef>
            </a:pPr>
            <a:fld id="{81D60167-4931-47E6-BA6A-407CBD079E47}" type="slidenum">
              <a:rPr sz="900" dirty="0">
                <a:latin typeface="Malgun Gothic"/>
                <a:cs typeface="Malgun Gothic"/>
              </a:rPr>
              <a:pPr marL="38100">
                <a:spcBef>
                  <a:spcPts val="180"/>
                </a:spcBef>
              </a:pPr>
              <a:t>17</a:t>
            </a:fld>
            <a:endParaRPr sz="900">
              <a:latin typeface="Malgun Gothic"/>
              <a:cs typeface="Malgun Gothic"/>
            </a:endParaRPr>
          </a:p>
        </p:txBody>
      </p:sp>
      <p:sp>
        <p:nvSpPr>
          <p:cNvPr id="14" name="Rectangle 3"/>
          <p:cNvSpPr>
            <a:spLocks noGrp="1" noChangeArrowheads="1"/>
          </p:cNvSpPr>
          <p:nvPr>
            <p:ph idx="1"/>
          </p:nvPr>
        </p:nvSpPr>
        <p:spPr>
          <a:xfrm>
            <a:off x="1156137" y="1763310"/>
            <a:ext cx="9869433" cy="4442799"/>
          </a:xfrm>
        </p:spPr>
        <p:txBody>
          <a:bodyPr>
            <a:normAutofit/>
          </a:bodyPr>
          <a:lstStyle/>
          <a:p>
            <a:pPr marL="0" indent="0">
              <a:lnSpc>
                <a:spcPct val="80000"/>
              </a:lnSpc>
              <a:spcBef>
                <a:spcPct val="50000"/>
              </a:spcBef>
              <a:buNone/>
              <a:defRPr/>
            </a:pPr>
            <a:r>
              <a:rPr lang="en-US" sz="2400" dirty="0">
                <a:solidFill>
                  <a:srgbClr val="FF0000"/>
                </a:solidFill>
                <a:latin typeface="Calibri" panose="020F0502020204030204" charset="0"/>
              </a:rPr>
              <a:t>Parse from left to right</a:t>
            </a:r>
          </a:p>
          <a:p>
            <a:pPr>
              <a:buFont typeface="Wingdings" panose="05000000000000000000" pitchFamily="2" charset="2"/>
              <a:buChar char="§"/>
              <a:defRPr/>
            </a:pPr>
            <a:r>
              <a:rPr lang="en-US" altLang="ko-KR" sz="2400" dirty="0">
                <a:latin typeface="Calibri" panose="020F0502020204030204" charset="0"/>
                <a:ea typeface="굴림" charset="0"/>
                <a:cs typeface="굴림" charset="0"/>
              </a:rPr>
              <a:t>Print the operand as they arrive.</a:t>
            </a:r>
          </a:p>
          <a:p>
            <a:pPr>
              <a:buFont typeface="Wingdings" panose="05000000000000000000" pitchFamily="2" charset="2"/>
              <a:buChar char="§"/>
              <a:defRPr/>
            </a:pPr>
            <a:r>
              <a:rPr lang="en-US" altLang="ko-KR" sz="2400" dirty="0">
                <a:latin typeface="Calibri" panose="020F0502020204030204" charset="0"/>
                <a:ea typeface="굴림" charset="0"/>
                <a:cs typeface="굴림" charset="0"/>
              </a:rPr>
              <a:t>If the stack is empty or contains a left parenthesis on top, push the incoming operator on to the stack.</a:t>
            </a:r>
          </a:p>
          <a:p>
            <a:pPr>
              <a:buFont typeface="Wingdings" panose="05000000000000000000" pitchFamily="2" charset="2"/>
              <a:buChar char="§"/>
              <a:defRPr/>
            </a:pPr>
            <a:r>
              <a:rPr lang="en-US" altLang="ko-KR" sz="2400" dirty="0">
                <a:latin typeface="Calibri" panose="020F0502020204030204" charset="0"/>
                <a:ea typeface="굴림" charset="0"/>
                <a:cs typeface="굴림" charset="0"/>
              </a:rPr>
              <a:t>If the incoming symbol is '(', push it on to the stack.</a:t>
            </a:r>
          </a:p>
          <a:p>
            <a:pPr>
              <a:buFont typeface="Wingdings" panose="05000000000000000000" pitchFamily="2" charset="2"/>
              <a:buChar char="§"/>
              <a:defRPr/>
            </a:pPr>
            <a:r>
              <a:rPr lang="en-US" altLang="ko-KR" sz="2400" dirty="0">
                <a:latin typeface="Calibri" panose="020F0502020204030204" charset="0"/>
                <a:ea typeface="굴림" charset="0"/>
                <a:cs typeface="굴림" charset="0"/>
              </a:rPr>
              <a:t>If the incoming symbol is ')', pop the stack and print the operators until the left parenthesis is found.</a:t>
            </a:r>
          </a:p>
          <a:p>
            <a:pPr>
              <a:buFont typeface="Wingdings" panose="05000000000000000000" pitchFamily="2" charset="2"/>
              <a:buChar char="§"/>
              <a:defRPr/>
            </a:pPr>
            <a:r>
              <a:rPr lang="en-US" altLang="ko-KR" sz="2400" dirty="0">
                <a:latin typeface="Calibri" panose="020F0502020204030204" charset="0"/>
                <a:ea typeface="굴림" charset="0"/>
                <a:cs typeface="굴림" charset="0"/>
              </a:rPr>
              <a:t>If the incoming symbol has higher precedence than the top of the stack, push it on the stack.</a:t>
            </a:r>
          </a:p>
        </p:txBody>
      </p:sp>
    </p:spTree>
    <p:extLst>
      <p:ext uri="{BB962C8B-B14F-4D97-AF65-F5344CB8AC3E}">
        <p14:creationId xmlns:p14="http://schemas.microsoft.com/office/powerpoint/2010/main" val="36322598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b="1" spc="-5" dirty="0">
                <a:solidFill>
                  <a:schemeClr val="tx1"/>
                </a:solidFill>
              </a:rPr>
              <a:t>Rules</a:t>
            </a:r>
            <a:r>
              <a:rPr lang="en-US" sz="4000" b="1" kern="1200" spc="-5" dirty="0">
                <a:solidFill>
                  <a:schemeClr val="tx1"/>
                </a:solidFill>
                <a:latin typeface="+mj-lt"/>
                <a:ea typeface="+mj-ea"/>
                <a:cs typeface="+mj-cs"/>
              </a:rPr>
              <a:t> to convert infix to post</a:t>
            </a:r>
            <a:r>
              <a:rPr lang="en-US" sz="4000" b="1" spc="-5" dirty="0">
                <a:solidFill>
                  <a:schemeClr val="tx1"/>
                </a:solidFill>
              </a:rPr>
              <a:t>fix expression</a:t>
            </a:r>
            <a:endParaRPr lang="en-US" sz="4000" b="1" kern="1200" spc="-10" dirty="0">
              <a:solidFill>
                <a:schemeClr val="tx1"/>
              </a:solidFill>
              <a:latin typeface="+mj-lt"/>
              <a:ea typeface="+mj-ea"/>
              <a:cs typeface="+mj-cs"/>
            </a:endParaRPr>
          </a:p>
        </p:txBody>
      </p:sp>
      <p:sp>
        <p:nvSpPr>
          <p:cNvPr id="10" name="object 10"/>
          <p:cNvSpPr txBox="1"/>
          <p:nvPr/>
        </p:nvSpPr>
        <p:spPr>
          <a:xfrm>
            <a:off x="10798429" y="6616656"/>
            <a:ext cx="139700" cy="438582"/>
          </a:xfrm>
          <a:prstGeom prst="rect">
            <a:avLst/>
          </a:prstGeom>
        </p:spPr>
        <p:txBody>
          <a:bodyPr vert="horz" wrap="square" lIns="0" tIns="22860" rIns="0" bIns="0" rtlCol="0">
            <a:spAutoFit/>
          </a:bodyPr>
          <a:lstStyle/>
          <a:p>
            <a:pPr marL="38100">
              <a:spcBef>
                <a:spcPts val="180"/>
              </a:spcBef>
            </a:pPr>
            <a:fld id="{81D60167-4931-47E6-BA6A-407CBD079E47}" type="slidenum">
              <a:rPr sz="900" dirty="0">
                <a:latin typeface="Malgun Gothic"/>
                <a:cs typeface="Malgun Gothic"/>
              </a:rPr>
              <a:pPr marL="38100">
                <a:spcBef>
                  <a:spcPts val="180"/>
                </a:spcBef>
              </a:pPr>
              <a:t>18</a:t>
            </a:fld>
            <a:endParaRPr sz="900">
              <a:latin typeface="Malgun Gothic"/>
              <a:cs typeface="Malgun Gothic"/>
            </a:endParaRPr>
          </a:p>
        </p:txBody>
      </p:sp>
      <p:sp>
        <p:nvSpPr>
          <p:cNvPr id="14" name="Rectangle 3"/>
          <p:cNvSpPr>
            <a:spLocks noGrp="1" noChangeArrowheads="1"/>
          </p:cNvSpPr>
          <p:nvPr>
            <p:ph idx="1"/>
          </p:nvPr>
        </p:nvSpPr>
        <p:spPr>
          <a:xfrm>
            <a:off x="968797" y="1875452"/>
            <a:ext cx="9869433" cy="4182155"/>
          </a:xfrm>
        </p:spPr>
        <p:txBody>
          <a:bodyPr>
            <a:normAutofit/>
          </a:bodyPr>
          <a:lstStyle/>
          <a:p>
            <a:pPr marL="0" indent="0">
              <a:lnSpc>
                <a:spcPct val="80000"/>
              </a:lnSpc>
              <a:spcBef>
                <a:spcPct val="50000"/>
              </a:spcBef>
              <a:buNone/>
              <a:defRPr/>
            </a:pPr>
            <a:endParaRPr lang="en-US" sz="2400" dirty="0">
              <a:latin typeface="Calibri" panose="020F0502020204030204" charset="0"/>
            </a:endParaRPr>
          </a:p>
          <a:p>
            <a:pPr>
              <a:buFont typeface="Wingdings" panose="05000000000000000000" pitchFamily="2" charset="2"/>
              <a:buChar char="§"/>
              <a:defRPr/>
            </a:pPr>
            <a:r>
              <a:rPr lang="en-US" altLang="ko-KR" sz="2400" dirty="0">
                <a:latin typeface="Calibri" panose="020F0502020204030204" charset="0"/>
                <a:ea typeface="굴림" charset="0"/>
                <a:cs typeface="굴림" charset="0"/>
              </a:rPr>
              <a:t>If the incoming symbol has lower precedence than the top of the stack, pop and print the top of the stack. Then test the incoming operator against the new top of the stack.</a:t>
            </a:r>
          </a:p>
          <a:p>
            <a:pPr>
              <a:buFont typeface="Wingdings" panose="05000000000000000000" pitchFamily="2" charset="2"/>
              <a:buChar char="§"/>
              <a:defRPr/>
            </a:pPr>
            <a:r>
              <a:rPr lang="en-US" altLang="ko-KR" sz="2400" dirty="0">
                <a:latin typeface="Calibri" panose="020F0502020204030204" charset="0"/>
                <a:ea typeface="굴림" charset="0"/>
                <a:cs typeface="굴림" charset="0"/>
              </a:rPr>
              <a:t>If the incoming operator has the same precedence with the top of the stack then use the associativity rules. </a:t>
            </a:r>
          </a:p>
          <a:p>
            <a:pPr lvl="1">
              <a:buFont typeface="Wingdings" panose="05000000000000000000" pitchFamily="2" charset="2"/>
              <a:buChar char="§"/>
              <a:defRPr/>
            </a:pPr>
            <a:r>
              <a:rPr lang="en-US" altLang="ko-KR" sz="2200" dirty="0">
                <a:latin typeface="Calibri" panose="020F0502020204030204" charset="0"/>
                <a:ea typeface="굴림" charset="0"/>
                <a:cs typeface="굴림" charset="0"/>
              </a:rPr>
              <a:t>If the associativity is from left to right then pop and print the top of the stack then push the incoming operator. </a:t>
            </a:r>
          </a:p>
          <a:p>
            <a:pPr lvl="1">
              <a:buFont typeface="Wingdings" panose="05000000000000000000" pitchFamily="2" charset="2"/>
              <a:buChar char="§"/>
              <a:defRPr/>
            </a:pPr>
            <a:r>
              <a:rPr lang="en-US" altLang="ko-KR" sz="2200" dirty="0">
                <a:latin typeface="Calibri" panose="020F0502020204030204" charset="0"/>
                <a:ea typeface="굴림" charset="0"/>
                <a:cs typeface="굴림" charset="0"/>
              </a:rPr>
              <a:t>If the associativity is from right to left then push the incoming operator.</a:t>
            </a:r>
          </a:p>
          <a:p>
            <a:pPr>
              <a:buFont typeface="Wingdings" panose="05000000000000000000" pitchFamily="2" charset="2"/>
              <a:buChar char="§"/>
              <a:defRPr/>
            </a:pPr>
            <a:r>
              <a:rPr lang="en-US" altLang="ko-KR" sz="2400" dirty="0">
                <a:latin typeface="Calibri" panose="020F0502020204030204" charset="0"/>
                <a:ea typeface="굴림" charset="0"/>
                <a:cs typeface="굴림" charset="0"/>
              </a:rPr>
              <a:t>At the end of the expression, pop and print all the operators of the stack.</a:t>
            </a:r>
            <a:endParaRPr lang="fr-FR" sz="2400" dirty="0">
              <a:latin typeface="Calibri" panose="020F0502020204030204" charset="0"/>
              <a:ea typeface="굴림" charset="0"/>
              <a:cs typeface="굴림" charset="0"/>
            </a:endParaRPr>
          </a:p>
        </p:txBody>
      </p:sp>
    </p:spTree>
    <p:extLst>
      <p:ext uri="{BB962C8B-B14F-4D97-AF65-F5344CB8AC3E}">
        <p14:creationId xmlns:p14="http://schemas.microsoft.com/office/powerpoint/2010/main" val="33877351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b="1" spc="-5" dirty="0">
                <a:solidFill>
                  <a:schemeClr val="tx1"/>
                </a:solidFill>
              </a:rPr>
              <a:t>A+B*C in postfix</a:t>
            </a:r>
            <a:endParaRPr lang="en-US" sz="4000" b="1" kern="1200" spc="-10" dirty="0">
              <a:solidFill>
                <a:schemeClr val="tx1"/>
              </a:solidFill>
              <a:latin typeface="+mj-lt"/>
              <a:ea typeface="+mj-ea"/>
              <a:cs typeface="+mj-cs"/>
            </a:endParaRPr>
          </a:p>
        </p:txBody>
      </p:sp>
      <p:sp>
        <p:nvSpPr>
          <p:cNvPr id="10" name="object 10"/>
          <p:cNvSpPr txBox="1"/>
          <p:nvPr/>
        </p:nvSpPr>
        <p:spPr>
          <a:xfrm>
            <a:off x="10798429" y="6616656"/>
            <a:ext cx="139700" cy="438582"/>
          </a:xfrm>
          <a:prstGeom prst="rect">
            <a:avLst/>
          </a:prstGeom>
        </p:spPr>
        <p:txBody>
          <a:bodyPr vert="horz" wrap="square" lIns="0" tIns="22860" rIns="0" bIns="0" rtlCol="0">
            <a:spAutoFit/>
          </a:bodyPr>
          <a:lstStyle/>
          <a:p>
            <a:pPr marL="38100">
              <a:spcBef>
                <a:spcPts val="180"/>
              </a:spcBef>
            </a:pPr>
            <a:fld id="{81D60167-4931-47E6-BA6A-407CBD079E47}" type="slidenum">
              <a:rPr sz="900" dirty="0">
                <a:latin typeface="Malgun Gothic"/>
                <a:cs typeface="Malgun Gothic"/>
              </a:rPr>
              <a:pPr marL="38100">
                <a:spcBef>
                  <a:spcPts val="180"/>
                </a:spcBef>
              </a:pPr>
              <a:t>19</a:t>
            </a:fld>
            <a:endParaRPr sz="900">
              <a:latin typeface="Malgun Gothic"/>
              <a:cs typeface="Malgun Gothic"/>
            </a:endParaRPr>
          </a:p>
        </p:txBody>
      </p:sp>
      <p:sp>
        <p:nvSpPr>
          <p:cNvPr id="13" name="Rectangle 3"/>
          <p:cNvSpPr>
            <a:spLocks noGrp="1" noChangeArrowheads="1"/>
          </p:cNvSpPr>
          <p:nvPr>
            <p:ph idx="1"/>
          </p:nvPr>
        </p:nvSpPr>
        <p:spPr>
          <a:xfrm>
            <a:off x="2590800" y="2381488"/>
            <a:ext cx="7775575" cy="4800600"/>
          </a:xfrm>
        </p:spPr>
        <p:txBody>
          <a:bodyPr/>
          <a:lstStyle/>
          <a:p>
            <a:pPr eaLnBrk="1" hangingPunct="1">
              <a:defRPr/>
            </a:pPr>
            <a:r>
              <a:rPr lang="en-US" sz="2400" dirty="0">
                <a:latin typeface="Calibri" panose="020F0502020204030204" charset="0"/>
                <a:cs typeface="Times New Roman" panose="02020603050405020304" pitchFamily="18" charset="0"/>
              </a:rPr>
              <a:t>Applying the rules of precedence, we obtained</a:t>
            </a:r>
          </a:p>
          <a:p>
            <a:pPr eaLnBrk="1" hangingPunct="1">
              <a:buFont typeface="Wingdings" panose="05000000000000000000" charset="0"/>
              <a:buNone/>
              <a:defRPr/>
            </a:pPr>
            <a:endParaRPr lang="en-US" sz="2400" dirty="0">
              <a:latin typeface="Calibri" panose="020F0502020204030204" charset="0"/>
              <a:cs typeface="Times New Roman" panose="02020603050405020304" pitchFamily="18" charset="0"/>
            </a:endParaRPr>
          </a:p>
          <a:p>
            <a:pPr eaLnBrk="1" hangingPunct="1">
              <a:buFont typeface="Wingdings" panose="05000000000000000000" charset="0"/>
              <a:buNone/>
              <a:defRPr/>
            </a:pPr>
            <a:r>
              <a:rPr lang="en-US" dirty="0">
                <a:latin typeface="Calibri" panose="020F0502020204030204" charset="0"/>
              </a:rPr>
              <a:t>A+B*C</a:t>
            </a:r>
          </a:p>
          <a:p>
            <a:pPr eaLnBrk="1" hangingPunct="1">
              <a:buFont typeface="Wingdings" panose="05000000000000000000" charset="0"/>
              <a:buNone/>
              <a:defRPr/>
            </a:pPr>
            <a:r>
              <a:rPr lang="en-US" dirty="0">
                <a:latin typeface="Calibri" panose="020F0502020204030204" charset="0"/>
              </a:rPr>
              <a:t>A+(B*C)  </a:t>
            </a:r>
            <a:r>
              <a:rPr lang="en-US" sz="2000" dirty="0">
                <a:latin typeface="Calibri" panose="020F0502020204030204" charset="0"/>
                <a:cs typeface="Times New Roman" panose="02020603050405020304" pitchFamily="18" charset="0"/>
              </a:rPr>
              <a:t>Parentheses for emphasis</a:t>
            </a:r>
          </a:p>
          <a:p>
            <a:pPr eaLnBrk="1" hangingPunct="1">
              <a:buFont typeface="Wingdings" panose="05000000000000000000" charset="0"/>
              <a:buNone/>
              <a:defRPr/>
            </a:pPr>
            <a:r>
              <a:rPr lang="en-US" dirty="0">
                <a:latin typeface="Calibri" panose="020F0502020204030204" charset="0"/>
              </a:rPr>
              <a:t>A+(BC*)  </a:t>
            </a:r>
            <a:r>
              <a:rPr lang="en-US" sz="2000" dirty="0">
                <a:latin typeface="Calibri" panose="020F0502020204030204" charset="0"/>
                <a:cs typeface="Times New Roman" panose="02020603050405020304" pitchFamily="18" charset="0"/>
              </a:rPr>
              <a:t>Convert the multiplication,</a:t>
            </a:r>
            <a:r>
              <a:rPr lang="en-US" dirty="0">
                <a:latin typeface="Calibri" panose="020F0502020204030204" charset="0"/>
              </a:rPr>
              <a:t>     </a:t>
            </a:r>
          </a:p>
          <a:p>
            <a:pPr eaLnBrk="1" hangingPunct="1">
              <a:buFont typeface="Wingdings" panose="05000000000000000000" charset="0"/>
              <a:buNone/>
              <a:defRPr/>
            </a:pPr>
            <a:r>
              <a:rPr lang="en-US" dirty="0">
                <a:latin typeface="Calibri" panose="020F0502020204030204" charset="0"/>
              </a:rPr>
              <a:t>ABC*+    </a:t>
            </a:r>
            <a:r>
              <a:rPr lang="en-US" sz="2400" dirty="0">
                <a:solidFill>
                  <a:schemeClr val="hlink"/>
                </a:solidFill>
                <a:latin typeface="Calibri" panose="020F0502020204030204" charset="0"/>
              </a:rPr>
              <a:t>Postfix Form</a:t>
            </a:r>
          </a:p>
        </p:txBody>
      </p:sp>
    </p:spTree>
    <p:extLst>
      <p:ext uri="{BB962C8B-B14F-4D97-AF65-F5344CB8AC3E}">
        <p14:creationId xmlns:p14="http://schemas.microsoft.com/office/powerpoint/2010/main" val="23074856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b="1" spc="-5" dirty="0">
                <a:solidFill>
                  <a:schemeClr val="tx1"/>
                </a:solidFill>
              </a:rPr>
              <a:t>Examples of infix to prefix and post fix</a:t>
            </a:r>
            <a:endParaRPr lang="en-US" sz="4000" b="1" kern="1200" spc="-10" dirty="0">
              <a:solidFill>
                <a:schemeClr val="tx1"/>
              </a:solidFill>
              <a:latin typeface="+mj-lt"/>
              <a:ea typeface="+mj-ea"/>
              <a:cs typeface="+mj-cs"/>
            </a:endParaRPr>
          </a:p>
        </p:txBody>
      </p:sp>
      <p:sp>
        <p:nvSpPr>
          <p:cNvPr id="10" name="object 10"/>
          <p:cNvSpPr txBox="1"/>
          <p:nvPr/>
        </p:nvSpPr>
        <p:spPr>
          <a:xfrm>
            <a:off x="10798429" y="6616656"/>
            <a:ext cx="139700" cy="438582"/>
          </a:xfrm>
          <a:prstGeom prst="rect">
            <a:avLst/>
          </a:prstGeom>
        </p:spPr>
        <p:txBody>
          <a:bodyPr vert="horz" wrap="square" lIns="0" tIns="22860" rIns="0" bIns="0" rtlCol="0">
            <a:spAutoFit/>
          </a:bodyPr>
          <a:lstStyle/>
          <a:p>
            <a:pPr marL="38100">
              <a:spcBef>
                <a:spcPts val="180"/>
              </a:spcBef>
            </a:pPr>
            <a:fld id="{81D60167-4931-47E6-BA6A-407CBD079E47}" type="slidenum">
              <a:rPr sz="900" dirty="0">
                <a:latin typeface="Malgun Gothic"/>
                <a:cs typeface="Malgun Gothic"/>
              </a:rPr>
              <a:pPr marL="38100">
                <a:spcBef>
                  <a:spcPts val="180"/>
                </a:spcBef>
              </a:pPr>
              <a:t>20</a:t>
            </a:fld>
            <a:endParaRPr sz="900">
              <a:latin typeface="Malgun Gothic"/>
              <a:cs typeface="Malgun Gothic"/>
            </a:endParaRPr>
          </a:p>
        </p:txBody>
      </p:sp>
      <p:graphicFrame>
        <p:nvGraphicFramePr>
          <p:cNvPr id="12" name="Group 3"/>
          <p:cNvGraphicFramePr>
            <a:graphicFrameLocks noGrp="1"/>
          </p:cNvGraphicFramePr>
          <p:nvPr>
            <p:extLst>
              <p:ext uri="{D42A27DB-BD31-4B8C-83A1-F6EECF244321}">
                <p14:modId xmlns:p14="http://schemas.microsoft.com/office/powerpoint/2010/main" val="2636543149"/>
              </p:ext>
            </p:extLst>
          </p:nvPr>
        </p:nvGraphicFramePr>
        <p:xfrm>
          <a:off x="3348134" y="2387407"/>
          <a:ext cx="5334000" cy="3052340"/>
        </p:xfrm>
        <a:graphic>
          <a:graphicData uri="http://schemas.openxmlformats.org/drawingml/2006/table">
            <a:tbl>
              <a:tblPr/>
              <a:tblGrid>
                <a:gridCol w="2667000">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tblGrid>
              <a:tr h="673034">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en-US" sz="2400" b="0" i="0" u="none" strike="noStrike" cap="none" normalizeH="0" baseline="0" dirty="0">
                          <a:ln>
                            <a:noFill/>
                          </a:ln>
                          <a:solidFill>
                            <a:schemeClr val="hlink"/>
                          </a:solidFill>
                          <a:effectLst>
                            <a:outerShdw blurRad="38100" dist="38100" dir="2700000" algn="tl">
                              <a:srgbClr val="C0C0C0"/>
                            </a:outerShdw>
                          </a:effectLst>
                          <a:latin typeface="Tahoma" panose="020B0604030504040204" pitchFamily="34" charset="0"/>
                          <a:ea typeface="MS PGothic" panose="020B0600070205080204" charset="-128"/>
                        </a:rPr>
                        <a:t>Infix</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en-US" sz="2400" b="0" i="0" u="none" strike="noStrike" cap="none" normalizeH="0" baseline="0" dirty="0" err="1">
                          <a:ln>
                            <a:noFill/>
                          </a:ln>
                          <a:solidFill>
                            <a:schemeClr val="hlink"/>
                          </a:solidFill>
                          <a:effectLst>
                            <a:outerShdw blurRad="38100" dist="38100" dir="2700000" algn="tl">
                              <a:srgbClr val="C0C0C0"/>
                            </a:outerShdw>
                          </a:effectLst>
                          <a:latin typeface="Tahoma" panose="020B0604030504040204" pitchFamily="34" charset="0"/>
                          <a:ea typeface="MS PGothic" panose="020B0600070205080204" charset="-128"/>
                        </a:rPr>
                        <a:t>PostFix</a:t>
                      </a:r>
                      <a:endParaRPr kumimoji="0" lang="en-US" sz="2400" b="0" i="0" u="none" strike="noStrike" cap="none" normalizeH="0" baseline="0" dirty="0">
                        <a:ln>
                          <a:noFill/>
                        </a:ln>
                        <a:solidFill>
                          <a:schemeClr val="hlink"/>
                        </a:solidFill>
                        <a:effectLst>
                          <a:outerShdw blurRad="38100" dist="38100" dir="2700000" algn="tl">
                            <a:srgbClr val="C0C0C0"/>
                          </a:outerShdw>
                        </a:effectLst>
                        <a:latin typeface="Tahoma" panose="020B0604030504040204" pitchFamily="34" charset="0"/>
                        <a:ea typeface="MS PGothic" panose="020B060007020508020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93102">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en-US" sz="2400" b="0" i="0" u="none" strike="noStrike" cap="none" normalizeH="0" baseline="0">
                          <a:ln>
                            <a:noFill/>
                          </a:ln>
                          <a:solidFill>
                            <a:schemeClr val="tx1"/>
                          </a:solidFill>
                          <a:effectLst>
                            <a:outerShdw blurRad="38100" dist="38100" dir="2700000" algn="tl">
                              <a:srgbClr val="C0C0C0"/>
                            </a:outerShdw>
                          </a:effectLst>
                          <a:latin typeface="Tahoma" panose="020B0604030504040204" pitchFamily="34" charset="0"/>
                          <a:ea typeface="MS PGothic" panose="020B0600070205080204" charset="-128"/>
                        </a:rPr>
                        <a:t>A+B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en-US" sz="2400" b="0" i="0" u="none" strike="noStrike" cap="none" normalizeH="0" baseline="0">
                          <a:ln>
                            <a:noFill/>
                          </a:ln>
                          <a:solidFill>
                            <a:schemeClr val="tx1"/>
                          </a:solidFill>
                          <a:effectLst>
                            <a:outerShdw blurRad="38100" dist="38100" dir="2700000" algn="tl">
                              <a:srgbClr val="C0C0C0"/>
                            </a:outerShdw>
                          </a:effectLst>
                          <a:latin typeface="Tahoma" panose="020B0604030504040204" pitchFamily="34" charset="0"/>
                          <a:ea typeface="MS PGothic" panose="020B0600070205080204" charset="-128"/>
                        </a:rPr>
                        <a:t>AB+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89992">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en-US" sz="2400" b="0" i="0" u="none" strike="noStrike" cap="none" normalizeH="0" baseline="0">
                          <a:ln>
                            <a:noFill/>
                          </a:ln>
                          <a:solidFill>
                            <a:schemeClr val="tx1"/>
                          </a:solidFill>
                          <a:effectLst>
                            <a:outerShdw blurRad="38100" dist="38100" dir="2700000" algn="tl">
                              <a:srgbClr val="C0C0C0"/>
                            </a:outerShdw>
                          </a:effectLst>
                          <a:latin typeface="Tahoma" panose="020B0604030504040204" pitchFamily="34" charset="0"/>
                          <a:ea typeface="MS PGothic" panose="020B0600070205080204" charset="-128"/>
                        </a:rPr>
                        <a:t>(A+B) * (C + 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en-US" sz="2400" b="0" i="0" u="none" strike="noStrike" cap="none" normalizeH="0" baseline="0">
                          <a:ln>
                            <a:noFill/>
                          </a:ln>
                          <a:solidFill>
                            <a:schemeClr val="tx1"/>
                          </a:solidFill>
                          <a:effectLst>
                            <a:outerShdw blurRad="38100" dist="38100" dir="2700000" algn="tl">
                              <a:srgbClr val="C0C0C0"/>
                            </a:outerShdw>
                          </a:effectLst>
                          <a:latin typeface="Tahoma" panose="020B0604030504040204" pitchFamily="34" charset="0"/>
                          <a:ea typeface="MS PGothic" panose="020B0600070205080204" charset="-128"/>
                        </a:rPr>
                        <a:t>AB+CD+*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96212">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en-US" sz="2400" b="0" i="0" u="none" strike="noStrike" cap="none" normalizeH="0" baseline="0">
                          <a:ln>
                            <a:noFill/>
                          </a:ln>
                          <a:solidFill>
                            <a:schemeClr val="tx1"/>
                          </a:solidFill>
                          <a:effectLst>
                            <a:outerShdw blurRad="38100" dist="38100" dir="2700000" algn="tl">
                              <a:srgbClr val="C0C0C0"/>
                            </a:outerShdw>
                          </a:effectLst>
                          <a:latin typeface="Tahoma" panose="020B0604030504040204" pitchFamily="34" charset="0"/>
                          <a:ea typeface="MS PGothic" panose="020B0600070205080204" charset="-128"/>
                        </a:rPr>
                        <a:t>A-B/(C*D^E)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en-US" sz="2400" b="0" i="0" u="none" strike="noStrike" cap="none" normalizeH="0" baseline="0" dirty="0">
                          <a:ln>
                            <a:noFill/>
                          </a:ln>
                          <a:solidFill>
                            <a:schemeClr val="tx1"/>
                          </a:solidFill>
                          <a:effectLst>
                            <a:outerShdw blurRad="38100" dist="38100" dir="2700000" algn="tl">
                              <a:srgbClr val="C0C0C0"/>
                            </a:outerShdw>
                          </a:effectLst>
                          <a:latin typeface="Tahoma" panose="020B0604030504040204" pitchFamily="34" charset="0"/>
                          <a:ea typeface="MS PGothic" panose="020B0600070205080204" charset="-128"/>
                        </a:rPr>
                        <a:t>ABCDE^*/-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627845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b="1" spc="-5" dirty="0">
                <a:solidFill>
                  <a:schemeClr val="tx1"/>
                </a:solidFill>
              </a:rPr>
              <a:t>Infix to Postfix Conversion </a:t>
            </a:r>
            <a:endParaRPr lang="en-US" sz="4000" b="1" kern="1200" spc="-10" dirty="0">
              <a:solidFill>
                <a:schemeClr val="tx1"/>
              </a:solidFill>
              <a:latin typeface="+mj-lt"/>
              <a:ea typeface="+mj-ea"/>
              <a:cs typeface="+mj-cs"/>
            </a:endParaRPr>
          </a:p>
        </p:txBody>
      </p:sp>
      <p:pic>
        <p:nvPicPr>
          <p:cNvPr id="1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04928" y="1714500"/>
            <a:ext cx="6189663"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579477" y="3639919"/>
            <a:ext cx="6096000" cy="646331"/>
          </a:xfrm>
          <a:prstGeom prst="rect">
            <a:avLst/>
          </a:prstGeom>
        </p:spPr>
        <p:txBody>
          <a:bodyPr>
            <a:spAutoFit/>
          </a:bodyPr>
          <a:lstStyle/>
          <a:p>
            <a:r>
              <a:rPr lang="en-US" dirty="0"/>
              <a:t>The steps in converting the infix expression </a:t>
            </a:r>
            <a:br>
              <a:rPr lang="en-US" dirty="0"/>
            </a:br>
            <a:r>
              <a:rPr lang="en-US" dirty="0">
                <a:solidFill>
                  <a:srgbClr val="00B0F0"/>
                </a:solidFill>
              </a:rPr>
              <a:t>a / b * (c + (d - e)) </a:t>
            </a:r>
            <a:r>
              <a:rPr lang="en-US" dirty="0"/>
              <a:t>to postfix form</a:t>
            </a:r>
          </a:p>
        </p:txBody>
      </p:sp>
    </p:spTree>
    <p:extLst>
      <p:ext uri="{BB962C8B-B14F-4D97-AF65-F5344CB8AC3E}">
        <p14:creationId xmlns:p14="http://schemas.microsoft.com/office/powerpoint/2010/main" val="2257655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0" y="5334000"/>
            <a:ext cx="8953500" cy="1524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50" name="Rectangle 2"/>
          <p:cNvSpPr>
            <a:spLocks noGrp="1" noChangeArrowheads="1"/>
          </p:cNvSpPr>
          <p:nvPr>
            <p:ph type="title"/>
          </p:nvPr>
        </p:nvSpPr>
        <p:spPr>
          <a:xfrm>
            <a:off x="1714500" y="152400"/>
            <a:ext cx="8763000" cy="685800"/>
          </a:xfrm>
        </p:spPr>
        <p:txBody>
          <a:bodyPr>
            <a:noAutofit/>
          </a:bodyPr>
          <a:lstStyle/>
          <a:p>
            <a:pPr>
              <a:defRPr/>
            </a:pPr>
            <a:r>
              <a:rPr lang="en-US" sz="2400" dirty="0"/>
              <a:t>Infix to Postfix using stacks</a:t>
            </a:r>
          </a:p>
        </p:txBody>
      </p:sp>
      <p:pic>
        <p:nvPicPr>
          <p:cNvPr id="4" name="Picture 3"/>
          <p:cNvPicPr>
            <a:picLocks noChangeAspect="1"/>
          </p:cNvPicPr>
          <p:nvPr/>
        </p:nvPicPr>
        <p:blipFill rotWithShape="1">
          <a:blip r:embed="rId2" cstate="print">
            <a:extLst>
              <a:ext uri="{28A0092B-C50C-407E-A947-70E740481C1C}">
                <a14:useLocalDpi xmlns:a14="http://schemas.microsoft.com/office/drawing/2010/main" val="0"/>
              </a:ext>
            </a:extLst>
          </a:blip>
          <a:srcRect l="9692" t="3203" r="12766" b="6205"/>
          <a:stretch/>
        </p:blipFill>
        <p:spPr>
          <a:xfrm>
            <a:off x="3200400" y="838200"/>
            <a:ext cx="5810250" cy="5890948"/>
          </a:xfrm>
          <a:prstGeom prst="rect">
            <a:avLst/>
          </a:prstGeom>
        </p:spPr>
      </p:pic>
    </p:spTree>
    <p:extLst>
      <p:ext uri="{BB962C8B-B14F-4D97-AF65-F5344CB8AC3E}">
        <p14:creationId xmlns:p14="http://schemas.microsoft.com/office/powerpoint/2010/main" val="25002303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0" y="5334000"/>
            <a:ext cx="8953500" cy="1524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50" name="Rectangle 2"/>
          <p:cNvSpPr>
            <a:spLocks noGrp="1" noChangeArrowheads="1"/>
          </p:cNvSpPr>
          <p:nvPr>
            <p:ph type="title"/>
          </p:nvPr>
        </p:nvSpPr>
        <p:spPr>
          <a:xfrm>
            <a:off x="1714500" y="152400"/>
            <a:ext cx="8763000" cy="685800"/>
          </a:xfrm>
        </p:spPr>
        <p:txBody>
          <a:bodyPr>
            <a:noAutofit/>
          </a:bodyPr>
          <a:lstStyle/>
          <a:p>
            <a:pPr>
              <a:defRPr/>
            </a:pPr>
            <a:r>
              <a:rPr lang="en-US" sz="2400" dirty="0"/>
              <a:t>Infix to Postfix using stacks</a:t>
            </a:r>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8096" t="4545" r="1563" b="4545"/>
          <a:stretch/>
        </p:blipFill>
        <p:spPr>
          <a:xfrm>
            <a:off x="869245" y="0"/>
            <a:ext cx="10543822" cy="6858000"/>
          </a:xfrm>
          <a:prstGeom prst="rect">
            <a:avLst/>
          </a:prstGeom>
        </p:spPr>
      </p:pic>
    </p:spTree>
    <p:extLst>
      <p:ext uri="{BB962C8B-B14F-4D97-AF65-F5344CB8AC3E}">
        <p14:creationId xmlns:p14="http://schemas.microsoft.com/office/powerpoint/2010/main" val="12602518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defRPr/>
            </a:pPr>
            <a:r>
              <a:rPr lang="en-US" dirty="0"/>
              <a:t>Yours Turn</a:t>
            </a:r>
          </a:p>
        </p:txBody>
      </p:sp>
      <p:sp>
        <p:nvSpPr>
          <p:cNvPr id="44035" name="Rectangle 3"/>
          <p:cNvSpPr>
            <a:spLocks noGrp="1" noChangeArrowheads="1"/>
          </p:cNvSpPr>
          <p:nvPr>
            <p:ph idx="1"/>
          </p:nvPr>
        </p:nvSpPr>
        <p:spPr/>
        <p:txBody>
          <a:bodyPr/>
          <a:lstStyle/>
          <a:p>
            <a:pPr algn="just" eaLnBrk="1" hangingPunct="1"/>
            <a:r>
              <a:rPr lang="en-US" altLang="en-US" sz="4000" dirty="0"/>
              <a:t>(A+B)/E*F+C</a:t>
            </a:r>
          </a:p>
          <a:p>
            <a:pPr algn="just" eaLnBrk="1" hangingPunct="1"/>
            <a:r>
              <a:rPr lang="en-US" altLang="en-US" sz="4000" dirty="0"/>
              <a:t>A*(B+D)/E-F*(G+H/K)</a:t>
            </a:r>
          </a:p>
          <a:p>
            <a:pPr algn="just" eaLnBrk="1" hangingPunct="1"/>
            <a:endParaRPr lang="en-US" altLang="en-US" dirty="0"/>
          </a:p>
          <a:p>
            <a:pPr algn="just" eaLnBrk="1" hangingPunct="1"/>
            <a:endParaRPr lang="en-US"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8B4B69-7D0A-7FA1-8616-D3502D74097E}"/>
              </a:ext>
            </a:extLst>
          </p:cNvPr>
          <p:cNvSpPr>
            <a:spLocks noGrp="1"/>
          </p:cNvSpPr>
          <p:nvPr>
            <p:ph idx="1"/>
          </p:nvPr>
        </p:nvSpPr>
        <p:spPr>
          <a:xfrm>
            <a:off x="1752600" y="152400"/>
            <a:ext cx="7239000" cy="6705600"/>
          </a:xfrm>
        </p:spPr>
        <p:txBody>
          <a:bodyPr>
            <a:normAutofit fontScale="92500" lnSpcReduction="20000"/>
          </a:bodyPr>
          <a:lstStyle/>
          <a:p>
            <a:pPr marL="0" indent="0">
              <a:buNone/>
            </a:pPr>
            <a:r>
              <a:rPr lang="en-US" altLang="en-US" dirty="0"/>
              <a:t> </a:t>
            </a:r>
          </a:p>
          <a:p>
            <a:pPr marL="0" indent="0">
              <a:buNone/>
            </a:pPr>
            <a:r>
              <a:rPr lang="en-US" altLang="en-US" dirty="0"/>
              <a:t>Q   Translate infix expression into its equivalent post fix expression: (A-B)*(D/E) </a:t>
            </a:r>
          </a:p>
          <a:p>
            <a:pPr marL="0" indent="0">
              <a:buNone/>
            </a:pPr>
            <a:r>
              <a:rPr lang="en-US" altLang="en-US" dirty="0">
                <a:solidFill>
                  <a:srgbClr val="FF0000"/>
                </a:solidFill>
              </a:rPr>
              <a:t>Ans: (A-B)*(D/E) = [AB-]*[DE/] = AB-DE/*  </a:t>
            </a:r>
          </a:p>
          <a:p>
            <a:pPr marL="0" indent="0">
              <a:buNone/>
            </a:pPr>
            <a:r>
              <a:rPr lang="en-US" altLang="en-US" dirty="0"/>
              <a:t> </a:t>
            </a:r>
          </a:p>
          <a:p>
            <a:pPr marL="0" indent="0">
              <a:buNone/>
            </a:pPr>
            <a:r>
              <a:rPr lang="en-US" altLang="en-US" dirty="0"/>
              <a:t>Q.  Translate infix expression into its equivalent post fix expression: (A+B^D)/(E-F)+G  </a:t>
            </a:r>
          </a:p>
          <a:p>
            <a:pPr marL="0" indent="0">
              <a:buNone/>
            </a:pPr>
            <a:endParaRPr lang="en-US" altLang="en-US" dirty="0"/>
          </a:p>
          <a:p>
            <a:pPr marL="0" indent="0">
              <a:buNone/>
            </a:pPr>
            <a:r>
              <a:rPr lang="en-US" altLang="en-US" dirty="0">
                <a:solidFill>
                  <a:srgbClr val="FF0000"/>
                </a:solidFill>
              </a:rPr>
              <a:t>Ans : (A+B^D)/(E-F)+G = (A+BD^])/[EF-]+G = [ABD^+]/[EF-]+G    </a:t>
            </a:r>
          </a:p>
          <a:p>
            <a:pPr marL="0" indent="0">
              <a:buNone/>
            </a:pPr>
            <a:r>
              <a:rPr lang="en-US" altLang="en-US" dirty="0">
                <a:solidFill>
                  <a:srgbClr val="FF0000"/>
                </a:solidFill>
              </a:rPr>
              <a:t>= [ABD^+EF-/]+G = ABD^+EF-/G+  </a:t>
            </a:r>
          </a:p>
          <a:p>
            <a:pPr marL="0" indent="0">
              <a:buNone/>
            </a:pPr>
            <a:r>
              <a:rPr lang="en-US" altLang="en-US" dirty="0"/>
              <a:t> </a:t>
            </a:r>
          </a:p>
          <a:p>
            <a:pPr marL="0" indent="0">
              <a:buNone/>
            </a:pPr>
            <a:r>
              <a:rPr lang="en-US" altLang="en-US" dirty="0" err="1"/>
              <a:t>Q.Translate</a:t>
            </a:r>
            <a:r>
              <a:rPr lang="en-US" altLang="en-US" dirty="0"/>
              <a:t> infix expression into its equivalent post fix expression:  </a:t>
            </a:r>
          </a:p>
          <a:p>
            <a:pPr marL="0" indent="0">
              <a:buNone/>
            </a:pPr>
            <a:r>
              <a:rPr lang="en-US" altLang="en-US" dirty="0"/>
              <a:t>A*(B+D)/E-F*(G+H/K) </a:t>
            </a:r>
          </a:p>
          <a:p>
            <a:pPr marL="0" indent="0">
              <a:buNone/>
            </a:pPr>
            <a:r>
              <a:rPr lang="en-US" altLang="en-US" dirty="0"/>
              <a:t> </a:t>
            </a:r>
          </a:p>
          <a:p>
            <a:pPr marL="0" indent="0">
              <a:buNone/>
            </a:pPr>
            <a:r>
              <a:rPr lang="en-US" altLang="en-US" dirty="0">
                <a:solidFill>
                  <a:srgbClr val="FF0000"/>
                </a:solidFill>
              </a:rPr>
              <a:t>Ans: A*(B+D)/E-F*(G+H/K) = A*[BD+]/E-F*(G+[HK/]) </a:t>
            </a:r>
          </a:p>
          <a:p>
            <a:pPr marL="0" indent="0">
              <a:buNone/>
            </a:pPr>
            <a:r>
              <a:rPr lang="en-US" altLang="en-US" dirty="0">
                <a:solidFill>
                  <a:srgbClr val="FF0000"/>
                </a:solidFill>
              </a:rPr>
              <a:t>[ABD+*]/E-F*[GHK/+]  </a:t>
            </a:r>
          </a:p>
          <a:p>
            <a:pPr marL="0" indent="0">
              <a:buNone/>
            </a:pPr>
            <a:r>
              <a:rPr lang="en-US" altLang="en-US" dirty="0">
                <a:solidFill>
                  <a:srgbClr val="FF0000"/>
                </a:solidFill>
              </a:rPr>
              <a:t>[ABD+*E/]-[FGHK/+*] = ABD+*E/FGHK/+*- </a:t>
            </a:r>
          </a:p>
          <a:p>
            <a:pPr marL="0" indent="0">
              <a:buNone/>
            </a:pPr>
            <a:r>
              <a:rPr lang="en-US" altLang="en-US" dirty="0"/>
              <a:t> </a:t>
            </a:r>
          </a:p>
        </p:txBody>
      </p:sp>
    </p:spTree>
    <p:extLst>
      <p:ext uri="{BB962C8B-B14F-4D97-AF65-F5344CB8AC3E}">
        <p14:creationId xmlns:p14="http://schemas.microsoft.com/office/powerpoint/2010/main" val="21381893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3" end="1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8B3FE-BB9C-4630-53A1-F0EE3625B2F5}"/>
              </a:ext>
            </a:extLst>
          </p:cNvPr>
          <p:cNvSpPr>
            <a:spLocks noGrp="1"/>
          </p:cNvSpPr>
          <p:nvPr>
            <p:ph type="title"/>
          </p:nvPr>
        </p:nvSpPr>
        <p:spPr/>
        <p:txBody>
          <a:bodyPr/>
          <a:lstStyle/>
          <a:p>
            <a:r>
              <a:rPr lang="en-US" dirty="0"/>
              <a:t>Algorithm for evaluation of postfix expression</a:t>
            </a:r>
          </a:p>
        </p:txBody>
      </p:sp>
      <p:sp>
        <p:nvSpPr>
          <p:cNvPr id="3" name="Content Placeholder 2">
            <a:extLst>
              <a:ext uri="{FF2B5EF4-FFF2-40B4-BE49-F238E27FC236}">
                <a16:creationId xmlns:a16="http://schemas.microsoft.com/office/drawing/2014/main" id="{407D2FB6-2861-9656-98C1-C12128209204}"/>
              </a:ext>
            </a:extLst>
          </p:cNvPr>
          <p:cNvSpPr>
            <a:spLocks noGrp="1"/>
          </p:cNvSpPr>
          <p:nvPr>
            <p:ph idx="1"/>
          </p:nvPr>
        </p:nvSpPr>
        <p:spPr/>
        <p:txBody>
          <a:bodyPr/>
          <a:lstStyle/>
          <a:p>
            <a:pPr>
              <a:lnSpc>
                <a:spcPct val="80000"/>
              </a:lnSpc>
            </a:pPr>
            <a:r>
              <a:rPr lang="en-US" altLang="en-US" sz="2800" dirty="0"/>
              <a:t>Scan the expression from left to right.</a:t>
            </a:r>
          </a:p>
          <a:p>
            <a:pPr lvl="1">
              <a:lnSpc>
                <a:spcPct val="80000"/>
              </a:lnSpc>
            </a:pPr>
            <a:r>
              <a:rPr lang="en-US" altLang="en-US" sz="2800" dirty="0"/>
              <a:t>If operand is encountered, then push it onto stack.</a:t>
            </a:r>
          </a:p>
          <a:p>
            <a:pPr lvl="1">
              <a:lnSpc>
                <a:spcPct val="80000"/>
              </a:lnSpc>
            </a:pPr>
            <a:r>
              <a:rPr lang="en-US" altLang="en-US" sz="2800" dirty="0"/>
              <a:t>If operator is encountered, then pop the last two elements from stack.</a:t>
            </a:r>
          </a:p>
          <a:p>
            <a:pPr lvl="1">
              <a:lnSpc>
                <a:spcPct val="80000"/>
              </a:lnSpc>
              <a:buFont typeface="Verdana" panose="020B0604030504040204" pitchFamily="34" charset="0"/>
              <a:buNone/>
            </a:pPr>
            <a:r>
              <a:rPr lang="en-US" altLang="en-US" sz="2800" dirty="0"/>
              <a:t>   b=stack[top],  a=stack[top-1],   c=a operator b.</a:t>
            </a:r>
          </a:p>
          <a:p>
            <a:pPr>
              <a:lnSpc>
                <a:spcPct val="80000"/>
              </a:lnSpc>
              <a:buFont typeface="Wingdings 3" panose="05040102010807070707" pitchFamily="18" charset="2"/>
              <a:buNone/>
            </a:pPr>
            <a:r>
              <a:rPr lang="en-US" altLang="en-US" sz="2800" dirty="0"/>
              <a:t>     Push the result ‘c’ back to stack.</a:t>
            </a:r>
          </a:p>
          <a:p>
            <a:pPr>
              <a:lnSpc>
                <a:spcPct val="80000"/>
              </a:lnSpc>
            </a:pPr>
            <a:r>
              <a:rPr lang="en-US" altLang="en-US" sz="2800" dirty="0"/>
              <a:t>Result is equal to the top value of stack.</a:t>
            </a:r>
          </a:p>
          <a:p>
            <a:endParaRPr lang="en-US" dirty="0"/>
          </a:p>
        </p:txBody>
      </p:sp>
    </p:spTree>
    <p:extLst>
      <p:ext uri="{BB962C8B-B14F-4D97-AF65-F5344CB8AC3E}">
        <p14:creationId xmlns:p14="http://schemas.microsoft.com/office/powerpoint/2010/main" val="24711589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normAutofit/>
          </a:bodyPr>
          <a:lstStyle/>
          <a:p>
            <a:pPr>
              <a:defRPr/>
            </a:pPr>
            <a:r>
              <a:rPr lang="en-US" dirty="0"/>
              <a:t>Algorithm for evaluation of postfix expression</a:t>
            </a:r>
          </a:p>
        </p:txBody>
      </p:sp>
      <p:sp>
        <p:nvSpPr>
          <p:cNvPr id="50179" name="Rectangle 3"/>
          <p:cNvSpPr>
            <a:spLocks noGrp="1" noChangeArrowheads="1"/>
          </p:cNvSpPr>
          <p:nvPr>
            <p:ph type="body" idx="1"/>
          </p:nvPr>
        </p:nvSpPr>
        <p:spPr>
          <a:xfrm>
            <a:off x="1981200" y="1600200"/>
            <a:ext cx="8229600" cy="1066800"/>
          </a:xfrm>
        </p:spPr>
        <p:txBody>
          <a:bodyPr/>
          <a:lstStyle/>
          <a:p>
            <a:r>
              <a:rPr lang="en-US" sz="2400" dirty="0"/>
              <a:t>Let the given expression be “456*+“. We scan all elements one by one.</a:t>
            </a:r>
          </a:p>
          <a:p>
            <a:endParaRPr lang="en-US" altLang="en-US" sz="24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800" y="2352996"/>
            <a:ext cx="7239000" cy="4505005"/>
          </a:xfrm>
          <a:prstGeom prst="rect">
            <a:avLst/>
          </a:prstGeom>
        </p:spPr>
      </p:pic>
    </p:spTree>
    <p:extLst>
      <p:ext uri="{BB962C8B-B14F-4D97-AF65-F5344CB8AC3E}">
        <p14:creationId xmlns:p14="http://schemas.microsoft.com/office/powerpoint/2010/main" val="40058769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C9178-8CBD-BEBA-78BB-E896401A98F3}"/>
              </a:ext>
            </a:extLst>
          </p:cNvPr>
          <p:cNvSpPr>
            <a:spLocks noGrp="1"/>
          </p:cNvSpPr>
          <p:nvPr>
            <p:ph type="title"/>
          </p:nvPr>
        </p:nvSpPr>
        <p:spPr>
          <a:xfrm>
            <a:off x="1066800" y="2376660"/>
            <a:ext cx="10058400" cy="1450757"/>
          </a:xfrm>
        </p:spPr>
        <p:txBody>
          <a:bodyPr/>
          <a:lstStyle/>
          <a:p>
            <a:pPr algn="ctr"/>
            <a:r>
              <a:rPr lang="en-US" dirty="0"/>
              <a:t>Questions?</a:t>
            </a:r>
          </a:p>
        </p:txBody>
      </p:sp>
    </p:spTree>
    <p:extLst>
      <p:ext uri="{BB962C8B-B14F-4D97-AF65-F5344CB8AC3E}">
        <p14:creationId xmlns:p14="http://schemas.microsoft.com/office/powerpoint/2010/main" val="4222317591"/>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747</TotalTime>
  <Words>1487</Words>
  <Application>Microsoft Office PowerPoint</Application>
  <PresentationFormat>Widescreen</PresentationFormat>
  <Paragraphs>202</Paragraphs>
  <Slides>28</Slides>
  <Notes>3</Notes>
  <HiddenSlides>4</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28</vt:i4>
      </vt:variant>
    </vt:vector>
  </HeadingPairs>
  <TitlesOfParts>
    <vt:vector size="40" baseType="lpstr">
      <vt:lpstr>Malgun Gothic</vt:lpstr>
      <vt:lpstr>Arial</vt:lpstr>
      <vt:lpstr>Calibri</vt:lpstr>
      <vt:lpstr>Calibri Light</vt:lpstr>
      <vt:lpstr>inter-regular</vt:lpstr>
      <vt:lpstr>Tahoma</vt:lpstr>
      <vt:lpstr>times new roman</vt:lpstr>
      <vt:lpstr>times new roman</vt:lpstr>
      <vt:lpstr>Verdana</vt:lpstr>
      <vt:lpstr>Wingdings</vt:lpstr>
      <vt:lpstr>Wingdings 3</vt:lpstr>
      <vt:lpstr>Retrospect</vt:lpstr>
      <vt:lpstr>Data Structure and Algorithm</vt:lpstr>
      <vt:lpstr>Goal for today</vt:lpstr>
      <vt:lpstr>Practice Task</vt:lpstr>
      <vt:lpstr>Application of stacks</vt:lpstr>
      <vt:lpstr>Checking expression validity</vt:lpstr>
      <vt:lpstr>Algorithm for reversal of strings</vt:lpstr>
      <vt:lpstr>Push and Pop Operations on Stack</vt:lpstr>
      <vt:lpstr>Reversal of string</vt:lpstr>
      <vt:lpstr>Algebraic Expression</vt:lpstr>
      <vt:lpstr>Infix, Postfix and Prefix Expressions</vt:lpstr>
      <vt:lpstr>Why do we need PREFIX/POSTFIX?</vt:lpstr>
      <vt:lpstr>Why do we need PREFIX/POSTFIX?</vt:lpstr>
      <vt:lpstr>Why do we need PREFIX/POSTFIX?</vt:lpstr>
      <vt:lpstr>PowerPoint Presentation</vt:lpstr>
      <vt:lpstr>Why do we need PREFIX/POSTFIX?</vt:lpstr>
      <vt:lpstr>Why do we need PREFIX/POSTFIX?</vt:lpstr>
      <vt:lpstr>Rules to convert infix to postfix expression</vt:lpstr>
      <vt:lpstr>Rules to convert infix to postfix expression</vt:lpstr>
      <vt:lpstr>A+B*C in postfix</vt:lpstr>
      <vt:lpstr>Examples of infix to prefix and post fix</vt:lpstr>
      <vt:lpstr>Infix to Postfix Conversion </vt:lpstr>
      <vt:lpstr>Infix to Postfix using stacks</vt:lpstr>
      <vt:lpstr>Infix to Postfix using stacks</vt:lpstr>
      <vt:lpstr>Yours Turn</vt:lpstr>
      <vt:lpstr>PowerPoint Presentation</vt:lpstr>
      <vt:lpstr>Algorithm for evaluation of postfix expression</vt:lpstr>
      <vt:lpstr>Algorithm for evaluation of postfix expression</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Structure and Algorithm</dc:title>
  <dc:creator>Habiba Arshad</dc:creator>
  <cp:lastModifiedBy>Habiba Arshad</cp:lastModifiedBy>
  <cp:revision>34</cp:revision>
  <dcterms:created xsi:type="dcterms:W3CDTF">2022-11-09T10:25:05Z</dcterms:created>
  <dcterms:modified xsi:type="dcterms:W3CDTF">2024-11-25T09:34:41Z</dcterms:modified>
</cp:coreProperties>
</file>