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3"/>
  </p:notesMasterIdLst>
  <p:sldIdLst>
    <p:sldId id="256" r:id="rId2"/>
    <p:sldId id="339" r:id="rId3"/>
    <p:sldId id="297" r:id="rId4"/>
    <p:sldId id="298" r:id="rId5"/>
    <p:sldId id="299" r:id="rId6"/>
    <p:sldId id="300" r:id="rId7"/>
    <p:sldId id="301" r:id="rId8"/>
    <p:sldId id="340" r:id="rId9"/>
    <p:sldId id="341" r:id="rId10"/>
    <p:sldId id="326" r:id="rId11"/>
    <p:sldId id="327" r:id="rId12"/>
    <p:sldId id="328" r:id="rId13"/>
    <p:sldId id="329" r:id="rId14"/>
    <p:sldId id="330" r:id="rId15"/>
    <p:sldId id="304" r:id="rId16"/>
    <p:sldId id="305" r:id="rId17"/>
    <p:sldId id="331" r:id="rId18"/>
    <p:sldId id="306" r:id="rId19"/>
    <p:sldId id="307" r:id="rId20"/>
    <p:sldId id="262" r:id="rId21"/>
    <p:sldId id="263" r:id="rId22"/>
    <p:sldId id="308" r:id="rId23"/>
    <p:sldId id="266" r:id="rId24"/>
    <p:sldId id="272" r:id="rId25"/>
    <p:sldId id="309" r:id="rId26"/>
    <p:sldId id="334" r:id="rId27"/>
    <p:sldId id="310" r:id="rId28"/>
    <p:sldId id="335" r:id="rId29"/>
    <p:sldId id="332" r:id="rId30"/>
    <p:sldId id="343" r:id="rId31"/>
    <p:sldId id="344"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18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5D9D5B-FF27-4B6B-85EB-07AF9C07F856}" type="datetimeFigureOut">
              <a:rPr lang="en-US" smtClean="0"/>
              <a:t>12/16/2025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DEA683-90C8-451F-BC4A-13383BD37F21}" type="slidenum">
              <a:rPr lang="en-US" smtClean="0"/>
              <a:t>‹#›</a:t>
            </a:fld>
            <a:endParaRPr lang="en-US"/>
          </a:p>
        </p:txBody>
      </p:sp>
    </p:spTree>
    <p:extLst>
      <p:ext uri="{BB962C8B-B14F-4D97-AF65-F5344CB8AC3E}">
        <p14:creationId xmlns:p14="http://schemas.microsoft.com/office/powerpoint/2010/main" val="28784687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DB01488-2866-41B3-B7DC-859AEE043E50}"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9E1F02-D963-4A85-BE2D-1321C23C253F}"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36529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B01488-2866-41B3-B7DC-859AEE043E50}"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9E1F02-D963-4A85-BE2D-1321C23C253F}" type="slidenum">
              <a:rPr lang="en-US" smtClean="0"/>
              <a:t>‹#›</a:t>
            </a:fld>
            <a:endParaRPr lang="en-US"/>
          </a:p>
        </p:txBody>
      </p:sp>
    </p:spTree>
    <p:extLst>
      <p:ext uri="{BB962C8B-B14F-4D97-AF65-F5344CB8AC3E}">
        <p14:creationId xmlns:p14="http://schemas.microsoft.com/office/powerpoint/2010/main" val="20702808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B01488-2866-41B3-B7DC-859AEE043E50}"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9E1F02-D963-4A85-BE2D-1321C23C253F}"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99624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DB01488-2866-41B3-B7DC-859AEE043E50}"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9E1F02-D963-4A85-BE2D-1321C23C253F}" type="slidenum">
              <a:rPr lang="en-US" smtClean="0"/>
              <a:t>‹#›</a:t>
            </a:fld>
            <a:endParaRPr lang="en-US"/>
          </a:p>
        </p:txBody>
      </p:sp>
    </p:spTree>
    <p:extLst>
      <p:ext uri="{BB962C8B-B14F-4D97-AF65-F5344CB8AC3E}">
        <p14:creationId xmlns:p14="http://schemas.microsoft.com/office/powerpoint/2010/main" val="29444834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DB01488-2866-41B3-B7DC-859AEE043E50}" type="datetimeFigureOut">
              <a:rPr lang="en-US" smtClean="0"/>
              <a:t>12/16/2025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19E1F02-D963-4A85-BE2D-1321C23C253F}" type="slidenum">
              <a:rPr lang="en-US" smtClean="0"/>
              <a:t>‹#›</a:t>
            </a:fld>
            <a:endParaRPr lang="en-US"/>
          </a:p>
        </p:txBody>
      </p:sp>
    </p:spTree>
    <p:extLst>
      <p:ext uri="{BB962C8B-B14F-4D97-AF65-F5344CB8AC3E}">
        <p14:creationId xmlns:p14="http://schemas.microsoft.com/office/powerpoint/2010/main" val="23890870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DB01488-2866-41B3-B7DC-859AEE043E50}" type="datetimeFigureOut">
              <a:rPr lang="en-US" smtClean="0"/>
              <a:t>12/16/2025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19E1F02-D963-4A85-BE2D-1321C23C253F}" type="slidenum">
              <a:rPr lang="en-US" smtClean="0"/>
              <a:t>‹#›</a:t>
            </a:fld>
            <a:endParaRPr lang="en-US"/>
          </a:p>
        </p:txBody>
      </p:sp>
    </p:spTree>
    <p:extLst>
      <p:ext uri="{BB962C8B-B14F-4D97-AF65-F5344CB8AC3E}">
        <p14:creationId xmlns:p14="http://schemas.microsoft.com/office/powerpoint/2010/main" val="15729221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DB01488-2866-41B3-B7DC-859AEE043E50}" type="datetimeFigureOut">
              <a:rPr lang="en-US" smtClean="0"/>
              <a:t>12/16/2025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419E1F02-D963-4A85-BE2D-1321C23C253F}" type="slidenum">
              <a:rPr lang="en-US" smtClean="0"/>
              <a:t>‹#›</a:t>
            </a:fld>
            <a:endParaRPr lang="en-US"/>
          </a:p>
        </p:txBody>
      </p:sp>
    </p:spTree>
    <p:extLst>
      <p:ext uri="{BB962C8B-B14F-4D97-AF65-F5344CB8AC3E}">
        <p14:creationId xmlns:p14="http://schemas.microsoft.com/office/powerpoint/2010/main" val="37522586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DDB01488-2866-41B3-B7DC-859AEE043E50}" type="datetimeFigureOut">
              <a:rPr lang="en-US" smtClean="0"/>
              <a:t>12/16/2025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19E1F02-D963-4A85-BE2D-1321C23C253F}" type="slidenum">
              <a:rPr lang="en-US" smtClean="0"/>
              <a:t>‹#›</a:t>
            </a:fld>
            <a:endParaRPr lang="en-US"/>
          </a:p>
        </p:txBody>
      </p:sp>
    </p:spTree>
    <p:extLst>
      <p:ext uri="{BB962C8B-B14F-4D97-AF65-F5344CB8AC3E}">
        <p14:creationId xmlns:p14="http://schemas.microsoft.com/office/powerpoint/2010/main" val="1816525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DB01488-2866-41B3-B7DC-859AEE043E50}"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9E1F02-D963-4A85-BE2D-1321C23C253F}" type="slidenum">
              <a:rPr lang="en-US" smtClean="0"/>
              <a:t>‹#›</a:t>
            </a:fld>
            <a:endParaRPr lang="en-US"/>
          </a:p>
        </p:txBody>
      </p:sp>
    </p:spTree>
    <p:extLst>
      <p:ext uri="{BB962C8B-B14F-4D97-AF65-F5344CB8AC3E}">
        <p14:creationId xmlns:p14="http://schemas.microsoft.com/office/powerpoint/2010/main" val="20001678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B01488-2866-41B3-B7DC-859AEE043E50}"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9E1F02-D963-4A85-BE2D-1321C23C253F}" type="slidenum">
              <a:rPr lang="en-US" smtClean="0"/>
              <a:t>‹#›</a:t>
            </a:fld>
            <a:endParaRPr lang="en-US"/>
          </a:p>
        </p:txBody>
      </p:sp>
    </p:spTree>
    <p:extLst>
      <p:ext uri="{BB962C8B-B14F-4D97-AF65-F5344CB8AC3E}">
        <p14:creationId xmlns:p14="http://schemas.microsoft.com/office/powerpoint/2010/main" val="23307968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B01488-2866-41B3-B7DC-859AEE043E50}"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9E1F02-D963-4A85-BE2D-1321C23C253F}" type="slidenum">
              <a:rPr lang="en-US" smtClean="0"/>
              <a:t>‹#›</a:t>
            </a:fld>
            <a:endParaRPr lang="en-US"/>
          </a:p>
        </p:txBody>
      </p:sp>
    </p:spTree>
    <p:extLst>
      <p:ext uri="{BB962C8B-B14F-4D97-AF65-F5344CB8AC3E}">
        <p14:creationId xmlns:p14="http://schemas.microsoft.com/office/powerpoint/2010/main" val="32886985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DDB01488-2866-41B3-B7DC-859AEE043E50}" type="datetimeFigureOut">
              <a:rPr lang="en-US" smtClean="0"/>
              <a:t>12/16/2025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19E1F02-D963-4A85-BE2D-1321C23C253F}"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81854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977D9-232E-57A6-651D-F401E149D3EC}"/>
              </a:ext>
            </a:extLst>
          </p:cNvPr>
          <p:cNvSpPr>
            <a:spLocks noGrp="1"/>
          </p:cNvSpPr>
          <p:nvPr>
            <p:ph type="ctrTitle"/>
          </p:nvPr>
        </p:nvSpPr>
        <p:spPr/>
        <p:txBody>
          <a:bodyPr/>
          <a:lstStyle/>
          <a:p>
            <a:pPr algn="ctr"/>
            <a:r>
              <a:rPr lang="en-US" dirty="0"/>
              <a:t>Data Structure</a:t>
            </a:r>
          </a:p>
        </p:txBody>
      </p:sp>
      <p:sp>
        <p:nvSpPr>
          <p:cNvPr id="3" name="Subtitle 2">
            <a:extLst>
              <a:ext uri="{FF2B5EF4-FFF2-40B4-BE49-F238E27FC236}">
                <a16:creationId xmlns:a16="http://schemas.microsoft.com/office/drawing/2014/main" id="{9C8885BB-5F97-FC6A-EC08-9141FF4B6C2D}"/>
              </a:ext>
            </a:extLst>
          </p:cNvPr>
          <p:cNvSpPr>
            <a:spLocks noGrp="1"/>
          </p:cNvSpPr>
          <p:nvPr>
            <p:ph type="subTitle" idx="1"/>
          </p:nvPr>
        </p:nvSpPr>
        <p:spPr/>
        <p:txBody>
          <a:bodyPr>
            <a:normAutofit/>
          </a:bodyPr>
          <a:lstStyle/>
          <a:p>
            <a:r>
              <a:rPr lang="en-US" dirty="0"/>
              <a:t>Course code: cs-201</a:t>
            </a:r>
          </a:p>
          <a:p>
            <a:r>
              <a:rPr lang="en-US" dirty="0"/>
              <a:t>Topic: Queue</a:t>
            </a:r>
          </a:p>
        </p:txBody>
      </p:sp>
    </p:spTree>
    <p:extLst>
      <p:ext uri="{BB962C8B-B14F-4D97-AF65-F5344CB8AC3E}">
        <p14:creationId xmlns:p14="http://schemas.microsoft.com/office/powerpoint/2010/main" val="27678451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72692-F081-B1D7-CCE4-0E063326237E}"/>
              </a:ext>
            </a:extLst>
          </p:cNvPr>
          <p:cNvSpPr>
            <a:spLocks noGrp="1"/>
          </p:cNvSpPr>
          <p:nvPr>
            <p:ph type="title"/>
          </p:nvPr>
        </p:nvSpPr>
        <p:spPr/>
        <p:txBody>
          <a:bodyPr/>
          <a:lstStyle/>
          <a:p>
            <a:r>
              <a:rPr lang="en-US" dirty="0"/>
              <a:t>Goals for today</a:t>
            </a:r>
          </a:p>
        </p:txBody>
      </p:sp>
      <p:sp>
        <p:nvSpPr>
          <p:cNvPr id="3" name="Content Placeholder 2">
            <a:extLst>
              <a:ext uri="{FF2B5EF4-FFF2-40B4-BE49-F238E27FC236}">
                <a16:creationId xmlns:a16="http://schemas.microsoft.com/office/drawing/2014/main" id="{E1203246-14E0-E26A-E8DF-83B7561B264B}"/>
              </a:ext>
            </a:extLst>
          </p:cNvPr>
          <p:cNvSpPr>
            <a:spLocks noGrp="1"/>
          </p:cNvSpPr>
          <p:nvPr>
            <p:ph idx="1"/>
          </p:nvPr>
        </p:nvSpPr>
        <p:spPr/>
        <p:txBody>
          <a:bodyPr/>
          <a:lstStyle/>
          <a:p>
            <a:r>
              <a:rPr lang="en-GB" sz="2400" dirty="0"/>
              <a:t>To introduce :</a:t>
            </a:r>
          </a:p>
          <a:p>
            <a:pPr lvl="1"/>
            <a:r>
              <a:rPr lang="en-GB" sz="2000" dirty="0"/>
              <a:t>Queues</a:t>
            </a:r>
          </a:p>
          <a:p>
            <a:pPr lvl="1"/>
            <a:r>
              <a:rPr lang="en-GB" sz="2000" dirty="0"/>
              <a:t>Algorithms for insertion and deletion in queues</a:t>
            </a:r>
          </a:p>
          <a:p>
            <a:pPr lvl="1"/>
            <a:r>
              <a:rPr lang="en-GB" sz="2000" dirty="0"/>
              <a:t>Circular queues</a:t>
            </a:r>
          </a:p>
          <a:p>
            <a:pPr lvl="1"/>
            <a:r>
              <a:rPr lang="en-GB" sz="2000" dirty="0"/>
              <a:t>Double-ended queues (Deque)</a:t>
            </a:r>
          </a:p>
          <a:p>
            <a:pPr lvl="1"/>
            <a:r>
              <a:rPr lang="en-GB" sz="2000" dirty="0"/>
              <a:t>Priority queues</a:t>
            </a:r>
          </a:p>
          <a:p>
            <a:endParaRPr lang="en-US" dirty="0"/>
          </a:p>
        </p:txBody>
      </p:sp>
    </p:spTree>
    <p:extLst>
      <p:ext uri="{BB962C8B-B14F-4D97-AF65-F5344CB8AC3E}">
        <p14:creationId xmlns:p14="http://schemas.microsoft.com/office/powerpoint/2010/main" val="17282840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b="1" spc="-5" dirty="0">
                <a:solidFill>
                  <a:schemeClr val="tx1"/>
                </a:solidFill>
              </a:rPr>
              <a:t>Queues</a:t>
            </a:r>
            <a:endParaRPr lang="en-US" sz="4000" b="1" kern="1200" spc="-10" dirty="0">
              <a:solidFill>
                <a:schemeClr val="tx1"/>
              </a:solidFill>
              <a:latin typeface="+mj-lt"/>
              <a:ea typeface="+mj-ea"/>
              <a:cs typeface="+mj-cs"/>
            </a:endParaRPr>
          </a:p>
        </p:txBody>
      </p:sp>
      <p:sp>
        <p:nvSpPr>
          <p:cNvPr id="10" name="Rectangle 3"/>
          <p:cNvSpPr txBox="1">
            <a:spLocks noChangeArrowheads="1"/>
          </p:cNvSpPr>
          <p:nvPr/>
        </p:nvSpPr>
        <p:spPr>
          <a:xfrm>
            <a:off x="1527111" y="2012494"/>
            <a:ext cx="9546803" cy="17557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None/>
            </a:pPr>
            <a:r>
              <a:rPr lang="ja-JP" altLang="en-US" dirty="0"/>
              <a:t>“</a:t>
            </a:r>
            <a:r>
              <a:rPr lang="en-US" altLang="ja-JP" dirty="0"/>
              <a:t>A queue can be defined as an </a:t>
            </a:r>
            <a:r>
              <a:rPr lang="en-US" altLang="ja-JP" b="1" dirty="0"/>
              <a:t>ordered list </a:t>
            </a:r>
            <a:r>
              <a:rPr lang="en-US" altLang="ja-JP" dirty="0"/>
              <a:t>which enables insert operations to be performed at one end called </a:t>
            </a:r>
            <a:r>
              <a:rPr lang="en-US" altLang="ja-JP" b="1" dirty="0"/>
              <a:t>REAR</a:t>
            </a:r>
            <a:r>
              <a:rPr lang="en-US" altLang="ja-JP" dirty="0"/>
              <a:t> and delete operations to be performed at another end called </a:t>
            </a:r>
            <a:r>
              <a:rPr lang="en-US" altLang="ja-JP" b="1" dirty="0"/>
              <a:t>FRONT</a:t>
            </a:r>
            <a:r>
              <a:rPr lang="en-US" altLang="ja-JP" dirty="0"/>
              <a:t>.</a:t>
            </a:r>
            <a:r>
              <a:rPr lang="ja-JP" altLang="en-US" i="1" dirty="0"/>
              <a:t>”</a:t>
            </a:r>
            <a:endParaRPr lang="en-US" i="1" dirty="0">
              <a:latin typeface="Helvetica" charset="0"/>
            </a:endParaRPr>
          </a:p>
        </p:txBody>
      </p:sp>
      <p:sp>
        <p:nvSpPr>
          <p:cNvPr id="11" name="Rectangle 4"/>
          <p:cNvSpPr>
            <a:spLocks noChangeArrowheads="1"/>
          </p:cNvSpPr>
          <p:nvPr/>
        </p:nvSpPr>
        <p:spPr bwMode="auto">
          <a:xfrm>
            <a:off x="1984772" y="3429000"/>
            <a:ext cx="8226425" cy="1600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342900" indent="-342900">
              <a:spcBef>
                <a:spcPct val="20000"/>
              </a:spcBef>
              <a:buClr>
                <a:schemeClr val="accent1"/>
              </a:buClr>
              <a:defRPr/>
            </a:pPr>
            <a:r>
              <a:rPr lang="en-US" sz="2800" b="0" i="0" dirty="0">
                <a:solidFill>
                  <a:srgbClr val="333333"/>
                </a:solidFill>
                <a:effectLst/>
              </a:rPr>
              <a:t>Queue is referred to be as First In First Out list (FIFO).</a:t>
            </a:r>
            <a:endParaRPr lang="en-US" sz="2800" i="1" dirty="0">
              <a:ea typeface="ＭＳ Ｐゴシック" charset="0"/>
              <a:cs typeface="ＭＳ Ｐゴシック" charset="0"/>
            </a:endParaRPr>
          </a:p>
        </p:txBody>
      </p:sp>
      <p:pic>
        <p:nvPicPr>
          <p:cNvPr id="3" name="Picture 2">
            <a:extLst>
              <a:ext uri="{FF2B5EF4-FFF2-40B4-BE49-F238E27FC236}">
                <a16:creationId xmlns:a16="http://schemas.microsoft.com/office/drawing/2014/main" id="{D9835BA1-ECBF-4D56-AF38-8206E203728E}"/>
              </a:ext>
            </a:extLst>
          </p:cNvPr>
          <p:cNvPicPr>
            <a:picLocks noChangeAspect="1"/>
          </p:cNvPicPr>
          <p:nvPr/>
        </p:nvPicPr>
        <p:blipFill>
          <a:blip r:embed="rId2"/>
          <a:stretch>
            <a:fillRect/>
          </a:stretch>
        </p:blipFill>
        <p:spPr>
          <a:xfrm>
            <a:off x="3138749" y="4278439"/>
            <a:ext cx="5904209" cy="2167267"/>
          </a:xfrm>
          <a:prstGeom prst="rect">
            <a:avLst/>
          </a:prstGeom>
        </p:spPr>
      </p:pic>
    </p:spTree>
    <p:extLst>
      <p:ext uri="{BB962C8B-B14F-4D97-AF65-F5344CB8AC3E}">
        <p14:creationId xmlns:p14="http://schemas.microsoft.com/office/powerpoint/2010/main" val="1504743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b="1" spc="-5" dirty="0">
                <a:solidFill>
                  <a:schemeClr val="tx1"/>
                </a:solidFill>
              </a:rPr>
              <a:t>Queues</a:t>
            </a:r>
            <a:endParaRPr lang="en-US" sz="4000" b="1" kern="1200" spc="-10" dirty="0">
              <a:solidFill>
                <a:schemeClr val="tx1"/>
              </a:solidFill>
              <a:latin typeface="+mj-lt"/>
              <a:ea typeface="+mj-ea"/>
              <a:cs typeface="+mj-cs"/>
            </a:endParaRPr>
          </a:p>
        </p:txBody>
      </p:sp>
      <p:sp>
        <p:nvSpPr>
          <p:cNvPr id="12" name="Rectangle 2"/>
          <p:cNvSpPr txBox="1">
            <a:spLocks noChangeArrowheads="1"/>
          </p:cNvSpPr>
          <p:nvPr/>
        </p:nvSpPr>
        <p:spPr>
          <a:xfrm>
            <a:off x="2090355" y="2341848"/>
            <a:ext cx="8001000" cy="9144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95000"/>
              </a:lnSpc>
              <a:spcBef>
                <a:spcPts val="700"/>
              </a:spcBef>
              <a:buFont typeface="Monotype Sort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GB" dirty="0"/>
              <a:t>A queue is like a line of people waiting for a bank teller. The queue has a </a:t>
            </a:r>
            <a:r>
              <a:rPr lang="en-GB" b="1" u="sng" dirty="0">
                <a:solidFill>
                  <a:srgbClr val="FF8000"/>
                </a:solidFill>
              </a:rPr>
              <a:t>front</a:t>
            </a:r>
            <a:r>
              <a:rPr lang="en-GB" dirty="0"/>
              <a:t> and a </a:t>
            </a:r>
            <a:r>
              <a:rPr lang="en-GB" b="1" u="sng" dirty="0">
                <a:solidFill>
                  <a:srgbClr val="FF8000"/>
                </a:solidFill>
              </a:rPr>
              <a:t>rear</a:t>
            </a:r>
            <a:r>
              <a:rPr lang="en-GB" dirty="0"/>
              <a:t>.</a:t>
            </a:r>
          </a:p>
          <a:p>
            <a:pPr>
              <a:spcBef>
                <a:spcPts val="700"/>
              </a:spcBef>
              <a:buFont typeface="Arial" panose="020B0604020202020204"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GB" dirty="0"/>
          </a:p>
        </p:txBody>
      </p:sp>
      <p:grpSp>
        <p:nvGrpSpPr>
          <p:cNvPr id="13" name="Group 97"/>
          <p:cNvGrpSpPr>
            <a:grpSpLocks/>
          </p:cNvGrpSpPr>
          <p:nvPr/>
        </p:nvGrpSpPr>
        <p:grpSpPr bwMode="auto">
          <a:xfrm>
            <a:off x="4401755" y="4323048"/>
            <a:ext cx="381000" cy="1295400"/>
            <a:chOff x="2784" y="2448"/>
            <a:chExt cx="240" cy="816"/>
          </a:xfrm>
        </p:grpSpPr>
        <p:grpSp>
          <p:nvGrpSpPr>
            <p:cNvPr id="14" name="Group 94"/>
            <p:cNvGrpSpPr>
              <a:grpSpLocks/>
            </p:cNvGrpSpPr>
            <p:nvPr/>
          </p:nvGrpSpPr>
          <p:grpSpPr bwMode="auto">
            <a:xfrm>
              <a:off x="2832" y="2784"/>
              <a:ext cx="144" cy="240"/>
              <a:chOff x="3312" y="3072"/>
              <a:chExt cx="144" cy="240"/>
            </a:xfrm>
          </p:grpSpPr>
          <p:sp>
            <p:nvSpPr>
              <p:cNvPr id="21" name="Rectangle 95"/>
              <p:cNvSpPr>
                <a:spLocks noChangeArrowheads="1"/>
              </p:cNvSpPr>
              <p:nvPr/>
            </p:nvSpPr>
            <p:spPr bwMode="auto">
              <a:xfrm rot="1704760">
                <a:off x="3312" y="3072"/>
                <a:ext cx="48" cy="240"/>
              </a:xfrm>
              <a:prstGeom prst="rect">
                <a:avLst/>
              </a:prstGeom>
              <a:solidFill>
                <a:srgbClr val="00B8FF"/>
              </a:solidFill>
              <a:ln w="9525">
                <a:solidFill>
                  <a:schemeClr val="tx1"/>
                </a:solidFill>
                <a:miter lim="800000"/>
                <a:headEnd/>
                <a:tailEnd/>
              </a:ln>
            </p:spPr>
            <p:txBody>
              <a:bodyPr wrap="none" anchor="ctr"/>
              <a:lstStyle/>
              <a:p>
                <a:endParaRPr lang="fr-FR" dirty="0"/>
              </a:p>
            </p:txBody>
          </p:sp>
          <p:sp>
            <p:nvSpPr>
              <p:cNvPr id="22" name="Rectangle 96"/>
              <p:cNvSpPr>
                <a:spLocks noChangeArrowheads="1"/>
              </p:cNvSpPr>
              <p:nvPr/>
            </p:nvSpPr>
            <p:spPr bwMode="auto">
              <a:xfrm rot="19895240" flipH="1">
                <a:off x="3408" y="3072"/>
                <a:ext cx="48" cy="240"/>
              </a:xfrm>
              <a:prstGeom prst="rect">
                <a:avLst/>
              </a:prstGeom>
              <a:solidFill>
                <a:srgbClr val="00B8FF"/>
              </a:solidFill>
              <a:ln w="9525">
                <a:solidFill>
                  <a:schemeClr val="tx1"/>
                </a:solidFill>
                <a:miter lim="800000"/>
                <a:headEnd/>
                <a:tailEnd/>
              </a:ln>
            </p:spPr>
            <p:txBody>
              <a:bodyPr wrap="none" anchor="ctr"/>
              <a:lstStyle/>
              <a:p>
                <a:endParaRPr lang="fr-FR" dirty="0"/>
              </a:p>
            </p:txBody>
          </p:sp>
        </p:grpSp>
        <p:sp>
          <p:nvSpPr>
            <p:cNvPr id="15" name="Rectangle 88"/>
            <p:cNvSpPr>
              <a:spLocks noChangeArrowheads="1"/>
            </p:cNvSpPr>
            <p:nvPr/>
          </p:nvSpPr>
          <p:spPr bwMode="auto">
            <a:xfrm>
              <a:off x="2880" y="2688"/>
              <a:ext cx="48" cy="384"/>
            </a:xfrm>
            <a:prstGeom prst="rect">
              <a:avLst/>
            </a:prstGeom>
            <a:solidFill>
              <a:srgbClr val="00B8FF"/>
            </a:solidFill>
            <a:ln w="9525">
              <a:solidFill>
                <a:schemeClr val="tx1"/>
              </a:solidFill>
              <a:miter lim="800000"/>
              <a:headEnd/>
              <a:tailEnd/>
            </a:ln>
          </p:spPr>
          <p:txBody>
            <a:bodyPr wrap="none" anchor="ctr"/>
            <a:lstStyle/>
            <a:p>
              <a:endParaRPr lang="fr-FR" dirty="0"/>
            </a:p>
          </p:txBody>
        </p:sp>
        <p:sp>
          <p:nvSpPr>
            <p:cNvPr id="16" name="Oval 85"/>
            <p:cNvSpPr>
              <a:spLocks noChangeArrowheads="1"/>
            </p:cNvSpPr>
            <p:nvPr/>
          </p:nvSpPr>
          <p:spPr bwMode="auto">
            <a:xfrm>
              <a:off x="2784" y="2448"/>
              <a:ext cx="240" cy="288"/>
            </a:xfrm>
            <a:prstGeom prst="ellipse">
              <a:avLst/>
            </a:prstGeom>
            <a:solidFill>
              <a:srgbClr val="00B8FF"/>
            </a:solidFill>
            <a:ln w="9525">
              <a:solidFill>
                <a:schemeClr val="tx1"/>
              </a:solidFill>
              <a:round/>
              <a:headEnd/>
              <a:tailEnd/>
            </a:ln>
          </p:spPr>
          <p:txBody>
            <a:bodyPr wrap="none" anchor="ctr"/>
            <a:lstStyle/>
            <a:p>
              <a:endParaRPr lang="fr-FR" dirty="0"/>
            </a:p>
          </p:txBody>
        </p:sp>
        <p:grpSp>
          <p:nvGrpSpPr>
            <p:cNvPr id="17" name="Group 93"/>
            <p:cNvGrpSpPr>
              <a:grpSpLocks/>
            </p:cNvGrpSpPr>
            <p:nvPr/>
          </p:nvGrpSpPr>
          <p:grpSpPr bwMode="auto">
            <a:xfrm>
              <a:off x="2832" y="3024"/>
              <a:ext cx="144" cy="240"/>
              <a:chOff x="3312" y="3072"/>
              <a:chExt cx="144" cy="240"/>
            </a:xfrm>
          </p:grpSpPr>
          <p:sp>
            <p:nvSpPr>
              <p:cNvPr id="19" name="Rectangle 91"/>
              <p:cNvSpPr>
                <a:spLocks noChangeArrowheads="1"/>
              </p:cNvSpPr>
              <p:nvPr/>
            </p:nvSpPr>
            <p:spPr bwMode="auto">
              <a:xfrm rot="1704760">
                <a:off x="3312" y="3072"/>
                <a:ext cx="48" cy="240"/>
              </a:xfrm>
              <a:prstGeom prst="rect">
                <a:avLst/>
              </a:prstGeom>
              <a:solidFill>
                <a:srgbClr val="00B8FF"/>
              </a:solidFill>
              <a:ln w="9525">
                <a:solidFill>
                  <a:schemeClr val="tx1"/>
                </a:solidFill>
                <a:miter lim="800000"/>
                <a:headEnd/>
                <a:tailEnd/>
              </a:ln>
            </p:spPr>
            <p:txBody>
              <a:bodyPr wrap="none" anchor="ctr"/>
              <a:lstStyle/>
              <a:p>
                <a:endParaRPr lang="fr-FR" dirty="0"/>
              </a:p>
            </p:txBody>
          </p:sp>
          <p:sp>
            <p:nvSpPr>
              <p:cNvPr id="20" name="Rectangle 92"/>
              <p:cNvSpPr>
                <a:spLocks noChangeArrowheads="1"/>
              </p:cNvSpPr>
              <p:nvPr/>
            </p:nvSpPr>
            <p:spPr bwMode="auto">
              <a:xfrm rot="19895240" flipH="1">
                <a:off x="3408" y="3072"/>
                <a:ext cx="48" cy="240"/>
              </a:xfrm>
              <a:prstGeom prst="rect">
                <a:avLst/>
              </a:prstGeom>
              <a:solidFill>
                <a:srgbClr val="00B8FF"/>
              </a:solidFill>
              <a:ln w="9525">
                <a:solidFill>
                  <a:schemeClr val="tx1"/>
                </a:solidFill>
                <a:miter lim="800000"/>
                <a:headEnd/>
                <a:tailEnd/>
              </a:ln>
            </p:spPr>
            <p:txBody>
              <a:bodyPr wrap="none" anchor="ctr"/>
              <a:lstStyle/>
              <a:p>
                <a:endParaRPr lang="fr-FR" dirty="0"/>
              </a:p>
            </p:txBody>
          </p:sp>
        </p:grpSp>
      </p:grpSp>
      <p:grpSp>
        <p:nvGrpSpPr>
          <p:cNvPr id="23" name="Group 98"/>
          <p:cNvGrpSpPr>
            <a:grpSpLocks/>
          </p:cNvGrpSpPr>
          <p:nvPr/>
        </p:nvGrpSpPr>
        <p:grpSpPr bwMode="auto">
          <a:xfrm>
            <a:off x="5062155" y="4323048"/>
            <a:ext cx="381000" cy="1295400"/>
            <a:chOff x="2784" y="2448"/>
            <a:chExt cx="240" cy="816"/>
          </a:xfrm>
        </p:grpSpPr>
        <p:grpSp>
          <p:nvGrpSpPr>
            <p:cNvPr id="24" name="Group 99"/>
            <p:cNvGrpSpPr>
              <a:grpSpLocks/>
            </p:cNvGrpSpPr>
            <p:nvPr/>
          </p:nvGrpSpPr>
          <p:grpSpPr bwMode="auto">
            <a:xfrm>
              <a:off x="2832" y="2784"/>
              <a:ext cx="144" cy="240"/>
              <a:chOff x="3312" y="3072"/>
              <a:chExt cx="144" cy="240"/>
            </a:xfrm>
          </p:grpSpPr>
          <p:sp>
            <p:nvSpPr>
              <p:cNvPr id="30" name="Rectangle 100"/>
              <p:cNvSpPr>
                <a:spLocks noChangeArrowheads="1"/>
              </p:cNvSpPr>
              <p:nvPr/>
            </p:nvSpPr>
            <p:spPr bwMode="auto">
              <a:xfrm rot="1704760">
                <a:off x="3312" y="3072"/>
                <a:ext cx="48" cy="240"/>
              </a:xfrm>
              <a:prstGeom prst="rect">
                <a:avLst/>
              </a:prstGeom>
              <a:solidFill>
                <a:srgbClr val="00B8FF"/>
              </a:solidFill>
              <a:ln w="9525">
                <a:solidFill>
                  <a:schemeClr val="tx1"/>
                </a:solidFill>
                <a:miter lim="800000"/>
                <a:headEnd/>
                <a:tailEnd/>
              </a:ln>
            </p:spPr>
            <p:txBody>
              <a:bodyPr wrap="none" anchor="ctr"/>
              <a:lstStyle/>
              <a:p>
                <a:endParaRPr lang="fr-FR" dirty="0"/>
              </a:p>
            </p:txBody>
          </p:sp>
          <p:sp>
            <p:nvSpPr>
              <p:cNvPr id="32" name="Rectangle 101"/>
              <p:cNvSpPr>
                <a:spLocks noChangeArrowheads="1"/>
              </p:cNvSpPr>
              <p:nvPr/>
            </p:nvSpPr>
            <p:spPr bwMode="auto">
              <a:xfrm rot="19895240" flipH="1">
                <a:off x="3408" y="3072"/>
                <a:ext cx="48" cy="240"/>
              </a:xfrm>
              <a:prstGeom prst="rect">
                <a:avLst/>
              </a:prstGeom>
              <a:solidFill>
                <a:srgbClr val="00B8FF"/>
              </a:solidFill>
              <a:ln w="9525">
                <a:solidFill>
                  <a:schemeClr val="tx1"/>
                </a:solidFill>
                <a:miter lim="800000"/>
                <a:headEnd/>
                <a:tailEnd/>
              </a:ln>
            </p:spPr>
            <p:txBody>
              <a:bodyPr wrap="none" anchor="ctr"/>
              <a:lstStyle/>
              <a:p>
                <a:endParaRPr lang="fr-FR" dirty="0"/>
              </a:p>
            </p:txBody>
          </p:sp>
        </p:grpSp>
        <p:sp>
          <p:nvSpPr>
            <p:cNvPr id="25" name="Rectangle 102"/>
            <p:cNvSpPr>
              <a:spLocks noChangeArrowheads="1"/>
            </p:cNvSpPr>
            <p:nvPr/>
          </p:nvSpPr>
          <p:spPr bwMode="auto">
            <a:xfrm>
              <a:off x="2880" y="2688"/>
              <a:ext cx="48" cy="384"/>
            </a:xfrm>
            <a:prstGeom prst="rect">
              <a:avLst/>
            </a:prstGeom>
            <a:solidFill>
              <a:srgbClr val="00B8FF"/>
            </a:solidFill>
            <a:ln w="9525">
              <a:solidFill>
                <a:schemeClr val="tx1"/>
              </a:solidFill>
              <a:miter lim="800000"/>
              <a:headEnd/>
              <a:tailEnd/>
            </a:ln>
          </p:spPr>
          <p:txBody>
            <a:bodyPr wrap="none" anchor="ctr"/>
            <a:lstStyle/>
            <a:p>
              <a:endParaRPr lang="fr-FR" dirty="0"/>
            </a:p>
          </p:txBody>
        </p:sp>
        <p:sp>
          <p:nvSpPr>
            <p:cNvPr id="26" name="Oval 103"/>
            <p:cNvSpPr>
              <a:spLocks noChangeArrowheads="1"/>
            </p:cNvSpPr>
            <p:nvPr/>
          </p:nvSpPr>
          <p:spPr bwMode="auto">
            <a:xfrm>
              <a:off x="2784" y="2448"/>
              <a:ext cx="240" cy="288"/>
            </a:xfrm>
            <a:prstGeom prst="ellipse">
              <a:avLst/>
            </a:prstGeom>
            <a:solidFill>
              <a:srgbClr val="00B8FF"/>
            </a:solidFill>
            <a:ln w="9525">
              <a:solidFill>
                <a:schemeClr val="tx1"/>
              </a:solidFill>
              <a:round/>
              <a:headEnd/>
              <a:tailEnd/>
            </a:ln>
          </p:spPr>
          <p:txBody>
            <a:bodyPr wrap="none" anchor="ctr"/>
            <a:lstStyle/>
            <a:p>
              <a:endParaRPr lang="fr-FR" dirty="0"/>
            </a:p>
          </p:txBody>
        </p:sp>
        <p:grpSp>
          <p:nvGrpSpPr>
            <p:cNvPr id="27" name="Group 104"/>
            <p:cNvGrpSpPr>
              <a:grpSpLocks/>
            </p:cNvGrpSpPr>
            <p:nvPr/>
          </p:nvGrpSpPr>
          <p:grpSpPr bwMode="auto">
            <a:xfrm>
              <a:off x="2832" y="3024"/>
              <a:ext cx="144" cy="240"/>
              <a:chOff x="3312" y="3072"/>
              <a:chExt cx="144" cy="240"/>
            </a:xfrm>
          </p:grpSpPr>
          <p:sp>
            <p:nvSpPr>
              <p:cNvPr id="28" name="Rectangle 105"/>
              <p:cNvSpPr>
                <a:spLocks noChangeArrowheads="1"/>
              </p:cNvSpPr>
              <p:nvPr/>
            </p:nvSpPr>
            <p:spPr bwMode="auto">
              <a:xfrm rot="1704760">
                <a:off x="3312" y="3072"/>
                <a:ext cx="48" cy="240"/>
              </a:xfrm>
              <a:prstGeom prst="rect">
                <a:avLst/>
              </a:prstGeom>
              <a:solidFill>
                <a:srgbClr val="00B8FF"/>
              </a:solidFill>
              <a:ln w="9525">
                <a:solidFill>
                  <a:schemeClr val="tx1"/>
                </a:solidFill>
                <a:miter lim="800000"/>
                <a:headEnd/>
                <a:tailEnd/>
              </a:ln>
            </p:spPr>
            <p:txBody>
              <a:bodyPr wrap="none" anchor="ctr"/>
              <a:lstStyle/>
              <a:p>
                <a:endParaRPr lang="fr-FR" dirty="0"/>
              </a:p>
            </p:txBody>
          </p:sp>
          <p:sp>
            <p:nvSpPr>
              <p:cNvPr id="29" name="Rectangle 106"/>
              <p:cNvSpPr>
                <a:spLocks noChangeArrowheads="1"/>
              </p:cNvSpPr>
              <p:nvPr/>
            </p:nvSpPr>
            <p:spPr bwMode="auto">
              <a:xfrm rot="19895240" flipH="1">
                <a:off x="3408" y="3072"/>
                <a:ext cx="48" cy="240"/>
              </a:xfrm>
              <a:prstGeom prst="rect">
                <a:avLst/>
              </a:prstGeom>
              <a:solidFill>
                <a:srgbClr val="00B8FF"/>
              </a:solidFill>
              <a:ln w="9525">
                <a:solidFill>
                  <a:schemeClr val="tx1"/>
                </a:solidFill>
                <a:miter lim="800000"/>
                <a:headEnd/>
                <a:tailEnd/>
              </a:ln>
            </p:spPr>
            <p:txBody>
              <a:bodyPr wrap="none" anchor="ctr"/>
              <a:lstStyle/>
              <a:p>
                <a:endParaRPr lang="fr-FR" dirty="0"/>
              </a:p>
            </p:txBody>
          </p:sp>
        </p:grpSp>
      </p:grpSp>
      <p:grpSp>
        <p:nvGrpSpPr>
          <p:cNvPr id="34" name="Group 107"/>
          <p:cNvGrpSpPr>
            <a:grpSpLocks/>
          </p:cNvGrpSpPr>
          <p:nvPr/>
        </p:nvGrpSpPr>
        <p:grpSpPr bwMode="auto">
          <a:xfrm>
            <a:off x="5722555" y="4323048"/>
            <a:ext cx="381000" cy="1295400"/>
            <a:chOff x="2784" y="2448"/>
            <a:chExt cx="240" cy="816"/>
          </a:xfrm>
        </p:grpSpPr>
        <p:grpSp>
          <p:nvGrpSpPr>
            <p:cNvPr id="36" name="Group 108"/>
            <p:cNvGrpSpPr>
              <a:grpSpLocks/>
            </p:cNvGrpSpPr>
            <p:nvPr/>
          </p:nvGrpSpPr>
          <p:grpSpPr bwMode="auto">
            <a:xfrm>
              <a:off x="2832" y="2784"/>
              <a:ext cx="144" cy="240"/>
              <a:chOff x="3312" y="3072"/>
              <a:chExt cx="144" cy="240"/>
            </a:xfrm>
          </p:grpSpPr>
          <p:sp>
            <p:nvSpPr>
              <p:cNvPr id="44" name="Rectangle 109"/>
              <p:cNvSpPr>
                <a:spLocks noChangeArrowheads="1"/>
              </p:cNvSpPr>
              <p:nvPr/>
            </p:nvSpPr>
            <p:spPr bwMode="auto">
              <a:xfrm rot="1704760">
                <a:off x="3312" y="3072"/>
                <a:ext cx="48" cy="240"/>
              </a:xfrm>
              <a:prstGeom prst="rect">
                <a:avLst/>
              </a:prstGeom>
              <a:solidFill>
                <a:srgbClr val="00B8FF"/>
              </a:solidFill>
              <a:ln w="9525">
                <a:solidFill>
                  <a:schemeClr val="tx1"/>
                </a:solidFill>
                <a:miter lim="800000"/>
                <a:headEnd/>
                <a:tailEnd/>
              </a:ln>
            </p:spPr>
            <p:txBody>
              <a:bodyPr wrap="none" anchor="ctr"/>
              <a:lstStyle/>
              <a:p>
                <a:endParaRPr lang="fr-FR" dirty="0"/>
              </a:p>
            </p:txBody>
          </p:sp>
          <p:sp>
            <p:nvSpPr>
              <p:cNvPr id="45" name="Rectangle 110"/>
              <p:cNvSpPr>
                <a:spLocks noChangeArrowheads="1"/>
              </p:cNvSpPr>
              <p:nvPr/>
            </p:nvSpPr>
            <p:spPr bwMode="auto">
              <a:xfrm rot="19895240" flipH="1">
                <a:off x="3408" y="3072"/>
                <a:ext cx="48" cy="240"/>
              </a:xfrm>
              <a:prstGeom prst="rect">
                <a:avLst/>
              </a:prstGeom>
              <a:solidFill>
                <a:srgbClr val="00B8FF"/>
              </a:solidFill>
              <a:ln w="9525">
                <a:solidFill>
                  <a:schemeClr val="tx1"/>
                </a:solidFill>
                <a:miter lim="800000"/>
                <a:headEnd/>
                <a:tailEnd/>
              </a:ln>
            </p:spPr>
            <p:txBody>
              <a:bodyPr wrap="none" anchor="ctr"/>
              <a:lstStyle/>
              <a:p>
                <a:endParaRPr lang="fr-FR" dirty="0"/>
              </a:p>
            </p:txBody>
          </p:sp>
        </p:grpSp>
        <p:sp>
          <p:nvSpPr>
            <p:cNvPr id="38" name="Rectangle 111"/>
            <p:cNvSpPr>
              <a:spLocks noChangeArrowheads="1"/>
            </p:cNvSpPr>
            <p:nvPr/>
          </p:nvSpPr>
          <p:spPr bwMode="auto">
            <a:xfrm>
              <a:off x="2880" y="2688"/>
              <a:ext cx="48" cy="384"/>
            </a:xfrm>
            <a:prstGeom prst="rect">
              <a:avLst/>
            </a:prstGeom>
            <a:solidFill>
              <a:srgbClr val="00B8FF"/>
            </a:solidFill>
            <a:ln w="9525">
              <a:solidFill>
                <a:schemeClr val="tx1"/>
              </a:solidFill>
              <a:miter lim="800000"/>
              <a:headEnd/>
              <a:tailEnd/>
            </a:ln>
          </p:spPr>
          <p:txBody>
            <a:bodyPr wrap="none" anchor="ctr"/>
            <a:lstStyle/>
            <a:p>
              <a:endParaRPr lang="fr-FR" dirty="0"/>
            </a:p>
          </p:txBody>
        </p:sp>
        <p:sp>
          <p:nvSpPr>
            <p:cNvPr id="40" name="Oval 112"/>
            <p:cNvSpPr>
              <a:spLocks noChangeArrowheads="1"/>
            </p:cNvSpPr>
            <p:nvPr/>
          </p:nvSpPr>
          <p:spPr bwMode="auto">
            <a:xfrm>
              <a:off x="2784" y="2448"/>
              <a:ext cx="240" cy="288"/>
            </a:xfrm>
            <a:prstGeom prst="ellipse">
              <a:avLst/>
            </a:prstGeom>
            <a:solidFill>
              <a:srgbClr val="00B8FF"/>
            </a:solidFill>
            <a:ln w="9525">
              <a:solidFill>
                <a:schemeClr val="tx1"/>
              </a:solidFill>
              <a:round/>
              <a:headEnd/>
              <a:tailEnd/>
            </a:ln>
          </p:spPr>
          <p:txBody>
            <a:bodyPr wrap="none" anchor="ctr"/>
            <a:lstStyle/>
            <a:p>
              <a:endParaRPr lang="fr-FR" dirty="0"/>
            </a:p>
          </p:txBody>
        </p:sp>
        <p:grpSp>
          <p:nvGrpSpPr>
            <p:cNvPr id="41" name="Group 113"/>
            <p:cNvGrpSpPr>
              <a:grpSpLocks/>
            </p:cNvGrpSpPr>
            <p:nvPr/>
          </p:nvGrpSpPr>
          <p:grpSpPr bwMode="auto">
            <a:xfrm>
              <a:off x="2832" y="3024"/>
              <a:ext cx="144" cy="240"/>
              <a:chOff x="3312" y="3072"/>
              <a:chExt cx="144" cy="240"/>
            </a:xfrm>
          </p:grpSpPr>
          <p:sp>
            <p:nvSpPr>
              <p:cNvPr id="42" name="Rectangle 114"/>
              <p:cNvSpPr>
                <a:spLocks noChangeArrowheads="1"/>
              </p:cNvSpPr>
              <p:nvPr/>
            </p:nvSpPr>
            <p:spPr bwMode="auto">
              <a:xfrm rot="1704760">
                <a:off x="3312" y="3072"/>
                <a:ext cx="48" cy="240"/>
              </a:xfrm>
              <a:prstGeom prst="rect">
                <a:avLst/>
              </a:prstGeom>
              <a:solidFill>
                <a:srgbClr val="00B8FF"/>
              </a:solidFill>
              <a:ln w="9525">
                <a:solidFill>
                  <a:schemeClr val="tx1"/>
                </a:solidFill>
                <a:miter lim="800000"/>
                <a:headEnd/>
                <a:tailEnd/>
              </a:ln>
            </p:spPr>
            <p:txBody>
              <a:bodyPr wrap="none" anchor="ctr"/>
              <a:lstStyle/>
              <a:p>
                <a:endParaRPr lang="fr-FR" dirty="0"/>
              </a:p>
            </p:txBody>
          </p:sp>
          <p:sp>
            <p:nvSpPr>
              <p:cNvPr id="43" name="Rectangle 115"/>
              <p:cNvSpPr>
                <a:spLocks noChangeArrowheads="1"/>
              </p:cNvSpPr>
              <p:nvPr/>
            </p:nvSpPr>
            <p:spPr bwMode="auto">
              <a:xfrm rot="19895240" flipH="1">
                <a:off x="3408" y="3072"/>
                <a:ext cx="48" cy="240"/>
              </a:xfrm>
              <a:prstGeom prst="rect">
                <a:avLst/>
              </a:prstGeom>
              <a:solidFill>
                <a:srgbClr val="00B8FF"/>
              </a:solidFill>
              <a:ln w="9525">
                <a:solidFill>
                  <a:schemeClr val="tx1"/>
                </a:solidFill>
                <a:miter lim="800000"/>
                <a:headEnd/>
                <a:tailEnd/>
              </a:ln>
            </p:spPr>
            <p:txBody>
              <a:bodyPr wrap="none" anchor="ctr"/>
              <a:lstStyle/>
              <a:p>
                <a:endParaRPr lang="fr-FR" dirty="0"/>
              </a:p>
            </p:txBody>
          </p:sp>
        </p:grpSp>
      </p:grpSp>
      <p:grpSp>
        <p:nvGrpSpPr>
          <p:cNvPr id="46" name="Group 116"/>
          <p:cNvGrpSpPr>
            <a:grpSpLocks/>
          </p:cNvGrpSpPr>
          <p:nvPr/>
        </p:nvGrpSpPr>
        <p:grpSpPr bwMode="auto">
          <a:xfrm>
            <a:off x="6382955" y="4323048"/>
            <a:ext cx="381000" cy="1295400"/>
            <a:chOff x="2784" y="2448"/>
            <a:chExt cx="240" cy="816"/>
          </a:xfrm>
        </p:grpSpPr>
        <p:grpSp>
          <p:nvGrpSpPr>
            <p:cNvPr id="47" name="Group 117"/>
            <p:cNvGrpSpPr>
              <a:grpSpLocks/>
            </p:cNvGrpSpPr>
            <p:nvPr/>
          </p:nvGrpSpPr>
          <p:grpSpPr bwMode="auto">
            <a:xfrm>
              <a:off x="2832" y="2784"/>
              <a:ext cx="144" cy="240"/>
              <a:chOff x="3312" y="3072"/>
              <a:chExt cx="144" cy="240"/>
            </a:xfrm>
          </p:grpSpPr>
          <p:sp>
            <p:nvSpPr>
              <p:cNvPr id="53" name="Rectangle 118"/>
              <p:cNvSpPr>
                <a:spLocks noChangeArrowheads="1"/>
              </p:cNvSpPr>
              <p:nvPr/>
            </p:nvSpPr>
            <p:spPr bwMode="auto">
              <a:xfrm rot="1704760">
                <a:off x="3312" y="3072"/>
                <a:ext cx="48" cy="240"/>
              </a:xfrm>
              <a:prstGeom prst="rect">
                <a:avLst/>
              </a:prstGeom>
              <a:solidFill>
                <a:srgbClr val="00B8FF"/>
              </a:solidFill>
              <a:ln w="9525">
                <a:solidFill>
                  <a:schemeClr val="tx1"/>
                </a:solidFill>
                <a:miter lim="800000"/>
                <a:headEnd/>
                <a:tailEnd/>
              </a:ln>
            </p:spPr>
            <p:txBody>
              <a:bodyPr wrap="none" anchor="ctr"/>
              <a:lstStyle/>
              <a:p>
                <a:endParaRPr lang="fr-FR" dirty="0"/>
              </a:p>
            </p:txBody>
          </p:sp>
          <p:sp>
            <p:nvSpPr>
              <p:cNvPr id="54" name="Rectangle 119"/>
              <p:cNvSpPr>
                <a:spLocks noChangeArrowheads="1"/>
              </p:cNvSpPr>
              <p:nvPr/>
            </p:nvSpPr>
            <p:spPr bwMode="auto">
              <a:xfrm rot="19895240" flipH="1">
                <a:off x="3408" y="3072"/>
                <a:ext cx="48" cy="240"/>
              </a:xfrm>
              <a:prstGeom prst="rect">
                <a:avLst/>
              </a:prstGeom>
              <a:solidFill>
                <a:srgbClr val="00B8FF"/>
              </a:solidFill>
              <a:ln w="9525">
                <a:solidFill>
                  <a:schemeClr val="tx1"/>
                </a:solidFill>
                <a:miter lim="800000"/>
                <a:headEnd/>
                <a:tailEnd/>
              </a:ln>
            </p:spPr>
            <p:txBody>
              <a:bodyPr wrap="none" anchor="ctr"/>
              <a:lstStyle/>
              <a:p>
                <a:endParaRPr lang="fr-FR" dirty="0"/>
              </a:p>
            </p:txBody>
          </p:sp>
        </p:grpSp>
        <p:sp>
          <p:nvSpPr>
            <p:cNvPr id="48" name="Rectangle 120"/>
            <p:cNvSpPr>
              <a:spLocks noChangeArrowheads="1"/>
            </p:cNvSpPr>
            <p:nvPr/>
          </p:nvSpPr>
          <p:spPr bwMode="auto">
            <a:xfrm>
              <a:off x="2880" y="2688"/>
              <a:ext cx="48" cy="384"/>
            </a:xfrm>
            <a:prstGeom prst="rect">
              <a:avLst/>
            </a:prstGeom>
            <a:solidFill>
              <a:srgbClr val="00B8FF"/>
            </a:solidFill>
            <a:ln w="9525">
              <a:solidFill>
                <a:schemeClr val="tx1"/>
              </a:solidFill>
              <a:miter lim="800000"/>
              <a:headEnd/>
              <a:tailEnd/>
            </a:ln>
          </p:spPr>
          <p:txBody>
            <a:bodyPr wrap="none" anchor="ctr"/>
            <a:lstStyle/>
            <a:p>
              <a:endParaRPr lang="fr-FR" dirty="0"/>
            </a:p>
          </p:txBody>
        </p:sp>
        <p:sp>
          <p:nvSpPr>
            <p:cNvPr id="49" name="Oval 121"/>
            <p:cNvSpPr>
              <a:spLocks noChangeArrowheads="1"/>
            </p:cNvSpPr>
            <p:nvPr/>
          </p:nvSpPr>
          <p:spPr bwMode="auto">
            <a:xfrm>
              <a:off x="2784" y="2448"/>
              <a:ext cx="240" cy="288"/>
            </a:xfrm>
            <a:prstGeom prst="ellipse">
              <a:avLst/>
            </a:prstGeom>
            <a:solidFill>
              <a:srgbClr val="00B8FF"/>
            </a:solidFill>
            <a:ln w="9525">
              <a:solidFill>
                <a:schemeClr val="tx1"/>
              </a:solidFill>
              <a:round/>
              <a:headEnd/>
              <a:tailEnd/>
            </a:ln>
          </p:spPr>
          <p:txBody>
            <a:bodyPr wrap="none" anchor="ctr"/>
            <a:lstStyle/>
            <a:p>
              <a:endParaRPr lang="fr-FR" dirty="0"/>
            </a:p>
          </p:txBody>
        </p:sp>
        <p:grpSp>
          <p:nvGrpSpPr>
            <p:cNvPr id="50" name="Group 122"/>
            <p:cNvGrpSpPr>
              <a:grpSpLocks/>
            </p:cNvGrpSpPr>
            <p:nvPr/>
          </p:nvGrpSpPr>
          <p:grpSpPr bwMode="auto">
            <a:xfrm>
              <a:off x="2832" y="3024"/>
              <a:ext cx="144" cy="240"/>
              <a:chOff x="3312" y="3072"/>
              <a:chExt cx="144" cy="240"/>
            </a:xfrm>
          </p:grpSpPr>
          <p:sp>
            <p:nvSpPr>
              <p:cNvPr id="51" name="Rectangle 123"/>
              <p:cNvSpPr>
                <a:spLocks noChangeArrowheads="1"/>
              </p:cNvSpPr>
              <p:nvPr/>
            </p:nvSpPr>
            <p:spPr bwMode="auto">
              <a:xfrm rot="1704760">
                <a:off x="3312" y="3072"/>
                <a:ext cx="48" cy="240"/>
              </a:xfrm>
              <a:prstGeom prst="rect">
                <a:avLst/>
              </a:prstGeom>
              <a:solidFill>
                <a:srgbClr val="00B8FF"/>
              </a:solidFill>
              <a:ln w="9525">
                <a:solidFill>
                  <a:schemeClr val="tx1"/>
                </a:solidFill>
                <a:miter lim="800000"/>
                <a:headEnd/>
                <a:tailEnd/>
              </a:ln>
            </p:spPr>
            <p:txBody>
              <a:bodyPr wrap="none" anchor="ctr"/>
              <a:lstStyle/>
              <a:p>
                <a:endParaRPr lang="fr-FR" dirty="0"/>
              </a:p>
            </p:txBody>
          </p:sp>
          <p:sp>
            <p:nvSpPr>
              <p:cNvPr id="52" name="Rectangle 124"/>
              <p:cNvSpPr>
                <a:spLocks noChangeArrowheads="1"/>
              </p:cNvSpPr>
              <p:nvPr/>
            </p:nvSpPr>
            <p:spPr bwMode="auto">
              <a:xfrm rot="19895240" flipH="1">
                <a:off x="3408" y="3072"/>
                <a:ext cx="48" cy="240"/>
              </a:xfrm>
              <a:prstGeom prst="rect">
                <a:avLst/>
              </a:prstGeom>
              <a:solidFill>
                <a:srgbClr val="00B8FF"/>
              </a:solidFill>
              <a:ln w="9525">
                <a:solidFill>
                  <a:schemeClr val="tx1"/>
                </a:solidFill>
                <a:miter lim="800000"/>
                <a:headEnd/>
                <a:tailEnd/>
              </a:ln>
            </p:spPr>
            <p:txBody>
              <a:bodyPr wrap="none" anchor="ctr"/>
              <a:lstStyle/>
              <a:p>
                <a:endParaRPr lang="fr-FR" dirty="0"/>
              </a:p>
            </p:txBody>
          </p:sp>
        </p:grpSp>
      </p:grpSp>
      <p:grpSp>
        <p:nvGrpSpPr>
          <p:cNvPr id="55" name="Group 153"/>
          <p:cNvGrpSpPr>
            <a:grpSpLocks/>
          </p:cNvGrpSpPr>
          <p:nvPr/>
        </p:nvGrpSpPr>
        <p:grpSpPr bwMode="auto">
          <a:xfrm>
            <a:off x="9557955" y="4018248"/>
            <a:ext cx="457200" cy="1295400"/>
            <a:chOff x="5136" y="2304"/>
            <a:chExt cx="288" cy="816"/>
          </a:xfrm>
        </p:grpSpPr>
        <p:grpSp>
          <p:nvGrpSpPr>
            <p:cNvPr id="56" name="Group 125"/>
            <p:cNvGrpSpPr>
              <a:grpSpLocks/>
            </p:cNvGrpSpPr>
            <p:nvPr/>
          </p:nvGrpSpPr>
          <p:grpSpPr bwMode="auto">
            <a:xfrm>
              <a:off x="5160" y="2304"/>
              <a:ext cx="240" cy="816"/>
              <a:chOff x="2784" y="2448"/>
              <a:chExt cx="240" cy="816"/>
            </a:xfrm>
          </p:grpSpPr>
          <p:grpSp>
            <p:nvGrpSpPr>
              <p:cNvPr id="58" name="Group 126"/>
              <p:cNvGrpSpPr>
                <a:grpSpLocks/>
              </p:cNvGrpSpPr>
              <p:nvPr/>
            </p:nvGrpSpPr>
            <p:grpSpPr bwMode="auto">
              <a:xfrm>
                <a:off x="2832" y="2784"/>
                <a:ext cx="144" cy="240"/>
                <a:chOff x="3312" y="3072"/>
                <a:chExt cx="144" cy="240"/>
              </a:xfrm>
            </p:grpSpPr>
            <p:sp>
              <p:nvSpPr>
                <p:cNvPr id="64" name="Rectangle 127"/>
                <p:cNvSpPr>
                  <a:spLocks noChangeArrowheads="1"/>
                </p:cNvSpPr>
                <p:nvPr/>
              </p:nvSpPr>
              <p:spPr bwMode="auto">
                <a:xfrm rot="1704760">
                  <a:off x="3312" y="3072"/>
                  <a:ext cx="48" cy="240"/>
                </a:xfrm>
                <a:prstGeom prst="rect">
                  <a:avLst/>
                </a:prstGeom>
                <a:solidFill>
                  <a:schemeClr val="accent1"/>
                </a:solidFill>
                <a:ln w="9525">
                  <a:solidFill>
                    <a:schemeClr val="tx1"/>
                  </a:solidFill>
                  <a:miter lim="800000"/>
                  <a:headEnd/>
                  <a:tailEnd/>
                </a:ln>
              </p:spPr>
              <p:txBody>
                <a:bodyPr wrap="none" anchor="ctr"/>
                <a:lstStyle/>
                <a:p>
                  <a:endParaRPr lang="fr-FR" dirty="0"/>
                </a:p>
              </p:txBody>
            </p:sp>
            <p:sp>
              <p:nvSpPr>
                <p:cNvPr id="65" name="Rectangle 128"/>
                <p:cNvSpPr>
                  <a:spLocks noChangeArrowheads="1"/>
                </p:cNvSpPr>
                <p:nvPr/>
              </p:nvSpPr>
              <p:spPr bwMode="auto">
                <a:xfrm rot="19895240" flipH="1">
                  <a:off x="3408" y="3072"/>
                  <a:ext cx="48" cy="240"/>
                </a:xfrm>
                <a:prstGeom prst="rect">
                  <a:avLst/>
                </a:prstGeom>
                <a:solidFill>
                  <a:schemeClr val="accent1"/>
                </a:solidFill>
                <a:ln w="9525">
                  <a:solidFill>
                    <a:schemeClr val="tx1"/>
                  </a:solidFill>
                  <a:miter lim="800000"/>
                  <a:headEnd/>
                  <a:tailEnd/>
                </a:ln>
              </p:spPr>
              <p:txBody>
                <a:bodyPr wrap="none" anchor="ctr"/>
                <a:lstStyle/>
                <a:p>
                  <a:endParaRPr lang="fr-FR" dirty="0"/>
                </a:p>
              </p:txBody>
            </p:sp>
          </p:grpSp>
          <p:sp>
            <p:nvSpPr>
              <p:cNvPr id="59" name="Rectangle 129"/>
              <p:cNvSpPr>
                <a:spLocks noChangeArrowheads="1"/>
              </p:cNvSpPr>
              <p:nvPr/>
            </p:nvSpPr>
            <p:spPr bwMode="auto">
              <a:xfrm>
                <a:off x="2880" y="2688"/>
                <a:ext cx="48" cy="384"/>
              </a:xfrm>
              <a:prstGeom prst="rect">
                <a:avLst/>
              </a:prstGeom>
              <a:solidFill>
                <a:schemeClr val="accent1"/>
              </a:solidFill>
              <a:ln w="9525">
                <a:solidFill>
                  <a:schemeClr val="tx1"/>
                </a:solidFill>
                <a:miter lim="800000"/>
                <a:headEnd/>
                <a:tailEnd/>
              </a:ln>
            </p:spPr>
            <p:txBody>
              <a:bodyPr wrap="none" anchor="ctr"/>
              <a:lstStyle/>
              <a:p>
                <a:endParaRPr lang="fr-FR" dirty="0"/>
              </a:p>
            </p:txBody>
          </p:sp>
          <p:sp>
            <p:nvSpPr>
              <p:cNvPr id="60" name="Oval 130"/>
              <p:cNvSpPr>
                <a:spLocks noChangeArrowheads="1"/>
              </p:cNvSpPr>
              <p:nvPr/>
            </p:nvSpPr>
            <p:spPr bwMode="auto">
              <a:xfrm>
                <a:off x="2784" y="2448"/>
                <a:ext cx="240" cy="288"/>
              </a:xfrm>
              <a:prstGeom prst="ellipse">
                <a:avLst/>
              </a:prstGeom>
              <a:solidFill>
                <a:schemeClr val="accent1"/>
              </a:solidFill>
              <a:ln w="9525">
                <a:solidFill>
                  <a:schemeClr val="tx1"/>
                </a:solidFill>
                <a:round/>
                <a:headEnd/>
                <a:tailEnd/>
              </a:ln>
            </p:spPr>
            <p:txBody>
              <a:bodyPr wrap="none" anchor="ctr"/>
              <a:lstStyle/>
              <a:p>
                <a:endParaRPr lang="fr-FR" dirty="0"/>
              </a:p>
            </p:txBody>
          </p:sp>
          <p:grpSp>
            <p:nvGrpSpPr>
              <p:cNvPr id="61" name="Group 131"/>
              <p:cNvGrpSpPr>
                <a:grpSpLocks/>
              </p:cNvGrpSpPr>
              <p:nvPr/>
            </p:nvGrpSpPr>
            <p:grpSpPr bwMode="auto">
              <a:xfrm>
                <a:off x="2832" y="3024"/>
                <a:ext cx="144" cy="240"/>
                <a:chOff x="3312" y="3072"/>
                <a:chExt cx="144" cy="240"/>
              </a:xfrm>
            </p:grpSpPr>
            <p:sp>
              <p:nvSpPr>
                <p:cNvPr id="62" name="Rectangle 132"/>
                <p:cNvSpPr>
                  <a:spLocks noChangeArrowheads="1"/>
                </p:cNvSpPr>
                <p:nvPr/>
              </p:nvSpPr>
              <p:spPr bwMode="auto">
                <a:xfrm rot="1704760">
                  <a:off x="3312" y="3072"/>
                  <a:ext cx="48" cy="240"/>
                </a:xfrm>
                <a:prstGeom prst="rect">
                  <a:avLst/>
                </a:prstGeom>
                <a:solidFill>
                  <a:schemeClr val="accent1"/>
                </a:solidFill>
                <a:ln w="9525">
                  <a:solidFill>
                    <a:schemeClr val="tx1"/>
                  </a:solidFill>
                  <a:miter lim="800000"/>
                  <a:headEnd/>
                  <a:tailEnd/>
                </a:ln>
              </p:spPr>
              <p:txBody>
                <a:bodyPr wrap="none" anchor="ctr"/>
                <a:lstStyle/>
                <a:p>
                  <a:endParaRPr lang="fr-FR" dirty="0"/>
                </a:p>
              </p:txBody>
            </p:sp>
            <p:sp>
              <p:nvSpPr>
                <p:cNvPr id="63" name="Rectangle 133"/>
                <p:cNvSpPr>
                  <a:spLocks noChangeArrowheads="1"/>
                </p:cNvSpPr>
                <p:nvPr/>
              </p:nvSpPr>
              <p:spPr bwMode="auto">
                <a:xfrm rot="19895240" flipH="1">
                  <a:off x="3408" y="3072"/>
                  <a:ext cx="48" cy="240"/>
                </a:xfrm>
                <a:prstGeom prst="rect">
                  <a:avLst/>
                </a:prstGeom>
                <a:solidFill>
                  <a:schemeClr val="accent1"/>
                </a:solidFill>
                <a:ln w="9525">
                  <a:solidFill>
                    <a:schemeClr val="tx1"/>
                  </a:solidFill>
                  <a:miter lim="800000"/>
                  <a:headEnd/>
                  <a:tailEnd/>
                </a:ln>
              </p:spPr>
              <p:txBody>
                <a:bodyPr wrap="none" anchor="ctr"/>
                <a:lstStyle/>
                <a:p>
                  <a:endParaRPr lang="fr-FR" dirty="0"/>
                </a:p>
              </p:txBody>
            </p:sp>
          </p:grpSp>
        </p:grpSp>
        <p:sp>
          <p:nvSpPr>
            <p:cNvPr id="57" name="Rectangle 152"/>
            <p:cNvSpPr>
              <a:spLocks noChangeArrowheads="1"/>
            </p:cNvSpPr>
            <p:nvPr/>
          </p:nvSpPr>
          <p:spPr bwMode="auto">
            <a:xfrm>
              <a:off x="5136" y="2304"/>
              <a:ext cx="288" cy="288"/>
            </a:xfrm>
            <a:prstGeom prst="rect">
              <a:avLst/>
            </a:prstGeom>
            <a:noFill/>
            <a:ln w="9525">
              <a:noFill/>
              <a:miter lim="800000"/>
              <a:headEnd/>
              <a:tailEnd/>
            </a:ln>
          </p:spPr>
          <p:txBody>
            <a:bodyPr lIns="90360" tIns="44280" rIns="90360" bIns="44280"/>
            <a:lstStyle/>
            <a:p>
              <a:pPr defTabSz="457200">
                <a:lnSpc>
                  <a:spcPct val="95000"/>
                </a:lnSpc>
                <a:spcBef>
                  <a:spcPts val="700"/>
                </a:spcBef>
                <a:buClr>
                  <a:srgbClr val="00CECE"/>
                </a:buClr>
                <a:buSzPct val="75000"/>
                <a:tabLst>
                  <a:tab pos="569913" algn="l"/>
                  <a:tab pos="1484313" algn="l"/>
                  <a:tab pos="2398713" algn="l"/>
                  <a:tab pos="3313113" algn="l"/>
                  <a:tab pos="4227513" algn="l"/>
                  <a:tab pos="5141913" algn="l"/>
                  <a:tab pos="6056313" algn="l"/>
                  <a:tab pos="6970713" algn="l"/>
                  <a:tab pos="7885113" algn="l"/>
                  <a:tab pos="8799513" algn="l"/>
                  <a:tab pos="9713913" algn="l"/>
                </a:tabLst>
              </a:pPr>
              <a:r>
                <a:rPr lang="en-GB" sz="1200" b="1" i="1" dirty="0"/>
                <a:t>$</a:t>
              </a:r>
              <a:r>
                <a:rPr lang="en-GB" sz="1200" b="1" i="1" dirty="0">
                  <a:solidFill>
                    <a:srgbClr val="00FF00"/>
                  </a:solidFill>
                </a:rPr>
                <a:t> </a:t>
              </a:r>
              <a:r>
                <a:rPr lang="en-GB" sz="1200" b="1" i="1" dirty="0"/>
                <a:t> $ </a:t>
              </a:r>
            </a:p>
          </p:txBody>
        </p:sp>
      </p:grpSp>
      <p:sp>
        <p:nvSpPr>
          <p:cNvPr id="66" name="AutoShape 156"/>
          <p:cNvSpPr>
            <a:spLocks noChangeArrowheads="1"/>
          </p:cNvSpPr>
          <p:nvPr/>
        </p:nvSpPr>
        <p:spPr bwMode="auto">
          <a:xfrm>
            <a:off x="7195755" y="5389848"/>
            <a:ext cx="728660" cy="352574"/>
          </a:xfrm>
          <a:prstGeom prst="roundRect">
            <a:avLst>
              <a:gd name="adj" fmla="val 306"/>
            </a:avLst>
          </a:prstGeom>
          <a:noFill/>
          <a:ln w="9525">
            <a:noFill/>
            <a:round/>
            <a:headEnd/>
            <a:tailEnd/>
          </a:ln>
        </p:spPr>
        <p:txBody>
          <a:bodyPr wrap="none" lIns="90360" tIns="44280" rIns="90360" bIns="44280">
            <a:spAutoFit/>
          </a:bodyPr>
          <a:lstStyle/>
          <a:p>
            <a:pPr>
              <a:lnSpc>
                <a:spcPct val="95000"/>
              </a:lnSpc>
              <a:buClr>
                <a:srgbClr val="E0E0E0"/>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dirty="0">
                <a:solidFill>
                  <a:schemeClr val="folHlink"/>
                </a:solidFill>
              </a:rPr>
              <a:t>Front</a:t>
            </a:r>
          </a:p>
        </p:txBody>
      </p:sp>
      <p:sp>
        <p:nvSpPr>
          <p:cNvPr id="67" name="AutoShape 157"/>
          <p:cNvSpPr>
            <a:spLocks noChangeArrowheads="1"/>
          </p:cNvSpPr>
          <p:nvPr/>
        </p:nvSpPr>
        <p:spPr bwMode="auto">
          <a:xfrm>
            <a:off x="3233355" y="5389848"/>
            <a:ext cx="634340" cy="352574"/>
          </a:xfrm>
          <a:prstGeom prst="roundRect">
            <a:avLst>
              <a:gd name="adj" fmla="val 306"/>
            </a:avLst>
          </a:prstGeom>
          <a:noFill/>
          <a:ln w="9525">
            <a:noFill/>
            <a:round/>
            <a:headEnd/>
            <a:tailEnd/>
          </a:ln>
        </p:spPr>
        <p:txBody>
          <a:bodyPr wrap="none" lIns="90360" tIns="44280" rIns="90360" bIns="44280">
            <a:spAutoFit/>
          </a:bodyPr>
          <a:lstStyle/>
          <a:p>
            <a:pPr>
              <a:lnSpc>
                <a:spcPct val="95000"/>
              </a:lnSpc>
              <a:buClr>
                <a:srgbClr val="E0E0E0"/>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dirty="0">
                <a:solidFill>
                  <a:schemeClr val="folHlink"/>
                </a:solidFill>
              </a:rPr>
              <a:t>Rear</a:t>
            </a:r>
          </a:p>
        </p:txBody>
      </p:sp>
    </p:spTree>
    <p:extLst>
      <p:ext uri="{BB962C8B-B14F-4D97-AF65-F5344CB8AC3E}">
        <p14:creationId xmlns:p14="http://schemas.microsoft.com/office/powerpoint/2010/main" val="28349213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b="1" spc="-5" dirty="0">
                <a:solidFill>
                  <a:schemeClr val="tx1"/>
                </a:solidFill>
              </a:rPr>
              <a:t>Queues</a:t>
            </a:r>
            <a:endParaRPr lang="en-US" sz="4000" b="1" kern="1200" spc="-10" dirty="0">
              <a:solidFill>
                <a:schemeClr val="tx1"/>
              </a:solidFill>
              <a:latin typeface="+mj-lt"/>
              <a:ea typeface="+mj-ea"/>
              <a:cs typeface="+mj-cs"/>
            </a:endParaRPr>
          </a:p>
        </p:txBody>
      </p:sp>
      <p:sp>
        <p:nvSpPr>
          <p:cNvPr id="68" name="Oval 60"/>
          <p:cNvSpPr>
            <a:spLocks noChangeArrowheads="1"/>
          </p:cNvSpPr>
          <p:nvPr/>
        </p:nvSpPr>
        <p:spPr bwMode="auto">
          <a:xfrm>
            <a:off x="7049268" y="4184651"/>
            <a:ext cx="1066800" cy="1981200"/>
          </a:xfrm>
          <a:prstGeom prst="ellipse">
            <a:avLst/>
          </a:prstGeom>
          <a:solidFill>
            <a:srgbClr val="FFFF00"/>
          </a:solidFill>
          <a:ln w="9525">
            <a:solidFill>
              <a:schemeClr val="tx1"/>
            </a:solidFill>
            <a:round/>
            <a:headEnd/>
            <a:tailEnd/>
          </a:ln>
        </p:spPr>
        <p:txBody>
          <a:bodyPr wrap="none" anchor="ctr"/>
          <a:lstStyle/>
          <a:p>
            <a:endParaRPr lang="fr-FR" dirty="0">
              <a:solidFill>
                <a:srgbClr val="FFFF00"/>
              </a:solidFill>
            </a:endParaRPr>
          </a:p>
        </p:txBody>
      </p:sp>
      <p:sp>
        <p:nvSpPr>
          <p:cNvPr id="69" name="Rectangle 3"/>
          <p:cNvSpPr txBox="1">
            <a:spLocks noChangeArrowheads="1"/>
          </p:cNvSpPr>
          <p:nvPr/>
        </p:nvSpPr>
        <p:spPr>
          <a:xfrm>
            <a:off x="2020068" y="2203451"/>
            <a:ext cx="8229600" cy="1828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95000"/>
              </a:lnSpc>
              <a:spcBef>
                <a:spcPts val="700"/>
              </a:spcBef>
              <a:buFont typeface="Monotype Sort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GB"/>
              <a:t>New people must enter the queue at the rear. </a:t>
            </a:r>
            <a:endParaRPr lang="en-GB" dirty="0"/>
          </a:p>
        </p:txBody>
      </p:sp>
      <p:grpSp>
        <p:nvGrpSpPr>
          <p:cNvPr id="70" name="Group 4"/>
          <p:cNvGrpSpPr>
            <a:grpSpLocks/>
          </p:cNvGrpSpPr>
          <p:nvPr/>
        </p:nvGrpSpPr>
        <p:grpSpPr bwMode="auto">
          <a:xfrm>
            <a:off x="4331468" y="4184651"/>
            <a:ext cx="381000" cy="1295400"/>
            <a:chOff x="2784" y="2448"/>
            <a:chExt cx="240" cy="816"/>
          </a:xfrm>
        </p:grpSpPr>
        <p:grpSp>
          <p:nvGrpSpPr>
            <p:cNvPr id="71" name="Group 5"/>
            <p:cNvGrpSpPr>
              <a:grpSpLocks/>
            </p:cNvGrpSpPr>
            <p:nvPr/>
          </p:nvGrpSpPr>
          <p:grpSpPr bwMode="auto">
            <a:xfrm>
              <a:off x="2832" y="2784"/>
              <a:ext cx="144" cy="240"/>
              <a:chOff x="3312" y="3072"/>
              <a:chExt cx="144" cy="240"/>
            </a:xfrm>
          </p:grpSpPr>
          <p:sp>
            <p:nvSpPr>
              <p:cNvPr id="77" name="Rectangle 6"/>
              <p:cNvSpPr>
                <a:spLocks noChangeArrowheads="1"/>
              </p:cNvSpPr>
              <p:nvPr/>
            </p:nvSpPr>
            <p:spPr bwMode="auto">
              <a:xfrm rot="1704760">
                <a:off x="3312" y="3072"/>
                <a:ext cx="48" cy="240"/>
              </a:xfrm>
              <a:prstGeom prst="rect">
                <a:avLst/>
              </a:prstGeom>
              <a:solidFill>
                <a:srgbClr val="00B8FF"/>
              </a:solidFill>
              <a:ln w="9525">
                <a:solidFill>
                  <a:schemeClr val="tx1"/>
                </a:solidFill>
                <a:miter lim="800000"/>
                <a:headEnd/>
                <a:tailEnd/>
              </a:ln>
            </p:spPr>
            <p:txBody>
              <a:bodyPr wrap="none" anchor="ctr"/>
              <a:lstStyle/>
              <a:p>
                <a:endParaRPr lang="fr-FR" dirty="0"/>
              </a:p>
            </p:txBody>
          </p:sp>
          <p:sp>
            <p:nvSpPr>
              <p:cNvPr id="78" name="Rectangle 7"/>
              <p:cNvSpPr>
                <a:spLocks noChangeArrowheads="1"/>
              </p:cNvSpPr>
              <p:nvPr/>
            </p:nvSpPr>
            <p:spPr bwMode="auto">
              <a:xfrm rot="19895240" flipH="1">
                <a:off x="3408" y="3072"/>
                <a:ext cx="48" cy="240"/>
              </a:xfrm>
              <a:prstGeom prst="rect">
                <a:avLst/>
              </a:prstGeom>
              <a:solidFill>
                <a:srgbClr val="00B8FF"/>
              </a:solidFill>
              <a:ln w="9525">
                <a:solidFill>
                  <a:schemeClr val="tx1"/>
                </a:solidFill>
                <a:miter lim="800000"/>
                <a:headEnd/>
                <a:tailEnd/>
              </a:ln>
            </p:spPr>
            <p:txBody>
              <a:bodyPr wrap="none" anchor="ctr"/>
              <a:lstStyle/>
              <a:p>
                <a:endParaRPr lang="fr-FR" dirty="0"/>
              </a:p>
            </p:txBody>
          </p:sp>
        </p:grpSp>
        <p:sp>
          <p:nvSpPr>
            <p:cNvPr id="72" name="Rectangle 8"/>
            <p:cNvSpPr>
              <a:spLocks noChangeArrowheads="1"/>
            </p:cNvSpPr>
            <p:nvPr/>
          </p:nvSpPr>
          <p:spPr bwMode="auto">
            <a:xfrm>
              <a:off x="2880" y="2688"/>
              <a:ext cx="48" cy="384"/>
            </a:xfrm>
            <a:prstGeom prst="rect">
              <a:avLst/>
            </a:prstGeom>
            <a:solidFill>
              <a:srgbClr val="00B8FF"/>
            </a:solidFill>
            <a:ln w="9525">
              <a:solidFill>
                <a:schemeClr val="tx1"/>
              </a:solidFill>
              <a:miter lim="800000"/>
              <a:headEnd/>
              <a:tailEnd/>
            </a:ln>
          </p:spPr>
          <p:txBody>
            <a:bodyPr wrap="none" anchor="ctr"/>
            <a:lstStyle/>
            <a:p>
              <a:endParaRPr lang="fr-FR" dirty="0"/>
            </a:p>
          </p:txBody>
        </p:sp>
        <p:sp>
          <p:nvSpPr>
            <p:cNvPr id="73" name="Oval 9"/>
            <p:cNvSpPr>
              <a:spLocks noChangeArrowheads="1"/>
            </p:cNvSpPr>
            <p:nvPr/>
          </p:nvSpPr>
          <p:spPr bwMode="auto">
            <a:xfrm>
              <a:off x="2784" y="2448"/>
              <a:ext cx="240" cy="288"/>
            </a:xfrm>
            <a:prstGeom prst="ellipse">
              <a:avLst/>
            </a:prstGeom>
            <a:solidFill>
              <a:srgbClr val="00B8FF"/>
            </a:solidFill>
            <a:ln w="9525">
              <a:solidFill>
                <a:schemeClr val="tx1"/>
              </a:solidFill>
              <a:round/>
              <a:headEnd/>
              <a:tailEnd/>
            </a:ln>
          </p:spPr>
          <p:txBody>
            <a:bodyPr wrap="none" anchor="ctr"/>
            <a:lstStyle/>
            <a:p>
              <a:endParaRPr lang="fr-FR" dirty="0"/>
            </a:p>
          </p:txBody>
        </p:sp>
        <p:grpSp>
          <p:nvGrpSpPr>
            <p:cNvPr id="74" name="Group 10"/>
            <p:cNvGrpSpPr>
              <a:grpSpLocks/>
            </p:cNvGrpSpPr>
            <p:nvPr/>
          </p:nvGrpSpPr>
          <p:grpSpPr bwMode="auto">
            <a:xfrm>
              <a:off x="2832" y="3024"/>
              <a:ext cx="144" cy="240"/>
              <a:chOff x="3312" y="3072"/>
              <a:chExt cx="144" cy="240"/>
            </a:xfrm>
          </p:grpSpPr>
          <p:sp>
            <p:nvSpPr>
              <p:cNvPr id="75" name="Rectangle 11"/>
              <p:cNvSpPr>
                <a:spLocks noChangeArrowheads="1"/>
              </p:cNvSpPr>
              <p:nvPr/>
            </p:nvSpPr>
            <p:spPr bwMode="auto">
              <a:xfrm rot="1704760">
                <a:off x="3312" y="3072"/>
                <a:ext cx="48" cy="240"/>
              </a:xfrm>
              <a:prstGeom prst="rect">
                <a:avLst/>
              </a:prstGeom>
              <a:solidFill>
                <a:srgbClr val="00B8FF"/>
              </a:solidFill>
              <a:ln w="9525">
                <a:solidFill>
                  <a:schemeClr val="tx1"/>
                </a:solidFill>
                <a:miter lim="800000"/>
                <a:headEnd/>
                <a:tailEnd/>
              </a:ln>
            </p:spPr>
            <p:txBody>
              <a:bodyPr wrap="none" anchor="ctr"/>
              <a:lstStyle/>
              <a:p>
                <a:endParaRPr lang="fr-FR" dirty="0"/>
              </a:p>
            </p:txBody>
          </p:sp>
          <p:sp>
            <p:nvSpPr>
              <p:cNvPr id="76" name="Rectangle 12"/>
              <p:cNvSpPr>
                <a:spLocks noChangeArrowheads="1"/>
              </p:cNvSpPr>
              <p:nvPr/>
            </p:nvSpPr>
            <p:spPr bwMode="auto">
              <a:xfrm rot="19895240" flipH="1">
                <a:off x="3408" y="3072"/>
                <a:ext cx="48" cy="240"/>
              </a:xfrm>
              <a:prstGeom prst="rect">
                <a:avLst/>
              </a:prstGeom>
              <a:solidFill>
                <a:srgbClr val="00B8FF"/>
              </a:solidFill>
              <a:ln w="9525">
                <a:solidFill>
                  <a:schemeClr val="tx1"/>
                </a:solidFill>
                <a:miter lim="800000"/>
                <a:headEnd/>
                <a:tailEnd/>
              </a:ln>
            </p:spPr>
            <p:txBody>
              <a:bodyPr wrap="none" anchor="ctr"/>
              <a:lstStyle/>
              <a:p>
                <a:endParaRPr lang="fr-FR" dirty="0"/>
              </a:p>
            </p:txBody>
          </p:sp>
        </p:grpSp>
      </p:grpSp>
      <p:grpSp>
        <p:nvGrpSpPr>
          <p:cNvPr id="79" name="Group 13"/>
          <p:cNvGrpSpPr>
            <a:grpSpLocks/>
          </p:cNvGrpSpPr>
          <p:nvPr/>
        </p:nvGrpSpPr>
        <p:grpSpPr bwMode="auto">
          <a:xfrm>
            <a:off x="4991868" y="4184651"/>
            <a:ext cx="381000" cy="1295400"/>
            <a:chOff x="2784" y="2448"/>
            <a:chExt cx="240" cy="816"/>
          </a:xfrm>
        </p:grpSpPr>
        <p:grpSp>
          <p:nvGrpSpPr>
            <p:cNvPr id="80" name="Group 14"/>
            <p:cNvGrpSpPr>
              <a:grpSpLocks/>
            </p:cNvGrpSpPr>
            <p:nvPr/>
          </p:nvGrpSpPr>
          <p:grpSpPr bwMode="auto">
            <a:xfrm>
              <a:off x="2832" y="2784"/>
              <a:ext cx="144" cy="240"/>
              <a:chOff x="3312" y="3072"/>
              <a:chExt cx="144" cy="240"/>
            </a:xfrm>
          </p:grpSpPr>
          <p:sp>
            <p:nvSpPr>
              <p:cNvPr id="86" name="Rectangle 15"/>
              <p:cNvSpPr>
                <a:spLocks noChangeArrowheads="1"/>
              </p:cNvSpPr>
              <p:nvPr/>
            </p:nvSpPr>
            <p:spPr bwMode="auto">
              <a:xfrm rot="1704760">
                <a:off x="3312" y="3072"/>
                <a:ext cx="48" cy="240"/>
              </a:xfrm>
              <a:prstGeom prst="rect">
                <a:avLst/>
              </a:prstGeom>
              <a:solidFill>
                <a:srgbClr val="00B8FF"/>
              </a:solidFill>
              <a:ln w="9525">
                <a:solidFill>
                  <a:schemeClr val="tx1"/>
                </a:solidFill>
                <a:miter lim="800000"/>
                <a:headEnd/>
                <a:tailEnd/>
              </a:ln>
            </p:spPr>
            <p:txBody>
              <a:bodyPr wrap="none" anchor="ctr"/>
              <a:lstStyle/>
              <a:p>
                <a:endParaRPr lang="fr-FR" dirty="0"/>
              </a:p>
            </p:txBody>
          </p:sp>
          <p:sp>
            <p:nvSpPr>
              <p:cNvPr id="87" name="Rectangle 16"/>
              <p:cNvSpPr>
                <a:spLocks noChangeArrowheads="1"/>
              </p:cNvSpPr>
              <p:nvPr/>
            </p:nvSpPr>
            <p:spPr bwMode="auto">
              <a:xfrm rot="19895240" flipH="1">
                <a:off x="3408" y="3072"/>
                <a:ext cx="48" cy="240"/>
              </a:xfrm>
              <a:prstGeom prst="rect">
                <a:avLst/>
              </a:prstGeom>
              <a:solidFill>
                <a:srgbClr val="00B8FF"/>
              </a:solidFill>
              <a:ln w="9525">
                <a:solidFill>
                  <a:schemeClr val="tx1"/>
                </a:solidFill>
                <a:miter lim="800000"/>
                <a:headEnd/>
                <a:tailEnd/>
              </a:ln>
            </p:spPr>
            <p:txBody>
              <a:bodyPr wrap="none" anchor="ctr"/>
              <a:lstStyle/>
              <a:p>
                <a:endParaRPr lang="fr-FR" dirty="0"/>
              </a:p>
            </p:txBody>
          </p:sp>
        </p:grpSp>
        <p:sp>
          <p:nvSpPr>
            <p:cNvPr id="81" name="Rectangle 17"/>
            <p:cNvSpPr>
              <a:spLocks noChangeArrowheads="1"/>
            </p:cNvSpPr>
            <p:nvPr/>
          </p:nvSpPr>
          <p:spPr bwMode="auto">
            <a:xfrm>
              <a:off x="2880" y="2688"/>
              <a:ext cx="48" cy="384"/>
            </a:xfrm>
            <a:prstGeom prst="rect">
              <a:avLst/>
            </a:prstGeom>
            <a:solidFill>
              <a:srgbClr val="00B8FF"/>
            </a:solidFill>
            <a:ln w="9525">
              <a:solidFill>
                <a:schemeClr val="tx1"/>
              </a:solidFill>
              <a:miter lim="800000"/>
              <a:headEnd/>
              <a:tailEnd/>
            </a:ln>
          </p:spPr>
          <p:txBody>
            <a:bodyPr wrap="none" anchor="ctr"/>
            <a:lstStyle/>
            <a:p>
              <a:endParaRPr lang="fr-FR" dirty="0"/>
            </a:p>
          </p:txBody>
        </p:sp>
        <p:sp>
          <p:nvSpPr>
            <p:cNvPr id="82" name="Oval 18"/>
            <p:cNvSpPr>
              <a:spLocks noChangeArrowheads="1"/>
            </p:cNvSpPr>
            <p:nvPr/>
          </p:nvSpPr>
          <p:spPr bwMode="auto">
            <a:xfrm>
              <a:off x="2784" y="2448"/>
              <a:ext cx="240" cy="288"/>
            </a:xfrm>
            <a:prstGeom prst="ellipse">
              <a:avLst/>
            </a:prstGeom>
            <a:solidFill>
              <a:srgbClr val="00B8FF"/>
            </a:solidFill>
            <a:ln w="9525">
              <a:solidFill>
                <a:schemeClr val="tx1"/>
              </a:solidFill>
              <a:round/>
              <a:headEnd/>
              <a:tailEnd/>
            </a:ln>
          </p:spPr>
          <p:txBody>
            <a:bodyPr wrap="none" anchor="ctr"/>
            <a:lstStyle/>
            <a:p>
              <a:endParaRPr lang="fr-FR" dirty="0"/>
            </a:p>
          </p:txBody>
        </p:sp>
        <p:grpSp>
          <p:nvGrpSpPr>
            <p:cNvPr id="83" name="Group 19"/>
            <p:cNvGrpSpPr>
              <a:grpSpLocks/>
            </p:cNvGrpSpPr>
            <p:nvPr/>
          </p:nvGrpSpPr>
          <p:grpSpPr bwMode="auto">
            <a:xfrm>
              <a:off x="2832" y="3024"/>
              <a:ext cx="144" cy="240"/>
              <a:chOff x="3312" y="3072"/>
              <a:chExt cx="144" cy="240"/>
            </a:xfrm>
          </p:grpSpPr>
          <p:sp>
            <p:nvSpPr>
              <p:cNvPr id="84" name="Rectangle 20"/>
              <p:cNvSpPr>
                <a:spLocks noChangeArrowheads="1"/>
              </p:cNvSpPr>
              <p:nvPr/>
            </p:nvSpPr>
            <p:spPr bwMode="auto">
              <a:xfrm rot="1704760">
                <a:off x="3312" y="3072"/>
                <a:ext cx="48" cy="240"/>
              </a:xfrm>
              <a:prstGeom prst="rect">
                <a:avLst/>
              </a:prstGeom>
              <a:solidFill>
                <a:srgbClr val="00B8FF"/>
              </a:solidFill>
              <a:ln w="9525">
                <a:solidFill>
                  <a:schemeClr val="tx1"/>
                </a:solidFill>
                <a:miter lim="800000"/>
                <a:headEnd/>
                <a:tailEnd/>
              </a:ln>
            </p:spPr>
            <p:txBody>
              <a:bodyPr wrap="none" anchor="ctr"/>
              <a:lstStyle/>
              <a:p>
                <a:endParaRPr lang="fr-FR" dirty="0"/>
              </a:p>
            </p:txBody>
          </p:sp>
          <p:sp>
            <p:nvSpPr>
              <p:cNvPr id="85" name="Rectangle 21"/>
              <p:cNvSpPr>
                <a:spLocks noChangeArrowheads="1"/>
              </p:cNvSpPr>
              <p:nvPr/>
            </p:nvSpPr>
            <p:spPr bwMode="auto">
              <a:xfrm rot="19895240" flipH="1">
                <a:off x="3408" y="3072"/>
                <a:ext cx="48" cy="240"/>
              </a:xfrm>
              <a:prstGeom prst="rect">
                <a:avLst/>
              </a:prstGeom>
              <a:solidFill>
                <a:srgbClr val="00B8FF"/>
              </a:solidFill>
              <a:ln w="9525">
                <a:solidFill>
                  <a:schemeClr val="tx1"/>
                </a:solidFill>
                <a:miter lim="800000"/>
                <a:headEnd/>
                <a:tailEnd/>
              </a:ln>
            </p:spPr>
            <p:txBody>
              <a:bodyPr wrap="none" anchor="ctr"/>
              <a:lstStyle/>
              <a:p>
                <a:endParaRPr lang="fr-FR" dirty="0"/>
              </a:p>
            </p:txBody>
          </p:sp>
        </p:grpSp>
      </p:grpSp>
      <p:grpSp>
        <p:nvGrpSpPr>
          <p:cNvPr id="88" name="Group 22"/>
          <p:cNvGrpSpPr>
            <a:grpSpLocks/>
          </p:cNvGrpSpPr>
          <p:nvPr/>
        </p:nvGrpSpPr>
        <p:grpSpPr bwMode="auto">
          <a:xfrm>
            <a:off x="5652268" y="4184651"/>
            <a:ext cx="381000" cy="1295400"/>
            <a:chOff x="2784" y="2448"/>
            <a:chExt cx="240" cy="816"/>
          </a:xfrm>
        </p:grpSpPr>
        <p:grpSp>
          <p:nvGrpSpPr>
            <p:cNvPr id="89" name="Group 23"/>
            <p:cNvGrpSpPr>
              <a:grpSpLocks/>
            </p:cNvGrpSpPr>
            <p:nvPr/>
          </p:nvGrpSpPr>
          <p:grpSpPr bwMode="auto">
            <a:xfrm>
              <a:off x="2832" y="2784"/>
              <a:ext cx="144" cy="240"/>
              <a:chOff x="3312" y="3072"/>
              <a:chExt cx="144" cy="240"/>
            </a:xfrm>
          </p:grpSpPr>
          <p:sp>
            <p:nvSpPr>
              <p:cNvPr id="95" name="Rectangle 24"/>
              <p:cNvSpPr>
                <a:spLocks noChangeArrowheads="1"/>
              </p:cNvSpPr>
              <p:nvPr/>
            </p:nvSpPr>
            <p:spPr bwMode="auto">
              <a:xfrm rot="1704760">
                <a:off x="3312" y="3072"/>
                <a:ext cx="48" cy="240"/>
              </a:xfrm>
              <a:prstGeom prst="rect">
                <a:avLst/>
              </a:prstGeom>
              <a:solidFill>
                <a:srgbClr val="00B8FF"/>
              </a:solidFill>
              <a:ln w="9525">
                <a:solidFill>
                  <a:schemeClr val="tx1"/>
                </a:solidFill>
                <a:miter lim="800000"/>
                <a:headEnd/>
                <a:tailEnd/>
              </a:ln>
            </p:spPr>
            <p:txBody>
              <a:bodyPr wrap="none" anchor="ctr"/>
              <a:lstStyle/>
              <a:p>
                <a:endParaRPr lang="fr-FR" dirty="0"/>
              </a:p>
            </p:txBody>
          </p:sp>
          <p:sp>
            <p:nvSpPr>
              <p:cNvPr id="96" name="Rectangle 25"/>
              <p:cNvSpPr>
                <a:spLocks noChangeArrowheads="1"/>
              </p:cNvSpPr>
              <p:nvPr/>
            </p:nvSpPr>
            <p:spPr bwMode="auto">
              <a:xfrm rot="19895240" flipH="1">
                <a:off x="3408" y="3072"/>
                <a:ext cx="48" cy="240"/>
              </a:xfrm>
              <a:prstGeom prst="rect">
                <a:avLst/>
              </a:prstGeom>
              <a:solidFill>
                <a:srgbClr val="00B8FF"/>
              </a:solidFill>
              <a:ln w="9525">
                <a:solidFill>
                  <a:schemeClr val="tx1"/>
                </a:solidFill>
                <a:miter lim="800000"/>
                <a:headEnd/>
                <a:tailEnd/>
              </a:ln>
            </p:spPr>
            <p:txBody>
              <a:bodyPr wrap="none" anchor="ctr"/>
              <a:lstStyle/>
              <a:p>
                <a:endParaRPr lang="fr-FR" dirty="0"/>
              </a:p>
            </p:txBody>
          </p:sp>
        </p:grpSp>
        <p:sp>
          <p:nvSpPr>
            <p:cNvPr id="90" name="Rectangle 26"/>
            <p:cNvSpPr>
              <a:spLocks noChangeArrowheads="1"/>
            </p:cNvSpPr>
            <p:nvPr/>
          </p:nvSpPr>
          <p:spPr bwMode="auto">
            <a:xfrm>
              <a:off x="2880" y="2688"/>
              <a:ext cx="48" cy="384"/>
            </a:xfrm>
            <a:prstGeom prst="rect">
              <a:avLst/>
            </a:prstGeom>
            <a:solidFill>
              <a:srgbClr val="00B8FF"/>
            </a:solidFill>
            <a:ln w="9525">
              <a:solidFill>
                <a:schemeClr val="tx1"/>
              </a:solidFill>
              <a:miter lim="800000"/>
              <a:headEnd/>
              <a:tailEnd/>
            </a:ln>
          </p:spPr>
          <p:txBody>
            <a:bodyPr wrap="none" anchor="ctr"/>
            <a:lstStyle/>
            <a:p>
              <a:endParaRPr lang="fr-FR" dirty="0"/>
            </a:p>
          </p:txBody>
        </p:sp>
        <p:sp>
          <p:nvSpPr>
            <p:cNvPr id="91" name="Oval 27"/>
            <p:cNvSpPr>
              <a:spLocks noChangeArrowheads="1"/>
            </p:cNvSpPr>
            <p:nvPr/>
          </p:nvSpPr>
          <p:spPr bwMode="auto">
            <a:xfrm>
              <a:off x="2784" y="2448"/>
              <a:ext cx="240" cy="288"/>
            </a:xfrm>
            <a:prstGeom prst="ellipse">
              <a:avLst/>
            </a:prstGeom>
            <a:solidFill>
              <a:srgbClr val="00B8FF"/>
            </a:solidFill>
            <a:ln w="9525">
              <a:solidFill>
                <a:schemeClr val="tx1"/>
              </a:solidFill>
              <a:round/>
              <a:headEnd/>
              <a:tailEnd/>
            </a:ln>
          </p:spPr>
          <p:txBody>
            <a:bodyPr wrap="none" anchor="ctr"/>
            <a:lstStyle/>
            <a:p>
              <a:endParaRPr lang="fr-FR" dirty="0"/>
            </a:p>
          </p:txBody>
        </p:sp>
        <p:grpSp>
          <p:nvGrpSpPr>
            <p:cNvPr id="92" name="Group 28"/>
            <p:cNvGrpSpPr>
              <a:grpSpLocks/>
            </p:cNvGrpSpPr>
            <p:nvPr/>
          </p:nvGrpSpPr>
          <p:grpSpPr bwMode="auto">
            <a:xfrm>
              <a:off x="2832" y="3024"/>
              <a:ext cx="144" cy="240"/>
              <a:chOff x="3312" y="3072"/>
              <a:chExt cx="144" cy="240"/>
            </a:xfrm>
          </p:grpSpPr>
          <p:sp>
            <p:nvSpPr>
              <p:cNvPr id="93" name="Rectangle 29"/>
              <p:cNvSpPr>
                <a:spLocks noChangeArrowheads="1"/>
              </p:cNvSpPr>
              <p:nvPr/>
            </p:nvSpPr>
            <p:spPr bwMode="auto">
              <a:xfrm rot="1704760">
                <a:off x="3312" y="3072"/>
                <a:ext cx="48" cy="240"/>
              </a:xfrm>
              <a:prstGeom prst="rect">
                <a:avLst/>
              </a:prstGeom>
              <a:solidFill>
                <a:srgbClr val="00B8FF"/>
              </a:solidFill>
              <a:ln w="9525">
                <a:solidFill>
                  <a:schemeClr val="tx1"/>
                </a:solidFill>
                <a:miter lim="800000"/>
                <a:headEnd/>
                <a:tailEnd/>
              </a:ln>
            </p:spPr>
            <p:txBody>
              <a:bodyPr wrap="none" anchor="ctr"/>
              <a:lstStyle/>
              <a:p>
                <a:endParaRPr lang="fr-FR" dirty="0"/>
              </a:p>
            </p:txBody>
          </p:sp>
          <p:sp>
            <p:nvSpPr>
              <p:cNvPr id="94" name="Rectangle 30"/>
              <p:cNvSpPr>
                <a:spLocks noChangeArrowheads="1"/>
              </p:cNvSpPr>
              <p:nvPr/>
            </p:nvSpPr>
            <p:spPr bwMode="auto">
              <a:xfrm rot="19895240" flipH="1">
                <a:off x="3408" y="3072"/>
                <a:ext cx="48" cy="240"/>
              </a:xfrm>
              <a:prstGeom prst="rect">
                <a:avLst/>
              </a:prstGeom>
              <a:solidFill>
                <a:srgbClr val="00B8FF"/>
              </a:solidFill>
              <a:ln w="9525">
                <a:solidFill>
                  <a:schemeClr val="tx1"/>
                </a:solidFill>
                <a:miter lim="800000"/>
                <a:headEnd/>
                <a:tailEnd/>
              </a:ln>
            </p:spPr>
            <p:txBody>
              <a:bodyPr wrap="none" anchor="ctr"/>
              <a:lstStyle/>
              <a:p>
                <a:endParaRPr lang="fr-FR" dirty="0"/>
              </a:p>
            </p:txBody>
          </p:sp>
        </p:grpSp>
      </p:grpSp>
      <p:grpSp>
        <p:nvGrpSpPr>
          <p:cNvPr id="97" name="Group 31"/>
          <p:cNvGrpSpPr>
            <a:grpSpLocks/>
          </p:cNvGrpSpPr>
          <p:nvPr/>
        </p:nvGrpSpPr>
        <p:grpSpPr bwMode="auto">
          <a:xfrm>
            <a:off x="6312668" y="4184651"/>
            <a:ext cx="381000" cy="1295400"/>
            <a:chOff x="2784" y="2448"/>
            <a:chExt cx="240" cy="816"/>
          </a:xfrm>
        </p:grpSpPr>
        <p:grpSp>
          <p:nvGrpSpPr>
            <p:cNvPr id="98" name="Group 32"/>
            <p:cNvGrpSpPr>
              <a:grpSpLocks/>
            </p:cNvGrpSpPr>
            <p:nvPr/>
          </p:nvGrpSpPr>
          <p:grpSpPr bwMode="auto">
            <a:xfrm>
              <a:off x="2832" y="2784"/>
              <a:ext cx="144" cy="240"/>
              <a:chOff x="3312" y="3072"/>
              <a:chExt cx="144" cy="240"/>
            </a:xfrm>
          </p:grpSpPr>
          <p:sp>
            <p:nvSpPr>
              <p:cNvPr id="104" name="Rectangle 33"/>
              <p:cNvSpPr>
                <a:spLocks noChangeArrowheads="1"/>
              </p:cNvSpPr>
              <p:nvPr/>
            </p:nvSpPr>
            <p:spPr bwMode="auto">
              <a:xfrm rot="1704760">
                <a:off x="3312" y="3072"/>
                <a:ext cx="48" cy="240"/>
              </a:xfrm>
              <a:prstGeom prst="rect">
                <a:avLst/>
              </a:prstGeom>
              <a:solidFill>
                <a:srgbClr val="00B8FF"/>
              </a:solidFill>
              <a:ln w="9525">
                <a:solidFill>
                  <a:schemeClr val="tx1"/>
                </a:solidFill>
                <a:miter lim="800000"/>
                <a:headEnd/>
                <a:tailEnd/>
              </a:ln>
            </p:spPr>
            <p:txBody>
              <a:bodyPr wrap="none" anchor="ctr"/>
              <a:lstStyle/>
              <a:p>
                <a:endParaRPr lang="fr-FR" dirty="0"/>
              </a:p>
            </p:txBody>
          </p:sp>
          <p:sp>
            <p:nvSpPr>
              <p:cNvPr id="105" name="Rectangle 34"/>
              <p:cNvSpPr>
                <a:spLocks noChangeArrowheads="1"/>
              </p:cNvSpPr>
              <p:nvPr/>
            </p:nvSpPr>
            <p:spPr bwMode="auto">
              <a:xfrm rot="19895240" flipH="1">
                <a:off x="3408" y="3072"/>
                <a:ext cx="48" cy="240"/>
              </a:xfrm>
              <a:prstGeom prst="rect">
                <a:avLst/>
              </a:prstGeom>
              <a:solidFill>
                <a:srgbClr val="00B8FF"/>
              </a:solidFill>
              <a:ln w="9525">
                <a:solidFill>
                  <a:schemeClr val="tx1"/>
                </a:solidFill>
                <a:miter lim="800000"/>
                <a:headEnd/>
                <a:tailEnd/>
              </a:ln>
            </p:spPr>
            <p:txBody>
              <a:bodyPr wrap="none" anchor="ctr"/>
              <a:lstStyle/>
              <a:p>
                <a:endParaRPr lang="fr-FR" dirty="0"/>
              </a:p>
            </p:txBody>
          </p:sp>
        </p:grpSp>
        <p:sp>
          <p:nvSpPr>
            <p:cNvPr id="99" name="Rectangle 35"/>
            <p:cNvSpPr>
              <a:spLocks noChangeArrowheads="1"/>
            </p:cNvSpPr>
            <p:nvPr/>
          </p:nvSpPr>
          <p:spPr bwMode="auto">
            <a:xfrm>
              <a:off x="2880" y="2688"/>
              <a:ext cx="48" cy="384"/>
            </a:xfrm>
            <a:prstGeom prst="rect">
              <a:avLst/>
            </a:prstGeom>
            <a:solidFill>
              <a:srgbClr val="00B8FF"/>
            </a:solidFill>
            <a:ln w="9525">
              <a:solidFill>
                <a:schemeClr val="tx1"/>
              </a:solidFill>
              <a:miter lim="800000"/>
              <a:headEnd/>
              <a:tailEnd/>
            </a:ln>
          </p:spPr>
          <p:txBody>
            <a:bodyPr wrap="none" anchor="ctr"/>
            <a:lstStyle/>
            <a:p>
              <a:endParaRPr lang="fr-FR" dirty="0"/>
            </a:p>
          </p:txBody>
        </p:sp>
        <p:sp>
          <p:nvSpPr>
            <p:cNvPr id="100" name="Oval 36"/>
            <p:cNvSpPr>
              <a:spLocks noChangeArrowheads="1"/>
            </p:cNvSpPr>
            <p:nvPr/>
          </p:nvSpPr>
          <p:spPr bwMode="auto">
            <a:xfrm>
              <a:off x="2784" y="2448"/>
              <a:ext cx="240" cy="288"/>
            </a:xfrm>
            <a:prstGeom prst="ellipse">
              <a:avLst/>
            </a:prstGeom>
            <a:solidFill>
              <a:srgbClr val="00B8FF"/>
            </a:solidFill>
            <a:ln w="9525">
              <a:solidFill>
                <a:schemeClr val="tx1"/>
              </a:solidFill>
              <a:round/>
              <a:headEnd/>
              <a:tailEnd/>
            </a:ln>
          </p:spPr>
          <p:txBody>
            <a:bodyPr wrap="none" anchor="ctr"/>
            <a:lstStyle/>
            <a:p>
              <a:endParaRPr lang="fr-FR" dirty="0"/>
            </a:p>
          </p:txBody>
        </p:sp>
        <p:grpSp>
          <p:nvGrpSpPr>
            <p:cNvPr id="101" name="Group 37"/>
            <p:cNvGrpSpPr>
              <a:grpSpLocks/>
            </p:cNvGrpSpPr>
            <p:nvPr/>
          </p:nvGrpSpPr>
          <p:grpSpPr bwMode="auto">
            <a:xfrm>
              <a:off x="2832" y="3024"/>
              <a:ext cx="144" cy="240"/>
              <a:chOff x="3312" y="3072"/>
              <a:chExt cx="144" cy="240"/>
            </a:xfrm>
          </p:grpSpPr>
          <p:sp>
            <p:nvSpPr>
              <p:cNvPr id="102" name="Rectangle 38"/>
              <p:cNvSpPr>
                <a:spLocks noChangeArrowheads="1"/>
              </p:cNvSpPr>
              <p:nvPr/>
            </p:nvSpPr>
            <p:spPr bwMode="auto">
              <a:xfrm rot="1704760">
                <a:off x="3312" y="3072"/>
                <a:ext cx="48" cy="240"/>
              </a:xfrm>
              <a:prstGeom prst="rect">
                <a:avLst/>
              </a:prstGeom>
              <a:solidFill>
                <a:srgbClr val="00B8FF"/>
              </a:solidFill>
              <a:ln w="9525">
                <a:solidFill>
                  <a:schemeClr val="tx1"/>
                </a:solidFill>
                <a:miter lim="800000"/>
                <a:headEnd/>
                <a:tailEnd/>
              </a:ln>
            </p:spPr>
            <p:txBody>
              <a:bodyPr wrap="none" anchor="ctr"/>
              <a:lstStyle/>
              <a:p>
                <a:endParaRPr lang="fr-FR" dirty="0"/>
              </a:p>
            </p:txBody>
          </p:sp>
          <p:sp>
            <p:nvSpPr>
              <p:cNvPr id="103" name="Rectangle 39"/>
              <p:cNvSpPr>
                <a:spLocks noChangeArrowheads="1"/>
              </p:cNvSpPr>
              <p:nvPr/>
            </p:nvSpPr>
            <p:spPr bwMode="auto">
              <a:xfrm rot="19895240" flipH="1">
                <a:off x="3408" y="3072"/>
                <a:ext cx="48" cy="240"/>
              </a:xfrm>
              <a:prstGeom prst="rect">
                <a:avLst/>
              </a:prstGeom>
              <a:solidFill>
                <a:srgbClr val="00B8FF"/>
              </a:solidFill>
              <a:ln w="9525">
                <a:solidFill>
                  <a:schemeClr val="tx1"/>
                </a:solidFill>
                <a:miter lim="800000"/>
                <a:headEnd/>
                <a:tailEnd/>
              </a:ln>
            </p:spPr>
            <p:txBody>
              <a:bodyPr wrap="none" anchor="ctr"/>
              <a:lstStyle/>
              <a:p>
                <a:endParaRPr lang="fr-FR" dirty="0"/>
              </a:p>
            </p:txBody>
          </p:sp>
        </p:grpSp>
      </p:grpSp>
      <p:grpSp>
        <p:nvGrpSpPr>
          <p:cNvPr id="106" name="Group 40"/>
          <p:cNvGrpSpPr>
            <a:grpSpLocks/>
          </p:cNvGrpSpPr>
          <p:nvPr/>
        </p:nvGrpSpPr>
        <p:grpSpPr bwMode="auto">
          <a:xfrm>
            <a:off x="9487668" y="3879851"/>
            <a:ext cx="457200" cy="1295400"/>
            <a:chOff x="5136" y="2304"/>
            <a:chExt cx="288" cy="816"/>
          </a:xfrm>
        </p:grpSpPr>
        <p:grpSp>
          <p:nvGrpSpPr>
            <p:cNvPr id="107" name="Group 41"/>
            <p:cNvGrpSpPr>
              <a:grpSpLocks/>
            </p:cNvGrpSpPr>
            <p:nvPr/>
          </p:nvGrpSpPr>
          <p:grpSpPr bwMode="auto">
            <a:xfrm>
              <a:off x="5160" y="2304"/>
              <a:ext cx="240" cy="816"/>
              <a:chOff x="2784" y="2448"/>
              <a:chExt cx="240" cy="816"/>
            </a:xfrm>
          </p:grpSpPr>
          <p:grpSp>
            <p:nvGrpSpPr>
              <p:cNvPr id="109" name="Group 42"/>
              <p:cNvGrpSpPr>
                <a:grpSpLocks/>
              </p:cNvGrpSpPr>
              <p:nvPr/>
            </p:nvGrpSpPr>
            <p:grpSpPr bwMode="auto">
              <a:xfrm>
                <a:off x="2832" y="2784"/>
                <a:ext cx="144" cy="240"/>
                <a:chOff x="3312" y="3072"/>
                <a:chExt cx="144" cy="240"/>
              </a:xfrm>
            </p:grpSpPr>
            <p:sp>
              <p:nvSpPr>
                <p:cNvPr id="115" name="Rectangle 43"/>
                <p:cNvSpPr>
                  <a:spLocks noChangeArrowheads="1"/>
                </p:cNvSpPr>
                <p:nvPr/>
              </p:nvSpPr>
              <p:spPr bwMode="auto">
                <a:xfrm rot="1704760">
                  <a:off x="3312" y="3072"/>
                  <a:ext cx="48" cy="240"/>
                </a:xfrm>
                <a:prstGeom prst="rect">
                  <a:avLst/>
                </a:prstGeom>
                <a:solidFill>
                  <a:schemeClr val="accent1"/>
                </a:solidFill>
                <a:ln w="9525">
                  <a:solidFill>
                    <a:schemeClr val="tx1"/>
                  </a:solidFill>
                  <a:miter lim="800000"/>
                  <a:headEnd/>
                  <a:tailEnd/>
                </a:ln>
              </p:spPr>
              <p:txBody>
                <a:bodyPr wrap="none" anchor="ctr"/>
                <a:lstStyle/>
                <a:p>
                  <a:endParaRPr lang="fr-FR" dirty="0"/>
                </a:p>
              </p:txBody>
            </p:sp>
            <p:sp>
              <p:nvSpPr>
                <p:cNvPr id="116" name="Rectangle 44"/>
                <p:cNvSpPr>
                  <a:spLocks noChangeArrowheads="1"/>
                </p:cNvSpPr>
                <p:nvPr/>
              </p:nvSpPr>
              <p:spPr bwMode="auto">
                <a:xfrm rot="19895240" flipH="1">
                  <a:off x="3408" y="3072"/>
                  <a:ext cx="48" cy="240"/>
                </a:xfrm>
                <a:prstGeom prst="rect">
                  <a:avLst/>
                </a:prstGeom>
                <a:solidFill>
                  <a:schemeClr val="accent1"/>
                </a:solidFill>
                <a:ln w="9525">
                  <a:solidFill>
                    <a:schemeClr val="tx1"/>
                  </a:solidFill>
                  <a:miter lim="800000"/>
                  <a:headEnd/>
                  <a:tailEnd/>
                </a:ln>
              </p:spPr>
              <p:txBody>
                <a:bodyPr wrap="none" anchor="ctr"/>
                <a:lstStyle/>
                <a:p>
                  <a:endParaRPr lang="fr-FR" dirty="0"/>
                </a:p>
              </p:txBody>
            </p:sp>
          </p:grpSp>
          <p:sp>
            <p:nvSpPr>
              <p:cNvPr id="110" name="Rectangle 45"/>
              <p:cNvSpPr>
                <a:spLocks noChangeArrowheads="1"/>
              </p:cNvSpPr>
              <p:nvPr/>
            </p:nvSpPr>
            <p:spPr bwMode="auto">
              <a:xfrm>
                <a:off x="2880" y="2688"/>
                <a:ext cx="48" cy="384"/>
              </a:xfrm>
              <a:prstGeom prst="rect">
                <a:avLst/>
              </a:prstGeom>
              <a:solidFill>
                <a:schemeClr val="accent1"/>
              </a:solidFill>
              <a:ln w="9525">
                <a:solidFill>
                  <a:schemeClr val="tx1"/>
                </a:solidFill>
                <a:miter lim="800000"/>
                <a:headEnd/>
                <a:tailEnd/>
              </a:ln>
            </p:spPr>
            <p:txBody>
              <a:bodyPr wrap="none" anchor="ctr"/>
              <a:lstStyle/>
              <a:p>
                <a:endParaRPr lang="fr-FR" dirty="0"/>
              </a:p>
            </p:txBody>
          </p:sp>
          <p:sp>
            <p:nvSpPr>
              <p:cNvPr id="111" name="Oval 46"/>
              <p:cNvSpPr>
                <a:spLocks noChangeArrowheads="1"/>
              </p:cNvSpPr>
              <p:nvPr/>
            </p:nvSpPr>
            <p:spPr bwMode="auto">
              <a:xfrm>
                <a:off x="2784" y="2448"/>
                <a:ext cx="240" cy="288"/>
              </a:xfrm>
              <a:prstGeom prst="ellipse">
                <a:avLst/>
              </a:prstGeom>
              <a:solidFill>
                <a:schemeClr val="accent1"/>
              </a:solidFill>
              <a:ln w="9525">
                <a:solidFill>
                  <a:schemeClr val="tx1"/>
                </a:solidFill>
                <a:round/>
                <a:headEnd/>
                <a:tailEnd/>
              </a:ln>
            </p:spPr>
            <p:txBody>
              <a:bodyPr wrap="none" anchor="ctr"/>
              <a:lstStyle/>
              <a:p>
                <a:endParaRPr lang="fr-FR" dirty="0"/>
              </a:p>
            </p:txBody>
          </p:sp>
          <p:grpSp>
            <p:nvGrpSpPr>
              <p:cNvPr id="112" name="Group 47"/>
              <p:cNvGrpSpPr>
                <a:grpSpLocks/>
              </p:cNvGrpSpPr>
              <p:nvPr/>
            </p:nvGrpSpPr>
            <p:grpSpPr bwMode="auto">
              <a:xfrm>
                <a:off x="2832" y="3024"/>
                <a:ext cx="144" cy="240"/>
                <a:chOff x="3312" y="3072"/>
                <a:chExt cx="144" cy="240"/>
              </a:xfrm>
            </p:grpSpPr>
            <p:sp>
              <p:nvSpPr>
                <p:cNvPr id="113" name="Rectangle 48"/>
                <p:cNvSpPr>
                  <a:spLocks noChangeArrowheads="1"/>
                </p:cNvSpPr>
                <p:nvPr/>
              </p:nvSpPr>
              <p:spPr bwMode="auto">
                <a:xfrm rot="1704760">
                  <a:off x="3312" y="3072"/>
                  <a:ext cx="48" cy="240"/>
                </a:xfrm>
                <a:prstGeom prst="rect">
                  <a:avLst/>
                </a:prstGeom>
                <a:solidFill>
                  <a:schemeClr val="accent1"/>
                </a:solidFill>
                <a:ln w="9525">
                  <a:solidFill>
                    <a:schemeClr val="tx1"/>
                  </a:solidFill>
                  <a:miter lim="800000"/>
                  <a:headEnd/>
                  <a:tailEnd/>
                </a:ln>
              </p:spPr>
              <p:txBody>
                <a:bodyPr wrap="none" anchor="ctr"/>
                <a:lstStyle/>
                <a:p>
                  <a:endParaRPr lang="fr-FR" dirty="0"/>
                </a:p>
              </p:txBody>
            </p:sp>
            <p:sp>
              <p:nvSpPr>
                <p:cNvPr id="114" name="Rectangle 49"/>
                <p:cNvSpPr>
                  <a:spLocks noChangeArrowheads="1"/>
                </p:cNvSpPr>
                <p:nvPr/>
              </p:nvSpPr>
              <p:spPr bwMode="auto">
                <a:xfrm rot="19895240" flipH="1">
                  <a:off x="3408" y="3072"/>
                  <a:ext cx="48" cy="240"/>
                </a:xfrm>
                <a:prstGeom prst="rect">
                  <a:avLst/>
                </a:prstGeom>
                <a:solidFill>
                  <a:schemeClr val="accent1"/>
                </a:solidFill>
                <a:ln w="9525">
                  <a:solidFill>
                    <a:schemeClr val="tx1"/>
                  </a:solidFill>
                  <a:miter lim="800000"/>
                  <a:headEnd/>
                  <a:tailEnd/>
                </a:ln>
              </p:spPr>
              <p:txBody>
                <a:bodyPr wrap="none" anchor="ctr"/>
                <a:lstStyle/>
                <a:p>
                  <a:endParaRPr lang="fr-FR" dirty="0"/>
                </a:p>
              </p:txBody>
            </p:sp>
          </p:grpSp>
        </p:grpSp>
        <p:sp>
          <p:nvSpPr>
            <p:cNvPr id="108" name="Rectangle 50"/>
            <p:cNvSpPr>
              <a:spLocks noChangeArrowheads="1"/>
            </p:cNvSpPr>
            <p:nvPr/>
          </p:nvSpPr>
          <p:spPr bwMode="auto">
            <a:xfrm>
              <a:off x="5136" y="2304"/>
              <a:ext cx="288" cy="288"/>
            </a:xfrm>
            <a:prstGeom prst="rect">
              <a:avLst/>
            </a:prstGeom>
            <a:noFill/>
            <a:ln w="9525">
              <a:noFill/>
              <a:miter lim="800000"/>
              <a:headEnd/>
              <a:tailEnd/>
            </a:ln>
          </p:spPr>
          <p:txBody>
            <a:bodyPr lIns="90360" tIns="44280" rIns="90360" bIns="44280"/>
            <a:lstStyle/>
            <a:p>
              <a:pPr defTabSz="457200">
                <a:lnSpc>
                  <a:spcPct val="95000"/>
                </a:lnSpc>
                <a:spcBef>
                  <a:spcPts val="700"/>
                </a:spcBef>
                <a:buClr>
                  <a:srgbClr val="00CECE"/>
                </a:buClr>
                <a:buSzPct val="75000"/>
                <a:tabLst>
                  <a:tab pos="569913" algn="l"/>
                  <a:tab pos="1484313" algn="l"/>
                  <a:tab pos="2398713" algn="l"/>
                  <a:tab pos="3313113" algn="l"/>
                  <a:tab pos="4227513" algn="l"/>
                  <a:tab pos="5141913" algn="l"/>
                  <a:tab pos="6056313" algn="l"/>
                  <a:tab pos="6970713" algn="l"/>
                  <a:tab pos="7885113" algn="l"/>
                  <a:tab pos="8799513" algn="l"/>
                  <a:tab pos="9713913" algn="l"/>
                </a:tabLst>
              </a:pPr>
              <a:r>
                <a:rPr lang="en-GB" sz="1200" b="1" i="1" dirty="0"/>
                <a:t>$</a:t>
              </a:r>
              <a:r>
                <a:rPr lang="en-GB" sz="1200" b="1" i="1" dirty="0">
                  <a:solidFill>
                    <a:srgbClr val="00FF00"/>
                  </a:solidFill>
                </a:rPr>
                <a:t> </a:t>
              </a:r>
              <a:r>
                <a:rPr lang="en-GB" sz="1200" b="1" i="1" dirty="0"/>
                <a:t> $ </a:t>
              </a:r>
            </a:p>
          </p:txBody>
        </p:sp>
      </p:grpSp>
      <p:grpSp>
        <p:nvGrpSpPr>
          <p:cNvPr id="117" name="Group 51"/>
          <p:cNvGrpSpPr>
            <a:grpSpLocks/>
          </p:cNvGrpSpPr>
          <p:nvPr/>
        </p:nvGrpSpPr>
        <p:grpSpPr bwMode="auto">
          <a:xfrm>
            <a:off x="3544068" y="4184651"/>
            <a:ext cx="381000" cy="1295400"/>
            <a:chOff x="2784" y="2448"/>
            <a:chExt cx="240" cy="816"/>
          </a:xfrm>
        </p:grpSpPr>
        <p:grpSp>
          <p:nvGrpSpPr>
            <p:cNvPr id="118" name="Group 52"/>
            <p:cNvGrpSpPr>
              <a:grpSpLocks/>
            </p:cNvGrpSpPr>
            <p:nvPr/>
          </p:nvGrpSpPr>
          <p:grpSpPr bwMode="auto">
            <a:xfrm>
              <a:off x="2832" y="2784"/>
              <a:ext cx="144" cy="240"/>
              <a:chOff x="3312" y="3072"/>
              <a:chExt cx="144" cy="240"/>
            </a:xfrm>
          </p:grpSpPr>
          <p:sp>
            <p:nvSpPr>
              <p:cNvPr id="124" name="Rectangle 53"/>
              <p:cNvSpPr>
                <a:spLocks noChangeArrowheads="1"/>
              </p:cNvSpPr>
              <p:nvPr/>
            </p:nvSpPr>
            <p:spPr bwMode="auto">
              <a:xfrm rot="1704760">
                <a:off x="3312" y="3072"/>
                <a:ext cx="48" cy="240"/>
              </a:xfrm>
              <a:prstGeom prst="rect">
                <a:avLst/>
              </a:prstGeom>
              <a:solidFill>
                <a:srgbClr val="00B8FF"/>
              </a:solidFill>
              <a:ln w="9525">
                <a:solidFill>
                  <a:schemeClr val="tx1"/>
                </a:solidFill>
                <a:miter lim="800000"/>
                <a:headEnd/>
                <a:tailEnd/>
              </a:ln>
            </p:spPr>
            <p:txBody>
              <a:bodyPr wrap="none" anchor="ctr"/>
              <a:lstStyle/>
              <a:p>
                <a:endParaRPr lang="fr-FR" dirty="0"/>
              </a:p>
            </p:txBody>
          </p:sp>
          <p:sp>
            <p:nvSpPr>
              <p:cNvPr id="125" name="Rectangle 54"/>
              <p:cNvSpPr>
                <a:spLocks noChangeArrowheads="1"/>
              </p:cNvSpPr>
              <p:nvPr/>
            </p:nvSpPr>
            <p:spPr bwMode="auto">
              <a:xfrm rot="19895240" flipH="1">
                <a:off x="3408" y="3072"/>
                <a:ext cx="48" cy="240"/>
              </a:xfrm>
              <a:prstGeom prst="rect">
                <a:avLst/>
              </a:prstGeom>
              <a:solidFill>
                <a:srgbClr val="00B8FF"/>
              </a:solidFill>
              <a:ln w="9525">
                <a:solidFill>
                  <a:schemeClr val="tx1"/>
                </a:solidFill>
                <a:miter lim="800000"/>
                <a:headEnd/>
                <a:tailEnd/>
              </a:ln>
            </p:spPr>
            <p:txBody>
              <a:bodyPr wrap="none" anchor="ctr"/>
              <a:lstStyle/>
              <a:p>
                <a:endParaRPr lang="fr-FR" dirty="0"/>
              </a:p>
            </p:txBody>
          </p:sp>
        </p:grpSp>
        <p:sp>
          <p:nvSpPr>
            <p:cNvPr id="119" name="Rectangle 55"/>
            <p:cNvSpPr>
              <a:spLocks noChangeArrowheads="1"/>
            </p:cNvSpPr>
            <p:nvPr/>
          </p:nvSpPr>
          <p:spPr bwMode="auto">
            <a:xfrm>
              <a:off x="2880" y="2688"/>
              <a:ext cx="48" cy="384"/>
            </a:xfrm>
            <a:prstGeom prst="rect">
              <a:avLst/>
            </a:prstGeom>
            <a:solidFill>
              <a:srgbClr val="00B8FF"/>
            </a:solidFill>
            <a:ln w="9525">
              <a:solidFill>
                <a:schemeClr val="tx1"/>
              </a:solidFill>
              <a:miter lim="800000"/>
              <a:headEnd/>
              <a:tailEnd/>
            </a:ln>
          </p:spPr>
          <p:txBody>
            <a:bodyPr wrap="none" anchor="ctr"/>
            <a:lstStyle/>
            <a:p>
              <a:endParaRPr lang="fr-FR" dirty="0"/>
            </a:p>
          </p:txBody>
        </p:sp>
        <p:sp>
          <p:nvSpPr>
            <p:cNvPr id="120" name="Oval 56"/>
            <p:cNvSpPr>
              <a:spLocks noChangeArrowheads="1"/>
            </p:cNvSpPr>
            <p:nvPr/>
          </p:nvSpPr>
          <p:spPr bwMode="auto">
            <a:xfrm>
              <a:off x="2784" y="2448"/>
              <a:ext cx="240" cy="288"/>
            </a:xfrm>
            <a:prstGeom prst="ellipse">
              <a:avLst/>
            </a:prstGeom>
            <a:solidFill>
              <a:srgbClr val="00B8FF"/>
            </a:solidFill>
            <a:ln w="9525">
              <a:solidFill>
                <a:schemeClr val="tx1"/>
              </a:solidFill>
              <a:round/>
              <a:headEnd/>
              <a:tailEnd/>
            </a:ln>
          </p:spPr>
          <p:txBody>
            <a:bodyPr wrap="none" anchor="ctr"/>
            <a:lstStyle/>
            <a:p>
              <a:endParaRPr lang="fr-FR" dirty="0"/>
            </a:p>
          </p:txBody>
        </p:sp>
        <p:grpSp>
          <p:nvGrpSpPr>
            <p:cNvPr id="121" name="Group 57"/>
            <p:cNvGrpSpPr>
              <a:grpSpLocks/>
            </p:cNvGrpSpPr>
            <p:nvPr/>
          </p:nvGrpSpPr>
          <p:grpSpPr bwMode="auto">
            <a:xfrm>
              <a:off x="2832" y="3024"/>
              <a:ext cx="144" cy="240"/>
              <a:chOff x="3312" y="3072"/>
              <a:chExt cx="144" cy="240"/>
            </a:xfrm>
          </p:grpSpPr>
          <p:sp>
            <p:nvSpPr>
              <p:cNvPr id="122" name="Rectangle 58"/>
              <p:cNvSpPr>
                <a:spLocks noChangeArrowheads="1"/>
              </p:cNvSpPr>
              <p:nvPr/>
            </p:nvSpPr>
            <p:spPr bwMode="auto">
              <a:xfrm rot="1704760">
                <a:off x="3312" y="3072"/>
                <a:ext cx="48" cy="240"/>
              </a:xfrm>
              <a:prstGeom prst="rect">
                <a:avLst/>
              </a:prstGeom>
              <a:solidFill>
                <a:srgbClr val="00B8FF"/>
              </a:solidFill>
              <a:ln w="9525">
                <a:solidFill>
                  <a:schemeClr val="tx1"/>
                </a:solidFill>
                <a:miter lim="800000"/>
                <a:headEnd/>
                <a:tailEnd/>
              </a:ln>
            </p:spPr>
            <p:txBody>
              <a:bodyPr wrap="none" anchor="ctr"/>
              <a:lstStyle/>
              <a:p>
                <a:endParaRPr lang="fr-FR" dirty="0"/>
              </a:p>
            </p:txBody>
          </p:sp>
          <p:sp>
            <p:nvSpPr>
              <p:cNvPr id="123" name="Rectangle 59"/>
              <p:cNvSpPr>
                <a:spLocks noChangeArrowheads="1"/>
              </p:cNvSpPr>
              <p:nvPr/>
            </p:nvSpPr>
            <p:spPr bwMode="auto">
              <a:xfrm rot="19895240" flipH="1">
                <a:off x="3408" y="3072"/>
                <a:ext cx="48" cy="240"/>
              </a:xfrm>
              <a:prstGeom prst="rect">
                <a:avLst/>
              </a:prstGeom>
              <a:solidFill>
                <a:srgbClr val="00B8FF"/>
              </a:solidFill>
              <a:ln w="9525">
                <a:solidFill>
                  <a:schemeClr val="tx1"/>
                </a:solidFill>
                <a:miter lim="800000"/>
                <a:headEnd/>
                <a:tailEnd/>
              </a:ln>
            </p:spPr>
            <p:txBody>
              <a:bodyPr wrap="none" anchor="ctr"/>
              <a:lstStyle/>
              <a:p>
                <a:endParaRPr lang="fr-FR" dirty="0"/>
              </a:p>
            </p:txBody>
          </p:sp>
        </p:grpSp>
      </p:grpSp>
      <p:sp>
        <p:nvSpPr>
          <p:cNvPr id="126" name="Line 65"/>
          <p:cNvSpPr>
            <a:spLocks noChangeShapeType="1"/>
          </p:cNvSpPr>
          <p:nvPr/>
        </p:nvSpPr>
        <p:spPr bwMode="auto">
          <a:xfrm flipH="1">
            <a:off x="8039868" y="4794251"/>
            <a:ext cx="1447800" cy="457200"/>
          </a:xfrm>
          <a:prstGeom prst="line">
            <a:avLst/>
          </a:prstGeom>
          <a:noFill/>
          <a:ln w="76200">
            <a:solidFill>
              <a:schemeClr val="tx1"/>
            </a:solidFill>
            <a:round/>
            <a:headEnd/>
            <a:tailEnd type="triangle" w="med" len="med"/>
          </a:ln>
        </p:spPr>
        <p:txBody>
          <a:bodyPr/>
          <a:lstStyle/>
          <a:p>
            <a:endParaRPr lang="en-US" dirty="0"/>
          </a:p>
        </p:txBody>
      </p:sp>
      <p:sp>
        <p:nvSpPr>
          <p:cNvPr id="127" name="AutoShape 66"/>
          <p:cNvSpPr>
            <a:spLocks noChangeArrowheads="1"/>
          </p:cNvSpPr>
          <p:nvPr/>
        </p:nvSpPr>
        <p:spPr bwMode="auto">
          <a:xfrm>
            <a:off x="2401068" y="5175251"/>
            <a:ext cx="728660" cy="352574"/>
          </a:xfrm>
          <a:prstGeom prst="roundRect">
            <a:avLst>
              <a:gd name="adj" fmla="val 306"/>
            </a:avLst>
          </a:prstGeom>
          <a:noFill/>
          <a:ln w="9525">
            <a:noFill/>
            <a:round/>
            <a:headEnd/>
            <a:tailEnd/>
          </a:ln>
        </p:spPr>
        <p:txBody>
          <a:bodyPr wrap="none" lIns="90360" tIns="44280" rIns="90360" bIns="44280">
            <a:spAutoFit/>
          </a:bodyPr>
          <a:lstStyle/>
          <a:p>
            <a:pPr>
              <a:lnSpc>
                <a:spcPct val="95000"/>
              </a:lnSpc>
              <a:buClr>
                <a:srgbClr val="E0E0E0"/>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dirty="0">
                <a:solidFill>
                  <a:schemeClr val="folHlink"/>
                </a:solidFill>
              </a:rPr>
              <a:t>Front</a:t>
            </a:r>
          </a:p>
        </p:txBody>
      </p:sp>
      <p:sp>
        <p:nvSpPr>
          <p:cNvPr id="128" name="AutoShape 67"/>
          <p:cNvSpPr>
            <a:spLocks noChangeArrowheads="1"/>
          </p:cNvSpPr>
          <p:nvPr/>
        </p:nvSpPr>
        <p:spPr bwMode="auto">
          <a:xfrm>
            <a:off x="6058668" y="5632451"/>
            <a:ext cx="634340" cy="352574"/>
          </a:xfrm>
          <a:prstGeom prst="roundRect">
            <a:avLst>
              <a:gd name="adj" fmla="val 306"/>
            </a:avLst>
          </a:prstGeom>
          <a:noFill/>
          <a:ln w="9525">
            <a:noFill/>
            <a:round/>
            <a:headEnd/>
            <a:tailEnd/>
          </a:ln>
        </p:spPr>
        <p:txBody>
          <a:bodyPr wrap="none" lIns="90360" tIns="44280" rIns="90360" bIns="44280">
            <a:spAutoFit/>
          </a:bodyPr>
          <a:lstStyle/>
          <a:p>
            <a:pPr>
              <a:lnSpc>
                <a:spcPct val="95000"/>
              </a:lnSpc>
              <a:buClr>
                <a:srgbClr val="E0E0E0"/>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dirty="0">
                <a:solidFill>
                  <a:schemeClr val="folHlink"/>
                </a:solidFill>
              </a:rPr>
              <a:t>Rear</a:t>
            </a:r>
          </a:p>
        </p:txBody>
      </p:sp>
    </p:spTree>
    <p:extLst>
      <p:ext uri="{BB962C8B-B14F-4D97-AF65-F5344CB8AC3E}">
        <p14:creationId xmlns:p14="http://schemas.microsoft.com/office/powerpoint/2010/main" val="29643266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b="1" spc="-5" dirty="0">
                <a:solidFill>
                  <a:schemeClr val="tx1"/>
                </a:solidFill>
              </a:rPr>
              <a:t>Queues</a:t>
            </a:r>
            <a:endParaRPr lang="en-US" sz="4000" b="1" kern="1200" spc="-10" dirty="0">
              <a:solidFill>
                <a:schemeClr val="tx1"/>
              </a:solidFill>
              <a:latin typeface="+mj-lt"/>
              <a:ea typeface="+mj-ea"/>
              <a:cs typeface="+mj-cs"/>
            </a:endParaRPr>
          </a:p>
        </p:txBody>
      </p:sp>
      <p:sp>
        <p:nvSpPr>
          <p:cNvPr id="129" name="Oval 63"/>
          <p:cNvSpPr>
            <a:spLocks noChangeArrowheads="1"/>
          </p:cNvSpPr>
          <p:nvPr/>
        </p:nvSpPr>
        <p:spPr bwMode="auto">
          <a:xfrm>
            <a:off x="3523939" y="3963339"/>
            <a:ext cx="1066800" cy="1981200"/>
          </a:xfrm>
          <a:prstGeom prst="ellipse">
            <a:avLst/>
          </a:prstGeom>
          <a:solidFill>
            <a:schemeClr val="hlink"/>
          </a:solidFill>
          <a:ln w="9525">
            <a:solidFill>
              <a:schemeClr val="tx1"/>
            </a:solidFill>
            <a:round/>
            <a:headEnd/>
            <a:tailEnd/>
          </a:ln>
        </p:spPr>
        <p:txBody>
          <a:bodyPr wrap="none" anchor="ctr"/>
          <a:lstStyle/>
          <a:p>
            <a:endParaRPr lang="fr-FR" dirty="0"/>
          </a:p>
        </p:txBody>
      </p:sp>
      <p:sp>
        <p:nvSpPr>
          <p:cNvPr id="130" name="Rectangle 4"/>
          <p:cNvSpPr txBox="1">
            <a:spLocks noChangeArrowheads="1"/>
          </p:cNvSpPr>
          <p:nvPr/>
        </p:nvSpPr>
        <p:spPr>
          <a:xfrm>
            <a:off x="2228539" y="2210739"/>
            <a:ext cx="8153400" cy="1828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95000"/>
              </a:lnSpc>
              <a:spcBef>
                <a:spcPts val="700"/>
              </a:spcBef>
              <a:buFont typeface="Monotype Sort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GB"/>
              <a:t>When an item is taken from the queue, it always comes from the front.  </a:t>
            </a:r>
          </a:p>
          <a:p>
            <a:pPr>
              <a:spcBef>
                <a:spcPts val="700"/>
              </a:spcBef>
              <a:buFont typeface="Arial" panose="020B0604020202020204" pitchFamily="34" charset="0"/>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GB" dirty="0"/>
          </a:p>
        </p:txBody>
      </p:sp>
      <p:grpSp>
        <p:nvGrpSpPr>
          <p:cNvPr id="131" name="Group 5"/>
          <p:cNvGrpSpPr>
            <a:grpSpLocks/>
          </p:cNvGrpSpPr>
          <p:nvPr/>
        </p:nvGrpSpPr>
        <p:grpSpPr bwMode="auto">
          <a:xfrm>
            <a:off x="4539939" y="4191939"/>
            <a:ext cx="381000" cy="1295400"/>
            <a:chOff x="2784" y="2448"/>
            <a:chExt cx="240" cy="816"/>
          </a:xfrm>
        </p:grpSpPr>
        <p:grpSp>
          <p:nvGrpSpPr>
            <p:cNvPr id="132" name="Group 6"/>
            <p:cNvGrpSpPr>
              <a:grpSpLocks/>
            </p:cNvGrpSpPr>
            <p:nvPr/>
          </p:nvGrpSpPr>
          <p:grpSpPr bwMode="auto">
            <a:xfrm>
              <a:off x="2832" y="2784"/>
              <a:ext cx="144" cy="240"/>
              <a:chOff x="3312" y="3072"/>
              <a:chExt cx="144" cy="240"/>
            </a:xfrm>
          </p:grpSpPr>
          <p:sp>
            <p:nvSpPr>
              <p:cNvPr id="138" name="Rectangle 7"/>
              <p:cNvSpPr>
                <a:spLocks noChangeArrowheads="1"/>
              </p:cNvSpPr>
              <p:nvPr/>
            </p:nvSpPr>
            <p:spPr bwMode="auto">
              <a:xfrm rot="1704760">
                <a:off x="3312" y="3072"/>
                <a:ext cx="48" cy="240"/>
              </a:xfrm>
              <a:prstGeom prst="rect">
                <a:avLst/>
              </a:prstGeom>
              <a:solidFill>
                <a:srgbClr val="00B8FF"/>
              </a:solidFill>
              <a:ln w="9525">
                <a:solidFill>
                  <a:schemeClr val="tx1"/>
                </a:solidFill>
                <a:miter lim="800000"/>
                <a:headEnd/>
                <a:tailEnd/>
              </a:ln>
            </p:spPr>
            <p:txBody>
              <a:bodyPr wrap="none" anchor="ctr"/>
              <a:lstStyle/>
              <a:p>
                <a:endParaRPr lang="fr-FR" dirty="0"/>
              </a:p>
            </p:txBody>
          </p:sp>
          <p:sp>
            <p:nvSpPr>
              <p:cNvPr id="139" name="Rectangle 8"/>
              <p:cNvSpPr>
                <a:spLocks noChangeArrowheads="1"/>
              </p:cNvSpPr>
              <p:nvPr/>
            </p:nvSpPr>
            <p:spPr bwMode="auto">
              <a:xfrm rot="19895240" flipH="1">
                <a:off x="3408" y="3072"/>
                <a:ext cx="48" cy="240"/>
              </a:xfrm>
              <a:prstGeom prst="rect">
                <a:avLst/>
              </a:prstGeom>
              <a:solidFill>
                <a:srgbClr val="00B8FF"/>
              </a:solidFill>
              <a:ln w="9525">
                <a:solidFill>
                  <a:schemeClr val="tx1"/>
                </a:solidFill>
                <a:miter lim="800000"/>
                <a:headEnd/>
                <a:tailEnd/>
              </a:ln>
            </p:spPr>
            <p:txBody>
              <a:bodyPr wrap="none" anchor="ctr"/>
              <a:lstStyle/>
              <a:p>
                <a:endParaRPr lang="fr-FR" dirty="0"/>
              </a:p>
            </p:txBody>
          </p:sp>
        </p:grpSp>
        <p:sp>
          <p:nvSpPr>
            <p:cNvPr id="133" name="Rectangle 9"/>
            <p:cNvSpPr>
              <a:spLocks noChangeArrowheads="1"/>
            </p:cNvSpPr>
            <p:nvPr/>
          </p:nvSpPr>
          <p:spPr bwMode="auto">
            <a:xfrm>
              <a:off x="2880" y="2688"/>
              <a:ext cx="48" cy="384"/>
            </a:xfrm>
            <a:prstGeom prst="rect">
              <a:avLst/>
            </a:prstGeom>
            <a:solidFill>
              <a:srgbClr val="00B8FF"/>
            </a:solidFill>
            <a:ln w="9525">
              <a:solidFill>
                <a:schemeClr val="tx1"/>
              </a:solidFill>
              <a:miter lim="800000"/>
              <a:headEnd/>
              <a:tailEnd/>
            </a:ln>
          </p:spPr>
          <p:txBody>
            <a:bodyPr wrap="none" anchor="ctr"/>
            <a:lstStyle/>
            <a:p>
              <a:endParaRPr lang="fr-FR" dirty="0"/>
            </a:p>
          </p:txBody>
        </p:sp>
        <p:sp>
          <p:nvSpPr>
            <p:cNvPr id="134" name="Oval 10"/>
            <p:cNvSpPr>
              <a:spLocks noChangeArrowheads="1"/>
            </p:cNvSpPr>
            <p:nvPr/>
          </p:nvSpPr>
          <p:spPr bwMode="auto">
            <a:xfrm>
              <a:off x="2784" y="2448"/>
              <a:ext cx="240" cy="288"/>
            </a:xfrm>
            <a:prstGeom prst="ellipse">
              <a:avLst/>
            </a:prstGeom>
            <a:solidFill>
              <a:srgbClr val="00B8FF"/>
            </a:solidFill>
            <a:ln w="9525">
              <a:solidFill>
                <a:schemeClr val="tx1"/>
              </a:solidFill>
              <a:round/>
              <a:headEnd/>
              <a:tailEnd/>
            </a:ln>
          </p:spPr>
          <p:txBody>
            <a:bodyPr wrap="none" anchor="ctr"/>
            <a:lstStyle/>
            <a:p>
              <a:endParaRPr lang="fr-FR" dirty="0"/>
            </a:p>
          </p:txBody>
        </p:sp>
        <p:grpSp>
          <p:nvGrpSpPr>
            <p:cNvPr id="135" name="Group 11"/>
            <p:cNvGrpSpPr>
              <a:grpSpLocks/>
            </p:cNvGrpSpPr>
            <p:nvPr/>
          </p:nvGrpSpPr>
          <p:grpSpPr bwMode="auto">
            <a:xfrm>
              <a:off x="2832" y="3024"/>
              <a:ext cx="144" cy="240"/>
              <a:chOff x="3312" y="3072"/>
              <a:chExt cx="144" cy="240"/>
            </a:xfrm>
          </p:grpSpPr>
          <p:sp>
            <p:nvSpPr>
              <p:cNvPr id="136" name="Rectangle 12"/>
              <p:cNvSpPr>
                <a:spLocks noChangeArrowheads="1"/>
              </p:cNvSpPr>
              <p:nvPr/>
            </p:nvSpPr>
            <p:spPr bwMode="auto">
              <a:xfrm rot="1704760">
                <a:off x="3312" y="3072"/>
                <a:ext cx="48" cy="240"/>
              </a:xfrm>
              <a:prstGeom prst="rect">
                <a:avLst/>
              </a:prstGeom>
              <a:solidFill>
                <a:srgbClr val="00B8FF"/>
              </a:solidFill>
              <a:ln w="9525">
                <a:solidFill>
                  <a:schemeClr val="tx1"/>
                </a:solidFill>
                <a:miter lim="800000"/>
                <a:headEnd/>
                <a:tailEnd/>
              </a:ln>
            </p:spPr>
            <p:txBody>
              <a:bodyPr wrap="none" anchor="ctr"/>
              <a:lstStyle/>
              <a:p>
                <a:endParaRPr lang="fr-FR" dirty="0"/>
              </a:p>
            </p:txBody>
          </p:sp>
          <p:sp>
            <p:nvSpPr>
              <p:cNvPr id="137" name="Rectangle 13"/>
              <p:cNvSpPr>
                <a:spLocks noChangeArrowheads="1"/>
              </p:cNvSpPr>
              <p:nvPr/>
            </p:nvSpPr>
            <p:spPr bwMode="auto">
              <a:xfrm rot="19895240" flipH="1">
                <a:off x="3408" y="3072"/>
                <a:ext cx="48" cy="240"/>
              </a:xfrm>
              <a:prstGeom prst="rect">
                <a:avLst/>
              </a:prstGeom>
              <a:solidFill>
                <a:srgbClr val="00B8FF"/>
              </a:solidFill>
              <a:ln w="9525">
                <a:solidFill>
                  <a:schemeClr val="tx1"/>
                </a:solidFill>
                <a:miter lim="800000"/>
                <a:headEnd/>
                <a:tailEnd/>
              </a:ln>
            </p:spPr>
            <p:txBody>
              <a:bodyPr wrap="none" anchor="ctr"/>
              <a:lstStyle/>
              <a:p>
                <a:endParaRPr lang="fr-FR" dirty="0"/>
              </a:p>
            </p:txBody>
          </p:sp>
        </p:grpSp>
      </p:grpSp>
      <p:grpSp>
        <p:nvGrpSpPr>
          <p:cNvPr id="140" name="Group 14"/>
          <p:cNvGrpSpPr>
            <a:grpSpLocks/>
          </p:cNvGrpSpPr>
          <p:nvPr/>
        </p:nvGrpSpPr>
        <p:grpSpPr bwMode="auto">
          <a:xfrm>
            <a:off x="5200339" y="4191939"/>
            <a:ext cx="381000" cy="1295400"/>
            <a:chOff x="2784" y="2448"/>
            <a:chExt cx="240" cy="816"/>
          </a:xfrm>
        </p:grpSpPr>
        <p:grpSp>
          <p:nvGrpSpPr>
            <p:cNvPr id="141" name="Group 15"/>
            <p:cNvGrpSpPr>
              <a:grpSpLocks/>
            </p:cNvGrpSpPr>
            <p:nvPr/>
          </p:nvGrpSpPr>
          <p:grpSpPr bwMode="auto">
            <a:xfrm>
              <a:off x="2832" y="2784"/>
              <a:ext cx="144" cy="240"/>
              <a:chOff x="3312" y="3072"/>
              <a:chExt cx="144" cy="240"/>
            </a:xfrm>
          </p:grpSpPr>
          <p:sp>
            <p:nvSpPr>
              <p:cNvPr id="147" name="Rectangle 16"/>
              <p:cNvSpPr>
                <a:spLocks noChangeArrowheads="1"/>
              </p:cNvSpPr>
              <p:nvPr/>
            </p:nvSpPr>
            <p:spPr bwMode="auto">
              <a:xfrm rot="1704760">
                <a:off x="3312" y="3072"/>
                <a:ext cx="48" cy="240"/>
              </a:xfrm>
              <a:prstGeom prst="rect">
                <a:avLst/>
              </a:prstGeom>
              <a:solidFill>
                <a:srgbClr val="00B8FF"/>
              </a:solidFill>
              <a:ln w="9525">
                <a:solidFill>
                  <a:schemeClr val="tx1"/>
                </a:solidFill>
                <a:miter lim="800000"/>
                <a:headEnd/>
                <a:tailEnd/>
              </a:ln>
            </p:spPr>
            <p:txBody>
              <a:bodyPr wrap="none" anchor="ctr"/>
              <a:lstStyle/>
              <a:p>
                <a:endParaRPr lang="fr-FR" dirty="0"/>
              </a:p>
            </p:txBody>
          </p:sp>
          <p:sp>
            <p:nvSpPr>
              <p:cNvPr id="148" name="Rectangle 17"/>
              <p:cNvSpPr>
                <a:spLocks noChangeArrowheads="1"/>
              </p:cNvSpPr>
              <p:nvPr/>
            </p:nvSpPr>
            <p:spPr bwMode="auto">
              <a:xfrm rot="19895240" flipH="1">
                <a:off x="3408" y="3072"/>
                <a:ext cx="48" cy="240"/>
              </a:xfrm>
              <a:prstGeom prst="rect">
                <a:avLst/>
              </a:prstGeom>
              <a:solidFill>
                <a:srgbClr val="00B8FF"/>
              </a:solidFill>
              <a:ln w="9525">
                <a:solidFill>
                  <a:schemeClr val="tx1"/>
                </a:solidFill>
                <a:miter lim="800000"/>
                <a:headEnd/>
                <a:tailEnd/>
              </a:ln>
            </p:spPr>
            <p:txBody>
              <a:bodyPr wrap="none" anchor="ctr"/>
              <a:lstStyle/>
              <a:p>
                <a:endParaRPr lang="fr-FR" dirty="0"/>
              </a:p>
            </p:txBody>
          </p:sp>
        </p:grpSp>
        <p:sp>
          <p:nvSpPr>
            <p:cNvPr id="142" name="Rectangle 18"/>
            <p:cNvSpPr>
              <a:spLocks noChangeArrowheads="1"/>
            </p:cNvSpPr>
            <p:nvPr/>
          </p:nvSpPr>
          <p:spPr bwMode="auto">
            <a:xfrm>
              <a:off x="2880" y="2688"/>
              <a:ext cx="48" cy="384"/>
            </a:xfrm>
            <a:prstGeom prst="rect">
              <a:avLst/>
            </a:prstGeom>
            <a:solidFill>
              <a:srgbClr val="00B8FF"/>
            </a:solidFill>
            <a:ln w="9525">
              <a:solidFill>
                <a:schemeClr val="tx1"/>
              </a:solidFill>
              <a:miter lim="800000"/>
              <a:headEnd/>
              <a:tailEnd/>
            </a:ln>
          </p:spPr>
          <p:txBody>
            <a:bodyPr wrap="none" anchor="ctr"/>
            <a:lstStyle/>
            <a:p>
              <a:endParaRPr lang="fr-FR" dirty="0"/>
            </a:p>
          </p:txBody>
        </p:sp>
        <p:sp>
          <p:nvSpPr>
            <p:cNvPr id="143" name="Oval 19"/>
            <p:cNvSpPr>
              <a:spLocks noChangeArrowheads="1"/>
            </p:cNvSpPr>
            <p:nvPr/>
          </p:nvSpPr>
          <p:spPr bwMode="auto">
            <a:xfrm>
              <a:off x="2784" y="2448"/>
              <a:ext cx="240" cy="288"/>
            </a:xfrm>
            <a:prstGeom prst="ellipse">
              <a:avLst/>
            </a:prstGeom>
            <a:solidFill>
              <a:srgbClr val="00B8FF"/>
            </a:solidFill>
            <a:ln w="9525">
              <a:solidFill>
                <a:schemeClr val="tx1"/>
              </a:solidFill>
              <a:round/>
              <a:headEnd/>
              <a:tailEnd/>
            </a:ln>
          </p:spPr>
          <p:txBody>
            <a:bodyPr wrap="none" anchor="ctr"/>
            <a:lstStyle/>
            <a:p>
              <a:endParaRPr lang="fr-FR" dirty="0"/>
            </a:p>
          </p:txBody>
        </p:sp>
        <p:grpSp>
          <p:nvGrpSpPr>
            <p:cNvPr id="144" name="Group 20"/>
            <p:cNvGrpSpPr>
              <a:grpSpLocks/>
            </p:cNvGrpSpPr>
            <p:nvPr/>
          </p:nvGrpSpPr>
          <p:grpSpPr bwMode="auto">
            <a:xfrm>
              <a:off x="2832" y="3024"/>
              <a:ext cx="144" cy="240"/>
              <a:chOff x="3312" y="3072"/>
              <a:chExt cx="144" cy="240"/>
            </a:xfrm>
          </p:grpSpPr>
          <p:sp>
            <p:nvSpPr>
              <p:cNvPr id="145" name="Rectangle 21"/>
              <p:cNvSpPr>
                <a:spLocks noChangeArrowheads="1"/>
              </p:cNvSpPr>
              <p:nvPr/>
            </p:nvSpPr>
            <p:spPr bwMode="auto">
              <a:xfrm rot="1704760">
                <a:off x="3312" y="3072"/>
                <a:ext cx="48" cy="240"/>
              </a:xfrm>
              <a:prstGeom prst="rect">
                <a:avLst/>
              </a:prstGeom>
              <a:solidFill>
                <a:srgbClr val="00B8FF"/>
              </a:solidFill>
              <a:ln w="9525">
                <a:solidFill>
                  <a:schemeClr val="tx1"/>
                </a:solidFill>
                <a:miter lim="800000"/>
                <a:headEnd/>
                <a:tailEnd/>
              </a:ln>
            </p:spPr>
            <p:txBody>
              <a:bodyPr wrap="none" anchor="ctr"/>
              <a:lstStyle/>
              <a:p>
                <a:endParaRPr lang="fr-FR" dirty="0"/>
              </a:p>
            </p:txBody>
          </p:sp>
          <p:sp>
            <p:nvSpPr>
              <p:cNvPr id="146" name="Rectangle 22"/>
              <p:cNvSpPr>
                <a:spLocks noChangeArrowheads="1"/>
              </p:cNvSpPr>
              <p:nvPr/>
            </p:nvSpPr>
            <p:spPr bwMode="auto">
              <a:xfrm rot="19895240" flipH="1">
                <a:off x="3408" y="3072"/>
                <a:ext cx="48" cy="240"/>
              </a:xfrm>
              <a:prstGeom prst="rect">
                <a:avLst/>
              </a:prstGeom>
              <a:solidFill>
                <a:srgbClr val="00B8FF"/>
              </a:solidFill>
              <a:ln w="9525">
                <a:solidFill>
                  <a:schemeClr val="tx1"/>
                </a:solidFill>
                <a:miter lim="800000"/>
                <a:headEnd/>
                <a:tailEnd/>
              </a:ln>
            </p:spPr>
            <p:txBody>
              <a:bodyPr wrap="none" anchor="ctr"/>
              <a:lstStyle/>
              <a:p>
                <a:endParaRPr lang="fr-FR" dirty="0"/>
              </a:p>
            </p:txBody>
          </p:sp>
        </p:grpSp>
      </p:grpSp>
      <p:grpSp>
        <p:nvGrpSpPr>
          <p:cNvPr id="149" name="Group 23"/>
          <p:cNvGrpSpPr>
            <a:grpSpLocks/>
          </p:cNvGrpSpPr>
          <p:nvPr/>
        </p:nvGrpSpPr>
        <p:grpSpPr bwMode="auto">
          <a:xfrm>
            <a:off x="5860739" y="4191939"/>
            <a:ext cx="381000" cy="1295400"/>
            <a:chOff x="2784" y="2448"/>
            <a:chExt cx="240" cy="816"/>
          </a:xfrm>
        </p:grpSpPr>
        <p:grpSp>
          <p:nvGrpSpPr>
            <p:cNvPr id="150" name="Group 24"/>
            <p:cNvGrpSpPr>
              <a:grpSpLocks/>
            </p:cNvGrpSpPr>
            <p:nvPr/>
          </p:nvGrpSpPr>
          <p:grpSpPr bwMode="auto">
            <a:xfrm>
              <a:off x="2832" y="2784"/>
              <a:ext cx="144" cy="240"/>
              <a:chOff x="3312" y="3072"/>
              <a:chExt cx="144" cy="240"/>
            </a:xfrm>
          </p:grpSpPr>
          <p:sp>
            <p:nvSpPr>
              <p:cNvPr id="156" name="Rectangle 25"/>
              <p:cNvSpPr>
                <a:spLocks noChangeArrowheads="1"/>
              </p:cNvSpPr>
              <p:nvPr/>
            </p:nvSpPr>
            <p:spPr bwMode="auto">
              <a:xfrm rot="1704760">
                <a:off x="3312" y="3072"/>
                <a:ext cx="48" cy="240"/>
              </a:xfrm>
              <a:prstGeom prst="rect">
                <a:avLst/>
              </a:prstGeom>
              <a:solidFill>
                <a:srgbClr val="00B8FF"/>
              </a:solidFill>
              <a:ln w="9525">
                <a:solidFill>
                  <a:schemeClr val="tx1"/>
                </a:solidFill>
                <a:miter lim="800000"/>
                <a:headEnd/>
                <a:tailEnd/>
              </a:ln>
            </p:spPr>
            <p:txBody>
              <a:bodyPr wrap="none" anchor="ctr"/>
              <a:lstStyle/>
              <a:p>
                <a:endParaRPr lang="fr-FR" dirty="0"/>
              </a:p>
            </p:txBody>
          </p:sp>
          <p:sp>
            <p:nvSpPr>
              <p:cNvPr id="157" name="Rectangle 26"/>
              <p:cNvSpPr>
                <a:spLocks noChangeArrowheads="1"/>
              </p:cNvSpPr>
              <p:nvPr/>
            </p:nvSpPr>
            <p:spPr bwMode="auto">
              <a:xfrm rot="19895240" flipH="1">
                <a:off x="3408" y="3072"/>
                <a:ext cx="48" cy="240"/>
              </a:xfrm>
              <a:prstGeom prst="rect">
                <a:avLst/>
              </a:prstGeom>
              <a:solidFill>
                <a:srgbClr val="00B8FF"/>
              </a:solidFill>
              <a:ln w="9525">
                <a:solidFill>
                  <a:schemeClr val="tx1"/>
                </a:solidFill>
                <a:miter lim="800000"/>
                <a:headEnd/>
                <a:tailEnd/>
              </a:ln>
            </p:spPr>
            <p:txBody>
              <a:bodyPr wrap="none" anchor="ctr"/>
              <a:lstStyle/>
              <a:p>
                <a:endParaRPr lang="fr-FR" dirty="0"/>
              </a:p>
            </p:txBody>
          </p:sp>
        </p:grpSp>
        <p:sp>
          <p:nvSpPr>
            <p:cNvPr id="151" name="Rectangle 27"/>
            <p:cNvSpPr>
              <a:spLocks noChangeArrowheads="1"/>
            </p:cNvSpPr>
            <p:nvPr/>
          </p:nvSpPr>
          <p:spPr bwMode="auto">
            <a:xfrm>
              <a:off x="2880" y="2688"/>
              <a:ext cx="48" cy="384"/>
            </a:xfrm>
            <a:prstGeom prst="rect">
              <a:avLst/>
            </a:prstGeom>
            <a:solidFill>
              <a:srgbClr val="00B8FF"/>
            </a:solidFill>
            <a:ln w="9525">
              <a:solidFill>
                <a:schemeClr val="tx1"/>
              </a:solidFill>
              <a:miter lim="800000"/>
              <a:headEnd/>
              <a:tailEnd/>
            </a:ln>
          </p:spPr>
          <p:txBody>
            <a:bodyPr wrap="none" anchor="ctr"/>
            <a:lstStyle/>
            <a:p>
              <a:endParaRPr lang="fr-FR" dirty="0"/>
            </a:p>
          </p:txBody>
        </p:sp>
        <p:sp>
          <p:nvSpPr>
            <p:cNvPr id="152" name="Oval 28"/>
            <p:cNvSpPr>
              <a:spLocks noChangeArrowheads="1"/>
            </p:cNvSpPr>
            <p:nvPr/>
          </p:nvSpPr>
          <p:spPr bwMode="auto">
            <a:xfrm>
              <a:off x="2784" y="2448"/>
              <a:ext cx="240" cy="288"/>
            </a:xfrm>
            <a:prstGeom prst="ellipse">
              <a:avLst/>
            </a:prstGeom>
            <a:solidFill>
              <a:srgbClr val="00B8FF"/>
            </a:solidFill>
            <a:ln w="9525">
              <a:solidFill>
                <a:schemeClr val="tx1"/>
              </a:solidFill>
              <a:round/>
              <a:headEnd/>
              <a:tailEnd/>
            </a:ln>
          </p:spPr>
          <p:txBody>
            <a:bodyPr wrap="none" anchor="ctr"/>
            <a:lstStyle/>
            <a:p>
              <a:endParaRPr lang="fr-FR" dirty="0"/>
            </a:p>
          </p:txBody>
        </p:sp>
        <p:grpSp>
          <p:nvGrpSpPr>
            <p:cNvPr id="153" name="Group 29"/>
            <p:cNvGrpSpPr>
              <a:grpSpLocks/>
            </p:cNvGrpSpPr>
            <p:nvPr/>
          </p:nvGrpSpPr>
          <p:grpSpPr bwMode="auto">
            <a:xfrm>
              <a:off x="2832" y="3024"/>
              <a:ext cx="144" cy="240"/>
              <a:chOff x="3312" y="3072"/>
              <a:chExt cx="144" cy="240"/>
            </a:xfrm>
          </p:grpSpPr>
          <p:sp>
            <p:nvSpPr>
              <p:cNvPr id="154" name="Rectangle 30"/>
              <p:cNvSpPr>
                <a:spLocks noChangeArrowheads="1"/>
              </p:cNvSpPr>
              <p:nvPr/>
            </p:nvSpPr>
            <p:spPr bwMode="auto">
              <a:xfrm rot="1704760">
                <a:off x="3312" y="3072"/>
                <a:ext cx="48" cy="240"/>
              </a:xfrm>
              <a:prstGeom prst="rect">
                <a:avLst/>
              </a:prstGeom>
              <a:solidFill>
                <a:srgbClr val="00B8FF"/>
              </a:solidFill>
              <a:ln w="9525">
                <a:solidFill>
                  <a:schemeClr val="tx1"/>
                </a:solidFill>
                <a:miter lim="800000"/>
                <a:headEnd/>
                <a:tailEnd/>
              </a:ln>
            </p:spPr>
            <p:txBody>
              <a:bodyPr wrap="none" anchor="ctr"/>
              <a:lstStyle/>
              <a:p>
                <a:endParaRPr lang="fr-FR" dirty="0"/>
              </a:p>
            </p:txBody>
          </p:sp>
          <p:sp>
            <p:nvSpPr>
              <p:cNvPr id="155" name="Rectangle 31"/>
              <p:cNvSpPr>
                <a:spLocks noChangeArrowheads="1"/>
              </p:cNvSpPr>
              <p:nvPr/>
            </p:nvSpPr>
            <p:spPr bwMode="auto">
              <a:xfrm rot="19895240" flipH="1">
                <a:off x="3408" y="3072"/>
                <a:ext cx="48" cy="240"/>
              </a:xfrm>
              <a:prstGeom prst="rect">
                <a:avLst/>
              </a:prstGeom>
              <a:solidFill>
                <a:srgbClr val="00B8FF"/>
              </a:solidFill>
              <a:ln w="9525">
                <a:solidFill>
                  <a:schemeClr val="tx1"/>
                </a:solidFill>
                <a:miter lim="800000"/>
                <a:headEnd/>
                <a:tailEnd/>
              </a:ln>
            </p:spPr>
            <p:txBody>
              <a:bodyPr wrap="none" anchor="ctr"/>
              <a:lstStyle/>
              <a:p>
                <a:endParaRPr lang="fr-FR" dirty="0"/>
              </a:p>
            </p:txBody>
          </p:sp>
        </p:grpSp>
      </p:grpSp>
      <p:grpSp>
        <p:nvGrpSpPr>
          <p:cNvPr id="158" name="Group 32"/>
          <p:cNvGrpSpPr>
            <a:grpSpLocks/>
          </p:cNvGrpSpPr>
          <p:nvPr/>
        </p:nvGrpSpPr>
        <p:grpSpPr bwMode="auto">
          <a:xfrm>
            <a:off x="6521139" y="4191939"/>
            <a:ext cx="381000" cy="1295400"/>
            <a:chOff x="2784" y="2448"/>
            <a:chExt cx="240" cy="816"/>
          </a:xfrm>
        </p:grpSpPr>
        <p:grpSp>
          <p:nvGrpSpPr>
            <p:cNvPr id="159" name="Group 33"/>
            <p:cNvGrpSpPr>
              <a:grpSpLocks/>
            </p:cNvGrpSpPr>
            <p:nvPr/>
          </p:nvGrpSpPr>
          <p:grpSpPr bwMode="auto">
            <a:xfrm>
              <a:off x="2832" y="2784"/>
              <a:ext cx="144" cy="240"/>
              <a:chOff x="3312" y="3072"/>
              <a:chExt cx="144" cy="240"/>
            </a:xfrm>
          </p:grpSpPr>
          <p:sp>
            <p:nvSpPr>
              <p:cNvPr id="165" name="Rectangle 34"/>
              <p:cNvSpPr>
                <a:spLocks noChangeArrowheads="1"/>
              </p:cNvSpPr>
              <p:nvPr/>
            </p:nvSpPr>
            <p:spPr bwMode="auto">
              <a:xfrm rot="1704760">
                <a:off x="3312" y="3072"/>
                <a:ext cx="48" cy="240"/>
              </a:xfrm>
              <a:prstGeom prst="rect">
                <a:avLst/>
              </a:prstGeom>
              <a:solidFill>
                <a:srgbClr val="00B8FF"/>
              </a:solidFill>
              <a:ln w="9525">
                <a:solidFill>
                  <a:schemeClr val="tx1"/>
                </a:solidFill>
                <a:miter lim="800000"/>
                <a:headEnd/>
                <a:tailEnd/>
              </a:ln>
            </p:spPr>
            <p:txBody>
              <a:bodyPr wrap="none" anchor="ctr"/>
              <a:lstStyle/>
              <a:p>
                <a:endParaRPr lang="fr-FR" dirty="0"/>
              </a:p>
            </p:txBody>
          </p:sp>
          <p:sp>
            <p:nvSpPr>
              <p:cNvPr id="166" name="Rectangle 35"/>
              <p:cNvSpPr>
                <a:spLocks noChangeArrowheads="1"/>
              </p:cNvSpPr>
              <p:nvPr/>
            </p:nvSpPr>
            <p:spPr bwMode="auto">
              <a:xfrm rot="19895240" flipH="1">
                <a:off x="3408" y="3072"/>
                <a:ext cx="48" cy="240"/>
              </a:xfrm>
              <a:prstGeom prst="rect">
                <a:avLst/>
              </a:prstGeom>
              <a:solidFill>
                <a:srgbClr val="00B8FF"/>
              </a:solidFill>
              <a:ln w="9525">
                <a:solidFill>
                  <a:schemeClr val="tx1"/>
                </a:solidFill>
                <a:miter lim="800000"/>
                <a:headEnd/>
                <a:tailEnd/>
              </a:ln>
            </p:spPr>
            <p:txBody>
              <a:bodyPr wrap="none" anchor="ctr"/>
              <a:lstStyle/>
              <a:p>
                <a:endParaRPr lang="fr-FR" dirty="0"/>
              </a:p>
            </p:txBody>
          </p:sp>
        </p:grpSp>
        <p:sp>
          <p:nvSpPr>
            <p:cNvPr id="160" name="Rectangle 36"/>
            <p:cNvSpPr>
              <a:spLocks noChangeArrowheads="1"/>
            </p:cNvSpPr>
            <p:nvPr/>
          </p:nvSpPr>
          <p:spPr bwMode="auto">
            <a:xfrm>
              <a:off x="2880" y="2688"/>
              <a:ext cx="48" cy="384"/>
            </a:xfrm>
            <a:prstGeom prst="rect">
              <a:avLst/>
            </a:prstGeom>
            <a:solidFill>
              <a:srgbClr val="00B8FF"/>
            </a:solidFill>
            <a:ln w="9525">
              <a:solidFill>
                <a:schemeClr val="tx1"/>
              </a:solidFill>
              <a:miter lim="800000"/>
              <a:headEnd/>
              <a:tailEnd/>
            </a:ln>
          </p:spPr>
          <p:txBody>
            <a:bodyPr wrap="none" anchor="ctr"/>
            <a:lstStyle/>
            <a:p>
              <a:endParaRPr lang="fr-FR" dirty="0"/>
            </a:p>
          </p:txBody>
        </p:sp>
        <p:sp>
          <p:nvSpPr>
            <p:cNvPr id="161" name="Oval 37"/>
            <p:cNvSpPr>
              <a:spLocks noChangeArrowheads="1"/>
            </p:cNvSpPr>
            <p:nvPr/>
          </p:nvSpPr>
          <p:spPr bwMode="auto">
            <a:xfrm>
              <a:off x="2784" y="2448"/>
              <a:ext cx="240" cy="288"/>
            </a:xfrm>
            <a:prstGeom prst="ellipse">
              <a:avLst/>
            </a:prstGeom>
            <a:solidFill>
              <a:srgbClr val="00B8FF"/>
            </a:solidFill>
            <a:ln w="9525">
              <a:solidFill>
                <a:schemeClr val="tx1"/>
              </a:solidFill>
              <a:round/>
              <a:headEnd/>
              <a:tailEnd/>
            </a:ln>
          </p:spPr>
          <p:txBody>
            <a:bodyPr wrap="none" anchor="ctr"/>
            <a:lstStyle/>
            <a:p>
              <a:endParaRPr lang="fr-FR" dirty="0"/>
            </a:p>
          </p:txBody>
        </p:sp>
        <p:grpSp>
          <p:nvGrpSpPr>
            <p:cNvPr id="162" name="Group 38"/>
            <p:cNvGrpSpPr>
              <a:grpSpLocks/>
            </p:cNvGrpSpPr>
            <p:nvPr/>
          </p:nvGrpSpPr>
          <p:grpSpPr bwMode="auto">
            <a:xfrm>
              <a:off x="2832" y="3024"/>
              <a:ext cx="144" cy="240"/>
              <a:chOff x="3312" y="3072"/>
              <a:chExt cx="144" cy="240"/>
            </a:xfrm>
          </p:grpSpPr>
          <p:sp>
            <p:nvSpPr>
              <p:cNvPr id="163" name="Rectangle 39"/>
              <p:cNvSpPr>
                <a:spLocks noChangeArrowheads="1"/>
              </p:cNvSpPr>
              <p:nvPr/>
            </p:nvSpPr>
            <p:spPr bwMode="auto">
              <a:xfrm rot="1704760">
                <a:off x="3312" y="3072"/>
                <a:ext cx="48" cy="240"/>
              </a:xfrm>
              <a:prstGeom prst="rect">
                <a:avLst/>
              </a:prstGeom>
              <a:solidFill>
                <a:srgbClr val="00B8FF"/>
              </a:solidFill>
              <a:ln w="9525">
                <a:solidFill>
                  <a:schemeClr val="tx1"/>
                </a:solidFill>
                <a:miter lim="800000"/>
                <a:headEnd/>
                <a:tailEnd/>
              </a:ln>
            </p:spPr>
            <p:txBody>
              <a:bodyPr wrap="none" anchor="ctr"/>
              <a:lstStyle/>
              <a:p>
                <a:endParaRPr lang="fr-FR" dirty="0"/>
              </a:p>
            </p:txBody>
          </p:sp>
          <p:sp>
            <p:nvSpPr>
              <p:cNvPr id="164" name="Rectangle 40"/>
              <p:cNvSpPr>
                <a:spLocks noChangeArrowheads="1"/>
              </p:cNvSpPr>
              <p:nvPr/>
            </p:nvSpPr>
            <p:spPr bwMode="auto">
              <a:xfrm rot="19895240" flipH="1">
                <a:off x="3408" y="3072"/>
                <a:ext cx="48" cy="240"/>
              </a:xfrm>
              <a:prstGeom prst="rect">
                <a:avLst/>
              </a:prstGeom>
              <a:solidFill>
                <a:srgbClr val="00B8FF"/>
              </a:solidFill>
              <a:ln w="9525">
                <a:solidFill>
                  <a:schemeClr val="tx1"/>
                </a:solidFill>
                <a:miter lim="800000"/>
                <a:headEnd/>
                <a:tailEnd/>
              </a:ln>
            </p:spPr>
            <p:txBody>
              <a:bodyPr wrap="none" anchor="ctr"/>
              <a:lstStyle/>
              <a:p>
                <a:endParaRPr lang="fr-FR" dirty="0"/>
              </a:p>
            </p:txBody>
          </p:sp>
        </p:grpSp>
      </p:grpSp>
      <p:grpSp>
        <p:nvGrpSpPr>
          <p:cNvPr id="167" name="Group 41"/>
          <p:cNvGrpSpPr>
            <a:grpSpLocks/>
          </p:cNvGrpSpPr>
          <p:nvPr/>
        </p:nvGrpSpPr>
        <p:grpSpPr bwMode="auto">
          <a:xfrm>
            <a:off x="1847539" y="3582339"/>
            <a:ext cx="457200" cy="1295400"/>
            <a:chOff x="5136" y="2304"/>
            <a:chExt cx="288" cy="816"/>
          </a:xfrm>
        </p:grpSpPr>
        <p:grpSp>
          <p:nvGrpSpPr>
            <p:cNvPr id="168" name="Group 42"/>
            <p:cNvGrpSpPr>
              <a:grpSpLocks/>
            </p:cNvGrpSpPr>
            <p:nvPr/>
          </p:nvGrpSpPr>
          <p:grpSpPr bwMode="auto">
            <a:xfrm>
              <a:off x="5160" y="2304"/>
              <a:ext cx="240" cy="816"/>
              <a:chOff x="2784" y="2448"/>
              <a:chExt cx="240" cy="816"/>
            </a:xfrm>
          </p:grpSpPr>
          <p:grpSp>
            <p:nvGrpSpPr>
              <p:cNvPr id="170" name="Group 43"/>
              <p:cNvGrpSpPr>
                <a:grpSpLocks/>
              </p:cNvGrpSpPr>
              <p:nvPr/>
            </p:nvGrpSpPr>
            <p:grpSpPr bwMode="auto">
              <a:xfrm>
                <a:off x="2832" y="2784"/>
                <a:ext cx="144" cy="240"/>
                <a:chOff x="3312" y="3072"/>
                <a:chExt cx="144" cy="240"/>
              </a:xfrm>
            </p:grpSpPr>
            <p:sp>
              <p:nvSpPr>
                <p:cNvPr id="176" name="Rectangle 44"/>
                <p:cNvSpPr>
                  <a:spLocks noChangeArrowheads="1"/>
                </p:cNvSpPr>
                <p:nvPr/>
              </p:nvSpPr>
              <p:spPr bwMode="auto">
                <a:xfrm rot="1704760">
                  <a:off x="3312" y="3072"/>
                  <a:ext cx="48" cy="240"/>
                </a:xfrm>
                <a:prstGeom prst="rect">
                  <a:avLst/>
                </a:prstGeom>
                <a:solidFill>
                  <a:schemeClr val="accent1"/>
                </a:solidFill>
                <a:ln w="9525">
                  <a:solidFill>
                    <a:schemeClr val="tx1"/>
                  </a:solidFill>
                  <a:miter lim="800000"/>
                  <a:headEnd/>
                  <a:tailEnd/>
                </a:ln>
              </p:spPr>
              <p:txBody>
                <a:bodyPr wrap="none" anchor="ctr"/>
                <a:lstStyle/>
                <a:p>
                  <a:endParaRPr lang="fr-FR" dirty="0"/>
                </a:p>
              </p:txBody>
            </p:sp>
            <p:sp>
              <p:nvSpPr>
                <p:cNvPr id="177" name="Rectangle 45"/>
                <p:cNvSpPr>
                  <a:spLocks noChangeArrowheads="1"/>
                </p:cNvSpPr>
                <p:nvPr/>
              </p:nvSpPr>
              <p:spPr bwMode="auto">
                <a:xfrm rot="19895240" flipH="1">
                  <a:off x="3408" y="3072"/>
                  <a:ext cx="48" cy="240"/>
                </a:xfrm>
                <a:prstGeom prst="rect">
                  <a:avLst/>
                </a:prstGeom>
                <a:solidFill>
                  <a:schemeClr val="accent1"/>
                </a:solidFill>
                <a:ln w="9525">
                  <a:solidFill>
                    <a:schemeClr val="tx1"/>
                  </a:solidFill>
                  <a:miter lim="800000"/>
                  <a:headEnd/>
                  <a:tailEnd/>
                </a:ln>
              </p:spPr>
              <p:txBody>
                <a:bodyPr wrap="none" anchor="ctr"/>
                <a:lstStyle/>
                <a:p>
                  <a:endParaRPr lang="fr-FR" dirty="0"/>
                </a:p>
              </p:txBody>
            </p:sp>
          </p:grpSp>
          <p:sp>
            <p:nvSpPr>
              <p:cNvPr id="171" name="Rectangle 46"/>
              <p:cNvSpPr>
                <a:spLocks noChangeArrowheads="1"/>
              </p:cNvSpPr>
              <p:nvPr/>
            </p:nvSpPr>
            <p:spPr bwMode="auto">
              <a:xfrm>
                <a:off x="2880" y="2688"/>
                <a:ext cx="48" cy="384"/>
              </a:xfrm>
              <a:prstGeom prst="rect">
                <a:avLst/>
              </a:prstGeom>
              <a:solidFill>
                <a:schemeClr val="accent1"/>
              </a:solidFill>
              <a:ln w="9525">
                <a:solidFill>
                  <a:schemeClr val="tx1"/>
                </a:solidFill>
                <a:miter lim="800000"/>
                <a:headEnd/>
                <a:tailEnd/>
              </a:ln>
            </p:spPr>
            <p:txBody>
              <a:bodyPr wrap="none" anchor="ctr"/>
              <a:lstStyle/>
              <a:p>
                <a:endParaRPr lang="fr-FR" dirty="0"/>
              </a:p>
            </p:txBody>
          </p:sp>
          <p:sp>
            <p:nvSpPr>
              <p:cNvPr id="172" name="Oval 47"/>
              <p:cNvSpPr>
                <a:spLocks noChangeArrowheads="1"/>
              </p:cNvSpPr>
              <p:nvPr/>
            </p:nvSpPr>
            <p:spPr bwMode="auto">
              <a:xfrm>
                <a:off x="2784" y="2448"/>
                <a:ext cx="240" cy="288"/>
              </a:xfrm>
              <a:prstGeom prst="ellipse">
                <a:avLst/>
              </a:prstGeom>
              <a:solidFill>
                <a:schemeClr val="accent1"/>
              </a:solidFill>
              <a:ln w="9525">
                <a:solidFill>
                  <a:schemeClr val="tx1"/>
                </a:solidFill>
                <a:round/>
                <a:headEnd/>
                <a:tailEnd/>
              </a:ln>
            </p:spPr>
            <p:txBody>
              <a:bodyPr wrap="none" anchor="ctr"/>
              <a:lstStyle/>
              <a:p>
                <a:endParaRPr lang="fr-FR" dirty="0"/>
              </a:p>
            </p:txBody>
          </p:sp>
          <p:grpSp>
            <p:nvGrpSpPr>
              <p:cNvPr id="173" name="Group 48"/>
              <p:cNvGrpSpPr>
                <a:grpSpLocks/>
              </p:cNvGrpSpPr>
              <p:nvPr/>
            </p:nvGrpSpPr>
            <p:grpSpPr bwMode="auto">
              <a:xfrm>
                <a:off x="2832" y="3024"/>
                <a:ext cx="144" cy="240"/>
                <a:chOff x="3312" y="3072"/>
                <a:chExt cx="144" cy="240"/>
              </a:xfrm>
            </p:grpSpPr>
            <p:sp>
              <p:nvSpPr>
                <p:cNvPr id="174" name="Rectangle 49"/>
                <p:cNvSpPr>
                  <a:spLocks noChangeArrowheads="1"/>
                </p:cNvSpPr>
                <p:nvPr/>
              </p:nvSpPr>
              <p:spPr bwMode="auto">
                <a:xfrm rot="1704760">
                  <a:off x="3312" y="3072"/>
                  <a:ext cx="48" cy="240"/>
                </a:xfrm>
                <a:prstGeom prst="rect">
                  <a:avLst/>
                </a:prstGeom>
                <a:solidFill>
                  <a:schemeClr val="accent1"/>
                </a:solidFill>
                <a:ln w="9525">
                  <a:solidFill>
                    <a:schemeClr val="tx1"/>
                  </a:solidFill>
                  <a:miter lim="800000"/>
                  <a:headEnd/>
                  <a:tailEnd/>
                </a:ln>
              </p:spPr>
              <p:txBody>
                <a:bodyPr wrap="none" anchor="ctr"/>
                <a:lstStyle/>
                <a:p>
                  <a:endParaRPr lang="fr-FR" dirty="0"/>
                </a:p>
              </p:txBody>
            </p:sp>
            <p:sp>
              <p:nvSpPr>
                <p:cNvPr id="175" name="Rectangle 50"/>
                <p:cNvSpPr>
                  <a:spLocks noChangeArrowheads="1"/>
                </p:cNvSpPr>
                <p:nvPr/>
              </p:nvSpPr>
              <p:spPr bwMode="auto">
                <a:xfrm rot="19895240" flipH="1">
                  <a:off x="3408" y="3072"/>
                  <a:ext cx="48" cy="240"/>
                </a:xfrm>
                <a:prstGeom prst="rect">
                  <a:avLst/>
                </a:prstGeom>
                <a:solidFill>
                  <a:schemeClr val="accent1"/>
                </a:solidFill>
                <a:ln w="9525">
                  <a:solidFill>
                    <a:schemeClr val="tx1"/>
                  </a:solidFill>
                  <a:miter lim="800000"/>
                  <a:headEnd/>
                  <a:tailEnd/>
                </a:ln>
              </p:spPr>
              <p:txBody>
                <a:bodyPr wrap="none" anchor="ctr"/>
                <a:lstStyle/>
                <a:p>
                  <a:endParaRPr lang="fr-FR" dirty="0"/>
                </a:p>
              </p:txBody>
            </p:sp>
          </p:grpSp>
        </p:grpSp>
        <p:sp>
          <p:nvSpPr>
            <p:cNvPr id="169" name="Rectangle 51"/>
            <p:cNvSpPr>
              <a:spLocks noChangeArrowheads="1"/>
            </p:cNvSpPr>
            <p:nvPr/>
          </p:nvSpPr>
          <p:spPr bwMode="auto">
            <a:xfrm>
              <a:off x="5136" y="2304"/>
              <a:ext cx="288" cy="288"/>
            </a:xfrm>
            <a:prstGeom prst="rect">
              <a:avLst/>
            </a:prstGeom>
            <a:noFill/>
            <a:ln w="9525">
              <a:noFill/>
              <a:miter lim="800000"/>
              <a:headEnd/>
              <a:tailEnd/>
            </a:ln>
          </p:spPr>
          <p:txBody>
            <a:bodyPr lIns="90360" tIns="44280" rIns="90360" bIns="44280"/>
            <a:lstStyle/>
            <a:p>
              <a:pPr defTabSz="457200">
                <a:lnSpc>
                  <a:spcPct val="95000"/>
                </a:lnSpc>
                <a:spcBef>
                  <a:spcPts val="700"/>
                </a:spcBef>
                <a:buClr>
                  <a:srgbClr val="00CECE"/>
                </a:buClr>
                <a:buSzPct val="75000"/>
                <a:tabLst>
                  <a:tab pos="569913" algn="l"/>
                  <a:tab pos="1484313" algn="l"/>
                  <a:tab pos="2398713" algn="l"/>
                  <a:tab pos="3313113" algn="l"/>
                  <a:tab pos="4227513" algn="l"/>
                  <a:tab pos="5141913" algn="l"/>
                  <a:tab pos="6056313" algn="l"/>
                  <a:tab pos="6970713" algn="l"/>
                  <a:tab pos="7885113" algn="l"/>
                  <a:tab pos="8799513" algn="l"/>
                  <a:tab pos="9713913" algn="l"/>
                </a:tabLst>
              </a:pPr>
              <a:r>
                <a:rPr lang="en-GB" sz="1200" b="1" i="1" dirty="0"/>
                <a:t>$</a:t>
              </a:r>
              <a:r>
                <a:rPr lang="en-GB" sz="1200" b="1" i="1" dirty="0">
                  <a:solidFill>
                    <a:srgbClr val="00FF00"/>
                  </a:solidFill>
                </a:rPr>
                <a:t> </a:t>
              </a:r>
              <a:r>
                <a:rPr lang="en-GB" sz="1200" b="1" i="1" dirty="0"/>
                <a:t> $ </a:t>
              </a:r>
            </a:p>
          </p:txBody>
        </p:sp>
      </p:grpSp>
      <p:grpSp>
        <p:nvGrpSpPr>
          <p:cNvPr id="178" name="Group 52"/>
          <p:cNvGrpSpPr>
            <a:grpSpLocks/>
          </p:cNvGrpSpPr>
          <p:nvPr/>
        </p:nvGrpSpPr>
        <p:grpSpPr bwMode="auto">
          <a:xfrm>
            <a:off x="3904939" y="4191939"/>
            <a:ext cx="381000" cy="1295400"/>
            <a:chOff x="2784" y="2448"/>
            <a:chExt cx="240" cy="816"/>
          </a:xfrm>
        </p:grpSpPr>
        <p:grpSp>
          <p:nvGrpSpPr>
            <p:cNvPr id="179" name="Group 53"/>
            <p:cNvGrpSpPr>
              <a:grpSpLocks/>
            </p:cNvGrpSpPr>
            <p:nvPr/>
          </p:nvGrpSpPr>
          <p:grpSpPr bwMode="auto">
            <a:xfrm>
              <a:off x="2832" y="2784"/>
              <a:ext cx="144" cy="240"/>
              <a:chOff x="3312" y="3072"/>
              <a:chExt cx="144" cy="240"/>
            </a:xfrm>
          </p:grpSpPr>
          <p:sp>
            <p:nvSpPr>
              <p:cNvPr id="185" name="Rectangle 54"/>
              <p:cNvSpPr>
                <a:spLocks noChangeArrowheads="1"/>
              </p:cNvSpPr>
              <p:nvPr/>
            </p:nvSpPr>
            <p:spPr bwMode="auto">
              <a:xfrm rot="1704760">
                <a:off x="3312" y="3072"/>
                <a:ext cx="48" cy="240"/>
              </a:xfrm>
              <a:prstGeom prst="rect">
                <a:avLst/>
              </a:prstGeom>
              <a:solidFill>
                <a:srgbClr val="00B8FF"/>
              </a:solidFill>
              <a:ln w="9525">
                <a:solidFill>
                  <a:schemeClr val="tx1"/>
                </a:solidFill>
                <a:miter lim="800000"/>
                <a:headEnd/>
                <a:tailEnd/>
              </a:ln>
            </p:spPr>
            <p:txBody>
              <a:bodyPr wrap="none" anchor="ctr"/>
              <a:lstStyle/>
              <a:p>
                <a:endParaRPr lang="fr-FR" dirty="0"/>
              </a:p>
            </p:txBody>
          </p:sp>
          <p:sp>
            <p:nvSpPr>
              <p:cNvPr id="186" name="Rectangle 55"/>
              <p:cNvSpPr>
                <a:spLocks noChangeArrowheads="1"/>
              </p:cNvSpPr>
              <p:nvPr/>
            </p:nvSpPr>
            <p:spPr bwMode="auto">
              <a:xfrm rot="19895240" flipH="1">
                <a:off x="3408" y="3072"/>
                <a:ext cx="48" cy="240"/>
              </a:xfrm>
              <a:prstGeom prst="rect">
                <a:avLst/>
              </a:prstGeom>
              <a:solidFill>
                <a:srgbClr val="00B8FF"/>
              </a:solidFill>
              <a:ln w="9525">
                <a:solidFill>
                  <a:schemeClr val="tx1"/>
                </a:solidFill>
                <a:miter lim="800000"/>
                <a:headEnd/>
                <a:tailEnd/>
              </a:ln>
            </p:spPr>
            <p:txBody>
              <a:bodyPr wrap="none" anchor="ctr"/>
              <a:lstStyle/>
              <a:p>
                <a:endParaRPr lang="fr-FR" dirty="0"/>
              </a:p>
            </p:txBody>
          </p:sp>
        </p:grpSp>
        <p:sp>
          <p:nvSpPr>
            <p:cNvPr id="180" name="Rectangle 56"/>
            <p:cNvSpPr>
              <a:spLocks noChangeArrowheads="1"/>
            </p:cNvSpPr>
            <p:nvPr/>
          </p:nvSpPr>
          <p:spPr bwMode="auto">
            <a:xfrm>
              <a:off x="2880" y="2688"/>
              <a:ext cx="48" cy="384"/>
            </a:xfrm>
            <a:prstGeom prst="rect">
              <a:avLst/>
            </a:prstGeom>
            <a:solidFill>
              <a:srgbClr val="00B8FF"/>
            </a:solidFill>
            <a:ln w="9525">
              <a:solidFill>
                <a:schemeClr val="tx1"/>
              </a:solidFill>
              <a:miter lim="800000"/>
              <a:headEnd/>
              <a:tailEnd/>
            </a:ln>
          </p:spPr>
          <p:txBody>
            <a:bodyPr wrap="none" anchor="ctr"/>
            <a:lstStyle/>
            <a:p>
              <a:endParaRPr lang="fr-FR" dirty="0"/>
            </a:p>
          </p:txBody>
        </p:sp>
        <p:sp>
          <p:nvSpPr>
            <p:cNvPr id="181" name="Oval 57"/>
            <p:cNvSpPr>
              <a:spLocks noChangeArrowheads="1"/>
            </p:cNvSpPr>
            <p:nvPr/>
          </p:nvSpPr>
          <p:spPr bwMode="auto">
            <a:xfrm>
              <a:off x="2784" y="2448"/>
              <a:ext cx="240" cy="288"/>
            </a:xfrm>
            <a:prstGeom prst="ellipse">
              <a:avLst/>
            </a:prstGeom>
            <a:solidFill>
              <a:srgbClr val="00B8FF"/>
            </a:solidFill>
            <a:ln w="9525">
              <a:solidFill>
                <a:schemeClr val="tx1"/>
              </a:solidFill>
              <a:round/>
              <a:headEnd/>
              <a:tailEnd/>
            </a:ln>
          </p:spPr>
          <p:txBody>
            <a:bodyPr wrap="none" anchor="ctr"/>
            <a:lstStyle/>
            <a:p>
              <a:endParaRPr lang="fr-FR" dirty="0"/>
            </a:p>
          </p:txBody>
        </p:sp>
        <p:grpSp>
          <p:nvGrpSpPr>
            <p:cNvPr id="182" name="Group 58"/>
            <p:cNvGrpSpPr>
              <a:grpSpLocks/>
            </p:cNvGrpSpPr>
            <p:nvPr/>
          </p:nvGrpSpPr>
          <p:grpSpPr bwMode="auto">
            <a:xfrm>
              <a:off x="2832" y="3024"/>
              <a:ext cx="144" cy="240"/>
              <a:chOff x="3312" y="3072"/>
              <a:chExt cx="144" cy="240"/>
            </a:xfrm>
          </p:grpSpPr>
          <p:sp>
            <p:nvSpPr>
              <p:cNvPr id="183" name="Rectangle 59"/>
              <p:cNvSpPr>
                <a:spLocks noChangeArrowheads="1"/>
              </p:cNvSpPr>
              <p:nvPr/>
            </p:nvSpPr>
            <p:spPr bwMode="auto">
              <a:xfrm rot="1704760">
                <a:off x="3312" y="3072"/>
                <a:ext cx="48" cy="240"/>
              </a:xfrm>
              <a:prstGeom prst="rect">
                <a:avLst/>
              </a:prstGeom>
              <a:solidFill>
                <a:srgbClr val="00B8FF"/>
              </a:solidFill>
              <a:ln w="9525">
                <a:solidFill>
                  <a:schemeClr val="tx1"/>
                </a:solidFill>
                <a:miter lim="800000"/>
                <a:headEnd/>
                <a:tailEnd/>
              </a:ln>
            </p:spPr>
            <p:txBody>
              <a:bodyPr wrap="none" anchor="ctr"/>
              <a:lstStyle/>
              <a:p>
                <a:endParaRPr lang="fr-FR" dirty="0"/>
              </a:p>
            </p:txBody>
          </p:sp>
          <p:sp>
            <p:nvSpPr>
              <p:cNvPr id="184" name="Rectangle 60"/>
              <p:cNvSpPr>
                <a:spLocks noChangeArrowheads="1"/>
              </p:cNvSpPr>
              <p:nvPr/>
            </p:nvSpPr>
            <p:spPr bwMode="auto">
              <a:xfrm rot="19895240" flipH="1">
                <a:off x="3408" y="3072"/>
                <a:ext cx="48" cy="240"/>
              </a:xfrm>
              <a:prstGeom prst="rect">
                <a:avLst/>
              </a:prstGeom>
              <a:solidFill>
                <a:srgbClr val="00B8FF"/>
              </a:solidFill>
              <a:ln w="9525">
                <a:solidFill>
                  <a:schemeClr val="tx1"/>
                </a:solidFill>
                <a:miter lim="800000"/>
                <a:headEnd/>
                <a:tailEnd/>
              </a:ln>
            </p:spPr>
            <p:txBody>
              <a:bodyPr wrap="none" anchor="ctr"/>
              <a:lstStyle/>
              <a:p>
                <a:endParaRPr lang="fr-FR" dirty="0"/>
              </a:p>
            </p:txBody>
          </p:sp>
        </p:grpSp>
      </p:grpSp>
      <p:sp>
        <p:nvSpPr>
          <p:cNvPr id="187" name="AutoShape 61"/>
          <p:cNvSpPr>
            <a:spLocks noChangeArrowheads="1"/>
          </p:cNvSpPr>
          <p:nvPr/>
        </p:nvSpPr>
        <p:spPr bwMode="auto">
          <a:xfrm>
            <a:off x="2685739" y="5639739"/>
            <a:ext cx="728660" cy="352574"/>
          </a:xfrm>
          <a:prstGeom prst="roundRect">
            <a:avLst>
              <a:gd name="adj" fmla="val 306"/>
            </a:avLst>
          </a:prstGeom>
          <a:noFill/>
          <a:ln w="9525">
            <a:noFill/>
            <a:round/>
            <a:headEnd/>
            <a:tailEnd/>
          </a:ln>
        </p:spPr>
        <p:txBody>
          <a:bodyPr wrap="none" lIns="90360" tIns="44280" rIns="90360" bIns="44280">
            <a:spAutoFit/>
          </a:bodyPr>
          <a:lstStyle/>
          <a:p>
            <a:pPr>
              <a:lnSpc>
                <a:spcPct val="95000"/>
              </a:lnSpc>
              <a:buClr>
                <a:srgbClr val="E0E0E0"/>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dirty="0">
                <a:solidFill>
                  <a:schemeClr val="folHlink"/>
                </a:solidFill>
              </a:rPr>
              <a:t>Front</a:t>
            </a:r>
          </a:p>
        </p:txBody>
      </p:sp>
      <p:sp>
        <p:nvSpPr>
          <p:cNvPr id="188" name="AutoShape 62"/>
          <p:cNvSpPr>
            <a:spLocks noChangeArrowheads="1"/>
          </p:cNvSpPr>
          <p:nvPr/>
        </p:nvSpPr>
        <p:spPr bwMode="auto">
          <a:xfrm>
            <a:off x="6952939" y="5715939"/>
            <a:ext cx="634340" cy="352574"/>
          </a:xfrm>
          <a:prstGeom prst="roundRect">
            <a:avLst>
              <a:gd name="adj" fmla="val 306"/>
            </a:avLst>
          </a:prstGeom>
          <a:noFill/>
          <a:ln w="9525">
            <a:noFill/>
            <a:round/>
            <a:headEnd/>
            <a:tailEnd/>
          </a:ln>
        </p:spPr>
        <p:txBody>
          <a:bodyPr wrap="none" lIns="90360" tIns="44280" rIns="90360" bIns="44280">
            <a:spAutoFit/>
          </a:bodyPr>
          <a:lstStyle/>
          <a:p>
            <a:pPr>
              <a:lnSpc>
                <a:spcPct val="95000"/>
              </a:lnSpc>
              <a:buClr>
                <a:srgbClr val="E0E0E0"/>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dirty="0">
                <a:solidFill>
                  <a:schemeClr val="folHlink"/>
                </a:solidFill>
              </a:rPr>
              <a:t>Rear</a:t>
            </a:r>
          </a:p>
        </p:txBody>
      </p:sp>
      <p:sp>
        <p:nvSpPr>
          <p:cNvPr id="189" name="Line 64"/>
          <p:cNvSpPr>
            <a:spLocks noChangeShapeType="1"/>
          </p:cNvSpPr>
          <p:nvPr/>
        </p:nvSpPr>
        <p:spPr bwMode="auto">
          <a:xfrm flipH="1" flipV="1">
            <a:off x="2304739" y="4725339"/>
            <a:ext cx="1295400" cy="381000"/>
          </a:xfrm>
          <a:prstGeom prst="line">
            <a:avLst/>
          </a:prstGeom>
          <a:noFill/>
          <a:ln w="76200">
            <a:solidFill>
              <a:schemeClr val="tx1"/>
            </a:solidFill>
            <a:round/>
            <a:headEnd/>
            <a:tailEnd type="triangle" w="med" len="med"/>
          </a:ln>
        </p:spPr>
        <p:txBody>
          <a:bodyPr/>
          <a:lstStyle/>
          <a:p>
            <a:endParaRPr lang="en-US" dirty="0"/>
          </a:p>
        </p:txBody>
      </p:sp>
    </p:spTree>
    <p:extLst>
      <p:ext uri="{BB962C8B-B14F-4D97-AF65-F5344CB8AC3E}">
        <p14:creationId xmlns:p14="http://schemas.microsoft.com/office/powerpoint/2010/main" val="210194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b="1" spc="-5" dirty="0">
                <a:solidFill>
                  <a:schemeClr val="tx1"/>
                </a:solidFill>
              </a:rPr>
              <a:t>Some examples</a:t>
            </a:r>
            <a:endParaRPr lang="en-US" sz="4000" b="1" kern="1200" spc="-10" dirty="0">
              <a:solidFill>
                <a:schemeClr val="tx1"/>
              </a:solidFill>
              <a:latin typeface="+mj-lt"/>
              <a:ea typeface="+mj-ea"/>
              <a:cs typeface="+mj-cs"/>
            </a:endParaRPr>
          </a:p>
        </p:txBody>
      </p:sp>
      <p:sp>
        <p:nvSpPr>
          <p:cNvPr id="70" name="Espace réservé du contenu 2"/>
          <p:cNvSpPr>
            <a:spLocks noGrp="1"/>
          </p:cNvSpPr>
          <p:nvPr>
            <p:ph idx="1"/>
          </p:nvPr>
        </p:nvSpPr>
        <p:spPr>
          <a:xfrm>
            <a:off x="1524000" y="2265330"/>
            <a:ext cx="8458200" cy="4389120"/>
          </a:xfrm>
        </p:spPr>
        <p:txBody>
          <a:bodyPr>
            <a:normAutofit/>
          </a:bodyPr>
          <a:lstStyle/>
          <a:p>
            <a:pPr>
              <a:defRPr/>
            </a:pPr>
            <a:r>
              <a:rPr lang="en-US" sz="2800" dirty="0"/>
              <a:t>Billing counter</a:t>
            </a:r>
          </a:p>
          <a:p>
            <a:pPr lvl="1">
              <a:defRPr/>
            </a:pPr>
            <a:r>
              <a:rPr lang="en-US" dirty="0"/>
              <a:t>Booking movie tickets </a:t>
            </a:r>
          </a:p>
          <a:p>
            <a:pPr lvl="1">
              <a:defRPr/>
            </a:pPr>
            <a:r>
              <a:rPr lang="en-US" dirty="0"/>
              <a:t>Queue for paying bills</a:t>
            </a:r>
          </a:p>
          <a:p>
            <a:pPr>
              <a:defRPr/>
            </a:pPr>
            <a:endParaRPr lang="fr-FR" sz="2800" dirty="0"/>
          </a:p>
          <a:p>
            <a:pPr>
              <a:defRPr/>
            </a:pPr>
            <a:r>
              <a:rPr lang="fr-FR" sz="2800" dirty="0"/>
              <a:t>A </a:t>
            </a:r>
            <a:r>
              <a:rPr lang="fr-FR" sz="2800" dirty="0" err="1"/>
              <a:t>print</a:t>
            </a:r>
            <a:r>
              <a:rPr lang="fr-FR" sz="2800" dirty="0"/>
              <a:t> queue</a:t>
            </a:r>
          </a:p>
          <a:p>
            <a:pPr>
              <a:defRPr/>
            </a:pPr>
            <a:r>
              <a:rPr lang="en-US" sz="2800" dirty="0"/>
              <a:t>Vehicles on toll-tax bridge</a:t>
            </a:r>
          </a:p>
          <a:p>
            <a:pPr>
              <a:defRPr/>
            </a:pPr>
            <a:r>
              <a:rPr lang="pl-PL" sz="2800" dirty="0" err="1"/>
              <a:t>Luggage</a:t>
            </a:r>
            <a:r>
              <a:rPr lang="pl-PL" sz="2800" dirty="0"/>
              <a:t> </a:t>
            </a:r>
            <a:r>
              <a:rPr lang="pl-PL" sz="2800" dirty="0" err="1"/>
              <a:t>checking</a:t>
            </a:r>
            <a:r>
              <a:rPr lang="pl-PL" sz="2800" dirty="0"/>
              <a:t> </a:t>
            </a:r>
            <a:r>
              <a:rPr lang="pl-PL" sz="2800" dirty="0" err="1"/>
              <a:t>machine</a:t>
            </a:r>
            <a:endParaRPr lang="pl-PL" sz="2800" dirty="0"/>
          </a:p>
          <a:p>
            <a:pPr>
              <a:defRPr/>
            </a:pPr>
            <a:endParaRPr lang="pl-PL" sz="2800" dirty="0"/>
          </a:p>
          <a:p>
            <a:pPr marL="0" indent="0">
              <a:buNone/>
              <a:defRPr/>
            </a:pPr>
            <a:endParaRPr lang="fr-FR" sz="2800" dirty="0"/>
          </a:p>
          <a:p>
            <a:pPr>
              <a:defRPr/>
            </a:pPr>
            <a:endParaRPr lang="fr-FR" sz="2800" dirty="0"/>
          </a:p>
        </p:txBody>
      </p:sp>
    </p:spTree>
    <p:extLst>
      <p:ext uri="{BB962C8B-B14F-4D97-AF65-F5344CB8AC3E}">
        <p14:creationId xmlns:p14="http://schemas.microsoft.com/office/powerpoint/2010/main" val="14276979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AC87A-9D81-3703-1760-87C1912D19EC}"/>
              </a:ext>
            </a:extLst>
          </p:cNvPr>
          <p:cNvSpPr>
            <a:spLocks noGrp="1"/>
          </p:cNvSpPr>
          <p:nvPr>
            <p:ph type="title"/>
          </p:nvPr>
        </p:nvSpPr>
        <p:spPr/>
        <p:txBody>
          <a:bodyPr/>
          <a:lstStyle/>
          <a:p>
            <a:r>
              <a:rPr lang="en-US" dirty="0"/>
              <a:t>Application of Queue</a:t>
            </a:r>
          </a:p>
        </p:txBody>
      </p:sp>
      <p:sp>
        <p:nvSpPr>
          <p:cNvPr id="3" name="Content Placeholder 2">
            <a:extLst>
              <a:ext uri="{FF2B5EF4-FFF2-40B4-BE49-F238E27FC236}">
                <a16:creationId xmlns:a16="http://schemas.microsoft.com/office/drawing/2014/main" id="{C4A4DF0B-43EA-5180-4CC4-5C699519745F}"/>
              </a:ext>
            </a:extLst>
          </p:cNvPr>
          <p:cNvSpPr>
            <a:spLocks noGrp="1"/>
          </p:cNvSpPr>
          <p:nvPr>
            <p:ph idx="1"/>
          </p:nvPr>
        </p:nvSpPr>
        <p:spPr/>
        <p:txBody>
          <a:bodyPr/>
          <a:lstStyle/>
          <a:p>
            <a:pPr>
              <a:buFont typeface="Wingdings" panose="05000000000000000000" pitchFamily="2" charset="2"/>
              <a:buChar char="Ø"/>
            </a:pPr>
            <a:r>
              <a:rPr lang="en-US" sz="2400" dirty="0"/>
              <a:t>Queue data structure are commonly used in computer operating systems.</a:t>
            </a:r>
          </a:p>
          <a:p>
            <a:pPr>
              <a:buFont typeface="Wingdings" panose="05000000000000000000" pitchFamily="2" charset="2"/>
              <a:buChar char="Ø"/>
            </a:pPr>
            <a:r>
              <a:rPr lang="en-US" sz="2400" dirty="0"/>
              <a:t>They are especially important in multitasking environment, where several users or tasks may be required the same resource.</a:t>
            </a:r>
          </a:p>
          <a:p>
            <a:pPr>
              <a:buFont typeface="Wingdings" panose="05000000000000000000" pitchFamily="2" charset="2"/>
              <a:buChar char="Ø"/>
            </a:pPr>
            <a:r>
              <a:rPr lang="en-US" sz="2400" dirty="0"/>
              <a:t>Communication software also uses queue to hold the data received over networks and dial-up connections.</a:t>
            </a:r>
          </a:p>
          <a:p>
            <a:endParaRPr lang="en-US" dirty="0"/>
          </a:p>
        </p:txBody>
      </p:sp>
    </p:spTree>
    <p:extLst>
      <p:ext uri="{BB962C8B-B14F-4D97-AF65-F5344CB8AC3E}">
        <p14:creationId xmlns:p14="http://schemas.microsoft.com/office/powerpoint/2010/main" val="4262822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6C713-88A7-9253-C3C6-5F305C9F961F}"/>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FF71393E-6948-6243-EC2E-64C78325AE01}"/>
              </a:ext>
            </a:extLst>
          </p:cNvPr>
          <p:cNvSpPr>
            <a:spLocks noGrp="1"/>
          </p:cNvSpPr>
          <p:nvPr>
            <p:ph idx="1"/>
          </p:nvPr>
        </p:nvSpPr>
        <p:spPr/>
        <p:txBody>
          <a:bodyPr/>
          <a:lstStyle/>
          <a:p>
            <a:r>
              <a:rPr lang="en-US" sz="2400" dirty="0"/>
              <a:t>Printing, is controlled by a queue because only one document may be printed at a time.</a:t>
            </a:r>
          </a:p>
          <a:p>
            <a:r>
              <a:rPr lang="en-US" sz="2400" dirty="0"/>
              <a:t>A queue is used to hold print jobs submitted by the users, while the printer services those jobs one at a time. </a:t>
            </a:r>
          </a:p>
          <a:p>
            <a:endParaRPr lang="en-US" dirty="0"/>
          </a:p>
        </p:txBody>
      </p:sp>
    </p:spTree>
    <p:extLst>
      <p:ext uri="{BB962C8B-B14F-4D97-AF65-F5344CB8AC3E}">
        <p14:creationId xmlns:p14="http://schemas.microsoft.com/office/powerpoint/2010/main" val="20949117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b="1" spc="-5" dirty="0">
                <a:solidFill>
                  <a:schemeClr val="tx1"/>
                </a:solidFill>
              </a:rPr>
              <a:t>Types of Queues in Data Structure</a:t>
            </a:r>
            <a:endParaRPr lang="en-US" sz="4000" b="1" kern="1200" spc="-10" dirty="0">
              <a:solidFill>
                <a:schemeClr val="tx1"/>
              </a:solidFill>
              <a:latin typeface="+mj-lt"/>
              <a:ea typeface="+mj-ea"/>
              <a:cs typeface="+mj-cs"/>
            </a:endParaRPr>
          </a:p>
        </p:txBody>
      </p:sp>
      <p:sp>
        <p:nvSpPr>
          <p:cNvPr id="70" name="Espace réservé du contenu 2"/>
          <p:cNvSpPr>
            <a:spLocks noGrp="1"/>
          </p:cNvSpPr>
          <p:nvPr>
            <p:ph idx="1"/>
          </p:nvPr>
        </p:nvSpPr>
        <p:spPr>
          <a:xfrm>
            <a:off x="1091682" y="2012494"/>
            <a:ext cx="8890518" cy="4641956"/>
          </a:xfrm>
        </p:spPr>
        <p:txBody>
          <a:bodyPr>
            <a:normAutofit/>
          </a:bodyPr>
          <a:lstStyle/>
          <a:p>
            <a:pPr>
              <a:defRPr/>
            </a:pPr>
            <a:r>
              <a:rPr lang="en-US" sz="3200" dirty="0"/>
              <a:t>There are four different types of queues in data structures:</a:t>
            </a:r>
          </a:p>
          <a:p>
            <a:pPr lvl="1">
              <a:defRPr/>
            </a:pPr>
            <a:r>
              <a:rPr lang="en-US" sz="2000" dirty="0"/>
              <a:t>Simple Queue</a:t>
            </a:r>
          </a:p>
          <a:p>
            <a:pPr lvl="1">
              <a:defRPr/>
            </a:pPr>
            <a:r>
              <a:rPr lang="en-US" sz="2000" dirty="0"/>
              <a:t>Circular Queue</a:t>
            </a:r>
          </a:p>
          <a:p>
            <a:pPr lvl="1">
              <a:defRPr/>
            </a:pPr>
            <a:r>
              <a:rPr lang="en-US" sz="2000" dirty="0"/>
              <a:t>Priority Queue</a:t>
            </a:r>
          </a:p>
          <a:p>
            <a:pPr lvl="1">
              <a:defRPr/>
            </a:pPr>
            <a:r>
              <a:rPr lang="en-US" sz="2000" dirty="0"/>
              <a:t>Dequeue( Double ended Queue)</a:t>
            </a:r>
            <a:endParaRPr lang="pl-PL" sz="2000" dirty="0"/>
          </a:p>
          <a:p>
            <a:pPr marL="0" indent="0">
              <a:buNone/>
              <a:defRPr/>
            </a:pPr>
            <a:endParaRPr lang="fr-FR" sz="2800" dirty="0"/>
          </a:p>
          <a:p>
            <a:pPr>
              <a:defRPr/>
            </a:pPr>
            <a:endParaRPr lang="fr-FR" sz="2800" dirty="0"/>
          </a:p>
        </p:txBody>
      </p:sp>
    </p:spTree>
    <p:extLst>
      <p:ext uri="{BB962C8B-B14F-4D97-AF65-F5344CB8AC3E}">
        <p14:creationId xmlns:p14="http://schemas.microsoft.com/office/powerpoint/2010/main" val="37773888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b="1" spc="-5" dirty="0">
                <a:solidFill>
                  <a:schemeClr val="tx1"/>
                </a:solidFill>
              </a:rPr>
              <a:t>Simple Queue</a:t>
            </a:r>
            <a:endParaRPr lang="en-US" sz="4000" b="1" kern="1200" spc="-10" dirty="0">
              <a:solidFill>
                <a:schemeClr val="tx1"/>
              </a:solidFill>
              <a:latin typeface="+mj-lt"/>
              <a:ea typeface="+mj-ea"/>
              <a:cs typeface="+mj-cs"/>
            </a:endParaRPr>
          </a:p>
        </p:txBody>
      </p:sp>
      <p:sp>
        <p:nvSpPr>
          <p:cNvPr id="70" name="Espace réservé du contenu 2"/>
          <p:cNvSpPr>
            <a:spLocks noGrp="1"/>
          </p:cNvSpPr>
          <p:nvPr>
            <p:ph idx="1"/>
          </p:nvPr>
        </p:nvSpPr>
        <p:spPr>
          <a:xfrm>
            <a:off x="1692088" y="2255805"/>
            <a:ext cx="8458200" cy="2589702"/>
          </a:xfrm>
        </p:spPr>
        <p:txBody>
          <a:bodyPr>
            <a:normAutofit/>
          </a:bodyPr>
          <a:lstStyle/>
          <a:p>
            <a:pPr marL="0" indent="0">
              <a:buNone/>
              <a:defRPr/>
            </a:pPr>
            <a:endParaRPr lang="fr-FR" sz="2800" dirty="0"/>
          </a:p>
          <a:p>
            <a:pPr algn="l"/>
            <a:r>
              <a:rPr lang="en-US" b="0" i="0" dirty="0">
                <a:solidFill>
                  <a:srgbClr val="333333"/>
                </a:solidFill>
                <a:effectLst/>
                <a:latin typeface="Roboto" panose="02000000000000000000" pitchFamily="2" charset="0"/>
              </a:rPr>
              <a:t>It is the most basic queue in which the insertion of an item is done at the front of the queue and deletion takes place at the end of the queue.</a:t>
            </a:r>
          </a:p>
          <a:p>
            <a:pPr algn="l"/>
            <a:r>
              <a:rPr lang="en-US" b="0" i="0" dirty="0">
                <a:effectLst/>
                <a:latin typeface="euclid_circular_a"/>
              </a:rPr>
              <a:t>It strictly follows the FIFO (First in First out) rule.</a:t>
            </a:r>
            <a:endParaRPr lang="en-US" b="0" i="0" dirty="0">
              <a:solidFill>
                <a:srgbClr val="333333"/>
              </a:solidFill>
              <a:effectLst/>
              <a:latin typeface="Roboto" panose="02000000000000000000" pitchFamily="2" charset="0"/>
            </a:endParaRPr>
          </a:p>
          <a:p>
            <a:pPr marL="0" indent="0">
              <a:buNone/>
            </a:pPr>
            <a:endParaRPr lang="fr-FR" sz="2800" dirty="0"/>
          </a:p>
        </p:txBody>
      </p:sp>
      <p:pic>
        <p:nvPicPr>
          <p:cNvPr id="3" name="Picture 2">
            <a:extLst>
              <a:ext uri="{FF2B5EF4-FFF2-40B4-BE49-F238E27FC236}">
                <a16:creationId xmlns:a16="http://schemas.microsoft.com/office/drawing/2014/main" id="{D82F9251-A931-459C-80F7-7249DAA50854}"/>
              </a:ext>
            </a:extLst>
          </p:cNvPr>
          <p:cNvPicPr>
            <a:picLocks noChangeAspect="1"/>
          </p:cNvPicPr>
          <p:nvPr/>
        </p:nvPicPr>
        <p:blipFill>
          <a:blip r:embed="rId2"/>
          <a:stretch>
            <a:fillRect/>
          </a:stretch>
        </p:blipFill>
        <p:spPr>
          <a:xfrm>
            <a:off x="1211356" y="4160735"/>
            <a:ext cx="9769288" cy="1856165"/>
          </a:xfrm>
          <a:prstGeom prst="rect">
            <a:avLst/>
          </a:prstGeom>
        </p:spPr>
      </p:pic>
    </p:spTree>
    <p:extLst>
      <p:ext uri="{BB962C8B-B14F-4D97-AF65-F5344CB8AC3E}">
        <p14:creationId xmlns:p14="http://schemas.microsoft.com/office/powerpoint/2010/main" val="15109589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b="1" spc="-5" dirty="0">
                <a:solidFill>
                  <a:schemeClr val="tx1"/>
                </a:solidFill>
              </a:rPr>
              <a:t>Circular Queue</a:t>
            </a:r>
            <a:endParaRPr lang="en-US" sz="4000" b="1" kern="1200" spc="-10" dirty="0">
              <a:solidFill>
                <a:schemeClr val="tx1"/>
              </a:solidFill>
              <a:latin typeface="+mj-lt"/>
              <a:ea typeface="+mj-ea"/>
              <a:cs typeface="+mj-cs"/>
            </a:endParaRPr>
          </a:p>
        </p:txBody>
      </p:sp>
      <p:sp>
        <p:nvSpPr>
          <p:cNvPr id="70" name="Espace réservé du contenu 2"/>
          <p:cNvSpPr>
            <a:spLocks noGrp="1"/>
          </p:cNvSpPr>
          <p:nvPr>
            <p:ph idx="1"/>
          </p:nvPr>
        </p:nvSpPr>
        <p:spPr>
          <a:xfrm>
            <a:off x="1692088" y="2255805"/>
            <a:ext cx="9713068" cy="4389120"/>
          </a:xfrm>
        </p:spPr>
        <p:txBody>
          <a:bodyPr>
            <a:normAutofit/>
          </a:bodyPr>
          <a:lstStyle/>
          <a:p>
            <a:pPr marL="0" indent="0">
              <a:buNone/>
              <a:defRPr/>
            </a:pPr>
            <a:r>
              <a:rPr lang="en-US" sz="2800" dirty="0"/>
              <a:t>In a circular queue, the last element points to the first element making a circular link.</a:t>
            </a:r>
          </a:p>
          <a:p>
            <a:pPr marL="0" indent="0">
              <a:buNone/>
              <a:defRPr/>
            </a:pPr>
            <a:r>
              <a:rPr lang="en-US" sz="2800" dirty="0"/>
              <a:t>The main advantage of a circular queue over a simple queue is better memory utilization. If the last position is full and the first position is empty, we can insert an element in the first position. This action is not possible in a simple queue.</a:t>
            </a:r>
            <a:endParaRPr lang="fr-FR" sz="2800" dirty="0"/>
          </a:p>
        </p:txBody>
      </p:sp>
      <p:pic>
        <p:nvPicPr>
          <p:cNvPr id="4" name="Picture 3">
            <a:extLst>
              <a:ext uri="{FF2B5EF4-FFF2-40B4-BE49-F238E27FC236}">
                <a16:creationId xmlns:a16="http://schemas.microsoft.com/office/drawing/2014/main" id="{AEE43A4A-618A-437F-B499-FD69E9C6FC26}"/>
              </a:ext>
            </a:extLst>
          </p:cNvPr>
          <p:cNvPicPr>
            <a:picLocks noChangeAspect="1"/>
          </p:cNvPicPr>
          <p:nvPr/>
        </p:nvPicPr>
        <p:blipFill>
          <a:blip r:embed="rId2"/>
          <a:stretch>
            <a:fillRect/>
          </a:stretch>
        </p:blipFill>
        <p:spPr>
          <a:xfrm>
            <a:off x="1814129" y="4941651"/>
            <a:ext cx="8553450" cy="1703274"/>
          </a:xfrm>
          <a:prstGeom prst="rect">
            <a:avLst/>
          </a:prstGeom>
        </p:spPr>
      </p:pic>
    </p:spTree>
    <p:extLst>
      <p:ext uri="{BB962C8B-B14F-4D97-AF65-F5344CB8AC3E}">
        <p14:creationId xmlns:p14="http://schemas.microsoft.com/office/powerpoint/2010/main" val="31855034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b="1" spc="-5" dirty="0">
                <a:solidFill>
                  <a:schemeClr val="tx1"/>
                </a:solidFill>
              </a:rPr>
              <a:t>Priority Queue</a:t>
            </a:r>
            <a:endParaRPr lang="en-US" sz="4000" b="1" kern="1200" spc="-10" dirty="0">
              <a:solidFill>
                <a:schemeClr val="tx1"/>
              </a:solidFill>
              <a:latin typeface="+mj-lt"/>
              <a:ea typeface="+mj-ea"/>
              <a:cs typeface="+mj-cs"/>
            </a:endParaRPr>
          </a:p>
        </p:txBody>
      </p:sp>
      <p:sp>
        <p:nvSpPr>
          <p:cNvPr id="70" name="Espace réservé du contenu 2"/>
          <p:cNvSpPr>
            <a:spLocks noGrp="1"/>
          </p:cNvSpPr>
          <p:nvPr>
            <p:ph idx="1"/>
          </p:nvPr>
        </p:nvSpPr>
        <p:spPr>
          <a:xfrm>
            <a:off x="1085597" y="1845258"/>
            <a:ext cx="9691931" cy="4389120"/>
          </a:xfrm>
        </p:spPr>
        <p:txBody>
          <a:bodyPr>
            <a:normAutofit/>
          </a:bodyPr>
          <a:lstStyle/>
          <a:p>
            <a:pPr marL="0" indent="0">
              <a:buNone/>
              <a:defRPr/>
            </a:pPr>
            <a:r>
              <a:rPr lang="en-US" sz="2800" dirty="0"/>
              <a:t>A priority queue is a special type of queue in which each element is associated with a priority and is served according to its priority. If elements with the same priority occur, they are served according to their order in the queue.</a:t>
            </a:r>
          </a:p>
          <a:p>
            <a:pPr marL="0" indent="0">
              <a:buNone/>
              <a:defRPr/>
            </a:pPr>
            <a:r>
              <a:rPr lang="en-US" sz="2800" dirty="0"/>
              <a:t>Insertion occurs based on the arrival of the values and removal occurs based on priority.</a:t>
            </a:r>
          </a:p>
          <a:p>
            <a:pPr marL="0" indent="0">
              <a:buNone/>
              <a:defRPr/>
            </a:pPr>
            <a:endParaRPr lang="fr-FR" sz="2800" dirty="0"/>
          </a:p>
        </p:txBody>
      </p:sp>
      <p:pic>
        <p:nvPicPr>
          <p:cNvPr id="4" name="Picture 3">
            <a:extLst>
              <a:ext uri="{FF2B5EF4-FFF2-40B4-BE49-F238E27FC236}">
                <a16:creationId xmlns:a16="http://schemas.microsoft.com/office/drawing/2014/main" id="{C7E50505-2ED1-4496-980F-C3854E880348}"/>
              </a:ext>
            </a:extLst>
          </p:cNvPr>
          <p:cNvPicPr>
            <a:picLocks noChangeAspect="1"/>
          </p:cNvPicPr>
          <p:nvPr/>
        </p:nvPicPr>
        <p:blipFill>
          <a:blip r:embed="rId2"/>
          <a:stretch>
            <a:fillRect/>
          </a:stretch>
        </p:blipFill>
        <p:spPr>
          <a:xfrm>
            <a:off x="5257800" y="4267200"/>
            <a:ext cx="6934200" cy="2555033"/>
          </a:xfrm>
          <a:prstGeom prst="rect">
            <a:avLst/>
          </a:prstGeom>
        </p:spPr>
      </p:pic>
    </p:spTree>
    <p:extLst>
      <p:ext uri="{BB962C8B-B14F-4D97-AF65-F5344CB8AC3E}">
        <p14:creationId xmlns:p14="http://schemas.microsoft.com/office/powerpoint/2010/main" val="3114332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b="1" spc="-5" dirty="0">
                <a:solidFill>
                  <a:schemeClr val="tx1"/>
                </a:solidFill>
              </a:rPr>
              <a:t>Deque (Double Ended Queue)</a:t>
            </a:r>
            <a:endParaRPr lang="en-US" sz="4000" b="1" kern="1200" spc="-10" dirty="0">
              <a:solidFill>
                <a:schemeClr val="tx1"/>
              </a:solidFill>
              <a:latin typeface="+mj-lt"/>
              <a:ea typeface="+mj-ea"/>
              <a:cs typeface="+mj-cs"/>
            </a:endParaRPr>
          </a:p>
        </p:txBody>
      </p:sp>
      <p:sp>
        <p:nvSpPr>
          <p:cNvPr id="6" name="Content Placeholder 5">
            <a:extLst>
              <a:ext uri="{FF2B5EF4-FFF2-40B4-BE49-F238E27FC236}">
                <a16:creationId xmlns:a16="http://schemas.microsoft.com/office/drawing/2014/main" id="{A76A277C-91C2-4C4D-AC2B-01C79B9EF598}"/>
              </a:ext>
            </a:extLst>
          </p:cNvPr>
          <p:cNvSpPr>
            <a:spLocks noGrp="1"/>
          </p:cNvSpPr>
          <p:nvPr>
            <p:ph idx="1"/>
          </p:nvPr>
        </p:nvSpPr>
        <p:spPr>
          <a:xfrm>
            <a:off x="1057231" y="2012494"/>
            <a:ext cx="10515600" cy="4351338"/>
          </a:xfrm>
        </p:spPr>
        <p:txBody>
          <a:bodyPr/>
          <a:lstStyle/>
          <a:p>
            <a:r>
              <a:rPr lang="en-US" sz="2400" dirty="0"/>
              <a:t>In a double ended queue, insertion and removal of elements can be performed from either from the front or rear. Thus, it does not follow the FIFO (First In First Out) rule.</a:t>
            </a:r>
          </a:p>
          <a:p>
            <a:endParaRPr lang="en-US" dirty="0"/>
          </a:p>
          <a:p>
            <a:endParaRPr lang="en-US" dirty="0"/>
          </a:p>
        </p:txBody>
      </p:sp>
      <p:pic>
        <p:nvPicPr>
          <p:cNvPr id="7" name="Picture 6">
            <a:extLst>
              <a:ext uri="{FF2B5EF4-FFF2-40B4-BE49-F238E27FC236}">
                <a16:creationId xmlns:a16="http://schemas.microsoft.com/office/drawing/2014/main" id="{EE953EC8-F99F-44EC-95CA-7095ACE7049E}"/>
              </a:ext>
            </a:extLst>
          </p:cNvPr>
          <p:cNvPicPr>
            <a:picLocks noChangeAspect="1"/>
          </p:cNvPicPr>
          <p:nvPr/>
        </p:nvPicPr>
        <p:blipFill>
          <a:blip r:embed="rId2"/>
          <a:stretch>
            <a:fillRect/>
          </a:stretch>
        </p:blipFill>
        <p:spPr>
          <a:xfrm>
            <a:off x="1057231" y="3785020"/>
            <a:ext cx="10713615" cy="2133600"/>
          </a:xfrm>
          <a:prstGeom prst="rect">
            <a:avLst/>
          </a:prstGeom>
        </p:spPr>
      </p:pic>
    </p:spTree>
    <p:extLst>
      <p:ext uri="{BB962C8B-B14F-4D97-AF65-F5344CB8AC3E}">
        <p14:creationId xmlns:p14="http://schemas.microsoft.com/office/powerpoint/2010/main" val="2446124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b="1" spc="-5" dirty="0">
                <a:solidFill>
                  <a:srgbClr val="FFFFFF"/>
                </a:solidFill>
              </a:rPr>
              <a:t>Common Operations (Queue ADT)</a:t>
            </a:r>
            <a:endParaRPr lang="en-US" sz="4000" b="1" kern="1200" spc="-10" dirty="0">
              <a:solidFill>
                <a:srgbClr val="FFFFFF"/>
              </a:solidFill>
              <a:latin typeface="+mj-lt"/>
              <a:ea typeface="+mj-ea"/>
              <a:cs typeface="+mj-cs"/>
            </a:endParaRPr>
          </a:p>
        </p:txBody>
      </p:sp>
      <p:pic>
        <p:nvPicPr>
          <p:cNvPr id="11" name="Picture 2" descr="Figure 18-9"/>
          <p:cNvPicPr>
            <a:picLocks noGrp="1" noChangeAspect="1" noChangeArrowheads="1"/>
          </p:cNvPicPr>
          <p:nvPr>
            <p:ph sz="half" idx="1"/>
          </p:nvPr>
        </p:nvPicPr>
        <p:blipFill>
          <a:blip r:embed="rId2">
            <a:clrChange>
              <a:clrFrom>
                <a:srgbClr val="FFFFFF"/>
              </a:clrFrom>
              <a:clrTo>
                <a:srgbClr val="FFFFFF">
                  <a:alpha val="0"/>
                </a:srgbClr>
              </a:clrTo>
            </a:clrChange>
          </a:blip>
          <a:srcRect/>
          <a:stretch>
            <a:fillRect/>
          </a:stretch>
        </p:blipFill>
        <p:spPr>
          <a:xfrm>
            <a:off x="2501565" y="1022350"/>
            <a:ext cx="2366963" cy="5440363"/>
          </a:xfrm>
          <a:noFill/>
        </p:spPr>
      </p:pic>
      <p:pic>
        <p:nvPicPr>
          <p:cNvPr id="12" name="Picture 3" descr="Figure 18-10"/>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a:xfrm>
            <a:off x="7084677" y="1022350"/>
            <a:ext cx="2627312" cy="5440363"/>
          </a:xfrm>
          <a:prstGeom prst="rect">
            <a:avLst/>
          </a:prstGeom>
          <a:noFill/>
        </p:spPr>
      </p:pic>
    </p:spTree>
    <p:extLst>
      <p:ext uri="{BB962C8B-B14F-4D97-AF65-F5344CB8AC3E}">
        <p14:creationId xmlns:p14="http://schemas.microsoft.com/office/powerpoint/2010/main" val="29692710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b="1" spc="-5" dirty="0">
                <a:solidFill>
                  <a:schemeClr val="tx1"/>
                </a:solidFill>
              </a:rPr>
              <a:t>Implementation</a:t>
            </a:r>
            <a:endParaRPr lang="en-US" sz="4000" b="1" kern="1200" spc="-10" dirty="0">
              <a:solidFill>
                <a:schemeClr val="tx1"/>
              </a:solidFill>
              <a:latin typeface="+mj-lt"/>
              <a:ea typeface="+mj-ea"/>
              <a:cs typeface="+mj-cs"/>
            </a:endParaRPr>
          </a:p>
        </p:txBody>
      </p:sp>
      <p:sp>
        <p:nvSpPr>
          <p:cNvPr id="11" name="Rectangle 3"/>
          <p:cNvSpPr txBox="1">
            <a:spLocks noChangeArrowheads="1"/>
          </p:cNvSpPr>
          <p:nvPr/>
        </p:nvSpPr>
        <p:spPr>
          <a:xfrm>
            <a:off x="1208229" y="2336161"/>
            <a:ext cx="10175790" cy="438912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US"/>
              <a:t>Static</a:t>
            </a:r>
          </a:p>
          <a:p>
            <a:pPr lvl="1">
              <a:defRPr/>
            </a:pPr>
            <a:r>
              <a:rPr lang="en-US"/>
              <a:t>Queue is implemented by an array, and size of queue remains fix</a:t>
            </a:r>
          </a:p>
          <a:p>
            <a:pPr lvl="1">
              <a:defRPr/>
            </a:pPr>
            <a:endParaRPr lang="en-US"/>
          </a:p>
          <a:p>
            <a:pPr>
              <a:defRPr/>
            </a:pPr>
            <a:r>
              <a:rPr lang="en-US"/>
              <a:t>Dynamic</a:t>
            </a:r>
          </a:p>
          <a:p>
            <a:pPr lvl="1">
              <a:defRPr/>
            </a:pPr>
            <a:r>
              <a:rPr lang="en-US"/>
              <a:t>A </a:t>
            </a:r>
            <a:r>
              <a:rPr lang="en-US" b="1"/>
              <a:t>queue</a:t>
            </a:r>
            <a:r>
              <a:rPr lang="en-US"/>
              <a:t> can be </a:t>
            </a:r>
            <a:r>
              <a:rPr lang="en-US" b="1"/>
              <a:t>implemented</a:t>
            </a:r>
            <a:r>
              <a:rPr lang="en-US"/>
              <a:t> as a </a:t>
            </a:r>
            <a:r>
              <a:rPr lang="en-US" b="1"/>
              <a:t>linked list (or pointers)</a:t>
            </a:r>
            <a:r>
              <a:rPr lang="en-US"/>
              <a:t>, and </a:t>
            </a:r>
            <a:r>
              <a:rPr lang="en-US" i="1"/>
              <a:t>expand</a:t>
            </a:r>
            <a:r>
              <a:rPr lang="en-US"/>
              <a:t> or </a:t>
            </a:r>
            <a:r>
              <a:rPr lang="en-US" i="1"/>
              <a:t>shrink </a:t>
            </a:r>
            <a:r>
              <a:rPr lang="en-US"/>
              <a:t>with each </a:t>
            </a:r>
            <a:r>
              <a:rPr lang="en-US" i="1"/>
              <a:t>enqueue</a:t>
            </a:r>
            <a:r>
              <a:rPr lang="en-US"/>
              <a:t> or </a:t>
            </a:r>
            <a:r>
              <a:rPr lang="en-US" i="1"/>
              <a:t>dequeue</a:t>
            </a:r>
            <a:r>
              <a:rPr lang="en-US"/>
              <a:t> operation.</a:t>
            </a:r>
            <a:endParaRPr lang="en-US" dirty="0"/>
          </a:p>
        </p:txBody>
      </p:sp>
    </p:spTree>
    <p:extLst>
      <p:ext uri="{BB962C8B-B14F-4D97-AF65-F5344CB8AC3E}">
        <p14:creationId xmlns:p14="http://schemas.microsoft.com/office/powerpoint/2010/main" val="3355077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b="1" spc="-5" dirty="0">
                <a:solidFill>
                  <a:schemeClr val="tx1"/>
                </a:solidFill>
              </a:rPr>
              <a:t>Common Operations (Queue ADT)</a:t>
            </a:r>
            <a:endParaRPr lang="en-US" sz="4000" b="1" kern="1200" spc="-10" dirty="0">
              <a:solidFill>
                <a:schemeClr val="tx1"/>
              </a:solidFill>
              <a:latin typeface="+mj-lt"/>
              <a:ea typeface="+mj-ea"/>
              <a:cs typeface="+mj-cs"/>
            </a:endParaRPr>
          </a:p>
        </p:txBody>
      </p:sp>
      <p:sp>
        <p:nvSpPr>
          <p:cNvPr id="10" name="Rectangle 3"/>
          <p:cNvSpPr txBox="1">
            <a:spLocks noChangeArrowheads="1"/>
          </p:cNvSpPr>
          <p:nvPr/>
        </p:nvSpPr>
        <p:spPr>
          <a:xfrm>
            <a:off x="1354271" y="2341848"/>
            <a:ext cx="10037811" cy="30511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a:buFontTx/>
              <a:buAutoNum type="arabicPeriod"/>
              <a:defRPr/>
            </a:pPr>
            <a:r>
              <a:rPr lang="en-US" b="1" dirty="0"/>
              <a:t>ENQUEUE(</a:t>
            </a:r>
            <a:r>
              <a:rPr lang="en-US" b="1" i="1" dirty="0" err="1"/>
              <a:t>x</a:t>
            </a:r>
            <a:r>
              <a:rPr lang="en-US" b="1" dirty="0" err="1"/>
              <a:t>,</a:t>
            </a:r>
            <a:r>
              <a:rPr lang="en-US" b="1" i="1" dirty="0" err="1"/>
              <a:t>Q</a:t>
            </a:r>
            <a:r>
              <a:rPr lang="en-US" b="1" dirty="0"/>
              <a:t>):</a:t>
            </a:r>
            <a:r>
              <a:rPr lang="en-US" dirty="0"/>
              <a:t> Inserts element x at the rear/end of Queue Q. </a:t>
            </a:r>
          </a:p>
          <a:p>
            <a:pPr marL="609600" indent="-609600">
              <a:buFontTx/>
              <a:buAutoNum type="arabicPeriod"/>
              <a:defRPr/>
            </a:pPr>
            <a:r>
              <a:rPr lang="en-US" b="1" dirty="0"/>
              <a:t>DEQUEUE(</a:t>
            </a:r>
            <a:r>
              <a:rPr lang="en-US" b="1" i="1" dirty="0"/>
              <a:t>Q</a:t>
            </a:r>
            <a:r>
              <a:rPr lang="en-US" b="1" dirty="0"/>
              <a:t>):</a:t>
            </a:r>
            <a:r>
              <a:rPr lang="en-US" dirty="0"/>
              <a:t> Deletes the element from the front of </a:t>
            </a:r>
            <a:r>
              <a:rPr lang="en-US" i="1" dirty="0"/>
              <a:t>Q.</a:t>
            </a:r>
          </a:p>
          <a:p>
            <a:pPr marL="609600" indent="-609600">
              <a:buFontTx/>
              <a:buAutoNum type="arabicPeriod"/>
              <a:defRPr/>
            </a:pPr>
            <a:r>
              <a:rPr lang="en-US" b="1" dirty="0"/>
              <a:t>FRONT</a:t>
            </a:r>
            <a:r>
              <a:rPr lang="en-US" b="1" i="1" dirty="0"/>
              <a:t>(Q</a:t>
            </a:r>
            <a:r>
              <a:rPr lang="en-US" b="1" dirty="0"/>
              <a:t>):</a:t>
            </a:r>
            <a:r>
              <a:rPr lang="en-US" dirty="0"/>
              <a:t> Returns the first element on Queue Q.</a:t>
            </a:r>
            <a:endParaRPr lang="en-US" i="1" dirty="0"/>
          </a:p>
          <a:p>
            <a:pPr marL="609600" indent="-609600">
              <a:buFontTx/>
              <a:buAutoNum type="arabicPeriod"/>
              <a:defRPr/>
            </a:pPr>
            <a:r>
              <a:rPr lang="en-US" b="1" dirty="0"/>
              <a:t>ISEMPTY(</a:t>
            </a:r>
            <a:r>
              <a:rPr lang="en-US" b="1" i="1" dirty="0"/>
              <a:t>Q</a:t>
            </a:r>
            <a:r>
              <a:rPr lang="en-US" b="1" dirty="0"/>
              <a:t>):</a:t>
            </a:r>
            <a:r>
              <a:rPr lang="en-US" dirty="0"/>
              <a:t> Returns true if and only if Q is an empty queue 				(underflow).</a:t>
            </a:r>
          </a:p>
          <a:p>
            <a:pPr marL="609600" indent="-609600">
              <a:buFontTx/>
              <a:buAutoNum type="arabicPeriod"/>
              <a:defRPr/>
            </a:pPr>
            <a:r>
              <a:rPr lang="en-US" b="1" dirty="0"/>
              <a:t>ISFULL(Q) </a:t>
            </a:r>
            <a:r>
              <a:rPr lang="en-US" dirty="0"/>
              <a:t>it checks if the queue is full (overflow)</a:t>
            </a:r>
          </a:p>
          <a:p>
            <a:pPr marL="609600" indent="-609600">
              <a:buFontTx/>
              <a:buAutoNum type="arabicPeriod"/>
              <a:defRPr/>
            </a:pPr>
            <a:endParaRPr lang="en-US" dirty="0"/>
          </a:p>
          <a:p>
            <a:pPr marL="609600" indent="-609600">
              <a:buFont typeface="Arial" panose="020B0604020202020204" pitchFamily="34" charset="0"/>
              <a:buNone/>
              <a:defRPr/>
            </a:pPr>
            <a:endParaRPr lang="en-US" sz="2400" dirty="0"/>
          </a:p>
        </p:txBody>
      </p:sp>
    </p:spTree>
    <p:extLst>
      <p:ext uri="{BB962C8B-B14F-4D97-AF65-F5344CB8AC3E}">
        <p14:creationId xmlns:p14="http://schemas.microsoft.com/office/powerpoint/2010/main" val="27881789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b="1" spc="-5" dirty="0">
                <a:solidFill>
                  <a:schemeClr val="tx1"/>
                </a:solidFill>
              </a:rPr>
              <a:t>Queue Implementation Using Array</a:t>
            </a:r>
            <a:endParaRPr lang="en-US" sz="4000" b="1" kern="1200" spc="-10" dirty="0">
              <a:solidFill>
                <a:schemeClr val="tx1"/>
              </a:solidFill>
              <a:latin typeface="+mj-lt"/>
              <a:ea typeface="+mj-ea"/>
              <a:cs typeface="+mj-cs"/>
            </a:endParaRPr>
          </a:p>
        </p:txBody>
      </p:sp>
      <p:sp>
        <p:nvSpPr>
          <p:cNvPr id="10" name="Rectangle 3"/>
          <p:cNvSpPr txBox="1">
            <a:spLocks noChangeArrowheads="1"/>
          </p:cNvSpPr>
          <p:nvPr/>
        </p:nvSpPr>
        <p:spPr>
          <a:xfrm>
            <a:off x="1354272" y="2336161"/>
            <a:ext cx="10972800" cy="438912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defRPr/>
            </a:pPr>
            <a:endParaRPr lang="en-US" dirty="0"/>
          </a:p>
        </p:txBody>
      </p:sp>
      <p:sp>
        <p:nvSpPr>
          <p:cNvPr id="11" name="TextBox 10">
            <a:extLst>
              <a:ext uri="{FF2B5EF4-FFF2-40B4-BE49-F238E27FC236}">
                <a16:creationId xmlns:a16="http://schemas.microsoft.com/office/drawing/2014/main" id="{A8E90838-E485-463D-A602-827781E7FB2E}"/>
              </a:ext>
            </a:extLst>
          </p:cNvPr>
          <p:cNvSpPr txBox="1"/>
          <p:nvPr/>
        </p:nvSpPr>
        <p:spPr>
          <a:xfrm>
            <a:off x="1524000" y="2551836"/>
            <a:ext cx="9699203" cy="3108543"/>
          </a:xfrm>
          <a:prstGeom prst="rect">
            <a:avLst/>
          </a:prstGeom>
          <a:noFill/>
        </p:spPr>
        <p:txBody>
          <a:bodyPr wrap="square">
            <a:spAutoFit/>
          </a:bodyPr>
          <a:lstStyle/>
          <a:p>
            <a:pPr marL="457200" indent="-457200">
              <a:buFont typeface="Arial" panose="020B0604020202020204" pitchFamily="34" charset="0"/>
              <a:buChar char="•"/>
            </a:pPr>
            <a:r>
              <a:rPr lang="en-US" sz="2800" dirty="0"/>
              <a:t>We can easily represent queue by using linear arrays. </a:t>
            </a:r>
          </a:p>
          <a:p>
            <a:pPr marL="457200" indent="-457200">
              <a:buFont typeface="Arial" panose="020B0604020202020204" pitchFamily="34" charset="0"/>
              <a:buChar char="•"/>
            </a:pPr>
            <a:r>
              <a:rPr lang="en-US" sz="2800" dirty="0"/>
              <a:t>There are two variables i.e. front and rear, that are implemented in the case of every queue. </a:t>
            </a:r>
          </a:p>
          <a:p>
            <a:pPr marL="457200" indent="-457200">
              <a:buFont typeface="Arial" panose="020B0604020202020204" pitchFamily="34" charset="0"/>
              <a:buChar char="•"/>
            </a:pPr>
            <a:r>
              <a:rPr lang="en-US" sz="2800" dirty="0"/>
              <a:t>Front and rear variables point to the position from where insertions and deletions are performed in a queue. </a:t>
            </a:r>
          </a:p>
          <a:p>
            <a:pPr marL="457200" indent="-457200">
              <a:buFont typeface="Arial" panose="020B0604020202020204" pitchFamily="34" charset="0"/>
              <a:buChar char="•"/>
            </a:pPr>
            <a:r>
              <a:rPr lang="en-US" sz="2800" dirty="0"/>
              <a:t>Initially, the value of front and queue is -1 which represents an empty queue.</a:t>
            </a:r>
          </a:p>
        </p:txBody>
      </p:sp>
    </p:spTree>
    <p:extLst>
      <p:ext uri="{BB962C8B-B14F-4D97-AF65-F5344CB8AC3E}">
        <p14:creationId xmlns:p14="http://schemas.microsoft.com/office/powerpoint/2010/main" val="21358859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b="1" spc="-5" dirty="0">
                <a:solidFill>
                  <a:schemeClr val="tx1"/>
                </a:solidFill>
              </a:rPr>
              <a:t>Alternative Array Implementation</a:t>
            </a:r>
            <a:endParaRPr lang="en-US" sz="4000" b="1" kern="1200" spc="-10" dirty="0">
              <a:solidFill>
                <a:schemeClr val="tx1"/>
              </a:solidFill>
              <a:latin typeface="+mj-lt"/>
              <a:ea typeface="+mj-ea"/>
              <a:cs typeface="+mj-cs"/>
            </a:endParaRPr>
          </a:p>
        </p:txBody>
      </p:sp>
      <p:sp>
        <p:nvSpPr>
          <p:cNvPr id="11" name="Rectangle 3"/>
          <p:cNvSpPr txBox="1">
            <a:spLocks noChangeArrowheads="1"/>
          </p:cNvSpPr>
          <p:nvPr/>
        </p:nvSpPr>
        <p:spPr>
          <a:xfrm>
            <a:off x="1205552" y="2185133"/>
            <a:ext cx="10972800" cy="438912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US"/>
              <a:t>Use two counters that signify rear and front</a:t>
            </a:r>
          </a:p>
          <a:p>
            <a:pPr>
              <a:defRPr/>
            </a:pPr>
            <a:endParaRPr lang="en-US" sz="2400" dirty="0"/>
          </a:p>
        </p:txBody>
      </p:sp>
      <p:graphicFrame>
        <p:nvGraphicFramePr>
          <p:cNvPr id="12" name="Group 3"/>
          <p:cNvGraphicFramePr>
            <a:graphicFrameLocks noGrp="1"/>
          </p:cNvGraphicFramePr>
          <p:nvPr/>
        </p:nvGraphicFramePr>
        <p:xfrm>
          <a:off x="3567752" y="2764254"/>
          <a:ext cx="533400" cy="3276601"/>
        </p:xfrm>
        <a:graphic>
          <a:graphicData uri="http://schemas.openxmlformats.org/drawingml/2006/table">
            <a:tbl>
              <a:tblPr/>
              <a:tblGrid>
                <a:gridCol w="533400">
                  <a:extLst>
                    <a:ext uri="{9D8B030D-6E8A-4147-A177-3AD203B41FA5}">
                      <a16:colId xmlns:a16="http://schemas.microsoft.com/office/drawing/2014/main" val="20000"/>
                    </a:ext>
                  </a:extLst>
                </a:gridCol>
              </a:tblGrid>
              <a:tr h="460375">
                <a:tc>
                  <a:txBody>
                    <a:bodyPr/>
                    <a:lstStyle/>
                    <a:p>
                      <a:pPr marL="0" marR="0" lvl="0" indent="0" algn="l" defTabSz="914400" rtl="0" eaLnBrk="1" fontAlgn="base" latinLnBrk="0" hangingPunct="1">
                        <a:lnSpc>
                          <a:spcPct val="100000"/>
                        </a:lnSpc>
                        <a:spcBef>
                          <a:spcPct val="0"/>
                        </a:spcBef>
                        <a:spcAft>
                          <a:spcPct val="0"/>
                        </a:spcAft>
                        <a:buClr>
                          <a:schemeClr val="accent1"/>
                        </a:buClr>
                        <a:buSzTx/>
                        <a:buFont typeface="Wingdings" charset="0"/>
                        <a:buNone/>
                        <a:tabLst/>
                      </a:pPr>
                      <a:endParaRPr kumimoji="0" lang="en-GB" sz="2400" b="0" i="0" u="none" strike="noStrike" cap="none" normalizeH="0" baseline="0">
                        <a:ln>
                          <a:noFill/>
                        </a:ln>
                        <a:solidFill>
                          <a:schemeClr val="tx1"/>
                        </a:solidFill>
                        <a:effectLst/>
                        <a:latin typeface="Arial" charset="0"/>
                        <a:ea typeface="ＭＳ Ｐゴシック"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1963">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charset="0"/>
                        <a:buNone/>
                        <a:tabLst/>
                      </a:pPr>
                      <a:endParaRPr kumimoji="0" lang="en-GB" sz="2400" b="0" i="0" u="none" strike="noStrike" cap="none" normalizeH="0" baseline="0">
                        <a:ln>
                          <a:noFill/>
                        </a:ln>
                        <a:solidFill>
                          <a:schemeClr val="tx1"/>
                        </a:solidFill>
                        <a:effectLst/>
                        <a:latin typeface="Arial" charset="0"/>
                        <a:ea typeface="ＭＳ Ｐゴシック" charset="0"/>
                        <a:cs typeface="Times New Roman"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0375">
                <a:tc>
                  <a:txBody>
                    <a:bodyPr/>
                    <a:lstStyle/>
                    <a:p>
                      <a:pPr marL="0" marR="0" lvl="0" indent="0" algn="l" defTabSz="914400" rtl="0" eaLnBrk="1" fontAlgn="base" latinLnBrk="0" hangingPunct="1">
                        <a:lnSpc>
                          <a:spcPct val="100000"/>
                        </a:lnSpc>
                        <a:spcBef>
                          <a:spcPct val="0"/>
                        </a:spcBef>
                        <a:spcAft>
                          <a:spcPct val="0"/>
                        </a:spcAft>
                        <a:buClr>
                          <a:schemeClr val="accent1"/>
                        </a:buClr>
                        <a:buSzTx/>
                        <a:buFont typeface="Wingdings" charset="0"/>
                        <a:buNone/>
                        <a:tabLst/>
                      </a:pPr>
                      <a:endParaRPr kumimoji="0" lang="en-GB" sz="2400" b="0" i="0" u="none" strike="noStrike" cap="none" normalizeH="0" baseline="0">
                        <a:ln>
                          <a:noFill/>
                        </a:ln>
                        <a:solidFill>
                          <a:schemeClr val="tx1"/>
                        </a:solidFill>
                        <a:effectLst/>
                        <a:latin typeface="Arial" charset="0"/>
                        <a:ea typeface="ＭＳ Ｐゴシック"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1963">
                <a:tc>
                  <a:txBody>
                    <a:bodyPr/>
                    <a:lstStyle/>
                    <a:p>
                      <a:pPr marL="0" marR="0" lvl="0" indent="0" algn="l" defTabSz="914400" rtl="0" eaLnBrk="1" fontAlgn="base" latinLnBrk="0" hangingPunct="1">
                        <a:lnSpc>
                          <a:spcPct val="100000"/>
                        </a:lnSpc>
                        <a:spcBef>
                          <a:spcPct val="0"/>
                        </a:spcBef>
                        <a:spcAft>
                          <a:spcPct val="0"/>
                        </a:spcAft>
                        <a:buClr>
                          <a:schemeClr val="accent1"/>
                        </a:buClr>
                        <a:buSzTx/>
                        <a:buFont typeface="Wingdings" charset="0"/>
                        <a:buNone/>
                        <a:tabLst/>
                      </a:pPr>
                      <a:endParaRPr kumimoji="0" lang="en-GB" sz="2400" b="0" i="0" u="none" strike="noStrike" cap="none" normalizeH="0" baseline="0">
                        <a:ln>
                          <a:noFill/>
                        </a:ln>
                        <a:solidFill>
                          <a:schemeClr val="tx1"/>
                        </a:solidFill>
                        <a:effectLst/>
                        <a:latin typeface="Arial" charset="0"/>
                        <a:ea typeface="ＭＳ Ｐゴシック"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908050">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charset="0"/>
                        <a:buNone/>
                        <a:tabLst/>
                      </a:pPr>
                      <a:endParaRPr kumimoji="0" lang="en-GB" sz="2800" b="0" i="0" u="none" strike="noStrike" cap="none" normalizeH="0" baseline="0">
                        <a:ln>
                          <a:noFill/>
                        </a:ln>
                        <a:solidFill>
                          <a:schemeClr val="tx1"/>
                        </a:solidFill>
                        <a:effectLst/>
                        <a:latin typeface="Arial" charset="0"/>
                        <a:ea typeface="ＭＳ Ｐゴシック"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23875">
                <a:tc>
                  <a:txBody>
                    <a:bodyPr/>
                    <a:lstStyle/>
                    <a:p>
                      <a:pPr marL="0" marR="0" lvl="0" indent="0" algn="l" defTabSz="914400" rtl="0" eaLnBrk="1" fontAlgn="base" latinLnBrk="0" hangingPunct="1">
                        <a:lnSpc>
                          <a:spcPct val="100000"/>
                        </a:lnSpc>
                        <a:spcBef>
                          <a:spcPct val="20000"/>
                        </a:spcBef>
                        <a:spcAft>
                          <a:spcPct val="0"/>
                        </a:spcAft>
                        <a:buClr>
                          <a:schemeClr val="accent1"/>
                        </a:buClr>
                        <a:buSzTx/>
                        <a:buFont typeface="Wingdings" charset="0"/>
                        <a:buNone/>
                        <a:tabLst/>
                      </a:pPr>
                      <a:endParaRPr kumimoji="0" lang="en-GB" sz="2800" b="0" i="0" u="none" strike="noStrike" cap="none" normalizeH="0" baseline="0">
                        <a:ln>
                          <a:noFill/>
                        </a:ln>
                        <a:solidFill>
                          <a:schemeClr val="tx1"/>
                        </a:solidFill>
                        <a:effectLst/>
                        <a:latin typeface="Arial" charset="0"/>
                        <a:ea typeface="ＭＳ Ｐゴシック"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3" name="Text Box 19"/>
          <p:cNvSpPr txBox="1">
            <a:spLocks noChangeArrowheads="1"/>
          </p:cNvSpPr>
          <p:nvPr/>
        </p:nvSpPr>
        <p:spPr bwMode="auto">
          <a:xfrm>
            <a:off x="4329752" y="3785017"/>
            <a:ext cx="1143000" cy="2746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sz="1200">
                <a:latin typeface="Arial" charset="0"/>
                <a:ea typeface="ＭＳ Ｐゴシック" charset="0"/>
                <a:cs typeface="ＭＳ Ｐゴシック" charset="0"/>
              </a:rPr>
              <a:t>First Element</a:t>
            </a:r>
          </a:p>
        </p:txBody>
      </p:sp>
      <p:sp>
        <p:nvSpPr>
          <p:cNvPr id="14" name="Text Box 20"/>
          <p:cNvSpPr txBox="1">
            <a:spLocks noChangeArrowheads="1"/>
          </p:cNvSpPr>
          <p:nvPr/>
        </p:nvSpPr>
        <p:spPr bwMode="auto">
          <a:xfrm>
            <a:off x="4329752" y="5659853"/>
            <a:ext cx="2209800" cy="2746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defRPr/>
            </a:pPr>
            <a:r>
              <a:rPr lang="en-US" sz="1200">
                <a:latin typeface="Arial" charset="0"/>
                <a:ea typeface="ＭＳ Ｐゴシック" charset="0"/>
                <a:cs typeface="ＭＳ Ｐゴシック" charset="0"/>
              </a:rPr>
              <a:t>Last Element</a:t>
            </a:r>
          </a:p>
        </p:txBody>
      </p:sp>
      <p:sp>
        <p:nvSpPr>
          <p:cNvPr id="15" name="Text Box 21"/>
          <p:cNvSpPr txBox="1">
            <a:spLocks noChangeArrowheads="1"/>
          </p:cNvSpPr>
          <p:nvPr/>
        </p:nvSpPr>
        <p:spPr bwMode="auto">
          <a:xfrm>
            <a:off x="4405952" y="5964653"/>
            <a:ext cx="1752600" cy="2746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sz="1200" i="1">
                <a:latin typeface="Arial" charset="0"/>
                <a:ea typeface="ＭＳ Ｐゴシック" charset="0"/>
                <a:cs typeface="ＭＳ Ｐゴシック" charset="0"/>
              </a:rPr>
              <a:t>maxlength</a:t>
            </a:r>
          </a:p>
        </p:txBody>
      </p:sp>
      <p:sp>
        <p:nvSpPr>
          <p:cNvPr id="16" name="Rectangle 22"/>
          <p:cNvSpPr>
            <a:spLocks noChangeArrowheads="1"/>
          </p:cNvSpPr>
          <p:nvPr/>
        </p:nvSpPr>
        <p:spPr bwMode="auto">
          <a:xfrm>
            <a:off x="2729552" y="3526253"/>
            <a:ext cx="304800" cy="533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fr-FR">
              <a:latin typeface="Arial" charset="0"/>
              <a:ea typeface="ＭＳ Ｐゴシック" charset="0"/>
              <a:cs typeface="ＭＳ Ｐゴシック" charset="0"/>
            </a:endParaRPr>
          </a:p>
        </p:txBody>
      </p:sp>
      <p:sp>
        <p:nvSpPr>
          <p:cNvPr id="17" name="Line 23"/>
          <p:cNvSpPr>
            <a:spLocks noChangeShapeType="1"/>
          </p:cNvSpPr>
          <p:nvPr/>
        </p:nvSpPr>
        <p:spPr bwMode="auto">
          <a:xfrm>
            <a:off x="3034352" y="3831053"/>
            <a:ext cx="5334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fr-FR">
              <a:latin typeface="Arial" charset="0"/>
              <a:ea typeface="ＭＳ Ｐゴシック" charset="0"/>
              <a:cs typeface="ＭＳ Ｐゴシック" charset="0"/>
            </a:endParaRPr>
          </a:p>
        </p:txBody>
      </p:sp>
      <p:sp>
        <p:nvSpPr>
          <p:cNvPr id="19" name="Text Box 24"/>
          <p:cNvSpPr txBox="1">
            <a:spLocks noChangeArrowheads="1"/>
          </p:cNvSpPr>
          <p:nvPr/>
        </p:nvSpPr>
        <p:spPr bwMode="auto">
          <a:xfrm>
            <a:off x="2119952" y="3526253"/>
            <a:ext cx="685800"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sz="1600" dirty="0">
                <a:latin typeface="Arial" charset="0"/>
                <a:ea typeface="ＭＳ Ｐゴシック" charset="0"/>
                <a:cs typeface="ＭＳ Ｐゴシック" charset="0"/>
              </a:rPr>
              <a:t>Front</a:t>
            </a:r>
          </a:p>
        </p:txBody>
      </p:sp>
      <p:sp>
        <p:nvSpPr>
          <p:cNvPr id="20" name="Text Box 25"/>
          <p:cNvSpPr txBox="1">
            <a:spLocks noChangeArrowheads="1"/>
          </p:cNvSpPr>
          <p:nvPr/>
        </p:nvSpPr>
        <p:spPr bwMode="auto">
          <a:xfrm>
            <a:off x="4253552" y="4135853"/>
            <a:ext cx="12954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sz="1200">
                <a:latin typeface="Arial" charset="0"/>
                <a:ea typeface="ＭＳ Ｐゴシック" charset="0"/>
                <a:cs typeface="ＭＳ Ｐゴシック" charset="0"/>
              </a:rPr>
              <a:t>Second Element</a:t>
            </a:r>
          </a:p>
        </p:txBody>
      </p:sp>
      <p:sp>
        <p:nvSpPr>
          <p:cNvPr id="21" name="Line 26"/>
          <p:cNvSpPr>
            <a:spLocks noChangeShapeType="1"/>
          </p:cNvSpPr>
          <p:nvPr/>
        </p:nvSpPr>
        <p:spPr bwMode="auto">
          <a:xfrm flipH="1">
            <a:off x="4101152" y="5812253"/>
            <a:ext cx="228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fr-FR">
              <a:latin typeface="Arial" charset="0"/>
              <a:ea typeface="ＭＳ Ｐゴシック" charset="0"/>
              <a:cs typeface="ＭＳ Ｐゴシック" charset="0"/>
            </a:endParaRPr>
          </a:p>
        </p:txBody>
      </p:sp>
      <p:sp>
        <p:nvSpPr>
          <p:cNvPr id="22" name="Line 27"/>
          <p:cNvSpPr>
            <a:spLocks noChangeShapeType="1"/>
          </p:cNvSpPr>
          <p:nvPr/>
        </p:nvSpPr>
        <p:spPr bwMode="auto">
          <a:xfrm flipH="1">
            <a:off x="4101152" y="4364453"/>
            <a:ext cx="228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fr-FR">
              <a:latin typeface="Arial" charset="0"/>
              <a:ea typeface="ＭＳ Ｐゴシック" charset="0"/>
              <a:cs typeface="ＭＳ Ｐゴシック" charset="0"/>
            </a:endParaRPr>
          </a:p>
        </p:txBody>
      </p:sp>
      <p:sp>
        <p:nvSpPr>
          <p:cNvPr id="23" name="Line 28"/>
          <p:cNvSpPr>
            <a:spLocks noChangeShapeType="1"/>
          </p:cNvSpPr>
          <p:nvPr/>
        </p:nvSpPr>
        <p:spPr bwMode="auto">
          <a:xfrm flipH="1">
            <a:off x="4101152" y="3907253"/>
            <a:ext cx="228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fr-FR">
              <a:latin typeface="Arial" charset="0"/>
              <a:ea typeface="ＭＳ Ｐゴシック" charset="0"/>
              <a:cs typeface="ＭＳ Ｐゴシック" charset="0"/>
            </a:endParaRPr>
          </a:p>
        </p:txBody>
      </p:sp>
      <p:sp>
        <p:nvSpPr>
          <p:cNvPr id="24" name="Text Box 29"/>
          <p:cNvSpPr txBox="1">
            <a:spLocks noChangeArrowheads="1"/>
          </p:cNvSpPr>
          <p:nvPr/>
        </p:nvSpPr>
        <p:spPr bwMode="auto">
          <a:xfrm>
            <a:off x="4482152" y="4364454"/>
            <a:ext cx="533400" cy="5492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sz="1200" b="1">
                <a:latin typeface="Arial" charset="0"/>
                <a:ea typeface="ＭＳ Ｐゴシック" charset="0"/>
                <a:cs typeface="ＭＳ Ｐゴシック" charset="0"/>
              </a:rPr>
              <a:t>.</a:t>
            </a:r>
          </a:p>
          <a:p>
            <a:pPr>
              <a:spcBef>
                <a:spcPct val="50000"/>
              </a:spcBef>
              <a:defRPr/>
            </a:pPr>
            <a:r>
              <a:rPr lang="en-US" sz="1200" b="1">
                <a:latin typeface="Arial" charset="0"/>
                <a:ea typeface="ＭＳ Ｐゴシック" charset="0"/>
                <a:cs typeface="ＭＳ Ｐゴシック" charset="0"/>
              </a:rPr>
              <a:t>.</a:t>
            </a:r>
          </a:p>
        </p:txBody>
      </p:sp>
      <p:sp>
        <p:nvSpPr>
          <p:cNvPr id="25" name="Rectangle 30"/>
          <p:cNvSpPr>
            <a:spLocks noChangeArrowheads="1"/>
          </p:cNvSpPr>
          <p:nvPr/>
        </p:nvSpPr>
        <p:spPr bwMode="auto">
          <a:xfrm>
            <a:off x="2729552" y="5431253"/>
            <a:ext cx="304800" cy="533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fr-FR">
              <a:latin typeface="Arial" charset="0"/>
              <a:ea typeface="ＭＳ Ｐゴシック" charset="0"/>
              <a:cs typeface="ＭＳ Ｐゴシック" charset="0"/>
            </a:endParaRPr>
          </a:p>
        </p:txBody>
      </p:sp>
      <p:sp>
        <p:nvSpPr>
          <p:cNvPr id="26" name="Line 31"/>
          <p:cNvSpPr>
            <a:spLocks noChangeShapeType="1"/>
          </p:cNvSpPr>
          <p:nvPr/>
        </p:nvSpPr>
        <p:spPr bwMode="auto">
          <a:xfrm>
            <a:off x="3034352" y="5736053"/>
            <a:ext cx="5334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fr-FR">
              <a:latin typeface="Arial" charset="0"/>
              <a:ea typeface="ＭＳ Ｐゴシック" charset="0"/>
              <a:cs typeface="ＭＳ Ｐゴシック" charset="0"/>
            </a:endParaRPr>
          </a:p>
        </p:txBody>
      </p:sp>
      <p:sp>
        <p:nvSpPr>
          <p:cNvPr id="27" name="Text Box 32"/>
          <p:cNvSpPr txBox="1">
            <a:spLocks noChangeArrowheads="1"/>
          </p:cNvSpPr>
          <p:nvPr/>
        </p:nvSpPr>
        <p:spPr bwMode="auto">
          <a:xfrm>
            <a:off x="2119952" y="5431253"/>
            <a:ext cx="685800"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sz="1600" dirty="0">
                <a:latin typeface="Arial" charset="0"/>
                <a:ea typeface="ＭＳ Ｐゴシック" charset="0"/>
                <a:cs typeface="ＭＳ Ｐゴシック" charset="0"/>
              </a:rPr>
              <a:t>Rear</a:t>
            </a:r>
          </a:p>
        </p:txBody>
      </p:sp>
      <p:sp>
        <p:nvSpPr>
          <p:cNvPr id="28" name="Line 33"/>
          <p:cNvSpPr>
            <a:spLocks noChangeShapeType="1"/>
          </p:cNvSpPr>
          <p:nvPr/>
        </p:nvSpPr>
        <p:spPr bwMode="auto">
          <a:xfrm>
            <a:off x="3567752" y="5050253"/>
            <a:ext cx="533400"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fr-FR">
              <a:latin typeface="Arial" charset="0"/>
              <a:ea typeface="ＭＳ Ｐゴシック" charset="0"/>
              <a:cs typeface="ＭＳ Ｐゴシック" charset="0"/>
            </a:endParaRPr>
          </a:p>
        </p:txBody>
      </p:sp>
      <p:sp>
        <p:nvSpPr>
          <p:cNvPr id="29" name="Text Box 34"/>
          <p:cNvSpPr txBox="1">
            <a:spLocks noChangeArrowheads="1"/>
          </p:cNvSpPr>
          <p:nvPr/>
        </p:nvSpPr>
        <p:spPr bwMode="auto">
          <a:xfrm>
            <a:off x="5625152" y="3450053"/>
            <a:ext cx="5867400" cy="19383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sz="2000" dirty="0">
                <a:latin typeface="Times New Roman" charset="0"/>
                <a:ea typeface="ＭＳ Ｐゴシック" charset="0"/>
                <a:cs typeface="ＭＳ Ｐゴシック" charset="0"/>
              </a:rPr>
              <a:t>When queue is empty both front and rear are set to -1</a:t>
            </a:r>
          </a:p>
          <a:p>
            <a:pPr>
              <a:spcBef>
                <a:spcPct val="50000"/>
              </a:spcBef>
              <a:defRPr/>
            </a:pPr>
            <a:r>
              <a:rPr lang="en-US" sz="2000" dirty="0">
                <a:latin typeface="Times New Roman" charset="0"/>
                <a:ea typeface="ＭＳ Ｐゴシック" charset="0"/>
                <a:cs typeface="ＭＳ Ｐゴシック" charset="0"/>
              </a:rPr>
              <a:t>While </a:t>
            </a:r>
            <a:r>
              <a:rPr lang="en-US" sz="2000" dirty="0" err="1">
                <a:latin typeface="Times New Roman" charset="0"/>
                <a:ea typeface="ＭＳ Ｐゴシック" charset="0"/>
                <a:cs typeface="ＭＳ Ｐゴシック" charset="0"/>
              </a:rPr>
              <a:t>enqueueing</a:t>
            </a:r>
            <a:r>
              <a:rPr lang="en-US" sz="2000" dirty="0">
                <a:latin typeface="Times New Roman" charset="0"/>
                <a:ea typeface="ＭＳ Ｐゴシック" charset="0"/>
                <a:cs typeface="ＭＳ Ｐゴシック" charset="0"/>
              </a:rPr>
              <a:t> increment rear by 1, and while </a:t>
            </a:r>
            <a:r>
              <a:rPr lang="en-US" sz="2000" dirty="0" err="1">
                <a:latin typeface="Times New Roman" charset="0"/>
                <a:ea typeface="ＭＳ Ｐゴシック" charset="0"/>
                <a:cs typeface="ＭＳ Ｐゴシック" charset="0"/>
              </a:rPr>
              <a:t>dequeueing</a:t>
            </a:r>
            <a:r>
              <a:rPr lang="en-US" sz="2000" dirty="0">
                <a:latin typeface="Times New Roman" charset="0"/>
                <a:ea typeface="ＭＳ Ｐゴシック" charset="0"/>
                <a:cs typeface="ＭＳ Ｐゴシック" charset="0"/>
              </a:rPr>
              <a:t> increment front by 1</a:t>
            </a:r>
          </a:p>
          <a:p>
            <a:pPr>
              <a:spcBef>
                <a:spcPct val="50000"/>
              </a:spcBef>
              <a:defRPr/>
            </a:pPr>
            <a:r>
              <a:rPr lang="en-US" sz="2000" dirty="0">
                <a:latin typeface="Times New Roman" charset="0"/>
                <a:ea typeface="ＭＳ Ｐゴシック" charset="0"/>
                <a:cs typeface="ＭＳ Ｐゴシック" charset="0"/>
              </a:rPr>
              <a:t>When there is only one value in the Queue, both rear and front have same index</a:t>
            </a:r>
          </a:p>
        </p:txBody>
      </p:sp>
    </p:spTree>
    <p:extLst>
      <p:ext uri="{BB962C8B-B14F-4D97-AF65-F5344CB8AC3E}">
        <p14:creationId xmlns:p14="http://schemas.microsoft.com/office/powerpoint/2010/main" val="1732229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
        <p:nvSpPr>
          <p:cNvPr id="2" name="Title 1"/>
          <p:cNvSpPr>
            <a:spLocks noGrp="1"/>
          </p:cNvSpPr>
          <p:nvPr>
            <p:ph type="title"/>
          </p:nvPr>
        </p:nvSpPr>
        <p:spPr/>
        <p:txBody>
          <a:bodyPr>
            <a:normAutofit/>
          </a:bodyPr>
          <a:lstStyle/>
          <a:p>
            <a:r>
              <a:rPr lang="en-US" dirty="0"/>
              <a:t>Array implementation of queues</a:t>
            </a:r>
          </a:p>
        </p:txBody>
      </p:sp>
      <p:grpSp>
        <p:nvGrpSpPr>
          <p:cNvPr id="4" name="Group 76"/>
          <p:cNvGrpSpPr>
            <a:grpSpLocks/>
          </p:cNvGrpSpPr>
          <p:nvPr/>
        </p:nvGrpSpPr>
        <p:grpSpPr bwMode="auto">
          <a:xfrm>
            <a:off x="2434936" y="1844675"/>
            <a:ext cx="7391400" cy="990600"/>
            <a:chOff x="384" y="2112"/>
            <a:chExt cx="4656" cy="624"/>
          </a:xfrm>
        </p:grpSpPr>
        <p:grpSp>
          <p:nvGrpSpPr>
            <p:cNvPr id="5" name="Group 75"/>
            <p:cNvGrpSpPr>
              <a:grpSpLocks/>
            </p:cNvGrpSpPr>
            <p:nvPr/>
          </p:nvGrpSpPr>
          <p:grpSpPr bwMode="auto">
            <a:xfrm>
              <a:off x="1549" y="2112"/>
              <a:ext cx="3491" cy="624"/>
              <a:chOff x="1549" y="2112"/>
              <a:chExt cx="3491" cy="624"/>
            </a:xfrm>
          </p:grpSpPr>
          <p:sp>
            <p:nvSpPr>
              <p:cNvPr id="7" name="Rectangle 54"/>
              <p:cNvSpPr>
                <a:spLocks noChangeArrowheads="1"/>
              </p:cNvSpPr>
              <p:nvPr/>
            </p:nvSpPr>
            <p:spPr bwMode="auto">
              <a:xfrm>
                <a:off x="1549" y="2352"/>
                <a:ext cx="431" cy="384"/>
              </a:xfrm>
              <a:prstGeom prst="rect">
                <a:avLst/>
              </a:prstGeom>
              <a:solidFill>
                <a:srgbClr val="FFFF99"/>
              </a:solidFill>
              <a:ln w="19050">
                <a:solidFill>
                  <a:schemeClr val="tx1"/>
                </a:solidFill>
                <a:miter lim="800000"/>
                <a:headEnd/>
                <a:tailEnd/>
              </a:ln>
            </p:spPr>
            <p:txBody>
              <a:bodyPr wrap="none" anchor="ctr"/>
              <a:lstStyle/>
              <a:p>
                <a:pPr algn="ctr"/>
                <a:r>
                  <a:rPr lang="en-US" dirty="0">
                    <a:latin typeface="Verdana" pitchFamily="34" charset="0"/>
                  </a:rPr>
                  <a:t>17</a:t>
                </a:r>
              </a:p>
            </p:txBody>
          </p:sp>
          <p:sp>
            <p:nvSpPr>
              <p:cNvPr id="8" name="Rectangle 55"/>
              <p:cNvSpPr>
                <a:spLocks noChangeArrowheads="1"/>
              </p:cNvSpPr>
              <p:nvPr/>
            </p:nvSpPr>
            <p:spPr bwMode="auto">
              <a:xfrm>
                <a:off x="1981" y="2352"/>
                <a:ext cx="431" cy="384"/>
              </a:xfrm>
              <a:prstGeom prst="rect">
                <a:avLst/>
              </a:prstGeom>
              <a:solidFill>
                <a:srgbClr val="FFFF99"/>
              </a:solidFill>
              <a:ln w="19050">
                <a:solidFill>
                  <a:schemeClr val="tx1"/>
                </a:solidFill>
                <a:miter lim="800000"/>
                <a:headEnd/>
                <a:tailEnd/>
              </a:ln>
            </p:spPr>
            <p:txBody>
              <a:bodyPr wrap="none" anchor="ctr"/>
              <a:lstStyle/>
              <a:p>
                <a:pPr algn="ctr"/>
                <a:r>
                  <a:rPr lang="en-US">
                    <a:latin typeface="Verdana" pitchFamily="34" charset="0"/>
                  </a:rPr>
                  <a:t>23</a:t>
                </a:r>
              </a:p>
            </p:txBody>
          </p:sp>
          <p:sp>
            <p:nvSpPr>
              <p:cNvPr id="9" name="Rectangle 56"/>
              <p:cNvSpPr>
                <a:spLocks noChangeArrowheads="1"/>
              </p:cNvSpPr>
              <p:nvPr/>
            </p:nvSpPr>
            <p:spPr bwMode="auto">
              <a:xfrm>
                <a:off x="2413" y="2352"/>
                <a:ext cx="431" cy="384"/>
              </a:xfrm>
              <a:prstGeom prst="rect">
                <a:avLst/>
              </a:prstGeom>
              <a:solidFill>
                <a:srgbClr val="FFFF99"/>
              </a:solidFill>
              <a:ln w="19050">
                <a:solidFill>
                  <a:schemeClr val="tx1"/>
                </a:solidFill>
                <a:miter lim="800000"/>
                <a:headEnd/>
                <a:tailEnd/>
              </a:ln>
            </p:spPr>
            <p:txBody>
              <a:bodyPr wrap="none" anchor="ctr"/>
              <a:lstStyle/>
              <a:p>
                <a:pPr algn="ctr"/>
                <a:r>
                  <a:rPr lang="en-US">
                    <a:latin typeface="Verdana" pitchFamily="34" charset="0"/>
                  </a:rPr>
                  <a:t>97</a:t>
                </a:r>
              </a:p>
            </p:txBody>
          </p:sp>
          <p:sp>
            <p:nvSpPr>
              <p:cNvPr id="10" name="Rectangle 57"/>
              <p:cNvSpPr>
                <a:spLocks noChangeArrowheads="1"/>
              </p:cNvSpPr>
              <p:nvPr/>
            </p:nvSpPr>
            <p:spPr bwMode="auto">
              <a:xfrm>
                <a:off x="2845" y="2352"/>
                <a:ext cx="431" cy="384"/>
              </a:xfrm>
              <a:prstGeom prst="rect">
                <a:avLst/>
              </a:prstGeom>
              <a:solidFill>
                <a:srgbClr val="FFFF99"/>
              </a:solidFill>
              <a:ln w="19050">
                <a:solidFill>
                  <a:schemeClr val="tx1"/>
                </a:solidFill>
                <a:miter lim="800000"/>
                <a:headEnd/>
                <a:tailEnd/>
              </a:ln>
            </p:spPr>
            <p:txBody>
              <a:bodyPr wrap="none" anchor="ctr"/>
              <a:lstStyle/>
              <a:p>
                <a:pPr algn="ctr"/>
                <a:r>
                  <a:rPr lang="en-US">
                    <a:latin typeface="Verdana" pitchFamily="34" charset="0"/>
                  </a:rPr>
                  <a:t>44</a:t>
                </a:r>
              </a:p>
            </p:txBody>
          </p:sp>
          <p:sp>
            <p:nvSpPr>
              <p:cNvPr id="11" name="Rectangle 58"/>
              <p:cNvSpPr>
                <a:spLocks noChangeArrowheads="1"/>
              </p:cNvSpPr>
              <p:nvPr/>
            </p:nvSpPr>
            <p:spPr bwMode="auto">
              <a:xfrm>
                <a:off x="3277" y="2352"/>
                <a:ext cx="431" cy="384"/>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2" name="Rectangle 59"/>
              <p:cNvSpPr>
                <a:spLocks noChangeArrowheads="1"/>
              </p:cNvSpPr>
              <p:nvPr/>
            </p:nvSpPr>
            <p:spPr bwMode="auto">
              <a:xfrm>
                <a:off x="3709" y="2352"/>
                <a:ext cx="431" cy="384"/>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3" name="Rectangle 60"/>
              <p:cNvSpPr>
                <a:spLocks noChangeArrowheads="1"/>
              </p:cNvSpPr>
              <p:nvPr/>
            </p:nvSpPr>
            <p:spPr bwMode="auto">
              <a:xfrm>
                <a:off x="4141" y="2352"/>
                <a:ext cx="431" cy="384"/>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4" name="Rectangle 61"/>
              <p:cNvSpPr>
                <a:spLocks noChangeArrowheads="1"/>
              </p:cNvSpPr>
              <p:nvPr/>
            </p:nvSpPr>
            <p:spPr bwMode="auto">
              <a:xfrm>
                <a:off x="4573" y="2352"/>
                <a:ext cx="431" cy="384"/>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5" name="Text Box 64"/>
              <p:cNvSpPr txBox="1">
                <a:spLocks noChangeArrowheads="1"/>
              </p:cNvSpPr>
              <p:nvPr/>
            </p:nvSpPr>
            <p:spPr bwMode="auto">
              <a:xfrm>
                <a:off x="1693" y="2112"/>
                <a:ext cx="334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pPr>
                  <a:spcBef>
                    <a:spcPct val="50000"/>
                  </a:spcBef>
                </a:pPr>
                <a:r>
                  <a:rPr lang="en-US" sz="2000" dirty="0">
                    <a:latin typeface="Verdana" pitchFamily="34" charset="0"/>
                  </a:rPr>
                  <a:t>0      1      2      3      4      5      6     7</a:t>
                </a:r>
              </a:p>
            </p:txBody>
          </p:sp>
        </p:grpSp>
        <p:sp>
          <p:nvSpPr>
            <p:cNvPr id="6" name="Text Box 65"/>
            <p:cNvSpPr txBox="1">
              <a:spLocks noChangeArrowheads="1"/>
            </p:cNvSpPr>
            <p:nvPr/>
          </p:nvSpPr>
          <p:spPr bwMode="auto">
            <a:xfrm>
              <a:off x="384" y="2352"/>
              <a:ext cx="112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r>
                <a:rPr lang="en-US" dirty="0" err="1">
                  <a:solidFill>
                    <a:schemeClr val="accent2"/>
                  </a:solidFill>
                  <a:latin typeface="Verdana" pitchFamily="34" charset="0"/>
                </a:rPr>
                <a:t>myQueue</a:t>
              </a:r>
              <a:r>
                <a:rPr lang="en-US" dirty="0">
                  <a:solidFill>
                    <a:schemeClr val="accent2"/>
                  </a:solidFill>
                  <a:latin typeface="Verdana" pitchFamily="34" charset="0"/>
                </a:rPr>
                <a:t>:</a:t>
              </a:r>
            </a:p>
          </p:txBody>
        </p:sp>
      </p:grpSp>
      <p:grpSp>
        <p:nvGrpSpPr>
          <p:cNvPr id="16" name="Group 74"/>
          <p:cNvGrpSpPr>
            <a:grpSpLocks/>
          </p:cNvGrpSpPr>
          <p:nvPr/>
        </p:nvGrpSpPr>
        <p:grpSpPr bwMode="auto">
          <a:xfrm>
            <a:off x="2645280" y="2976563"/>
            <a:ext cx="1981200" cy="608013"/>
            <a:chOff x="1056" y="3025"/>
            <a:chExt cx="1248" cy="383"/>
          </a:xfrm>
        </p:grpSpPr>
        <p:sp>
          <p:nvSpPr>
            <p:cNvPr id="17" name="Text Box 71"/>
            <p:cNvSpPr txBox="1">
              <a:spLocks noChangeArrowheads="1"/>
            </p:cNvSpPr>
            <p:nvPr/>
          </p:nvSpPr>
          <p:spPr bwMode="auto">
            <a:xfrm>
              <a:off x="1056" y="3120"/>
              <a:ext cx="10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pPr>
                <a:spcBef>
                  <a:spcPct val="50000"/>
                </a:spcBef>
              </a:pPr>
              <a:r>
                <a:rPr lang="en-US" dirty="0">
                  <a:solidFill>
                    <a:schemeClr val="accent2"/>
                  </a:solidFill>
                  <a:latin typeface="Verdana" pitchFamily="34" charset="0"/>
                </a:rPr>
                <a:t>front = 0</a:t>
              </a:r>
            </a:p>
          </p:txBody>
        </p:sp>
        <p:sp>
          <p:nvSpPr>
            <p:cNvPr id="18" name="Freeform 72"/>
            <p:cNvSpPr>
              <a:spLocks/>
            </p:cNvSpPr>
            <p:nvPr/>
          </p:nvSpPr>
          <p:spPr bwMode="auto">
            <a:xfrm flipH="1">
              <a:off x="2062" y="3025"/>
              <a:ext cx="242" cy="242"/>
            </a:xfrm>
            <a:custGeom>
              <a:avLst/>
              <a:gdLst>
                <a:gd name="T0" fmla="*/ 242 w 240"/>
                <a:gd name="T1" fmla="*/ 242 h 240"/>
                <a:gd name="T2" fmla="*/ 48 w 240"/>
                <a:gd name="T3" fmla="*/ 194 h 240"/>
                <a:gd name="T4" fmla="*/ 0 w 240"/>
                <a:gd name="T5" fmla="*/ 0 h 240"/>
                <a:gd name="T6" fmla="*/ 0 60000 65536"/>
                <a:gd name="T7" fmla="*/ 0 60000 65536"/>
                <a:gd name="T8" fmla="*/ 0 60000 65536"/>
                <a:gd name="T9" fmla="*/ 0 w 240"/>
                <a:gd name="T10" fmla="*/ 0 h 240"/>
                <a:gd name="T11" fmla="*/ 240 w 240"/>
                <a:gd name="T12" fmla="*/ 240 h 240"/>
              </a:gdLst>
              <a:ahLst/>
              <a:cxnLst>
                <a:cxn ang="T6">
                  <a:pos x="T0" y="T1"/>
                </a:cxn>
                <a:cxn ang="T7">
                  <a:pos x="T2" y="T3"/>
                </a:cxn>
                <a:cxn ang="T8">
                  <a:pos x="T4" y="T5"/>
                </a:cxn>
              </a:cxnLst>
              <a:rect l="T9" t="T10" r="T11" b="T12"/>
              <a:pathLst>
                <a:path w="240" h="240">
                  <a:moveTo>
                    <a:pt x="240" y="240"/>
                  </a:moveTo>
                  <a:cubicBezTo>
                    <a:pt x="164" y="236"/>
                    <a:pt x="88" y="232"/>
                    <a:pt x="48" y="192"/>
                  </a:cubicBezTo>
                  <a:cubicBezTo>
                    <a:pt x="8" y="152"/>
                    <a:pt x="4" y="76"/>
                    <a:pt x="0" y="0"/>
                  </a:cubicBezTo>
                </a:path>
              </a:pathLst>
            </a:custGeom>
            <a:noFill/>
            <a:ln w="19050">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31" name="Group 67"/>
          <p:cNvGrpSpPr>
            <a:grpSpLocks/>
          </p:cNvGrpSpPr>
          <p:nvPr/>
        </p:nvGrpSpPr>
        <p:grpSpPr bwMode="auto">
          <a:xfrm>
            <a:off x="6738360" y="3051969"/>
            <a:ext cx="2138362" cy="608012"/>
            <a:chOff x="2458" y="1489"/>
            <a:chExt cx="1347" cy="383"/>
          </a:xfrm>
        </p:grpSpPr>
        <p:sp>
          <p:nvSpPr>
            <p:cNvPr id="32" name="Text Box 68"/>
            <p:cNvSpPr txBox="1">
              <a:spLocks noChangeArrowheads="1"/>
            </p:cNvSpPr>
            <p:nvPr/>
          </p:nvSpPr>
          <p:spPr bwMode="auto">
            <a:xfrm>
              <a:off x="2749" y="1584"/>
              <a:ext cx="10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pPr>
                <a:spcBef>
                  <a:spcPct val="50000"/>
                </a:spcBef>
              </a:pPr>
              <a:r>
                <a:rPr lang="en-US" dirty="0">
                  <a:solidFill>
                    <a:schemeClr val="accent2"/>
                  </a:solidFill>
                  <a:latin typeface="Verdana" pitchFamily="34" charset="0"/>
                </a:rPr>
                <a:t>rear = 3</a:t>
              </a:r>
            </a:p>
          </p:txBody>
        </p:sp>
        <p:sp>
          <p:nvSpPr>
            <p:cNvPr id="33" name="Freeform 69"/>
            <p:cNvSpPr>
              <a:spLocks/>
            </p:cNvSpPr>
            <p:nvPr/>
          </p:nvSpPr>
          <p:spPr bwMode="auto">
            <a:xfrm>
              <a:off x="2458" y="1489"/>
              <a:ext cx="242" cy="242"/>
            </a:xfrm>
            <a:custGeom>
              <a:avLst/>
              <a:gdLst>
                <a:gd name="T0" fmla="*/ 242 w 240"/>
                <a:gd name="T1" fmla="*/ 242 h 240"/>
                <a:gd name="T2" fmla="*/ 48 w 240"/>
                <a:gd name="T3" fmla="*/ 194 h 240"/>
                <a:gd name="T4" fmla="*/ 0 w 240"/>
                <a:gd name="T5" fmla="*/ 0 h 240"/>
                <a:gd name="T6" fmla="*/ 0 60000 65536"/>
                <a:gd name="T7" fmla="*/ 0 60000 65536"/>
                <a:gd name="T8" fmla="*/ 0 60000 65536"/>
                <a:gd name="T9" fmla="*/ 0 w 240"/>
                <a:gd name="T10" fmla="*/ 0 h 240"/>
                <a:gd name="T11" fmla="*/ 240 w 240"/>
                <a:gd name="T12" fmla="*/ 240 h 240"/>
              </a:gdLst>
              <a:ahLst/>
              <a:cxnLst>
                <a:cxn ang="T6">
                  <a:pos x="T0" y="T1"/>
                </a:cxn>
                <a:cxn ang="T7">
                  <a:pos x="T2" y="T3"/>
                </a:cxn>
                <a:cxn ang="T8">
                  <a:pos x="T4" y="T5"/>
                </a:cxn>
              </a:cxnLst>
              <a:rect l="T9" t="T10" r="T11" b="T12"/>
              <a:pathLst>
                <a:path w="240" h="240">
                  <a:moveTo>
                    <a:pt x="240" y="240"/>
                  </a:moveTo>
                  <a:cubicBezTo>
                    <a:pt x="164" y="236"/>
                    <a:pt x="88" y="232"/>
                    <a:pt x="48" y="192"/>
                  </a:cubicBezTo>
                  <a:cubicBezTo>
                    <a:pt x="8" y="152"/>
                    <a:pt x="4" y="76"/>
                    <a:pt x="0" y="0"/>
                  </a:cubicBezTo>
                </a:path>
              </a:pathLst>
            </a:custGeom>
            <a:noFill/>
            <a:ln w="19050">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35" name="Rectangle 49"/>
          <p:cNvSpPr txBox="1">
            <a:spLocks noChangeArrowheads="1"/>
          </p:cNvSpPr>
          <p:nvPr/>
        </p:nvSpPr>
        <p:spPr>
          <a:xfrm>
            <a:off x="1981200" y="4516582"/>
            <a:ext cx="8305800" cy="8382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90000"/>
              </a:lnSpc>
            </a:pPr>
            <a:r>
              <a:rPr lang="en-US" sz="2400" b="1" dirty="0"/>
              <a:t>To insert:</a:t>
            </a:r>
            <a:r>
              <a:rPr lang="en-US" sz="2400" dirty="0"/>
              <a:t> put new element in  location</a:t>
            </a:r>
            <a:r>
              <a:rPr lang="en-US" sz="2400" dirty="0">
                <a:solidFill>
                  <a:schemeClr val="accent2"/>
                </a:solidFill>
              </a:rPr>
              <a:t> </a:t>
            </a:r>
            <a:r>
              <a:rPr lang="en-US" sz="2000" dirty="0">
                <a:solidFill>
                  <a:schemeClr val="accent2"/>
                </a:solidFill>
                <a:latin typeface="Verdana" pitchFamily="34" charset="0"/>
              </a:rPr>
              <a:t>4</a:t>
            </a:r>
            <a:r>
              <a:rPr lang="en-US" sz="2400" dirty="0"/>
              <a:t>, and set </a:t>
            </a:r>
            <a:r>
              <a:rPr lang="en-US" sz="2400" dirty="0">
                <a:solidFill>
                  <a:schemeClr val="accent2"/>
                </a:solidFill>
              </a:rPr>
              <a:t>rear</a:t>
            </a:r>
            <a:r>
              <a:rPr lang="en-US" sz="2400" dirty="0"/>
              <a:t> to </a:t>
            </a:r>
            <a:r>
              <a:rPr lang="en-US" sz="2400" dirty="0">
                <a:solidFill>
                  <a:schemeClr val="accent2"/>
                </a:solidFill>
              </a:rPr>
              <a:t>4</a:t>
            </a:r>
          </a:p>
          <a:p>
            <a:pPr>
              <a:lnSpc>
                <a:spcPct val="90000"/>
              </a:lnSpc>
            </a:pPr>
            <a:r>
              <a:rPr lang="en-US" sz="2400" b="1" dirty="0"/>
              <a:t>To delete:</a:t>
            </a:r>
            <a:r>
              <a:rPr lang="en-US" sz="2400" dirty="0"/>
              <a:t> take element from location </a:t>
            </a:r>
            <a:r>
              <a:rPr lang="en-US" sz="2400" dirty="0">
                <a:solidFill>
                  <a:schemeClr val="accent2"/>
                </a:solidFill>
              </a:rPr>
              <a:t>0</a:t>
            </a:r>
            <a:r>
              <a:rPr lang="en-US" sz="2400" dirty="0"/>
              <a:t>, and set </a:t>
            </a:r>
            <a:r>
              <a:rPr lang="en-US" sz="2400" dirty="0">
                <a:solidFill>
                  <a:schemeClr val="accent2"/>
                </a:solidFill>
              </a:rPr>
              <a:t>front</a:t>
            </a:r>
            <a:r>
              <a:rPr lang="en-US" sz="2400" dirty="0"/>
              <a:t> to </a:t>
            </a:r>
            <a:r>
              <a:rPr lang="en-US" sz="2400" dirty="0">
                <a:solidFill>
                  <a:schemeClr val="accent2"/>
                </a:solidFill>
              </a:rPr>
              <a:t>1</a:t>
            </a:r>
            <a:r>
              <a:rPr lang="en-US" sz="2400" dirty="0"/>
              <a:t> </a:t>
            </a:r>
          </a:p>
        </p:txBody>
      </p:sp>
    </p:spTree>
    <p:extLst>
      <p:ext uri="{BB962C8B-B14F-4D97-AF65-F5344CB8AC3E}">
        <p14:creationId xmlns:p14="http://schemas.microsoft.com/office/powerpoint/2010/main" val="3368636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dissolv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dissolve">
                                      <p:cBhvr>
                                        <p:cTn id="17" dur="500"/>
                                        <p:tgtEl>
                                          <p:spTgt spid="3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5">
                                            <p:txEl>
                                              <p:pRg st="0" end="0"/>
                                            </p:txEl>
                                          </p:spTgt>
                                        </p:tgtEl>
                                        <p:attrNameLst>
                                          <p:attrName>style.visibility</p:attrName>
                                        </p:attrNameLst>
                                      </p:cBhvr>
                                      <p:to>
                                        <p:strVal val="visible"/>
                                      </p:to>
                                    </p:set>
                                    <p:animEffect transition="in" filter="wipe(left)">
                                      <p:cBhvr>
                                        <p:cTn id="22" dur="500"/>
                                        <p:tgtEl>
                                          <p:spTgt spid="35">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5">
                                            <p:txEl>
                                              <p:pRg st="1" end="1"/>
                                            </p:txEl>
                                          </p:spTgt>
                                        </p:tgtEl>
                                        <p:attrNameLst>
                                          <p:attrName>style.visibility</p:attrName>
                                        </p:attrNameLst>
                                      </p:cBhvr>
                                      <p:to>
                                        <p:strVal val="visible"/>
                                      </p:to>
                                    </p:set>
                                    <p:animEffect transition="in" filter="wipe(left)">
                                      <p:cBhvr>
                                        <p:cTn id="27" dur="500"/>
                                        <p:tgtEl>
                                          <p:spTgt spid="3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uild="p" bldLvl="4"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1295401"/>
            <a:ext cx="8229600" cy="4830763"/>
          </a:xfrm>
        </p:spPr>
        <p:txBody>
          <a:bodyPr/>
          <a:lstStyle/>
          <a:p>
            <a:pPr marL="0" indent="0">
              <a:buNone/>
            </a:pPr>
            <a:endParaRPr lang="en-US" dirty="0"/>
          </a:p>
        </p:txBody>
      </p:sp>
      <p:sp>
        <p:nvSpPr>
          <p:cNvPr id="2" name="Title 1"/>
          <p:cNvSpPr>
            <a:spLocks noGrp="1"/>
          </p:cNvSpPr>
          <p:nvPr>
            <p:ph type="title"/>
          </p:nvPr>
        </p:nvSpPr>
        <p:spPr/>
        <p:txBody>
          <a:bodyPr>
            <a:normAutofit/>
          </a:bodyPr>
          <a:lstStyle/>
          <a:p>
            <a:r>
              <a:rPr lang="en-US" dirty="0"/>
              <a:t>Array implementation of queues</a:t>
            </a:r>
          </a:p>
        </p:txBody>
      </p:sp>
      <p:grpSp>
        <p:nvGrpSpPr>
          <p:cNvPr id="4" name="Group 50"/>
          <p:cNvGrpSpPr>
            <a:grpSpLocks/>
          </p:cNvGrpSpPr>
          <p:nvPr/>
        </p:nvGrpSpPr>
        <p:grpSpPr bwMode="auto">
          <a:xfrm>
            <a:off x="2029260" y="1524000"/>
            <a:ext cx="7716838" cy="1376363"/>
            <a:chOff x="336" y="816"/>
            <a:chExt cx="4861" cy="867"/>
          </a:xfrm>
        </p:grpSpPr>
        <p:grpSp>
          <p:nvGrpSpPr>
            <p:cNvPr id="5" name="Group 49"/>
            <p:cNvGrpSpPr>
              <a:grpSpLocks/>
            </p:cNvGrpSpPr>
            <p:nvPr/>
          </p:nvGrpSpPr>
          <p:grpSpPr bwMode="auto">
            <a:xfrm>
              <a:off x="336" y="1299"/>
              <a:ext cx="4861" cy="384"/>
              <a:chOff x="336" y="1299"/>
              <a:chExt cx="4861" cy="384"/>
            </a:xfrm>
          </p:grpSpPr>
          <p:sp>
            <p:nvSpPr>
              <p:cNvPr id="10" name="Rectangle 5"/>
              <p:cNvSpPr>
                <a:spLocks noChangeArrowheads="1"/>
              </p:cNvSpPr>
              <p:nvPr/>
            </p:nvSpPr>
            <p:spPr bwMode="auto">
              <a:xfrm>
                <a:off x="1741" y="1299"/>
                <a:ext cx="432" cy="384"/>
              </a:xfrm>
              <a:prstGeom prst="rect">
                <a:avLst/>
              </a:prstGeom>
              <a:solidFill>
                <a:srgbClr val="FFFF99"/>
              </a:solidFill>
              <a:ln w="19050">
                <a:solidFill>
                  <a:schemeClr val="tx1"/>
                </a:solidFill>
                <a:miter lim="800000"/>
                <a:headEnd/>
                <a:tailEnd/>
              </a:ln>
            </p:spPr>
            <p:txBody>
              <a:bodyPr wrap="none" anchor="ctr"/>
              <a:lstStyle/>
              <a:p>
                <a:pPr algn="ctr"/>
                <a:r>
                  <a:rPr lang="en-US">
                    <a:latin typeface="Verdana" pitchFamily="34" charset="0"/>
                  </a:rPr>
                  <a:t>17</a:t>
                </a:r>
                <a:endParaRPr lang="en-US">
                  <a:latin typeface="Times New Roman" pitchFamily="18" charset="0"/>
                </a:endParaRPr>
              </a:p>
            </p:txBody>
          </p:sp>
          <p:sp>
            <p:nvSpPr>
              <p:cNvPr id="11" name="Rectangle 6"/>
              <p:cNvSpPr>
                <a:spLocks noChangeArrowheads="1"/>
              </p:cNvSpPr>
              <p:nvPr/>
            </p:nvSpPr>
            <p:spPr bwMode="auto">
              <a:xfrm>
                <a:off x="2173" y="1299"/>
                <a:ext cx="432" cy="384"/>
              </a:xfrm>
              <a:prstGeom prst="rect">
                <a:avLst/>
              </a:prstGeom>
              <a:solidFill>
                <a:srgbClr val="FFFF99"/>
              </a:solidFill>
              <a:ln w="19050">
                <a:solidFill>
                  <a:schemeClr val="tx1"/>
                </a:solidFill>
                <a:miter lim="800000"/>
                <a:headEnd/>
                <a:tailEnd/>
              </a:ln>
            </p:spPr>
            <p:txBody>
              <a:bodyPr wrap="none" anchor="ctr"/>
              <a:lstStyle/>
              <a:p>
                <a:pPr algn="ctr"/>
                <a:r>
                  <a:rPr lang="en-US">
                    <a:latin typeface="Verdana" pitchFamily="34" charset="0"/>
                  </a:rPr>
                  <a:t>23</a:t>
                </a:r>
                <a:endParaRPr lang="en-US">
                  <a:latin typeface="Times New Roman" pitchFamily="18" charset="0"/>
                </a:endParaRPr>
              </a:p>
            </p:txBody>
          </p:sp>
          <p:sp>
            <p:nvSpPr>
              <p:cNvPr id="12" name="Rectangle 7"/>
              <p:cNvSpPr>
                <a:spLocks noChangeArrowheads="1"/>
              </p:cNvSpPr>
              <p:nvPr/>
            </p:nvSpPr>
            <p:spPr bwMode="auto">
              <a:xfrm>
                <a:off x="2605" y="1299"/>
                <a:ext cx="432" cy="384"/>
              </a:xfrm>
              <a:prstGeom prst="rect">
                <a:avLst/>
              </a:prstGeom>
              <a:solidFill>
                <a:srgbClr val="FFFF99"/>
              </a:solidFill>
              <a:ln w="19050">
                <a:solidFill>
                  <a:schemeClr val="tx1"/>
                </a:solidFill>
                <a:miter lim="800000"/>
                <a:headEnd/>
                <a:tailEnd/>
              </a:ln>
            </p:spPr>
            <p:txBody>
              <a:bodyPr wrap="none" anchor="ctr"/>
              <a:lstStyle/>
              <a:p>
                <a:pPr algn="ctr"/>
                <a:r>
                  <a:rPr lang="en-US">
                    <a:latin typeface="Verdana" pitchFamily="34" charset="0"/>
                  </a:rPr>
                  <a:t>97</a:t>
                </a:r>
                <a:endParaRPr lang="en-US">
                  <a:latin typeface="Times New Roman" pitchFamily="18" charset="0"/>
                </a:endParaRPr>
              </a:p>
            </p:txBody>
          </p:sp>
          <p:sp>
            <p:nvSpPr>
              <p:cNvPr id="13" name="Rectangle 8"/>
              <p:cNvSpPr>
                <a:spLocks noChangeArrowheads="1"/>
              </p:cNvSpPr>
              <p:nvPr/>
            </p:nvSpPr>
            <p:spPr bwMode="auto">
              <a:xfrm>
                <a:off x="3037" y="1299"/>
                <a:ext cx="432" cy="384"/>
              </a:xfrm>
              <a:prstGeom prst="rect">
                <a:avLst/>
              </a:prstGeom>
              <a:solidFill>
                <a:srgbClr val="FFFF99"/>
              </a:solidFill>
              <a:ln w="19050">
                <a:solidFill>
                  <a:schemeClr val="tx1"/>
                </a:solidFill>
                <a:miter lim="800000"/>
                <a:headEnd/>
                <a:tailEnd/>
              </a:ln>
            </p:spPr>
            <p:txBody>
              <a:bodyPr wrap="none" anchor="ctr"/>
              <a:lstStyle/>
              <a:p>
                <a:pPr algn="ctr"/>
                <a:r>
                  <a:rPr lang="en-US">
                    <a:latin typeface="Verdana" pitchFamily="34" charset="0"/>
                  </a:rPr>
                  <a:t>44</a:t>
                </a:r>
                <a:endParaRPr lang="en-US">
                  <a:latin typeface="Times New Roman" pitchFamily="18" charset="0"/>
                </a:endParaRPr>
              </a:p>
            </p:txBody>
          </p:sp>
          <p:sp>
            <p:nvSpPr>
              <p:cNvPr id="14" name="Rectangle 9"/>
              <p:cNvSpPr>
                <a:spLocks noChangeArrowheads="1"/>
              </p:cNvSpPr>
              <p:nvPr/>
            </p:nvSpPr>
            <p:spPr bwMode="auto">
              <a:xfrm>
                <a:off x="3469" y="1299"/>
                <a:ext cx="432" cy="384"/>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5" name="Rectangle 10"/>
              <p:cNvSpPr>
                <a:spLocks noChangeArrowheads="1"/>
              </p:cNvSpPr>
              <p:nvPr/>
            </p:nvSpPr>
            <p:spPr bwMode="auto">
              <a:xfrm>
                <a:off x="3901" y="1299"/>
                <a:ext cx="432" cy="384"/>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 name="Rectangle 11"/>
              <p:cNvSpPr>
                <a:spLocks noChangeArrowheads="1"/>
              </p:cNvSpPr>
              <p:nvPr/>
            </p:nvSpPr>
            <p:spPr bwMode="auto">
              <a:xfrm>
                <a:off x="4333" y="1299"/>
                <a:ext cx="432" cy="384"/>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7" name="Rectangle 12"/>
              <p:cNvSpPr>
                <a:spLocks noChangeArrowheads="1"/>
              </p:cNvSpPr>
              <p:nvPr/>
            </p:nvSpPr>
            <p:spPr bwMode="auto">
              <a:xfrm>
                <a:off x="4765" y="1299"/>
                <a:ext cx="432" cy="384"/>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 name="Text Box 13"/>
              <p:cNvSpPr txBox="1">
                <a:spLocks noChangeArrowheads="1"/>
              </p:cNvSpPr>
              <p:nvPr/>
            </p:nvSpPr>
            <p:spPr bwMode="auto">
              <a:xfrm>
                <a:off x="336" y="1347"/>
                <a:ext cx="129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spAutoFit/>
              </a:bodyPr>
              <a:lstStyle>
                <a:lvl1pPr>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pPr>
                  <a:spcBef>
                    <a:spcPct val="50000"/>
                  </a:spcBef>
                </a:pPr>
                <a:r>
                  <a:rPr lang="en-US">
                    <a:latin typeface="Times New Roman" pitchFamily="18" charset="0"/>
                  </a:rPr>
                  <a:t>Initial queue:</a:t>
                </a:r>
              </a:p>
            </p:txBody>
          </p:sp>
        </p:grpSp>
        <p:sp>
          <p:nvSpPr>
            <p:cNvPr id="6" name="Text Box 42"/>
            <p:cNvSpPr txBox="1">
              <a:spLocks noChangeArrowheads="1"/>
            </p:cNvSpPr>
            <p:nvPr/>
          </p:nvSpPr>
          <p:spPr bwMode="auto">
            <a:xfrm>
              <a:off x="3552" y="816"/>
              <a:ext cx="10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pPr>
                <a:spcBef>
                  <a:spcPct val="50000"/>
                </a:spcBef>
              </a:pPr>
              <a:r>
                <a:rPr lang="en-US">
                  <a:solidFill>
                    <a:schemeClr val="accent2"/>
                  </a:solidFill>
                  <a:latin typeface="Verdana" pitchFamily="34" charset="0"/>
                </a:rPr>
                <a:t>rear = 3</a:t>
              </a:r>
            </a:p>
          </p:txBody>
        </p:sp>
        <p:sp>
          <p:nvSpPr>
            <p:cNvPr id="7" name="Freeform 43"/>
            <p:cNvSpPr>
              <a:spLocks/>
            </p:cNvSpPr>
            <p:nvPr/>
          </p:nvSpPr>
          <p:spPr bwMode="auto">
            <a:xfrm flipV="1">
              <a:off x="3261" y="1009"/>
              <a:ext cx="242" cy="242"/>
            </a:xfrm>
            <a:custGeom>
              <a:avLst/>
              <a:gdLst>
                <a:gd name="T0" fmla="*/ 242 w 240"/>
                <a:gd name="T1" fmla="*/ 242 h 240"/>
                <a:gd name="T2" fmla="*/ 48 w 240"/>
                <a:gd name="T3" fmla="*/ 194 h 240"/>
                <a:gd name="T4" fmla="*/ 0 w 240"/>
                <a:gd name="T5" fmla="*/ 0 h 240"/>
                <a:gd name="T6" fmla="*/ 0 60000 65536"/>
                <a:gd name="T7" fmla="*/ 0 60000 65536"/>
                <a:gd name="T8" fmla="*/ 0 60000 65536"/>
                <a:gd name="T9" fmla="*/ 0 w 240"/>
                <a:gd name="T10" fmla="*/ 0 h 240"/>
                <a:gd name="T11" fmla="*/ 240 w 240"/>
                <a:gd name="T12" fmla="*/ 240 h 240"/>
              </a:gdLst>
              <a:ahLst/>
              <a:cxnLst>
                <a:cxn ang="T6">
                  <a:pos x="T0" y="T1"/>
                </a:cxn>
                <a:cxn ang="T7">
                  <a:pos x="T2" y="T3"/>
                </a:cxn>
                <a:cxn ang="T8">
                  <a:pos x="T4" y="T5"/>
                </a:cxn>
              </a:cxnLst>
              <a:rect l="T9" t="T10" r="T11" b="T12"/>
              <a:pathLst>
                <a:path w="240" h="240">
                  <a:moveTo>
                    <a:pt x="240" y="240"/>
                  </a:moveTo>
                  <a:cubicBezTo>
                    <a:pt x="164" y="236"/>
                    <a:pt x="88" y="232"/>
                    <a:pt x="48" y="192"/>
                  </a:cubicBezTo>
                  <a:cubicBezTo>
                    <a:pt x="8" y="152"/>
                    <a:pt x="4" y="76"/>
                    <a:pt x="0" y="0"/>
                  </a:cubicBezTo>
                </a:path>
              </a:pathLst>
            </a:custGeom>
            <a:noFill/>
            <a:ln w="19050">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 name="Text Box 45"/>
            <p:cNvSpPr txBox="1">
              <a:spLocks noChangeArrowheads="1"/>
            </p:cNvSpPr>
            <p:nvPr/>
          </p:nvSpPr>
          <p:spPr bwMode="auto">
            <a:xfrm>
              <a:off x="720" y="864"/>
              <a:ext cx="10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pPr>
                <a:spcBef>
                  <a:spcPct val="50000"/>
                </a:spcBef>
              </a:pPr>
              <a:r>
                <a:rPr lang="en-US" dirty="0">
                  <a:solidFill>
                    <a:schemeClr val="accent2"/>
                  </a:solidFill>
                  <a:latin typeface="Verdana" pitchFamily="34" charset="0"/>
                </a:rPr>
                <a:t>front = 0</a:t>
              </a:r>
            </a:p>
          </p:txBody>
        </p:sp>
        <p:sp>
          <p:nvSpPr>
            <p:cNvPr id="9" name="Freeform 46"/>
            <p:cNvSpPr>
              <a:spLocks/>
            </p:cNvSpPr>
            <p:nvPr/>
          </p:nvSpPr>
          <p:spPr bwMode="auto">
            <a:xfrm flipH="1" flipV="1">
              <a:off x="1726" y="1008"/>
              <a:ext cx="242" cy="242"/>
            </a:xfrm>
            <a:custGeom>
              <a:avLst/>
              <a:gdLst>
                <a:gd name="T0" fmla="*/ 242 w 240"/>
                <a:gd name="T1" fmla="*/ 242 h 240"/>
                <a:gd name="T2" fmla="*/ 48 w 240"/>
                <a:gd name="T3" fmla="*/ 194 h 240"/>
                <a:gd name="T4" fmla="*/ 0 w 240"/>
                <a:gd name="T5" fmla="*/ 0 h 240"/>
                <a:gd name="T6" fmla="*/ 0 60000 65536"/>
                <a:gd name="T7" fmla="*/ 0 60000 65536"/>
                <a:gd name="T8" fmla="*/ 0 60000 65536"/>
                <a:gd name="T9" fmla="*/ 0 w 240"/>
                <a:gd name="T10" fmla="*/ 0 h 240"/>
                <a:gd name="T11" fmla="*/ 240 w 240"/>
                <a:gd name="T12" fmla="*/ 240 h 240"/>
              </a:gdLst>
              <a:ahLst/>
              <a:cxnLst>
                <a:cxn ang="T6">
                  <a:pos x="T0" y="T1"/>
                </a:cxn>
                <a:cxn ang="T7">
                  <a:pos x="T2" y="T3"/>
                </a:cxn>
                <a:cxn ang="T8">
                  <a:pos x="T4" y="T5"/>
                </a:cxn>
              </a:cxnLst>
              <a:rect l="T9" t="T10" r="T11" b="T12"/>
              <a:pathLst>
                <a:path w="240" h="240">
                  <a:moveTo>
                    <a:pt x="240" y="240"/>
                  </a:moveTo>
                  <a:cubicBezTo>
                    <a:pt x="164" y="236"/>
                    <a:pt x="88" y="232"/>
                    <a:pt x="48" y="192"/>
                  </a:cubicBezTo>
                  <a:cubicBezTo>
                    <a:pt x="8" y="152"/>
                    <a:pt x="4" y="76"/>
                    <a:pt x="0" y="0"/>
                  </a:cubicBezTo>
                </a:path>
              </a:pathLst>
            </a:custGeom>
            <a:noFill/>
            <a:ln w="19050">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19" name="Group 51"/>
          <p:cNvGrpSpPr>
            <a:grpSpLocks/>
          </p:cNvGrpSpPr>
          <p:nvPr/>
        </p:nvGrpSpPr>
        <p:grpSpPr bwMode="auto">
          <a:xfrm>
            <a:off x="2057400" y="3052763"/>
            <a:ext cx="7716838" cy="609600"/>
            <a:chOff x="336" y="1827"/>
            <a:chExt cx="4861" cy="384"/>
          </a:xfrm>
        </p:grpSpPr>
        <p:sp>
          <p:nvSpPr>
            <p:cNvPr id="20" name="Rectangle 15"/>
            <p:cNvSpPr>
              <a:spLocks noChangeArrowheads="1"/>
            </p:cNvSpPr>
            <p:nvPr/>
          </p:nvSpPr>
          <p:spPr bwMode="auto">
            <a:xfrm>
              <a:off x="1741" y="1827"/>
              <a:ext cx="432" cy="384"/>
            </a:xfrm>
            <a:prstGeom prst="rect">
              <a:avLst/>
            </a:prstGeom>
            <a:solidFill>
              <a:srgbClr val="FFFF99"/>
            </a:solidFill>
            <a:ln w="19050">
              <a:solidFill>
                <a:schemeClr val="tx1"/>
              </a:solidFill>
              <a:miter lim="800000"/>
              <a:headEnd/>
              <a:tailEnd/>
            </a:ln>
          </p:spPr>
          <p:txBody>
            <a:bodyPr wrap="none" anchor="ctr"/>
            <a:lstStyle/>
            <a:p>
              <a:pPr algn="ctr"/>
              <a:r>
                <a:rPr lang="en-US" dirty="0">
                  <a:latin typeface="Verdana" pitchFamily="34" charset="0"/>
                </a:rPr>
                <a:t>17</a:t>
              </a:r>
              <a:endParaRPr lang="en-US" dirty="0">
                <a:latin typeface="Times New Roman" pitchFamily="18" charset="0"/>
              </a:endParaRPr>
            </a:p>
          </p:txBody>
        </p:sp>
        <p:sp>
          <p:nvSpPr>
            <p:cNvPr id="21" name="Rectangle 16"/>
            <p:cNvSpPr>
              <a:spLocks noChangeArrowheads="1"/>
            </p:cNvSpPr>
            <p:nvPr/>
          </p:nvSpPr>
          <p:spPr bwMode="auto">
            <a:xfrm>
              <a:off x="2173" y="1827"/>
              <a:ext cx="432" cy="384"/>
            </a:xfrm>
            <a:prstGeom prst="rect">
              <a:avLst/>
            </a:prstGeom>
            <a:solidFill>
              <a:srgbClr val="FFFF99"/>
            </a:solidFill>
            <a:ln w="19050">
              <a:solidFill>
                <a:schemeClr val="tx1"/>
              </a:solidFill>
              <a:miter lim="800000"/>
              <a:headEnd/>
              <a:tailEnd/>
            </a:ln>
          </p:spPr>
          <p:txBody>
            <a:bodyPr wrap="none" anchor="ctr"/>
            <a:lstStyle/>
            <a:p>
              <a:pPr algn="ctr"/>
              <a:r>
                <a:rPr lang="en-US">
                  <a:latin typeface="Verdana" pitchFamily="34" charset="0"/>
                </a:rPr>
                <a:t>23</a:t>
              </a:r>
              <a:endParaRPr lang="en-US">
                <a:latin typeface="Times New Roman" pitchFamily="18" charset="0"/>
              </a:endParaRPr>
            </a:p>
          </p:txBody>
        </p:sp>
        <p:sp>
          <p:nvSpPr>
            <p:cNvPr id="22" name="Rectangle 17"/>
            <p:cNvSpPr>
              <a:spLocks noChangeArrowheads="1"/>
            </p:cNvSpPr>
            <p:nvPr/>
          </p:nvSpPr>
          <p:spPr bwMode="auto">
            <a:xfrm>
              <a:off x="2605" y="1827"/>
              <a:ext cx="432" cy="384"/>
            </a:xfrm>
            <a:prstGeom prst="rect">
              <a:avLst/>
            </a:prstGeom>
            <a:solidFill>
              <a:srgbClr val="FFFF99"/>
            </a:solidFill>
            <a:ln w="19050">
              <a:solidFill>
                <a:schemeClr val="tx1"/>
              </a:solidFill>
              <a:miter lim="800000"/>
              <a:headEnd/>
              <a:tailEnd/>
            </a:ln>
          </p:spPr>
          <p:txBody>
            <a:bodyPr wrap="none" anchor="ctr"/>
            <a:lstStyle/>
            <a:p>
              <a:pPr algn="ctr"/>
              <a:r>
                <a:rPr lang="en-US">
                  <a:latin typeface="Verdana" pitchFamily="34" charset="0"/>
                </a:rPr>
                <a:t>97</a:t>
              </a:r>
              <a:endParaRPr lang="en-US">
                <a:latin typeface="Times New Roman" pitchFamily="18" charset="0"/>
              </a:endParaRPr>
            </a:p>
          </p:txBody>
        </p:sp>
        <p:sp>
          <p:nvSpPr>
            <p:cNvPr id="23" name="Rectangle 18"/>
            <p:cNvSpPr>
              <a:spLocks noChangeArrowheads="1"/>
            </p:cNvSpPr>
            <p:nvPr/>
          </p:nvSpPr>
          <p:spPr bwMode="auto">
            <a:xfrm>
              <a:off x="3037" y="1827"/>
              <a:ext cx="432" cy="384"/>
            </a:xfrm>
            <a:prstGeom prst="rect">
              <a:avLst/>
            </a:prstGeom>
            <a:solidFill>
              <a:srgbClr val="FFFF99"/>
            </a:solidFill>
            <a:ln w="19050">
              <a:solidFill>
                <a:schemeClr val="tx1"/>
              </a:solidFill>
              <a:miter lim="800000"/>
              <a:headEnd/>
              <a:tailEnd/>
            </a:ln>
          </p:spPr>
          <p:txBody>
            <a:bodyPr wrap="none" anchor="ctr"/>
            <a:lstStyle/>
            <a:p>
              <a:pPr algn="ctr"/>
              <a:r>
                <a:rPr lang="en-US">
                  <a:latin typeface="Verdana" pitchFamily="34" charset="0"/>
                </a:rPr>
                <a:t>44</a:t>
              </a:r>
              <a:endParaRPr lang="en-US">
                <a:latin typeface="Times New Roman" pitchFamily="18" charset="0"/>
              </a:endParaRPr>
            </a:p>
          </p:txBody>
        </p:sp>
        <p:sp>
          <p:nvSpPr>
            <p:cNvPr id="24" name="Rectangle 19"/>
            <p:cNvSpPr>
              <a:spLocks noChangeArrowheads="1"/>
            </p:cNvSpPr>
            <p:nvPr/>
          </p:nvSpPr>
          <p:spPr bwMode="auto">
            <a:xfrm>
              <a:off x="3469" y="1827"/>
              <a:ext cx="432" cy="384"/>
            </a:xfrm>
            <a:prstGeom prst="rect">
              <a:avLst/>
            </a:prstGeom>
            <a:solidFill>
              <a:srgbClr val="FFFF99"/>
            </a:solidFill>
            <a:ln w="19050">
              <a:solidFill>
                <a:schemeClr val="tx1"/>
              </a:solidFill>
              <a:miter lim="800000"/>
              <a:headEnd/>
              <a:tailEnd/>
            </a:ln>
          </p:spPr>
          <p:txBody>
            <a:bodyPr wrap="none" anchor="ctr"/>
            <a:lstStyle/>
            <a:p>
              <a:pPr algn="ctr"/>
              <a:r>
                <a:rPr lang="en-US">
                  <a:latin typeface="Verdana" pitchFamily="34" charset="0"/>
                </a:rPr>
                <a:t>333</a:t>
              </a:r>
              <a:endParaRPr lang="en-US">
                <a:latin typeface="Times New Roman" pitchFamily="18" charset="0"/>
              </a:endParaRPr>
            </a:p>
          </p:txBody>
        </p:sp>
        <p:sp>
          <p:nvSpPr>
            <p:cNvPr id="25" name="Rectangle 20"/>
            <p:cNvSpPr>
              <a:spLocks noChangeArrowheads="1"/>
            </p:cNvSpPr>
            <p:nvPr/>
          </p:nvSpPr>
          <p:spPr bwMode="auto">
            <a:xfrm>
              <a:off x="3901" y="1827"/>
              <a:ext cx="432" cy="384"/>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6" name="Rectangle 21"/>
            <p:cNvSpPr>
              <a:spLocks noChangeArrowheads="1"/>
            </p:cNvSpPr>
            <p:nvPr/>
          </p:nvSpPr>
          <p:spPr bwMode="auto">
            <a:xfrm>
              <a:off x="4333" y="1827"/>
              <a:ext cx="432" cy="384"/>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7" name="Rectangle 22"/>
            <p:cNvSpPr>
              <a:spLocks noChangeArrowheads="1"/>
            </p:cNvSpPr>
            <p:nvPr/>
          </p:nvSpPr>
          <p:spPr bwMode="auto">
            <a:xfrm>
              <a:off x="4765" y="1827"/>
              <a:ext cx="432" cy="384"/>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8" name="Text Box 23"/>
            <p:cNvSpPr txBox="1">
              <a:spLocks noChangeArrowheads="1"/>
            </p:cNvSpPr>
            <p:nvPr/>
          </p:nvSpPr>
          <p:spPr bwMode="auto">
            <a:xfrm>
              <a:off x="336" y="1875"/>
              <a:ext cx="129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spAutoFit/>
            </a:bodyPr>
            <a:lstStyle>
              <a:lvl1pPr>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pPr>
                <a:spcBef>
                  <a:spcPct val="50000"/>
                </a:spcBef>
              </a:pPr>
              <a:r>
                <a:rPr lang="en-US" dirty="0">
                  <a:latin typeface="Times New Roman" pitchFamily="18" charset="0"/>
                </a:rPr>
                <a:t>After insertion:</a:t>
              </a:r>
            </a:p>
          </p:txBody>
        </p:sp>
      </p:grpSp>
      <p:grpSp>
        <p:nvGrpSpPr>
          <p:cNvPr id="29" name="Group 53"/>
          <p:cNvGrpSpPr>
            <a:grpSpLocks/>
          </p:cNvGrpSpPr>
          <p:nvPr/>
        </p:nvGrpSpPr>
        <p:grpSpPr bwMode="auto">
          <a:xfrm>
            <a:off x="2064327" y="3889376"/>
            <a:ext cx="7716838" cy="1295400"/>
            <a:chOff x="336" y="2355"/>
            <a:chExt cx="4861" cy="816"/>
          </a:xfrm>
        </p:grpSpPr>
        <p:grpSp>
          <p:nvGrpSpPr>
            <p:cNvPr id="30" name="Group 52"/>
            <p:cNvGrpSpPr>
              <a:grpSpLocks/>
            </p:cNvGrpSpPr>
            <p:nvPr/>
          </p:nvGrpSpPr>
          <p:grpSpPr bwMode="auto">
            <a:xfrm>
              <a:off x="336" y="2355"/>
              <a:ext cx="4861" cy="384"/>
              <a:chOff x="336" y="2355"/>
              <a:chExt cx="4861" cy="384"/>
            </a:xfrm>
          </p:grpSpPr>
          <p:sp>
            <p:nvSpPr>
              <p:cNvPr id="35" name="Rectangle 25"/>
              <p:cNvSpPr>
                <a:spLocks noChangeArrowheads="1"/>
              </p:cNvSpPr>
              <p:nvPr/>
            </p:nvSpPr>
            <p:spPr bwMode="auto">
              <a:xfrm>
                <a:off x="1741" y="2355"/>
                <a:ext cx="432" cy="384"/>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lang="en-US">
                  <a:latin typeface="Times New Roman" pitchFamily="18" charset="0"/>
                </a:endParaRPr>
              </a:p>
            </p:txBody>
          </p:sp>
          <p:sp>
            <p:nvSpPr>
              <p:cNvPr id="36" name="Rectangle 26"/>
              <p:cNvSpPr>
                <a:spLocks noChangeArrowheads="1"/>
              </p:cNvSpPr>
              <p:nvPr/>
            </p:nvSpPr>
            <p:spPr bwMode="auto">
              <a:xfrm>
                <a:off x="2173" y="2355"/>
                <a:ext cx="432" cy="384"/>
              </a:xfrm>
              <a:prstGeom prst="rect">
                <a:avLst/>
              </a:prstGeom>
              <a:solidFill>
                <a:srgbClr val="FFFF99"/>
              </a:solidFill>
              <a:ln w="19050">
                <a:solidFill>
                  <a:schemeClr val="tx1"/>
                </a:solidFill>
                <a:miter lim="800000"/>
                <a:headEnd/>
                <a:tailEnd/>
              </a:ln>
            </p:spPr>
            <p:txBody>
              <a:bodyPr wrap="none" anchor="ctr"/>
              <a:lstStyle/>
              <a:p>
                <a:pPr algn="ctr"/>
                <a:r>
                  <a:rPr lang="en-US">
                    <a:latin typeface="Verdana" pitchFamily="34" charset="0"/>
                  </a:rPr>
                  <a:t>23</a:t>
                </a:r>
                <a:endParaRPr lang="en-US">
                  <a:latin typeface="Times New Roman" pitchFamily="18" charset="0"/>
                </a:endParaRPr>
              </a:p>
            </p:txBody>
          </p:sp>
          <p:sp>
            <p:nvSpPr>
              <p:cNvPr id="37" name="Rectangle 27"/>
              <p:cNvSpPr>
                <a:spLocks noChangeArrowheads="1"/>
              </p:cNvSpPr>
              <p:nvPr/>
            </p:nvSpPr>
            <p:spPr bwMode="auto">
              <a:xfrm>
                <a:off x="2605" y="2355"/>
                <a:ext cx="432" cy="384"/>
              </a:xfrm>
              <a:prstGeom prst="rect">
                <a:avLst/>
              </a:prstGeom>
              <a:solidFill>
                <a:srgbClr val="FFFF99"/>
              </a:solidFill>
              <a:ln w="19050">
                <a:solidFill>
                  <a:schemeClr val="tx1"/>
                </a:solidFill>
                <a:miter lim="800000"/>
                <a:headEnd/>
                <a:tailEnd/>
              </a:ln>
            </p:spPr>
            <p:txBody>
              <a:bodyPr wrap="none" anchor="ctr"/>
              <a:lstStyle/>
              <a:p>
                <a:pPr algn="ctr"/>
                <a:r>
                  <a:rPr lang="en-US">
                    <a:latin typeface="Verdana" pitchFamily="34" charset="0"/>
                  </a:rPr>
                  <a:t>97</a:t>
                </a:r>
                <a:endParaRPr lang="en-US">
                  <a:latin typeface="Times New Roman" pitchFamily="18" charset="0"/>
                </a:endParaRPr>
              </a:p>
            </p:txBody>
          </p:sp>
          <p:sp>
            <p:nvSpPr>
              <p:cNvPr id="38" name="Rectangle 28"/>
              <p:cNvSpPr>
                <a:spLocks noChangeArrowheads="1"/>
              </p:cNvSpPr>
              <p:nvPr/>
            </p:nvSpPr>
            <p:spPr bwMode="auto">
              <a:xfrm>
                <a:off x="3037" y="2355"/>
                <a:ext cx="432" cy="384"/>
              </a:xfrm>
              <a:prstGeom prst="rect">
                <a:avLst/>
              </a:prstGeom>
              <a:solidFill>
                <a:srgbClr val="FFFF99"/>
              </a:solidFill>
              <a:ln w="19050">
                <a:solidFill>
                  <a:schemeClr val="tx1"/>
                </a:solidFill>
                <a:miter lim="800000"/>
                <a:headEnd/>
                <a:tailEnd/>
              </a:ln>
            </p:spPr>
            <p:txBody>
              <a:bodyPr wrap="none" anchor="ctr"/>
              <a:lstStyle/>
              <a:p>
                <a:pPr algn="ctr"/>
                <a:r>
                  <a:rPr lang="en-US">
                    <a:latin typeface="Verdana" pitchFamily="34" charset="0"/>
                  </a:rPr>
                  <a:t>44</a:t>
                </a:r>
                <a:endParaRPr lang="en-US">
                  <a:latin typeface="Times New Roman" pitchFamily="18" charset="0"/>
                </a:endParaRPr>
              </a:p>
            </p:txBody>
          </p:sp>
          <p:sp>
            <p:nvSpPr>
              <p:cNvPr id="39" name="Rectangle 29"/>
              <p:cNvSpPr>
                <a:spLocks noChangeArrowheads="1"/>
              </p:cNvSpPr>
              <p:nvPr/>
            </p:nvSpPr>
            <p:spPr bwMode="auto">
              <a:xfrm>
                <a:off x="3469" y="2355"/>
                <a:ext cx="432" cy="384"/>
              </a:xfrm>
              <a:prstGeom prst="rect">
                <a:avLst/>
              </a:prstGeom>
              <a:solidFill>
                <a:srgbClr val="FFFF99"/>
              </a:solidFill>
              <a:ln w="19050">
                <a:solidFill>
                  <a:schemeClr val="tx1"/>
                </a:solidFill>
                <a:miter lim="800000"/>
                <a:headEnd/>
                <a:tailEnd/>
              </a:ln>
            </p:spPr>
            <p:txBody>
              <a:bodyPr wrap="none" anchor="ctr"/>
              <a:lstStyle/>
              <a:p>
                <a:pPr algn="ctr"/>
                <a:r>
                  <a:rPr lang="en-US">
                    <a:latin typeface="Verdana" pitchFamily="34" charset="0"/>
                  </a:rPr>
                  <a:t>333</a:t>
                </a:r>
                <a:endParaRPr lang="en-US">
                  <a:latin typeface="Times New Roman" pitchFamily="18" charset="0"/>
                </a:endParaRPr>
              </a:p>
            </p:txBody>
          </p:sp>
          <p:sp>
            <p:nvSpPr>
              <p:cNvPr id="40" name="Rectangle 30"/>
              <p:cNvSpPr>
                <a:spLocks noChangeArrowheads="1"/>
              </p:cNvSpPr>
              <p:nvPr/>
            </p:nvSpPr>
            <p:spPr bwMode="auto">
              <a:xfrm>
                <a:off x="3901" y="2355"/>
                <a:ext cx="432" cy="384"/>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1" name="Rectangle 31"/>
              <p:cNvSpPr>
                <a:spLocks noChangeArrowheads="1"/>
              </p:cNvSpPr>
              <p:nvPr/>
            </p:nvSpPr>
            <p:spPr bwMode="auto">
              <a:xfrm>
                <a:off x="4333" y="2355"/>
                <a:ext cx="432" cy="384"/>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2" name="Rectangle 32"/>
              <p:cNvSpPr>
                <a:spLocks noChangeArrowheads="1"/>
              </p:cNvSpPr>
              <p:nvPr/>
            </p:nvSpPr>
            <p:spPr bwMode="auto">
              <a:xfrm>
                <a:off x="4765" y="2355"/>
                <a:ext cx="432" cy="384"/>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3" name="Text Box 33"/>
              <p:cNvSpPr txBox="1">
                <a:spLocks noChangeArrowheads="1"/>
              </p:cNvSpPr>
              <p:nvPr/>
            </p:nvSpPr>
            <p:spPr bwMode="auto">
              <a:xfrm>
                <a:off x="336" y="2403"/>
                <a:ext cx="129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spAutoFit/>
              </a:bodyPr>
              <a:lstStyle>
                <a:lvl1pPr>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pPr>
                  <a:spcBef>
                    <a:spcPct val="50000"/>
                  </a:spcBef>
                </a:pPr>
                <a:r>
                  <a:rPr lang="en-US" dirty="0">
                    <a:latin typeface="Times New Roman" pitchFamily="18" charset="0"/>
                  </a:rPr>
                  <a:t>After deletion:</a:t>
                </a:r>
              </a:p>
            </p:txBody>
          </p:sp>
        </p:grpSp>
        <p:sp>
          <p:nvSpPr>
            <p:cNvPr id="31" name="Text Box 36"/>
            <p:cNvSpPr txBox="1">
              <a:spLocks noChangeArrowheads="1"/>
            </p:cNvSpPr>
            <p:nvPr/>
          </p:nvSpPr>
          <p:spPr bwMode="auto">
            <a:xfrm>
              <a:off x="3936" y="2883"/>
              <a:ext cx="10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pPr>
                <a:spcBef>
                  <a:spcPct val="50000"/>
                </a:spcBef>
              </a:pPr>
              <a:r>
                <a:rPr lang="en-US">
                  <a:solidFill>
                    <a:schemeClr val="accent2"/>
                  </a:solidFill>
                  <a:latin typeface="Verdana" pitchFamily="34" charset="0"/>
                </a:rPr>
                <a:t>rear = 4</a:t>
              </a:r>
            </a:p>
          </p:txBody>
        </p:sp>
        <p:sp>
          <p:nvSpPr>
            <p:cNvPr id="32" name="Freeform 37"/>
            <p:cNvSpPr>
              <a:spLocks/>
            </p:cNvSpPr>
            <p:nvPr/>
          </p:nvSpPr>
          <p:spPr bwMode="auto">
            <a:xfrm>
              <a:off x="3645" y="2788"/>
              <a:ext cx="242" cy="242"/>
            </a:xfrm>
            <a:custGeom>
              <a:avLst/>
              <a:gdLst>
                <a:gd name="T0" fmla="*/ 242 w 240"/>
                <a:gd name="T1" fmla="*/ 242 h 240"/>
                <a:gd name="T2" fmla="*/ 48 w 240"/>
                <a:gd name="T3" fmla="*/ 194 h 240"/>
                <a:gd name="T4" fmla="*/ 0 w 240"/>
                <a:gd name="T5" fmla="*/ 0 h 240"/>
                <a:gd name="T6" fmla="*/ 0 60000 65536"/>
                <a:gd name="T7" fmla="*/ 0 60000 65536"/>
                <a:gd name="T8" fmla="*/ 0 60000 65536"/>
                <a:gd name="T9" fmla="*/ 0 w 240"/>
                <a:gd name="T10" fmla="*/ 0 h 240"/>
                <a:gd name="T11" fmla="*/ 240 w 240"/>
                <a:gd name="T12" fmla="*/ 240 h 240"/>
              </a:gdLst>
              <a:ahLst/>
              <a:cxnLst>
                <a:cxn ang="T6">
                  <a:pos x="T0" y="T1"/>
                </a:cxn>
                <a:cxn ang="T7">
                  <a:pos x="T2" y="T3"/>
                </a:cxn>
                <a:cxn ang="T8">
                  <a:pos x="T4" y="T5"/>
                </a:cxn>
              </a:cxnLst>
              <a:rect l="T9" t="T10" r="T11" b="T12"/>
              <a:pathLst>
                <a:path w="240" h="240">
                  <a:moveTo>
                    <a:pt x="240" y="240"/>
                  </a:moveTo>
                  <a:cubicBezTo>
                    <a:pt x="164" y="236"/>
                    <a:pt x="88" y="232"/>
                    <a:pt x="48" y="192"/>
                  </a:cubicBezTo>
                  <a:cubicBezTo>
                    <a:pt x="8" y="152"/>
                    <a:pt x="4" y="76"/>
                    <a:pt x="0" y="0"/>
                  </a:cubicBezTo>
                </a:path>
              </a:pathLst>
            </a:custGeom>
            <a:noFill/>
            <a:ln w="19050">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3" name="Text Box 39"/>
            <p:cNvSpPr txBox="1">
              <a:spLocks noChangeArrowheads="1"/>
            </p:cNvSpPr>
            <p:nvPr/>
          </p:nvSpPr>
          <p:spPr bwMode="auto">
            <a:xfrm>
              <a:off x="1104" y="2882"/>
              <a:ext cx="10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pPr>
                <a:spcBef>
                  <a:spcPct val="50000"/>
                </a:spcBef>
              </a:pPr>
              <a:r>
                <a:rPr lang="en-US">
                  <a:solidFill>
                    <a:schemeClr val="accent2"/>
                  </a:solidFill>
                  <a:latin typeface="Verdana" pitchFamily="34" charset="0"/>
                </a:rPr>
                <a:t>front = 1</a:t>
              </a:r>
            </a:p>
          </p:txBody>
        </p:sp>
        <p:sp>
          <p:nvSpPr>
            <p:cNvPr id="34" name="Freeform 40"/>
            <p:cNvSpPr>
              <a:spLocks/>
            </p:cNvSpPr>
            <p:nvPr/>
          </p:nvSpPr>
          <p:spPr bwMode="auto">
            <a:xfrm flipH="1">
              <a:off x="2110" y="2787"/>
              <a:ext cx="242" cy="242"/>
            </a:xfrm>
            <a:custGeom>
              <a:avLst/>
              <a:gdLst>
                <a:gd name="T0" fmla="*/ 242 w 240"/>
                <a:gd name="T1" fmla="*/ 242 h 240"/>
                <a:gd name="T2" fmla="*/ 48 w 240"/>
                <a:gd name="T3" fmla="*/ 194 h 240"/>
                <a:gd name="T4" fmla="*/ 0 w 240"/>
                <a:gd name="T5" fmla="*/ 0 h 240"/>
                <a:gd name="T6" fmla="*/ 0 60000 65536"/>
                <a:gd name="T7" fmla="*/ 0 60000 65536"/>
                <a:gd name="T8" fmla="*/ 0 60000 65536"/>
                <a:gd name="T9" fmla="*/ 0 w 240"/>
                <a:gd name="T10" fmla="*/ 0 h 240"/>
                <a:gd name="T11" fmla="*/ 240 w 240"/>
                <a:gd name="T12" fmla="*/ 240 h 240"/>
              </a:gdLst>
              <a:ahLst/>
              <a:cxnLst>
                <a:cxn ang="T6">
                  <a:pos x="T0" y="T1"/>
                </a:cxn>
                <a:cxn ang="T7">
                  <a:pos x="T2" y="T3"/>
                </a:cxn>
                <a:cxn ang="T8">
                  <a:pos x="T4" y="T5"/>
                </a:cxn>
              </a:cxnLst>
              <a:rect l="T9" t="T10" r="T11" b="T12"/>
              <a:pathLst>
                <a:path w="240" h="240">
                  <a:moveTo>
                    <a:pt x="240" y="240"/>
                  </a:moveTo>
                  <a:cubicBezTo>
                    <a:pt x="164" y="236"/>
                    <a:pt x="88" y="232"/>
                    <a:pt x="48" y="192"/>
                  </a:cubicBezTo>
                  <a:cubicBezTo>
                    <a:pt x="8" y="152"/>
                    <a:pt x="4" y="76"/>
                    <a:pt x="0" y="0"/>
                  </a:cubicBezTo>
                </a:path>
              </a:pathLst>
            </a:custGeom>
            <a:noFill/>
            <a:ln w="19050">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Tree>
    <p:extLst>
      <p:ext uri="{BB962C8B-B14F-4D97-AF65-F5344CB8AC3E}">
        <p14:creationId xmlns:p14="http://schemas.microsoft.com/office/powerpoint/2010/main" val="2408812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ipe(left)">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wipe(left)">
                                      <p:cBhvr>
                                        <p:cTn id="1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b="1" spc="-5" dirty="0">
                <a:solidFill>
                  <a:srgbClr val="FFFFFF"/>
                </a:solidFill>
              </a:rPr>
              <a:t>Alternative Array Implementation</a:t>
            </a:r>
            <a:endParaRPr lang="en-US" sz="4000" b="1" kern="1200" spc="-10" dirty="0">
              <a:solidFill>
                <a:srgbClr val="FFFFFF"/>
              </a:solidFill>
              <a:latin typeface="+mj-lt"/>
              <a:ea typeface="+mj-ea"/>
              <a:cs typeface="+mj-cs"/>
            </a:endParaRPr>
          </a:p>
        </p:txBody>
      </p:sp>
      <p:sp>
        <p:nvSpPr>
          <p:cNvPr id="30" name="Rectangle 2"/>
          <p:cNvSpPr txBox="1">
            <a:spLocks noChangeArrowheads="1"/>
          </p:cNvSpPr>
          <p:nvPr/>
        </p:nvSpPr>
        <p:spPr>
          <a:xfrm>
            <a:off x="2176674" y="635715"/>
            <a:ext cx="8229600"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sz="2400"/>
              <a:t>Array Implementation</a:t>
            </a:r>
            <a:endParaRPr lang="en-US" sz="2400" dirty="0"/>
          </a:p>
        </p:txBody>
      </p:sp>
      <p:grpSp>
        <p:nvGrpSpPr>
          <p:cNvPr id="32" name="Group 3"/>
          <p:cNvGrpSpPr>
            <a:grpSpLocks/>
          </p:cNvGrpSpPr>
          <p:nvPr/>
        </p:nvGrpSpPr>
        <p:grpSpPr bwMode="auto">
          <a:xfrm>
            <a:off x="2710074" y="2007316"/>
            <a:ext cx="6172200" cy="1528763"/>
            <a:chOff x="480" y="1488"/>
            <a:chExt cx="3888" cy="963"/>
          </a:xfrm>
        </p:grpSpPr>
        <p:grpSp>
          <p:nvGrpSpPr>
            <p:cNvPr id="34" name="Group 4"/>
            <p:cNvGrpSpPr>
              <a:grpSpLocks/>
            </p:cNvGrpSpPr>
            <p:nvPr/>
          </p:nvGrpSpPr>
          <p:grpSpPr bwMode="auto">
            <a:xfrm>
              <a:off x="480" y="1488"/>
              <a:ext cx="3888" cy="569"/>
              <a:chOff x="480" y="1488"/>
              <a:chExt cx="3888" cy="569"/>
            </a:xfrm>
          </p:grpSpPr>
          <p:sp>
            <p:nvSpPr>
              <p:cNvPr id="38" name="Rectangle 5"/>
              <p:cNvSpPr>
                <a:spLocks noChangeArrowheads="1"/>
              </p:cNvSpPr>
              <p:nvPr/>
            </p:nvSpPr>
            <p:spPr bwMode="auto">
              <a:xfrm>
                <a:off x="480" y="1488"/>
                <a:ext cx="432"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a:latin typeface="Arial" charset="0"/>
                    <a:ea typeface="ＭＳ Ｐゴシック" charset="0"/>
                    <a:cs typeface="ＭＳ Ｐゴシック" charset="0"/>
                  </a:rPr>
                  <a:t>5</a:t>
                </a:r>
              </a:p>
            </p:txBody>
          </p:sp>
          <p:sp>
            <p:nvSpPr>
              <p:cNvPr id="40" name="Rectangle 6"/>
              <p:cNvSpPr>
                <a:spLocks noChangeArrowheads="1"/>
              </p:cNvSpPr>
              <p:nvPr/>
            </p:nvSpPr>
            <p:spPr bwMode="auto">
              <a:xfrm>
                <a:off x="912" y="1488"/>
                <a:ext cx="432"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a:latin typeface="Arial" charset="0"/>
                    <a:ea typeface="ＭＳ Ｐゴシック" charset="0"/>
                    <a:cs typeface="ＭＳ Ｐゴシック" charset="0"/>
                  </a:rPr>
                  <a:t>4</a:t>
                </a:r>
              </a:p>
            </p:txBody>
          </p:sp>
          <p:sp>
            <p:nvSpPr>
              <p:cNvPr id="41" name="Rectangle 7"/>
              <p:cNvSpPr>
                <a:spLocks noChangeArrowheads="1"/>
              </p:cNvSpPr>
              <p:nvPr/>
            </p:nvSpPr>
            <p:spPr bwMode="auto">
              <a:xfrm>
                <a:off x="1344" y="1488"/>
                <a:ext cx="432"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a:latin typeface="Arial" charset="0"/>
                    <a:ea typeface="ＭＳ Ｐゴシック" charset="0"/>
                    <a:cs typeface="ＭＳ Ｐゴシック" charset="0"/>
                  </a:rPr>
                  <a:t>6</a:t>
                </a:r>
              </a:p>
            </p:txBody>
          </p:sp>
          <p:sp>
            <p:nvSpPr>
              <p:cNvPr id="42" name="Rectangle 8"/>
              <p:cNvSpPr>
                <a:spLocks noChangeArrowheads="1"/>
              </p:cNvSpPr>
              <p:nvPr/>
            </p:nvSpPr>
            <p:spPr bwMode="auto">
              <a:xfrm>
                <a:off x="1776" y="1488"/>
                <a:ext cx="432"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a:latin typeface="Arial" charset="0"/>
                    <a:ea typeface="ＭＳ Ｐゴシック" charset="0"/>
                    <a:cs typeface="ＭＳ Ｐゴシック" charset="0"/>
                  </a:rPr>
                  <a:t>7</a:t>
                </a:r>
              </a:p>
            </p:txBody>
          </p:sp>
          <p:sp>
            <p:nvSpPr>
              <p:cNvPr id="43" name="Rectangle 9"/>
              <p:cNvSpPr>
                <a:spLocks noChangeArrowheads="1"/>
              </p:cNvSpPr>
              <p:nvPr/>
            </p:nvSpPr>
            <p:spPr bwMode="auto">
              <a:xfrm>
                <a:off x="2208" y="1488"/>
                <a:ext cx="432"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a:latin typeface="Arial" charset="0"/>
                    <a:ea typeface="ＭＳ Ｐゴシック" charset="0"/>
                    <a:cs typeface="ＭＳ Ｐゴシック" charset="0"/>
                  </a:rPr>
                  <a:t>8</a:t>
                </a:r>
              </a:p>
            </p:txBody>
          </p:sp>
          <p:sp>
            <p:nvSpPr>
              <p:cNvPr id="44" name="Rectangle 10"/>
              <p:cNvSpPr>
                <a:spLocks noChangeArrowheads="1"/>
              </p:cNvSpPr>
              <p:nvPr/>
            </p:nvSpPr>
            <p:spPr bwMode="auto">
              <a:xfrm>
                <a:off x="2640" y="1488"/>
                <a:ext cx="432"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a:latin typeface="Arial" charset="0"/>
                    <a:ea typeface="ＭＳ Ｐゴシック" charset="0"/>
                    <a:cs typeface="ＭＳ Ｐゴシック" charset="0"/>
                  </a:rPr>
                  <a:t>7</a:t>
                </a:r>
              </a:p>
            </p:txBody>
          </p:sp>
          <p:sp>
            <p:nvSpPr>
              <p:cNvPr id="45" name="Rectangle 11"/>
              <p:cNvSpPr>
                <a:spLocks noChangeArrowheads="1"/>
              </p:cNvSpPr>
              <p:nvPr/>
            </p:nvSpPr>
            <p:spPr bwMode="auto">
              <a:xfrm>
                <a:off x="3072" y="1488"/>
                <a:ext cx="432"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a:latin typeface="Arial" charset="0"/>
                    <a:ea typeface="ＭＳ Ｐゴシック" charset="0"/>
                    <a:cs typeface="ＭＳ Ｐゴシック" charset="0"/>
                  </a:rPr>
                  <a:t>6</a:t>
                </a:r>
              </a:p>
            </p:txBody>
          </p:sp>
          <p:sp>
            <p:nvSpPr>
              <p:cNvPr id="46" name="Rectangle 12"/>
              <p:cNvSpPr>
                <a:spLocks noChangeArrowheads="1"/>
              </p:cNvSpPr>
              <p:nvPr/>
            </p:nvSpPr>
            <p:spPr bwMode="auto">
              <a:xfrm>
                <a:off x="3504" y="1488"/>
                <a:ext cx="432"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fr-FR">
                  <a:latin typeface="Arial" charset="0"/>
                  <a:ea typeface="ＭＳ Ｐゴシック" charset="0"/>
                  <a:cs typeface="ＭＳ Ｐゴシック" charset="0"/>
                </a:endParaRPr>
              </a:p>
            </p:txBody>
          </p:sp>
          <p:sp>
            <p:nvSpPr>
              <p:cNvPr id="47" name="Rectangle 13"/>
              <p:cNvSpPr>
                <a:spLocks noChangeArrowheads="1"/>
              </p:cNvSpPr>
              <p:nvPr/>
            </p:nvSpPr>
            <p:spPr bwMode="auto">
              <a:xfrm>
                <a:off x="3936" y="1488"/>
                <a:ext cx="432"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fr-FR">
                  <a:latin typeface="Arial" charset="0"/>
                  <a:ea typeface="ＭＳ Ｐゴシック" charset="0"/>
                  <a:cs typeface="ＭＳ Ｐゴシック" charset="0"/>
                </a:endParaRPr>
              </a:p>
            </p:txBody>
          </p:sp>
          <p:sp>
            <p:nvSpPr>
              <p:cNvPr id="48" name="Text Box 14"/>
              <p:cNvSpPr txBox="1">
                <a:spLocks noChangeArrowheads="1"/>
              </p:cNvSpPr>
              <p:nvPr/>
            </p:nvSpPr>
            <p:spPr bwMode="auto">
              <a:xfrm>
                <a:off x="480" y="1824"/>
                <a:ext cx="3888"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a:latin typeface="Arial" charset="0"/>
                    <a:ea typeface="ＭＳ Ｐゴシック" charset="0"/>
                    <a:cs typeface="ＭＳ Ｐゴシック" charset="0"/>
                  </a:rPr>
                  <a:t>   0        1          2        3          4         5         6        7        8</a:t>
                </a:r>
              </a:p>
            </p:txBody>
          </p:sp>
        </p:grpSp>
        <p:sp>
          <p:nvSpPr>
            <p:cNvPr id="36" name="Text Box 15"/>
            <p:cNvSpPr txBox="1">
              <a:spLocks noChangeArrowheads="1"/>
            </p:cNvSpPr>
            <p:nvPr/>
          </p:nvSpPr>
          <p:spPr bwMode="auto">
            <a:xfrm>
              <a:off x="902" y="2044"/>
              <a:ext cx="826" cy="40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defRPr/>
              </a:pPr>
              <a:r>
                <a:rPr lang="en-US">
                  <a:latin typeface="Arial Black" charset="0"/>
                  <a:ea typeface="ＭＳ Ｐゴシック" charset="0"/>
                  <a:cs typeface="ＭＳ Ｐゴシック" charset="0"/>
                </a:rPr>
                <a:t>Front=0</a:t>
              </a:r>
            </a:p>
            <a:p>
              <a:pPr>
                <a:defRPr/>
              </a:pPr>
              <a:r>
                <a:rPr lang="en-US">
                  <a:latin typeface="Arial Black" charset="0"/>
                  <a:ea typeface="ＭＳ Ｐゴシック" charset="0"/>
                  <a:cs typeface="ＭＳ Ｐゴシック" charset="0"/>
                </a:rPr>
                <a:t>Rear=6</a:t>
              </a:r>
            </a:p>
          </p:txBody>
        </p:sp>
      </p:grpSp>
      <p:grpSp>
        <p:nvGrpSpPr>
          <p:cNvPr id="49" name="Group 16"/>
          <p:cNvGrpSpPr>
            <a:grpSpLocks/>
          </p:cNvGrpSpPr>
          <p:nvPr/>
        </p:nvGrpSpPr>
        <p:grpSpPr bwMode="auto">
          <a:xfrm>
            <a:off x="2710074" y="3531316"/>
            <a:ext cx="6172200" cy="1528763"/>
            <a:chOff x="624" y="1968"/>
            <a:chExt cx="3888" cy="963"/>
          </a:xfrm>
        </p:grpSpPr>
        <p:grpSp>
          <p:nvGrpSpPr>
            <p:cNvPr id="50" name="Group 17"/>
            <p:cNvGrpSpPr>
              <a:grpSpLocks/>
            </p:cNvGrpSpPr>
            <p:nvPr/>
          </p:nvGrpSpPr>
          <p:grpSpPr bwMode="auto">
            <a:xfrm>
              <a:off x="624" y="1968"/>
              <a:ext cx="3888" cy="569"/>
              <a:chOff x="480" y="1488"/>
              <a:chExt cx="3888" cy="569"/>
            </a:xfrm>
          </p:grpSpPr>
          <p:sp>
            <p:nvSpPr>
              <p:cNvPr id="52" name="Rectangle 18"/>
              <p:cNvSpPr>
                <a:spLocks noChangeArrowheads="1"/>
              </p:cNvSpPr>
              <p:nvPr/>
            </p:nvSpPr>
            <p:spPr bwMode="auto">
              <a:xfrm>
                <a:off x="480" y="1488"/>
                <a:ext cx="432"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fr-FR">
                  <a:latin typeface="Arial" charset="0"/>
                  <a:ea typeface="ＭＳ Ｐゴシック" charset="0"/>
                  <a:cs typeface="ＭＳ Ｐゴシック" charset="0"/>
                </a:endParaRPr>
              </a:p>
            </p:txBody>
          </p:sp>
          <p:sp>
            <p:nvSpPr>
              <p:cNvPr id="53" name="Rectangle 19"/>
              <p:cNvSpPr>
                <a:spLocks noChangeArrowheads="1"/>
              </p:cNvSpPr>
              <p:nvPr/>
            </p:nvSpPr>
            <p:spPr bwMode="auto">
              <a:xfrm>
                <a:off x="912" y="1488"/>
                <a:ext cx="432"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fr-FR">
                  <a:latin typeface="Arial" charset="0"/>
                  <a:ea typeface="ＭＳ Ｐゴシック" charset="0"/>
                  <a:cs typeface="ＭＳ Ｐゴシック" charset="0"/>
                </a:endParaRPr>
              </a:p>
            </p:txBody>
          </p:sp>
          <p:sp>
            <p:nvSpPr>
              <p:cNvPr id="54" name="Rectangle 20"/>
              <p:cNvSpPr>
                <a:spLocks noChangeArrowheads="1"/>
              </p:cNvSpPr>
              <p:nvPr/>
            </p:nvSpPr>
            <p:spPr bwMode="auto">
              <a:xfrm>
                <a:off x="1344" y="1488"/>
                <a:ext cx="432"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fr-FR">
                  <a:latin typeface="Arial" charset="0"/>
                  <a:ea typeface="ＭＳ Ｐゴシック" charset="0"/>
                  <a:cs typeface="ＭＳ Ｐゴシック" charset="0"/>
                </a:endParaRPr>
              </a:p>
            </p:txBody>
          </p:sp>
          <p:sp>
            <p:nvSpPr>
              <p:cNvPr id="55" name="Rectangle 21"/>
              <p:cNvSpPr>
                <a:spLocks noChangeArrowheads="1"/>
              </p:cNvSpPr>
              <p:nvPr/>
            </p:nvSpPr>
            <p:spPr bwMode="auto">
              <a:xfrm>
                <a:off x="1776" y="1488"/>
                <a:ext cx="432"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fr-FR">
                  <a:latin typeface="Arial" charset="0"/>
                  <a:ea typeface="ＭＳ Ｐゴシック" charset="0"/>
                  <a:cs typeface="ＭＳ Ｐゴシック" charset="0"/>
                </a:endParaRPr>
              </a:p>
            </p:txBody>
          </p:sp>
          <p:sp>
            <p:nvSpPr>
              <p:cNvPr id="56" name="Rectangle 22"/>
              <p:cNvSpPr>
                <a:spLocks noChangeArrowheads="1"/>
              </p:cNvSpPr>
              <p:nvPr/>
            </p:nvSpPr>
            <p:spPr bwMode="auto">
              <a:xfrm>
                <a:off x="2208" y="1488"/>
                <a:ext cx="432"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a:latin typeface="Arial" charset="0"/>
                    <a:ea typeface="ＭＳ Ｐゴシック" charset="0"/>
                    <a:cs typeface="ＭＳ Ｐゴシック" charset="0"/>
                  </a:rPr>
                  <a:t>8</a:t>
                </a:r>
              </a:p>
            </p:txBody>
          </p:sp>
          <p:sp>
            <p:nvSpPr>
              <p:cNvPr id="57" name="Rectangle 23"/>
              <p:cNvSpPr>
                <a:spLocks noChangeArrowheads="1"/>
              </p:cNvSpPr>
              <p:nvPr/>
            </p:nvSpPr>
            <p:spPr bwMode="auto">
              <a:xfrm>
                <a:off x="2640" y="1488"/>
                <a:ext cx="432"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a:latin typeface="Arial" charset="0"/>
                    <a:ea typeface="ＭＳ Ｐゴシック" charset="0"/>
                    <a:cs typeface="ＭＳ Ｐゴシック" charset="0"/>
                  </a:rPr>
                  <a:t>7</a:t>
                </a:r>
              </a:p>
            </p:txBody>
          </p:sp>
          <p:sp>
            <p:nvSpPr>
              <p:cNvPr id="58" name="Rectangle 24"/>
              <p:cNvSpPr>
                <a:spLocks noChangeArrowheads="1"/>
              </p:cNvSpPr>
              <p:nvPr/>
            </p:nvSpPr>
            <p:spPr bwMode="auto">
              <a:xfrm>
                <a:off x="3072" y="1488"/>
                <a:ext cx="432"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a:latin typeface="Arial" charset="0"/>
                    <a:ea typeface="ＭＳ Ｐゴシック" charset="0"/>
                    <a:cs typeface="ＭＳ Ｐゴシック" charset="0"/>
                  </a:rPr>
                  <a:t>6</a:t>
                </a:r>
              </a:p>
            </p:txBody>
          </p:sp>
          <p:sp>
            <p:nvSpPr>
              <p:cNvPr id="59" name="Rectangle 25"/>
              <p:cNvSpPr>
                <a:spLocks noChangeArrowheads="1"/>
              </p:cNvSpPr>
              <p:nvPr/>
            </p:nvSpPr>
            <p:spPr bwMode="auto">
              <a:xfrm>
                <a:off x="3504" y="1488"/>
                <a:ext cx="432"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fr-FR">
                  <a:latin typeface="Arial" charset="0"/>
                  <a:ea typeface="ＭＳ Ｐゴシック" charset="0"/>
                  <a:cs typeface="ＭＳ Ｐゴシック" charset="0"/>
                </a:endParaRPr>
              </a:p>
            </p:txBody>
          </p:sp>
          <p:sp>
            <p:nvSpPr>
              <p:cNvPr id="60" name="Rectangle 26"/>
              <p:cNvSpPr>
                <a:spLocks noChangeArrowheads="1"/>
              </p:cNvSpPr>
              <p:nvPr/>
            </p:nvSpPr>
            <p:spPr bwMode="auto">
              <a:xfrm>
                <a:off x="3936" y="1488"/>
                <a:ext cx="432"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fr-FR">
                  <a:latin typeface="Arial" charset="0"/>
                  <a:ea typeface="ＭＳ Ｐゴシック" charset="0"/>
                  <a:cs typeface="ＭＳ Ｐゴシック" charset="0"/>
                </a:endParaRPr>
              </a:p>
            </p:txBody>
          </p:sp>
          <p:sp>
            <p:nvSpPr>
              <p:cNvPr id="61" name="Text Box 27"/>
              <p:cNvSpPr txBox="1">
                <a:spLocks noChangeArrowheads="1"/>
              </p:cNvSpPr>
              <p:nvPr/>
            </p:nvSpPr>
            <p:spPr bwMode="auto">
              <a:xfrm>
                <a:off x="480" y="1824"/>
                <a:ext cx="3888"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a:latin typeface="Arial" charset="0"/>
                    <a:ea typeface="ＭＳ Ｐゴシック" charset="0"/>
                    <a:cs typeface="ＭＳ Ｐゴシック" charset="0"/>
                  </a:rPr>
                  <a:t>   0        1          2        3          4         5         6        7        8</a:t>
                </a:r>
              </a:p>
            </p:txBody>
          </p:sp>
        </p:grpSp>
        <p:sp>
          <p:nvSpPr>
            <p:cNvPr id="51" name="Text Box 28"/>
            <p:cNvSpPr txBox="1">
              <a:spLocks noChangeArrowheads="1"/>
            </p:cNvSpPr>
            <p:nvPr/>
          </p:nvSpPr>
          <p:spPr bwMode="auto">
            <a:xfrm>
              <a:off x="1046" y="2524"/>
              <a:ext cx="826" cy="40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defRPr/>
              </a:pPr>
              <a:r>
                <a:rPr lang="en-US">
                  <a:latin typeface="Arial Black" charset="0"/>
                  <a:ea typeface="ＭＳ Ｐゴシック" charset="0"/>
                  <a:cs typeface="ＭＳ Ｐゴシック" charset="0"/>
                </a:rPr>
                <a:t>Front=4</a:t>
              </a:r>
            </a:p>
            <a:p>
              <a:pPr>
                <a:defRPr/>
              </a:pPr>
              <a:r>
                <a:rPr lang="en-US">
                  <a:latin typeface="Arial Black" charset="0"/>
                  <a:ea typeface="ＭＳ Ｐゴシック" charset="0"/>
                  <a:cs typeface="ＭＳ Ｐゴシック" charset="0"/>
                </a:rPr>
                <a:t>Rear=6</a:t>
              </a:r>
            </a:p>
          </p:txBody>
        </p:sp>
      </p:grpSp>
      <p:grpSp>
        <p:nvGrpSpPr>
          <p:cNvPr id="62" name="Group 29"/>
          <p:cNvGrpSpPr>
            <a:grpSpLocks/>
          </p:cNvGrpSpPr>
          <p:nvPr/>
        </p:nvGrpSpPr>
        <p:grpSpPr bwMode="auto">
          <a:xfrm>
            <a:off x="2710074" y="5055316"/>
            <a:ext cx="6172200" cy="1528763"/>
            <a:chOff x="624" y="1968"/>
            <a:chExt cx="3888" cy="963"/>
          </a:xfrm>
        </p:grpSpPr>
        <p:grpSp>
          <p:nvGrpSpPr>
            <p:cNvPr id="63" name="Group 30"/>
            <p:cNvGrpSpPr>
              <a:grpSpLocks/>
            </p:cNvGrpSpPr>
            <p:nvPr/>
          </p:nvGrpSpPr>
          <p:grpSpPr bwMode="auto">
            <a:xfrm>
              <a:off x="624" y="1968"/>
              <a:ext cx="3888" cy="569"/>
              <a:chOff x="480" y="1488"/>
              <a:chExt cx="3888" cy="569"/>
            </a:xfrm>
          </p:grpSpPr>
          <p:sp>
            <p:nvSpPr>
              <p:cNvPr id="65" name="Rectangle 31"/>
              <p:cNvSpPr>
                <a:spLocks noChangeArrowheads="1"/>
              </p:cNvSpPr>
              <p:nvPr/>
            </p:nvSpPr>
            <p:spPr bwMode="auto">
              <a:xfrm>
                <a:off x="480" y="1488"/>
                <a:ext cx="432"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fr-FR">
                  <a:latin typeface="Arial" charset="0"/>
                  <a:ea typeface="ＭＳ Ｐゴシック" charset="0"/>
                  <a:cs typeface="ＭＳ Ｐゴシック" charset="0"/>
                </a:endParaRPr>
              </a:p>
            </p:txBody>
          </p:sp>
          <p:sp>
            <p:nvSpPr>
              <p:cNvPr id="66" name="Rectangle 32"/>
              <p:cNvSpPr>
                <a:spLocks noChangeArrowheads="1"/>
              </p:cNvSpPr>
              <p:nvPr/>
            </p:nvSpPr>
            <p:spPr bwMode="auto">
              <a:xfrm>
                <a:off x="912" y="1488"/>
                <a:ext cx="432"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fr-FR">
                  <a:latin typeface="Arial" charset="0"/>
                  <a:ea typeface="ＭＳ Ｐゴシック" charset="0"/>
                  <a:cs typeface="ＭＳ Ｐゴシック" charset="0"/>
                </a:endParaRPr>
              </a:p>
            </p:txBody>
          </p:sp>
          <p:sp>
            <p:nvSpPr>
              <p:cNvPr id="67" name="Rectangle 33"/>
              <p:cNvSpPr>
                <a:spLocks noChangeArrowheads="1"/>
              </p:cNvSpPr>
              <p:nvPr/>
            </p:nvSpPr>
            <p:spPr bwMode="auto">
              <a:xfrm>
                <a:off x="1344" y="1488"/>
                <a:ext cx="432"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fr-FR">
                  <a:latin typeface="Arial" charset="0"/>
                  <a:ea typeface="ＭＳ Ｐゴシック" charset="0"/>
                  <a:cs typeface="ＭＳ Ｐゴシック" charset="0"/>
                </a:endParaRPr>
              </a:p>
            </p:txBody>
          </p:sp>
          <p:sp>
            <p:nvSpPr>
              <p:cNvPr id="68" name="Rectangle 34"/>
              <p:cNvSpPr>
                <a:spLocks noChangeArrowheads="1"/>
              </p:cNvSpPr>
              <p:nvPr/>
            </p:nvSpPr>
            <p:spPr bwMode="auto">
              <a:xfrm>
                <a:off x="1776" y="1488"/>
                <a:ext cx="432"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fr-FR">
                  <a:latin typeface="Arial" charset="0"/>
                  <a:ea typeface="ＭＳ Ｐゴシック" charset="0"/>
                  <a:cs typeface="ＭＳ Ｐゴシック" charset="0"/>
                </a:endParaRPr>
              </a:p>
            </p:txBody>
          </p:sp>
          <p:sp>
            <p:nvSpPr>
              <p:cNvPr id="69" name="Rectangle 35"/>
              <p:cNvSpPr>
                <a:spLocks noChangeArrowheads="1"/>
              </p:cNvSpPr>
              <p:nvPr/>
            </p:nvSpPr>
            <p:spPr bwMode="auto">
              <a:xfrm>
                <a:off x="2208" y="1488"/>
                <a:ext cx="432"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endParaRPr lang="fr-FR">
                  <a:latin typeface="Arial" charset="0"/>
                  <a:ea typeface="ＭＳ Ｐゴシック" charset="0"/>
                  <a:cs typeface="ＭＳ Ｐゴシック" charset="0"/>
                </a:endParaRPr>
              </a:p>
            </p:txBody>
          </p:sp>
          <p:sp>
            <p:nvSpPr>
              <p:cNvPr id="70" name="Rectangle 36"/>
              <p:cNvSpPr>
                <a:spLocks noChangeArrowheads="1"/>
              </p:cNvSpPr>
              <p:nvPr/>
            </p:nvSpPr>
            <p:spPr bwMode="auto">
              <a:xfrm>
                <a:off x="2640" y="1488"/>
                <a:ext cx="432"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a:latin typeface="Arial" charset="0"/>
                    <a:ea typeface="ＭＳ Ｐゴシック" charset="0"/>
                    <a:cs typeface="ＭＳ Ｐゴシック" charset="0"/>
                  </a:rPr>
                  <a:t>7</a:t>
                </a:r>
              </a:p>
            </p:txBody>
          </p:sp>
          <p:sp>
            <p:nvSpPr>
              <p:cNvPr id="71" name="Rectangle 37"/>
              <p:cNvSpPr>
                <a:spLocks noChangeArrowheads="1"/>
              </p:cNvSpPr>
              <p:nvPr/>
            </p:nvSpPr>
            <p:spPr bwMode="auto">
              <a:xfrm>
                <a:off x="3072" y="1488"/>
                <a:ext cx="432"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a:latin typeface="Arial" charset="0"/>
                    <a:ea typeface="ＭＳ Ｐゴシック" charset="0"/>
                    <a:cs typeface="ＭＳ Ｐゴシック" charset="0"/>
                  </a:rPr>
                  <a:t>6</a:t>
                </a:r>
              </a:p>
            </p:txBody>
          </p:sp>
          <p:sp>
            <p:nvSpPr>
              <p:cNvPr id="72" name="Rectangle 38"/>
              <p:cNvSpPr>
                <a:spLocks noChangeArrowheads="1"/>
              </p:cNvSpPr>
              <p:nvPr/>
            </p:nvSpPr>
            <p:spPr bwMode="auto">
              <a:xfrm>
                <a:off x="3504" y="1488"/>
                <a:ext cx="432"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a:latin typeface="Arial" charset="0"/>
                    <a:ea typeface="ＭＳ Ｐゴシック" charset="0"/>
                    <a:cs typeface="ＭＳ Ｐゴシック" charset="0"/>
                  </a:rPr>
                  <a:t>12</a:t>
                </a:r>
              </a:p>
            </p:txBody>
          </p:sp>
          <p:sp>
            <p:nvSpPr>
              <p:cNvPr id="73" name="Rectangle 39"/>
              <p:cNvSpPr>
                <a:spLocks noChangeArrowheads="1"/>
              </p:cNvSpPr>
              <p:nvPr/>
            </p:nvSpPr>
            <p:spPr bwMode="auto">
              <a:xfrm>
                <a:off x="3936" y="1488"/>
                <a:ext cx="432" cy="33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a:latin typeface="Times New Roman" charset="0"/>
                    <a:ea typeface="ＭＳ Ｐゴシック" charset="0"/>
                    <a:cs typeface="ＭＳ Ｐゴシック" charset="0"/>
                  </a:rPr>
                  <a:t>67</a:t>
                </a:r>
              </a:p>
            </p:txBody>
          </p:sp>
          <p:sp>
            <p:nvSpPr>
              <p:cNvPr id="74" name="Text Box 40"/>
              <p:cNvSpPr txBox="1">
                <a:spLocks noChangeArrowheads="1"/>
              </p:cNvSpPr>
              <p:nvPr/>
            </p:nvSpPr>
            <p:spPr bwMode="auto">
              <a:xfrm>
                <a:off x="480" y="1824"/>
                <a:ext cx="3888"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a:latin typeface="Arial" charset="0"/>
                    <a:ea typeface="ＭＳ Ｐゴシック" charset="0"/>
                    <a:cs typeface="ＭＳ Ｐゴシック" charset="0"/>
                  </a:rPr>
                  <a:t>   0        1          2        3          4         5         6        7        8</a:t>
                </a:r>
              </a:p>
            </p:txBody>
          </p:sp>
        </p:grpSp>
        <p:sp>
          <p:nvSpPr>
            <p:cNvPr id="64" name="Text Box 41"/>
            <p:cNvSpPr txBox="1">
              <a:spLocks noChangeArrowheads="1"/>
            </p:cNvSpPr>
            <p:nvPr/>
          </p:nvSpPr>
          <p:spPr bwMode="auto">
            <a:xfrm>
              <a:off x="1046" y="2524"/>
              <a:ext cx="826" cy="40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defRPr/>
              </a:pPr>
              <a:r>
                <a:rPr lang="en-US">
                  <a:latin typeface="Arial Black" charset="0"/>
                  <a:ea typeface="ＭＳ Ｐゴシック" charset="0"/>
                  <a:cs typeface="ＭＳ Ｐゴシック" charset="0"/>
                </a:rPr>
                <a:t>Front=5</a:t>
              </a:r>
            </a:p>
            <a:p>
              <a:pPr>
                <a:defRPr/>
              </a:pPr>
              <a:r>
                <a:rPr lang="en-US">
                  <a:latin typeface="Arial Black" charset="0"/>
                  <a:ea typeface="ＭＳ Ｐゴシック" charset="0"/>
                  <a:cs typeface="ＭＳ Ｐゴシック" charset="0"/>
                </a:rPr>
                <a:t>Rear=8</a:t>
              </a:r>
            </a:p>
          </p:txBody>
        </p:sp>
      </p:grpSp>
    </p:spTree>
    <p:extLst>
      <p:ext uri="{BB962C8B-B14F-4D97-AF65-F5344CB8AC3E}">
        <p14:creationId xmlns:p14="http://schemas.microsoft.com/office/powerpoint/2010/main" val="1241509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GB" sz="2800" dirty="0"/>
              <a:t>If (rear=n) OR rear=ARRAY_SIZE-1 then print overflow</a:t>
            </a:r>
          </a:p>
          <a:p>
            <a:pPr>
              <a:buNone/>
            </a:pPr>
            <a:r>
              <a:rPr lang="en-GB" sz="2800" dirty="0"/>
              <a:t>     ‘n’ represents the size of array</a:t>
            </a:r>
          </a:p>
          <a:p>
            <a:pPr>
              <a:buNone/>
            </a:pPr>
            <a:endParaRPr lang="en-GB" sz="2800" dirty="0"/>
          </a:p>
          <a:p>
            <a:r>
              <a:rPr lang="en-GB" sz="2800" dirty="0"/>
              <a:t>If (front=-1 AND rear=-1) then print underflow</a:t>
            </a:r>
            <a:endParaRPr lang="en-US" dirty="0"/>
          </a:p>
        </p:txBody>
      </p:sp>
      <p:sp>
        <p:nvSpPr>
          <p:cNvPr id="2" name="Title 1"/>
          <p:cNvSpPr>
            <a:spLocks noGrp="1"/>
          </p:cNvSpPr>
          <p:nvPr>
            <p:ph type="title"/>
          </p:nvPr>
        </p:nvSpPr>
        <p:spPr/>
        <p:txBody>
          <a:bodyPr>
            <a:normAutofit/>
          </a:bodyPr>
          <a:lstStyle/>
          <a:p>
            <a:r>
              <a:rPr lang="en-GB" dirty="0"/>
              <a:t>Overflow and underflow condition in linear queues</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GB" sz="3200" dirty="0"/>
              <a:t>Whenever an element is deleted from queue</a:t>
            </a:r>
          </a:p>
          <a:p>
            <a:pPr lvl="1"/>
            <a:r>
              <a:rPr lang="en-GB" sz="2800" dirty="0"/>
              <a:t>Front=front+1</a:t>
            </a:r>
          </a:p>
          <a:p>
            <a:pPr lvl="1"/>
            <a:endParaRPr lang="en-GB" sz="2800" dirty="0"/>
          </a:p>
          <a:p>
            <a:r>
              <a:rPr lang="en-GB" sz="3200" dirty="0"/>
              <a:t>Whenever an element is inserted into queue</a:t>
            </a:r>
          </a:p>
          <a:p>
            <a:pPr lvl="1"/>
            <a:r>
              <a:rPr lang="en-GB" sz="2800" dirty="0"/>
              <a:t>rear=rear+1</a:t>
            </a:r>
          </a:p>
          <a:p>
            <a:endParaRPr lang="en-US" dirty="0"/>
          </a:p>
        </p:txBody>
      </p:sp>
      <p:sp>
        <p:nvSpPr>
          <p:cNvPr id="2" name="Title 1"/>
          <p:cNvSpPr>
            <a:spLocks noGrp="1"/>
          </p:cNvSpPr>
          <p:nvPr>
            <p:ph type="title"/>
          </p:nvPr>
        </p:nvSpPr>
        <p:spPr/>
        <p:txBody>
          <a:bodyPr/>
          <a:lstStyle/>
          <a:p>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b="1" spc="-5" dirty="0">
                <a:solidFill>
                  <a:schemeClr val="tx1"/>
                </a:solidFill>
              </a:rPr>
              <a:t>Enqueue Operation</a:t>
            </a:r>
            <a:endParaRPr lang="en-US" sz="4000" b="1" kern="1200" spc="-10" dirty="0">
              <a:solidFill>
                <a:schemeClr val="tx1"/>
              </a:solidFill>
              <a:latin typeface="+mj-lt"/>
              <a:ea typeface="+mj-ea"/>
              <a:cs typeface="+mj-cs"/>
            </a:endParaRPr>
          </a:p>
        </p:txBody>
      </p:sp>
      <p:sp>
        <p:nvSpPr>
          <p:cNvPr id="30" name="Content Placeholder 2"/>
          <p:cNvSpPr>
            <a:spLocks noGrp="1"/>
          </p:cNvSpPr>
          <p:nvPr>
            <p:ph idx="1"/>
          </p:nvPr>
        </p:nvSpPr>
        <p:spPr>
          <a:xfrm>
            <a:off x="968797" y="1940768"/>
            <a:ext cx="9602787" cy="3806890"/>
          </a:xfrm>
        </p:spPr>
        <p:txBody>
          <a:bodyPr>
            <a:normAutofit lnSpcReduction="10000"/>
          </a:bodyPr>
          <a:lstStyle/>
          <a:p>
            <a:r>
              <a:rPr lang="en-US" sz="3200" dirty="0"/>
              <a:t>Following are the steps to enqueue (insert) data into a queue</a:t>
            </a:r>
          </a:p>
          <a:p>
            <a:endParaRPr lang="en-US" sz="3200" dirty="0"/>
          </a:p>
          <a:p>
            <a:pPr lvl="1"/>
            <a:r>
              <a:rPr lang="en-US" sz="2400" dirty="0"/>
              <a:t>Check whether the queue is full or not.</a:t>
            </a:r>
          </a:p>
          <a:p>
            <a:pPr lvl="1"/>
            <a:r>
              <a:rPr lang="en-US" sz="2400" dirty="0"/>
              <a:t>If the queue is full – print the </a:t>
            </a:r>
            <a:r>
              <a:rPr lang="en-US" sz="2400" i="1" dirty="0"/>
              <a:t>overflow error </a:t>
            </a:r>
            <a:r>
              <a:rPr lang="en-US" sz="2400" dirty="0"/>
              <a:t>and exit the program.</a:t>
            </a:r>
          </a:p>
          <a:p>
            <a:pPr lvl="1"/>
            <a:r>
              <a:rPr lang="en-US" sz="2400" dirty="0"/>
              <a:t>If the queue is not full – increment the rear pointer to point to the next empty space.</a:t>
            </a:r>
          </a:p>
          <a:p>
            <a:pPr lvl="1"/>
            <a:r>
              <a:rPr lang="en-US" sz="2400" dirty="0"/>
              <a:t>Add the element in the position pointed to by the Rear.</a:t>
            </a:r>
          </a:p>
          <a:p>
            <a:pPr lvl="1"/>
            <a:r>
              <a:rPr lang="en-US" sz="2400" dirty="0"/>
              <a:t>Return success.</a:t>
            </a:r>
          </a:p>
        </p:txBody>
      </p:sp>
    </p:spTree>
    <p:extLst>
      <p:ext uri="{BB962C8B-B14F-4D97-AF65-F5344CB8AC3E}">
        <p14:creationId xmlns:p14="http://schemas.microsoft.com/office/powerpoint/2010/main" val="30556122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b="1" spc="-5" dirty="0">
                <a:solidFill>
                  <a:schemeClr val="tx1"/>
                </a:solidFill>
              </a:rPr>
              <a:t>Algorithm for Enqueue Operation</a:t>
            </a:r>
            <a:endParaRPr lang="en-US" sz="4000" b="1" kern="1200" spc="-10" dirty="0">
              <a:solidFill>
                <a:schemeClr val="tx1"/>
              </a:solidFill>
              <a:latin typeface="+mj-lt"/>
              <a:ea typeface="+mj-ea"/>
              <a:cs typeface="+mj-cs"/>
            </a:endParaRPr>
          </a:p>
        </p:txBody>
      </p:sp>
      <p:sp>
        <p:nvSpPr>
          <p:cNvPr id="30" name="Content Placeholder 2"/>
          <p:cNvSpPr>
            <a:spLocks noGrp="1"/>
          </p:cNvSpPr>
          <p:nvPr>
            <p:ph idx="1"/>
          </p:nvPr>
        </p:nvSpPr>
        <p:spPr>
          <a:xfrm>
            <a:off x="1354272" y="1903309"/>
            <a:ext cx="8229600" cy="4287552"/>
          </a:xfrm>
        </p:spPr>
        <p:txBody>
          <a:bodyPr>
            <a:normAutofit/>
          </a:bodyPr>
          <a:lstStyle/>
          <a:p>
            <a:pPr marL="0" indent="0">
              <a:buNone/>
            </a:pPr>
            <a:r>
              <a:rPr lang="en-US" sz="2400" dirty="0"/>
              <a:t>procedure enqueue(data)      </a:t>
            </a:r>
          </a:p>
          <a:p>
            <a:pPr marL="0" indent="0">
              <a:buNone/>
            </a:pPr>
            <a:r>
              <a:rPr lang="en-US" sz="2400" dirty="0"/>
              <a:t>    if queue is full</a:t>
            </a:r>
          </a:p>
          <a:p>
            <a:pPr marL="0" indent="0">
              <a:buNone/>
            </a:pPr>
            <a:r>
              <a:rPr lang="en-US" sz="2400" dirty="0"/>
              <a:t>      return “</a:t>
            </a:r>
            <a:r>
              <a:rPr lang="en-US" sz="2400" b="1" i="1" dirty="0"/>
              <a:t>overflow”</a:t>
            </a:r>
          </a:p>
          <a:p>
            <a:pPr marL="0" indent="0">
              <a:buNone/>
            </a:pPr>
            <a:r>
              <a:rPr lang="en-US" sz="2400" dirty="0"/>
              <a:t>   endif</a:t>
            </a:r>
          </a:p>
          <a:p>
            <a:pPr marL="0" indent="0">
              <a:buNone/>
            </a:pPr>
            <a:r>
              <a:rPr lang="en-US" sz="2400" dirty="0"/>
              <a:t>   rear = rear + 1</a:t>
            </a:r>
          </a:p>
          <a:p>
            <a:pPr marL="0" indent="0">
              <a:buNone/>
            </a:pPr>
            <a:r>
              <a:rPr lang="en-US" sz="2400" dirty="0"/>
              <a:t>   queue[rear] = data</a:t>
            </a:r>
          </a:p>
          <a:p>
            <a:pPr marL="0" indent="0">
              <a:buNone/>
            </a:pPr>
            <a:r>
              <a:rPr lang="en-US" sz="2400" dirty="0"/>
              <a:t>   return true</a:t>
            </a:r>
          </a:p>
          <a:p>
            <a:pPr marL="0" indent="0">
              <a:buNone/>
            </a:pPr>
            <a:r>
              <a:rPr lang="en-US" sz="2400" dirty="0"/>
              <a:t> end procedure</a:t>
            </a:r>
          </a:p>
        </p:txBody>
      </p:sp>
      <p:pic>
        <p:nvPicPr>
          <p:cNvPr id="3" name="Picture 2">
            <a:extLst>
              <a:ext uri="{FF2B5EF4-FFF2-40B4-BE49-F238E27FC236}">
                <a16:creationId xmlns:a16="http://schemas.microsoft.com/office/drawing/2014/main" id="{2AC9C49A-ED2D-FADA-C6CF-5BFD3C634920}"/>
              </a:ext>
            </a:extLst>
          </p:cNvPr>
          <p:cNvPicPr>
            <a:picLocks noChangeAspect="1"/>
          </p:cNvPicPr>
          <p:nvPr/>
        </p:nvPicPr>
        <p:blipFill>
          <a:blip r:embed="rId2"/>
          <a:stretch>
            <a:fillRect/>
          </a:stretch>
        </p:blipFill>
        <p:spPr>
          <a:xfrm>
            <a:off x="5234473" y="2733869"/>
            <a:ext cx="6501882" cy="2827176"/>
          </a:xfrm>
          <a:prstGeom prst="rect">
            <a:avLst/>
          </a:prstGeom>
        </p:spPr>
      </p:pic>
    </p:spTree>
    <p:extLst>
      <p:ext uri="{BB962C8B-B14F-4D97-AF65-F5344CB8AC3E}">
        <p14:creationId xmlns:p14="http://schemas.microsoft.com/office/powerpoint/2010/main" val="18914773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81FB21A-EF51-4CBC-8F99-C92CAA3F0713}"/>
              </a:ext>
            </a:extLst>
          </p:cNvPr>
          <p:cNvPicPr>
            <a:picLocks noChangeAspect="1"/>
          </p:cNvPicPr>
          <p:nvPr/>
        </p:nvPicPr>
        <p:blipFill>
          <a:blip r:embed="rId2"/>
          <a:stretch>
            <a:fillRect/>
          </a:stretch>
        </p:blipFill>
        <p:spPr>
          <a:xfrm>
            <a:off x="3935373" y="3967065"/>
            <a:ext cx="6798915" cy="2667000"/>
          </a:xfrm>
          <a:prstGeom prst="rect">
            <a:avLst/>
          </a:prstGeom>
        </p:spPr>
      </p:pic>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b="1" spc="-5" dirty="0">
                <a:solidFill>
                  <a:schemeClr val="tx1"/>
                </a:solidFill>
              </a:rPr>
              <a:t>Dequeue Operation</a:t>
            </a:r>
            <a:endParaRPr lang="en-US" sz="4000" b="1" kern="1200" spc="-10" dirty="0">
              <a:solidFill>
                <a:schemeClr val="tx1"/>
              </a:solidFill>
              <a:latin typeface="+mj-lt"/>
              <a:ea typeface="+mj-ea"/>
              <a:cs typeface="+mj-cs"/>
            </a:endParaRPr>
          </a:p>
        </p:txBody>
      </p:sp>
      <p:sp>
        <p:nvSpPr>
          <p:cNvPr id="11" name="Content Placeholder 2"/>
          <p:cNvSpPr txBox="1">
            <a:spLocks/>
          </p:cNvSpPr>
          <p:nvPr/>
        </p:nvSpPr>
        <p:spPr>
          <a:xfrm>
            <a:off x="1132571" y="2079106"/>
            <a:ext cx="10090527" cy="2231637"/>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b="0" i="0" dirty="0">
                <a:solidFill>
                  <a:srgbClr val="333333"/>
                </a:solidFill>
                <a:effectLst/>
              </a:rPr>
              <a:t>Following are the steps to perform dequeue operation</a:t>
            </a:r>
          </a:p>
          <a:p>
            <a:pPr lvl="1"/>
            <a:r>
              <a:rPr lang="en-US" sz="2800" b="0" i="0" dirty="0">
                <a:solidFill>
                  <a:srgbClr val="333333"/>
                </a:solidFill>
                <a:effectLst/>
              </a:rPr>
              <a:t>Check whether the queue is full or not.</a:t>
            </a:r>
          </a:p>
          <a:p>
            <a:pPr lvl="1"/>
            <a:r>
              <a:rPr lang="en-US" sz="2800" b="0" i="0" dirty="0">
                <a:solidFill>
                  <a:srgbClr val="333333"/>
                </a:solidFill>
                <a:effectLst/>
              </a:rPr>
              <a:t>If the queue is empty – print the </a:t>
            </a:r>
            <a:r>
              <a:rPr lang="en-US" sz="2800" b="0" i="1" dirty="0">
                <a:solidFill>
                  <a:srgbClr val="333333"/>
                </a:solidFill>
                <a:effectLst/>
              </a:rPr>
              <a:t>underflow error </a:t>
            </a:r>
            <a:r>
              <a:rPr lang="en-US" sz="2800" b="0" i="0" dirty="0">
                <a:solidFill>
                  <a:srgbClr val="333333"/>
                </a:solidFill>
                <a:effectLst/>
              </a:rPr>
              <a:t>and exit the program.</a:t>
            </a:r>
          </a:p>
          <a:p>
            <a:pPr lvl="1"/>
            <a:r>
              <a:rPr lang="en-US" sz="2800" b="0" i="0" dirty="0">
                <a:solidFill>
                  <a:srgbClr val="333333"/>
                </a:solidFill>
                <a:effectLst/>
              </a:rPr>
              <a:t>If the queue is not empty – access the data where the front is pointing.</a:t>
            </a:r>
          </a:p>
          <a:p>
            <a:pPr lvl="1"/>
            <a:r>
              <a:rPr lang="en-US" sz="2800" b="0" i="0" dirty="0">
                <a:solidFill>
                  <a:srgbClr val="333333"/>
                </a:solidFill>
                <a:effectLst/>
              </a:rPr>
              <a:t>Increment front pointer to point to the next available data element.</a:t>
            </a:r>
          </a:p>
          <a:p>
            <a:pPr lvl="1"/>
            <a:r>
              <a:rPr lang="en-US" sz="2800" b="0" i="0" dirty="0">
                <a:solidFill>
                  <a:srgbClr val="333333"/>
                </a:solidFill>
                <a:effectLst/>
              </a:rPr>
              <a:t>Return success.</a:t>
            </a:r>
          </a:p>
          <a:p>
            <a:endParaRPr lang="en-US" dirty="0"/>
          </a:p>
        </p:txBody>
      </p:sp>
    </p:spTree>
    <p:extLst>
      <p:ext uri="{BB962C8B-B14F-4D97-AF65-F5344CB8AC3E}">
        <p14:creationId xmlns:p14="http://schemas.microsoft.com/office/powerpoint/2010/main" val="8893792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b="1" spc="-5" dirty="0">
                <a:solidFill>
                  <a:schemeClr val="tx1"/>
                </a:solidFill>
              </a:rPr>
              <a:t>Algorithm for Dequeue Operation</a:t>
            </a:r>
            <a:endParaRPr lang="en-US" sz="4000" b="1" kern="1200" spc="-10" dirty="0">
              <a:solidFill>
                <a:schemeClr val="tx1"/>
              </a:solidFill>
              <a:latin typeface="+mj-lt"/>
              <a:ea typeface="+mj-ea"/>
              <a:cs typeface="+mj-cs"/>
            </a:endParaRPr>
          </a:p>
        </p:txBody>
      </p:sp>
      <p:sp>
        <p:nvSpPr>
          <p:cNvPr id="11" name="Content Placeholder 2"/>
          <p:cNvSpPr txBox="1">
            <a:spLocks/>
          </p:cNvSpPr>
          <p:nvPr/>
        </p:nvSpPr>
        <p:spPr>
          <a:xfrm>
            <a:off x="1524000" y="2341848"/>
            <a:ext cx="9881156" cy="438912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12" name="TextBox 11">
            <a:extLst>
              <a:ext uri="{FF2B5EF4-FFF2-40B4-BE49-F238E27FC236}">
                <a16:creationId xmlns:a16="http://schemas.microsoft.com/office/drawing/2014/main" id="{7DEE47AB-DB6F-4564-B4CE-93DFCDBDF200}"/>
              </a:ext>
            </a:extLst>
          </p:cNvPr>
          <p:cNvSpPr txBox="1"/>
          <p:nvPr/>
        </p:nvSpPr>
        <p:spPr>
          <a:xfrm>
            <a:off x="1812163" y="2251967"/>
            <a:ext cx="6097656" cy="3539430"/>
          </a:xfrm>
          <a:prstGeom prst="rect">
            <a:avLst/>
          </a:prstGeom>
          <a:noFill/>
        </p:spPr>
        <p:txBody>
          <a:bodyPr wrap="square">
            <a:spAutoFit/>
          </a:bodyPr>
          <a:lstStyle/>
          <a:p>
            <a:r>
              <a:rPr lang="en-US" sz="2800" dirty="0"/>
              <a:t>procedure dequeue</a:t>
            </a:r>
          </a:p>
          <a:p>
            <a:pPr lvl="1"/>
            <a:r>
              <a:rPr lang="en-US" sz="2800" dirty="0"/>
              <a:t>if queue is empty</a:t>
            </a:r>
          </a:p>
          <a:p>
            <a:pPr lvl="1"/>
            <a:r>
              <a:rPr lang="en-US" sz="2800" dirty="0"/>
              <a:t>return “</a:t>
            </a:r>
            <a:r>
              <a:rPr lang="en-US" sz="2800" b="1" i="1" dirty="0"/>
              <a:t>underflow”</a:t>
            </a:r>
          </a:p>
          <a:p>
            <a:pPr lvl="1"/>
            <a:r>
              <a:rPr lang="en-US" sz="2800" dirty="0"/>
              <a:t>end if</a:t>
            </a:r>
          </a:p>
          <a:p>
            <a:pPr lvl="1"/>
            <a:r>
              <a:rPr lang="en-US" sz="2800" dirty="0"/>
              <a:t>data = queue[front]</a:t>
            </a:r>
          </a:p>
          <a:p>
            <a:pPr lvl="1"/>
            <a:r>
              <a:rPr lang="en-US" sz="2800" dirty="0"/>
              <a:t>front = front + 1</a:t>
            </a:r>
          </a:p>
          <a:p>
            <a:pPr lvl="1"/>
            <a:r>
              <a:rPr lang="en-US" sz="2800" dirty="0"/>
              <a:t>return true</a:t>
            </a:r>
          </a:p>
          <a:p>
            <a:pPr lvl="1"/>
            <a:r>
              <a:rPr lang="en-US" sz="2800" dirty="0"/>
              <a:t>end procedure</a:t>
            </a:r>
            <a:endParaRPr lang="en-US" dirty="0"/>
          </a:p>
        </p:txBody>
      </p:sp>
    </p:spTree>
    <p:extLst>
      <p:ext uri="{BB962C8B-B14F-4D97-AF65-F5344CB8AC3E}">
        <p14:creationId xmlns:p14="http://schemas.microsoft.com/office/powerpoint/2010/main" val="22513028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b="1" spc="-5" dirty="0">
                <a:solidFill>
                  <a:schemeClr val="tx1"/>
                </a:solidFill>
              </a:rPr>
              <a:t>Activity </a:t>
            </a:r>
            <a:endParaRPr lang="en-US" sz="4000" b="1" kern="1200" spc="-10" dirty="0">
              <a:solidFill>
                <a:schemeClr val="tx1"/>
              </a:solidFill>
              <a:latin typeface="+mj-lt"/>
              <a:ea typeface="+mj-ea"/>
              <a:cs typeface="+mj-cs"/>
            </a:endParaRPr>
          </a:p>
        </p:txBody>
      </p:sp>
      <p:sp>
        <p:nvSpPr>
          <p:cNvPr id="11" name="Rectangle 3"/>
          <p:cNvSpPr txBox="1">
            <a:spLocks noChangeArrowheads="1"/>
          </p:cNvSpPr>
          <p:nvPr/>
        </p:nvSpPr>
        <p:spPr>
          <a:xfrm>
            <a:off x="1161576" y="2012494"/>
            <a:ext cx="10175790" cy="4389120"/>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US" dirty="0"/>
              <a:t>Maintain a linear array QUEUE with N=5 memory locations. Observe that queue always occupies consecutive locations. Perform the following operations on initially empty queue.</a:t>
            </a:r>
          </a:p>
          <a:p>
            <a:pPr>
              <a:defRPr/>
            </a:pPr>
            <a:r>
              <a:rPr lang="en-US" dirty="0"/>
              <a:t>Front :0	Rear 0</a:t>
            </a:r>
          </a:p>
          <a:p>
            <a:pPr marL="0" indent="0">
              <a:buNone/>
              <a:defRPr/>
            </a:pPr>
            <a:endParaRPr lang="en-US" dirty="0"/>
          </a:p>
          <a:p>
            <a:pPr>
              <a:defRPr/>
            </a:pPr>
            <a:endParaRPr lang="en-US" dirty="0"/>
          </a:p>
          <a:p>
            <a:pPr>
              <a:defRPr/>
            </a:pPr>
            <a:r>
              <a:rPr lang="en-US" dirty="0"/>
              <a:t>Enqueue A, B and C.</a:t>
            </a:r>
          </a:p>
          <a:p>
            <a:pPr>
              <a:defRPr/>
            </a:pPr>
            <a:r>
              <a:rPr lang="en-US" dirty="0"/>
              <a:t>Dequeue A</a:t>
            </a:r>
          </a:p>
          <a:p>
            <a:pPr>
              <a:defRPr/>
            </a:pPr>
            <a:r>
              <a:rPr lang="en-US" dirty="0"/>
              <a:t>Enqueue D and then E</a:t>
            </a:r>
          </a:p>
          <a:p>
            <a:pPr>
              <a:defRPr/>
            </a:pPr>
            <a:r>
              <a:rPr lang="en-US" dirty="0"/>
              <a:t>Dequeue B and C</a:t>
            </a:r>
          </a:p>
          <a:p>
            <a:pPr>
              <a:defRPr/>
            </a:pPr>
            <a:endParaRPr lang="en-US" dirty="0"/>
          </a:p>
          <a:p>
            <a:pPr>
              <a:defRPr/>
            </a:pPr>
            <a:endParaRPr lang="en-US" dirty="0"/>
          </a:p>
        </p:txBody>
      </p:sp>
      <p:graphicFrame>
        <p:nvGraphicFramePr>
          <p:cNvPr id="3" name="Table 3">
            <a:extLst>
              <a:ext uri="{FF2B5EF4-FFF2-40B4-BE49-F238E27FC236}">
                <a16:creationId xmlns:a16="http://schemas.microsoft.com/office/drawing/2014/main" id="{ADA03E42-7080-4335-B841-9CB251364781}"/>
              </a:ext>
            </a:extLst>
          </p:cNvPr>
          <p:cNvGraphicFramePr>
            <a:graphicFrameLocks noGrp="1"/>
          </p:cNvGraphicFramePr>
          <p:nvPr>
            <p:extLst>
              <p:ext uri="{D42A27DB-BD31-4B8C-83A1-F6EECF244321}">
                <p14:modId xmlns:p14="http://schemas.microsoft.com/office/powerpoint/2010/main" val="3809060513"/>
              </p:ext>
            </p:extLst>
          </p:nvPr>
        </p:nvGraphicFramePr>
        <p:xfrm>
          <a:off x="3660710" y="3503645"/>
          <a:ext cx="6172200" cy="838200"/>
        </p:xfrm>
        <a:graphic>
          <a:graphicData uri="http://schemas.openxmlformats.org/drawingml/2006/table">
            <a:tbl>
              <a:tblPr firstRow="1" bandRow="1">
                <a:tableStyleId>{616DA210-FB5B-4158-B5E0-FEB733F419BA}</a:tableStyleId>
              </a:tblPr>
              <a:tblGrid>
                <a:gridCol w="1234440">
                  <a:extLst>
                    <a:ext uri="{9D8B030D-6E8A-4147-A177-3AD203B41FA5}">
                      <a16:colId xmlns:a16="http://schemas.microsoft.com/office/drawing/2014/main" val="1071320467"/>
                    </a:ext>
                  </a:extLst>
                </a:gridCol>
                <a:gridCol w="1234440">
                  <a:extLst>
                    <a:ext uri="{9D8B030D-6E8A-4147-A177-3AD203B41FA5}">
                      <a16:colId xmlns:a16="http://schemas.microsoft.com/office/drawing/2014/main" val="2591207346"/>
                    </a:ext>
                  </a:extLst>
                </a:gridCol>
                <a:gridCol w="1234440">
                  <a:extLst>
                    <a:ext uri="{9D8B030D-6E8A-4147-A177-3AD203B41FA5}">
                      <a16:colId xmlns:a16="http://schemas.microsoft.com/office/drawing/2014/main" val="2372912212"/>
                    </a:ext>
                  </a:extLst>
                </a:gridCol>
                <a:gridCol w="1234440">
                  <a:extLst>
                    <a:ext uri="{9D8B030D-6E8A-4147-A177-3AD203B41FA5}">
                      <a16:colId xmlns:a16="http://schemas.microsoft.com/office/drawing/2014/main" val="3238527921"/>
                    </a:ext>
                  </a:extLst>
                </a:gridCol>
                <a:gridCol w="1234440">
                  <a:extLst>
                    <a:ext uri="{9D8B030D-6E8A-4147-A177-3AD203B41FA5}">
                      <a16:colId xmlns:a16="http://schemas.microsoft.com/office/drawing/2014/main" val="2558931016"/>
                    </a:ext>
                  </a:extLst>
                </a:gridCol>
              </a:tblGrid>
              <a:tr h="419100">
                <a:tc>
                  <a:txBody>
                    <a:bodyPr/>
                    <a:lstStyle/>
                    <a:p>
                      <a:pPr algn="ctr"/>
                      <a:endParaRPr lang="en-US" dirty="0"/>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extLst>
                  <a:ext uri="{0D108BD9-81ED-4DB2-BD59-A6C34878D82A}">
                    <a16:rowId xmlns:a16="http://schemas.microsoft.com/office/drawing/2014/main" val="2349196963"/>
                  </a:ext>
                </a:extLst>
              </a:tr>
              <a:tr h="419100">
                <a:tc>
                  <a:txBody>
                    <a:bodyPr/>
                    <a:lstStyle/>
                    <a:p>
                      <a:pPr algn="ctr"/>
                      <a:r>
                        <a:rPr lang="en-US" dirty="0"/>
                        <a:t>1</a:t>
                      </a:r>
                    </a:p>
                  </a:txBody>
                  <a:tcPr/>
                </a:tc>
                <a:tc>
                  <a:txBody>
                    <a:bodyPr/>
                    <a:lstStyle/>
                    <a:p>
                      <a:pPr algn="ctr"/>
                      <a:r>
                        <a:rPr lang="en-US" dirty="0"/>
                        <a:t>2</a:t>
                      </a:r>
                    </a:p>
                  </a:txBody>
                  <a:tcPr/>
                </a:tc>
                <a:tc>
                  <a:txBody>
                    <a:bodyPr/>
                    <a:lstStyle/>
                    <a:p>
                      <a:pPr algn="ctr"/>
                      <a:r>
                        <a:rPr lang="en-US" dirty="0"/>
                        <a:t>3</a:t>
                      </a:r>
                    </a:p>
                  </a:txBody>
                  <a:tcPr/>
                </a:tc>
                <a:tc>
                  <a:txBody>
                    <a:bodyPr/>
                    <a:lstStyle/>
                    <a:p>
                      <a:pPr algn="ctr"/>
                      <a:r>
                        <a:rPr lang="en-US" dirty="0"/>
                        <a:t>4</a:t>
                      </a:r>
                    </a:p>
                  </a:txBody>
                  <a:tcPr/>
                </a:tc>
                <a:tc>
                  <a:txBody>
                    <a:bodyPr/>
                    <a:lstStyle/>
                    <a:p>
                      <a:pPr algn="ctr"/>
                      <a:r>
                        <a:rPr lang="en-US" dirty="0"/>
                        <a:t>5</a:t>
                      </a:r>
                    </a:p>
                  </a:txBody>
                  <a:tcPr/>
                </a:tc>
                <a:extLst>
                  <a:ext uri="{0D108BD9-81ED-4DB2-BD59-A6C34878D82A}">
                    <a16:rowId xmlns:a16="http://schemas.microsoft.com/office/drawing/2014/main" val="4037551385"/>
                  </a:ext>
                </a:extLst>
              </a:tr>
            </a:tbl>
          </a:graphicData>
        </a:graphic>
      </p:graphicFrame>
    </p:spTree>
    <p:extLst>
      <p:ext uri="{BB962C8B-B14F-4D97-AF65-F5344CB8AC3E}">
        <p14:creationId xmlns:p14="http://schemas.microsoft.com/office/powerpoint/2010/main" val="9809822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36875-B8D9-5A7E-696E-FAF4F1AA7801}"/>
              </a:ext>
            </a:extLst>
          </p:cNvPr>
          <p:cNvSpPr>
            <a:spLocks noGrp="1"/>
          </p:cNvSpPr>
          <p:nvPr>
            <p:ph type="title"/>
          </p:nvPr>
        </p:nvSpPr>
        <p:spPr/>
        <p:txBody>
          <a:bodyPr/>
          <a:lstStyle/>
          <a:p>
            <a:r>
              <a:rPr lang="en-US" dirty="0"/>
              <a:t>Algorithm for Enqueue using Link list</a:t>
            </a:r>
          </a:p>
        </p:txBody>
      </p:sp>
      <p:sp>
        <p:nvSpPr>
          <p:cNvPr id="3" name="Content Placeholder 2">
            <a:extLst>
              <a:ext uri="{FF2B5EF4-FFF2-40B4-BE49-F238E27FC236}">
                <a16:creationId xmlns:a16="http://schemas.microsoft.com/office/drawing/2014/main" id="{D0EFCA56-3FA3-AA5F-B184-CAF79932AC10}"/>
              </a:ext>
            </a:extLst>
          </p:cNvPr>
          <p:cNvSpPr>
            <a:spLocks noGrp="1"/>
          </p:cNvSpPr>
          <p:nvPr>
            <p:ph idx="1"/>
          </p:nvPr>
        </p:nvSpPr>
        <p:spPr>
          <a:xfrm>
            <a:off x="1097280" y="1845734"/>
            <a:ext cx="10058400" cy="4368454"/>
          </a:xfrm>
        </p:spPr>
        <p:txBody>
          <a:bodyPr>
            <a:normAutofit fontScale="92500" lnSpcReduction="10000"/>
          </a:bodyPr>
          <a:lstStyle/>
          <a:p>
            <a:r>
              <a:rPr lang="en-US" dirty="0"/>
              <a:t>Here ‘front’ and ‘rear’ are like start and last node of linked list</a:t>
            </a:r>
          </a:p>
          <a:p>
            <a:r>
              <a:rPr lang="en-US" dirty="0"/>
              <a:t>If (front=rear=-1)</a:t>
            </a:r>
          </a:p>
          <a:p>
            <a:r>
              <a:rPr lang="en-US" dirty="0"/>
              <a:t>    node *</a:t>
            </a:r>
            <a:r>
              <a:rPr lang="en-US" dirty="0" err="1"/>
              <a:t>newnode</a:t>
            </a:r>
            <a:r>
              <a:rPr lang="en-US" dirty="0"/>
              <a:t> = new node;</a:t>
            </a:r>
          </a:p>
          <a:p>
            <a:r>
              <a:rPr lang="en-US" dirty="0"/>
              <a:t>    </a:t>
            </a:r>
            <a:r>
              <a:rPr lang="en-US" dirty="0" err="1"/>
              <a:t>newnode</a:t>
            </a:r>
            <a:r>
              <a:rPr lang="en-US" dirty="0"/>
              <a:t>-&gt;data=item;</a:t>
            </a:r>
          </a:p>
          <a:p>
            <a:r>
              <a:rPr lang="en-US" dirty="0"/>
              <a:t>    front=rear=</a:t>
            </a:r>
            <a:r>
              <a:rPr lang="en-US" dirty="0" err="1"/>
              <a:t>newnode</a:t>
            </a:r>
            <a:r>
              <a:rPr lang="en-US" dirty="0"/>
              <a:t>;</a:t>
            </a:r>
          </a:p>
          <a:p>
            <a:r>
              <a:rPr lang="en-US" dirty="0"/>
              <a:t>Else</a:t>
            </a:r>
          </a:p>
          <a:p>
            <a:r>
              <a:rPr lang="en-US" dirty="0"/>
              <a:t>    node *</a:t>
            </a:r>
            <a:r>
              <a:rPr lang="en-US" dirty="0" err="1"/>
              <a:t>newnode</a:t>
            </a:r>
            <a:r>
              <a:rPr lang="en-US" dirty="0"/>
              <a:t>=new node;</a:t>
            </a:r>
          </a:p>
          <a:p>
            <a:r>
              <a:rPr lang="en-US" dirty="0"/>
              <a:t>    </a:t>
            </a:r>
            <a:r>
              <a:rPr lang="en-US" dirty="0" err="1"/>
              <a:t>newnode</a:t>
            </a:r>
            <a:r>
              <a:rPr lang="en-US" dirty="0"/>
              <a:t>-&gt;data=item;</a:t>
            </a:r>
          </a:p>
          <a:p>
            <a:r>
              <a:rPr lang="en-US" dirty="0"/>
              <a:t>    </a:t>
            </a:r>
            <a:r>
              <a:rPr lang="en-US" dirty="0" err="1"/>
              <a:t>newnode</a:t>
            </a:r>
            <a:r>
              <a:rPr lang="en-US" dirty="0"/>
              <a:t>-&gt;link=-1;</a:t>
            </a:r>
          </a:p>
          <a:p>
            <a:r>
              <a:rPr lang="en-US" dirty="0"/>
              <a:t>    rear-&gt;link=</a:t>
            </a:r>
            <a:r>
              <a:rPr lang="en-US" dirty="0" err="1"/>
              <a:t>newnode</a:t>
            </a:r>
            <a:r>
              <a:rPr lang="en-US" dirty="0"/>
              <a:t>;</a:t>
            </a:r>
          </a:p>
          <a:p>
            <a:pPr marL="201168" lvl="1" indent="0">
              <a:buNone/>
            </a:pPr>
            <a:r>
              <a:rPr lang="en-US" dirty="0"/>
              <a:t>  rear = </a:t>
            </a:r>
            <a:r>
              <a:rPr lang="en-US" dirty="0" err="1"/>
              <a:t>newnode</a:t>
            </a:r>
            <a:r>
              <a:rPr lang="en-US" dirty="0"/>
              <a:t>;</a:t>
            </a:r>
          </a:p>
        </p:txBody>
      </p:sp>
    </p:spTree>
    <p:extLst>
      <p:ext uri="{BB962C8B-B14F-4D97-AF65-F5344CB8AC3E}">
        <p14:creationId xmlns:p14="http://schemas.microsoft.com/office/powerpoint/2010/main" val="29904610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A655A-F790-1383-2FDF-386ED43DD040}"/>
              </a:ext>
            </a:extLst>
          </p:cNvPr>
          <p:cNvSpPr>
            <a:spLocks noGrp="1"/>
          </p:cNvSpPr>
          <p:nvPr>
            <p:ph type="title"/>
          </p:nvPr>
        </p:nvSpPr>
        <p:spPr/>
        <p:txBody>
          <a:bodyPr/>
          <a:lstStyle/>
          <a:p>
            <a:r>
              <a:rPr lang="en-US" dirty="0"/>
              <a:t>Algorithm for Dequeue using Link list</a:t>
            </a:r>
          </a:p>
        </p:txBody>
      </p:sp>
      <p:sp>
        <p:nvSpPr>
          <p:cNvPr id="3" name="Content Placeholder 2">
            <a:extLst>
              <a:ext uri="{FF2B5EF4-FFF2-40B4-BE49-F238E27FC236}">
                <a16:creationId xmlns:a16="http://schemas.microsoft.com/office/drawing/2014/main" id="{6CD678B0-23B8-7F00-B96D-09BB23B81B4A}"/>
              </a:ext>
            </a:extLst>
          </p:cNvPr>
          <p:cNvSpPr>
            <a:spLocks noGrp="1"/>
          </p:cNvSpPr>
          <p:nvPr>
            <p:ph idx="1"/>
          </p:nvPr>
        </p:nvSpPr>
        <p:spPr/>
        <p:txBody>
          <a:bodyPr/>
          <a:lstStyle/>
          <a:p>
            <a:r>
              <a:rPr lang="en-US" dirty="0"/>
              <a:t>Struct node *temp</a:t>
            </a:r>
          </a:p>
          <a:p>
            <a:r>
              <a:rPr lang="en-US" dirty="0"/>
              <a:t>Temp = front</a:t>
            </a:r>
          </a:p>
          <a:p>
            <a:r>
              <a:rPr lang="en-US" dirty="0"/>
              <a:t>if(front==0 &amp;&amp; rear==0)</a:t>
            </a:r>
          </a:p>
          <a:p>
            <a:r>
              <a:rPr lang="en-US" dirty="0"/>
              <a:t>           underflow</a:t>
            </a:r>
          </a:p>
          <a:p>
            <a:r>
              <a:rPr lang="en-US" dirty="0"/>
              <a:t>else</a:t>
            </a:r>
          </a:p>
          <a:p>
            <a:r>
              <a:rPr lang="en-US" dirty="0"/>
              <a:t>Print: front-&gt;data</a:t>
            </a:r>
          </a:p>
          <a:p>
            <a:r>
              <a:rPr lang="en-US" dirty="0"/>
              <a:t>front=front-&gt;link;</a:t>
            </a:r>
          </a:p>
          <a:p>
            <a:r>
              <a:rPr lang="en-US" dirty="0"/>
              <a:t>Free(temp)</a:t>
            </a:r>
          </a:p>
          <a:p>
            <a:endParaRPr lang="en-US" dirty="0"/>
          </a:p>
        </p:txBody>
      </p:sp>
    </p:spTree>
    <p:extLst>
      <p:ext uri="{BB962C8B-B14F-4D97-AF65-F5344CB8AC3E}">
        <p14:creationId xmlns:p14="http://schemas.microsoft.com/office/powerpoint/2010/main" val="1521326117"/>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616</TotalTime>
  <Words>1404</Words>
  <Application>Microsoft Office PowerPoint</Application>
  <PresentationFormat>Widescreen</PresentationFormat>
  <Paragraphs>232</Paragraphs>
  <Slides>31</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31</vt:i4>
      </vt:variant>
    </vt:vector>
  </HeadingPairs>
  <TitlesOfParts>
    <vt:vector size="44" baseType="lpstr">
      <vt:lpstr>ＭＳ Ｐゴシック</vt:lpstr>
      <vt:lpstr>Arial</vt:lpstr>
      <vt:lpstr>Arial Black</vt:lpstr>
      <vt:lpstr>Calibri</vt:lpstr>
      <vt:lpstr>Calibri Light</vt:lpstr>
      <vt:lpstr>euclid_circular_a</vt:lpstr>
      <vt:lpstr>Helvetica</vt:lpstr>
      <vt:lpstr>Monotype Sorts</vt:lpstr>
      <vt:lpstr>Roboto</vt:lpstr>
      <vt:lpstr>Times New Roman</vt:lpstr>
      <vt:lpstr>Verdana</vt:lpstr>
      <vt:lpstr>Wingdings</vt:lpstr>
      <vt:lpstr>Retrospect</vt:lpstr>
      <vt:lpstr>Data Structure</vt:lpstr>
      <vt:lpstr>Goals for today</vt:lpstr>
      <vt:lpstr>Queues</vt:lpstr>
      <vt:lpstr>Queues</vt:lpstr>
      <vt:lpstr>Queues</vt:lpstr>
      <vt:lpstr>Queues</vt:lpstr>
      <vt:lpstr>Some examples</vt:lpstr>
      <vt:lpstr>Application of Queue</vt:lpstr>
      <vt:lpstr>Example</vt:lpstr>
      <vt:lpstr>Types of Queues in Data Structure</vt:lpstr>
      <vt:lpstr>Simple Queue</vt:lpstr>
      <vt:lpstr>Circular Queue</vt:lpstr>
      <vt:lpstr>Priority Queue</vt:lpstr>
      <vt:lpstr>Deque (Double Ended Queue)</vt:lpstr>
      <vt:lpstr>Common Operations (Queue ADT)</vt:lpstr>
      <vt:lpstr>Implementation</vt:lpstr>
      <vt:lpstr>Common Operations (Queue ADT)</vt:lpstr>
      <vt:lpstr>Queue Implementation Using Array</vt:lpstr>
      <vt:lpstr>Alternative Array Implementation</vt:lpstr>
      <vt:lpstr>Array implementation of queues</vt:lpstr>
      <vt:lpstr>Array implementation of queues</vt:lpstr>
      <vt:lpstr>Alternative Array Implementation</vt:lpstr>
      <vt:lpstr>Overflow and underflow condition in linear queues</vt:lpstr>
      <vt:lpstr>PowerPoint Presentation</vt:lpstr>
      <vt:lpstr>Enqueue Operation</vt:lpstr>
      <vt:lpstr>Algorithm for Enqueue Operation</vt:lpstr>
      <vt:lpstr>Dequeue Operation</vt:lpstr>
      <vt:lpstr>Algorithm for Dequeue Operation</vt:lpstr>
      <vt:lpstr>Activity </vt:lpstr>
      <vt:lpstr>Algorithm for Enqueue using Link list</vt:lpstr>
      <vt:lpstr>Algorithm for Dequeue using Link list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Structure and Algorithm</dc:title>
  <dc:creator>Habiba Arshad</dc:creator>
  <cp:lastModifiedBy>Rida Zahra</cp:lastModifiedBy>
  <cp:revision>17</cp:revision>
  <dcterms:created xsi:type="dcterms:W3CDTF">2022-11-28T04:11:00Z</dcterms:created>
  <dcterms:modified xsi:type="dcterms:W3CDTF">2025-12-16T14:41:41Z</dcterms:modified>
</cp:coreProperties>
</file>