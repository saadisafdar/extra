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323" r:id="rId2"/>
    <p:sldId id="324" r:id="rId3"/>
    <p:sldId id="537" r:id="rId4"/>
    <p:sldId id="522" r:id="rId5"/>
    <p:sldId id="523" r:id="rId6"/>
    <p:sldId id="524" r:id="rId7"/>
    <p:sldId id="532" r:id="rId8"/>
    <p:sldId id="530" r:id="rId9"/>
    <p:sldId id="525" r:id="rId10"/>
    <p:sldId id="527" r:id="rId11"/>
    <p:sldId id="533" r:id="rId12"/>
    <p:sldId id="526" r:id="rId13"/>
    <p:sldId id="528" r:id="rId14"/>
    <p:sldId id="529" r:id="rId15"/>
    <p:sldId id="534" r:id="rId16"/>
    <p:sldId id="512" r:id="rId17"/>
    <p:sldId id="53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29" autoAdjust="0"/>
    <p:restoredTop sz="81307" autoAdjust="0"/>
  </p:normalViewPr>
  <p:slideViewPr>
    <p:cSldViewPr snapToGrid="0">
      <p:cViewPr varScale="1">
        <p:scale>
          <a:sx n="67" d="100"/>
          <a:sy n="67" d="100"/>
        </p:scale>
        <p:origin x="131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CDFDBE-DC96-4D48-8AE4-FBED9340CE80}" type="datetimeFigureOut">
              <a:rPr lang="en-US" smtClean="0"/>
              <a:t>11/11/2024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766D6A-D958-4BB7-898A-61251ED72C68}" type="slidenum">
              <a:rPr lang="en-US" smtClean="0"/>
              <a:t>‹#›</a:t>
            </a:fld>
            <a:endParaRPr lang="en-US"/>
          </a:p>
        </p:txBody>
      </p:sp>
    </p:spTree>
    <p:extLst>
      <p:ext uri="{BB962C8B-B14F-4D97-AF65-F5344CB8AC3E}">
        <p14:creationId xmlns:p14="http://schemas.microsoft.com/office/powerpoint/2010/main" val="1290651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This creates a chain where the first node points to the second node, the second node points to the third node, and so on.</a:t>
            </a:r>
          </a:p>
          <a:p>
            <a:endParaRPr lang="en-US" dirty="0"/>
          </a:p>
        </p:txBody>
      </p:sp>
      <p:sp>
        <p:nvSpPr>
          <p:cNvPr id="4" name="Slide Number Placeholder 3"/>
          <p:cNvSpPr>
            <a:spLocks noGrp="1"/>
          </p:cNvSpPr>
          <p:nvPr>
            <p:ph type="sldNum" sz="quarter" idx="5"/>
          </p:nvPr>
        </p:nvSpPr>
        <p:spPr/>
        <p:txBody>
          <a:bodyPr/>
          <a:lstStyle/>
          <a:p>
            <a:pPr>
              <a:defRPr/>
            </a:pPr>
            <a:fld id="{8C150773-D246-41E7-9B86-96ECFF695247}" type="slidenum">
              <a:rPr lang="en-US" altLang="en-US" smtClean="0"/>
              <a:pPr>
                <a:defRPr/>
              </a:pPr>
              <a:t>9</a:t>
            </a:fld>
            <a:endParaRPr lang="en-US" altLang="en-US"/>
          </a:p>
        </p:txBody>
      </p:sp>
    </p:spTree>
    <p:extLst>
      <p:ext uri="{BB962C8B-B14F-4D97-AF65-F5344CB8AC3E}">
        <p14:creationId xmlns:p14="http://schemas.microsoft.com/office/powerpoint/2010/main" val="3597761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D1D5DB"/>
                </a:solidFill>
                <a:effectLst/>
                <a:latin typeface="Söhne"/>
              </a:rPr>
              <a:t>Imagine you have a bookshelf with books. Each book on the shelf represents an employee's information. In the case of an array, all the books are lined up one after another on the shelf, and you can easily reach for any book because they are all right next to each other. This is similar to how an array stores data in contiguous memory locations, making it easy to access.</a:t>
            </a:r>
          </a:p>
          <a:p>
            <a:pPr algn="l"/>
            <a:r>
              <a:rPr lang="en-US" b="0" i="0" dirty="0">
                <a:solidFill>
                  <a:srgbClr val="D1D5DB"/>
                </a:solidFill>
                <a:effectLst/>
                <a:latin typeface="Söhne"/>
              </a:rPr>
              <a:t>Now, consider a linked list. Instead of all the books being on the same shelf, each book has a note inside it telling you where the next book is located. So, to find a specific book, you have to keep jumping from one book to the next, and then to the next, and so on, following the notes. This constant moving around can be time-consuming and less efficient because you're not taking advantage of the fact that the books (or data) are stored close together in one place.</a:t>
            </a:r>
          </a:p>
          <a:p>
            <a:pPr algn="l"/>
            <a:r>
              <a:rPr lang="en-US" b="0" i="0" dirty="0">
                <a:solidFill>
                  <a:srgbClr val="D1D5DB"/>
                </a:solidFill>
                <a:effectLst/>
                <a:latin typeface="Söhne"/>
              </a:rPr>
              <a:t>So, when we say a linked list is "not cache-friendly," we mean that it doesn't take full advantage of the nearby, contiguous memory locations. In a way, it's like having to jump around more to find things, which can slow down your access to data when compared to an array where everything is neatly lined up.</a:t>
            </a:r>
          </a:p>
          <a:p>
            <a:endParaRPr lang="en-US" dirty="0"/>
          </a:p>
        </p:txBody>
      </p:sp>
      <p:sp>
        <p:nvSpPr>
          <p:cNvPr id="4" name="Slide Number Placeholder 3"/>
          <p:cNvSpPr>
            <a:spLocks noGrp="1"/>
          </p:cNvSpPr>
          <p:nvPr>
            <p:ph type="sldNum" sz="quarter" idx="5"/>
          </p:nvPr>
        </p:nvSpPr>
        <p:spPr/>
        <p:txBody>
          <a:bodyPr/>
          <a:lstStyle/>
          <a:p>
            <a:fld id="{3F766D6A-D958-4BB7-898A-61251ED72C68}" type="slidenum">
              <a:rPr lang="en-US" smtClean="0"/>
              <a:t>15</a:t>
            </a:fld>
            <a:endParaRPr lang="en-US"/>
          </a:p>
        </p:txBody>
      </p:sp>
    </p:spTree>
    <p:extLst>
      <p:ext uri="{BB962C8B-B14F-4D97-AF65-F5344CB8AC3E}">
        <p14:creationId xmlns:p14="http://schemas.microsoft.com/office/powerpoint/2010/main" val="609905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Lecture 2</a:t>
            </a:r>
          </a:p>
        </p:txBody>
      </p:sp>
      <p:sp>
        <p:nvSpPr>
          <p:cNvPr id="5" name="Footer Placeholder 4"/>
          <p:cNvSpPr>
            <a:spLocks noGrp="1"/>
          </p:cNvSpPr>
          <p:nvPr>
            <p:ph type="ftr" sz="quarter" idx="11"/>
          </p:nvPr>
        </p:nvSpPr>
        <p:spPr/>
        <p:txBody>
          <a:bodyPr/>
          <a:lstStyle/>
          <a:p>
            <a:r>
              <a:rPr lang="en-US"/>
              <a:t>Object-Oriented Programming</a:t>
            </a:r>
          </a:p>
        </p:txBody>
      </p:sp>
      <p:sp>
        <p:nvSpPr>
          <p:cNvPr id="6" name="Slide Number Placeholder 5"/>
          <p:cNvSpPr>
            <a:spLocks noGrp="1"/>
          </p:cNvSpPr>
          <p:nvPr>
            <p:ph type="sldNum" sz="quarter" idx="12"/>
          </p:nvPr>
        </p:nvSpPr>
        <p:spPr/>
        <p:txBody>
          <a:bodyPr/>
          <a:lstStyle/>
          <a:p>
            <a:fld id="{938FCA96-F313-4D0B-BA7B-A6A3793754D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5479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Lecture 2</a:t>
            </a:r>
          </a:p>
        </p:txBody>
      </p:sp>
      <p:sp>
        <p:nvSpPr>
          <p:cNvPr id="5" name="Footer Placeholder 4"/>
          <p:cNvSpPr>
            <a:spLocks noGrp="1"/>
          </p:cNvSpPr>
          <p:nvPr>
            <p:ph type="ftr" sz="quarter" idx="11"/>
          </p:nvPr>
        </p:nvSpPr>
        <p:spPr/>
        <p:txBody>
          <a:bodyPr/>
          <a:lstStyle/>
          <a:p>
            <a:r>
              <a:rPr lang="en-US"/>
              <a:t>Object-Oriented Programming</a:t>
            </a:r>
          </a:p>
        </p:txBody>
      </p:sp>
      <p:sp>
        <p:nvSpPr>
          <p:cNvPr id="6" name="Slide Number Placeholder 5"/>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1905716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Lecture 2</a:t>
            </a:r>
          </a:p>
        </p:txBody>
      </p:sp>
      <p:sp>
        <p:nvSpPr>
          <p:cNvPr id="5" name="Footer Placeholder 4"/>
          <p:cNvSpPr>
            <a:spLocks noGrp="1"/>
          </p:cNvSpPr>
          <p:nvPr>
            <p:ph type="ftr" sz="quarter" idx="11"/>
          </p:nvPr>
        </p:nvSpPr>
        <p:spPr/>
        <p:txBody>
          <a:bodyPr/>
          <a:lstStyle/>
          <a:p>
            <a:r>
              <a:rPr lang="en-US"/>
              <a:t>Object-Oriented Programming</a:t>
            </a:r>
          </a:p>
        </p:txBody>
      </p:sp>
      <p:sp>
        <p:nvSpPr>
          <p:cNvPr id="6" name="Slide Number Placeholder 5"/>
          <p:cNvSpPr>
            <a:spLocks noGrp="1"/>
          </p:cNvSpPr>
          <p:nvPr>
            <p:ph type="sldNum" sz="quarter" idx="12"/>
          </p:nvPr>
        </p:nvSpPr>
        <p:spPr/>
        <p:txBody>
          <a:bodyPr/>
          <a:lstStyle/>
          <a:p>
            <a:fld id="{938FCA96-F313-4D0B-BA7B-A6A3793754D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1024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Lecture 2</a:t>
            </a:r>
          </a:p>
        </p:txBody>
      </p:sp>
      <p:sp>
        <p:nvSpPr>
          <p:cNvPr id="6" name="Footer Placeholder 5"/>
          <p:cNvSpPr>
            <a:spLocks noGrp="1"/>
          </p:cNvSpPr>
          <p:nvPr>
            <p:ph type="ftr" sz="quarter" idx="11"/>
          </p:nvPr>
        </p:nvSpPr>
        <p:spPr/>
        <p:txBody>
          <a:bodyPr/>
          <a:lstStyle/>
          <a:p>
            <a:r>
              <a:rPr lang="en-US"/>
              <a:t>Object-Oriented Programming</a:t>
            </a:r>
          </a:p>
        </p:txBody>
      </p:sp>
      <p:sp>
        <p:nvSpPr>
          <p:cNvPr id="7" name="Slide Number Placeholder 6"/>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1286347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Lecture 2</a:t>
            </a:r>
          </a:p>
        </p:txBody>
      </p:sp>
      <p:sp>
        <p:nvSpPr>
          <p:cNvPr id="8" name="Footer Placeholder 7"/>
          <p:cNvSpPr>
            <a:spLocks noGrp="1"/>
          </p:cNvSpPr>
          <p:nvPr>
            <p:ph type="ftr" sz="quarter" idx="11"/>
          </p:nvPr>
        </p:nvSpPr>
        <p:spPr/>
        <p:txBody>
          <a:bodyPr/>
          <a:lstStyle/>
          <a:p>
            <a:r>
              <a:rPr lang="en-US"/>
              <a:t>Object-Oriented Programming</a:t>
            </a:r>
          </a:p>
        </p:txBody>
      </p:sp>
      <p:sp>
        <p:nvSpPr>
          <p:cNvPr id="9" name="Slide Number Placeholder 8"/>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307892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Lecture 2</a:t>
            </a:r>
          </a:p>
        </p:txBody>
      </p:sp>
      <p:sp>
        <p:nvSpPr>
          <p:cNvPr id="4" name="Footer Placeholder 3"/>
          <p:cNvSpPr>
            <a:spLocks noGrp="1"/>
          </p:cNvSpPr>
          <p:nvPr>
            <p:ph type="ftr" sz="quarter" idx="11"/>
          </p:nvPr>
        </p:nvSpPr>
        <p:spPr/>
        <p:txBody>
          <a:bodyPr/>
          <a:lstStyle/>
          <a:p>
            <a:r>
              <a:rPr lang="en-US"/>
              <a:t>Object-Oriented Programming</a:t>
            </a:r>
          </a:p>
        </p:txBody>
      </p:sp>
      <p:sp>
        <p:nvSpPr>
          <p:cNvPr id="5" name="Slide Number Placeholder 4"/>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1135724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n-US"/>
              <a:t>Lecture 2</a:t>
            </a:r>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Object-Oriented Programming</a:t>
            </a:r>
          </a:p>
        </p:txBody>
      </p:sp>
      <p:sp>
        <p:nvSpPr>
          <p:cNvPr id="9" name="Slide Number Placeholder 8"/>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1988814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n-US"/>
              <a:t>Lecture 2</a:t>
            </a: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Object-Oriented Programming</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38FCA96-F313-4D0B-BA7B-A6A3793754D7}" type="slidenum">
              <a:rPr lang="en-US" smtClean="0"/>
              <a:t>‹#›</a:t>
            </a:fld>
            <a:endParaRPr lang="en-US"/>
          </a:p>
        </p:txBody>
      </p:sp>
    </p:spTree>
    <p:extLst>
      <p:ext uri="{BB962C8B-B14F-4D97-AF65-F5344CB8AC3E}">
        <p14:creationId xmlns:p14="http://schemas.microsoft.com/office/powerpoint/2010/main" val="1372040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Lecture 2</a:t>
            </a:r>
          </a:p>
        </p:txBody>
      </p:sp>
      <p:sp>
        <p:nvSpPr>
          <p:cNvPr id="6" name="Footer Placeholder 5"/>
          <p:cNvSpPr>
            <a:spLocks noGrp="1"/>
          </p:cNvSpPr>
          <p:nvPr>
            <p:ph type="ftr" sz="quarter" idx="11"/>
          </p:nvPr>
        </p:nvSpPr>
        <p:spPr/>
        <p:txBody>
          <a:bodyPr/>
          <a:lstStyle/>
          <a:p>
            <a:r>
              <a:rPr lang="en-US"/>
              <a:t>Object-Oriented Programming</a:t>
            </a:r>
          </a:p>
        </p:txBody>
      </p:sp>
      <p:sp>
        <p:nvSpPr>
          <p:cNvPr id="7" name="Slide Number Placeholder 6"/>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2259307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Lecture 2</a:t>
            </a:r>
          </a:p>
        </p:txBody>
      </p:sp>
      <p:sp>
        <p:nvSpPr>
          <p:cNvPr id="5" name="Footer Placeholder 4"/>
          <p:cNvSpPr>
            <a:spLocks noGrp="1"/>
          </p:cNvSpPr>
          <p:nvPr>
            <p:ph type="ftr" sz="quarter" idx="11"/>
          </p:nvPr>
        </p:nvSpPr>
        <p:spPr/>
        <p:txBody>
          <a:bodyPr/>
          <a:lstStyle/>
          <a:p>
            <a:r>
              <a:rPr lang="en-US"/>
              <a:t>Object-Oriented Programming</a:t>
            </a:r>
          </a:p>
        </p:txBody>
      </p:sp>
      <p:sp>
        <p:nvSpPr>
          <p:cNvPr id="6" name="Slide Number Placeholder 5"/>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4030085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Lecture 2</a:t>
            </a:r>
          </a:p>
        </p:txBody>
      </p:sp>
      <p:sp>
        <p:nvSpPr>
          <p:cNvPr id="5" name="Footer Placeholder 4"/>
          <p:cNvSpPr>
            <a:spLocks noGrp="1"/>
          </p:cNvSpPr>
          <p:nvPr>
            <p:ph type="ftr" sz="quarter" idx="11"/>
          </p:nvPr>
        </p:nvSpPr>
        <p:spPr/>
        <p:txBody>
          <a:bodyPr/>
          <a:lstStyle/>
          <a:p>
            <a:r>
              <a:rPr lang="en-US"/>
              <a:t>Object-Oriented Programming</a:t>
            </a:r>
          </a:p>
        </p:txBody>
      </p:sp>
      <p:sp>
        <p:nvSpPr>
          <p:cNvPr id="6" name="Slide Number Placeholder 5"/>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2817772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n-US"/>
              <a:t>Lecture 2</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Object-Oriented Programming</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38FCA96-F313-4D0B-BA7B-A6A3793754D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22852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E98EC7A-B0FB-41A6-866A-7FE9D1DE8E2A}"/>
              </a:ext>
            </a:extLst>
          </p:cNvPr>
          <p:cNvSpPr>
            <a:spLocks noGrp="1"/>
          </p:cNvSpPr>
          <p:nvPr>
            <p:ph type="ctrTitle"/>
          </p:nvPr>
        </p:nvSpPr>
        <p:spPr>
          <a:xfrm>
            <a:off x="1524000" y="1600200"/>
            <a:ext cx="8915400" cy="1830388"/>
          </a:xfrm>
        </p:spPr>
        <p:txBody>
          <a:bodyPr>
            <a:normAutofit fontScale="90000"/>
          </a:bodyPr>
          <a:lstStyle/>
          <a:p>
            <a:pPr algn="ctr" fontAlgn="auto">
              <a:spcAft>
                <a:spcPts val="0"/>
              </a:spcAft>
              <a:defRPr/>
            </a:pPr>
            <a:r>
              <a:rPr lang="en-US" dirty="0"/>
              <a:t>Data Structures and Algorithm</a:t>
            </a:r>
          </a:p>
        </p:txBody>
      </p:sp>
      <p:sp>
        <p:nvSpPr>
          <p:cNvPr id="11267" name="Subtitle 4">
            <a:extLst>
              <a:ext uri="{FF2B5EF4-FFF2-40B4-BE49-F238E27FC236}">
                <a16:creationId xmlns:a16="http://schemas.microsoft.com/office/drawing/2014/main" id="{76CBCB26-2BF2-27D4-B0B5-20E88F1D03C7}"/>
              </a:ext>
            </a:extLst>
          </p:cNvPr>
          <p:cNvSpPr>
            <a:spLocks noGrp="1"/>
          </p:cNvSpPr>
          <p:nvPr>
            <p:ph type="subTitle" idx="1"/>
          </p:nvPr>
        </p:nvSpPr>
        <p:spPr>
          <a:xfrm>
            <a:off x="1100138" y="4456113"/>
            <a:ext cx="10058400" cy="1143000"/>
          </a:xfrm>
        </p:spPr>
        <p:txBody>
          <a:bodyPr rtlCol="0">
            <a:normAutofit fontScale="85000" lnSpcReduction="20000"/>
          </a:bodyPr>
          <a:lstStyle/>
          <a:p>
            <a:pPr fontAlgn="auto">
              <a:defRPr/>
            </a:pPr>
            <a:r>
              <a:rPr lang="en-GB" altLang="en-US" dirty="0"/>
              <a:t>Course Code: CS-201</a:t>
            </a:r>
          </a:p>
          <a:p>
            <a:pPr fontAlgn="auto">
              <a:defRPr/>
            </a:pPr>
            <a:r>
              <a:rPr lang="en-GB" altLang="en-US" dirty="0"/>
              <a:t>Topic: Linked List/ Single link list</a:t>
            </a:r>
          </a:p>
          <a:p>
            <a:pPr fontAlgn="auto">
              <a:defRPr/>
            </a:pPr>
            <a:r>
              <a:rPr lang="en-GB" altLang="en-US" dirty="0"/>
              <a:t>Course Instructor: Habiba </a:t>
            </a:r>
            <a:r>
              <a:rPr lang="en-GB" altLang="en-US" dirty="0" err="1"/>
              <a:t>arshad</a:t>
            </a:r>
            <a:r>
              <a:rPr lang="en-GB" altLang="en-US" dirty="0"/>
              <a:t> </a:t>
            </a: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586249-2C03-9822-3A0C-528D24D2D721}"/>
              </a:ext>
            </a:extLst>
          </p:cNvPr>
          <p:cNvSpPr>
            <a:spLocks noGrp="1"/>
          </p:cNvSpPr>
          <p:nvPr>
            <p:ph type="title"/>
          </p:nvPr>
        </p:nvSpPr>
        <p:spPr/>
        <p:txBody>
          <a:bodyPr/>
          <a:lstStyle/>
          <a:p>
            <a:pPr fontAlgn="auto">
              <a:spcAft>
                <a:spcPts val="0"/>
              </a:spcAft>
              <a:defRPr/>
            </a:pPr>
            <a:r>
              <a:rPr lang="en-US" dirty="0">
                <a:solidFill>
                  <a:schemeClr val="tx1">
                    <a:lumMod val="75000"/>
                    <a:lumOff val="25000"/>
                  </a:schemeClr>
                </a:solidFill>
              </a:rPr>
              <a:t>Goals for today</a:t>
            </a:r>
          </a:p>
        </p:txBody>
      </p:sp>
      <p:sp>
        <p:nvSpPr>
          <p:cNvPr id="11267" name="Content Placeholder 1">
            <a:extLst>
              <a:ext uri="{FF2B5EF4-FFF2-40B4-BE49-F238E27FC236}">
                <a16:creationId xmlns:a16="http://schemas.microsoft.com/office/drawing/2014/main" id="{4DAC6C23-80DD-CEF5-29BB-9902033C798B}"/>
              </a:ext>
            </a:extLst>
          </p:cNvPr>
          <p:cNvSpPr>
            <a:spLocks noGrp="1" noChangeArrowheads="1"/>
          </p:cNvSpPr>
          <p:nvPr>
            <p:ph idx="1"/>
          </p:nvPr>
        </p:nvSpPr>
        <p:spPr>
          <a:xfrm>
            <a:off x="1096963" y="1905000"/>
            <a:ext cx="10058400" cy="4525963"/>
          </a:xfrm>
        </p:spPr>
        <p:txBody>
          <a:bodyPr/>
          <a:lstStyle/>
          <a:p>
            <a:r>
              <a:rPr lang="en-GB" altLang="en-US" sz="2800" dirty="0"/>
              <a:t>To study:</a:t>
            </a:r>
          </a:p>
          <a:p>
            <a:pPr>
              <a:buFont typeface="Wingdings 3" panose="05040102010807070707" pitchFamily="18" charset="2"/>
              <a:buNone/>
            </a:pPr>
            <a:endParaRPr lang="en-GB" altLang="en-US" sz="2800" dirty="0"/>
          </a:p>
          <a:p>
            <a:pPr lvl="1"/>
            <a:r>
              <a:rPr lang="en-US" altLang="en-US" sz="2800" dirty="0"/>
              <a:t>Linked list</a:t>
            </a:r>
          </a:p>
          <a:p>
            <a:pPr lvl="2"/>
            <a:r>
              <a:rPr lang="en-US" altLang="en-US" sz="2400" dirty="0"/>
              <a:t>Singly/ one-way linked list</a:t>
            </a:r>
          </a:p>
          <a:p>
            <a:endParaRPr lang="en-US" altLang="en-US" dirty="0"/>
          </a:p>
          <a:p>
            <a:endParaRPr lang="en-US" altLang="en-US" dirty="0"/>
          </a:p>
          <a:p>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EE1D1-3002-8B56-B681-C4FBF845F1FB}"/>
              </a:ext>
            </a:extLst>
          </p:cNvPr>
          <p:cNvSpPr>
            <a:spLocks noGrp="1"/>
          </p:cNvSpPr>
          <p:nvPr>
            <p:ph type="title"/>
          </p:nvPr>
        </p:nvSpPr>
        <p:spPr/>
        <p:txBody>
          <a:bodyPr/>
          <a:lstStyle/>
          <a:p>
            <a:r>
              <a:rPr lang="en-US" dirty="0"/>
              <a:t>CLO Covered</a:t>
            </a:r>
          </a:p>
        </p:txBody>
      </p:sp>
      <p:sp>
        <p:nvSpPr>
          <p:cNvPr id="3" name="Content Placeholder 2">
            <a:extLst>
              <a:ext uri="{FF2B5EF4-FFF2-40B4-BE49-F238E27FC236}">
                <a16:creationId xmlns:a16="http://schemas.microsoft.com/office/drawing/2014/main" id="{585208EC-594A-22AD-CA8A-0ED83B5BFA28}"/>
              </a:ext>
            </a:extLst>
          </p:cNvPr>
          <p:cNvSpPr>
            <a:spLocks noGrp="1"/>
          </p:cNvSpPr>
          <p:nvPr>
            <p:ph idx="1"/>
          </p:nvPr>
        </p:nvSpPr>
        <p:spPr/>
        <p:txBody>
          <a:bodyPr>
            <a:normAutofit/>
          </a:bodyPr>
          <a:lstStyle/>
          <a:p>
            <a:r>
              <a:rPr lang="en-US" sz="3200" dirty="0"/>
              <a:t>CLO1: </a:t>
            </a:r>
            <a:r>
              <a:rPr lang="en-US" sz="3200" b="1" dirty="0"/>
              <a:t>Explain</a:t>
            </a:r>
            <a:r>
              <a:rPr lang="en-US" sz="3200" dirty="0"/>
              <a:t> the fundamentals of data structure as well as algorithms that operate on them</a:t>
            </a:r>
          </a:p>
        </p:txBody>
      </p:sp>
    </p:spTree>
    <p:extLst>
      <p:ext uri="{BB962C8B-B14F-4D97-AF65-F5344CB8AC3E}">
        <p14:creationId xmlns:p14="http://schemas.microsoft.com/office/powerpoint/2010/main" val="1071804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03974-CF1F-A473-5B8C-1B7B143816EA}"/>
              </a:ext>
            </a:extLst>
          </p:cNvPr>
          <p:cNvSpPr>
            <a:spLocks noGrp="1"/>
          </p:cNvSpPr>
          <p:nvPr>
            <p:ph type="title"/>
          </p:nvPr>
        </p:nvSpPr>
        <p:spPr/>
        <p:txBody>
          <a:bodyPr/>
          <a:lstStyle/>
          <a:p>
            <a:pPr fontAlgn="auto">
              <a:spcAft>
                <a:spcPts val="0"/>
              </a:spcAft>
              <a:defRPr/>
            </a:pPr>
            <a:r>
              <a:rPr lang="en-US" dirty="0">
                <a:solidFill>
                  <a:schemeClr val="tx1">
                    <a:lumMod val="75000"/>
                    <a:lumOff val="25000"/>
                  </a:schemeClr>
                </a:solidFill>
              </a:rPr>
              <a:t>Problem With Array </a:t>
            </a:r>
          </a:p>
        </p:txBody>
      </p:sp>
      <p:sp>
        <p:nvSpPr>
          <p:cNvPr id="12291" name="Content Placeholder 2">
            <a:extLst>
              <a:ext uri="{FF2B5EF4-FFF2-40B4-BE49-F238E27FC236}">
                <a16:creationId xmlns:a16="http://schemas.microsoft.com/office/drawing/2014/main" id="{C116B9FB-A943-E2E4-6CA0-98CED0AEE997}"/>
              </a:ext>
            </a:extLst>
          </p:cNvPr>
          <p:cNvSpPr>
            <a:spLocks noGrp="1" noChangeArrowheads="1"/>
          </p:cNvSpPr>
          <p:nvPr>
            <p:ph idx="1"/>
          </p:nvPr>
        </p:nvSpPr>
        <p:spPr>
          <a:xfrm>
            <a:off x="1371600" y="1981200"/>
            <a:ext cx="8839200" cy="4144963"/>
          </a:xfrm>
        </p:spPr>
        <p:txBody>
          <a:bodyPr>
            <a:normAutofit/>
          </a:bodyPr>
          <a:lstStyle/>
          <a:p>
            <a:r>
              <a:rPr lang="en-US" altLang="en-US" sz="2800" dirty="0"/>
              <a:t>Fixed Length (Occupy a Block of memory) [</a:t>
            </a:r>
            <a:r>
              <a:rPr lang="en-US" altLang="en-US" sz="2800" b="1" dirty="0">
                <a:solidFill>
                  <a:srgbClr val="FF0000"/>
                </a:solidFill>
              </a:rPr>
              <a:t>Are also called Dense List</a:t>
            </a:r>
            <a:r>
              <a:rPr lang="en-US" altLang="en-US" sz="2800" dirty="0"/>
              <a:t>]</a:t>
            </a:r>
          </a:p>
          <a:p>
            <a:pPr>
              <a:buFont typeface="Wingdings 2" panose="05020102010507070707" pitchFamily="18" charset="2"/>
              <a:buNone/>
            </a:pPr>
            <a:endParaRPr lang="en-US" altLang="en-US" sz="2800" dirty="0"/>
          </a:p>
          <a:p>
            <a:r>
              <a:rPr lang="en-US" altLang="en-US" sz="2800" dirty="0">
                <a:latin typeface="Comic Sans MS" panose="030F0702030302020204" pitchFamily="66" charset="0"/>
              </a:rPr>
              <a:t>To expand an Array</a:t>
            </a:r>
          </a:p>
          <a:p>
            <a:pPr lvl="1"/>
            <a:r>
              <a:rPr lang="en-US" altLang="en-US" sz="2400" dirty="0">
                <a:latin typeface="Comic Sans MS" panose="030F0702030302020204" pitchFamily="66" charset="0"/>
              </a:rPr>
              <a:t>create a new array, longer in size  and </a:t>
            </a:r>
          </a:p>
          <a:p>
            <a:pPr lvl="1"/>
            <a:r>
              <a:rPr lang="en-US" altLang="en-US" sz="2400" dirty="0">
                <a:latin typeface="Comic Sans MS" panose="030F0702030302020204" pitchFamily="66" charset="0"/>
              </a:rPr>
              <a:t>copy the contents of the old array into the new array</a:t>
            </a:r>
          </a:p>
          <a:p>
            <a:pPr lvl="1">
              <a:buFont typeface="Wingdings 2" panose="05020102010507070707" pitchFamily="18" charset="2"/>
              <a:buNone/>
            </a:pPr>
            <a:endParaRPr lang="en-US" altLang="en-US" sz="2400" dirty="0">
              <a:latin typeface="Comic Sans MS" panose="030F0702030302020204" pitchFamily="66" charset="0"/>
            </a:endParaRPr>
          </a:p>
          <a:p>
            <a:r>
              <a:rPr lang="en-US" altLang="en-US" sz="2800" dirty="0">
                <a:latin typeface="Comic Sans MS" panose="030F0702030302020204" pitchFamily="66" charset="0"/>
              </a:rPr>
              <a:t>Insertion or Deletion </a:t>
            </a:r>
            <a:endParaRPr lang="en-US" alt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9315-4A15-1056-9BD4-E1B162FDF3DD}"/>
              </a:ext>
            </a:extLst>
          </p:cNvPr>
          <p:cNvSpPr>
            <a:spLocks noGrp="1"/>
          </p:cNvSpPr>
          <p:nvPr>
            <p:ph type="title"/>
          </p:nvPr>
        </p:nvSpPr>
        <p:spPr>
          <a:xfrm>
            <a:off x="1676400" y="533400"/>
            <a:ext cx="8229600" cy="868363"/>
          </a:xfrm>
        </p:spPr>
        <p:txBody>
          <a:bodyPr/>
          <a:lstStyle/>
          <a:p>
            <a:pPr fontAlgn="auto">
              <a:spcAft>
                <a:spcPts val="0"/>
              </a:spcAft>
              <a:defRPr/>
            </a:pPr>
            <a:r>
              <a:rPr lang="en-US" dirty="0">
                <a:solidFill>
                  <a:schemeClr val="tx1">
                    <a:lumMod val="75000"/>
                    <a:lumOff val="25000"/>
                  </a:schemeClr>
                </a:solidFill>
              </a:rPr>
              <a:t>Solution </a:t>
            </a:r>
          </a:p>
        </p:txBody>
      </p:sp>
      <p:sp>
        <p:nvSpPr>
          <p:cNvPr id="13315" name="Content Placeholder 2">
            <a:extLst>
              <a:ext uri="{FF2B5EF4-FFF2-40B4-BE49-F238E27FC236}">
                <a16:creationId xmlns:a16="http://schemas.microsoft.com/office/drawing/2014/main" id="{DBE83EF1-68F0-276F-BB98-B03B4DF8D80A}"/>
              </a:ext>
            </a:extLst>
          </p:cNvPr>
          <p:cNvSpPr>
            <a:spLocks noGrp="1" noChangeArrowheads="1"/>
          </p:cNvSpPr>
          <p:nvPr>
            <p:ph idx="1"/>
          </p:nvPr>
        </p:nvSpPr>
        <p:spPr>
          <a:xfrm>
            <a:off x="1524000" y="1981200"/>
            <a:ext cx="9372600" cy="4343400"/>
          </a:xfrm>
        </p:spPr>
        <p:txBody>
          <a:bodyPr/>
          <a:lstStyle/>
          <a:p>
            <a:r>
              <a:rPr lang="en-US" altLang="en-US" sz="3200">
                <a:latin typeface="Times New Roman" panose="02020603050405020304" pitchFamily="18" charset="0"/>
                <a:cs typeface="Times New Roman" panose="02020603050405020304" pitchFamily="18" charset="0"/>
              </a:rPr>
              <a:t>Attach a pointer to each item in the array, which points to the next item</a:t>
            </a:r>
          </a:p>
          <a:p>
            <a:endParaRPr lang="en-US" altLang="en-US" sz="3200">
              <a:latin typeface="Times New Roman" panose="02020603050405020304" pitchFamily="18" charset="0"/>
              <a:cs typeface="Times New Roman" panose="02020603050405020304" pitchFamily="18" charset="0"/>
            </a:endParaRPr>
          </a:p>
          <a:p>
            <a:pPr lvl="1"/>
            <a:r>
              <a:rPr lang="en-US" altLang="en-US" sz="3200">
                <a:latin typeface="Times New Roman" panose="02020603050405020304" pitchFamily="18" charset="0"/>
                <a:cs typeface="Times New Roman" panose="02020603050405020304" pitchFamily="18" charset="0"/>
              </a:rPr>
              <a:t>This is a </a:t>
            </a:r>
            <a:r>
              <a:rPr lang="en-US" altLang="en-US" sz="3200" i="1">
                <a:latin typeface="Times New Roman" panose="02020603050405020304" pitchFamily="18" charset="0"/>
                <a:cs typeface="Times New Roman" panose="02020603050405020304" pitchFamily="18" charset="0"/>
              </a:rPr>
              <a:t>linked list</a:t>
            </a:r>
          </a:p>
          <a:p>
            <a:pPr lvl="1"/>
            <a:r>
              <a:rPr lang="en-US" altLang="en-US" sz="3200">
                <a:latin typeface="Times New Roman" panose="02020603050405020304" pitchFamily="18" charset="0"/>
                <a:cs typeface="Times New Roman" panose="02020603050405020304" pitchFamily="18" charset="0"/>
              </a:rPr>
              <a:t>A data item plus its pointer is called a </a:t>
            </a:r>
            <a:r>
              <a:rPr lang="en-US" altLang="en-US" sz="3200" b="1" i="1">
                <a:solidFill>
                  <a:srgbClr val="FF0000"/>
                </a:solidFill>
                <a:latin typeface="Times New Roman" panose="02020603050405020304" pitchFamily="18" charset="0"/>
                <a:cs typeface="Times New Roman" panose="02020603050405020304" pitchFamily="18" charset="0"/>
              </a:rPr>
              <a:t>node</a:t>
            </a:r>
            <a:endParaRPr lang="en-US" altLang="en-US" sz="3200" b="1">
              <a:solidFill>
                <a:srgbClr val="FF0000"/>
              </a:solidFill>
              <a:latin typeface="Times New Roman" panose="02020603050405020304" pitchFamily="18" charset="0"/>
              <a:cs typeface="Times New Roman" panose="02020603050405020304" pitchFamily="18" charset="0"/>
            </a:endParaRPr>
          </a:p>
          <a:p>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39CE9-84F3-D83E-466B-F2A7DA8A161F}"/>
              </a:ext>
            </a:extLst>
          </p:cNvPr>
          <p:cNvSpPr>
            <a:spLocks noGrp="1"/>
          </p:cNvSpPr>
          <p:nvPr>
            <p:ph type="title"/>
          </p:nvPr>
        </p:nvSpPr>
        <p:spPr>
          <a:xfrm>
            <a:off x="1981200" y="274638"/>
            <a:ext cx="8229600" cy="1096962"/>
          </a:xfrm>
        </p:spPr>
        <p:txBody>
          <a:bodyPr/>
          <a:lstStyle/>
          <a:p>
            <a:pPr fontAlgn="auto">
              <a:spcAft>
                <a:spcPts val="0"/>
              </a:spcAft>
              <a:defRPr/>
            </a:pPr>
            <a:r>
              <a:rPr lang="en-US" dirty="0">
                <a:solidFill>
                  <a:schemeClr val="tx1">
                    <a:lumMod val="75000"/>
                    <a:lumOff val="25000"/>
                  </a:schemeClr>
                </a:solidFill>
              </a:rPr>
              <a:t>Linked List </a:t>
            </a:r>
          </a:p>
        </p:txBody>
      </p:sp>
      <p:sp>
        <p:nvSpPr>
          <p:cNvPr id="14339" name="Content Placeholder 2">
            <a:extLst>
              <a:ext uri="{FF2B5EF4-FFF2-40B4-BE49-F238E27FC236}">
                <a16:creationId xmlns:a16="http://schemas.microsoft.com/office/drawing/2014/main" id="{E7EBF1D4-A057-BD21-11CA-44CC9DC9EC99}"/>
              </a:ext>
            </a:extLst>
          </p:cNvPr>
          <p:cNvSpPr>
            <a:spLocks noGrp="1" noChangeArrowheads="1"/>
          </p:cNvSpPr>
          <p:nvPr>
            <p:ph idx="1"/>
          </p:nvPr>
        </p:nvSpPr>
        <p:spPr/>
        <p:txBody>
          <a:bodyPr/>
          <a:lstStyle/>
          <a:p>
            <a:endParaRPr lang="en-US" altLang="en-US" dirty="0">
              <a:latin typeface="Comic Sans MS" panose="030F0702030302020204" pitchFamily="66" charset="0"/>
            </a:endParaRPr>
          </a:p>
          <a:p>
            <a:r>
              <a:rPr lang="en-US" altLang="en-US" sz="3200" dirty="0">
                <a:solidFill>
                  <a:schemeClr val="tx1"/>
                </a:solidFill>
                <a:latin typeface="Times New Roman" panose="02020603050405020304" pitchFamily="18" charset="0"/>
                <a:cs typeface="Times New Roman" panose="02020603050405020304" pitchFamily="18" charset="0"/>
              </a:rPr>
              <a:t>A linked list, or one-way list, is a linear collection of data elements , called </a:t>
            </a:r>
            <a:r>
              <a:rPr lang="en-US" altLang="en-US" sz="3200" b="1" dirty="0">
                <a:solidFill>
                  <a:schemeClr val="tx1"/>
                </a:solidFill>
                <a:latin typeface="Times New Roman" panose="02020603050405020304" pitchFamily="18" charset="0"/>
                <a:cs typeface="Times New Roman" panose="02020603050405020304" pitchFamily="18" charset="0"/>
              </a:rPr>
              <a:t>nodes</a:t>
            </a:r>
            <a:r>
              <a:rPr lang="en-US" altLang="en-US" sz="3200" dirty="0">
                <a:solidFill>
                  <a:schemeClr val="tx1"/>
                </a:solidFill>
                <a:latin typeface="Times New Roman" panose="02020603050405020304" pitchFamily="18" charset="0"/>
                <a:cs typeface="Times New Roman" panose="02020603050405020304" pitchFamily="18" charset="0"/>
              </a:rPr>
              <a:t>, where the linear order is given by means of </a:t>
            </a:r>
            <a:r>
              <a:rPr lang="en-US" altLang="en-US" sz="3200" b="1" dirty="0">
                <a:solidFill>
                  <a:schemeClr val="tx1"/>
                </a:solidFill>
                <a:latin typeface="Times New Roman" panose="02020603050405020304" pitchFamily="18" charset="0"/>
                <a:cs typeface="Times New Roman" panose="02020603050405020304" pitchFamily="18" charset="0"/>
              </a:rPr>
              <a:t>pointer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39CE9-84F3-D83E-466B-F2A7DA8A161F}"/>
              </a:ext>
            </a:extLst>
          </p:cNvPr>
          <p:cNvSpPr>
            <a:spLocks noGrp="1"/>
          </p:cNvSpPr>
          <p:nvPr>
            <p:ph type="title"/>
          </p:nvPr>
        </p:nvSpPr>
        <p:spPr>
          <a:xfrm>
            <a:off x="1981200" y="274638"/>
            <a:ext cx="8229600" cy="1096962"/>
          </a:xfrm>
        </p:spPr>
        <p:txBody>
          <a:bodyPr/>
          <a:lstStyle/>
          <a:p>
            <a:pPr fontAlgn="auto">
              <a:spcAft>
                <a:spcPts val="0"/>
              </a:spcAft>
              <a:defRPr/>
            </a:pPr>
            <a:r>
              <a:rPr lang="en-US" dirty="0">
                <a:solidFill>
                  <a:schemeClr val="tx1">
                    <a:lumMod val="75000"/>
                    <a:lumOff val="25000"/>
                  </a:schemeClr>
                </a:solidFill>
              </a:rPr>
              <a:t>Linked List </a:t>
            </a:r>
          </a:p>
        </p:txBody>
      </p:sp>
      <p:sp>
        <p:nvSpPr>
          <p:cNvPr id="4" name="TextBox 3">
            <a:extLst>
              <a:ext uri="{FF2B5EF4-FFF2-40B4-BE49-F238E27FC236}">
                <a16:creationId xmlns:a16="http://schemas.microsoft.com/office/drawing/2014/main" id="{5296CE1A-DF35-55A0-F072-BE6955F9AE2D}"/>
              </a:ext>
            </a:extLst>
          </p:cNvPr>
          <p:cNvSpPr txBox="1"/>
          <p:nvPr/>
        </p:nvSpPr>
        <p:spPr>
          <a:xfrm>
            <a:off x="1244575" y="2286000"/>
            <a:ext cx="10182090" cy="2062103"/>
          </a:xfrm>
          <a:prstGeom prst="rect">
            <a:avLst/>
          </a:prstGeom>
          <a:noFill/>
        </p:spPr>
        <p:txBody>
          <a:bodyPr wrap="square" rtlCol="0">
            <a:spAutoFit/>
          </a:bodyPr>
          <a:lstStyle/>
          <a:p>
            <a:pPr marL="285750" indent="-285750">
              <a:buFont typeface="Arial" panose="020B0604020202020204" pitchFamily="34" charset="0"/>
              <a:buChar char="•"/>
            </a:pPr>
            <a:r>
              <a:rPr lang="en-US" sz="3200" dirty="0"/>
              <a:t>A linked list is a linear data structure, in which the elements are not stored at contiguous memory locations.</a:t>
            </a:r>
          </a:p>
          <a:p>
            <a:pPr marL="285750" indent="-285750">
              <a:buFont typeface="Arial" panose="020B0604020202020204" pitchFamily="34" charset="0"/>
              <a:buChar char="•"/>
            </a:pPr>
            <a:r>
              <a:rPr lang="en-US" sz="3200" dirty="0"/>
              <a:t>The elements in a linked list are linked using pointers (entity that points to the next element)</a:t>
            </a:r>
          </a:p>
        </p:txBody>
      </p:sp>
    </p:spTree>
    <p:extLst>
      <p:ext uri="{BB962C8B-B14F-4D97-AF65-F5344CB8AC3E}">
        <p14:creationId xmlns:p14="http://schemas.microsoft.com/office/powerpoint/2010/main" val="2850124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81948-9294-5BB7-F851-E87260E1255A}"/>
              </a:ext>
            </a:extLst>
          </p:cNvPr>
          <p:cNvSpPr>
            <a:spLocks noGrp="1"/>
          </p:cNvSpPr>
          <p:nvPr>
            <p:ph type="title"/>
          </p:nvPr>
        </p:nvSpPr>
        <p:spPr>
          <a:xfrm>
            <a:off x="1143000" y="539750"/>
            <a:ext cx="9245600" cy="1143000"/>
          </a:xfrm>
        </p:spPr>
        <p:txBody>
          <a:bodyPr lIns="73399" tIns="36699" rIns="73399" bIns="36699"/>
          <a:lstStyle/>
          <a:p>
            <a:pPr fontAlgn="auto">
              <a:spcAft>
                <a:spcPts val="0"/>
              </a:spcAft>
              <a:defRPr/>
            </a:pPr>
            <a:r>
              <a:rPr lang="en-US" dirty="0">
                <a:solidFill>
                  <a:schemeClr val="tx1">
                    <a:lumMod val="75000"/>
                    <a:lumOff val="25000"/>
                  </a:schemeClr>
                </a:solidFill>
                <a:latin typeface="Algerian" pitchFamily="82" charset="0"/>
              </a:rPr>
              <a:t>Linked</a:t>
            </a:r>
            <a:r>
              <a:rPr lang="en-US" dirty="0">
                <a:solidFill>
                  <a:schemeClr val="tx1">
                    <a:lumMod val="75000"/>
                    <a:lumOff val="25000"/>
                  </a:schemeClr>
                </a:solidFill>
              </a:rPr>
              <a:t> </a:t>
            </a:r>
            <a:r>
              <a:rPr lang="en-US" dirty="0">
                <a:solidFill>
                  <a:schemeClr val="tx1">
                    <a:lumMod val="75000"/>
                    <a:lumOff val="25000"/>
                  </a:schemeClr>
                </a:solidFill>
                <a:latin typeface="Algerian" pitchFamily="82" charset="0"/>
              </a:rPr>
              <a:t>List</a:t>
            </a:r>
          </a:p>
        </p:txBody>
      </p:sp>
      <p:sp>
        <p:nvSpPr>
          <p:cNvPr id="20483" name="Content Placeholder 2">
            <a:extLst>
              <a:ext uri="{FF2B5EF4-FFF2-40B4-BE49-F238E27FC236}">
                <a16:creationId xmlns:a16="http://schemas.microsoft.com/office/drawing/2014/main" id="{18CCAFA2-24B6-DCC7-52B9-97357E621C66}"/>
              </a:ext>
            </a:extLst>
          </p:cNvPr>
          <p:cNvSpPr>
            <a:spLocks noGrp="1" noChangeArrowheads="1"/>
          </p:cNvSpPr>
          <p:nvPr>
            <p:ph idx="1"/>
          </p:nvPr>
        </p:nvSpPr>
        <p:spPr>
          <a:xfrm>
            <a:off x="1143000" y="1858963"/>
            <a:ext cx="9224963" cy="4313237"/>
          </a:xfrm>
        </p:spPr>
        <p:txBody>
          <a:bodyPr lIns="73399" tIns="36699" rIns="73399" bIns="36699">
            <a:normAutofit/>
          </a:bodyPr>
          <a:lstStyle/>
          <a:p>
            <a:pPr algn="just">
              <a:buFont typeface="Wingdings" panose="05000000000000000000" pitchFamily="2" charset="2"/>
              <a:buChar char="Ø"/>
            </a:pPr>
            <a:r>
              <a:rPr lang="en-US" altLang="en-US" sz="2800" dirty="0">
                <a:solidFill>
                  <a:schemeClr val="tx1"/>
                </a:solidFill>
              </a:rPr>
              <a:t>A linked list is a series of connected </a:t>
            </a:r>
            <a:r>
              <a:rPr lang="en-US" altLang="en-US" sz="2800" i="1" dirty="0">
                <a:solidFill>
                  <a:schemeClr val="tx1"/>
                </a:solidFill>
              </a:rPr>
              <a:t>nodes</a:t>
            </a:r>
            <a:r>
              <a:rPr lang="en-US" altLang="en-US" sz="2800" dirty="0">
                <a:solidFill>
                  <a:schemeClr val="tx1"/>
                </a:solidFill>
              </a:rPr>
              <a:t>, where each node is a data structure. A linked list can grow or shrink in size as the program runs.</a:t>
            </a:r>
          </a:p>
          <a:p>
            <a:pPr algn="just">
              <a:buFont typeface="Wingdings" panose="05000000000000000000" pitchFamily="2" charset="2"/>
              <a:buChar char="Ø"/>
            </a:pPr>
            <a:r>
              <a:rPr lang="en-US" altLang="en-US" sz="2800" dirty="0">
                <a:solidFill>
                  <a:schemeClr val="tx1"/>
                </a:solidFill>
              </a:rPr>
              <a:t>If new data need to be added to a linked list, the program simply allocates another node and inserts it into the series. </a:t>
            </a:r>
          </a:p>
          <a:p>
            <a:pPr algn="just">
              <a:buFont typeface="Wingdings" panose="05000000000000000000" pitchFamily="2" charset="2"/>
              <a:buChar char="Ø"/>
            </a:pPr>
            <a:r>
              <a:rPr lang="en-US" altLang="en-US" sz="2800" dirty="0">
                <a:solidFill>
                  <a:schemeClr val="tx1"/>
                </a:solidFill>
              </a:rPr>
              <a:t>If a particular piece of data needs to be removed from the linked list, the program deletes the node containing that data.</a:t>
            </a:r>
          </a:p>
        </p:txBody>
      </p:sp>
    </p:spTree>
    <p:extLst>
      <p:ext uri="{BB962C8B-B14F-4D97-AF65-F5344CB8AC3E}">
        <p14:creationId xmlns:p14="http://schemas.microsoft.com/office/powerpoint/2010/main" val="1694285994"/>
      </p:ext>
    </p:extLst>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8C208-F1C7-CF1F-685C-0CEB6756858B}"/>
              </a:ext>
            </a:extLst>
          </p:cNvPr>
          <p:cNvSpPr>
            <a:spLocks noGrp="1"/>
          </p:cNvSpPr>
          <p:nvPr>
            <p:ph type="title"/>
          </p:nvPr>
        </p:nvSpPr>
        <p:spPr/>
        <p:txBody>
          <a:bodyPr/>
          <a:lstStyle/>
          <a:p>
            <a:pPr fontAlgn="auto">
              <a:spcAft>
                <a:spcPts val="0"/>
              </a:spcAft>
              <a:defRPr/>
            </a:pPr>
            <a:r>
              <a:rPr lang="en-US" dirty="0">
                <a:solidFill>
                  <a:schemeClr val="tx1">
                    <a:lumMod val="75000"/>
                    <a:lumOff val="25000"/>
                  </a:schemeClr>
                </a:solidFill>
              </a:rPr>
              <a:t>Linked List </a:t>
            </a:r>
          </a:p>
        </p:txBody>
      </p:sp>
      <p:sp>
        <p:nvSpPr>
          <p:cNvPr id="15363" name="Content Placeholder 2">
            <a:extLst>
              <a:ext uri="{FF2B5EF4-FFF2-40B4-BE49-F238E27FC236}">
                <a16:creationId xmlns:a16="http://schemas.microsoft.com/office/drawing/2014/main" id="{D69129F4-9DE5-2444-ADED-B287A24001C1}"/>
              </a:ext>
            </a:extLst>
          </p:cNvPr>
          <p:cNvSpPr>
            <a:spLocks noGrp="1" noChangeArrowheads="1"/>
          </p:cNvSpPr>
          <p:nvPr>
            <p:ph idx="1"/>
          </p:nvPr>
        </p:nvSpPr>
        <p:spPr>
          <a:xfrm>
            <a:off x="1096962" y="1846263"/>
            <a:ext cx="10637837" cy="4022725"/>
          </a:xfrm>
        </p:spPr>
        <p:txBody>
          <a:bodyPr>
            <a:normAutofit/>
          </a:bodyPr>
          <a:lstStyle/>
          <a:p>
            <a:r>
              <a:rPr lang="en-US" altLang="en-US" sz="2800" dirty="0">
                <a:solidFill>
                  <a:schemeClr val="tx1"/>
                </a:solidFill>
              </a:rPr>
              <a:t>Linked list consists of nodes where each node contains a data field and a reference(link) to the next node in the list.</a:t>
            </a:r>
          </a:p>
          <a:p>
            <a:r>
              <a:rPr lang="en-US" altLang="en-US" sz="2800" dirty="0">
                <a:solidFill>
                  <a:schemeClr val="tx1"/>
                </a:solidFill>
              </a:rPr>
              <a:t>Each node is divided into two parts</a:t>
            </a:r>
          </a:p>
          <a:p>
            <a:pPr lvl="1"/>
            <a:r>
              <a:rPr lang="en-US" altLang="en-US" sz="2400" dirty="0">
                <a:solidFill>
                  <a:schemeClr val="tx1"/>
                </a:solidFill>
              </a:rPr>
              <a:t>First part contains the </a:t>
            </a:r>
            <a:r>
              <a:rPr lang="en-US" altLang="en-US" sz="2400" b="1" dirty="0">
                <a:solidFill>
                  <a:srgbClr val="FF0000"/>
                </a:solidFill>
              </a:rPr>
              <a:t>information</a:t>
            </a:r>
            <a:r>
              <a:rPr lang="en-US" altLang="en-US" sz="2400" dirty="0"/>
              <a:t> </a:t>
            </a:r>
            <a:r>
              <a:rPr lang="en-US" altLang="en-US" sz="2400" dirty="0">
                <a:solidFill>
                  <a:schemeClr val="tx1"/>
                </a:solidFill>
              </a:rPr>
              <a:t>of the element, and </a:t>
            </a:r>
          </a:p>
          <a:p>
            <a:pPr lvl="1"/>
            <a:r>
              <a:rPr lang="en-US" altLang="en-US" sz="2400" dirty="0">
                <a:solidFill>
                  <a:schemeClr val="tx1"/>
                </a:solidFill>
              </a:rPr>
              <a:t>Second part called the </a:t>
            </a:r>
            <a:r>
              <a:rPr lang="en-US" altLang="en-US" sz="2400" b="1" dirty="0">
                <a:solidFill>
                  <a:srgbClr val="FF0000"/>
                </a:solidFill>
              </a:rPr>
              <a:t>link field </a:t>
            </a:r>
            <a:r>
              <a:rPr lang="en-US" altLang="en-US" sz="2400" dirty="0">
                <a:solidFill>
                  <a:schemeClr val="tx1"/>
                </a:solidFill>
              </a:rPr>
              <a:t>or </a:t>
            </a:r>
            <a:r>
              <a:rPr lang="en-US" altLang="en-US" sz="2400" b="1" dirty="0">
                <a:solidFill>
                  <a:srgbClr val="FF0000"/>
                </a:solidFill>
              </a:rPr>
              <a:t>next pointer field </a:t>
            </a:r>
            <a:r>
              <a:rPr lang="en-US" altLang="en-US" sz="2400" dirty="0">
                <a:solidFill>
                  <a:schemeClr val="tx1"/>
                </a:solidFill>
              </a:rPr>
              <a:t>contains the address of the next node in the list. </a:t>
            </a:r>
          </a:p>
          <a:p>
            <a:pPr marL="200025" lvl="1" indent="0">
              <a:buNone/>
            </a:pPr>
            <a:r>
              <a:rPr lang="en-US" sz="2400" dirty="0">
                <a:solidFill>
                  <a:schemeClr val="tx1"/>
                </a:solidFill>
              </a:rPr>
              <a:t>Linked list is the second most-used data structure after array.</a:t>
            </a:r>
          </a:p>
          <a:p>
            <a:pPr marL="200025" lvl="1" indent="0">
              <a:buNone/>
            </a:pPr>
            <a:endParaRPr lang="en-US" altLang="en-US" sz="3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4C1D762B-F6E6-964E-0BF9-08A38599FDBC}"/>
              </a:ext>
            </a:extLst>
          </p:cNvPr>
          <p:cNvSpPr>
            <a:spLocks noGrp="1" noChangeArrowheads="1"/>
          </p:cNvSpPr>
          <p:nvPr>
            <p:ph type="title"/>
          </p:nvPr>
        </p:nvSpPr>
        <p:spPr>
          <a:xfrm>
            <a:off x="1490663" y="673100"/>
            <a:ext cx="8229600" cy="868363"/>
          </a:xfrm>
        </p:spPr>
        <p:txBody>
          <a:bodyPr/>
          <a:lstStyle/>
          <a:p>
            <a:pPr fontAlgn="auto">
              <a:spcAft>
                <a:spcPts val="0"/>
              </a:spcAft>
              <a:defRPr/>
            </a:pPr>
            <a:r>
              <a:rPr lang="en-US" altLang="zh-CN" sz="4000" dirty="0">
                <a:solidFill>
                  <a:schemeClr val="tx1">
                    <a:lumMod val="75000"/>
                    <a:lumOff val="25000"/>
                  </a:schemeClr>
                </a:solidFill>
              </a:rPr>
              <a:t>Linked Lists</a:t>
            </a:r>
          </a:p>
        </p:txBody>
      </p:sp>
      <p:sp>
        <p:nvSpPr>
          <p:cNvPr id="17411" name="Rectangle 3">
            <a:extLst>
              <a:ext uri="{FF2B5EF4-FFF2-40B4-BE49-F238E27FC236}">
                <a16:creationId xmlns:a16="http://schemas.microsoft.com/office/drawing/2014/main" id="{FA45E19B-1535-6BB9-7BF6-719EA46E8455}"/>
              </a:ext>
            </a:extLst>
          </p:cNvPr>
          <p:cNvSpPr>
            <a:spLocks noGrp="1" noChangeArrowheads="1"/>
          </p:cNvSpPr>
          <p:nvPr>
            <p:ph idx="1"/>
          </p:nvPr>
        </p:nvSpPr>
        <p:spPr>
          <a:xfrm>
            <a:off x="1600200" y="3405188"/>
            <a:ext cx="7848600" cy="3276600"/>
          </a:xfrm>
        </p:spPr>
        <p:txBody>
          <a:bodyPr/>
          <a:lstStyle/>
          <a:p>
            <a:endParaRPr lang="en-US" altLang="zh-CN" dirty="0"/>
          </a:p>
          <a:p>
            <a:r>
              <a:rPr lang="en-US" altLang="zh-CN" sz="3600" dirty="0">
                <a:solidFill>
                  <a:schemeClr val="tx1"/>
                </a:solidFill>
              </a:rPr>
              <a:t>Each node contains at least</a:t>
            </a:r>
          </a:p>
          <a:p>
            <a:pPr lvl="1"/>
            <a:r>
              <a:rPr lang="en-US" altLang="zh-CN" sz="3200" dirty="0">
                <a:solidFill>
                  <a:schemeClr val="tx1"/>
                </a:solidFill>
              </a:rPr>
              <a:t>A piece of data (any type)</a:t>
            </a:r>
          </a:p>
          <a:p>
            <a:pPr lvl="1"/>
            <a:r>
              <a:rPr lang="en-US" altLang="zh-CN" sz="3200" dirty="0">
                <a:solidFill>
                  <a:schemeClr val="tx1"/>
                </a:solidFill>
              </a:rPr>
              <a:t>Pointer to the next node in the list</a:t>
            </a:r>
          </a:p>
        </p:txBody>
      </p:sp>
      <p:grpSp>
        <p:nvGrpSpPr>
          <p:cNvPr id="17412" name="Group 33">
            <a:extLst>
              <a:ext uri="{FF2B5EF4-FFF2-40B4-BE49-F238E27FC236}">
                <a16:creationId xmlns:a16="http://schemas.microsoft.com/office/drawing/2014/main" id="{19CEE86E-76C7-4CCD-97B2-AF7AC26EBB01}"/>
              </a:ext>
            </a:extLst>
          </p:cNvPr>
          <p:cNvGrpSpPr>
            <a:grpSpLocks/>
          </p:cNvGrpSpPr>
          <p:nvPr/>
        </p:nvGrpSpPr>
        <p:grpSpPr bwMode="auto">
          <a:xfrm>
            <a:off x="3276600" y="1981200"/>
            <a:ext cx="5886450" cy="1651000"/>
            <a:chOff x="5791200" y="3962400"/>
            <a:chExt cx="3352800" cy="1651575"/>
          </a:xfrm>
        </p:grpSpPr>
        <p:sp>
          <p:nvSpPr>
            <p:cNvPr id="17413" name="Rectangle 54">
              <a:extLst>
                <a:ext uri="{FF2B5EF4-FFF2-40B4-BE49-F238E27FC236}">
                  <a16:creationId xmlns:a16="http://schemas.microsoft.com/office/drawing/2014/main" id="{D70BF1FC-DA97-8F44-5561-30027CCBA76C}"/>
                </a:ext>
              </a:extLst>
            </p:cNvPr>
            <p:cNvSpPr>
              <a:spLocks noChangeArrowheads="1"/>
            </p:cNvSpPr>
            <p:nvPr/>
          </p:nvSpPr>
          <p:spPr bwMode="auto">
            <a:xfrm>
              <a:off x="5791200" y="3962400"/>
              <a:ext cx="3352800" cy="1600200"/>
            </a:xfrm>
            <a:prstGeom prst="rect">
              <a:avLst/>
            </a:prstGeom>
            <a:noFill/>
            <a:ln w="31750">
              <a:solidFill>
                <a:schemeClr val="fo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sz="2400">
                <a:latin typeface="Times New Roman" panose="02020603050405020304" pitchFamily="18" charset="0"/>
                <a:cs typeface="Arial" panose="020B0604020202020204" pitchFamily="34" charset="0"/>
              </a:endParaRPr>
            </a:p>
          </p:txBody>
        </p:sp>
        <p:grpSp>
          <p:nvGrpSpPr>
            <p:cNvPr id="17414" name="Group 34">
              <a:extLst>
                <a:ext uri="{FF2B5EF4-FFF2-40B4-BE49-F238E27FC236}">
                  <a16:creationId xmlns:a16="http://schemas.microsoft.com/office/drawing/2014/main" id="{11D02E1C-35E2-969C-F157-DAC2B841AF1E}"/>
                </a:ext>
              </a:extLst>
            </p:cNvPr>
            <p:cNvGrpSpPr>
              <a:grpSpLocks/>
            </p:cNvGrpSpPr>
            <p:nvPr/>
          </p:nvGrpSpPr>
          <p:grpSpPr bwMode="auto">
            <a:xfrm>
              <a:off x="5801810" y="4038600"/>
              <a:ext cx="3342190" cy="1575375"/>
              <a:chOff x="5725610" y="5119688"/>
              <a:chExt cx="3342190" cy="1575375"/>
            </a:xfrm>
          </p:grpSpPr>
          <p:grpSp>
            <p:nvGrpSpPr>
              <p:cNvPr id="17415" name="Group 33">
                <a:extLst>
                  <a:ext uri="{FF2B5EF4-FFF2-40B4-BE49-F238E27FC236}">
                    <a16:creationId xmlns:a16="http://schemas.microsoft.com/office/drawing/2014/main" id="{47F89C69-2CBB-B80A-9C83-74A43BE10CA5}"/>
                  </a:ext>
                </a:extLst>
              </p:cNvPr>
              <p:cNvGrpSpPr>
                <a:grpSpLocks/>
              </p:cNvGrpSpPr>
              <p:nvPr/>
            </p:nvGrpSpPr>
            <p:grpSpPr bwMode="auto">
              <a:xfrm>
                <a:off x="5725610" y="5119688"/>
                <a:ext cx="2987233" cy="1575375"/>
                <a:chOff x="5725610" y="5119688"/>
                <a:chExt cx="2987233" cy="1575375"/>
              </a:xfrm>
            </p:grpSpPr>
            <p:sp>
              <p:nvSpPr>
                <p:cNvPr id="17422" name="Text Box 51">
                  <a:extLst>
                    <a:ext uri="{FF2B5EF4-FFF2-40B4-BE49-F238E27FC236}">
                      <a16:creationId xmlns:a16="http://schemas.microsoft.com/office/drawing/2014/main" id="{5B2FE930-B707-56DB-1C59-1BA1DF872566}"/>
                    </a:ext>
                  </a:extLst>
                </p:cNvPr>
                <p:cNvSpPr txBox="1">
                  <a:spLocks noChangeArrowheads="1"/>
                </p:cNvSpPr>
                <p:nvPr/>
              </p:nvSpPr>
              <p:spPr bwMode="auto">
                <a:xfrm>
                  <a:off x="6781800" y="6110288"/>
                  <a:ext cx="685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buFont typeface="Monotype Sorts"/>
                    <a:buNone/>
                  </a:pPr>
                  <a:r>
                    <a:rPr lang="en-US" altLang="zh-CN" sz="3200" b="1">
                      <a:latin typeface="Times New Roman" panose="02020603050405020304" pitchFamily="18" charset="0"/>
                      <a:cs typeface="Arial" panose="020B0604020202020204" pitchFamily="34" charset="0"/>
                    </a:rPr>
                    <a:t>data</a:t>
                  </a:r>
                </a:p>
              </p:txBody>
            </p:sp>
            <p:sp>
              <p:nvSpPr>
                <p:cNvPr id="17423" name="Text Box 53">
                  <a:extLst>
                    <a:ext uri="{FF2B5EF4-FFF2-40B4-BE49-F238E27FC236}">
                      <a16:creationId xmlns:a16="http://schemas.microsoft.com/office/drawing/2014/main" id="{A2F045B9-FD76-A791-62A5-35855CAD7688}"/>
                    </a:ext>
                  </a:extLst>
                </p:cNvPr>
                <p:cNvSpPr txBox="1">
                  <a:spLocks noChangeArrowheads="1"/>
                </p:cNvSpPr>
                <p:nvPr/>
              </p:nvSpPr>
              <p:spPr bwMode="auto">
                <a:xfrm>
                  <a:off x="7722243" y="6110288"/>
                  <a:ext cx="990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buFont typeface="Monotype Sorts"/>
                    <a:buNone/>
                  </a:pPr>
                  <a:r>
                    <a:rPr lang="en-US" altLang="zh-CN" sz="3200">
                      <a:latin typeface="Times New Roman" panose="02020603050405020304" pitchFamily="18" charset="0"/>
                      <a:cs typeface="Arial" panose="020B0604020202020204" pitchFamily="34" charset="0"/>
                    </a:rPr>
                    <a:t>pointer</a:t>
                  </a:r>
                </a:p>
              </p:txBody>
            </p:sp>
            <p:sp>
              <p:nvSpPr>
                <p:cNvPr id="17424" name="Text Box 55">
                  <a:extLst>
                    <a:ext uri="{FF2B5EF4-FFF2-40B4-BE49-F238E27FC236}">
                      <a16:creationId xmlns:a16="http://schemas.microsoft.com/office/drawing/2014/main" id="{A076FB0B-DC8A-4C14-66BF-73D653BB65C4}"/>
                    </a:ext>
                  </a:extLst>
                </p:cNvPr>
                <p:cNvSpPr txBox="1">
                  <a:spLocks noChangeArrowheads="1"/>
                </p:cNvSpPr>
                <p:nvPr/>
              </p:nvSpPr>
              <p:spPr bwMode="auto">
                <a:xfrm>
                  <a:off x="5725610" y="5119688"/>
                  <a:ext cx="13156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buFont typeface="Monotype Sorts"/>
                    <a:buNone/>
                  </a:pPr>
                  <a:r>
                    <a:rPr lang="en-US" altLang="zh-CN" sz="3200" b="1">
                      <a:latin typeface="Times New Roman" panose="02020603050405020304" pitchFamily="18" charset="0"/>
                      <a:cs typeface="Arial" panose="020B0604020202020204" pitchFamily="34" charset="0"/>
                    </a:rPr>
                    <a:t>node</a:t>
                  </a:r>
                </a:p>
              </p:txBody>
            </p:sp>
          </p:grpSp>
          <p:grpSp>
            <p:nvGrpSpPr>
              <p:cNvPr id="17416" name="Group 32">
                <a:extLst>
                  <a:ext uri="{FF2B5EF4-FFF2-40B4-BE49-F238E27FC236}">
                    <a16:creationId xmlns:a16="http://schemas.microsoft.com/office/drawing/2014/main" id="{626C5079-EE70-8960-AEA2-3DB77676FD24}"/>
                  </a:ext>
                </a:extLst>
              </p:cNvPr>
              <p:cNvGrpSpPr>
                <a:grpSpLocks/>
              </p:cNvGrpSpPr>
              <p:nvPr/>
            </p:nvGrpSpPr>
            <p:grpSpPr bwMode="auto">
              <a:xfrm>
                <a:off x="6578600" y="5422900"/>
                <a:ext cx="2489200" cy="609600"/>
                <a:chOff x="6578600" y="5422900"/>
                <a:chExt cx="2489200" cy="609600"/>
              </a:xfrm>
            </p:grpSpPr>
            <p:sp>
              <p:nvSpPr>
                <p:cNvPr id="17417" name="Rectangle 43">
                  <a:extLst>
                    <a:ext uri="{FF2B5EF4-FFF2-40B4-BE49-F238E27FC236}">
                      <a16:creationId xmlns:a16="http://schemas.microsoft.com/office/drawing/2014/main" id="{AF3D3F0B-ACB2-5615-E9C8-97301A3AF307}"/>
                    </a:ext>
                  </a:extLst>
                </p:cNvPr>
                <p:cNvSpPr>
                  <a:spLocks noChangeArrowheads="1"/>
                </p:cNvSpPr>
                <p:nvPr/>
              </p:nvSpPr>
              <p:spPr bwMode="auto">
                <a:xfrm>
                  <a:off x="7645400" y="5422900"/>
                  <a:ext cx="914400" cy="609600"/>
                </a:xfrm>
                <a:prstGeom prst="rect">
                  <a:avLst/>
                </a:prstGeom>
                <a:solidFill>
                  <a:schemeClr val="accent1"/>
                </a:solidFill>
                <a:ln w="2857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sz="2400">
                    <a:latin typeface="Times New Roman" panose="02020603050405020304" pitchFamily="18" charset="0"/>
                    <a:cs typeface="Arial" panose="020B0604020202020204" pitchFamily="34" charset="0"/>
                  </a:endParaRPr>
                </a:p>
              </p:txBody>
            </p:sp>
            <p:grpSp>
              <p:nvGrpSpPr>
                <p:cNvPr id="17418" name="Group 44">
                  <a:extLst>
                    <a:ext uri="{FF2B5EF4-FFF2-40B4-BE49-F238E27FC236}">
                      <a16:creationId xmlns:a16="http://schemas.microsoft.com/office/drawing/2014/main" id="{F5B63344-C719-BFD7-F6A3-A3177D78ED61}"/>
                    </a:ext>
                  </a:extLst>
                </p:cNvPr>
                <p:cNvGrpSpPr>
                  <a:grpSpLocks/>
                </p:cNvGrpSpPr>
                <p:nvPr/>
              </p:nvGrpSpPr>
              <p:grpSpPr bwMode="auto">
                <a:xfrm>
                  <a:off x="6578600" y="5422900"/>
                  <a:ext cx="1066800" cy="609600"/>
                  <a:chOff x="1728" y="2880"/>
                  <a:chExt cx="384" cy="384"/>
                </a:xfrm>
              </p:grpSpPr>
              <p:sp>
                <p:nvSpPr>
                  <p:cNvPr id="17420" name="Rectangle 45">
                    <a:extLst>
                      <a:ext uri="{FF2B5EF4-FFF2-40B4-BE49-F238E27FC236}">
                        <a16:creationId xmlns:a16="http://schemas.microsoft.com/office/drawing/2014/main" id="{DB1B55AA-57B9-3CB5-E5A0-2748DE5390E2}"/>
                      </a:ext>
                    </a:extLst>
                  </p:cNvPr>
                  <p:cNvSpPr>
                    <a:spLocks noChangeArrowheads="1"/>
                  </p:cNvSpPr>
                  <p:nvPr/>
                </p:nvSpPr>
                <p:spPr bwMode="auto">
                  <a:xfrm>
                    <a:off x="1728" y="2880"/>
                    <a:ext cx="384" cy="384"/>
                  </a:xfrm>
                  <a:prstGeom prst="rect">
                    <a:avLst/>
                  </a:prstGeom>
                  <a:solidFill>
                    <a:schemeClr val="folHlink"/>
                  </a:solidFill>
                  <a:ln w="2857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sz="2400">
                      <a:latin typeface="Times New Roman" panose="02020603050405020304" pitchFamily="18" charset="0"/>
                      <a:cs typeface="Arial" panose="020B0604020202020204" pitchFamily="34" charset="0"/>
                    </a:endParaRPr>
                  </a:p>
                </p:txBody>
              </p:sp>
              <p:sp>
                <p:nvSpPr>
                  <p:cNvPr id="17421" name="Text Box 46">
                    <a:extLst>
                      <a:ext uri="{FF2B5EF4-FFF2-40B4-BE49-F238E27FC236}">
                        <a16:creationId xmlns:a16="http://schemas.microsoft.com/office/drawing/2014/main" id="{12E044A4-B331-0A2B-4166-65EAC5601592}"/>
                      </a:ext>
                    </a:extLst>
                  </p:cNvPr>
                  <p:cNvSpPr txBox="1">
                    <a:spLocks noChangeArrowheads="1"/>
                  </p:cNvSpPr>
                  <p:nvPr/>
                </p:nvSpPr>
                <p:spPr bwMode="auto">
                  <a:xfrm>
                    <a:off x="1893" y="2966"/>
                    <a:ext cx="7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zh-CN" sz="2400">
                        <a:solidFill>
                          <a:schemeClr val="bg1"/>
                        </a:solidFill>
                        <a:latin typeface="Tahoma" panose="020B0604030504040204" pitchFamily="34" charset="0"/>
                        <a:cs typeface="Arial" panose="020B0604020202020204" pitchFamily="34" charset="0"/>
                      </a:rPr>
                      <a:t>A</a:t>
                    </a:r>
                  </a:p>
                </p:txBody>
              </p:sp>
            </p:grpSp>
            <p:sp>
              <p:nvSpPr>
                <p:cNvPr id="17419" name="Line 56">
                  <a:extLst>
                    <a:ext uri="{FF2B5EF4-FFF2-40B4-BE49-F238E27FC236}">
                      <a16:creationId xmlns:a16="http://schemas.microsoft.com/office/drawing/2014/main" id="{BCFDCDDA-A994-AA2C-9F0E-B331D0935ADA}"/>
                    </a:ext>
                  </a:extLst>
                </p:cNvPr>
                <p:cNvSpPr>
                  <a:spLocks noChangeShapeType="1"/>
                </p:cNvSpPr>
                <p:nvPr/>
              </p:nvSpPr>
              <p:spPr bwMode="auto">
                <a:xfrm flipV="1">
                  <a:off x="8153400" y="5715000"/>
                  <a:ext cx="914400" cy="0"/>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1DC4D-E4C5-80DD-57EC-7D0CB2F336E1}"/>
              </a:ext>
            </a:extLst>
          </p:cNvPr>
          <p:cNvSpPr>
            <a:spLocks noGrp="1"/>
          </p:cNvSpPr>
          <p:nvPr>
            <p:ph type="title"/>
          </p:nvPr>
        </p:nvSpPr>
        <p:spPr/>
        <p:txBody>
          <a:bodyPr/>
          <a:lstStyle/>
          <a:p>
            <a:r>
              <a:rPr lang="en-US" dirty="0"/>
              <a:t>Linked List Representation in Memory</a:t>
            </a:r>
          </a:p>
        </p:txBody>
      </p:sp>
      <p:pic>
        <p:nvPicPr>
          <p:cNvPr id="7" name="Content Placeholder 6">
            <a:extLst>
              <a:ext uri="{FF2B5EF4-FFF2-40B4-BE49-F238E27FC236}">
                <a16:creationId xmlns:a16="http://schemas.microsoft.com/office/drawing/2014/main" id="{6D38CCCB-C935-886B-C22B-70677F337FF8}"/>
              </a:ext>
            </a:extLst>
          </p:cNvPr>
          <p:cNvPicPr>
            <a:picLocks noGrp="1" noChangeAspect="1"/>
          </p:cNvPicPr>
          <p:nvPr>
            <p:ph idx="1"/>
          </p:nvPr>
        </p:nvPicPr>
        <p:blipFill>
          <a:blip r:embed="rId2"/>
          <a:stretch>
            <a:fillRect/>
          </a:stretch>
        </p:blipFill>
        <p:spPr>
          <a:xfrm>
            <a:off x="2884714" y="1785874"/>
            <a:ext cx="6063343" cy="4625396"/>
          </a:xfrm>
          <a:prstGeom prst="rect">
            <a:avLst/>
          </a:prstGeom>
        </p:spPr>
      </p:pic>
    </p:spTree>
    <p:extLst>
      <p:ext uri="{BB962C8B-B14F-4D97-AF65-F5344CB8AC3E}">
        <p14:creationId xmlns:p14="http://schemas.microsoft.com/office/powerpoint/2010/main" val="1097908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87502394-5AB8-9AFF-C421-92020D3E2F01}"/>
              </a:ext>
            </a:extLst>
          </p:cNvPr>
          <p:cNvSpPr>
            <a:spLocks noGrp="1" noChangeArrowheads="1"/>
          </p:cNvSpPr>
          <p:nvPr>
            <p:ph type="title"/>
          </p:nvPr>
        </p:nvSpPr>
        <p:spPr>
          <a:xfrm>
            <a:off x="1285875" y="638175"/>
            <a:ext cx="8229600" cy="868363"/>
          </a:xfrm>
        </p:spPr>
        <p:txBody>
          <a:bodyPr/>
          <a:lstStyle/>
          <a:p>
            <a:pPr fontAlgn="auto">
              <a:spcAft>
                <a:spcPts val="0"/>
              </a:spcAft>
              <a:defRPr/>
            </a:pPr>
            <a:r>
              <a:rPr lang="en-US" altLang="zh-CN" sz="4000" dirty="0">
                <a:solidFill>
                  <a:schemeClr val="tx1">
                    <a:lumMod val="75000"/>
                    <a:lumOff val="25000"/>
                  </a:schemeClr>
                </a:solidFill>
              </a:rPr>
              <a:t>The Composition of Linked Lists</a:t>
            </a:r>
          </a:p>
        </p:txBody>
      </p:sp>
      <p:sp>
        <p:nvSpPr>
          <p:cNvPr id="3" name="Content Placeholder 2">
            <a:extLst>
              <a:ext uri="{FF2B5EF4-FFF2-40B4-BE49-F238E27FC236}">
                <a16:creationId xmlns:a16="http://schemas.microsoft.com/office/drawing/2014/main" id="{A932C0EB-953B-E5CA-2433-DBB655FCBA6E}"/>
              </a:ext>
            </a:extLst>
          </p:cNvPr>
          <p:cNvSpPr txBox="1">
            <a:spLocks noGrp="1"/>
          </p:cNvSpPr>
          <p:nvPr>
            <p:ph idx="1"/>
          </p:nvPr>
        </p:nvSpPr>
        <p:spPr>
          <a:xfrm>
            <a:off x="1096963" y="1846263"/>
            <a:ext cx="10058400" cy="3290131"/>
          </a:xfrm>
          <a:prstGeom prst="rect">
            <a:avLst/>
          </a:prstGeom>
          <a:noFill/>
        </p:spPr>
        <p:txBody>
          <a:bodyPr wrap="square">
            <a:spAutoFit/>
          </a:bodyPr>
          <a:lstStyle/>
          <a:p>
            <a:pPr marL="342900" indent="-342900">
              <a:buFont typeface="Arial" panose="020B0604020202020204" pitchFamily="34" charset="0"/>
              <a:buChar char="•"/>
            </a:pPr>
            <a:r>
              <a:rPr lang="en-US" sz="2400" dirty="0">
                <a:solidFill>
                  <a:schemeClr val="tx1"/>
                </a:solidFill>
              </a:rPr>
              <a:t>The following list has nodes, plus a pointer known as the list head. </a:t>
            </a:r>
          </a:p>
          <a:p>
            <a:pPr marL="342900" indent="-342900">
              <a:buFont typeface="Arial" panose="020B0604020202020204" pitchFamily="34" charset="0"/>
              <a:buChar char="•"/>
            </a:pPr>
            <a:r>
              <a:rPr lang="en-US" sz="2400" dirty="0">
                <a:solidFill>
                  <a:schemeClr val="tx1"/>
                </a:solidFill>
              </a:rPr>
              <a:t>The head simply points to the first node in the list. Each node, in turn, points to the next node in the list. </a:t>
            </a:r>
          </a:p>
          <a:p>
            <a:pPr marL="342900" indent="-342900">
              <a:buFont typeface="Arial" panose="020B0604020202020204" pitchFamily="34" charset="0"/>
              <a:buChar char="•"/>
            </a:pPr>
            <a:r>
              <a:rPr lang="en-US" sz="2400" dirty="0">
                <a:solidFill>
                  <a:schemeClr val="tx1"/>
                </a:solidFill>
              </a:rPr>
              <a:t>The first node points to the second node, which points to the third node. Because the third node is the last one in the list, it points to the NULL address (address 0). </a:t>
            </a:r>
          </a:p>
          <a:p>
            <a:pPr marL="342900" indent="-342900">
              <a:buFont typeface="Arial" panose="020B0604020202020204" pitchFamily="34" charset="0"/>
              <a:buChar char="•"/>
            </a:pPr>
            <a:r>
              <a:rPr lang="en-US" sz="2400" dirty="0">
                <a:solidFill>
                  <a:schemeClr val="tx1"/>
                </a:solidFill>
              </a:rPr>
              <a:t>This is usually how the end of a linked list is signified by letting the last node point to NULL.</a:t>
            </a:r>
          </a:p>
        </p:txBody>
      </p:sp>
      <p:pic>
        <p:nvPicPr>
          <p:cNvPr id="4" name="Picture 2" descr="Linked List">
            <a:extLst>
              <a:ext uri="{FF2B5EF4-FFF2-40B4-BE49-F238E27FC236}">
                <a16:creationId xmlns:a16="http://schemas.microsoft.com/office/drawing/2014/main" id="{7FC9B906-6945-608F-DCB8-FB96A4D89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4953000"/>
            <a:ext cx="8763000" cy="15414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Content Placeholder 3">
            <a:extLst>
              <a:ext uri="{FF2B5EF4-FFF2-40B4-BE49-F238E27FC236}">
                <a16:creationId xmlns:a16="http://schemas.microsoft.com/office/drawing/2014/main" id="{DA178A45-CD51-83A5-5B04-B87E3B903E2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41463" y="457200"/>
            <a:ext cx="9164637" cy="2262188"/>
          </a:xfrm>
        </p:spPr>
      </p:pic>
      <p:sp>
        <p:nvSpPr>
          <p:cNvPr id="18435" name="TextBox 4">
            <a:extLst>
              <a:ext uri="{FF2B5EF4-FFF2-40B4-BE49-F238E27FC236}">
                <a16:creationId xmlns:a16="http://schemas.microsoft.com/office/drawing/2014/main" id="{634509C4-3FC3-27F4-5C1A-5D10423017FB}"/>
              </a:ext>
            </a:extLst>
          </p:cNvPr>
          <p:cNvSpPr txBox="1">
            <a:spLocks noChangeArrowheads="1"/>
          </p:cNvSpPr>
          <p:nvPr/>
        </p:nvSpPr>
        <p:spPr bwMode="auto">
          <a:xfrm>
            <a:off x="1066800" y="2819400"/>
            <a:ext cx="100584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400">
                <a:latin typeface="Times New Roman" panose="02020603050405020304" pitchFamily="18" charset="0"/>
                <a:cs typeface="Arial" panose="020B0604020202020204" pitchFamily="34" charset="0"/>
              </a:rPr>
              <a:t>The Head is a special pointer variable which contains the address of the first node of the list. If there is no node available in the list then Head contains NULL value that means, List is empty. </a:t>
            </a:r>
          </a:p>
          <a:p>
            <a:pPr eaLnBrk="1" hangingPunct="1"/>
            <a:endParaRPr lang="en-US" altLang="en-US" sz="2400">
              <a:latin typeface="Times New Roman" panose="02020603050405020304" pitchFamily="18" charset="0"/>
              <a:cs typeface="Arial" panose="020B0604020202020204" pitchFamily="34" charset="0"/>
            </a:endParaRPr>
          </a:p>
          <a:p>
            <a:pPr eaLnBrk="1" hangingPunct="1"/>
            <a:r>
              <a:rPr lang="en-US" altLang="en-US" sz="2400">
                <a:latin typeface="Times New Roman" panose="02020603050405020304" pitchFamily="18" charset="0"/>
                <a:cs typeface="Arial" panose="020B0604020202020204" pitchFamily="34" charset="0"/>
              </a:rPr>
              <a:t>The left part of the each node represents the information part of the node, which may contain an entire record of data (e.g. ID, name, marks, age etc). the right part represents pointer/link to the next node. </a:t>
            </a:r>
          </a:p>
          <a:p>
            <a:pPr eaLnBrk="1" hangingPunct="1"/>
            <a:endParaRPr lang="en-US" altLang="en-US" sz="2400">
              <a:latin typeface="Times New Roman" panose="02020603050405020304" pitchFamily="18" charset="0"/>
              <a:cs typeface="Arial" panose="020B0604020202020204" pitchFamily="34" charset="0"/>
            </a:endParaRPr>
          </a:p>
          <a:p>
            <a:pPr eaLnBrk="1" hangingPunct="1"/>
            <a:r>
              <a:rPr lang="en-US" altLang="en-US" sz="2400">
                <a:latin typeface="Times New Roman" panose="02020603050405020304" pitchFamily="18" charset="0"/>
                <a:cs typeface="Arial" panose="020B0604020202020204" pitchFamily="34" charset="0"/>
              </a:rPr>
              <a:t>The next pointer of the last node is null pointer signal the end of the list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BC71A-B26F-9C00-3C79-B3E4E89650D6}"/>
              </a:ext>
            </a:extLst>
          </p:cNvPr>
          <p:cNvSpPr>
            <a:spLocks noGrp="1"/>
          </p:cNvSpPr>
          <p:nvPr>
            <p:ph type="title"/>
          </p:nvPr>
        </p:nvSpPr>
        <p:spPr>
          <a:xfrm>
            <a:off x="1828800" y="838200"/>
            <a:ext cx="7239000" cy="669925"/>
          </a:xfrm>
        </p:spPr>
        <p:txBody>
          <a:bodyPr>
            <a:normAutofit fontScale="90000"/>
          </a:bodyPr>
          <a:lstStyle/>
          <a:p>
            <a:pPr fontAlgn="auto">
              <a:spcAft>
                <a:spcPts val="0"/>
              </a:spcAft>
              <a:defRPr/>
            </a:pPr>
            <a:r>
              <a:rPr lang="en-US" dirty="0">
                <a:solidFill>
                  <a:schemeClr val="tx1">
                    <a:lumMod val="75000"/>
                    <a:lumOff val="25000"/>
                  </a:schemeClr>
                </a:solidFill>
              </a:rPr>
              <a:t>Advantages:</a:t>
            </a:r>
          </a:p>
        </p:txBody>
      </p:sp>
      <p:sp>
        <p:nvSpPr>
          <p:cNvPr id="19459" name="Content Placeholder 2">
            <a:extLst>
              <a:ext uri="{FF2B5EF4-FFF2-40B4-BE49-F238E27FC236}">
                <a16:creationId xmlns:a16="http://schemas.microsoft.com/office/drawing/2014/main" id="{4C8F875C-BA08-A4BA-7938-726195733427}"/>
              </a:ext>
            </a:extLst>
          </p:cNvPr>
          <p:cNvSpPr>
            <a:spLocks noGrp="1" noChangeArrowheads="1"/>
          </p:cNvSpPr>
          <p:nvPr>
            <p:ph idx="1"/>
          </p:nvPr>
        </p:nvSpPr>
        <p:spPr>
          <a:xfrm>
            <a:off x="990600" y="1981200"/>
            <a:ext cx="6324600" cy="4475163"/>
          </a:xfrm>
        </p:spPr>
        <p:txBody>
          <a:bodyPr/>
          <a:lstStyle/>
          <a:p>
            <a:r>
              <a:rPr lang="en-US" altLang="en-US" sz="2400" dirty="0"/>
              <a:t>List of data can be stored in arrays but linked structures (pointers) provide several advantages.</a:t>
            </a:r>
          </a:p>
          <a:p>
            <a:pPr>
              <a:buFont typeface="Wingdings" panose="05000000000000000000" pitchFamily="2" charset="2"/>
              <a:buChar char="§"/>
            </a:pPr>
            <a:r>
              <a:rPr lang="en-US" altLang="en-US" sz="2400" dirty="0"/>
              <a:t>A linked list is appropriate when the number of data elements to be represented in data structure is unpredictable. It also appropriate when there are frequently insertions &amp; deletions occurred in the list.  </a:t>
            </a:r>
          </a:p>
          <a:p>
            <a:pPr>
              <a:buFont typeface="Wingdings" panose="05000000000000000000" pitchFamily="2" charset="2"/>
              <a:buChar char="§"/>
            </a:pPr>
            <a:r>
              <a:rPr lang="en-US" altLang="en-US" sz="2400" dirty="0"/>
              <a:t>Linked lists are dynamic, so the length of a list can increase or decrease as necessary.</a:t>
            </a:r>
          </a:p>
        </p:txBody>
      </p:sp>
      <p:pic>
        <p:nvPicPr>
          <p:cNvPr id="3" name="Picture 2">
            <a:extLst>
              <a:ext uri="{FF2B5EF4-FFF2-40B4-BE49-F238E27FC236}">
                <a16:creationId xmlns:a16="http://schemas.microsoft.com/office/drawing/2014/main" id="{3C6ED65E-7D3F-3551-0884-9FDEBF5CFF15}"/>
              </a:ext>
            </a:extLst>
          </p:cNvPr>
          <p:cNvPicPr>
            <a:picLocks noChangeAspect="1"/>
          </p:cNvPicPr>
          <p:nvPr/>
        </p:nvPicPr>
        <p:blipFill>
          <a:blip r:embed="rId2"/>
          <a:stretch>
            <a:fillRect/>
          </a:stretch>
        </p:blipFill>
        <p:spPr>
          <a:xfrm>
            <a:off x="7492810" y="2109939"/>
            <a:ext cx="4688680" cy="390723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43925-0022-941A-3A37-6185CEA6149A}"/>
              </a:ext>
            </a:extLst>
          </p:cNvPr>
          <p:cNvSpPr>
            <a:spLocks noGrp="1"/>
          </p:cNvSpPr>
          <p:nvPr>
            <p:ph type="title"/>
          </p:nvPr>
        </p:nvSpPr>
        <p:spPr/>
        <p:txBody>
          <a:bodyPr/>
          <a:lstStyle/>
          <a:p>
            <a:r>
              <a:rPr lang="en-US" dirty="0"/>
              <a:t>Disadvantages</a:t>
            </a:r>
          </a:p>
        </p:txBody>
      </p:sp>
      <p:sp>
        <p:nvSpPr>
          <p:cNvPr id="3" name="Content Placeholder 2">
            <a:extLst>
              <a:ext uri="{FF2B5EF4-FFF2-40B4-BE49-F238E27FC236}">
                <a16:creationId xmlns:a16="http://schemas.microsoft.com/office/drawing/2014/main" id="{5094350A-F81A-7EA9-8A85-A9CFCB1C332E}"/>
              </a:ext>
            </a:extLst>
          </p:cNvPr>
          <p:cNvSpPr>
            <a:spLocks noGrp="1"/>
          </p:cNvSpPr>
          <p:nvPr>
            <p:ph idx="1"/>
          </p:nvPr>
        </p:nvSpPr>
        <p:spPr/>
        <p:txBody>
          <a:bodyPr/>
          <a:lstStyle/>
          <a:p>
            <a:pPr marL="571500" indent="-571500">
              <a:buFont typeface="Arial" panose="020B0604020202020204" pitchFamily="34" charset="0"/>
              <a:buChar char="•"/>
            </a:pPr>
            <a:r>
              <a:rPr lang="en-US" sz="2800" dirty="0"/>
              <a:t>Random access is not allowed. We have to access elements sequentially starting from the first node.</a:t>
            </a:r>
          </a:p>
          <a:p>
            <a:pPr marL="571500" indent="-571500">
              <a:buFont typeface="Arial" panose="020B0604020202020204" pitchFamily="34" charset="0"/>
              <a:buChar char="•"/>
            </a:pPr>
            <a:r>
              <a:rPr lang="en-US" sz="2800" dirty="0"/>
              <a:t>Extra memory space for a pointer is required with each element of the list.</a:t>
            </a:r>
          </a:p>
          <a:p>
            <a:pPr marL="571500" indent="-571500">
              <a:buFont typeface="Arial" panose="020B0604020202020204" pitchFamily="34" charset="0"/>
              <a:buChar char="•"/>
            </a:pPr>
            <a:r>
              <a:rPr lang="en-US" sz="2800" dirty="0"/>
              <a:t>Not cache friendly. Since array elements are contiguous locations, there is locality of reference which is not there in case of linked list</a:t>
            </a:r>
          </a:p>
          <a:p>
            <a:endParaRPr lang="en-US" dirty="0"/>
          </a:p>
        </p:txBody>
      </p:sp>
    </p:spTree>
    <p:extLst>
      <p:ext uri="{BB962C8B-B14F-4D97-AF65-F5344CB8AC3E}">
        <p14:creationId xmlns:p14="http://schemas.microsoft.com/office/powerpoint/2010/main" val="2508315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BB8DC5-2AC9-4429-04FD-2E94C8917FF9}"/>
              </a:ext>
            </a:extLst>
          </p:cNvPr>
          <p:cNvSpPr>
            <a:spLocks noGrp="1"/>
          </p:cNvSpPr>
          <p:nvPr>
            <p:ph type="title"/>
          </p:nvPr>
        </p:nvSpPr>
        <p:spPr/>
        <p:txBody>
          <a:bodyPr/>
          <a:lstStyle/>
          <a:p>
            <a:pPr fontAlgn="auto">
              <a:spcAft>
                <a:spcPts val="0"/>
              </a:spcAft>
              <a:defRPr/>
            </a:pPr>
            <a:r>
              <a:rPr lang="en-US" dirty="0">
                <a:solidFill>
                  <a:schemeClr val="tx1">
                    <a:lumMod val="75000"/>
                    <a:lumOff val="25000"/>
                  </a:schemeClr>
                </a:solidFill>
              </a:rPr>
              <a:t>Applications of Linked list</a:t>
            </a:r>
          </a:p>
        </p:txBody>
      </p:sp>
      <p:sp>
        <p:nvSpPr>
          <p:cNvPr id="23555" name="Content Placeholder 1">
            <a:extLst>
              <a:ext uri="{FF2B5EF4-FFF2-40B4-BE49-F238E27FC236}">
                <a16:creationId xmlns:a16="http://schemas.microsoft.com/office/drawing/2014/main" id="{FF2A27AE-F937-D5DF-5000-2FC7458EAE9E}"/>
              </a:ext>
            </a:extLst>
          </p:cNvPr>
          <p:cNvSpPr>
            <a:spLocks noGrp="1" noChangeArrowheads="1"/>
          </p:cNvSpPr>
          <p:nvPr>
            <p:ph idx="1"/>
          </p:nvPr>
        </p:nvSpPr>
        <p:spPr/>
        <p:txBody>
          <a:bodyPr/>
          <a:lstStyle/>
          <a:p>
            <a:r>
              <a:rPr lang="en-US" altLang="en-US" sz="2800" dirty="0"/>
              <a:t>Image viewer</a:t>
            </a:r>
          </a:p>
          <a:p>
            <a:r>
              <a:rPr lang="en-US" altLang="en-US" sz="2800" dirty="0"/>
              <a:t>Navigation in web browser</a:t>
            </a:r>
          </a:p>
          <a:p>
            <a:r>
              <a:rPr lang="en-US" altLang="en-US" sz="2800" dirty="0"/>
              <a:t>Music player</a:t>
            </a:r>
          </a:p>
          <a:p>
            <a:r>
              <a:rPr lang="en-US" altLang="en-US" sz="2800" dirty="0"/>
              <a:t>No. of users visiting a website</a:t>
            </a:r>
          </a:p>
          <a:p>
            <a:r>
              <a:rPr lang="en-US" altLang="en-US" sz="2800" dirty="0"/>
              <a:t>Web browser history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A574E-89B7-9C96-B3B7-2F795451BEA2}"/>
              </a:ext>
            </a:extLst>
          </p:cNvPr>
          <p:cNvSpPr>
            <a:spLocks noGrp="1"/>
          </p:cNvSpPr>
          <p:nvPr>
            <p:ph type="title"/>
          </p:nvPr>
        </p:nvSpPr>
        <p:spPr/>
        <p:txBody>
          <a:bodyPr/>
          <a:lstStyle/>
          <a:p>
            <a:r>
              <a:rPr lang="en-US" dirty="0"/>
              <a:t>Types of Linked List</a:t>
            </a:r>
          </a:p>
        </p:txBody>
      </p:sp>
      <p:sp>
        <p:nvSpPr>
          <p:cNvPr id="4" name="Content Placeholder 3">
            <a:extLst>
              <a:ext uri="{FF2B5EF4-FFF2-40B4-BE49-F238E27FC236}">
                <a16:creationId xmlns:a16="http://schemas.microsoft.com/office/drawing/2014/main" id="{6598CA8F-8EE1-072D-EF0F-024C73BE9342}"/>
              </a:ext>
            </a:extLst>
          </p:cNvPr>
          <p:cNvSpPr txBox="1">
            <a:spLocks noGrp="1"/>
          </p:cNvSpPr>
          <p:nvPr>
            <p:ph idx="1"/>
          </p:nvPr>
        </p:nvSpPr>
        <p:spPr>
          <a:xfrm>
            <a:off x="1096963" y="1846263"/>
            <a:ext cx="10058400" cy="4022725"/>
          </a:xfrm>
          <a:prstGeom prst="rect">
            <a:avLst/>
          </a:prstGeom>
          <a:noFill/>
        </p:spPr>
        <p:txBody>
          <a:bodyPr wrap="square">
            <a:spAutoFit/>
          </a:bodyPr>
          <a:lstStyle/>
          <a:p>
            <a:pPr marL="342900" indent="-342900">
              <a:buFont typeface="Arial" panose="020B0604020202020204" pitchFamily="34" charset="0"/>
              <a:buChar char="•"/>
            </a:pPr>
            <a:r>
              <a:rPr lang="en-US" sz="2400" dirty="0"/>
              <a:t>Following are the various types of linked list.</a:t>
            </a:r>
          </a:p>
          <a:p>
            <a:pPr marL="342900" indent="-342900">
              <a:buFont typeface="Arial" panose="020B0604020202020204" pitchFamily="34" charset="0"/>
              <a:buChar char="•"/>
            </a:pPr>
            <a:endParaRPr lang="en-US" sz="2400" dirty="0"/>
          </a:p>
          <a:p>
            <a:pPr marL="914400" indent="-342900">
              <a:buFont typeface="Arial" panose="020B0604020202020204" pitchFamily="34" charset="0"/>
              <a:buChar char="•"/>
            </a:pPr>
            <a:r>
              <a:rPr lang="en-US" sz="2400" b="1" dirty="0"/>
              <a:t>Singly Linked List </a:t>
            </a:r>
            <a:r>
              <a:rPr lang="en-US" sz="2400" dirty="0"/>
              <a:t>− Item navigation is forward only.</a:t>
            </a:r>
          </a:p>
          <a:p>
            <a:pPr marL="914400" indent="-342900">
              <a:buFont typeface="Arial" panose="020B0604020202020204" pitchFamily="34" charset="0"/>
              <a:buChar char="•"/>
            </a:pPr>
            <a:endParaRPr lang="en-US" sz="2400" dirty="0"/>
          </a:p>
          <a:p>
            <a:pPr marL="914400" indent="-342900">
              <a:buFont typeface="Arial" panose="020B0604020202020204" pitchFamily="34" charset="0"/>
              <a:buChar char="•"/>
            </a:pPr>
            <a:r>
              <a:rPr lang="en-US" sz="2400" b="1" dirty="0"/>
              <a:t>Doubly Linked List </a:t>
            </a:r>
            <a:r>
              <a:rPr lang="en-US" sz="2400" dirty="0"/>
              <a:t>− Items can be navigated forward and backward.</a:t>
            </a:r>
          </a:p>
          <a:p>
            <a:pPr marL="914400" indent="-342900">
              <a:buFont typeface="Arial" panose="020B0604020202020204" pitchFamily="34" charset="0"/>
              <a:buChar char="•"/>
            </a:pPr>
            <a:endParaRPr lang="en-US" sz="2400" dirty="0"/>
          </a:p>
          <a:p>
            <a:pPr marL="914400" indent="-342900">
              <a:buFont typeface="Arial" panose="020B0604020202020204" pitchFamily="34" charset="0"/>
              <a:buChar char="•"/>
            </a:pPr>
            <a:r>
              <a:rPr lang="en-US" sz="2400" b="1" dirty="0"/>
              <a:t>Circular Linked List </a:t>
            </a:r>
            <a:r>
              <a:rPr lang="en-US" sz="2400" dirty="0"/>
              <a:t>− Last item contains link of the first element as next and the first element has a link to the last element as previous.</a:t>
            </a:r>
          </a:p>
        </p:txBody>
      </p:sp>
    </p:spTree>
    <p:extLst>
      <p:ext uri="{BB962C8B-B14F-4D97-AF65-F5344CB8AC3E}">
        <p14:creationId xmlns:p14="http://schemas.microsoft.com/office/powerpoint/2010/main" val="118551398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1093</Words>
  <Application>Microsoft Office PowerPoint</Application>
  <PresentationFormat>Widescreen</PresentationFormat>
  <Paragraphs>89</Paragraphs>
  <Slides>17</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17</vt:i4>
      </vt:variant>
    </vt:vector>
  </HeadingPairs>
  <TitlesOfParts>
    <vt:vector size="30" baseType="lpstr">
      <vt:lpstr>Algerian</vt:lpstr>
      <vt:lpstr>Arial</vt:lpstr>
      <vt:lpstr>Calibri</vt:lpstr>
      <vt:lpstr>Calibri Light</vt:lpstr>
      <vt:lpstr>Comic Sans MS</vt:lpstr>
      <vt:lpstr>Monotype Sorts</vt:lpstr>
      <vt:lpstr>Söhne</vt:lpstr>
      <vt:lpstr>Tahoma</vt:lpstr>
      <vt:lpstr>Times New Roman</vt:lpstr>
      <vt:lpstr>Wingdings</vt:lpstr>
      <vt:lpstr>Wingdings 2</vt:lpstr>
      <vt:lpstr>Wingdings 3</vt:lpstr>
      <vt:lpstr>Retrospect</vt:lpstr>
      <vt:lpstr>Data Structures and Algorithm</vt:lpstr>
      <vt:lpstr>Goals for today</vt:lpstr>
      <vt:lpstr>CLO Covered</vt:lpstr>
      <vt:lpstr>Problem With Array </vt:lpstr>
      <vt:lpstr>Solution </vt:lpstr>
      <vt:lpstr>Linked List </vt:lpstr>
      <vt:lpstr>Linked List </vt:lpstr>
      <vt:lpstr>Linked List</vt:lpstr>
      <vt:lpstr>Linked List </vt:lpstr>
      <vt:lpstr>Linked Lists</vt:lpstr>
      <vt:lpstr>Linked List Representation in Memory</vt:lpstr>
      <vt:lpstr>The Composition of Linked Lists</vt:lpstr>
      <vt:lpstr>PowerPoint Presentation</vt:lpstr>
      <vt:lpstr>Advantages:</vt:lpstr>
      <vt:lpstr>Disadvantages</vt:lpstr>
      <vt:lpstr>Applications of Linked list</vt:lpstr>
      <vt:lpstr>Types of Linked 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Habiba Arshad</dc:creator>
  <cp:lastModifiedBy>Habiba Arshad</cp:lastModifiedBy>
  <cp:revision>24</cp:revision>
  <dcterms:created xsi:type="dcterms:W3CDTF">2022-10-26T17:51:59Z</dcterms:created>
  <dcterms:modified xsi:type="dcterms:W3CDTF">2024-11-11T06:39:47Z</dcterms:modified>
</cp:coreProperties>
</file>