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9"/>
  </p:notesMasterIdLst>
  <p:handoutMasterIdLst>
    <p:handoutMasterId r:id="rId10"/>
  </p:handoutMasterIdLst>
  <p:sldIdLst>
    <p:sldId id="415" r:id="rId2"/>
    <p:sldId id="432" r:id="rId3"/>
    <p:sldId id="400" r:id="rId4"/>
    <p:sldId id="405" r:id="rId5"/>
    <p:sldId id="398" r:id="rId6"/>
    <p:sldId id="410" r:id="rId7"/>
    <p:sldId id="41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22AA2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 autoAdjust="0"/>
    <p:restoredTop sz="94624" autoAdjust="0"/>
  </p:normalViewPr>
  <p:slideViewPr>
    <p:cSldViewPr>
      <p:cViewPr varScale="1">
        <p:scale>
          <a:sx n="78" d="100"/>
          <a:sy n="78" d="100"/>
        </p:scale>
        <p:origin x="90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3B2FA1C-BB3F-4970-A298-D3FCC02047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75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44085-8AA0-4873-ADC9-BD167A1CF284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8053C-CAA8-4935-85BA-07BEFF0D6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6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482B-28E6-423B-9E45-5BB01BD8E6B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4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A8DD-A503-4672-B309-4EC95AC195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4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B627-B9AE-42BC-9F2E-91E7D5DFAD5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04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8C901-E647-4143-B13D-EA4208ADE7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8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F8342-9AD0-4277-A762-E9E9A4ABC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FFA39-E80D-4CB0-86EC-F7F2B614B0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FAF7-94E2-4BD1-8A16-4CFCC8C119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6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A474C-C95D-4A95-99AA-D768EF1EB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9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2D71-FEDE-4F63-B7A2-B2E5725F5C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5529-846C-418D-BBAA-96EB779D2F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4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0F6F-64A5-45D2-92A8-DEE5E373B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0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03092BD-99D2-4CA6-A4D5-DE9949E0E68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71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295400"/>
            <a:ext cx="10058400" cy="2509520"/>
          </a:xfrm>
        </p:spPr>
        <p:txBody>
          <a:bodyPr>
            <a:normAutofit/>
          </a:bodyPr>
          <a:lstStyle/>
          <a:p>
            <a:pPr algn="ctr"/>
            <a:r>
              <a:rPr lang="en-US"/>
              <a:t>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4419600"/>
            <a:ext cx="7854696" cy="1600200"/>
          </a:xfrm>
        </p:spPr>
        <p:txBody>
          <a:bodyPr>
            <a:normAutofit fontScale="85000" lnSpcReduction="20000"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Course Code: CS-201</a:t>
            </a:r>
          </a:p>
          <a:p>
            <a:pPr algn="l"/>
            <a:r>
              <a:rPr lang="en-US" dirty="0"/>
              <a:t>Topic: Hashing (</a:t>
            </a:r>
            <a:r>
              <a:rPr lang="en-US"/>
              <a:t>Open Addressing) </a:t>
            </a:r>
            <a:endParaRPr lang="en-US" dirty="0"/>
          </a:p>
          <a:p>
            <a:r>
              <a:rPr lang="en-US" dirty="0"/>
              <a:t>Instructor: </a:t>
            </a:r>
            <a:r>
              <a:rPr lang="en-US" dirty="0" err="1"/>
              <a:t>habiba</a:t>
            </a:r>
            <a:r>
              <a:rPr lang="en-US" dirty="0"/>
              <a:t> </a:t>
            </a:r>
            <a:r>
              <a:rPr lang="en-US" dirty="0" err="1"/>
              <a:t>arshad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0077-7DC5-AD2C-22A1-2FBF59B4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1606-2ACA-053D-266A-25075E9CA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/>
              <a:t>In open addressing,</a:t>
            </a:r>
          </a:p>
          <a:p>
            <a:endParaRPr lang="en-US" sz="2200" dirty="0"/>
          </a:p>
          <a:p>
            <a:r>
              <a:rPr lang="en-US" sz="2200" dirty="0"/>
              <a:t>Unlike separate chaining, all the keys are stored inside the hash table.</a:t>
            </a:r>
          </a:p>
          <a:p>
            <a:r>
              <a:rPr lang="en-US" sz="2200" dirty="0"/>
              <a:t>No key is stored outside the hash table.</a:t>
            </a:r>
          </a:p>
          <a:p>
            <a:r>
              <a:rPr lang="en-US" sz="2200" dirty="0"/>
              <a:t> </a:t>
            </a:r>
          </a:p>
          <a:p>
            <a:r>
              <a:rPr lang="en-US" sz="2200" dirty="0"/>
              <a:t>Techniques used for open addressing are-</a:t>
            </a:r>
          </a:p>
          <a:p>
            <a:endParaRPr lang="en-US" sz="2200" dirty="0"/>
          </a:p>
          <a:p>
            <a:r>
              <a:rPr lang="en-US" sz="2200" dirty="0"/>
              <a:t>Linear Probing</a:t>
            </a:r>
          </a:p>
          <a:p>
            <a:r>
              <a:rPr lang="en-US" sz="2200" dirty="0"/>
              <a:t>Quadratic Probing</a:t>
            </a:r>
          </a:p>
          <a:p>
            <a:r>
              <a:rPr lang="en-US" sz="2200" dirty="0"/>
              <a:t>Double Hashing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14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22722"/>
            <a:ext cx="8001000" cy="571500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  <a:buFont typeface="Wingdings" pitchFamily="2" charset="2"/>
            </a:pPr>
            <a:r>
              <a:rPr lang="en-US" dirty="0">
                <a:sym typeface="Symbol" pitchFamily="18" charset="2"/>
              </a:rPr>
              <a:t>Open Addressing</a:t>
            </a:r>
          </a:p>
        </p:txBody>
      </p:sp>
      <p:sp>
        <p:nvSpPr>
          <p:cNvPr id="241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111250" y="1905000"/>
            <a:ext cx="9144000" cy="4419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If a collision happens at one hash table call, then look for some other cell in the table which is free to store the data item.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General strategy for looking for a free cell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dirty="0">
              <a:sym typeface="Symbol" pitchFamily="18" charset="2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sym typeface="Symbol" pitchFamily="18" charset="2"/>
              </a:rPr>
              <a:t>	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h</a:t>
            </a:r>
            <a:r>
              <a:rPr lang="en-US" sz="2000" b="1" baseline="-25000" dirty="0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(x) = ( </a:t>
            </a:r>
            <a:r>
              <a:rPr lang="en-US" sz="2000" b="1" dirty="0">
                <a:solidFill>
                  <a:srgbClr val="00B050"/>
                </a:solidFill>
                <a:sym typeface="Symbol" pitchFamily="18" charset="2"/>
              </a:rPr>
              <a:t>hash(x) + f(</a:t>
            </a:r>
            <a:r>
              <a:rPr lang="en-US" sz="2000" b="1" dirty="0" err="1">
                <a:solidFill>
                  <a:srgbClr val="00B050"/>
                </a:solidFill>
                <a:sym typeface="Symbol" pitchFamily="18" charset="2"/>
              </a:rPr>
              <a:t>i</a:t>
            </a:r>
            <a:r>
              <a:rPr lang="en-US" sz="2000" b="1" dirty="0">
                <a:solidFill>
                  <a:srgbClr val="00B050"/>
                </a:solidFill>
                <a:sym typeface="Symbol" pitchFamily="18" charset="2"/>
              </a:rPr>
              <a:t>) 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) mod </a:t>
            </a:r>
            <a:r>
              <a:rPr lang="en-US" sz="2000" b="1" i="1" dirty="0" err="1">
                <a:solidFill>
                  <a:srgbClr val="FF0000"/>
                </a:solidFill>
                <a:latin typeface="Bookman Old Style" pitchFamily="18" charset="0"/>
                <a:sym typeface="Symbol" pitchFamily="18" charset="2"/>
              </a:rPr>
              <a:t>TableSize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                         </a:t>
            </a:r>
            <a:r>
              <a:rPr lang="en-US" sz="2000" b="1" dirty="0">
                <a:solidFill>
                  <a:srgbClr val="FF00FF"/>
                </a:solidFill>
                <a:sym typeface="Symbol" pitchFamily="18" charset="2"/>
              </a:rPr>
              <a:t>probing sequence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Where, f(0) = 0,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		     f is the collision resolution strategy.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000" dirty="0">
              <a:sym typeface="Symbol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The basic idea is, if a collision occurs, try h</a:t>
            </a:r>
            <a:r>
              <a:rPr lang="en-US" sz="2000" baseline="-25000" dirty="0">
                <a:sym typeface="Symbol" pitchFamily="18" charset="2"/>
              </a:rPr>
              <a:t>1</a:t>
            </a:r>
            <a:r>
              <a:rPr lang="en-US" sz="2000" dirty="0">
                <a:sym typeface="Symbol" pitchFamily="18" charset="2"/>
              </a:rPr>
              <a:t>(x), h</a:t>
            </a:r>
            <a:r>
              <a:rPr lang="en-US" sz="2000" baseline="-25000" dirty="0">
                <a:sym typeface="Symbol" pitchFamily="18" charset="2"/>
              </a:rPr>
              <a:t>2</a:t>
            </a:r>
            <a:r>
              <a:rPr lang="en-US" sz="2000" dirty="0">
                <a:sym typeface="Symbol" pitchFamily="18" charset="2"/>
              </a:rPr>
              <a:t>(x), … to find the first free cell.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In </a:t>
            </a:r>
            <a:r>
              <a:rPr lang="en-US" sz="2400" dirty="0">
                <a:solidFill>
                  <a:srgbClr val="FF00FF"/>
                </a:solidFill>
                <a:sym typeface="Symbol" pitchFamily="18" charset="2"/>
              </a:rPr>
              <a:t>linear probing</a:t>
            </a:r>
            <a:r>
              <a:rPr lang="en-US" sz="2400" dirty="0">
                <a:sym typeface="Symbol" pitchFamily="18" charset="2"/>
              </a:rPr>
              <a:t>, f is a linear function of </a:t>
            </a:r>
            <a:r>
              <a:rPr lang="en-US" sz="2400" dirty="0" err="1">
                <a:sym typeface="Symbol" pitchFamily="18" charset="2"/>
              </a:rPr>
              <a:t>i</a:t>
            </a:r>
            <a:r>
              <a:rPr lang="en-US" sz="2400" dirty="0">
                <a:sym typeface="Symbol" pitchFamily="18" charset="2"/>
              </a:rPr>
              <a:t>, typically f(</a:t>
            </a:r>
            <a:r>
              <a:rPr lang="en-US" sz="2400" dirty="0" err="1">
                <a:sym typeface="Symbol" pitchFamily="18" charset="2"/>
              </a:rPr>
              <a:t>i</a:t>
            </a:r>
            <a:r>
              <a:rPr lang="en-US" sz="2400" dirty="0">
                <a:sym typeface="Symbol" pitchFamily="18" charset="2"/>
              </a:rPr>
              <a:t>) = </a:t>
            </a:r>
            <a:r>
              <a:rPr lang="en-US" sz="2400" dirty="0" err="1">
                <a:sym typeface="Symbol" pitchFamily="18" charset="2"/>
              </a:rPr>
              <a:t>i</a:t>
            </a:r>
            <a:r>
              <a:rPr lang="en-US" sz="2400" dirty="0">
                <a:sym typeface="Symbol" pitchFamily="18" charset="2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In </a:t>
            </a:r>
            <a:r>
              <a:rPr lang="en-US" sz="2400" dirty="0">
                <a:solidFill>
                  <a:srgbClr val="FF00FF"/>
                </a:solidFill>
                <a:sym typeface="Symbol" pitchFamily="18" charset="2"/>
              </a:rPr>
              <a:t>quadratic probing</a:t>
            </a:r>
            <a:r>
              <a:rPr lang="en-US" sz="2400" dirty="0">
                <a:sym typeface="Symbol" pitchFamily="18" charset="2"/>
              </a:rPr>
              <a:t>, f is a quadratic function of </a:t>
            </a:r>
            <a:r>
              <a:rPr lang="en-US" sz="2400" dirty="0" err="1">
                <a:sym typeface="Symbol" pitchFamily="18" charset="2"/>
              </a:rPr>
              <a:t>i</a:t>
            </a:r>
            <a:r>
              <a:rPr lang="en-US" sz="2400" dirty="0">
                <a:sym typeface="Symbol" pitchFamily="18" charset="2"/>
              </a:rPr>
              <a:t>, typically f(</a:t>
            </a:r>
            <a:r>
              <a:rPr lang="en-US" sz="2400" dirty="0" err="1">
                <a:sym typeface="Symbol" pitchFamily="18" charset="2"/>
              </a:rPr>
              <a:t>i</a:t>
            </a:r>
            <a:r>
              <a:rPr lang="en-US" sz="2400" dirty="0">
                <a:sym typeface="Symbol" pitchFamily="18" charset="2"/>
              </a:rPr>
              <a:t>) = i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.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1400" dirty="0">
              <a:sym typeface="Symbol" pitchFamily="18" charset="2"/>
            </a:endParaRPr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4600575" y="2190750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1669" name="Line 5"/>
          <p:cNvSpPr>
            <a:spLocks noChangeShapeType="1"/>
          </p:cNvSpPr>
          <p:nvPr/>
        </p:nvSpPr>
        <p:spPr bwMode="auto">
          <a:xfrm flipH="1">
            <a:off x="55626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42900"/>
            <a:ext cx="8001000" cy="571500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</a:pPr>
            <a:r>
              <a:rPr lang="en-US" dirty="0">
                <a:sym typeface="Symbol" pitchFamily="18" charset="2"/>
              </a:rPr>
              <a:t>Linear Probing</a:t>
            </a:r>
          </a:p>
        </p:txBody>
      </p:sp>
      <p:sp>
        <p:nvSpPr>
          <p:cNvPr id="2467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143000" y="838199"/>
            <a:ext cx="6934200" cy="2909889"/>
          </a:xfrm>
        </p:spPr>
        <p:txBody>
          <a:bodyPr>
            <a:normAutofit/>
          </a:bodyPr>
          <a:lstStyle/>
          <a:p>
            <a:r>
              <a:rPr lang="en-US" sz="2400" dirty="0">
                <a:sym typeface="Symbol" pitchFamily="18" charset="2"/>
              </a:rPr>
              <a:t>Here is a simple example of collision resolved by Linear Probing.</a:t>
            </a:r>
          </a:p>
          <a:p>
            <a:r>
              <a:rPr lang="en-US" sz="2400" dirty="0">
                <a:sym typeface="Symbol" pitchFamily="18" charset="2"/>
              </a:rPr>
              <a:t>For Example:</a:t>
            </a:r>
          </a:p>
          <a:p>
            <a:pPr lvl="1"/>
            <a:r>
              <a:rPr lang="en-US" sz="2000" dirty="0" err="1">
                <a:sym typeface="Symbol" pitchFamily="18" charset="2"/>
              </a:rPr>
              <a:t>TableSize</a:t>
            </a:r>
            <a:r>
              <a:rPr lang="en-US" sz="2000" dirty="0">
                <a:sym typeface="Symbol" pitchFamily="18" charset="2"/>
              </a:rPr>
              <a:t> = 8</a:t>
            </a:r>
          </a:p>
          <a:p>
            <a:pPr lvl="1"/>
            <a:r>
              <a:rPr lang="en-US" sz="2000" dirty="0">
                <a:sym typeface="Symbol" pitchFamily="18" charset="2"/>
              </a:rPr>
              <a:t>hash(x) = x mod 8</a:t>
            </a:r>
          </a:p>
          <a:p>
            <a:pPr lvl="1"/>
            <a:r>
              <a:rPr lang="en-US" sz="2000" dirty="0">
                <a:solidFill>
                  <a:srgbClr val="FF00FF"/>
                </a:solidFill>
                <a:sym typeface="Symbol" pitchFamily="18" charset="2"/>
              </a:rPr>
              <a:t>f(</a:t>
            </a:r>
            <a:r>
              <a:rPr lang="en-US" sz="2000" dirty="0" err="1">
                <a:solidFill>
                  <a:srgbClr val="FF00FF"/>
                </a:solidFill>
                <a:sym typeface="Symbol" pitchFamily="18" charset="2"/>
              </a:rPr>
              <a:t>i</a:t>
            </a:r>
            <a:r>
              <a:rPr lang="en-US" sz="2000" dirty="0">
                <a:solidFill>
                  <a:srgbClr val="FF00FF"/>
                </a:solidFill>
                <a:sym typeface="Symbol" pitchFamily="18" charset="2"/>
              </a:rPr>
              <a:t>) = </a:t>
            </a:r>
            <a:r>
              <a:rPr lang="en-US" sz="2000" dirty="0" err="1">
                <a:solidFill>
                  <a:srgbClr val="FF00FF"/>
                </a:solidFill>
                <a:sym typeface="Symbol" pitchFamily="18" charset="2"/>
              </a:rPr>
              <a:t>i</a:t>
            </a:r>
            <a:r>
              <a:rPr lang="en-US" sz="2000" dirty="0">
                <a:sym typeface="Symbol" pitchFamily="18" charset="2"/>
              </a:rPr>
              <a:t>, h</a:t>
            </a:r>
            <a:r>
              <a:rPr lang="en-US" sz="2000" baseline="-25000" dirty="0">
                <a:sym typeface="Symbol" pitchFamily="18" charset="2"/>
              </a:rPr>
              <a:t>i</a:t>
            </a:r>
            <a:r>
              <a:rPr lang="en-US" sz="2000" dirty="0">
                <a:sym typeface="Symbol" pitchFamily="18" charset="2"/>
              </a:rPr>
              <a:t>(x) = (</a:t>
            </a:r>
            <a:r>
              <a:rPr lang="en-US" sz="2000" i="1" dirty="0">
                <a:sym typeface="Symbol" pitchFamily="18" charset="2"/>
              </a:rPr>
              <a:t>hash</a:t>
            </a:r>
            <a:r>
              <a:rPr lang="en-US" sz="2000" dirty="0">
                <a:sym typeface="Symbol" pitchFamily="18" charset="2"/>
              </a:rPr>
              <a:t>(x) + f(</a:t>
            </a:r>
            <a:r>
              <a:rPr lang="en-US" sz="2000" dirty="0" err="1">
                <a:sym typeface="Symbol" pitchFamily="18" charset="2"/>
              </a:rPr>
              <a:t>i</a:t>
            </a:r>
            <a:r>
              <a:rPr lang="en-US" sz="2000" dirty="0">
                <a:sym typeface="Symbol" pitchFamily="18" charset="2"/>
              </a:rPr>
              <a:t>)) mod </a:t>
            </a:r>
            <a:r>
              <a:rPr lang="en-US" sz="2000" i="1" dirty="0" err="1">
                <a:latin typeface="Bookman Old Style" pitchFamily="18" charset="0"/>
                <a:sym typeface="Symbol" pitchFamily="18" charset="2"/>
              </a:rPr>
              <a:t>TableSize</a:t>
            </a:r>
            <a:r>
              <a:rPr lang="en-US" sz="2400" dirty="0">
                <a:sym typeface="Symbol" pitchFamily="18" charset="2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</a:t>
            </a:r>
          </a:p>
        </p:txBody>
      </p:sp>
      <p:sp>
        <p:nvSpPr>
          <p:cNvPr id="246788" name="Rectangle 4"/>
          <p:cNvSpPr>
            <a:spLocks noChangeArrowheads="1"/>
          </p:cNvSpPr>
          <p:nvPr/>
        </p:nvSpPr>
        <p:spPr bwMode="auto">
          <a:xfrm>
            <a:off x="4600575" y="2190750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46789" name="Rectangle 5"/>
          <p:cNvSpPr>
            <a:spLocks noChangeArrowheads="1"/>
          </p:cNvSpPr>
          <p:nvPr/>
        </p:nvSpPr>
        <p:spPr bwMode="auto">
          <a:xfrm>
            <a:off x="8534400" y="911226"/>
            <a:ext cx="928688" cy="2441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6790" name="Line 6"/>
          <p:cNvSpPr>
            <a:spLocks noChangeShapeType="1"/>
          </p:cNvSpPr>
          <p:nvPr/>
        </p:nvSpPr>
        <p:spPr bwMode="auto">
          <a:xfrm>
            <a:off x="85344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1" name="Line 7"/>
          <p:cNvSpPr>
            <a:spLocks noChangeShapeType="1"/>
          </p:cNvSpPr>
          <p:nvPr/>
        </p:nvSpPr>
        <p:spPr bwMode="auto">
          <a:xfrm>
            <a:off x="8534400" y="1524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2" name="Line 8"/>
          <p:cNvSpPr>
            <a:spLocks noChangeShapeType="1"/>
          </p:cNvSpPr>
          <p:nvPr/>
        </p:nvSpPr>
        <p:spPr bwMode="auto">
          <a:xfrm>
            <a:off x="85344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3" name="Line 9"/>
          <p:cNvSpPr>
            <a:spLocks noChangeShapeType="1"/>
          </p:cNvSpPr>
          <p:nvPr/>
        </p:nvSpPr>
        <p:spPr bwMode="auto">
          <a:xfrm>
            <a:off x="8534400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4" name="Line 10"/>
          <p:cNvSpPr>
            <a:spLocks noChangeShapeType="1"/>
          </p:cNvSpPr>
          <p:nvPr/>
        </p:nvSpPr>
        <p:spPr bwMode="auto">
          <a:xfrm>
            <a:off x="85344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5" name="Line 11"/>
          <p:cNvSpPr>
            <a:spLocks noChangeShapeType="1"/>
          </p:cNvSpPr>
          <p:nvPr/>
        </p:nvSpPr>
        <p:spPr bwMode="auto">
          <a:xfrm>
            <a:off x="8534400" y="2743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6" name="Line 12"/>
          <p:cNvSpPr>
            <a:spLocks noChangeShapeType="1"/>
          </p:cNvSpPr>
          <p:nvPr/>
        </p:nvSpPr>
        <p:spPr bwMode="auto">
          <a:xfrm>
            <a:off x="8534400" y="3048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6797" name="Text Box 13"/>
          <p:cNvSpPr txBox="1">
            <a:spLocks noChangeArrowheads="1"/>
          </p:cNvSpPr>
          <p:nvPr/>
        </p:nvSpPr>
        <p:spPr bwMode="auto">
          <a:xfrm>
            <a:off x="8213726" y="893763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0</a:t>
            </a:r>
          </a:p>
        </p:txBody>
      </p:sp>
      <p:sp>
        <p:nvSpPr>
          <p:cNvPr id="246798" name="Text Box 14"/>
          <p:cNvSpPr txBox="1">
            <a:spLocks noChangeArrowheads="1"/>
          </p:cNvSpPr>
          <p:nvPr/>
        </p:nvSpPr>
        <p:spPr bwMode="auto">
          <a:xfrm>
            <a:off x="8229601" y="12192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1</a:t>
            </a:r>
          </a:p>
        </p:txBody>
      </p:sp>
      <p:sp>
        <p:nvSpPr>
          <p:cNvPr id="246799" name="Text Box 15"/>
          <p:cNvSpPr txBox="1">
            <a:spLocks noChangeArrowheads="1"/>
          </p:cNvSpPr>
          <p:nvPr/>
        </p:nvSpPr>
        <p:spPr bwMode="auto">
          <a:xfrm>
            <a:off x="8229601" y="15240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2</a:t>
            </a:r>
          </a:p>
        </p:txBody>
      </p:sp>
      <p:sp>
        <p:nvSpPr>
          <p:cNvPr id="246800" name="Text Box 16"/>
          <p:cNvSpPr txBox="1">
            <a:spLocks noChangeArrowheads="1"/>
          </p:cNvSpPr>
          <p:nvPr/>
        </p:nvSpPr>
        <p:spPr bwMode="auto">
          <a:xfrm>
            <a:off x="8229601" y="18288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3</a:t>
            </a:r>
          </a:p>
        </p:txBody>
      </p:sp>
      <p:sp>
        <p:nvSpPr>
          <p:cNvPr id="246801" name="Text Box 17"/>
          <p:cNvSpPr txBox="1">
            <a:spLocks noChangeArrowheads="1"/>
          </p:cNvSpPr>
          <p:nvPr/>
        </p:nvSpPr>
        <p:spPr bwMode="auto">
          <a:xfrm>
            <a:off x="8229601" y="210185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4</a:t>
            </a:r>
          </a:p>
        </p:txBody>
      </p:sp>
      <p:sp>
        <p:nvSpPr>
          <p:cNvPr id="246802" name="Text Box 18"/>
          <p:cNvSpPr txBox="1">
            <a:spLocks noChangeArrowheads="1"/>
          </p:cNvSpPr>
          <p:nvPr/>
        </p:nvSpPr>
        <p:spPr bwMode="auto">
          <a:xfrm>
            <a:off x="8229601" y="240665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5</a:t>
            </a:r>
          </a:p>
        </p:txBody>
      </p:sp>
      <p:sp>
        <p:nvSpPr>
          <p:cNvPr id="246803" name="Text Box 19"/>
          <p:cNvSpPr txBox="1">
            <a:spLocks noChangeArrowheads="1"/>
          </p:cNvSpPr>
          <p:nvPr/>
        </p:nvSpPr>
        <p:spPr bwMode="auto">
          <a:xfrm>
            <a:off x="8229601" y="271145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6</a:t>
            </a:r>
          </a:p>
        </p:txBody>
      </p:sp>
      <p:sp>
        <p:nvSpPr>
          <p:cNvPr id="246804" name="Text Box 20"/>
          <p:cNvSpPr txBox="1">
            <a:spLocks noChangeArrowheads="1"/>
          </p:cNvSpPr>
          <p:nvPr/>
        </p:nvSpPr>
        <p:spPr bwMode="auto">
          <a:xfrm>
            <a:off x="8229601" y="30480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7</a:t>
            </a:r>
          </a:p>
        </p:txBody>
      </p:sp>
      <p:sp>
        <p:nvSpPr>
          <p:cNvPr id="246808" name="Text Box 24"/>
          <p:cNvSpPr txBox="1">
            <a:spLocks noChangeArrowheads="1"/>
          </p:cNvSpPr>
          <p:nvPr/>
        </p:nvSpPr>
        <p:spPr bwMode="auto">
          <a:xfrm>
            <a:off x="8518525" y="641351"/>
            <a:ext cx="82958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/>
              <a:t>key mod 8</a:t>
            </a:r>
          </a:p>
        </p:txBody>
      </p:sp>
      <p:grpSp>
        <p:nvGrpSpPr>
          <p:cNvPr id="246823" name="Group 39"/>
          <p:cNvGrpSpPr>
            <a:grpSpLocks/>
          </p:cNvGrpSpPr>
          <p:nvPr/>
        </p:nvGrpSpPr>
        <p:grpSpPr bwMode="auto">
          <a:xfrm>
            <a:off x="2667000" y="2133600"/>
            <a:ext cx="6502400" cy="1512888"/>
            <a:chOff x="720" y="1344"/>
            <a:chExt cx="4096" cy="953"/>
          </a:xfrm>
        </p:grpSpPr>
        <p:sp>
          <p:nvSpPr>
            <p:cNvPr id="246807" name="Rectangle 23"/>
            <p:cNvSpPr>
              <a:spLocks noChangeArrowheads="1"/>
            </p:cNvSpPr>
            <p:nvPr/>
          </p:nvSpPr>
          <p:spPr bwMode="auto">
            <a:xfrm>
              <a:off x="4560" y="1344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36</a:t>
              </a:r>
            </a:p>
          </p:txBody>
        </p:sp>
        <p:sp>
          <p:nvSpPr>
            <p:cNvPr id="246810" name="Text Box 26"/>
            <p:cNvSpPr txBox="1">
              <a:spLocks noChangeArrowheads="1"/>
            </p:cNvSpPr>
            <p:nvPr/>
          </p:nvSpPr>
          <p:spPr bwMode="auto">
            <a:xfrm>
              <a:off x="720" y="2064"/>
              <a:ext cx="207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0</a:t>
              </a:r>
              <a:r>
                <a:rPr lang="en-US"/>
                <a:t>(36) = hash(36) = 36 mod 8 = 4 </a:t>
              </a:r>
            </a:p>
          </p:txBody>
        </p:sp>
      </p:grpSp>
      <p:grpSp>
        <p:nvGrpSpPr>
          <p:cNvPr id="246826" name="Group 42"/>
          <p:cNvGrpSpPr>
            <a:grpSpLocks/>
          </p:cNvGrpSpPr>
          <p:nvPr/>
        </p:nvGrpSpPr>
        <p:grpSpPr bwMode="auto">
          <a:xfrm>
            <a:off x="2667000" y="2438401"/>
            <a:ext cx="6502400" cy="2900363"/>
            <a:chOff x="720" y="1536"/>
            <a:chExt cx="4096" cy="1827"/>
          </a:xfrm>
        </p:grpSpPr>
        <p:sp>
          <p:nvSpPr>
            <p:cNvPr id="246806" name="Rectangle 22"/>
            <p:cNvSpPr>
              <a:spLocks noChangeArrowheads="1"/>
            </p:cNvSpPr>
            <p:nvPr/>
          </p:nvSpPr>
          <p:spPr bwMode="auto">
            <a:xfrm>
              <a:off x="4560" y="1536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20</a:t>
              </a:r>
            </a:p>
          </p:txBody>
        </p:sp>
        <p:sp>
          <p:nvSpPr>
            <p:cNvPr id="246813" name="Text Box 29"/>
            <p:cNvSpPr txBox="1">
              <a:spLocks noChangeArrowheads="1"/>
            </p:cNvSpPr>
            <p:nvPr/>
          </p:nvSpPr>
          <p:spPr bwMode="auto">
            <a:xfrm>
              <a:off x="720" y="2956"/>
              <a:ext cx="2988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h</a:t>
              </a:r>
              <a:r>
                <a:rPr lang="en-US" baseline="-25000" dirty="0"/>
                <a:t>3</a:t>
              </a:r>
              <a:r>
                <a:rPr lang="en-US" dirty="0"/>
                <a:t>(20) = hash(20) = 20 mod 8 = </a:t>
              </a:r>
              <a:r>
                <a:rPr lang="en-US" dirty="0">
                  <a:solidFill>
                    <a:srgbClr val="FF00FF"/>
                  </a:solidFill>
                </a:rPr>
                <a:t>4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          = (</a:t>
              </a:r>
              <a:r>
                <a:rPr lang="en-US" dirty="0">
                  <a:solidFill>
                    <a:srgbClr val="FF0000"/>
                  </a:solidFill>
                </a:rPr>
                <a:t>hash(20) + f(1)</a:t>
              </a:r>
              <a:r>
                <a:rPr lang="en-US" dirty="0"/>
                <a:t>) mod 8 = (4+1) mod 8 = 5</a:t>
              </a:r>
            </a:p>
          </p:txBody>
        </p:sp>
      </p:grpSp>
      <p:grpSp>
        <p:nvGrpSpPr>
          <p:cNvPr id="246827" name="Group 43"/>
          <p:cNvGrpSpPr>
            <a:grpSpLocks/>
          </p:cNvGrpSpPr>
          <p:nvPr/>
        </p:nvGrpSpPr>
        <p:grpSpPr bwMode="auto">
          <a:xfrm>
            <a:off x="2667000" y="914400"/>
            <a:ext cx="6502400" cy="5419726"/>
            <a:chOff x="720" y="576"/>
            <a:chExt cx="4096" cy="3414"/>
          </a:xfrm>
        </p:grpSpPr>
        <p:sp>
          <p:nvSpPr>
            <p:cNvPr id="246805" name="Rectangle 21"/>
            <p:cNvSpPr>
              <a:spLocks noChangeArrowheads="1"/>
            </p:cNvSpPr>
            <p:nvPr/>
          </p:nvSpPr>
          <p:spPr bwMode="auto">
            <a:xfrm>
              <a:off x="4560" y="576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22</a:t>
              </a:r>
            </a:p>
          </p:txBody>
        </p:sp>
        <p:sp>
          <p:nvSpPr>
            <p:cNvPr id="246814" name="Text Box 30"/>
            <p:cNvSpPr txBox="1">
              <a:spLocks noChangeArrowheads="1"/>
            </p:cNvSpPr>
            <p:nvPr/>
          </p:nvSpPr>
          <p:spPr bwMode="auto">
            <a:xfrm>
              <a:off x="720" y="3408"/>
              <a:ext cx="2988" cy="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h</a:t>
              </a:r>
              <a:r>
                <a:rPr lang="en-US" baseline="-25000" dirty="0"/>
                <a:t>4</a:t>
              </a:r>
              <a:r>
                <a:rPr lang="en-US" dirty="0"/>
                <a:t>(22) = hash(22) = 22 mod 8 = </a:t>
              </a:r>
              <a:r>
                <a:rPr lang="en-US" dirty="0">
                  <a:solidFill>
                    <a:srgbClr val="FF00FF"/>
                  </a:solidFill>
                </a:rPr>
                <a:t>6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          = (</a:t>
              </a:r>
              <a:r>
                <a:rPr lang="en-US" dirty="0">
                  <a:solidFill>
                    <a:srgbClr val="FF0000"/>
                  </a:solidFill>
                </a:rPr>
                <a:t>hash(22) + f(1)</a:t>
              </a:r>
              <a:r>
                <a:rPr lang="en-US" dirty="0"/>
                <a:t>) mod 8 = (6+1) mod 8 = </a:t>
              </a:r>
              <a:r>
                <a:rPr lang="en-US" dirty="0">
                  <a:solidFill>
                    <a:srgbClr val="FF00FF"/>
                  </a:solidFill>
                </a:rPr>
                <a:t>7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          = (</a:t>
              </a:r>
              <a:r>
                <a:rPr lang="en-US" dirty="0">
                  <a:solidFill>
                    <a:srgbClr val="FF0000"/>
                  </a:solidFill>
                </a:rPr>
                <a:t>hash(22) + f(2)</a:t>
              </a:r>
              <a:r>
                <a:rPr lang="en-US" dirty="0"/>
                <a:t>) mod 8 = (6+2) mod 8 = 0</a:t>
              </a:r>
            </a:p>
          </p:txBody>
        </p:sp>
      </p:grpSp>
      <p:grpSp>
        <p:nvGrpSpPr>
          <p:cNvPr id="246825" name="Group 41"/>
          <p:cNvGrpSpPr>
            <a:grpSpLocks/>
          </p:cNvGrpSpPr>
          <p:nvPr/>
        </p:nvGrpSpPr>
        <p:grpSpPr bwMode="auto">
          <a:xfrm>
            <a:off x="2667000" y="3016250"/>
            <a:ext cx="6502400" cy="1544638"/>
            <a:chOff x="720" y="1900"/>
            <a:chExt cx="4096" cy="973"/>
          </a:xfrm>
        </p:grpSpPr>
        <p:sp>
          <p:nvSpPr>
            <p:cNvPr id="246812" name="Text Box 28"/>
            <p:cNvSpPr txBox="1">
              <a:spLocks noChangeArrowheads="1"/>
            </p:cNvSpPr>
            <p:nvPr/>
          </p:nvSpPr>
          <p:spPr bwMode="auto">
            <a:xfrm>
              <a:off x="720" y="2640"/>
              <a:ext cx="204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2</a:t>
              </a:r>
              <a:r>
                <a:rPr lang="en-US"/>
                <a:t>(47) = hash(47) = 47 mod 8 = 7</a:t>
              </a:r>
              <a:endParaRPr lang="en-US">
                <a:solidFill>
                  <a:srgbClr val="FF00FF"/>
                </a:solidFill>
              </a:endParaRPr>
            </a:p>
          </p:txBody>
        </p:sp>
        <p:sp>
          <p:nvSpPr>
            <p:cNvPr id="246821" name="Rectangle 37"/>
            <p:cNvSpPr>
              <a:spLocks noChangeArrowheads="1"/>
            </p:cNvSpPr>
            <p:nvPr/>
          </p:nvSpPr>
          <p:spPr bwMode="auto">
            <a:xfrm>
              <a:off x="4560" y="1900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47</a:t>
              </a:r>
            </a:p>
          </p:txBody>
        </p:sp>
      </p:grpSp>
      <p:grpSp>
        <p:nvGrpSpPr>
          <p:cNvPr id="246824" name="Group 40"/>
          <p:cNvGrpSpPr>
            <a:grpSpLocks/>
          </p:cNvGrpSpPr>
          <p:nvPr/>
        </p:nvGrpSpPr>
        <p:grpSpPr bwMode="auto">
          <a:xfrm>
            <a:off x="2667000" y="2711451"/>
            <a:ext cx="6502400" cy="1406525"/>
            <a:chOff x="720" y="1708"/>
            <a:chExt cx="4096" cy="886"/>
          </a:xfrm>
        </p:grpSpPr>
        <p:sp>
          <p:nvSpPr>
            <p:cNvPr id="246811" name="Text Box 27"/>
            <p:cNvSpPr txBox="1">
              <a:spLocks noChangeArrowheads="1"/>
            </p:cNvSpPr>
            <p:nvPr/>
          </p:nvSpPr>
          <p:spPr bwMode="auto">
            <a:xfrm>
              <a:off x="720" y="2361"/>
              <a:ext cx="204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1</a:t>
              </a:r>
              <a:r>
                <a:rPr lang="en-US"/>
                <a:t>(30) = hash(30) = 30 mod 8 = 6</a:t>
              </a:r>
            </a:p>
          </p:txBody>
        </p:sp>
        <p:sp>
          <p:nvSpPr>
            <p:cNvPr id="246822" name="Rectangle 38"/>
            <p:cNvSpPr>
              <a:spLocks noChangeArrowheads="1"/>
            </p:cNvSpPr>
            <p:nvPr/>
          </p:nvSpPr>
          <p:spPr bwMode="auto">
            <a:xfrm>
              <a:off x="4560" y="1708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30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4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4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4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4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6175" y="909081"/>
            <a:ext cx="8001000" cy="571500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</a:pPr>
            <a:r>
              <a:rPr lang="en-US" dirty="0">
                <a:sym typeface="Symbol" pitchFamily="18" charset="2"/>
              </a:rPr>
              <a:t>Quadratic Probing</a:t>
            </a:r>
          </a:p>
        </p:txBody>
      </p:sp>
      <p:sp>
        <p:nvSpPr>
          <p:cNvPr id="2396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88049" y="1860550"/>
            <a:ext cx="6934200" cy="5641975"/>
          </a:xfrm>
        </p:spPr>
        <p:txBody>
          <a:bodyPr/>
          <a:lstStyle/>
          <a:p>
            <a:r>
              <a:rPr lang="en-US" dirty="0">
                <a:sym typeface="Symbol" pitchFamily="18" charset="2"/>
              </a:rPr>
              <a:t>When collision occurs, we probe for i^2th bucket in </a:t>
            </a:r>
            <a:r>
              <a:rPr lang="en-US" dirty="0" err="1">
                <a:sym typeface="Symbol" pitchFamily="18" charset="2"/>
              </a:rPr>
              <a:t>ith</a:t>
            </a:r>
            <a:r>
              <a:rPr lang="en-US" dirty="0">
                <a:sym typeface="Symbol" pitchFamily="18" charset="2"/>
              </a:rPr>
              <a:t> iteration.</a:t>
            </a:r>
          </a:p>
          <a:p>
            <a:r>
              <a:rPr lang="en-US" dirty="0">
                <a:sym typeface="Symbol" pitchFamily="18" charset="2"/>
              </a:rPr>
              <a:t>We keep probing until an empty bucket is found.</a:t>
            </a:r>
          </a:p>
          <a:p>
            <a:r>
              <a:rPr lang="en-US" sz="2000" dirty="0">
                <a:sym typeface="Symbol" pitchFamily="18" charset="2"/>
              </a:rPr>
              <a:t>For example: </a:t>
            </a:r>
            <a:r>
              <a:rPr lang="en-US" sz="1600" i="1" dirty="0" err="1">
                <a:latin typeface="Bookman Old Style" pitchFamily="18" charset="0"/>
                <a:sym typeface="Symbol" pitchFamily="18" charset="2"/>
              </a:rPr>
              <a:t>TableSize</a:t>
            </a:r>
            <a:r>
              <a:rPr lang="en-US" sz="1600" i="1" dirty="0">
                <a:latin typeface="Bookman Old Style" pitchFamily="18" charset="0"/>
                <a:sym typeface="Symbol" pitchFamily="18" charset="2"/>
              </a:rPr>
              <a:t> = 8,  </a:t>
            </a:r>
            <a:r>
              <a:rPr lang="en-US" sz="2000" i="1" dirty="0">
                <a:sym typeface="Symbol" pitchFamily="18" charset="2"/>
              </a:rPr>
              <a:t>hash</a:t>
            </a:r>
            <a:r>
              <a:rPr lang="en-US" sz="2000" dirty="0">
                <a:sym typeface="Symbol" pitchFamily="18" charset="2"/>
              </a:rPr>
              <a:t>(</a:t>
            </a:r>
            <a:r>
              <a:rPr lang="en-US" sz="2000" i="1" dirty="0">
                <a:sym typeface="Symbol" pitchFamily="18" charset="2"/>
              </a:rPr>
              <a:t>x</a:t>
            </a:r>
            <a:r>
              <a:rPr lang="en-US" sz="2000" dirty="0">
                <a:sym typeface="Symbol" pitchFamily="18" charset="2"/>
              </a:rPr>
              <a:t>) = </a:t>
            </a:r>
            <a:r>
              <a:rPr lang="en-US" sz="2000" i="1" dirty="0">
                <a:sym typeface="Symbol" pitchFamily="18" charset="2"/>
              </a:rPr>
              <a:t>x</a:t>
            </a:r>
            <a:r>
              <a:rPr lang="en-US" sz="2000" dirty="0">
                <a:sym typeface="Symbol" pitchFamily="18" charset="2"/>
              </a:rPr>
              <a:t> mod 8, </a:t>
            </a:r>
            <a:r>
              <a:rPr lang="en-US" sz="2000" dirty="0">
                <a:solidFill>
                  <a:srgbClr val="FF00FF"/>
                </a:solidFill>
                <a:sym typeface="Symbol" pitchFamily="18" charset="2"/>
              </a:rPr>
              <a:t>f(</a:t>
            </a:r>
            <a:r>
              <a:rPr lang="en-US" sz="2000" dirty="0" err="1">
                <a:solidFill>
                  <a:srgbClr val="FF00FF"/>
                </a:solidFill>
                <a:sym typeface="Symbol" pitchFamily="18" charset="2"/>
              </a:rPr>
              <a:t>i</a:t>
            </a:r>
            <a:r>
              <a:rPr lang="en-US" sz="2000" dirty="0">
                <a:solidFill>
                  <a:srgbClr val="FF00FF"/>
                </a:solidFill>
                <a:sym typeface="Symbol" pitchFamily="18" charset="2"/>
              </a:rPr>
              <a:t>) = i</a:t>
            </a:r>
            <a:r>
              <a:rPr lang="en-US" sz="2000" baseline="30000" dirty="0">
                <a:solidFill>
                  <a:srgbClr val="FF00FF"/>
                </a:solidFill>
                <a:sym typeface="Symbol" pitchFamily="18" charset="2"/>
              </a:rPr>
              <a:t>2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dirty="0">
                <a:sym typeface="Symbol" pitchFamily="18" charset="2"/>
              </a:rPr>
              <a:t>h</a:t>
            </a:r>
            <a:r>
              <a:rPr lang="en-US" baseline="-25000" dirty="0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(x) = (</a:t>
            </a:r>
            <a:r>
              <a:rPr lang="en-US" i="1" dirty="0">
                <a:sym typeface="Symbol" pitchFamily="18" charset="2"/>
              </a:rPr>
              <a:t>hash</a:t>
            </a:r>
            <a:r>
              <a:rPr lang="en-US" dirty="0">
                <a:sym typeface="Symbol" pitchFamily="18" charset="2"/>
              </a:rPr>
              <a:t>(x) + f(</a:t>
            </a:r>
            <a:r>
              <a:rPr lang="en-US" dirty="0" err="1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)) mod </a:t>
            </a:r>
            <a:r>
              <a:rPr lang="en-US" i="1" dirty="0" err="1">
                <a:latin typeface="Bookman Old Style" pitchFamily="18" charset="0"/>
                <a:sym typeface="Symbol" pitchFamily="18" charset="2"/>
              </a:rPr>
              <a:t>TableSize</a:t>
            </a:r>
            <a:r>
              <a:rPr lang="en-US" dirty="0">
                <a:sym typeface="Symbol" pitchFamily="18" charset="2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US" sz="1600" dirty="0">
                <a:sym typeface="Symbol" pitchFamily="18" charset="2"/>
              </a:rPr>
              <a:t>	</a:t>
            </a:r>
            <a:endParaRPr lang="en-US" sz="1600" dirty="0">
              <a:solidFill>
                <a:srgbClr val="FF00FF"/>
              </a:solidFill>
              <a:sym typeface="Symbol" pitchFamily="18" charset="2"/>
            </a:endParaRPr>
          </a:p>
        </p:txBody>
      </p:sp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4600575" y="2190750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9621" name="Rectangle 5"/>
          <p:cNvSpPr>
            <a:spLocks noChangeArrowheads="1"/>
          </p:cNvSpPr>
          <p:nvPr/>
        </p:nvSpPr>
        <p:spPr bwMode="auto">
          <a:xfrm>
            <a:off x="8997632" y="2829957"/>
            <a:ext cx="928688" cy="2441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622" name="Line 6"/>
          <p:cNvSpPr>
            <a:spLocks noChangeShapeType="1"/>
          </p:cNvSpPr>
          <p:nvPr/>
        </p:nvSpPr>
        <p:spPr bwMode="auto">
          <a:xfrm>
            <a:off x="8997632" y="31379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3" name="Line 7"/>
          <p:cNvSpPr>
            <a:spLocks noChangeShapeType="1"/>
          </p:cNvSpPr>
          <p:nvPr/>
        </p:nvSpPr>
        <p:spPr bwMode="auto">
          <a:xfrm>
            <a:off x="8997632" y="34427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4" name="Line 8"/>
          <p:cNvSpPr>
            <a:spLocks noChangeShapeType="1"/>
          </p:cNvSpPr>
          <p:nvPr/>
        </p:nvSpPr>
        <p:spPr bwMode="auto">
          <a:xfrm>
            <a:off x="8997632" y="37475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5" name="Line 9"/>
          <p:cNvSpPr>
            <a:spLocks noChangeShapeType="1"/>
          </p:cNvSpPr>
          <p:nvPr/>
        </p:nvSpPr>
        <p:spPr bwMode="auto">
          <a:xfrm>
            <a:off x="8997632" y="40523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6" name="Line 10"/>
          <p:cNvSpPr>
            <a:spLocks noChangeShapeType="1"/>
          </p:cNvSpPr>
          <p:nvPr/>
        </p:nvSpPr>
        <p:spPr bwMode="auto">
          <a:xfrm>
            <a:off x="8997632" y="43571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7" name="Line 11"/>
          <p:cNvSpPr>
            <a:spLocks noChangeShapeType="1"/>
          </p:cNvSpPr>
          <p:nvPr/>
        </p:nvSpPr>
        <p:spPr bwMode="auto">
          <a:xfrm>
            <a:off x="8997632" y="46619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8" name="Line 12"/>
          <p:cNvSpPr>
            <a:spLocks noChangeShapeType="1"/>
          </p:cNvSpPr>
          <p:nvPr/>
        </p:nvSpPr>
        <p:spPr bwMode="auto">
          <a:xfrm>
            <a:off x="8997632" y="496673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9629" name="Text Box 13"/>
          <p:cNvSpPr txBox="1">
            <a:spLocks noChangeArrowheads="1"/>
          </p:cNvSpPr>
          <p:nvPr/>
        </p:nvSpPr>
        <p:spPr bwMode="auto">
          <a:xfrm>
            <a:off x="8676958" y="2812494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0</a:t>
            </a:r>
          </a:p>
        </p:txBody>
      </p:sp>
      <p:sp>
        <p:nvSpPr>
          <p:cNvPr id="239630" name="Text Box 14"/>
          <p:cNvSpPr txBox="1">
            <a:spLocks noChangeArrowheads="1"/>
          </p:cNvSpPr>
          <p:nvPr/>
        </p:nvSpPr>
        <p:spPr bwMode="auto">
          <a:xfrm>
            <a:off x="8692833" y="313793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1</a:t>
            </a:r>
          </a:p>
        </p:txBody>
      </p:sp>
      <p:sp>
        <p:nvSpPr>
          <p:cNvPr id="239631" name="Text Box 15"/>
          <p:cNvSpPr txBox="1">
            <a:spLocks noChangeArrowheads="1"/>
          </p:cNvSpPr>
          <p:nvPr/>
        </p:nvSpPr>
        <p:spPr bwMode="auto">
          <a:xfrm>
            <a:off x="8692833" y="344273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2</a:t>
            </a:r>
          </a:p>
        </p:txBody>
      </p:sp>
      <p:sp>
        <p:nvSpPr>
          <p:cNvPr id="239632" name="Text Box 16"/>
          <p:cNvSpPr txBox="1">
            <a:spLocks noChangeArrowheads="1"/>
          </p:cNvSpPr>
          <p:nvPr/>
        </p:nvSpPr>
        <p:spPr bwMode="auto">
          <a:xfrm>
            <a:off x="8692833" y="374753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3</a:t>
            </a:r>
          </a:p>
        </p:txBody>
      </p:sp>
      <p:sp>
        <p:nvSpPr>
          <p:cNvPr id="239633" name="Text Box 17"/>
          <p:cNvSpPr txBox="1">
            <a:spLocks noChangeArrowheads="1"/>
          </p:cNvSpPr>
          <p:nvPr/>
        </p:nvSpPr>
        <p:spPr bwMode="auto">
          <a:xfrm>
            <a:off x="8692833" y="402058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4</a:t>
            </a:r>
          </a:p>
        </p:txBody>
      </p:sp>
      <p:sp>
        <p:nvSpPr>
          <p:cNvPr id="239634" name="Text Box 18"/>
          <p:cNvSpPr txBox="1">
            <a:spLocks noChangeArrowheads="1"/>
          </p:cNvSpPr>
          <p:nvPr/>
        </p:nvSpPr>
        <p:spPr bwMode="auto">
          <a:xfrm>
            <a:off x="8692833" y="432538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5</a:t>
            </a:r>
          </a:p>
        </p:txBody>
      </p:sp>
      <p:sp>
        <p:nvSpPr>
          <p:cNvPr id="239635" name="Text Box 19"/>
          <p:cNvSpPr txBox="1">
            <a:spLocks noChangeArrowheads="1"/>
          </p:cNvSpPr>
          <p:nvPr/>
        </p:nvSpPr>
        <p:spPr bwMode="auto">
          <a:xfrm>
            <a:off x="8692833" y="463018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6</a:t>
            </a:r>
          </a:p>
        </p:txBody>
      </p:sp>
      <p:sp>
        <p:nvSpPr>
          <p:cNvPr id="239636" name="Text Box 20"/>
          <p:cNvSpPr txBox="1">
            <a:spLocks noChangeArrowheads="1"/>
          </p:cNvSpPr>
          <p:nvPr/>
        </p:nvSpPr>
        <p:spPr bwMode="auto">
          <a:xfrm>
            <a:off x="8692833" y="4966731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7</a:t>
            </a:r>
          </a:p>
        </p:txBody>
      </p:sp>
      <p:sp>
        <p:nvSpPr>
          <p:cNvPr id="239637" name="Rectangle 21"/>
          <p:cNvSpPr>
            <a:spLocks noChangeArrowheads="1"/>
          </p:cNvSpPr>
          <p:nvPr/>
        </p:nvSpPr>
        <p:spPr bwMode="auto">
          <a:xfrm>
            <a:off x="9226232" y="2833131"/>
            <a:ext cx="3930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/>
              <a:t>36</a:t>
            </a:r>
          </a:p>
        </p:txBody>
      </p:sp>
      <p:sp>
        <p:nvSpPr>
          <p:cNvPr id="239638" name="Rectangle 22"/>
          <p:cNvSpPr>
            <a:spLocks noChangeArrowheads="1"/>
          </p:cNvSpPr>
          <p:nvPr/>
        </p:nvSpPr>
        <p:spPr bwMode="auto">
          <a:xfrm>
            <a:off x="9226232" y="4357131"/>
            <a:ext cx="406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45</a:t>
            </a:r>
          </a:p>
        </p:txBody>
      </p:sp>
      <p:sp>
        <p:nvSpPr>
          <p:cNvPr id="239639" name="Rectangle 23"/>
          <p:cNvSpPr>
            <a:spLocks noChangeArrowheads="1"/>
          </p:cNvSpPr>
          <p:nvPr/>
        </p:nvSpPr>
        <p:spPr bwMode="auto">
          <a:xfrm>
            <a:off x="9226232" y="4052331"/>
            <a:ext cx="406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20</a:t>
            </a:r>
          </a:p>
        </p:txBody>
      </p:sp>
      <p:sp>
        <p:nvSpPr>
          <p:cNvPr id="239640" name="Text Box 24"/>
          <p:cNvSpPr txBox="1">
            <a:spLocks noChangeArrowheads="1"/>
          </p:cNvSpPr>
          <p:nvPr/>
        </p:nvSpPr>
        <p:spPr bwMode="auto">
          <a:xfrm>
            <a:off x="8981757" y="2560082"/>
            <a:ext cx="82958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/>
              <a:t>key mod 8</a:t>
            </a:r>
          </a:p>
        </p:txBody>
      </p:sp>
      <p:sp>
        <p:nvSpPr>
          <p:cNvPr id="239641" name="Text Box 25"/>
          <p:cNvSpPr txBox="1">
            <a:spLocks noChangeArrowheads="1"/>
          </p:cNvSpPr>
          <p:nvPr/>
        </p:nvSpPr>
        <p:spPr bwMode="auto">
          <a:xfrm>
            <a:off x="2716849" y="3536950"/>
            <a:ext cx="335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/>
              <a:t>Insert key 36: </a:t>
            </a:r>
            <a:r>
              <a:rPr lang="en-US" dirty="0">
                <a:solidFill>
                  <a:srgbClr val="FF00FF"/>
                </a:solidFill>
              </a:rPr>
              <a:t>What happens?</a:t>
            </a:r>
          </a:p>
        </p:txBody>
      </p:sp>
      <p:sp>
        <p:nvSpPr>
          <p:cNvPr id="239642" name="Text Box 26"/>
          <p:cNvSpPr txBox="1">
            <a:spLocks noChangeArrowheads="1"/>
          </p:cNvSpPr>
          <p:nvPr/>
        </p:nvSpPr>
        <p:spPr bwMode="auto">
          <a:xfrm>
            <a:off x="2716849" y="3949699"/>
            <a:ext cx="3297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h</a:t>
            </a:r>
            <a:r>
              <a:rPr lang="en-US" baseline="-25000"/>
              <a:t>0</a:t>
            </a:r>
            <a:r>
              <a:rPr lang="en-US"/>
              <a:t>(36) = hash(36) = 36 mod 8 = 4 </a:t>
            </a:r>
          </a:p>
        </p:txBody>
      </p:sp>
      <p:sp>
        <p:nvSpPr>
          <p:cNvPr id="239643" name="Text Box 27"/>
          <p:cNvSpPr txBox="1">
            <a:spLocks noChangeArrowheads="1"/>
          </p:cNvSpPr>
          <p:nvPr/>
        </p:nvSpPr>
        <p:spPr bwMode="auto">
          <a:xfrm>
            <a:off x="2716850" y="4330700"/>
            <a:ext cx="319510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h</a:t>
            </a:r>
            <a:r>
              <a:rPr lang="en-US" baseline="-25000"/>
              <a:t>1</a:t>
            </a:r>
            <a:r>
              <a:rPr lang="en-US"/>
              <a:t>(36) = (hash(36) + f(1)) mod 8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         = (4 + 1</a:t>
            </a:r>
            <a:r>
              <a:rPr lang="en-US" baseline="30000"/>
              <a:t>2</a:t>
            </a:r>
            <a:r>
              <a:rPr lang="en-US"/>
              <a:t>) mod 8 = 5 </a:t>
            </a:r>
          </a:p>
        </p:txBody>
      </p:sp>
      <p:sp>
        <p:nvSpPr>
          <p:cNvPr id="239644" name="Text Box 28"/>
          <p:cNvSpPr txBox="1">
            <a:spLocks noChangeArrowheads="1"/>
          </p:cNvSpPr>
          <p:nvPr/>
        </p:nvSpPr>
        <p:spPr bwMode="auto">
          <a:xfrm>
            <a:off x="2716850" y="4984750"/>
            <a:ext cx="319510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(36) = (hash(36) + f(2)) mod 8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         = (4 + 2</a:t>
            </a:r>
            <a:r>
              <a:rPr lang="en-US" baseline="30000"/>
              <a:t>2</a:t>
            </a:r>
            <a:r>
              <a:rPr lang="en-US"/>
              <a:t>) mod 8 = </a:t>
            </a:r>
            <a:r>
              <a:rPr lang="en-US">
                <a:solidFill>
                  <a:srgbClr val="FF00FF"/>
                </a:solidFill>
              </a:rPr>
              <a:t>0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41" grpId="0" autoUpdateAnimBg="0"/>
      <p:bldP spid="239642" grpId="0" autoUpdateAnimBg="0"/>
      <p:bldP spid="239643" grpId="0" autoUpdateAnimBg="0"/>
      <p:bldP spid="23964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1905000" y="762000"/>
            <a:ext cx="8001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sz="5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Bucketing</a:t>
            </a:r>
          </a:p>
        </p:txBody>
      </p:sp>
      <p:sp>
        <p:nvSpPr>
          <p:cNvPr id="251907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90600" y="1600200"/>
            <a:ext cx="6019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2800" dirty="0"/>
              <a:t>Bucketing is a method used for Large Tables</a:t>
            </a:r>
          </a:p>
          <a:p>
            <a:pPr marL="342900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2800" dirty="0"/>
              <a:t>For Example:</a:t>
            </a:r>
          </a:p>
          <a:p>
            <a:pPr marL="742950" lvl="1" indent="-285750">
              <a:buClr>
                <a:schemeClr val="tx1"/>
              </a:buClr>
              <a:buSzPct val="110000"/>
              <a:buFont typeface="Wingdings" pitchFamily="2" charset="2"/>
              <a:buChar char="§"/>
            </a:pPr>
            <a:r>
              <a:rPr lang="en-US" dirty="0"/>
              <a:t>Hash Table Size = 21</a:t>
            </a:r>
          </a:p>
          <a:p>
            <a:pPr marL="742950" lvl="1" indent="-285750">
              <a:buClr>
                <a:schemeClr val="tx1"/>
              </a:buClr>
              <a:buSzPct val="110000"/>
              <a:buFont typeface="Wingdings" pitchFamily="2" charset="2"/>
              <a:buChar char="§"/>
            </a:pPr>
            <a:r>
              <a:rPr lang="en-US" dirty="0"/>
              <a:t>Divided into Sub-Tables = 3</a:t>
            </a:r>
          </a:p>
          <a:p>
            <a:pPr marL="742950" lvl="1" indent="-285750">
              <a:buClr>
                <a:schemeClr val="tx1"/>
              </a:buClr>
              <a:buSzPct val="110000"/>
              <a:buFont typeface="Wingdings" pitchFamily="2" charset="2"/>
              <a:buChar char="§"/>
            </a:pPr>
            <a:r>
              <a:rPr lang="en-US" dirty="0"/>
              <a:t>Sub-Table Size = 21 DIV 3 = 7</a:t>
            </a:r>
          </a:p>
          <a:p>
            <a:pPr marL="342900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2800" dirty="0"/>
              <a:t>Now we have to use two Hash Function</a:t>
            </a:r>
          </a:p>
          <a:p>
            <a:pPr marL="742950" lvl="1" indent="-285750">
              <a:buClr>
                <a:schemeClr val="tx1"/>
              </a:buClr>
              <a:buSzPct val="110000"/>
              <a:buFont typeface="Wingdings" pitchFamily="2" charset="2"/>
              <a:buChar char="§"/>
            </a:pPr>
            <a:r>
              <a:rPr lang="en-US" dirty="0"/>
              <a:t>First to Calculate the Table Number, then</a:t>
            </a:r>
          </a:p>
          <a:p>
            <a:pPr marL="742950" lvl="1" indent="-285750">
              <a:buClr>
                <a:schemeClr val="tx1"/>
              </a:buClr>
              <a:buSzPct val="110000"/>
              <a:buFont typeface="Wingdings" pitchFamily="2" charset="2"/>
              <a:buChar char="§"/>
            </a:pPr>
            <a:r>
              <a:rPr lang="en-US" dirty="0"/>
              <a:t>Second to Calculate the position in the Table</a:t>
            </a:r>
          </a:p>
        </p:txBody>
      </p:sp>
      <p:grpSp>
        <p:nvGrpSpPr>
          <p:cNvPr id="252019" name="Group 115"/>
          <p:cNvGrpSpPr>
            <a:grpSpLocks/>
          </p:cNvGrpSpPr>
          <p:nvPr/>
        </p:nvGrpSpPr>
        <p:grpSpPr bwMode="auto">
          <a:xfrm>
            <a:off x="7010401" y="1143000"/>
            <a:ext cx="3186113" cy="2514600"/>
            <a:chOff x="3216" y="2160"/>
            <a:chExt cx="2007" cy="1584"/>
          </a:xfrm>
        </p:grpSpPr>
        <p:grpSp>
          <p:nvGrpSpPr>
            <p:cNvPr id="251999" name="Group 95"/>
            <p:cNvGrpSpPr>
              <a:grpSpLocks/>
            </p:cNvGrpSpPr>
            <p:nvPr/>
          </p:nvGrpSpPr>
          <p:grpSpPr bwMode="auto">
            <a:xfrm>
              <a:off x="3216" y="2387"/>
              <a:ext cx="196" cy="1357"/>
              <a:chOff x="1008" y="2723"/>
              <a:chExt cx="196" cy="1357"/>
            </a:xfrm>
          </p:grpSpPr>
          <p:sp>
            <p:nvSpPr>
              <p:cNvPr id="251916" name="Text Box 12"/>
              <p:cNvSpPr txBox="1">
                <a:spLocks noChangeArrowheads="1"/>
              </p:cNvSpPr>
              <p:nvPr/>
            </p:nvSpPr>
            <p:spPr bwMode="auto">
              <a:xfrm>
                <a:off x="1008" y="2723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0</a:t>
                </a:r>
              </a:p>
            </p:txBody>
          </p:sp>
          <p:sp>
            <p:nvSpPr>
              <p:cNvPr id="251917" name="Text Box 13"/>
              <p:cNvSpPr txBox="1">
                <a:spLocks noChangeArrowheads="1"/>
              </p:cNvSpPr>
              <p:nvPr/>
            </p:nvSpPr>
            <p:spPr bwMode="auto">
              <a:xfrm>
                <a:off x="1018" y="2928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1</a:t>
                </a:r>
              </a:p>
            </p:txBody>
          </p:sp>
          <p:sp>
            <p:nvSpPr>
              <p:cNvPr id="251918" name="Text Box 14"/>
              <p:cNvSpPr txBox="1">
                <a:spLocks noChangeArrowheads="1"/>
              </p:cNvSpPr>
              <p:nvPr/>
            </p:nvSpPr>
            <p:spPr bwMode="auto">
              <a:xfrm>
                <a:off x="1018" y="3120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2</a:t>
                </a:r>
              </a:p>
            </p:txBody>
          </p:sp>
          <p:sp>
            <p:nvSpPr>
              <p:cNvPr id="251919" name="Text Box 15"/>
              <p:cNvSpPr txBox="1">
                <a:spLocks noChangeArrowheads="1"/>
              </p:cNvSpPr>
              <p:nvPr/>
            </p:nvSpPr>
            <p:spPr bwMode="auto">
              <a:xfrm>
                <a:off x="1018" y="3312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3</a:t>
                </a:r>
              </a:p>
            </p:txBody>
          </p:sp>
          <p:sp>
            <p:nvSpPr>
              <p:cNvPr id="251920" name="Text Box 16"/>
              <p:cNvSpPr txBox="1">
                <a:spLocks noChangeArrowheads="1"/>
              </p:cNvSpPr>
              <p:nvPr/>
            </p:nvSpPr>
            <p:spPr bwMode="auto">
              <a:xfrm>
                <a:off x="1018" y="3484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4</a:t>
                </a:r>
              </a:p>
            </p:txBody>
          </p:sp>
          <p:sp>
            <p:nvSpPr>
              <p:cNvPr id="251921" name="Text Box 17"/>
              <p:cNvSpPr txBox="1">
                <a:spLocks noChangeArrowheads="1"/>
              </p:cNvSpPr>
              <p:nvPr/>
            </p:nvSpPr>
            <p:spPr bwMode="auto">
              <a:xfrm>
                <a:off x="1018" y="3676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5</a:t>
                </a:r>
              </a:p>
            </p:txBody>
          </p:sp>
          <p:sp>
            <p:nvSpPr>
              <p:cNvPr id="251922" name="Text Box 18"/>
              <p:cNvSpPr txBox="1">
                <a:spLocks noChangeArrowheads="1"/>
              </p:cNvSpPr>
              <p:nvPr/>
            </p:nvSpPr>
            <p:spPr bwMode="auto">
              <a:xfrm>
                <a:off x="1018" y="3868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6</a:t>
                </a:r>
              </a:p>
            </p:txBody>
          </p:sp>
        </p:grpSp>
        <p:grpSp>
          <p:nvGrpSpPr>
            <p:cNvPr id="252000" name="Group 96"/>
            <p:cNvGrpSpPr>
              <a:grpSpLocks/>
            </p:cNvGrpSpPr>
            <p:nvPr/>
          </p:nvGrpSpPr>
          <p:grpSpPr bwMode="auto">
            <a:xfrm>
              <a:off x="3408" y="2160"/>
              <a:ext cx="585" cy="1584"/>
              <a:chOff x="1200" y="2496"/>
              <a:chExt cx="585" cy="1584"/>
            </a:xfrm>
          </p:grpSpPr>
          <p:sp>
            <p:nvSpPr>
              <p:cNvPr id="251908" name="Rectangle 4"/>
              <p:cNvSpPr>
                <a:spLocks noChangeArrowheads="1"/>
              </p:cNvSpPr>
              <p:nvPr/>
            </p:nvSpPr>
            <p:spPr bwMode="auto">
              <a:xfrm>
                <a:off x="1200" y="2734"/>
                <a:ext cx="585" cy="1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1909" name="Line 5"/>
              <p:cNvSpPr>
                <a:spLocks noChangeShapeType="1"/>
              </p:cNvSpPr>
              <p:nvPr/>
            </p:nvSpPr>
            <p:spPr bwMode="auto">
              <a:xfrm>
                <a:off x="1200" y="29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1910" name="Line 6"/>
              <p:cNvSpPr>
                <a:spLocks noChangeShapeType="1"/>
              </p:cNvSpPr>
              <p:nvPr/>
            </p:nvSpPr>
            <p:spPr bwMode="auto">
              <a:xfrm>
                <a:off x="1200" y="312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1911" name="Line 7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1912" name="Line 8"/>
              <p:cNvSpPr>
                <a:spLocks noChangeShapeType="1"/>
              </p:cNvSpPr>
              <p:nvPr/>
            </p:nvSpPr>
            <p:spPr bwMode="auto">
              <a:xfrm>
                <a:off x="1200" y="350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1913" name="Line 9"/>
              <p:cNvSpPr>
                <a:spLocks noChangeShapeType="1"/>
              </p:cNvSpPr>
              <p:nvPr/>
            </p:nvSpPr>
            <p:spPr bwMode="auto">
              <a:xfrm>
                <a:off x="1200" y="369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1914" name="Line 10"/>
              <p:cNvSpPr>
                <a:spLocks noChangeShapeType="1"/>
              </p:cNvSpPr>
              <p:nvPr/>
            </p:nvSpPr>
            <p:spPr bwMode="auto">
              <a:xfrm>
                <a:off x="1200" y="388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1964" name="Text Box 60"/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0</a:t>
                </a:r>
              </a:p>
            </p:txBody>
          </p:sp>
        </p:grpSp>
        <p:grpSp>
          <p:nvGrpSpPr>
            <p:cNvPr id="252001" name="Group 97"/>
            <p:cNvGrpSpPr>
              <a:grpSpLocks/>
            </p:cNvGrpSpPr>
            <p:nvPr/>
          </p:nvGrpSpPr>
          <p:grpSpPr bwMode="auto">
            <a:xfrm>
              <a:off x="4023" y="2160"/>
              <a:ext cx="585" cy="1584"/>
              <a:chOff x="1200" y="2496"/>
              <a:chExt cx="585" cy="1584"/>
            </a:xfrm>
          </p:grpSpPr>
          <p:sp>
            <p:nvSpPr>
              <p:cNvPr id="252002" name="Rectangle 98"/>
              <p:cNvSpPr>
                <a:spLocks noChangeArrowheads="1"/>
              </p:cNvSpPr>
              <p:nvPr/>
            </p:nvSpPr>
            <p:spPr bwMode="auto">
              <a:xfrm>
                <a:off x="1200" y="2734"/>
                <a:ext cx="585" cy="1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2003" name="Line 99"/>
              <p:cNvSpPr>
                <a:spLocks noChangeShapeType="1"/>
              </p:cNvSpPr>
              <p:nvPr/>
            </p:nvSpPr>
            <p:spPr bwMode="auto">
              <a:xfrm>
                <a:off x="1200" y="29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04" name="Line 100"/>
              <p:cNvSpPr>
                <a:spLocks noChangeShapeType="1"/>
              </p:cNvSpPr>
              <p:nvPr/>
            </p:nvSpPr>
            <p:spPr bwMode="auto">
              <a:xfrm>
                <a:off x="1200" y="312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05" name="Line 101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06" name="Line 102"/>
              <p:cNvSpPr>
                <a:spLocks noChangeShapeType="1"/>
              </p:cNvSpPr>
              <p:nvPr/>
            </p:nvSpPr>
            <p:spPr bwMode="auto">
              <a:xfrm>
                <a:off x="1200" y="350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07" name="Line 103"/>
              <p:cNvSpPr>
                <a:spLocks noChangeShapeType="1"/>
              </p:cNvSpPr>
              <p:nvPr/>
            </p:nvSpPr>
            <p:spPr bwMode="auto">
              <a:xfrm>
                <a:off x="1200" y="369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08" name="Line 104"/>
              <p:cNvSpPr>
                <a:spLocks noChangeShapeType="1"/>
              </p:cNvSpPr>
              <p:nvPr/>
            </p:nvSpPr>
            <p:spPr bwMode="auto">
              <a:xfrm>
                <a:off x="1200" y="388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09" name="Text Box 105"/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1</a:t>
                </a:r>
              </a:p>
            </p:txBody>
          </p:sp>
        </p:grpSp>
        <p:grpSp>
          <p:nvGrpSpPr>
            <p:cNvPr id="252010" name="Group 106"/>
            <p:cNvGrpSpPr>
              <a:grpSpLocks/>
            </p:cNvGrpSpPr>
            <p:nvPr/>
          </p:nvGrpSpPr>
          <p:grpSpPr bwMode="auto">
            <a:xfrm>
              <a:off x="4638" y="2160"/>
              <a:ext cx="585" cy="1584"/>
              <a:chOff x="1200" y="2496"/>
              <a:chExt cx="585" cy="1584"/>
            </a:xfrm>
          </p:grpSpPr>
          <p:sp>
            <p:nvSpPr>
              <p:cNvPr id="252011" name="Rectangle 107"/>
              <p:cNvSpPr>
                <a:spLocks noChangeArrowheads="1"/>
              </p:cNvSpPr>
              <p:nvPr/>
            </p:nvSpPr>
            <p:spPr bwMode="auto">
              <a:xfrm>
                <a:off x="1200" y="2734"/>
                <a:ext cx="585" cy="1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2012" name="Line 108"/>
              <p:cNvSpPr>
                <a:spLocks noChangeShapeType="1"/>
              </p:cNvSpPr>
              <p:nvPr/>
            </p:nvSpPr>
            <p:spPr bwMode="auto">
              <a:xfrm>
                <a:off x="1200" y="29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13" name="Line 109"/>
              <p:cNvSpPr>
                <a:spLocks noChangeShapeType="1"/>
              </p:cNvSpPr>
              <p:nvPr/>
            </p:nvSpPr>
            <p:spPr bwMode="auto">
              <a:xfrm>
                <a:off x="1200" y="312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14" name="Line 110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15" name="Line 111"/>
              <p:cNvSpPr>
                <a:spLocks noChangeShapeType="1"/>
              </p:cNvSpPr>
              <p:nvPr/>
            </p:nvSpPr>
            <p:spPr bwMode="auto">
              <a:xfrm>
                <a:off x="1200" y="350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16" name="Line 112"/>
              <p:cNvSpPr>
                <a:spLocks noChangeShapeType="1"/>
              </p:cNvSpPr>
              <p:nvPr/>
            </p:nvSpPr>
            <p:spPr bwMode="auto">
              <a:xfrm>
                <a:off x="1200" y="369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17" name="Line 113"/>
              <p:cNvSpPr>
                <a:spLocks noChangeShapeType="1"/>
              </p:cNvSpPr>
              <p:nvPr/>
            </p:nvSpPr>
            <p:spPr bwMode="auto">
              <a:xfrm>
                <a:off x="1200" y="388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018" name="Text Box 114"/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2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ChangeArrowheads="1"/>
          </p:cNvSpPr>
          <p:nvPr/>
        </p:nvSpPr>
        <p:spPr bwMode="auto">
          <a:xfrm>
            <a:off x="1905000" y="838200"/>
            <a:ext cx="8001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sz="5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Bucketing Example</a:t>
            </a:r>
          </a:p>
        </p:txBody>
      </p:sp>
      <p:sp>
        <p:nvSpPr>
          <p:cNvPr id="252970" name="Text Box 42"/>
          <p:cNvSpPr txBox="1">
            <a:spLocks noChangeArrowheads="1"/>
          </p:cNvSpPr>
          <p:nvPr/>
        </p:nvSpPr>
        <p:spPr bwMode="auto">
          <a:xfrm>
            <a:off x="2286000" y="1676400"/>
            <a:ext cx="12252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b="1" dirty="0">
                <a:solidFill>
                  <a:srgbClr val="FF0000"/>
                </a:solidFill>
              </a:rPr>
              <a:t>Insert Keys</a:t>
            </a:r>
          </a:p>
        </p:txBody>
      </p:sp>
      <p:grpSp>
        <p:nvGrpSpPr>
          <p:cNvPr id="253010" name="Group 82"/>
          <p:cNvGrpSpPr>
            <a:grpSpLocks/>
          </p:cNvGrpSpPr>
          <p:nvPr/>
        </p:nvGrpSpPr>
        <p:grpSpPr bwMode="auto">
          <a:xfrm>
            <a:off x="2438400" y="1828802"/>
            <a:ext cx="5588000" cy="982663"/>
            <a:chOff x="576" y="1152"/>
            <a:chExt cx="3520" cy="619"/>
          </a:xfrm>
        </p:grpSpPr>
        <p:sp>
          <p:nvSpPr>
            <p:cNvPr id="252972" name="Rectangle 44"/>
            <p:cNvSpPr>
              <a:spLocks noChangeArrowheads="1"/>
            </p:cNvSpPr>
            <p:nvPr/>
          </p:nvSpPr>
          <p:spPr bwMode="auto">
            <a:xfrm>
              <a:off x="3840" y="1152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36</a:t>
              </a:r>
            </a:p>
          </p:txBody>
        </p:sp>
        <p:sp>
          <p:nvSpPr>
            <p:cNvPr id="252973" name="Text Box 45"/>
            <p:cNvSpPr txBox="1">
              <a:spLocks noChangeArrowheads="1"/>
            </p:cNvSpPr>
            <p:nvPr/>
          </p:nvSpPr>
          <p:spPr bwMode="auto">
            <a:xfrm>
              <a:off x="576" y="1364"/>
              <a:ext cx="142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h</a:t>
              </a:r>
              <a:r>
                <a:rPr lang="en-US" baseline="-25000" dirty="0"/>
                <a:t>1</a:t>
              </a:r>
              <a:r>
                <a:rPr lang="en-US" dirty="0"/>
                <a:t>(36) = 36 mod 3 = </a:t>
              </a:r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dirty="0"/>
                <a:t>h</a:t>
              </a:r>
              <a:r>
                <a:rPr lang="en-US" baseline="-25000" dirty="0"/>
                <a:t>2</a:t>
              </a:r>
              <a:r>
                <a:rPr lang="en-US" dirty="0"/>
                <a:t>(36) = 36 mod 7 = </a:t>
              </a:r>
              <a:r>
                <a:rPr lang="en-US" dirty="0">
                  <a:solidFill>
                    <a:srgbClr val="22AA22"/>
                  </a:solidFill>
                </a:rPr>
                <a:t>1</a:t>
              </a:r>
              <a:r>
                <a:rPr lang="en-US" dirty="0"/>
                <a:t> </a:t>
              </a:r>
            </a:p>
          </p:txBody>
        </p:sp>
      </p:grpSp>
      <p:grpSp>
        <p:nvGrpSpPr>
          <p:cNvPr id="252974" name="Group 46"/>
          <p:cNvGrpSpPr>
            <a:grpSpLocks/>
          </p:cNvGrpSpPr>
          <p:nvPr/>
        </p:nvGrpSpPr>
        <p:grpSpPr bwMode="auto">
          <a:xfrm>
            <a:off x="7010401" y="1143000"/>
            <a:ext cx="3186113" cy="2514600"/>
            <a:chOff x="3216" y="2160"/>
            <a:chExt cx="2007" cy="1584"/>
          </a:xfrm>
        </p:grpSpPr>
        <p:grpSp>
          <p:nvGrpSpPr>
            <p:cNvPr id="252975" name="Group 47"/>
            <p:cNvGrpSpPr>
              <a:grpSpLocks/>
            </p:cNvGrpSpPr>
            <p:nvPr/>
          </p:nvGrpSpPr>
          <p:grpSpPr bwMode="auto">
            <a:xfrm>
              <a:off x="3216" y="2387"/>
              <a:ext cx="196" cy="1357"/>
              <a:chOff x="1008" y="2723"/>
              <a:chExt cx="196" cy="1357"/>
            </a:xfrm>
          </p:grpSpPr>
          <p:sp>
            <p:nvSpPr>
              <p:cNvPr id="252976" name="Text Box 48"/>
              <p:cNvSpPr txBox="1">
                <a:spLocks noChangeArrowheads="1"/>
              </p:cNvSpPr>
              <p:nvPr/>
            </p:nvSpPr>
            <p:spPr bwMode="auto">
              <a:xfrm>
                <a:off x="1008" y="2723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0</a:t>
                </a:r>
              </a:p>
            </p:txBody>
          </p:sp>
          <p:sp>
            <p:nvSpPr>
              <p:cNvPr id="252977" name="Text Box 49"/>
              <p:cNvSpPr txBox="1">
                <a:spLocks noChangeArrowheads="1"/>
              </p:cNvSpPr>
              <p:nvPr/>
            </p:nvSpPr>
            <p:spPr bwMode="auto">
              <a:xfrm>
                <a:off x="1018" y="2928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1</a:t>
                </a:r>
              </a:p>
            </p:txBody>
          </p:sp>
          <p:sp>
            <p:nvSpPr>
              <p:cNvPr id="252978" name="Text Box 50"/>
              <p:cNvSpPr txBox="1">
                <a:spLocks noChangeArrowheads="1"/>
              </p:cNvSpPr>
              <p:nvPr/>
            </p:nvSpPr>
            <p:spPr bwMode="auto">
              <a:xfrm>
                <a:off x="1018" y="3120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2</a:t>
                </a:r>
              </a:p>
            </p:txBody>
          </p:sp>
          <p:sp>
            <p:nvSpPr>
              <p:cNvPr id="252979" name="Text Box 51"/>
              <p:cNvSpPr txBox="1">
                <a:spLocks noChangeArrowheads="1"/>
              </p:cNvSpPr>
              <p:nvPr/>
            </p:nvSpPr>
            <p:spPr bwMode="auto">
              <a:xfrm>
                <a:off x="1018" y="3312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3</a:t>
                </a:r>
              </a:p>
            </p:txBody>
          </p:sp>
          <p:sp>
            <p:nvSpPr>
              <p:cNvPr id="252980" name="Text Box 52"/>
              <p:cNvSpPr txBox="1">
                <a:spLocks noChangeArrowheads="1"/>
              </p:cNvSpPr>
              <p:nvPr/>
            </p:nvSpPr>
            <p:spPr bwMode="auto">
              <a:xfrm>
                <a:off x="1018" y="3484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4</a:t>
                </a:r>
              </a:p>
            </p:txBody>
          </p:sp>
          <p:sp>
            <p:nvSpPr>
              <p:cNvPr id="252981" name="Text Box 53"/>
              <p:cNvSpPr txBox="1">
                <a:spLocks noChangeArrowheads="1"/>
              </p:cNvSpPr>
              <p:nvPr/>
            </p:nvSpPr>
            <p:spPr bwMode="auto">
              <a:xfrm>
                <a:off x="1018" y="3676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5</a:t>
                </a:r>
              </a:p>
            </p:txBody>
          </p:sp>
          <p:sp>
            <p:nvSpPr>
              <p:cNvPr id="252982" name="Text Box 54"/>
              <p:cNvSpPr txBox="1">
                <a:spLocks noChangeArrowheads="1"/>
              </p:cNvSpPr>
              <p:nvPr/>
            </p:nvSpPr>
            <p:spPr bwMode="auto">
              <a:xfrm>
                <a:off x="1018" y="3868"/>
                <a:ext cx="18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solidFill>
                      <a:srgbClr val="22AA22"/>
                    </a:solidFill>
                  </a:rPr>
                  <a:t>6</a:t>
                </a:r>
              </a:p>
            </p:txBody>
          </p:sp>
        </p:grpSp>
        <p:grpSp>
          <p:nvGrpSpPr>
            <p:cNvPr id="252983" name="Group 55"/>
            <p:cNvGrpSpPr>
              <a:grpSpLocks/>
            </p:cNvGrpSpPr>
            <p:nvPr/>
          </p:nvGrpSpPr>
          <p:grpSpPr bwMode="auto">
            <a:xfrm>
              <a:off x="3408" y="2160"/>
              <a:ext cx="585" cy="1584"/>
              <a:chOff x="1200" y="2496"/>
              <a:chExt cx="585" cy="1584"/>
            </a:xfrm>
          </p:grpSpPr>
          <p:sp>
            <p:nvSpPr>
              <p:cNvPr id="252984" name="Rectangle 56"/>
              <p:cNvSpPr>
                <a:spLocks noChangeArrowheads="1"/>
              </p:cNvSpPr>
              <p:nvPr/>
            </p:nvSpPr>
            <p:spPr bwMode="auto">
              <a:xfrm>
                <a:off x="1200" y="2734"/>
                <a:ext cx="585" cy="1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2985" name="Line 57"/>
              <p:cNvSpPr>
                <a:spLocks noChangeShapeType="1"/>
              </p:cNvSpPr>
              <p:nvPr/>
            </p:nvSpPr>
            <p:spPr bwMode="auto">
              <a:xfrm>
                <a:off x="1200" y="29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86" name="Line 58"/>
              <p:cNvSpPr>
                <a:spLocks noChangeShapeType="1"/>
              </p:cNvSpPr>
              <p:nvPr/>
            </p:nvSpPr>
            <p:spPr bwMode="auto">
              <a:xfrm>
                <a:off x="1200" y="312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87" name="Line 59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88" name="Line 60"/>
              <p:cNvSpPr>
                <a:spLocks noChangeShapeType="1"/>
              </p:cNvSpPr>
              <p:nvPr/>
            </p:nvSpPr>
            <p:spPr bwMode="auto">
              <a:xfrm>
                <a:off x="1200" y="350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89" name="Line 61"/>
              <p:cNvSpPr>
                <a:spLocks noChangeShapeType="1"/>
              </p:cNvSpPr>
              <p:nvPr/>
            </p:nvSpPr>
            <p:spPr bwMode="auto">
              <a:xfrm>
                <a:off x="1200" y="369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0" name="Line 62"/>
              <p:cNvSpPr>
                <a:spLocks noChangeShapeType="1"/>
              </p:cNvSpPr>
              <p:nvPr/>
            </p:nvSpPr>
            <p:spPr bwMode="auto">
              <a:xfrm>
                <a:off x="1200" y="388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1" name="Text Box 63"/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0</a:t>
                </a:r>
              </a:p>
            </p:txBody>
          </p:sp>
        </p:grpSp>
        <p:grpSp>
          <p:nvGrpSpPr>
            <p:cNvPr id="252992" name="Group 64"/>
            <p:cNvGrpSpPr>
              <a:grpSpLocks/>
            </p:cNvGrpSpPr>
            <p:nvPr/>
          </p:nvGrpSpPr>
          <p:grpSpPr bwMode="auto">
            <a:xfrm>
              <a:off x="4023" y="2160"/>
              <a:ext cx="585" cy="1584"/>
              <a:chOff x="1200" y="2496"/>
              <a:chExt cx="585" cy="1584"/>
            </a:xfrm>
          </p:grpSpPr>
          <p:sp>
            <p:nvSpPr>
              <p:cNvPr id="252993" name="Rectangle 65"/>
              <p:cNvSpPr>
                <a:spLocks noChangeArrowheads="1"/>
              </p:cNvSpPr>
              <p:nvPr/>
            </p:nvSpPr>
            <p:spPr bwMode="auto">
              <a:xfrm>
                <a:off x="1200" y="2734"/>
                <a:ext cx="585" cy="1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2994" name="Line 66"/>
              <p:cNvSpPr>
                <a:spLocks noChangeShapeType="1"/>
              </p:cNvSpPr>
              <p:nvPr/>
            </p:nvSpPr>
            <p:spPr bwMode="auto">
              <a:xfrm>
                <a:off x="1200" y="29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5" name="Line 67"/>
              <p:cNvSpPr>
                <a:spLocks noChangeShapeType="1"/>
              </p:cNvSpPr>
              <p:nvPr/>
            </p:nvSpPr>
            <p:spPr bwMode="auto">
              <a:xfrm>
                <a:off x="1200" y="312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6" name="Line 68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7" name="Line 69"/>
              <p:cNvSpPr>
                <a:spLocks noChangeShapeType="1"/>
              </p:cNvSpPr>
              <p:nvPr/>
            </p:nvSpPr>
            <p:spPr bwMode="auto">
              <a:xfrm>
                <a:off x="1200" y="350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8" name="Line 70"/>
              <p:cNvSpPr>
                <a:spLocks noChangeShapeType="1"/>
              </p:cNvSpPr>
              <p:nvPr/>
            </p:nvSpPr>
            <p:spPr bwMode="auto">
              <a:xfrm>
                <a:off x="1200" y="369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2999" name="Line 71"/>
              <p:cNvSpPr>
                <a:spLocks noChangeShapeType="1"/>
              </p:cNvSpPr>
              <p:nvPr/>
            </p:nvSpPr>
            <p:spPr bwMode="auto">
              <a:xfrm>
                <a:off x="1200" y="388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0" name="Text Box 72"/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1</a:t>
                </a:r>
              </a:p>
            </p:txBody>
          </p:sp>
        </p:grpSp>
        <p:grpSp>
          <p:nvGrpSpPr>
            <p:cNvPr id="253001" name="Group 73"/>
            <p:cNvGrpSpPr>
              <a:grpSpLocks/>
            </p:cNvGrpSpPr>
            <p:nvPr/>
          </p:nvGrpSpPr>
          <p:grpSpPr bwMode="auto">
            <a:xfrm>
              <a:off x="4638" y="2160"/>
              <a:ext cx="585" cy="1584"/>
              <a:chOff x="1200" y="2496"/>
              <a:chExt cx="585" cy="1584"/>
            </a:xfrm>
          </p:grpSpPr>
          <p:sp>
            <p:nvSpPr>
              <p:cNvPr id="253002" name="Rectangle 74"/>
              <p:cNvSpPr>
                <a:spLocks noChangeArrowheads="1"/>
              </p:cNvSpPr>
              <p:nvPr/>
            </p:nvSpPr>
            <p:spPr bwMode="auto">
              <a:xfrm>
                <a:off x="1200" y="2734"/>
                <a:ext cx="585" cy="1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3003" name="Line 75"/>
              <p:cNvSpPr>
                <a:spLocks noChangeShapeType="1"/>
              </p:cNvSpPr>
              <p:nvPr/>
            </p:nvSpPr>
            <p:spPr bwMode="auto">
              <a:xfrm>
                <a:off x="1200" y="29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4" name="Line 76"/>
              <p:cNvSpPr>
                <a:spLocks noChangeShapeType="1"/>
              </p:cNvSpPr>
              <p:nvPr/>
            </p:nvSpPr>
            <p:spPr bwMode="auto">
              <a:xfrm>
                <a:off x="1200" y="312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5" name="Line 77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6" name="Line 78"/>
              <p:cNvSpPr>
                <a:spLocks noChangeShapeType="1"/>
              </p:cNvSpPr>
              <p:nvPr/>
            </p:nvSpPr>
            <p:spPr bwMode="auto">
              <a:xfrm>
                <a:off x="1200" y="350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7" name="Line 79"/>
              <p:cNvSpPr>
                <a:spLocks noChangeShapeType="1"/>
              </p:cNvSpPr>
              <p:nvPr/>
            </p:nvSpPr>
            <p:spPr bwMode="auto">
              <a:xfrm>
                <a:off x="1200" y="369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8" name="Line 80"/>
              <p:cNvSpPr>
                <a:spLocks noChangeShapeType="1"/>
              </p:cNvSpPr>
              <p:nvPr/>
            </p:nvSpPr>
            <p:spPr bwMode="auto">
              <a:xfrm>
                <a:off x="1200" y="388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3009" name="Text Box 81"/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>
                    <a:solidFill>
                      <a:srgbClr val="FF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253023" name="Group 95"/>
          <p:cNvGrpSpPr>
            <a:grpSpLocks/>
          </p:cNvGrpSpPr>
          <p:nvPr/>
        </p:nvGrpSpPr>
        <p:grpSpPr bwMode="auto">
          <a:xfrm>
            <a:off x="2438400" y="2101852"/>
            <a:ext cx="7467600" cy="1408113"/>
            <a:chOff x="576" y="1324"/>
            <a:chExt cx="4704" cy="887"/>
          </a:xfrm>
        </p:grpSpPr>
        <p:sp>
          <p:nvSpPr>
            <p:cNvPr id="253012" name="Rectangle 84"/>
            <p:cNvSpPr>
              <a:spLocks noChangeArrowheads="1"/>
            </p:cNvSpPr>
            <p:nvPr/>
          </p:nvSpPr>
          <p:spPr bwMode="auto">
            <a:xfrm>
              <a:off x="5024" y="1324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65</a:t>
              </a:r>
            </a:p>
          </p:txBody>
        </p:sp>
        <p:sp>
          <p:nvSpPr>
            <p:cNvPr id="253013" name="Text Box 85"/>
            <p:cNvSpPr txBox="1">
              <a:spLocks noChangeArrowheads="1"/>
            </p:cNvSpPr>
            <p:nvPr/>
          </p:nvSpPr>
          <p:spPr bwMode="auto">
            <a:xfrm>
              <a:off x="576" y="1804"/>
              <a:ext cx="142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1</a:t>
              </a:r>
              <a:r>
                <a:rPr lang="en-US"/>
                <a:t>(65) = 65 mod 3 = </a:t>
              </a:r>
              <a:r>
                <a:rPr lang="en-US">
                  <a:solidFill>
                    <a:srgbClr val="FF0000"/>
                  </a:solidFill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2</a:t>
              </a:r>
              <a:r>
                <a:rPr lang="en-US"/>
                <a:t>(65) = 65 mod 7 = </a:t>
              </a:r>
              <a:r>
                <a:rPr lang="en-US">
                  <a:solidFill>
                    <a:srgbClr val="22AA22"/>
                  </a:solidFill>
                </a:rPr>
                <a:t>2</a:t>
              </a:r>
              <a:r>
                <a:rPr lang="en-US"/>
                <a:t> </a:t>
              </a:r>
            </a:p>
          </p:txBody>
        </p:sp>
      </p:grpSp>
      <p:grpSp>
        <p:nvGrpSpPr>
          <p:cNvPr id="253024" name="Group 96"/>
          <p:cNvGrpSpPr>
            <a:grpSpLocks/>
          </p:cNvGrpSpPr>
          <p:nvPr/>
        </p:nvGrpSpPr>
        <p:grpSpPr bwMode="auto">
          <a:xfrm>
            <a:off x="2438400" y="2711452"/>
            <a:ext cx="6553200" cy="1497013"/>
            <a:chOff x="576" y="1708"/>
            <a:chExt cx="4128" cy="943"/>
          </a:xfrm>
        </p:grpSpPr>
        <p:sp>
          <p:nvSpPr>
            <p:cNvPr id="253015" name="Rectangle 87"/>
            <p:cNvSpPr>
              <a:spLocks noChangeArrowheads="1"/>
            </p:cNvSpPr>
            <p:nvPr/>
          </p:nvSpPr>
          <p:spPr bwMode="auto">
            <a:xfrm>
              <a:off x="4448" y="1708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25</a:t>
              </a:r>
            </a:p>
          </p:txBody>
        </p:sp>
        <p:sp>
          <p:nvSpPr>
            <p:cNvPr id="253016" name="Text Box 88"/>
            <p:cNvSpPr txBox="1">
              <a:spLocks noChangeArrowheads="1"/>
            </p:cNvSpPr>
            <p:nvPr/>
          </p:nvSpPr>
          <p:spPr bwMode="auto">
            <a:xfrm>
              <a:off x="576" y="2244"/>
              <a:ext cx="142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1</a:t>
              </a:r>
              <a:r>
                <a:rPr lang="en-US"/>
                <a:t>(25) = 25 mod 3 = </a:t>
              </a:r>
              <a:r>
                <a:rPr lang="en-US">
                  <a:solidFill>
                    <a:srgbClr val="FF0000"/>
                  </a:solidFill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2</a:t>
              </a:r>
              <a:r>
                <a:rPr lang="en-US"/>
                <a:t>(25) = 25 mod 7 = </a:t>
              </a:r>
              <a:r>
                <a:rPr lang="en-US">
                  <a:solidFill>
                    <a:srgbClr val="22AA22"/>
                  </a:solidFill>
                </a:rPr>
                <a:t>4</a:t>
              </a:r>
              <a:r>
                <a:rPr lang="en-US"/>
                <a:t> </a:t>
              </a:r>
            </a:p>
          </p:txBody>
        </p:sp>
      </p:grpSp>
      <p:grpSp>
        <p:nvGrpSpPr>
          <p:cNvPr id="253025" name="Group 97"/>
          <p:cNvGrpSpPr>
            <a:grpSpLocks/>
          </p:cNvGrpSpPr>
          <p:nvPr/>
        </p:nvGrpSpPr>
        <p:grpSpPr bwMode="auto">
          <a:xfrm>
            <a:off x="2438400" y="2133601"/>
            <a:ext cx="5588000" cy="2773363"/>
            <a:chOff x="576" y="1344"/>
            <a:chExt cx="3520" cy="1747"/>
          </a:xfrm>
        </p:grpSpPr>
        <p:sp>
          <p:nvSpPr>
            <p:cNvPr id="253018" name="Rectangle 90"/>
            <p:cNvSpPr>
              <a:spLocks noChangeArrowheads="1"/>
            </p:cNvSpPr>
            <p:nvPr/>
          </p:nvSpPr>
          <p:spPr bwMode="auto">
            <a:xfrm>
              <a:off x="3840" y="1344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30</a:t>
              </a:r>
            </a:p>
          </p:txBody>
        </p:sp>
        <p:sp>
          <p:nvSpPr>
            <p:cNvPr id="253019" name="Text Box 91"/>
            <p:cNvSpPr txBox="1">
              <a:spLocks noChangeArrowheads="1"/>
            </p:cNvSpPr>
            <p:nvPr/>
          </p:nvSpPr>
          <p:spPr bwMode="auto">
            <a:xfrm>
              <a:off x="576" y="2684"/>
              <a:ext cx="142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1</a:t>
              </a:r>
              <a:r>
                <a:rPr lang="en-US"/>
                <a:t>(30) = 30 mod 3 = </a:t>
              </a:r>
              <a:r>
                <a:rPr lang="en-US">
                  <a:solidFill>
                    <a:srgbClr val="FF0000"/>
                  </a:solidFill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2</a:t>
              </a:r>
              <a:r>
                <a:rPr lang="en-US"/>
                <a:t>(30) = 30 mod 7 = </a:t>
              </a:r>
              <a:r>
                <a:rPr lang="en-US">
                  <a:solidFill>
                    <a:srgbClr val="22AA22"/>
                  </a:solidFill>
                </a:rPr>
                <a:t>2</a:t>
              </a:r>
              <a:r>
                <a:rPr lang="en-US"/>
                <a:t> </a:t>
              </a:r>
            </a:p>
          </p:txBody>
        </p:sp>
      </p:grpSp>
      <p:grpSp>
        <p:nvGrpSpPr>
          <p:cNvPr id="253026" name="Group 98"/>
          <p:cNvGrpSpPr>
            <a:grpSpLocks/>
          </p:cNvGrpSpPr>
          <p:nvPr/>
        </p:nvGrpSpPr>
        <p:grpSpPr bwMode="auto">
          <a:xfrm>
            <a:off x="2438400" y="2743201"/>
            <a:ext cx="7467600" cy="2862263"/>
            <a:chOff x="576" y="1728"/>
            <a:chExt cx="4704" cy="1803"/>
          </a:xfrm>
        </p:grpSpPr>
        <p:sp>
          <p:nvSpPr>
            <p:cNvPr id="253021" name="Rectangle 93"/>
            <p:cNvSpPr>
              <a:spLocks noChangeArrowheads="1"/>
            </p:cNvSpPr>
            <p:nvPr/>
          </p:nvSpPr>
          <p:spPr bwMode="auto">
            <a:xfrm>
              <a:off x="5024" y="1728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36</a:t>
              </a:r>
            </a:p>
          </p:txBody>
        </p:sp>
        <p:sp>
          <p:nvSpPr>
            <p:cNvPr id="253022" name="Text Box 94"/>
            <p:cNvSpPr txBox="1">
              <a:spLocks noChangeArrowheads="1"/>
            </p:cNvSpPr>
            <p:nvPr/>
          </p:nvSpPr>
          <p:spPr bwMode="auto">
            <a:xfrm>
              <a:off x="576" y="3124"/>
              <a:ext cx="142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1</a:t>
              </a:r>
              <a:r>
                <a:rPr lang="en-US"/>
                <a:t>(41) = 41 mod 3 = </a:t>
              </a:r>
              <a:r>
                <a:rPr lang="en-US">
                  <a:solidFill>
                    <a:srgbClr val="FF0000"/>
                  </a:solidFill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/>
                <a:t>h</a:t>
              </a:r>
              <a:r>
                <a:rPr lang="en-US" baseline="-25000"/>
                <a:t>2</a:t>
              </a:r>
              <a:r>
                <a:rPr lang="en-US"/>
                <a:t>(41) = 41 mod 7 = </a:t>
              </a:r>
              <a:r>
                <a:rPr lang="en-US">
                  <a:solidFill>
                    <a:srgbClr val="22AA22"/>
                  </a:solidFill>
                </a:rPr>
                <a:t>5</a:t>
              </a:r>
              <a:r>
                <a:rPr lang="en-US"/>
                <a:t> </a:t>
              </a:r>
            </a:p>
          </p:txBody>
        </p:sp>
      </p:grpSp>
      <p:sp>
        <p:nvSpPr>
          <p:cNvPr id="253027" name="Text Box 99"/>
          <p:cNvSpPr txBox="1">
            <a:spLocks noChangeArrowheads="1"/>
          </p:cNvSpPr>
          <p:nvPr/>
        </p:nvSpPr>
        <p:spPr bwMode="auto">
          <a:xfrm>
            <a:off x="2438400" y="5805488"/>
            <a:ext cx="12586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and so on…</a:t>
            </a:r>
          </a:p>
        </p:txBody>
      </p:sp>
      <p:sp>
        <p:nvSpPr>
          <p:cNvPr id="253028" name="Text Box 100"/>
          <p:cNvSpPr txBox="1">
            <a:spLocks noChangeArrowheads="1"/>
          </p:cNvSpPr>
          <p:nvPr/>
        </p:nvSpPr>
        <p:spPr bwMode="auto">
          <a:xfrm>
            <a:off x="2438400" y="6110288"/>
            <a:ext cx="5429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Collisions can be removed similarly as in </a:t>
            </a:r>
            <a:r>
              <a:rPr lang="en-US" i="1"/>
              <a:t>Simple Hashing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5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5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5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5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5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5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027" grpId="0" autoUpdateAnimBg="0"/>
      <p:bldP spid="253028" grpId="0" autoUpdateAnimBg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14668</TotalTime>
  <Words>734</Words>
  <Application>Microsoft Office PowerPoint</Application>
  <PresentationFormat>Widescreen</PresentationFormat>
  <Paragraphs>127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Bookman Old Style</vt:lpstr>
      <vt:lpstr>Calibri</vt:lpstr>
      <vt:lpstr>Calibri Light</vt:lpstr>
      <vt:lpstr>Symbol</vt:lpstr>
      <vt:lpstr>Wingdings</vt:lpstr>
      <vt:lpstr>Retrospect</vt:lpstr>
      <vt:lpstr>Data Structures</vt:lpstr>
      <vt:lpstr>Open Addressing </vt:lpstr>
      <vt:lpstr>Open Addressing</vt:lpstr>
      <vt:lpstr>Linear Probing</vt:lpstr>
      <vt:lpstr>Quadratic Probing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CSCI6370: Topics in Computer Science  Advanced Topics in Algorithms and Applications  Fall Semester, 2002</dc:title>
  <dc:creator>XIAODONG-TONG</dc:creator>
  <cp:lastModifiedBy>Habiba Arshad</cp:lastModifiedBy>
  <cp:revision>420</cp:revision>
  <dcterms:created xsi:type="dcterms:W3CDTF">2002-08-21T01:49:00Z</dcterms:created>
  <dcterms:modified xsi:type="dcterms:W3CDTF">2025-01-24T06:31:46Z</dcterms:modified>
</cp:coreProperties>
</file>