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4"/>
  </p:notesMasterIdLst>
  <p:sldIdLst>
    <p:sldId id="256" r:id="rId2"/>
    <p:sldId id="339" r:id="rId3"/>
    <p:sldId id="366" r:id="rId4"/>
    <p:sldId id="290" r:id="rId5"/>
    <p:sldId id="304" r:id="rId6"/>
    <p:sldId id="305" r:id="rId7"/>
    <p:sldId id="303" r:id="rId8"/>
    <p:sldId id="364" r:id="rId9"/>
    <p:sldId id="365" r:id="rId10"/>
    <p:sldId id="291" r:id="rId11"/>
    <p:sldId id="306" r:id="rId12"/>
    <p:sldId id="292" r:id="rId13"/>
    <p:sldId id="308" r:id="rId14"/>
    <p:sldId id="309" r:id="rId15"/>
    <p:sldId id="310" r:id="rId16"/>
    <p:sldId id="311" r:id="rId17"/>
    <p:sldId id="312" r:id="rId18"/>
    <p:sldId id="318" r:id="rId19"/>
    <p:sldId id="317" r:id="rId20"/>
    <p:sldId id="316" r:id="rId21"/>
    <p:sldId id="315" r:id="rId22"/>
    <p:sldId id="314" r:id="rId23"/>
    <p:sldId id="313" r:id="rId24"/>
    <p:sldId id="322" r:id="rId25"/>
    <p:sldId id="321" r:id="rId26"/>
    <p:sldId id="320" r:id="rId27"/>
    <p:sldId id="319" r:id="rId28"/>
    <p:sldId id="324" r:id="rId29"/>
    <p:sldId id="325" r:id="rId30"/>
    <p:sldId id="327" r:id="rId31"/>
    <p:sldId id="326" r:id="rId32"/>
    <p:sldId id="32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4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81" d="100"/>
          <a:sy n="81" d="100"/>
        </p:scale>
        <p:origin x="3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D9D5B-FF27-4B6B-85EB-07AF9C07F856}" type="datetimeFigureOut">
              <a:rPr lang="en-US" smtClean="0"/>
              <a:t>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DEA683-90C8-451F-BC4A-13383BD37F21}" type="slidenum">
              <a:rPr lang="en-US" smtClean="0"/>
              <a:t>‹#›</a:t>
            </a:fld>
            <a:endParaRPr lang="en-US"/>
          </a:p>
        </p:txBody>
      </p:sp>
    </p:spTree>
    <p:extLst>
      <p:ext uri="{BB962C8B-B14F-4D97-AF65-F5344CB8AC3E}">
        <p14:creationId xmlns:p14="http://schemas.microsoft.com/office/powerpoint/2010/main" val="2878468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3652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70280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B01488-2866-41B3-B7DC-859AEE043E50}"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96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B01488-2866-41B3-B7DC-859AEE043E50}"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94448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B01488-2866-41B3-B7DC-859AEE043E50}"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8908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B01488-2866-41B3-B7DC-859AEE043E50}"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1572922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DB01488-2866-41B3-B7DC-859AEE043E50}" type="datetimeFigureOut">
              <a:rPr lang="en-US" smtClean="0"/>
              <a:t>1/6/2026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752258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DB01488-2866-41B3-B7DC-859AEE043E50}" type="datetimeFigureOut">
              <a:rPr lang="en-US" smtClean="0"/>
              <a:t>1/6/2026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19E1F02-D963-4A85-BE2D-1321C23C253F}" type="slidenum">
              <a:rPr lang="en-US" smtClean="0"/>
              <a:t>‹#›</a:t>
            </a:fld>
            <a:endParaRPr lang="en-US"/>
          </a:p>
        </p:txBody>
      </p:sp>
    </p:spTree>
    <p:extLst>
      <p:ext uri="{BB962C8B-B14F-4D97-AF65-F5344CB8AC3E}">
        <p14:creationId xmlns:p14="http://schemas.microsoft.com/office/powerpoint/2010/main" val="181652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DB01488-2866-41B3-B7DC-859AEE043E50}"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0001678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2330796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B01488-2866-41B3-B7DC-859AEE043E50}"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9E1F02-D963-4A85-BE2D-1321C23C253F}" type="slidenum">
              <a:rPr lang="en-US" smtClean="0"/>
              <a:t>‹#›</a:t>
            </a:fld>
            <a:endParaRPr lang="en-US"/>
          </a:p>
        </p:txBody>
      </p:sp>
    </p:spTree>
    <p:extLst>
      <p:ext uri="{BB962C8B-B14F-4D97-AF65-F5344CB8AC3E}">
        <p14:creationId xmlns:p14="http://schemas.microsoft.com/office/powerpoint/2010/main" val="3288698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DB01488-2866-41B3-B7DC-859AEE043E50}" type="datetimeFigureOut">
              <a:rPr lang="en-US" smtClean="0"/>
              <a:t>1/6/2026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19E1F02-D963-4A85-BE2D-1321C23C253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185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977D9-232E-57A6-651D-F401E149D3EC}"/>
              </a:ext>
            </a:extLst>
          </p:cNvPr>
          <p:cNvSpPr>
            <a:spLocks noGrp="1"/>
          </p:cNvSpPr>
          <p:nvPr>
            <p:ph type="ctrTitle"/>
          </p:nvPr>
        </p:nvSpPr>
        <p:spPr/>
        <p:txBody>
          <a:bodyPr/>
          <a:lstStyle/>
          <a:p>
            <a:pPr algn="ctr"/>
            <a:r>
              <a:rPr lang="en-US" dirty="0"/>
              <a:t>Data </a:t>
            </a:r>
            <a:r>
              <a:rPr lang="en-US"/>
              <a:t>Structure </a:t>
            </a:r>
            <a:endParaRPr lang="en-US" dirty="0"/>
          </a:p>
        </p:txBody>
      </p:sp>
      <p:sp>
        <p:nvSpPr>
          <p:cNvPr id="3" name="Subtitle 2">
            <a:extLst>
              <a:ext uri="{FF2B5EF4-FFF2-40B4-BE49-F238E27FC236}">
                <a16:creationId xmlns:a16="http://schemas.microsoft.com/office/drawing/2014/main" id="{9C8885BB-5F97-FC6A-EC08-9141FF4B6C2D}"/>
              </a:ext>
            </a:extLst>
          </p:cNvPr>
          <p:cNvSpPr>
            <a:spLocks noGrp="1"/>
          </p:cNvSpPr>
          <p:nvPr>
            <p:ph type="subTitle" idx="1"/>
          </p:nvPr>
        </p:nvSpPr>
        <p:spPr/>
        <p:txBody>
          <a:bodyPr>
            <a:normAutofit fontScale="85000" lnSpcReduction="20000"/>
          </a:bodyPr>
          <a:lstStyle/>
          <a:p>
            <a:r>
              <a:rPr lang="en-US" dirty="0"/>
              <a:t>Course code: cs-201</a:t>
            </a:r>
          </a:p>
          <a:p>
            <a:r>
              <a:rPr lang="en-US" dirty="0"/>
              <a:t>Topic: Trees in data structure</a:t>
            </a:r>
          </a:p>
          <a:p>
            <a:r>
              <a:rPr lang="en-US" dirty="0"/>
              <a:t>Instructor: </a:t>
            </a:r>
            <a:r>
              <a:rPr lang="en-US" dirty="0" err="1"/>
              <a:t>habiba</a:t>
            </a:r>
            <a:r>
              <a:rPr lang="en-US" dirty="0"/>
              <a:t> </a:t>
            </a:r>
            <a:r>
              <a:rPr lang="en-US" dirty="0" err="1"/>
              <a:t>arshad</a:t>
            </a:r>
            <a:endParaRPr lang="en-US" dirty="0"/>
          </a:p>
        </p:txBody>
      </p:sp>
    </p:spTree>
    <p:extLst>
      <p:ext uri="{BB962C8B-B14F-4D97-AF65-F5344CB8AC3E}">
        <p14:creationId xmlns:p14="http://schemas.microsoft.com/office/powerpoint/2010/main" val="2767845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72692-F081-B1D7-CCE4-0E063326237E}"/>
              </a:ext>
            </a:extLst>
          </p:cNvPr>
          <p:cNvSpPr>
            <a:spLocks noGrp="1"/>
          </p:cNvSpPr>
          <p:nvPr>
            <p:ph type="title"/>
          </p:nvPr>
        </p:nvSpPr>
        <p:spPr/>
        <p:txBody>
          <a:bodyPr/>
          <a:lstStyle/>
          <a:p>
            <a:r>
              <a:rPr lang="en-US" dirty="0"/>
              <a:t>Goals for today</a:t>
            </a:r>
          </a:p>
        </p:txBody>
      </p:sp>
      <p:sp>
        <p:nvSpPr>
          <p:cNvPr id="3" name="Content Placeholder 2">
            <a:extLst>
              <a:ext uri="{FF2B5EF4-FFF2-40B4-BE49-F238E27FC236}">
                <a16:creationId xmlns:a16="http://schemas.microsoft.com/office/drawing/2014/main" id="{E1203246-14E0-E26A-E8DF-83B7561B264B}"/>
              </a:ext>
            </a:extLst>
          </p:cNvPr>
          <p:cNvSpPr>
            <a:spLocks noGrp="1"/>
          </p:cNvSpPr>
          <p:nvPr>
            <p:ph idx="1"/>
          </p:nvPr>
        </p:nvSpPr>
        <p:spPr/>
        <p:txBody>
          <a:bodyPr/>
          <a:lstStyle/>
          <a:p>
            <a:pPr>
              <a:buFont typeface="Wingdings" panose="05000000000000000000" pitchFamily="2" charset="2"/>
              <a:buChar char="§"/>
            </a:pPr>
            <a:r>
              <a:rPr lang="en-US" sz="2400" dirty="0"/>
              <a:t>Trees</a:t>
            </a:r>
          </a:p>
          <a:p>
            <a:pPr>
              <a:buFont typeface="Wingdings" panose="05000000000000000000" pitchFamily="2" charset="2"/>
              <a:buChar char="§"/>
            </a:pPr>
            <a:r>
              <a:rPr lang="en-US" sz="2400" dirty="0"/>
              <a:t>Basic terminologies related to trees</a:t>
            </a:r>
          </a:p>
          <a:p>
            <a:pPr>
              <a:buFont typeface="Wingdings" panose="05000000000000000000" pitchFamily="2" charset="2"/>
              <a:buChar char="§"/>
            </a:pPr>
            <a:r>
              <a:rPr lang="en-US" sz="2400" dirty="0"/>
              <a:t>Types of trees</a:t>
            </a:r>
          </a:p>
          <a:p>
            <a:pPr marL="0" indent="0">
              <a:buNone/>
            </a:pPr>
            <a:endParaRPr lang="en-US" sz="2400" dirty="0"/>
          </a:p>
          <a:p>
            <a:endParaRPr lang="en-US" dirty="0"/>
          </a:p>
        </p:txBody>
      </p:sp>
    </p:spTree>
    <p:extLst>
      <p:ext uri="{BB962C8B-B14F-4D97-AF65-F5344CB8AC3E}">
        <p14:creationId xmlns:p14="http://schemas.microsoft.com/office/powerpoint/2010/main" val="172828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12E33-DE6E-7EAE-CD49-761EABBE5C4F}"/>
              </a:ext>
            </a:extLst>
          </p:cNvPr>
          <p:cNvSpPr>
            <a:spLocks noGrp="1"/>
          </p:cNvSpPr>
          <p:nvPr>
            <p:ph type="title"/>
          </p:nvPr>
        </p:nvSpPr>
        <p:spPr/>
        <p:txBody>
          <a:bodyPr/>
          <a:lstStyle/>
          <a:p>
            <a:r>
              <a:rPr lang="en-US" dirty="0"/>
              <a:t>CLO Covered</a:t>
            </a:r>
          </a:p>
        </p:txBody>
      </p:sp>
      <p:sp>
        <p:nvSpPr>
          <p:cNvPr id="3" name="Content Placeholder 2">
            <a:extLst>
              <a:ext uri="{FF2B5EF4-FFF2-40B4-BE49-F238E27FC236}">
                <a16:creationId xmlns:a16="http://schemas.microsoft.com/office/drawing/2014/main" id="{D752E682-FF4C-5D9A-D73D-309664DB29C7}"/>
              </a:ext>
            </a:extLst>
          </p:cNvPr>
          <p:cNvSpPr>
            <a:spLocks noGrp="1"/>
          </p:cNvSpPr>
          <p:nvPr>
            <p:ph idx="1"/>
          </p:nvPr>
        </p:nvSpPr>
        <p:spPr/>
        <p:txBody>
          <a:bodyPr>
            <a:normAutofit/>
          </a:bodyPr>
          <a:lstStyle/>
          <a:p>
            <a:r>
              <a:rPr lang="en-US" sz="2800" dirty="0"/>
              <a:t>CLO1: Explain the fundamentals of data structure as well as algorithms that operate on them</a:t>
            </a:r>
          </a:p>
        </p:txBody>
      </p:sp>
    </p:spTree>
    <p:extLst>
      <p:ext uri="{BB962C8B-B14F-4D97-AF65-F5344CB8AC3E}">
        <p14:creationId xmlns:p14="http://schemas.microsoft.com/office/powerpoint/2010/main" val="738896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r>
              <a:rPr lang="en-US" dirty="0"/>
              <a:t>Trees in Data Structures</a:t>
            </a:r>
          </a:p>
        </p:txBody>
      </p:sp>
      <p:sp>
        <p:nvSpPr>
          <p:cNvPr id="12" name="Espace réservé du contenu 2"/>
          <p:cNvSpPr>
            <a:spLocks noGrp="1"/>
          </p:cNvSpPr>
          <p:nvPr>
            <p:ph idx="4294967295"/>
          </p:nvPr>
        </p:nvSpPr>
        <p:spPr>
          <a:xfrm>
            <a:off x="1313234" y="1940332"/>
            <a:ext cx="9416375" cy="510540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normAutofit/>
          </a:bodyPr>
          <a:lstStyle/>
          <a:p>
            <a:pPr>
              <a:defRPr/>
            </a:pPr>
            <a:r>
              <a:rPr lang="en-US" sz="2400" dirty="0"/>
              <a:t>We learned about the linear data structures like an array, linked list, stack and queue in which all the elements are arranged in a sequential manner. </a:t>
            </a:r>
          </a:p>
          <a:p>
            <a:pPr>
              <a:defRPr/>
            </a:pPr>
            <a:r>
              <a:rPr lang="en-US" sz="2400" dirty="0"/>
              <a:t>The different data structures are used for different kinds of data.</a:t>
            </a:r>
          </a:p>
          <a:p>
            <a:pPr>
              <a:defRPr/>
            </a:pPr>
            <a:r>
              <a:rPr lang="en-US" sz="2400" b="1" dirty="0"/>
              <a:t>Some factors are considered for choosing the data structure.</a:t>
            </a:r>
            <a:endParaRPr lang="fr-FR" sz="2400" dirty="0"/>
          </a:p>
        </p:txBody>
      </p:sp>
    </p:spTree>
    <p:extLst>
      <p:ext uri="{BB962C8B-B14F-4D97-AF65-F5344CB8AC3E}">
        <p14:creationId xmlns:p14="http://schemas.microsoft.com/office/powerpoint/2010/main" val="215077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r>
              <a:rPr lang="en-US" dirty="0"/>
              <a:t>Trees in Data Structures</a:t>
            </a:r>
          </a:p>
        </p:txBody>
      </p:sp>
      <p:sp>
        <p:nvSpPr>
          <p:cNvPr id="12" name="Espace réservé du contenu 2"/>
          <p:cNvSpPr>
            <a:spLocks noGrp="1"/>
          </p:cNvSpPr>
          <p:nvPr>
            <p:ph idx="4294967295"/>
          </p:nvPr>
        </p:nvSpPr>
        <p:spPr>
          <a:xfrm>
            <a:off x="1119322" y="2378076"/>
            <a:ext cx="10662968" cy="5105400"/>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normAutofit/>
          </a:bodyPr>
          <a:lstStyle/>
          <a:p>
            <a:pPr>
              <a:defRPr/>
            </a:pPr>
            <a:r>
              <a:rPr lang="en-US" sz="2400" b="1" dirty="0"/>
              <a:t>What type of data needs to be stored?: </a:t>
            </a:r>
            <a:r>
              <a:rPr lang="en-US" sz="2400" dirty="0"/>
              <a:t>It might be a possibility that a certain data structure can be the best fit for some kind of data.</a:t>
            </a:r>
          </a:p>
          <a:p>
            <a:pPr>
              <a:defRPr/>
            </a:pPr>
            <a:r>
              <a:rPr lang="en-US" sz="2400" b="1" dirty="0"/>
              <a:t>Cost of operations: </a:t>
            </a:r>
            <a:r>
              <a:rPr lang="en-US" sz="2400" dirty="0"/>
              <a:t>If we want to minimize the cost for the operations for the most frequently performed operations. For example, we have a simple list on which we have to perform the search operation; then, we can create an array in which elements are stored in sorted order to perform the binary search. The binary search works very fast for the simple list as it divides the search space into half.</a:t>
            </a:r>
          </a:p>
        </p:txBody>
      </p:sp>
    </p:spTree>
    <p:extLst>
      <p:ext uri="{BB962C8B-B14F-4D97-AF65-F5344CB8AC3E}">
        <p14:creationId xmlns:p14="http://schemas.microsoft.com/office/powerpoint/2010/main" val="36951100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r>
              <a:rPr lang="en-US" dirty="0"/>
              <a:t>Trees in Data Structures</a:t>
            </a:r>
          </a:p>
        </p:txBody>
      </p:sp>
      <p:sp>
        <p:nvSpPr>
          <p:cNvPr id="12" name="Espace réservé du contenu 2"/>
          <p:cNvSpPr>
            <a:spLocks noGrp="1"/>
          </p:cNvSpPr>
          <p:nvPr>
            <p:ph idx="4294967295"/>
          </p:nvPr>
        </p:nvSpPr>
        <p:spPr>
          <a:xfrm>
            <a:off x="1119322" y="2378076"/>
            <a:ext cx="10662968" cy="5105400"/>
          </a:xfr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normAutofit/>
          </a:bodyPr>
          <a:lstStyle/>
          <a:p>
            <a:pPr>
              <a:defRPr/>
            </a:pPr>
            <a:r>
              <a:rPr lang="en-US" sz="2400" b="1" dirty="0"/>
              <a:t>Memory usage: </a:t>
            </a:r>
            <a:r>
              <a:rPr lang="en-US" sz="2400" dirty="0"/>
              <a:t>Sometimes, we want a data structure that utilizes less memory.</a:t>
            </a:r>
          </a:p>
          <a:p>
            <a:pPr>
              <a:defRPr/>
            </a:pPr>
            <a:r>
              <a:rPr lang="en-US" sz="2400" dirty="0"/>
              <a:t>Linked list data structure is considered best from memory point of view.</a:t>
            </a:r>
          </a:p>
          <a:p>
            <a:pPr>
              <a:defRPr/>
            </a:pPr>
            <a:r>
              <a:rPr lang="en-US" sz="2400" dirty="0"/>
              <a:t>But the main disadvantage with linked list is that it is a linear data structures.</a:t>
            </a:r>
          </a:p>
          <a:p>
            <a:pPr>
              <a:defRPr/>
            </a:pPr>
            <a:r>
              <a:rPr lang="en-US" sz="2400" dirty="0"/>
              <a:t>Every node has information of next node only. So, the searching in linked list is sequential which is very slow. </a:t>
            </a:r>
          </a:p>
          <a:p>
            <a:pPr>
              <a:defRPr/>
            </a:pPr>
            <a:r>
              <a:rPr lang="en-US" sz="2400" dirty="0"/>
              <a:t>Now we will study a tree data structure which represents the hierarchical data structure. It is very useful for information retrieval and searching in tree is also very fast.</a:t>
            </a:r>
            <a:endParaRPr lang="fr-FR" sz="2400" dirty="0"/>
          </a:p>
        </p:txBody>
      </p:sp>
    </p:spTree>
    <p:extLst>
      <p:ext uri="{BB962C8B-B14F-4D97-AF65-F5344CB8AC3E}">
        <p14:creationId xmlns:p14="http://schemas.microsoft.com/office/powerpoint/2010/main" val="1818451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Data Structure</a:t>
            </a:r>
            <a:endParaRPr lang="en-US" sz="4000" kern="1200" spc="-10" dirty="0">
              <a:solidFill>
                <a:schemeClr val="tx1"/>
              </a:solidFill>
              <a:latin typeface="+mj-lt"/>
              <a:ea typeface="+mj-ea"/>
              <a:cs typeface="+mj-cs"/>
            </a:endParaRPr>
          </a:p>
        </p:txBody>
      </p:sp>
      <p:sp>
        <p:nvSpPr>
          <p:cNvPr id="12" name="Espace réservé du contenu 2"/>
          <p:cNvSpPr>
            <a:spLocks noGrp="1"/>
          </p:cNvSpPr>
          <p:nvPr>
            <p:ph idx="1"/>
          </p:nvPr>
        </p:nvSpPr>
        <p:spPr>
          <a:xfrm>
            <a:off x="1342047" y="2012494"/>
            <a:ext cx="9881156" cy="4370057"/>
          </a:xfr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p>
            <a:pPr>
              <a:defRPr/>
            </a:pPr>
            <a:r>
              <a:rPr lang="en-US" sz="2400" b="1" i="1" dirty="0"/>
              <a:t>A tree</a:t>
            </a:r>
            <a:r>
              <a:rPr lang="en-US" sz="2400" dirty="0"/>
              <a:t> is also one of the data structures that represents non linear hierarchical data. </a:t>
            </a:r>
            <a:endParaRPr lang="en-US" sz="2400" i="1" dirty="0"/>
          </a:p>
          <a:p>
            <a:pPr>
              <a:defRPr/>
            </a:pPr>
            <a:r>
              <a:rPr lang="fr-FR" sz="2400" dirty="0"/>
              <a:t>A </a:t>
            </a:r>
            <a:r>
              <a:rPr lang="fr-FR" sz="2400" dirty="0" err="1"/>
              <a:t>tree</a:t>
            </a:r>
            <a:r>
              <a:rPr lang="fr-FR" sz="2400" dirty="0"/>
              <a:t> data structure </a:t>
            </a:r>
            <a:r>
              <a:rPr lang="fr-FR" sz="2400" dirty="0" err="1"/>
              <a:t>is</a:t>
            </a:r>
            <a:r>
              <a:rPr lang="fr-FR" sz="2400" dirty="0"/>
              <a:t> </a:t>
            </a:r>
            <a:r>
              <a:rPr lang="fr-FR" sz="2400" dirty="0" err="1"/>
              <a:t>defined</a:t>
            </a:r>
            <a:r>
              <a:rPr lang="fr-FR" sz="2400" dirty="0"/>
              <a:t> as:</a:t>
            </a:r>
          </a:p>
          <a:p>
            <a:pPr marL="457200" lvl="1" indent="0">
              <a:buNone/>
              <a:defRPr/>
            </a:pPr>
            <a:r>
              <a:rPr lang="en-US" sz="2000" b="1" dirty="0"/>
              <a:t>“</a:t>
            </a:r>
            <a:r>
              <a:rPr lang="en-US" sz="2000" b="1" i="1" dirty="0"/>
              <a:t>Tree data structure is a collection of data (Node) which is organized in hierarchical structure recursively”.</a:t>
            </a:r>
          </a:p>
          <a:p>
            <a:pPr marL="457200" lvl="1" indent="0">
              <a:buNone/>
              <a:defRPr/>
            </a:pPr>
            <a:r>
              <a:rPr lang="en-US" sz="2000" b="1" i="1" dirty="0"/>
              <a:t>				OR</a:t>
            </a:r>
          </a:p>
          <a:p>
            <a:pPr marL="457200" lvl="1" indent="0">
              <a:buNone/>
              <a:defRPr/>
            </a:pPr>
            <a:r>
              <a:rPr lang="en-US" sz="2000" b="1" i="1" dirty="0"/>
              <a:t>“</a:t>
            </a:r>
            <a:r>
              <a:rPr lang="en-US" sz="2000" b="1" dirty="0"/>
              <a:t>It is a collection of nodes that are related with each other.”</a:t>
            </a:r>
            <a:endParaRPr lang="fr-FR" sz="2000" b="1" i="1" dirty="0"/>
          </a:p>
          <a:p>
            <a:pPr>
              <a:defRPr/>
            </a:pPr>
            <a:r>
              <a:rPr lang="fr-FR" sz="2400" dirty="0" err="1"/>
              <a:t>Examples</a:t>
            </a:r>
            <a:r>
              <a:rPr lang="fr-FR" sz="2400" dirty="0"/>
              <a:t>:</a:t>
            </a:r>
          </a:p>
          <a:p>
            <a:pPr lvl="1">
              <a:defRPr/>
            </a:pPr>
            <a:r>
              <a:rPr lang="en-US" sz="2000" dirty="0"/>
              <a:t>Table of content</a:t>
            </a:r>
          </a:p>
          <a:p>
            <a:pPr lvl="1">
              <a:defRPr/>
            </a:pPr>
            <a:r>
              <a:rPr lang="en-US" sz="2000" dirty="0"/>
              <a:t>A family tree</a:t>
            </a:r>
          </a:p>
          <a:p>
            <a:pPr lvl="1">
              <a:defRPr/>
            </a:pPr>
            <a:endParaRPr lang="en-US" dirty="0"/>
          </a:p>
          <a:p>
            <a:pPr lvl="1">
              <a:defRPr/>
            </a:pPr>
            <a:endParaRPr lang="fr-FR" dirty="0"/>
          </a:p>
        </p:txBody>
      </p:sp>
    </p:spTree>
    <p:extLst>
      <p:ext uri="{BB962C8B-B14F-4D97-AF65-F5344CB8AC3E}">
        <p14:creationId xmlns:p14="http://schemas.microsoft.com/office/powerpoint/2010/main" val="7466790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00571-F6B4-7215-5885-9D035B7A7AB8}"/>
              </a:ext>
            </a:extLst>
          </p:cNvPr>
          <p:cNvSpPr>
            <a:spLocks noGrp="1"/>
          </p:cNvSpPr>
          <p:nvPr>
            <p:ph type="title"/>
          </p:nvPr>
        </p:nvSpPr>
        <p:spPr/>
        <p:txBody>
          <a:bodyPr/>
          <a:lstStyle/>
          <a:p>
            <a:r>
              <a:rPr lang="en-US" dirty="0"/>
              <a:t>Tree Data Structure</a:t>
            </a:r>
          </a:p>
        </p:txBody>
      </p:sp>
      <p:sp>
        <p:nvSpPr>
          <p:cNvPr id="3" name="Content Placeholder 2">
            <a:extLst>
              <a:ext uri="{FF2B5EF4-FFF2-40B4-BE49-F238E27FC236}">
                <a16:creationId xmlns:a16="http://schemas.microsoft.com/office/drawing/2014/main" id="{AC6B0A38-2E3D-7AC8-FED2-6CF6D06DF87D}"/>
              </a:ext>
            </a:extLst>
          </p:cNvPr>
          <p:cNvSpPr>
            <a:spLocks noGrp="1"/>
          </p:cNvSpPr>
          <p:nvPr>
            <p:ph idx="1"/>
          </p:nvPr>
        </p:nvSpPr>
        <p:spPr/>
        <p:txBody>
          <a:bodyPr/>
          <a:lstStyle/>
          <a:p>
            <a:pPr lvl="1" algn="just"/>
            <a:r>
              <a:rPr lang="en-GB" altLang="en-US" sz="2800" dirty="0"/>
              <a:t>Consists of nodes and edges.</a:t>
            </a:r>
          </a:p>
          <a:p>
            <a:pPr lvl="1"/>
            <a:r>
              <a:rPr lang="en-GB" altLang="en-US" sz="2800" dirty="0"/>
              <a:t>Frequent insertion and deletion is possible in tree data structure.</a:t>
            </a:r>
          </a:p>
          <a:p>
            <a:pPr lvl="1"/>
            <a:r>
              <a:rPr lang="en-GB" altLang="en-US" sz="2800" dirty="0"/>
              <a:t>Can be implemented with both arrays and linked list.</a:t>
            </a:r>
            <a:endParaRPr lang="en-US" altLang="en-US" sz="2800" dirty="0"/>
          </a:p>
          <a:p>
            <a:endParaRPr lang="en-US" dirty="0"/>
          </a:p>
        </p:txBody>
      </p:sp>
    </p:spTree>
    <p:extLst>
      <p:ext uri="{BB962C8B-B14F-4D97-AF65-F5344CB8AC3E}">
        <p14:creationId xmlns:p14="http://schemas.microsoft.com/office/powerpoint/2010/main" val="1050888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4848AD4-3620-2927-CB10-84941342A23A}"/>
              </a:ext>
            </a:extLst>
          </p:cNvPr>
          <p:cNvPicPr>
            <a:picLocks noGrp="1" noChangeAspect="1"/>
          </p:cNvPicPr>
          <p:nvPr>
            <p:ph idx="1"/>
          </p:nvPr>
        </p:nvPicPr>
        <p:blipFill>
          <a:blip r:embed="rId2"/>
          <a:stretch>
            <a:fillRect/>
          </a:stretch>
        </p:blipFill>
        <p:spPr>
          <a:xfrm>
            <a:off x="602837" y="315311"/>
            <a:ext cx="9092956" cy="5975130"/>
          </a:xfrm>
          <a:prstGeom prst="rect">
            <a:avLst/>
          </a:prstGeom>
        </p:spPr>
      </p:pic>
    </p:spTree>
    <p:extLst>
      <p:ext uri="{BB962C8B-B14F-4D97-AF65-F5344CB8AC3E}">
        <p14:creationId xmlns:p14="http://schemas.microsoft.com/office/powerpoint/2010/main" val="2101327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General Tree Structure</a:t>
            </a:r>
            <a:endParaRPr lang="en-US" sz="4000" kern="1200" spc="-10" dirty="0">
              <a:solidFill>
                <a:schemeClr val="tx1"/>
              </a:solidFill>
              <a:latin typeface="+mj-lt"/>
              <a:ea typeface="+mj-ea"/>
              <a:cs typeface="+mj-cs"/>
            </a:endParaRPr>
          </a:p>
        </p:txBody>
      </p:sp>
      <p:pic>
        <p:nvPicPr>
          <p:cNvPr id="6" name="Picture 5">
            <a:extLst>
              <a:ext uri="{FF2B5EF4-FFF2-40B4-BE49-F238E27FC236}">
                <a16:creationId xmlns:a16="http://schemas.microsoft.com/office/drawing/2014/main" id="{B457B39D-5013-43CE-9E54-7B7A48CA131E}"/>
              </a:ext>
            </a:extLst>
          </p:cNvPr>
          <p:cNvPicPr>
            <a:picLocks noChangeAspect="1"/>
          </p:cNvPicPr>
          <p:nvPr/>
        </p:nvPicPr>
        <p:blipFill>
          <a:blip r:embed="rId2"/>
          <a:stretch>
            <a:fillRect/>
          </a:stretch>
        </p:blipFill>
        <p:spPr>
          <a:xfrm>
            <a:off x="2857500" y="2386155"/>
            <a:ext cx="6477000" cy="3931652"/>
          </a:xfrm>
          <a:prstGeom prst="rect">
            <a:avLst/>
          </a:prstGeom>
        </p:spPr>
      </p:pic>
    </p:spTree>
    <p:extLst>
      <p:ext uri="{BB962C8B-B14F-4D97-AF65-F5344CB8AC3E}">
        <p14:creationId xmlns:p14="http://schemas.microsoft.com/office/powerpoint/2010/main" val="1695852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 Example</a:t>
            </a:r>
            <a:endParaRPr lang="en-US" sz="4000" kern="1200" spc="-1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A8140E1F-9535-45E6-A42A-07A9332C9B91}"/>
              </a:ext>
            </a:extLst>
          </p:cNvPr>
          <p:cNvPicPr>
            <a:picLocks noChangeAspect="1"/>
          </p:cNvPicPr>
          <p:nvPr/>
        </p:nvPicPr>
        <p:blipFill>
          <a:blip r:embed="rId2"/>
          <a:stretch>
            <a:fillRect/>
          </a:stretch>
        </p:blipFill>
        <p:spPr>
          <a:xfrm>
            <a:off x="2354094" y="2012494"/>
            <a:ext cx="8297693" cy="4045114"/>
          </a:xfrm>
          <a:prstGeom prst="rect">
            <a:avLst/>
          </a:prstGeom>
        </p:spPr>
      </p:pic>
    </p:spTree>
    <p:extLst>
      <p:ext uri="{BB962C8B-B14F-4D97-AF65-F5344CB8AC3E}">
        <p14:creationId xmlns:p14="http://schemas.microsoft.com/office/powerpoint/2010/main" val="4182867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3651" y="294554"/>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pic>
        <p:nvPicPr>
          <p:cNvPr id="3" name="Picture 2">
            <a:extLst>
              <a:ext uri="{FF2B5EF4-FFF2-40B4-BE49-F238E27FC236}">
                <a16:creationId xmlns:a16="http://schemas.microsoft.com/office/drawing/2014/main" id="{44BC5F62-4F1C-4EFA-A82C-6E9CDD414A0A}"/>
              </a:ext>
            </a:extLst>
          </p:cNvPr>
          <p:cNvPicPr>
            <a:picLocks noChangeAspect="1"/>
          </p:cNvPicPr>
          <p:nvPr/>
        </p:nvPicPr>
        <p:blipFill>
          <a:blip r:embed="rId2"/>
          <a:stretch>
            <a:fillRect/>
          </a:stretch>
        </p:blipFill>
        <p:spPr>
          <a:xfrm>
            <a:off x="1785854" y="1274646"/>
            <a:ext cx="8934481" cy="5044153"/>
          </a:xfrm>
          <a:prstGeom prst="rect">
            <a:avLst/>
          </a:prstGeom>
        </p:spPr>
      </p:pic>
    </p:spTree>
    <p:extLst>
      <p:ext uri="{BB962C8B-B14F-4D97-AF65-F5344CB8AC3E}">
        <p14:creationId xmlns:p14="http://schemas.microsoft.com/office/powerpoint/2010/main" val="3862841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27CB6315-1471-48C5-9C9F-E7B52D122CD7}"/>
              </a:ext>
            </a:extLst>
          </p:cNvPr>
          <p:cNvSpPr txBox="1"/>
          <p:nvPr/>
        </p:nvSpPr>
        <p:spPr>
          <a:xfrm>
            <a:off x="1283090" y="1919061"/>
            <a:ext cx="10268828" cy="1692771"/>
          </a:xfrm>
          <a:prstGeom prst="rect">
            <a:avLst/>
          </a:prstGeom>
          <a:noFill/>
        </p:spPr>
        <p:txBody>
          <a:bodyPr wrap="square">
            <a:spAutoFit/>
          </a:bodyPr>
          <a:lstStyle/>
          <a:p>
            <a:pPr algn="just"/>
            <a:r>
              <a:rPr lang="en-US" sz="2400" b="1" i="0" dirty="0">
                <a:solidFill>
                  <a:srgbClr val="E00D50"/>
                </a:solidFill>
                <a:effectLst/>
                <a:latin typeface="Open Sans" panose="020B0606030504020204" pitchFamily="34" charset="0"/>
              </a:rPr>
              <a:t>1. Root</a:t>
            </a:r>
          </a:p>
          <a:p>
            <a:pPr algn="just"/>
            <a:r>
              <a:rPr lang="en-US" sz="2000" b="0" i="0" dirty="0">
                <a:solidFill>
                  <a:srgbClr val="333333"/>
                </a:solidFill>
                <a:effectLst/>
                <a:latin typeface="Open Sans" panose="020B0606030504020204" pitchFamily="34" charset="0"/>
              </a:rPr>
              <a:t>In a tree data structure, the first node is called as </a:t>
            </a:r>
            <a:r>
              <a:rPr lang="en-US" sz="2000" b="1" i="0" dirty="0">
                <a:solidFill>
                  <a:srgbClr val="333333"/>
                </a:solidFill>
                <a:effectLst/>
                <a:latin typeface="Open Sans" panose="020B0606030504020204" pitchFamily="34" charset="0"/>
              </a:rPr>
              <a:t>Root Node</a:t>
            </a:r>
            <a:r>
              <a:rPr lang="en-US" sz="2000" b="0" i="0" dirty="0">
                <a:solidFill>
                  <a:srgbClr val="333333"/>
                </a:solidFill>
                <a:effectLst/>
                <a:latin typeface="Open Sans" panose="020B0606030504020204" pitchFamily="34" charset="0"/>
              </a:rPr>
              <a:t>. Every tree must have a root node. We can say that the root node is the origin of the tree data structure. In any tree, there must be only one root node. We never have multiple root nodes in a tree.</a:t>
            </a:r>
          </a:p>
        </p:txBody>
      </p:sp>
      <p:pic>
        <p:nvPicPr>
          <p:cNvPr id="5" name="Picture 4">
            <a:extLst>
              <a:ext uri="{FF2B5EF4-FFF2-40B4-BE49-F238E27FC236}">
                <a16:creationId xmlns:a16="http://schemas.microsoft.com/office/drawing/2014/main" id="{DDEE759A-B5C9-4548-8F9B-4CBDDDA92611}"/>
              </a:ext>
            </a:extLst>
          </p:cNvPr>
          <p:cNvPicPr>
            <a:picLocks noChangeAspect="1"/>
          </p:cNvPicPr>
          <p:nvPr/>
        </p:nvPicPr>
        <p:blipFill>
          <a:blip r:embed="rId2"/>
          <a:stretch>
            <a:fillRect/>
          </a:stretch>
        </p:blipFill>
        <p:spPr>
          <a:xfrm>
            <a:off x="2831710" y="3518085"/>
            <a:ext cx="8077200" cy="3090533"/>
          </a:xfrm>
          <a:prstGeom prst="rect">
            <a:avLst/>
          </a:prstGeom>
        </p:spPr>
      </p:pic>
    </p:spTree>
    <p:extLst>
      <p:ext uri="{BB962C8B-B14F-4D97-AF65-F5344CB8AC3E}">
        <p14:creationId xmlns:p14="http://schemas.microsoft.com/office/powerpoint/2010/main" val="13963716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4AC477FB-3A0F-4257-91DC-AF19FC70A09D}"/>
              </a:ext>
            </a:extLst>
          </p:cNvPr>
          <p:cNvSpPr txBox="1"/>
          <p:nvPr/>
        </p:nvSpPr>
        <p:spPr>
          <a:xfrm>
            <a:off x="1120849" y="2012494"/>
            <a:ext cx="9940010" cy="1938992"/>
          </a:xfrm>
          <a:prstGeom prst="rect">
            <a:avLst/>
          </a:prstGeom>
          <a:noFill/>
        </p:spPr>
        <p:txBody>
          <a:bodyPr wrap="square">
            <a:spAutoFit/>
          </a:bodyPr>
          <a:lstStyle/>
          <a:p>
            <a:pPr algn="just"/>
            <a:r>
              <a:rPr lang="en-US" sz="2400" b="1" i="0" dirty="0">
                <a:solidFill>
                  <a:srgbClr val="E00D50"/>
                </a:solidFill>
                <a:effectLst/>
                <a:latin typeface="Open Sans" panose="020B0606030504020204" pitchFamily="34" charset="0"/>
              </a:rPr>
              <a:t>2. Edge</a:t>
            </a:r>
          </a:p>
          <a:p>
            <a:pPr algn="just"/>
            <a:r>
              <a:rPr lang="en-US" sz="2000" b="0" i="0" dirty="0">
                <a:solidFill>
                  <a:srgbClr val="333333"/>
                </a:solidFill>
                <a:effectLst/>
                <a:latin typeface="Open Sans" panose="020B0606030504020204" pitchFamily="34" charset="0"/>
              </a:rPr>
              <a:t>In a tree data structure, the connecting link between any two nodes is called as </a:t>
            </a:r>
            <a:r>
              <a:rPr lang="en-US" sz="2000" b="1" i="0" dirty="0">
                <a:solidFill>
                  <a:srgbClr val="333333"/>
                </a:solidFill>
                <a:effectLst/>
                <a:latin typeface="Open Sans" panose="020B0606030504020204" pitchFamily="34" charset="0"/>
              </a:rPr>
              <a:t>EDGE</a:t>
            </a:r>
            <a:r>
              <a:rPr lang="en-US" sz="2000" b="0" i="0" dirty="0">
                <a:solidFill>
                  <a:srgbClr val="333333"/>
                </a:solidFill>
                <a:effectLst/>
                <a:latin typeface="Open Sans" panose="020B0606030504020204" pitchFamily="34" charset="0"/>
              </a:rPr>
              <a:t>. In a tree with '</a:t>
            </a:r>
            <a:r>
              <a:rPr lang="en-US" sz="2000" b="1" i="0" dirty="0">
                <a:solidFill>
                  <a:srgbClr val="333333"/>
                </a:solidFill>
                <a:effectLst/>
                <a:latin typeface="Open Sans" panose="020B0606030504020204" pitchFamily="34" charset="0"/>
              </a:rPr>
              <a:t>N</a:t>
            </a:r>
            <a:r>
              <a:rPr lang="en-US" sz="2000" b="0" i="0" dirty="0">
                <a:solidFill>
                  <a:srgbClr val="333333"/>
                </a:solidFill>
                <a:effectLst/>
                <a:latin typeface="Open Sans" panose="020B0606030504020204" pitchFamily="34" charset="0"/>
              </a:rPr>
              <a:t>' number of nodes there will be a maximum of '</a:t>
            </a:r>
            <a:r>
              <a:rPr lang="en-US" sz="2000" b="1" i="0" dirty="0">
                <a:solidFill>
                  <a:srgbClr val="333333"/>
                </a:solidFill>
                <a:effectLst/>
                <a:latin typeface="Open Sans" panose="020B0606030504020204" pitchFamily="34" charset="0"/>
              </a:rPr>
              <a:t>N-1</a:t>
            </a:r>
            <a:r>
              <a:rPr lang="en-US" sz="2000" b="0" i="0" dirty="0">
                <a:solidFill>
                  <a:srgbClr val="333333"/>
                </a:solidFill>
                <a:effectLst/>
                <a:latin typeface="Open Sans" panose="020B0606030504020204" pitchFamily="34" charset="0"/>
              </a:rPr>
              <a:t>' number of edges.</a:t>
            </a:r>
          </a:p>
          <a:p>
            <a:br>
              <a:rPr lang="en-US" dirty="0"/>
            </a:br>
            <a:endParaRPr lang="en-US" dirty="0"/>
          </a:p>
        </p:txBody>
      </p:sp>
      <p:pic>
        <p:nvPicPr>
          <p:cNvPr id="4" name="Picture 3">
            <a:extLst>
              <a:ext uri="{FF2B5EF4-FFF2-40B4-BE49-F238E27FC236}">
                <a16:creationId xmlns:a16="http://schemas.microsoft.com/office/drawing/2014/main" id="{2AE73ABF-0A84-46C1-9B25-F9CDC9664302}"/>
              </a:ext>
            </a:extLst>
          </p:cNvPr>
          <p:cNvPicPr>
            <a:picLocks noChangeAspect="1"/>
          </p:cNvPicPr>
          <p:nvPr/>
        </p:nvPicPr>
        <p:blipFill>
          <a:blip r:embed="rId2"/>
          <a:stretch>
            <a:fillRect/>
          </a:stretch>
        </p:blipFill>
        <p:spPr>
          <a:xfrm>
            <a:off x="2919241" y="3553267"/>
            <a:ext cx="7454685" cy="3194865"/>
          </a:xfrm>
          <a:prstGeom prst="rect">
            <a:avLst/>
          </a:prstGeom>
        </p:spPr>
      </p:pic>
    </p:spTree>
    <p:extLst>
      <p:ext uri="{BB962C8B-B14F-4D97-AF65-F5344CB8AC3E}">
        <p14:creationId xmlns:p14="http://schemas.microsoft.com/office/powerpoint/2010/main" val="2833824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C781D5C2-CBCB-4F5C-A345-D4744AD7F41E}"/>
              </a:ext>
            </a:extLst>
          </p:cNvPr>
          <p:cNvSpPr txBox="1"/>
          <p:nvPr/>
        </p:nvSpPr>
        <p:spPr>
          <a:xfrm>
            <a:off x="1124398" y="1833178"/>
            <a:ext cx="10109096" cy="2246769"/>
          </a:xfrm>
          <a:prstGeom prst="rect">
            <a:avLst/>
          </a:prstGeom>
          <a:noFill/>
        </p:spPr>
        <p:txBody>
          <a:bodyPr wrap="square">
            <a:spAutoFit/>
          </a:bodyPr>
          <a:lstStyle/>
          <a:p>
            <a:pPr algn="just"/>
            <a:r>
              <a:rPr lang="en-US" sz="2400" b="1" i="0" dirty="0">
                <a:solidFill>
                  <a:srgbClr val="E00D50"/>
                </a:solidFill>
                <a:effectLst/>
                <a:latin typeface="Open Sans" panose="020B0606030504020204" pitchFamily="34" charset="0"/>
              </a:rPr>
              <a:t>3. Parent</a:t>
            </a:r>
          </a:p>
          <a:p>
            <a:pPr algn="just"/>
            <a:r>
              <a:rPr lang="en-US" sz="2000" b="0" i="0" dirty="0">
                <a:solidFill>
                  <a:srgbClr val="333333"/>
                </a:solidFill>
                <a:effectLst/>
                <a:latin typeface="Open Sans" panose="020B0606030504020204" pitchFamily="34" charset="0"/>
              </a:rPr>
              <a:t>In a tree data structure, the node which is a predecessor of any node is called as </a:t>
            </a:r>
            <a:r>
              <a:rPr lang="en-US" sz="2000" b="1" i="0" dirty="0">
                <a:solidFill>
                  <a:srgbClr val="333333"/>
                </a:solidFill>
                <a:effectLst/>
                <a:latin typeface="Open Sans" panose="020B0606030504020204" pitchFamily="34" charset="0"/>
              </a:rPr>
              <a:t>PARENT NODE</a:t>
            </a:r>
            <a:r>
              <a:rPr lang="en-US" sz="2000" b="0" i="0" dirty="0">
                <a:solidFill>
                  <a:srgbClr val="333333"/>
                </a:solidFill>
                <a:effectLst/>
                <a:latin typeface="Open Sans" panose="020B0606030504020204" pitchFamily="34" charset="0"/>
              </a:rPr>
              <a:t>. In simple words, the node which has a branch from it to any other node is called a parent node. Parent node can also be defined as "</a:t>
            </a:r>
            <a:r>
              <a:rPr lang="en-US" sz="2000" b="1" i="0" dirty="0">
                <a:solidFill>
                  <a:srgbClr val="333333"/>
                </a:solidFill>
                <a:effectLst/>
                <a:latin typeface="Open Sans" panose="020B0606030504020204" pitchFamily="34" charset="0"/>
              </a:rPr>
              <a:t>The node which has child / children</a:t>
            </a:r>
            <a:r>
              <a:rPr lang="en-US" sz="2000" b="0" i="0" dirty="0">
                <a:solidFill>
                  <a:srgbClr val="333333"/>
                </a:solidFill>
                <a:effectLst/>
                <a:latin typeface="Open Sans" panose="020B0606030504020204" pitchFamily="34" charset="0"/>
              </a:rPr>
              <a:t>".</a:t>
            </a:r>
          </a:p>
          <a:p>
            <a:br>
              <a:rPr lang="en-US" dirty="0"/>
            </a:br>
            <a:endParaRPr lang="en-US" dirty="0"/>
          </a:p>
        </p:txBody>
      </p:sp>
      <p:pic>
        <p:nvPicPr>
          <p:cNvPr id="4" name="Picture 3">
            <a:extLst>
              <a:ext uri="{FF2B5EF4-FFF2-40B4-BE49-F238E27FC236}">
                <a16:creationId xmlns:a16="http://schemas.microsoft.com/office/drawing/2014/main" id="{C2B6D709-08CF-4112-9AF3-8001714F7B9A}"/>
              </a:ext>
            </a:extLst>
          </p:cNvPr>
          <p:cNvPicPr>
            <a:picLocks noChangeAspect="1"/>
          </p:cNvPicPr>
          <p:nvPr/>
        </p:nvPicPr>
        <p:blipFill>
          <a:blip r:embed="rId2"/>
          <a:stretch>
            <a:fillRect/>
          </a:stretch>
        </p:blipFill>
        <p:spPr>
          <a:xfrm>
            <a:off x="2863174" y="3323617"/>
            <a:ext cx="7467600" cy="3048000"/>
          </a:xfrm>
          <a:prstGeom prst="rect">
            <a:avLst/>
          </a:prstGeom>
        </p:spPr>
      </p:pic>
    </p:spTree>
    <p:extLst>
      <p:ext uri="{BB962C8B-B14F-4D97-AF65-F5344CB8AC3E}">
        <p14:creationId xmlns:p14="http://schemas.microsoft.com/office/powerpoint/2010/main" val="1039507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94712434-D418-4E9A-AFA8-17B502FF61A8}"/>
              </a:ext>
            </a:extLst>
          </p:cNvPr>
          <p:cNvSpPr txBox="1"/>
          <p:nvPr/>
        </p:nvSpPr>
        <p:spPr>
          <a:xfrm>
            <a:off x="968900" y="2012494"/>
            <a:ext cx="10268828" cy="1692771"/>
          </a:xfrm>
          <a:prstGeom prst="rect">
            <a:avLst/>
          </a:prstGeom>
          <a:noFill/>
        </p:spPr>
        <p:txBody>
          <a:bodyPr wrap="square">
            <a:spAutoFit/>
          </a:bodyPr>
          <a:lstStyle/>
          <a:p>
            <a:pPr algn="just"/>
            <a:r>
              <a:rPr lang="en-US" sz="2400" b="1" i="0" dirty="0">
                <a:solidFill>
                  <a:srgbClr val="E00D50"/>
                </a:solidFill>
                <a:effectLst/>
                <a:latin typeface="Open Sans" panose="020B0606030504020204" pitchFamily="34" charset="0"/>
              </a:rPr>
              <a:t>4. Child</a:t>
            </a:r>
          </a:p>
          <a:p>
            <a:pPr algn="just"/>
            <a:r>
              <a:rPr lang="en-US" sz="2000" b="0" i="0" dirty="0">
                <a:solidFill>
                  <a:srgbClr val="333333"/>
                </a:solidFill>
                <a:effectLst/>
                <a:latin typeface="Open Sans" panose="020B0606030504020204" pitchFamily="34" charset="0"/>
              </a:rPr>
              <a:t>In a tree data structure, the node which is descendant of any node is called as </a:t>
            </a:r>
            <a:r>
              <a:rPr lang="en-US" sz="2000" b="1" i="0" dirty="0">
                <a:solidFill>
                  <a:srgbClr val="333333"/>
                </a:solidFill>
                <a:effectLst/>
                <a:latin typeface="Open Sans" panose="020B0606030504020204" pitchFamily="34" charset="0"/>
              </a:rPr>
              <a:t>CHILD Node</a:t>
            </a:r>
            <a:r>
              <a:rPr lang="en-US" sz="2000" b="0" i="0" dirty="0">
                <a:solidFill>
                  <a:srgbClr val="333333"/>
                </a:solidFill>
                <a:effectLst/>
                <a:latin typeface="Open Sans" panose="020B0606030504020204" pitchFamily="34" charset="0"/>
              </a:rPr>
              <a:t>. In simple words, the node which has a link from its parent node is called as child node. In a tree, any parent node can have any number of child nodes. In a tree, all the nodes except root are child nodes.</a:t>
            </a:r>
          </a:p>
        </p:txBody>
      </p:sp>
      <p:pic>
        <p:nvPicPr>
          <p:cNvPr id="4" name="Picture 3">
            <a:extLst>
              <a:ext uri="{FF2B5EF4-FFF2-40B4-BE49-F238E27FC236}">
                <a16:creationId xmlns:a16="http://schemas.microsoft.com/office/drawing/2014/main" id="{454BD923-5AFD-4B2E-9CAA-25AB0BB39F41}"/>
              </a:ext>
            </a:extLst>
          </p:cNvPr>
          <p:cNvPicPr>
            <a:picLocks noChangeAspect="1"/>
          </p:cNvPicPr>
          <p:nvPr/>
        </p:nvPicPr>
        <p:blipFill>
          <a:blip r:embed="rId2"/>
          <a:stretch>
            <a:fillRect/>
          </a:stretch>
        </p:blipFill>
        <p:spPr>
          <a:xfrm>
            <a:off x="2725325" y="3615553"/>
            <a:ext cx="7294164" cy="2889389"/>
          </a:xfrm>
          <a:prstGeom prst="rect">
            <a:avLst/>
          </a:prstGeom>
        </p:spPr>
      </p:pic>
    </p:spTree>
    <p:extLst>
      <p:ext uri="{BB962C8B-B14F-4D97-AF65-F5344CB8AC3E}">
        <p14:creationId xmlns:p14="http://schemas.microsoft.com/office/powerpoint/2010/main" val="1337620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19CCC649-6FEB-4939-9AF8-485E7580C946}"/>
              </a:ext>
            </a:extLst>
          </p:cNvPr>
          <p:cNvSpPr txBox="1"/>
          <p:nvPr/>
        </p:nvSpPr>
        <p:spPr>
          <a:xfrm>
            <a:off x="964666" y="1943940"/>
            <a:ext cx="10268828" cy="1569660"/>
          </a:xfrm>
          <a:prstGeom prst="rect">
            <a:avLst/>
          </a:prstGeom>
          <a:noFill/>
        </p:spPr>
        <p:txBody>
          <a:bodyPr wrap="square">
            <a:spAutoFit/>
          </a:bodyPr>
          <a:lstStyle/>
          <a:p>
            <a:pPr algn="just"/>
            <a:r>
              <a:rPr lang="en-US" sz="2400" b="1" i="0" dirty="0">
                <a:solidFill>
                  <a:srgbClr val="E00D50"/>
                </a:solidFill>
                <a:effectLst/>
                <a:latin typeface="Open Sans" panose="020B0606030504020204" pitchFamily="34" charset="0"/>
              </a:rPr>
              <a:t>5. Siblings</a:t>
            </a:r>
          </a:p>
          <a:p>
            <a:pPr algn="just"/>
            <a:r>
              <a:rPr lang="en-US" sz="2400" b="0" i="0" dirty="0">
                <a:solidFill>
                  <a:srgbClr val="333333"/>
                </a:solidFill>
                <a:effectLst/>
                <a:latin typeface="Open Sans" panose="020B0606030504020204" pitchFamily="34" charset="0"/>
              </a:rPr>
              <a:t>In a tree data structure, nodes which belong to same Parent are called as </a:t>
            </a:r>
            <a:r>
              <a:rPr lang="en-US" sz="2400" b="1" i="0" dirty="0">
                <a:solidFill>
                  <a:srgbClr val="333333"/>
                </a:solidFill>
                <a:effectLst/>
                <a:latin typeface="Open Sans" panose="020B0606030504020204" pitchFamily="34" charset="0"/>
              </a:rPr>
              <a:t>SIBLINGS</a:t>
            </a:r>
            <a:r>
              <a:rPr lang="en-US" sz="2400" b="0" i="0" dirty="0">
                <a:solidFill>
                  <a:srgbClr val="333333"/>
                </a:solidFill>
                <a:effectLst/>
                <a:latin typeface="Open Sans" panose="020B0606030504020204" pitchFamily="34" charset="0"/>
              </a:rPr>
              <a:t>. In simple words, the nodes with the same parent are called Sibling nodes.</a:t>
            </a:r>
          </a:p>
        </p:txBody>
      </p:sp>
      <p:pic>
        <p:nvPicPr>
          <p:cNvPr id="1026" name="Picture 2" descr="tree data structure">
            <a:extLst>
              <a:ext uri="{FF2B5EF4-FFF2-40B4-BE49-F238E27FC236}">
                <a16:creationId xmlns:a16="http://schemas.microsoft.com/office/drawing/2014/main" id="{668B4DC3-6EAB-4C7A-9B56-DADE5F2A4E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599" y="3200400"/>
            <a:ext cx="7729165" cy="37431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41645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AAA1AF42-D5FF-4EC2-A636-64298A62166B}"/>
              </a:ext>
            </a:extLst>
          </p:cNvPr>
          <p:cNvSpPr txBox="1"/>
          <p:nvPr/>
        </p:nvSpPr>
        <p:spPr>
          <a:xfrm>
            <a:off x="1283090" y="2012494"/>
            <a:ext cx="10264697" cy="1631216"/>
          </a:xfrm>
          <a:prstGeom prst="rect">
            <a:avLst/>
          </a:prstGeom>
          <a:noFill/>
        </p:spPr>
        <p:txBody>
          <a:bodyPr wrap="square">
            <a:spAutoFit/>
          </a:bodyPr>
          <a:lstStyle/>
          <a:p>
            <a:pPr algn="just"/>
            <a:r>
              <a:rPr lang="en-US" sz="2000" b="1" i="0" dirty="0">
                <a:solidFill>
                  <a:srgbClr val="E00D50"/>
                </a:solidFill>
                <a:effectLst/>
                <a:latin typeface="Open Sans" panose="020B0606030504020204" pitchFamily="34" charset="0"/>
              </a:rPr>
              <a:t>6. Leaf</a:t>
            </a:r>
          </a:p>
          <a:p>
            <a:r>
              <a:rPr lang="en-US" sz="2000" b="0" i="0" dirty="0">
                <a:solidFill>
                  <a:srgbClr val="333333"/>
                </a:solidFill>
                <a:effectLst/>
                <a:latin typeface="Open Sans" panose="020B0606030504020204" pitchFamily="34" charset="0"/>
              </a:rPr>
              <a:t>In a tree data structure, the node which does not have a child is called as </a:t>
            </a:r>
            <a:r>
              <a:rPr lang="en-US" sz="2000" b="1" i="0" dirty="0">
                <a:solidFill>
                  <a:srgbClr val="333333"/>
                </a:solidFill>
                <a:effectLst/>
                <a:latin typeface="Open Sans" panose="020B0606030504020204" pitchFamily="34" charset="0"/>
              </a:rPr>
              <a:t>LEAF Node</a:t>
            </a:r>
            <a:r>
              <a:rPr lang="en-US" sz="2000" b="0" i="0" dirty="0">
                <a:solidFill>
                  <a:srgbClr val="333333"/>
                </a:solidFill>
                <a:effectLst/>
                <a:latin typeface="Open Sans" panose="020B0606030504020204" pitchFamily="34" charset="0"/>
              </a:rPr>
              <a:t>. In simple words, a leaf is a node with no child.</a:t>
            </a:r>
            <a:br>
              <a:rPr lang="en-US" sz="2000" b="0" i="0" dirty="0">
                <a:solidFill>
                  <a:srgbClr val="333333"/>
                </a:solidFill>
                <a:effectLst/>
                <a:latin typeface="Open Sans" panose="020B0606030504020204" pitchFamily="34" charset="0"/>
              </a:rPr>
            </a:br>
            <a:br>
              <a:rPr lang="en-US" sz="2000" b="0" i="0" dirty="0">
                <a:solidFill>
                  <a:srgbClr val="333333"/>
                </a:solidFill>
                <a:effectLst/>
                <a:latin typeface="Open Sans" panose="020B0606030504020204" pitchFamily="34" charset="0"/>
              </a:rPr>
            </a:br>
            <a:endParaRPr lang="en-US" sz="2000" b="0" i="0" dirty="0">
              <a:solidFill>
                <a:srgbClr val="333333"/>
              </a:solidFill>
              <a:effectLst/>
              <a:latin typeface="Open Sans" panose="020B0606030504020204" pitchFamily="34" charset="0"/>
            </a:endParaRPr>
          </a:p>
        </p:txBody>
      </p:sp>
      <p:pic>
        <p:nvPicPr>
          <p:cNvPr id="4" name="Picture 3">
            <a:extLst>
              <a:ext uri="{FF2B5EF4-FFF2-40B4-BE49-F238E27FC236}">
                <a16:creationId xmlns:a16="http://schemas.microsoft.com/office/drawing/2014/main" id="{0AC3CC3C-67C8-4D59-9940-01A4D7E51B55}"/>
              </a:ext>
            </a:extLst>
          </p:cNvPr>
          <p:cNvPicPr>
            <a:picLocks noChangeAspect="1"/>
          </p:cNvPicPr>
          <p:nvPr/>
        </p:nvPicPr>
        <p:blipFill>
          <a:blip r:embed="rId2"/>
          <a:stretch>
            <a:fillRect/>
          </a:stretch>
        </p:blipFill>
        <p:spPr>
          <a:xfrm>
            <a:off x="2186006" y="2828102"/>
            <a:ext cx="8458864" cy="3625227"/>
          </a:xfrm>
          <a:prstGeom prst="rect">
            <a:avLst/>
          </a:prstGeom>
        </p:spPr>
      </p:pic>
    </p:spTree>
    <p:extLst>
      <p:ext uri="{BB962C8B-B14F-4D97-AF65-F5344CB8AC3E}">
        <p14:creationId xmlns:p14="http://schemas.microsoft.com/office/powerpoint/2010/main" val="3635034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F1700CF3-FCEB-4305-B358-4C5A0ACFBF99}"/>
              </a:ext>
            </a:extLst>
          </p:cNvPr>
          <p:cNvSpPr txBox="1"/>
          <p:nvPr/>
        </p:nvSpPr>
        <p:spPr>
          <a:xfrm>
            <a:off x="1283090" y="1966726"/>
            <a:ext cx="10332615" cy="1015663"/>
          </a:xfrm>
          <a:prstGeom prst="rect">
            <a:avLst/>
          </a:prstGeom>
          <a:noFill/>
        </p:spPr>
        <p:txBody>
          <a:bodyPr wrap="square">
            <a:spAutoFit/>
          </a:bodyPr>
          <a:lstStyle/>
          <a:p>
            <a:pPr algn="just"/>
            <a:r>
              <a:rPr lang="en-US" sz="2000" b="1" dirty="0">
                <a:solidFill>
                  <a:srgbClr val="E00D50"/>
                </a:solidFill>
                <a:latin typeface="Open Sans" panose="020B0606030504020204" pitchFamily="34" charset="0"/>
              </a:rPr>
              <a:t>7</a:t>
            </a:r>
            <a:r>
              <a:rPr lang="en-US" sz="2000" b="1" i="0" dirty="0">
                <a:solidFill>
                  <a:srgbClr val="E00D50"/>
                </a:solidFill>
                <a:effectLst/>
                <a:latin typeface="Open Sans" panose="020B0606030504020204" pitchFamily="34" charset="0"/>
              </a:rPr>
              <a:t>. Degree</a:t>
            </a:r>
          </a:p>
          <a:p>
            <a:pPr algn="just"/>
            <a:r>
              <a:rPr lang="en-US" sz="2000" b="0" i="0" dirty="0">
                <a:solidFill>
                  <a:srgbClr val="333333"/>
                </a:solidFill>
                <a:effectLst/>
                <a:latin typeface="Open Sans" panose="020B0606030504020204" pitchFamily="34" charset="0"/>
              </a:rPr>
              <a:t>In a tree data structure, the total number of children of a node is called as </a:t>
            </a:r>
            <a:r>
              <a:rPr lang="en-US" sz="2000" b="1" i="0" dirty="0">
                <a:solidFill>
                  <a:srgbClr val="333333"/>
                </a:solidFill>
                <a:effectLst/>
                <a:latin typeface="Open Sans" panose="020B0606030504020204" pitchFamily="34" charset="0"/>
              </a:rPr>
              <a:t>DEGREE</a:t>
            </a:r>
            <a:r>
              <a:rPr lang="en-US" sz="2000" b="0" i="0" dirty="0">
                <a:solidFill>
                  <a:srgbClr val="333333"/>
                </a:solidFill>
                <a:effectLst/>
                <a:latin typeface="Open Sans" panose="020B0606030504020204" pitchFamily="34" charset="0"/>
              </a:rPr>
              <a:t> of that Node. </a:t>
            </a:r>
          </a:p>
        </p:txBody>
      </p:sp>
      <p:pic>
        <p:nvPicPr>
          <p:cNvPr id="4" name="Picture 3">
            <a:extLst>
              <a:ext uri="{FF2B5EF4-FFF2-40B4-BE49-F238E27FC236}">
                <a16:creationId xmlns:a16="http://schemas.microsoft.com/office/drawing/2014/main" id="{DEB48039-BF1D-46AF-AE52-67092CC18A66}"/>
              </a:ext>
            </a:extLst>
          </p:cNvPr>
          <p:cNvPicPr>
            <a:picLocks noChangeAspect="1"/>
          </p:cNvPicPr>
          <p:nvPr/>
        </p:nvPicPr>
        <p:blipFill>
          <a:blip r:embed="rId2"/>
          <a:stretch>
            <a:fillRect/>
          </a:stretch>
        </p:blipFill>
        <p:spPr>
          <a:xfrm>
            <a:off x="2853558" y="2982389"/>
            <a:ext cx="7659799" cy="3282771"/>
          </a:xfrm>
          <a:prstGeom prst="rect">
            <a:avLst/>
          </a:prstGeom>
        </p:spPr>
      </p:pic>
    </p:spTree>
    <p:extLst>
      <p:ext uri="{BB962C8B-B14F-4D97-AF65-F5344CB8AC3E}">
        <p14:creationId xmlns:p14="http://schemas.microsoft.com/office/powerpoint/2010/main" val="1077972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7FF20BA9-6F72-412A-BB47-FFE1860C2D61}"/>
              </a:ext>
            </a:extLst>
          </p:cNvPr>
          <p:cNvSpPr txBox="1"/>
          <p:nvPr/>
        </p:nvSpPr>
        <p:spPr>
          <a:xfrm>
            <a:off x="894960" y="1835563"/>
            <a:ext cx="10328140" cy="1938992"/>
          </a:xfrm>
          <a:prstGeom prst="rect">
            <a:avLst/>
          </a:prstGeom>
          <a:noFill/>
        </p:spPr>
        <p:txBody>
          <a:bodyPr wrap="square">
            <a:spAutoFit/>
          </a:bodyPr>
          <a:lstStyle/>
          <a:p>
            <a:pPr algn="just"/>
            <a:r>
              <a:rPr lang="en-US" sz="2000" b="1" dirty="0">
                <a:solidFill>
                  <a:srgbClr val="E00D50"/>
                </a:solidFill>
                <a:latin typeface="Open Sans" panose="020B0606030504020204" pitchFamily="34" charset="0"/>
              </a:rPr>
              <a:t>8</a:t>
            </a:r>
            <a:r>
              <a:rPr lang="en-US" sz="2000" b="1" i="0" dirty="0">
                <a:solidFill>
                  <a:srgbClr val="E00D50"/>
                </a:solidFill>
                <a:effectLst/>
                <a:latin typeface="Open Sans" panose="020B0606030504020204" pitchFamily="34" charset="0"/>
              </a:rPr>
              <a:t>. Level</a:t>
            </a:r>
          </a:p>
          <a:p>
            <a:pPr algn="just"/>
            <a:r>
              <a:rPr lang="en-US" sz="2000" b="0" i="0" dirty="0">
                <a:solidFill>
                  <a:srgbClr val="333333"/>
                </a:solidFill>
                <a:effectLst/>
                <a:latin typeface="Open Sans" panose="020B0606030504020204" pitchFamily="34" charset="0"/>
              </a:rPr>
              <a:t>In a tree data structure, the root node is said to be at Level 0 and the children of root node are at Level 1 and the children of the nodes which are at Level 1 will be at Level 2 and so on... </a:t>
            </a:r>
            <a:r>
              <a:rPr lang="en-US" sz="2000" b="1" i="0" dirty="0">
                <a:solidFill>
                  <a:srgbClr val="333333"/>
                </a:solidFill>
                <a:effectLst/>
                <a:latin typeface="Open Sans" panose="020B0606030504020204" pitchFamily="34" charset="0"/>
              </a:rPr>
              <a:t>In simple words, in a tree each step from top to bottom is called as a Level </a:t>
            </a:r>
            <a:r>
              <a:rPr lang="en-US" sz="2000" b="0" i="0" dirty="0">
                <a:solidFill>
                  <a:srgbClr val="333333"/>
                </a:solidFill>
                <a:effectLst/>
                <a:latin typeface="Open Sans" panose="020B0606030504020204" pitchFamily="34" charset="0"/>
              </a:rPr>
              <a:t>and the Level count starts with '0' and incremented by one at each level (Step).</a:t>
            </a:r>
          </a:p>
        </p:txBody>
      </p:sp>
      <p:pic>
        <p:nvPicPr>
          <p:cNvPr id="4" name="Picture 3">
            <a:extLst>
              <a:ext uri="{FF2B5EF4-FFF2-40B4-BE49-F238E27FC236}">
                <a16:creationId xmlns:a16="http://schemas.microsoft.com/office/drawing/2014/main" id="{4F4A66CA-BDDE-400E-AC31-75C871984FFF}"/>
              </a:ext>
            </a:extLst>
          </p:cNvPr>
          <p:cNvPicPr>
            <a:picLocks noChangeAspect="1"/>
          </p:cNvPicPr>
          <p:nvPr/>
        </p:nvPicPr>
        <p:blipFill>
          <a:blip r:embed="rId2"/>
          <a:stretch>
            <a:fillRect/>
          </a:stretch>
        </p:blipFill>
        <p:spPr>
          <a:xfrm>
            <a:off x="2757104" y="3429000"/>
            <a:ext cx="6667500" cy="3054217"/>
          </a:xfrm>
          <a:prstGeom prst="rect">
            <a:avLst/>
          </a:prstGeom>
        </p:spPr>
      </p:pic>
    </p:spTree>
    <p:extLst>
      <p:ext uri="{BB962C8B-B14F-4D97-AF65-F5344CB8AC3E}">
        <p14:creationId xmlns:p14="http://schemas.microsoft.com/office/powerpoint/2010/main" val="3762207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4E982B88-3DE1-4AF6-9A3B-3EDD7AF2C14A}"/>
              </a:ext>
            </a:extLst>
          </p:cNvPr>
          <p:cNvSpPr txBox="1"/>
          <p:nvPr/>
        </p:nvSpPr>
        <p:spPr>
          <a:xfrm>
            <a:off x="1036848" y="1874342"/>
            <a:ext cx="10432493" cy="1938992"/>
          </a:xfrm>
          <a:prstGeom prst="rect">
            <a:avLst/>
          </a:prstGeom>
          <a:noFill/>
        </p:spPr>
        <p:txBody>
          <a:bodyPr wrap="square">
            <a:spAutoFit/>
          </a:bodyPr>
          <a:lstStyle/>
          <a:p>
            <a:pPr algn="just"/>
            <a:r>
              <a:rPr lang="en-US" sz="2400" b="1" dirty="0">
                <a:solidFill>
                  <a:srgbClr val="E00D50"/>
                </a:solidFill>
                <a:latin typeface="Open Sans" panose="020B0606030504020204" pitchFamily="34" charset="0"/>
              </a:rPr>
              <a:t>9</a:t>
            </a:r>
            <a:r>
              <a:rPr lang="en-US" sz="2400" b="1" i="0" dirty="0">
                <a:solidFill>
                  <a:srgbClr val="E00D50"/>
                </a:solidFill>
                <a:effectLst/>
                <a:latin typeface="Open Sans" panose="020B0606030504020204" pitchFamily="34" charset="0"/>
              </a:rPr>
              <a:t>. Height</a:t>
            </a:r>
          </a:p>
          <a:p>
            <a:pPr algn="just"/>
            <a:r>
              <a:rPr lang="en-US" sz="2400" b="0" i="0" dirty="0">
                <a:solidFill>
                  <a:srgbClr val="333333"/>
                </a:solidFill>
                <a:effectLst/>
                <a:latin typeface="Open Sans" panose="020B0606030504020204" pitchFamily="34" charset="0"/>
              </a:rPr>
              <a:t>In a tree data structure, the </a:t>
            </a:r>
            <a:r>
              <a:rPr lang="en-US" sz="2400" b="0" i="0" dirty="0">
                <a:solidFill>
                  <a:srgbClr val="FF0000"/>
                </a:solidFill>
                <a:effectLst/>
                <a:latin typeface="Open Sans" panose="020B0606030504020204" pitchFamily="34" charset="0"/>
              </a:rPr>
              <a:t>total number of edges from leaf node to a particular node in the longest path is called as </a:t>
            </a:r>
            <a:r>
              <a:rPr lang="en-US" sz="2400" b="1" i="0" dirty="0">
                <a:solidFill>
                  <a:srgbClr val="FF0000"/>
                </a:solidFill>
                <a:effectLst/>
                <a:latin typeface="Open Sans" panose="020B0606030504020204" pitchFamily="34" charset="0"/>
              </a:rPr>
              <a:t>HEIGHT</a:t>
            </a:r>
            <a:r>
              <a:rPr lang="en-US" sz="2400" b="0" i="0" dirty="0">
                <a:solidFill>
                  <a:srgbClr val="333333"/>
                </a:solidFill>
                <a:effectLst/>
                <a:latin typeface="Open Sans" panose="020B0606030504020204" pitchFamily="34" charset="0"/>
              </a:rPr>
              <a:t> of that Node. </a:t>
            </a:r>
            <a:r>
              <a:rPr lang="en-US" sz="2400" b="0" i="0" u="sng" dirty="0">
                <a:solidFill>
                  <a:srgbClr val="333333"/>
                </a:solidFill>
                <a:effectLst/>
                <a:latin typeface="Open Sans" panose="020B0606030504020204" pitchFamily="34" charset="0"/>
              </a:rPr>
              <a:t>In a tree, height of the root node is said to be </a:t>
            </a:r>
            <a:r>
              <a:rPr lang="en-US" sz="2400" b="1" i="0" u="sng" dirty="0">
                <a:solidFill>
                  <a:srgbClr val="333333"/>
                </a:solidFill>
                <a:effectLst/>
                <a:latin typeface="Open Sans" panose="020B0606030504020204" pitchFamily="34" charset="0"/>
              </a:rPr>
              <a:t>height of the tree</a:t>
            </a:r>
            <a:r>
              <a:rPr lang="en-US" sz="2400" b="0" i="0" dirty="0">
                <a:solidFill>
                  <a:srgbClr val="333333"/>
                </a:solidFill>
                <a:effectLst/>
                <a:latin typeface="Open Sans" panose="020B0606030504020204" pitchFamily="34" charset="0"/>
              </a:rPr>
              <a:t>. In a tree, </a:t>
            </a:r>
            <a:r>
              <a:rPr lang="en-US" sz="2400" b="1" i="0" u="sng" dirty="0">
                <a:solidFill>
                  <a:srgbClr val="333333"/>
                </a:solidFill>
                <a:effectLst/>
                <a:latin typeface="Open Sans" panose="020B0606030504020204" pitchFamily="34" charset="0"/>
              </a:rPr>
              <a:t>height of all leaf nodes is '0'.</a:t>
            </a:r>
            <a:endParaRPr lang="en-US" sz="2400" b="0" i="0" dirty="0">
              <a:solidFill>
                <a:srgbClr val="333333"/>
              </a:solidFill>
              <a:effectLst/>
              <a:latin typeface="Open Sans" panose="020B0606030504020204" pitchFamily="34" charset="0"/>
            </a:endParaRPr>
          </a:p>
        </p:txBody>
      </p:sp>
      <p:pic>
        <p:nvPicPr>
          <p:cNvPr id="4" name="Picture 3">
            <a:extLst>
              <a:ext uri="{FF2B5EF4-FFF2-40B4-BE49-F238E27FC236}">
                <a16:creationId xmlns:a16="http://schemas.microsoft.com/office/drawing/2014/main" id="{573AF265-E05A-4AB7-9669-DD1D1127559A}"/>
              </a:ext>
            </a:extLst>
          </p:cNvPr>
          <p:cNvPicPr>
            <a:picLocks noChangeAspect="1"/>
          </p:cNvPicPr>
          <p:nvPr/>
        </p:nvPicPr>
        <p:blipFill>
          <a:blip r:embed="rId2"/>
          <a:stretch>
            <a:fillRect/>
          </a:stretch>
        </p:blipFill>
        <p:spPr>
          <a:xfrm>
            <a:off x="3463159" y="3813334"/>
            <a:ext cx="6667500" cy="2857500"/>
          </a:xfrm>
          <a:prstGeom prst="rect">
            <a:avLst/>
          </a:prstGeom>
        </p:spPr>
      </p:pic>
    </p:spTree>
    <p:extLst>
      <p:ext uri="{BB962C8B-B14F-4D97-AF65-F5344CB8AC3E}">
        <p14:creationId xmlns:p14="http://schemas.microsoft.com/office/powerpoint/2010/main" val="4489623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08E12054-ECC1-4AD0-9321-04DFDAA2B9A2}"/>
              </a:ext>
            </a:extLst>
          </p:cNvPr>
          <p:cNvSpPr txBox="1"/>
          <p:nvPr/>
        </p:nvSpPr>
        <p:spPr>
          <a:xfrm>
            <a:off x="1039086" y="1847787"/>
            <a:ext cx="10428018" cy="1569660"/>
          </a:xfrm>
          <a:prstGeom prst="rect">
            <a:avLst/>
          </a:prstGeom>
          <a:noFill/>
        </p:spPr>
        <p:txBody>
          <a:bodyPr wrap="square">
            <a:spAutoFit/>
          </a:bodyPr>
          <a:lstStyle/>
          <a:p>
            <a:pPr algn="just"/>
            <a:r>
              <a:rPr lang="en-US" sz="2400" b="1" i="0" dirty="0">
                <a:solidFill>
                  <a:srgbClr val="E00D50"/>
                </a:solidFill>
                <a:effectLst/>
                <a:latin typeface="Open Sans" panose="020B0606030504020204" pitchFamily="34" charset="0"/>
              </a:rPr>
              <a:t>10. Depth</a:t>
            </a:r>
          </a:p>
          <a:p>
            <a:pPr algn="just"/>
            <a:r>
              <a:rPr lang="en-US" sz="2400" b="0" i="0" dirty="0">
                <a:solidFill>
                  <a:srgbClr val="333333"/>
                </a:solidFill>
                <a:effectLst/>
                <a:latin typeface="Open Sans" panose="020B0606030504020204" pitchFamily="34" charset="0"/>
              </a:rPr>
              <a:t>In a tree data structure, </a:t>
            </a:r>
            <a:r>
              <a:rPr lang="en-US" sz="2400" b="0" i="0" u="sng" dirty="0">
                <a:solidFill>
                  <a:srgbClr val="333333"/>
                </a:solidFill>
                <a:effectLst/>
                <a:latin typeface="Open Sans" panose="020B0606030504020204" pitchFamily="34" charset="0"/>
              </a:rPr>
              <a:t>the total number of edges from root node to a leaf node in the longest path is said to be </a:t>
            </a:r>
            <a:r>
              <a:rPr lang="en-US" sz="2400" b="1" i="0" u="sng" dirty="0">
                <a:solidFill>
                  <a:srgbClr val="333333"/>
                </a:solidFill>
                <a:effectLst/>
                <a:latin typeface="Open Sans" panose="020B0606030504020204" pitchFamily="34" charset="0"/>
              </a:rPr>
              <a:t>Depth of the tree</a:t>
            </a:r>
            <a:r>
              <a:rPr lang="en-US" sz="2400" b="0" i="0" dirty="0">
                <a:solidFill>
                  <a:srgbClr val="333333"/>
                </a:solidFill>
                <a:effectLst/>
                <a:latin typeface="Open Sans" panose="020B0606030504020204" pitchFamily="34" charset="0"/>
              </a:rPr>
              <a:t>. In a tree, </a:t>
            </a:r>
            <a:r>
              <a:rPr lang="en-US" sz="2400" b="1" i="0" u="sng" dirty="0">
                <a:solidFill>
                  <a:srgbClr val="333333"/>
                </a:solidFill>
                <a:effectLst/>
                <a:latin typeface="Open Sans" panose="020B0606030504020204" pitchFamily="34" charset="0"/>
              </a:rPr>
              <a:t>depth of the root node is '0'.</a:t>
            </a:r>
            <a:endParaRPr lang="en-US" sz="2400" b="0" i="0" dirty="0">
              <a:solidFill>
                <a:srgbClr val="333333"/>
              </a:solidFill>
              <a:effectLst/>
              <a:latin typeface="Open Sans" panose="020B0606030504020204" pitchFamily="34" charset="0"/>
            </a:endParaRPr>
          </a:p>
        </p:txBody>
      </p:sp>
      <p:pic>
        <p:nvPicPr>
          <p:cNvPr id="4" name="Picture 3">
            <a:extLst>
              <a:ext uri="{FF2B5EF4-FFF2-40B4-BE49-F238E27FC236}">
                <a16:creationId xmlns:a16="http://schemas.microsoft.com/office/drawing/2014/main" id="{CAD0E6B1-447D-43ED-B7E2-5828C54FE8A5}"/>
              </a:ext>
            </a:extLst>
          </p:cNvPr>
          <p:cNvPicPr>
            <a:picLocks noChangeAspect="1"/>
          </p:cNvPicPr>
          <p:nvPr/>
        </p:nvPicPr>
        <p:blipFill>
          <a:blip r:embed="rId2"/>
          <a:stretch>
            <a:fillRect/>
          </a:stretch>
        </p:blipFill>
        <p:spPr>
          <a:xfrm>
            <a:off x="2433024" y="3440554"/>
            <a:ext cx="7834696" cy="2915836"/>
          </a:xfrm>
          <a:prstGeom prst="rect">
            <a:avLst/>
          </a:prstGeom>
        </p:spPr>
      </p:pic>
    </p:spTree>
    <p:extLst>
      <p:ext uri="{BB962C8B-B14F-4D97-AF65-F5344CB8AC3E}">
        <p14:creationId xmlns:p14="http://schemas.microsoft.com/office/powerpoint/2010/main" val="847186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F6A71007-B7D5-434D-AC4A-083A7B3797A4}"/>
              </a:ext>
            </a:extLst>
          </p:cNvPr>
          <p:cNvSpPr txBox="1"/>
          <p:nvPr/>
        </p:nvSpPr>
        <p:spPr>
          <a:xfrm>
            <a:off x="968797" y="1835618"/>
            <a:ext cx="10432493" cy="1323439"/>
          </a:xfrm>
          <a:prstGeom prst="rect">
            <a:avLst/>
          </a:prstGeom>
          <a:noFill/>
        </p:spPr>
        <p:txBody>
          <a:bodyPr wrap="square">
            <a:spAutoFit/>
          </a:bodyPr>
          <a:lstStyle/>
          <a:p>
            <a:pPr algn="just"/>
            <a:r>
              <a:rPr lang="en-US" sz="2000" b="1" i="0" dirty="0">
                <a:solidFill>
                  <a:srgbClr val="E00D50"/>
                </a:solidFill>
                <a:effectLst/>
                <a:latin typeface="Open Sans" panose="020B0606030504020204" pitchFamily="34" charset="0"/>
              </a:rPr>
              <a:t>11. Path</a:t>
            </a:r>
          </a:p>
          <a:p>
            <a:pPr algn="just"/>
            <a:r>
              <a:rPr lang="en-US" sz="2000" b="0" i="0" dirty="0">
                <a:solidFill>
                  <a:srgbClr val="333333"/>
                </a:solidFill>
                <a:effectLst/>
                <a:latin typeface="Open Sans" panose="020B0606030504020204" pitchFamily="34" charset="0"/>
              </a:rPr>
              <a:t>In a tree data structure, the sequence of Nodes and Edges from one node to another node is called as </a:t>
            </a:r>
            <a:r>
              <a:rPr lang="en-US" sz="2000" b="1" i="0" dirty="0">
                <a:solidFill>
                  <a:srgbClr val="333333"/>
                </a:solidFill>
                <a:effectLst/>
                <a:latin typeface="Open Sans" panose="020B0606030504020204" pitchFamily="34" charset="0"/>
              </a:rPr>
              <a:t>PATH</a:t>
            </a:r>
            <a:r>
              <a:rPr lang="en-US" sz="2000" b="0" i="0" dirty="0">
                <a:solidFill>
                  <a:srgbClr val="333333"/>
                </a:solidFill>
                <a:effectLst/>
                <a:latin typeface="Open Sans" panose="020B0606030504020204" pitchFamily="34" charset="0"/>
              </a:rPr>
              <a:t> between that two Nodes. </a:t>
            </a:r>
            <a:r>
              <a:rPr lang="en-US" sz="2000" b="1" i="0" u="sng" dirty="0">
                <a:solidFill>
                  <a:srgbClr val="333333"/>
                </a:solidFill>
                <a:effectLst/>
                <a:latin typeface="Open Sans" panose="020B0606030504020204" pitchFamily="34" charset="0"/>
              </a:rPr>
              <a:t>Length of a Path</a:t>
            </a:r>
            <a:r>
              <a:rPr lang="en-US" sz="2000" b="0" i="0" u="sng" dirty="0">
                <a:solidFill>
                  <a:srgbClr val="333333"/>
                </a:solidFill>
                <a:effectLst/>
                <a:latin typeface="Open Sans" panose="020B0606030504020204" pitchFamily="34" charset="0"/>
              </a:rPr>
              <a:t> is total number of nodes in that path.</a:t>
            </a:r>
            <a:r>
              <a:rPr lang="en-US" sz="2000" b="0" i="0" dirty="0">
                <a:solidFill>
                  <a:srgbClr val="333333"/>
                </a:solidFill>
                <a:effectLst/>
                <a:latin typeface="Open Sans" panose="020B0606030504020204" pitchFamily="34" charset="0"/>
              </a:rPr>
              <a:t> In below example </a:t>
            </a:r>
            <a:r>
              <a:rPr lang="en-US" sz="2000" b="1" i="0" dirty="0">
                <a:solidFill>
                  <a:srgbClr val="333333"/>
                </a:solidFill>
                <a:effectLst/>
                <a:latin typeface="Open Sans" panose="020B0606030504020204" pitchFamily="34" charset="0"/>
              </a:rPr>
              <a:t>the path A - B - E - J has length 4</a:t>
            </a:r>
            <a:r>
              <a:rPr lang="en-US" sz="2000" b="0" i="0" dirty="0">
                <a:solidFill>
                  <a:srgbClr val="333333"/>
                </a:solidFill>
                <a:effectLst/>
                <a:latin typeface="Open Sans" panose="020B0606030504020204" pitchFamily="34" charset="0"/>
              </a:rPr>
              <a:t>.</a:t>
            </a:r>
          </a:p>
        </p:txBody>
      </p:sp>
      <p:pic>
        <p:nvPicPr>
          <p:cNvPr id="4" name="Picture 3">
            <a:extLst>
              <a:ext uri="{FF2B5EF4-FFF2-40B4-BE49-F238E27FC236}">
                <a16:creationId xmlns:a16="http://schemas.microsoft.com/office/drawing/2014/main" id="{EF9B069C-06E7-4F09-8E1F-2FBEDC2958B5}"/>
              </a:ext>
            </a:extLst>
          </p:cNvPr>
          <p:cNvPicPr>
            <a:picLocks noChangeAspect="1"/>
          </p:cNvPicPr>
          <p:nvPr/>
        </p:nvPicPr>
        <p:blipFill>
          <a:blip r:embed="rId2"/>
          <a:stretch>
            <a:fillRect/>
          </a:stretch>
        </p:blipFill>
        <p:spPr>
          <a:xfrm>
            <a:off x="2557395" y="3159057"/>
            <a:ext cx="7391400" cy="3368809"/>
          </a:xfrm>
          <a:prstGeom prst="rect">
            <a:avLst/>
          </a:prstGeom>
        </p:spPr>
      </p:pic>
    </p:spTree>
    <p:extLst>
      <p:ext uri="{BB962C8B-B14F-4D97-AF65-F5344CB8AC3E}">
        <p14:creationId xmlns:p14="http://schemas.microsoft.com/office/powerpoint/2010/main" val="1917570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Trees: Basic terminology</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55F9AF18-1BA3-43FC-A435-6ACEEF811556}"/>
              </a:ext>
            </a:extLst>
          </p:cNvPr>
          <p:cNvSpPr txBox="1"/>
          <p:nvPr/>
        </p:nvSpPr>
        <p:spPr>
          <a:xfrm>
            <a:off x="1113986" y="1828795"/>
            <a:ext cx="10268828" cy="1200329"/>
          </a:xfrm>
          <a:prstGeom prst="rect">
            <a:avLst/>
          </a:prstGeom>
          <a:noFill/>
        </p:spPr>
        <p:txBody>
          <a:bodyPr wrap="square">
            <a:spAutoFit/>
          </a:bodyPr>
          <a:lstStyle/>
          <a:p>
            <a:pPr algn="just"/>
            <a:r>
              <a:rPr lang="en-US" sz="2400" b="1" i="0" dirty="0">
                <a:solidFill>
                  <a:srgbClr val="E00D50"/>
                </a:solidFill>
                <a:effectLst/>
                <a:latin typeface="Open Sans" panose="020B0606030504020204" pitchFamily="34" charset="0"/>
              </a:rPr>
              <a:t>12. Sub Tree</a:t>
            </a:r>
          </a:p>
          <a:p>
            <a:pPr algn="just"/>
            <a:r>
              <a:rPr lang="en-US" sz="2400" b="0" i="0" dirty="0">
                <a:solidFill>
                  <a:srgbClr val="333333"/>
                </a:solidFill>
                <a:effectLst/>
                <a:latin typeface="Open Sans" panose="020B0606030504020204" pitchFamily="34" charset="0"/>
              </a:rPr>
              <a:t>In a tree data structure, each child from a node forms a subtree recursively. Every child node will form a subtree on its parent node.</a:t>
            </a:r>
          </a:p>
        </p:txBody>
      </p:sp>
      <p:pic>
        <p:nvPicPr>
          <p:cNvPr id="4" name="Picture 3">
            <a:extLst>
              <a:ext uri="{FF2B5EF4-FFF2-40B4-BE49-F238E27FC236}">
                <a16:creationId xmlns:a16="http://schemas.microsoft.com/office/drawing/2014/main" id="{BD0C3ACA-CE9F-4E3A-849B-07E3A99935D8}"/>
              </a:ext>
            </a:extLst>
          </p:cNvPr>
          <p:cNvPicPr>
            <a:picLocks noChangeAspect="1"/>
          </p:cNvPicPr>
          <p:nvPr/>
        </p:nvPicPr>
        <p:blipFill>
          <a:blip r:embed="rId2"/>
          <a:stretch>
            <a:fillRect/>
          </a:stretch>
        </p:blipFill>
        <p:spPr>
          <a:xfrm>
            <a:off x="2438400" y="3040897"/>
            <a:ext cx="7620000" cy="3265714"/>
          </a:xfrm>
          <a:prstGeom prst="rect">
            <a:avLst/>
          </a:prstGeom>
        </p:spPr>
      </p:pic>
    </p:spTree>
    <p:extLst>
      <p:ext uri="{BB962C8B-B14F-4D97-AF65-F5344CB8AC3E}">
        <p14:creationId xmlns:p14="http://schemas.microsoft.com/office/powerpoint/2010/main" val="30934550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Types of Tree Data Structures</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2" name="TextBox 11">
            <a:extLst>
              <a:ext uri="{FF2B5EF4-FFF2-40B4-BE49-F238E27FC236}">
                <a16:creationId xmlns:a16="http://schemas.microsoft.com/office/drawing/2014/main" id="{24970B56-68A0-4215-9764-04055260985B}"/>
              </a:ext>
            </a:extLst>
          </p:cNvPr>
          <p:cNvSpPr txBox="1"/>
          <p:nvPr/>
        </p:nvSpPr>
        <p:spPr>
          <a:xfrm>
            <a:off x="1170164" y="2354089"/>
            <a:ext cx="10268828" cy="1815882"/>
          </a:xfrm>
          <a:prstGeom prst="rect">
            <a:avLst/>
          </a:prstGeom>
          <a:noFill/>
        </p:spPr>
        <p:txBody>
          <a:bodyPr wrap="square">
            <a:spAutoFit/>
          </a:bodyPr>
          <a:lstStyle/>
          <a:p>
            <a:pPr algn="just"/>
            <a:r>
              <a:rPr lang="en-US" sz="2800" dirty="0"/>
              <a:t>Following are some types of trees that we discuss here:</a:t>
            </a:r>
          </a:p>
          <a:p>
            <a:pPr marL="342900" indent="-342900" algn="just">
              <a:buFont typeface="Arial" panose="020B0604020202020204" pitchFamily="34" charset="0"/>
              <a:buChar char="•"/>
            </a:pPr>
            <a:r>
              <a:rPr lang="en-US" sz="2800" i="0" dirty="0">
                <a:effectLst/>
              </a:rPr>
              <a:t>General Tree</a:t>
            </a:r>
          </a:p>
          <a:p>
            <a:pPr marL="342900" indent="-342900" algn="just">
              <a:buFont typeface="Arial" panose="020B0604020202020204" pitchFamily="34" charset="0"/>
              <a:buChar char="•"/>
            </a:pPr>
            <a:r>
              <a:rPr lang="en-US" sz="2800" i="0" dirty="0">
                <a:effectLst/>
              </a:rPr>
              <a:t>Binary Tree</a:t>
            </a:r>
          </a:p>
          <a:p>
            <a:pPr marL="342900" indent="-342900" algn="just">
              <a:buFont typeface="Arial" panose="020B0604020202020204" pitchFamily="34" charset="0"/>
              <a:buChar char="•"/>
            </a:pPr>
            <a:r>
              <a:rPr lang="en-US" sz="2800" i="0" dirty="0">
                <a:effectLst/>
              </a:rPr>
              <a:t>Binary Search Tree</a:t>
            </a:r>
            <a:endParaRPr lang="en-US" sz="2400" i="0" dirty="0">
              <a:effectLst/>
            </a:endParaRPr>
          </a:p>
        </p:txBody>
      </p:sp>
    </p:spTree>
    <p:extLst>
      <p:ext uri="{BB962C8B-B14F-4D97-AF65-F5344CB8AC3E}">
        <p14:creationId xmlns:p14="http://schemas.microsoft.com/office/powerpoint/2010/main" val="4134460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DDA8FF-6271-436E-BE69-2657ABEBC61E}"/>
              </a:ext>
            </a:extLst>
          </p:cNvPr>
          <p:cNvPicPr>
            <a:picLocks noChangeAspect="1"/>
          </p:cNvPicPr>
          <p:nvPr/>
        </p:nvPicPr>
        <p:blipFill>
          <a:blip r:embed="rId2"/>
          <a:stretch>
            <a:fillRect/>
          </a:stretch>
        </p:blipFill>
        <p:spPr>
          <a:xfrm>
            <a:off x="6000808" y="2240584"/>
            <a:ext cx="6191192" cy="3629905"/>
          </a:xfrm>
          <a:prstGeom prst="rect">
            <a:avLst/>
          </a:prstGeom>
        </p:spPr>
      </p:pic>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General Tree</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E623876B-ED0F-47C4-9264-764D0BD8DC09}"/>
              </a:ext>
            </a:extLst>
          </p:cNvPr>
          <p:cNvSpPr txBox="1"/>
          <p:nvPr/>
        </p:nvSpPr>
        <p:spPr>
          <a:xfrm>
            <a:off x="777382" y="2012494"/>
            <a:ext cx="5313472" cy="3693319"/>
          </a:xfrm>
          <a:prstGeom prst="rect">
            <a:avLst/>
          </a:prstGeom>
          <a:noFill/>
        </p:spPr>
        <p:txBody>
          <a:bodyPr wrap="square">
            <a:spAutoFit/>
          </a:bodyPr>
          <a:lstStyle/>
          <a:p>
            <a:pPr algn="l"/>
            <a:r>
              <a:rPr lang="en-US" sz="2400" b="0" i="0" dirty="0">
                <a:solidFill>
                  <a:srgbClr val="292929"/>
                </a:solidFill>
                <a:effectLst/>
              </a:rPr>
              <a:t>A </a:t>
            </a:r>
            <a:r>
              <a:rPr lang="en-US" sz="2400" b="1" i="0" dirty="0">
                <a:solidFill>
                  <a:srgbClr val="292929"/>
                </a:solidFill>
                <a:effectLst/>
              </a:rPr>
              <a:t>general tree</a:t>
            </a:r>
            <a:r>
              <a:rPr lang="en-US" sz="2400" b="0" i="0" dirty="0">
                <a:solidFill>
                  <a:srgbClr val="292929"/>
                </a:solidFill>
                <a:effectLst/>
              </a:rPr>
              <a:t> is a tree data structure where </a:t>
            </a:r>
            <a:r>
              <a:rPr lang="en-US" sz="2400" b="0" i="0" dirty="0">
                <a:solidFill>
                  <a:srgbClr val="FF0000"/>
                </a:solidFill>
                <a:effectLst/>
              </a:rPr>
              <a:t>there are no constraints on the hierarchical structure.</a:t>
            </a:r>
          </a:p>
          <a:p>
            <a:pPr algn="l"/>
            <a:r>
              <a:rPr lang="en-US" sz="2400" b="1" i="0" dirty="0">
                <a:solidFill>
                  <a:srgbClr val="292929"/>
                </a:solidFill>
                <a:effectLst/>
              </a:rPr>
              <a:t>Properties</a:t>
            </a:r>
          </a:p>
          <a:p>
            <a:pPr marL="576263" indent="-285750" algn="l">
              <a:buFont typeface="Arial" panose="020B0604020202020204" pitchFamily="34" charset="0"/>
              <a:buChar char="•"/>
            </a:pPr>
            <a:r>
              <a:rPr lang="en-US" sz="2400" b="0" i="0" dirty="0">
                <a:solidFill>
                  <a:srgbClr val="292929"/>
                </a:solidFill>
                <a:effectLst/>
              </a:rPr>
              <a:t>A node can </a:t>
            </a:r>
            <a:r>
              <a:rPr lang="en-US" sz="2400" b="0" i="0" dirty="0">
                <a:solidFill>
                  <a:srgbClr val="FF0000"/>
                </a:solidFill>
                <a:effectLst/>
              </a:rPr>
              <a:t>have any number of children.</a:t>
            </a:r>
          </a:p>
          <a:p>
            <a:pPr algn="l"/>
            <a:r>
              <a:rPr lang="en-US" sz="2400" b="1" i="0" dirty="0">
                <a:solidFill>
                  <a:srgbClr val="292929"/>
                </a:solidFill>
                <a:effectLst/>
              </a:rPr>
              <a:t>Usage</a:t>
            </a:r>
          </a:p>
          <a:p>
            <a:pPr marL="576263" indent="-285750" algn="l">
              <a:buFont typeface="Arial" panose="020B0604020202020204" pitchFamily="34" charset="0"/>
              <a:buChar char="•"/>
            </a:pPr>
            <a:r>
              <a:rPr lang="en-US" sz="2400" b="0" i="0" dirty="0">
                <a:solidFill>
                  <a:srgbClr val="292929"/>
                </a:solidFill>
                <a:effectLst/>
              </a:rPr>
              <a:t>Used to </a:t>
            </a:r>
            <a:r>
              <a:rPr lang="en-US" sz="2400" b="0" i="0" dirty="0">
                <a:solidFill>
                  <a:srgbClr val="FF0000"/>
                </a:solidFill>
                <a:effectLst/>
              </a:rPr>
              <a:t>store hierarchical data </a:t>
            </a:r>
            <a:r>
              <a:rPr lang="en-US" sz="2400" b="0" i="0" dirty="0">
                <a:solidFill>
                  <a:srgbClr val="292929"/>
                </a:solidFill>
                <a:effectLst/>
              </a:rPr>
              <a:t>such as folder structures.</a:t>
            </a:r>
          </a:p>
          <a:p>
            <a:pPr algn="l"/>
            <a:endParaRPr lang="en-US" b="0" i="0" dirty="0">
              <a:solidFill>
                <a:srgbClr val="292929"/>
              </a:solidFill>
              <a:effectLst/>
              <a:latin typeface="charter"/>
            </a:endParaRPr>
          </a:p>
        </p:txBody>
      </p:sp>
    </p:spTree>
    <p:extLst>
      <p:ext uri="{BB962C8B-B14F-4D97-AF65-F5344CB8AC3E}">
        <p14:creationId xmlns:p14="http://schemas.microsoft.com/office/powerpoint/2010/main" val="2192402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2F6C1D-1AB2-4164-ABC6-D600137DE455}"/>
              </a:ext>
            </a:extLst>
          </p:cNvPr>
          <p:cNvPicPr>
            <a:picLocks noChangeAspect="1"/>
          </p:cNvPicPr>
          <p:nvPr/>
        </p:nvPicPr>
        <p:blipFill>
          <a:blip r:embed="rId2"/>
          <a:stretch>
            <a:fillRect/>
          </a:stretch>
        </p:blipFill>
        <p:spPr>
          <a:xfrm>
            <a:off x="6553200" y="2012494"/>
            <a:ext cx="5562600" cy="3881168"/>
          </a:xfrm>
          <a:prstGeom prst="rect">
            <a:avLst/>
          </a:prstGeom>
        </p:spPr>
      </p:pic>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Binary Tree</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CC7FA9CB-CE43-4C15-AD84-B5EBBFC02E17}"/>
              </a:ext>
            </a:extLst>
          </p:cNvPr>
          <p:cNvSpPr txBox="1"/>
          <p:nvPr/>
        </p:nvSpPr>
        <p:spPr>
          <a:xfrm>
            <a:off x="749587" y="1870354"/>
            <a:ext cx="5803613" cy="4154984"/>
          </a:xfrm>
          <a:prstGeom prst="rect">
            <a:avLst/>
          </a:prstGeom>
          <a:noFill/>
        </p:spPr>
        <p:txBody>
          <a:bodyPr wrap="square">
            <a:spAutoFit/>
          </a:bodyPr>
          <a:lstStyle/>
          <a:p>
            <a:pPr marL="342900" indent="-342900" algn="l">
              <a:buFont typeface="Arial" panose="020B0604020202020204" pitchFamily="34" charset="0"/>
              <a:buChar char="•"/>
            </a:pPr>
            <a:r>
              <a:rPr lang="en-US" sz="2400" b="0" i="0" dirty="0">
                <a:solidFill>
                  <a:srgbClr val="292929"/>
                </a:solidFill>
                <a:effectLst/>
                <a:latin typeface="charter"/>
              </a:rPr>
              <a:t>Binary tree is the type of tree in which each </a:t>
            </a:r>
            <a:r>
              <a:rPr lang="en-US" sz="2400" b="0" i="1" dirty="0">
                <a:solidFill>
                  <a:srgbClr val="FF0000"/>
                </a:solidFill>
                <a:effectLst/>
                <a:latin typeface="charter"/>
              </a:rPr>
              <a:t>parent can have at most two children. </a:t>
            </a:r>
          </a:p>
          <a:p>
            <a:pPr marL="342900" indent="-342900" algn="l">
              <a:buFont typeface="Arial" panose="020B0604020202020204" pitchFamily="34" charset="0"/>
              <a:buChar char="•"/>
            </a:pPr>
            <a:r>
              <a:rPr lang="en-US" sz="2400" b="0" i="0" dirty="0">
                <a:solidFill>
                  <a:srgbClr val="292929"/>
                </a:solidFill>
                <a:effectLst/>
                <a:latin typeface="charter"/>
              </a:rPr>
              <a:t>The children are referred to as left child or right child. </a:t>
            </a:r>
          </a:p>
          <a:p>
            <a:pPr marL="342900" indent="-342900" algn="l">
              <a:buFont typeface="Arial" panose="020B0604020202020204" pitchFamily="34" charset="0"/>
              <a:buChar char="•"/>
            </a:pPr>
            <a:r>
              <a:rPr lang="en-US" sz="2400" b="0" i="0" dirty="0">
                <a:solidFill>
                  <a:srgbClr val="292929"/>
                </a:solidFill>
                <a:effectLst/>
                <a:latin typeface="charter"/>
              </a:rPr>
              <a:t>This is one of the most commonly used trees. </a:t>
            </a:r>
          </a:p>
          <a:p>
            <a:pPr marL="342900" indent="-342900" algn="l">
              <a:buFont typeface="Arial" panose="020B0604020202020204" pitchFamily="34" charset="0"/>
              <a:buChar char="•"/>
            </a:pPr>
            <a:r>
              <a:rPr lang="en-US" sz="2400" b="0" i="0" dirty="0">
                <a:solidFill>
                  <a:srgbClr val="292929"/>
                </a:solidFill>
                <a:effectLst/>
                <a:latin typeface="charter"/>
              </a:rPr>
              <a:t>When certain </a:t>
            </a:r>
            <a:r>
              <a:rPr lang="en-US" sz="2400" b="0" i="0" dirty="0">
                <a:solidFill>
                  <a:srgbClr val="FF0000"/>
                </a:solidFill>
                <a:effectLst/>
                <a:latin typeface="charter"/>
              </a:rPr>
              <a:t>constraints and properties are imposed</a:t>
            </a:r>
            <a:r>
              <a:rPr lang="en-US" sz="2400" b="0" i="0" dirty="0">
                <a:solidFill>
                  <a:srgbClr val="292929"/>
                </a:solidFill>
                <a:effectLst/>
                <a:latin typeface="charter"/>
              </a:rPr>
              <a:t> on Binary tree it results in a number of other widely used trees like </a:t>
            </a:r>
            <a:r>
              <a:rPr lang="en-US" sz="2400" b="0" i="0" dirty="0">
                <a:solidFill>
                  <a:srgbClr val="FF0000"/>
                </a:solidFill>
                <a:effectLst/>
                <a:latin typeface="charter"/>
              </a:rPr>
              <a:t>BST (Binary Search Tree), </a:t>
            </a:r>
          </a:p>
        </p:txBody>
      </p:sp>
    </p:spTree>
    <p:extLst>
      <p:ext uri="{BB962C8B-B14F-4D97-AF65-F5344CB8AC3E}">
        <p14:creationId xmlns:p14="http://schemas.microsoft.com/office/powerpoint/2010/main" val="2702000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Binary Tree</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CC7FA9CB-CE43-4C15-AD84-B5EBBFC02E17}"/>
              </a:ext>
            </a:extLst>
          </p:cNvPr>
          <p:cNvSpPr txBox="1"/>
          <p:nvPr/>
        </p:nvSpPr>
        <p:spPr>
          <a:xfrm>
            <a:off x="1158656" y="2223818"/>
            <a:ext cx="9918976" cy="1815882"/>
          </a:xfrm>
          <a:prstGeom prst="rect">
            <a:avLst/>
          </a:prstGeom>
          <a:noFill/>
        </p:spPr>
        <p:txBody>
          <a:bodyPr wrap="square">
            <a:spAutoFit/>
          </a:bodyPr>
          <a:lstStyle/>
          <a:p>
            <a:pPr algn="l"/>
            <a:r>
              <a:rPr lang="en-US" sz="2800" b="0" i="0" dirty="0">
                <a:solidFill>
                  <a:srgbClr val="292929"/>
                </a:solidFill>
                <a:effectLst/>
                <a:latin typeface="charter"/>
              </a:rPr>
              <a:t>There are different types of binary trees and they are...</a:t>
            </a:r>
          </a:p>
          <a:p>
            <a:pPr marL="342900" indent="-342900" algn="l">
              <a:buFont typeface="Arial" panose="020B0604020202020204" pitchFamily="34" charset="0"/>
              <a:buChar char="•"/>
            </a:pPr>
            <a:r>
              <a:rPr lang="en-US" sz="2800" dirty="0">
                <a:solidFill>
                  <a:srgbClr val="292929"/>
                </a:solidFill>
                <a:latin typeface="charter"/>
              </a:rPr>
              <a:t>Strictly Binary Tree</a:t>
            </a:r>
          </a:p>
          <a:p>
            <a:pPr marL="342900" indent="-342900" algn="l">
              <a:buFont typeface="Arial" panose="020B0604020202020204" pitchFamily="34" charset="0"/>
              <a:buChar char="•"/>
            </a:pPr>
            <a:r>
              <a:rPr lang="en-US" sz="2800" b="0" i="0" dirty="0">
                <a:solidFill>
                  <a:srgbClr val="292929"/>
                </a:solidFill>
                <a:effectLst/>
                <a:latin typeface="charter"/>
              </a:rPr>
              <a:t>Complete Binary Tree</a:t>
            </a:r>
          </a:p>
          <a:p>
            <a:pPr marL="342900" indent="-342900" algn="l">
              <a:buFont typeface="Arial" panose="020B0604020202020204" pitchFamily="34" charset="0"/>
              <a:buChar char="•"/>
            </a:pPr>
            <a:r>
              <a:rPr lang="en-US" sz="2800" dirty="0">
                <a:solidFill>
                  <a:srgbClr val="292929"/>
                </a:solidFill>
                <a:latin typeface="charter"/>
              </a:rPr>
              <a:t>Extended Binary Tree</a:t>
            </a:r>
            <a:endParaRPr lang="en-US" sz="2400" b="0" i="0" dirty="0">
              <a:solidFill>
                <a:srgbClr val="292929"/>
              </a:solidFill>
              <a:effectLst/>
              <a:latin typeface="charter"/>
            </a:endParaRPr>
          </a:p>
        </p:txBody>
      </p:sp>
    </p:spTree>
    <p:extLst>
      <p:ext uri="{BB962C8B-B14F-4D97-AF65-F5344CB8AC3E}">
        <p14:creationId xmlns:p14="http://schemas.microsoft.com/office/powerpoint/2010/main" val="1095497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algn="just"/>
            <a:r>
              <a:rPr lang="en-US" sz="3200" i="0" dirty="0">
                <a:solidFill>
                  <a:schemeClr val="tx1"/>
                </a:solidFill>
                <a:effectLst/>
                <a:latin typeface="Open Sans" panose="020B0606030504020204" pitchFamily="34" charset="0"/>
              </a:rPr>
              <a:t>1. Strictly Binary Tree</a:t>
            </a: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20" name="TextBox 19">
            <a:extLst>
              <a:ext uri="{FF2B5EF4-FFF2-40B4-BE49-F238E27FC236}">
                <a16:creationId xmlns:a16="http://schemas.microsoft.com/office/drawing/2014/main" id="{AE824298-8B95-4D47-A83A-F5057E97519E}"/>
              </a:ext>
            </a:extLst>
          </p:cNvPr>
          <p:cNvSpPr txBox="1"/>
          <p:nvPr/>
        </p:nvSpPr>
        <p:spPr>
          <a:xfrm>
            <a:off x="1089025" y="1921663"/>
            <a:ext cx="10328140" cy="2677656"/>
          </a:xfrm>
          <a:prstGeom prst="rect">
            <a:avLst/>
          </a:prstGeom>
          <a:noFill/>
        </p:spPr>
        <p:txBody>
          <a:bodyPr wrap="square">
            <a:spAutoFit/>
          </a:bodyPr>
          <a:lstStyle/>
          <a:p>
            <a:pPr algn="just"/>
            <a:r>
              <a:rPr lang="en-US" sz="2400" b="0" i="0" dirty="0">
                <a:solidFill>
                  <a:srgbClr val="333333"/>
                </a:solidFill>
                <a:effectLst/>
                <a:latin typeface="Open Sans" panose="020B0606030504020204" pitchFamily="34" charset="0"/>
              </a:rPr>
              <a:t>In a binary tree, every node can have a maximum of two children. </a:t>
            </a:r>
          </a:p>
          <a:p>
            <a:pPr algn="just"/>
            <a:r>
              <a:rPr lang="en-US" sz="2400" b="0" i="0" dirty="0">
                <a:solidFill>
                  <a:srgbClr val="333333"/>
                </a:solidFill>
                <a:effectLst/>
                <a:latin typeface="Open Sans" panose="020B0606030504020204" pitchFamily="34" charset="0"/>
              </a:rPr>
              <a:t>But in strictly binary tree, </a:t>
            </a:r>
            <a:r>
              <a:rPr lang="en-US" sz="2400" b="0" i="0" dirty="0">
                <a:solidFill>
                  <a:srgbClr val="FF0000"/>
                </a:solidFill>
                <a:effectLst/>
                <a:latin typeface="Open Sans" panose="020B0606030504020204" pitchFamily="34" charset="0"/>
              </a:rPr>
              <a:t>every node should have exactly two children or none. </a:t>
            </a:r>
            <a:r>
              <a:rPr lang="en-US" sz="2400" b="0" i="0" dirty="0">
                <a:solidFill>
                  <a:srgbClr val="333333"/>
                </a:solidFill>
                <a:effectLst/>
                <a:latin typeface="Open Sans" panose="020B0606030504020204" pitchFamily="34" charset="0"/>
              </a:rPr>
              <a:t>A strictly Binary Tree can be defined as follows...</a:t>
            </a:r>
          </a:p>
          <a:p>
            <a:pPr algn="ctr"/>
            <a:r>
              <a:rPr lang="en-US" sz="2400" b="1" i="1" dirty="0">
                <a:solidFill>
                  <a:srgbClr val="333333"/>
                </a:solidFill>
                <a:effectLst/>
                <a:latin typeface="Open Sans" panose="020B0606030504020204" pitchFamily="34" charset="0"/>
              </a:rPr>
              <a:t>“A binary tree in which every node has either two or zero number of children is called Strictly Binary Tree”</a:t>
            </a:r>
          </a:p>
          <a:p>
            <a:pPr algn="just"/>
            <a:r>
              <a:rPr lang="en-US" sz="2400" b="0" i="0" dirty="0">
                <a:solidFill>
                  <a:srgbClr val="333333"/>
                </a:solidFill>
                <a:effectLst/>
                <a:latin typeface="Open Sans" panose="020B0606030504020204" pitchFamily="34" charset="0"/>
              </a:rPr>
              <a:t>Strictly binary tree is also called as </a:t>
            </a:r>
            <a:r>
              <a:rPr lang="en-US" sz="2400" b="1" i="0" dirty="0">
                <a:solidFill>
                  <a:srgbClr val="333333"/>
                </a:solidFill>
                <a:effectLst/>
                <a:latin typeface="Open Sans" panose="020B0606030504020204" pitchFamily="34" charset="0"/>
              </a:rPr>
              <a:t>Full Binary Tree</a:t>
            </a:r>
            <a:r>
              <a:rPr lang="en-US" sz="2400" b="0" i="0" dirty="0">
                <a:solidFill>
                  <a:srgbClr val="333333"/>
                </a:solidFill>
                <a:effectLst/>
                <a:latin typeface="Open Sans" panose="020B0606030504020204" pitchFamily="34" charset="0"/>
              </a:rPr>
              <a:t> or </a:t>
            </a:r>
            <a:r>
              <a:rPr lang="en-US" sz="2400" b="1" i="0" dirty="0">
                <a:solidFill>
                  <a:srgbClr val="333333"/>
                </a:solidFill>
                <a:effectLst/>
                <a:latin typeface="Open Sans" panose="020B0606030504020204" pitchFamily="34" charset="0"/>
              </a:rPr>
              <a:t>Proper Binary Tree</a:t>
            </a:r>
            <a:r>
              <a:rPr lang="en-US" sz="2400" b="0" i="0" dirty="0">
                <a:solidFill>
                  <a:srgbClr val="333333"/>
                </a:solidFill>
                <a:effectLst/>
                <a:latin typeface="Open Sans" panose="020B0606030504020204" pitchFamily="34" charset="0"/>
              </a:rPr>
              <a:t> or </a:t>
            </a:r>
            <a:r>
              <a:rPr lang="en-US" sz="2400" b="1" i="0" dirty="0">
                <a:solidFill>
                  <a:srgbClr val="333333"/>
                </a:solidFill>
                <a:effectLst/>
                <a:latin typeface="Open Sans" panose="020B0606030504020204" pitchFamily="34" charset="0"/>
              </a:rPr>
              <a:t>2-Tree</a:t>
            </a:r>
            <a:endParaRPr lang="en-US" sz="2400" b="0" i="0" dirty="0">
              <a:solidFill>
                <a:srgbClr val="333333"/>
              </a:solidFill>
              <a:effectLst/>
              <a:latin typeface="Open Sans" panose="020B0606030504020204" pitchFamily="34" charset="0"/>
            </a:endParaRPr>
          </a:p>
        </p:txBody>
      </p:sp>
      <p:pic>
        <p:nvPicPr>
          <p:cNvPr id="14" name="Picture 13">
            <a:extLst>
              <a:ext uri="{FF2B5EF4-FFF2-40B4-BE49-F238E27FC236}">
                <a16:creationId xmlns:a16="http://schemas.microsoft.com/office/drawing/2014/main" id="{9DF1A62C-48E5-441A-BF0F-BDF13437DBE9}"/>
              </a:ext>
            </a:extLst>
          </p:cNvPr>
          <p:cNvPicPr>
            <a:picLocks noChangeAspect="1"/>
          </p:cNvPicPr>
          <p:nvPr/>
        </p:nvPicPr>
        <p:blipFill>
          <a:blip r:embed="rId2"/>
          <a:stretch>
            <a:fillRect/>
          </a:stretch>
        </p:blipFill>
        <p:spPr>
          <a:xfrm>
            <a:off x="2590800" y="4131903"/>
            <a:ext cx="6667500" cy="2857500"/>
          </a:xfrm>
          <a:prstGeom prst="rect">
            <a:avLst/>
          </a:prstGeom>
        </p:spPr>
      </p:pic>
    </p:spTree>
    <p:extLst>
      <p:ext uri="{BB962C8B-B14F-4D97-AF65-F5344CB8AC3E}">
        <p14:creationId xmlns:p14="http://schemas.microsoft.com/office/powerpoint/2010/main" val="3214959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algn="just"/>
            <a:r>
              <a:rPr lang="en-US" sz="3200" i="0" dirty="0">
                <a:solidFill>
                  <a:schemeClr val="tx1"/>
                </a:solidFill>
                <a:effectLst/>
                <a:latin typeface="Open Sans" panose="020B0606030504020204" pitchFamily="34" charset="0"/>
              </a:rPr>
              <a:t>1. Strictly Binary Tree</a:t>
            </a: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13" name="TextBox 12">
            <a:extLst>
              <a:ext uri="{FF2B5EF4-FFF2-40B4-BE49-F238E27FC236}">
                <a16:creationId xmlns:a16="http://schemas.microsoft.com/office/drawing/2014/main" id="{529DC298-259E-49B9-B3D7-BD9EDB7B70B3}"/>
              </a:ext>
            </a:extLst>
          </p:cNvPr>
          <p:cNvSpPr txBox="1"/>
          <p:nvPr/>
        </p:nvSpPr>
        <p:spPr>
          <a:xfrm>
            <a:off x="1282987" y="2542752"/>
            <a:ext cx="10268828" cy="830997"/>
          </a:xfrm>
          <a:prstGeom prst="rect">
            <a:avLst/>
          </a:prstGeom>
          <a:noFill/>
        </p:spPr>
        <p:txBody>
          <a:bodyPr wrap="square">
            <a:spAutoFit/>
          </a:bodyPr>
          <a:lstStyle/>
          <a:p>
            <a:r>
              <a:rPr lang="en-US" sz="2400" b="0" i="0" dirty="0">
                <a:solidFill>
                  <a:srgbClr val="333333"/>
                </a:solidFill>
                <a:effectLst/>
                <a:latin typeface="Open Sans" panose="020B0606030504020204" pitchFamily="34" charset="0"/>
              </a:rPr>
              <a:t>Strictly binary tree data structure is used to represent mathematical expressions</a:t>
            </a:r>
            <a:r>
              <a:rPr lang="en-US" b="0" i="0" dirty="0">
                <a:solidFill>
                  <a:srgbClr val="333333"/>
                </a:solidFill>
                <a:effectLst/>
                <a:latin typeface="Open Sans" panose="020B0606030504020204" pitchFamily="34" charset="0"/>
              </a:rPr>
              <a:t>.</a:t>
            </a:r>
            <a:endParaRPr lang="en-US" dirty="0"/>
          </a:p>
        </p:txBody>
      </p:sp>
      <p:pic>
        <p:nvPicPr>
          <p:cNvPr id="4" name="Picture 3">
            <a:extLst>
              <a:ext uri="{FF2B5EF4-FFF2-40B4-BE49-F238E27FC236}">
                <a16:creationId xmlns:a16="http://schemas.microsoft.com/office/drawing/2014/main" id="{88A428D8-14D7-496F-91B2-D7478CA2A9B2}"/>
              </a:ext>
            </a:extLst>
          </p:cNvPr>
          <p:cNvPicPr>
            <a:picLocks noChangeAspect="1"/>
          </p:cNvPicPr>
          <p:nvPr/>
        </p:nvPicPr>
        <p:blipFill>
          <a:blip r:embed="rId2"/>
          <a:stretch>
            <a:fillRect/>
          </a:stretch>
        </p:blipFill>
        <p:spPr>
          <a:xfrm>
            <a:off x="2764236" y="3651241"/>
            <a:ext cx="6667500" cy="2857500"/>
          </a:xfrm>
          <a:prstGeom prst="rect">
            <a:avLst/>
          </a:prstGeom>
        </p:spPr>
      </p:pic>
    </p:spTree>
    <p:extLst>
      <p:ext uri="{BB962C8B-B14F-4D97-AF65-F5344CB8AC3E}">
        <p14:creationId xmlns:p14="http://schemas.microsoft.com/office/powerpoint/2010/main" val="1514253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2. Complete Binary Tree</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20" name="TextBox 19">
            <a:extLst>
              <a:ext uri="{FF2B5EF4-FFF2-40B4-BE49-F238E27FC236}">
                <a16:creationId xmlns:a16="http://schemas.microsoft.com/office/drawing/2014/main" id="{AE824298-8B95-4D47-A83A-F5057E97519E}"/>
              </a:ext>
            </a:extLst>
          </p:cNvPr>
          <p:cNvSpPr txBox="1"/>
          <p:nvPr/>
        </p:nvSpPr>
        <p:spPr>
          <a:xfrm>
            <a:off x="800909" y="1782510"/>
            <a:ext cx="7271094" cy="4893647"/>
          </a:xfrm>
          <a:prstGeom prst="rect">
            <a:avLst/>
          </a:prstGeom>
          <a:noFill/>
        </p:spPr>
        <p:txBody>
          <a:bodyPr wrap="square">
            <a:spAutoFit/>
          </a:bodyPr>
          <a:lstStyle/>
          <a:p>
            <a:pPr marL="285750" indent="-285750" algn="just">
              <a:buFont typeface="Arial" panose="020B0604020202020204" pitchFamily="34" charset="0"/>
              <a:buChar char="•"/>
            </a:pPr>
            <a:r>
              <a:rPr lang="en-US" sz="2400" b="0" i="0" dirty="0">
                <a:solidFill>
                  <a:srgbClr val="00B050"/>
                </a:solidFill>
                <a:effectLst/>
                <a:latin typeface="Open Sans" panose="020B0606030504020204" pitchFamily="34" charset="0"/>
              </a:rPr>
              <a:t>In a binary tree, every node can have a maximum of two children. </a:t>
            </a:r>
          </a:p>
          <a:p>
            <a:pPr marL="285750" indent="-285750" algn="just">
              <a:buFont typeface="Arial" panose="020B0604020202020204" pitchFamily="34" charset="0"/>
              <a:buChar char="•"/>
            </a:pPr>
            <a:r>
              <a:rPr lang="en-US" sz="2400" b="0" i="0" dirty="0">
                <a:solidFill>
                  <a:srgbClr val="00B050"/>
                </a:solidFill>
                <a:effectLst/>
                <a:latin typeface="Open Sans" panose="020B0606030504020204" pitchFamily="34" charset="0"/>
              </a:rPr>
              <a:t>But in strictly binary tree, every node should have exactly two children or none</a:t>
            </a:r>
          </a:p>
          <a:p>
            <a:pPr marL="285750" indent="-285750" algn="just">
              <a:buFont typeface="Arial" panose="020B0604020202020204" pitchFamily="34" charset="0"/>
              <a:buChar char="•"/>
            </a:pPr>
            <a:r>
              <a:rPr lang="en-US" sz="2400" dirty="0">
                <a:solidFill>
                  <a:srgbClr val="333333"/>
                </a:solidFill>
                <a:latin typeface="Open Sans" panose="020B0606030504020204" pitchFamily="34" charset="0"/>
              </a:rPr>
              <a:t>I</a:t>
            </a:r>
            <a:r>
              <a:rPr lang="en-US" sz="2400" b="0" i="0" dirty="0">
                <a:solidFill>
                  <a:srgbClr val="333333"/>
                </a:solidFill>
                <a:effectLst/>
                <a:latin typeface="Open Sans" panose="020B0606030504020204" pitchFamily="34" charset="0"/>
              </a:rPr>
              <a:t>n </a:t>
            </a:r>
            <a:r>
              <a:rPr lang="en-US" sz="2400" b="1" i="0" dirty="0">
                <a:solidFill>
                  <a:srgbClr val="C00000"/>
                </a:solidFill>
                <a:effectLst/>
                <a:latin typeface="Open Sans" panose="020B0606030504020204" pitchFamily="34" charset="0"/>
              </a:rPr>
              <a:t>complete binary tree </a:t>
            </a:r>
            <a:r>
              <a:rPr lang="en-US" sz="2400" b="1" i="0" dirty="0">
                <a:solidFill>
                  <a:srgbClr val="333333"/>
                </a:solidFill>
                <a:effectLst/>
                <a:latin typeface="Open Sans" panose="020B0606030504020204" pitchFamily="34" charset="0"/>
              </a:rPr>
              <a:t>all the nodes must have exactly two children </a:t>
            </a:r>
          </a:p>
          <a:p>
            <a:pPr marL="285750" indent="-285750" algn="just">
              <a:buFont typeface="Arial" panose="020B0604020202020204" pitchFamily="34" charset="0"/>
              <a:buChar char="•"/>
            </a:pPr>
            <a:r>
              <a:rPr lang="en-US" sz="2400" dirty="0">
                <a:solidFill>
                  <a:srgbClr val="333333"/>
                </a:solidFill>
                <a:latin typeface="Open Sans" panose="020B0606030504020204" pitchFamily="34" charset="0"/>
              </a:rPr>
              <a:t>A</a:t>
            </a:r>
            <a:r>
              <a:rPr lang="en-US" sz="2400" b="0" i="0" dirty="0">
                <a:solidFill>
                  <a:srgbClr val="333333"/>
                </a:solidFill>
                <a:effectLst/>
                <a:latin typeface="Open Sans" panose="020B0606030504020204" pitchFamily="34" charset="0"/>
              </a:rPr>
              <a:t>nd at every level of complete binary tree there must be </a:t>
            </a:r>
            <a:r>
              <a:rPr lang="en-US" sz="2400" b="0" i="0" dirty="0">
                <a:solidFill>
                  <a:srgbClr val="FF0000"/>
                </a:solidFill>
                <a:effectLst/>
                <a:latin typeface="Open Sans" panose="020B0606030504020204" pitchFamily="34" charset="0"/>
              </a:rPr>
              <a:t>2</a:t>
            </a:r>
            <a:r>
              <a:rPr lang="en-US" sz="2400" b="0" i="0" baseline="30000" dirty="0">
                <a:solidFill>
                  <a:srgbClr val="FF0000"/>
                </a:solidFill>
                <a:effectLst/>
                <a:latin typeface="Open Sans" panose="020B0606030504020204" pitchFamily="34" charset="0"/>
              </a:rPr>
              <a:t>level</a:t>
            </a:r>
            <a:r>
              <a:rPr lang="en-US" sz="2400" b="0" i="0" dirty="0">
                <a:solidFill>
                  <a:srgbClr val="FF0000"/>
                </a:solidFill>
                <a:effectLst/>
                <a:latin typeface="Open Sans" panose="020B0606030504020204" pitchFamily="34" charset="0"/>
              </a:rPr>
              <a:t> number of nodes</a:t>
            </a:r>
            <a:r>
              <a:rPr lang="en-US" sz="2400" b="0" i="0" dirty="0">
                <a:solidFill>
                  <a:srgbClr val="333333"/>
                </a:solidFill>
                <a:effectLst/>
                <a:latin typeface="Open Sans" panose="020B0606030504020204" pitchFamily="34" charset="0"/>
              </a:rPr>
              <a:t>. </a:t>
            </a:r>
          </a:p>
          <a:p>
            <a:pPr marL="285750" indent="-285750" algn="just">
              <a:buFont typeface="Arial" panose="020B0604020202020204" pitchFamily="34" charset="0"/>
              <a:buChar char="•"/>
            </a:pPr>
            <a:r>
              <a:rPr lang="en-US" sz="2400" b="0" i="0" dirty="0">
                <a:solidFill>
                  <a:srgbClr val="333333"/>
                </a:solidFill>
                <a:effectLst/>
                <a:latin typeface="Open Sans" panose="020B0606030504020204" pitchFamily="34" charset="0"/>
              </a:rPr>
              <a:t>For example at </a:t>
            </a:r>
            <a:r>
              <a:rPr lang="en-US" sz="2400" b="0" i="0" dirty="0">
                <a:solidFill>
                  <a:srgbClr val="FF0000"/>
                </a:solidFill>
                <a:effectLst/>
                <a:latin typeface="Open Sans" panose="020B0606030504020204" pitchFamily="34" charset="0"/>
              </a:rPr>
              <a:t>level 2</a:t>
            </a:r>
            <a:r>
              <a:rPr lang="en-US" sz="2400" b="0" i="0" dirty="0">
                <a:solidFill>
                  <a:srgbClr val="333333"/>
                </a:solidFill>
                <a:effectLst/>
                <a:latin typeface="Open Sans" panose="020B0606030504020204" pitchFamily="34" charset="0"/>
              </a:rPr>
              <a:t> there must be </a:t>
            </a:r>
            <a:r>
              <a:rPr lang="en-US" sz="2400" b="0" i="0" dirty="0">
                <a:solidFill>
                  <a:srgbClr val="FF0000"/>
                </a:solidFill>
                <a:effectLst/>
                <a:latin typeface="Open Sans" panose="020B0606030504020204" pitchFamily="34" charset="0"/>
              </a:rPr>
              <a:t>2</a:t>
            </a:r>
            <a:r>
              <a:rPr lang="en-US" sz="2400" b="0" i="0" baseline="30000" dirty="0">
                <a:solidFill>
                  <a:srgbClr val="FF0000"/>
                </a:solidFill>
                <a:effectLst/>
                <a:latin typeface="Open Sans" panose="020B0606030504020204" pitchFamily="34" charset="0"/>
              </a:rPr>
              <a:t>2</a:t>
            </a:r>
            <a:r>
              <a:rPr lang="en-US" sz="2400" b="0" i="0" dirty="0">
                <a:solidFill>
                  <a:srgbClr val="FF0000"/>
                </a:solidFill>
                <a:effectLst/>
                <a:latin typeface="Open Sans" panose="020B0606030504020204" pitchFamily="34" charset="0"/>
              </a:rPr>
              <a:t> = 4 </a:t>
            </a:r>
            <a:r>
              <a:rPr lang="en-US" sz="2400" b="0" i="0" dirty="0">
                <a:solidFill>
                  <a:srgbClr val="333333"/>
                </a:solidFill>
                <a:effectLst/>
                <a:latin typeface="Open Sans" panose="020B0606030504020204" pitchFamily="34" charset="0"/>
              </a:rPr>
              <a:t>nodes and at </a:t>
            </a:r>
            <a:r>
              <a:rPr lang="en-US" sz="2400" b="0" i="0" dirty="0">
                <a:solidFill>
                  <a:srgbClr val="FF0000"/>
                </a:solidFill>
                <a:effectLst/>
                <a:latin typeface="Open Sans" panose="020B0606030504020204" pitchFamily="34" charset="0"/>
              </a:rPr>
              <a:t>level 3</a:t>
            </a:r>
            <a:r>
              <a:rPr lang="en-US" sz="2400" b="0" i="0" dirty="0">
                <a:solidFill>
                  <a:srgbClr val="333333"/>
                </a:solidFill>
                <a:effectLst/>
                <a:latin typeface="Open Sans" panose="020B0606030504020204" pitchFamily="34" charset="0"/>
              </a:rPr>
              <a:t> there must be </a:t>
            </a:r>
            <a:r>
              <a:rPr lang="en-US" sz="2400" b="0" i="0" dirty="0">
                <a:solidFill>
                  <a:srgbClr val="FF0000"/>
                </a:solidFill>
                <a:effectLst/>
                <a:latin typeface="Open Sans" panose="020B0606030504020204" pitchFamily="34" charset="0"/>
              </a:rPr>
              <a:t>2</a:t>
            </a:r>
            <a:r>
              <a:rPr lang="en-US" sz="2400" b="0" i="0" baseline="30000" dirty="0">
                <a:solidFill>
                  <a:srgbClr val="FF0000"/>
                </a:solidFill>
                <a:effectLst/>
                <a:latin typeface="Open Sans" panose="020B0606030504020204" pitchFamily="34" charset="0"/>
              </a:rPr>
              <a:t>3</a:t>
            </a:r>
            <a:r>
              <a:rPr lang="en-US" sz="2400" b="0" i="0" dirty="0">
                <a:solidFill>
                  <a:srgbClr val="FF0000"/>
                </a:solidFill>
                <a:effectLst/>
                <a:latin typeface="Open Sans" panose="020B0606030504020204" pitchFamily="34" charset="0"/>
              </a:rPr>
              <a:t> = 8 </a:t>
            </a:r>
            <a:r>
              <a:rPr lang="en-US" sz="2400" b="0" i="0" dirty="0">
                <a:solidFill>
                  <a:srgbClr val="333333"/>
                </a:solidFill>
                <a:effectLst/>
                <a:latin typeface="Open Sans" panose="020B0606030504020204" pitchFamily="34" charset="0"/>
              </a:rPr>
              <a:t>nodes.</a:t>
            </a:r>
          </a:p>
          <a:p>
            <a:pPr marL="285750" indent="-285750" algn="just">
              <a:buFont typeface="Arial" panose="020B0604020202020204" pitchFamily="34" charset="0"/>
              <a:buChar char="•"/>
            </a:pPr>
            <a:r>
              <a:rPr lang="en-US" sz="2400" b="0" i="0" dirty="0">
                <a:solidFill>
                  <a:srgbClr val="333333"/>
                </a:solidFill>
                <a:effectLst/>
                <a:latin typeface="Open Sans" panose="020B0606030504020204" pitchFamily="34" charset="0"/>
              </a:rPr>
              <a:t>Complete binary tree is also called as </a:t>
            </a:r>
            <a:r>
              <a:rPr lang="en-US" sz="2400" b="1" i="0" dirty="0">
                <a:solidFill>
                  <a:srgbClr val="333333"/>
                </a:solidFill>
                <a:effectLst/>
                <a:latin typeface="Open Sans" panose="020B0606030504020204" pitchFamily="34" charset="0"/>
              </a:rPr>
              <a:t>Perfect Binary Tree</a:t>
            </a:r>
            <a:endParaRPr lang="en-US" sz="2400" b="1" i="0" dirty="0">
              <a:solidFill>
                <a:srgbClr val="E00D50"/>
              </a:solidFill>
              <a:effectLst/>
              <a:latin typeface="Open Sans" panose="020B0606030504020204" pitchFamily="34" charset="0"/>
            </a:endParaRPr>
          </a:p>
        </p:txBody>
      </p:sp>
      <p:pic>
        <p:nvPicPr>
          <p:cNvPr id="3" name="Picture 2">
            <a:extLst>
              <a:ext uri="{FF2B5EF4-FFF2-40B4-BE49-F238E27FC236}">
                <a16:creationId xmlns:a16="http://schemas.microsoft.com/office/drawing/2014/main" id="{E03F1548-3CA0-486E-B99B-2105259C6F66}"/>
              </a:ext>
            </a:extLst>
          </p:cNvPr>
          <p:cNvPicPr>
            <a:picLocks noChangeAspect="1"/>
          </p:cNvPicPr>
          <p:nvPr/>
        </p:nvPicPr>
        <p:blipFill rotWithShape="1">
          <a:blip r:embed="rId2"/>
          <a:srcRect l="13389" r="12244"/>
          <a:stretch/>
        </p:blipFill>
        <p:spPr>
          <a:xfrm>
            <a:off x="8242089" y="2388404"/>
            <a:ext cx="3949911" cy="3333524"/>
          </a:xfrm>
          <a:prstGeom prst="rect">
            <a:avLst/>
          </a:prstGeom>
        </p:spPr>
      </p:pic>
    </p:spTree>
    <p:extLst>
      <p:ext uri="{BB962C8B-B14F-4D97-AF65-F5344CB8AC3E}">
        <p14:creationId xmlns:p14="http://schemas.microsoft.com/office/powerpoint/2010/main" val="1851026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8506" y="800392"/>
            <a:ext cx="10264697" cy="1212102"/>
          </a:xfrm>
          <a:prstGeom prst="rect">
            <a:avLst/>
          </a:prstGeom>
        </p:spPr>
        <p:txBody>
          <a:bodyPr vert="horz" lIns="91440" tIns="45720" rIns="91440" bIns="45720" rtlCol="0" anchor="ctr">
            <a:normAutofit/>
          </a:bodyPr>
          <a:lstStyle/>
          <a:p>
            <a:pPr marL="12700"/>
            <a:r>
              <a:rPr lang="en-US" sz="4000" spc="-5" dirty="0">
                <a:solidFill>
                  <a:schemeClr val="tx1"/>
                </a:solidFill>
              </a:rPr>
              <a:t>3. Extended Binary Tree</a:t>
            </a:r>
            <a:endParaRPr lang="en-US" sz="4000" kern="1200" spc="-10" dirty="0">
              <a:solidFill>
                <a:schemeClr val="tx1"/>
              </a:solidFill>
              <a:latin typeface="+mj-lt"/>
              <a:ea typeface="+mj-ea"/>
              <a:cs typeface="+mj-cs"/>
            </a:endParaRPr>
          </a:p>
        </p:txBody>
      </p:sp>
      <p:sp>
        <p:nvSpPr>
          <p:cNvPr id="11" name="Rectangle 3"/>
          <p:cNvSpPr txBox="1">
            <a:spLocks noChangeArrowheads="1"/>
          </p:cNvSpPr>
          <p:nvPr/>
        </p:nvSpPr>
        <p:spPr>
          <a:xfrm>
            <a:off x="1283090" y="2177170"/>
            <a:ext cx="9940010" cy="4570963"/>
          </a:xfrm>
          <a:prstGeom prst="rect">
            <a:avLst/>
          </a:prstGeom>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endParaRPr lang="en-US" sz="2000" i="1" dirty="0">
              <a:ea typeface="ＭＳ Ｐゴシック" pitchFamily="34" charset="-128"/>
            </a:endParaRPr>
          </a:p>
        </p:txBody>
      </p:sp>
      <p:sp>
        <p:nvSpPr>
          <p:cNvPr id="20" name="TextBox 19">
            <a:extLst>
              <a:ext uri="{FF2B5EF4-FFF2-40B4-BE49-F238E27FC236}">
                <a16:creationId xmlns:a16="http://schemas.microsoft.com/office/drawing/2014/main" id="{AE824298-8B95-4D47-A83A-F5057E97519E}"/>
              </a:ext>
            </a:extLst>
          </p:cNvPr>
          <p:cNvSpPr txBox="1"/>
          <p:nvPr/>
        </p:nvSpPr>
        <p:spPr>
          <a:xfrm>
            <a:off x="1131811" y="2194918"/>
            <a:ext cx="10397779" cy="1323439"/>
          </a:xfrm>
          <a:prstGeom prst="rect">
            <a:avLst/>
          </a:prstGeom>
          <a:noFill/>
        </p:spPr>
        <p:txBody>
          <a:bodyPr wrap="square">
            <a:spAutoFit/>
          </a:bodyPr>
          <a:lstStyle/>
          <a:p>
            <a:pPr marL="285750" indent="-285750" algn="just">
              <a:buFont typeface="Arial" panose="020B0604020202020204" pitchFamily="34" charset="0"/>
              <a:buChar char="•"/>
            </a:pPr>
            <a:r>
              <a:rPr lang="en-US" sz="2000" b="0" i="0" dirty="0">
                <a:solidFill>
                  <a:srgbClr val="333333"/>
                </a:solidFill>
                <a:effectLst/>
                <a:latin typeface="Open Sans" panose="020B0606030504020204" pitchFamily="34" charset="0"/>
              </a:rPr>
              <a:t>A binary tree can be converted into Full Binary tree by adding dummy nodes to existing nodes wherever required.</a:t>
            </a:r>
          </a:p>
          <a:p>
            <a:pPr marL="457200" algn="ctr"/>
            <a:r>
              <a:rPr lang="en-US" sz="2000" b="1" i="0" dirty="0">
                <a:solidFill>
                  <a:srgbClr val="333333"/>
                </a:solidFill>
                <a:effectLst/>
                <a:latin typeface="Open Sans" panose="020B0606030504020204" pitchFamily="34" charset="0"/>
              </a:rPr>
              <a:t>“The full binary tree obtained by adding dummy nodes to a binary tree is called as Extended Binary Tree."</a:t>
            </a:r>
            <a:endParaRPr lang="en-US" sz="2000" b="1" i="0" dirty="0">
              <a:solidFill>
                <a:srgbClr val="E00D50"/>
              </a:solidFill>
              <a:effectLst/>
              <a:latin typeface="Open Sans" panose="020B0606030504020204" pitchFamily="34" charset="0"/>
            </a:endParaRPr>
          </a:p>
        </p:txBody>
      </p:sp>
      <p:pic>
        <p:nvPicPr>
          <p:cNvPr id="4" name="Picture 3">
            <a:extLst>
              <a:ext uri="{FF2B5EF4-FFF2-40B4-BE49-F238E27FC236}">
                <a16:creationId xmlns:a16="http://schemas.microsoft.com/office/drawing/2014/main" id="{D865C2C2-6D10-44B5-ADC0-B3FD032067A2}"/>
              </a:ext>
            </a:extLst>
          </p:cNvPr>
          <p:cNvPicPr>
            <a:picLocks noChangeAspect="1"/>
          </p:cNvPicPr>
          <p:nvPr/>
        </p:nvPicPr>
        <p:blipFill>
          <a:blip r:embed="rId2"/>
          <a:stretch>
            <a:fillRect/>
          </a:stretch>
        </p:blipFill>
        <p:spPr>
          <a:xfrm>
            <a:off x="1260865" y="3252850"/>
            <a:ext cx="9940010" cy="3313337"/>
          </a:xfrm>
          <a:prstGeom prst="rect">
            <a:avLst/>
          </a:prstGeom>
        </p:spPr>
      </p:pic>
    </p:spTree>
    <p:extLst>
      <p:ext uri="{BB962C8B-B14F-4D97-AF65-F5344CB8AC3E}">
        <p14:creationId xmlns:p14="http://schemas.microsoft.com/office/powerpoint/2010/main" val="286364563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1867</TotalTime>
  <Words>1500</Words>
  <Application>Microsoft Office PowerPoint</Application>
  <PresentationFormat>Widescreen</PresentationFormat>
  <Paragraphs>115</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ＭＳ Ｐゴシック</vt:lpstr>
      <vt:lpstr>Arial</vt:lpstr>
      <vt:lpstr>Calibri</vt:lpstr>
      <vt:lpstr>Calibri Light</vt:lpstr>
      <vt:lpstr>charter</vt:lpstr>
      <vt:lpstr>Open Sans</vt:lpstr>
      <vt:lpstr>Wingdings</vt:lpstr>
      <vt:lpstr>Retrospect</vt:lpstr>
      <vt:lpstr>Data Structure </vt:lpstr>
      <vt:lpstr>Goals for today</vt:lpstr>
      <vt:lpstr>CLO Covered</vt:lpstr>
      <vt:lpstr>Trees in Data Structures</vt:lpstr>
      <vt:lpstr>Trees in Data Structures</vt:lpstr>
      <vt:lpstr>Trees in Data Structures</vt:lpstr>
      <vt:lpstr>Trees Data Structure</vt:lpstr>
      <vt:lpstr>Tree Data Structure</vt:lpstr>
      <vt:lpstr>PowerPoint Presentation</vt:lpstr>
      <vt:lpstr>General Tree Structure</vt:lpstr>
      <vt:lpstr>Tree Example</vt:lpstr>
      <vt:lpstr>Trees: Basic terminology</vt:lpstr>
      <vt:lpstr>Trees: Basic terminology</vt:lpstr>
      <vt:lpstr>Trees: Basic terminology</vt:lpstr>
      <vt:lpstr>Trees: Basic terminology</vt:lpstr>
      <vt:lpstr>Trees: Basic terminology</vt:lpstr>
      <vt:lpstr>Trees: Basic terminology</vt:lpstr>
      <vt:lpstr>Trees: Basic terminology</vt:lpstr>
      <vt:lpstr>Trees: Basic terminology</vt:lpstr>
      <vt:lpstr>Trees: Basic terminology</vt:lpstr>
      <vt:lpstr>Trees: Basic terminology</vt:lpstr>
      <vt:lpstr>Trees: Basic terminology</vt:lpstr>
      <vt:lpstr>Trees: Basic terminology</vt:lpstr>
      <vt:lpstr>Trees: Basic terminology</vt:lpstr>
      <vt:lpstr>Types of Tree Data Structures</vt:lpstr>
      <vt:lpstr>General Tree</vt:lpstr>
      <vt:lpstr>Binary Tree</vt:lpstr>
      <vt:lpstr>Binary Tree</vt:lpstr>
      <vt:lpstr>1. Strictly Binary Tree</vt:lpstr>
      <vt:lpstr>1. Strictly Binary Tree</vt:lpstr>
      <vt:lpstr>2. Complete Binary Tree</vt:lpstr>
      <vt:lpstr>3. Extended Binary Tree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and Algorithm</dc:title>
  <dc:creator>Habiba Arshad</dc:creator>
  <cp:lastModifiedBy>Rida Zahra</cp:lastModifiedBy>
  <cp:revision>57</cp:revision>
  <dcterms:created xsi:type="dcterms:W3CDTF">2022-11-28T04:11:00Z</dcterms:created>
  <dcterms:modified xsi:type="dcterms:W3CDTF">2026-01-07T04:01:48Z</dcterms:modified>
</cp:coreProperties>
</file>