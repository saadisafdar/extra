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92" r:id="rId2"/>
  </p:sldMasterIdLst>
  <p:notesMasterIdLst>
    <p:notesMasterId r:id="rId52"/>
  </p:notesMasterIdLst>
  <p:handoutMasterIdLst>
    <p:handoutMasterId r:id="rId53"/>
  </p:handoutMasterIdLst>
  <p:sldIdLst>
    <p:sldId id="415" r:id="rId3"/>
    <p:sldId id="458" r:id="rId4"/>
    <p:sldId id="258" r:id="rId5"/>
    <p:sldId id="259" r:id="rId6"/>
    <p:sldId id="260" r:id="rId7"/>
    <p:sldId id="435" r:id="rId8"/>
    <p:sldId id="374" r:id="rId9"/>
    <p:sldId id="375" r:id="rId10"/>
    <p:sldId id="376" r:id="rId11"/>
    <p:sldId id="377" r:id="rId12"/>
    <p:sldId id="378" r:id="rId13"/>
    <p:sldId id="379" r:id="rId14"/>
    <p:sldId id="457" r:id="rId15"/>
    <p:sldId id="381" r:id="rId16"/>
    <p:sldId id="382" r:id="rId17"/>
    <p:sldId id="383" r:id="rId18"/>
    <p:sldId id="385" r:id="rId19"/>
    <p:sldId id="372" r:id="rId20"/>
    <p:sldId id="261" r:id="rId21"/>
    <p:sldId id="437" r:id="rId22"/>
    <p:sldId id="438" r:id="rId23"/>
    <p:sldId id="436" r:id="rId24"/>
    <p:sldId id="456" r:id="rId25"/>
    <p:sldId id="262" r:id="rId26"/>
    <p:sldId id="263" r:id="rId27"/>
    <p:sldId id="264" r:id="rId28"/>
    <p:sldId id="265" r:id="rId29"/>
    <p:sldId id="320" r:id="rId30"/>
    <p:sldId id="272" r:id="rId31"/>
    <p:sldId id="387" r:id="rId32"/>
    <p:sldId id="273" r:id="rId33"/>
    <p:sldId id="274" r:id="rId34"/>
    <p:sldId id="275" r:id="rId35"/>
    <p:sldId id="276" r:id="rId36"/>
    <p:sldId id="277" r:id="rId37"/>
    <p:sldId id="278" r:id="rId38"/>
    <p:sldId id="279" r:id="rId39"/>
    <p:sldId id="280" r:id="rId40"/>
    <p:sldId id="281" r:id="rId41"/>
    <p:sldId id="386" r:id="rId42"/>
    <p:sldId id="388" r:id="rId43"/>
    <p:sldId id="416" r:id="rId44"/>
    <p:sldId id="417" r:id="rId45"/>
    <p:sldId id="418" r:id="rId46"/>
    <p:sldId id="269" r:id="rId47"/>
    <p:sldId id="391" r:id="rId48"/>
    <p:sldId id="390" r:id="rId49"/>
    <p:sldId id="389" r:id="rId50"/>
    <p:sldId id="459"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4" autoAdjust="0"/>
    <p:restoredTop sz="94660"/>
  </p:normalViewPr>
  <p:slideViewPr>
    <p:cSldViewPr snapToGrid="0">
      <p:cViewPr varScale="1">
        <p:scale>
          <a:sx n="82" d="100"/>
          <a:sy n="82" d="100"/>
        </p:scale>
        <p:origin x="672" y="72"/>
      </p:cViewPr>
      <p:guideLst>
        <p:guide orient="horz" pos="2160"/>
        <p:guide pos="3840"/>
      </p:guideLst>
    </p:cSldViewPr>
  </p:slideViewPr>
  <p:notesTextViewPr>
    <p:cViewPr>
      <p:scale>
        <a:sx n="1" d="1"/>
        <a:sy n="1" d="1"/>
      </p:scale>
      <p:origin x="0" y="0"/>
    </p:cViewPr>
  </p:notesTextViewPr>
  <p:notesViewPr>
    <p:cSldViewPr snapToGrid="0">
      <p:cViewPr varScale="1">
        <p:scale>
          <a:sx n="76" d="100"/>
          <a:sy n="76" d="100"/>
        </p:scale>
        <p:origin x="1770" y="96"/>
      </p:cViewPr>
      <p:guideLst/>
    </p:cSldViewPr>
  </p:notesViewPr>
  <p:gridSpacing cx="75895" cy="7589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82E0B3B4-78E1-48E2-85AF-EA72E89D3AE5}" type="datetimeFigureOut">
              <a:rPr lang="en-US"/>
              <a:pPr>
                <a:defRPr/>
              </a:pPr>
              <a:t>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AF3E64A3-EF46-4D9C-BE70-496385113FB9}" type="slidenum">
              <a:rPr lang="en-US"/>
              <a:pPr>
                <a:defRPr/>
              </a:pPr>
              <a:t>‹#›</a:t>
            </a:fld>
            <a:endParaRPr lang="en-US"/>
          </a:p>
        </p:txBody>
      </p:sp>
    </p:spTree>
    <p:extLst>
      <p:ext uri="{BB962C8B-B14F-4D97-AF65-F5344CB8AC3E}">
        <p14:creationId xmlns:p14="http://schemas.microsoft.com/office/powerpoint/2010/main" val="3908441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542E392-BEE6-41D4-A49C-43219A35FDDD}" type="datetimeFigureOut">
              <a:rPr lang="en-US"/>
              <a:pPr>
                <a:defRPr/>
              </a:pPr>
              <a:t>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E7EA7CDE-F935-4E41-A53E-E8126A70F7D3}" type="slidenum">
              <a:rPr lang="en-US"/>
              <a:pPr>
                <a:defRPr/>
              </a:pPr>
              <a:t>‹#›</a:t>
            </a:fld>
            <a:endParaRPr lang="en-US"/>
          </a:p>
        </p:txBody>
      </p:sp>
    </p:spTree>
    <p:extLst>
      <p:ext uri="{BB962C8B-B14F-4D97-AF65-F5344CB8AC3E}">
        <p14:creationId xmlns:p14="http://schemas.microsoft.com/office/powerpoint/2010/main" val="2469625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04F3E3A2-3BA2-ED22-A1D7-ABC7DCF689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770F37A-50CD-4E66-8237-6D0A2D951C12}" type="slidenum">
              <a:rPr lang="en-US" altLang="en-US"/>
              <a:pPr>
                <a:spcBef>
                  <a:spcPct val="0"/>
                </a:spcBef>
              </a:pPr>
              <a:t>20</a:t>
            </a:fld>
            <a:endParaRPr lang="en-US" altLang="en-US"/>
          </a:p>
        </p:txBody>
      </p:sp>
      <p:sp>
        <p:nvSpPr>
          <p:cNvPr id="64515" name="Rectangle 2">
            <a:extLst>
              <a:ext uri="{FF2B5EF4-FFF2-40B4-BE49-F238E27FC236}">
                <a16:creationId xmlns:a16="http://schemas.microsoft.com/office/drawing/2014/main" id="{66B15B1A-FF6F-FA23-9104-80242EE9FA0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73B72914-DAA3-96F8-656F-CA08FA646D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134D5D2E-63D5-2661-5142-0274ADAC15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D5B54D-5C54-48FE-B8AE-14F6BAA1F2FD}" type="slidenum">
              <a:rPr lang="en-US" altLang="en-US"/>
              <a:pPr>
                <a:spcBef>
                  <a:spcPct val="0"/>
                </a:spcBef>
              </a:pPr>
              <a:t>21</a:t>
            </a:fld>
            <a:endParaRPr lang="en-US" altLang="en-US"/>
          </a:p>
        </p:txBody>
      </p:sp>
      <p:sp>
        <p:nvSpPr>
          <p:cNvPr id="66563" name="Rectangle 2">
            <a:extLst>
              <a:ext uri="{FF2B5EF4-FFF2-40B4-BE49-F238E27FC236}">
                <a16:creationId xmlns:a16="http://schemas.microsoft.com/office/drawing/2014/main" id="{B7D61999-0686-7DC8-B5CF-A7615A6AA4BF}"/>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4244164-B6F5-A2A6-0665-0EEADC2E03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78449957-AAA1-A22F-FF61-5785CDAAFF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0A94373-CA01-49DE-85E8-84A3C0E6CD5C}" type="slidenum">
              <a:rPr lang="en-US" altLang="en-US"/>
              <a:pPr>
                <a:spcBef>
                  <a:spcPct val="0"/>
                </a:spcBef>
              </a:pPr>
              <a:t>23</a:t>
            </a:fld>
            <a:endParaRPr lang="en-US" altLang="en-US"/>
          </a:p>
        </p:txBody>
      </p:sp>
      <p:sp>
        <p:nvSpPr>
          <p:cNvPr id="68611" name="Rectangle 2">
            <a:extLst>
              <a:ext uri="{FF2B5EF4-FFF2-40B4-BE49-F238E27FC236}">
                <a16:creationId xmlns:a16="http://schemas.microsoft.com/office/drawing/2014/main" id="{8A154EFD-DED2-4F62-19A3-0C17C43102A5}"/>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8640AC57-340B-3F22-94AC-9A9EAB8951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504308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767024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1988"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409346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3012"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616759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4036"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542544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5060"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3765090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6084"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4224258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7108"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2325290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8132"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3992336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49156"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2368706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p:spPr>
      </p:sp>
      <p:sp>
        <p:nvSpPr>
          <p:cNvPr id="50180"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880424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7:notes"/>
          <p:cNvSpPr txBox="1">
            <a:spLocks noGrp="1"/>
          </p:cNvSpPr>
          <p:nvPr>
            <p:ph type="body" idx="1"/>
          </p:nvPr>
        </p:nvSpPr>
        <p:spPr>
          <a:xfrm>
            <a:off x="976313" y="4560888"/>
            <a:ext cx="5362575" cy="4321175"/>
          </a:xfrm>
          <a:prstGeom prst="rect">
            <a:avLst/>
          </a:prstGeom>
        </p:spPr>
        <p:txBody>
          <a:bodyPr spcFirstLastPara="1" wrap="square" lIns="96650" tIns="48325" rIns="96650" bIns="48325" anchor="ctr" anchorCtr="0">
            <a:noAutofit/>
          </a:bodyPr>
          <a:lstStyle/>
          <a:p>
            <a:pPr marL="0" lvl="0" indent="0" algn="l" rtl="0">
              <a:spcBef>
                <a:spcPts val="360"/>
              </a:spcBef>
              <a:spcAft>
                <a:spcPts val="0"/>
              </a:spcAft>
              <a:buNone/>
            </a:pPr>
            <a:endParaRPr/>
          </a:p>
        </p:txBody>
      </p:sp>
      <p:sp>
        <p:nvSpPr>
          <p:cNvPr id="337" name="Google Shape;337;p17:notes"/>
          <p:cNvSpPr>
            <a:spLocks noGrp="1" noRot="1" noChangeAspect="1"/>
          </p:cNvSpPr>
          <p:nvPr>
            <p:ph type="sldImg" idx="2"/>
          </p:nvPr>
        </p:nvSpPr>
        <p:spPr>
          <a:xfrm>
            <a:off x="1257300" y="719138"/>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8:notes"/>
          <p:cNvSpPr txBox="1">
            <a:spLocks noGrp="1"/>
          </p:cNvSpPr>
          <p:nvPr>
            <p:ph type="body" idx="1"/>
          </p:nvPr>
        </p:nvSpPr>
        <p:spPr>
          <a:xfrm>
            <a:off x="976313" y="4560888"/>
            <a:ext cx="5362575" cy="4321175"/>
          </a:xfrm>
          <a:prstGeom prst="rect">
            <a:avLst/>
          </a:prstGeom>
        </p:spPr>
        <p:txBody>
          <a:bodyPr spcFirstLastPara="1" wrap="square" lIns="96650" tIns="48325" rIns="96650" bIns="48325" anchor="ctr" anchorCtr="0">
            <a:noAutofit/>
          </a:bodyPr>
          <a:lstStyle/>
          <a:p>
            <a:pPr marL="0" lvl="0" indent="0" algn="l" rtl="0">
              <a:spcBef>
                <a:spcPts val="360"/>
              </a:spcBef>
              <a:spcAft>
                <a:spcPts val="0"/>
              </a:spcAft>
              <a:buNone/>
            </a:pPr>
            <a:endParaRPr/>
          </a:p>
        </p:txBody>
      </p:sp>
      <p:sp>
        <p:nvSpPr>
          <p:cNvPr id="344" name="Google Shape;344;p18:notes"/>
          <p:cNvSpPr>
            <a:spLocks noGrp="1" noRot="1" noChangeAspect="1"/>
          </p:cNvSpPr>
          <p:nvPr>
            <p:ph type="sldImg" idx="2"/>
          </p:nvPr>
        </p:nvSpPr>
        <p:spPr>
          <a:xfrm>
            <a:off x="1257300" y="719138"/>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9:notes"/>
          <p:cNvSpPr txBox="1">
            <a:spLocks noGrp="1"/>
          </p:cNvSpPr>
          <p:nvPr>
            <p:ph type="body" idx="1"/>
          </p:nvPr>
        </p:nvSpPr>
        <p:spPr>
          <a:xfrm>
            <a:off x="976313" y="4560888"/>
            <a:ext cx="5362575" cy="4321175"/>
          </a:xfrm>
          <a:prstGeom prst="rect">
            <a:avLst/>
          </a:prstGeom>
        </p:spPr>
        <p:txBody>
          <a:bodyPr spcFirstLastPara="1" wrap="square" lIns="96650" tIns="48325" rIns="96650" bIns="48325" anchor="ctr" anchorCtr="0">
            <a:noAutofit/>
          </a:bodyPr>
          <a:lstStyle/>
          <a:p>
            <a:pPr marL="0" lvl="0" indent="0" algn="l" rtl="0">
              <a:spcBef>
                <a:spcPts val="360"/>
              </a:spcBef>
              <a:spcAft>
                <a:spcPts val="0"/>
              </a:spcAft>
              <a:buNone/>
            </a:pPr>
            <a:endParaRPr/>
          </a:p>
        </p:txBody>
      </p:sp>
      <p:sp>
        <p:nvSpPr>
          <p:cNvPr id="351" name="Google Shape;351;p19:notes"/>
          <p:cNvSpPr>
            <a:spLocks noGrp="1" noRot="1" noChangeAspect="1"/>
          </p:cNvSpPr>
          <p:nvPr>
            <p:ph type="sldImg" idx="2"/>
          </p:nvPr>
        </p:nvSpPr>
        <p:spPr>
          <a:xfrm>
            <a:off x="457200" y="719138"/>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Rot="1" noChangeAspect="1" noChangeArrowheads="1" noTextEdit="1"/>
          </p:cNvSpPr>
          <p:nvPr>
            <p:ph type="sldImg"/>
          </p:nvPr>
        </p:nvSpPr>
        <p:spPr bwMode="auto">
          <a:xfrm>
            <a:off x="387350" y="685800"/>
            <a:ext cx="6091238" cy="3427413"/>
          </a:xfrm>
          <a:noFill/>
          <a:ln>
            <a:solidFill>
              <a:srgbClr val="000000"/>
            </a:solidFill>
            <a:miter lim="800000"/>
            <a:headEnd/>
            <a:tailEnd/>
          </a:ln>
        </p:spPr>
      </p:sp>
      <p:sp>
        <p:nvSpPr>
          <p:cNvPr id="37892" name="Rectangle 3"/>
          <p:cNvSpPr>
            <a:spLocks noGrp="1" noChangeArrowheads="1"/>
          </p:cNvSpPr>
          <p:nvPr>
            <p:ph type="body" idx="1"/>
          </p:nvPr>
        </p:nvSpPr>
        <p:spPr bwMode="auto">
          <a:xfrm>
            <a:off x="915988" y="4341813"/>
            <a:ext cx="5026025" cy="4116387"/>
          </a:xfrm>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590205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Rot="1" noChangeAspect="1" noChangeArrowheads="1" noTextEdit="1"/>
          </p:cNvSpPr>
          <p:nvPr>
            <p:ph type="sldImg"/>
          </p:nvPr>
        </p:nvSpPr>
        <p:spPr bwMode="auto">
          <a:xfrm>
            <a:off x="387350" y="685800"/>
            <a:ext cx="6091238" cy="3427413"/>
          </a:xfrm>
          <a:noFill/>
          <a:ln>
            <a:solidFill>
              <a:srgbClr val="000000"/>
            </a:solidFill>
            <a:miter lim="800000"/>
            <a:headEnd/>
            <a:tailEnd/>
          </a:ln>
        </p:spPr>
      </p:sp>
      <p:sp>
        <p:nvSpPr>
          <p:cNvPr id="37892" name="Rectangle 3"/>
          <p:cNvSpPr>
            <a:spLocks noGrp="1" noChangeArrowheads="1"/>
          </p:cNvSpPr>
          <p:nvPr>
            <p:ph type="body" idx="1"/>
          </p:nvPr>
        </p:nvSpPr>
        <p:spPr bwMode="auto">
          <a:xfrm>
            <a:off x="915988" y="4341813"/>
            <a:ext cx="5026025" cy="4116387"/>
          </a:xfrm>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298287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Rot="1" noChangeAspect="1" noChangeArrowheads="1" noTextEdit="1"/>
          </p:cNvSpPr>
          <p:nvPr>
            <p:ph type="sldImg"/>
          </p:nvPr>
        </p:nvSpPr>
        <p:spPr bwMode="auto">
          <a:xfrm>
            <a:off x="387350" y="685800"/>
            <a:ext cx="6091238" cy="3427413"/>
          </a:xfrm>
          <a:noFill/>
          <a:ln>
            <a:solidFill>
              <a:srgbClr val="000000"/>
            </a:solidFill>
            <a:miter lim="800000"/>
            <a:headEnd/>
            <a:tailEnd/>
          </a:ln>
        </p:spPr>
      </p:sp>
      <p:sp>
        <p:nvSpPr>
          <p:cNvPr id="37892" name="Rectangle 3"/>
          <p:cNvSpPr>
            <a:spLocks noGrp="1" noChangeArrowheads="1"/>
          </p:cNvSpPr>
          <p:nvPr>
            <p:ph type="body" idx="1"/>
          </p:nvPr>
        </p:nvSpPr>
        <p:spPr bwMode="auto">
          <a:xfrm>
            <a:off x="915988" y="4341813"/>
            <a:ext cx="5026025" cy="4116387"/>
          </a:xfrm>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737857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Rot="1" noChangeAspect="1" noChangeArrowheads="1" noTextEdit="1"/>
          </p:cNvSpPr>
          <p:nvPr>
            <p:ph type="sldImg"/>
          </p:nvPr>
        </p:nvSpPr>
        <p:spPr bwMode="auto">
          <a:xfrm>
            <a:off x="387350" y="685800"/>
            <a:ext cx="6091238" cy="3427413"/>
          </a:xfrm>
          <a:noFill/>
          <a:ln>
            <a:solidFill>
              <a:srgbClr val="000000"/>
            </a:solidFill>
            <a:miter lim="800000"/>
            <a:headEnd/>
            <a:tailEnd/>
          </a:ln>
        </p:spPr>
      </p:sp>
      <p:sp>
        <p:nvSpPr>
          <p:cNvPr id="37892" name="Rectangle 3"/>
          <p:cNvSpPr>
            <a:spLocks noGrp="1" noChangeArrowheads="1"/>
          </p:cNvSpPr>
          <p:nvPr>
            <p:ph type="body" idx="1"/>
          </p:nvPr>
        </p:nvSpPr>
        <p:spPr bwMode="auto">
          <a:xfrm>
            <a:off x="915988" y="4341813"/>
            <a:ext cx="5026025" cy="4116387"/>
          </a:xfrm>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616715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EA73DA93-D728-46F8-A5D6-C2F07BF8E16C}"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80A91E7-C180-441C-AC72-29A8E856B61F}" type="slidenum">
              <a:rPr lang="en-US" smtClean="0"/>
              <a:pPr>
                <a:defRPr/>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58844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6E8DA10-23DC-40E4-B2C8-530A90D8C630}"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0DD1C3B-08B7-4A6E-B524-59FC87035FCA}" type="slidenum">
              <a:rPr lang="en-US" smtClean="0"/>
              <a:pPr>
                <a:defRPr/>
              </a:pPr>
              <a:t>‹#›</a:t>
            </a:fld>
            <a:endParaRPr lang="en-US"/>
          </a:p>
        </p:txBody>
      </p:sp>
    </p:spTree>
    <p:extLst>
      <p:ext uri="{BB962C8B-B14F-4D97-AF65-F5344CB8AC3E}">
        <p14:creationId xmlns:p14="http://schemas.microsoft.com/office/powerpoint/2010/main" val="3953964249"/>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E1D7100-8720-4FD5-AF66-74D79DE2FC5A}"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E3CFD2E-D966-4B0F-9FD9-2235D7CE88DB}" type="slidenum">
              <a:rPr lang="en-US" smtClean="0"/>
              <a:pPr>
                <a:defRPr/>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883661"/>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32C0095-1F19-47DC-96F8-46B2ACB3926A}" type="datetime1">
              <a:rPr lang="en-US" smtClean="0"/>
              <a:pPr>
                <a:defRPr/>
              </a:pPr>
              <a:t>1/6/2025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60BF3D3-8C3D-4A85-BD99-5CF67F30D099}" type="slidenum">
              <a:rPr lang="en-US" smtClean="0"/>
              <a:pPr>
                <a:defRPr/>
              </a:pPr>
              <a:t>‹#›</a:t>
            </a:fld>
            <a:endParaRPr lang="en-US"/>
          </a:p>
        </p:txBody>
      </p:sp>
    </p:spTree>
    <p:extLst>
      <p:ext uri="{BB962C8B-B14F-4D97-AF65-F5344CB8AC3E}">
        <p14:creationId xmlns:p14="http://schemas.microsoft.com/office/powerpoint/2010/main" val="2301559079"/>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4B120EC4-6A28-46AC-A6A3-F149F330D506}" type="datetime1">
              <a:rPr lang="en-US" smtClean="0"/>
              <a:pPr>
                <a:defRPr/>
              </a:pPr>
              <a:t>1/6/2025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0FE3F90E-A7E1-4A3C-A739-C823F8481B7E}" type="slidenum">
              <a:rPr lang="en-US" smtClean="0"/>
              <a:pPr>
                <a:defRPr/>
              </a:pPr>
              <a:t>‹#›</a:t>
            </a:fld>
            <a:endParaRPr lang="en-US"/>
          </a:p>
        </p:txBody>
      </p:sp>
    </p:spTree>
    <p:extLst>
      <p:ext uri="{BB962C8B-B14F-4D97-AF65-F5344CB8AC3E}">
        <p14:creationId xmlns:p14="http://schemas.microsoft.com/office/powerpoint/2010/main" val="313957919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AFC1E868-B1DF-4651-8322-5CC993E6085A}" type="datetime1">
              <a:rPr lang="en-US" smtClean="0"/>
              <a:pPr>
                <a:defRPr/>
              </a:pPr>
              <a:t>1/6/2025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0C7B7AD-1101-4333-BA93-F476D81D97AE}" type="slidenum">
              <a:rPr lang="en-US" smtClean="0"/>
              <a:pPr>
                <a:defRPr/>
              </a:pPr>
              <a:t>‹#›</a:t>
            </a:fld>
            <a:endParaRPr lang="en-US"/>
          </a:p>
        </p:txBody>
      </p:sp>
    </p:spTree>
    <p:extLst>
      <p:ext uri="{BB962C8B-B14F-4D97-AF65-F5344CB8AC3E}">
        <p14:creationId xmlns:p14="http://schemas.microsoft.com/office/powerpoint/2010/main" val="1948041070"/>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1A5D2A8F-0672-48D2-A23D-C0347BB0F91D}" type="datetime1">
              <a:rPr lang="en-US" smtClean="0"/>
              <a:pPr>
                <a:defRPr/>
              </a:pPr>
              <a:t>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18BD7A52-AE3C-4B74-AC22-836FE0C70F19}" type="slidenum">
              <a:rPr lang="en-US" smtClean="0"/>
              <a:pPr>
                <a:defRPr/>
              </a:pPr>
              <a:t>‹#›</a:t>
            </a:fld>
            <a:endParaRPr lang="en-US"/>
          </a:p>
        </p:txBody>
      </p:sp>
    </p:spTree>
    <p:extLst>
      <p:ext uri="{BB962C8B-B14F-4D97-AF65-F5344CB8AC3E}">
        <p14:creationId xmlns:p14="http://schemas.microsoft.com/office/powerpoint/2010/main" val="1878751619"/>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fld id="{B8C0E58D-7C05-482F-B38B-FFB0A5B4C0A7}" type="datetime1">
              <a:rPr lang="en-US" smtClean="0"/>
              <a:pPr>
                <a:defRPr/>
              </a:pPr>
              <a:t>1/6/2025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378B2128-9F10-4393-AC72-7E0D762DB3B5}" type="slidenum">
              <a:rPr lang="en-US" smtClean="0"/>
              <a:pPr>
                <a:defRPr/>
              </a:pPr>
              <a:t>‹#›</a:t>
            </a:fld>
            <a:endParaRPr lang="en-US"/>
          </a:p>
        </p:txBody>
      </p:sp>
    </p:spTree>
    <p:extLst>
      <p:ext uri="{BB962C8B-B14F-4D97-AF65-F5344CB8AC3E}">
        <p14:creationId xmlns:p14="http://schemas.microsoft.com/office/powerpoint/2010/main" val="1105531865"/>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22A3B03-069D-409C-AC33-82F6E6BB95C7}" type="datetime1">
              <a:rPr lang="en-US" smtClean="0"/>
              <a:pPr>
                <a:defRPr/>
              </a:pPr>
              <a:t>1/6/2025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85193CD-57CC-471C-8359-B1565FC696E0}" type="slidenum">
              <a:rPr lang="en-US" smtClean="0"/>
              <a:pPr>
                <a:defRPr/>
              </a:pPr>
              <a:t>‹#›</a:t>
            </a:fld>
            <a:endParaRPr lang="en-US"/>
          </a:p>
        </p:txBody>
      </p:sp>
    </p:spTree>
    <p:extLst>
      <p:ext uri="{BB962C8B-B14F-4D97-AF65-F5344CB8AC3E}">
        <p14:creationId xmlns:p14="http://schemas.microsoft.com/office/powerpoint/2010/main" val="1523414848"/>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C95631B-38F5-4FC8-B2C0-4A58ECAE6EE4}"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B82BB89-BB86-42D6-BC1C-65AF52EB9412}" type="slidenum">
              <a:rPr lang="en-US" smtClean="0"/>
              <a:pPr>
                <a:defRPr/>
              </a:pPr>
              <a:t>‹#›</a:t>
            </a:fld>
            <a:endParaRPr lang="en-US"/>
          </a:p>
        </p:txBody>
      </p:sp>
    </p:spTree>
    <p:extLst>
      <p:ext uri="{BB962C8B-B14F-4D97-AF65-F5344CB8AC3E}">
        <p14:creationId xmlns:p14="http://schemas.microsoft.com/office/powerpoint/2010/main" val="2772959564"/>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73D753C-9A3D-4878-BE00-CFC879FEBFBF}"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2215704-07E5-487E-BADD-4F151DEFBC39}" type="slidenum">
              <a:rPr lang="en-US" smtClean="0"/>
              <a:pPr>
                <a:defRPr/>
              </a:pPr>
              <a:t>‹#›</a:t>
            </a:fld>
            <a:endParaRPr lang="en-US"/>
          </a:p>
        </p:txBody>
      </p:sp>
    </p:spTree>
    <p:extLst>
      <p:ext uri="{BB962C8B-B14F-4D97-AF65-F5344CB8AC3E}">
        <p14:creationId xmlns:p14="http://schemas.microsoft.com/office/powerpoint/2010/main" val="2251334153"/>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18E02A38-E19C-42DE-841E-A1A69EFF8C6B}" type="datetime1">
              <a:rPr lang="en-US" smtClean="0"/>
              <a:pPr>
                <a:defRPr/>
              </a:pPr>
              <a:t>1/6/2025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6BD43196-CE02-4C5C-B1C3-BAC2C63ACE79}" type="slidenum">
              <a:rPr lang="en-US" smtClean="0"/>
              <a:pPr>
                <a:defRPr/>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87731"/>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med">
    <p:fade/>
  </p:transition>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8.png"/><Relationship Id="rId3" Type="http://schemas.openxmlformats.org/officeDocument/2006/relationships/image" Target="../media/image13.wmf"/><Relationship Id="rId7" Type="http://schemas.openxmlformats.org/officeDocument/2006/relationships/image" Target="../media/image15.png"/><Relationship Id="rId12"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1828800"/>
            <a:ext cx="7543800" cy="1882140"/>
          </a:xfrm>
        </p:spPr>
        <p:txBody>
          <a:bodyPr>
            <a:normAutofit fontScale="90000"/>
          </a:bodyPr>
          <a:lstStyle/>
          <a:p>
            <a:pPr algn="ctr"/>
            <a:r>
              <a:rPr lang="en-US" dirty="0"/>
              <a:t>Data Structure and Algorithm</a:t>
            </a:r>
          </a:p>
        </p:txBody>
      </p:sp>
      <p:sp>
        <p:nvSpPr>
          <p:cNvPr id="3" name="Subtitle 2"/>
          <p:cNvSpPr>
            <a:spLocks noGrp="1"/>
          </p:cNvSpPr>
          <p:nvPr>
            <p:ph type="subTitle" idx="1"/>
          </p:nvPr>
        </p:nvSpPr>
        <p:spPr>
          <a:xfrm>
            <a:off x="1506977" y="4551328"/>
            <a:ext cx="5891022" cy="1616007"/>
          </a:xfrm>
        </p:spPr>
        <p:txBody>
          <a:bodyPr>
            <a:normAutofit fontScale="92500" lnSpcReduction="20000"/>
          </a:bodyPr>
          <a:lstStyle/>
          <a:p>
            <a:pPr algn="l"/>
            <a:endParaRPr lang="en-US" dirty="0"/>
          </a:p>
          <a:p>
            <a:pPr algn="l"/>
            <a:r>
              <a:rPr lang="en-US" dirty="0"/>
              <a:t>Course Code: CS-201</a:t>
            </a:r>
          </a:p>
          <a:p>
            <a:pPr algn="l"/>
            <a:r>
              <a:rPr lang="en-US" dirty="0"/>
              <a:t>Topic: Sorting Techniques</a:t>
            </a:r>
          </a:p>
          <a:p>
            <a:r>
              <a:rPr lang="en-US" dirty="0"/>
              <a:t>Instructor: </a:t>
            </a:r>
            <a:r>
              <a:rPr lang="en-US" dirty="0" err="1"/>
              <a:t>habiba</a:t>
            </a:r>
            <a:r>
              <a:rPr lang="en-US" dirty="0"/>
              <a:t> </a:t>
            </a:r>
            <a:r>
              <a:rPr lang="en-US" dirty="0" err="1"/>
              <a:t>arshad</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BA81-7B38-1243-75B2-984B1C12FDDC}"/>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EF216738-33DB-F35B-C7B7-A62334C356FE}"/>
              </a:ext>
            </a:extLst>
          </p:cNvPr>
          <p:cNvSpPr>
            <a:spLocks noGrp="1"/>
          </p:cNvSpPr>
          <p:nvPr>
            <p:ph idx="1"/>
          </p:nvPr>
        </p:nvSpPr>
        <p:spPr/>
        <p:txBody>
          <a:bodyPr>
            <a:normAutofit/>
          </a:bodyPr>
          <a:lstStyle/>
          <a:p>
            <a:r>
              <a:rPr lang="en-US" sz="3200" dirty="0"/>
              <a:t>CLO3: Analyze empirically the behavior of algorithms in terms of time and memory used. GA3, C4</a:t>
            </a:r>
          </a:p>
        </p:txBody>
      </p:sp>
    </p:spTree>
    <p:extLst>
      <p:ext uri="{BB962C8B-B14F-4D97-AF65-F5344CB8AC3E}">
        <p14:creationId xmlns:p14="http://schemas.microsoft.com/office/powerpoint/2010/main" val="24375417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2"/>
          <p:cNvSpPr>
            <a:spLocks noGrp="1"/>
          </p:cNvSpPr>
          <p:nvPr>
            <p:ph type="title"/>
          </p:nvPr>
        </p:nvSpPr>
        <p:spPr/>
        <p:txBody>
          <a:bodyPr/>
          <a:lstStyle/>
          <a:p>
            <a:pPr eaLnBrk="1" hangingPunct="1"/>
            <a:r>
              <a:rPr lang="en-US" dirty="0"/>
              <a:t>Sorting- Introduction </a:t>
            </a:r>
          </a:p>
        </p:txBody>
      </p:sp>
      <p:sp>
        <p:nvSpPr>
          <p:cNvPr id="4098" name="Content Placeholder 13"/>
          <p:cNvSpPr>
            <a:spLocks noGrp="1"/>
          </p:cNvSpPr>
          <p:nvPr>
            <p:ph idx="1"/>
          </p:nvPr>
        </p:nvSpPr>
        <p:spPr/>
        <p:txBody>
          <a:bodyPr>
            <a:normAutofit/>
          </a:bodyPr>
          <a:lstStyle/>
          <a:p>
            <a:pPr algn="just" eaLnBrk="1" hangingPunct="1"/>
            <a:r>
              <a:rPr lang="en-US" dirty="0"/>
              <a:t>Sorting is used to arrange names and numbers in meaningful ways.</a:t>
            </a:r>
          </a:p>
          <a:p>
            <a:pPr eaLnBrk="1" hangingPunct="1"/>
            <a:endParaRPr lang="en-US" dirty="0"/>
          </a:p>
          <a:p>
            <a:pPr eaLnBrk="1" hangingPunct="1"/>
            <a:r>
              <a:rPr lang="en-US" dirty="0"/>
              <a:t>Let A be a list of n elements A1, A2, ....... An in memory. </a:t>
            </a:r>
          </a:p>
          <a:p>
            <a:pPr eaLnBrk="1" hangingPunct="1"/>
            <a:endParaRPr lang="en-US" dirty="0"/>
          </a:p>
          <a:p>
            <a:pPr eaLnBrk="1" hangingPunct="1"/>
            <a:r>
              <a:rPr lang="en-US" dirty="0"/>
              <a:t>Sorting of list A refers to the operation of rearranging the contents of A so that they are in increasing (or decreasing) order.</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2"/>
          <p:cNvSpPr>
            <a:spLocks noGrp="1"/>
          </p:cNvSpPr>
          <p:nvPr>
            <p:ph type="title"/>
          </p:nvPr>
        </p:nvSpPr>
        <p:spPr/>
        <p:txBody>
          <a:bodyPr/>
          <a:lstStyle/>
          <a:p>
            <a:pPr eaLnBrk="1" hangingPunct="1"/>
            <a:r>
              <a:rPr lang="en-US" dirty="0"/>
              <a:t>Sorting Techniques</a:t>
            </a:r>
          </a:p>
        </p:txBody>
      </p:sp>
      <p:sp>
        <p:nvSpPr>
          <p:cNvPr id="5122" name="Content Placeholder 1"/>
          <p:cNvSpPr>
            <a:spLocks noGrp="1"/>
          </p:cNvSpPr>
          <p:nvPr>
            <p:ph idx="1"/>
          </p:nvPr>
        </p:nvSpPr>
        <p:spPr>
          <a:xfrm>
            <a:off x="1097280" y="1845733"/>
            <a:ext cx="10058400" cy="4399423"/>
          </a:xfrm>
        </p:spPr>
        <p:txBody>
          <a:bodyPr>
            <a:normAutofit fontScale="77500" lnSpcReduction="20000"/>
          </a:bodyPr>
          <a:lstStyle/>
          <a:p>
            <a:pPr eaLnBrk="1" hangingPunct="1"/>
            <a:r>
              <a:rPr lang="en-US" sz="2400" dirty="0"/>
              <a:t>Sorting can be performed in many ways.</a:t>
            </a:r>
          </a:p>
          <a:p>
            <a:pPr algn="just" eaLnBrk="1" hangingPunct="1"/>
            <a:r>
              <a:rPr lang="en-US" sz="2400" dirty="0"/>
              <a:t>Over a time several methods (or algorithms) are being developed to sort data(s).</a:t>
            </a:r>
          </a:p>
          <a:p>
            <a:pPr eaLnBrk="1" hangingPunct="1"/>
            <a:endParaRPr lang="en-US" sz="2400" dirty="0"/>
          </a:p>
          <a:p>
            <a:pPr eaLnBrk="1" hangingPunct="1"/>
            <a:r>
              <a:rPr lang="en-US" sz="2600" dirty="0"/>
              <a:t> Bubble sort, </a:t>
            </a:r>
          </a:p>
          <a:p>
            <a:pPr eaLnBrk="1" hangingPunct="1"/>
            <a:r>
              <a:rPr lang="en-US" sz="2600" dirty="0"/>
              <a:t>Selection sort, </a:t>
            </a:r>
          </a:p>
          <a:p>
            <a:pPr eaLnBrk="1" hangingPunct="1"/>
            <a:r>
              <a:rPr lang="en-US" sz="2600" dirty="0"/>
              <a:t>Quick sort,</a:t>
            </a:r>
          </a:p>
          <a:p>
            <a:pPr eaLnBrk="1" hangingPunct="1"/>
            <a:r>
              <a:rPr lang="en-US" sz="2600" dirty="0"/>
              <a:t> Merge sort,</a:t>
            </a:r>
          </a:p>
          <a:p>
            <a:pPr eaLnBrk="1" hangingPunct="1"/>
            <a:r>
              <a:rPr lang="en-US" sz="2600" dirty="0"/>
              <a:t> Heap sort</a:t>
            </a:r>
          </a:p>
          <a:p>
            <a:pPr eaLnBrk="1" hangingPunct="1"/>
            <a:r>
              <a:rPr lang="en-US" sz="2600" dirty="0"/>
              <a:t> Binary sort, </a:t>
            </a:r>
          </a:p>
          <a:p>
            <a:pPr eaLnBrk="1" hangingPunct="1"/>
            <a:r>
              <a:rPr lang="en-US" sz="2600" dirty="0"/>
              <a:t>Shell sort</a:t>
            </a:r>
          </a:p>
          <a:p>
            <a:pPr eaLnBrk="1" hangingPunct="1"/>
            <a:r>
              <a:rPr lang="en-US" sz="2600" dirty="0"/>
              <a:t>Radix sort are the few sorting techniques</a:t>
            </a:r>
            <a:endParaRPr lang="en-US" sz="15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Bubble Sort</a:t>
            </a:r>
          </a:p>
        </p:txBody>
      </p:sp>
      <p:sp>
        <p:nvSpPr>
          <p:cNvPr id="6146" name="Content Placeholder 1"/>
          <p:cNvSpPr>
            <a:spLocks noGrp="1"/>
          </p:cNvSpPr>
          <p:nvPr>
            <p:ph idx="1"/>
          </p:nvPr>
        </p:nvSpPr>
        <p:spPr/>
        <p:txBody>
          <a:bodyPr/>
          <a:lstStyle/>
          <a:p>
            <a:pPr marL="0" indent="0">
              <a:buNone/>
            </a:pPr>
            <a:r>
              <a:rPr lang="en-US" dirty="0"/>
              <a:t>If N elements are given in memory then for sorting we do the following steps</a:t>
            </a:r>
          </a:p>
          <a:p>
            <a:pPr marL="342900" indent="-342900">
              <a:buFont typeface="+mj-lt"/>
              <a:buAutoNum type="arabicPeriod"/>
            </a:pPr>
            <a:r>
              <a:rPr lang="en-US" dirty="0"/>
              <a:t>First compare the 1</a:t>
            </a:r>
            <a:r>
              <a:rPr lang="en-US" baseline="30000" dirty="0"/>
              <a:t>st</a:t>
            </a:r>
            <a:r>
              <a:rPr lang="en-US" dirty="0"/>
              <a:t> and 2</a:t>
            </a:r>
            <a:r>
              <a:rPr lang="en-US" baseline="30000" dirty="0"/>
              <a:t>nd</a:t>
            </a:r>
            <a:r>
              <a:rPr lang="en-US" dirty="0"/>
              <a:t> element of array if 1</a:t>
            </a:r>
            <a:r>
              <a:rPr lang="en-US" baseline="30000" dirty="0"/>
              <a:t>st</a:t>
            </a:r>
            <a:r>
              <a:rPr lang="en-US" dirty="0"/>
              <a:t> is greater than 2</a:t>
            </a:r>
            <a:r>
              <a:rPr lang="en-US" baseline="30000" dirty="0"/>
              <a:t>nd</a:t>
            </a:r>
            <a:r>
              <a:rPr lang="en-US" dirty="0"/>
              <a:t> then compare 2</a:t>
            </a:r>
            <a:r>
              <a:rPr lang="en-US" baseline="30000" dirty="0"/>
              <a:t>nd</a:t>
            </a:r>
            <a:r>
              <a:rPr lang="en-US" dirty="0"/>
              <a:t> with 3</a:t>
            </a:r>
            <a:r>
              <a:rPr lang="en-US" baseline="30000" dirty="0"/>
              <a:t>rd</a:t>
            </a:r>
            <a:r>
              <a:rPr lang="en-US" dirty="0"/>
              <a:t>.</a:t>
            </a:r>
          </a:p>
          <a:p>
            <a:pPr marL="342900" indent="-342900">
              <a:buFont typeface="+mj-lt"/>
              <a:buAutoNum type="arabicPeriod"/>
            </a:pPr>
            <a:r>
              <a:rPr lang="en-US" dirty="0"/>
              <a:t>If 2</a:t>
            </a:r>
            <a:r>
              <a:rPr lang="en-US" baseline="30000" dirty="0"/>
              <a:t>nd</a:t>
            </a:r>
            <a:r>
              <a:rPr lang="en-US" dirty="0"/>
              <a:t> &gt;3</a:t>
            </a:r>
            <a:r>
              <a:rPr lang="en-US" baseline="30000" dirty="0"/>
              <a:t>rd</a:t>
            </a:r>
            <a:r>
              <a:rPr lang="en-US" dirty="0"/>
              <a:t> then interchange the value of 2</a:t>
            </a:r>
            <a:r>
              <a:rPr lang="en-US" baseline="30000" dirty="0"/>
              <a:t>nd</a:t>
            </a:r>
            <a:r>
              <a:rPr lang="en-US" dirty="0"/>
              <a:t> and 3</a:t>
            </a:r>
            <a:r>
              <a:rPr lang="en-US" baseline="30000" dirty="0"/>
              <a:t>rd</a:t>
            </a:r>
            <a:endParaRPr lang="en-US" dirty="0"/>
          </a:p>
          <a:p>
            <a:pPr marL="342900" indent="-342900">
              <a:buFont typeface="+mj-lt"/>
              <a:buAutoNum type="arabicPeriod"/>
            </a:pPr>
            <a:r>
              <a:rPr lang="en-US" dirty="0"/>
              <a:t>Now compare the value of 3</a:t>
            </a:r>
            <a:r>
              <a:rPr lang="en-US" baseline="30000" dirty="0"/>
              <a:t>rd</a:t>
            </a:r>
            <a:r>
              <a:rPr lang="en-US" dirty="0"/>
              <a:t>(which has the value of 2</a:t>
            </a:r>
            <a:r>
              <a:rPr lang="en-US" baseline="30000" dirty="0"/>
              <a:t>nd</a:t>
            </a:r>
            <a:r>
              <a:rPr lang="en-US" dirty="0"/>
              <a:t>) with 4</a:t>
            </a:r>
            <a:r>
              <a:rPr lang="en-US" baseline="30000" dirty="0"/>
              <a:t>th</a:t>
            </a:r>
            <a:r>
              <a:rPr lang="en-US" dirty="0"/>
              <a:t>.</a:t>
            </a:r>
          </a:p>
          <a:p>
            <a:pPr marL="342900" indent="-342900">
              <a:buFont typeface="+mj-lt"/>
              <a:buAutoNum type="arabicPeriod"/>
            </a:pPr>
            <a:r>
              <a:rPr lang="en-US" dirty="0"/>
              <a:t>Similarly compare until the N-</a:t>
            </a:r>
            <a:r>
              <a:rPr lang="en-US" dirty="0" err="1"/>
              <a:t>th</a:t>
            </a:r>
            <a:r>
              <a:rPr lang="en-US" dirty="0"/>
              <a:t> element is compared with Nth element.</a:t>
            </a:r>
          </a:p>
          <a:p>
            <a:pPr marL="342900" indent="-342900">
              <a:buFont typeface="+mj-lt"/>
              <a:buAutoNum type="arabicPeriod"/>
            </a:pPr>
            <a:r>
              <a:rPr lang="en-US" dirty="0"/>
              <a:t>Now the highest value element is reached at the Nth place.</a:t>
            </a:r>
          </a:p>
          <a:p>
            <a:pPr marL="342900" indent="-342900">
              <a:buFont typeface="+mj-lt"/>
              <a:buAutoNum type="arabicPeriod"/>
            </a:pPr>
            <a:r>
              <a:rPr lang="en-US" dirty="0"/>
              <a:t>Now the elements will be compared until N-1 elements.</a:t>
            </a:r>
          </a:p>
          <a:p>
            <a:pPr eaLnBrk="1" hangingPunct="1"/>
            <a:endParaRPr lang="en-US" sz="15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Bubble Sort</a:t>
            </a:r>
          </a:p>
        </p:txBody>
      </p:sp>
      <p:pic>
        <p:nvPicPr>
          <p:cNvPr id="2" name="Content Placeholder 1">
            <a:extLst>
              <a:ext uri="{FF2B5EF4-FFF2-40B4-BE49-F238E27FC236}">
                <a16:creationId xmlns:a16="http://schemas.microsoft.com/office/drawing/2014/main" id="{357943CA-F4C1-1E15-FB89-B64661DF5388}"/>
              </a:ext>
            </a:extLst>
          </p:cNvPr>
          <p:cNvPicPr>
            <a:picLocks noGrp="1" noChangeAspect="1"/>
          </p:cNvPicPr>
          <p:nvPr>
            <p:ph idx="1"/>
          </p:nvPr>
        </p:nvPicPr>
        <p:blipFill>
          <a:blip r:embed="rId2"/>
          <a:stretch>
            <a:fillRect/>
          </a:stretch>
        </p:blipFill>
        <p:spPr>
          <a:xfrm>
            <a:off x="1097280" y="1837903"/>
            <a:ext cx="7866117" cy="4309977"/>
          </a:xfrm>
          <a:prstGeom prst="rect">
            <a:avLst/>
          </a:prstGeom>
        </p:spPr>
      </p:pic>
    </p:spTree>
    <p:extLst>
      <p:ext uri="{BB962C8B-B14F-4D97-AF65-F5344CB8AC3E}">
        <p14:creationId xmlns:p14="http://schemas.microsoft.com/office/powerpoint/2010/main" val="1137905342"/>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Bubble Sort</a:t>
            </a:r>
          </a:p>
        </p:txBody>
      </p:sp>
      <p:pic>
        <p:nvPicPr>
          <p:cNvPr id="4" name="Content Placeholder 3">
            <a:extLst>
              <a:ext uri="{FF2B5EF4-FFF2-40B4-BE49-F238E27FC236}">
                <a16:creationId xmlns:a16="http://schemas.microsoft.com/office/drawing/2014/main" id="{7C660C4F-A3CB-478F-89F2-F5C6F7B535A0}"/>
              </a:ext>
            </a:extLst>
          </p:cNvPr>
          <p:cNvPicPr>
            <a:picLocks noGrp="1" noChangeAspect="1"/>
          </p:cNvPicPr>
          <p:nvPr>
            <p:ph idx="1"/>
          </p:nvPr>
        </p:nvPicPr>
        <p:blipFill>
          <a:blip r:embed="rId2"/>
          <a:stretch>
            <a:fillRect/>
          </a:stretch>
        </p:blipFill>
        <p:spPr>
          <a:xfrm>
            <a:off x="1614793" y="1820851"/>
            <a:ext cx="7626484" cy="4559703"/>
          </a:xfrm>
        </p:spPr>
      </p:pic>
    </p:spTree>
    <p:extLst>
      <p:ext uri="{BB962C8B-B14F-4D97-AF65-F5344CB8AC3E}">
        <p14:creationId xmlns:p14="http://schemas.microsoft.com/office/powerpoint/2010/main" val="243302727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a:xfrm>
            <a:off x="1097280" y="286603"/>
            <a:ext cx="10058400" cy="749095"/>
          </a:xfrm>
        </p:spPr>
        <p:txBody>
          <a:bodyPr/>
          <a:lstStyle/>
          <a:p>
            <a:pPr eaLnBrk="1" hangingPunct="1"/>
            <a:r>
              <a:rPr lang="en-US" dirty="0"/>
              <a:t>Bubble Sort</a:t>
            </a:r>
          </a:p>
        </p:txBody>
      </p:sp>
      <p:pic>
        <p:nvPicPr>
          <p:cNvPr id="3" name="Content Placeholder 2">
            <a:extLst>
              <a:ext uri="{FF2B5EF4-FFF2-40B4-BE49-F238E27FC236}">
                <a16:creationId xmlns:a16="http://schemas.microsoft.com/office/drawing/2014/main" id="{A6B0BFB2-D06C-412B-83A6-831F2AB6293D}"/>
              </a:ext>
            </a:extLst>
          </p:cNvPr>
          <p:cNvPicPr>
            <a:picLocks noGrp="1" noChangeAspect="1"/>
          </p:cNvPicPr>
          <p:nvPr>
            <p:ph idx="1"/>
          </p:nvPr>
        </p:nvPicPr>
        <p:blipFill>
          <a:blip r:embed="rId2"/>
          <a:stretch>
            <a:fillRect/>
          </a:stretch>
        </p:blipFill>
        <p:spPr>
          <a:xfrm>
            <a:off x="915023" y="961053"/>
            <a:ext cx="10647514" cy="5896947"/>
          </a:xfrm>
        </p:spPr>
      </p:pic>
    </p:spTree>
    <p:extLst>
      <p:ext uri="{BB962C8B-B14F-4D97-AF65-F5344CB8AC3E}">
        <p14:creationId xmlns:p14="http://schemas.microsoft.com/office/powerpoint/2010/main" val="56053925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a:xfrm>
            <a:off x="1174946" y="649735"/>
            <a:ext cx="6172200" cy="857250"/>
          </a:xfrm>
        </p:spPr>
        <p:txBody>
          <a:bodyPr/>
          <a:lstStyle/>
          <a:p>
            <a:pPr eaLnBrk="1" hangingPunct="1"/>
            <a:r>
              <a:rPr lang="en-US" dirty="0"/>
              <a:t>Bubble Sort</a:t>
            </a:r>
          </a:p>
        </p:txBody>
      </p:sp>
      <p:pic>
        <p:nvPicPr>
          <p:cNvPr id="3" name="Content Placeholder 2">
            <a:extLst>
              <a:ext uri="{FF2B5EF4-FFF2-40B4-BE49-F238E27FC236}">
                <a16:creationId xmlns:a16="http://schemas.microsoft.com/office/drawing/2014/main" id="{818215EE-FD74-4250-ACB4-16678CDF7DED}"/>
              </a:ext>
            </a:extLst>
          </p:cNvPr>
          <p:cNvPicPr>
            <a:picLocks noGrp="1" noChangeAspect="1"/>
          </p:cNvPicPr>
          <p:nvPr>
            <p:ph idx="1"/>
          </p:nvPr>
        </p:nvPicPr>
        <p:blipFill>
          <a:blip r:embed="rId2"/>
          <a:stretch>
            <a:fillRect/>
          </a:stretch>
        </p:blipFill>
        <p:spPr>
          <a:xfrm>
            <a:off x="1174945" y="1506984"/>
            <a:ext cx="8046875" cy="5234283"/>
          </a:xfrm>
        </p:spPr>
      </p:pic>
    </p:spTree>
    <p:extLst>
      <p:ext uri="{BB962C8B-B14F-4D97-AF65-F5344CB8AC3E}">
        <p14:creationId xmlns:p14="http://schemas.microsoft.com/office/powerpoint/2010/main" val="3361838889"/>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Bubble Sort</a:t>
            </a:r>
          </a:p>
        </p:txBody>
      </p:sp>
      <p:pic>
        <p:nvPicPr>
          <p:cNvPr id="3" name="Content Placeholder 2">
            <a:extLst>
              <a:ext uri="{FF2B5EF4-FFF2-40B4-BE49-F238E27FC236}">
                <a16:creationId xmlns:a16="http://schemas.microsoft.com/office/drawing/2014/main" id="{45B3B1A8-D915-4A04-B385-E7DC5B0C6255}"/>
              </a:ext>
            </a:extLst>
          </p:cNvPr>
          <p:cNvPicPr>
            <a:picLocks noGrp="1" noChangeAspect="1"/>
          </p:cNvPicPr>
          <p:nvPr>
            <p:ph idx="1"/>
          </p:nvPr>
        </p:nvPicPr>
        <p:blipFill>
          <a:blip r:embed="rId2"/>
          <a:stretch>
            <a:fillRect/>
          </a:stretch>
        </p:blipFill>
        <p:spPr>
          <a:xfrm>
            <a:off x="1097280" y="1818411"/>
            <a:ext cx="8471089" cy="4961768"/>
          </a:xfrm>
        </p:spPr>
      </p:pic>
    </p:spTree>
    <p:extLst>
      <p:ext uri="{BB962C8B-B14F-4D97-AF65-F5344CB8AC3E}">
        <p14:creationId xmlns:p14="http://schemas.microsoft.com/office/powerpoint/2010/main" val="3574812010"/>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Bubble Sort</a:t>
            </a:r>
          </a:p>
        </p:txBody>
      </p:sp>
      <p:pic>
        <p:nvPicPr>
          <p:cNvPr id="6" name="Content Placeholder 5">
            <a:extLst>
              <a:ext uri="{FF2B5EF4-FFF2-40B4-BE49-F238E27FC236}">
                <a16:creationId xmlns:a16="http://schemas.microsoft.com/office/drawing/2014/main" id="{16981316-ACDC-4E9F-88C5-14BEC09CFF0F}"/>
              </a:ext>
            </a:extLst>
          </p:cNvPr>
          <p:cNvPicPr>
            <a:picLocks noGrp="1" noChangeAspect="1"/>
          </p:cNvPicPr>
          <p:nvPr>
            <p:ph idx="1"/>
          </p:nvPr>
        </p:nvPicPr>
        <p:blipFill>
          <a:blip r:embed="rId2"/>
          <a:stretch>
            <a:fillRect/>
          </a:stretch>
        </p:blipFill>
        <p:spPr>
          <a:xfrm>
            <a:off x="1193524" y="2017810"/>
            <a:ext cx="8888267" cy="3281977"/>
          </a:xfrm>
        </p:spPr>
      </p:pic>
      <p:sp>
        <p:nvSpPr>
          <p:cNvPr id="3" name="TextBox 2">
            <a:extLst>
              <a:ext uri="{FF2B5EF4-FFF2-40B4-BE49-F238E27FC236}">
                <a16:creationId xmlns:a16="http://schemas.microsoft.com/office/drawing/2014/main" id="{5D9D8AB8-3D44-61FA-21C4-0CFF957B08E9}"/>
              </a:ext>
            </a:extLst>
          </p:cNvPr>
          <p:cNvSpPr txBox="1"/>
          <p:nvPr/>
        </p:nvSpPr>
        <p:spPr>
          <a:xfrm>
            <a:off x="1658318" y="5406383"/>
            <a:ext cx="6094378" cy="523220"/>
          </a:xfrm>
          <a:prstGeom prst="rect">
            <a:avLst/>
          </a:prstGeom>
          <a:noFill/>
        </p:spPr>
        <p:txBody>
          <a:bodyPr wrap="square">
            <a:spAutoFit/>
          </a:bodyPr>
          <a:lstStyle/>
          <a:p>
            <a:r>
              <a:rPr lang="en-US" sz="2800" dirty="0">
                <a:solidFill>
                  <a:srgbClr val="FF0000"/>
                </a:solidFill>
              </a:rPr>
              <a:t>Time Complexity: O(N^2)</a:t>
            </a:r>
          </a:p>
        </p:txBody>
      </p:sp>
    </p:spTree>
    <p:extLst>
      <p:ext uri="{BB962C8B-B14F-4D97-AF65-F5344CB8AC3E}">
        <p14:creationId xmlns:p14="http://schemas.microsoft.com/office/powerpoint/2010/main" val="2419199898"/>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Selection Sort</a:t>
            </a:r>
          </a:p>
        </p:txBody>
      </p:sp>
      <p:sp>
        <p:nvSpPr>
          <p:cNvPr id="4" name="Content Placeholder 3">
            <a:extLst>
              <a:ext uri="{FF2B5EF4-FFF2-40B4-BE49-F238E27FC236}">
                <a16:creationId xmlns:a16="http://schemas.microsoft.com/office/drawing/2014/main" id="{88995B4F-79ED-4002-B8A4-E22F77614C49}"/>
              </a:ext>
            </a:extLst>
          </p:cNvPr>
          <p:cNvSpPr>
            <a:spLocks noGrp="1"/>
          </p:cNvSpPr>
          <p:nvPr>
            <p:ph idx="1"/>
          </p:nvPr>
        </p:nvSpPr>
        <p:spPr/>
        <p:txBody>
          <a:bodyPr>
            <a:normAutofit/>
          </a:bodyPr>
          <a:lstStyle/>
          <a:p>
            <a:r>
              <a:rPr lang="en-US" sz="2800" dirty="0"/>
              <a:t>In selection sort, the smallest value among the unsorted elements of the array is selected in every pass and inserted to its appropriate position into the array.</a:t>
            </a:r>
          </a:p>
          <a:p>
            <a:r>
              <a:rPr lang="en-US" sz="2800" dirty="0"/>
              <a:t>It is an in-place comparison sorting algorithm.</a:t>
            </a:r>
          </a:p>
        </p:txBody>
      </p:sp>
    </p:spTree>
    <p:extLst>
      <p:ext uri="{BB962C8B-B14F-4D97-AF65-F5344CB8AC3E}">
        <p14:creationId xmlns:p14="http://schemas.microsoft.com/office/powerpoint/2010/main" val="221907287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3F6C023-7F45-CA15-4608-E961DE8B6F98}"/>
              </a:ext>
            </a:extLst>
          </p:cNvPr>
          <p:cNvPicPr>
            <a:picLocks noGrp="1" noChangeAspect="1"/>
          </p:cNvPicPr>
          <p:nvPr>
            <p:ph idx="4294967295"/>
          </p:nvPr>
        </p:nvPicPr>
        <p:blipFill>
          <a:blip r:embed="rId2"/>
          <a:stretch>
            <a:fillRect/>
          </a:stretch>
        </p:blipFill>
        <p:spPr>
          <a:xfrm>
            <a:off x="1415374" y="130865"/>
            <a:ext cx="9361251" cy="6328571"/>
          </a:xfrm>
          <a:prstGeom prst="rect">
            <a:avLst/>
          </a:prstGeom>
        </p:spPr>
      </p:pic>
    </p:spTree>
    <p:extLst>
      <p:ext uri="{BB962C8B-B14F-4D97-AF65-F5344CB8AC3E}">
        <p14:creationId xmlns:p14="http://schemas.microsoft.com/office/powerpoint/2010/main" val="3267263723"/>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Selection Sort</a:t>
            </a:r>
          </a:p>
        </p:txBody>
      </p:sp>
      <p:sp>
        <p:nvSpPr>
          <p:cNvPr id="4" name="Content Placeholder 3">
            <a:extLst>
              <a:ext uri="{FF2B5EF4-FFF2-40B4-BE49-F238E27FC236}">
                <a16:creationId xmlns:a16="http://schemas.microsoft.com/office/drawing/2014/main" id="{88995B4F-79ED-4002-B8A4-E22F77614C49}"/>
              </a:ext>
            </a:extLst>
          </p:cNvPr>
          <p:cNvSpPr>
            <a:spLocks noGrp="1"/>
          </p:cNvSpPr>
          <p:nvPr>
            <p:ph idx="1"/>
          </p:nvPr>
        </p:nvSpPr>
        <p:spPr/>
        <p:txBody>
          <a:bodyPr>
            <a:normAutofit/>
          </a:bodyPr>
          <a:lstStyle/>
          <a:p>
            <a:pPr marL="0" indent="0">
              <a:buNone/>
            </a:pPr>
            <a:r>
              <a:rPr lang="en-US" sz="2800" dirty="0"/>
              <a:t>Selection sort is generally used when -</a:t>
            </a:r>
          </a:p>
          <a:p>
            <a:endParaRPr lang="en-US" sz="2800" dirty="0"/>
          </a:p>
          <a:p>
            <a:r>
              <a:rPr lang="en-US" sz="2800" dirty="0"/>
              <a:t>A small array is to be sorted</a:t>
            </a:r>
          </a:p>
          <a:p>
            <a:r>
              <a:rPr lang="en-US" sz="2800" dirty="0"/>
              <a:t>Swapping cost doesn't matter</a:t>
            </a:r>
          </a:p>
          <a:p>
            <a:r>
              <a:rPr lang="en-US" sz="2800" dirty="0"/>
              <a:t>It is compulsory to check all elements</a:t>
            </a:r>
          </a:p>
        </p:txBody>
      </p:sp>
    </p:spTree>
    <p:extLst>
      <p:ext uri="{BB962C8B-B14F-4D97-AF65-F5344CB8AC3E}">
        <p14:creationId xmlns:p14="http://schemas.microsoft.com/office/powerpoint/2010/main" val="621449624"/>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a:xfrm>
            <a:off x="1128689" y="238247"/>
            <a:ext cx="6172200" cy="857250"/>
          </a:xfrm>
        </p:spPr>
        <p:txBody>
          <a:bodyPr>
            <a:normAutofit fontScale="90000"/>
          </a:bodyPr>
          <a:lstStyle/>
          <a:p>
            <a:pPr eaLnBrk="1" hangingPunct="1"/>
            <a:r>
              <a:rPr lang="en-US" dirty="0"/>
              <a:t>Working of Selection Sort</a:t>
            </a:r>
          </a:p>
        </p:txBody>
      </p:sp>
      <p:pic>
        <p:nvPicPr>
          <p:cNvPr id="3" name="Content Placeholder 2">
            <a:extLst>
              <a:ext uri="{FF2B5EF4-FFF2-40B4-BE49-F238E27FC236}">
                <a16:creationId xmlns:a16="http://schemas.microsoft.com/office/drawing/2014/main" id="{E744A31A-C734-4171-85D2-7E74CFB282E7}"/>
              </a:ext>
            </a:extLst>
          </p:cNvPr>
          <p:cNvPicPr>
            <a:picLocks noGrp="1" noChangeAspect="1"/>
          </p:cNvPicPr>
          <p:nvPr>
            <p:ph idx="1"/>
          </p:nvPr>
        </p:nvPicPr>
        <p:blipFill>
          <a:blip r:embed="rId2"/>
          <a:stretch>
            <a:fillRect/>
          </a:stretch>
        </p:blipFill>
        <p:spPr>
          <a:xfrm>
            <a:off x="1037047" y="903776"/>
            <a:ext cx="9575830" cy="5827764"/>
          </a:xfrm>
        </p:spPr>
      </p:pic>
    </p:spTree>
    <p:extLst>
      <p:ext uri="{BB962C8B-B14F-4D97-AF65-F5344CB8AC3E}">
        <p14:creationId xmlns:p14="http://schemas.microsoft.com/office/powerpoint/2010/main" val="4174773718"/>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p:txBody>
          <a:bodyPr/>
          <a:lstStyle/>
          <a:p>
            <a:pPr eaLnBrk="1" hangingPunct="1"/>
            <a:r>
              <a:rPr lang="en-US" dirty="0"/>
              <a:t>Working of Selection Sort</a:t>
            </a:r>
          </a:p>
        </p:txBody>
      </p:sp>
      <p:pic>
        <p:nvPicPr>
          <p:cNvPr id="3" name="Content Placeholder 2">
            <a:extLst>
              <a:ext uri="{FF2B5EF4-FFF2-40B4-BE49-F238E27FC236}">
                <a16:creationId xmlns:a16="http://schemas.microsoft.com/office/drawing/2014/main" id="{532F232B-580D-42FA-87E9-F50B0BF56855}"/>
              </a:ext>
            </a:extLst>
          </p:cNvPr>
          <p:cNvPicPr>
            <a:picLocks noGrp="1" noChangeAspect="1"/>
          </p:cNvPicPr>
          <p:nvPr>
            <p:ph idx="1"/>
          </p:nvPr>
        </p:nvPicPr>
        <p:blipFill>
          <a:blip r:embed="rId2"/>
          <a:stretch>
            <a:fillRect/>
          </a:stretch>
        </p:blipFill>
        <p:spPr>
          <a:xfrm>
            <a:off x="826851" y="1955259"/>
            <a:ext cx="9126166" cy="4259707"/>
          </a:xfrm>
        </p:spPr>
      </p:pic>
    </p:spTree>
    <p:extLst>
      <p:ext uri="{BB962C8B-B14F-4D97-AF65-F5344CB8AC3E}">
        <p14:creationId xmlns:p14="http://schemas.microsoft.com/office/powerpoint/2010/main" val="2548279952"/>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p:cNvSpPr>
          <p:nvPr>
            <p:ph type="title"/>
          </p:nvPr>
        </p:nvSpPr>
        <p:spPr>
          <a:xfrm>
            <a:off x="1044222" y="767560"/>
            <a:ext cx="3184071" cy="857250"/>
          </a:xfrm>
        </p:spPr>
        <p:txBody>
          <a:bodyPr>
            <a:normAutofit fontScale="90000"/>
          </a:bodyPr>
          <a:lstStyle/>
          <a:p>
            <a:pPr eaLnBrk="1" hangingPunct="1"/>
            <a:r>
              <a:rPr lang="en-US" dirty="0"/>
              <a:t>Working of Selection Sort</a:t>
            </a:r>
          </a:p>
        </p:txBody>
      </p:sp>
      <p:pic>
        <p:nvPicPr>
          <p:cNvPr id="3" name="Content Placeholder 2">
            <a:extLst>
              <a:ext uri="{FF2B5EF4-FFF2-40B4-BE49-F238E27FC236}">
                <a16:creationId xmlns:a16="http://schemas.microsoft.com/office/drawing/2014/main" id="{8E3C754F-844D-435F-8895-C3281F1F6E2E}"/>
              </a:ext>
            </a:extLst>
          </p:cNvPr>
          <p:cNvPicPr>
            <a:picLocks noGrp="1" noChangeAspect="1"/>
          </p:cNvPicPr>
          <p:nvPr>
            <p:ph idx="1"/>
          </p:nvPr>
        </p:nvPicPr>
        <p:blipFill>
          <a:blip r:embed="rId2"/>
          <a:stretch>
            <a:fillRect/>
          </a:stretch>
        </p:blipFill>
        <p:spPr>
          <a:xfrm>
            <a:off x="5778229" y="46643"/>
            <a:ext cx="3852153" cy="6811357"/>
          </a:xfrm>
        </p:spPr>
      </p:pic>
    </p:spTree>
    <p:extLst>
      <p:ext uri="{BB962C8B-B14F-4D97-AF65-F5344CB8AC3E}">
        <p14:creationId xmlns:p14="http://schemas.microsoft.com/office/powerpoint/2010/main" val="204556569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Title 2"/>
          <p:cNvSpPr>
            <a:spLocks noGrp="1"/>
          </p:cNvSpPr>
          <p:nvPr>
            <p:ph type="title"/>
          </p:nvPr>
        </p:nvSpPr>
        <p:spPr>
          <a:xfrm>
            <a:off x="1097280" y="286603"/>
            <a:ext cx="10058400" cy="1450757"/>
          </a:xfrm>
        </p:spPr>
        <p:txBody>
          <a:bodyPr>
            <a:normAutofit/>
          </a:bodyPr>
          <a:lstStyle/>
          <a:p>
            <a:pPr eaLnBrk="1" hangingPunct="1"/>
            <a:r>
              <a:rPr lang="en-US"/>
              <a:t>Insertion Sort</a:t>
            </a:r>
          </a:p>
        </p:txBody>
      </p:sp>
      <p:sp>
        <p:nvSpPr>
          <p:cNvPr id="6146" name="Content Placeholder 1"/>
          <p:cNvSpPr>
            <a:spLocks noGrp="1"/>
          </p:cNvSpPr>
          <p:nvPr>
            <p:ph idx="1"/>
          </p:nvPr>
        </p:nvSpPr>
        <p:spPr>
          <a:xfrm>
            <a:off x="643812" y="1845734"/>
            <a:ext cx="7259217" cy="4592388"/>
          </a:xfrm>
        </p:spPr>
        <p:txBody>
          <a:bodyPr>
            <a:normAutofit/>
          </a:bodyPr>
          <a:lstStyle/>
          <a:p>
            <a:pPr eaLnBrk="1" hangingPunct="1"/>
            <a:r>
              <a:rPr lang="en-US" sz="1800" dirty="0"/>
              <a:t>Insertion sort algorithm sorts a set of values by inserting values into proper place.</a:t>
            </a:r>
          </a:p>
          <a:p>
            <a:pPr eaLnBrk="1" hangingPunct="1"/>
            <a:r>
              <a:rPr lang="en-US" sz="1800" dirty="0"/>
              <a:t>Works in the same way you organize cards.</a:t>
            </a:r>
          </a:p>
          <a:p>
            <a:pPr eaLnBrk="1" hangingPunct="1"/>
            <a:r>
              <a:rPr lang="en-US" sz="1800" dirty="0"/>
              <a:t>You pick an unsorted card one at a time and insert it into its correct position in your hand.</a:t>
            </a:r>
          </a:p>
          <a:p>
            <a:pPr eaLnBrk="1" hangingPunct="1"/>
            <a:r>
              <a:rPr lang="en-US" sz="1800" dirty="0"/>
              <a:t>It is assumed that the first card is already sorted in the card game, and then we select an unsorted card. </a:t>
            </a:r>
          </a:p>
          <a:p>
            <a:pPr eaLnBrk="1" hangingPunct="1"/>
            <a:r>
              <a:rPr lang="en-US" sz="1800" dirty="0"/>
              <a:t>If the selected unsorted card is greater than the first card, it will be placed at the right side; otherwise, it will be placed at the left side.</a:t>
            </a:r>
          </a:p>
          <a:p>
            <a:pPr eaLnBrk="1" hangingPunct="1"/>
            <a:r>
              <a:rPr lang="en-US" sz="1800" dirty="0"/>
              <a:t>Similarly, all unsorted cards are taken and put in their exact place.</a:t>
            </a:r>
          </a:p>
          <a:p>
            <a:pPr eaLnBrk="1" hangingPunct="1"/>
            <a:endParaRPr lang="en-US" sz="1800" dirty="0"/>
          </a:p>
          <a:p>
            <a:pPr eaLnBrk="1" hangingPunct="1"/>
            <a:r>
              <a:rPr lang="en-US" sz="1800" dirty="0"/>
              <a:t>The same approach is applied in insertion sort. </a:t>
            </a:r>
          </a:p>
        </p:txBody>
      </p:sp>
      <p:pic>
        <p:nvPicPr>
          <p:cNvPr id="2" name="Picture 1">
            <a:extLst>
              <a:ext uri="{FF2B5EF4-FFF2-40B4-BE49-F238E27FC236}">
                <a16:creationId xmlns:a16="http://schemas.microsoft.com/office/drawing/2014/main" id="{187F6125-17E2-F1F0-5B1B-D81FBFD0C829}"/>
              </a:ext>
            </a:extLst>
          </p:cNvPr>
          <p:cNvPicPr>
            <a:picLocks noChangeAspect="1"/>
          </p:cNvPicPr>
          <p:nvPr/>
        </p:nvPicPr>
        <p:blipFill rotWithShape="1">
          <a:blip r:embed="rId2"/>
          <a:srcRect l="6808" r="11000" b="3"/>
          <a:stretch/>
        </p:blipFill>
        <p:spPr>
          <a:xfrm>
            <a:off x="8020570" y="1916318"/>
            <a:ext cx="3135109" cy="3471012"/>
          </a:xfrm>
          <a:prstGeom prst="rect">
            <a:avLst/>
          </a:prstGeom>
        </p:spPr>
      </p:pic>
    </p:spTree>
    <p:extLst>
      <p:ext uri="{BB962C8B-B14F-4D97-AF65-F5344CB8AC3E}">
        <p14:creationId xmlns:p14="http://schemas.microsoft.com/office/powerpoint/2010/main" val="1464176603"/>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2"/>
          <p:cNvSpPr>
            <a:spLocks noGrp="1"/>
          </p:cNvSpPr>
          <p:nvPr>
            <p:ph type="title"/>
          </p:nvPr>
        </p:nvSpPr>
        <p:spPr>
          <a:xfrm>
            <a:off x="1142190" y="595149"/>
            <a:ext cx="6172200" cy="857250"/>
          </a:xfrm>
        </p:spPr>
        <p:txBody>
          <a:bodyPr/>
          <a:lstStyle/>
          <a:p>
            <a:pPr eaLnBrk="1" hangingPunct="1"/>
            <a:r>
              <a:rPr lang="en-US" dirty="0"/>
              <a:t>Working of insertion sort</a:t>
            </a:r>
          </a:p>
        </p:txBody>
      </p:sp>
      <p:sp>
        <p:nvSpPr>
          <p:cNvPr id="7170" name="Content Placeholder 1"/>
          <p:cNvSpPr>
            <a:spLocks noGrp="1"/>
          </p:cNvSpPr>
          <p:nvPr>
            <p:ph idx="1"/>
          </p:nvPr>
        </p:nvSpPr>
        <p:spPr>
          <a:xfrm>
            <a:off x="836579" y="2010969"/>
            <a:ext cx="10223770" cy="4251881"/>
          </a:xfrm>
        </p:spPr>
        <p:txBody>
          <a:bodyPr>
            <a:normAutofit/>
          </a:bodyPr>
          <a:lstStyle/>
          <a:p>
            <a:pPr eaLnBrk="1" hangingPunct="1"/>
            <a:r>
              <a:rPr lang="en-US" sz="2400" dirty="0"/>
              <a:t>Insertion sort splits an array into two sub-arrays.</a:t>
            </a:r>
          </a:p>
          <a:p>
            <a:pPr eaLnBrk="1" hangingPunct="1"/>
            <a:r>
              <a:rPr lang="en-US" sz="2400" dirty="0"/>
              <a:t>The first sub-array is always sorted and gets larger as the sort continues.</a:t>
            </a:r>
          </a:p>
          <a:p>
            <a:pPr eaLnBrk="1" hangingPunct="1"/>
            <a:r>
              <a:rPr lang="en-US" sz="2400" dirty="0"/>
              <a:t>The second sub-array gets smaller as the sort progresses.</a:t>
            </a:r>
          </a:p>
          <a:p>
            <a:pPr eaLnBrk="1" hangingPunct="1"/>
            <a:r>
              <a:rPr lang="en-US" sz="2400" dirty="0"/>
              <a:t>When the sort first begins the first elements in the array is considered to sorted array.</a:t>
            </a:r>
          </a:p>
          <a:p>
            <a:pPr eaLnBrk="1" hangingPunct="1"/>
            <a:r>
              <a:rPr lang="en-US" sz="2400" dirty="0"/>
              <a:t>With each iteration of the loop, the next value in the unsorted section is placed into its proper position in the sorted section.</a:t>
            </a:r>
          </a:p>
          <a:p>
            <a:pPr eaLnBrk="1" hangingPunct="1"/>
            <a:r>
              <a:rPr lang="en-US" sz="2400" dirty="0"/>
              <a:t>This sorting procedure is efficient for smaller values</a:t>
            </a:r>
          </a:p>
          <a:p>
            <a:pPr eaLnBrk="1" hangingPunct="1"/>
            <a:endParaRPr lang="en-US" sz="15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4">
            <a:extLst>
              <a:ext uri="{FF2B5EF4-FFF2-40B4-BE49-F238E27FC236}">
                <a16:creationId xmlns:a16="http://schemas.microsoft.com/office/drawing/2014/main" id="{055F4F1C-68FC-DF03-230D-D8E145BB5CDA}"/>
              </a:ext>
            </a:extLst>
          </p:cNvPr>
          <p:cNvSpPr>
            <a:spLocks noGrp="1" noChangeArrowheads="1"/>
          </p:cNvSpPr>
          <p:nvPr>
            <p:ph type="sldNum" sz="quarter" idx="12"/>
          </p:nvPr>
        </p:nvSpPr>
        <p:spPr bwMode="auto">
          <a:xfrm>
            <a:off x="5903913" y="6408738"/>
            <a:ext cx="2351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6A1E97C-A89A-4D18-B4BB-EE8995D87664}" type="slidenum">
              <a:rPr lang="en-US" altLang="en-US" sz="1000">
                <a:latin typeface="Times New Roman" panose="02020603050405020304" pitchFamily="18" charset="0"/>
              </a:rPr>
              <a:pPr>
                <a:spcBef>
                  <a:spcPct val="0"/>
                </a:spcBef>
                <a:buClrTx/>
                <a:buSzTx/>
                <a:buFontTx/>
                <a:buNone/>
              </a:pPr>
              <a:t>20</a:t>
            </a:fld>
            <a:endParaRPr lang="en-US" altLang="en-US" sz="1000">
              <a:latin typeface="Times New Roman" panose="02020603050405020304" pitchFamily="18" charset="0"/>
            </a:endParaRPr>
          </a:p>
        </p:txBody>
      </p:sp>
      <p:sp>
        <p:nvSpPr>
          <p:cNvPr id="24579" name="Rectangle 2">
            <a:extLst>
              <a:ext uri="{FF2B5EF4-FFF2-40B4-BE49-F238E27FC236}">
                <a16:creationId xmlns:a16="http://schemas.microsoft.com/office/drawing/2014/main" id="{DCE8D315-0E4F-F1D5-D7C2-AF33237ADC23}"/>
              </a:ext>
            </a:extLst>
          </p:cNvPr>
          <p:cNvSpPr>
            <a:spLocks noGrp="1" noChangeArrowheads="1"/>
          </p:cNvSpPr>
          <p:nvPr>
            <p:ph type="title"/>
          </p:nvPr>
        </p:nvSpPr>
        <p:spPr/>
        <p:txBody>
          <a:bodyPr/>
          <a:lstStyle/>
          <a:p>
            <a:pPr eaLnBrk="1" hangingPunct="1">
              <a:defRPr/>
            </a:pPr>
            <a:r>
              <a:rPr lang="en-US"/>
              <a:t>Insertion Sort</a:t>
            </a:r>
          </a:p>
        </p:txBody>
      </p:sp>
      <p:pic>
        <p:nvPicPr>
          <p:cNvPr id="63492" name="Picture 3">
            <a:extLst>
              <a:ext uri="{FF2B5EF4-FFF2-40B4-BE49-F238E27FC236}">
                <a16:creationId xmlns:a16="http://schemas.microsoft.com/office/drawing/2014/main" id="{5DEB8E08-9C22-8955-EF88-EE3A7B4B7EF8}"/>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l="1018" t="18683" r="5267" b="65454"/>
          <a:stretch>
            <a:fillRect/>
          </a:stretch>
        </p:blipFill>
        <p:spPr>
          <a:xfrm>
            <a:off x="3516313" y="3756025"/>
            <a:ext cx="5068887" cy="855663"/>
          </a:xfrm>
          <a:noFill/>
        </p:spPr>
      </p:pic>
      <p:sp>
        <p:nvSpPr>
          <p:cNvPr id="63493" name="Line 11">
            <a:extLst>
              <a:ext uri="{FF2B5EF4-FFF2-40B4-BE49-F238E27FC236}">
                <a16:creationId xmlns:a16="http://schemas.microsoft.com/office/drawing/2014/main" id="{B5D4AD70-3BA9-EB16-3956-AD47CA2180FC}"/>
              </a:ext>
            </a:extLst>
          </p:cNvPr>
          <p:cNvSpPr>
            <a:spLocks noChangeShapeType="1"/>
          </p:cNvSpPr>
          <p:nvPr/>
        </p:nvSpPr>
        <p:spPr bwMode="auto">
          <a:xfrm>
            <a:off x="5168900" y="3611563"/>
            <a:ext cx="0" cy="831850"/>
          </a:xfrm>
          <a:prstGeom prst="line">
            <a:avLst/>
          </a:prstGeom>
          <a:noFill/>
          <a:ln w="57150">
            <a:solidFill>
              <a:srgbClr val="DD011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4" name="Text Box 14">
            <a:extLst>
              <a:ext uri="{FF2B5EF4-FFF2-40B4-BE49-F238E27FC236}">
                <a16:creationId xmlns:a16="http://schemas.microsoft.com/office/drawing/2014/main" id="{3FE74D76-AB85-229C-8E44-57AADE460828}"/>
              </a:ext>
            </a:extLst>
          </p:cNvPr>
          <p:cNvSpPr txBox="1">
            <a:spLocks noChangeArrowheads="1"/>
          </p:cNvSpPr>
          <p:nvPr/>
        </p:nvSpPr>
        <p:spPr bwMode="auto">
          <a:xfrm>
            <a:off x="3835400" y="1960563"/>
            <a:ext cx="4335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latin typeface="Times New Roman" panose="02020603050405020304" pitchFamily="18" charset="0"/>
              </a:rPr>
              <a:t>5      2      4      6      1      3</a:t>
            </a:r>
          </a:p>
        </p:txBody>
      </p:sp>
      <p:sp>
        <p:nvSpPr>
          <p:cNvPr id="63495" name="Text Box 15">
            <a:extLst>
              <a:ext uri="{FF2B5EF4-FFF2-40B4-BE49-F238E27FC236}">
                <a16:creationId xmlns:a16="http://schemas.microsoft.com/office/drawing/2014/main" id="{34524CA5-FA3D-5F44-F834-1986DC11B41B}"/>
              </a:ext>
            </a:extLst>
          </p:cNvPr>
          <p:cNvSpPr txBox="1">
            <a:spLocks noChangeArrowheads="1"/>
          </p:cNvSpPr>
          <p:nvPr/>
        </p:nvSpPr>
        <p:spPr bwMode="auto">
          <a:xfrm>
            <a:off x="5391150" y="1495425"/>
            <a:ext cx="1601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input array </a:t>
            </a:r>
          </a:p>
        </p:txBody>
      </p:sp>
      <p:sp>
        <p:nvSpPr>
          <p:cNvPr id="63496" name="Text Box 16">
            <a:extLst>
              <a:ext uri="{FF2B5EF4-FFF2-40B4-BE49-F238E27FC236}">
                <a16:creationId xmlns:a16="http://schemas.microsoft.com/office/drawing/2014/main" id="{F91491D7-5FD0-2079-1C1F-3E31B618534D}"/>
              </a:ext>
            </a:extLst>
          </p:cNvPr>
          <p:cNvSpPr txBox="1">
            <a:spLocks noChangeArrowheads="1"/>
          </p:cNvSpPr>
          <p:nvPr/>
        </p:nvSpPr>
        <p:spPr bwMode="auto">
          <a:xfrm>
            <a:off x="3333750" y="3306763"/>
            <a:ext cx="1831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left sub-array</a:t>
            </a:r>
          </a:p>
        </p:txBody>
      </p:sp>
      <p:sp>
        <p:nvSpPr>
          <p:cNvPr id="63497" name="Text Box 17">
            <a:extLst>
              <a:ext uri="{FF2B5EF4-FFF2-40B4-BE49-F238E27FC236}">
                <a16:creationId xmlns:a16="http://schemas.microsoft.com/office/drawing/2014/main" id="{38235E73-667B-C028-4A5A-1EDABA6251D8}"/>
              </a:ext>
            </a:extLst>
          </p:cNvPr>
          <p:cNvSpPr txBox="1">
            <a:spLocks noChangeArrowheads="1"/>
          </p:cNvSpPr>
          <p:nvPr/>
        </p:nvSpPr>
        <p:spPr bwMode="auto">
          <a:xfrm>
            <a:off x="6229350" y="3322638"/>
            <a:ext cx="2003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right sub-array</a:t>
            </a:r>
          </a:p>
        </p:txBody>
      </p:sp>
      <p:sp>
        <p:nvSpPr>
          <p:cNvPr id="63498" name="Text Box 18">
            <a:extLst>
              <a:ext uri="{FF2B5EF4-FFF2-40B4-BE49-F238E27FC236}">
                <a16:creationId xmlns:a16="http://schemas.microsoft.com/office/drawing/2014/main" id="{B672CDF2-2BBC-2B28-1A97-4DD72347EDEC}"/>
              </a:ext>
            </a:extLst>
          </p:cNvPr>
          <p:cNvSpPr txBox="1">
            <a:spLocks noChangeArrowheads="1"/>
          </p:cNvSpPr>
          <p:nvPr/>
        </p:nvSpPr>
        <p:spPr bwMode="auto">
          <a:xfrm>
            <a:off x="3241675" y="2832100"/>
            <a:ext cx="696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DD0111"/>
                </a:solidFill>
                <a:latin typeface="Times New Roman" panose="02020603050405020304" pitchFamily="18" charset="0"/>
              </a:rPr>
              <a:t>at each iteration, the array is divided in two sub-arrays:</a:t>
            </a:r>
          </a:p>
        </p:txBody>
      </p:sp>
      <p:sp>
        <p:nvSpPr>
          <p:cNvPr id="63499" name="Text Box 19">
            <a:extLst>
              <a:ext uri="{FF2B5EF4-FFF2-40B4-BE49-F238E27FC236}">
                <a16:creationId xmlns:a16="http://schemas.microsoft.com/office/drawing/2014/main" id="{D60785C7-406C-28FE-BAEA-C524173FE1C1}"/>
              </a:ext>
            </a:extLst>
          </p:cNvPr>
          <p:cNvSpPr txBox="1">
            <a:spLocks noChangeArrowheads="1"/>
          </p:cNvSpPr>
          <p:nvPr/>
        </p:nvSpPr>
        <p:spPr bwMode="auto">
          <a:xfrm>
            <a:off x="4110038" y="4587875"/>
            <a:ext cx="936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sorted</a:t>
            </a:r>
          </a:p>
        </p:txBody>
      </p:sp>
      <p:sp>
        <p:nvSpPr>
          <p:cNvPr id="63500" name="Text Box 20">
            <a:extLst>
              <a:ext uri="{FF2B5EF4-FFF2-40B4-BE49-F238E27FC236}">
                <a16:creationId xmlns:a16="http://schemas.microsoft.com/office/drawing/2014/main" id="{5B4614B1-50A6-44DC-A023-F3C7A159BDB7}"/>
              </a:ext>
            </a:extLst>
          </p:cNvPr>
          <p:cNvSpPr txBox="1">
            <a:spLocks noChangeArrowheads="1"/>
          </p:cNvSpPr>
          <p:nvPr/>
        </p:nvSpPr>
        <p:spPr bwMode="auto">
          <a:xfrm>
            <a:off x="6365875" y="4491038"/>
            <a:ext cx="1244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unsorted</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4">
            <a:extLst>
              <a:ext uri="{FF2B5EF4-FFF2-40B4-BE49-F238E27FC236}">
                <a16:creationId xmlns:a16="http://schemas.microsoft.com/office/drawing/2014/main" id="{729E3C88-9F2F-C30E-4C0E-0FE12B74C995}"/>
              </a:ext>
            </a:extLst>
          </p:cNvPr>
          <p:cNvSpPr>
            <a:spLocks noGrp="1" noChangeArrowheads="1"/>
          </p:cNvSpPr>
          <p:nvPr>
            <p:ph type="sldNum" sz="quarter" idx="12"/>
          </p:nvPr>
        </p:nvSpPr>
        <p:spPr bwMode="auto">
          <a:xfrm>
            <a:off x="5903913" y="6408738"/>
            <a:ext cx="2351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2F1978C-D211-4E87-92D6-F1F2771021CE}" type="slidenum">
              <a:rPr lang="en-US" altLang="en-US" sz="1000">
                <a:latin typeface="Times New Roman" panose="02020603050405020304" pitchFamily="18" charset="0"/>
              </a:rPr>
              <a:pPr>
                <a:spcBef>
                  <a:spcPct val="0"/>
                </a:spcBef>
                <a:buClrTx/>
                <a:buSzTx/>
                <a:buFontTx/>
                <a:buNone/>
              </a:pPr>
              <a:t>21</a:t>
            </a:fld>
            <a:endParaRPr lang="en-US" altLang="en-US" sz="1000">
              <a:latin typeface="Times New Roman" panose="02020603050405020304" pitchFamily="18" charset="0"/>
            </a:endParaRPr>
          </a:p>
        </p:txBody>
      </p:sp>
      <p:sp>
        <p:nvSpPr>
          <p:cNvPr id="1032" name="Rectangle 2">
            <a:extLst>
              <a:ext uri="{FF2B5EF4-FFF2-40B4-BE49-F238E27FC236}">
                <a16:creationId xmlns:a16="http://schemas.microsoft.com/office/drawing/2014/main" id="{C12A1DF1-7D40-ECAE-5A6B-91CD7FC79B50}"/>
              </a:ext>
            </a:extLst>
          </p:cNvPr>
          <p:cNvSpPr>
            <a:spLocks noGrp="1" noChangeArrowheads="1"/>
          </p:cNvSpPr>
          <p:nvPr>
            <p:ph type="title"/>
          </p:nvPr>
        </p:nvSpPr>
        <p:spPr/>
        <p:txBody>
          <a:bodyPr/>
          <a:lstStyle/>
          <a:p>
            <a:pPr eaLnBrk="1" hangingPunct="1">
              <a:defRPr/>
            </a:pPr>
            <a:r>
              <a:rPr lang="en-US"/>
              <a:t>Insertion Sort</a:t>
            </a:r>
          </a:p>
        </p:txBody>
      </p:sp>
      <p:pic>
        <p:nvPicPr>
          <p:cNvPr id="65540" name="Picture 4">
            <a:extLst>
              <a:ext uri="{FF2B5EF4-FFF2-40B4-BE49-F238E27FC236}">
                <a16:creationId xmlns:a16="http://schemas.microsoft.com/office/drawing/2014/main" id="{285158BD-4637-44BD-4C37-C15769412636}"/>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l="1018" t="4437" r="5267" b="9506"/>
          <a:stretch>
            <a:fillRect/>
          </a:stretch>
        </p:blipFill>
        <p:spPr>
          <a:xfrm>
            <a:off x="2025650" y="1552575"/>
            <a:ext cx="5068888" cy="4641850"/>
          </a:xfrm>
          <a:noFill/>
        </p:spPr>
      </p:pic>
      <p:graphicFrame>
        <p:nvGraphicFramePr>
          <p:cNvPr id="279557" name="Object 5">
            <a:extLst>
              <a:ext uri="{FF2B5EF4-FFF2-40B4-BE49-F238E27FC236}">
                <a16:creationId xmlns:a16="http://schemas.microsoft.com/office/drawing/2014/main" id="{D65BC38A-079A-D0CF-C12B-13B99CE8C96F}"/>
              </a:ext>
            </a:extLst>
          </p:cNvPr>
          <p:cNvGraphicFramePr>
            <a:graphicFrameLocks noChangeAspect="1"/>
          </p:cNvGraphicFramePr>
          <p:nvPr/>
        </p:nvGraphicFramePr>
        <p:xfrm>
          <a:off x="7207250" y="1290638"/>
          <a:ext cx="1989138" cy="865187"/>
        </p:xfrm>
        <a:graphic>
          <a:graphicData uri="http://schemas.openxmlformats.org/presentationml/2006/ole">
            <mc:AlternateContent xmlns:mc="http://schemas.openxmlformats.org/markup-compatibility/2006">
              <mc:Choice xmlns:v="urn:schemas-microsoft-com:vml" Requires="v">
                <p:oleObj name="Paint Shop Pro Image" r:id="rId4" imgW="2526829" imgH="1395500" progId="PaintShopPro">
                  <p:embed/>
                </p:oleObj>
              </mc:Choice>
              <mc:Fallback>
                <p:oleObj name="Paint Shop Pro Image" r:id="rId4" imgW="2526829" imgH="1395500" progId="PaintShopPro">
                  <p:embed/>
                  <p:pic>
                    <p:nvPicPr>
                      <p:cNvPr id="279557" name="Object 5">
                        <a:extLst>
                          <a:ext uri="{FF2B5EF4-FFF2-40B4-BE49-F238E27FC236}">
                            <a16:creationId xmlns:a16="http://schemas.microsoft.com/office/drawing/2014/main" id="{D65BC38A-079A-D0CF-C12B-13B99CE8C9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7250" y="1290638"/>
                        <a:ext cx="1989138"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9558" name="Object 6">
            <a:extLst>
              <a:ext uri="{FF2B5EF4-FFF2-40B4-BE49-F238E27FC236}">
                <a16:creationId xmlns:a16="http://schemas.microsoft.com/office/drawing/2014/main" id="{0D6E659B-8CFC-62CC-465F-52E3E7ABAF9E}"/>
              </a:ext>
            </a:extLst>
          </p:cNvPr>
          <p:cNvGraphicFramePr>
            <a:graphicFrameLocks noChangeAspect="1"/>
          </p:cNvGraphicFramePr>
          <p:nvPr/>
        </p:nvGraphicFramePr>
        <p:xfrm>
          <a:off x="7161213" y="2127250"/>
          <a:ext cx="2108200" cy="912813"/>
        </p:xfrm>
        <a:graphic>
          <a:graphicData uri="http://schemas.openxmlformats.org/presentationml/2006/ole">
            <mc:AlternateContent xmlns:mc="http://schemas.openxmlformats.org/markup-compatibility/2006">
              <mc:Choice xmlns:v="urn:schemas-microsoft-com:vml" Requires="v">
                <p:oleObj name="Paint Shop Pro Image" r:id="rId6" imgW="2575610" imgH="1385741" progId="PaintShopPro">
                  <p:embed/>
                </p:oleObj>
              </mc:Choice>
              <mc:Fallback>
                <p:oleObj name="Paint Shop Pro Image" r:id="rId6" imgW="2575610" imgH="1385741" progId="PaintShopPro">
                  <p:embed/>
                  <p:pic>
                    <p:nvPicPr>
                      <p:cNvPr id="279558" name="Object 6">
                        <a:extLst>
                          <a:ext uri="{FF2B5EF4-FFF2-40B4-BE49-F238E27FC236}">
                            <a16:creationId xmlns:a16="http://schemas.microsoft.com/office/drawing/2014/main" id="{0D6E659B-8CFC-62CC-465F-52E3E7ABAF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61213" y="2127250"/>
                        <a:ext cx="2108200"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9559" name="Object 7">
            <a:extLst>
              <a:ext uri="{FF2B5EF4-FFF2-40B4-BE49-F238E27FC236}">
                <a16:creationId xmlns:a16="http://schemas.microsoft.com/office/drawing/2014/main" id="{527E596D-FFEE-71B6-679F-1274A95E1B48}"/>
              </a:ext>
            </a:extLst>
          </p:cNvPr>
          <p:cNvGraphicFramePr>
            <a:graphicFrameLocks noChangeAspect="1"/>
          </p:cNvGraphicFramePr>
          <p:nvPr/>
        </p:nvGraphicFramePr>
        <p:xfrm>
          <a:off x="7081838" y="3032125"/>
          <a:ext cx="2138362" cy="974725"/>
        </p:xfrm>
        <a:graphic>
          <a:graphicData uri="http://schemas.openxmlformats.org/presentationml/2006/ole">
            <mc:AlternateContent xmlns:mc="http://schemas.openxmlformats.org/markup-compatibility/2006">
              <mc:Choice xmlns:v="urn:schemas-microsoft-com:vml" Requires="v">
                <p:oleObj name="Paint Shop Pro Image" r:id="rId8" imgW="2526829" imgH="1414634" progId="PaintShopPro">
                  <p:embed/>
                </p:oleObj>
              </mc:Choice>
              <mc:Fallback>
                <p:oleObj name="Paint Shop Pro Image" r:id="rId8" imgW="2526829" imgH="1414634" progId="PaintShopPro">
                  <p:embed/>
                  <p:pic>
                    <p:nvPicPr>
                      <p:cNvPr id="279559" name="Object 7">
                        <a:extLst>
                          <a:ext uri="{FF2B5EF4-FFF2-40B4-BE49-F238E27FC236}">
                            <a16:creationId xmlns:a16="http://schemas.microsoft.com/office/drawing/2014/main" id="{527E596D-FFEE-71B6-679F-1274A95E1B4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81838" y="3032125"/>
                        <a:ext cx="2138362" cy="97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9560" name="Object 8">
            <a:extLst>
              <a:ext uri="{FF2B5EF4-FFF2-40B4-BE49-F238E27FC236}">
                <a16:creationId xmlns:a16="http://schemas.microsoft.com/office/drawing/2014/main" id="{0B72376A-88B0-0C03-F5AB-13A49B8A382E}"/>
              </a:ext>
            </a:extLst>
          </p:cNvPr>
          <p:cNvGraphicFramePr>
            <a:graphicFrameLocks noChangeAspect="1"/>
          </p:cNvGraphicFramePr>
          <p:nvPr/>
        </p:nvGraphicFramePr>
        <p:xfrm>
          <a:off x="7050088" y="3976688"/>
          <a:ext cx="2271712" cy="917575"/>
        </p:xfrm>
        <a:graphic>
          <a:graphicData uri="http://schemas.openxmlformats.org/presentationml/2006/ole">
            <mc:AlternateContent xmlns:mc="http://schemas.openxmlformats.org/markup-compatibility/2006">
              <mc:Choice xmlns:v="urn:schemas-microsoft-com:vml" Requires="v">
                <p:oleObj name="Paint Shop Pro Image" r:id="rId10" imgW="2712195" imgH="1453659" progId="PaintShopPro">
                  <p:embed/>
                </p:oleObj>
              </mc:Choice>
              <mc:Fallback>
                <p:oleObj name="Paint Shop Pro Image" r:id="rId10" imgW="2712195" imgH="1453659" progId="PaintShopPro">
                  <p:embed/>
                  <p:pic>
                    <p:nvPicPr>
                      <p:cNvPr id="279560" name="Object 8">
                        <a:extLst>
                          <a:ext uri="{FF2B5EF4-FFF2-40B4-BE49-F238E27FC236}">
                            <a16:creationId xmlns:a16="http://schemas.microsoft.com/office/drawing/2014/main" id="{0B72376A-88B0-0C03-F5AB-13A49B8A382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50088" y="3976688"/>
                        <a:ext cx="2271712"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9561" name="Object 9">
            <a:extLst>
              <a:ext uri="{FF2B5EF4-FFF2-40B4-BE49-F238E27FC236}">
                <a16:creationId xmlns:a16="http://schemas.microsoft.com/office/drawing/2014/main" id="{03C2CDC1-6FD9-86DD-4E66-0F2ED95FFCA0}"/>
              </a:ext>
            </a:extLst>
          </p:cNvPr>
          <p:cNvGraphicFramePr>
            <a:graphicFrameLocks noChangeAspect="1"/>
          </p:cNvGraphicFramePr>
          <p:nvPr/>
        </p:nvGraphicFramePr>
        <p:xfrm>
          <a:off x="7127875" y="4879975"/>
          <a:ext cx="2108200" cy="942975"/>
        </p:xfrm>
        <a:graphic>
          <a:graphicData uri="http://schemas.openxmlformats.org/presentationml/2006/ole">
            <mc:AlternateContent xmlns:mc="http://schemas.openxmlformats.org/markup-compatibility/2006">
              <mc:Choice xmlns:v="urn:schemas-microsoft-com:vml" Requires="v">
                <p:oleObj name="Paint Shop Pro Image" r:id="rId12" imgW="2546341" imgH="1424390" progId="PaintShopPro">
                  <p:embed/>
                </p:oleObj>
              </mc:Choice>
              <mc:Fallback>
                <p:oleObj name="Paint Shop Pro Image" r:id="rId12" imgW="2546341" imgH="1424390" progId="PaintShopPro">
                  <p:embed/>
                  <p:pic>
                    <p:nvPicPr>
                      <p:cNvPr id="279561" name="Object 9">
                        <a:extLst>
                          <a:ext uri="{FF2B5EF4-FFF2-40B4-BE49-F238E27FC236}">
                            <a16:creationId xmlns:a16="http://schemas.microsoft.com/office/drawing/2014/main" id="{03C2CDC1-6FD9-86DD-4E66-0F2ED95FFCA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27875" y="4879975"/>
                        <a:ext cx="21082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6" name="Line 10">
            <a:extLst>
              <a:ext uri="{FF2B5EF4-FFF2-40B4-BE49-F238E27FC236}">
                <a16:creationId xmlns:a16="http://schemas.microsoft.com/office/drawing/2014/main" id="{9D72F221-014D-E64A-3EDD-3C9B7CAC57E2}"/>
              </a:ext>
            </a:extLst>
          </p:cNvPr>
          <p:cNvSpPr>
            <a:spLocks noChangeShapeType="1"/>
          </p:cNvSpPr>
          <p:nvPr/>
        </p:nvSpPr>
        <p:spPr bwMode="auto">
          <a:xfrm>
            <a:off x="2822575" y="1325563"/>
            <a:ext cx="0" cy="831850"/>
          </a:xfrm>
          <a:prstGeom prst="line">
            <a:avLst/>
          </a:prstGeom>
          <a:noFill/>
          <a:ln w="57150">
            <a:solidFill>
              <a:srgbClr val="DD011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7" name="Line 11">
            <a:extLst>
              <a:ext uri="{FF2B5EF4-FFF2-40B4-BE49-F238E27FC236}">
                <a16:creationId xmlns:a16="http://schemas.microsoft.com/office/drawing/2014/main" id="{F6B5C099-2476-9E6F-A06A-248E0F8A3D23}"/>
              </a:ext>
            </a:extLst>
          </p:cNvPr>
          <p:cNvSpPr>
            <a:spLocks noChangeShapeType="1"/>
          </p:cNvSpPr>
          <p:nvPr/>
        </p:nvSpPr>
        <p:spPr bwMode="auto">
          <a:xfrm>
            <a:off x="3697288" y="2209800"/>
            <a:ext cx="0" cy="831850"/>
          </a:xfrm>
          <a:prstGeom prst="line">
            <a:avLst/>
          </a:prstGeom>
          <a:noFill/>
          <a:ln w="57150">
            <a:solidFill>
              <a:srgbClr val="DD011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8" name="Line 12">
            <a:extLst>
              <a:ext uri="{FF2B5EF4-FFF2-40B4-BE49-F238E27FC236}">
                <a16:creationId xmlns:a16="http://schemas.microsoft.com/office/drawing/2014/main" id="{39F8EE31-4976-0E1F-449D-311863A6F24A}"/>
              </a:ext>
            </a:extLst>
          </p:cNvPr>
          <p:cNvSpPr>
            <a:spLocks noChangeShapeType="1"/>
          </p:cNvSpPr>
          <p:nvPr/>
        </p:nvSpPr>
        <p:spPr bwMode="auto">
          <a:xfrm>
            <a:off x="4619625" y="2987675"/>
            <a:ext cx="0" cy="831850"/>
          </a:xfrm>
          <a:prstGeom prst="line">
            <a:avLst/>
          </a:prstGeom>
          <a:noFill/>
          <a:ln w="57150">
            <a:solidFill>
              <a:srgbClr val="DD011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9" name="Line 13">
            <a:extLst>
              <a:ext uri="{FF2B5EF4-FFF2-40B4-BE49-F238E27FC236}">
                <a16:creationId xmlns:a16="http://schemas.microsoft.com/office/drawing/2014/main" id="{CD91CA98-7786-0B57-290A-90E968824D4B}"/>
              </a:ext>
            </a:extLst>
          </p:cNvPr>
          <p:cNvSpPr>
            <a:spLocks noChangeShapeType="1"/>
          </p:cNvSpPr>
          <p:nvPr/>
        </p:nvSpPr>
        <p:spPr bwMode="auto">
          <a:xfrm>
            <a:off x="5443538" y="3863975"/>
            <a:ext cx="0" cy="831850"/>
          </a:xfrm>
          <a:prstGeom prst="line">
            <a:avLst/>
          </a:prstGeom>
          <a:noFill/>
          <a:ln w="57150">
            <a:solidFill>
              <a:srgbClr val="DD011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0" name="Line 14">
            <a:extLst>
              <a:ext uri="{FF2B5EF4-FFF2-40B4-BE49-F238E27FC236}">
                <a16:creationId xmlns:a16="http://schemas.microsoft.com/office/drawing/2014/main" id="{1153732B-A2C6-DBCE-CEED-9865700CEE26}"/>
              </a:ext>
            </a:extLst>
          </p:cNvPr>
          <p:cNvSpPr>
            <a:spLocks noChangeShapeType="1"/>
          </p:cNvSpPr>
          <p:nvPr/>
        </p:nvSpPr>
        <p:spPr bwMode="auto">
          <a:xfrm>
            <a:off x="6238875" y="4714875"/>
            <a:ext cx="0" cy="831850"/>
          </a:xfrm>
          <a:prstGeom prst="line">
            <a:avLst/>
          </a:prstGeom>
          <a:noFill/>
          <a:ln w="57150">
            <a:solidFill>
              <a:srgbClr val="DD011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95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955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955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956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95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E105C-7409-D554-8F89-385DB86CB1E7}"/>
              </a:ext>
            </a:extLst>
          </p:cNvPr>
          <p:cNvSpPr>
            <a:spLocks noGrp="1"/>
          </p:cNvSpPr>
          <p:nvPr>
            <p:ph type="title"/>
          </p:nvPr>
        </p:nvSpPr>
        <p:spPr/>
        <p:txBody>
          <a:bodyPr/>
          <a:lstStyle/>
          <a:p>
            <a:r>
              <a:rPr lang="en-US" dirty="0"/>
              <a:t>Insertion Sort</a:t>
            </a:r>
          </a:p>
        </p:txBody>
      </p:sp>
      <p:pic>
        <p:nvPicPr>
          <p:cNvPr id="4" name="Content Placeholder 3">
            <a:extLst>
              <a:ext uri="{FF2B5EF4-FFF2-40B4-BE49-F238E27FC236}">
                <a16:creationId xmlns:a16="http://schemas.microsoft.com/office/drawing/2014/main" id="{7991EAB6-C879-579A-A86A-8388318944FA}"/>
              </a:ext>
            </a:extLst>
          </p:cNvPr>
          <p:cNvPicPr>
            <a:picLocks noGrp="1" noChangeAspect="1"/>
          </p:cNvPicPr>
          <p:nvPr>
            <p:ph idx="1"/>
          </p:nvPr>
        </p:nvPicPr>
        <p:blipFill>
          <a:blip r:embed="rId2"/>
          <a:stretch>
            <a:fillRect/>
          </a:stretch>
        </p:blipFill>
        <p:spPr>
          <a:xfrm>
            <a:off x="1906621" y="1846263"/>
            <a:ext cx="7451947" cy="4636970"/>
          </a:xfrm>
          <a:prstGeom prst="rect">
            <a:avLst/>
          </a:prstGeom>
        </p:spPr>
      </p:pic>
    </p:spTree>
    <p:extLst>
      <p:ext uri="{BB962C8B-B14F-4D97-AF65-F5344CB8AC3E}">
        <p14:creationId xmlns:p14="http://schemas.microsoft.com/office/powerpoint/2010/main" val="604795319"/>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4">
            <a:extLst>
              <a:ext uri="{FF2B5EF4-FFF2-40B4-BE49-F238E27FC236}">
                <a16:creationId xmlns:a16="http://schemas.microsoft.com/office/drawing/2014/main" id="{5A97A02C-19F4-CAC7-6E33-CBEB493174B0}"/>
              </a:ext>
            </a:extLst>
          </p:cNvPr>
          <p:cNvSpPr>
            <a:spLocks noGrp="1"/>
          </p:cNvSpPr>
          <p:nvPr>
            <p:ph type="sldNum" sz="quarter" idx="12"/>
          </p:nvPr>
        </p:nvSpPr>
        <p:spPr bwMode="auto">
          <a:xfrm>
            <a:off x="5903913" y="6408738"/>
            <a:ext cx="2351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50A6F1D-40DA-4E57-839B-196D5844E69B}" type="slidenum">
              <a:rPr lang="en-US" altLang="en-US" sz="1000">
                <a:latin typeface="Times New Roman" panose="02020603050405020304" pitchFamily="18" charset="0"/>
              </a:rPr>
              <a:pPr>
                <a:spcBef>
                  <a:spcPct val="0"/>
                </a:spcBef>
                <a:buClrTx/>
                <a:buSzTx/>
                <a:buFontTx/>
                <a:buNone/>
              </a:pPr>
              <a:t>23</a:t>
            </a:fld>
            <a:endParaRPr lang="en-US" altLang="en-US" sz="1000">
              <a:latin typeface="Times New Roman" panose="02020603050405020304" pitchFamily="18" charset="0"/>
            </a:endParaRPr>
          </a:p>
        </p:txBody>
      </p:sp>
      <p:sp>
        <p:nvSpPr>
          <p:cNvPr id="25603" name="Rectangle 2">
            <a:extLst>
              <a:ext uri="{FF2B5EF4-FFF2-40B4-BE49-F238E27FC236}">
                <a16:creationId xmlns:a16="http://schemas.microsoft.com/office/drawing/2014/main" id="{72617151-F195-9ABC-1D2F-2B56450F8A27}"/>
              </a:ext>
            </a:extLst>
          </p:cNvPr>
          <p:cNvSpPr>
            <a:spLocks noGrp="1" noChangeArrowheads="1"/>
          </p:cNvSpPr>
          <p:nvPr>
            <p:ph type="title"/>
          </p:nvPr>
        </p:nvSpPr>
        <p:spPr/>
        <p:txBody>
          <a:bodyPr/>
          <a:lstStyle/>
          <a:p>
            <a:pPr eaLnBrk="1" hangingPunct="1">
              <a:defRPr/>
            </a:pPr>
            <a:r>
              <a:rPr lang="en-US"/>
              <a:t>INSERTION-SORT</a:t>
            </a:r>
          </a:p>
        </p:txBody>
      </p:sp>
      <p:sp>
        <p:nvSpPr>
          <p:cNvPr id="67588" name="Rectangle 3">
            <a:extLst>
              <a:ext uri="{FF2B5EF4-FFF2-40B4-BE49-F238E27FC236}">
                <a16:creationId xmlns:a16="http://schemas.microsoft.com/office/drawing/2014/main" id="{8A09715C-3545-2393-B7D1-24690386A72B}"/>
              </a:ext>
            </a:extLst>
          </p:cNvPr>
          <p:cNvSpPr>
            <a:spLocks noGrp="1" noChangeArrowheads="1"/>
          </p:cNvSpPr>
          <p:nvPr>
            <p:ph type="body" idx="1"/>
          </p:nvPr>
        </p:nvSpPr>
        <p:spPr>
          <a:xfrm>
            <a:off x="1097280" y="1964197"/>
            <a:ext cx="8229600" cy="4639307"/>
          </a:xfrm>
        </p:spPr>
        <p:txBody>
          <a:bodyPr/>
          <a:lstStyle/>
          <a:p>
            <a:pPr eaLnBrk="1" hangingPunct="1">
              <a:buFontTx/>
              <a:buNone/>
            </a:pPr>
            <a:r>
              <a:rPr lang="en-US" altLang="en-US" dirty="0">
                <a:solidFill>
                  <a:srgbClr val="DD0111"/>
                </a:solidFill>
                <a:latin typeface="Monotype Corsiva" panose="03010101010201010101" pitchFamily="66" charset="0"/>
              </a:rPr>
              <a:t>Alg.:</a:t>
            </a:r>
            <a:r>
              <a:rPr lang="en-US" altLang="en-US" dirty="0"/>
              <a:t> INSERTION-SORT</a:t>
            </a:r>
            <a:r>
              <a:rPr lang="en-US" altLang="en-US" i="1" dirty="0"/>
              <a:t>(A)</a:t>
            </a:r>
          </a:p>
          <a:p>
            <a:pPr eaLnBrk="1" hangingPunct="1">
              <a:buFontTx/>
              <a:buNone/>
            </a:pPr>
            <a:r>
              <a:rPr lang="en-US" altLang="en-US" b="1" dirty="0"/>
              <a:t>	for </a:t>
            </a:r>
            <a:r>
              <a:rPr lang="en-US" altLang="en-US" dirty="0">
                <a:latin typeface="Comic Sans MS" panose="030F0702030302020204" pitchFamily="66" charset="0"/>
              </a:rPr>
              <a:t>j = 2</a:t>
            </a:r>
            <a:r>
              <a:rPr lang="en-US" altLang="en-US" dirty="0"/>
              <a:t> </a:t>
            </a:r>
            <a:r>
              <a:rPr lang="en-US" altLang="en-US" b="1" dirty="0"/>
              <a:t>to </a:t>
            </a:r>
            <a:r>
              <a:rPr lang="en-US" altLang="en-US" dirty="0"/>
              <a:t>n</a:t>
            </a:r>
          </a:p>
          <a:p>
            <a:pPr eaLnBrk="1" hangingPunct="1">
              <a:buFontTx/>
              <a:buNone/>
            </a:pPr>
            <a:r>
              <a:rPr lang="en-US" altLang="en-US" b="1" dirty="0"/>
              <a:t>		do </a:t>
            </a:r>
            <a:r>
              <a:rPr lang="en-US" altLang="en-US" dirty="0">
                <a:latin typeface="Comic Sans MS" panose="030F0702030302020204" pitchFamily="66" charset="0"/>
              </a:rPr>
              <a:t>key =A[ j ]</a:t>
            </a:r>
          </a:p>
          <a:p>
            <a:pPr eaLnBrk="1" hangingPunct="1">
              <a:buFontTx/>
              <a:buNone/>
            </a:pPr>
            <a:r>
              <a:rPr lang="en-US" altLang="en-US" dirty="0"/>
              <a:t>	</a:t>
            </a:r>
            <a:r>
              <a:rPr lang="en-US" altLang="en-US" sz="2000" dirty="0"/>
              <a:t>	      Insert </a:t>
            </a:r>
            <a:r>
              <a:rPr lang="en-US" altLang="en-US" sz="2000" dirty="0">
                <a:latin typeface="Comic Sans MS" panose="030F0702030302020204" pitchFamily="66" charset="0"/>
              </a:rPr>
              <a:t>A[ j ]</a:t>
            </a:r>
            <a:r>
              <a:rPr lang="en-US" altLang="en-US" sz="2000" dirty="0"/>
              <a:t> into the sorted sequence </a:t>
            </a:r>
            <a:r>
              <a:rPr lang="en-US" altLang="en-US" sz="2000" dirty="0">
                <a:latin typeface="Comic Sans MS" panose="030F0702030302020204" pitchFamily="66" charset="0"/>
              </a:rPr>
              <a:t>A[1 . . j -1]</a:t>
            </a:r>
            <a:endParaRPr lang="en-US" altLang="en-US" sz="2000" dirty="0"/>
          </a:p>
          <a:p>
            <a:pPr eaLnBrk="1" hangingPunct="1">
              <a:buFontTx/>
              <a:buNone/>
            </a:pPr>
            <a:r>
              <a:rPr lang="en-US" altLang="en-US" dirty="0"/>
              <a:t>		     </a:t>
            </a:r>
            <a:r>
              <a:rPr lang="en-US" altLang="en-US" dirty="0" err="1">
                <a:latin typeface="Comic Sans MS" panose="030F0702030302020204" pitchFamily="66" charset="0"/>
              </a:rPr>
              <a:t>i</a:t>
            </a:r>
            <a:r>
              <a:rPr lang="en-US" altLang="en-US" dirty="0">
                <a:latin typeface="Comic Sans MS" panose="030F0702030302020204" pitchFamily="66" charset="0"/>
              </a:rPr>
              <a:t> = j - 1</a:t>
            </a:r>
          </a:p>
          <a:p>
            <a:pPr eaLnBrk="1" hangingPunct="1">
              <a:buFontTx/>
              <a:buNone/>
            </a:pPr>
            <a:r>
              <a:rPr lang="en-US" altLang="en-US" b="1" dirty="0"/>
              <a:t>		     while </a:t>
            </a:r>
            <a:r>
              <a:rPr lang="en-US" altLang="en-US" dirty="0" err="1">
                <a:latin typeface="Comic Sans MS" panose="030F0702030302020204" pitchFamily="66" charset="0"/>
              </a:rPr>
              <a:t>i</a:t>
            </a:r>
            <a:r>
              <a:rPr lang="en-US" altLang="en-US" dirty="0">
                <a:latin typeface="Comic Sans MS" panose="030F0702030302020204" pitchFamily="66" charset="0"/>
              </a:rPr>
              <a:t> &gt; 0</a:t>
            </a:r>
            <a:r>
              <a:rPr lang="en-US" altLang="en-US" dirty="0"/>
              <a:t> and </a:t>
            </a:r>
            <a:r>
              <a:rPr lang="en-US" altLang="en-US" dirty="0">
                <a:latin typeface="Comic Sans MS" panose="030F0702030302020204" pitchFamily="66" charset="0"/>
              </a:rPr>
              <a:t>A[</a:t>
            </a:r>
            <a:r>
              <a:rPr lang="en-US" altLang="en-US" dirty="0" err="1">
                <a:latin typeface="Comic Sans MS" panose="030F0702030302020204" pitchFamily="66" charset="0"/>
              </a:rPr>
              <a:t>i</a:t>
            </a:r>
            <a:r>
              <a:rPr lang="en-US" altLang="en-US" dirty="0">
                <a:latin typeface="Comic Sans MS" panose="030F0702030302020204" pitchFamily="66" charset="0"/>
              </a:rPr>
              <a:t>] &gt; key</a:t>
            </a:r>
          </a:p>
          <a:p>
            <a:pPr eaLnBrk="1" hangingPunct="1">
              <a:buFontTx/>
              <a:buNone/>
            </a:pPr>
            <a:r>
              <a:rPr lang="en-US" altLang="en-US" dirty="0"/>
              <a:t>			</a:t>
            </a:r>
            <a:r>
              <a:rPr lang="en-US" altLang="en-US" b="1" dirty="0"/>
              <a:t>do </a:t>
            </a:r>
            <a:r>
              <a:rPr lang="en-US" altLang="en-US" dirty="0">
                <a:latin typeface="Comic Sans MS" panose="030F0702030302020204" pitchFamily="66" charset="0"/>
              </a:rPr>
              <a:t>A[</a:t>
            </a:r>
            <a:r>
              <a:rPr lang="en-US" altLang="en-US" dirty="0" err="1">
                <a:latin typeface="Comic Sans MS" panose="030F0702030302020204" pitchFamily="66" charset="0"/>
              </a:rPr>
              <a:t>i</a:t>
            </a:r>
            <a:r>
              <a:rPr lang="en-US" altLang="en-US" dirty="0">
                <a:latin typeface="Comic Sans MS" panose="030F0702030302020204" pitchFamily="66" charset="0"/>
              </a:rPr>
              <a:t> + 1] = A[</a:t>
            </a:r>
            <a:r>
              <a:rPr lang="en-US" altLang="en-US" dirty="0" err="1">
                <a:latin typeface="Comic Sans MS" panose="030F0702030302020204" pitchFamily="66" charset="0"/>
              </a:rPr>
              <a:t>i</a:t>
            </a:r>
            <a:r>
              <a:rPr lang="en-US" altLang="en-US" dirty="0">
                <a:latin typeface="Comic Sans MS" panose="030F0702030302020204" pitchFamily="66" charset="0"/>
              </a:rPr>
              <a:t>]</a:t>
            </a:r>
          </a:p>
          <a:p>
            <a:pPr eaLnBrk="1" hangingPunct="1">
              <a:buFontTx/>
              <a:buNone/>
            </a:pPr>
            <a:r>
              <a:rPr lang="en-US" altLang="en-US" dirty="0"/>
              <a:t>			      </a:t>
            </a:r>
            <a:r>
              <a:rPr lang="en-US" altLang="en-US" dirty="0" err="1">
                <a:latin typeface="Comic Sans MS" panose="030F0702030302020204" pitchFamily="66" charset="0"/>
              </a:rPr>
              <a:t>i</a:t>
            </a:r>
            <a:r>
              <a:rPr lang="en-US" altLang="en-US" dirty="0">
                <a:latin typeface="Comic Sans MS" panose="030F0702030302020204" pitchFamily="66" charset="0"/>
              </a:rPr>
              <a:t> = </a:t>
            </a:r>
            <a:r>
              <a:rPr lang="en-US" altLang="en-US" dirty="0" err="1">
                <a:latin typeface="Comic Sans MS" panose="030F0702030302020204" pitchFamily="66" charset="0"/>
              </a:rPr>
              <a:t>i</a:t>
            </a:r>
            <a:r>
              <a:rPr lang="en-US" altLang="en-US" dirty="0">
                <a:latin typeface="Comic Sans MS" panose="030F0702030302020204" pitchFamily="66" charset="0"/>
              </a:rPr>
              <a:t> – 1</a:t>
            </a:r>
          </a:p>
          <a:p>
            <a:pPr eaLnBrk="1" hangingPunct="1">
              <a:buFontTx/>
              <a:buNone/>
            </a:pPr>
            <a:r>
              <a:rPr lang="en-US" altLang="en-US" dirty="0"/>
              <a:t>		     </a:t>
            </a:r>
            <a:r>
              <a:rPr lang="en-US" altLang="en-US" dirty="0">
                <a:latin typeface="Comic Sans MS" panose="030F0702030302020204" pitchFamily="66" charset="0"/>
              </a:rPr>
              <a:t>A[</a:t>
            </a:r>
            <a:r>
              <a:rPr lang="en-US" altLang="en-US" dirty="0" err="1">
                <a:latin typeface="Comic Sans MS" panose="030F0702030302020204" pitchFamily="66" charset="0"/>
              </a:rPr>
              <a:t>i</a:t>
            </a:r>
            <a:r>
              <a:rPr lang="en-US" altLang="en-US" dirty="0">
                <a:latin typeface="Comic Sans MS" panose="030F0702030302020204" pitchFamily="66" charset="0"/>
              </a:rPr>
              <a:t> + 1] = key</a:t>
            </a:r>
          </a:p>
          <a:p>
            <a:pPr eaLnBrk="1" hangingPunct="1"/>
            <a:r>
              <a:rPr lang="en-US" altLang="en-US" dirty="0"/>
              <a:t>Insertion sort – sorts the elements in place</a:t>
            </a:r>
            <a:endParaRPr lang="en-US" altLang="en-US" dirty="0">
              <a:latin typeface="Comic Sans MS" panose="030F0702030302020204" pitchFamily="66" charset="0"/>
            </a:endParaRPr>
          </a:p>
        </p:txBody>
      </p:sp>
      <p:grpSp>
        <p:nvGrpSpPr>
          <p:cNvPr id="67589" name="Group 4">
            <a:extLst>
              <a:ext uri="{FF2B5EF4-FFF2-40B4-BE49-F238E27FC236}">
                <a16:creationId xmlns:a16="http://schemas.microsoft.com/office/drawing/2014/main" id="{CCBBFE7C-6DEC-01FB-831D-3F3C5B35C480}"/>
              </a:ext>
            </a:extLst>
          </p:cNvPr>
          <p:cNvGrpSpPr>
            <a:grpSpLocks/>
          </p:cNvGrpSpPr>
          <p:nvPr/>
        </p:nvGrpSpPr>
        <p:grpSpPr bwMode="auto">
          <a:xfrm>
            <a:off x="6210300" y="1328738"/>
            <a:ext cx="4267200" cy="762000"/>
            <a:chOff x="528" y="1392"/>
            <a:chExt cx="2688" cy="480"/>
          </a:xfrm>
        </p:grpSpPr>
        <p:grpSp>
          <p:nvGrpSpPr>
            <p:cNvPr id="67595" name="Group 5">
              <a:extLst>
                <a:ext uri="{FF2B5EF4-FFF2-40B4-BE49-F238E27FC236}">
                  <a16:creationId xmlns:a16="http://schemas.microsoft.com/office/drawing/2014/main" id="{01634DD1-679C-31E3-4460-CBE179F749A0}"/>
                </a:ext>
              </a:extLst>
            </p:cNvPr>
            <p:cNvGrpSpPr>
              <a:grpSpLocks/>
            </p:cNvGrpSpPr>
            <p:nvPr/>
          </p:nvGrpSpPr>
          <p:grpSpPr bwMode="auto">
            <a:xfrm>
              <a:off x="528" y="1584"/>
              <a:ext cx="2688" cy="288"/>
              <a:chOff x="528" y="1440"/>
              <a:chExt cx="2688" cy="288"/>
            </a:xfrm>
          </p:grpSpPr>
          <p:sp>
            <p:nvSpPr>
              <p:cNvPr id="67604" name="Rectangle 6">
                <a:extLst>
                  <a:ext uri="{FF2B5EF4-FFF2-40B4-BE49-F238E27FC236}">
                    <a16:creationId xmlns:a16="http://schemas.microsoft.com/office/drawing/2014/main" id="{871C17B8-8156-3E43-83EF-DCC3439B8F97}"/>
                  </a:ext>
                </a:extLst>
              </p:cNvPr>
              <p:cNvSpPr>
                <a:spLocks noChangeArrowheads="1"/>
              </p:cNvSpPr>
              <p:nvPr/>
            </p:nvSpPr>
            <p:spPr bwMode="auto">
              <a:xfrm>
                <a:off x="2880"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8</a:t>
                </a:r>
              </a:p>
            </p:txBody>
          </p:sp>
          <p:sp>
            <p:nvSpPr>
              <p:cNvPr id="67605" name="Rectangle 7">
                <a:extLst>
                  <a:ext uri="{FF2B5EF4-FFF2-40B4-BE49-F238E27FC236}">
                    <a16:creationId xmlns:a16="http://schemas.microsoft.com/office/drawing/2014/main" id="{4FB51D65-7968-4C91-3C5D-74C43CFD5A6C}"/>
                  </a:ext>
                </a:extLst>
              </p:cNvPr>
              <p:cNvSpPr>
                <a:spLocks noChangeArrowheads="1"/>
              </p:cNvSpPr>
              <p:nvPr/>
            </p:nvSpPr>
            <p:spPr bwMode="auto">
              <a:xfrm>
                <a:off x="2544"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7</a:t>
                </a:r>
              </a:p>
            </p:txBody>
          </p:sp>
          <p:sp>
            <p:nvSpPr>
              <p:cNvPr id="67606" name="Rectangle 8">
                <a:extLst>
                  <a:ext uri="{FF2B5EF4-FFF2-40B4-BE49-F238E27FC236}">
                    <a16:creationId xmlns:a16="http://schemas.microsoft.com/office/drawing/2014/main" id="{21FFCA19-6F68-E599-22FE-C71D198D89FA}"/>
                  </a:ext>
                </a:extLst>
              </p:cNvPr>
              <p:cNvSpPr>
                <a:spLocks noChangeArrowheads="1"/>
              </p:cNvSpPr>
              <p:nvPr/>
            </p:nvSpPr>
            <p:spPr bwMode="auto">
              <a:xfrm>
                <a:off x="2208"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6</a:t>
                </a:r>
              </a:p>
            </p:txBody>
          </p:sp>
          <p:sp>
            <p:nvSpPr>
              <p:cNvPr id="67607" name="Rectangle 9">
                <a:extLst>
                  <a:ext uri="{FF2B5EF4-FFF2-40B4-BE49-F238E27FC236}">
                    <a16:creationId xmlns:a16="http://schemas.microsoft.com/office/drawing/2014/main" id="{504D8FE8-39DB-AE3E-A140-3515D4A72CFF}"/>
                  </a:ext>
                </a:extLst>
              </p:cNvPr>
              <p:cNvSpPr>
                <a:spLocks noChangeArrowheads="1"/>
              </p:cNvSpPr>
              <p:nvPr/>
            </p:nvSpPr>
            <p:spPr bwMode="auto">
              <a:xfrm>
                <a:off x="18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5</a:t>
                </a:r>
              </a:p>
            </p:txBody>
          </p:sp>
          <p:sp>
            <p:nvSpPr>
              <p:cNvPr id="67608" name="Rectangle 10">
                <a:extLst>
                  <a:ext uri="{FF2B5EF4-FFF2-40B4-BE49-F238E27FC236}">
                    <a16:creationId xmlns:a16="http://schemas.microsoft.com/office/drawing/2014/main" id="{1ABB0646-AEEA-96A9-1C14-B59A6A7F97EC}"/>
                  </a:ext>
                </a:extLst>
              </p:cNvPr>
              <p:cNvSpPr>
                <a:spLocks noChangeArrowheads="1"/>
              </p:cNvSpPr>
              <p:nvPr/>
            </p:nvSpPr>
            <p:spPr bwMode="auto">
              <a:xfrm>
                <a:off x="1536"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4</a:t>
                </a:r>
              </a:p>
            </p:txBody>
          </p:sp>
          <p:sp>
            <p:nvSpPr>
              <p:cNvPr id="67609" name="Rectangle 11">
                <a:extLst>
                  <a:ext uri="{FF2B5EF4-FFF2-40B4-BE49-F238E27FC236}">
                    <a16:creationId xmlns:a16="http://schemas.microsoft.com/office/drawing/2014/main" id="{F20C68C0-9977-F1C1-1321-3F0F07F4C536}"/>
                  </a:ext>
                </a:extLst>
              </p:cNvPr>
              <p:cNvSpPr>
                <a:spLocks noChangeArrowheads="1"/>
              </p:cNvSpPr>
              <p:nvPr/>
            </p:nvSpPr>
            <p:spPr bwMode="auto">
              <a:xfrm>
                <a:off x="1200"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3</a:t>
                </a:r>
              </a:p>
            </p:txBody>
          </p:sp>
          <p:sp>
            <p:nvSpPr>
              <p:cNvPr id="67610" name="Rectangle 12">
                <a:extLst>
                  <a:ext uri="{FF2B5EF4-FFF2-40B4-BE49-F238E27FC236}">
                    <a16:creationId xmlns:a16="http://schemas.microsoft.com/office/drawing/2014/main" id="{0830593B-BD6B-A89F-8DFC-979E388DE1C0}"/>
                  </a:ext>
                </a:extLst>
              </p:cNvPr>
              <p:cNvSpPr>
                <a:spLocks noChangeArrowheads="1"/>
              </p:cNvSpPr>
              <p:nvPr/>
            </p:nvSpPr>
            <p:spPr bwMode="auto">
              <a:xfrm>
                <a:off x="864"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2</a:t>
                </a:r>
              </a:p>
            </p:txBody>
          </p:sp>
          <p:sp>
            <p:nvSpPr>
              <p:cNvPr id="67611" name="Rectangle 13">
                <a:extLst>
                  <a:ext uri="{FF2B5EF4-FFF2-40B4-BE49-F238E27FC236}">
                    <a16:creationId xmlns:a16="http://schemas.microsoft.com/office/drawing/2014/main" id="{6785D756-19C6-FD86-1718-8B2D5E6CAAB3}"/>
                  </a:ext>
                </a:extLst>
              </p:cNvPr>
              <p:cNvSpPr>
                <a:spLocks noChangeArrowheads="1"/>
              </p:cNvSpPr>
              <p:nvPr/>
            </p:nvSpPr>
            <p:spPr bwMode="auto">
              <a:xfrm>
                <a:off x="528"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None/>
                </a:pPr>
                <a:r>
                  <a:rPr lang="en-US" altLang="en-US" sz="2400">
                    <a:solidFill>
                      <a:schemeClr val="accent2"/>
                    </a:solidFill>
                    <a:latin typeface="Times New Roman" panose="02020603050405020304" pitchFamily="18" charset="0"/>
                  </a:rPr>
                  <a:t>a</a:t>
                </a:r>
                <a:r>
                  <a:rPr lang="en-US" altLang="en-US" sz="2400" baseline="-25000">
                    <a:solidFill>
                      <a:schemeClr val="accent2"/>
                    </a:solidFill>
                    <a:latin typeface="Times New Roman" panose="02020603050405020304" pitchFamily="18" charset="0"/>
                  </a:rPr>
                  <a:t>1</a:t>
                </a:r>
              </a:p>
            </p:txBody>
          </p:sp>
          <p:sp>
            <p:nvSpPr>
              <p:cNvPr id="67612" name="Line 14">
                <a:extLst>
                  <a:ext uri="{FF2B5EF4-FFF2-40B4-BE49-F238E27FC236}">
                    <a16:creationId xmlns:a16="http://schemas.microsoft.com/office/drawing/2014/main" id="{9F761CFC-6022-D369-32C5-CB73C32A0C2B}"/>
                  </a:ext>
                </a:extLst>
              </p:cNvPr>
              <p:cNvSpPr>
                <a:spLocks noChangeShapeType="1"/>
              </p:cNvSpPr>
              <p:nvPr/>
            </p:nvSpPr>
            <p:spPr bwMode="auto">
              <a:xfrm>
                <a:off x="528" y="1440"/>
                <a:ext cx="268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13" name="Line 15">
                <a:extLst>
                  <a:ext uri="{FF2B5EF4-FFF2-40B4-BE49-F238E27FC236}">
                    <a16:creationId xmlns:a16="http://schemas.microsoft.com/office/drawing/2014/main" id="{213EFEDC-FDFC-B765-3D5F-C429F0126D8B}"/>
                  </a:ext>
                </a:extLst>
              </p:cNvPr>
              <p:cNvSpPr>
                <a:spLocks noChangeShapeType="1"/>
              </p:cNvSpPr>
              <p:nvPr/>
            </p:nvSpPr>
            <p:spPr bwMode="auto">
              <a:xfrm>
                <a:off x="528" y="1728"/>
                <a:ext cx="268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14" name="Line 16">
                <a:extLst>
                  <a:ext uri="{FF2B5EF4-FFF2-40B4-BE49-F238E27FC236}">
                    <a16:creationId xmlns:a16="http://schemas.microsoft.com/office/drawing/2014/main" id="{609593BF-BFF5-6904-487F-AE72CCEA6C42}"/>
                  </a:ext>
                </a:extLst>
              </p:cNvPr>
              <p:cNvSpPr>
                <a:spLocks noChangeShapeType="1"/>
              </p:cNvSpPr>
              <p:nvPr/>
            </p:nvSpPr>
            <p:spPr bwMode="auto">
              <a:xfrm>
                <a:off x="528" y="1440"/>
                <a:ext cx="0" cy="28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15" name="Line 17">
                <a:extLst>
                  <a:ext uri="{FF2B5EF4-FFF2-40B4-BE49-F238E27FC236}">
                    <a16:creationId xmlns:a16="http://schemas.microsoft.com/office/drawing/2014/main" id="{C4D5EA50-63EC-C24A-E431-3670E946C2BE}"/>
                  </a:ext>
                </a:extLst>
              </p:cNvPr>
              <p:cNvSpPr>
                <a:spLocks noChangeShapeType="1"/>
              </p:cNvSpPr>
              <p:nvPr/>
            </p:nvSpPr>
            <p:spPr bwMode="auto">
              <a:xfrm>
                <a:off x="864" y="144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16" name="Line 18">
                <a:extLst>
                  <a:ext uri="{FF2B5EF4-FFF2-40B4-BE49-F238E27FC236}">
                    <a16:creationId xmlns:a16="http://schemas.microsoft.com/office/drawing/2014/main" id="{20FCED2D-A618-4163-BBFC-200488C3F79C}"/>
                  </a:ext>
                </a:extLst>
              </p:cNvPr>
              <p:cNvSpPr>
                <a:spLocks noChangeShapeType="1"/>
              </p:cNvSpPr>
              <p:nvPr/>
            </p:nvSpPr>
            <p:spPr bwMode="auto">
              <a:xfrm>
                <a:off x="1200" y="144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17" name="Line 19">
                <a:extLst>
                  <a:ext uri="{FF2B5EF4-FFF2-40B4-BE49-F238E27FC236}">
                    <a16:creationId xmlns:a16="http://schemas.microsoft.com/office/drawing/2014/main" id="{B9DBE4AF-C162-30CA-D069-5CE8BD3249C8}"/>
                  </a:ext>
                </a:extLst>
              </p:cNvPr>
              <p:cNvSpPr>
                <a:spLocks noChangeShapeType="1"/>
              </p:cNvSpPr>
              <p:nvPr/>
            </p:nvSpPr>
            <p:spPr bwMode="auto">
              <a:xfrm>
                <a:off x="1536" y="144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18" name="Line 20">
                <a:extLst>
                  <a:ext uri="{FF2B5EF4-FFF2-40B4-BE49-F238E27FC236}">
                    <a16:creationId xmlns:a16="http://schemas.microsoft.com/office/drawing/2014/main" id="{9C7551F9-7DD0-3176-2111-A8DDF28990BB}"/>
                  </a:ext>
                </a:extLst>
              </p:cNvPr>
              <p:cNvSpPr>
                <a:spLocks noChangeShapeType="1"/>
              </p:cNvSpPr>
              <p:nvPr/>
            </p:nvSpPr>
            <p:spPr bwMode="auto">
              <a:xfrm>
                <a:off x="1872" y="144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19" name="Line 21">
                <a:extLst>
                  <a:ext uri="{FF2B5EF4-FFF2-40B4-BE49-F238E27FC236}">
                    <a16:creationId xmlns:a16="http://schemas.microsoft.com/office/drawing/2014/main" id="{69274CD9-E3A5-7B24-8336-913474AB3321}"/>
                  </a:ext>
                </a:extLst>
              </p:cNvPr>
              <p:cNvSpPr>
                <a:spLocks noChangeShapeType="1"/>
              </p:cNvSpPr>
              <p:nvPr/>
            </p:nvSpPr>
            <p:spPr bwMode="auto">
              <a:xfrm>
                <a:off x="2208" y="144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20" name="Line 22">
                <a:extLst>
                  <a:ext uri="{FF2B5EF4-FFF2-40B4-BE49-F238E27FC236}">
                    <a16:creationId xmlns:a16="http://schemas.microsoft.com/office/drawing/2014/main" id="{26B4594B-316F-0717-6D08-7537C7BE138C}"/>
                  </a:ext>
                </a:extLst>
              </p:cNvPr>
              <p:cNvSpPr>
                <a:spLocks noChangeShapeType="1"/>
              </p:cNvSpPr>
              <p:nvPr/>
            </p:nvSpPr>
            <p:spPr bwMode="auto">
              <a:xfrm>
                <a:off x="2544" y="144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21" name="Line 23">
                <a:extLst>
                  <a:ext uri="{FF2B5EF4-FFF2-40B4-BE49-F238E27FC236}">
                    <a16:creationId xmlns:a16="http://schemas.microsoft.com/office/drawing/2014/main" id="{955F2433-8FED-096D-FA66-ABF6EF1D50BE}"/>
                  </a:ext>
                </a:extLst>
              </p:cNvPr>
              <p:cNvSpPr>
                <a:spLocks noChangeShapeType="1"/>
              </p:cNvSpPr>
              <p:nvPr/>
            </p:nvSpPr>
            <p:spPr bwMode="auto">
              <a:xfrm>
                <a:off x="2880" y="144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sp>
            <p:nvSpPr>
              <p:cNvPr id="67622" name="Line 24">
                <a:extLst>
                  <a:ext uri="{FF2B5EF4-FFF2-40B4-BE49-F238E27FC236}">
                    <a16:creationId xmlns:a16="http://schemas.microsoft.com/office/drawing/2014/main" id="{5BB5A6F1-A01B-B5CA-2E99-B4751D6EE714}"/>
                  </a:ext>
                </a:extLst>
              </p:cNvPr>
              <p:cNvSpPr>
                <a:spLocks noChangeShapeType="1"/>
              </p:cNvSpPr>
              <p:nvPr/>
            </p:nvSpPr>
            <p:spPr bwMode="auto">
              <a:xfrm>
                <a:off x="3216" y="1440"/>
                <a:ext cx="0" cy="28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endParaRPr lang="en-US"/>
              </a:p>
            </p:txBody>
          </p:sp>
        </p:grpSp>
        <p:sp>
          <p:nvSpPr>
            <p:cNvPr id="67596" name="Text Box 25">
              <a:extLst>
                <a:ext uri="{FF2B5EF4-FFF2-40B4-BE49-F238E27FC236}">
                  <a16:creationId xmlns:a16="http://schemas.microsoft.com/office/drawing/2014/main" id="{84F86076-EF31-7A7E-F3D5-E5C0E18A347F}"/>
                </a:ext>
              </a:extLst>
            </p:cNvPr>
            <p:cNvSpPr txBox="1">
              <a:spLocks noChangeArrowheads="1"/>
            </p:cNvSpPr>
            <p:nvPr/>
          </p:nvSpPr>
          <p:spPr bwMode="auto">
            <a:xfrm>
              <a:off x="624"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1</a:t>
              </a:r>
            </a:p>
          </p:txBody>
        </p:sp>
        <p:sp>
          <p:nvSpPr>
            <p:cNvPr id="67597" name="Text Box 26">
              <a:extLst>
                <a:ext uri="{FF2B5EF4-FFF2-40B4-BE49-F238E27FC236}">
                  <a16:creationId xmlns:a16="http://schemas.microsoft.com/office/drawing/2014/main" id="{48AE9916-492B-BEBA-3ADA-C6E4760DD95C}"/>
                </a:ext>
              </a:extLst>
            </p:cNvPr>
            <p:cNvSpPr txBox="1">
              <a:spLocks noChangeArrowheads="1"/>
            </p:cNvSpPr>
            <p:nvPr/>
          </p:nvSpPr>
          <p:spPr bwMode="auto">
            <a:xfrm>
              <a:off x="960"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2</a:t>
              </a:r>
            </a:p>
          </p:txBody>
        </p:sp>
        <p:sp>
          <p:nvSpPr>
            <p:cNvPr id="67598" name="Text Box 27">
              <a:extLst>
                <a:ext uri="{FF2B5EF4-FFF2-40B4-BE49-F238E27FC236}">
                  <a16:creationId xmlns:a16="http://schemas.microsoft.com/office/drawing/2014/main" id="{07449E4D-A932-8340-AB9E-ADE760FDF154}"/>
                </a:ext>
              </a:extLst>
            </p:cNvPr>
            <p:cNvSpPr txBox="1">
              <a:spLocks noChangeArrowheads="1"/>
            </p:cNvSpPr>
            <p:nvPr/>
          </p:nvSpPr>
          <p:spPr bwMode="auto">
            <a:xfrm>
              <a:off x="1296"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3</a:t>
              </a:r>
            </a:p>
          </p:txBody>
        </p:sp>
        <p:sp>
          <p:nvSpPr>
            <p:cNvPr id="67599" name="Text Box 28">
              <a:extLst>
                <a:ext uri="{FF2B5EF4-FFF2-40B4-BE49-F238E27FC236}">
                  <a16:creationId xmlns:a16="http://schemas.microsoft.com/office/drawing/2014/main" id="{DDBACB88-EB3C-5B16-A1F2-DCFA6654E4C8}"/>
                </a:ext>
              </a:extLst>
            </p:cNvPr>
            <p:cNvSpPr txBox="1">
              <a:spLocks noChangeArrowheads="1"/>
            </p:cNvSpPr>
            <p:nvPr/>
          </p:nvSpPr>
          <p:spPr bwMode="auto">
            <a:xfrm>
              <a:off x="1632"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4</a:t>
              </a:r>
            </a:p>
          </p:txBody>
        </p:sp>
        <p:sp>
          <p:nvSpPr>
            <p:cNvPr id="67600" name="Text Box 29">
              <a:extLst>
                <a:ext uri="{FF2B5EF4-FFF2-40B4-BE49-F238E27FC236}">
                  <a16:creationId xmlns:a16="http://schemas.microsoft.com/office/drawing/2014/main" id="{B72F5ECF-0335-A7E9-11D8-0DB0C1B9F121}"/>
                </a:ext>
              </a:extLst>
            </p:cNvPr>
            <p:cNvSpPr txBox="1">
              <a:spLocks noChangeArrowheads="1"/>
            </p:cNvSpPr>
            <p:nvPr/>
          </p:nvSpPr>
          <p:spPr bwMode="auto">
            <a:xfrm>
              <a:off x="1968"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5</a:t>
              </a:r>
            </a:p>
          </p:txBody>
        </p:sp>
        <p:sp>
          <p:nvSpPr>
            <p:cNvPr id="67601" name="Text Box 30">
              <a:extLst>
                <a:ext uri="{FF2B5EF4-FFF2-40B4-BE49-F238E27FC236}">
                  <a16:creationId xmlns:a16="http://schemas.microsoft.com/office/drawing/2014/main" id="{4CAF2EB5-BD91-58FF-0A64-1FD50AE19835}"/>
                </a:ext>
              </a:extLst>
            </p:cNvPr>
            <p:cNvSpPr txBox="1">
              <a:spLocks noChangeArrowheads="1"/>
            </p:cNvSpPr>
            <p:nvPr/>
          </p:nvSpPr>
          <p:spPr bwMode="auto">
            <a:xfrm>
              <a:off x="2304"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6</a:t>
              </a:r>
            </a:p>
          </p:txBody>
        </p:sp>
        <p:sp>
          <p:nvSpPr>
            <p:cNvPr id="67602" name="Text Box 31">
              <a:extLst>
                <a:ext uri="{FF2B5EF4-FFF2-40B4-BE49-F238E27FC236}">
                  <a16:creationId xmlns:a16="http://schemas.microsoft.com/office/drawing/2014/main" id="{400ECD17-8C56-261C-7F4D-88238DE51CF0}"/>
                </a:ext>
              </a:extLst>
            </p:cNvPr>
            <p:cNvSpPr txBox="1">
              <a:spLocks noChangeArrowheads="1"/>
            </p:cNvSpPr>
            <p:nvPr/>
          </p:nvSpPr>
          <p:spPr bwMode="auto">
            <a:xfrm>
              <a:off x="2640"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7</a:t>
              </a:r>
            </a:p>
          </p:txBody>
        </p:sp>
        <p:sp>
          <p:nvSpPr>
            <p:cNvPr id="67603" name="Text Box 32">
              <a:extLst>
                <a:ext uri="{FF2B5EF4-FFF2-40B4-BE49-F238E27FC236}">
                  <a16:creationId xmlns:a16="http://schemas.microsoft.com/office/drawing/2014/main" id="{99048CBB-D54D-509A-32D7-D121FD8641CB}"/>
                </a:ext>
              </a:extLst>
            </p:cNvPr>
            <p:cNvSpPr txBox="1">
              <a:spLocks noChangeArrowheads="1"/>
            </p:cNvSpPr>
            <p:nvPr/>
          </p:nvSpPr>
          <p:spPr bwMode="auto">
            <a:xfrm>
              <a:off x="2976" y="1392"/>
              <a:ext cx="1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latin typeface="Times New Roman" panose="02020603050405020304" pitchFamily="18" charset="0"/>
                </a:rPr>
                <a:t>8</a:t>
              </a:r>
            </a:p>
          </p:txBody>
        </p:sp>
      </p:grpSp>
      <p:grpSp>
        <p:nvGrpSpPr>
          <p:cNvPr id="67590" name="Group 33">
            <a:extLst>
              <a:ext uri="{FF2B5EF4-FFF2-40B4-BE49-F238E27FC236}">
                <a16:creationId xmlns:a16="http://schemas.microsoft.com/office/drawing/2014/main" id="{31B731C2-6898-4724-7C1E-6C7036B02C56}"/>
              </a:ext>
            </a:extLst>
          </p:cNvPr>
          <p:cNvGrpSpPr>
            <a:grpSpLocks/>
          </p:cNvGrpSpPr>
          <p:nvPr/>
        </p:nvGrpSpPr>
        <p:grpSpPr bwMode="auto">
          <a:xfrm>
            <a:off x="7000875" y="2243138"/>
            <a:ext cx="1103313" cy="690562"/>
            <a:chOff x="3936" y="2448"/>
            <a:chExt cx="695" cy="435"/>
          </a:xfrm>
        </p:grpSpPr>
        <p:sp>
          <p:nvSpPr>
            <p:cNvPr id="67592" name="Text Box 34">
              <a:extLst>
                <a:ext uri="{FF2B5EF4-FFF2-40B4-BE49-F238E27FC236}">
                  <a16:creationId xmlns:a16="http://schemas.microsoft.com/office/drawing/2014/main" id="{810FA44E-E4D0-634D-1C71-52631764E4E5}"/>
                </a:ext>
              </a:extLst>
            </p:cNvPr>
            <p:cNvSpPr txBox="1">
              <a:spLocks noChangeArrowheads="1"/>
            </p:cNvSpPr>
            <p:nvPr/>
          </p:nvSpPr>
          <p:spPr bwMode="auto">
            <a:xfrm>
              <a:off x="4224" y="2592"/>
              <a:ext cx="40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b="1">
                  <a:latin typeface="Times New Roman" panose="02020603050405020304" pitchFamily="18" charset="0"/>
                </a:rPr>
                <a:t>key</a:t>
              </a:r>
            </a:p>
          </p:txBody>
        </p:sp>
        <p:sp>
          <p:nvSpPr>
            <p:cNvPr id="67593" name="Line 35">
              <a:extLst>
                <a:ext uri="{FF2B5EF4-FFF2-40B4-BE49-F238E27FC236}">
                  <a16:creationId xmlns:a16="http://schemas.microsoft.com/office/drawing/2014/main" id="{D5703388-6D7E-9558-0DE2-2DDDC1032552}"/>
                </a:ext>
              </a:extLst>
            </p:cNvPr>
            <p:cNvSpPr>
              <a:spLocks noChangeShapeType="1"/>
            </p:cNvSpPr>
            <p:nvPr/>
          </p:nvSpPr>
          <p:spPr bwMode="auto">
            <a:xfrm flipH="1">
              <a:off x="3936" y="2736"/>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4" name="Line 36">
              <a:extLst>
                <a:ext uri="{FF2B5EF4-FFF2-40B4-BE49-F238E27FC236}">
                  <a16:creationId xmlns:a16="http://schemas.microsoft.com/office/drawing/2014/main" id="{5278DD73-4ECC-E50C-A4CA-DA6AD61ED7B3}"/>
                </a:ext>
              </a:extLst>
            </p:cNvPr>
            <p:cNvSpPr>
              <a:spLocks noChangeShapeType="1"/>
            </p:cNvSpPr>
            <p:nvPr/>
          </p:nvSpPr>
          <p:spPr bwMode="auto">
            <a:xfrm flipV="1">
              <a:off x="3936" y="2448"/>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67591" name="AutoShape 37">
            <a:extLst>
              <a:ext uri="{FF2B5EF4-FFF2-40B4-BE49-F238E27FC236}">
                <a16:creationId xmlns:a16="http://schemas.microsoft.com/office/drawing/2014/main" id="{93FAE001-9321-66FC-40A8-06E9D8201432}"/>
              </a:ext>
            </a:extLst>
          </p:cNvPr>
          <p:cNvSpPr>
            <a:spLocks noChangeArrowheads="1"/>
          </p:cNvSpPr>
          <p:nvPr/>
        </p:nvSpPr>
        <p:spPr bwMode="auto">
          <a:xfrm rot="13585926">
            <a:off x="664465" y="2119232"/>
            <a:ext cx="131763" cy="123825"/>
          </a:xfrm>
          <a:prstGeom prst="rtTriangl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 name="Title 2"/>
          <p:cNvSpPr>
            <a:spLocks noGrp="1"/>
          </p:cNvSpPr>
          <p:nvPr>
            <p:ph type="title"/>
          </p:nvPr>
        </p:nvSpPr>
        <p:spPr>
          <a:xfrm>
            <a:off x="1403750" y="488354"/>
            <a:ext cx="6172200" cy="857250"/>
          </a:xfrm>
        </p:spPr>
        <p:txBody>
          <a:bodyPr>
            <a:normAutofit fontScale="90000"/>
          </a:bodyPr>
          <a:lstStyle/>
          <a:p>
            <a:pPr eaLnBrk="1" hangingPunct="1"/>
            <a:r>
              <a:rPr lang="en-US" dirty="0"/>
              <a:t>Example  (ascending order)</a:t>
            </a:r>
          </a:p>
        </p:txBody>
      </p:sp>
      <p:graphicFrame>
        <p:nvGraphicFramePr>
          <p:cNvPr id="4" name="Content Placeholder 3"/>
          <p:cNvGraphicFramePr>
            <a:graphicFrameLocks noGrp="1"/>
          </p:cNvGraphicFramePr>
          <p:nvPr>
            <p:ph idx="1"/>
          </p:nvPr>
        </p:nvGraphicFramePr>
        <p:xfrm>
          <a:off x="3333753" y="2187183"/>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799">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Original</a:t>
                      </a:r>
                      <a:r>
                        <a:rPr lang="en-US" sz="1100" b="0" baseline="0" dirty="0">
                          <a:solidFill>
                            <a:schemeClr val="tx1"/>
                          </a:solidFill>
                        </a:rPr>
                        <a:t> Array</a:t>
                      </a:r>
                      <a:endParaRPr lang="en-US" sz="1100" b="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5" name="Content Placeholder 3"/>
          <p:cNvGraphicFramePr>
            <a:graphicFrameLocks/>
          </p:cNvGraphicFramePr>
          <p:nvPr/>
        </p:nvGraphicFramePr>
        <p:xfrm>
          <a:off x="3320658" y="2908701"/>
          <a:ext cx="5212081"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69473">
                  <a:extLst>
                    <a:ext uri="{9D8B030D-6E8A-4147-A177-3AD203B41FA5}">
                      <a16:colId xmlns:a16="http://schemas.microsoft.com/office/drawing/2014/main" val="20001"/>
                    </a:ext>
                  </a:extLst>
                </a:gridCol>
                <a:gridCol w="702127">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Iteration 1</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ctr" rtl="0" eaLnBrk="1" latinLnBrk="0" hangingPunct="1"/>
                      <a:r>
                        <a:rPr kumimoji="0" lang="en-US" sz="1200" b="0" kern="1200" dirty="0">
                          <a:solidFill>
                            <a:schemeClr val="tx1"/>
                          </a:solidFill>
                          <a:latin typeface="+mn-lt"/>
                          <a:ea typeface="+mn-ea"/>
                          <a:cs typeface="+mn-cs"/>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6" name="Content Placeholder 3"/>
          <p:cNvGraphicFramePr>
            <a:graphicFrameLocks/>
          </p:cNvGraphicFramePr>
          <p:nvPr/>
        </p:nvGraphicFramePr>
        <p:xfrm>
          <a:off x="3287319" y="3738567"/>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Iteration</a:t>
                      </a:r>
                      <a:r>
                        <a:rPr lang="en-US" sz="1100" b="0" baseline="0" dirty="0">
                          <a:solidFill>
                            <a:schemeClr val="tx1"/>
                          </a:solidFill>
                        </a:rPr>
                        <a:t> 2</a:t>
                      </a:r>
                      <a:endParaRPr lang="en-US" sz="1100" b="0" dirty="0">
                        <a:solidFill>
                          <a:schemeClr val="tx1"/>
                        </a:solidFill>
                      </a:endParaRPr>
                    </a:p>
                    <a:p>
                      <a:r>
                        <a:rPr lang="en-US" sz="1100" b="0" dirty="0">
                          <a:solidFill>
                            <a:schemeClr val="tx1"/>
                          </a:solidFill>
                        </a:rPr>
                        <a:t>S0: 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8" name="Straight Arrow Connector 7"/>
          <p:cNvCxnSpPr/>
          <p:nvPr/>
        </p:nvCxnSpPr>
        <p:spPr>
          <a:xfrm>
            <a:off x="4156476" y="3424241"/>
            <a:ext cx="577453" cy="95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175526" y="4384770"/>
            <a:ext cx="1293019" cy="95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3"/>
          <p:cNvGraphicFramePr>
            <a:graphicFrameLocks/>
          </p:cNvGraphicFramePr>
          <p:nvPr/>
        </p:nvGraphicFramePr>
        <p:xfrm>
          <a:off x="3274222" y="4557717"/>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Iteration</a:t>
                      </a:r>
                      <a:r>
                        <a:rPr lang="en-US" sz="1100" b="0" baseline="0" dirty="0">
                          <a:solidFill>
                            <a:schemeClr val="tx1"/>
                          </a:solidFill>
                        </a:rPr>
                        <a:t> 3</a:t>
                      </a:r>
                      <a:endParaRPr lang="en-US" sz="1100" b="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17" name="Content Placeholder 3"/>
          <p:cNvGraphicFramePr>
            <a:graphicFrameLocks/>
          </p:cNvGraphicFramePr>
          <p:nvPr>
            <p:extLst>
              <p:ext uri="{D42A27DB-BD31-4B8C-83A1-F6EECF244321}">
                <p14:modId xmlns:p14="http://schemas.microsoft.com/office/powerpoint/2010/main" val="2067711793"/>
              </p:ext>
            </p:extLst>
          </p:nvPr>
        </p:nvGraphicFramePr>
        <p:xfrm>
          <a:off x="3261126" y="5201844"/>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94&gt;55 Interchange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19" name="Straight Arrow Connector 18"/>
          <p:cNvCxnSpPr/>
          <p:nvPr/>
        </p:nvCxnSpPr>
        <p:spPr>
          <a:xfrm>
            <a:off x="4136234" y="5824538"/>
            <a:ext cx="202882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469609" y="2669381"/>
            <a:ext cx="20241" cy="2155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063730" y="2637239"/>
            <a:ext cx="20240" cy="21550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nvGraphicFramePr>
        <p:xfrm>
          <a:off x="3248028" y="2562600"/>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Iteration 4</a:t>
                      </a:r>
                    </a:p>
                    <a:p>
                      <a:r>
                        <a:rPr lang="en-US" sz="1100" b="0" baseline="0" dirty="0">
                          <a:solidFill>
                            <a:schemeClr val="tx1"/>
                          </a:solidFill>
                        </a:rPr>
                        <a:t>S0:Swap </a:t>
                      </a:r>
                      <a:endParaRPr lang="en-US" sz="1100" b="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6" name="Content Placeholder 3"/>
          <p:cNvGraphicFramePr>
            <a:graphicFrameLocks/>
          </p:cNvGraphicFramePr>
          <p:nvPr/>
        </p:nvGraphicFramePr>
        <p:xfrm>
          <a:off x="3244457" y="3147196"/>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55&lt;76</a:t>
                      </a:r>
                      <a:r>
                        <a:rPr lang="en-US" sz="1100" b="0" baseline="0" dirty="0">
                          <a:solidFill>
                            <a:schemeClr val="tx1"/>
                          </a:solidFill>
                        </a:rPr>
                        <a:t> True</a:t>
                      </a:r>
                    </a:p>
                    <a:p>
                      <a:r>
                        <a:rPr lang="en-US" sz="1100" b="0" baseline="0" dirty="0">
                          <a:solidFill>
                            <a:schemeClr val="tx1"/>
                          </a:solidFill>
                        </a:rPr>
                        <a:t>Swap </a:t>
                      </a:r>
                      <a:endParaRPr lang="en-US" sz="1100" b="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7" name="Content Placeholder 3"/>
          <p:cNvGraphicFramePr>
            <a:graphicFrameLocks/>
          </p:cNvGraphicFramePr>
          <p:nvPr/>
        </p:nvGraphicFramePr>
        <p:xfrm>
          <a:off x="3242076" y="3771084"/>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55&lt;3</a:t>
                      </a:r>
                      <a:r>
                        <a:rPr lang="en-US" sz="1100" b="0" baseline="0" dirty="0">
                          <a:solidFill>
                            <a:schemeClr val="tx1"/>
                          </a:solidFill>
                        </a:rPr>
                        <a:t> No</a:t>
                      </a:r>
                    </a:p>
                    <a:p>
                      <a:r>
                        <a:rPr lang="en-US" sz="1100" b="0" baseline="0" dirty="0">
                          <a:solidFill>
                            <a:schemeClr val="tx1"/>
                          </a:solidFill>
                        </a:rPr>
                        <a:t>Leave  </a:t>
                      </a:r>
                      <a:endParaRPr lang="en-US" sz="1100" b="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10" name="Straight Arrow Connector 9"/>
          <p:cNvCxnSpPr/>
          <p:nvPr/>
        </p:nvCxnSpPr>
        <p:spPr>
          <a:xfrm>
            <a:off x="4107659" y="5060527"/>
            <a:ext cx="2801541"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309" name="Title 10"/>
          <p:cNvSpPr>
            <a:spLocks noGrp="1"/>
          </p:cNvSpPr>
          <p:nvPr>
            <p:ph type="title"/>
          </p:nvPr>
        </p:nvSpPr>
        <p:spPr>
          <a:xfrm>
            <a:off x="3009900" y="1238357"/>
            <a:ext cx="6229350" cy="857250"/>
          </a:xfrm>
        </p:spPr>
        <p:txBody>
          <a:bodyPr/>
          <a:lstStyle/>
          <a:p>
            <a:pPr eaLnBrk="1" hangingPunct="1"/>
            <a:r>
              <a:rPr lang="en-US" dirty="0"/>
              <a:t>Cont . . . </a:t>
            </a: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3009900" y="1179574"/>
            <a:ext cx="6229350" cy="857250"/>
          </a:xfrm>
        </p:spPr>
        <p:txBody>
          <a:bodyPr/>
          <a:lstStyle/>
          <a:p>
            <a:pPr eaLnBrk="1" hangingPunct="1"/>
            <a:r>
              <a:rPr lang="en-US" dirty="0"/>
              <a:t>Cont . . . . </a:t>
            </a:r>
          </a:p>
        </p:txBody>
      </p:sp>
      <p:graphicFrame>
        <p:nvGraphicFramePr>
          <p:cNvPr id="3" name="Content Placeholder 3"/>
          <p:cNvGraphicFramePr>
            <a:graphicFrameLocks/>
          </p:cNvGraphicFramePr>
          <p:nvPr/>
        </p:nvGraphicFramePr>
        <p:xfrm>
          <a:off x="3248028" y="2160989"/>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Iteration   5</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4" name="Content Placeholder 3"/>
          <p:cNvGraphicFramePr>
            <a:graphicFrameLocks/>
          </p:cNvGraphicFramePr>
          <p:nvPr/>
        </p:nvGraphicFramePr>
        <p:xfrm>
          <a:off x="3244457" y="2736060"/>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S0: True</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5" name="Content Placeholder 3"/>
          <p:cNvGraphicFramePr>
            <a:graphicFrameLocks/>
          </p:cNvGraphicFramePr>
          <p:nvPr/>
        </p:nvGraphicFramePr>
        <p:xfrm>
          <a:off x="3232551" y="3330183"/>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21&lt;76 True</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6" name="Content Placeholder 3"/>
          <p:cNvGraphicFramePr>
            <a:graphicFrameLocks/>
          </p:cNvGraphicFramePr>
          <p:nvPr/>
        </p:nvGraphicFramePr>
        <p:xfrm>
          <a:off x="3228978" y="3905254"/>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21&lt;55 True</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7" name="Content Placeholder 3"/>
          <p:cNvGraphicFramePr>
            <a:graphicFrameLocks/>
          </p:cNvGraphicFramePr>
          <p:nvPr/>
        </p:nvGraphicFramePr>
        <p:xfrm>
          <a:off x="3228978" y="4473183"/>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21&lt;3 No</a:t>
                      </a:r>
                    </a:p>
                    <a:p>
                      <a:r>
                        <a:rPr lang="en-US" sz="1100" b="0" dirty="0">
                          <a:solidFill>
                            <a:schemeClr val="tx1"/>
                          </a:solidFill>
                        </a:rPr>
                        <a:t>Leave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12" name="Straight Arrow Connector 11"/>
          <p:cNvCxnSpPr/>
          <p:nvPr/>
        </p:nvCxnSpPr>
        <p:spPr>
          <a:xfrm>
            <a:off x="4096944" y="5147852"/>
            <a:ext cx="3537347" cy="2024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3009900" y="1042412"/>
            <a:ext cx="6229350" cy="857250"/>
          </a:xfrm>
        </p:spPr>
        <p:txBody>
          <a:bodyPr/>
          <a:lstStyle/>
          <a:p>
            <a:pPr eaLnBrk="1" hangingPunct="1"/>
            <a:r>
              <a:rPr lang="en-US" dirty="0"/>
              <a:t>Cont . . . </a:t>
            </a:r>
          </a:p>
        </p:txBody>
      </p:sp>
      <p:graphicFrame>
        <p:nvGraphicFramePr>
          <p:cNvPr id="3" name="Content Placeholder 3"/>
          <p:cNvGraphicFramePr>
            <a:graphicFrameLocks/>
          </p:cNvGraphicFramePr>
          <p:nvPr/>
        </p:nvGraphicFramePr>
        <p:xfrm>
          <a:off x="3294463" y="2050260"/>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Iteration  6</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4" name="Content Placeholder 3"/>
          <p:cNvGraphicFramePr>
            <a:graphicFrameLocks/>
          </p:cNvGraphicFramePr>
          <p:nvPr/>
        </p:nvGraphicFramePr>
        <p:xfrm>
          <a:off x="3290891" y="2595567"/>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S0: true </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bl>
          </a:graphicData>
        </a:graphic>
      </p:graphicFrame>
      <p:graphicFrame>
        <p:nvGraphicFramePr>
          <p:cNvPr id="5" name="Content Placeholder 3"/>
          <p:cNvGraphicFramePr>
            <a:graphicFrameLocks/>
          </p:cNvGraphicFramePr>
          <p:nvPr/>
        </p:nvGraphicFramePr>
        <p:xfrm>
          <a:off x="3307560" y="3150398"/>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1&lt;76 true </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7" name="Content Placeholder 3"/>
          <p:cNvGraphicFramePr>
            <a:graphicFrameLocks/>
          </p:cNvGraphicFramePr>
          <p:nvPr/>
        </p:nvGraphicFramePr>
        <p:xfrm>
          <a:off x="3303988" y="3706420"/>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1&lt;55 true </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8" name="Content Placeholder 3"/>
          <p:cNvGraphicFramePr>
            <a:graphicFrameLocks/>
          </p:cNvGraphicFramePr>
          <p:nvPr/>
        </p:nvGraphicFramePr>
        <p:xfrm>
          <a:off x="3300416" y="4280301"/>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1&lt;21 true </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9" name="Content Placeholder 3"/>
          <p:cNvGraphicFramePr>
            <a:graphicFrameLocks/>
          </p:cNvGraphicFramePr>
          <p:nvPr/>
        </p:nvGraphicFramePr>
        <p:xfrm>
          <a:off x="3296844" y="4836323"/>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1&lt;3 true </a:t>
                      </a:r>
                    </a:p>
                    <a:p>
                      <a:r>
                        <a:rPr lang="en-US" sz="1100" b="0" dirty="0">
                          <a:solidFill>
                            <a:schemeClr val="tx1"/>
                          </a:solidFill>
                        </a:rPr>
                        <a:t>Swap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10" name="Content Placeholder 3"/>
          <p:cNvGraphicFramePr>
            <a:graphicFrameLocks/>
          </p:cNvGraphicFramePr>
          <p:nvPr/>
        </p:nvGraphicFramePr>
        <p:xfrm>
          <a:off x="3294463" y="5351864"/>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Sorted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55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76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1200" b="0" dirty="0">
                          <a:solidFill>
                            <a:schemeClr val="tx1"/>
                          </a:solidFill>
                        </a:rPr>
                        <a:t>94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cxnSp>
        <p:nvCxnSpPr>
          <p:cNvPr id="12" name="Straight Arrow Connector 11"/>
          <p:cNvCxnSpPr/>
          <p:nvPr/>
        </p:nvCxnSpPr>
        <p:spPr>
          <a:xfrm>
            <a:off x="4146951" y="5863829"/>
            <a:ext cx="4330303" cy="190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2"/>
          <p:cNvSpPr>
            <a:spLocks noGrp="1"/>
          </p:cNvSpPr>
          <p:nvPr>
            <p:ph type="title"/>
          </p:nvPr>
        </p:nvSpPr>
        <p:spPr>
          <a:xfrm>
            <a:off x="3138491" y="1131095"/>
            <a:ext cx="5915025" cy="994172"/>
          </a:xfrm>
        </p:spPr>
        <p:txBody>
          <a:bodyPr/>
          <a:lstStyle/>
          <a:p>
            <a:pPr eaLnBrk="1" hangingPunct="1"/>
            <a:r>
              <a:rPr lang="en-US"/>
              <a:t>Cont . . . </a:t>
            </a:r>
          </a:p>
        </p:txBody>
      </p:sp>
      <p:sp>
        <p:nvSpPr>
          <p:cNvPr id="12290" name="Content Placeholder 3"/>
          <p:cNvSpPr>
            <a:spLocks noGrp="1"/>
          </p:cNvSpPr>
          <p:nvPr>
            <p:ph idx="1"/>
          </p:nvPr>
        </p:nvSpPr>
        <p:spPr/>
        <p:txBody>
          <a:bodyPr/>
          <a:lstStyle/>
          <a:p>
            <a:pPr eaLnBrk="1" hangingPunct="1"/>
            <a:r>
              <a:rPr lang="en-US"/>
              <a:t>Task :</a:t>
            </a:r>
          </a:p>
          <a:p>
            <a:pPr lvl="1" eaLnBrk="1" hangingPunct="1"/>
            <a:r>
              <a:rPr lang="en-US"/>
              <a:t>Sort the following into descending order</a:t>
            </a:r>
          </a:p>
          <a:p>
            <a:pPr lvl="1" eaLnBrk="1" hangingPunct="1">
              <a:buFont typeface="Wingdings" pitchFamily="2" charset="2"/>
              <a:buNone/>
            </a:pPr>
            <a:endParaRPr lang="en-US"/>
          </a:p>
        </p:txBody>
      </p:sp>
      <p:graphicFrame>
        <p:nvGraphicFramePr>
          <p:cNvPr id="5" name="Content Placeholder 3"/>
          <p:cNvGraphicFramePr>
            <a:graphicFrameLocks/>
          </p:cNvGraphicFramePr>
          <p:nvPr/>
        </p:nvGraphicFramePr>
        <p:xfrm>
          <a:off x="3294463" y="3392095"/>
          <a:ext cx="5212080" cy="404065"/>
        </p:xfrm>
        <a:graphic>
          <a:graphicData uri="http://schemas.openxmlformats.org/drawingml/2006/table">
            <a:tbl>
              <a:tblPr firstRow="1" bandRow="1">
                <a:tableStyleId>{5C22544A-7EE6-4342-B048-85BDC9FD1C3A}</a:tableStyleId>
              </a:tblPr>
              <a:tblGrid>
                <a:gridCol w="862149">
                  <a:extLst>
                    <a:ext uri="{9D8B030D-6E8A-4147-A177-3AD203B41FA5}">
                      <a16:colId xmlns:a16="http://schemas.microsoft.com/office/drawing/2014/main" val="20000"/>
                    </a:ext>
                  </a:extLst>
                </a:gridCol>
                <a:gridCol w="692334">
                  <a:extLst>
                    <a:ext uri="{9D8B030D-6E8A-4147-A177-3AD203B41FA5}">
                      <a16:colId xmlns:a16="http://schemas.microsoft.com/office/drawing/2014/main" val="20001"/>
                    </a:ext>
                  </a:extLst>
                </a:gridCol>
                <a:gridCol w="679265">
                  <a:extLst>
                    <a:ext uri="{9D8B030D-6E8A-4147-A177-3AD203B41FA5}">
                      <a16:colId xmlns:a16="http://schemas.microsoft.com/office/drawing/2014/main" val="20002"/>
                    </a:ext>
                  </a:extLst>
                </a:gridCol>
                <a:gridCol w="744583">
                  <a:extLst>
                    <a:ext uri="{9D8B030D-6E8A-4147-A177-3AD203B41FA5}">
                      <a16:colId xmlns:a16="http://schemas.microsoft.com/office/drawing/2014/main" val="20003"/>
                    </a:ext>
                  </a:extLst>
                </a:gridCol>
                <a:gridCol w="744583">
                  <a:extLst>
                    <a:ext uri="{9D8B030D-6E8A-4147-A177-3AD203B41FA5}">
                      <a16:colId xmlns:a16="http://schemas.microsoft.com/office/drawing/2014/main" val="20004"/>
                    </a:ext>
                  </a:extLst>
                </a:gridCol>
                <a:gridCol w="744583">
                  <a:extLst>
                    <a:ext uri="{9D8B030D-6E8A-4147-A177-3AD203B41FA5}">
                      <a16:colId xmlns:a16="http://schemas.microsoft.com/office/drawing/2014/main" val="20005"/>
                    </a:ext>
                  </a:extLst>
                </a:gridCol>
                <a:gridCol w="744583">
                  <a:extLst>
                    <a:ext uri="{9D8B030D-6E8A-4147-A177-3AD203B41FA5}">
                      <a16:colId xmlns:a16="http://schemas.microsoft.com/office/drawing/2014/main" val="20006"/>
                    </a:ext>
                  </a:extLst>
                </a:gridCol>
              </a:tblGrid>
              <a:tr h="404065">
                <a:tc>
                  <a:txBody>
                    <a:bodyPr/>
                    <a:lstStyle/>
                    <a:p>
                      <a:r>
                        <a:rPr lang="en-US" sz="1100" b="0" dirty="0">
                          <a:solidFill>
                            <a:schemeClr val="tx1"/>
                          </a:solidFill>
                        </a:rPr>
                        <a:t>Un Sorted</a:t>
                      </a:r>
                    </a:p>
                    <a:p>
                      <a:r>
                        <a:rPr lang="en-US" sz="1100" b="0" dirty="0">
                          <a:solidFill>
                            <a:schemeClr val="tx1"/>
                          </a:solidFill>
                        </a:rPr>
                        <a:t>Array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solidFill>
                            <a:schemeClr val="tx1"/>
                          </a:solidFill>
                        </a:rPr>
                        <a:t>9</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51" name="Rectangle 29"/>
          <p:cNvSpPr>
            <a:spLocks noGrp="1" noChangeArrowheads="1"/>
          </p:cNvSpPr>
          <p:nvPr>
            <p:ph type="title"/>
          </p:nvPr>
        </p:nvSpPr>
        <p:spPr>
          <a:xfrm>
            <a:off x="1230796" y="596573"/>
            <a:ext cx="6172200" cy="857250"/>
          </a:xfrm>
        </p:spPr>
        <p:txBody>
          <a:bodyPr/>
          <a:lstStyle/>
          <a:p>
            <a:r>
              <a:rPr lang="en-US" dirty="0"/>
              <a:t>Merging</a:t>
            </a:r>
          </a:p>
        </p:txBody>
      </p:sp>
      <p:sp>
        <p:nvSpPr>
          <p:cNvPr id="18452" name="Rectangle 30"/>
          <p:cNvSpPr>
            <a:spLocks noGrp="1" noChangeArrowheads="1"/>
          </p:cNvSpPr>
          <p:nvPr>
            <p:ph idx="1"/>
          </p:nvPr>
        </p:nvSpPr>
        <p:spPr>
          <a:xfrm>
            <a:off x="1073425" y="1967948"/>
            <a:ext cx="10624931" cy="4065103"/>
          </a:xfrm>
        </p:spPr>
        <p:txBody>
          <a:bodyPr>
            <a:normAutofit fontScale="92500" lnSpcReduction="10000"/>
          </a:bodyPr>
          <a:lstStyle/>
          <a:p>
            <a:pPr marL="259556" lvl="1" indent="-173831"/>
            <a:r>
              <a:rPr lang="en-US" sz="2800" dirty="0"/>
              <a:t>If there are two sorted lists of array then process of combining these sorted lists into sorted order is called merging.</a:t>
            </a:r>
          </a:p>
          <a:p>
            <a:pPr marL="259556" lvl="1" indent="-173831"/>
            <a:r>
              <a:rPr lang="en-US" sz="2800" dirty="0"/>
              <a:t>We can take this process with two approaches.</a:t>
            </a:r>
          </a:p>
          <a:p>
            <a:pPr marL="259556" lvl="1" indent="-173831"/>
            <a:r>
              <a:rPr lang="en-US" sz="2800" dirty="0"/>
              <a:t>First one, take the first array, after that take second array and sort them with any sorting.</a:t>
            </a:r>
          </a:p>
          <a:p>
            <a:pPr marL="259556" lvl="1" indent="-173831"/>
            <a:r>
              <a:rPr lang="en-US" sz="2800" dirty="0"/>
              <a:t>But it is not useful because both the lists are sorted and we are taking them as unsorted list.</a:t>
            </a:r>
          </a:p>
          <a:p>
            <a:pPr marL="259556" lvl="1" indent="-173831"/>
            <a:r>
              <a:rPr lang="en-US" sz="2800" b="1" dirty="0"/>
              <a:t>The second approach is to take one element of each array, compare them and then take the smaller one in third array. Repeat this process until the elements of any array are finished. Then take the remaining elements of unfinished array in third array.</a:t>
            </a:r>
          </a:p>
        </p:txBody>
      </p:sp>
    </p:spTree>
    <p:extLst>
      <p:ext uri="{BB962C8B-B14F-4D97-AF65-F5344CB8AC3E}">
        <p14:creationId xmlns:p14="http://schemas.microsoft.com/office/powerpoint/2010/main" val="608611840"/>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sp>
        <p:nvSpPr>
          <p:cNvPr id="18435" name="Text Box 3"/>
          <p:cNvSpPr txBox="1">
            <a:spLocks noChangeArrowheads="1"/>
          </p:cNvSpPr>
          <p:nvPr/>
        </p:nvSpPr>
        <p:spPr bwMode="auto">
          <a:xfrm>
            <a:off x="3009900" y="3486151"/>
            <a:ext cx="1428750" cy="369332"/>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18436" name="AutoShape 4"/>
          <p:cNvSpPr>
            <a:spLocks noChangeArrowheads="1"/>
          </p:cNvSpPr>
          <p:nvPr/>
        </p:nvSpPr>
        <p:spPr bwMode="auto">
          <a:xfrm>
            <a:off x="3581400" y="3771900"/>
            <a:ext cx="228600" cy="228600"/>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sp>
        <p:nvSpPr>
          <p:cNvPr id="18437" name="Text Box 5"/>
          <p:cNvSpPr txBox="1">
            <a:spLocks noChangeArrowheads="1"/>
          </p:cNvSpPr>
          <p:nvPr/>
        </p:nvSpPr>
        <p:spPr bwMode="auto">
          <a:xfrm>
            <a:off x="5353050" y="3486151"/>
            <a:ext cx="1428750" cy="369332"/>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18438" name="AutoShape 6"/>
          <p:cNvSpPr>
            <a:spLocks noChangeArrowheads="1"/>
          </p:cNvSpPr>
          <p:nvPr/>
        </p:nvSpPr>
        <p:spPr bwMode="auto">
          <a:xfrm>
            <a:off x="5924550" y="3771900"/>
            <a:ext cx="228600" cy="228600"/>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nvGrpSpPr>
          <p:cNvPr id="18439" name="Group 7"/>
          <p:cNvGrpSpPr>
            <a:grpSpLocks/>
          </p:cNvGrpSpPr>
          <p:nvPr/>
        </p:nvGrpSpPr>
        <p:grpSpPr bwMode="auto">
          <a:xfrm>
            <a:off x="3467100" y="4114800"/>
            <a:ext cx="2000250" cy="285750"/>
            <a:chOff x="816" y="3264"/>
            <a:chExt cx="1680" cy="240"/>
          </a:xfrm>
        </p:grpSpPr>
        <p:sp>
          <p:nvSpPr>
            <p:cNvPr id="18459" name="Rectangle 8"/>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18460" name="Rectangle 9"/>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18461" name="Rectangle 10"/>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18462" name="Rectangle 11"/>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18463" name="Rectangle 12"/>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18440" name="Group 13"/>
          <p:cNvGrpSpPr>
            <a:grpSpLocks/>
          </p:cNvGrpSpPr>
          <p:nvPr/>
        </p:nvGrpSpPr>
        <p:grpSpPr bwMode="auto">
          <a:xfrm>
            <a:off x="5867400" y="4114800"/>
            <a:ext cx="2000250" cy="285750"/>
            <a:chOff x="2880" y="3264"/>
            <a:chExt cx="1680" cy="240"/>
          </a:xfrm>
        </p:grpSpPr>
        <p:sp>
          <p:nvSpPr>
            <p:cNvPr id="18454" name="Rectangle 14"/>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18455" name="Rectangle 15"/>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18456" name="Rectangle 16"/>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18457" name="Rectangle 17"/>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18458" name="Rectangle 18"/>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18441" name="Rectangle 19"/>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endParaRPr lang="en-US" b="1">
              <a:latin typeface="Courier New" pitchFamily="49" charset="0"/>
              <a:ea typeface="PMingLiU" pitchFamily="18" charset="-120"/>
            </a:endParaRPr>
          </a:p>
        </p:txBody>
      </p:sp>
      <p:sp>
        <p:nvSpPr>
          <p:cNvPr id="18442" name="Rectangle 20"/>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43" name="Rectangle 21"/>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44" name="Rectangle 22"/>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45" name="Rectangle 23"/>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46" name="Rectangle 24"/>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47" name="Rectangle 25"/>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48" name="Rectangle 26"/>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49" name="Rectangle 27"/>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50" name="Rectangle 28"/>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8451" name="Rectangle 29"/>
          <p:cNvSpPr>
            <a:spLocks noGrp="1" noChangeArrowheads="1"/>
          </p:cNvSpPr>
          <p:nvPr>
            <p:ph type="title"/>
          </p:nvPr>
        </p:nvSpPr>
        <p:spPr>
          <a:xfrm>
            <a:off x="2352675" y="430201"/>
            <a:ext cx="6172200" cy="857250"/>
          </a:xfrm>
        </p:spPr>
        <p:txBody>
          <a:bodyPr/>
          <a:lstStyle/>
          <a:p>
            <a:r>
              <a:rPr lang="en-US" dirty="0"/>
              <a:t>Merging</a:t>
            </a:r>
          </a:p>
        </p:txBody>
      </p:sp>
      <p:sp>
        <p:nvSpPr>
          <p:cNvPr id="18452" name="Rectangle 30"/>
          <p:cNvSpPr>
            <a:spLocks noGrp="1" noChangeArrowheads="1"/>
          </p:cNvSpPr>
          <p:nvPr>
            <p:ph idx="1"/>
          </p:nvPr>
        </p:nvSpPr>
        <p:spPr/>
        <p:txBody>
          <a:bodyPr/>
          <a:lstStyle/>
          <a:p>
            <a:pPr marL="0" indent="0"/>
            <a:r>
              <a:rPr lang="en-US" sz="3600" dirty="0"/>
              <a:t>Merge.</a:t>
            </a:r>
          </a:p>
          <a:p>
            <a:pPr marL="259556" lvl="1" indent="-173831"/>
            <a:r>
              <a:rPr lang="en-US" sz="2000" dirty="0"/>
              <a:t>Keep track of smallest element in each sorted half.</a:t>
            </a:r>
          </a:p>
          <a:p>
            <a:pPr marL="259556" lvl="1" indent="-173831"/>
            <a:r>
              <a:rPr lang="en-US" sz="2000" dirty="0"/>
              <a:t>Insert smallest of two elements into auxiliary array.</a:t>
            </a:r>
          </a:p>
          <a:p>
            <a:pPr marL="259556" lvl="1" indent="-173831"/>
            <a:r>
              <a:rPr lang="en-US" sz="2000" dirty="0"/>
              <a:t>Repeat until done.</a:t>
            </a:r>
          </a:p>
          <a:p>
            <a:pPr marL="259556" lvl="1" indent="-173831"/>
            <a:endParaRPr lang="en-US" dirty="0"/>
          </a:p>
        </p:txBody>
      </p:sp>
      <p:sp>
        <p:nvSpPr>
          <p:cNvPr id="89119" name="Rectangle 31"/>
          <p:cNvSpPr>
            <a:spLocks noChangeArrowheads="1"/>
          </p:cNvSpPr>
          <p:nvPr/>
        </p:nvSpPr>
        <p:spPr bwMode="auto">
          <a:xfrm>
            <a:off x="363855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A</a:t>
            </a:r>
          </a:p>
        </p:txBody>
      </p:sp>
    </p:spTree>
    <p:extLst>
      <p:ext uri="{BB962C8B-B14F-4D97-AF65-F5344CB8AC3E}">
        <p14:creationId xmlns:p14="http://schemas.microsoft.com/office/powerpoint/2010/main" val="30160644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9119"/>
                                        </p:tgtEl>
                                        <p:attrNameLst>
                                          <p:attrName>style.visibility</p:attrName>
                                        </p:attrNameLst>
                                      </p:cBhvr>
                                      <p:to>
                                        <p:strVal val="visible"/>
                                      </p:to>
                                    </p:set>
                                    <p:animEffect transition="in" filter="dissolve">
                                      <p:cBhvr>
                                        <p:cTn id="7" dur="500"/>
                                        <p:tgtEl>
                                          <p:spTgt spid="89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19"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grpSp>
        <p:nvGrpSpPr>
          <p:cNvPr id="19459" name="Group 3"/>
          <p:cNvGrpSpPr>
            <a:grpSpLocks/>
          </p:cNvGrpSpPr>
          <p:nvPr/>
        </p:nvGrpSpPr>
        <p:grpSpPr bwMode="auto">
          <a:xfrm>
            <a:off x="3352800" y="3486150"/>
            <a:ext cx="1428750" cy="514350"/>
            <a:chOff x="288" y="2208"/>
            <a:chExt cx="1200" cy="432"/>
          </a:xfrm>
        </p:grpSpPr>
        <p:sp>
          <p:nvSpPr>
            <p:cNvPr id="19488" name="Text Box 4"/>
            <p:cNvSpPr txBox="1">
              <a:spLocks noChangeArrowheads="1"/>
            </p:cNvSpPr>
            <p:nvPr/>
          </p:nvSpPr>
          <p:spPr bwMode="auto">
            <a:xfrm>
              <a:off x="288"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19489"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grpSp>
      <p:grpSp>
        <p:nvGrpSpPr>
          <p:cNvPr id="19460" name="Group 6"/>
          <p:cNvGrpSpPr>
            <a:grpSpLocks/>
          </p:cNvGrpSpPr>
          <p:nvPr/>
        </p:nvGrpSpPr>
        <p:grpSpPr bwMode="auto">
          <a:xfrm>
            <a:off x="5353050" y="3486150"/>
            <a:ext cx="1428750" cy="514350"/>
            <a:chOff x="2256" y="2208"/>
            <a:chExt cx="1200" cy="432"/>
          </a:xfrm>
        </p:grpSpPr>
        <p:sp>
          <p:nvSpPr>
            <p:cNvPr id="19486" name="Text Box 7"/>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19487"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19461" name="Group 9"/>
          <p:cNvGrpSpPr>
            <a:grpSpLocks/>
          </p:cNvGrpSpPr>
          <p:nvPr/>
        </p:nvGrpSpPr>
        <p:grpSpPr bwMode="auto">
          <a:xfrm>
            <a:off x="3467100" y="4114800"/>
            <a:ext cx="2000250" cy="285750"/>
            <a:chOff x="816" y="3264"/>
            <a:chExt cx="1680" cy="240"/>
          </a:xfrm>
        </p:grpSpPr>
        <p:sp>
          <p:nvSpPr>
            <p:cNvPr id="19481"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19482"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19483"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19484"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19485"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19462" name="Group 15"/>
          <p:cNvGrpSpPr>
            <a:grpSpLocks/>
          </p:cNvGrpSpPr>
          <p:nvPr/>
        </p:nvGrpSpPr>
        <p:grpSpPr bwMode="auto">
          <a:xfrm>
            <a:off x="5867400" y="4114800"/>
            <a:ext cx="2000250" cy="285750"/>
            <a:chOff x="2880" y="3264"/>
            <a:chExt cx="1680" cy="240"/>
          </a:xfrm>
        </p:grpSpPr>
        <p:sp>
          <p:nvSpPr>
            <p:cNvPr id="19476"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19477"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19478"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19479"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19480"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19463" name="Rectangle 21"/>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19464" name="Rectangle 22"/>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65" name="Rectangle 23"/>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66" name="Rectangle 24"/>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67" name="Rectangle 25"/>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68" name="Rectangle 26"/>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69" name="Rectangle 27"/>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70" name="Rectangle 28"/>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71" name="Rectangle 29"/>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72" name="Rectangle 30"/>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19473" name="Rectangle 31"/>
          <p:cNvSpPr>
            <a:spLocks noGrp="1" noChangeArrowheads="1"/>
          </p:cNvSpPr>
          <p:nvPr>
            <p:ph type="title"/>
          </p:nvPr>
        </p:nvSpPr>
        <p:spPr>
          <a:xfrm>
            <a:off x="1295400" y="510909"/>
            <a:ext cx="6172200" cy="857250"/>
          </a:xfrm>
        </p:spPr>
        <p:txBody>
          <a:bodyPr/>
          <a:lstStyle/>
          <a:p>
            <a:r>
              <a:rPr lang="en-US" dirty="0"/>
              <a:t>Merging</a:t>
            </a:r>
          </a:p>
        </p:txBody>
      </p:sp>
      <p:sp>
        <p:nvSpPr>
          <p:cNvPr id="19474" name="Rectangle 32"/>
          <p:cNvSpPr>
            <a:spLocks noGrp="1" noChangeArrowheads="1"/>
          </p:cNvSpPr>
          <p:nvPr>
            <p:ph idx="1"/>
          </p:nvPr>
        </p:nvSpPr>
        <p:spPr/>
        <p:txBody>
          <a:bodyPr/>
          <a:lstStyle/>
          <a:p>
            <a:pPr marL="0" indent="0"/>
            <a:r>
              <a:rPr lang="en-US" sz="18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sz="1200" dirty="0"/>
          </a:p>
        </p:txBody>
      </p:sp>
      <p:sp>
        <p:nvSpPr>
          <p:cNvPr id="91169" name="Rectangle 33"/>
          <p:cNvSpPr>
            <a:spLocks noChangeArrowheads="1"/>
          </p:cNvSpPr>
          <p:nvPr/>
        </p:nvSpPr>
        <p:spPr bwMode="auto">
          <a:xfrm>
            <a:off x="403860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G</a:t>
            </a:r>
          </a:p>
        </p:txBody>
      </p:sp>
    </p:spTree>
    <p:extLst>
      <p:ext uri="{BB962C8B-B14F-4D97-AF65-F5344CB8AC3E}">
        <p14:creationId xmlns:p14="http://schemas.microsoft.com/office/powerpoint/2010/main" val="380845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169"/>
                                        </p:tgtEl>
                                        <p:attrNameLst>
                                          <p:attrName>style.visibility</p:attrName>
                                        </p:attrNameLst>
                                      </p:cBhvr>
                                      <p:to>
                                        <p:strVal val="visible"/>
                                      </p:to>
                                    </p:set>
                                    <p:animEffect transition="in" filter="dissolve">
                                      <p:cBhvr>
                                        <p:cTn id="7" dur="500"/>
                                        <p:tgtEl>
                                          <p:spTgt spid="91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69"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grpSp>
        <p:nvGrpSpPr>
          <p:cNvPr id="20483" name="Group 3"/>
          <p:cNvGrpSpPr>
            <a:grpSpLocks/>
          </p:cNvGrpSpPr>
          <p:nvPr/>
        </p:nvGrpSpPr>
        <p:grpSpPr bwMode="auto">
          <a:xfrm>
            <a:off x="3752850" y="3486150"/>
            <a:ext cx="1428750" cy="514350"/>
            <a:chOff x="288" y="2208"/>
            <a:chExt cx="1200" cy="432"/>
          </a:xfrm>
        </p:grpSpPr>
        <p:sp>
          <p:nvSpPr>
            <p:cNvPr id="20512" name="Text Box 4"/>
            <p:cNvSpPr txBox="1">
              <a:spLocks noChangeArrowheads="1"/>
            </p:cNvSpPr>
            <p:nvPr/>
          </p:nvSpPr>
          <p:spPr bwMode="auto">
            <a:xfrm>
              <a:off x="288"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20513"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grpSp>
      <p:grpSp>
        <p:nvGrpSpPr>
          <p:cNvPr id="20484" name="Group 6"/>
          <p:cNvGrpSpPr>
            <a:grpSpLocks/>
          </p:cNvGrpSpPr>
          <p:nvPr/>
        </p:nvGrpSpPr>
        <p:grpSpPr bwMode="auto">
          <a:xfrm>
            <a:off x="5353050" y="3486150"/>
            <a:ext cx="1428750" cy="514350"/>
            <a:chOff x="2256" y="2208"/>
            <a:chExt cx="1200" cy="432"/>
          </a:xfrm>
        </p:grpSpPr>
        <p:sp>
          <p:nvSpPr>
            <p:cNvPr id="20510" name="Text Box 7"/>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0511"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0485" name="Group 9"/>
          <p:cNvGrpSpPr>
            <a:grpSpLocks/>
          </p:cNvGrpSpPr>
          <p:nvPr/>
        </p:nvGrpSpPr>
        <p:grpSpPr bwMode="auto">
          <a:xfrm>
            <a:off x="3467100" y="4114800"/>
            <a:ext cx="2000250" cy="285750"/>
            <a:chOff x="816" y="3264"/>
            <a:chExt cx="1680" cy="240"/>
          </a:xfrm>
        </p:grpSpPr>
        <p:sp>
          <p:nvSpPr>
            <p:cNvPr id="20505"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0506"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0507"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0508"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0509"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0486" name="Group 15"/>
          <p:cNvGrpSpPr>
            <a:grpSpLocks/>
          </p:cNvGrpSpPr>
          <p:nvPr/>
        </p:nvGrpSpPr>
        <p:grpSpPr bwMode="auto">
          <a:xfrm>
            <a:off x="5867400" y="4114800"/>
            <a:ext cx="2000250" cy="285750"/>
            <a:chOff x="2880" y="3264"/>
            <a:chExt cx="1680" cy="240"/>
          </a:xfrm>
        </p:grpSpPr>
        <p:sp>
          <p:nvSpPr>
            <p:cNvPr id="20500"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0501"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0502"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0503"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0504"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0487" name="Rectangle 21"/>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0488" name="Rectangle 22"/>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0489" name="Rectangle 23"/>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0" name="Rectangle 24"/>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1" name="Rectangle 25"/>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2" name="Rectangle 26"/>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3" name="Rectangle 27"/>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4" name="Rectangle 28"/>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5" name="Rectangle 29"/>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6" name="Rectangle 30"/>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0497" name="Rectangle 31"/>
          <p:cNvSpPr>
            <a:spLocks noGrp="1" noChangeArrowheads="1"/>
          </p:cNvSpPr>
          <p:nvPr>
            <p:ph type="title"/>
          </p:nvPr>
        </p:nvSpPr>
        <p:spPr>
          <a:xfrm>
            <a:off x="1181100" y="560281"/>
            <a:ext cx="6172200" cy="857250"/>
          </a:xfrm>
        </p:spPr>
        <p:txBody>
          <a:bodyPr/>
          <a:lstStyle/>
          <a:p>
            <a:r>
              <a:rPr lang="en-US" dirty="0"/>
              <a:t>Merging</a:t>
            </a:r>
          </a:p>
        </p:txBody>
      </p:sp>
      <p:sp>
        <p:nvSpPr>
          <p:cNvPr id="20498" name="Rectangle 32"/>
          <p:cNvSpPr>
            <a:spLocks noGrp="1" noChangeArrowheads="1"/>
          </p:cNvSpPr>
          <p:nvPr>
            <p:ph idx="1"/>
          </p:nvPr>
        </p:nvSpPr>
        <p:spPr/>
        <p:txBody>
          <a:bodyPr/>
          <a:lstStyle/>
          <a:p>
            <a:pPr marL="0" indent="0"/>
            <a:r>
              <a:rPr lang="en-US" sz="32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sz="1200" dirty="0"/>
          </a:p>
        </p:txBody>
      </p:sp>
      <p:sp>
        <p:nvSpPr>
          <p:cNvPr id="93217" name="Rectangle 33"/>
          <p:cNvSpPr>
            <a:spLocks noChangeArrowheads="1"/>
          </p:cNvSpPr>
          <p:nvPr/>
        </p:nvSpPr>
        <p:spPr bwMode="auto">
          <a:xfrm>
            <a:off x="443865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H</a:t>
            </a:r>
          </a:p>
        </p:txBody>
      </p:sp>
    </p:spTree>
    <p:extLst>
      <p:ext uri="{BB962C8B-B14F-4D97-AF65-F5344CB8AC3E}">
        <p14:creationId xmlns:p14="http://schemas.microsoft.com/office/powerpoint/2010/main" val="3763747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3217"/>
                                        </p:tgtEl>
                                        <p:attrNameLst>
                                          <p:attrName>style.visibility</p:attrName>
                                        </p:attrNameLst>
                                      </p:cBhvr>
                                      <p:to>
                                        <p:strVal val="visible"/>
                                      </p:to>
                                    </p:set>
                                    <p:animEffect transition="in" filter="dissolve">
                                      <p:cBhvr>
                                        <p:cTn id="7" dur="500"/>
                                        <p:tgtEl>
                                          <p:spTgt spid="93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17"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grpSp>
        <p:nvGrpSpPr>
          <p:cNvPr id="21507" name="Group 3"/>
          <p:cNvGrpSpPr>
            <a:grpSpLocks/>
          </p:cNvGrpSpPr>
          <p:nvPr/>
        </p:nvGrpSpPr>
        <p:grpSpPr bwMode="auto">
          <a:xfrm>
            <a:off x="3752850" y="3486150"/>
            <a:ext cx="1428750" cy="514350"/>
            <a:chOff x="288" y="2208"/>
            <a:chExt cx="1200" cy="432"/>
          </a:xfrm>
        </p:grpSpPr>
        <p:sp>
          <p:nvSpPr>
            <p:cNvPr id="21536" name="Text Box 4"/>
            <p:cNvSpPr txBox="1">
              <a:spLocks noChangeArrowheads="1"/>
            </p:cNvSpPr>
            <p:nvPr/>
          </p:nvSpPr>
          <p:spPr bwMode="auto">
            <a:xfrm>
              <a:off x="288"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21537"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grpSp>
      <p:grpSp>
        <p:nvGrpSpPr>
          <p:cNvPr id="21508" name="Group 6"/>
          <p:cNvGrpSpPr>
            <a:grpSpLocks/>
          </p:cNvGrpSpPr>
          <p:nvPr/>
        </p:nvGrpSpPr>
        <p:grpSpPr bwMode="auto">
          <a:xfrm>
            <a:off x="5753100" y="3486150"/>
            <a:ext cx="1428750" cy="514350"/>
            <a:chOff x="2256" y="2208"/>
            <a:chExt cx="1200" cy="432"/>
          </a:xfrm>
        </p:grpSpPr>
        <p:sp>
          <p:nvSpPr>
            <p:cNvPr id="21534" name="Text Box 7"/>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1535"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1509" name="Group 9"/>
          <p:cNvGrpSpPr>
            <a:grpSpLocks/>
          </p:cNvGrpSpPr>
          <p:nvPr/>
        </p:nvGrpSpPr>
        <p:grpSpPr bwMode="auto">
          <a:xfrm>
            <a:off x="3467100" y="4114800"/>
            <a:ext cx="2000250" cy="285750"/>
            <a:chOff x="816" y="3264"/>
            <a:chExt cx="1680" cy="240"/>
          </a:xfrm>
        </p:grpSpPr>
        <p:sp>
          <p:nvSpPr>
            <p:cNvPr id="21529"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1530"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1531"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1532"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1533"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1510" name="Group 15"/>
          <p:cNvGrpSpPr>
            <a:grpSpLocks/>
          </p:cNvGrpSpPr>
          <p:nvPr/>
        </p:nvGrpSpPr>
        <p:grpSpPr bwMode="auto">
          <a:xfrm>
            <a:off x="5867400" y="4114800"/>
            <a:ext cx="2000250" cy="285750"/>
            <a:chOff x="2880" y="3264"/>
            <a:chExt cx="1680" cy="240"/>
          </a:xfrm>
        </p:grpSpPr>
        <p:sp>
          <p:nvSpPr>
            <p:cNvPr id="21524"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1525"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1526"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1527"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1528"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1511" name="Rectangle 21"/>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1512" name="Rectangle 22"/>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1513" name="Rectangle 23"/>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1514" name="Rectangle 24"/>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1515" name="Rectangle 25"/>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1516" name="Rectangle 26"/>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1517" name="Rectangle 27"/>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1518" name="Rectangle 28"/>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1519" name="Rectangle 29"/>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1520" name="Rectangle 30"/>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1521" name="Rectangle 31"/>
          <p:cNvSpPr>
            <a:spLocks noGrp="1" noChangeArrowheads="1"/>
          </p:cNvSpPr>
          <p:nvPr>
            <p:ph type="title"/>
          </p:nvPr>
        </p:nvSpPr>
        <p:spPr>
          <a:xfrm>
            <a:off x="1924050" y="623475"/>
            <a:ext cx="6172200" cy="857250"/>
          </a:xfrm>
        </p:spPr>
        <p:txBody>
          <a:bodyPr/>
          <a:lstStyle/>
          <a:p>
            <a:r>
              <a:rPr lang="en-US" dirty="0"/>
              <a:t>Merging</a:t>
            </a:r>
          </a:p>
        </p:txBody>
      </p:sp>
      <p:sp>
        <p:nvSpPr>
          <p:cNvPr id="21522" name="Rectangle 32"/>
          <p:cNvSpPr>
            <a:spLocks noGrp="1" noChangeArrowheads="1"/>
          </p:cNvSpPr>
          <p:nvPr>
            <p:ph idx="1"/>
          </p:nvPr>
        </p:nvSpPr>
        <p:spPr/>
        <p:txBody>
          <a:bodyPr/>
          <a:lstStyle/>
          <a:p>
            <a:pPr marL="0" indent="0"/>
            <a:r>
              <a:rPr lang="en-US" sz="32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sz="1200" dirty="0"/>
          </a:p>
        </p:txBody>
      </p:sp>
      <p:sp>
        <p:nvSpPr>
          <p:cNvPr id="95265" name="Rectangle 33"/>
          <p:cNvSpPr>
            <a:spLocks noChangeArrowheads="1"/>
          </p:cNvSpPr>
          <p:nvPr/>
        </p:nvSpPr>
        <p:spPr bwMode="auto">
          <a:xfrm>
            <a:off x="483870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I</a:t>
            </a:r>
          </a:p>
        </p:txBody>
      </p:sp>
    </p:spTree>
    <p:extLst>
      <p:ext uri="{BB962C8B-B14F-4D97-AF65-F5344CB8AC3E}">
        <p14:creationId xmlns:p14="http://schemas.microsoft.com/office/powerpoint/2010/main" val="305479716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265"/>
                                        </p:tgtEl>
                                        <p:attrNameLst>
                                          <p:attrName>style.visibility</p:attrName>
                                        </p:attrNameLst>
                                      </p:cBhvr>
                                      <p:to>
                                        <p:strVal val="visible"/>
                                      </p:to>
                                    </p:set>
                                    <p:animEffect transition="in" filter="dissolve">
                                      <p:cBhvr>
                                        <p:cTn id="7" dur="500"/>
                                        <p:tgtEl>
                                          <p:spTgt spid="95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5"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grpSp>
        <p:nvGrpSpPr>
          <p:cNvPr id="22531" name="Group 3"/>
          <p:cNvGrpSpPr>
            <a:grpSpLocks/>
          </p:cNvGrpSpPr>
          <p:nvPr/>
        </p:nvGrpSpPr>
        <p:grpSpPr bwMode="auto">
          <a:xfrm>
            <a:off x="3752850" y="3486150"/>
            <a:ext cx="1428750" cy="514350"/>
            <a:chOff x="288" y="2208"/>
            <a:chExt cx="1200" cy="432"/>
          </a:xfrm>
        </p:grpSpPr>
        <p:sp>
          <p:nvSpPr>
            <p:cNvPr id="22560" name="Text Box 4"/>
            <p:cNvSpPr txBox="1">
              <a:spLocks noChangeArrowheads="1"/>
            </p:cNvSpPr>
            <p:nvPr/>
          </p:nvSpPr>
          <p:spPr bwMode="auto">
            <a:xfrm>
              <a:off x="288"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22561"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grpSp>
      <p:grpSp>
        <p:nvGrpSpPr>
          <p:cNvPr id="22532" name="Group 6"/>
          <p:cNvGrpSpPr>
            <a:grpSpLocks/>
          </p:cNvGrpSpPr>
          <p:nvPr/>
        </p:nvGrpSpPr>
        <p:grpSpPr bwMode="auto">
          <a:xfrm>
            <a:off x="6153150" y="3486150"/>
            <a:ext cx="1428750" cy="514350"/>
            <a:chOff x="2256" y="2208"/>
            <a:chExt cx="1200" cy="432"/>
          </a:xfrm>
        </p:grpSpPr>
        <p:sp>
          <p:nvSpPr>
            <p:cNvPr id="22558" name="Text Box 7"/>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2559"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2533" name="Group 9"/>
          <p:cNvGrpSpPr>
            <a:grpSpLocks/>
          </p:cNvGrpSpPr>
          <p:nvPr/>
        </p:nvGrpSpPr>
        <p:grpSpPr bwMode="auto">
          <a:xfrm>
            <a:off x="3467100" y="4114800"/>
            <a:ext cx="2000250" cy="285750"/>
            <a:chOff x="816" y="3264"/>
            <a:chExt cx="1680" cy="240"/>
          </a:xfrm>
        </p:grpSpPr>
        <p:sp>
          <p:nvSpPr>
            <p:cNvPr id="22553"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2554"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2555"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2556"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2557"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2534" name="Group 15"/>
          <p:cNvGrpSpPr>
            <a:grpSpLocks/>
          </p:cNvGrpSpPr>
          <p:nvPr/>
        </p:nvGrpSpPr>
        <p:grpSpPr bwMode="auto">
          <a:xfrm>
            <a:off x="5867400" y="4114800"/>
            <a:ext cx="2000250" cy="285750"/>
            <a:chOff x="2880" y="3264"/>
            <a:chExt cx="1680" cy="240"/>
          </a:xfrm>
        </p:grpSpPr>
        <p:sp>
          <p:nvSpPr>
            <p:cNvPr id="22548"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2549"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2550"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2551"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2552"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2535" name="Rectangle 21"/>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2536" name="Rectangle 22"/>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2537" name="Rectangle 23"/>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2538" name="Rectangle 24"/>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2539" name="Rectangle 25"/>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2540" name="Rectangle 26"/>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2541" name="Rectangle 27"/>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2542" name="Rectangle 28"/>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2543" name="Rectangle 29"/>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2544" name="Rectangle 30"/>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2545" name="Rectangle 31"/>
          <p:cNvSpPr>
            <a:spLocks noGrp="1" noChangeArrowheads="1"/>
          </p:cNvSpPr>
          <p:nvPr>
            <p:ph type="title"/>
          </p:nvPr>
        </p:nvSpPr>
        <p:spPr>
          <a:xfrm>
            <a:off x="1181100" y="531284"/>
            <a:ext cx="6172200" cy="857250"/>
          </a:xfrm>
        </p:spPr>
        <p:txBody>
          <a:bodyPr/>
          <a:lstStyle/>
          <a:p>
            <a:r>
              <a:rPr lang="en-US" dirty="0"/>
              <a:t>Merging</a:t>
            </a:r>
          </a:p>
        </p:txBody>
      </p:sp>
      <p:sp>
        <p:nvSpPr>
          <p:cNvPr id="22546" name="Rectangle 32"/>
          <p:cNvSpPr>
            <a:spLocks noGrp="1" noChangeArrowheads="1"/>
          </p:cNvSpPr>
          <p:nvPr>
            <p:ph idx="1"/>
          </p:nvPr>
        </p:nvSpPr>
        <p:spPr/>
        <p:txBody>
          <a:bodyPr/>
          <a:lstStyle/>
          <a:p>
            <a:pPr marL="0" indent="0"/>
            <a:r>
              <a:rPr lang="en-US" sz="32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sz="1200" dirty="0"/>
          </a:p>
        </p:txBody>
      </p:sp>
      <p:sp>
        <p:nvSpPr>
          <p:cNvPr id="97313" name="Rectangle 33"/>
          <p:cNvSpPr>
            <a:spLocks noChangeArrowheads="1"/>
          </p:cNvSpPr>
          <p:nvPr/>
        </p:nvSpPr>
        <p:spPr bwMode="auto">
          <a:xfrm>
            <a:off x="523875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L</a:t>
            </a:r>
          </a:p>
        </p:txBody>
      </p:sp>
    </p:spTree>
    <p:extLst>
      <p:ext uri="{BB962C8B-B14F-4D97-AF65-F5344CB8AC3E}">
        <p14:creationId xmlns:p14="http://schemas.microsoft.com/office/powerpoint/2010/main" val="20609527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7313"/>
                                        </p:tgtEl>
                                        <p:attrNameLst>
                                          <p:attrName>style.visibility</p:attrName>
                                        </p:attrNameLst>
                                      </p:cBhvr>
                                      <p:to>
                                        <p:strVal val="visible"/>
                                      </p:to>
                                    </p:set>
                                    <p:animEffect transition="in" filter="dissolve">
                                      <p:cBhvr>
                                        <p:cTn id="7" dur="500"/>
                                        <p:tgtEl>
                                          <p:spTgt spid="97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13"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grpSp>
        <p:nvGrpSpPr>
          <p:cNvPr id="23555" name="Group 3"/>
          <p:cNvGrpSpPr>
            <a:grpSpLocks/>
          </p:cNvGrpSpPr>
          <p:nvPr/>
        </p:nvGrpSpPr>
        <p:grpSpPr bwMode="auto">
          <a:xfrm>
            <a:off x="4152900" y="3486150"/>
            <a:ext cx="1428750" cy="514350"/>
            <a:chOff x="288" y="2208"/>
            <a:chExt cx="1200" cy="432"/>
          </a:xfrm>
        </p:grpSpPr>
        <p:sp>
          <p:nvSpPr>
            <p:cNvPr id="23584" name="Text Box 4"/>
            <p:cNvSpPr txBox="1">
              <a:spLocks noChangeArrowheads="1"/>
            </p:cNvSpPr>
            <p:nvPr/>
          </p:nvSpPr>
          <p:spPr bwMode="auto">
            <a:xfrm>
              <a:off x="288"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23585"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grpSp>
      <p:grpSp>
        <p:nvGrpSpPr>
          <p:cNvPr id="23556" name="Group 6"/>
          <p:cNvGrpSpPr>
            <a:grpSpLocks/>
          </p:cNvGrpSpPr>
          <p:nvPr/>
        </p:nvGrpSpPr>
        <p:grpSpPr bwMode="auto">
          <a:xfrm>
            <a:off x="6153150" y="3486150"/>
            <a:ext cx="1428750" cy="514350"/>
            <a:chOff x="2256" y="2208"/>
            <a:chExt cx="1200" cy="432"/>
          </a:xfrm>
        </p:grpSpPr>
        <p:sp>
          <p:nvSpPr>
            <p:cNvPr id="23582" name="Text Box 7"/>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3583"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3557" name="Group 9"/>
          <p:cNvGrpSpPr>
            <a:grpSpLocks/>
          </p:cNvGrpSpPr>
          <p:nvPr/>
        </p:nvGrpSpPr>
        <p:grpSpPr bwMode="auto">
          <a:xfrm>
            <a:off x="3467100" y="4114800"/>
            <a:ext cx="2000250" cy="285750"/>
            <a:chOff x="816" y="3264"/>
            <a:chExt cx="1680" cy="240"/>
          </a:xfrm>
        </p:grpSpPr>
        <p:sp>
          <p:nvSpPr>
            <p:cNvPr id="23577"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3578"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3579"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3580"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3581"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3558" name="Group 15"/>
          <p:cNvGrpSpPr>
            <a:grpSpLocks/>
          </p:cNvGrpSpPr>
          <p:nvPr/>
        </p:nvGrpSpPr>
        <p:grpSpPr bwMode="auto">
          <a:xfrm>
            <a:off x="5867400" y="4114800"/>
            <a:ext cx="2000250" cy="285750"/>
            <a:chOff x="2880" y="3264"/>
            <a:chExt cx="1680" cy="240"/>
          </a:xfrm>
        </p:grpSpPr>
        <p:sp>
          <p:nvSpPr>
            <p:cNvPr id="23572"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3573"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3574"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3575"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3576"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3559" name="Rectangle 21"/>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3560" name="Rectangle 22"/>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3561" name="Rectangle 23"/>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3562" name="Rectangle 24"/>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3563" name="Rectangle 25"/>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3564" name="Rectangle 26"/>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3565" name="Rectangle 27"/>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3566" name="Rectangle 28"/>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3567" name="Rectangle 29"/>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3568" name="Rectangle 30"/>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3569" name="Rectangle 31"/>
          <p:cNvSpPr>
            <a:spLocks noGrp="1" noChangeArrowheads="1"/>
          </p:cNvSpPr>
          <p:nvPr>
            <p:ph type="title"/>
          </p:nvPr>
        </p:nvSpPr>
        <p:spPr>
          <a:xfrm>
            <a:off x="1181100" y="691515"/>
            <a:ext cx="6172200" cy="857250"/>
          </a:xfrm>
        </p:spPr>
        <p:txBody>
          <a:bodyPr/>
          <a:lstStyle/>
          <a:p>
            <a:r>
              <a:rPr lang="en-US" dirty="0"/>
              <a:t>Merging</a:t>
            </a:r>
          </a:p>
        </p:txBody>
      </p:sp>
      <p:sp>
        <p:nvSpPr>
          <p:cNvPr id="23570" name="Rectangle 32"/>
          <p:cNvSpPr>
            <a:spLocks noGrp="1" noChangeArrowheads="1"/>
          </p:cNvSpPr>
          <p:nvPr>
            <p:ph idx="1"/>
          </p:nvPr>
        </p:nvSpPr>
        <p:spPr/>
        <p:txBody>
          <a:bodyPr/>
          <a:lstStyle/>
          <a:p>
            <a:pPr marL="0" indent="0"/>
            <a:r>
              <a:rPr lang="en-US" sz="32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dirty="0"/>
          </a:p>
        </p:txBody>
      </p:sp>
      <p:sp>
        <p:nvSpPr>
          <p:cNvPr id="99361" name="Rectangle 33"/>
          <p:cNvSpPr>
            <a:spLocks noChangeArrowheads="1"/>
          </p:cNvSpPr>
          <p:nvPr/>
        </p:nvSpPr>
        <p:spPr bwMode="auto">
          <a:xfrm>
            <a:off x="563880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M</a:t>
            </a:r>
          </a:p>
        </p:txBody>
      </p:sp>
    </p:spTree>
    <p:extLst>
      <p:ext uri="{BB962C8B-B14F-4D97-AF65-F5344CB8AC3E}">
        <p14:creationId xmlns:p14="http://schemas.microsoft.com/office/powerpoint/2010/main" val="120164375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9361"/>
                                        </p:tgtEl>
                                        <p:attrNameLst>
                                          <p:attrName>style.visibility</p:attrName>
                                        </p:attrNameLst>
                                      </p:cBhvr>
                                      <p:to>
                                        <p:strVal val="visible"/>
                                      </p:to>
                                    </p:set>
                                    <p:animEffect transition="in" filter="dissolve">
                                      <p:cBhvr>
                                        <p:cTn id="7" dur="500"/>
                                        <p:tgtEl>
                                          <p:spTgt spid="99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61"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grpSp>
        <p:nvGrpSpPr>
          <p:cNvPr id="24579" name="Group 3"/>
          <p:cNvGrpSpPr>
            <a:grpSpLocks/>
          </p:cNvGrpSpPr>
          <p:nvPr/>
        </p:nvGrpSpPr>
        <p:grpSpPr bwMode="auto">
          <a:xfrm>
            <a:off x="4152900" y="3486150"/>
            <a:ext cx="1428750" cy="514350"/>
            <a:chOff x="288" y="2208"/>
            <a:chExt cx="1200" cy="432"/>
          </a:xfrm>
        </p:grpSpPr>
        <p:sp>
          <p:nvSpPr>
            <p:cNvPr id="24608" name="Text Box 4"/>
            <p:cNvSpPr txBox="1">
              <a:spLocks noChangeArrowheads="1"/>
            </p:cNvSpPr>
            <p:nvPr/>
          </p:nvSpPr>
          <p:spPr bwMode="auto">
            <a:xfrm>
              <a:off x="288"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24609"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grpSp>
      <p:grpSp>
        <p:nvGrpSpPr>
          <p:cNvPr id="24580" name="Group 6"/>
          <p:cNvGrpSpPr>
            <a:grpSpLocks/>
          </p:cNvGrpSpPr>
          <p:nvPr/>
        </p:nvGrpSpPr>
        <p:grpSpPr bwMode="auto">
          <a:xfrm>
            <a:off x="6553200" y="3486150"/>
            <a:ext cx="1428750" cy="514350"/>
            <a:chOff x="2256" y="2208"/>
            <a:chExt cx="1200" cy="432"/>
          </a:xfrm>
        </p:grpSpPr>
        <p:sp>
          <p:nvSpPr>
            <p:cNvPr id="24606" name="Text Box 7"/>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4607"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4581" name="Group 9"/>
          <p:cNvGrpSpPr>
            <a:grpSpLocks/>
          </p:cNvGrpSpPr>
          <p:nvPr/>
        </p:nvGrpSpPr>
        <p:grpSpPr bwMode="auto">
          <a:xfrm>
            <a:off x="3467100" y="4114800"/>
            <a:ext cx="2000250" cy="285750"/>
            <a:chOff x="816" y="3264"/>
            <a:chExt cx="1680" cy="240"/>
          </a:xfrm>
        </p:grpSpPr>
        <p:sp>
          <p:nvSpPr>
            <p:cNvPr id="24601"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4602"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4603"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4604"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4605"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4582" name="Group 15"/>
          <p:cNvGrpSpPr>
            <a:grpSpLocks/>
          </p:cNvGrpSpPr>
          <p:nvPr/>
        </p:nvGrpSpPr>
        <p:grpSpPr bwMode="auto">
          <a:xfrm>
            <a:off x="5867400" y="4114800"/>
            <a:ext cx="2000250" cy="285750"/>
            <a:chOff x="2880" y="3264"/>
            <a:chExt cx="1680" cy="240"/>
          </a:xfrm>
        </p:grpSpPr>
        <p:sp>
          <p:nvSpPr>
            <p:cNvPr id="24596"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4597"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4598"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4599"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4600"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4583" name="Rectangle 21"/>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4584" name="Rectangle 22"/>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4585" name="Rectangle 23"/>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4586" name="Rectangle 24"/>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4587" name="Rectangle 25"/>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4588" name="Rectangle 26"/>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4589" name="Rectangle 27"/>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4590" name="Rectangle 28"/>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4591" name="Rectangle 29"/>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4592" name="Rectangle 30"/>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4593" name="Rectangle 31"/>
          <p:cNvSpPr>
            <a:spLocks noGrp="1" noChangeArrowheads="1"/>
          </p:cNvSpPr>
          <p:nvPr>
            <p:ph type="title"/>
          </p:nvPr>
        </p:nvSpPr>
        <p:spPr>
          <a:xfrm>
            <a:off x="1066800" y="615050"/>
            <a:ext cx="6172200" cy="857250"/>
          </a:xfrm>
        </p:spPr>
        <p:txBody>
          <a:bodyPr/>
          <a:lstStyle/>
          <a:p>
            <a:r>
              <a:rPr lang="en-US" dirty="0"/>
              <a:t>Merging</a:t>
            </a:r>
          </a:p>
        </p:txBody>
      </p:sp>
      <p:sp>
        <p:nvSpPr>
          <p:cNvPr id="24594" name="Rectangle 32"/>
          <p:cNvSpPr>
            <a:spLocks noGrp="1" noChangeArrowheads="1"/>
          </p:cNvSpPr>
          <p:nvPr>
            <p:ph idx="1"/>
          </p:nvPr>
        </p:nvSpPr>
        <p:spPr/>
        <p:txBody>
          <a:bodyPr/>
          <a:lstStyle/>
          <a:p>
            <a:pPr marL="0" indent="0"/>
            <a:r>
              <a:rPr lang="en-US" sz="2800" dirty="0"/>
              <a:t>Merge.</a:t>
            </a:r>
          </a:p>
          <a:p>
            <a:pPr marL="259556" lvl="1" indent="-173831"/>
            <a:r>
              <a:rPr lang="en-US" sz="1600" dirty="0"/>
              <a:t>Keep track of smallest element in each sorted half.</a:t>
            </a:r>
          </a:p>
          <a:p>
            <a:pPr marL="259556" lvl="1" indent="-173831"/>
            <a:r>
              <a:rPr lang="en-US" sz="1600" dirty="0"/>
              <a:t>Insert smallest of two elements into auxiliary array.</a:t>
            </a:r>
          </a:p>
          <a:p>
            <a:pPr marL="259556" lvl="1" indent="-173831"/>
            <a:r>
              <a:rPr lang="en-US" sz="1600" dirty="0"/>
              <a:t>Repeat until done.</a:t>
            </a:r>
          </a:p>
          <a:p>
            <a:pPr marL="259556" lvl="1" indent="-173831"/>
            <a:endParaRPr lang="en-US" sz="1200" dirty="0"/>
          </a:p>
        </p:txBody>
      </p:sp>
      <p:sp>
        <p:nvSpPr>
          <p:cNvPr id="101409" name="Rectangle 33"/>
          <p:cNvSpPr>
            <a:spLocks noChangeArrowheads="1"/>
          </p:cNvSpPr>
          <p:nvPr/>
        </p:nvSpPr>
        <p:spPr bwMode="auto">
          <a:xfrm>
            <a:off x="603885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O</a:t>
            </a:r>
          </a:p>
        </p:txBody>
      </p:sp>
    </p:spTree>
    <p:extLst>
      <p:ext uri="{BB962C8B-B14F-4D97-AF65-F5344CB8AC3E}">
        <p14:creationId xmlns:p14="http://schemas.microsoft.com/office/powerpoint/2010/main" val="35769917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409"/>
                                        </p:tgtEl>
                                        <p:attrNameLst>
                                          <p:attrName>style.visibility</p:attrName>
                                        </p:attrNameLst>
                                      </p:cBhvr>
                                      <p:to>
                                        <p:strVal val="visible"/>
                                      </p:to>
                                    </p:set>
                                    <p:animEffect transition="in" filter="dissolve">
                                      <p:cBhvr>
                                        <p:cTn id="7" dur="500"/>
                                        <p:tgtEl>
                                          <p:spTgt spid="101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09"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grpSp>
        <p:nvGrpSpPr>
          <p:cNvPr id="25603" name="Group 3"/>
          <p:cNvGrpSpPr>
            <a:grpSpLocks/>
          </p:cNvGrpSpPr>
          <p:nvPr/>
        </p:nvGrpSpPr>
        <p:grpSpPr bwMode="auto">
          <a:xfrm>
            <a:off x="4552950" y="3486150"/>
            <a:ext cx="1428750" cy="514350"/>
            <a:chOff x="288" y="2208"/>
            <a:chExt cx="1200" cy="432"/>
          </a:xfrm>
        </p:grpSpPr>
        <p:sp>
          <p:nvSpPr>
            <p:cNvPr id="25632" name="Text Box 4"/>
            <p:cNvSpPr txBox="1">
              <a:spLocks noChangeArrowheads="1"/>
            </p:cNvSpPr>
            <p:nvPr/>
          </p:nvSpPr>
          <p:spPr bwMode="auto">
            <a:xfrm>
              <a:off x="288"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3399"/>
                  </a:solidFill>
                  <a:ea typeface="PMingLiU" pitchFamily="18" charset="-120"/>
                </a:rPr>
                <a:t>smallest</a:t>
              </a:r>
              <a:endParaRPr lang="en-US">
                <a:solidFill>
                  <a:schemeClr val="bg2"/>
                </a:solidFill>
                <a:ea typeface="PMingLiU" pitchFamily="18" charset="-120"/>
              </a:endParaRPr>
            </a:p>
          </p:txBody>
        </p:sp>
        <p:sp>
          <p:nvSpPr>
            <p:cNvPr id="25633"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p>
              <a:endParaRPr lang="en-US"/>
            </a:p>
          </p:txBody>
        </p:sp>
      </p:grpSp>
      <p:grpSp>
        <p:nvGrpSpPr>
          <p:cNvPr id="25604" name="Group 6"/>
          <p:cNvGrpSpPr>
            <a:grpSpLocks/>
          </p:cNvGrpSpPr>
          <p:nvPr/>
        </p:nvGrpSpPr>
        <p:grpSpPr bwMode="auto">
          <a:xfrm>
            <a:off x="6553200" y="3486150"/>
            <a:ext cx="1428750" cy="514350"/>
            <a:chOff x="2256" y="2208"/>
            <a:chExt cx="1200" cy="432"/>
          </a:xfrm>
        </p:grpSpPr>
        <p:sp>
          <p:nvSpPr>
            <p:cNvPr id="25630" name="Text Box 7"/>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5631"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5605" name="Group 9"/>
          <p:cNvGrpSpPr>
            <a:grpSpLocks/>
          </p:cNvGrpSpPr>
          <p:nvPr/>
        </p:nvGrpSpPr>
        <p:grpSpPr bwMode="auto">
          <a:xfrm>
            <a:off x="3467100" y="4114800"/>
            <a:ext cx="2000250" cy="285750"/>
            <a:chOff x="816" y="3264"/>
            <a:chExt cx="1680" cy="240"/>
          </a:xfrm>
        </p:grpSpPr>
        <p:sp>
          <p:nvSpPr>
            <p:cNvPr id="25625"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5626"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5627"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5628"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5629"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5606" name="Group 15"/>
          <p:cNvGrpSpPr>
            <a:grpSpLocks/>
          </p:cNvGrpSpPr>
          <p:nvPr/>
        </p:nvGrpSpPr>
        <p:grpSpPr bwMode="auto">
          <a:xfrm>
            <a:off x="5867400" y="4114800"/>
            <a:ext cx="2000250" cy="285750"/>
            <a:chOff x="2880" y="3264"/>
            <a:chExt cx="1680" cy="240"/>
          </a:xfrm>
        </p:grpSpPr>
        <p:sp>
          <p:nvSpPr>
            <p:cNvPr id="25620"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5621"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5622"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5623"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5624"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5607" name="Rectangle 21"/>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5608" name="Rectangle 22"/>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5609" name="Rectangle 23"/>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5610" name="Rectangle 24"/>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5611" name="Rectangle 25"/>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5612" name="Rectangle 26"/>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5613" name="Rectangle 27"/>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5614" name="Rectangle 28"/>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5615" name="Rectangle 29"/>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5616" name="Rectangle 30"/>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5617" name="Rectangle 31"/>
          <p:cNvSpPr>
            <a:spLocks noGrp="1" noChangeArrowheads="1"/>
          </p:cNvSpPr>
          <p:nvPr>
            <p:ph type="title"/>
          </p:nvPr>
        </p:nvSpPr>
        <p:spPr>
          <a:xfrm>
            <a:off x="1066800" y="691515"/>
            <a:ext cx="6172200" cy="857250"/>
          </a:xfrm>
        </p:spPr>
        <p:txBody>
          <a:bodyPr/>
          <a:lstStyle/>
          <a:p>
            <a:r>
              <a:rPr lang="en-US" dirty="0"/>
              <a:t>Merging</a:t>
            </a:r>
          </a:p>
        </p:txBody>
      </p:sp>
      <p:sp>
        <p:nvSpPr>
          <p:cNvPr id="25618" name="Rectangle 32"/>
          <p:cNvSpPr>
            <a:spLocks noGrp="1" noChangeArrowheads="1"/>
          </p:cNvSpPr>
          <p:nvPr>
            <p:ph idx="1"/>
          </p:nvPr>
        </p:nvSpPr>
        <p:spPr/>
        <p:txBody>
          <a:bodyPr/>
          <a:lstStyle/>
          <a:p>
            <a:pPr marL="0" indent="0"/>
            <a:r>
              <a:rPr lang="en-US" sz="32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sz="1200" dirty="0"/>
          </a:p>
        </p:txBody>
      </p:sp>
      <p:sp>
        <p:nvSpPr>
          <p:cNvPr id="103457" name="Rectangle 33"/>
          <p:cNvSpPr>
            <a:spLocks noChangeArrowheads="1"/>
          </p:cNvSpPr>
          <p:nvPr/>
        </p:nvSpPr>
        <p:spPr bwMode="auto">
          <a:xfrm>
            <a:off x="643890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R</a:t>
            </a:r>
          </a:p>
        </p:txBody>
      </p:sp>
    </p:spTree>
    <p:extLst>
      <p:ext uri="{BB962C8B-B14F-4D97-AF65-F5344CB8AC3E}">
        <p14:creationId xmlns:p14="http://schemas.microsoft.com/office/powerpoint/2010/main" val="30074736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3457"/>
                                        </p:tgtEl>
                                        <p:attrNameLst>
                                          <p:attrName>style.visibility</p:attrName>
                                        </p:attrNameLst>
                                      </p:cBhvr>
                                      <p:to>
                                        <p:strVal val="visible"/>
                                      </p:to>
                                    </p:set>
                                    <p:animEffect transition="in" filter="dissolve">
                                      <p:cBhvr>
                                        <p:cTn id="7" dur="500"/>
                                        <p:tgtEl>
                                          <p:spTgt spid="103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57"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sp>
        <p:nvSpPr>
          <p:cNvPr id="26627" name="Text Box 3"/>
          <p:cNvSpPr txBox="1">
            <a:spLocks noChangeArrowheads="1"/>
          </p:cNvSpPr>
          <p:nvPr/>
        </p:nvSpPr>
        <p:spPr bwMode="auto">
          <a:xfrm>
            <a:off x="4895850" y="3200403"/>
            <a:ext cx="1428750" cy="646331"/>
          </a:xfrm>
          <a:prstGeom prst="rect">
            <a:avLst/>
          </a:prstGeom>
          <a:noFill/>
          <a:ln w="9525">
            <a:noFill/>
            <a:miter lim="800000"/>
            <a:headEnd/>
            <a:tailEnd/>
          </a:ln>
        </p:spPr>
        <p:txBody>
          <a:bodyPr>
            <a:spAutoFit/>
          </a:bodyPr>
          <a:lstStyle/>
          <a:p>
            <a:pPr algn="ctr">
              <a:spcBef>
                <a:spcPct val="50000"/>
              </a:spcBef>
            </a:pPr>
            <a:r>
              <a:rPr lang="en-US" b="1">
                <a:solidFill>
                  <a:schemeClr val="accent1"/>
                </a:solidFill>
                <a:ea typeface="PMingLiU" pitchFamily="18" charset="-120"/>
              </a:rPr>
              <a:t>first half</a:t>
            </a:r>
            <a:br>
              <a:rPr lang="en-US" b="1">
                <a:solidFill>
                  <a:schemeClr val="accent1"/>
                </a:solidFill>
                <a:ea typeface="PMingLiU" pitchFamily="18" charset="-120"/>
              </a:rPr>
            </a:br>
            <a:r>
              <a:rPr lang="en-US" b="1">
                <a:solidFill>
                  <a:schemeClr val="accent1"/>
                </a:solidFill>
                <a:ea typeface="PMingLiU" pitchFamily="18" charset="-120"/>
              </a:rPr>
              <a:t>exhausted</a:t>
            </a:r>
            <a:endParaRPr lang="en-US">
              <a:solidFill>
                <a:schemeClr val="accent1"/>
              </a:solidFill>
              <a:ea typeface="PMingLiU" pitchFamily="18" charset="-120"/>
            </a:endParaRPr>
          </a:p>
        </p:txBody>
      </p:sp>
      <p:sp>
        <p:nvSpPr>
          <p:cNvPr id="26628" name="AutoShape 4"/>
          <p:cNvSpPr>
            <a:spLocks noChangeArrowheads="1"/>
          </p:cNvSpPr>
          <p:nvPr/>
        </p:nvSpPr>
        <p:spPr bwMode="auto">
          <a:xfrm>
            <a:off x="5467350" y="3771900"/>
            <a:ext cx="228600" cy="228600"/>
          </a:xfrm>
          <a:prstGeom prst="downArrow">
            <a:avLst>
              <a:gd name="adj1" fmla="val 50000"/>
              <a:gd name="adj2" fmla="val 25000"/>
            </a:avLst>
          </a:prstGeom>
          <a:solidFill>
            <a:schemeClr val="accent1"/>
          </a:solidFill>
          <a:ln w="9525">
            <a:solidFill>
              <a:schemeClr val="bg2"/>
            </a:solidFill>
            <a:miter lim="800000"/>
            <a:headEnd/>
            <a:tailEnd/>
          </a:ln>
        </p:spPr>
        <p:txBody>
          <a:bodyPr wrap="none" anchor="ctr"/>
          <a:lstStyle/>
          <a:p>
            <a:endParaRPr lang="en-US"/>
          </a:p>
        </p:txBody>
      </p:sp>
      <p:grpSp>
        <p:nvGrpSpPr>
          <p:cNvPr id="26629" name="Group 5"/>
          <p:cNvGrpSpPr>
            <a:grpSpLocks/>
          </p:cNvGrpSpPr>
          <p:nvPr/>
        </p:nvGrpSpPr>
        <p:grpSpPr bwMode="auto">
          <a:xfrm>
            <a:off x="6553200" y="3486150"/>
            <a:ext cx="1428750" cy="514350"/>
            <a:chOff x="2256" y="2208"/>
            <a:chExt cx="1200" cy="432"/>
          </a:xfrm>
        </p:grpSpPr>
        <p:sp>
          <p:nvSpPr>
            <p:cNvPr id="26655" name="Text Box 6"/>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6656" name="AutoShape 7"/>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6630" name="Group 8"/>
          <p:cNvGrpSpPr>
            <a:grpSpLocks/>
          </p:cNvGrpSpPr>
          <p:nvPr/>
        </p:nvGrpSpPr>
        <p:grpSpPr bwMode="auto">
          <a:xfrm>
            <a:off x="3467100" y="4114800"/>
            <a:ext cx="2000250" cy="285750"/>
            <a:chOff x="816" y="3264"/>
            <a:chExt cx="1680" cy="240"/>
          </a:xfrm>
        </p:grpSpPr>
        <p:sp>
          <p:nvSpPr>
            <p:cNvPr id="26650" name="Rectangle 9"/>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6651" name="Rectangle 10"/>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6652" name="Rectangle 11"/>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6653" name="Rectangle 12"/>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6654" name="Rectangle 13"/>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6631" name="Group 14"/>
          <p:cNvGrpSpPr>
            <a:grpSpLocks/>
          </p:cNvGrpSpPr>
          <p:nvPr/>
        </p:nvGrpSpPr>
        <p:grpSpPr bwMode="auto">
          <a:xfrm>
            <a:off x="5867400" y="4114800"/>
            <a:ext cx="2000250" cy="285750"/>
            <a:chOff x="2880" y="3264"/>
            <a:chExt cx="1680" cy="240"/>
          </a:xfrm>
        </p:grpSpPr>
        <p:sp>
          <p:nvSpPr>
            <p:cNvPr id="26645" name="Rectangle 15"/>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6646" name="Rectangle 16"/>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6647" name="Rectangle 17"/>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6648" name="Rectangle 18"/>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6649" name="Rectangle 19"/>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6632" name="Rectangle 20"/>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6633" name="Rectangle 21"/>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6634" name="Rectangle 22"/>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6635" name="Rectangle 23"/>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6636" name="Rectangle 24"/>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6637" name="Rectangle 25"/>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6638" name="Rectangle 26"/>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6639" name="Rectangle 27"/>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sp>
        <p:nvSpPr>
          <p:cNvPr id="26640" name="Rectangle 28"/>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6641" name="Rectangle 29"/>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6642" name="Rectangle 30"/>
          <p:cNvSpPr>
            <a:spLocks noGrp="1" noChangeArrowheads="1"/>
          </p:cNvSpPr>
          <p:nvPr>
            <p:ph type="title"/>
          </p:nvPr>
        </p:nvSpPr>
        <p:spPr>
          <a:xfrm>
            <a:off x="1055204" y="615050"/>
            <a:ext cx="6172200" cy="857250"/>
          </a:xfrm>
        </p:spPr>
        <p:txBody>
          <a:bodyPr/>
          <a:lstStyle/>
          <a:p>
            <a:r>
              <a:rPr lang="en-US" dirty="0"/>
              <a:t>Merging</a:t>
            </a:r>
          </a:p>
        </p:txBody>
      </p:sp>
      <p:sp>
        <p:nvSpPr>
          <p:cNvPr id="26643" name="Rectangle 31"/>
          <p:cNvSpPr>
            <a:spLocks noGrp="1" noChangeArrowheads="1"/>
          </p:cNvSpPr>
          <p:nvPr>
            <p:ph idx="1"/>
          </p:nvPr>
        </p:nvSpPr>
        <p:spPr/>
        <p:txBody>
          <a:bodyPr/>
          <a:lstStyle/>
          <a:p>
            <a:pPr marL="0" indent="0"/>
            <a:r>
              <a:rPr lang="en-US" sz="32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sz="1350" dirty="0"/>
          </a:p>
        </p:txBody>
      </p:sp>
      <p:sp>
        <p:nvSpPr>
          <p:cNvPr id="105504" name="Rectangle 32"/>
          <p:cNvSpPr>
            <a:spLocks noChangeArrowheads="1"/>
          </p:cNvSpPr>
          <p:nvPr/>
        </p:nvSpPr>
        <p:spPr bwMode="auto">
          <a:xfrm>
            <a:off x="683895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S</a:t>
            </a:r>
          </a:p>
        </p:txBody>
      </p:sp>
    </p:spTree>
    <p:extLst>
      <p:ext uri="{BB962C8B-B14F-4D97-AF65-F5344CB8AC3E}">
        <p14:creationId xmlns:p14="http://schemas.microsoft.com/office/powerpoint/2010/main" val="259831094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504"/>
                                        </p:tgtEl>
                                        <p:attrNameLst>
                                          <p:attrName>style.visibility</p:attrName>
                                        </p:attrNameLst>
                                      </p:cBhvr>
                                      <p:to>
                                        <p:strVal val="visible"/>
                                      </p:to>
                                    </p:set>
                                    <p:animEffect transition="in" filter="dissolve">
                                      <p:cBhvr>
                                        <p:cTn id="7" dur="500"/>
                                        <p:tgtEl>
                                          <p:spTgt spid="105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04"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8096250" y="4857754"/>
            <a:ext cx="1314450" cy="646331"/>
          </a:xfrm>
          <a:prstGeom prst="rect">
            <a:avLst/>
          </a:prstGeom>
          <a:noFill/>
          <a:ln w="9525">
            <a:noFill/>
            <a:miter lim="800000"/>
            <a:headEnd/>
            <a:tailEnd/>
          </a:ln>
        </p:spPr>
        <p:txBody>
          <a:bodyPr>
            <a:spAutoFit/>
          </a:bodyPr>
          <a:lstStyle/>
          <a:p>
            <a:pPr algn="ctr">
              <a:spcBef>
                <a:spcPct val="50000"/>
              </a:spcBef>
            </a:pPr>
            <a:r>
              <a:rPr lang="en-US" b="1">
                <a:ea typeface="PMingLiU" pitchFamily="18" charset="-120"/>
              </a:rPr>
              <a:t>auxiliary array</a:t>
            </a:r>
          </a:p>
        </p:txBody>
      </p:sp>
      <p:sp>
        <p:nvSpPr>
          <p:cNvPr id="27651" name="Text Box 3"/>
          <p:cNvSpPr txBox="1">
            <a:spLocks noChangeArrowheads="1"/>
          </p:cNvSpPr>
          <p:nvPr/>
        </p:nvSpPr>
        <p:spPr bwMode="auto">
          <a:xfrm>
            <a:off x="4895850" y="3200403"/>
            <a:ext cx="1428750" cy="646331"/>
          </a:xfrm>
          <a:prstGeom prst="rect">
            <a:avLst/>
          </a:prstGeom>
          <a:noFill/>
          <a:ln w="9525">
            <a:noFill/>
            <a:miter lim="800000"/>
            <a:headEnd/>
            <a:tailEnd/>
          </a:ln>
        </p:spPr>
        <p:txBody>
          <a:bodyPr>
            <a:spAutoFit/>
          </a:bodyPr>
          <a:lstStyle/>
          <a:p>
            <a:pPr algn="ctr">
              <a:spcBef>
                <a:spcPct val="50000"/>
              </a:spcBef>
            </a:pPr>
            <a:r>
              <a:rPr lang="en-US" b="1">
                <a:solidFill>
                  <a:schemeClr val="accent1"/>
                </a:solidFill>
                <a:ea typeface="PMingLiU" pitchFamily="18" charset="-120"/>
              </a:rPr>
              <a:t>first half</a:t>
            </a:r>
            <a:br>
              <a:rPr lang="en-US" b="1">
                <a:solidFill>
                  <a:schemeClr val="accent1"/>
                </a:solidFill>
                <a:ea typeface="PMingLiU" pitchFamily="18" charset="-120"/>
              </a:rPr>
            </a:br>
            <a:r>
              <a:rPr lang="en-US" b="1">
                <a:solidFill>
                  <a:schemeClr val="accent1"/>
                </a:solidFill>
                <a:ea typeface="PMingLiU" pitchFamily="18" charset="-120"/>
              </a:rPr>
              <a:t>exhausted</a:t>
            </a:r>
            <a:endParaRPr lang="en-US">
              <a:solidFill>
                <a:schemeClr val="accent1"/>
              </a:solidFill>
              <a:ea typeface="PMingLiU" pitchFamily="18" charset="-120"/>
            </a:endParaRPr>
          </a:p>
        </p:txBody>
      </p:sp>
      <p:sp>
        <p:nvSpPr>
          <p:cNvPr id="27652" name="AutoShape 4"/>
          <p:cNvSpPr>
            <a:spLocks noChangeArrowheads="1"/>
          </p:cNvSpPr>
          <p:nvPr/>
        </p:nvSpPr>
        <p:spPr bwMode="auto">
          <a:xfrm>
            <a:off x="5467350" y="3771900"/>
            <a:ext cx="228600" cy="228600"/>
          </a:xfrm>
          <a:prstGeom prst="downArrow">
            <a:avLst>
              <a:gd name="adj1" fmla="val 50000"/>
              <a:gd name="adj2" fmla="val 25000"/>
            </a:avLst>
          </a:prstGeom>
          <a:solidFill>
            <a:schemeClr val="accent1"/>
          </a:solidFill>
          <a:ln w="9525">
            <a:solidFill>
              <a:schemeClr val="bg2"/>
            </a:solidFill>
            <a:miter lim="800000"/>
            <a:headEnd/>
            <a:tailEnd/>
          </a:ln>
        </p:spPr>
        <p:txBody>
          <a:bodyPr wrap="none" anchor="ctr"/>
          <a:lstStyle/>
          <a:p>
            <a:endParaRPr lang="en-US"/>
          </a:p>
        </p:txBody>
      </p:sp>
      <p:grpSp>
        <p:nvGrpSpPr>
          <p:cNvPr id="27653" name="Group 5"/>
          <p:cNvGrpSpPr>
            <a:grpSpLocks/>
          </p:cNvGrpSpPr>
          <p:nvPr/>
        </p:nvGrpSpPr>
        <p:grpSpPr bwMode="auto">
          <a:xfrm>
            <a:off x="6953250" y="3486150"/>
            <a:ext cx="1428750" cy="514350"/>
            <a:chOff x="2256" y="2208"/>
            <a:chExt cx="1200" cy="432"/>
          </a:xfrm>
        </p:grpSpPr>
        <p:sp>
          <p:nvSpPr>
            <p:cNvPr id="27679" name="Text Box 6"/>
            <p:cNvSpPr txBox="1">
              <a:spLocks noChangeArrowheads="1"/>
            </p:cNvSpPr>
            <p:nvPr/>
          </p:nvSpPr>
          <p:spPr bwMode="auto">
            <a:xfrm>
              <a:off x="2256" y="2208"/>
              <a:ext cx="1200" cy="310"/>
            </a:xfrm>
            <a:prstGeom prst="rect">
              <a:avLst/>
            </a:prstGeom>
            <a:noFill/>
            <a:ln w="9525">
              <a:noFill/>
              <a:miter lim="800000"/>
              <a:headEnd/>
              <a:tailEnd/>
            </a:ln>
          </p:spPr>
          <p:txBody>
            <a:bodyPr>
              <a:spAutoFit/>
            </a:bodyPr>
            <a:lstStyle/>
            <a:p>
              <a:pPr algn="ctr">
                <a:spcBef>
                  <a:spcPct val="50000"/>
                </a:spcBef>
              </a:pPr>
              <a:r>
                <a:rPr lang="en-US" b="1">
                  <a:solidFill>
                    <a:srgbClr val="006600"/>
                  </a:solidFill>
                  <a:ea typeface="PMingLiU" pitchFamily="18" charset="-120"/>
                </a:rPr>
                <a:t>smallest</a:t>
              </a:r>
              <a:endParaRPr lang="en-US">
                <a:solidFill>
                  <a:schemeClr val="bg2"/>
                </a:solidFill>
                <a:ea typeface="PMingLiU" pitchFamily="18" charset="-120"/>
              </a:endParaRPr>
            </a:p>
          </p:txBody>
        </p:sp>
        <p:sp>
          <p:nvSpPr>
            <p:cNvPr id="27680" name="AutoShape 7"/>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p>
              <a:endParaRPr lang="en-US"/>
            </a:p>
          </p:txBody>
        </p:sp>
      </p:grpSp>
      <p:grpSp>
        <p:nvGrpSpPr>
          <p:cNvPr id="27654" name="Group 8"/>
          <p:cNvGrpSpPr>
            <a:grpSpLocks/>
          </p:cNvGrpSpPr>
          <p:nvPr/>
        </p:nvGrpSpPr>
        <p:grpSpPr bwMode="auto">
          <a:xfrm>
            <a:off x="3467100" y="4114800"/>
            <a:ext cx="2000250" cy="285750"/>
            <a:chOff x="816" y="3264"/>
            <a:chExt cx="1680" cy="240"/>
          </a:xfrm>
        </p:grpSpPr>
        <p:sp>
          <p:nvSpPr>
            <p:cNvPr id="27674" name="Rectangle 9"/>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7675" name="Rectangle 10"/>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7676" name="Rectangle 11"/>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7677" name="Rectangle 12"/>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7678" name="Rectangle 13"/>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grpSp>
      <p:grpSp>
        <p:nvGrpSpPr>
          <p:cNvPr id="27655" name="Group 14"/>
          <p:cNvGrpSpPr>
            <a:grpSpLocks/>
          </p:cNvGrpSpPr>
          <p:nvPr/>
        </p:nvGrpSpPr>
        <p:grpSpPr bwMode="auto">
          <a:xfrm>
            <a:off x="5867400" y="4114800"/>
            <a:ext cx="2000250" cy="285750"/>
            <a:chOff x="2880" y="3264"/>
            <a:chExt cx="1680" cy="240"/>
          </a:xfrm>
        </p:grpSpPr>
        <p:sp>
          <p:nvSpPr>
            <p:cNvPr id="27669" name="Rectangle 15"/>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7670" name="Rectangle 16"/>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7671" name="Rectangle 17"/>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7672" name="Rectangle 18"/>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7673" name="Rectangle 19"/>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T</a:t>
              </a:r>
            </a:p>
          </p:txBody>
        </p:sp>
      </p:grpSp>
      <p:sp>
        <p:nvSpPr>
          <p:cNvPr id="27656" name="Rectangle 20"/>
          <p:cNvSpPr>
            <a:spLocks noChangeArrowheads="1"/>
          </p:cNvSpPr>
          <p:nvPr/>
        </p:nvSpPr>
        <p:spPr bwMode="auto">
          <a:xfrm>
            <a:off x="36385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A</a:t>
            </a:r>
          </a:p>
        </p:txBody>
      </p:sp>
      <p:sp>
        <p:nvSpPr>
          <p:cNvPr id="27657" name="Rectangle 21"/>
          <p:cNvSpPr>
            <a:spLocks noChangeArrowheads="1"/>
          </p:cNvSpPr>
          <p:nvPr/>
        </p:nvSpPr>
        <p:spPr bwMode="auto">
          <a:xfrm>
            <a:off x="40386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G</a:t>
            </a:r>
          </a:p>
        </p:txBody>
      </p:sp>
      <p:sp>
        <p:nvSpPr>
          <p:cNvPr id="27658" name="Rectangle 22"/>
          <p:cNvSpPr>
            <a:spLocks noChangeArrowheads="1"/>
          </p:cNvSpPr>
          <p:nvPr/>
        </p:nvSpPr>
        <p:spPr bwMode="auto">
          <a:xfrm>
            <a:off x="44386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H</a:t>
            </a:r>
          </a:p>
        </p:txBody>
      </p:sp>
      <p:sp>
        <p:nvSpPr>
          <p:cNvPr id="27659" name="Rectangle 23"/>
          <p:cNvSpPr>
            <a:spLocks noChangeArrowheads="1"/>
          </p:cNvSpPr>
          <p:nvPr/>
        </p:nvSpPr>
        <p:spPr bwMode="auto">
          <a:xfrm>
            <a:off x="48387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I</a:t>
            </a:r>
          </a:p>
        </p:txBody>
      </p:sp>
      <p:sp>
        <p:nvSpPr>
          <p:cNvPr id="27660" name="Rectangle 24"/>
          <p:cNvSpPr>
            <a:spLocks noChangeArrowheads="1"/>
          </p:cNvSpPr>
          <p:nvPr/>
        </p:nvSpPr>
        <p:spPr bwMode="auto">
          <a:xfrm>
            <a:off x="52387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L</a:t>
            </a:r>
          </a:p>
        </p:txBody>
      </p:sp>
      <p:sp>
        <p:nvSpPr>
          <p:cNvPr id="27661" name="Rectangle 25"/>
          <p:cNvSpPr>
            <a:spLocks noChangeArrowheads="1"/>
          </p:cNvSpPr>
          <p:nvPr/>
        </p:nvSpPr>
        <p:spPr bwMode="auto">
          <a:xfrm>
            <a:off x="56388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M</a:t>
            </a:r>
          </a:p>
        </p:txBody>
      </p:sp>
      <p:sp>
        <p:nvSpPr>
          <p:cNvPr id="27662" name="Rectangle 26"/>
          <p:cNvSpPr>
            <a:spLocks noChangeArrowheads="1"/>
          </p:cNvSpPr>
          <p:nvPr/>
        </p:nvSpPr>
        <p:spPr bwMode="auto">
          <a:xfrm>
            <a:off x="60388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O</a:t>
            </a:r>
          </a:p>
        </p:txBody>
      </p:sp>
      <p:sp>
        <p:nvSpPr>
          <p:cNvPr id="27663" name="Rectangle 27"/>
          <p:cNvSpPr>
            <a:spLocks noChangeArrowheads="1"/>
          </p:cNvSpPr>
          <p:nvPr/>
        </p:nvSpPr>
        <p:spPr bwMode="auto">
          <a:xfrm>
            <a:off x="64389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R</a:t>
            </a:r>
          </a:p>
        </p:txBody>
      </p:sp>
      <p:sp>
        <p:nvSpPr>
          <p:cNvPr id="27664" name="Rectangle 28"/>
          <p:cNvSpPr>
            <a:spLocks noChangeArrowheads="1"/>
          </p:cNvSpPr>
          <p:nvPr/>
        </p:nvSpPr>
        <p:spPr bwMode="auto">
          <a:xfrm>
            <a:off x="683895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S</a:t>
            </a:r>
          </a:p>
        </p:txBody>
      </p:sp>
      <p:sp>
        <p:nvSpPr>
          <p:cNvPr id="27665" name="Rectangle 29"/>
          <p:cNvSpPr>
            <a:spLocks noChangeArrowheads="1"/>
          </p:cNvSpPr>
          <p:nvPr/>
        </p:nvSpPr>
        <p:spPr bwMode="auto">
          <a:xfrm>
            <a:off x="7239000" y="4857750"/>
            <a:ext cx="400050" cy="285750"/>
          </a:xfrm>
          <a:prstGeom prst="rect">
            <a:avLst/>
          </a:prstGeom>
          <a:solidFill>
            <a:srgbClr val="C0C0C0"/>
          </a:solidFill>
          <a:ln w="9525">
            <a:solidFill>
              <a:schemeClr val="tx1"/>
            </a:solidFill>
            <a:miter lim="800000"/>
            <a:headEnd/>
            <a:tailEnd/>
          </a:ln>
        </p:spPr>
        <p:txBody>
          <a:bodyPr wrap="none" lIns="69056" tIns="34529" rIns="69056" bIns="34529" anchor="ctr"/>
          <a:lstStyle/>
          <a:p>
            <a:pPr algn="ctr"/>
            <a:r>
              <a:rPr lang="en-US" b="1">
                <a:latin typeface="Courier New" pitchFamily="49" charset="0"/>
                <a:ea typeface="PMingLiU" pitchFamily="18" charset="-120"/>
              </a:rPr>
              <a:t> </a:t>
            </a:r>
          </a:p>
        </p:txBody>
      </p:sp>
      <p:sp>
        <p:nvSpPr>
          <p:cNvPr id="27666" name="Rectangle 30"/>
          <p:cNvSpPr>
            <a:spLocks noGrp="1" noChangeArrowheads="1"/>
          </p:cNvSpPr>
          <p:nvPr>
            <p:ph type="title"/>
          </p:nvPr>
        </p:nvSpPr>
        <p:spPr>
          <a:xfrm>
            <a:off x="1152525" y="615050"/>
            <a:ext cx="6172200" cy="857250"/>
          </a:xfrm>
        </p:spPr>
        <p:txBody>
          <a:bodyPr/>
          <a:lstStyle/>
          <a:p>
            <a:r>
              <a:rPr lang="en-US" dirty="0"/>
              <a:t>Merging</a:t>
            </a:r>
          </a:p>
        </p:txBody>
      </p:sp>
      <p:sp>
        <p:nvSpPr>
          <p:cNvPr id="27667" name="Rectangle 31"/>
          <p:cNvSpPr>
            <a:spLocks noGrp="1" noChangeArrowheads="1"/>
          </p:cNvSpPr>
          <p:nvPr>
            <p:ph idx="1"/>
          </p:nvPr>
        </p:nvSpPr>
        <p:spPr/>
        <p:txBody>
          <a:bodyPr/>
          <a:lstStyle/>
          <a:p>
            <a:pPr marL="0" indent="0"/>
            <a:r>
              <a:rPr lang="en-US" sz="3200" dirty="0"/>
              <a:t>Merge.</a:t>
            </a:r>
          </a:p>
          <a:p>
            <a:pPr marL="259556" lvl="1" indent="-173831"/>
            <a:r>
              <a:rPr lang="en-US" dirty="0"/>
              <a:t>Keep track of smallest element in each sorted half.</a:t>
            </a:r>
          </a:p>
          <a:p>
            <a:pPr marL="259556" lvl="1" indent="-173831"/>
            <a:r>
              <a:rPr lang="en-US" dirty="0"/>
              <a:t>Insert smallest of two elements into auxiliary array.</a:t>
            </a:r>
          </a:p>
          <a:p>
            <a:pPr marL="259556" lvl="1" indent="-173831"/>
            <a:r>
              <a:rPr lang="en-US" dirty="0"/>
              <a:t>Repeat until done.</a:t>
            </a:r>
          </a:p>
          <a:p>
            <a:pPr marL="259556" lvl="1" indent="-173831"/>
            <a:endParaRPr lang="en-US" sz="1200" dirty="0"/>
          </a:p>
        </p:txBody>
      </p:sp>
      <p:sp>
        <p:nvSpPr>
          <p:cNvPr id="107552" name="Rectangle 32"/>
          <p:cNvSpPr>
            <a:spLocks noChangeArrowheads="1"/>
          </p:cNvSpPr>
          <p:nvPr/>
        </p:nvSpPr>
        <p:spPr bwMode="auto">
          <a:xfrm>
            <a:off x="7239000" y="4857750"/>
            <a:ext cx="400050" cy="285750"/>
          </a:xfrm>
          <a:prstGeom prst="rect">
            <a:avLst/>
          </a:prstGeom>
          <a:solidFill>
            <a:schemeClr val="accent1"/>
          </a:solidFill>
          <a:ln w="9525">
            <a:solidFill>
              <a:schemeClr val="tx1"/>
            </a:solidFill>
            <a:miter lim="800000"/>
            <a:headEnd/>
            <a:tailEnd/>
          </a:ln>
        </p:spPr>
        <p:txBody>
          <a:bodyPr wrap="none" lIns="69056" tIns="34529" rIns="69056" bIns="34529" anchor="ctr"/>
          <a:lstStyle/>
          <a:p>
            <a:pPr algn="ctr"/>
            <a:r>
              <a:rPr lang="en-US" b="1">
                <a:solidFill>
                  <a:schemeClr val="bg1"/>
                </a:solidFill>
                <a:latin typeface="Courier New" pitchFamily="49" charset="0"/>
                <a:ea typeface="PMingLiU" pitchFamily="18" charset="-120"/>
              </a:rPr>
              <a:t>T</a:t>
            </a:r>
          </a:p>
        </p:txBody>
      </p:sp>
    </p:spTree>
    <p:extLst>
      <p:ext uri="{BB962C8B-B14F-4D97-AF65-F5344CB8AC3E}">
        <p14:creationId xmlns:p14="http://schemas.microsoft.com/office/powerpoint/2010/main" val="206496535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7552"/>
                                        </p:tgtEl>
                                        <p:attrNameLst>
                                          <p:attrName>style.visibility</p:attrName>
                                        </p:attrNameLst>
                                      </p:cBhvr>
                                      <p:to>
                                        <p:strVal val="visible"/>
                                      </p:to>
                                    </p:set>
                                    <p:animEffect transition="in" filter="dissolve">
                                      <p:cBhvr>
                                        <p:cTn id="7" dur="500"/>
                                        <p:tgtEl>
                                          <p:spTgt spid="107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52"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a:t>Merge Sort</a:t>
            </a:r>
          </a:p>
        </p:txBody>
      </p:sp>
      <p:sp>
        <p:nvSpPr>
          <p:cNvPr id="14338" name="Content Placeholder 1"/>
          <p:cNvSpPr>
            <a:spLocks noGrp="1"/>
          </p:cNvSpPr>
          <p:nvPr>
            <p:ph idx="1"/>
          </p:nvPr>
        </p:nvSpPr>
        <p:spPr/>
        <p:txBody>
          <a:bodyPr>
            <a:normAutofit/>
          </a:bodyPr>
          <a:lstStyle/>
          <a:p>
            <a:r>
              <a:rPr lang="en-US" sz="2400" dirty="0"/>
              <a:t>In second approach of merging, we can take the pair of consecutive array elements, merge them in sorted array and then take adjacent pair of array elements and so on until the all elements of array are in single list.</a:t>
            </a:r>
          </a:p>
        </p:txBody>
      </p:sp>
    </p:spTree>
    <p:extLst>
      <p:ext uri="{BB962C8B-B14F-4D97-AF65-F5344CB8AC3E}">
        <p14:creationId xmlns:p14="http://schemas.microsoft.com/office/powerpoint/2010/main" val="2447391181"/>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a:t>Merge Sort</a:t>
            </a:r>
          </a:p>
        </p:txBody>
      </p:sp>
      <p:sp>
        <p:nvSpPr>
          <p:cNvPr id="14338" name="Content Placeholder 1"/>
          <p:cNvSpPr>
            <a:spLocks noGrp="1"/>
          </p:cNvSpPr>
          <p:nvPr>
            <p:ph idx="1"/>
          </p:nvPr>
        </p:nvSpPr>
        <p:spPr/>
        <p:txBody>
          <a:bodyPr>
            <a:normAutofit lnSpcReduction="10000"/>
          </a:bodyPr>
          <a:lstStyle/>
          <a:p>
            <a:r>
              <a:rPr lang="en-US" sz="3200" dirty="0"/>
              <a:t>Based  on divide and conquer strategy</a:t>
            </a:r>
          </a:p>
          <a:p>
            <a:pPr>
              <a:buFont typeface="Wingdings" pitchFamily="2" charset="2"/>
              <a:buNone/>
            </a:pPr>
            <a:endParaRPr lang="en-US" sz="3200" dirty="0"/>
          </a:p>
          <a:p>
            <a:r>
              <a:rPr lang="en-US" sz="3200" dirty="0"/>
              <a:t>List is divided into two halves (Divide)</a:t>
            </a:r>
          </a:p>
          <a:p>
            <a:endParaRPr lang="en-US" sz="3200" dirty="0"/>
          </a:p>
          <a:p>
            <a:r>
              <a:rPr lang="en-US" sz="3200" dirty="0"/>
              <a:t>Each half is sorted independently (Conquer)</a:t>
            </a:r>
          </a:p>
          <a:p>
            <a:pPr>
              <a:buFont typeface="Wingdings" pitchFamily="2" charset="2"/>
              <a:buNone/>
            </a:pPr>
            <a:endParaRPr lang="en-US" sz="3200" dirty="0"/>
          </a:p>
          <a:p>
            <a:r>
              <a:rPr lang="en-US" sz="3200" dirty="0"/>
              <a:t>Two halves are merged into a sorted sequence.</a:t>
            </a:r>
          </a:p>
        </p:txBody>
      </p:sp>
    </p:spTree>
    <p:extLst>
      <p:ext uri="{BB962C8B-B14F-4D97-AF65-F5344CB8AC3E}">
        <p14:creationId xmlns:p14="http://schemas.microsoft.com/office/powerpoint/2010/main" val="2880850232"/>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4"/>
          <p:cNvSpPr txBox="1">
            <a:spLocks noGrp="1"/>
          </p:cNvSpPr>
          <p:nvPr>
            <p:ph type="title"/>
          </p:nvPr>
        </p:nvSpPr>
        <p:spPr>
          <a:xfrm>
            <a:off x="3469202" y="624110"/>
            <a:ext cx="6589199" cy="1280890"/>
          </a:xfrm>
          <a:prstGeom prst="rect">
            <a:avLst/>
          </a:prstGeom>
          <a:noFill/>
          <a:ln>
            <a:noFill/>
          </a:ln>
        </p:spPr>
        <p:txBody>
          <a:bodyPr spcFirstLastPara="1" vert="horz" wrap="square" lIns="91425" tIns="45700" rIns="91425" bIns="45700" rtlCol="0" anchor="t" anchorCtr="0">
            <a:normAutofit/>
          </a:bodyPr>
          <a:lstStyle/>
          <a:p>
            <a:pPr algn="ctr">
              <a:spcBef>
                <a:spcPts val="0"/>
              </a:spcBef>
              <a:buClr>
                <a:srgbClr val="262626"/>
              </a:buClr>
              <a:buSzPts val="3600"/>
            </a:pPr>
            <a:r>
              <a:rPr lang="en-US"/>
              <a:t>Merge sort Algorithm</a:t>
            </a:r>
            <a:endParaRPr/>
          </a:p>
        </p:txBody>
      </p:sp>
      <p:sp>
        <p:nvSpPr>
          <p:cNvPr id="340" name="Google Shape;340;p34"/>
          <p:cNvSpPr txBox="1">
            <a:spLocks noGrp="1"/>
          </p:cNvSpPr>
          <p:nvPr>
            <p:ph type="body" idx="1"/>
          </p:nvPr>
        </p:nvSpPr>
        <p:spPr>
          <a:xfrm>
            <a:off x="1981200" y="1371600"/>
            <a:ext cx="7924800" cy="5102352"/>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spcAft>
                <a:spcPts val="0"/>
              </a:spcAft>
              <a:buSzPts val="1800"/>
              <a:buNone/>
            </a:pPr>
            <a:endParaRPr/>
          </a:p>
          <a:p>
            <a:pPr marL="342900" indent="-342900">
              <a:spcBef>
                <a:spcPts val="1000"/>
              </a:spcBef>
              <a:spcAft>
                <a:spcPts val="0"/>
              </a:spcAft>
              <a:buSzPts val="1800"/>
              <a:buNone/>
            </a:pPr>
            <a:endParaRPr/>
          </a:p>
          <a:p>
            <a:pPr marL="342900" indent="-342900">
              <a:spcBef>
                <a:spcPts val="1000"/>
              </a:spcBef>
              <a:spcAft>
                <a:spcPts val="0"/>
              </a:spcAft>
              <a:buSzPts val="1800"/>
              <a:buNone/>
            </a:pPr>
            <a:endParaRPr/>
          </a:p>
          <a:p>
            <a:pPr marL="342900" indent="-342900">
              <a:spcBef>
                <a:spcPts val="1000"/>
              </a:spcBef>
              <a:spcAft>
                <a:spcPts val="0"/>
              </a:spcAft>
              <a:buSzPts val="1800"/>
              <a:buNone/>
            </a:pPr>
            <a:endParaRPr/>
          </a:p>
          <a:p>
            <a:pPr marL="342900" indent="-342900">
              <a:spcBef>
                <a:spcPts val="1000"/>
              </a:spcBef>
              <a:spcAft>
                <a:spcPts val="0"/>
              </a:spcAft>
              <a:buSzPts val="1800"/>
              <a:buNone/>
            </a:pPr>
            <a:r>
              <a:rPr lang="en-US"/>
              <a:t>		</a:t>
            </a:r>
            <a:endParaRPr sz="2400"/>
          </a:p>
        </p:txBody>
      </p:sp>
      <p:pic>
        <p:nvPicPr>
          <p:cNvPr id="341" name="Google Shape;341;p34"/>
          <p:cNvPicPr preferRelativeResize="0"/>
          <p:nvPr/>
        </p:nvPicPr>
        <p:blipFill rotWithShape="1">
          <a:blip r:embed="rId3">
            <a:alphaModFix/>
          </a:blip>
          <a:srcRect/>
          <a:stretch/>
        </p:blipFill>
        <p:spPr>
          <a:xfrm>
            <a:off x="1932732" y="1447801"/>
            <a:ext cx="7770945" cy="5142279"/>
          </a:xfrm>
          <a:prstGeom prst="rect">
            <a:avLst/>
          </a:prstGeom>
          <a:noFill/>
          <a:ln>
            <a:noFill/>
          </a:ln>
        </p:spPr>
      </p:pic>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5"/>
          <p:cNvSpPr txBox="1">
            <a:spLocks noGrp="1"/>
          </p:cNvSpPr>
          <p:nvPr>
            <p:ph type="title"/>
          </p:nvPr>
        </p:nvSpPr>
        <p:spPr>
          <a:xfrm>
            <a:off x="3469202" y="624110"/>
            <a:ext cx="6589199" cy="1280890"/>
          </a:xfrm>
          <a:prstGeom prst="rect">
            <a:avLst/>
          </a:prstGeom>
          <a:noFill/>
          <a:ln>
            <a:noFill/>
          </a:ln>
        </p:spPr>
        <p:txBody>
          <a:bodyPr spcFirstLastPara="1" vert="horz" wrap="square" lIns="91425" tIns="45700" rIns="91425" bIns="45700" rtlCol="0" anchor="t" anchorCtr="0">
            <a:normAutofit/>
          </a:bodyPr>
          <a:lstStyle/>
          <a:p>
            <a:pPr algn="ctr">
              <a:spcBef>
                <a:spcPts val="0"/>
              </a:spcBef>
              <a:buClr>
                <a:srgbClr val="262626"/>
              </a:buClr>
              <a:buSzPts val="3600"/>
            </a:pPr>
            <a:r>
              <a:rPr lang="en-US"/>
              <a:t>Merge sort Algorithm</a:t>
            </a:r>
            <a:endParaRPr/>
          </a:p>
        </p:txBody>
      </p:sp>
      <p:sp>
        <p:nvSpPr>
          <p:cNvPr id="347" name="Google Shape;347;p35"/>
          <p:cNvSpPr txBox="1">
            <a:spLocks noGrp="1"/>
          </p:cNvSpPr>
          <p:nvPr>
            <p:ph type="body" idx="1"/>
          </p:nvPr>
        </p:nvSpPr>
        <p:spPr>
          <a:xfrm>
            <a:off x="1981200" y="1371600"/>
            <a:ext cx="7924800" cy="5102352"/>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spcAft>
                <a:spcPts val="0"/>
              </a:spcAft>
              <a:buSzPts val="1800"/>
              <a:buNone/>
            </a:pPr>
            <a:endParaRPr/>
          </a:p>
          <a:p>
            <a:pPr marL="342900" indent="-342900">
              <a:spcBef>
                <a:spcPts val="1000"/>
              </a:spcBef>
              <a:spcAft>
                <a:spcPts val="0"/>
              </a:spcAft>
              <a:buSzPts val="1800"/>
              <a:buNone/>
            </a:pPr>
            <a:endParaRPr/>
          </a:p>
          <a:p>
            <a:pPr marL="342900" indent="-342900">
              <a:spcBef>
                <a:spcPts val="1000"/>
              </a:spcBef>
              <a:spcAft>
                <a:spcPts val="0"/>
              </a:spcAft>
              <a:buSzPts val="1800"/>
              <a:buNone/>
            </a:pPr>
            <a:endParaRPr/>
          </a:p>
          <a:p>
            <a:pPr marL="342900" indent="-342900">
              <a:spcBef>
                <a:spcPts val="1000"/>
              </a:spcBef>
              <a:spcAft>
                <a:spcPts val="0"/>
              </a:spcAft>
              <a:buSzPts val="1800"/>
              <a:buNone/>
            </a:pPr>
            <a:endParaRPr/>
          </a:p>
          <a:p>
            <a:pPr marL="342900" indent="-342900">
              <a:spcBef>
                <a:spcPts val="1000"/>
              </a:spcBef>
              <a:spcAft>
                <a:spcPts val="0"/>
              </a:spcAft>
              <a:buSzPts val="1800"/>
              <a:buNone/>
            </a:pPr>
            <a:r>
              <a:rPr lang="en-US"/>
              <a:t>		</a:t>
            </a:r>
            <a:endParaRPr sz="2400"/>
          </a:p>
        </p:txBody>
      </p:sp>
      <p:pic>
        <p:nvPicPr>
          <p:cNvPr id="348" name="Google Shape;348;p35"/>
          <p:cNvPicPr preferRelativeResize="0"/>
          <p:nvPr/>
        </p:nvPicPr>
        <p:blipFill rotWithShape="1">
          <a:blip r:embed="rId3">
            <a:alphaModFix/>
          </a:blip>
          <a:srcRect/>
          <a:stretch/>
        </p:blipFill>
        <p:spPr>
          <a:xfrm>
            <a:off x="1905000" y="1499052"/>
            <a:ext cx="7315200" cy="4964193"/>
          </a:xfrm>
          <a:prstGeom prst="rect">
            <a:avLst/>
          </a:prstGeom>
          <a:noFill/>
          <a:ln>
            <a:noFill/>
          </a:ln>
        </p:spPr>
      </p:pic>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4" name="Google Shape;354;p36"/>
          <p:cNvSpPr/>
          <p:nvPr/>
        </p:nvSpPr>
        <p:spPr>
          <a:xfrm>
            <a:off x="1809721" y="2643182"/>
            <a:ext cx="8858279" cy="1477328"/>
          </a:xfrm>
          <a:prstGeom prst="rect">
            <a:avLst/>
          </a:prstGeom>
          <a:solidFill>
            <a:srgbClr val="F1F1F1"/>
          </a:solidFill>
          <a:ln>
            <a:noFill/>
          </a:ln>
        </p:spPr>
        <p:txBody>
          <a:bodyPr spcFirstLastPara="1" wrap="square" lIns="0" tIns="0" rIns="0" bIns="0" anchor="ctr" anchorCtr="0">
            <a:noAutofit/>
          </a:bodyPr>
          <a:lstStyle/>
          <a:p>
            <a:pPr algn="just">
              <a:buClr>
                <a:srgbClr val="313131"/>
              </a:buClr>
              <a:buSzPts val="2400"/>
            </a:pPr>
            <a:r>
              <a:rPr lang="en-US" sz="2400">
                <a:solidFill>
                  <a:srgbClr val="313131"/>
                </a:solidFill>
                <a:latin typeface="Times New Roman"/>
                <a:ea typeface="Times New Roman"/>
                <a:cs typeface="Times New Roman"/>
                <a:sym typeface="Times New Roman"/>
              </a:rPr>
              <a:t>Step 1 − if it is only one element in the list it is already sorted, return. </a:t>
            </a:r>
            <a:endParaRPr/>
          </a:p>
          <a:p>
            <a:pPr algn="just">
              <a:buClr>
                <a:srgbClr val="313131"/>
              </a:buClr>
              <a:buSzPts val="2400"/>
            </a:pPr>
            <a:r>
              <a:rPr lang="en-US" sz="2400">
                <a:solidFill>
                  <a:srgbClr val="313131"/>
                </a:solidFill>
                <a:latin typeface="Times New Roman"/>
                <a:ea typeface="Times New Roman"/>
                <a:cs typeface="Times New Roman"/>
                <a:sym typeface="Times New Roman"/>
              </a:rPr>
              <a:t>Step 2 − divide the list recursively into two halves until it can no more be divided.</a:t>
            </a:r>
            <a:endParaRPr/>
          </a:p>
          <a:p>
            <a:pPr algn="just">
              <a:buClr>
                <a:srgbClr val="313131"/>
              </a:buClr>
              <a:buSzPts val="2400"/>
            </a:pPr>
            <a:r>
              <a:rPr lang="en-US" sz="2400">
                <a:solidFill>
                  <a:srgbClr val="313131"/>
                </a:solidFill>
                <a:latin typeface="Times New Roman"/>
                <a:ea typeface="Times New Roman"/>
                <a:cs typeface="Times New Roman"/>
                <a:sym typeface="Times New Roman"/>
              </a:rPr>
              <a:t> Step 3 − merge the smaller lists into new list in sorted order.</a:t>
            </a:r>
            <a:r>
              <a:rPr lang="en-US" sz="2000">
                <a:solidFill>
                  <a:schemeClr val="dk1"/>
                </a:solidFill>
                <a:latin typeface="Times New Roman"/>
                <a:ea typeface="Times New Roman"/>
                <a:cs typeface="Times New Roman"/>
                <a:sym typeface="Times New Roman"/>
              </a:rPr>
              <a:t> </a:t>
            </a:r>
            <a:endParaRPr sz="5400">
              <a:solidFill>
                <a:schemeClr val="dk1"/>
              </a:solidFill>
              <a:latin typeface="Times New Roman"/>
              <a:ea typeface="Times New Roman"/>
              <a:cs typeface="Times New Roman"/>
              <a:sym typeface="Times New Roman"/>
            </a:endParaRPr>
          </a:p>
        </p:txBody>
      </p:sp>
      <p:sp>
        <p:nvSpPr>
          <p:cNvPr id="4" name="Title 1">
            <a:extLst>
              <a:ext uri="{FF2B5EF4-FFF2-40B4-BE49-F238E27FC236}">
                <a16:creationId xmlns:a16="http://schemas.microsoft.com/office/drawing/2014/main" id="{14579890-19CA-1703-966D-E5E422F75CD0}"/>
              </a:ext>
            </a:extLst>
          </p:cNvPr>
          <p:cNvSpPr>
            <a:spLocks noGrp="1"/>
          </p:cNvSpPr>
          <p:nvPr>
            <p:ph type="title"/>
          </p:nvPr>
        </p:nvSpPr>
        <p:spPr>
          <a:xfrm>
            <a:off x="1093304" y="623888"/>
            <a:ext cx="8965096" cy="1281112"/>
          </a:xfrm>
        </p:spPr>
        <p:txBody>
          <a:bodyPr/>
          <a:lstStyle/>
          <a:p>
            <a:r>
              <a:rPr lang="en-US" dirty="0"/>
              <a:t>Merge Sort </a:t>
            </a: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09900" y="1003223"/>
            <a:ext cx="6172200" cy="857250"/>
          </a:xfrm>
        </p:spPr>
        <p:txBody>
          <a:bodyPr/>
          <a:lstStyle/>
          <a:p>
            <a:r>
              <a:rPr lang="en-US" dirty="0"/>
              <a:t>Working of Merge sort</a:t>
            </a:r>
          </a:p>
        </p:txBody>
      </p:sp>
      <p:pic>
        <p:nvPicPr>
          <p:cNvPr id="6" name="Content Placeholder 5">
            <a:extLst>
              <a:ext uri="{FF2B5EF4-FFF2-40B4-BE49-F238E27FC236}">
                <a16:creationId xmlns:a16="http://schemas.microsoft.com/office/drawing/2014/main" id="{991D87F4-CE4F-4441-968E-913FCA39ECEB}"/>
              </a:ext>
            </a:extLst>
          </p:cNvPr>
          <p:cNvPicPr>
            <a:picLocks noGrp="1" noChangeAspect="1"/>
          </p:cNvPicPr>
          <p:nvPr>
            <p:ph idx="1"/>
          </p:nvPr>
        </p:nvPicPr>
        <p:blipFill>
          <a:blip r:embed="rId3"/>
          <a:stretch>
            <a:fillRect/>
          </a:stretch>
        </p:blipFill>
        <p:spPr>
          <a:xfrm>
            <a:off x="1741479" y="2045385"/>
            <a:ext cx="8709041" cy="3898844"/>
          </a:xfrm>
        </p:spPr>
      </p:pic>
    </p:spTree>
    <p:extLst>
      <p:ext uri="{BB962C8B-B14F-4D97-AF65-F5344CB8AC3E}">
        <p14:creationId xmlns:p14="http://schemas.microsoft.com/office/powerpoint/2010/main" val="2934111576"/>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09900" y="1003223"/>
            <a:ext cx="6172200" cy="857250"/>
          </a:xfrm>
        </p:spPr>
        <p:txBody>
          <a:bodyPr/>
          <a:lstStyle/>
          <a:p>
            <a:r>
              <a:rPr lang="en-US" dirty="0"/>
              <a:t>Working of Merge sort</a:t>
            </a:r>
          </a:p>
        </p:txBody>
      </p:sp>
      <p:pic>
        <p:nvPicPr>
          <p:cNvPr id="3" name="Content Placeholder 2">
            <a:extLst>
              <a:ext uri="{FF2B5EF4-FFF2-40B4-BE49-F238E27FC236}">
                <a16:creationId xmlns:a16="http://schemas.microsoft.com/office/drawing/2014/main" id="{D63F0E47-31EF-4710-918E-BCD4FBBEEC83}"/>
              </a:ext>
            </a:extLst>
          </p:cNvPr>
          <p:cNvPicPr>
            <a:picLocks noGrp="1" noChangeAspect="1"/>
          </p:cNvPicPr>
          <p:nvPr>
            <p:ph idx="1"/>
          </p:nvPr>
        </p:nvPicPr>
        <p:blipFill>
          <a:blip r:embed="rId3"/>
          <a:stretch>
            <a:fillRect/>
          </a:stretch>
        </p:blipFill>
        <p:spPr>
          <a:xfrm>
            <a:off x="1994452" y="1860473"/>
            <a:ext cx="8203096" cy="4359660"/>
          </a:xfrm>
        </p:spPr>
      </p:pic>
    </p:spTree>
    <p:extLst>
      <p:ext uri="{BB962C8B-B14F-4D97-AF65-F5344CB8AC3E}">
        <p14:creationId xmlns:p14="http://schemas.microsoft.com/office/powerpoint/2010/main" val="392511212"/>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09900" y="1003223"/>
            <a:ext cx="6172200" cy="857250"/>
          </a:xfrm>
        </p:spPr>
        <p:txBody>
          <a:bodyPr/>
          <a:lstStyle/>
          <a:p>
            <a:r>
              <a:rPr lang="en-US" dirty="0"/>
              <a:t>Working of Merge sort</a:t>
            </a:r>
          </a:p>
        </p:txBody>
      </p:sp>
      <p:pic>
        <p:nvPicPr>
          <p:cNvPr id="3" name="Content Placeholder 2">
            <a:extLst>
              <a:ext uri="{FF2B5EF4-FFF2-40B4-BE49-F238E27FC236}">
                <a16:creationId xmlns:a16="http://schemas.microsoft.com/office/drawing/2014/main" id="{C643EBF3-8305-4E53-8591-4F7DD62531F4}"/>
              </a:ext>
            </a:extLst>
          </p:cNvPr>
          <p:cNvPicPr>
            <a:picLocks noGrp="1" noChangeAspect="1"/>
          </p:cNvPicPr>
          <p:nvPr>
            <p:ph idx="1"/>
          </p:nvPr>
        </p:nvPicPr>
        <p:blipFill>
          <a:blip r:embed="rId3"/>
          <a:stretch>
            <a:fillRect/>
          </a:stretch>
        </p:blipFill>
        <p:spPr>
          <a:xfrm>
            <a:off x="1639958" y="1948728"/>
            <a:ext cx="8722470" cy="4265134"/>
          </a:xfrm>
        </p:spPr>
      </p:pic>
    </p:spTree>
    <p:extLst>
      <p:ext uri="{BB962C8B-B14F-4D97-AF65-F5344CB8AC3E}">
        <p14:creationId xmlns:p14="http://schemas.microsoft.com/office/powerpoint/2010/main" val="1634823679"/>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09900" y="1003223"/>
            <a:ext cx="6172200" cy="857250"/>
          </a:xfrm>
        </p:spPr>
        <p:txBody>
          <a:bodyPr/>
          <a:lstStyle/>
          <a:p>
            <a:r>
              <a:rPr lang="en-US" dirty="0"/>
              <a:t>Working of Merge sort</a:t>
            </a:r>
          </a:p>
        </p:txBody>
      </p:sp>
      <p:pic>
        <p:nvPicPr>
          <p:cNvPr id="3" name="Content Placeholder 2">
            <a:extLst>
              <a:ext uri="{FF2B5EF4-FFF2-40B4-BE49-F238E27FC236}">
                <a16:creationId xmlns:a16="http://schemas.microsoft.com/office/drawing/2014/main" id="{6D1C2E75-EFCD-4B9B-8BF3-719D48C68560}"/>
              </a:ext>
            </a:extLst>
          </p:cNvPr>
          <p:cNvPicPr>
            <a:picLocks noGrp="1" noChangeAspect="1"/>
          </p:cNvPicPr>
          <p:nvPr>
            <p:ph idx="1"/>
          </p:nvPr>
        </p:nvPicPr>
        <p:blipFill>
          <a:blip r:embed="rId3"/>
          <a:stretch>
            <a:fillRect/>
          </a:stretch>
        </p:blipFill>
        <p:spPr>
          <a:xfrm>
            <a:off x="1878164" y="1860473"/>
            <a:ext cx="8435671" cy="4245650"/>
          </a:xfrm>
        </p:spPr>
      </p:pic>
    </p:spTree>
    <p:extLst>
      <p:ext uri="{BB962C8B-B14F-4D97-AF65-F5344CB8AC3E}">
        <p14:creationId xmlns:p14="http://schemas.microsoft.com/office/powerpoint/2010/main" val="1252228477"/>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3103-71D2-8CE2-B94E-96F44E811D10}"/>
              </a:ext>
            </a:extLst>
          </p:cNvPr>
          <p:cNvSpPr>
            <a:spLocks noGrp="1"/>
          </p:cNvSpPr>
          <p:nvPr>
            <p:ph type="title"/>
          </p:nvPr>
        </p:nvSpPr>
        <p:spPr/>
        <p:txBody>
          <a:bodyPr/>
          <a:lstStyle/>
          <a:p>
            <a:r>
              <a:rPr lang="en-US" dirty="0"/>
              <a:t>Time and Space Complexity</a:t>
            </a:r>
          </a:p>
        </p:txBody>
      </p:sp>
      <p:sp>
        <p:nvSpPr>
          <p:cNvPr id="3" name="Content Placeholder 2">
            <a:extLst>
              <a:ext uri="{FF2B5EF4-FFF2-40B4-BE49-F238E27FC236}">
                <a16:creationId xmlns:a16="http://schemas.microsoft.com/office/drawing/2014/main" id="{27158F5F-6829-5DF9-2E9E-047D3FBBAB7E}"/>
              </a:ext>
            </a:extLst>
          </p:cNvPr>
          <p:cNvSpPr>
            <a:spLocks noGrp="1"/>
          </p:cNvSpPr>
          <p:nvPr>
            <p:ph idx="1"/>
          </p:nvPr>
        </p:nvSpPr>
        <p:spPr/>
        <p:txBody>
          <a:bodyPr>
            <a:normAutofit/>
          </a:bodyPr>
          <a:lstStyle/>
          <a:p>
            <a:r>
              <a:rPr lang="en-US" sz="2800" dirty="0"/>
              <a:t>Time complexity of Merge Sort is O(n*Log n) in all the 3 cases (worst, average and best) as merge sort always divides the array in two halves and takes linear time to merge two halves.</a:t>
            </a:r>
          </a:p>
          <a:p>
            <a:r>
              <a:rPr lang="en-US" sz="2800" dirty="0"/>
              <a:t>It requires equal amount of additional space as the unsorted array as O(n). Hence its not at all recommended for searching large unsorted arrays.</a:t>
            </a:r>
          </a:p>
        </p:txBody>
      </p:sp>
    </p:spTree>
    <p:extLst>
      <p:ext uri="{BB962C8B-B14F-4D97-AF65-F5344CB8AC3E}">
        <p14:creationId xmlns:p14="http://schemas.microsoft.com/office/powerpoint/2010/main" val="3000856767"/>
      </p:ext>
    </p:extLst>
  </p:cSld>
  <p:clrMapOvr>
    <a:masterClrMapping/>
  </p:clrMapOvr>
  <p:transition spd="med">
    <p:fade/>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163AA760-FEA7-44E2-BB85-0893DB8CD7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0</TotalTime>
  <Words>1814</Words>
  <Application>Microsoft Office PowerPoint</Application>
  <PresentationFormat>Widescreen</PresentationFormat>
  <Paragraphs>608</Paragraphs>
  <Slides>49</Slides>
  <Notes>21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1" baseType="lpstr">
      <vt:lpstr>PMingLiU</vt:lpstr>
      <vt:lpstr>Arial</vt:lpstr>
      <vt:lpstr>Calibri</vt:lpstr>
      <vt:lpstr>Calibri Light</vt:lpstr>
      <vt:lpstr>Century Gothic</vt:lpstr>
      <vt:lpstr>Comic Sans MS</vt:lpstr>
      <vt:lpstr>Courier New</vt:lpstr>
      <vt:lpstr>Monotype Corsiva</vt:lpstr>
      <vt:lpstr>Times New Roman</vt:lpstr>
      <vt:lpstr>Wingdings</vt:lpstr>
      <vt:lpstr>Retrospect</vt:lpstr>
      <vt:lpstr>Paint Shop Pro Image</vt:lpstr>
      <vt:lpstr>Data Structure and Algorithm</vt:lpstr>
      <vt:lpstr>CLO Covered</vt:lpstr>
      <vt:lpstr>Sorting- Introduction </vt:lpstr>
      <vt:lpstr>Sorting Techniques</vt:lpstr>
      <vt:lpstr>Bubble Sort</vt:lpstr>
      <vt:lpstr>Bubble Sort</vt:lpstr>
      <vt:lpstr>Bubble Sort</vt:lpstr>
      <vt:lpstr>Bubble Sort</vt:lpstr>
      <vt:lpstr>Bubble Sort</vt:lpstr>
      <vt:lpstr>Bubble Sort</vt:lpstr>
      <vt:lpstr>Bubble Sort</vt:lpstr>
      <vt:lpstr>Selection Sort</vt:lpstr>
      <vt:lpstr>PowerPoint Presentation</vt:lpstr>
      <vt:lpstr>Selection Sort</vt:lpstr>
      <vt:lpstr>Working of Selection Sort</vt:lpstr>
      <vt:lpstr>Working of Selection Sort</vt:lpstr>
      <vt:lpstr>Working of Selection Sort</vt:lpstr>
      <vt:lpstr>Insertion Sort</vt:lpstr>
      <vt:lpstr>Working of insertion sort</vt:lpstr>
      <vt:lpstr>Insertion Sort</vt:lpstr>
      <vt:lpstr>Insertion Sort</vt:lpstr>
      <vt:lpstr>Insertion Sort</vt:lpstr>
      <vt:lpstr>INSERTION-SORT</vt:lpstr>
      <vt:lpstr>Example  (ascending order)</vt:lpstr>
      <vt:lpstr>Cont . . . </vt:lpstr>
      <vt:lpstr>Cont . . . . </vt:lpstr>
      <vt:lpstr>Cont . . . </vt:lpstr>
      <vt:lpstr>Cont . . . </vt:lpstr>
      <vt:lpstr>Merging</vt:lpstr>
      <vt:lpstr>Merging</vt:lpstr>
      <vt:lpstr>Merging</vt:lpstr>
      <vt:lpstr>Merging</vt:lpstr>
      <vt:lpstr>Merging</vt:lpstr>
      <vt:lpstr>Merging</vt:lpstr>
      <vt:lpstr>Merging</vt:lpstr>
      <vt:lpstr>Merging</vt:lpstr>
      <vt:lpstr>Merging</vt:lpstr>
      <vt:lpstr>Merging</vt:lpstr>
      <vt:lpstr>Merging</vt:lpstr>
      <vt:lpstr>Merge Sort</vt:lpstr>
      <vt:lpstr>Merge Sort</vt:lpstr>
      <vt:lpstr>Merge sort Algorithm</vt:lpstr>
      <vt:lpstr>Merge sort Algorithm</vt:lpstr>
      <vt:lpstr>Merge Sort </vt:lpstr>
      <vt:lpstr>Working of Merge sort</vt:lpstr>
      <vt:lpstr>Working of Merge sort</vt:lpstr>
      <vt:lpstr>Working of Merge sort</vt:lpstr>
      <vt:lpstr>Working of Merge sort</vt:lpstr>
      <vt:lpstr>Time and Space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2013-10-18T18:37:23Z</dcterms:created>
  <dcterms:modified xsi:type="dcterms:W3CDTF">2025-01-06T06:52:46Z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TC034605409991</vt:lpwstr>
  </property>
</Properties>
</file>