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339" r:id="rId3"/>
    <p:sldId id="473" r:id="rId4"/>
    <p:sldId id="329" r:id="rId5"/>
    <p:sldId id="331" r:id="rId6"/>
    <p:sldId id="420" r:id="rId7"/>
    <p:sldId id="332" r:id="rId8"/>
    <p:sldId id="471" r:id="rId9"/>
    <p:sldId id="333" r:id="rId10"/>
    <p:sldId id="330" r:id="rId11"/>
    <p:sldId id="334" r:id="rId12"/>
    <p:sldId id="335" r:id="rId13"/>
    <p:sldId id="336" r:id="rId14"/>
    <p:sldId id="338" r:id="rId15"/>
    <p:sldId id="45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46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D9D5B-FF27-4B6B-85EB-07AF9C07F856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EA683-90C8-451F-BC4A-13383BD37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8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https://youtu.be/XRcC7bAtL3c</a:t>
            </a:r>
          </a:p>
          <a:p>
            <a:r>
              <a:rPr lang="en-US" dirty="0"/>
              <a:t>https://youtu.be/-b2lciNd2L4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DEA683-90C8-451F-BC4A-13383BD37F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51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 Pre order (NLR)</a:t>
            </a:r>
          </a:p>
          <a:p>
            <a:r>
              <a:rPr lang="en-US" dirty="0"/>
              <a:t>2-In order (LNR)</a:t>
            </a:r>
          </a:p>
          <a:p>
            <a:r>
              <a:rPr lang="en-US" dirty="0"/>
              <a:t>3- </a:t>
            </a:r>
            <a:r>
              <a:rPr lang="en-US"/>
              <a:t>Post order (LRN)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DEA683-90C8-451F-BC4A-13383BD37F2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77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488-2866-41B3-B7DC-859AEE043E50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1F02-D963-4A85-BE2D-1321C23C253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65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488-2866-41B3-B7DC-859AEE043E50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1F02-D963-4A85-BE2D-1321C23C2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80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488-2866-41B3-B7DC-859AEE043E50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1F02-D963-4A85-BE2D-1321C23C253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962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488-2866-41B3-B7DC-859AEE043E50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1F02-D963-4A85-BE2D-1321C23C2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8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488-2866-41B3-B7DC-859AEE043E50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1F02-D963-4A85-BE2D-1321C23C2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8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488-2866-41B3-B7DC-859AEE043E50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1F02-D963-4A85-BE2D-1321C23C2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2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488-2866-41B3-B7DC-859AEE043E50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1F02-D963-4A85-BE2D-1321C23C2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5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DB01488-2866-41B3-B7DC-859AEE043E50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9E1F02-D963-4A85-BE2D-1321C23C2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2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488-2866-41B3-B7DC-859AEE043E50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1F02-D963-4A85-BE2D-1321C23C2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6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488-2866-41B3-B7DC-859AEE043E50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1F02-D963-4A85-BE2D-1321C23C2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96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488-2866-41B3-B7DC-859AEE043E50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1F02-D963-4A85-BE2D-1321C23C2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9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DB01488-2866-41B3-B7DC-859AEE043E50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19E1F02-D963-4A85-BE2D-1321C23C253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18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77D9-232E-57A6-651D-F401E149D3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Data Structure and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885BB-5F97-FC6A-EC08-9141FF4B6C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Course code: cs-201</a:t>
            </a:r>
          </a:p>
          <a:p>
            <a:r>
              <a:rPr lang="en-US" dirty="0"/>
              <a:t>Topic: Trees in data structure</a:t>
            </a:r>
          </a:p>
          <a:p>
            <a:r>
              <a:rPr lang="en-US" dirty="0"/>
              <a:t>Instructor: </a:t>
            </a:r>
            <a:r>
              <a:rPr lang="en-US" dirty="0" err="1"/>
              <a:t>habiba</a:t>
            </a:r>
            <a:r>
              <a:rPr lang="en-US" dirty="0"/>
              <a:t> </a:t>
            </a:r>
            <a:r>
              <a:rPr lang="en-US" dirty="0" err="1"/>
              <a:t>arshad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845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2692-F081-B1D7-CCE4-0E0633262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03246-14E0-E26A-E8DF-83B7561B2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Representation of Binary Tree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Binary Tree Traversal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Expression Trees</a:t>
            </a:r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28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A8BF-C096-9727-3A7C-F5DA638BF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5DF44-6705-443F-41B9-D272A1230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CLO1: Explain the fundamentals of data structure as well as algorithms that operate on them GA2, BT C2</a:t>
            </a:r>
          </a:p>
          <a:p>
            <a:r>
              <a:rPr lang="en-US" sz="2800" dirty="0"/>
              <a:t>CLO2: Apply and design various data structures methods for specified applications. GA4, C3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87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000" spc="-5" dirty="0">
                <a:solidFill>
                  <a:schemeClr val="tx1"/>
                </a:solidFill>
              </a:rPr>
              <a:t>Representation of Binary Tree </a:t>
            </a:r>
            <a:endParaRPr lang="en-US" sz="4000" kern="1200" spc="-1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283090" y="2177170"/>
            <a:ext cx="9940010" cy="4570963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n-US" sz="2000" i="1" dirty="0">
              <a:ea typeface="ＭＳ Ｐゴシック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D0161F-DA91-4929-B77E-DF277BEE814D}"/>
              </a:ext>
            </a:extLst>
          </p:cNvPr>
          <p:cNvSpPr txBox="1"/>
          <p:nvPr/>
        </p:nvSpPr>
        <p:spPr>
          <a:xfrm>
            <a:off x="1407524" y="2517686"/>
            <a:ext cx="101037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 binary tree data structure is represented using two methods. Those methods are as follows...</a:t>
            </a: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Array Representation</a:t>
            </a: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Linked List Representation</a:t>
            </a:r>
          </a:p>
          <a:p>
            <a:pPr algn="just">
              <a:buFont typeface="+mj-lt"/>
              <a:buAutoNum type="arabicPeriod"/>
            </a:pPr>
            <a:endParaRPr lang="en-US" b="1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Consider the following binary tree...</a:t>
            </a:r>
          </a:p>
          <a:p>
            <a:br>
              <a:rPr lang="en-US" dirty="0"/>
            </a:br>
            <a:endParaRPr lang="en-US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3D1E0-0E1C-4660-866D-65330061C8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53" r="22318"/>
          <a:stretch/>
        </p:blipFill>
        <p:spPr>
          <a:xfrm>
            <a:off x="5334000" y="3023661"/>
            <a:ext cx="49530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58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000" spc="-5" dirty="0">
                <a:solidFill>
                  <a:schemeClr val="tx1"/>
                </a:solidFill>
              </a:rPr>
              <a:t>Representation of Binary Tree </a:t>
            </a:r>
            <a:endParaRPr lang="en-US" sz="4000" kern="1200" spc="-1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283090" y="2177170"/>
            <a:ext cx="9940010" cy="45709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n-US" sz="2000" i="1" dirty="0">
              <a:ea typeface="ＭＳ Ｐゴシック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D0161F-DA91-4929-B77E-DF277BEE814D}"/>
              </a:ext>
            </a:extLst>
          </p:cNvPr>
          <p:cNvSpPr txBox="1"/>
          <p:nvPr/>
        </p:nvSpPr>
        <p:spPr>
          <a:xfrm>
            <a:off x="1038965" y="2021898"/>
            <a:ext cx="52041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b="1" i="0" dirty="0">
                <a:solidFill>
                  <a:srgbClr val="E00D50"/>
                </a:solidFill>
                <a:effectLst/>
                <a:latin typeface="Open Sans" panose="020B0606030504020204" pitchFamily="34" charset="0"/>
              </a:rPr>
              <a:t>Array Representation </a:t>
            </a:r>
            <a:endParaRPr lang="en-US" sz="2400" b="1" dirty="0">
              <a:solidFill>
                <a:srgbClr val="E00D50"/>
              </a:solidFill>
              <a:latin typeface="Open Sans" panose="020B0606030504020204" pitchFamily="34" charset="0"/>
            </a:endParaRPr>
          </a:p>
          <a:p>
            <a:pPr algn="just"/>
            <a:endParaRPr lang="en-US" sz="2400" b="1" i="0" dirty="0">
              <a:solidFill>
                <a:srgbClr val="E00D50"/>
              </a:solidFill>
              <a:effectLst/>
              <a:latin typeface="Open Sans" panose="020B0606030504020204" pitchFamily="34" charset="0"/>
            </a:endParaRPr>
          </a:p>
          <a:p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 array representation of a binary tree, we use one-dimensional array (1-D Array) to represent a binary tree.</a:t>
            </a:r>
            <a:b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endParaRPr lang="en-US" sz="24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br>
              <a:rPr lang="en-US" sz="2400" dirty="0"/>
            </a:br>
            <a:endParaRPr lang="en-US" sz="2400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980C6C-13CB-40CD-AB28-2CB2778CA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198808"/>
            <a:ext cx="11430000" cy="1428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F61636-3BD1-4875-FD06-D76D448764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253" r="22318"/>
          <a:stretch/>
        </p:blipFill>
        <p:spPr>
          <a:xfrm>
            <a:off x="6477000" y="1819714"/>
            <a:ext cx="49530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58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39D018A-A8AC-FF06-1306-DFFAD64833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8240" y="274639"/>
            <a:ext cx="9875520" cy="563562"/>
          </a:xfrm>
        </p:spPr>
        <p:txBody>
          <a:bodyPr>
            <a:normAutofit fontScale="90000"/>
          </a:bodyPr>
          <a:lstStyle/>
          <a:p>
            <a:pPr marL="1005840" indent="-1005840">
              <a:defRPr/>
            </a:pPr>
            <a:r>
              <a:rPr lang="en-US" sz="3840" dirty="0">
                <a:solidFill>
                  <a:schemeClr val="tx1"/>
                </a:solidFill>
              </a:rPr>
              <a:t>Representation Of  Binary Trees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1AA6B08-B02F-0955-5C7F-1728F5727E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3920" y="1219200"/>
            <a:ext cx="9875520" cy="5334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/>
              <a:t>Array Representation</a:t>
            </a:r>
          </a:p>
        </p:txBody>
      </p:sp>
      <p:grpSp>
        <p:nvGrpSpPr>
          <p:cNvPr id="2" name="Group 162">
            <a:extLst>
              <a:ext uri="{FF2B5EF4-FFF2-40B4-BE49-F238E27FC236}">
                <a16:creationId xmlns:a16="http://schemas.microsoft.com/office/drawing/2014/main" id="{294562E6-C58B-5797-0FC7-AC6C84BF4290}"/>
              </a:ext>
            </a:extLst>
          </p:cNvPr>
          <p:cNvGrpSpPr>
            <a:grpSpLocks/>
          </p:cNvGrpSpPr>
          <p:nvPr/>
        </p:nvGrpSpPr>
        <p:grpSpPr bwMode="auto">
          <a:xfrm>
            <a:off x="3191992" y="2020366"/>
            <a:ext cx="4480560" cy="2590800"/>
            <a:chOff x="2130" y="2040"/>
            <a:chExt cx="2160" cy="3312"/>
          </a:xfrm>
        </p:grpSpPr>
        <p:sp>
          <p:nvSpPr>
            <p:cNvPr id="25644" name="Rectangle 163">
              <a:extLst>
                <a:ext uri="{FF2B5EF4-FFF2-40B4-BE49-F238E27FC236}">
                  <a16:creationId xmlns:a16="http://schemas.microsoft.com/office/drawing/2014/main" id="{6B056B86-9F8E-116A-033C-A95B477FC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0" y="4590"/>
              <a:ext cx="6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solidFill>
                    <a:srgbClr val="080808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5645" name="Rectangle 164">
              <a:extLst>
                <a:ext uri="{FF2B5EF4-FFF2-40B4-BE49-F238E27FC236}">
                  <a16:creationId xmlns:a16="http://schemas.microsoft.com/office/drawing/2014/main" id="{48439E2C-68F9-D8B5-7D08-8B3E919C5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0" y="3690"/>
              <a:ext cx="6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solidFill>
                    <a:srgbClr val="080808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5646" name="Rectangle 165">
              <a:extLst>
                <a:ext uri="{FF2B5EF4-FFF2-40B4-BE49-F238E27FC236}">
                  <a16:creationId xmlns:a16="http://schemas.microsoft.com/office/drawing/2014/main" id="{59DB5214-195E-CC4A-4B2E-EFFD2A291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3660"/>
              <a:ext cx="6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solidFill>
                    <a:srgbClr val="080808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5647" name="Rectangle 166">
              <a:extLst>
                <a:ext uri="{FF2B5EF4-FFF2-40B4-BE49-F238E27FC236}">
                  <a16:creationId xmlns:a16="http://schemas.microsoft.com/office/drawing/2014/main" id="{A9F82836-9571-84D0-D18E-917CD382A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" y="2790"/>
              <a:ext cx="6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solidFill>
                    <a:srgbClr val="080808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648" name="Rectangle 167">
              <a:extLst>
                <a:ext uri="{FF2B5EF4-FFF2-40B4-BE49-F238E27FC236}">
                  <a16:creationId xmlns:a16="http://schemas.microsoft.com/office/drawing/2014/main" id="{9CD431F8-ED39-A5B5-A3D5-E82051239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" y="2040"/>
              <a:ext cx="6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solidFill>
                    <a:srgbClr val="080808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649" name="Oval 168">
              <a:extLst>
                <a:ext uri="{FF2B5EF4-FFF2-40B4-BE49-F238E27FC236}">
                  <a16:creationId xmlns:a16="http://schemas.microsoft.com/office/drawing/2014/main" id="{A7195E81-DDDB-DA91-1BD7-248876A2E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" y="2175"/>
              <a:ext cx="541" cy="539"/>
            </a:xfrm>
            <a:prstGeom prst="ellips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solidFill>
                    <a:srgbClr val="080808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5650" name="Line 169">
              <a:extLst>
                <a:ext uri="{FF2B5EF4-FFF2-40B4-BE49-F238E27FC236}">
                  <a16:creationId xmlns:a16="http://schemas.microsoft.com/office/drawing/2014/main" id="{41CFAED5-69AE-8CD9-DA84-6B6E0D5382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6" y="2700"/>
              <a:ext cx="36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60"/>
            </a:p>
          </p:txBody>
        </p:sp>
        <p:sp>
          <p:nvSpPr>
            <p:cNvPr id="25651" name="Oval 170">
              <a:extLst>
                <a:ext uri="{FF2B5EF4-FFF2-40B4-BE49-F238E27FC236}">
                  <a16:creationId xmlns:a16="http://schemas.microsoft.com/office/drawing/2014/main" id="{A74129F7-FD31-1F68-0DBE-3428D461C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3913"/>
              <a:ext cx="540" cy="539"/>
            </a:xfrm>
            <a:prstGeom prst="ellips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solidFill>
                    <a:srgbClr val="080808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5652" name="Oval 171">
              <a:extLst>
                <a:ext uri="{FF2B5EF4-FFF2-40B4-BE49-F238E27FC236}">
                  <a16:creationId xmlns:a16="http://schemas.microsoft.com/office/drawing/2014/main" id="{5D08F1C0-424B-EBF3-580C-F714DF79C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5" y="3016"/>
              <a:ext cx="541" cy="539"/>
            </a:xfrm>
            <a:prstGeom prst="ellips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solidFill>
                    <a:srgbClr val="080808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5653" name="Line 172">
              <a:extLst>
                <a:ext uri="{FF2B5EF4-FFF2-40B4-BE49-F238E27FC236}">
                  <a16:creationId xmlns:a16="http://schemas.microsoft.com/office/drawing/2014/main" id="{9192E2F1-9C06-6CFA-C237-CFB3A48FEF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1" y="3541"/>
              <a:ext cx="360" cy="3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60"/>
            </a:p>
          </p:txBody>
        </p:sp>
        <p:sp>
          <p:nvSpPr>
            <p:cNvPr id="25654" name="Line 173">
              <a:extLst>
                <a:ext uri="{FF2B5EF4-FFF2-40B4-BE49-F238E27FC236}">
                  <a16:creationId xmlns:a16="http://schemas.microsoft.com/office/drawing/2014/main" id="{0A7A9709-96E0-A0D1-62B2-BE31F55000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3541"/>
              <a:ext cx="360" cy="3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60"/>
            </a:p>
          </p:txBody>
        </p:sp>
        <p:sp>
          <p:nvSpPr>
            <p:cNvPr id="25655" name="Oval 174">
              <a:extLst>
                <a:ext uri="{FF2B5EF4-FFF2-40B4-BE49-F238E27FC236}">
                  <a16:creationId xmlns:a16="http://schemas.microsoft.com/office/drawing/2014/main" id="{41B35A65-012D-BEE3-1E41-A91F6F7C2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5" y="4813"/>
              <a:ext cx="540" cy="539"/>
            </a:xfrm>
            <a:prstGeom prst="ellips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solidFill>
                    <a:srgbClr val="080808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5656" name="Oval 175">
              <a:extLst>
                <a:ext uri="{FF2B5EF4-FFF2-40B4-BE49-F238E27FC236}">
                  <a16:creationId xmlns:a16="http://schemas.microsoft.com/office/drawing/2014/main" id="{21E8FE36-4236-4554-68B1-E6E9C1A97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0" y="3915"/>
              <a:ext cx="541" cy="539"/>
            </a:xfrm>
            <a:prstGeom prst="ellips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solidFill>
                    <a:srgbClr val="080808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5657" name="Oval 176">
              <a:extLst>
                <a:ext uri="{FF2B5EF4-FFF2-40B4-BE49-F238E27FC236}">
                  <a16:creationId xmlns:a16="http://schemas.microsoft.com/office/drawing/2014/main" id="{1BE6E9F4-6F09-FB2E-C664-32DAFCC0F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" y="4813"/>
              <a:ext cx="540" cy="539"/>
            </a:xfrm>
            <a:prstGeom prst="ellips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solidFill>
                    <a:srgbClr val="080808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25658" name="Line 177">
              <a:extLst>
                <a:ext uri="{FF2B5EF4-FFF2-40B4-BE49-F238E27FC236}">
                  <a16:creationId xmlns:a16="http://schemas.microsoft.com/office/drawing/2014/main" id="{0D18CCA6-9DB8-7555-CF3B-1079812DA5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0" y="4440"/>
              <a:ext cx="36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60"/>
            </a:p>
          </p:txBody>
        </p:sp>
        <p:sp>
          <p:nvSpPr>
            <p:cNvPr id="25659" name="Line 178">
              <a:extLst>
                <a:ext uri="{FF2B5EF4-FFF2-40B4-BE49-F238E27FC236}">
                  <a16:creationId xmlns:a16="http://schemas.microsoft.com/office/drawing/2014/main" id="{EC346865-C0A2-619C-3D9C-38DE137DF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0" y="4440"/>
              <a:ext cx="36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60"/>
            </a:p>
          </p:txBody>
        </p:sp>
      </p:grpSp>
      <p:sp>
        <p:nvSpPr>
          <p:cNvPr id="25605" name="Text Box 179">
            <a:extLst>
              <a:ext uri="{FF2B5EF4-FFF2-40B4-BE49-F238E27FC236}">
                <a16:creationId xmlns:a16="http://schemas.microsoft.com/office/drawing/2014/main" id="{3939CD5E-9821-8D00-292A-A5F3758EE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343401"/>
            <a:ext cx="8229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80" b="1">
                <a:solidFill>
                  <a:srgbClr val="080808"/>
                </a:solidFill>
                <a:latin typeface="Times New Roman" panose="02020603050405020304" pitchFamily="18" charset="0"/>
              </a:rPr>
              <a:t>11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C19F650B-6F3C-5A54-8122-FFB9926FC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115641"/>
              </p:ext>
            </p:extLst>
          </p:nvPr>
        </p:nvGraphicFramePr>
        <p:xfrm>
          <a:off x="2047725" y="5089940"/>
          <a:ext cx="8138153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9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98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98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98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35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229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9728" marR="109728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109728" marR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109728" marR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109728" marR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109728" marR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109728" marR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109728" marR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109728" marR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109728" marR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109728" marR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109728" marR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2800" dirty="0"/>
                        <a:t>a</a:t>
                      </a:r>
                    </a:p>
                  </a:txBody>
                  <a:tcPr marL="109728" marR="109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</a:t>
                      </a:r>
                    </a:p>
                  </a:txBody>
                  <a:tcPr marL="109728" marR="109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 marL="109728" marR="109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</a:t>
                      </a:r>
                    </a:p>
                  </a:txBody>
                  <a:tcPr marL="109728" marR="109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</a:t>
                      </a:r>
                    </a:p>
                  </a:txBody>
                  <a:tcPr marL="109728" marR="109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 marL="109728" marR="109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 marL="109728" marR="109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 marL="109728" marR="109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 marL="109728" marR="109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</a:t>
                      </a:r>
                    </a:p>
                  </a:txBody>
                  <a:tcPr marL="109728" marR="109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</a:t>
                      </a:r>
                    </a:p>
                  </a:txBody>
                  <a:tcPr marL="109728" marR="109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Representation of Binary Tree 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F1145EA2-C563-62D0-E1F0-D50AEA93F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408" y="5412851"/>
            <a:ext cx="4020297" cy="583821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E774C1B-9706-43CB-85CE-5DD09ADD0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820"/>
            <a:ext cx="5605333" cy="44198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D0161F-DA91-4929-B77E-DF277BEE814D}"/>
              </a:ext>
            </a:extLst>
          </p:cNvPr>
          <p:cNvSpPr txBox="1"/>
          <p:nvPr/>
        </p:nvSpPr>
        <p:spPr>
          <a:xfrm>
            <a:off x="5605333" y="2151797"/>
            <a:ext cx="6405063" cy="3670180"/>
          </a:xfrm>
          <a:prstGeom prst="rect">
            <a:avLst/>
          </a:prstGeom>
        </p:spPr>
        <p:txBody>
          <a:bodyPr vert="horz" lIns="0" tIns="45720" rIns="0" bIns="45720" rtlCol="0">
            <a:normAutofit fontScale="77500" lnSpcReduction="20000"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3500" b="1" dirty="0">
                <a:solidFill>
                  <a:srgbClr val="E00D50"/>
                </a:solidFill>
                <a:latin typeface="Open Sans" panose="020B0606030504020204" pitchFamily="34" charset="0"/>
              </a:rPr>
              <a:t>2. Linked List Representation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38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We use a double linked list to represent a binary tree.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38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In a double linked list, every node consists of three fields. </a:t>
            </a:r>
          </a:p>
          <a:p>
            <a:pPr marL="571500" indent="-5715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38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First field for storing left child address,</a:t>
            </a:r>
          </a:p>
          <a:p>
            <a:pPr marL="571500" indent="-5715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3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</a:t>
            </a:r>
            <a:r>
              <a:rPr lang="en-US" sz="38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econd for storing actual data </a:t>
            </a:r>
          </a:p>
          <a:p>
            <a:pPr marL="571500" indent="-5715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38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Third for storing right child address.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8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b="1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283090" y="2177170"/>
            <a:ext cx="9940010" cy="45709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n-US" sz="2000" i="1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5607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183D0-1EDC-3DFB-924B-B566C95698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Tree Traversal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C93EB-04E0-8936-D18D-43496A1441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91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000" spc="-5" dirty="0">
                <a:solidFill>
                  <a:schemeClr val="tx1"/>
                </a:solidFill>
              </a:rPr>
              <a:t>Traversing in Binary Tree </a:t>
            </a:r>
            <a:endParaRPr lang="en-US" sz="4000" kern="1200" spc="-1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283090" y="2177170"/>
            <a:ext cx="9940010" cy="4570963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n-US" sz="2000" i="1" dirty="0">
              <a:ea typeface="ＭＳ Ｐゴシック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512C0-3ED3-4494-8F2C-14B62DB100FC}"/>
              </a:ext>
            </a:extLst>
          </p:cNvPr>
          <p:cNvSpPr txBox="1"/>
          <p:nvPr/>
        </p:nvSpPr>
        <p:spPr>
          <a:xfrm>
            <a:off x="958506" y="1833536"/>
            <a:ext cx="10629149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 tree creation, we take three parameters Node (N), Left child (L), Right Child (R), so traversing of binary tree means traversing of node, left subtree and right subtree.</a:t>
            </a:r>
          </a:p>
          <a:p>
            <a:pPr marL="857250" algn="ctr"/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“Displaying (or) visiting order of nodes in a binary tree is </a:t>
            </a:r>
          </a:p>
          <a:p>
            <a:pPr marL="914400" algn="ctr"/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called as Binary Tree Traversal.”</a:t>
            </a:r>
            <a:endParaRPr lang="en-US" sz="2400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algn="just"/>
            <a:endParaRPr lang="en-US" sz="24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When we wanted to display a binary tree, we need to follow some order in which all the nodes of that binary tree must be displayed. </a:t>
            </a:r>
          </a:p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 any binary tree, </a:t>
            </a:r>
            <a:r>
              <a:rPr lang="en-US" sz="2400" dirty="0">
                <a:solidFill>
                  <a:srgbClr val="333333"/>
                </a:solidFill>
                <a:latin typeface="Open Sans" panose="020B0606030504020204" pitchFamily="34" charset="0"/>
              </a:rPr>
              <a:t>out of six combinations of traversals, only three are standard, NLR(node-left-right), LNR(left-node-right) and LRN(left-right-node) traversal.</a:t>
            </a:r>
          </a:p>
          <a:p>
            <a:pPr algn="just"/>
            <a:endParaRPr lang="en-US" sz="2400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algn="just"/>
            <a:r>
              <a:rPr lang="en-US" sz="2400" dirty="0">
                <a:solidFill>
                  <a:srgbClr val="333333"/>
                </a:solidFill>
                <a:latin typeface="Open Sans" panose="020B0606030504020204" pitchFamily="34" charset="0"/>
              </a:rPr>
              <a:t>Left subtree must be traversed before right subtree.</a:t>
            </a:r>
          </a:p>
          <a:p>
            <a:pPr algn="just"/>
            <a:endParaRPr lang="en-US" sz="24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274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000" spc="-5" dirty="0">
                <a:solidFill>
                  <a:schemeClr val="tx1"/>
                </a:solidFill>
              </a:rPr>
              <a:t>Traversing in Binary Tree </a:t>
            </a:r>
            <a:endParaRPr lang="en-US" sz="4000" kern="1200" spc="-1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283090" y="2177170"/>
            <a:ext cx="9940010" cy="45709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n-US" sz="2000" i="1" dirty="0">
              <a:ea typeface="ＭＳ Ｐゴシック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512C0-3ED3-4494-8F2C-14B62DB100FC}"/>
              </a:ext>
            </a:extLst>
          </p:cNvPr>
          <p:cNvSpPr txBox="1"/>
          <p:nvPr/>
        </p:nvSpPr>
        <p:spPr>
          <a:xfrm>
            <a:off x="1280241" y="2341848"/>
            <a:ext cx="10103778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0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There are three types of binary tree traversals.</a:t>
            </a:r>
          </a:p>
          <a:p>
            <a:pPr algn="just"/>
            <a:endParaRPr lang="en-US" sz="24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In - Order Traversal  (LNR Traversal)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Pre - Order Traversal (NLR Traversal)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Post - Order Traversal (LRN Traversal)</a:t>
            </a:r>
          </a:p>
          <a:p>
            <a:endParaRPr lang="en-US" dirty="0"/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8F75E1AF-1428-418A-A0F2-D9889509D2E1}"/>
              </a:ext>
            </a:extLst>
          </p:cNvPr>
          <p:cNvGrpSpPr>
            <a:grpSpLocks/>
          </p:cNvGrpSpPr>
          <p:nvPr/>
        </p:nvGrpSpPr>
        <p:grpSpPr bwMode="auto">
          <a:xfrm>
            <a:off x="8610600" y="2971800"/>
            <a:ext cx="2514600" cy="1600200"/>
            <a:chOff x="1872" y="1248"/>
            <a:chExt cx="1584" cy="1008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309B3719-18A7-45E3-B559-D35D1673D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248"/>
              <a:ext cx="432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Times New Roman" pitchFamily="18" charset="0"/>
                </a:rPr>
                <a:t>Root</a:t>
              </a:r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40DB7871-ACB2-4D4A-948D-5A683DC67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432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Times New Roman" pitchFamily="18" charset="0"/>
                </a:rPr>
                <a:t>Left</a:t>
              </a:r>
            </a:p>
          </p:txBody>
        </p:sp>
        <p:sp>
          <p:nvSpPr>
            <p:cNvPr id="16" name="Oval 7">
              <a:extLst>
                <a:ext uri="{FF2B5EF4-FFF2-40B4-BE49-F238E27FC236}">
                  <a16:creationId xmlns:a16="http://schemas.microsoft.com/office/drawing/2014/main" id="{1A3FA045-D9AC-4850-9CE3-8A765EFF1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872"/>
              <a:ext cx="432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Times New Roman" pitchFamily="18" charset="0"/>
                </a:rPr>
                <a:t>Right</a:t>
              </a:r>
            </a:p>
          </p:txBody>
        </p:sp>
        <p:sp>
          <p:nvSpPr>
            <p:cNvPr id="17" name="Line 8">
              <a:extLst>
                <a:ext uri="{FF2B5EF4-FFF2-40B4-BE49-F238E27FC236}">
                  <a16:creationId xmlns:a16="http://schemas.microsoft.com/office/drawing/2014/main" id="{4DDD69A9-528A-40CC-87EA-2063C92B5C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1584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9">
              <a:extLst>
                <a:ext uri="{FF2B5EF4-FFF2-40B4-BE49-F238E27FC236}">
                  <a16:creationId xmlns:a16="http://schemas.microsoft.com/office/drawing/2014/main" id="{690E0AC3-BA06-4D2C-AE7C-4D709F0DF9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584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2292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000" b="1" spc="-5" dirty="0">
                <a:solidFill>
                  <a:srgbClr val="FFFFFF"/>
                </a:solidFill>
              </a:rPr>
              <a:t> </a:t>
            </a:r>
            <a:r>
              <a:rPr lang="en-US" sz="4000" spc="-5" dirty="0">
                <a:solidFill>
                  <a:schemeClr val="tx1"/>
                </a:solidFill>
              </a:rPr>
              <a:t>In - Order Traversal  (LNR Traversal)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283090" y="2177170"/>
            <a:ext cx="9940010" cy="4570963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n-US" sz="2000" i="1" dirty="0">
              <a:ea typeface="ＭＳ Ｐゴシック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512C0-3ED3-4494-8F2C-14B62DB100FC}"/>
              </a:ext>
            </a:extLst>
          </p:cNvPr>
          <p:cNvSpPr txBox="1"/>
          <p:nvPr/>
        </p:nvSpPr>
        <p:spPr>
          <a:xfrm>
            <a:off x="1280241" y="2341848"/>
            <a:ext cx="1010377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0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ECD60A-7BE0-4670-8C77-67EF0F482ED5}"/>
              </a:ext>
            </a:extLst>
          </p:cNvPr>
          <p:cNvSpPr txBox="1"/>
          <p:nvPr/>
        </p:nvSpPr>
        <p:spPr>
          <a:xfrm>
            <a:off x="1122171" y="2169721"/>
            <a:ext cx="73143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800" b="0" i="0" dirty="0">
                <a:effectLst/>
                <a:latin typeface="euclid_circular_a"/>
              </a:rPr>
              <a:t>First, visit all the nodes in the left subtree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effectLst/>
                <a:latin typeface="euclid_circular_a"/>
              </a:rPr>
              <a:t>Then the root node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effectLst/>
                <a:latin typeface="euclid_circular_a"/>
              </a:rPr>
              <a:t>Visit all the nodes in the right subtree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1D44C49-C22E-DA9B-8338-074E3EC40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595" y="2177170"/>
            <a:ext cx="4818398" cy="3953773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267C3B41-4713-F19F-5E8E-AEF9751647AC}"/>
              </a:ext>
            </a:extLst>
          </p:cNvPr>
          <p:cNvSpPr txBox="1"/>
          <p:nvPr/>
        </p:nvSpPr>
        <p:spPr>
          <a:xfrm>
            <a:off x="1454369" y="4154056"/>
            <a:ext cx="6093372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b="1" dirty="0" err="1">
                <a:solidFill>
                  <a:srgbClr val="FF0000"/>
                </a:solidFill>
              </a:rPr>
              <a:t>Inorder</a:t>
            </a:r>
            <a:r>
              <a:rPr lang="en-US" altLang="en-US" sz="3200" dirty="0"/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3200" dirty="0"/>
              <a:t>	4 5 6 3 1 8 7 9 11 10 12</a:t>
            </a:r>
          </a:p>
        </p:txBody>
      </p:sp>
    </p:spTree>
    <p:extLst>
      <p:ext uri="{BB962C8B-B14F-4D97-AF65-F5344CB8AC3E}">
        <p14:creationId xmlns:p14="http://schemas.microsoft.com/office/powerpoint/2010/main" val="713007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000" b="1" spc="-5" dirty="0">
                <a:solidFill>
                  <a:srgbClr val="FFFFFF"/>
                </a:solidFill>
              </a:rPr>
              <a:t> </a:t>
            </a:r>
            <a:r>
              <a:rPr lang="en-US" sz="4000" spc="-5" dirty="0">
                <a:solidFill>
                  <a:schemeClr val="tx1"/>
                </a:solidFill>
              </a:rPr>
              <a:t>Pre - Order Traversal (NLR Traversal)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283090" y="2177170"/>
            <a:ext cx="9940010" cy="45709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n-US" sz="2000" i="1" dirty="0">
              <a:ea typeface="ＭＳ Ｐゴシック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512C0-3ED3-4494-8F2C-14B62DB100FC}"/>
              </a:ext>
            </a:extLst>
          </p:cNvPr>
          <p:cNvSpPr txBox="1"/>
          <p:nvPr/>
        </p:nvSpPr>
        <p:spPr>
          <a:xfrm>
            <a:off x="1280241" y="2341848"/>
            <a:ext cx="1010377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0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2B3221-36EF-4A5A-90DA-40860FC6B41D}"/>
              </a:ext>
            </a:extLst>
          </p:cNvPr>
          <p:cNvSpPr txBox="1"/>
          <p:nvPr/>
        </p:nvSpPr>
        <p:spPr>
          <a:xfrm>
            <a:off x="1533196" y="2199906"/>
            <a:ext cx="60976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800" b="0" i="0" dirty="0">
                <a:effectLst/>
                <a:latin typeface="euclid_circular_a"/>
              </a:rPr>
              <a:t>Visit root node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effectLst/>
                <a:latin typeface="euclid_circular_a"/>
              </a:rPr>
              <a:t>Visit all the nodes in the left subtree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effectLst/>
                <a:latin typeface="euclid_circular_a"/>
              </a:rPr>
              <a:t>Visit all the nodes in the right subtree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70E081-8119-C555-0FDD-5946A1C8149C}"/>
              </a:ext>
            </a:extLst>
          </p:cNvPr>
          <p:cNvSpPr txBox="1"/>
          <p:nvPr/>
        </p:nvSpPr>
        <p:spPr>
          <a:xfrm>
            <a:off x="1533196" y="4303574"/>
            <a:ext cx="6093372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 dirty="0">
                <a:solidFill>
                  <a:srgbClr val="FF0000"/>
                </a:solidFill>
              </a:rPr>
              <a:t>Preorder</a:t>
            </a:r>
            <a:r>
              <a:rPr lang="en-US" altLang="en-US" sz="2800" dirty="0"/>
              <a:t>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dirty="0"/>
              <a:t>	1 3 5 4 6 7 8 9 10 11 12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0A2ED8-1F51-1995-E8F3-5C3D5A5AE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595" y="2177170"/>
            <a:ext cx="4818398" cy="395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7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000" b="1" spc="-5" dirty="0">
                <a:solidFill>
                  <a:srgbClr val="FFFFFF"/>
                </a:solidFill>
              </a:rPr>
              <a:t> </a:t>
            </a:r>
            <a:r>
              <a:rPr lang="en-US" sz="4000" spc="-5" dirty="0">
                <a:solidFill>
                  <a:schemeClr val="tx1"/>
                </a:solidFill>
              </a:rPr>
              <a:t>Post - Order Traversal (LRN Traversal)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283090" y="2177170"/>
            <a:ext cx="9940010" cy="4570963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n-US" sz="2000" i="1" dirty="0">
              <a:ea typeface="ＭＳ Ｐゴシック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512C0-3ED3-4494-8F2C-14B62DB100FC}"/>
              </a:ext>
            </a:extLst>
          </p:cNvPr>
          <p:cNvSpPr txBox="1"/>
          <p:nvPr/>
        </p:nvSpPr>
        <p:spPr>
          <a:xfrm>
            <a:off x="1280241" y="2341848"/>
            <a:ext cx="1010377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0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835553-3134-4DEC-B415-210E1E497897}"/>
              </a:ext>
            </a:extLst>
          </p:cNvPr>
          <p:cNvSpPr txBox="1"/>
          <p:nvPr/>
        </p:nvSpPr>
        <p:spPr>
          <a:xfrm>
            <a:off x="1280241" y="2200678"/>
            <a:ext cx="60976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800" b="0" i="0" dirty="0">
                <a:effectLst/>
                <a:latin typeface="euclid_circular_a"/>
              </a:rPr>
              <a:t>Visit all the nodes in the left subtree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effectLst/>
                <a:latin typeface="euclid_circular_a"/>
              </a:rPr>
              <a:t>Visit all the nodes in the right subtree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effectLst/>
                <a:latin typeface="euclid_circular_a"/>
              </a:rPr>
              <a:t>Visit the root node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C552B7-EF0B-8628-4146-3B7517EDE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595" y="2177170"/>
            <a:ext cx="4818398" cy="39537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C5D692-7661-BF89-8BDA-5B1FECDEEF4C}"/>
              </a:ext>
            </a:extLst>
          </p:cNvPr>
          <p:cNvSpPr txBox="1"/>
          <p:nvPr/>
        </p:nvSpPr>
        <p:spPr>
          <a:xfrm>
            <a:off x="1122171" y="4154056"/>
            <a:ext cx="6093372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 dirty="0" err="1">
                <a:solidFill>
                  <a:srgbClr val="FF0000"/>
                </a:solidFill>
              </a:rPr>
              <a:t>Postorder</a:t>
            </a:r>
            <a:r>
              <a:rPr lang="en-US" altLang="en-US" sz="2800" dirty="0"/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dirty="0"/>
              <a:t>	4 6 5 3 8 11 12 10 9 7 1</a:t>
            </a:r>
          </a:p>
        </p:txBody>
      </p:sp>
    </p:spTree>
    <p:extLst>
      <p:ext uri="{BB962C8B-B14F-4D97-AF65-F5344CB8AC3E}">
        <p14:creationId xmlns:p14="http://schemas.microsoft.com/office/powerpoint/2010/main" val="4090769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000" spc="-5" dirty="0">
                <a:solidFill>
                  <a:schemeClr val="tx1"/>
                </a:solidFill>
              </a:rPr>
              <a:t>Traversing in Binary Tree </a:t>
            </a:r>
            <a:endParaRPr lang="en-US" sz="4000" kern="1200" spc="-1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283090" y="2177170"/>
            <a:ext cx="9940010" cy="45709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n-US" sz="2000" i="1" dirty="0">
              <a:ea typeface="ＭＳ Ｐゴシック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512C0-3ED3-4494-8F2C-14B62DB100FC}"/>
              </a:ext>
            </a:extLst>
          </p:cNvPr>
          <p:cNvSpPr txBox="1"/>
          <p:nvPr/>
        </p:nvSpPr>
        <p:spPr>
          <a:xfrm>
            <a:off x="1129716" y="1708844"/>
            <a:ext cx="101037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0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r>
              <a:rPr lang="en-US" sz="2000" dirty="0"/>
              <a:t>Let’s take a binary tree and apply each traversal.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926E84-3F1C-4B32-A827-4350DF27B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74" r="19337"/>
          <a:stretch/>
        </p:blipFill>
        <p:spPr>
          <a:xfrm>
            <a:off x="409710" y="2270815"/>
            <a:ext cx="5420656" cy="37116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AEC9DE-49FF-415F-AAD9-C9FB6B3EA043}"/>
              </a:ext>
            </a:extLst>
          </p:cNvPr>
          <p:cNvSpPr txBox="1"/>
          <p:nvPr/>
        </p:nvSpPr>
        <p:spPr>
          <a:xfrm>
            <a:off x="5684634" y="2608308"/>
            <a:ext cx="60976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In-order traversal (LNR)</a:t>
            </a:r>
          </a:p>
          <a:p>
            <a:pPr algn="ctr"/>
            <a:r>
              <a:rPr lang="pt-BR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 - D - J - B - F - A - G - K - C – 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Pre-order traversal (NLR)</a:t>
            </a:r>
            <a:endParaRPr lang="pt-BR" sz="2400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ctr"/>
            <a:r>
              <a:rPr lang="pt-BR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 - B - D - I - J - F - C - G - K – 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Post-order traversal (LRN)</a:t>
            </a:r>
            <a:endParaRPr lang="pt-BR" sz="2400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ctr"/>
            <a:r>
              <a:rPr lang="pt-BR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 - J - D - F - B - K - G - H - C - A</a:t>
            </a:r>
          </a:p>
          <a:p>
            <a:pPr algn="ctr"/>
            <a:endParaRPr lang="pt-BR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ctr"/>
            <a:endParaRPr lang="pt-BR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97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Content Placeholder 1">
            <a:extLst>
              <a:ext uri="{FF2B5EF4-FFF2-40B4-BE49-F238E27FC236}">
                <a16:creationId xmlns:a16="http://schemas.microsoft.com/office/drawing/2014/main" id="{73639314-6583-201C-346F-2AC39AE1C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856" y="2002220"/>
            <a:ext cx="9875520" cy="3756595"/>
          </a:xfrm>
        </p:spPr>
        <p:txBody>
          <a:bodyPr/>
          <a:lstStyle/>
          <a:p>
            <a:r>
              <a:rPr lang="en-US" altLang="en-US" dirty="0"/>
              <a:t>Find the preorder, </a:t>
            </a:r>
            <a:r>
              <a:rPr lang="en-US" altLang="en-US" dirty="0" err="1"/>
              <a:t>postorder</a:t>
            </a:r>
            <a:r>
              <a:rPr lang="en-US" altLang="en-US" dirty="0"/>
              <a:t> and </a:t>
            </a:r>
            <a:r>
              <a:rPr lang="en-US" altLang="en-US" dirty="0" err="1"/>
              <a:t>inorder</a:t>
            </a:r>
            <a:r>
              <a:rPr lang="en-US" altLang="en-US" dirty="0"/>
              <a:t> traversals of following tree:</a:t>
            </a:r>
          </a:p>
          <a:p>
            <a:r>
              <a:rPr lang="en-US" altLang="en-US" dirty="0"/>
              <a:t>Also form the tree again from preorder and </a:t>
            </a:r>
            <a:r>
              <a:rPr lang="en-US" altLang="en-US" dirty="0" err="1"/>
              <a:t>postorder</a:t>
            </a:r>
            <a:r>
              <a:rPr lang="en-US" altLang="en-US" dirty="0"/>
              <a:t> traversals</a:t>
            </a:r>
          </a:p>
          <a:p>
            <a:endParaRPr lang="en-US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C0D015-1296-BF8A-50F9-459B60992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Task</a:t>
            </a:r>
          </a:p>
        </p:txBody>
      </p:sp>
      <p:pic>
        <p:nvPicPr>
          <p:cNvPr id="58373" name="Picture 6">
            <a:extLst>
              <a:ext uri="{FF2B5EF4-FFF2-40B4-BE49-F238E27FC236}">
                <a16:creationId xmlns:a16="http://schemas.microsoft.com/office/drawing/2014/main" id="{6EAA8FE3-43E2-F33F-63A5-655F2C7BF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1" y="3290724"/>
            <a:ext cx="4697730" cy="3051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802</TotalTime>
  <Words>672</Words>
  <Application>Microsoft Office PowerPoint</Application>
  <PresentationFormat>Widescreen</PresentationFormat>
  <Paragraphs>122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ＭＳ Ｐゴシック</vt:lpstr>
      <vt:lpstr>Arial</vt:lpstr>
      <vt:lpstr>Calibri</vt:lpstr>
      <vt:lpstr>Calibri Light</vt:lpstr>
      <vt:lpstr>euclid_circular_a</vt:lpstr>
      <vt:lpstr>Open Sans</vt:lpstr>
      <vt:lpstr>Times New Roman</vt:lpstr>
      <vt:lpstr>Wingdings</vt:lpstr>
      <vt:lpstr>Wingdings 2</vt:lpstr>
      <vt:lpstr>Retrospect</vt:lpstr>
      <vt:lpstr>Data Structure and Algorithm</vt:lpstr>
      <vt:lpstr>Goals for today</vt:lpstr>
      <vt:lpstr>CLO Covered</vt:lpstr>
      <vt:lpstr>Representation of Binary Tree </vt:lpstr>
      <vt:lpstr>Representation of Binary Tree </vt:lpstr>
      <vt:lpstr>Representation Of  Binary Trees</vt:lpstr>
      <vt:lpstr>Representation of Binary Tree </vt:lpstr>
      <vt:lpstr>Binary Tree Traversal</vt:lpstr>
      <vt:lpstr>Traversing in Binary Tree </vt:lpstr>
      <vt:lpstr>Traversing in Binary Tree </vt:lpstr>
      <vt:lpstr> In - Order Traversal  (LNR Traversal)</vt:lpstr>
      <vt:lpstr> Pre - Order Traversal (NLR Traversal)</vt:lpstr>
      <vt:lpstr> Post - Order Traversal (LRN Traversal)</vt:lpstr>
      <vt:lpstr>Traversing in Binary Tree 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and Algorithm</dc:title>
  <dc:creator>Habiba Arshad</dc:creator>
  <cp:lastModifiedBy>Habiba Arshad</cp:lastModifiedBy>
  <cp:revision>65</cp:revision>
  <dcterms:created xsi:type="dcterms:W3CDTF">2022-11-28T04:11:00Z</dcterms:created>
  <dcterms:modified xsi:type="dcterms:W3CDTF">2024-12-20T08:24:00Z</dcterms:modified>
</cp:coreProperties>
</file>