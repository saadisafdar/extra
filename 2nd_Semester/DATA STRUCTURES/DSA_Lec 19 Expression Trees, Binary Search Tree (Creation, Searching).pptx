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473" r:id="rId3"/>
    <p:sldId id="409" r:id="rId4"/>
    <p:sldId id="411" r:id="rId5"/>
    <p:sldId id="341" r:id="rId6"/>
    <p:sldId id="472" r:id="rId7"/>
    <p:sldId id="323" r:id="rId8"/>
    <p:sldId id="342" r:id="rId9"/>
    <p:sldId id="343" r:id="rId10"/>
    <p:sldId id="337" r:id="rId11"/>
    <p:sldId id="344" r:id="rId12"/>
    <p:sldId id="345" r:id="rId13"/>
    <p:sldId id="346" r:id="rId14"/>
    <p:sldId id="347" r:id="rId15"/>
    <p:sldId id="348" r:id="rId16"/>
    <p:sldId id="349" r:id="rId17"/>
    <p:sldId id="350" r:id="rId18"/>
    <p:sldId id="351" r:id="rId19"/>
    <p:sldId id="352" r:id="rId20"/>
    <p:sldId id="45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18"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D9D5B-FF27-4B6B-85EB-07AF9C07F856}" type="datetimeFigureOut">
              <a:rPr lang="en-US" smtClean="0"/>
              <a:t>12/23/2024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EA683-90C8-451F-BC4A-13383BD37F21}" type="slidenum">
              <a:rPr lang="en-US" smtClean="0"/>
              <a:t>‹#›</a:t>
            </a:fld>
            <a:endParaRPr lang="en-US"/>
          </a:p>
        </p:txBody>
      </p:sp>
    </p:spTree>
    <p:extLst>
      <p:ext uri="{BB962C8B-B14F-4D97-AF65-F5344CB8AC3E}">
        <p14:creationId xmlns:p14="http://schemas.microsoft.com/office/powerpoint/2010/main" val="287846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 same precedence level, scan from left to right. The operator that will come first that will </a:t>
            </a:r>
            <a:r>
              <a:rPr lang="en-US"/>
              <a:t>be evaluated first.</a:t>
            </a:r>
          </a:p>
        </p:txBody>
      </p:sp>
      <p:sp>
        <p:nvSpPr>
          <p:cNvPr id="4" name="Slide Number Placeholder 3"/>
          <p:cNvSpPr>
            <a:spLocks noGrp="1"/>
          </p:cNvSpPr>
          <p:nvPr>
            <p:ph type="sldNum" sz="quarter" idx="5"/>
          </p:nvPr>
        </p:nvSpPr>
        <p:spPr/>
        <p:txBody>
          <a:bodyPr/>
          <a:lstStyle/>
          <a:p>
            <a:fld id="{FADEA683-90C8-451F-BC4A-13383BD37F21}" type="slidenum">
              <a:rPr lang="en-US" smtClean="0"/>
              <a:t>5</a:t>
            </a:fld>
            <a:endParaRPr lang="en-US"/>
          </a:p>
        </p:txBody>
      </p:sp>
    </p:spTree>
    <p:extLst>
      <p:ext uri="{BB962C8B-B14F-4D97-AF65-F5344CB8AC3E}">
        <p14:creationId xmlns:p14="http://schemas.microsoft.com/office/powerpoint/2010/main" val="3288235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https://www.programiz.com/dsa/trees</a:t>
            </a:r>
          </a:p>
          <a:p>
            <a:r>
              <a:rPr lang="en-US" dirty="0"/>
              <a:t>https://towardsdatascience.com/8-useful-tree-data-structures-worth-knowing-8532c7231e8c</a:t>
            </a:r>
          </a:p>
          <a:p>
            <a:r>
              <a:rPr lang="en-US" dirty="0"/>
              <a:t>https://www.thecrazyprogrammer.com/2019/09/types-of-trees-in-data-structure.html</a:t>
            </a:r>
          </a:p>
        </p:txBody>
      </p:sp>
      <p:sp>
        <p:nvSpPr>
          <p:cNvPr id="4" name="Slide Number Placeholder 3"/>
          <p:cNvSpPr>
            <a:spLocks noGrp="1"/>
          </p:cNvSpPr>
          <p:nvPr>
            <p:ph type="sldNum" sz="quarter" idx="5"/>
          </p:nvPr>
        </p:nvSpPr>
        <p:spPr/>
        <p:txBody>
          <a:bodyPr/>
          <a:lstStyle/>
          <a:p>
            <a:fld id="{6D945245-2B44-4284-8E04-B1C4A0AD95D8}" type="slidenum">
              <a:rPr lang="en-US" smtClean="0"/>
              <a:pPr/>
              <a:t>7</a:t>
            </a:fld>
            <a:endParaRPr lang="en-US"/>
          </a:p>
        </p:txBody>
      </p:sp>
    </p:spTree>
    <p:extLst>
      <p:ext uri="{BB962C8B-B14F-4D97-AF65-F5344CB8AC3E}">
        <p14:creationId xmlns:p14="http://schemas.microsoft.com/office/powerpoint/2010/main" val="11213560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8</a:t>
            </a:fld>
            <a:endParaRPr lang="en-US"/>
          </a:p>
        </p:txBody>
      </p:sp>
    </p:spTree>
    <p:extLst>
      <p:ext uri="{BB962C8B-B14F-4D97-AF65-F5344CB8AC3E}">
        <p14:creationId xmlns:p14="http://schemas.microsoft.com/office/powerpoint/2010/main" val="26751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9</a:t>
            </a:fld>
            <a:endParaRPr lang="en-US"/>
          </a:p>
        </p:txBody>
      </p:sp>
    </p:spTree>
    <p:extLst>
      <p:ext uri="{BB962C8B-B14F-4D97-AF65-F5344CB8AC3E}">
        <p14:creationId xmlns:p14="http://schemas.microsoft.com/office/powerpoint/2010/main" val="1404701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10</a:t>
            </a:fld>
            <a:endParaRPr lang="en-US"/>
          </a:p>
        </p:txBody>
      </p:sp>
    </p:spTree>
    <p:extLst>
      <p:ext uri="{BB962C8B-B14F-4D97-AF65-F5344CB8AC3E}">
        <p14:creationId xmlns:p14="http://schemas.microsoft.com/office/powerpoint/2010/main" val="2275145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11</a:t>
            </a:fld>
            <a:endParaRPr lang="en-US"/>
          </a:p>
        </p:txBody>
      </p:sp>
    </p:spTree>
    <p:extLst>
      <p:ext uri="{BB962C8B-B14F-4D97-AF65-F5344CB8AC3E}">
        <p14:creationId xmlns:p14="http://schemas.microsoft.com/office/powerpoint/2010/main" val="689291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12</a:t>
            </a:fld>
            <a:endParaRPr lang="en-US"/>
          </a:p>
        </p:txBody>
      </p:sp>
    </p:spTree>
    <p:extLst>
      <p:ext uri="{BB962C8B-B14F-4D97-AF65-F5344CB8AC3E}">
        <p14:creationId xmlns:p14="http://schemas.microsoft.com/office/powerpoint/2010/main" val="3300867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13</a:t>
            </a:fld>
            <a:endParaRPr lang="en-US"/>
          </a:p>
        </p:txBody>
      </p:sp>
    </p:spTree>
    <p:extLst>
      <p:ext uri="{BB962C8B-B14F-4D97-AF65-F5344CB8AC3E}">
        <p14:creationId xmlns:p14="http://schemas.microsoft.com/office/powerpoint/2010/main" val="21400127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14</a:t>
            </a:fld>
            <a:endParaRPr lang="en-US"/>
          </a:p>
        </p:txBody>
      </p:sp>
    </p:spTree>
    <p:extLst>
      <p:ext uri="{BB962C8B-B14F-4D97-AF65-F5344CB8AC3E}">
        <p14:creationId xmlns:p14="http://schemas.microsoft.com/office/powerpoint/2010/main" val="3597233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15</a:t>
            </a:fld>
            <a:endParaRPr lang="en-US"/>
          </a:p>
        </p:txBody>
      </p:sp>
    </p:spTree>
    <p:extLst>
      <p:ext uri="{BB962C8B-B14F-4D97-AF65-F5344CB8AC3E}">
        <p14:creationId xmlns:p14="http://schemas.microsoft.com/office/powerpoint/2010/main" val="2575995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16</a:t>
            </a:fld>
            <a:endParaRPr lang="en-US"/>
          </a:p>
        </p:txBody>
      </p:sp>
    </p:spTree>
    <p:extLst>
      <p:ext uri="{BB962C8B-B14F-4D97-AF65-F5344CB8AC3E}">
        <p14:creationId xmlns:p14="http://schemas.microsoft.com/office/powerpoint/2010/main" val="1197348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17</a:t>
            </a:fld>
            <a:endParaRPr lang="en-US"/>
          </a:p>
        </p:txBody>
      </p:sp>
    </p:spTree>
    <p:extLst>
      <p:ext uri="{BB962C8B-B14F-4D97-AF65-F5344CB8AC3E}">
        <p14:creationId xmlns:p14="http://schemas.microsoft.com/office/powerpoint/2010/main" val="1738220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18</a:t>
            </a:fld>
            <a:endParaRPr lang="en-US"/>
          </a:p>
        </p:txBody>
      </p:sp>
    </p:spTree>
    <p:extLst>
      <p:ext uri="{BB962C8B-B14F-4D97-AF65-F5344CB8AC3E}">
        <p14:creationId xmlns:p14="http://schemas.microsoft.com/office/powerpoint/2010/main" val="35324960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945245-2B44-4284-8E04-B1C4A0AD95D8}" type="slidenum">
              <a:rPr lang="en-US" smtClean="0"/>
              <a:pPr/>
              <a:t>19</a:t>
            </a:fld>
            <a:endParaRPr lang="en-US"/>
          </a:p>
        </p:txBody>
      </p:sp>
    </p:spTree>
    <p:extLst>
      <p:ext uri="{BB962C8B-B14F-4D97-AF65-F5344CB8AC3E}">
        <p14:creationId xmlns:p14="http://schemas.microsoft.com/office/powerpoint/2010/main" val="21917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5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7028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1488-2866-41B3-B7DC-859AEE043E5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9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1488-2866-41B3-B7DC-859AEE043E50}" type="datetimeFigureOut">
              <a:rPr lang="en-US" smtClean="0"/>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9444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1488-2866-41B3-B7DC-859AEE043E50}" type="datetimeFigureOut">
              <a:rPr lang="en-US" smtClean="0"/>
              <a:t>12/23/2024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8908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1488-2866-41B3-B7DC-859AEE043E50}" type="datetimeFigureOut">
              <a:rPr lang="en-US" smtClean="0"/>
              <a:t>12/23/2024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157292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DB01488-2866-41B3-B7DC-859AEE043E50}" type="datetimeFigureOut">
              <a:rPr lang="en-US" smtClean="0"/>
              <a:t>12/23/2024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75225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DB01488-2866-41B3-B7DC-859AEE043E50}" type="datetimeFigureOut">
              <a:rPr lang="en-US" smtClean="0"/>
              <a:t>12/23/2024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9E1F02-D963-4A85-BE2D-1321C23C253F}" type="slidenum">
              <a:rPr lang="en-US" smtClean="0"/>
              <a:t>‹#›</a:t>
            </a:fld>
            <a:endParaRPr lang="en-US"/>
          </a:p>
        </p:txBody>
      </p:sp>
    </p:spTree>
    <p:extLst>
      <p:ext uri="{BB962C8B-B14F-4D97-AF65-F5344CB8AC3E}">
        <p14:creationId xmlns:p14="http://schemas.microsoft.com/office/powerpoint/2010/main" val="181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1488-2866-41B3-B7DC-859AEE043E50}" type="datetimeFigureOut">
              <a:rPr lang="en-US" smtClean="0"/>
              <a:t>12/23/2024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001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3079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12/23/2024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28869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DB01488-2866-41B3-B7DC-859AEE043E50}" type="datetimeFigureOut">
              <a:rPr lang="en-US" smtClean="0"/>
              <a:t>12/23/2024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9E1F02-D963-4A85-BE2D-1321C23C253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185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Structure and Algorithm</a:t>
            </a:r>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fontScale="85000" lnSpcReduction="20000"/>
          </a:bodyPr>
          <a:lstStyle/>
          <a:p>
            <a:r>
              <a:rPr lang="en-US" dirty="0"/>
              <a:t>Course code: cs-201</a:t>
            </a:r>
          </a:p>
          <a:p>
            <a:r>
              <a:rPr lang="en-US" dirty="0"/>
              <a:t>Topic: Trees in data structure</a:t>
            </a:r>
          </a:p>
          <a:p>
            <a:r>
              <a:rPr lang="en-US" dirty="0"/>
              <a:t>Instructor: </a:t>
            </a:r>
            <a:r>
              <a:rPr lang="en-US" dirty="0" err="1"/>
              <a:t>habiba</a:t>
            </a:r>
            <a:r>
              <a:rPr lang="en-US" dirty="0"/>
              <a:t> </a:t>
            </a:r>
            <a:r>
              <a:rPr lang="en-US" dirty="0" err="1"/>
              <a:t>arshad</a:t>
            </a:r>
            <a:endParaRPr lang="en-US" dirty="0"/>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AED9D-327C-B742-2275-1AEB3EE9F196}"/>
              </a:ext>
            </a:extLst>
          </p:cNvPr>
          <p:cNvSpPr>
            <a:spLocks noGrp="1"/>
          </p:cNvSpPr>
          <p:nvPr>
            <p:ph type="ctrTitle"/>
          </p:nvPr>
        </p:nvSpPr>
        <p:spPr/>
        <p:txBody>
          <a:bodyPr/>
          <a:lstStyle/>
          <a:p>
            <a:r>
              <a:rPr lang="en-US" dirty="0"/>
              <a:t>Binary Search Tree (BST)</a:t>
            </a:r>
          </a:p>
        </p:txBody>
      </p:sp>
      <p:sp>
        <p:nvSpPr>
          <p:cNvPr id="3" name="Subtitle 2">
            <a:extLst>
              <a:ext uri="{FF2B5EF4-FFF2-40B4-BE49-F238E27FC236}">
                <a16:creationId xmlns:a16="http://schemas.microsoft.com/office/drawing/2014/main" id="{4FF61340-A3B8-1631-6D1E-569C2F48B96C}"/>
              </a:ext>
            </a:extLst>
          </p:cNvPr>
          <p:cNvSpPr>
            <a:spLocks noGrp="1"/>
          </p:cNvSpPr>
          <p:nvPr>
            <p:ph type="subTitle" idx="1"/>
          </p:nvPr>
        </p:nvSpPr>
        <p:spPr>
          <a:xfrm>
            <a:off x="1100051" y="4455620"/>
            <a:ext cx="10058400" cy="1721444"/>
          </a:xfrm>
        </p:spPr>
        <p:txBody>
          <a:bodyPr>
            <a:normAutofit/>
          </a:bodyPr>
          <a:lstStyle/>
          <a:p>
            <a:pPr marL="342900" indent="-342900">
              <a:buFont typeface="Wingdings" panose="05000000000000000000" pitchFamily="2" charset="2"/>
              <a:buChar char="Ø"/>
            </a:pPr>
            <a:r>
              <a:rPr lang="en-US" b="1" dirty="0">
                <a:solidFill>
                  <a:schemeClr val="tx1"/>
                </a:solidFill>
              </a:rPr>
              <a:t>Expression tree</a:t>
            </a:r>
          </a:p>
          <a:p>
            <a:pPr marL="342900" indent="-342900">
              <a:buFont typeface="Wingdings" panose="05000000000000000000" pitchFamily="2" charset="2"/>
              <a:buChar char="Ø"/>
            </a:pPr>
            <a:r>
              <a:rPr lang="en-US" b="1" dirty="0" err="1">
                <a:solidFill>
                  <a:schemeClr val="tx1"/>
                </a:solidFill>
              </a:rPr>
              <a:t>BSt</a:t>
            </a:r>
            <a:r>
              <a:rPr lang="en-US" b="1" dirty="0">
                <a:solidFill>
                  <a:schemeClr val="tx1"/>
                </a:solidFill>
              </a:rPr>
              <a:t> creation</a:t>
            </a:r>
          </a:p>
          <a:p>
            <a:pPr marL="342900" indent="-342900">
              <a:buFont typeface="Wingdings" panose="05000000000000000000" pitchFamily="2" charset="2"/>
              <a:buChar char="Ø"/>
            </a:pPr>
            <a:r>
              <a:rPr lang="en-US" b="1" dirty="0">
                <a:solidFill>
                  <a:schemeClr val="tx1"/>
                </a:solidFill>
              </a:rPr>
              <a:t>Searching in BST</a:t>
            </a:r>
          </a:p>
          <a:p>
            <a:pPr marL="342900" indent="-342900">
              <a:buFont typeface="Wingdings" panose="05000000000000000000" pitchFamily="2" charset="2"/>
              <a:buChar char="Ø"/>
            </a:pPr>
            <a:endParaRPr lang="en-US" b="1" dirty="0">
              <a:solidFill>
                <a:schemeClr val="tx1"/>
              </a:solidFill>
            </a:endParaRPr>
          </a:p>
        </p:txBody>
      </p:sp>
    </p:spTree>
    <p:extLst>
      <p:ext uri="{BB962C8B-B14F-4D97-AF65-F5344CB8AC3E}">
        <p14:creationId xmlns:p14="http://schemas.microsoft.com/office/powerpoint/2010/main" val="200456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8FC2-6B5F-113B-1F82-95EF050F72D3}"/>
              </a:ext>
            </a:extLst>
          </p:cNvPr>
          <p:cNvSpPr>
            <a:spLocks noGrp="1"/>
          </p:cNvSpPr>
          <p:nvPr>
            <p:ph type="title"/>
          </p:nvPr>
        </p:nvSpPr>
        <p:spPr>
          <a:xfrm>
            <a:off x="1158240" y="320677"/>
            <a:ext cx="10019512" cy="974725"/>
          </a:xfrm>
        </p:spPr>
        <p:txBody>
          <a:bodyPr>
            <a:normAutofit fontScale="90000"/>
          </a:bodyPr>
          <a:lstStyle/>
          <a:p>
            <a:pPr>
              <a:defRPr/>
            </a:pPr>
            <a:r>
              <a:rPr lang="en-US" dirty="0"/>
              <a:t>Preparing a  Tree from an infix arithmetic expression</a:t>
            </a:r>
          </a:p>
        </p:txBody>
      </p:sp>
      <p:pic>
        <p:nvPicPr>
          <p:cNvPr id="56324" name="Picture 3">
            <a:extLst>
              <a:ext uri="{FF2B5EF4-FFF2-40B4-BE49-F238E27FC236}">
                <a16:creationId xmlns:a16="http://schemas.microsoft.com/office/drawing/2014/main" id="{FBEA4D28-1E82-F9BD-A251-98861A3C49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6060" y="1826063"/>
            <a:ext cx="8692225" cy="74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9168EB34-66AF-0C44-4A90-1008ADB22D1A}"/>
              </a:ext>
            </a:extLst>
          </p:cNvPr>
          <p:cNvSpPr txBox="1">
            <a:spLocks/>
          </p:cNvSpPr>
          <p:nvPr/>
        </p:nvSpPr>
        <p:spPr>
          <a:xfrm>
            <a:off x="1097280" y="2945218"/>
            <a:ext cx="10058400" cy="292387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3200" dirty="0"/>
              <a:t>Find operator which has low priority with respect to execution, starting from left to right. Put it on the root and then continue this process on sub-trees. The infix expression on the left side is converted into tree. Examine this tree is a 2-trees, where each node either has two nodes or zero.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a:extLst>
              <a:ext uri="{FF2B5EF4-FFF2-40B4-BE49-F238E27FC236}">
                <a16:creationId xmlns:a16="http://schemas.microsoft.com/office/drawing/2014/main" id="{08EF7612-4BFD-6C9D-DFA7-BCFE63B29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681" y="228600"/>
            <a:ext cx="413385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7" name="Picture 3">
            <a:extLst>
              <a:ext uri="{FF2B5EF4-FFF2-40B4-BE49-F238E27FC236}">
                <a16:creationId xmlns:a16="http://schemas.microsoft.com/office/drawing/2014/main" id="{C317EE6F-7928-1692-0C3A-FDCEE8C12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720" y="304800"/>
            <a:ext cx="490728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4">
            <a:extLst>
              <a:ext uri="{FF2B5EF4-FFF2-40B4-BE49-F238E27FC236}">
                <a16:creationId xmlns:a16="http://schemas.microsoft.com/office/drawing/2014/main" id="{4DAE8C18-5054-27F7-3E78-AB7C69BBA9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481" y="1295400"/>
            <a:ext cx="5132070" cy="1209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Expression Trees</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4" name="Rectangle 3">
            <a:extLst>
              <a:ext uri="{FF2B5EF4-FFF2-40B4-BE49-F238E27FC236}">
                <a16:creationId xmlns:a16="http://schemas.microsoft.com/office/drawing/2014/main" id="{E76DC8D2-0433-4A4C-BAD3-2F3B62BAAA93}"/>
              </a:ext>
            </a:extLst>
          </p:cNvPr>
          <p:cNvSpPr txBox="1">
            <a:spLocks noChangeArrowheads="1"/>
          </p:cNvSpPr>
          <p:nvPr/>
        </p:nvSpPr>
        <p:spPr bwMode="auto">
          <a:xfrm>
            <a:off x="968797" y="1684282"/>
            <a:ext cx="8077200" cy="4152608"/>
          </a:xfrm>
          <a:prstGeom prst="rect">
            <a:avLst/>
          </a:prstGeom>
          <a:noFill/>
          <a:ln>
            <a:noFill/>
          </a:ln>
          <a:effectLst/>
        </p:spPr>
        <p:txBody>
          <a:bodyPr/>
          <a:lstStyle>
            <a:lvl1pPr marL="342900" indent="-342900" algn="l" rtl="0" eaLnBrk="0" fontAlgn="base" hangingPunct="0">
              <a:spcBef>
                <a:spcPct val="20000"/>
              </a:spcBef>
              <a:spcAft>
                <a:spcPct val="0"/>
              </a:spcAft>
              <a:buChar char="•"/>
              <a:defRPr sz="2400">
                <a:solidFill>
                  <a:schemeClr val="tx1"/>
                </a:solidFill>
                <a:latin typeface="+mn-lt"/>
                <a:ea typeface="MS PGothic" panose="020B0600070205080204" pitchFamily="34" charset="-128"/>
                <a:cs typeface="MS PGothic" panose="020B0600070205080204" pitchFamily="34" charset="-128"/>
              </a:defRPr>
            </a:lvl1pPr>
            <a:lvl2pPr marL="742950" indent="-285750" algn="l" rtl="0" eaLnBrk="0" fontAlgn="base" hangingPunct="0">
              <a:spcBef>
                <a:spcPct val="20000"/>
              </a:spcBef>
              <a:spcAft>
                <a:spcPct val="0"/>
              </a:spcAft>
              <a:buChar char="–"/>
              <a:defRPr sz="2000">
                <a:solidFill>
                  <a:schemeClr val="tx1"/>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1600">
                <a:solidFill>
                  <a:schemeClr val="tx1"/>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1600">
                <a:solidFill>
                  <a:schemeClr val="tx1"/>
                </a:solidFill>
                <a:latin typeface="+mn-lt"/>
                <a:ea typeface="MS PGothic" panose="020B0600070205080204" pitchFamily="34" charset="-128"/>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a:lstStyle>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r>
              <a:rPr lang="en-US" sz="4400" dirty="0">
                <a:solidFill>
                  <a:srgbClr val="FF0000"/>
                </a:solidFill>
              </a:rPr>
              <a:t>(</a:t>
            </a:r>
            <a:r>
              <a:rPr lang="en-US" sz="4400" dirty="0" err="1">
                <a:solidFill>
                  <a:srgbClr val="FF0000"/>
                </a:solidFill>
              </a:rPr>
              <a:t>a+b</a:t>
            </a:r>
            <a:r>
              <a:rPr lang="en-US" sz="4400" dirty="0">
                <a:solidFill>
                  <a:srgbClr val="FF0000"/>
                </a:solidFill>
              </a:rPr>
              <a:t>*c) +((d*</a:t>
            </a:r>
            <a:r>
              <a:rPr lang="en-US" sz="4400" dirty="0" err="1">
                <a:solidFill>
                  <a:srgbClr val="FF0000"/>
                </a:solidFill>
              </a:rPr>
              <a:t>e+f</a:t>
            </a:r>
            <a:r>
              <a:rPr lang="en-US" sz="4400" dirty="0">
                <a:solidFill>
                  <a:srgbClr val="FF0000"/>
                </a:solidFill>
              </a:rPr>
              <a:t>)*g)</a:t>
            </a: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a:p>
            <a:pPr eaLnBrk="1" hangingPunct="1">
              <a:buNone/>
              <a:defRPr/>
            </a:pPr>
            <a:endParaRPr lang="en-US" dirty="0">
              <a:solidFill>
                <a:srgbClr val="FF0000"/>
              </a:solidFill>
            </a:endParaRPr>
          </a:p>
          <a:p>
            <a:pPr eaLnBrk="1" hangingPunct="1">
              <a:buFont typeface="Wingdings" panose="05000000000000000000" charset="0"/>
              <a:buNone/>
              <a:defRPr/>
            </a:pPr>
            <a:endParaRPr lang="en-US" dirty="0">
              <a:solidFill>
                <a:srgbClr val="FF0000"/>
              </a:solidFill>
            </a:endParaRPr>
          </a:p>
        </p:txBody>
      </p:sp>
      <p:pic>
        <p:nvPicPr>
          <p:cNvPr id="15" name="Picture 4" descr="figure4-3">
            <a:extLst>
              <a:ext uri="{FF2B5EF4-FFF2-40B4-BE49-F238E27FC236}">
                <a16:creationId xmlns:a16="http://schemas.microsoft.com/office/drawing/2014/main" id="{169F9250-DD57-49DD-880F-08B11E86634F}"/>
              </a:ext>
            </a:extLst>
          </p:cNvPr>
          <p:cNvPicPr>
            <a:picLocks noChangeAspect="1" noChangeArrowheads="1"/>
          </p:cNvPicPr>
          <p:nvPr/>
        </p:nvPicPr>
        <p:blipFill>
          <a:blip r:embed="rId3"/>
          <a:srcRect/>
          <a:stretch>
            <a:fillRect/>
          </a:stretch>
        </p:blipFill>
        <p:spPr bwMode="auto">
          <a:xfrm>
            <a:off x="5113053" y="3319133"/>
            <a:ext cx="6629400" cy="3429000"/>
          </a:xfrm>
          <a:prstGeom prst="rect">
            <a:avLst/>
          </a:prstGeom>
          <a:noFill/>
          <a:ln w="9525">
            <a:noFill/>
            <a:miter lim="800000"/>
            <a:headEnd/>
            <a:tailEnd/>
          </a:ln>
        </p:spPr>
      </p:pic>
    </p:spTree>
    <p:extLst>
      <p:ext uri="{BB962C8B-B14F-4D97-AF65-F5344CB8AC3E}">
        <p14:creationId xmlns:p14="http://schemas.microsoft.com/office/powerpoint/2010/main" val="747199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8AA70-C380-5255-A624-A80B75D88EAE}"/>
              </a:ext>
            </a:extLst>
          </p:cNvPr>
          <p:cNvSpPr>
            <a:spLocks noGrp="1"/>
          </p:cNvSpPr>
          <p:nvPr>
            <p:ph type="title"/>
          </p:nvPr>
        </p:nvSpPr>
        <p:spPr/>
        <p:txBody>
          <a:bodyPr/>
          <a:lstStyle/>
          <a:p>
            <a:r>
              <a:rPr lang="en-US" dirty="0"/>
              <a:t>Practice Questions</a:t>
            </a:r>
          </a:p>
        </p:txBody>
      </p:sp>
      <p:sp>
        <p:nvSpPr>
          <p:cNvPr id="3" name="Content Placeholder 2">
            <a:extLst>
              <a:ext uri="{FF2B5EF4-FFF2-40B4-BE49-F238E27FC236}">
                <a16:creationId xmlns:a16="http://schemas.microsoft.com/office/drawing/2014/main" id="{EF8E2DE6-4D4B-6442-6C89-5A3CC78FA990}"/>
              </a:ext>
            </a:extLst>
          </p:cNvPr>
          <p:cNvSpPr>
            <a:spLocks noGrp="1"/>
          </p:cNvSpPr>
          <p:nvPr>
            <p:ph idx="1"/>
          </p:nvPr>
        </p:nvSpPr>
        <p:spPr/>
        <p:txBody>
          <a:bodyPr/>
          <a:lstStyle/>
          <a:p>
            <a:r>
              <a:rPr lang="en-US" dirty="0"/>
              <a:t>Create an expression tree for the given expression. Also write the preorder and post order form of the tree.</a:t>
            </a:r>
          </a:p>
          <a:p>
            <a:r>
              <a:rPr lang="en-US" dirty="0"/>
              <a:t>(A – B ) / (( C * D ) + E )</a:t>
            </a:r>
          </a:p>
          <a:p>
            <a:endParaRPr lang="en-US" dirty="0"/>
          </a:p>
          <a:p>
            <a:r>
              <a:rPr lang="en-US" dirty="0"/>
              <a:t>[ A + ( B – C )] * [( D – E ) / ( F + G – H )]</a:t>
            </a:r>
          </a:p>
        </p:txBody>
      </p:sp>
    </p:spTree>
    <p:extLst>
      <p:ext uri="{BB962C8B-B14F-4D97-AF65-F5344CB8AC3E}">
        <p14:creationId xmlns:p14="http://schemas.microsoft.com/office/powerpoint/2010/main" val="4082973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68C48-9B5E-4B55-BBA8-FFE8FE0B43CC}"/>
              </a:ext>
            </a:extLst>
          </p:cNvPr>
          <p:cNvPicPr>
            <a:picLocks noChangeAspect="1"/>
          </p:cNvPicPr>
          <p:nvPr/>
        </p:nvPicPr>
        <p:blipFill rotWithShape="1">
          <a:blip r:embed="rId3"/>
          <a:srcRect r="8015"/>
          <a:stretch/>
        </p:blipFill>
        <p:spPr>
          <a:xfrm>
            <a:off x="6918857" y="2390195"/>
            <a:ext cx="5235043" cy="3838575"/>
          </a:xfrm>
          <a:prstGeom prst="rect">
            <a:avLst/>
          </a:prstGeom>
        </p:spPr>
      </p:pic>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Binary Search Tree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CC7FA9CB-CE43-4C15-AD84-B5EBBFC02E17}"/>
              </a:ext>
            </a:extLst>
          </p:cNvPr>
          <p:cNvSpPr txBox="1"/>
          <p:nvPr/>
        </p:nvSpPr>
        <p:spPr>
          <a:xfrm>
            <a:off x="762313" y="1950961"/>
            <a:ext cx="6156544" cy="4524315"/>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292929"/>
                </a:solidFill>
                <a:effectLst/>
                <a:latin typeface="charter"/>
              </a:rPr>
              <a:t>Binary Search Tree (BST) is an extension of Binary tree with some added constraints.</a:t>
            </a:r>
          </a:p>
          <a:p>
            <a:pPr marL="342900" indent="-342900" algn="l">
              <a:buFont typeface="Arial" panose="020B0604020202020204" pitchFamily="34" charset="0"/>
              <a:buChar char="•"/>
            </a:pPr>
            <a:r>
              <a:rPr lang="en-US" sz="2400" b="0" i="0" dirty="0">
                <a:solidFill>
                  <a:srgbClr val="292929"/>
                </a:solidFill>
                <a:effectLst/>
                <a:latin typeface="charter"/>
              </a:rPr>
              <a:t>In BST, the value of the left child of a node must be smaller than or equal to the value of its parent and the value of the right child is always larger than or equal to the value of its parent. </a:t>
            </a:r>
          </a:p>
          <a:p>
            <a:pPr marL="342900" indent="-342900" algn="l">
              <a:buFont typeface="Arial" panose="020B0604020202020204" pitchFamily="34" charset="0"/>
              <a:buChar char="•"/>
            </a:pPr>
            <a:r>
              <a:rPr lang="en-US" sz="2400" b="0" i="0" dirty="0">
                <a:solidFill>
                  <a:srgbClr val="292929"/>
                </a:solidFill>
                <a:effectLst/>
                <a:latin typeface="charter"/>
              </a:rPr>
              <a:t>This property of Binary Search Tree makes it suitable for searching operations as at each node we can decide accurately whether the value will be in left subtree or right subtree. </a:t>
            </a:r>
          </a:p>
          <a:p>
            <a:pPr marL="342900" indent="-342900" algn="l">
              <a:buFont typeface="Arial" panose="020B0604020202020204" pitchFamily="34" charset="0"/>
              <a:buChar char="•"/>
            </a:pPr>
            <a:r>
              <a:rPr lang="en-US" sz="2400" b="0" i="0" dirty="0">
                <a:solidFill>
                  <a:srgbClr val="292929"/>
                </a:solidFill>
                <a:effectLst/>
                <a:latin typeface="charter"/>
              </a:rPr>
              <a:t>Therefore, it is called a Search Tree.</a:t>
            </a:r>
          </a:p>
        </p:txBody>
      </p:sp>
    </p:spTree>
    <p:extLst>
      <p:ext uri="{BB962C8B-B14F-4D97-AF65-F5344CB8AC3E}">
        <p14:creationId xmlns:p14="http://schemas.microsoft.com/office/powerpoint/2010/main" val="1384636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kern="1200" spc="-5" dirty="0">
                <a:solidFill>
                  <a:schemeClr val="tx1"/>
                </a:solidFill>
                <a:latin typeface="+mj-lt"/>
                <a:ea typeface="+mj-ea"/>
                <a:cs typeface="+mj-cs"/>
              </a:rPr>
              <a:t>Binary Search Tree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0DA48A20-FE48-458B-9CEC-C4CAFAF0EF66}"/>
              </a:ext>
            </a:extLst>
          </p:cNvPr>
          <p:cNvSpPr txBox="1"/>
          <p:nvPr/>
        </p:nvSpPr>
        <p:spPr>
          <a:xfrm>
            <a:off x="958506" y="1977403"/>
            <a:ext cx="10197835" cy="830997"/>
          </a:xfrm>
          <a:prstGeom prst="rect">
            <a:avLst/>
          </a:prstGeom>
          <a:noFill/>
        </p:spPr>
        <p:txBody>
          <a:bodyPr wrap="square">
            <a:spAutoFit/>
          </a:bodyPr>
          <a:lstStyle/>
          <a:p>
            <a:r>
              <a:rPr lang="en-US" sz="2400" b="0" i="0" dirty="0">
                <a:solidFill>
                  <a:srgbClr val="333333"/>
                </a:solidFill>
                <a:effectLst/>
                <a:latin typeface="inter-regular"/>
              </a:rPr>
              <a:t>Suppose if we change the value of node 30 to 55 in the given  tree, check whether the tree will be binary search tree or not.</a:t>
            </a:r>
            <a:endParaRPr lang="en-US" sz="2400" dirty="0"/>
          </a:p>
        </p:txBody>
      </p:sp>
      <p:pic>
        <p:nvPicPr>
          <p:cNvPr id="4" name="Picture 3">
            <a:extLst>
              <a:ext uri="{FF2B5EF4-FFF2-40B4-BE49-F238E27FC236}">
                <a16:creationId xmlns:a16="http://schemas.microsoft.com/office/drawing/2014/main" id="{73F29525-E324-4844-8626-4213CF7B7E43}"/>
              </a:ext>
            </a:extLst>
          </p:cNvPr>
          <p:cNvPicPr>
            <a:picLocks noChangeAspect="1"/>
          </p:cNvPicPr>
          <p:nvPr/>
        </p:nvPicPr>
        <p:blipFill>
          <a:blip r:embed="rId3"/>
          <a:stretch>
            <a:fillRect/>
          </a:stretch>
        </p:blipFill>
        <p:spPr>
          <a:xfrm>
            <a:off x="6424536" y="2441643"/>
            <a:ext cx="5851770" cy="3958975"/>
          </a:xfrm>
          <a:prstGeom prst="rect">
            <a:avLst/>
          </a:prstGeom>
        </p:spPr>
      </p:pic>
      <p:sp>
        <p:nvSpPr>
          <p:cNvPr id="14" name="TextBox 13">
            <a:extLst>
              <a:ext uri="{FF2B5EF4-FFF2-40B4-BE49-F238E27FC236}">
                <a16:creationId xmlns:a16="http://schemas.microsoft.com/office/drawing/2014/main" id="{AF660CD3-9C7B-4BCE-9C7C-8D646298F22B}"/>
              </a:ext>
            </a:extLst>
          </p:cNvPr>
          <p:cNvSpPr txBox="1"/>
          <p:nvPr/>
        </p:nvSpPr>
        <p:spPr>
          <a:xfrm>
            <a:off x="958506" y="3036857"/>
            <a:ext cx="6096000" cy="2308324"/>
          </a:xfrm>
          <a:prstGeom prst="rect">
            <a:avLst/>
          </a:prstGeom>
          <a:noFill/>
        </p:spPr>
        <p:txBody>
          <a:bodyPr wrap="square">
            <a:spAutoFit/>
          </a:bodyPr>
          <a:lstStyle/>
          <a:p>
            <a:r>
              <a:rPr lang="en-US" sz="2400" dirty="0"/>
              <a:t>In the given tree, the value of root node is 40, which is greater than its left child 30 but smaller than right child of 30, i.e., 55. So, the above tree does not satisfy the property of Binary search tree. Therefore, this tree is not a binary search tree.</a:t>
            </a:r>
          </a:p>
        </p:txBody>
      </p:sp>
    </p:spTree>
    <p:extLst>
      <p:ext uri="{BB962C8B-B14F-4D97-AF65-F5344CB8AC3E}">
        <p14:creationId xmlns:p14="http://schemas.microsoft.com/office/powerpoint/2010/main" val="3280015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Advantages of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9E79E38C-0045-40B7-B518-DD0B4D38C81F}"/>
              </a:ext>
            </a:extLst>
          </p:cNvPr>
          <p:cNvSpPr txBox="1"/>
          <p:nvPr/>
        </p:nvSpPr>
        <p:spPr>
          <a:xfrm>
            <a:off x="968900" y="2256817"/>
            <a:ext cx="10378634" cy="1569660"/>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rPr>
              <a:t>Searching an element in the Binary search tree is easy as we always have a hint that which subtree has the desired element.</a:t>
            </a:r>
          </a:p>
          <a:p>
            <a:pPr marL="342900" indent="-342900" algn="just">
              <a:buFont typeface="Arial" panose="020B0604020202020204" pitchFamily="34" charset="0"/>
              <a:buChar char="•"/>
            </a:pPr>
            <a:r>
              <a:rPr lang="en-US" sz="2400" b="0" i="0" dirty="0">
                <a:solidFill>
                  <a:srgbClr val="000000"/>
                </a:solidFill>
                <a:effectLst/>
              </a:rPr>
              <a:t>As compared to array and linked lists, insertion and deletion operations are faster in BST.</a:t>
            </a:r>
            <a:endParaRPr lang="en-US" b="0" i="0" dirty="0">
              <a:solidFill>
                <a:srgbClr val="000000"/>
              </a:solidFill>
              <a:effectLst/>
            </a:endParaRPr>
          </a:p>
        </p:txBody>
      </p:sp>
    </p:spTree>
    <p:extLst>
      <p:ext uri="{BB962C8B-B14F-4D97-AF65-F5344CB8AC3E}">
        <p14:creationId xmlns:p14="http://schemas.microsoft.com/office/powerpoint/2010/main" val="251681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Basic Operations on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D0191BE6-3868-446B-836F-DC9428EEE48D}"/>
              </a:ext>
            </a:extLst>
          </p:cNvPr>
          <p:cNvSpPr txBox="1"/>
          <p:nvPr/>
        </p:nvSpPr>
        <p:spPr>
          <a:xfrm>
            <a:off x="1282986" y="2207488"/>
            <a:ext cx="9794646" cy="2308324"/>
          </a:xfrm>
          <a:prstGeom prst="rect">
            <a:avLst/>
          </a:prstGeom>
          <a:noFill/>
        </p:spPr>
        <p:txBody>
          <a:bodyPr wrap="square">
            <a:spAutoFit/>
          </a:bodyPr>
          <a:lstStyle/>
          <a:p>
            <a:pPr algn="just"/>
            <a:r>
              <a:rPr lang="en-US" sz="2400" b="0" i="0" dirty="0">
                <a:solidFill>
                  <a:srgbClr val="000000"/>
                </a:solidFill>
                <a:effectLst/>
                <a:latin typeface="Arial" panose="020B0604020202020204" pitchFamily="34" charset="0"/>
              </a:rPr>
              <a:t>Following are the basic operations of a tree −</a:t>
            </a:r>
          </a:p>
          <a:p>
            <a:pPr algn="just">
              <a:buFont typeface="Arial" panose="020B0604020202020204" pitchFamily="34" charset="0"/>
              <a:buChar char="•"/>
            </a:pPr>
            <a:r>
              <a:rPr lang="en-US" sz="2400" b="1" i="0" dirty="0">
                <a:solidFill>
                  <a:srgbClr val="000000"/>
                </a:solidFill>
                <a:effectLst/>
                <a:latin typeface="Arial" panose="020B0604020202020204" pitchFamily="34" charset="0"/>
              </a:rPr>
              <a:t>Search</a:t>
            </a:r>
            <a:r>
              <a:rPr lang="en-US" sz="2400" b="0" i="0" dirty="0">
                <a:solidFill>
                  <a:srgbClr val="000000"/>
                </a:solidFill>
                <a:effectLst/>
                <a:latin typeface="Arial" panose="020B0604020202020204" pitchFamily="34" charset="0"/>
              </a:rPr>
              <a:t> − Searches an element in a tree.</a:t>
            </a:r>
          </a:p>
          <a:p>
            <a:pPr algn="just">
              <a:buFont typeface="Arial" panose="020B0604020202020204" pitchFamily="34" charset="0"/>
              <a:buChar char="•"/>
            </a:pPr>
            <a:r>
              <a:rPr lang="en-US" sz="2400" b="1" i="0" dirty="0">
                <a:solidFill>
                  <a:srgbClr val="000000"/>
                </a:solidFill>
                <a:effectLst/>
                <a:latin typeface="Arial" panose="020B0604020202020204" pitchFamily="34" charset="0"/>
              </a:rPr>
              <a:t>Insert</a:t>
            </a:r>
            <a:r>
              <a:rPr lang="en-US" sz="2400" b="0" i="0" dirty="0">
                <a:solidFill>
                  <a:srgbClr val="000000"/>
                </a:solidFill>
                <a:effectLst/>
                <a:latin typeface="Arial" panose="020B0604020202020204" pitchFamily="34" charset="0"/>
              </a:rPr>
              <a:t> − Inserts an element in a tree.</a:t>
            </a:r>
          </a:p>
          <a:p>
            <a:pPr algn="just">
              <a:buFont typeface="Arial" panose="020B0604020202020204" pitchFamily="34" charset="0"/>
              <a:buChar char="•"/>
            </a:pPr>
            <a:r>
              <a:rPr lang="en-US" sz="2400" b="1" i="0" dirty="0">
                <a:solidFill>
                  <a:srgbClr val="000000"/>
                </a:solidFill>
                <a:effectLst/>
                <a:latin typeface="Arial" panose="020B0604020202020204" pitchFamily="34" charset="0"/>
              </a:rPr>
              <a:t>Pre-order Traversal</a:t>
            </a:r>
            <a:r>
              <a:rPr lang="en-US" sz="2400" b="0" i="0" dirty="0">
                <a:solidFill>
                  <a:srgbClr val="000000"/>
                </a:solidFill>
                <a:effectLst/>
                <a:latin typeface="Arial" panose="020B0604020202020204" pitchFamily="34" charset="0"/>
              </a:rPr>
              <a:t> − Traverses a tree in a pre-order manner.</a:t>
            </a:r>
          </a:p>
          <a:p>
            <a:pPr algn="just">
              <a:buFont typeface="Arial" panose="020B0604020202020204" pitchFamily="34" charset="0"/>
              <a:buChar char="•"/>
            </a:pPr>
            <a:r>
              <a:rPr lang="en-US" sz="2400" b="1" i="0" dirty="0">
                <a:solidFill>
                  <a:srgbClr val="000000"/>
                </a:solidFill>
                <a:effectLst/>
                <a:latin typeface="Arial" panose="020B0604020202020204" pitchFamily="34" charset="0"/>
              </a:rPr>
              <a:t>In-order Traversal</a:t>
            </a:r>
            <a:r>
              <a:rPr lang="en-US" sz="2400" b="0" i="0" dirty="0">
                <a:solidFill>
                  <a:srgbClr val="000000"/>
                </a:solidFill>
                <a:effectLst/>
                <a:latin typeface="Arial" panose="020B0604020202020204" pitchFamily="34" charset="0"/>
              </a:rPr>
              <a:t> − Traverses a tree in an in-order manner.</a:t>
            </a:r>
          </a:p>
          <a:p>
            <a:pPr algn="just">
              <a:buFont typeface="Arial" panose="020B0604020202020204" pitchFamily="34" charset="0"/>
              <a:buChar char="•"/>
            </a:pPr>
            <a:r>
              <a:rPr lang="en-US" sz="2400" b="1" i="0" dirty="0">
                <a:solidFill>
                  <a:srgbClr val="000000"/>
                </a:solidFill>
                <a:effectLst/>
                <a:latin typeface="Arial" panose="020B0604020202020204" pitchFamily="34" charset="0"/>
              </a:rPr>
              <a:t>Post-order Traversal</a:t>
            </a:r>
            <a:r>
              <a:rPr lang="en-US" sz="2400" b="0" i="0" dirty="0">
                <a:solidFill>
                  <a:srgbClr val="000000"/>
                </a:solidFill>
                <a:effectLst/>
                <a:latin typeface="Arial" panose="020B0604020202020204" pitchFamily="34" charset="0"/>
              </a:rPr>
              <a:t> − Traverses a tree in a post-order manner.</a:t>
            </a:r>
          </a:p>
        </p:txBody>
      </p:sp>
    </p:spTree>
    <p:extLst>
      <p:ext uri="{BB962C8B-B14F-4D97-AF65-F5344CB8AC3E}">
        <p14:creationId xmlns:p14="http://schemas.microsoft.com/office/powerpoint/2010/main" val="56012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Creation of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0D9B520E-BB1B-4563-BAE1-6A56E12F217E}"/>
              </a:ext>
            </a:extLst>
          </p:cNvPr>
          <p:cNvSpPr txBox="1"/>
          <p:nvPr/>
        </p:nvSpPr>
        <p:spPr>
          <a:xfrm>
            <a:off x="968900" y="2177170"/>
            <a:ext cx="10264697" cy="2775324"/>
          </a:xfrm>
          <a:prstGeom prst="rect">
            <a:avLst/>
          </a:prstGeom>
          <a:noFill/>
        </p:spPr>
        <p:txBody>
          <a:bodyPr wrap="square">
            <a:spAutoFit/>
          </a:bodyPr>
          <a:lstStyle/>
          <a:p>
            <a:pPr algn="just"/>
            <a:r>
              <a:rPr lang="en-US" sz="2400" b="0" i="0" dirty="0">
                <a:solidFill>
                  <a:srgbClr val="333333"/>
                </a:solidFill>
                <a:effectLst/>
              </a:rPr>
              <a:t>Let us take nine numbers and insert them in binary tree which is initially empty.</a:t>
            </a:r>
          </a:p>
          <a:p>
            <a:pPr algn="just"/>
            <a:r>
              <a:rPr lang="en-US" sz="2400" b="0" i="0" dirty="0">
                <a:solidFill>
                  <a:srgbClr val="333333"/>
                </a:solidFill>
                <a:effectLst/>
              </a:rPr>
              <a:t>Suppose the data elements are </a:t>
            </a:r>
            <a:r>
              <a:rPr lang="en-US" sz="2400" b="1" i="0" dirty="0">
                <a:solidFill>
                  <a:srgbClr val="333333"/>
                </a:solidFill>
                <a:effectLst/>
              </a:rPr>
              <a:t>- 45, 15, 79, 90, 10, 55, 12, 20, 50. </a:t>
            </a:r>
            <a:endParaRPr lang="en-US" sz="2400" b="0" i="0" dirty="0">
              <a:solidFill>
                <a:srgbClr val="333333"/>
              </a:solidFill>
              <a:effectLst/>
            </a:endParaRPr>
          </a:p>
          <a:p>
            <a:pPr marL="342900" indent="-342900" algn="just">
              <a:buFont typeface="Arial" panose="020B0604020202020204" pitchFamily="34" charset="0"/>
              <a:buChar char="•"/>
            </a:pPr>
            <a:r>
              <a:rPr lang="en-US" sz="2400" b="0" i="0" dirty="0">
                <a:solidFill>
                  <a:srgbClr val="000000"/>
                </a:solidFill>
                <a:effectLst/>
              </a:rPr>
              <a:t>First, we have to insert </a:t>
            </a:r>
            <a:r>
              <a:rPr lang="en-US" sz="2400" b="1" i="0" dirty="0">
                <a:solidFill>
                  <a:srgbClr val="000000"/>
                </a:solidFill>
                <a:effectLst/>
              </a:rPr>
              <a:t>45</a:t>
            </a:r>
            <a:r>
              <a:rPr lang="en-US" sz="2400" b="0" i="0" dirty="0">
                <a:solidFill>
                  <a:srgbClr val="000000"/>
                </a:solidFill>
                <a:effectLst/>
              </a:rPr>
              <a:t> into the tree as the root of the tree.</a:t>
            </a:r>
          </a:p>
          <a:p>
            <a:pPr marL="342900" indent="-342900" algn="just">
              <a:buFont typeface="Arial" panose="020B0604020202020204" pitchFamily="34" charset="0"/>
              <a:buChar char="•"/>
            </a:pPr>
            <a:r>
              <a:rPr lang="en-US" sz="2400" b="0" i="0" dirty="0">
                <a:solidFill>
                  <a:srgbClr val="000000"/>
                </a:solidFill>
                <a:effectLst/>
              </a:rPr>
              <a:t>Then, read the next element; if it is smaller than the root node, insert it as the root of the left subtree, and move to the next element.</a:t>
            </a:r>
          </a:p>
          <a:p>
            <a:pPr marL="342900" indent="-342900" algn="just">
              <a:buFont typeface="Arial" panose="020B0604020202020204" pitchFamily="34" charset="0"/>
              <a:buChar char="•"/>
            </a:pPr>
            <a:r>
              <a:rPr lang="en-US" sz="2400" b="0" i="0" dirty="0">
                <a:solidFill>
                  <a:srgbClr val="000000"/>
                </a:solidFill>
                <a:effectLst/>
              </a:rPr>
              <a:t>Otherwise, if the element is larger than the root node, then insert it as the root of the right subtree.</a:t>
            </a:r>
          </a:p>
        </p:txBody>
      </p:sp>
    </p:spTree>
    <p:extLst>
      <p:ext uri="{BB962C8B-B14F-4D97-AF65-F5344CB8AC3E}">
        <p14:creationId xmlns:p14="http://schemas.microsoft.com/office/powerpoint/2010/main" val="867692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Steps to Create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8C30339-6B83-4696-B4CD-6BECBA1D2CB0}"/>
              </a:ext>
            </a:extLst>
          </p:cNvPr>
          <p:cNvSpPr txBox="1"/>
          <p:nvPr/>
        </p:nvSpPr>
        <p:spPr>
          <a:xfrm>
            <a:off x="1321353" y="2276571"/>
            <a:ext cx="4612276" cy="2954655"/>
          </a:xfrm>
          <a:prstGeom prst="rect">
            <a:avLst/>
          </a:prstGeom>
          <a:noFill/>
        </p:spPr>
        <p:txBody>
          <a:bodyPr wrap="square">
            <a:spAutoFit/>
          </a:bodyPr>
          <a:lstStyle/>
          <a:p>
            <a:r>
              <a:rPr lang="en-US" sz="2400" b="1" dirty="0"/>
              <a:t>Step 1 - Insert 45.</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026" name="Picture 2" descr="Binary Search tree">
            <a:extLst>
              <a:ext uri="{FF2B5EF4-FFF2-40B4-BE49-F238E27FC236}">
                <a16:creationId xmlns:a16="http://schemas.microsoft.com/office/drawing/2014/main" id="{AAA05902-13A3-4BA1-93C2-BA6DF8CAE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9769" y="3145377"/>
            <a:ext cx="990052" cy="189620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DCBF955-6C07-401E-A99C-5F65D34B53A1}"/>
              </a:ext>
            </a:extLst>
          </p:cNvPr>
          <p:cNvSpPr txBox="1"/>
          <p:nvPr/>
        </p:nvSpPr>
        <p:spPr>
          <a:xfrm>
            <a:off x="5573450" y="2285777"/>
            <a:ext cx="6096000" cy="1477328"/>
          </a:xfrm>
          <a:prstGeom prst="rect">
            <a:avLst/>
          </a:prstGeom>
          <a:noFill/>
        </p:spPr>
        <p:txBody>
          <a:bodyPr wrap="square">
            <a:spAutoFit/>
          </a:bodyPr>
          <a:lstStyle/>
          <a:p>
            <a:r>
              <a:rPr lang="en-US" sz="2400" b="1" dirty="0"/>
              <a:t>Step 2 - Insert 15.</a:t>
            </a:r>
          </a:p>
          <a:p>
            <a:endParaRPr lang="en-US" dirty="0"/>
          </a:p>
          <a:p>
            <a:r>
              <a:rPr lang="en-US" sz="2400" dirty="0"/>
              <a:t>As 15 is smaller than 45, so insert it as the root node of the left subtree.</a:t>
            </a:r>
          </a:p>
        </p:txBody>
      </p:sp>
      <p:pic>
        <p:nvPicPr>
          <p:cNvPr id="1028" name="Picture 4" descr="Binary Search tree">
            <a:extLst>
              <a:ext uri="{FF2B5EF4-FFF2-40B4-BE49-F238E27FC236}">
                <a16:creationId xmlns:a16="http://schemas.microsoft.com/office/drawing/2014/main" id="{C22A9A96-5ED1-4164-B759-EA2DAA3145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802476"/>
            <a:ext cx="25527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485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Steps to Create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8C30339-6B83-4696-B4CD-6BECBA1D2CB0}"/>
              </a:ext>
            </a:extLst>
          </p:cNvPr>
          <p:cNvSpPr txBox="1"/>
          <p:nvPr/>
        </p:nvSpPr>
        <p:spPr>
          <a:xfrm>
            <a:off x="1321353" y="2271956"/>
            <a:ext cx="4612276" cy="3785652"/>
          </a:xfrm>
          <a:prstGeom prst="rect">
            <a:avLst/>
          </a:prstGeom>
          <a:noFill/>
        </p:spPr>
        <p:txBody>
          <a:bodyPr wrap="square">
            <a:spAutoFit/>
          </a:bodyPr>
          <a:lstStyle/>
          <a:p>
            <a:r>
              <a:rPr lang="en-US" sz="2400" b="1" dirty="0"/>
              <a:t>Step 3 - Insert 79.</a:t>
            </a:r>
            <a:endParaRPr lang="en-US" sz="2400" dirty="0"/>
          </a:p>
          <a:p>
            <a:r>
              <a:rPr lang="en-US" sz="2400" dirty="0"/>
              <a:t>As 79 is greater than 45, so insert it as the root node of the right subtree.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5" name="TextBox 14">
            <a:extLst>
              <a:ext uri="{FF2B5EF4-FFF2-40B4-BE49-F238E27FC236}">
                <a16:creationId xmlns:a16="http://schemas.microsoft.com/office/drawing/2014/main" id="{8DCBF955-6C07-401E-A99C-5F65D34B53A1}"/>
              </a:ext>
            </a:extLst>
          </p:cNvPr>
          <p:cNvSpPr txBox="1"/>
          <p:nvPr/>
        </p:nvSpPr>
        <p:spPr>
          <a:xfrm>
            <a:off x="6400800" y="2337964"/>
            <a:ext cx="5110502" cy="1200329"/>
          </a:xfrm>
          <a:prstGeom prst="rect">
            <a:avLst/>
          </a:prstGeom>
          <a:noFill/>
        </p:spPr>
        <p:txBody>
          <a:bodyPr wrap="square">
            <a:spAutoFit/>
          </a:bodyPr>
          <a:lstStyle/>
          <a:p>
            <a:r>
              <a:rPr lang="en-US" sz="2400" b="1" dirty="0"/>
              <a:t>Step 4 - Insert 90.</a:t>
            </a:r>
            <a:endParaRPr lang="en-US" dirty="0"/>
          </a:p>
          <a:p>
            <a:r>
              <a:rPr lang="en-US" sz="2400" dirty="0"/>
              <a:t>90 is greater than 45 and 79, so it will be inserted as the right subtree of 79.</a:t>
            </a:r>
          </a:p>
        </p:txBody>
      </p:sp>
      <p:pic>
        <p:nvPicPr>
          <p:cNvPr id="2050" name="Picture 2" descr="Binary Search tree">
            <a:extLst>
              <a:ext uri="{FF2B5EF4-FFF2-40B4-BE49-F238E27FC236}">
                <a16:creationId xmlns:a16="http://schemas.microsoft.com/office/drawing/2014/main" id="{0C5432C5-FA99-4216-A256-E39C101F09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219" y="3763105"/>
            <a:ext cx="28575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364045AF-C3AD-4319-8116-087D4632271A}"/>
              </a:ext>
            </a:extLst>
          </p:cNvPr>
          <p:cNvPicPr>
            <a:picLocks noChangeAspect="1"/>
          </p:cNvPicPr>
          <p:nvPr/>
        </p:nvPicPr>
        <p:blipFill>
          <a:blip r:embed="rId4"/>
          <a:stretch>
            <a:fillRect/>
          </a:stretch>
        </p:blipFill>
        <p:spPr>
          <a:xfrm>
            <a:off x="6781800" y="3730209"/>
            <a:ext cx="3810000" cy="2952750"/>
          </a:xfrm>
          <a:prstGeom prst="rect">
            <a:avLst/>
          </a:prstGeom>
        </p:spPr>
      </p:pic>
    </p:spTree>
    <p:extLst>
      <p:ext uri="{BB962C8B-B14F-4D97-AF65-F5344CB8AC3E}">
        <p14:creationId xmlns:p14="http://schemas.microsoft.com/office/powerpoint/2010/main" val="394083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Steps to Create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8C30339-6B83-4696-B4CD-6BECBA1D2CB0}"/>
              </a:ext>
            </a:extLst>
          </p:cNvPr>
          <p:cNvSpPr txBox="1"/>
          <p:nvPr/>
        </p:nvSpPr>
        <p:spPr>
          <a:xfrm>
            <a:off x="1321353" y="2271956"/>
            <a:ext cx="4612276" cy="3508653"/>
          </a:xfrm>
          <a:prstGeom prst="rect">
            <a:avLst/>
          </a:prstGeom>
          <a:noFill/>
        </p:spPr>
        <p:txBody>
          <a:bodyPr wrap="square">
            <a:spAutoFit/>
          </a:bodyPr>
          <a:lstStyle/>
          <a:p>
            <a:r>
              <a:rPr lang="en-US" sz="2400" b="1" dirty="0"/>
              <a:t>Step 5 - Insert 10.</a:t>
            </a:r>
          </a:p>
          <a:p>
            <a:r>
              <a:rPr lang="en-US" sz="2400" dirty="0"/>
              <a:t>10 is smaller than 45 and 15, so it will be inserted as a left subtree of 15.</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5" name="TextBox 14">
            <a:extLst>
              <a:ext uri="{FF2B5EF4-FFF2-40B4-BE49-F238E27FC236}">
                <a16:creationId xmlns:a16="http://schemas.microsoft.com/office/drawing/2014/main" id="{8DCBF955-6C07-401E-A99C-5F65D34B53A1}"/>
              </a:ext>
            </a:extLst>
          </p:cNvPr>
          <p:cNvSpPr txBox="1"/>
          <p:nvPr/>
        </p:nvSpPr>
        <p:spPr>
          <a:xfrm>
            <a:off x="6400800" y="2337964"/>
            <a:ext cx="5110502" cy="1569660"/>
          </a:xfrm>
          <a:prstGeom prst="rect">
            <a:avLst/>
          </a:prstGeom>
          <a:noFill/>
        </p:spPr>
        <p:txBody>
          <a:bodyPr wrap="square">
            <a:spAutoFit/>
          </a:bodyPr>
          <a:lstStyle/>
          <a:p>
            <a:r>
              <a:rPr lang="en-US" sz="2400" b="1" dirty="0"/>
              <a:t>Step 6 - Insert 55.</a:t>
            </a:r>
          </a:p>
          <a:p>
            <a:r>
              <a:rPr lang="en-US" sz="2400" dirty="0"/>
              <a:t>55 is larger than 45 and smaller than 79, so it will be inserted as the left subtree of 79.</a:t>
            </a:r>
          </a:p>
        </p:txBody>
      </p:sp>
      <p:pic>
        <p:nvPicPr>
          <p:cNvPr id="4" name="Picture 3">
            <a:extLst>
              <a:ext uri="{FF2B5EF4-FFF2-40B4-BE49-F238E27FC236}">
                <a16:creationId xmlns:a16="http://schemas.microsoft.com/office/drawing/2014/main" id="{5B6B4259-32A4-4DEA-A82D-DDDC50D5C3FD}"/>
              </a:ext>
            </a:extLst>
          </p:cNvPr>
          <p:cNvPicPr>
            <a:picLocks noChangeAspect="1"/>
          </p:cNvPicPr>
          <p:nvPr/>
        </p:nvPicPr>
        <p:blipFill>
          <a:blip r:embed="rId3"/>
          <a:stretch>
            <a:fillRect/>
          </a:stretch>
        </p:blipFill>
        <p:spPr>
          <a:xfrm>
            <a:off x="1133256" y="3538293"/>
            <a:ext cx="4286250" cy="2943225"/>
          </a:xfrm>
          <a:prstGeom prst="rect">
            <a:avLst/>
          </a:prstGeom>
        </p:spPr>
      </p:pic>
      <p:pic>
        <p:nvPicPr>
          <p:cNvPr id="5" name="Picture 4">
            <a:extLst>
              <a:ext uri="{FF2B5EF4-FFF2-40B4-BE49-F238E27FC236}">
                <a16:creationId xmlns:a16="http://schemas.microsoft.com/office/drawing/2014/main" id="{8FECFD62-E124-42EE-834C-9F14F2D54E8D}"/>
              </a:ext>
            </a:extLst>
          </p:cNvPr>
          <p:cNvPicPr>
            <a:picLocks noChangeAspect="1"/>
          </p:cNvPicPr>
          <p:nvPr/>
        </p:nvPicPr>
        <p:blipFill>
          <a:blip r:embed="rId4"/>
          <a:stretch>
            <a:fillRect/>
          </a:stretch>
        </p:blipFill>
        <p:spPr>
          <a:xfrm>
            <a:off x="6774897" y="3671643"/>
            <a:ext cx="4095750" cy="2809875"/>
          </a:xfrm>
          <a:prstGeom prst="rect">
            <a:avLst/>
          </a:prstGeom>
        </p:spPr>
      </p:pic>
    </p:spTree>
    <p:extLst>
      <p:ext uri="{BB962C8B-B14F-4D97-AF65-F5344CB8AC3E}">
        <p14:creationId xmlns:p14="http://schemas.microsoft.com/office/powerpoint/2010/main" val="332573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Steps to Create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8C30339-6B83-4696-B4CD-6BECBA1D2CB0}"/>
              </a:ext>
            </a:extLst>
          </p:cNvPr>
          <p:cNvSpPr txBox="1"/>
          <p:nvPr/>
        </p:nvSpPr>
        <p:spPr>
          <a:xfrm>
            <a:off x="1321353" y="2302436"/>
            <a:ext cx="4612276" cy="3231654"/>
          </a:xfrm>
          <a:prstGeom prst="rect">
            <a:avLst/>
          </a:prstGeom>
          <a:noFill/>
        </p:spPr>
        <p:txBody>
          <a:bodyPr wrap="square">
            <a:spAutoFit/>
          </a:bodyPr>
          <a:lstStyle/>
          <a:p>
            <a:r>
              <a:rPr lang="en-US" sz="2400" b="1" dirty="0"/>
              <a:t>Step 7 - Insert 12.</a:t>
            </a:r>
          </a:p>
          <a:p>
            <a:r>
              <a:rPr lang="en-US" sz="2400" dirty="0"/>
              <a:t>12 is smaller than 45 and 15 but greater than 10, so it will be inserted as the right subtree of 10.</a:t>
            </a:r>
            <a:endParaRPr lang="en-US" dirty="0"/>
          </a:p>
          <a:p>
            <a:endParaRPr lang="en-US" dirty="0"/>
          </a:p>
          <a:p>
            <a:endParaRPr lang="en-US" dirty="0"/>
          </a:p>
          <a:p>
            <a:endParaRPr lang="en-US" dirty="0"/>
          </a:p>
          <a:p>
            <a:endParaRPr lang="en-US" dirty="0"/>
          </a:p>
          <a:p>
            <a:endParaRPr lang="en-US" dirty="0"/>
          </a:p>
          <a:p>
            <a:endParaRPr lang="en-US" dirty="0"/>
          </a:p>
        </p:txBody>
      </p:sp>
      <p:sp>
        <p:nvSpPr>
          <p:cNvPr id="15" name="TextBox 14">
            <a:extLst>
              <a:ext uri="{FF2B5EF4-FFF2-40B4-BE49-F238E27FC236}">
                <a16:creationId xmlns:a16="http://schemas.microsoft.com/office/drawing/2014/main" id="{8DCBF955-6C07-401E-A99C-5F65D34B53A1}"/>
              </a:ext>
            </a:extLst>
          </p:cNvPr>
          <p:cNvSpPr txBox="1"/>
          <p:nvPr/>
        </p:nvSpPr>
        <p:spPr>
          <a:xfrm>
            <a:off x="6400800" y="2368444"/>
            <a:ext cx="5110502" cy="1938992"/>
          </a:xfrm>
          <a:prstGeom prst="rect">
            <a:avLst/>
          </a:prstGeom>
          <a:noFill/>
        </p:spPr>
        <p:txBody>
          <a:bodyPr wrap="square">
            <a:spAutoFit/>
          </a:bodyPr>
          <a:lstStyle/>
          <a:p>
            <a:r>
              <a:rPr lang="en-US" sz="2400" b="1" dirty="0"/>
              <a:t>Step 8 - Insert 20.</a:t>
            </a:r>
          </a:p>
          <a:p>
            <a:r>
              <a:rPr lang="en-US" sz="2400" dirty="0"/>
              <a:t>20 is smaller than 45 but greater than 15, so it will be inserted as the right subtree of 15.</a:t>
            </a:r>
          </a:p>
          <a:p>
            <a:endParaRPr lang="en-US" sz="2400" dirty="0"/>
          </a:p>
        </p:txBody>
      </p:sp>
      <p:pic>
        <p:nvPicPr>
          <p:cNvPr id="3" name="Picture 2">
            <a:extLst>
              <a:ext uri="{FF2B5EF4-FFF2-40B4-BE49-F238E27FC236}">
                <a16:creationId xmlns:a16="http://schemas.microsoft.com/office/drawing/2014/main" id="{1413A261-CF59-473A-8242-E512450AD1E3}"/>
              </a:ext>
            </a:extLst>
          </p:cNvPr>
          <p:cNvPicPr>
            <a:picLocks noChangeAspect="1"/>
          </p:cNvPicPr>
          <p:nvPr/>
        </p:nvPicPr>
        <p:blipFill>
          <a:blip r:embed="rId3"/>
          <a:stretch>
            <a:fillRect/>
          </a:stretch>
        </p:blipFill>
        <p:spPr>
          <a:xfrm>
            <a:off x="1836156" y="3922272"/>
            <a:ext cx="3826184" cy="2944498"/>
          </a:xfrm>
          <a:prstGeom prst="rect">
            <a:avLst/>
          </a:prstGeom>
        </p:spPr>
      </p:pic>
      <p:pic>
        <p:nvPicPr>
          <p:cNvPr id="6" name="Picture 5">
            <a:extLst>
              <a:ext uri="{FF2B5EF4-FFF2-40B4-BE49-F238E27FC236}">
                <a16:creationId xmlns:a16="http://schemas.microsoft.com/office/drawing/2014/main" id="{5097CAFB-9A71-4472-8B1E-2B6AD5E1AE0B}"/>
              </a:ext>
            </a:extLst>
          </p:cNvPr>
          <p:cNvPicPr>
            <a:picLocks noChangeAspect="1"/>
          </p:cNvPicPr>
          <p:nvPr/>
        </p:nvPicPr>
        <p:blipFill>
          <a:blip r:embed="rId4"/>
          <a:stretch>
            <a:fillRect/>
          </a:stretch>
        </p:blipFill>
        <p:spPr>
          <a:xfrm>
            <a:off x="7223006" y="3632944"/>
            <a:ext cx="4199422" cy="3231654"/>
          </a:xfrm>
          <a:prstGeom prst="rect">
            <a:avLst/>
          </a:prstGeom>
        </p:spPr>
      </p:pic>
    </p:spTree>
    <p:extLst>
      <p:ext uri="{BB962C8B-B14F-4D97-AF65-F5344CB8AC3E}">
        <p14:creationId xmlns:p14="http://schemas.microsoft.com/office/powerpoint/2010/main" val="207902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Steps to Create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8C30339-6B83-4696-B4CD-6BECBA1D2CB0}"/>
              </a:ext>
            </a:extLst>
          </p:cNvPr>
          <p:cNvSpPr txBox="1"/>
          <p:nvPr/>
        </p:nvSpPr>
        <p:spPr>
          <a:xfrm>
            <a:off x="1321353" y="2271956"/>
            <a:ext cx="4612276" cy="2677656"/>
          </a:xfrm>
          <a:prstGeom prst="rect">
            <a:avLst/>
          </a:prstGeom>
          <a:noFill/>
        </p:spPr>
        <p:txBody>
          <a:bodyPr wrap="square">
            <a:spAutoFit/>
          </a:bodyPr>
          <a:lstStyle/>
          <a:p>
            <a:r>
              <a:rPr lang="en-US" sz="2400" b="1" dirty="0"/>
              <a:t>Step 9 - Insert 50.</a:t>
            </a:r>
          </a:p>
          <a:p>
            <a:r>
              <a:rPr lang="en-US" sz="2400" dirty="0"/>
              <a:t>50 is greater than 45 but smaller than 79 and 55. So, it will be inserted as a left subtree of 55.</a:t>
            </a:r>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5265B2E0-19C0-48E0-A30F-D3F74D2B7533}"/>
              </a:ext>
            </a:extLst>
          </p:cNvPr>
          <p:cNvPicPr>
            <a:picLocks noChangeAspect="1"/>
          </p:cNvPicPr>
          <p:nvPr/>
        </p:nvPicPr>
        <p:blipFill>
          <a:blip r:embed="rId3"/>
          <a:stretch>
            <a:fillRect/>
          </a:stretch>
        </p:blipFill>
        <p:spPr>
          <a:xfrm>
            <a:off x="5867400" y="2431335"/>
            <a:ext cx="4381500" cy="3790950"/>
          </a:xfrm>
          <a:prstGeom prst="rect">
            <a:avLst/>
          </a:prstGeom>
        </p:spPr>
      </p:pic>
      <p:sp>
        <p:nvSpPr>
          <p:cNvPr id="19" name="TextBox 18">
            <a:extLst>
              <a:ext uri="{FF2B5EF4-FFF2-40B4-BE49-F238E27FC236}">
                <a16:creationId xmlns:a16="http://schemas.microsoft.com/office/drawing/2014/main" id="{D09881FB-4197-4D43-86A3-913EF48F2AE7}"/>
              </a:ext>
            </a:extLst>
          </p:cNvPr>
          <p:cNvSpPr txBox="1"/>
          <p:nvPr/>
        </p:nvSpPr>
        <p:spPr>
          <a:xfrm>
            <a:off x="2885629" y="6381664"/>
            <a:ext cx="6096000" cy="369332"/>
          </a:xfrm>
          <a:prstGeom prst="rect">
            <a:avLst/>
          </a:prstGeom>
          <a:noFill/>
        </p:spPr>
        <p:txBody>
          <a:bodyPr wrap="square">
            <a:spAutoFit/>
          </a:bodyPr>
          <a:lstStyle/>
          <a:p>
            <a:r>
              <a:rPr lang="en-US" dirty="0"/>
              <a:t>Now, the creation of binary search tree is completed. </a:t>
            </a:r>
          </a:p>
        </p:txBody>
      </p:sp>
    </p:spTree>
    <p:extLst>
      <p:ext uri="{BB962C8B-B14F-4D97-AF65-F5344CB8AC3E}">
        <p14:creationId xmlns:p14="http://schemas.microsoft.com/office/powerpoint/2010/main" val="2726576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Search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A1D6D21F-FB5A-488E-992C-754894F8210B}"/>
              </a:ext>
            </a:extLst>
          </p:cNvPr>
          <p:cNvSpPr txBox="1"/>
          <p:nvPr/>
        </p:nvSpPr>
        <p:spPr>
          <a:xfrm>
            <a:off x="1371964" y="2318529"/>
            <a:ext cx="10175376" cy="3785652"/>
          </a:xfrm>
          <a:prstGeom prst="rect">
            <a:avLst/>
          </a:prstGeom>
          <a:noFill/>
        </p:spPr>
        <p:txBody>
          <a:bodyPr wrap="square">
            <a:spAutoFit/>
          </a:bodyPr>
          <a:lstStyle/>
          <a:p>
            <a:r>
              <a:rPr lang="en-US" sz="2400" dirty="0"/>
              <a:t>Searching means to find or locate a specific element or node in a data structure. The steps of searching a node in Binary Search tree are listed as follows -</a:t>
            </a:r>
          </a:p>
          <a:p>
            <a:endParaRPr lang="en-US" sz="2400" dirty="0"/>
          </a:p>
          <a:p>
            <a:pPr marL="342900" indent="-342900">
              <a:buFont typeface="Arial" panose="020B0604020202020204" pitchFamily="34" charset="0"/>
              <a:buChar char="•"/>
            </a:pPr>
            <a:r>
              <a:rPr lang="en-US" sz="2400" dirty="0"/>
              <a:t>First, compare the element to be searched with the root element of the tree.</a:t>
            </a:r>
          </a:p>
          <a:p>
            <a:pPr marL="342900" indent="-342900">
              <a:buFont typeface="Arial" panose="020B0604020202020204" pitchFamily="34" charset="0"/>
              <a:buChar char="•"/>
            </a:pPr>
            <a:r>
              <a:rPr lang="en-US" sz="2400" dirty="0"/>
              <a:t>If root is matched with the target element, then return the node's location.</a:t>
            </a:r>
          </a:p>
          <a:p>
            <a:pPr marL="342900" indent="-342900">
              <a:buFont typeface="Arial" panose="020B0604020202020204" pitchFamily="34" charset="0"/>
              <a:buChar char="•"/>
            </a:pPr>
            <a:r>
              <a:rPr lang="en-US" sz="2400" dirty="0"/>
              <a:t>If it is not matched, then check whether the item is less than the root element, if it is smaller than the root element, then move to the left subtree.</a:t>
            </a:r>
          </a:p>
          <a:p>
            <a:pPr marL="342900" indent="-342900">
              <a:buFont typeface="Arial" panose="020B0604020202020204" pitchFamily="34" charset="0"/>
              <a:buChar char="•"/>
            </a:pPr>
            <a:r>
              <a:rPr lang="en-US" sz="2400" dirty="0"/>
              <a:t>If it is larger than the root element, then move to the right subtree.</a:t>
            </a:r>
          </a:p>
          <a:p>
            <a:pPr marL="342900" indent="-342900">
              <a:buFont typeface="Arial" panose="020B0604020202020204" pitchFamily="34" charset="0"/>
              <a:buChar char="•"/>
            </a:pPr>
            <a:r>
              <a:rPr lang="en-US" sz="2400" dirty="0"/>
              <a:t>Repeat the above procedure recursively until the match is found.</a:t>
            </a:r>
          </a:p>
          <a:p>
            <a:pPr marL="342900" indent="-342900">
              <a:buFont typeface="Arial" panose="020B0604020202020204" pitchFamily="34" charset="0"/>
              <a:buChar char="•"/>
            </a:pPr>
            <a:r>
              <a:rPr lang="en-US" sz="2400" dirty="0"/>
              <a:t>If the element is not found or not present in the tree, then return NULL.</a:t>
            </a:r>
            <a:endParaRPr lang="en-US" dirty="0"/>
          </a:p>
        </p:txBody>
      </p:sp>
    </p:spTree>
    <p:extLst>
      <p:ext uri="{BB962C8B-B14F-4D97-AF65-F5344CB8AC3E}">
        <p14:creationId xmlns:p14="http://schemas.microsoft.com/office/powerpoint/2010/main" val="290107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Search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A1D6D21F-FB5A-488E-992C-754894F8210B}"/>
              </a:ext>
            </a:extLst>
          </p:cNvPr>
          <p:cNvSpPr txBox="1"/>
          <p:nvPr/>
        </p:nvSpPr>
        <p:spPr>
          <a:xfrm>
            <a:off x="1287655" y="1980846"/>
            <a:ext cx="10175376" cy="461665"/>
          </a:xfrm>
          <a:prstGeom prst="rect">
            <a:avLst/>
          </a:prstGeom>
          <a:noFill/>
        </p:spPr>
        <p:txBody>
          <a:bodyPr wrap="square">
            <a:spAutoFit/>
          </a:bodyPr>
          <a:lstStyle/>
          <a:p>
            <a:r>
              <a:rPr lang="en-US" sz="2400" dirty="0"/>
              <a:t>Suppose we have to </a:t>
            </a:r>
            <a:r>
              <a:rPr lang="en-US" sz="2400" b="1" dirty="0"/>
              <a:t>find node 20 </a:t>
            </a:r>
            <a:r>
              <a:rPr lang="en-US" sz="2400" dirty="0"/>
              <a:t>from the below tree.</a:t>
            </a:r>
            <a:endParaRPr lang="en-US" dirty="0"/>
          </a:p>
        </p:txBody>
      </p:sp>
      <p:sp>
        <p:nvSpPr>
          <p:cNvPr id="13" name="TextBox 12">
            <a:extLst>
              <a:ext uri="{FF2B5EF4-FFF2-40B4-BE49-F238E27FC236}">
                <a16:creationId xmlns:a16="http://schemas.microsoft.com/office/drawing/2014/main" id="{8BE78013-EBBE-48F4-B89B-EB9D78C7F55B}"/>
              </a:ext>
            </a:extLst>
          </p:cNvPr>
          <p:cNvSpPr txBox="1"/>
          <p:nvPr/>
        </p:nvSpPr>
        <p:spPr>
          <a:xfrm>
            <a:off x="1283090" y="2570976"/>
            <a:ext cx="6096000" cy="461665"/>
          </a:xfrm>
          <a:prstGeom prst="rect">
            <a:avLst/>
          </a:prstGeom>
          <a:noFill/>
        </p:spPr>
        <p:txBody>
          <a:bodyPr wrap="square">
            <a:spAutoFit/>
          </a:bodyPr>
          <a:lstStyle/>
          <a:p>
            <a:r>
              <a:rPr lang="en-US" sz="2400" b="1" dirty="0"/>
              <a:t>Step1:</a:t>
            </a:r>
          </a:p>
        </p:txBody>
      </p:sp>
      <p:pic>
        <p:nvPicPr>
          <p:cNvPr id="4" name="Picture 3">
            <a:extLst>
              <a:ext uri="{FF2B5EF4-FFF2-40B4-BE49-F238E27FC236}">
                <a16:creationId xmlns:a16="http://schemas.microsoft.com/office/drawing/2014/main" id="{227CCE2B-9C0B-47D3-B361-7E29A5A897BC}"/>
              </a:ext>
            </a:extLst>
          </p:cNvPr>
          <p:cNvPicPr>
            <a:picLocks noChangeAspect="1"/>
          </p:cNvPicPr>
          <p:nvPr/>
        </p:nvPicPr>
        <p:blipFill>
          <a:blip r:embed="rId3"/>
          <a:stretch>
            <a:fillRect/>
          </a:stretch>
        </p:blipFill>
        <p:spPr>
          <a:xfrm>
            <a:off x="1283090" y="3161106"/>
            <a:ext cx="4818093" cy="3187354"/>
          </a:xfrm>
          <a:prstGeom prst="rect">
            <a:avLst/>
          </a:prstGeom>
        </p:spPr>
      </p:pic>
      <p:sp>
        <p:nvSpPr>
          <p:cNvPr id="15" name="TextBox 14">
            <a:extLst>
              <a:ext uri="{FF2B5EF4-FFF2-40B4-BE49-F238E27FC236}">
                <a16:creationId xmlns:a16="http://schemas.microsoft.com/office/drawing/2014/main" id="{922BCFAD-9869-400F-82CA-E11C779BBFB9}"/>
              </a:ext>
            </a:extLst>
          </p:cNvPr>
          <p:cNvSpPr txBox="1"/>
          <p:nvPr/>
        </p:nvSpPr>
        <p:spPr>
          <a:xfrm>
            <a:off x="7183120" y="2605484"/>
            <a:ext cx="3429000" cy="461665"/>
          </a:xfrm>
          <a:prstGeom prst="rect">
            <a:avLst/>
          </a:prstGeom>
          <a:noFill/>
        </p:spPr>
        <p:txBody>
          <a:bodyPr wrap="square">
            <a:spAutoFit/>
          </a:bodyPr>
          <a:lstStyle/>
          <a:p>
            <a:r>
              <a:rPr lang="en-US" sz="2400" b="1" dirty="0"/>
              <a:t>Step2:</a:t>
            </a:r>
          </a:p>
        </p:txBody>
      </p:sp>
      <p:pic>
        <p:nvPicPr>
          <p:cNvPr id="6" name="Picture 5">
            <a:extLst>
              <a:ext uri="{FF2B5EF4-FFF2-40B4-BE49-F238E27FC236}">
                <a16:creationId xmlns:a16="http://schemas.microsoft.com/office/drawing/2014/main" id="{E198642A-6FD3-48FB-A294-794E4C115028}"/>
              </a:ext>
            </a:extLst>
          </p:cNvPr>
          <p:cNvPicPr>
            <a:picLocks noChangeAspect="1"/>
          </p:cNvPicPr>
          <p:nvPr/>
        </p:nvPicPr>
        <p:blipFill>
          <a:blip r:embed="rId4"/>
          <a:stretch>
            <a:fillRect/>
          </a:stretch>
        </p:blipFill>
        <p:spPr>
          <a:xfrm>
            <a:off x="7095571" y="3230122"/>
            <a:ext cx="4519842" cy="2990401"/>
          </a:xfrm>
          <a:prstGeom prst="rect">
            <a:avLst/>
          </a:prstGeom>
        </p:spPr>
      </p:pic>
    </p:spTree>
    <p:extLst>
      <p:ext uri="{BB962C8B-B14F-4D97-AF65-F5344CB8AC3E}">
        <p14:creationId xmlns:p14="http://schemas.microsoft.com/office/powerpoint/2010/main" val="3340540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Search in BST</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8BE78013-EBBE-48F4-B89B-EB9D78C7F55B}"/>
              </a:ext>
            </a:extLst>
          </p:cNvPr>
          <p:cNvSpPr txBox="1"/>
          <p:nvPr/>
        </p:nvSpPr>
        <p:spPr>
          <a:xfrm>
            <a:off x="1339334" y="2328689"/>
            <a:ext cx="6096000" cy="461665"/>
          </a:xfrm>
          <a:prstGeom prst="rect">
            <a:avLst/>
          </a:prstGeom>
          <a:noFill/>
        </p:spPr>
        <p:txBody>
          <a:bodyPr wrap="square">
            <a:spAutoFit/>
          </a:bodyPr>
          <a:lstStyle/>
          <a:p>
            <a:r>
              <a:rPr lang="en-US" sz="2400" b="1" dirty="0"/>
              <a:t>Step3:</a:t>
            </a:r>
          </a:p>
        </p:txBody>
      </p:sp>
      <p:pic>
        <p:nvPicPr>
          <p:cNvPr id="3" name="Picture 2">
            <a:extLst>
              <a:ext uri="{FF2B5EF4-FFF2-40B4-BE49-F238E27FC236}">
                <a16:creationId xmlns:a16="http://schemas.microsoft.com/office/drawing/2014/main" id="{A3813610-E68B-4468-8501-A96F1F5AA41E}"/>
              </a:ext>
            </a:extLst>
          </p:cNvPr>
          <p:cNvPicPr>
            <a:picLocks noChangeAspect="1"/>
          </p:cNvPicPr>
          <p:nvPr/>
        </p:nvPicPr>
        <p:blipFill>
          <a:blip r:embed="rId3"/>
          <a:stretch>
            <a:fillRect/>
          </a:stretch>
        </p:blipFill>
        <p:spPr>
          <a:xfrm>
            <a:off x="2981136" y="2177170"/>
            <a:ext cx="5904986" cy="3948732"/>
          </a:xfrm>
          <a:prstGeom prst="rect">
            <a:avLst/>
          </a:prstGeom>
        </p:spPr>
      </p:pic>
    </p:spTree>
    <p:extLst>
      <p:ext uri="{BB962C8B-B14F-4D97-AF65-F5344CB8AC3E}">
        <p14:creationId xmlns:p14="http://schemas.microsoft.com/office/powerpoint/2010/main" val="3516744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Content Placeholder 6">
            <a:extLst>
              <a:ext uri="{FF2B5EF4-FFF2-40B4-BE49-F238E27FC236}">
                <a16:creationId xmlns:a16="http://schemas.microsoft.com/office/drawing/2014/main" id="{125F3B1E-2804-1CB7-A46D-7F49FDA3A65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85975" y="1836384"/>
            <a:ext cx="8081010" cy="4524376"/>
          </a:xfrm>
        </p:spPr>
      </p:pic>
      <p:sp>
        <p:nvSpPr>
          <p:cNvPr id="3" name="Title 2">
            <a:extLst>
              <a:ext uri="{FF2B5EF4-FFF2-40B4-BE49-F238E27FC236}">
                <a16:creationId xmlns:a16="http://schemas.microsoft.com/office/drawing/2014/main" id="{0F1C8EB5-CA6B-3055-6448-3E484BA20BA1}"/>
              </a:ext>
            </a:extLst>
          </p:cNvPr>
          <p:cNvSpPr>
            <a:spLocks noGrp="1"/>
          </p:cNvSpPr>
          <p:nvPr>
            <p:ph type="title"/>
          </p:nvPr>
        </p:nvSpPr>
        <p:spPr/>
        <p:txBody>
          <a:bodyPr/>
          <a:lstStyle/>
          <a:p>
            <a:pPr>
              <a:defRPr/>
            </a:pPr>
            <a:r>
              <a:rPr lang="en-US" dirty="0"/>
              <a:t>Task (Searching)</a:t>
            </a:r>
          </a:p>
        </p:txBody>
      </p:sp>
      <p:sp>
        <p:nvSpPr>
          <p:cNvPr id="77828" name="Slide Number Placeholder 5">
            <a:extLst>
              <a:ext uri="{FF2B5EF4-FFF2-40B4-BE49-F238E27FC236}">
                <a16:creationId xmlns:a16="http://schemas.microsoft.com/office/drawing/2014/main" id="{0A6F1FF9-327F-49BA-2121-D69B9B7935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80">
                <a:solidFill>
                  <a:schemeClr val="tx1"/>
                </a:solidFill>
                <a:latin typeface="Times New Roman" panose="02020603050405020304" pitchFamily="18" charset="0"/>
              </a:defRPr>
            </a:lvl1pPr>
            <a:lvl2pPr marL="891540" indent="-342900">
              <a:defRPr sz="2880">
                <a:solidFill>
                  <a:schemeClr val="tx1"/>
                </a:solidFill>
                <a:latin typeface="Times New Roman" panose="02020603050405020304" pitchFamily="18" charset="0"/>
              </a:defRPr>
            </a:lvl2pPr>
            <a:lvl3pPr marL="1371600" indent="-274320">
              <a:defRPr sz="2880">
                <a:solidFill>
                  <a:schemeClr val="tx1"/>
                </a:solidFill>
                <a:latin typeface="Times New Roman" panose="02020603050405020304" pitchFamily="18" charset="0"/>
              </a:defRPr>
            </a:lvl3pPr>
            <a:lvl4pPr marL="1920240" indent="-274320">
              <a:defRPr sz="2880">
                <a:solidFill>
                  <a:schemeClr val="tx1"/>
                </a:solidFill>
                <a:latin typeface="Times New Roman" panose="02020603050405020304" pitchFamily="18" charset="0"/>
              </a:defRPr>
            </a:lvl4pPr>
            <a:lvl5pPr marL="2468880" indent="-274320">
              <a:defRPr sz="2880">
                <a:solidFill>
                  <a:schemeClr val="tx1"/>
                </a:solidFill>
                <a:latin typeface="Times New Roman" panose="02020603050405020304" pitchFamily="18" charset="0"/>
              </a:defRPr>
            </a:lvl5pPr>
            <a:lvl6pPr marL="3017520" indent="-274320" eaLnBrk="0" fontAlgn="base" hangingPunct="0">
              <a:spcBef>
                <a:spcPct val="0"/>
              </a:spcBef>
              <a:spcAft>
                <a:spcPct val="0"/>
              </a:spcAft>
              <a:defRPr sz="2880">
                <a:solidFill>
                  <a:schemeClr val="tx1"/>
                </a:solidFill>
                <a:latin typeface="Times New Roman" panose="02020603050405020304" pitchFamily="18" charset="0"/>
              </a:defRPr>
            </a:lvl6pPr>
            <a:lvl7pPr marL="3566160" indent="-274320" eaLnBrk="0" fontAlgn="base" hangingPunct="0">
              <a:spcBef>
                <a:spcPct val="0"/>
              </a:spcBef>
              <a:spcAft>
                <a:spcPct val="0"/>
              </a:spcAft>
              <a:defRPr sz="2880">
                <a:solidFill>
                  <a:schemeClr val="tx1"/>
                </a:solidFill>
                <a:latin typeface="Times New Roman" panose="02020603050405020304" pitchFamily="18" charset="0"/>
              </a:defRPr>
            </a:lvl7pPr>
            <a:lvl8pPr marL="4114800" indent="-274320" eaLnBrk="0" fontAlgn="base" hangingPunct="0">
              <a:spcBef>
                <a:spcPct val="0"/>
              </a:spcBef>
              <a:spcAft>
                <a:spcPct val="0"/>
              </a:spcAft>
              <a:defRPr sz="2880">
                <a:solidFill>
                  <a:schemeClr val="tx1"/>
                </a:solidFill>
                <a:latin typeface="Times New Roman" panose="02020603050405020304" pitchFamily="18" charset="0"/>
              </a:defRPr>
            </a:lvl8pPr>
            <a:lvl9pPr marL="4663440" indent="-274320" eaLnBrk="0" fontAlgn="base" hangingPunct="0">
              <a:spcBef>
                <a:spcPct val="0"/>
              </a:spcBef>
              <a:spcAft>
                <a:spcPct val="0"/>
              </a:spcAft>
              <a:defRPr sz="2880">
                <a:solidFill>
                  <a:schemeClr val="tx1"/>
                </a:solidFill>
                <a:latin typeface="Times New Roman" panose="02020603050405020304" pitchFamily="18" charset="0"/>
              </a:defRPr>
            </a:lvl9pPr>
          </a:lstStyle>
          <a:p>
            <a:fld id="{73E015B9-0F3A-44A7-850B-0A60E0A136CC}" type="slidenum">
              <a:rPr lang="en-US" altLang="en-US" sz="1200"/>
              <a:pPr/>
              <a:t>20</a:t>
            </a:fld>
            <a:endParaRPr lang="en-US" altLang="en-US" sz="1200"/>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735</TotalTime>
  <Words>1099</Words>
  <Application>Microsoft Office PowerPoint</Application>
  <PresentationFormat>Widescreen</PresentationFormat>
  <Paragraphs>132</Paragraphs>
  <Slides>20</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ＭＳ Ｐゴシック</vt:lpstr>
      <vt:lpstr>Arial</vt:lpstr>
      <vt:lpstr>Calibri</vt:lpstr>
      <vt:lpstr>Calibri Light</vt:lpstr>
      <vt:lpstr>charter</vt:lpstr>
      <vt:lpstr>inter-regular</vt:lpstr>
      <vt:lpstr>Wingdings</vt:lpstr>
      <vt:lpstr>Retrospect</vt:lpstr>
      <vt:lpstr>Data Structure and Algorithm</vt:lpstr>
      <vt:lpstr>Binary Search Tree (BST)</vt:lpstr>
      <vt:lpstr>Preparing a  Tree from an infix arithmetic expression</vt:lpstr>
      <vt:lpstr>PowerPoint Presentation</vt:lpstr>
      <vt:lpstr>Expression Trees</vt:lpstr>
      <vt:lpstr>Practice Questions</vt:lpstr>
      <vt:lpstr>Binary Search Tree (BST)</vt:lpstr>
      <vt:lpstr>Binary Search Tree (BST)</vt:lpstr>
      <vt:lpstr>Advantages of BST</vt:lpstr>
      <vt:lpstr>Basic Operations on BST</vt:lpstr>
      <vt:lpstr>Creation of BST</vt:lpstr>
      <vt:lpstr>Steps to Create BST</vt:lpstr>
      <vt:lpstr>Steps to Create BST</vt:lpstr>
      <vt:lpstr>Steps to Create BST</vt:lpstr>
      <vt:lpstr>Steps to Create BST</vt:lpstr>
      <vt:lpstr>Steps to Create BST</vt:lpstr>
      <vt:lpstr>Search in BST</vt:lpstr>
      <vt:lpstr>Search in BST</vt:lpstr>
      <vt:lpstr>Search in BST</vt:lpstr>
      <vt:lpstr>Task (Searching)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Habiba Arshad</cp:lastModifiedBy>
  <cp:revision>62</cp:revision>
  <dcterms:created xsi:type="dcterms:W3CDTF">2022-11-28T04:11:00Z</dcterms:created>
  <dcterms:modified xsi:type="dcterms:W3CDTF">2024-12-23T10:45:44Z</dcterms:modified>
</cp:coreProperties>
</file>