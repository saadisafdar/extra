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7" r:id="rId2"/>
    <p:sldId id="558" r:id="rId3"/>
    <p:sldId id="272" r:id="rId4"/>
    <p:sldId id="546" r:id="rId5"/>
    <p:sldId id="547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7" r:id="rId20"/>
    <p:sldId id="386" r:id="rId21"/>
    <p:sldId id="290" r:id="rId22"/>
    <p:sldId id="291" r:id="rId23"/>
    <p:sldId id="548" r:id="rId24"/>
    <p:sldId id="294" r:id="rId25"/>
    <p:sldId id="559" r:id="rId26"/>
    <p:sldId id="379" r:id="rId27"/>
    <p:sldId id="383" r:id="rId28"/>
    <p:sldId id="549" r:id="rId29"/>
    <p:sldId id="550" r:id="rId30"/>
    <p:sldId id="551" r:id="rId31"/>
    <p:sldId id="552" r:id="rId32"/>
    <p:sldId id="553" r:id="rId33"/>
    <p:sldId id="554" r:id="rId34"/>
    <p:sldId id="555" r:id="rId35"/>
    <p:sldId id="556" r:id="rId36"/>
    <p:sldId id="557" r:id="rId37"/>
    <p:sldId id="541" r:id="rId38"/>
    <p:sldId id="357" r:id="rId39"/>
    <p:sldId id="358" r:id="rId40"/>
    <p:sldId id="359" r:id="rId41"/>
    <p:sldId id="542" r:id="rId42"/>
    <p:sldId id="543" r:id="rId43"/>
    <p:sldId id="362" r:id="rId44"/>
    <p:sldId id="363" r:id="rId45"/>
    <p:sldId id="364" r:id="rId46"/>
    <p:sldId id="365" r:id="rId47"/>
    <p:sldId id="366" r:id="rId48"/>
    <p:sldId id="367" r:id="rId49"/>
    <p:sldId id="368" r:id="rId50"/>
    <p:sldId id="369" r:id="rId51"/>
    <p:sldId id="544" r:id="rId52"/>
    <p:sldId id="545" r:id="rId53"/>
    <p:sldId id="515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980" autoAdjust="0"/>
  </p:normalViewPr>
  <p:slideViewPr>
    <p:cSldViewPr snapToGrid="0">
      <p:cViewPr varScale="1">
        <p:scale>
          <a:sx n="75" d="100"/>
          <a:sy n="75" d="100"/>
        </p:scale>
        <p:origin x="9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9DD95-B072-47B1-9365-D8D2A417E8D0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21F61-C48F-40DA-8F31-49E36B7CB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9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1935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8591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7342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029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58623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6927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689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2399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0812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4466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2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68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931E94BA-EE0E-6110-8AEB-FA85551EA2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9FCDACDB-255B-834D-3F47-45803DE22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‘U’ contains the list of vertices that have been visited.</a:t>
            </a:r>
          </a:p>
          <a:p>
            <a:r>
              <a:rPr lang="en-US" altLang="en-US"/>
              <a:t>‘V-U’ the list of vertices that haven't been visited yet.</a:t>
            </a: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133B8E3C-880B-1EDC-8372-0A82D3EAE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15142A5-DFCF-4F60-9D05-89B7A360B07E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129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:notes"/>
          <p:cNvSpPr txBox="1">
            <a:spLocks noGrp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prstGeom prst="rect">
            <a:avLst/>
          </a:prstGeom>
        </p:spPr>
        <p:txBody>
          <a:bodyPr spcFirstLastPara="1" wrap="square" lIns="96650" tIns="48325" rIns="96650" bIns="48325" anchor="ctr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680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91A03E6C-E17C-365E-792F-3D0BFC5589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C7EF6730-6C28-8954-36AF-F120F8762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Given a set of objects:</a:t>
            </a:r>
          </a:p>
          <a:p>
            <a:r>
              <a:rPr lang="en-US" altLang="en-US"/>
              <a:t>Union: connect two objects. </a:t>
            </a:r>
          </a:p>
          <a:p>
            <a:r>
              <a:rPr lang="en-US" altLang="en-US"/>
              <a:t>Find: is there a path connecting the two objects?</a:t>
            </a: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59E6E8E7-05B5-C630-9AB0-5F5C3FC49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95E47D-3F75-4BA9-BBE5-0F3A39CF3A9D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8" name="Google Shape;146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2" name="Google Shape;150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1" name="Google Shape;151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4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Notes Placeholder">
            <a:extLst>
              <a:ext uri="{FF2B5EF4-FFF2-40B4-BE49-F238E27FC236}">
                <a16:creationId xmlns:a16="http://schemas.microsoft.com/office/drawing/2014/main" id="{C03447EA-C790-F31C-3E36-D7291A52C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Notes Placeholder">
            <a:extLst>
              <a:ext uri="{FF2B5EF4-FFF2-40B4-BE49-F238E27FC236}">
                <a16:creationId xmlns:a16="http://schemas.microsoft.com/office/drawing/2014/main" id="{134F3F3B-AE86-EF46-1302-5B3C942A2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Notes Placeholder">
            <a:extLst>
              <a:ext uri="{FF2B5EF4-FFF2-40B4-BE49-F238E27FC236}">
                <a16:creationId xmlns:a16="http://schemas.microsoft.com/office/drawing/2014/main" id="{85A17CB3-E2ED-F786-983C-270932EBD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Notes Placeholder">
            <a:extLst>
              <a:ext uri="{FF2B5EF4-FFF2-40B4-BE49-F238E27FC236}">
                <a16:creationId xmlns:a16="http://schemas.microsoft.com/office/drawing/2014/main" id="{5EFC6535-5787-693E-3B55-47A7DE84D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Notes Placeholder">
            <a:extLst>
              <a:ext uri="{FF2B5EF4-FFF2-40B4-BE49-F238E27FC236}">
                <a16:creationId xmlns:a16="http://schemas.microsoft.com/office/drawing/2014/main" id="{D91587AA-2C85-543F-9FD9-303BB1C2A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Notes Placeholder">
            <a:extLst>
              <a:ext uri="{FF2B5EF4-FFF2-40B4-BE49-F238E27FC236}">
                <a16:creationId xmlns:a16="http://schemas.microsoft.com/office/drawing/2014/main" id="{99DDBDD6-1B15-D03B-96FB-3F2B700AA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Notes Placeholder">
            <a:extLst>
              <a:ext uri="{FF2B5EF4-FFF2-40B4-BE49-F238E27FC236}">
                <a16:creationId xmlns:a16="http://schemas.microsoft.com/office/drawing/2014/main" id="{17176F6A-A45F-72A0-F468-951B6B929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Notes Placeholder">
            <a:extLst>
              <a:ext uri="{FF2B5EF4-FFF2-40B4-BE49-F238E27FC236}">
                <a16:creationId xmlns:a16="http://schemas.microsoft.com/office/drawing/2014/main" id="{B0AE487B-447B-577F-31D9-69F9A36C3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Notes Placeholder">
            <a:extLst>
              <a:ext uri="{FF2B5EF4-FFF2-40B4-BE49-F238E27FC236}">
                <a16:creationId xmlns:a16="http://schemas.microsoft.com/office/drawing/2014/main" id="{E5A24167-C1B8-B0AD-42EF-4BE221657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Notes Placeholder">
            <a:extLst>
              <a:ext uri="{FF2B5EF4-FFF2-40B4-BE49-F238E27FC236}">
                <a16:creationId xmlns:a16="http://schemas.microsoft.com/office/drawing/2014/main" id="{024038DE-D4A1-5B7C-7A1E-A2ECCB7EC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Notes Placeholder">
            <a:extLst>
              <a:ext uri="{FF2B5EF4-FFF2-40B4-BE49-F238E27FC236}">
                <a16:creationId xmlns:a16="http://schemas.microsoft.com/office/drawing/2014/main" id="{033357E6-9C09-4FE1-5F7C-90AFF8548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Notes Placeholder">
            <a:extLst>
              <a:ext uri="{FF2B5EF4-FFF2-40B4-BE49-F238E27FC236}">
                <a16:creationId xmlns:a16="http://schemas.microsoft.com/office/drawing/2014/main" id="{C64A30F1-6F92-91C0-D51F-6025C528A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Notes Placeholder">
            <a:extLst>
              <a:ext uri="{FF2B5EF4-FFF2-40B4-BE49-F238E27FC236}">
                <a16:creationId xmlns:a16="http://schemas.microsoft.com/office/drawing/2014/main" id="{E3DF83FB-D525-6DEF-0AA6-4BF301F84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464194113" y="-2147483648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79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2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52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7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87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11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Graphs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1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8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313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07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Graphs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8A3F96C-C079-429F-AA93-E16773E7EF3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3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5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5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77D9-232E-57A6-651D-F401E149D3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Data Structures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885BB-5F97-FC6A-EC08-9141FF4B6C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Course code: cs-201</a:t>
            </a:r>
          </a:p>
          <a:p>
            <a:r>
              <a:rPr lang="en-US" dirty="0"/>
              <a:t>Topic: Minimum spanning tree</a:t>
            </a:r>
          </a:p>
          <a:p>
            <a:r>
              <a:rPr lang="en-US" dirty="0"/>
              <a:t>Instructor: </a:t>
            </a:r>
            <a:r>
              <a:rPr lang="en-US" dirty="0" err="1"/>
              <a:t>habiba</a:t>
            </a:r>
            <a:r>
              <a:rPr lang="en-US" dirty="0"/>
              <a:t> </a:t>
            </a:r>
            <a:r>
              <a:rPr lang="en-US" dirty="0" err="1"/>
              <a:t>arshad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4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7EBDA-38E1-7ABE-FF38-8589B8776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9011-B370-03EF-9F53-538A32F34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 spanning tree</a:t>
            </a:r>
          </a:p>
          <a:p>
            <a:r>
              <a:rPr lang="en-US" dirty="0"/>
              <a:t>Prim’s Algorithm</a:t>
            </a:r>
          </a:p>
          <a:p>
            <a:r>
              <a:rPr lang="en-US" dirty="0"/>
              <a:t>Kruskal Algorithm</a:t>
            </a:r>
          </a:p>
        </p:txBody>
      </p:sp>
    </p:spTree>
    <p:extLst>
      <p:ext uri="{BB962C8B-B14F-4D97-AF65-F5344CB8AC3E}">
        <p14:creationId xmlns:p14="http://schemas.microsoft.com/office/powerpoint/2010/main" val="491500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>
            <a:spLocks noGrp="1"/>
          </p:cNvSpPr>
          <p:nvPr>
            <p:ph type="title"/>
          </p:nvPr>
        </p:nvSpPr>
        <p:spPr>
          <a:xfrm>
            <a:off x="1566558" y="426356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/>
              <a:t>Minimum Spanning Tree</a:t>
            </a:r>
            <a:endParaRPr dirty="0"/>
          </a:p>
        </p:txBody>
      </p:sp>
      <p:sp>
        <p:nvSpPr>
          <p:cNvPr id="287" name="Google Shape;287;p34"/>
          <p:cNvSpPr txBox="1">
            <a:spLocks noGrp="1"/>
          </p:cNvSpPr>
          <p:nvPr>
            <p:ph type="body" idx="1"/>
          </p:nvPr>
        </p:nvSpPr>
        <p:spPr>
          <a:xfrm>
            <a:off x="1638300" y="1540188"/>
            <a:ext cx="8915400" cy="425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lang="en-US"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What is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spanning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tree?</a:t>
            </a:r>
            <a:endParaRPr dirty="0"/>
          </a:p>
          <a:p>
            <a:pPr marL="342900" lvl="0" indent="-342900" algn="just" rtl="0">
              <a:spcBef>
                <a:spcPts val="1000"/>
              </a:spcBef>
              <a:spcAft>
                <a:spcPts val="0"/>
              </a:spcAft>
              <a:buSzPts val="2800"/>
              <a:buChar char="🠶"/>
            </a:pP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edges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that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all nodes of graph and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form a cycle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What is Minimal 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spanning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 tree?</a:t>
            </a:r>
            <a:endParaRPr dirty="0"/>
          </a:p>
          <a:p>
            <a:pPr marL="342900" lvl="0" indent="-342900" algn="just" rtl="0">
              <a:spcBef>
                <a:spcPts val="1000"/>
              </a:spcBef>
              <a:spcAft>
                <a:spcPts val="0"/>
              </a:spcAft>
              <a:buSzPts val="2800"/>
              <a:buChar char="🠶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subset of edges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that connects all vertices in the graph and has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total weight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57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r>
              <a:rPr lang="en-US"/>
              <a:t>What is MST </a:t>
            </a:r>
            <a:endParaRPr/>
          </a:p>
        </p:txBody>
      </p:sp>
      <p:sp>
        <p:nvSpPr>
          <p:cNvPr id="1447" name="Google Shape;1447;p57"/>
          <p:cNvSpPr txBox="1">
            <a:spLocks noGrp="1"/>
          </p:cNvSpPr>
          <p:nvPr>
            <p:ph type="body" idx="1"/>
          </p:nvPr>
        </p:nvSpPr>
        <p:spPr>
          <a:xfrm>
            <a:off x="1660850" y="1905000"/>
            <a:ext cx="8397552" cy="40062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342900" algn="just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n-US" dirty="0"/>
              <a:t> </a:t>
            </a:r>
            <a:r>
              <a:rPr lang="en-US" sz="2800" dirty="0"/>
              <a:t>A </a:t>
            </a:r>
            <a:r>
              <a:rPr lang="en-US" sz="2800" dirty="0">
                <a:solidFill>
                  <a:srgbClr val="FF0000"/>
                </a:solidFill>
              </a:rPr>
              <a:t>spanning tree </a:t>
            </a:r>
            <a:r>
              <a:rPr lang="en-US" sz="2800" dirty="0"/>
              <a:t>of a </a:t>
            </a:r>
            <a:r>
              <a:rPr lang="en-US" sz="2800" dirty="0">
                <a:solidFill>
                  <a:srgbClr val="FF0000"/>
                </a:solidFill>
              </a:rPr>
              <a:t>graph G </a:t>
            </a:r>
            <a:r>
              <a:rPr lang="en-US" sz="2800" dirty="0"/>
              <a:t>is a </a:t>
            </a:r>
            <a:r>
              <a:rPr lang="en-US" sz="2800" dirty="0">
                <a:solidFill>
                  <a:srgbClr val="FF0000"/>
                </a:solidFill>
              </a:rPr>
              <a:t>subgraph</a:t>
            </a:r>
            <a:r>
              <a:rPr lang="en-US" sz="2800" dirty="0"/>
              <a:t> T that is connected and acyclic.</a:t>
            </a:r>
            <a:endParaRPr sz="2800" dirty="0"/>
          </a:p>
          <a:p>
            <a:pPr marL="342900" indent="-342900" algn="just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US" sz="2800" dirty="0"/>
              <a:t>There are </a:t>
            </a:r>
            <a:r>
              <a:rPr lang="en-US" sz="2800" dirty="0">
                <a:solidFill>
                  <a:srgbClr val="FF0000"/>
                </a:solidFill>
              </a:rPr>
              <a:t>n nodes </a:t>
            </a:r>
            <a:r>
              <a:rPr lang="en-US" sz="2800" dirty="0"/>
              <a:t>in a graph and spanning tree consist </a:t>
            </a:r>
            <a:r>
              <a:rPr lang="en-US" sz="2800" dirty="0">
                <a:solidFill>
                  <a:srgbClr val="FF0000"/>
                </a:solidFill>
              </a:rPr>
              <a:t>of n-1 edges </a:t>
            </a:r>
            <a:r>
              <a:rPr lang="en-US" sz="2800" dirty="0"/>
              <a:t>such that no cycles are formed.</a:t>
            </a:r>
            <a:endParaRPr sz="2800" dirty="0"/>
          </a:p>
        </p:txBody>
      </p:sp>
      <p:sp>
        <p:nvSpPr>
          <p:cNvPr id="1448" name="Google Shape;1448;p57"/>
          <p:cNvSpPr txBox="1">
            <a:spLocks noGrp="1"/>
          </p:cNvSpPr>
          <p:nvPr>
            <p:ph type="dt" idx="10"/>
          </p:nvPr>
        </p:nvSpPr>
        <p:spPr>
          <a:xfrm>
            <a:off x="9296400" y="6135090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r"/>
            <a:r>
              <a:rPr lang="en-US"/>
              <a:t>1/24/2022</a:t>
            </a:r>
            <a:endParaRPr/>
          </a:p>
        </p:txBody>
      </p:sp>
      <p:sp>
        <p:nvSpPr>
          <p:cNvPr id="1449" name="Google Shape;1449;p57"/>
          <p:cNvSpPr txBox="1">
            <a:spLocks noGrp="1"/>
          </p:cNvSpPr>
          <p:nvPr>
            <p:ph type="sldNum" idx="12"/>
          </p:nvPr>
        </p:nvSpPr>
        <p:spPr>
          <a:xfrm>
            <a:off x="2035228" y="78778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903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58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r>
              <a:rPr lang="en-US"/>
              <a:t>Cycle Property</a:t>
            </a:r>
            <a:endParaRPr/>
          </a:p>
        </p:txBody>
      </p:sp>
      <p:sp>
        <p:nvSpPr>
          <p:cNvPr id="1456" name="Google Shape;1456;p58"/>
          <p:cNvSpPr txBox="1">
            <a:spLocks noGrp="1"/>
          </p:cNvSpPr>
          <p:nvPr>
            <p:ph type="dt" idx="10"/>
          </p:nvPr>
        </p:nvSpPr>
        <p:spPr>
          <a:xfrm>
            <a:off x="9296400" y="6135090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r"/>
            <a:r>
              <a:rPr lang="en-US"/>
              <a:t>1/24/2022</a:t>
            </a:r>
            <a:endParaRPr/>
          </a:p>
        </p:txBody>
      </p:sp>
      <p:sp>
        <p:nvSpPr>
          <p:cNvPr id="1457" name="Google Shape;1457;p58"/>
          <p:cNvSpPr txBox="1">
            <a:spLocks noGrp="1"/>
          </p:cNvSpPr>
          <p:nvPr>
            <p:ph type="sldNum" idx="12"/>
          </p:nvPr>
        </p:nvSpPr>
        <p:spPr>
          <a:xfrm>
            <a:off x="2035228" y="78778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5</a:t>
            </a:fld>
            <a:endParaRPr/>
          </a:p>
        </p:txBody>
      </p:sp>
      <p:pic>
        <p:nvPicPr>
          <p:cNvPr id="1458" name="Google Shape;1458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8008" y="2174033"/>
            <a:ext cx="7419392" cy="39610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3599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Graph</a:t>
            </a:r>
            <a:endParaRPr/>
          </a:p>
        </p:txBody>
      </p:sp>
      <p:sp>
        <p:nvSpPr>
          <p:cNvPr id="293" name="Google Shape;293;p35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94" name="Google Shape;294;p35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95" name="Google Shape;295;p35" descr="MST Grap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-29308"/>
            <a:ext cx="10896600" cy="6862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>
            <a:spLocks noGrp="1"/>
          </p:cNvSpPr>
          <p:nvPr>
            <p:ph type="title"/>
          </p:nvPr>
        </p:nvSpPr>
        <p:spPr>
          <a:xfrm>
            <a:off x="1140643" y="757236"/>
            <a:ext cx="8911687" cy="824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dirty="0"/>
              <a:t>Steps for Prim’s Algorithm</a:t>
            </a:r>
            <a:endParaRPr dirty="0"/>
          </a:p>
        </p:txBody>
      </p:sp>
      <p:sp>
        <p:nvSpPr>
          <p:cNvPr id="301" name="Google Shape;301;p36"/>
          <p:cNvSpPr txBox="1">
            <a:spLocks noGrp="1"/>
          </p:cNvSpPr>
          <p:nvPr>
            <p:ph type="body" idx="1"/>
          </p:nvPr>
        </p:nvSpPr>
        <p:spPr>
          <a:xfrm>
            <a:off x="888850" y="1887407"/>
            <a:ext cx="10414299" cy="405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Remove all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 and parallel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edges from the given graph. 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In case of parallel edges,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the one which has the least cost associated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and remove all others.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cs typeface="Times New Roman"/>
                <a:sym typeface="Times New Roman"/>
              </a:rPr>
              <a:t>Choose any arbitrary vertex as root node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cs typeface="Times New Roman"/>
                <a:sym typeface="Times New Roman"/>
              </a:rPr>
              <a:t>Check out all the outgoing edges from the vertex (keep check the previous vertex) and select the one having minimum edge.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cs typeface="Times New Roman"/>
                <a:sym typeface="Times New Roman"/>
              </a:rPr>
              <a:t>Should not contain cycle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cs typeface="Times New Roman"/>
                <a:sym typeface="Times New Roman"/>
              </a:rPr>
              <a:t>Keep checking the previous vertex also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dirty="0"/>
          </a:p>
        </p:txBody>
      </p:sp>
      <p:sp>
        <p:nvSpPr>
          <p:cNvPr id="302" name="Google Shape;302;p36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 txBox="1">
            <a:spLocks noGrp="1"/>
          </p:cNvSpPr>
          <p:nvPr>
            <p:ph type="title"/>
          </p:nvPr>
        </p:nvSpPr>
        <p:spPr>
          <a:xfrm>
            <a:off x="2024063" y="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lang="en-US" dirty="0"/>
              <a:t>Prim’s Algorithm </a:t>
            </a:r>
            <a:br>
              <a:rPr lang="en-US" dirty="0"/>
            </a:br>
            <a:r>
              <a:rPr lang="en-US" dirty="0"/>
              <a:t>Step 1 - Remove all loops and parallel edges</a:t>
            </a:r>
            <a:endParaRPr dirty="0"/>
          </a:p>
        </p:txBody>
      </p:sp>
      <p:sp>
        <p:nvSpPr>
          <p:cNvPr id="308" name="Google Shape;308;p37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09" name="Google Shape;309;p37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310" name="Google Shape;310;p37" descr="MST Graph with loo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7064" y="3643313"/>
            <a:ext cx="4929187" cy="3052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7" descr="MST Graph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4251" y="1143000"/>
            <a:ext cx="414337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7467600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lang="en-US" sz="3100"/>
              <a:t>Step 2 - Choose any arbitrary node as root node</a:t>
            </a:r>
            <a:br>
              <a:rPr lang="en-US"/>
            </a:br>
            <a:endParaRPr/>
          </a:p>
        </p:txBody>
      </p:sp>
      <p:sp>
        <p:nvSpPr>
          <p:cNvPr id="317" name="Google Shape;317;p38"/>
          <p:cNvSpPr txBox="1">
            <a:spLocks noGrp="1"/>
          </p:cNvSpPr>
          <p:nvPr>
            <p:ph type="body" idx="1"/>
          </p:nvPr>
        </p:nvSpPr>
        <p:spPr>
          <a:xfrm>
            <a:off x="961053" y="1940767"/>
            <a:ext cx="10543559" cy="3970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n-US" dirty="0"/>
              <a:t>Choose </a:t>
            </a:r>
            <a:r>
              <a:rPr lang="en-US" b="1" dirty="0"/>
              <a:t>S</a:t>
            </a:r>
            <a:r>
              <a:rPr lang="en-US" dirty="0"/>
              <a:t> node as the root node of </a:t>
            </a:r>
            <a:r>
              <a:rPr lang="en-US" dirty="0">
                <a:solidFill>
                  <a:srgbClr val="FF0000"/>
                </a:solidFill>
              </a:rPr>
              <a:t>Prim's spanning tree</a:t>
            </a:r>
            <a:r>
              <a:rPr lang="en-US" dirty="0"/>
              <a:t>. This node </a:t>
            </a:r>
            <a:r>
              <a:rPr lang="en-US" dirty="0">
                <a:solidFill>
                  <a:srgbClr val="FF0000"/>
                </a:solidFill>
              </a:rPr>
              <a:t>is arbitrarily chosen</a:t>
            </a:r>
            <a:r>
              <a:rPr lang="en-US" dirty="0"/>
              <a:t>, so any node can be the </a:t>
            </a:r>
            <a:r>
              <a:rPr lang="en-US" dirty="0">
                <a:solidFill>
                  <a:srgbClr val="FF0000"/>
                </a:solidFill>
              </a:rPr>
              <a:t>root node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18" name="Google Shape;318;p38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319" name="Google Shape;319;p38" descr="MST Graph with loo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2449" y="2684106"/>
            <a:ext cx="6127102" cy="35642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>
            <a:spLocks noGrp="1"/>
          </p:cNvSpPr>
          <p:nvPr>
            <p:ph type="title"/>
          </p:nvPr>
        </p:nvSpPr>
        <p:spPr>
          <a:xfrm>
            <a:off x="2024063" y="500063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lang="en-US" sz="2800"/>
              <a:t>Step 3 - Check outgoing edges and select the one with less cost</a:t>
            </a:r>
            <a:br>
              <a:rPr lang="en-US" sz="2800"/>
            </a:br>
            <a:endParaRPr sz="2800"/>
          </a:p>
        </p:txBody>
      </p:sp>
      <p:sp>
        <p:nvSpPr>
          <p:cNvPr id="325" name="Google Shape;325;p39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326" name="Google Shape;326;p39" descr="MST Graph Step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8376" y="1500188"/>
            <a:ext cx="7362825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9"/>
          <p:cNvSpPr/>
          <p:nvPr/>
        </p:nvSpPr>
        <p:spPr>
          <a:xfrm>
            <a:off x="1952626" y="5286375"/>
            <a:ext cx="7929563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800" b="1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S-7-A</a:t>
            </a:r>
            <a:r>
              <a:rPr lang="en-US" sz="2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treated as </a:t>
            </a:r>
            <a:r>
              <a:rPr lang="en-US" sz="2800" b="1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node </a:t>
            </a:r>
            <a:r>
              <a:rPr lang="en-US" sz="2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we check for </a:t>
            </a:r>
            <a:r>
              <a:rPr lang="en-US" sz="2800" b="1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all edges going out from it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S-7-A-3-C tree is formed</a:t>
            </a:r>
            <a:endParaRPr/>
          </a:p>
        </p:txBody>
      </p:sp>
      <p:sp>
        <p:nvSpPr>
          <p:cNvPr id="333" name="Google Shape;333;p40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34" name="Google Shape;334;p40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335" name="Google Shape;335;p40" descr="MST Graph Step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5500" y="1928813"/>
            <a:ext cx="7823200" cy="364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4506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S-7-A-3-C-3-D </a:t>
            </a:r>
            <a:endParaRPr/>
          </a:p>
        </p:txBody>
      </p:sp>
      <p:sp>
        <p:nvSpPr>
          <p:cNvPr id="341" name="Google Shape;341;p41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42" name="Google Shape;342;p41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343" name="Google Shape;343;p41" descr="MST Graph Step 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1189" y="2214564"/>
            <a:ext cx="8283575" cy="3857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6786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FINAL SPANING TREE</a:t>
            </a:r>
            <a:endParaRPr/>
          </a:p>
        </p:txBody>
      </p:sp>
      <p:sp>
        <p:nvSpPr>
          <p:cNvPr id="349" name="Google Shape;349;p42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50" name="Google Shape;350;p42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351" name="Google Shape;351;p42" descr="MST Prim's Algorith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5500" y="1928813"/>
            <a:ext cx="7823200" cy="3643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8304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PRIMS EXERCISE</a:t>
            </a:r>
            <a:endParaRPr/>
          </a:p>
        </p:txBody>
      </p:sp>
      <p:sp>
        <p:nvSpPr>
          <p:cNvPr id="357" name="Google Shape;357;p43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58" name="Google Shape;358;p43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359" name="Google Shape;359;p43" descr="prim's algorithm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43" descr="prim's algorithm"/>
          <p:cNvSpPr/>
          <p:nvPr/>
        </p:nvSpPr>
        <p:spPr>
          <a:xfrm>
            <a:off x="1587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1" name="Google Shape;361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3563" y="1720850"/>
            <a:ext cx="5238750" cy="37861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0286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4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endParaRPr/>
          </a:p>
        </p:txBody>
      </p:sp>
      <p:sp>
        <p:nvSpPr>
          <p:cNvPr id="367" name="Google Shape;367;p44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68" name="Google Shape;36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2939" y="3971926"/>
            <a:ext cx="328612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1" y="642938"/>
            <a:ext cx="4214813" cy="3046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735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5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endParaRPr/>
          </a:p>
        </p:txBody>
      </p:sp>
      <p:sp>
        <p:nvSpPr>
          <p:cNvPr id="375" name="Google Shape;375;p45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76" name="Google Shape;376;p45" descr="prim's algorithm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77" name="Google Shape;37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7250" y="4000501"/>
            <a:ext cx="28575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24251" y="1071563"/>
            <a:ext cx="4214813" cy="30464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2975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endParaRPr/>
          </a:p>
        </p:txBody>
      </p:sp>
      <p:sp>
        <p:nvSpPr>
          <p:cNvPr id="384" name="Google Shape;384;p46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85" name="Google Shape;385;p46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86" name="Google Shape;38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4251" y="642938"/>
            <a:ext cx="4214813" cy="304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1" y="3714750"/>
            <a:ext cx="4214813" cy="2573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1443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endParaRPr/>
          </a:p>
        </p:txBody>
      </p:sp>
      <p:sp>
        <p:nvSpPr>
          <p:cNvPr id="393" name="Google Shape;393;p47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94" name="Google Shape;394;p47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95" name="Google Shape;39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4251" y="3929063"/>
            <a:ext cx="4424363" cy="250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1375" y="714376"/>
            <a:ext cx="4643438" cy="3355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8933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9"/>
          <p:cNvSpPr txBox="1">
            <a:spLocks noGrp="1"/>
          </p:cNvSpPr>
          <p:nvPr>
            <p:ph type="title"/>
          </p:nvPr>
        </p:nvSpPr>
        <p:spPr>
          <a:xfrm>
            <a:off x="1952625" y="28575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/>
              <a:t>Application of spanning tree		</a:t>
            </a:r>
            <a:endParaRPr/>
          </a:p>
        </p:txBody>
      </p:sp>
      <p:sp>
        <p:nvSpPr>
          <p:cNvPr id="410" name="Google Shape;410;p49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3600"/>
              <a:buChar char="🠶"/>
            </a:pPr>
            <a:r>
              <a:rPr lang="en-US" sz="3600"/>
              <a:t>Design Routing Protocol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3600"/>
              <a:buChar char="🠶"/>
            </a:pPr>
            <a:r>
              <a:rPr lang="en-US" sz="3600"/>
              <a:t>Road Construction </a:t>
            </a:r>
            <a:endParaRPr sz="3600"/>
          </a:p>
        </p:txBody>
      </p:sp>
      <p:sp>
        <p:nvSpPr>
          <p:cNvPr id="411" name="Google Shape;411;p49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3616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E3FCF9-4E53-4D9E-E08B-3B436157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err="1"/>
              <a:t>Pseudocode</a:t>
            </a:r>
            <a:r>
              <a:rPr lang="en-GB" dirty="0"/>
              <a:t>-Prim’s algorithm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88CAA-3B89-F986-F4F3-C8CB1BAD46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Lecture 11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53DFF-65DC-DEFA-8911-885EC6B4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DAA</a:t>
            </a:r>
          </a:p>
        </p:txBody>
      </p:sp>
      <p:sp>
        <p:nvSpPr>
          <p:cNvPr id="32773" name="Slide Number Placeholder 5">
            <a:extLst>
              <a:ext uri="{FF2B5EF4-FFF2-40B4-BE49-F238E27FC236}">
                <a16:creationId xmlns:a16="http://schemas.microsoft.com/office/drawing/2014/main" id="{0F4DBE54-D9CA-439B-F7B4-EB02ABE5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D1707C-A0B9-4643-8DFB-A716F61B1E6A}" type="slidenum">
              <a:rPr lang="en-US" altLang="en-US" sz="100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000">
              <a:latin typeface="Times New Roman" panose="02020603050405020304" pitchFamily="18" charset="0"/>
            </a:endParaRPr>
          </a:p>
        </p:txBody>
      </p:sp>
      <p:pic>
        <p:nvPicPr>
          <p:cNvPr id="32774" name="Picture 7">
            <a:extLst>
              <a:ext uri="{FF2B5EF4-FFF2-40B4-BE49-F238E27FC236}">
                <a16:creationId xmlns:a16="http://schemas.microsoft.com/office/drawing/2014/main" id="{B48C953A-C9E1-FEC3-7084-87C683B2A9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828800"/>
            <a:ext cx="8616950" cy="2743200"/>
          </a:xfr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2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lang="en-US" sz="3200"/>
              <a:t>Prims (mst) algorithm example </a:t>
            </a:r>
            <a:endParaRPr/>
          </a:p>
        </p:txBody>
      </p:sp>
      <p:sp>
        <p:nvSpPr>
          <p:cNvPr id="432" name="Google Shape;432;p52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33" name="Google Shape;433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8400" y="2209800"/>
            <a:ext cx="6453188" cy="3295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5435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3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Century Gothic"/>
              <a:buNone/>
            </a:pPr>
            <a:r>
              <a:rPr lang="en-US" sz="3200"/>
              <a:t>Prims (mst) algorithm example </a:t>
            </a:r>
            <a:endParaRPr/>
          </a:p>
        </p:txBody>
      </p:sp>
      <p:sp>
        <p:nvSpPr>
          <p:cNvPr id="439" name="Google Shape;439;p53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440" name="Google Shape;440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2201" y="2090739"/>
            <a:ext cx="6765925" cy="3705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2906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59"/>
          <p:cNvSpPr txBox="1">
            <a:spLocks noGrp="1"/>
          </p:cNvSpPr>
          <p:nvPr>
            <p:ph type="title"/>
          </p:nvPr>
        </p:nvSpPr>
        <p:spPr>
          <a:xfrm>
            <a:off x="3810000" y="2971800"/>
            <a:ext cx="5562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r>
              <a:rPr lang="en-US"/>
              <a:t>Kruskal's algorithm</a:t>
            </a:r>
            <a:endParaRPr/>
          </a:p>
        </p:txBody>
      </p:sp>
      <p:sp>
        <p:nvSpPr>
          <p:cNvPr id="1464" name="Google Shape;1464;p59"/>
          <p:cNvSpPr txBox="1">
            <a:spLocks noGrp="1"/>
          </p:cNvSpPr>
          <p:nvPr>
            <p:ph type="dt" idx="10"/>
          </p:nvPr>
        </p:nvSpPr>
        <p:spPr>
          <a:xfrm>
            <a:off x="9296400" y="6135090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r"/>
            <a:r>
              <a:rPr lang="en-US"/>
              <a:t>1/24/2022</a:t>
            </a:r>
            <a:endParaRPr/>
          </a:p>
        </p:txBody>
      </p:sp>
      <p:sp>
        <p:nvSpPr>
          <p:cNvPr id="1465" name="Google Shape;1465;p59"/>
          <p:cNvSpPr txBox="1">
            <a:spLocks noGrp="1"/>
          </p:cNvSpPr>
          <p:nvPr>
            <p:ph type="sldNum" idx="12"/>
          </p:nvPr>
        </p:nvSpPr>
        <p:spPr>
          <a:xfrm>
            <a:off x="2035228" y="787784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en-US"/>
              <a:pPr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56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r>
              <a:rPr lang="en-US"/>
              <a:t>Kruskal's algorithm</a:t>
            </a:r>
            <a:endParaRPr/>
          </a:p>
        </p:txBody>
      </p:sp>
      <p:sp>
        <p:nvSpPr>
          <p:cNvPr id="1440" name="Google Shape;1440;p56"/>
          <p:cNvSpPr txBox="1">
            <a:spLocks noGrp="1"/>
          </p:cNvSpPr>
          <p:nvPr>
            <p:ph type="body" idx="1"/>
          </p:nvPr>
        </p:nvSpPr>
        <p:spPr>
          <a:xfrm>
            <a:off x="1595536" y="1828800"/>
            <a:ext cx="8462866" cy="40824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342900" algn="just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n-US" sz="2400" dirty="0"/>
              <a:t>Treats the graph as a forest and every node it has as an individual tree.</a:t>
            </a:r>
            <a:endParaRPr sz="2400" dirty="0"/>
          </a:p>
          <a:p>
            <a:pPr marL="342900" indent="-342900" algn="just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n-US" sz="2400" dirty="0"/>
              <a:t> tree connects to another only and only if, it has the least cost among all available options and does not violate </a:t>
            </a:r>
            <a:r>
              <a:rPr lang="en-US" sz="2400" dirty="0">
                <a:solidFill>
                  <a:srgbClr val="FF0000"/>
                </a:solidFill>
              </a:rPr>
              <a:t>MST properties</a:t>
            </a:r>
            <a:r>
              <a:rPr lang="en-US" sz="2400" dirty="0"/>
              <a:t>.</a:t>
            </a:r>
            <a:endParaRPr sz="2400" dirty="0"/>
          </a:p>
          <a:p>
            <a:pPr marL="342900" indent="-342900" algn="just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441" name="Google Shape;1441;p56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4816-D1DF-7EF9-3559-78AD7044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</a:t>
            </a:r>
            <a:r>
              <a:rPr lang="en-US"/>
              <a:t>Kruskal’s Algorithm</a:t>
            </a:r>
          </a:p>
        </p:txBody>
      </p:sp>
      <p:sp>
        <p:nvSpPr>
          <p:cNvPr id="4" name="Google Shape;301;p36">
            <a:extLst>
              <a:ext uri="{FF2B5EF4-FFF2-40B4-BE49-F238E27FC236}">
                <a16:creationId xmlns:a16="http://schemas.microsoft.com/office/drawing/2014/main" id="{0F9F59E8-9910-2B79-6D05-434C4A7C3CBB}"/>
              </a:ext>
            </a:extLst>
          </p:cNvPr>
          <p:cNvSpPr txBox="1">
            <a:spLocks/>
          </p:cNvSpPr>
          <p:nvPr/>
        </p:nvSpPr>
        <p:spPr>
          <a:xfrm>
            <a:off x="1011218" y="1881736"/>
            <a:ext cx="10414299" cy="40549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Remove all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 and parallel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edges from the given graph.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In case of parallel edges, </a:t>
            </a:r>
            <a:r>
              <a:rPr lang="en-US" sz="2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the one which has the least cost associated </a:t>
            </a:r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and remove all others.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cs typeface="Times New Roman"/>
                <a:sym typeface="Times New Roman"/>
              </a:rPr>
              <a:t>Arrange all vertex according to edge weights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/>
                <a:cs typeface="Times New Roman"/>
                <a:sym typeface="Times New Roman"/>
              </a:rPr>
              <a:t>When connecting the two vertices keep check that it should not contain any cycle.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58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254E77-9621-030E-D4DD-B516AFCC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err="1"/>
              <a:t>Kruskal’s</a:t>
            </a:r>
            <a:r>
              <a:rPr lang="en-GB" dirty="0"/>
              <a:t> algorithm</a:t>
            </a:r>
            <a:endParaRPr lang="en-US" dirty="0"/>
          </a:p>
        </p:txBody>
      </p:sp>
      <p:pic>
        <p:nvPicPr>
          <p:cNvPr id="24582" name="Picture 2">
            <a:extLst>
              <a:ext uri="{FF2B5EF4-FFF2-40B4-BE49-F238E27FC236}">
                <a16:creationId xmlns:a16="http://schemas.microsoft.com/office/drawing/2014/main" id="{2A96093D-1227-F4B9-E88F-373204B8A0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5390" y="1987477"/>
            <a:ext cx="9563184" cy="4047563"/>
          </a:xfr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87F75B-3376-BB9F-A6C6-EB634F30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dirty="0" err="1"/>
              <a:t>Pseudocode-Kruskal’s</a:t>
            </a:r>
            <a:r>
              <a:rPr lang="en-GB" dirty="0"/>
              <a:t> algorithm</a:t>
            </a:r>
            <a:endParaRPr lang="en-US" dirty="0"/>
          </a:p>
        </p:txBody>
      </p:sp>
      <p:pic>
        <p:nvPicPr>
          <p:cNvPr id="28678" name="Picture 2">
            <a:extLst>
              <a:ext uri="{FF2B5EF4-FFF2-40B4-BE49-F238E27FC236}">
                <a16:creationId xmlns:a16="http://schemas.microsoft.com/office/drawing/2014/main" id="{B43AE789-DC7F-7499-B21C-D62B238945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5830" y="1904104"/>
            <a:ext cx="8981340" cy="3711388"/>
          </a:xfr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60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endParaRPr/>
          </a:p>
        </p:txBody>
      </p:sp>
      <p:sp>
        <p:nvSpPr>
          <p:cNvPr id="1471" name="Google Shape;1471;p60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72" name="Google Shape;1472;p60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28</a:t>
            </a:fld>
            <a:endParaRPr/>
          </a:p>
        </p:txBody>
      </p:sp>
      <p:pic>
        <p:nvPicPr>
          <p:cNvPr id="1473" name="Google Shape;1473;p60" descr="MST Grap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4126" y="1143001"/>
            <a:ext cx="7000875" cy="47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61"/>
          <p:cNvSpPr txBox="1">
            <a:spLocks noGrp="1"/>
          </p:cNvSpPr>
          <p:nvPr>
            <p:ph type="title"/>
          </p:nvPr>
        </p:nvSpPr>
        <p:spPr>
          <a:xfrm>
            <a:off x="2024063" y="571500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0000"/>
          </a:bodyPr>
          <a:lstStyle/>
          <a:p>
            <a:pPr algn="ctr">
              <a:spcBef>
                <a:spcPts val="0"/>
              </a:spcBef>
              <a:buClr>
                <a:srgbClr val="262626"/>
              </a:buClr>
              <a:buSzPct val="100000"/>
            </a:pPr>
            <a:br>
              <a:rPr lang="en-US"/>
            </a:br>
            <a:br>
              <a:rPr lang="en-US"/>
            </a:br>
            <a:r>
              <a:rPr lang="en-US"/>
              <a:t>Step 1 - Remove all loops and Parallel Edges</a:t>
            </a:r>
            <a:br>
              <a:rPr lang="en-US"/>
            </a:br>
            <a:endParaRPr/>
          </a:p>
        </p:txBody>
      </p:sp>
      <p:sp>
        <p:nvSpPr>
          <p:cNvPr id="1479" name="Google Shape;1479;p61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80" name="Google Shape;1480;p61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29</a:t>
            </a:fld>
            <a:endParaRPr/>
          </a:p>
        </p:txBody>
      </p:sp>
      <p:pic>
        <p:nvPicPr>
          <p:cNvPr id="1481" name="Google Shape;1481;p61" descr="MST Graph with loo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4126" y="1785938"/>
            <a:ext cx="6715125" cy="45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62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endParaRPr/>
          </a:p>
        </p:txBody>
      </p:sp>
      <p:sp>
        <p:nvSpPr>
          <p:cNvPr id="1487" name="Google Shape;1487;p62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88" name="Google Shape;1488;p62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30</a:t>
            </a:fld>
            <a:endParaRPr/>
          </a:p>
        </p:txBody>
      </p:sp>
      <p:pic>
        <p:nvPicPr>
          <p:cNvPr id="1489" name="Google Shape;1489;p62" descr="MST Graph without loo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9814" y="3286126"/>
            <a:ext cx="7056437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62" descr="MST Graph with loop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8439" y="1"/>
            <a:ext cx="6715125" cy="357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63"/>
          <p:cNvSpPr txBox="1">
            <a:spLocks noGrp="1"/>
          </p:cNvSpPr>
          <p:nvPr>
            <p:ph type="title"/>
          </p:nvPr>
        </p:nvSpPr>
        <p:spPr>
          <a:xfrm>
            <a:off x="1383684" y="315859"/>
            <a:ext cx="9237307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0000"/>
          </a:bodyPr>
          <a:lstStyle/>
          <a:p>
            <a:pPr algn="ctr">
              <a:spcBef>
                <a:spcPts val="0"/>
              </a:spcBef>
              <a:buClr>
                <a:srgbClr val="262626"/>
              </a:buClr>
              <a:buSzPct val="100000"/>
            </a:pPr>
            <a:r>
              <a:rPr lang="en-US" dirty="0"/>
              <a:t>Step 2 - Arrange all edges in their increasing order of weight</a:t>
            </a:r>
            <a:br>
              <a:rPr lang="en-US" dirty="0"/>
            </a:br>
            <a:endParaRPr dirty="0"/>
          </a:p>
        </p:txBody>
      </p:sp>
      <p:sp>
        <p:nvSpPr>
          <p:cNvPr id="1496" name="Google Shape;1496;p63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97" name="Google Shape;1497;p63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31</a:t>
            </a:fld>
            <a:endParaRPr/>
          </a:p>
        </p:txBody>
      </p:sp>
      <p:pic>
        <p:nvPicPr>
          <p:cNvPr id="1498" name="Google Shape;1498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1251" y="4857750"/>
            <a:ext cx="7242175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9" name="Google Shape;1499;p63" descr="MST Graph without loop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0801" y="1447801"/>
            <a:ext cx="7056437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64"/>
          <p:cNvSpPr txBox="1">
            <a:spLocks noGrp="1"/>
          </p:cNvSpPr>
          <p:nvPr>
            <p:ph type="title"/>
          </p:nvPr>
        </p:nvSpPr>
        <p:spPr>
          <a:xfrm>
            <a:off x="690465" y="306333"/>
            <a:ext cx="9367936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0000"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ct val="100000"/>
            </a:pPr>
            <a:r>
              <a:rPr lang="en-US" dirty="0"/>
              <a:t>Step 3 - Add the edge which has the least weight </a:t>
            </a:r>
            <a:br>
              <a:rPr lang="en-US" dirty="0"/>
            </a:br>
            <a:endParaRPr dirty="0"/>
          </a:p>
        </p:txBody>
      </p:sp>
      <p:sp>
        <p:nvSpPr>
          <p:cNvPr id="1505" name="Google Shape;1505;p64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06" name="Google Shape;1506;p64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32</a:t>
            </a:fld>
            <a:endParaRPr/>
          </a:p>
        </p:txBody>
      </p:sp>
      <p:pic>
        <p:nvPicPr>
          <p:cNvPr id="1507" name="Google Shape;1507;p64" descr="MST Graph step o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38376" y="2428875"/>
            <a:ext cx="7362825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8" name="Google Shape;1508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3201" y="1219200"/>
            <a:ext cx="72421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65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endParaRPr/>
          </a:p>
        </p:txBody>
      </p:sp>
      <p:sp>
        <p:nvSpPr>
          <p:cNvPr id="1514" name="Google Shape;1514;p65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15" name="Google Shape;1515;p65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33</a:t>
            </a:fld>
            <a:endParaRPr/>
          </a:p>
        </p:txBody>
      </p:sp>
      <p:pic>
        <p:nvPicPr>
          <p:cNvPr id="1516" name="Google Shape;1516;p65" descr="MST Graph step tw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8314" y="1643064"/>
            <a:ext cx="8334375" cy="388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6939" y="285750"/>
            <a:ext cx="72421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66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endParaRPr/>
          </a:p>
        </p:txBody>
      </p:sp>
      <p:sp>
        <p:nvSpPr>
          <p:cNvPr id="1523" name="Google Shape;1523;p66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24" name="Google Shape;1524;p66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34</a:t>
            </a:fld>
            <a:endParaRPr/>
          </a:p>
        </p:txBody>
      </p:sp>
      <p:pic>
        <p:nvPicPr>
          <p:cNvPr id="1525" name="Google Shape;1525;p66" descr="MST Graph step th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313" y="1857375"/>
            <a:ext cx="5643562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p66" descr="MST Graph step fou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7063" y="4681538"/>
            <a:ext cx="5143500" cy="217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6939" y="285750"/>
            <a:ext cx="72421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66"/>
          <p:cNvSpPr/>
          <p:nvPr/>
        </p:nvSpPr>
        <p:spPr>
          <a:xfrm>
            <a:off x="6096001" y="428626"/>
            <a:ext cx="714375" cy="1071563"/>
          </a:xfrm>
          <a:prstGeom prst="rect">
            <a:avLst/>
          </a:prstGeom>
          <a:solidFill>
            <a:srgbClr val="FF3300">
              <a:alpha val="16862"/>
            </a:srgbClr>
          </a:solidFill>
          <a:ln w="15875" cap="rnd" cmpd="sng">
            <a:solidFill>
              <a:srgbClr val="7823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29" name="Google Shape;1529;p66"/>
          <p:cNvSpPr/>
          <p:nvPr/>
        </p:nvSpPr>
        <p:spPr>
          <a:xfrm>
            <a:off x="5881688" y="4714876"/>
            <a:ext cx="2571750" cy="2143125"/>
          </a:xfrm>
          <a:prstGeom prst="ellipse">
            <a:avLst/>
          </a:prstGeom>
          <a:solidFill>
            <a:srgbClr val="FE8637">
              <a:alpha val="40784"/>
            </a:srgbClr>
          </a:solidFill>
          <a:ln w="15875" cap="rnd" cmpd="sng">
            <a:solidFill>
              <a:srgbClr val="7823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67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endParaRPr/>
          </a:p>
        </p:txBody>
      </p:sp>
      <p:sp>
        <p:nvSpPr>
          <p:cNvPr id="1535" name="Google Shape;1535;p67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36" name="Google Shape;1536;p67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35</a:t>
            </a:fld>
            <a:endParaRPr/>
          </a:p>
        </p:txBody>
      </p:sp>
      <p:pic>
        <p:nvPicPr>
          <p:cNvPr id="1537" name="Google Shape;1537;p67" descr="MST Graph step fou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314" y="1500188"/>
            <a:ext cx="5572125" cy="2595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p67" descr="MST Graph step fiv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9876" y="4130676"/>
            <a:ext cx="5857875" cy="27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66939" y="285750"/>
            <a:ext cx="72421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67"/>
          <p:cNvSpPr/>
          <p:nvPr/>
        </p:nvSpPr>
        <p:spPr>
          <a:xfrm>
            <a:off x="6953251" y="500063"/>
            <a:ext cx="714375" cy="1071562"/>
          </a:xfrm>
          <a:prstGeom prst="rect">
            <a:avLst/>
          </a:prstGeom>
          <a:solidFill>
            <a:srgbClr val="FF3300">
              <a:alpha val="16862"/>
            </a:srgbClr>
          </a:solidFill>
          <a:ln w="15875" cap="rnd" cmpd="sng">
            <a:solidFill>
              <a:srgbClr val="7823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1" name="Google Shape;1541;p67"/>
          <p:cNvSpPr/>
          <p:nvPr/>
        </p:nvSpPr>
        <p:spPr>
          <a:xfrm>
            <a:off x="4238626" y="1357313"/>
            <a:ext cx="3000375" cy="2857500"/>
          </a:xfrm>
          <a:prstGeom prst="ellipse">
            <a:avLst/>
          </a:prstGeom>
          <a:solidFill>
            <a:srgbClr val="FE8637">
              <a:alpha val="40784"/>
            </a:srgbClr>
          </a:solidFill>
          <a:ln w="15875" cap="rnd" cmpd="sng">
            <a:solidFill>
              <a:srgbClr val="7823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68"/>
          <p:cNvSpPr txBox="1">
            <a:spLocks noGrp="1"/>
          </p:cNvSpPr>
          <p:nvPr>
            <p:ph type="title"/>
          </p:nvPr>
        </p:nvSpPr>
        <p:spPr>
          <a:xfrm>
            <a:off x="3469202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Clr>
                <a:srgbClr val="262626"/>
              </a:buClr>
              <a:buSzPts val="3600"/>
            </a:pPr>
            <a:endParaRPr/>
          </a:p>
        </p:txBody>
      </p:sp>
      <p:sp>
        <p:nvSpPr>
          <p:cNvPr id="1547" name="Google Shape;1547;p68"/>
          <p:cNvSpPr txBox="1">
            <a:spLocks noGrp="1"/>
          </p:cNvSpPr>
          <p:nvPr>
            <p:ph type="body" idx="1"/>
          </p:nvPr>
        </p:nvSpPr>
        <p:spPr>
          <a:xfrm>
            <a:off x="3466416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342900" indent="-22860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548" name="Google Shape;1548;p68"/>
          <p:cNvSpPr txBox="1">
            <a:spLocks noGrp="1"/>
          </p:cNvSpPr>
          <p:nvPr>
            <p:ph type="sldNum" idx="12"/>
          </p:nvPr>
        </p:nvSpPr>
        <p:spPr>
          <a:xfrm>
            <a:off x="5105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/>
            <a:fld id="{00000000-1234-1234-1234-123412341234}" type="slidenum">
              <a:rPr lang="en-US"/>
              <a:pPr algn="ctr"/>
              <a:t>36</a:t>
            </a:fld>
            <a:endParaRPr/>
          </a:p>
        </p:txBody>
      </p:sp>
      <p:pic>
        <p:nvPicPr>
          <p:cNvPr id="1549" name="Google Shape;1549;p68" descr="MST Kruskals Algorith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4126" y="4198776"/>
            <a:ext cx="6442075" cy="2677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68" descr="MST Graph step fiv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8438" y="1296955"/>
            <a:ext cx="6500812" cy="2516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6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09814" y="0"/>
            <a:ext cx="724217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4B46-CEE9-A557-8AAC-55764F11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13F46-C7DF-8298-7D61-087D61739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Dijkstra Algorithm is a graph algorithm for finding the shortest path from a source node to all other nodes in a graph(single source shortest path). </a:t>
            </a:r>
          </a:p>
          <a:p>
            <a:r>
              <a:rPr lang="en-US" sz="2400" dirty="0"/>
              <a:t>It is a type of greedy algorithm. </a:t>
            </a:r>
          </a:p>
          <a:p>
            <a:r>
              <a:rPr lang="en-US" sz="2400" dirty="0"/>
              <a:t>It only works on weighted graphs with positive weights.</a:t>
            </a:r>
          </a:p>
        </p:txBody>
      </p:sp>
    </p:spTree>
    <p:extLst>
      <p:ext uri="{BB962C8B-B14F-4D97-AF65-F5344CB8AC3E}">
        <p14:creationId xmlns:p14="http://schemas.microsoft.com/office/powerpoint/2010/main" val="721488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EAE72DA-FC60-47D0-537B-88413C66C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7975" y="516935"/>
            <a:ext cx="8229600" cy="1143000"/>
          </a:xfrm>
        </p:spPr>
        <p:txBody>
          <a:bodyPr>
            <a:normAutofit/>
          </a:bodyPr>
          <a:lstStyle/>
          <a:p>
            <a:pPr marL="2937002">
              <a:spcBef>
                <a:spcPts val="0"/>
              </a:spcBef>
              <a:defRPr/>
            </a:pPr>
            <a:r>
              <a:rPr sz="3200" spc="-94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3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3200" spc="22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3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3200" spc="9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3200" spc="4" dirty="0">
                <a:solidFill>
                  <a:srgbClr val="0000FF"/>
                </a:solidFill>
                <a:latin typeface="Arial"/>
                <a:cs typeface="Arial"/>
              </a:rPr>
              <a:t>al</a:t>
            </a:r>
            <a:r>
              <a:rPr sz="3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200" spc="171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3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3200" spc="-16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3200" spc="-22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3200" spc="9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3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3200" spc="18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3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3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3200" spc="9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1267" name="object 4">
            <a:extLst>
              <a:ext uri="{FF2B5EF4-FFF2-40B4-BE49-F238E27FC236}">
                <a16:creationId xmlns:a16="http://schemas.microsoft.com/office/drawing/2014/main" id="{B3A30A22-0C3D-E228-1604-4C7231816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228" y="2007638"/>
            <a:ext cx="10711543" cy="3761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27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11200" indent="-207963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Suppose we want to find a shortest path from a given node </a:t>
            </a:r>
            <a:r>
              <a:rPr lang="en-US" altLang="en-US" sz="2000" i="1" dirty="0">
                <a:latin typeface="Georgia" panose="02040502050405020303" pitchFamily="18" charset="0"/>
              </a:rPr>
              <a:t>s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to other nodes in a network (one-to-all shortest path problem)</a:t>
            </a:r>
          </a:p>
          <a:p>
            <a:pPr eaLnBrk="1" hangingPunct="1">
              <a:spcBef>
                <a:spcPts val="288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Dijkstra’s algorithm solves such a problem</a:t>
            </a:r>
          </a:p>
          <a:p>
            <a:pPr lvl="1" eaLnBrk="1" hangingPunct="1">
              <a:lnSpc>
                <a:spcPct val="111000"/>
              </a:lnSpc>
              <a:spcBef>
                <a:spcPts val="425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It finds the shortest path from a given node </a:t>
            </a:r>
            <a:r>
              <a:rPr lang="en-US" altLang="en-US" sz="2000" i="1" dirty="0">
                <a:latin typeface="Georgia" panose="02040502050405020303" pitchFamily="18" charset="0"/>
              </a:rPr>
              <a:t>s 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to all other nodes in the network</a:t>
            </a:r>
          </a:p>
          <a:p>
            <a:pPr lvl="1" eaLnBrk="1" hangingPunct="1">
              <a:spcBef>
                <a:spcPts val="600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Node </a:t>
            </a:r>
            <a:r>
              <a:rPr lang="en-US" altLang="en-US" sz="2000" i="1" dirty="0">
                <a:latin typeface="Georgia" panose="02040502050405020303" pitchFamily="18" charset="0"/>
              </a:rPr>
              <a:t>s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is called a starting node or an initial node</a:t>
            </a:r>
          </a:p>
          <a:p>
            <a:pPr eaLnBrk="1" hangingPunct="1">
              <a:spcBef>
                <a:spcPts val="1150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How is the algorithm achieving this?</a:t>
            </a:r>
          </a:p>
          <a:p>
            <a:pPr lvl="1" eaLnBrk="1" hangingPunct="1">
              <a:lnSpc>
                <a:spcPct val="111000"/>
              </a:lnSpc>
              <a:spcBef>
                <a:spcPts val="425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Dijkstra’s	algorithm	starts	by	assigning	some	initial	values	for	the distances from node </a:t>
            </a:r>
            <a:r>
              <a:rPr lang="en-US" altLang="en-US" sz="2000" i="1" dirty="0">
                <a:latin typeface="Georgia" panose="02040502050405020303" pitchFamily="18" charset="0"/>
              </a:rPr>
              <a:t>s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and to every other node in the network</a:t>
            </a:r>
          </a:p>
          <a:p>
            <a:pPr lvl="1" eaLnBrk="1" hangingPunct="1">
              <a:lnSpc>
                <a:spcPct val="111000"/>
              </a:lnSpc>
              <a:spcBef>
                <a:spcPts val="363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It operates in steps, where at each step the algorithm improves the distance values.</a:t>
            </a:r>
          </a:p>
          <a:p>
            <a:pPr lvl="1" eaLnBrk="1" hangingPunct="1">
              <a:lnSpc>
                <a:spcPct val="111000"/>
              </a:lnSpc>
              <a:spcBef>
                <a:spcPts val="363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At each step, the shortest distance from node </a:t>
            </a:r>
            <a:r>
              <a:rPr lang="en-US" altLang="en-US" sz="2000" i="1" dirty="0">
                <a:latin typeface="Georgia" panose="02040502050405020303" pitchFamily="18" charset="0"/>
              </a:rPr>
              <a:t>s  </a:t>
            </a:r>
            <a:r>
              <a:rPr lang="en-US" altLang="en-US" sz="2000" dirty="0">
                <a:latin typeface="Tahoma" panose="020B0604030504040204" pitchFamily="34" charset="0"/>
                <a:cs typeface="Tahoma" panose="020B0604030504040204" pitchFamily="34" charset="0"/>
              </a:rPr>
              <a:t>to another node is determined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624B2DD-08F3-2FA5-0DD0-CD367C9BB56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marL="2986579">
              <a:spcBef>
                <a:spcPts val="0"/>
              </a:spcBef>
              <a:defRPr/>
            </a:pPr>
            <a:r>
              <a:rPr sz="2200" spc="-54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2200" spc="-72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200" spc="90" dirty="0">
                <a:solidFill>
                  <a:srgbClr val="0000FF"/>
                </a:solidFill>
                <a:latin typeface="Arial"/>
                <a:cs typeface="Arial"/>
              </a:rPr>
              <a:t>rm</a:t>
            </a:r>
            <a:r>
              <a:rPr sz="2200" spc="4" dirty="0">
                <a:solidFill>
                  <a:srgbClr val="0000FF"/>
                </a:solidFill>
                <a:latin typeface="Arial"/>
                <a:cs typeface="Arial"/>
              </a:rPr>
              <a:t>al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171" dirty="0">
                <a:solidFill>
                  <a:srgbClr val="0000FF"/>
                </a:solidFill>
                <a:latin typeface="Arial"/>
                <a:cs typeface="Arial"/>
              </a:rPr>
              <a:t>D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-16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200" spc="-22" dirty="0">
                <a:solidFill>
                  <a:srgbClr val="0000FF"/>
                </a:solidFill>
                <a:latin typeface="Arial"/>
                <a:cs typeface="Arial"/>
              </a:rPr>
              <a:t>c</a:t>
            </a:r>
            <a:r>
              <a:rPr sz="2200" spc="90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9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539344C-3E6F-B433-E830-9E6543F80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 vert="horz" lIns="0" tIns="292537" rIns="0" bIns="45720" rtlCol="0">
            <a:normAutofit fontScale="92500"/>
          </a:bodyPr>
          <a:lstStyle/>
          <a:p>
            <a:pPr marL="461578">
              <a:lnSpc>
                <a:spcPct val="136000"/>
              </a:lnSpc>
              <a:spcBef>
                <a:spcPct val="0"/>
              </a:spcBef>
              <a:defRPr/>
            </a:pPr>
            <a:r>
              <a:rPr lang="en-US" altLang="en-US" sz="1800">
                <a:latin typeface="Tahoma" pitchFamily="34" charset="0"/>
                <a:cs typeface="Tahoma" pitchFamily="34" charset="0"/>
              </a:rPr>
              <a:t>The algorithm characterizes each node by its state The state of a node consists of two features:</a:t>
            </a:r>
          </a:p>
          <a:p>
            <a:pPr marL="461578">
              <a:spcBef>
                <a:spcPts val="236"/>
              </a:spcBef>
              <a:defRPr/>
            </a:pPr>
            <a:r>
              <a:rPr lang="en-US" altLang="en-US" sz="1800">
                <a:solidFill>
                  <a:srgbClr val="EC008C"/>
                </a:solidFill>
                <a:latin typeface="Arial" charset="0"/>
                <a:cs typeface="Arial" charset="0"/>
              </a:rPr>
              <a:t>distance value </a:t>
            </a:r>
            <a:r>
              <a:rPr lang="en-US" altLang="en-US" sz="1800">
                <a:latin typeface="Tahoma" pitchFamily="34" charset="0"/>
                <a:cs typeface="Tahoma" pitchFamily="34" charset="0"/>
              </a:rPr>
              <a:t>and </a:t>
            </a:r>
            <a:r>
              <a:rPr lang="en-US" altLang="en-US" sz="1800">
                <a:solidFill>
                  <a:srgbClr val="EC008C"/>
                </a:solidFill>
                <a:latin typeface="Arial" charset="0"/>
                <a:cs typeface="Arial" charset="0"/>
              </a:rPr>
              <a:t>status label</a:t>
            </a:r>
          </a:p>
          <a:p>
            <a:pPr marL="461578">
              <a:lnSpc>
                <a:spcPct val="111000"/>
              </a:lnSpc>
              <a:spcBef>
                <a:spcPts val="426"/>
              </a:spcBef>
              <a:buClr>
                <a:srgbClr val="FF0000"/>
              </a:buClr>
              <a:buSzPct val="95000"/>
              <a:buFont typeface="Lucida Sans Unicode" pitchFamily="34" charset="0"/>
              <a:buChar char="•"/>
              <a:defRPr/>
            </a:pPr>
            <a:r>
              <a:rPr lang="en-US" altLang="en-US" sz="1800">
                <a:latin typeface="Tahoma" pitchFamily="34" charset="0"/>
                <a:cs typeface="Tahoma" pitchFamily="34" charset="0"/>
              </a:rPr>
              <a:t>Distance value of a node is a scalar representing an estimate of the its distance from node </a:t>
            </a:r>
            <a:r>
              <a:rPr lang="en-US" altLang="en-US" sz="1700" i="1">
                <a:latin typeface="Georgia" pitchFamily="18" charset="0"/>
                <a:ea typeface="Georgia" pitchFamily="18" charset="0"/>
                <a:cs typeface="Georgia" pitchFamily="18" charset="0"/>
              </a:rPr>
              <a:t>s</a:t>
            </a:r>
            <a:r>
              <a:rPr lang="en-US" altLang="en-US" sz="1800">
                <a:latin typeface="Tahoma" pitchFamily="34" charset="0"/>
                <a:cs typeface="Tahoma" pitchFamily="34" charset="0"/>
              </a:rPr>
              <a:t>.</a:t>
            </a:r>
            <a:endParaRPr lang="en-US" altLang="en-US" sz="1700">
              <a:latin typeface="Georgia" pitchFamily="18" charset="0"/>
              <a:ea typeface="Georgia" pitchFamily="18" charset="0"/>
              <a:cs typeface="Georgia" pitchFamily="18" charset="0"/>
            </a:endParaRPr>
          </a:p>
          <a:p>
            <a:pPr marL="461578">
              <a:lnSpc>
                <a:spcPct val="111000"/>
              </a:lnSpc>
              <a:spcBef>
                <a:spcPts val="1548"/>
              </a:spcBef>
              <a:buClr>
                <a:srgbClr val="FF0000"/>
              </a:buClr>
              <a:buSzPct val="95000"/>
              <a:buFont typeface="Lucida Sans Unicode" pitchFamily="34" charset="0"/>
              <a:buChar char="•"/>
              <a:defRPr/>
            </a:pPr>
            <a:r>
              <a:rPr lang="en-US" altLang="en-US" sz="1800">
                <a:latin typeface="Tahoma" pitchFamily="34" charset="0"/>
                <a:cs typeface="Tahoma" pitchFamily="34" charset="0"/>
              </a:rPr>
              <a:t>Status label is an attribute specifying whether the distance value of a node is equal to the shortest distance to node </a:t>
            </a:r>
            <a:r>
              <a:rPr lang="en-US" altLang="en-US" sz="1700" i="1">
                <a:latin typeface="Georgia" pitchFamily="18" charset="0"/>
                <a:ea typeface="Georgia" pitchFamily="18" charset="0"/>
                <a:cs typeface="Georgia" pitchFamily="18" charset="0"/>
              </a:rPr>
              <a:t>s </a:t>
            </a:r>
            <a:r>
              <a:rPr lang="en-US" altLang="en-US" sz="1800">
                <a:latin typeface="Tahoma" pitchFamily="34" charset="0"/>
                <a:cs typeface="Tahoma" pitchFamily="34" charset="0"/>
              </a:rPr>
              <a:t>or not.</a:t>
            </a:r>
            <a:endParaRPr lang="en-US" altLang="en-US" sz="1700">
              <a:latin typeface="Georgia" pitchFamily="18" charset="0"/>
              <a:ea typeface="Georgia" pitchFamily="18" charset="0"/>
              <a:cs typeface="Georgia" pitchFamily="18" charset="0"/>
            </a:endParaRPr>
          </a:p>
          <a:p>
            <a:pPr marL="1088412" lvl="1" indent="-186626">
              <a:lnSpc>
                <a:spcPct val="111000"/>
              </a:lnSpc>
              <a:spcBef>
                <a:spcPts val="561"/>
              </a:spcBef>
              <a:buClr>
                <a:srgbClr val="EC008C"/>
              </a:buClr>
              <a:buSzPct val="95000"/>
              <a:buFont typeface="Lucida Sans Unicode" pitchFamily="34" charset="0"/>
              <a:buChar char="•"/>
              <a:defRPr/>
            </a:pPr>
            <a:r>
              <a:rPr lang="en-US" altLang="en-US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The status label of a node is </a:t>
            </a:r>
            <a:r>
              <a:rPr lang="en-US" altLang="en-US">
                <a:solidFill>
                  <a:srgbClr val="000000"/>
                </a:solidFill>
                <a:latin typeface="Arial" charset="0"/>
                <a:cs typeface="Arial" charset="0"/>
              </a:rPr>
              <a:t>Permanent </a:t>
            </a:r>
            <a:r>
              <a:rPr lang="en-US" altLang="en-US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if its distance value is equal to the shortest distance from node </a:t>
            </a:r>
            <a:r>
              <a:rPr lang="en-US" altLang="en-US" sz="1700" i="1">
                <a:solidFill>
                  <a:srgbClr val="000000"/>
                </a:solidFill>
                <a:latin typeface="Georgia" pitchFamily="18" charset="0"/>
                <a:ea typeface="Georgia" pitchFamily="18" charset="0"/>
                <a:cs typeface="Georgia" pitchFamily="18" charset="0"/>
              </a:rPr>
              <a:t>s</a:t>
            </a:r>
            <a:endParaRPr lang="en-US" altLang="en-US" sz="1700">
              <a:solidFill>
                <a:srgbClr val="000000"/>
              </a:solidFill>
              <a:latin typeface="Georgia" pitchFamily="18" charset="0"/>
              <a:ea typeface="Georgia" pitchFamily="18" charset="0"/>
              <a:cs typeface="Georgia" pitchFamily="18" charset="0"/>
            </a:endParaRPr>
          </a:p>
          <a:p>
            <a:pPr marL="1088412" lvl="1" indent="-186626">
              <a:spcBef>
                <a:spcPts val="628"/>
              </a:spcBef>
              <a:buClr>
                <a:srgbClr val="EC008C"/>
              </a:buClr>
              <a:buSzPct val="95000"/>
              <a:buFont typeface="Lucida Sans Unicode" pitchFamily="34" charset="0"/>
              <a:buChar char="•"/>
              <a:defRPr/>
            </a:pPr>
            <a:r>
              <a:rPr lang="en-US" altLang="en-US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Otherwise, the status label of a node is </a:t>
            </a:r>
            <a:r>
              <a:rPr lang="en-US" altLang="en-US">
                <a:solidFill>
                  <a:srgbClr val="000000"/>
                </a:solidFill>
                <a:latin typeface="Arial" charset="0"/>
                <a:cs typeface="Arial" charset="0"/>
              </a:rPr>
              <a:t>Temporary</a:t>
            </a:r>
          </a:p>
          <a:p>
            <a:pPr marL="461578">
              <a:lnSpc>
                <a:spcPts val="3006"/>
              </a:lnSpc>
              <a:spcBef>
                <a:spcPts val="101"/>
              </a:spcBef>
              <a:defRPr/>
            </a:pPr>
            <a:r>
              <a:rPr lang="en-US" altLang="en-US" sz="1800">
                <a:latin typeface="Tahoma" pitchFamily="34" charset="0"/>
                <a:cs typeface="Tahoma" pitchFamily="34" charset="0"/>
              </a:rPr>
              <a:t>The algorithm maintains and step-by-step updates the states of the nodes At each step one node is designated as </a:t>
            </a:r>
            <a:r>
              <a:rPr lang="en-US" altLang="en-US" sz="1800">
                <a:solidFill>
                  <a:srgbClr val="FF0000"/>
                </a:solidFill>
                <a:latin typeface="Arial" charset="0"/>
                <a:cs typeface="Arial" charset="0"/>
              </a:rPr>
              <a:t>current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95A20EF-9052-41AD-2969-FAFF1B815F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marL="3638486">
              <a:spcBef>
                <a:spcPts val="0"/>
              </a:spcBef>
              <a:defRPr/>
            </a:pPr>
            <a:r>
              <a:rPr sz="2200" spc="166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200" spc="135" dirty="0">
                <a:solidFill>
                  <a:srgbClr val="0000FF"/>
                </a:solidFill>
                <a:latin typeface="Arial"/>
                <a:cs typeface="Arial"/>
              </a:rPr>
              <a:t>ot</a:t>
            </a:r>
            <a:r>
              <a:rPr sz="2200" spc="144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spc="67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9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315" name="object 4">
            <a:extLst>
              <a:ext uri="{FF2B5EF4-FFF2-40B4-BE49-F238E27FC236}">
                <a16:creationId xmlns:a16="http://schemas.microsoft.com/office/drawing/2014/main" id="{E5E8407D-AB3E-0416-5C80-DAEEC13B7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0" tIns="326569" rIns="0" bIns="45720" rtlCol="0">
            <a:normAutofit/>
          </a:bodyPr>
          <a:lstStyle/>
          <a:p>
            <a:pPr marL="460375">
              <a:spcBef>
                <a:spcPct val="0"/>
              </a:spcBef>
            </a:pP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In what follows:</a:t>
            </a:r>
          </a:p>
          <a:p>
            <a:pPr marL="460375">
              <a:spcBef>
                <a:spcPts val="1475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r>
              <a:rPr lang="en-US" altLang="en-US" sz="1700" i="1">
                <a:latin typeface="Georgia" panose="02040502050405020303" pitchFamily="18" charset="0"/>
              </a:rPr>
              <a:t>d</a:t>
            </a:r>
            <a:r>
              <a:rPr lang="en-US" altLang="en-US" sz="1800" i="1" baseline="-10000">
                <a:latin typeface="Georgia" panose="02040502050405020303" pitchFamily="18" charset="0"/>
              </a:rPr>
              <a:t>ℓ 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denotes the distance value of a node </a:t>
            </a:r>
            <a:r>
              <a:rPr lang="en-US" altLang="en-US" sz="1700" i="1">
                <a:latin typeface="Georgia" panose="02040502050405020303" pitchFamily="18" charset="0"/>
              </a:rPr>
              <a:t>ℓ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altLang="en-US" sz="1800">
              <a:latin typeface="Georgia" panose="02040502050405020303" pitchFamily="18" charset="0"/>
            </a:endParaRPr>
          </a:p>
          <a:p>
            <a:pPr marL="460375">
              <a:spcBef>
                <a:spcPts val="50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>
              <a:lnSpc>
                <a:spcPct val="111000"/>
              </a:lnSpc>
              <a:spcBef>
                <a:spcPct val="0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r>
              <a:rPr lang="en-US" altLang="en-US" sz="1700" i="1">
                <a:latin typeface="Georgia" panose="02040502050405020303" pitchFamily="18" charset="0"/>
              </a:rPr>
              <a:t>p 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or </a:t>
            </a:r>
            <a:r>
              <a:rPr lang="en-US" altLang="en-US" sz="1700" i="1">
                <a:latin typeface="Georgia" panose="02040502050405020303" pitchFamily="18" charset="0"/>
              </a:rPr>
              <a:t>t 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denotes the status label of a node, where </a:t>
            </a:r>
            <a:r>
              <a:rPr lang="en-US" altLang="en-US" sz="1700" i="1">
                <a:latin typeface="Georgia" panose="02040502050405020303" pitchFamily="18" charset="0"/>
              </a:rPr>
              <a:t>p 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stand for permanent and </a:t>
            </a:r>
            <a:r>
              <a:rPr lang="en-US" altLang="en-US" sz="1700" i="1">
                <a:latin typeface="Georgia" panose="02040502050405020303" pitchFamily="18" charset="0"/>
              </a:rPr>
              <a:t>t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stands for temporary</a:t>
            </a:r>
            <a:endParaRPr lang="en-US" altLang="en-US" sz="1700">
              <a:latin typeface="Georgia" panose="02040502050405020303" pitchFamily="18" charset="0"/>
            </a:endParaRPr>
          </a:p>
          <a:p>
            <a:pPr marL="460375">
              <a:spcBef>
                <a:spcPct val="0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>
              <a:spcBef>
                <a:spcPts val="1050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r>
              <a:rPr lang="en-US" altLang="en-US" sz="1700" i="1">
                <a:latin typeface="Georgia" panose="02040502050405020303" pitchFamily="18" charset="0"/>
              </a:rPr>
              <a:t>c</a:t>
            </a:r>
            <a:r>
              <a:rPr lang="en-US" altLang="en-US" sz="1800" i="1" baseline="-10000">
                <a:latin typeface="Georgia" panose="02040502050405020303" pitchFamily="18" charset="0"/>
              </a:rPr>
              <a:t>ij  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is the cost of traversing link </a:t>
            </a:r>
            <a:r>
              <a:rPr lang="en-US" altLang="en-US" sz="1700"/>
              <a:t>(</a:t>
            </a:r>
            <a:r>
              <a:rPr lang="en-US" altLang="en-US" sz="1700" i="1">
                <a:latin typeface="Georgia" panose="02040502050405020303" pitchFamily="18" charset="0"/>
              </a:rPr>
              <a:t>i, j</a:t>
            </a:r>
            <a:r>
              <a:rPr lang="en-US" altLang="en-US" sz="1700"/>
              <a:t>)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as given by the problem</a:t>
            </a:r>
            <a:endParaRPr lang="en-US" altLang="en-US" sz="1800"/>
          </a:p>
          <a:p>
            <a:pPr marL="460375">
              <a:lnSpc>
                <a:spcPct val="111000"/>
              </a:lnSpc>
              <a:spcBef>
                <a:spcPts val="1238"/>
              </a:spcBef>
            </a:pP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The state of a node </a:t>
            </a:r>
            <a:r>
              <a:rPr lang="en-US" altLang="en-US" sz="1700" i="1">
                <a:latin typeface="Georgia" panose="02040502050405020303" pitchFamily="18" charset="0"/>
              </a:rPr>
              <a:t>ℓ 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is the ordered pair of its distance value </a:t>
            </a:r>
            <a:r>
              <a:rPr lang="en-US" altLang="en-US" sz="1700" i="1">
                <a:latin typeface="Georgia" panose="02040502050405020303" pitchFamily="18" charset="0"/>
              </a:rPr>
              <a:t>d</a:t>
            </a:r>
            <a:r>
              <a:rPr lang="en-US" altLang="en-US" sz="1800" i="1" baseline="-10000">
                <a:latin typeface="Georgia" panose="02040502050405020303" pitchFamily="18" charset="0"/>
              </a:rPr>
              <a:t>ℓ  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and its status label.</a:t>
            </a:r>
            <a:endParaRPr lang="en-US" altLang="en-US" sz="180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BD6CB39-94AE-E1F9-E8EC-642AADE80A8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marL="3165511">
              <a:spcBef>
                <a:spcPts val="0"/>
              </a:spcBef>
              <a:defRPr/>
            </a:pPr>
            <a:r>
              <a:rPr sz="2200" spc="153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2200" dirty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2200" spc="-72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200" spc="94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200" spc="9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2200" spc="206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-12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-16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339" name="object 4">
            <a:extLst>
              <a:ext uri="{FF2B5EF4-FFF2-40B4-BE49-F238E27FC236}">
                <a16:creationId xmlns:a16="http://schemas.microsoft.com/office/drawing/2014/main" id="{1359733D-2C63-4D0D-19F8-D25A37507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1037" y="2133413"/>
            <a:ext cx="8018462" cy="2987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Step 1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altLang="en-US" i="1" dirty="0">
                <a:latin typeface="Arial" panose="020B0604020202020204" pitchFamily="34" charset="0"/>
              </a:rPr>
              <a:t>Initialization</a:t>
            </a:r>
            <a:endParaRPr lang="en-US" altLang="en-US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11000"/>
              </a:lnSpc>
              <a:spcBef>
                <a:spcPts val="850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Assign the zero distance value to node </a:t>
            </a:r>
            <a:r>
              <a:rPr lang="en-US" altLang="en-US" sz="1700" i="1" dirty="0">
                <a:latin typeface="Georgia" panose="02040502050405020303" pitchFamily="18" charset="0"/>
              </a:rPr>
              <a:t>s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, and label it as </a:t>
            </a:r>
            <a:r>
              <a:rPr lang="en-US" altLang="en-US" dirty="0">
                <a:latin typeface="Arial" panose="020B0604020202020204" pitchFamily="34" charset="0"/>
              </a:rPr>
              <a:t>Permanent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. [The state of node </a:t>
            </a:r>
            <a:r>
              <a:rPr lang="en-US" altLang="en-US" sz="1700" i="1" dirty="0">
                <a:latin typeface="Georgia" panose="02040502050405020303" pitchFamily="18" charset="0"/>
              </a:rPr>
              <a:t>s 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is </a:t>
            </a:r>
            <a:r>
              <a:rPr lang="en-US" altLang="en-US" sz="1700" dirty="0">
                <a:latin typeface="Arial" panose="020B0604020202020204" pitchFamily="34" charset="0"/>
              </a:rPr>
              <a:t>(0</a:t>
            </a:r>
            <a:r>
              <a:rPr lang="en-US" altLang="en-US" sz="1700" i="1" dirty="0">
                <a:latin typeface="Georgia" panose="02040502050405020303" pitchFamily="18" charset="0"/>
              </a:rPr>
              <a:t>, p</a:t>
            </a:r>
            <a:r>
              <a:rPr lang="en-US" altLang="en-US" sz="1700" dirty="0">
                <a:latin typeface="Arial" panose="020B0604020202020204" pitchFamily="34" charset="0"/>
              </a:rPr>
              <a:t>)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.]</a:t>
            </a:r>
          </a:p>
          <a:p>
            <a:pPr eaLnBrk="1" hangingPunct="1">
              <a:spcBef>
                <a:spcPts val="688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Assign	to	every	node	a	distance	value	of	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∞	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and	label	them	as</a:t>
            </a:r>
          </a:p>
          <a:p>
            <a:pPr eaLnBrk="1" hangingPunct="1">
              <a:spcBef>
                <a:spcPts val="238"/>
              </a:spcBef>
            </a:pPr>
            <a:r>
              <a:rPr lang="en-US" altLang="en-US" dirty="0">
                <a:latin typeface="Arial" panose="020B0604020202020204" pitchFamily="34" charset="0"/>
              </a:rPr>
              <a:t>Temporary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. [The state of every other node is </a:t>
            </a:r>
            <a:r>
              <a:rPr lang="en-US" altLang="en-US" sz="1700" dirty="0">
                <a:latin typeface="Arial" panose="020B0604020202020204" pitchFamily="34" charset="0"/>
              </a:rPr>
              <a:t>(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∞</a:t>
            </a:r>
            <a:r>
              <a:rPr lang="en-US" altLang="en-US" sz="1700" i="1" dirty="0">
                <a:latin typeface="Georgia" panose="02040502050405020303" pitchFamily="18" charset="0"/>
              </a:rPr>
              <a:t>, t</a:t>
            </a:r>
            <a:r>
              <a:rPr lang="en-US" altLang="en-US" sz="1700" dirty="0">
                <a:latin typeface="Arial" panose="020B0604020202020204" pitchFamily="34" charset="0"/>
              </a:rPr>
              <a:t>)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.]</a:t>
            </a:r>
          </a:p>
          <a:p>
            <a:pPr eaLnBrk="1" hangingPunct="1">
              <a:spcBef>
                <a:spcPts val="688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Designate the node </a:t>
            </a:r>
            <a:r>
              <a:rPr lang="en-US" altLang="en-US" sz="1700" i="1" dirty="0">
                <a:latin typeface="Georgia" panose="02040502050405020303" pitchFamily="18" charset="0"/>
              </a:rPr>
              <a:t>s 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as the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current 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node</a:t>
            </a:r>
          </a:p>
        </p:txBody>
      </p:sp>
      <p:sp>
        <p:nvSpPr>
          <p:cNvPr id="14340" name="object 5">
            <a:extLst>
              <a:ext uri="{FF2B5EF4-FFF2-40B4-BE49-F238E27FC236}">
                <a16:creationId xmlns:a16="http://schemas.microsoft.com/office/drawing/2014/main" id="{C9471228-ACBE-3F30-C74A-3B91F247B479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51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8D1DFC-9E6F-A007-6719-2C6D52033A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4607" y="606767"/>
            <a:ext cx="10058400" cy="963698"/>
          </a:xfrm>
        </p:spPr>
        <p:txBody>
          <a:bodyPr/>
          <a:lstStyle/>
          <a:p>
            <a:pPr marL="11397">
              <a:spcBef>
                <a:spcPts val="0"/>
              </a:spcBef>
              <a:defRPr/>
            </a:pPr>
            <a:r>
              <a:rPr sz="2000" spc="-102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228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9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9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000" spc="1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3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r>
              <a:rPr sz="2000" spc="-45" dirty="0"/>
              <a:t>.</a:t>
            </a:r>
            <a:r>
              <a:rPr sz="2000" spc="-49" dirty="0"/>
              <a:t> </a:t>
            </a:r>
            <a:r>
              <a:rPr sz="2000" i="1" spc="112" dirty="0">
                <a:latin typeface="Arial"/>
                <a:cs typeface="Arial"/>
              </a:rPr>
              <a:t>Di</a:t>
            </a:r>
            <a:r>
              <a:rPr sz="2000" i="1" spc="-166" dirty="0">
                <a:latin typeface="Arial"/>
                <a:cs typeface="Arial"/>
              </a:rPr>
              <a:t>s</a:t>
            </a:r>
            <a:r>
              <a:rPr sz="2000" i="1" spc="94" dirty="0">
                <a:latin typeface="Arial"/>
                <a:cs typeface="Arial"/>
              </a:rPr>
              <a:t>t</a:t>
            </a:r>
            <a:r>
              <a:rPr sz="2000" i="1" spc="-90" dirty="0">
                <a:latin typeface="Arial"/>
                <a:cs typeface="Arial"/>
              </a:rPr>
              <a:t>a</a:t>
            </a:r>
            <a:r>
              <a:rPr sz="2000" i="1" spc="4" dirty="0">
                <a:latin typeface="Arial"/>
                <a:cs typeface="Arial"/>
              </a:rPr>
              <a:t>n</a:t>
            </a:r>
            <a:r>
              <a:rPr sz="2000" i="1" spc="-175" dirty="0">
                <a:latin typeface="Arial"/>
                <a:cs typeface="Arial"/>
              </a:rPr>
              <a:t>ce</a:t>
            </a:r>
            <a:r>
              <a:rPr sz="2000" i="1" spc="148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V</a:t>
            </a:r>
            <a:r>
              <a:rPr sz="2000" i="1" spc="-85" dirty="0">
                <a:latin typeface="Arial"/>
                <a:cs typeface="Arial"/>
              </a:rPr>
              <a:t>a</a:t>
            </a:r>
            <a:r>
              <a:rPr sz="2000" i="1" spc="58" dirty="0">
                <a:latin typeface="Arial"/>
                <a:cs typeface="Arial"/>
              </a:rPr>
              <a:t>l</a:t>
            </a:r>
            <a:r>
              <a:rPr sz="2000" i="1" spc="-31" dirty="0">
                <a:latin typeface="Arial"/>
                <a:cs typeface="Arial"/>
              </a:rPr>
              <a:t>u</a:t>
            </a:r>
            <a:r>
              <a:rPr sz="2000" i="1" spc="-175" dirty="0">
                <a:latin typeface="Arial"/>
                <a:cs typeface="Arial"/>
              </a:rPr>
              <a:t>e</a:t>
            </a:r>
            <a:r>
              <a:rPr sz="2000" i="1" spc="148" dirty="0">
                <a:latin typeface="Arial"/>
                <a:cs typeface="Arial"/>
              </a:rPr>
              <a:t> </a:t>
            </a:r>
            <a:r>
              <a:rPr sz="2000" i="1" spc="31" dirty="0">
                <a:latin typeface="Arial"/>
                <a:cs typeface="Arial"/>
              </a:rPr>
              <a:t>U</a:t>
            </a:r>
            <a:r>
              <a:rPr sz="2000" i="1" spc="-183" dirty="0">
                <a:latin typeface="Arial"/>
                <a:cs typeface="Arial"/>
              </a:rPr>
              <a:t>p</a:t>
            </a:r>
            <a:r>
              <a:rPr sz="2000" i="1" spc="-90" dirty="0">
                <a:latin typeface="Arial"/>
                <a:cs typeface="Arial"/>
              </a:rPr>
              <a:t>da</a:t>
            </a:r>
            <a:r>
              <a:rPr sz="2000" i="1" spc="94" dirty="0">
                <a:latin typeface="Arial"/>
                <a:cs typeface="Arial"/>
              </a:rPr>
              <a:t>t</a:t>
            </a:r>
            <a:r>
              <a:rPr sz="2000" i="1" spc="-175" dirty="0">
                <a:latin typeface="Arial"/>
                <a:cs typeface="Arial"/>
              </a:rPr>
              <a:t>e</a:t>
            </a:r>
            <a:r>
              <a:rPr sz="2000" i="1" spc="148" dirty="0">
                <a:latin typeface="Arial"/>
                <a:cs typeface="Arial"/>
              </a:rPr>
              <a:t> </a:t>
            </a:r>
            <a:r>
              <a:rPr sz="2000" i="1" spc="-90" dirty="0">
                <a:latin typeface="Arial"/>
                <a:cs typeface="Arial"/>
              </a:rPr>
              <a:t>a</a:t>
            </a:r>
            <a:r>
              <a:rPr sz="2000" i="1" spc="4" dirty="0">
                <a:latin typeface="Arial"/>
                <a:cs typeface="Arial"/>
              </a:rPr>
              <a:t>n</a:t>
            </a:r>
            <a:r>
              <a:rPr sz="2000" i="1" spc="-85" dirty="0">
                <a:latin typeface="Arial"/>
                <a:cs typeface="Arial"/>
              </a:rPr>
              <a:t>d</a:t>
            </a:r>
            <a:r>
              <a:rPr sz="2000" i="1" spc="148" dirty="0">
                <a:latin typeface="Arial"/>
                <a:cs typeface="Arial"/>
              </a:rPr>
              <a:t> </a:t>
            </a:r>
            <a:r>
              <a:rPr sz="2000" i="1" spc="-13" dirty="0">
                <a:latin typeface="Arial"/>
                <a:cs typeface="Arial"/>
              </a:rPr>
              <a:t>C</a:t>
            </a:r>
            <a:r>
              <a:rPr sz="2000" i="1" spc="-31" dirty="0">
                <a:latin typeface="Arial"/>
                <a:cs typeface="Arial"/>
              </a:rPr>
              <a:t>u</a:t>
            </a:r>
            <a:r>
              <a:rPr sz="2000" i="1" spc="162" dirty="0">
                <a:latin typeface="Arial"/>
                <a:cs typeface="Arial"/>
              </a:rPr>
              <a:t>r</a:t>
            </a:r>
            <a:r>
              <a:rPr sz="2000" i="1" spc="67" dirty="0">
                <a:latin typeface="Arial"/>
                <a:cs typeface="Arial"/>
              </a:rPr>
              <a:t>r</a:t>
            </a:r>
            <a:r>
              <a:rPr sz="2000" i="1" spc="-85" dirty="0">
                <a:latin typeface="Arial"/>
                <a:cs typeface="Arial"/>
              </a:rPr>
              <a:t>e</a:t>
            </a:r>
            <a:r>
              <a:rPr sz="2000" i="1" spc="-90" dirty="0">
                <a:latin typeface="Arial"/>
                <a:cs typeface="Arial"/>
              </a:rPr>
              <a:t>n</a:t>
            </a:r>
            <a:r>
              <a:rPr sz="2000" i="1" spc="99" dirty="0">
                <a:latin typeface="Arial"/>
                <a:cs typeface="Arial"/>
              </a:rPr>
              <a:t>t</a:t>
            </a:r>
            <a:r>
              <a:rPr sz="2000" i="1" spc="148" dirty="0">
                <a:latin typeface="Arial"/>
                <a:cs typeface="Arial"/>
              </a:rPr>
              <a:t> </a:t>
            </a:r>
            <a:r>
              <a:rPr sz="2000" i="1" spc="31" dirty="0">
                <a:latin typeface="Arial"/>
                <a:cs typeface="Arial"/>
              </a:rPr>
              <a:t>N</a:t>
            </a:r>
            <a:r>
              <a:rPr sz="2000" i="1" spc="-183" dirty="0">
                <a:latin typeface="Arial"/>
                <a:cs typeface="Arial"/>
              </a:rPr>
              <a:t>o</a:t>
            </a:r>
            <a:r>
              <a:rPr sz="2000" i="1" spc="-90" dirty="0">
                <a:latin typeface="Arial"/>
                <a:cs typeface="Arial"/>
              </a:rPr>
              <a:t>d</a:t>
            </a:r>
            <a:r>
              <a:rPr sz="2000" i="1" spc="-175" dirty="0">
                <a:latin typeface="Arial"/>
                <a:cs typeface="Arial"/>
              </a:rPr>
              <a:t>e</a:t>
            </a:r>
            <a:r>
              <a:rPr sz="2000" i="1" spc="148" dirty="0">
                <a:latin typeface="Arial"/>
                <a:cs typeface="Arial"/>
              </a:rPr>
              <a:t> </a:t>
            </a:r>
            <a:r>
              <a:rPr sz="2000" i="1" spc="-90" dirty="0">
                <a:latin typeface="Arial"/>
                <a:cs typeface="Arial"/>
              </a:rPr>
              <a:t>Des</a:t>
            </a:r>
            <a:r>
              <a:rPr sz="2000" i="1" spc="153" dirty="0">
                <a:latin typeface="Arial"/>
                <a:cs typeface="Arial"/>
              </a:rPr>
              <a:t>i</a:t>
            </a:r>
            <a:r>
              <a:rPr sz="2000" i="1" spc="-85" dirty="0">
                <a:latin typeface="Arial"/>
                <a:cs typeface="Arial"/>
              </a:rPr>
              <a:t>g</a:t>
            </a:r>
            <a:r>
              <a:rPr sz="2000" i="1" spc="-90" dirty="0">
                <a:latin typeface="Arial"/>
                <a:cs typeface="Arial"/>
              </a:rPr>
              <a:t>na</a:t>
            </a:r>
            <a:r>
              <a:rPr sz="2000" i="1" spc="94" dirty="0">
                <a:latin typeface="Arial"/>
                <a:cs typeface="Arial"/>
              </a:rPr>
              <a:t>t</a:t>
            </a:r>
            <a:r>
              <a:rPr sz="2000" i="1" spc="153" dirty="0">
                <a:latin typeface="Arial"/>
                <a:cs typeface="Arial"/>
              </a:rPr>
              <a:t>i</a:t>
            </a:r>
            <a:r>
              <a:rPr sz="2000" i="1" spc="-90" dirty="0">
                <a:latin typeface="Arial"/>
                <a:cs typeface="Arial"/>
              </a:rPr>
              <a:t>o</a:t>
            </a:r>
            <a:r>
              <a:rPr sz="2000" i="1" spc="9" dirty="0">
                <a:latin typeface="Arial"/>
                <a:cs typeface="Arial"/>
              </a:rPr>
              <a:t>n</a:t>
            </a:r>
            <a:r>
              <a:rPr sz="2000" i="1" spc="148" dirty="0">
                <a:latin typeface="Arial"/>
                <a:cs typeface="Arial"/>
              </a:rPr>
              <a:t> </a:t>
            </a:r>
            <a:r>
              <a:rPr sz="2000" i="1" spc="31" dirty="0">
                <a:latin typeface="Arial"/>
                <a:cs typeface="Arial"/>
              </a:rPr>
              <a:t>U</a:t>
            </a:r>
            <a:r>
              <a:rPr sz="2000" i="1" spc="-183" dirty="0">
                <a:latin typeface="Arial"/>
                <a:cs typeface="Arial"/>
              </a:rPr>
              <a:t>p</a:t>
            </a:r>
            <a:r>
              <a:rPr sz="2000" i="1" spc="-90" dirty="0">
                <a:latin typeface="Arial"/>
                <a:cs typeface="Arial"/>
              </a:rPr>
              <a:t>d</a:t>
            </a:r>
            <a:r>
              <a:rPr sz="2000" i="1" spc="-85" dirty="0">
                <a:latin typeface="Arial"/>
                <a:cs typeface="Arial"/>
              </a:rPr>
              <a:t>a</a:t>
            </a:r>
            <a:r>
              <a:rPr sz="2000" i="1" spc="94" dirty="0">
                <a:latin typeface="Arial"/>
                <a:cs typeface="Arial"/>
              </a:rPr>
              <a:t>t</a:t>
            </a:r>
            <a:r>
              <a:rPr sz="2000" i="1" spc="-175" dirty="0">
                <a:latin typeface="Arial"/>
                <a:cs typeface="Arial"/>
              </a:rPr>
              <a:t>e</a:t>
            </a:r>
            <a:br>
              <a:rPr sz="2000" i="1" spc="-175" dirty="0">
                <a:latin typeface="Arial"/>
                <a:cs typeface="Arial"/>
              </a:rPr>
            </a:br>
            <a:r>
              <a:rPr sz="2000" spc="81" dirty="0"/>
              <a:t>L</a:t>
            </a:r>
            <a:r>
              <a:rPr sz="2000" spc="-153" dirty="0"/>
              <a:t>e</a:t>
            </a:r>
            <a:r>
              <a:rPr sz="2000" spc="45" dirty="0"/>
              <a:t>t</a:t>
            </a:r>
            <a:r>
              <a:rPr sz="2000" spc="40" dirty="0"/>
              <a:t> </a:t>
            </a:r>
            <a:r>
              <a:rPr sz="2000" i="1" spc="117" dirty="0">
                <a:latin typeface="Georgia"/>
                <a:cs typeface="Georgia"/>
              </a:rPr>
              <a:t>i</a:t>
            </a:r>
            <a:r>
              <a:rPr sz="2000" i="1" spc="197" dirty="0">
                <a:latin typeface="Georgia"/>
                <a:cs typeface="Georgia"/>
              </a:rPr>
              <a:t> </a:t>
            </a:r>
            <a:r>
              <a:rPr sz="2000" spc="-13" dirty="0"/>
              <a:t>b</a:t>
            </a:r>
            <a:r>
              <a:rPr sz="2000" spc="-148" dirty="0"/>
              <a:t>e</a:t>
            </a:r>
            <a:r>
              <a:rPr sz="2000" spc="40" dirty="0"/>
              <a:t> t</a:t>
            </a:r>
            <a:r>
              <a:rPr sz="2000" spc="-72" dirty="0"/>
              <a:t>h</a:t>
            </a:r>
            <a:r>
              <a:rPr sz="2000" spc="-148" dirty="0"/>
              <a:t>e</a:t>
            </a:r>
            <a:r>
              <a:rPr sz="2000" spc="40" dirty="0"/>
              <a:t> </a:t>
            </a:r>
            <a:r>
              <a:rPr sz="2000" spc="13" dirty="0"/>
              <a:t>i</a:t>
            </a:r>
            <a:r>
              <a:rPr sz="2000" spc="-72" dirty="0"/>
              <a:t>n</a:t>
            </a:r>
            <a:r>
              <a:rPr sz="2000" spc="-63" dirty="0"/>
              <a:t>d</a:t>
            </a:r>
            <a:r>
              <a:rPr sz="2000" spc="-153" dirty="0"/>
              <a:t>e</a:t>
            </a:r>
            <a:r>
              <a:rPr sz="2000" spc="-67" dirty="0"/>
              <a:t>x</a:t>
            </a:r>
            <a:r>
              <a:rPr sz="2000" spc="40" dirty="0"/>
              <a:t> </a:t>
            </a:r>
            <a:r>
              <a:rPr sz="2000" spc="-49" dirty="0"/>
              <a:t>of</a:t>
            </a:r>
            <a:r>
              <a:rPr sz="2000" spc="40" dirty="0"/>
              <a:t> t</a:t>
            </a:r>
            <a:r>
              <a:rPr sz="2000" spc="-72" dirty="0"/>
              <a:t>h</a:t>
            </a:r>
            <a:r>
              <a:rPr sz="2000" spc="-148" dirty="0"/>
              <a:t>e</a:t>
            </a:r>
            <a:r>
              <a:rPr sz="2000" spc="40" dirty="0"/>
              <a:t> </a:t>
            </a:r>
            <a:r>
              <a:rPr sz="2000" spc="-27" dirty="0"/>
              <a:t>c</a:t>
            </a:r>
            <a:r>
              <a:rPr sz="2000" spc="-72" dirty="0"/>
              <a:t>u</a:t>
            </a:r>
            <a:r>
              <a:rPr sz="2000" spc="-36" dirty="0"/>
              <a:t>rr</a:t>
            </a:r>
            <a:r>
              <a:rPr sz="2000" spc="-153" dirty="0"/>
              <a:t>e</a:t>
            </a:r>
            <a:r>
              <a:rPr sz="2000" spc="-72" dirty="0"/>
              <a:t>n</a:t>
            </a:r>
            <a:r>
              <a:rPr sz="2000" spc="45" dirty="0"/>
              <a:t>t</a:t>
            </a:r>
            <a:r>
              <a:rPr sz="2000" spc="40" dirty="0"/>
              <a:t> </a:t>
            </a:r>
            <a:r>
              <a:rPr sz="2000" spc="-72" dirty="0"/>
              <a:t>n</a:t>
            </a:r>
            <a:r>
              <a:rPr sz="2000" spc="-31" dirty="0"/>
              <a:t>o</a:t>
            </a:r>
            <a:r>
              <a:rPr sz="2000" spc="-63" dirty="0"/>
              <a:t>d</a:t>
            </a:r>
            <a:r>
              <a:rPr sz="2000" spc="-148" dirty="0"/>
              <a:t>e</a:t>
            </a:r>
            <a:r>
              <a:rPr sz="2000" spc="-45" dirty="0"/>
              <a:t>.</a:t>
            </a:r>
            <a:endParaRPr sz="2000" dirty="0">
              <a:latin typeface="Georgia"/>
              <a:cs typeface="Georgia"/>
            </a:endParaRPr>
          </a:p>
        </p:txBody>
      </p:sp>
      <p:sp>
        <p:nvSpPr>
          <p:cNvPr id="15363" name="object 4">
            <a:extLst>
              <a:ext uri="{FF2B5EF4-FFF2-40B4-BE49-F238E27FC236}">
                <a16:creationId xmlns:a16="http://schemas.microsoft.com/office/drawing/2014/main" id="{F3EDA866-59BD-57D7-02B2-5F4DE38AF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2858" y="1776840"/>
            <a:ext cx="8748940" cy="2641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22275" indent="-409575" eaLnBrk="0" hangingPunct="0"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9300" indent="-207963" eaLnBrk="0" hangingPunct="0"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222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1000"/>
              </a:lnSpc>
              <a:buFont typeface="Tahoma" panose="020B0604030504040204" pitchFamily="34" charset="0"/>
              <a:buAutoNum type="arabicParenBoth"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Find the set </a:t>
            </a:r>
            <a:r>
              <a:rPr lang="en-US" altLang="en-US" sz="1800" i="1" dirty="0">
                <a:latin typeface="Georgia" panose="02040502050405020303" pitchFamily="18" charset="0"/>
              </a:rPr>
              <a:t>J 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altLang="en-US" sz="1800" dirty="0">
                <a:latin typeface="Arial" panose="020B0604020202020204" pitchFamily="34" charset="0"/>
              </a:rPr>
              <a:t>nodes  with  temporary  labels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that can be reached from the current node </a:t>
            </a:r>
            <a:r>
              <a:rPr lang="en-US" altLang="en-US" sz="1800" i="1" dirty="0" err="1">
                <a:latin typeface="Georgia" panose="02040502050405020303" pitchFamily="18" charset="0"/>
              </a:rPr>
              <a:t>i</a:t>
            </a:r>
            <a:r>
              <a:rPr lang="en-US" altLang="en-US" sz="1800" i="1" dirty="0">
                <a:latin typeface="Georgia" panose="02040502050405020303" pitchFamily="18" charset="0"/>
              </a:rPr>
              <a:t> 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by a link </a:t>
            </a:r>
            <a:r>
              <a:rPr lang="en-US" altLang="en-US" sz="1800" dirty="0">
                <a:latin typeface="Arial" panose="020B0604020202020204" pitchFamily="34" charset="0"/>
              </a:rPr>
              <a:t>(</a:t>
            </a:r>
            <a:r>
              <a:rPr lang="en-US" altLang="en-US" sz="1800" i="1" dirty="0" err="1">
                <a:latin typeface="Georgia" panose="02040502050405020303" pitchFamily="18" charset="0"/>
              </a:rPr>
              <a:t>i</a:t>
            </a:r>
            <a:r>
              <a:rPr lang="en-US" altLang="en-US" sz="1800" i="1" dirty="0">
                <a:latin typeface="Georgia" panose="02040502050405020303" pitchFamily="18" charset="0"/>
              </a:rPr>
              <a:t>, j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.  </a:t>
            </a:r>
            <a:r>
              <a:rPr lang="en-US" altLang="en-US" sz="1800" dirty="0">
                <a:solidFill>
                  <a:srgbClr val="EC008C"/>
                </a:solidFill>
                <a:latin typeface="Arial" panose="020B0604020202020204" pitchFamily="34" charset="0"/>
              </a:rPr>
              <a:t>Update the distance values of these nodes.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ts val="875"/>
              </a:spcBef>
              <a:buClr>
                <a:srgbClr val="EC008C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For each </a:t>
            </a:r>
            <a:r>
              <a:rPr lang="en-US" altLang="en-US" sz="1800" i="1" dirty="0">
                <a:latin typeface="Georgia" panose="02040502050405020303" pitchFamily="18" charset="0"/>
              </a:rPr>
              <a:t>j </a:t>
            </a:r>
            <a:r>
              <a:rPr lang="en-US" altLang="en-US" sz="18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∈ </a:t>
            </a:r>
            <a:r>
              <a:rPr lang="en-US" altLang="en-US" sz="1800" i="1" dirty="0">
                <a:latin typeface="Georgia" panose="02040502050405020303" pitchFamily="18" charset="0"/>
              </a:rPr>
              <a:t>J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 the distance value </a:t>
            </a:r>
            <a:r>
              <a:rPr lang="en-US" altLang="en-US" sz="1800" i="1" dirty="0" err="1">
                <a:latin typeface="Georgia" panose="02040502050405020303" pitchFamily="18" charset="0"/>
              </a:rPr>
              <a:t>d</a:t>
            </a:r>
            <a:r>
              <a:rPr lang="en-US" altLang="en-US" sz="1800" i="1" baseline="-10000" dirty="0" err="1">
                <a:latin typeface="Georgia" panose="02040502050405020303" pitchFamily="18" charset="0"/>
              </a:rPr>
              <a:t>j</a:t>
            </a:r>
            <a:r>
              <a:rPr lang="en-US" altLang="en-US" sz="1800" i="1" baseline="-10000" dirty="0">
                <a:latin typeface="Georgia" panose="02040502050405020303" pitchFamily="18" charset="0"/>
              </a:rPr>
              <a:t> 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of node </a:t>
            </a:r>
            <a:r>
              <a:rPr lang="en-US" altLang="en-US" sz="1800" i="1" dirty="0">
                <a:latin typeface="Georgia" panose="02040502050405020303" pitchFamily="18" charset="0"/>
              </a:rPr>
              <a:t>j 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is updated as follows</a:t>
            </a:r>
          </a:p>
          <a:p>
            <a:pPr eaLnBrk="1" hangingPunct="1">
              <a:spcBef>
                <a:spcPts val="825"/>
              </a:spcBef>
            </a:pPr>
            <a:r>
              <a:rPr lang="en-US" altLang="en-US" sz="1800" i="1" dirty="0">
                <a:latin typeface="Georgia" panose="02040502050405020303" pitchFamily="18" charset="0"/>
              </a:rPr>
              <a:t>new	</a:t>
            </a:r>
            <a:r>
              <a:rPr lang="en-US" altLang="en-US" sz="1800" i="1" dirty="0" err="1">
                <a:latin typeface="Georgia" panose="02040502050405020303" pitchFamily="18" charset="0"/>
              </a:rPr>
              <a:t>d</a:t>
            </a:r>
            <a:r>
              <a:rPr lang="en-US" altLang="en-US" sz="1800" i="1" baseline="-10000" dirty="0" err="1">
                <a:latin typeface="Georgia" panose="02040502050405020303" pitchFamily="18" charset="0"/>
              </a:rPr>
              <a:t>j</a:t>
            </a:r>
            <a:r>
              <a:rPr lang="en-US" altLang="en-US" sz="1800" i="1" baseline="-10000" dirty="0">
                <a:latin typeface="Georgia" panose="02040502050405020303" pitchFamily="18" charset="0"/>
              </a:rPr>
              <a:t>  </a:t>
            </a:r>
            <a:r>
              <a:rPr lang="en-US" altLang="en-US" sz="1800" dirty="0">
                <a:latin typeface="Arial" panose="020B0604020202020204" pitchFamily="34" charset="0"/>
              </a:rPr>
              <a:t>= min</a:t>
            </a:r>
            <a:r>
              <a:rPr lang="en-US" altLang="en-US" sz="18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{</a:t>
            </a:r>
            <a:r>
              <a:rPr lang="en-US" altLang="en-US" sz="1800" i="1" dirty="0" err="1">
                <a:latin typeface="Georgia" panose="02040502050405020303" pitchFamily="18" charset="0"/>
              </a:rPr>
              <a:t>d</a:t>
            </a:r>
            <a:r>
              <a:rPr lang="en-US" altLang="en-US" sz="1800" i="1" baseline="-10000" dirty="0" err="1">
                <a:latin typeface="Georgia" panose="02040502050405020303" pitchFamily="18" charset="0"/>
              </a:rPr>
              <a:t>j</a:t>
            </a:r>
            <a:r>
              <a:rPr lang="en-US" altLang="en-US" sz="1800" i="1" dirty="0">
                <a:latin typeface="Georgia" panose="02040502050405020303" pitchFamily="18" charset="0"/>
              </a:rPr>
              <a:t>, d</a:t>
            </a:r>
            <a:r>
              <a:rPr lang="en-US" altLang="en-US" sz="1800" i="1" baseline="-10000" dirty="0">
                <a:latin typeface="Georgia" panose="02040502050405020303" pitchFamily="18" charset="0"/>
              </a:rPr>
              <a:t>i  </a:t>
            </a:r>
            <a:r>
              <a:rPr lang="en-US" altLang="en-US" sz="1800" dirty="0">
                <a:latin typeface="Arial" panose="020B0604020202020204" pitchFamily="34" charset="0"/>
              </a:rPr>
              <a:t>+ </a:t>
            </a:r>
            <a:r>
              <a:rPr lang="en-US" altLang="en-US" sz="1800" i="1" dirty="0" err="1">
                <a:latin typeface="Georgia" panose="02040502050405020303" pitchFamily="18" charset="0"/>
              </a:rPr>
              <a:t>c</a:t>
            </a:r>
            <a:r>
              <a:rPr lang="en-US" altLang="en-US" sz="1800" i="1" baseline="-10000" dirty="0" err="1">
                <a:latin typeface="Georgia" panose="02040502050405020303" pitchFamily="18" charset="0"/>
              </a:rPr>
              <a:t>ij</a:t>
            </a:r>
            <a:r>
              <a:rPr lang="en-US" altLang="en-US" sz="1800" i="1" baseline="-10000" dirty="0">
                <a:latin typeface="Georgia" panose="02040502050405020303" pitchFamily="18" charset="0"/>
              </a:rPr>
              <a:t> </a:t>
            </a:r>
            <a:r>
              <a:rPr lang="en-US" altLang="en-US" sz="18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}</a:t>
            </a:r>
          </a:p>
          <a:p>
            <a:pPr eaLnBrk="1" hangingPunct="1">
              <a:spcBef>
                <a:spcPts val="938"/>
              </a:spcBef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where </a:t>
            </a:r>
            <a:r>
              <a:rPr lang="en-US" altLang="en-US" sz="1800" i="1" dirty="0" err="1">
                <a:latin typeface="Georgia" panose="02040502050405020303" pitchFamily="18" charset="0"/>
              </a:rPr>
              <a:t>c</a:t>
            </a:r>
            <a:r>
              <a:rPr lang="en-US" altLang="en-US" sz="1800" i="1" baseline="-10000" dirty="0" err="1">
                <a:latin typeface="Georgia" panose="02040502050405020303" pitchFamily="18" charset="0"/>
              </a:rPr>
              <a:t>ij</a:t>
            </a:r>
            <a:r>
              <a:rPr lang="en-US" altLang="en-US" sz="1800" i="1" baseline="-10000" dirty="0">
                <a:latin typeface="Georgia" panose="02040502050405020303" pitchFamily="18" charset="0"/>
              </a:rPr>
              <a:t>  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is the cost of link </a:t>
            </a:r>
            <a:r>
              <a:rPr lang="en-US" altLang="en-US" sz="1800" dirty="0">
                <a:latin typeface="Arial" panose="020B0604020202020204" pitchFamily="34" charset="0"/>
              </a:rPr>
              <a:t>(</a:t>
            </a:r>
            <a:r>
              <a:rPr lang="en-US" altLang="en-US" sz="1800" i="1" dirty="0" err="1">
                <a:latin typeface="Georgia" panose="02040502050405020303" pitchFamily="18" charset="0"/>
              </a:rPr>
              <a:t>i</a:t>
            </a:r>
            <a:r>
              <a:rPr lang="en-US" altLang="en-US" sz="1800" i="1" dirty="0">
                <a:latin typeface="Georgia" panose="02040502050405020303" pitchFamily="18" charset="0"/>
              </a:rPr>
              <a:t>, j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 as given in the network problem.</a:t>
            </a:r>
          </a:p>
          <a:p>
            <a:pPr eaLnBrk="1" hangingPunct="1"/>
            <a:endParaRPr lang="en-US" altLang="en-US" sz="18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11000"/>
              </a:lnSpc>
              <a:buFont typeface="Tahoma" panose="020B0604030504040204" pitchFamily="34" charset="0"/>
              <a:buAutoNum type="arabicParenBoth" startAt="2"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Determine a node </a:t>
            </a:r>
            <a:r>
              <a:rPr lang="en-US" altLang="en-US" sz="1800" i="1" dirty="0">
                <a:latin typeface="Georgia" panose="02040502050405020303" pitchFamily="18" charset="0"/>
              </a:rPr>
              <a:t>j 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that has the smallest distance value </a:t>
            </a:r>
            <a:r>
              <a:rPr lang="en-US" altLang="en-US" sz="1800" i="1" dirty="0" err="1">
                <a:latin typeface="Georgia" panose="02040502050405020303" pitchFamily="18" charset="0"/>
              </a:rPr>
              <a:t>d</a:t>
            </a:r>
            <a:r>
              <a:rPr lang="en-US" altLang="en-US" sz="1800" i="1" baseline="-10000" dirty="0" err="1">
                <a:latin typeface="Georgia" panose="02040502050405020303" pitchFamily="18" charset="0"/>
              </a:rPr>
              <a:t>j</a:t>
            </a:r>
            <a:r>
              <a:rPr lang="en-US" altLang="en-US" sz="1800" i="1" baseline="-10000" dirty="0">
                <a:latin typeface="Georgia" panose="02040502050405020303" pitchFamily="18" charset="0"/>
              </a:rPr>
              <a:t>  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among all nodes </a:t>
            </a:r>
            <a:r>
              <a:rPr lang="en-US" altLang="en-US" sz="1800" i="1" dirty="0">
                <a:latin typeface="Georgia" panose="02040502050405020303" pitchFamily="18" charset="0"/>
              </a:rPr>
              <a:t>j </a:t>
            </a:r>
            <a:r>
              <a:rPr lang="en-US" altLang="en-US" sz="18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∈ </a:t>
            </a:r>
            <a:r>
              <a:rPr lang="en-US" altLang="en-US" sz="1800" i="1" dirty="0">
                <a:latin typeface="Georgia" panose="02040502050405020303" pitchFamily="18" charset="0"/>
              </a:rPr>
              <a:t>J 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</a:t>
            </a:r>
          </a:p>
        </p:txBody>
      </p:sp>
      <p:sp>
        <p:nvSpPr>
          <p:cNvPr id="15364" name="object 5">
            <a:extLst>
              <a:ext uri="{FF2B5EF4-FFF2-40B4-BE49-F238E27FC236}">
                <a16:creationId xmlns:a16="http://schemas.microsoft.com/office/drawing/2014/main" id="{058C8560-62B3-5596-95DE-2747DF731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4545013"/>
            <a:ext cx="169386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find </a:t>
            </a:r>
            <a:r>
              <a:rPr lang="en-US" altLang="en-US" sz="1700" i="1" dirty="0">
                <a:latin typeface="Georgia" panose="02040502050405020303" pitchFamily="18" charset="0"/>
              </a:rPr>
              <a:t>j</a:t>
            </a:r>
            <a:r>
              <a:rPr lang="en-US" altLang="en-US" baseline="290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∗  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such that</a:t>
            </a:r>
          </a:p>
        </p:txBody>
      </p:sp>
      <p:sp>
        <p:nvSpPr>
          <p:cNvPr id="15365" name="object 6">
            <a:extLst>
              <a:ext uri="{FF2B5EF4-FFF2-40B4-BE49-F238E27FC236}">
                <a16:creationId xmlns:a16="http://schemas.microsoft.com/office/drawing/2014/main" id="{F9CA94E5-D7B8-9FB5-CFBD-5491844DB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3564" y="4565651"/>
            <a:ext cx="1335087" cy="405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1875"/>
              </a:lnSpc>
            </a:pPr>
            <a:r>
              <a:rPr lang="en-US" altLang="en-US" sz="1700">
                <a:latin typeface="Arial" panose="020B0604020202020204" pitchFamily="34" charset="0"/>
              </a:rPr>
              <a:t>min </a:t>
            </a:r>
            <a:r>
              <a:rPr lang="en-US" altLang="en-US" sz="1700" i="1">
                <a:latin typeface="Georgia" panose="02040502050405020303" pitchFamily="18" charset="0"/>
              </a:rPr>
              <a:t>d</a:t>
            </a:r>
            <a:r>
              <a:rPr lang="en-US" altLang="en-US" i="1" baseline="-10000">
                <a:latin typeface="Georgia" panose="02040502050405020303" pitchFamily="18" charset="0"/>
              </a:rPr>
              <a:t>j  </a:t>
            </a:r>
            <a:r>
              <a:rPr lang="en-US" altLang="en-US" sz="1700">
                <a:latin typeface="Arial" panose="020B0604020202020204" pitchFamily="34" charset="0"/>
              </a:rPr>
              <a:t>= </a:t>
            </a:r>
            <a:r>
              <a:rPr lang="en-US" altLang="en-US" sz="1700" i="1">
                <a:latin typeface="Georgia" panose="02040502050405020303" pitchFamily="18" charset="0"/>
              </a:rPr>
              <a:t>d</a:t>
            </a:r>
            <a:r>
              <a:rPr lang="en-US" altLang="en-US" i="1" baseline="-10000">
                <a:latin typeface="Georgia" panose="02040502050405020303" pitchFamily="18" charset="0"/>
              </a:rPr>
              <a:t>j</a:t>
            </a:r>
            <a:r>
              <a:rPr lang="en-US" altLang="en-US" baseline="7000">
                <a:latin typeface="Lucida Sans Unicode" panose="020B0602030504020204" pitchFamily="34" charset="0"/>
                <a:cs typeface="Lucida Sans Unicode" panose="020B0602030504020204" pitchFamily="34" charset="0"/>
              </a:rPr>
              <a:t>∗</a:t>
            </a:r>
          </a:p>
          <a:p>
            <a:pPr eaLnBrk="1" hangingPunct="1">
              <a:lnSpc>
                <a:spcPts val="1225"/>
              </a:lnSpc>
            </a:pPr>
            <a:r>
              <a:rPr lang="en-US" altLang="en-US" sz="1200" i="1">
                <a:latin typeface="Georgia" panose="02040502050405020303" pitchFamily="18" charset="0"/>
              </a:rPr>
              <a:t>j</a:t>
            </a:r>
            <a:r>
              <a:rPr lang="en-US" altLang="en-US" sz="1200">
                <a:latin typeface="Lucida Sans Unicode" panose="020B0602030504020204" pitchFamily="34" charset="0"/>
                <a:cs typeface="Lucida Sans Unicode" panose="020B0602030504020204" pitchFamily="34" charset="0"/>
              </a:rPr>
              <a:t>∈</a:t>
            </a:r>
            <a:r>
              <a:rPr lang="en-US" altLang="en-US" sz="1200" i="1">
                <a:latin typeface="Georgia" panose="02040502050405020303" pitchFamily="18" charset="0"/>
              </a:rPr>
              <a:t>J</a:t>
            </a:r>
            <a:endParaRPr lang="en-US" altLang="en-US" sz="1200">
              <a:latin typeface="Georgia" panose="02040502050405020303" pitchFamily="18" charset="0"/>
            </a:endParaRPr>
          </a:p>
        </p:txBody>
      </p:sp>
      <p:sp>
        <p:nvSpPr>
          <p:cNvPr id="15366" name="object 7">
            <a:extLst>
              <a:ext uri="{FF2B5EF4-FFF2-40B4-BE49-F238E27FC236}">
                <a16:creationId xmlns:a16="http://schemas.microsoft.com/office/drawing/2014/main" id="{75D3F7AC-0C97-71B8-8E3F-EDB7F8E59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5334000"/>
            <a:ext cx="7540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(3) Change the label of node </a:t>
            </a:r>
            <a:r>
              <a:rPr lang="en-US" altLang="en-US" sz="1800" i="1">
                <a:latin typeface="Georgia" panose="02040502050405020303" pitchFamily="18" charset="0"/>
              </a:rPr>
              <a:t>j</a:t>
            </a:r>
            <a:r>
              <a:rPr lang="en-US" altLang="en-US" sz="1800" baseline="29000">
                <a:latin typeface="Lucida Sans Unicode" panose="020B0602030504020204" pitchFamily="34" charset="0"/>
                <a:cs typeface="Lucida Sans Unicode" panose="020B0602030504020204" pitchFamily="34" charset="0"/>
              </a:rPr>
              <a:t>∗ 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to </a:t>
            </a:r>
            <a:r>
              <a:rPr lang="en-US" altLang="en-US" sz="1800">
                <a:latin typeface="Arial" panose="020B0604020202020204" pitchFamily="34" charset="0"/>
              </a:rPr>
              <a:t>permanent 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and designate this node as</a:t>
            </a:r>
          </a:p>
          <a:p>
            <a:pPr eaLnBrk="1" hangingPunct="1">
              <a:spcBef>
                <a:spcPts val="238"/>
              </a:spcBef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the current node</a:t>
            </a:r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5367" name="object 8">
            <a:extLst>
              <a:ext uri="{FF2B5EF4-FFF2-40B4-BE49-F238E27FC236}">
                <a16:creationId xmlns:a16="http://schemas.microsoft.com/office/drawing/2014/main" id="{F86D01CE-6741-1D3E-CBFE-99298823BAA4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51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5C6DBA-AAFA-DAA6-8F3C-3C3B8710E6FC}"/>
              </a:ext>
            </a:extLst>
          </p:cNvPr>
          <p:cNvSpPr txBox="1"/>
          <p:nvPr/>
        </p:nvSpPr>
        <p:spPr>
          <a:xfrm>
            <a:off x="9442450" y="446089"/>
            <a:ext cx="635000" cy="1682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1397">
              <a:defRPr/>
            </a:pPr>
            <a:r>
              <a:rPr lang="en-US" sz="1100" spc="40" dirty="0">
                <a:latin typeface="Tahoma"/>
                <a:cs typeface="Tahoma"/>
              </a:rPr>
              <a:t>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673CD47-938E-04CC-37AC-71CCF19F6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62594" y="614364"/>
            <a:ext cx="10058400" cy="1450757"/>
          </a:xfrm>
        </p:spPr>
        <p:txBody>
          <a:bodyPr numCol="1" anchor="t" anchorCtr="0" compatLnSpc="1">
            <a:prstTxWarp prst="textNoShape">
              <a:avLst/>
            </a:prstTxWarp>
          </a:bodyPr>
          <a:lstStyle/>
          <a:p>
            <a:pPr marL="11397">
              <a:lnSpc>
                <a:spcPct val="111000"/>
              </a:lnSpc>
              <a:spcBef>
                <a:spcPts val="415"/>
              </a:spcBef>
              <a:defRPr/>
            </a:pPr>
            <a:r>
              <a:rPr lang="en-US" altLang="en-US" sz="1800" dirty="0">
                <a:solidFill>
                  <a:srgbClr val="FF0000"/>
                </a:solidFill>
                <a:latin typeface="Arial" charset="0"/>
                <a:cs typeface="Arial" charset="0"/>
              </a:rPr>
              <a:t>Step 3</a:t>
            </a:r>
            <a:r>
              <a:rPr lang="en-US" altLang="en-US" sz="1800" dirty="0">
                <a:latin typeface="Tahoma" pitchFamily="34" charset="0"/>
                <a:cs typeface="Tahoma" pitchFamily="34" charset="0"/>
              </a:rPr>
              <a:t>. </a:t>
            </a:r>
            <a:r>
              <a:rPr lang="en-US" altLang="en-US" sz="1800" i="1" dirty="0">
                <a:latin typeface="Arial" charset="0"/>
                <a:cs typeface="Arial" charset="0"/>
              </a:rPr>
              <a:t>Termination Criterion</a:t>
            </a:r>
            <a:br>
              <a:rPr lang="en-US" altLang="en-US" sz="1800" i="1" dirty="0">
                <a:latin typeface="Arial" charset="0"/>
                <a:cs typeface="Arial" charset="0"/>
              </a:rPr>
            </a:br>
            <a:r>
              <a:rPr lang="en-US" altLang="en-US" sz="1800" dirty="0">
                <a:latin typeface="Tahoma" pitchFamily="34" charset="0"/>
                <a:cs typeface="Tahoma" pitchFamily="34" charset="0"/>
              </a:rPr>
              <a:t>If all nodes that can be reached from node </a:t>
            </a:r>
            <a:r>
              <a:rPr lang="en-US" altLang="en-US" sz="1700" i="1" dirty="0">
                <a:latin typeface="Georgia" pitchFamily="18" charset="0"/>
                <a:ea typeface="Georgia" pitchFamily="18" charset="0"/>
                <a:cs typeface="Georgia" pitchFamily="18" charset="0"/>
              </a:rPr>
              <a:t>s  </a:t>
            </a:r>
            <a:r>
              <a:rPr lang="en-US" altLang="en-US" sz="1800" dirty="0">
                <a:latin typeface="Tahoma" pitchFamily="34" charset="0"/>
                <a:cs typeface="Tahoma" pitchFamily="34" charset="0"/>
              </a:rPr>
              <a:t>have been permanently labeled, then stop - we are done.</a:t>
            </a:r>
            <a:endParaRPr lang="en-US" altLang="en-US" sz="1700" dirty="0">
              <a:latin typeface="Georgia" pitchFamily="18" charset="0"/>
              <a:ea typeface="Georgia" pitchFamily="18" charset="0"/>
              <a:cs typeface="Georgia" pitchFamily="18" charset="0"/>
            </a:endParaRPr>
          </a:p>
        </p:txBody>
      </p:sp>
      <p:sp>
        <p:nvSpPr>
          <p:cNvPr id="16388" name="object 4">
            <a:extLst>
              <a:ext uri="{FF2B5EF4-FFF2-40B4-BE49-F238E27FC236}">
                <a16:creationId xmlns:a16="http://schemas.microsoft.com/office/drawing/2014/main" id="{D9D9D073-9074-E52A-0B69-F0E07823D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6204" y="1835150"/>
            <a:ext cx="8491247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27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If we cannot reach any temporary labeled node from the current node, then all the temporary labels become permanent - we are done.</a:t>
            </a:r>
          </a:p>
          <a:p>
            <a:pPr eaLnBrk="1" hangingPunct="1">
              <a:spcBef>
                <a:spcPts val="650"/>
              </a:spcBef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Otherwise, go to Step 2.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:a16="http://schemas.microsoft.com/office/drawing/2014/main" id="{E63A192E-A63F-E57A-1F77-2F35A7C8CB7C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51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46486F1-AC75-DB0A-D664-CEF22E184368}"/>
              </a:ext>
            </a:extLst>
          </p:cNvPr>
          <p:cNvSpPr txBox="1"/>
          <p:nvPr/>
        </p:nvSpPr>
        <p:spPr>
          <a:xfrm>
            <a:off x="9442450" y="446089"/>
            <a:ext cx="635000" cy="1682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1397">
              <a:defRPr/>
            </a:pPr>
            <a:r>
              <a:rPr lang="en-US" sz="1100" spc="40" dirty="0">
                <a:latin typeface="Tahoma"/>
                <a:cs typeface="Tahoma"/>
              </a:rPr>
              <a:t>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4F59FF-C4CF-AA43-98A1-B0CBC0B4CE2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2718750">
              <a:spcBef>
                <a:spcPts val="0"/>
              </a:spcBef>
              <a:defRPr/>
            </a:pPr>
            <a:r>
              <a:rPr spc="81" dirty="0"/>
              <a:t>D</a:t>
            </a:r>
            <a:r>
              <a:rPr spc="13" dirty="0"/>
              <a:t>i</a:t>
            </a:r>
            <a:r>
              <a:rPr spc="-27" dirty="0"/>
              <a:t>j</a:t>
            </a:r>
            <a:r>
              <a:rPr spc="-22" dirty="0"/>
              <a:t>k</a:t>
            </a:r>
            <a:r>
              <a:rPr spc="-121" dirty="0"/>
              <a:t>s</a:t>
            </a:r>
            <a:r>
              <a:rPr spc="40" dirty="0"/>
              <a:t>t</a:t>
            </a:r>
            <a:r>
              <a:rPr spc="-36" dirty="0"/>
              <a:t>r</a:t>
            </a:r>
            <a:r>
              <a:rPr spc="-81" dirty="0"/>
              <a:t>a</a:t>
            </a:r>
            <a:r>
              <a:rPr spc="121" dirty="0"/>
              <a:t>’</a:t>
            </a:r>
            <a:r>
              <a:rPr spc="-117" dirty="0"/>
              <a:t>s</a:t>
            </a:r>
            <a:r>
              <a:rPr spc="40" dirty="0"/>
              <a:t> </a:t>
            </a:r>
            <a:r>
              <a:rPr spc="121" dirty="0"/>
              <a:t>A</a:t>
            </a:r>
            <a:r>
              <a:rPr spc="13" dirty="0"/>
              <a:t>l</a:t>
            </a:r>
            <a:r>
              <a:rPr spc="-94" dirty="0"/>
              <a:t>g</a:t>
            </a:r>
            <a:r>
              <a:rPr spc="-148" dirty="0"/>
              <a:t>o</a:t>
            </a:r>
            <a:r>
              <a:rPr spc="-36" dirty="0"/>
              <a:t>r</a:t>
            </a:r>
            <a:r>
              <a:rPr spc="13" dirty="0"/>
              <a:t>i</a:t>
            </a:r>
            <a:r>
              <a:rPr spc="40" dirty="0"/>
              <a:t>t</a:t>
            </a:r>
            <a:r>
              <a:rPr spc="-72" dirty="0"/>
              <a:t>h</a:t>
            </a:r>
            <a:r>
              <a:rPr spc="-85" dirty="0"/>
              <a:t>m</a:t>
            </a:r>
            <a:r>
              <a:rPr spc="-144" dirty="0"/>
              <a:t>:</a:t>
            </a:r>
            <a:r>
              <a:rPr spc="251" dirty="0"/>
              <a:t> </a:t>
            </a:r>
            <a:r>
              <a:rPr spc="67" dirty="0"/>
              <a:t>E</a:t>
            </a:r>
            <a:r>
              <a:rPr spc="-72" dirty="0"/>
              <a:t>x</a:t>
            </a:r>
            <a:r>
              <a:rPr spc="-81" dirty="0"/>
              <a:t>am</a:t>
            </a:r>
            <a:r>
              <a:rPr spc="-63" dirty="0"/>
              <a:t>p</a:t>
            </a:r>
            <a:r>
              <a:rPr spc="13" dirty="0"/>
              <a:t>l</a:t>
            </a:r>
            <a:r>
              <a:rPr spc="-148" dirty="0"/>
              <a:t>e</a:t>
            </a:r>
          </a:p>
        </p:txBody>
      </p:sp>
      <p:sp>
        <p:nvSpPr>
          <p:cNvPr id="17412" name="object 4">
            <a:extLst>
              <a:ext uri="{FF2B5EF4-FFF2-40B4-BE49-F238E27FC236}">
                <a16:creationId xmlns:a16="http://schemas.microsoft.com/office/drawing/2014/main" id="{1F6D2B70-DC44-9BA7-ECD0-53FDCD68A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1737360"/>
            <a:ext cx="5237162" cy="3120391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17413" name="object 5">
            <a:extLst>
              <a:ext uri="{FF2B5EF4-FFF2-40B4-BE49-F238E27FC236}">
                <a16:creationId xmlns:a16="http://schemas.microsoft.com/office/drawing/2014/main" id="{A9A75B8F-083A-AA5C-457A-7F3CDEC6A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5081589"/>
            <a:ext cx="7505700" cy="78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27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</a:pP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We want to find the shortest path from node 1 to all other nodes using Dijkstra’s algorithm.</a:t>
            </a:r>
          </a:p>
        </p:txBody>
      </p:sp>
      <p:sp>
        <p:nvSpPr>
          <p:cNvPr id="17414" name="object 6">
            <a:extLst>
              <a:ext uri="{FF2B5EF4-FFF2-40B4-BE49-F238E27FC236}">
                <a16:creationId xmlns:a16="http://schemas.microsoft.com/office/drawing/2014/main" id="{33AAAE9C-0232-DDEE-CADF-62251769360D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51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8EBD8C-1848-FF9C-0A28-115068266E74}"/>
              </a:ext>
            </a:extLst>
          </p:cNvPr>
          <p:cNvSpPr txBox="1"/>
          <p:nvPr/>
        </p:nvSpPr>
        <p:spPr>
          <a:xfrm>
            <a:off x="9442450" y="446089"/>
            <a:ext cx="635000" cy="1682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1397">
              <a:defRPr/>
            </a:pPr>
            <a:r>
              <a:rPr lang="en-US" sz="1100" spc="40" dirty="0">
                <a:latin typeface="Tahoma"/>
                <a:cs typeface="Tahoma"/>
              </a:rPr>
              <a:t>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80E23B-42E6-7DF8-F6DE-5F69D823569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marL="2836708">
              <a:spcBef>
                <a:spcPts val="0"/>
              </a:spcBef>
              <a:defRPr/>
            </a:pPr>
            <a:r>
              <a:rPr sz="2200" spc="121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4" dirty="0">
                <a:solidFill>
                  <a:srgbClr val="0000FF"/>
                </a:solidFill>
                <a:latin typeface="Arial"/>
                <a:cs typeface="Arial"/>
              </a:rPr>
              <a:t>al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-49" dirty="0">
                <a:solidFill>
                  <a:srgbClr val="0000FF"/>
                </a:solidFill>
                <a:latin typeface="Arial"/>
                <a:cs typeface="Arial"/>
              </a:rPr>
              <a:t>z</a:t>
            </a:r>
            <a:r>
              <a:rPr sz="2200" spc="108" dirty="0">
                <a:solidFill>
                  <a:srgbClr val="0000FF"/>
                </a:solidFill>
                <a:latin typeface="Arial"/>
                <a:cs typeface="Arial"/>
              </a:rPr>
              <a:t>at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9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-12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200" spc="287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22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:a16="http://schemas.microsoft.com/office/drawing/2014/main" id="{4630D166-63DE-3C59-36E6-FA50EA916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0976" y="1912938"/>
            <a:ext cx="3616325" cy="3115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9075" indent="-206375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Node 1 is designated as the current node</a:t>
            </a:r>
          </a:p>
          <a:p>
            <a:pPr eaLnBrk="1" hangingPunct="1"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>
              <a:cs typeface="Times New Roman" panose="02020603050405020304" pitchFamily="18" charset="0"/>
            </a:endParaRPr>
          </a:p>
          <a:p>
            <a:pPr eaLnBrk="1" hangingPunct="1">
              <a:spcBef>
                <a:spcPts val="1050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The state of node 1 is </a:t>
            </a:r>
            <a:r>
              <a:rPr lang="en-US" altLang="en-US" sz="1700">
                <a:latin typeface="Arial" panose="020B0604020202020204" pitchFamily="34" charset="0"/>
              </a:rPr>
              <a:t>(0</a:t>
            </a:r>
            <a:r>
              <a:rPr lang="en-US" altLang="en-US" sz="1700" i="1">
                <a:latin typeface="Georgia" panose="02040502050405020303" pitchFamily="18" charset="0"/>
              </a:rPr>
              <a:t>, p</a:t>
            </a:r>
            <a:r>
              <a:rPr lang="en-US" altLang="en-US" sz="1700"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25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 sz="2700">
              <a:cs typeface="Times New Roman" panose="02020603050405020304" pitchFamily="18" charset="0"/>
            </a:endParaRPr>
          </a:p>
          <a:p>
            <a:pPr eaLnBrk="1" hangingPunct="1"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>
                <a:latin typeface="Tahoma" panose="020B0604030504040204" pitchFamily="34" charset="0"/>
                <a:cs typeface="Tahoma" panose="020B0604030504040204" pitchFamily="34" charset="0"/>
              </a:rPr>
              <a:t>Every other node has state </a:t>
            </a:r>
            <a:r>
              <a:rPr lang="en-US" altLang="en-US" sz="1700">
                <a:latin typeface="Arial" panose="020B0604020202020204" pitchFamily="34" charset="0"/>
              </a:rPr>
              <a:t>(</a:t>
            </a:r>
            <a:r>
              <a:rPr lang="en-US" altLang="en-US" sz="1700">
                <a:latin typeface="Lucida Sans Unicode" panose="020B0602030504020204" pitchFamily="34" charset="0"/>
                <a:cs typeface="Lucida Sans Unicode" panose="020B0602030504020204" pitchFamily="34" charset="0"/>
              </a:rPr>
              <a:t>∞</a:t>
            </a:r>
            <a:r>
              <a:rPr lang="en-US" altLang="en-US" sz="1700" i="1">
                <a:latin typeface="Georgia" panose="02040502050405020303" pitchFamily="18" charset="0"/>
              </a:rPr>
              <a:t>, t</a:t>
            </a:r>
            <a:r>
              <a:rPr lang="en-US" altLang="en-US" sz="170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8437" name="object 5">
            <a:extLst>
              <a:ext uri="{FF2B5EF4-FFF2-40B4-BE49-F238E27FC236}">
                <a16:creationId xmlns:a16="http://schemas.microsoft.com/office/drawing/2014/main" id="{390F7EC7-D0C0-7B4E-DD85-81299AB7E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793" y="1896846"/>
            <a:ext cx="3741737" cy="272256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:a16="http://schemas.microsoft.com/office/drawing/2014/main" id="{1131854D-FC69-CBF0-8F67-BA4316EBAEE7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66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612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7CE541-1823-C9D9-DDDF-301919A1F70F}"/>
              </a:ext>
            </a:extLst>
          </p:cNvPr>
          <p:cNvSpPr txBox="1"/>
          <p:nvPr/>
        </p:nvSpPr>
        <p:spPr>
          <a:xfrm>
            <a:off x="9442450" y="446089"/>
            <a:ext cx="635000" cy="1682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1397">
              <a:defRPr/>
            </a:pPr>
            <a:r>
              <a:rPr lang="en-US" sz="1100" spc="40" dirty="0">
                <a:latin typeface="Tahoma"/>
                <a:cs typeface="Tahoma"/>
              </a:rPr>
              <a:t>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8A9260-20CF-9A2B-98ED-777636A521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451583"/>
          </a:xfrm>
        </p:spPr>
        <p:txBody>
          <a:bodyPr/>
          <a:lstStyle/>
          <a:p>
            <a:pPr marL="3785507">
              <a:spcBef>
                <a:spcPts val="0"/>
              </a:spcBef>
              <a:defRPr/>
            </a:pPr>
            <a:r>
              <a:rPr sz="2200" spc="-12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22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9460" name="object 4">
            <a:extLst>
              <a:ext uri="{FF2B5EF4-FFF2-40B4-BE49-F238E27FC236}">
                <a16:creationId xmlns:a16="http://schemas.microsoft.com/office/drawing/2014/main" id="{A00B9A57-0AF9-C09C-148C-6D3129415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669" y="1489359"/>
            <a:ext cx="4782149" cy="3465193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5EF8681-7415-B47D-2746-D32E216FABCE}"/>
              </a:ext>
            </a:extLst>
          </p:cNvPr>
          <p:cNvSpPr txBox="1"/>
          <p:nvPr/>
        </p:nvSpPr>
        <p:spPr>
          <a:xfrm>
            <a:off x="1022635" y="1270365"/>
            <a:ext cx="7692157" cy="52011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19075" indent="-206375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Nodes 2, 3,and 6 can be reached from the current node 1</a:t>
            </a:r>
          </a:p>
          <a:p>
            <a:pPr eaLnBrk="1" hangingPunct="1">
              <a:lnSpc>
                <a:spcPct val="111000"/>
              </a:lnSpc>
              <a:spcBef>
                <a:spcPts val="413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Update distance values  </a:t>
            </a:r>
          </a:p>
          <a:p>
            <a:pPr eaLnBrk="1" hangingPunct="1">
              <a:lnSpc>
                <a:spcPct val="111000"/>
              </a:lnSpc>
              <a:spcBef>
                <a:spcPts val="413"/>
              </a:spcBef>
              <a:buClr>
                <a:srgbClr val="FF0000"/>
              </a:buClr>
              <a:buSzPct val="95000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    for these nodes</a:t>
            </a: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25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700" i="1" dirty="0">
                <a:latin typeface="Georgia" panose="02040502050405020303" pitchFamily="18" charset="0"/>
              </a:rPr>
              <a:t>d</a:t>
            </a:r>
            <a:r>
              <a:rPr lang="en-US" altLang="en-US" baseline="-10000" dirty="0">
                <a:latin typeface="Arial" panose="020B0604020202020204" pitchFamily="34" charset="0"/>
              </a:rPr>
              <a:t>2  </a:t>
            </a:r>
            <a:r>
              <a:rPr lang="en-US" altLang="en-US" sz="1700" dirty="0">
                <a:latin typeface="Arial" panose="020B0604020202020204" pitchFamily="34" charset="0"/>
              </a:rPr>
              <a:t>= min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{∞</a:t>
            </a:r>
            <a:r>
              <a:rPr lang="en-US" altLang="en-US" sz="1700" i="1" dirty="0">
                <a:latin typeface="Georgia" panose="02040502050405020303" pitchFamily="18" charset="0"/>
              </a:rPr>
              <a:t>, </a:t>
            </a:r>
            <a:r>
              <a:rPr lang="en-US" altLang="en-US" sz="1700" dirty="0">
                <a:latin typeface="Arial" panose="020B0604020202020204" pitchFamily="34" charset="0"/>
              </a:rPr>
              <a:t>0 + 7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} </a:t>
            </a:r>
            <a:r>
              <a:rPr lang="en-US" altLang="en-US" sz="1700" dirty="0">
                <a:latin typeface="Arial" panose="020B0604020202020204" pitchFamily="34" charset="0"/>
              </a:rPr>
              <a:t>= 7</a:t>
            </a:r>
          </a:p>
          <a:p>
            <a:pPr eaLnBrk="1" hangingPunct="1">
              <a:spcBef>
                <a:spcPts val="763"/>
              </a:spcBef>
            </a:pPr>
            <a:r>
              <a:rPr lang="en-US" altLang="en-US" sz="1700" i="1" dirty="0">
                <a:latin typeface="Georgia" panose="02040502050405020303" pitchFamily="18" charset="0"/>
              </a:rPr>
              <a:t>d</a:t>
            </a:r>
            <a:r>
              <a:rPr lang="en-US" altLang="en-US" baseline="-10000" dirty="0">
                <a:latin typeface="Arial" panose="020B0604020202020204" pitchFamily="34" charset="0"/>
              </a:rPr>
              <a:t>3  </a:t>
            </a:r>
            <a:r>
              <a:rPr lang="en-US" altLang="en-US" sz="1700" dirty="0">
                <a:latin typeface="Arial" panose="020B0604020202020204" pitchFamily="34" charset="0"/>
              </a:rPr>
              <a:t>= min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{∞</a:t>
            </a:r>
            <a:r>
              <a:rPr lang="en-US" altLang="en-US" sz="1700" i="1" dirty="0">
                <a:latin typeface="Georgia" panose="02040502050405020303" pitchFamily="18" charset="0"/>
              </a:rPr>
              <a:t>, </a:t>
            </a:r>
            <a:r>
              <a:rPr lang="en-US" altLang="en-US" sz="1700" dirty="0">
                <a:latin typeface="Arial" panose="020B0604020202020204" pitchFamily="34" charset="0"/>
              </a:rPr>
              <a:t>0 + 9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} </a:t>
            </a:r>
            <a:r>
              <a:rPr lang="en-US" altLang="en-US" sz="1700" dirty="0">
                <a:latin typeface="Arial" panose="020B0604020202020204" pitchFamily="34" charset="0"/>
              </a:rPr>
              <a:t>= 9</a:t>
            </a:r>
          </a:p>
          <a:p>
            <a:pPr eaLnBrk="1" hangingPunct="1">
              <a:spcBef>
                <a:spcPts val="763"/>
              </a:spcBef>
            </a:pPr>
            <a:r>
              <a:rPr lang="en-US" altLang="en-US" sz="1700" i="1" dirty="0">
                <a:latin typeface="Georgia" panose="02040502050405020303" pitchFamily="18" charset="0"/>
              </a:rPr>
              <a:t>d</a:t>
            </a:r>
            <a:r>
              <a:rPr lang="en-US" altLang="en-US" baseline="-10000" dirty="0">
                <a:latin typeface="Arial" panose="020B0604020202020204" pitchFamily="34" charset="0"/>
              </a:rPr>
              <a:t>6  </a:t>
            </a:r>
            <a:r>
              <a:rPr lang="en-US" altLang="en-US" sz="1700" dirty="0">
                <a:latin typeface="Arial" panose="020B0604020202020204" pitchFamily="34" charset="0"/>
              </a:rPr>
              <a:t>= min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{∞</a:t>
            </a:r>
            <a:r>
              <a:rPr lang="en-US" altLang="en-US" sz="1700" i="1" dirty="0">
                <a:latin typeface="Georgia" panose="02040502050405020303" pitchFamily="18" charset="0"/>
              </a:rPr>
              <a:t>, </a:t>
            </a:r>
            <a:r>
              <a:rPr lang="en-US" altLang="en-US" sz="1700" dirty="0">
                <a:latin typeface="Arial" panose="020B0604020202020204" pitchFamily="34" charset="0"/>
              </a:rPr>
              <a:t>0 + 14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} </a:t>
            </a:r>
            <a:r>
              <a:rPr lang="en-US" altLang="en-US" sz="1700" dirty="0">
                <a:latin typeface="Arial" panose="020B0604020202020204" pitchFamily="34" charset="0"/>
              </a:rPr>
              <a:t>= 14</a:t>
            </a:r>
          </a:p>
          <a:p>
            <a:pPr eaLnBrk="1" hangingPunct="1">
              <a:lnSpc>
                <a:spcPct val="111000"/>
              </a:lnSpc>
              <a:spcBef>
                <a:spcPts val="313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Now, among the nodes 2, 3, and 6, node 2 has the smallest distance value</a:t>
            </a:r>
          </a:p>
          <a:p>
            <a:pPr eaLnBrk="1" hangingPunct="1"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111000"/>
              </a:lnSpc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The status label of node 2 changes to permanent, so its state is </a:t>
            </a:r>
            <a:r>
              <a:rPr lang="en-US" altLang="en-US" sz="1800" dirty="0">
                <a:latin typeface="Arial" panose="020B0604020202020204" pitchFamily="34" charset="0"/>
              </a:rPr>
              <a:t>(7</a:t>
            </a:r>
            <a:r>
              <a:rPr lang="en-US" altLang="en-US" sz="1800" i="1" dirty="0">
                <a:latin typeface="Georgia" panose="02040502050405020303" pitchFamily="18" charset="0"/>
              </a:rPr>
              <a:t>, p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, while the status of 3 and 6 remains temporary</a:t>
            </a:r>
          </a:p>
          <a:p>
            <a:pPr eaLnBrk="1" hangingPunct="1">
              <a:spcBef>
                <a:spcPts val="38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 eaLnBrk="1" hangingPunct="1"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Node 2 becomes the current node</a:t>
            </a:r>
          </a:p>
        </p:txBody>
      </p:sp>
      <p:sp>
        <p:nvSpPr>
          <p:cNvPr id="19462" name="object 6">
            <a:extLst>
              <a:ext uri="{FF2B5EF4-FFF2-40B4-BE49-F238E27FC236}">
                <a16:creationId xmlns:a16="http://schemas.microsoft.com/office/drawing/2014/main" id="{CEEF90CD-920A-D09E-9A2C-BBA397DF4EBA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51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07BF83-61FC-EC68-EF20-769A3E1EDDA3}"/>
              </a:ext>
            </a:extLst>
          </p:cNvPr>
          <p:cNvSpPr txBox="1"/>
          <p:nvPr/>
        </p:nvSpPr>
        <p:spPr>
          <a:xfrm>
            <a:off x="9442450" y="446089"/>
            <a:ext cx="635000" cy="16827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1397">
              <a:defRPr/>
            </a:pPr>
            <a:r>
              <a:rPr lang="en-US" sz="1100" spc="40" dirty="0">
                <a:latin typeface="Tahoma"/>
                <a:cs typeface="Tahoma"/>
              </a:rPr>
              <a:t> 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8126B7D-89B4-DC64-D00D-5C7685D17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4"/>
            <a:ext cx="10058400" cy="1044880"/>
          </a:xfrm>
        </p:spPr>
        <p:txBody>
          <a:bodyPr/>
          <a:lstStyle/>
          <a:p>
            <a:pPr marL="3785507">
              <a:spcBef>
                <a:spcPts val="0"/>
              </a:spcBef>
              <a:defRPr/>
            </a:pPr>
            <a:r>
              <a:rPr sz="2200" spc="-12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22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FF"/>
                </a:solidFill>
                <a:latin typeface="Arial"/>
                <a:cs typeface="Arial"/>
              </a:rPr>
              <a:t>3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20CD0C5-0C29-8BFF-813E-238891B7AD95}"/>
              </a:ext>
            </a:extLst>
          </p:cNvPr>
          <p:cNvSpPr txBox="1"/>
          <p:nvPr/>
        </p:nvSpPr>
        <p:spPr>
          <a:xfrm>
            <a:off x="2571750" y="1554164"/>
            <a:ext cx="2732088" cy="276225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marL="11397">
              <a:defRPr/>
            </a:pPr>
            <a:r>
              <a:rPr dirty="0">
                <a:latin typeface="Tahoma"/>
                <a:cs typeface="Tahoma"/>
              </a:rPr>
              <a:t>G</a:t>
            </a:r>
            <a:r>
              <a:rPr spc="-36" dirty="0">
                <a:latin typeface="Tahoma"/>
                <a:cs typeface="Tahoma"/>
              </a:rPr>
              <a:t>r</a:t>
            </a:r>
            <a:r>
              <a:rPr spc="-81" dirty="0">
                <a:latin typeface="Tahoma"/>
                <a:cs typeface="Tahoma"/>
              </a:rPr>
              <a:t>a</a:t>
            </a:r>
            <a:r>
              <a:rPr spc="-63" dirty="0">
                <a:latin typeface="Tahoma"/>
                <a:cs typeface="Tahoma"/>
              </a:rPr>
              <a:t>p</a:t>
            </a:r>
            <a:r>
              <a:rPr spc="-72" dirty="0">
                <a:latin typeface="Tahoma"/>
                <a:cs typeface="Tahoma"/>
              </a:rPr>
              <a:t>h</a:t>
            </a:r>
            <a:r>
              <a:rPr spc="40" dirty="0">
                <a:latin typeface="Tahoma"/>
                <a:cs typeface="Tahoma"/>
              </a:rPr>
              <a:t> </a:t>
            </a:r>
            <a:r>
              <a:rPr spc="-81" dirty="0">
                <a:latin typeface="Tahoma"/>
                <a:cs typeface="Tahoma"/>
              </a:rPr>
              <a:t>a</a:t>
            </a:r>
            <a:r>
              <a:rPr spc="45" dirty="0">
                <a:latin typeface="Tahoma"/>
                <a:cs typeface="Tahoma"/>
              </a:rPr>
              <a:t>t</a:t>
            </a:r>
            <a:r>
              <a:rPr spc="40" dirty="0">
                <a:latin typeface="Tahoma"/>
                <a:cs typeface="Tahoma"/>
              </a:rPr>
              <a:t> t</a:t>
            </a:r>
            <a:r>
              <a:rPr spc="-72" dirty="0">
                <a:latin typeface="Tahoma"/>
                <a:cs typeface="Tahoma"/>
              </a:rPr>
              <a:t>h</a:t>
            </a:r>
            <a:r>
              <a:rPr spc="-148" dirty="0">
                <a:latin typeface="Tahoma"/>
                <a:cs typeface="Tahoma"/>
              </a:rPr>
              <a:t>e</a:t>
            </a:r>
            <a:r>
              <a:rPr spc="40" dirty="0">
                <a:latin typeface="Tahoma"/>
                <a:cs typeface="Tahoma"/>
              </a:rPr>
              <a:t> </a:t>
            </a:r>
            <a:r>
              <a:rPr spc="-148" dirty="0">
                <a:latin typeface="Tahoma"/>
                <a:cs typeface="Tahoma"/>
              </a:rPr>
              <a:t>e</a:t>
            </a:r>
            <a:r>
              <a:rPr spc="-72" dirty="0">
                <a:latin typeface="Tahoma"/>
                <a:cs typeface="Tahoma"/>
              </a:rPr>
              <a:t>n</a:t>
            </a:r>
            <a:r>
              <a:rPr spc="-63" dirty="0">
                <a:latin typeface="Tahoma"/>
                <a:cs typeface="Tahoma"/>
              </a:rPr>
              <a:t>d</a:t>
            </a:r>
            <a:r>
              <a:rPr spc="40" dirty="0">
                <a:latin typeface="Tahoma"/>
                <a:cs typeface="Tahoma"/>
              </a:rPr>
              <a:t> </a:t>
            </a:r>
            <a:r>
              <a:rPr spc="-49" dirty="0">
                <a:latin typeface="Tahoma"/>
                <a:cs typeface="Tahoma"/>
              </a:rPr>
              <a:t>of</a:t>
            </a:r>
            <a:r>
              <a:rPr spc="4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S</a:t>
            </a:r>
            <a:r>
              <a:rPr spc="40" dirty="0">
                <a:latin typeface="Tahoma"/>
                <a:cs typeface="Tahoma"/>
              </a:rPr>
              <a:t>t</a:t>
            </a:r>
            <a:r>
              <a:rPr spc="-153" dirty="0">
                <a:latin typeface="Tahoma"/>
                <a:cs typeface="Tahoma"/>
              </a:rPr>
              <a:t>e</a:t>
            </a:r>
            <a:r>
              <a:rPr spc="-63" dirty="0">
                <a:latin typeface="Tahoma"/>
                <a:cs typeface="Tahoma"/>
              </a:rPr>
              <a:t>p</a:t>
            </a:r>
            <a:r>
              <a:rPr spc="40" dirty="0">
                <a:latin typeface="Tahoma"/>
                <a:cs typeface="Tahoma"/>
              </a:rPr>
              <a:t> </a:t>
            </a:r>
            <a:r>
              <a:rPr spc="-81" dirty="0">
                <a:latin typeface="Tahoma"/>
                <a:cs typeface="Tahoma"/>
              </a:rPr>
              <a:t>2</a:t>
            </a:r>
            <a:endParaRPr>
              <a:latin typeface="Tahoma"/>
              <a:cs typeface="Tahoma"/>
            </a:endParaRPr>
          </a:p>
        </p:txBody>
      </p:sp>
      <p:sp>
        <p:nvSpPr>
          <p:cNvPr id="20485" name="object 5">
            <a:extLst>
              <a:ext uri="{FF2B5EF4-FFF2-40B4-BE49-F238E27FC236}">
                <a16:creationId xmlns:a16="http://schemas.microsoft.com/office/drawing/2014/main" id="{90129684-876C-DCB2-3950-2B4F857EF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086" y="1541796"/>
            <a:ext cx="5207228" cy="3328784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0486" name="object 6">
            <a:extLst>
              <a:ext uri="{FF2B5EF4-FFF2-40B4-BE49-F238E27FC236}">
                <a16:creationId xmlns:a16="http://schemas.microsoft.com/office/drawing/2014/main" id="{DA0B326F-5CC9-0809-64D3-213F211DC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9551" y="4741864"/>
            <a:ext cx="8537899" cy="78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12700" eaLnBrk="0" hangingPunct="0"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149475" algn="l"/>
                <a:tab pos="7597775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We  are  not  </a:t>
            </a:r>
            <a:r>
              <a:rPr lang="en-US" altLang="en-US" dirty="0" err="1">
                <a:latin typeface="Tahoma" panose="020B0604030504040204" pitchFamily="34" charset="0"/>
                <a:cs typeface="Tahoma" panose="020B0604030504040204" pitchFamily="34" charset="0"/>
              </a:rPr>
              <a:t>done,not</a:t>
            </a: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  all  nodes  have  been  reached  from  node  1, so  we perform another iteration (back to Step 2)</a:t>
            </a:r>
          </a:p>
        </p:txBody>
      </p:sp>
      <p:sp>
        <p:nvSpPr>
          <p:cNvPr id="20487" name="object 7">
            <a:extLst>
              <a:ext uri="{FF2B5EF4-FFF2-40B4-BE49-F238E27FC236}">
                <a16:creationId xmlns:a16="http://schemas.microsoft.com/office/drawing/2014/main" id="{7DC46D9F-6D1B-76E0-115D-B7302650F717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66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612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F46E921-0B20-D4B5-335B-E139A2FBE3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6729" y="268943"/>
            <a:ext cx="8073159" cy="900673"/>
          </a:xfrm>
        </p:spPr>
        <p:txBody>
          <a:bodyPr/>
          <a:lstStyle/>
          <a:p>
            <a:pPr marL="1971108">
              <a:spcBef>
                <a:spcPts val="0"/>
              </a:spcBef>
              <a:defRPr/>
            </a:pPr>
            <a:r>
              <a:rPr sz="2200" spc="153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200" spc="135" dirty="0">
                <a:solidFill>
                  <a:srgbClr val="0000FF"/>
                </a:solidFill>
                <a:latin typeface="Arial"/>
                <a:cs typeface="Arial"/>
              </a:rPr>
              <a:t>ot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94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121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9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9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2200" spc="-99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144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spc="67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76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200" spc="9" dirty="0">
                <a:solidFill>
                  <a:srgbClr val="0000FF"/>
                </a:solidFill>
                <a:latin typeface="Arial"/>
                <a:cs typeface="Arial"/>
              </a:rPr>
              <a:t>on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63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-12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22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21507" name="object 4">
            <a:extLst>
              <a:ext uri="{FF2B5EF4-FFF2-40B4-BE49-F238E27FC236}">
                <a16:creationId xmlns:a16="http://schemas.microsoft.com/office/drawing/2014/main" id="{327C52C6-3F32-2511-F36B-2357EEE9E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2611" y="1169616"/>
            <a:ext cx="3741737" cy="27241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Calibri" panose="020F050202020403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02FF92F-EC9B-2B3C-B0B1-107BDDDEB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8499" y="1054099"/>
            <a:ext cx="8154954" cy="5065703"/>
          </a:xfrm>
        </p:spPr>
        <p:txBody>
          <a:bodyPr>
            <a:normAutofit/>
          </a:bodyPr>
          <a:lstStyle/>
          <a:p>
            <a:pPr marL="793750" indent="-185738">
              <a:lnSpc>
                <a:spcPct val="101000"/>
              </a:lnSpc>
              <a:spcBef>
                <a:spcPct val="0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Nodes	3	and	4	can	be	reached from the current node 2</a:t>
            </a:r>
          </a:p>
          <a:p>
            <a:pPr marL="793750" indent="-185738">
              <a:lnSpc>
                <a:spcPct val="101000"/>
              </a:lnSpc>
              <a:spcBef>
                <a:spcPts val="413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Update</a:t>
            </a:r>
          </a:p>
          <a:p>
            <a:pPr marL="793750" indent="-185738">
              <a:lnSpc>
                <a:spcPct val="101000"/>
              </a:lnSpc>
              <a:spcBef>
                <a:spcPts val="413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	distance	values	for	these nodes</a:t>
            </a:r>
          </a:p>
          <a:p>
            <a:pPr marL="793750" indent="-185738">
              <a:spcBef>
                <a:spcPct val="0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0" indent="-185738">
              <a:spcBef>
                <a:spcPts val="25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0" indent="-185738">
              <a:spcBef>
                <a:spcPct val="0"/>
              </a:spcBef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700" i="1" dirty="0">
                <a:latin typeface="Georgia" panose="02040502050405020303" pitchFamily="18" charset="0"/>
              </a:rPr>
              <a:t>d</a:t>
            </a:r>
            <a:r>
              <a:rPr lang="en-US" altLang="en-US" sz="1800" baseline="-10000" dirty="0"/>
              <a:t>3  </a:t>
            </a:r>
            <a:r>
              <a:rPr lang="en-US" altLang="en-US" sz="1700" dirty="0"/>
              <a:t>= min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{</a:t>
            </a:r>
            <a:r>
              <a:rPr lang="en-US" altLang="en-US" sz="1700" dirty="0"/>
              <a:t>9</a:t>
            </a:r>
            <a:r>
              <a:rPr lang="en-US" altLang="en-US" sz="1700" i="1" dirty="0">
                <a:latin typeface="Georgia" panose="02040502050405020303" pitchFamily="18" charset="0"/>
              </a:rPr>
              <a:t>, </a:t>
            </a:r>
            <a:r>
              <a:rPr lang="en-US" altLang="en-US" sz="1700" dirty="0"/>
              <a:t>7 + 10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} </a:t>
            </a:r>
            <a:r>
              <a:rPr lang="en-US" altLang="en-US" sz="1700" dirty="0"/>
              <a:t>= 9</a:t>
            </a:r>
          </a:p>
          <a:p>
            <a:pPr marL="793750" indent="-185738">
              <a:spcBef>
                <a:spcPts val="763"/>
              </a:spcBef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700" i="1" dirty="0">
                <a:latin typeface="Georgia" panose="02040502050405020303" pitchFamily="18" charset="0"/>
              </a:rPr>
              <a:t>d</a:t>
            </a:r>
            <a:r>
              <a:rPr lang="en-US" altLang="en-US" sz="1800" baseline="-10000" dirty="0"/>
              <a:t>6  </a:t>
            </a:r>
            <a:r>
              <a:rPr lang="en-US" altLang="en-US" sz="1700" dirty="0"/>
              <a:t>= min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{∞</a:t>
            </a:r>
            <a:r>
              <a:rPr lang="en-US" altLang="en-US" sz="1700" i="1" dirty="0">
                <a:latin typeface="Georgia" panose="02040502050405020303" pitchFamily="18" charset="0"/>
              </a:rPr>
              <a:t>, </a:t>
            </a:r>
            <a:r>
              <a:rPr lang="en-US" altLang="en-US" sz="1700" dirty="0"/>
              <a:t>7 + 15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} </a:t>
            </a:r>
            <a:r>
              <a:rPr lang="en-US" altLang="en-US" sz="1700" dirty="0"/>
              <a:t>= 22</a:t>
            </a:r>
          </a:p>
          <a:p>
            <a:pPr marL="793750" indent="-185738">
              <a:spcBef>
                <a:spcPct val="0"/>
              </a:spcBef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endParaRPr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93750" indent="-185738">
              <a:spcBef>
                <a:spcPct val="0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Now, between the nodes 3 and 4 node 3 has the smallest distance value</a:t>
            </a:r>
          </a:p>
          <a:p>
            <a:pPr marL="793750" indent="-185738">
              <a:lnSpc>
                <a:spcPct val="101000"/>
              </a:lnSpc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The status label of node 3 changes to permanent, while the status of 6 remains temporary</a:t>
            </a:r>
          </a:p>
          <a:p>
            <a:pPr marL="793750" indent="-185738">
              <a:spcBef>
                <a:spcPts val="1438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Node 3 becomes the current node</a:t>
            </a:r>
          </a:p>
          <a:p>
            <a:pPr marL="793750" indent="-185738">
              <a:spcBef>
                <a:spcPts val="800"/>
              </a:spcBef>
              <a:tabLst>
                <a:tab pos="795338" algn="l"/>
                <a:tab pos="1541463" algn="l"/>
                <a:tab pos="1798638" algn="l"/>
                <a:tab pos="2295525" algn="l"/>
                <a:tab pos="2552700" algn="l"/>
                <a:tab pos="3030538" algn="l"/>
                <a:tab pos="3403600" algn="l"/>
              </a:tabLst>
            </a:pPr>
            <a:r>
              <a:rPr lang="en-US" altLang="en-US" sz="1800" dirty="0">
                <a:latin typeface="Tahoma" panose="020B0604030504040204" pitchFamily="34" charset="0"/>
                <a:cs typeface="Tahoma" panose="020B0604030504040204" pitchFamily="34" charset="0"/>
              </a:rPr>
              <a:t>We are not done (Step 3 fails), so we perform another Step 2</a:t>
            </a:r>
          </a:p>
        </p:txBody>
      </p:sp>
      <p:sp>
        <p:nvSpPr>
          <p:cNvPr id="21509" name="object 6">
            <a:extLst>
              <a:ext uri="{FF2B5EF4-FFF2-40B4-BE49-F238E27FC236}">
                <a16:creationId xmlns:a16="http://schemas.microsoft.com/office/drawing/2014/main" id="{6585906E-56EC-E968-ED65-7AAEB87080F1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51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2306E94-A9B1-6DB6-60FD-9C78E2E54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6403" y="244722"/>
            <a:ext cx="8073159" cy="900673"/>
          </a:xfrm>
        </p:spPr>
        <p:txBody>
          <a:bodyPr/>
          <a:lstStyle/>
          <a:p>
            <a:pPr marL="3212239">
              <a:spcBef>
                <a:spcPts val="0"/>
              </a:spcBef>
              <a:defRPr/>
            </a:pPr>
            <a:r>
              <a:rPr sz="2200" spc="153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200" spc="135" dirty="0">
                <a:solidFill>
                  <a:srgbClr val="0000FF"/>
                </a:solidFill>
                <a:latin typeface="Arial"/>
                <a:cs typeface="Arial"/>
              </a:rPr>
              <a:t>ot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94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-12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22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22531" name="object 4">
            <a:extLst>
              <a:ext uri="{FF2B5EF4-FFF2-40B4-BE49-F238E27FC236}">
                <a16:creationId xmlns:a16="http://schemas.microsoft.com/office/drawing/2014/main" id="{08488D17-8F0D-28B6-F63F-96E2FACC8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514" y="244722"/>
            <a:ext cx="4259101" cy="318424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6D318A4-C739-B7F9-63A8-97F47609F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71545" y="1295952"/>
            <a:ext cx="9437591" cy="5104848"/>
          </a:xfrm>
        </p:spPr>
        <p:txBody>
          <a:bodyPr vert="horz" lIns="0" tIns="155386" rIns="0" bIns="45720" rtlCol="0">
            <a:normAutofit/>
          </a:bodyPr>
          <a:lstStyle/>
          <a:p>
            <a:pPr marL="794939" indent="-186626">
              <a:lnSpc>
                <a:spcPct val="111000"/>
              </a:lnSpc>
              <a:spcBef>
                <a:spcPct val="0"/>
              </a:spcBef>
              <a:buClr>
                <a:srgbClr val="FF0000"/>
              </a:buClr>
              <a:buSzPct val="95000"/>
              <a:buFont typeface="Lucida Sans Unicode" pitchFamily="34" charset="0"/>
              <a:buChar char="•"/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r>
              <a:rPr lang="en-US" altLang="en-US" sz="1800" dirty="0">
                <a:latin typeface="Tahoma" pitchFamily="34" charset="0"/>
                <a:cs typeface="Tahoma" pitchFamily="34" charset="0"/>
              </a:rPr>
              <a:t>Nodes	6	and	4	can	be	reached from the current node 3</a:t>
            </a:r>
          </a:p>
          <a:p>
            <a:pPr marL="794939" indent="-186626">
              <a:spcBef>
                <a:spcPts val="651"/>
              </a:spcBef>
              <a:buClr>
                <a:srgbClr val="FF0000"/>
              </a:buClr>
              <a:buSzPct val="95000"/>
              <a:buFont typeface="Lucida Sans Unicode" pitchFamily="34" charset="0"/>
              <a:buChar char="•"/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r>
              <a:rPr lang="en-US" altLang="en-US" sz="1800" dirty="0">
                <a:latin typeface="Tahoma" pitchFamily="34" charset="0"/>
                <a:cs typeface="Tahoma" pitchFamily="34" charset="0"/>
              </a:rPr>
              <a:t>Update distance values for them</a:t>
            </a:r>
          </a:p>
          <a:p>
            <a:pPr marL="794939" indent="-186626">
              <a:spcBef>
                <a:spcPct val="0"/>
              </a:spcBef>
              <a:buClr>
                <a:srgbClr val="FF0000"/>
              </a:buClr>
              <a:buFont typeface="Lucida Sans Unicode" pitchFamily="34" charset="0"/>
              <a:buChar char="•"/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endParaRPr lang="en-US" altLang="en-US" sz="1800" dirty="0">
              <a:latin typeface="Times New Roman" pitchFamily="18" charset="0"/>
              <a:cs typeface="Times New Roman" pitchFamily="18" charset="0"/>
            </a:endParaRPr>
          </a:p>
          <a:p>
            <a:pPr marL="794939" indent="-186626">
              <a:spcBef>
                <a:spcPts val="22"/>
              </a:spcBef>
              <a:buClr>
                <a:srgbClr val="FF0000"/>
              </a:buClr>
              <a:buFont typeface="Lucida Sans Unicode" pitchFamily="34" charset="0"/>
              <a:buChar char="•"/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endParaRPr lang="en-US" altLang="en-US" sz="1600" dirty="0">
              <a:latin typeface="Times New Roman" pitchFamily="18" charset="0"/>
              <a:cs typeface="Times New Roman" pitchFamily="18" charset="0"/>
            </a:endParaRPr>
          </a:p>
          <a:p>
            <a:pPr marL="794939" indent="-186626">
              <a:spcBef>
                <a:spcPct val="0"/>
              </a:spcBef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r>
              <a:rPr lang="en-US" altLang="en-US" sz="1700" i="1" dirty="0">
                <a:latin typeface="Georgia" pitchFamily="18" charset="0"/>
                <a:ea typeface="Georgia" pitchFamily="18" charset="0"/>
                <a:cs typeface="Georgia" pitchFamily="18" charset="0"/>
              </a:rPr>
              <a:t>d</a:t>
            </a:r>
            <a:r>
              <a:rPr lang="en-US" altLang="en-US" sz="1800" baseline="-10000" dirty="0">
                <a:latin typeface="Arial" charset="0"/>
                <a:cs typeface="Arial" charset="0"/>
              </a:rPr>
              <a:t>4  </a:t>
            </a:r>
            <a:r>
              <a:rPr lang="en-US" altLang="en-US" sz="1700" dirty="0">
                <a:latin typeface="Arial" charset="0"/>
                <a:cs typeface="Arial" charset="0"/>
              </a:rPr>
              <a:t>= min</a:t>
            </a:r>
            <a:r>
              <a:rPr lang="en-US" altLang="en-US" sz="1700" dirty="0"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{</a:t>
            </a:r>
            <a:r>
              <a:rPr lang="en-US" altLang="en-US" sz="1700" dirty="0">
                <a:latin typeface="Arial" charset="0"/>
                <a:cs typeface="Arial" charset="0"/>
              </a:rPr>
              <a:t>22</a:t>
            </a:r>
            <a:r>
              <a:rPr lang="en-US" altLang="en-US" sz="1700" i="1" dirty="0">
                <a:latin typeface="Georgia" pitchFamily="18" charset="0"/>
                <a:ea typeface="Georgia" pitchFamily="18" charset="0"/>
                <a:cs typeface="Georgia" pitchFamily="18" charset="0"/>
              </a:rPr>
              <a:t>, </a:t>
            </a:r>
            <a:r>
              <a:rPr lang="en-US" altLang="en-US" sz="1700" dirty="0">
                <a:latin typeface="Arial" charset="0"/>
                <a:cs typeface="Arial" charset="0"/>
              </a:rPr>
              <a:t>9 + 11</a:t>
            </a:r>
            <a:r>
              <a:rPr lang="en-US" altLang="en-US" sz="1700" dirty="0"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} </a:t>
            </a:r>
            <a:r>
              <a:rPr lang="en-US" altLang="en-US" sz="1700" dirty="0">
                <a:latin typeface="Arial" charset="0"/>
                <a:cs typeface="Arial" charset="0"/>
              </a:rPr>
              <a:t>= 20</a:t>
            </a:r>
          </a:p>
          <a:p>
            <a:pPr marL="794939" indent="-186626">
              <a:spcBef>
                <a:spcPts val="763"/>
              </a:spcBef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r>
              <a:rPr lang="en-US" altLang="en-US" sz="1700" i="1" dirty="0">
                <a:latin typeface="Georgia" pitchFamily="18" charset="0"/>
                <a:ea typeface="Georgia" pitchFamily="18" charset="0"/>
                <a:cs typeface="Georgia" pitchFamily="18" charset="0"/>
              </a:rPr>
              <a:t>d</a:t>
            </a:r>
            <a:r>
              <a:rPr lang="en-US" altLang="en-US" sz="1800" baseline="-10000" dirty="0">
                <a:latin typeface="Arial" charset="0"/>
                <a:cs typeface="Arial" charset="0"/>
              </a:rPr>
              <a:t>6  </a:t>
            </a:r>
            <a:r>
              <a:rPr lang="en-US" altLang="en-US" sz="1700" dirty="0">
                <a:latin typeface="Arial" charset="0"/>
                <a:cs typeface="Arial" charset="0"/>
              </a:rPr>
              <a:t>= min</a:t>
            </a:r>
            <a:r>
              <a:rPr lang="en-US" altLang="en-US" sz="1700" dirty="0"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{</a:t>
            </a:r>
            <a:r>
              <a:rPr lang="en-US" altLang="en-US" sz="1700" dirty="0">
                <a:latin typeface="Arial" charset="0"/>
                <a:cs typeface="Arial" charset="0"/>
              </a:rPr>
              <a:t>14</a:t>
            </a:r>
            <a:r>
              <a:rPr lang="en-US" altLang="en-US" sz="1700" i="1" dirty="0">
                <a:latin typeface="Georgia" pitchFamily="18" charset="0"/>
                <a:ea typeface="Georgia" pitchFamily="18" charset="0"/>
                <a:cs typeface="Georgia" pitchFamily="18" charset="0"/>
              </a:rPr>
              <a:t>, </a:t>
            </a:r>
            <a:r>
              <a:rPr lang="en-US" altLang="en-US" sz="1700" dirty="0">
                <a:latin typeface="Arial" charset="0"/>
                <a:cs typeface="Arial" charset="0"/>
              </a:rPr>
              <a:t>9 + 2</a:t>
            </a:r>
            <a:r>
              <a:rPr lang="en-US" altLang="en-US" sz="1700" dirty="0">
                <a:latin typeface="Lucida Sans Unicode" pitchFamily="34" charset="0"/>
                <a:ea typeface="Lucida Sans Unicode" pitchFamily="34" charset="0"/>
                <a:cs typeface="Lucida Sans Unicode" pitchFamily="34" charset="0"/>
              </a:rPr>
              <a:t>} </a:t>
            </a:r>
            <a:r>
              <a:rPr lang="en-US" altLang="en-US" sz="1700" dirty="0">
                <a:latin typeface="Arial" charset="0"/>
                <a:cs typeface="Arial" charset="0"/>
              </a:rPr>
              <a:t>= 11</a:t>
            </a:r>
          </a:p>
          <a:p>
            <a:pPr marL="794939" indent="-186626">
              <a:spcBef>
                <a:spcPts val="45"/>
              </a:spcBef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marL="794939" indent="-186626">
              <a:spcBef>
                <a:spcPct val="0"/>
              </a:spcBef>
              <a:buClr>
                <a:srgbClr val="FF0000"/>
              </a:buClr>
              <a:buSzPct val="95000"/>
              <a:buFont typeface="Lucida Sans Unicode" pitchFamily="34" charset="0"/>
              <a:buChar char="•"/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r>
              <a:rPr lang="en-US" altLang="en-US" sz="1800" dirty="0">
                <a:latin typeface="Tahoma" pitchFamily="34" charset="0"/>
                <a:cs typeface="Tahoma" pitchFamily="34" charset="0"/>
              </a:rPr>
              <a:t>Now, between the nodes 6 and 4 node 6 has the smallest distance value</a:t>
            </a:r>
          </a:p>
          <a:p>
            <a:pPr marL="794939" indent="-186626">
              <a:lnSpc>
                <a:spcPct val="111000"/>
              </a:lnSpc>
              <a:spcBef>
                <a:spcPts val="1201"/>
              </a:spcBef>
              <a:buClr>
                <a:srgbClr val="FF0000"/>
              </a:buClr>
              <a:buSzPct val="95000"/>
              <a:buFont typeface="Lucida Sans Unicode" pitchFamily="34" charset="0"/>
              <a:buChar char="•"/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r>
              <a:rPr lang="en-US" altLang="en-US" sz="1800" dirty="0">
                <a:latin typeface="Tahoma" pitchFamily="34" charset="0"/>
                <a:cs typeface="Tahoma" pitchFamily="34" charset="0"/>
              </a:rPr>
              <a:t>The status label of node 6 changes to permanent, while the status of 4 remains temporary</a:t>
            </a:r>
          </a:p>
          <a:p>
            <a:pPr marL="794939" indent="-186626">
              <a:spcBef>
                <a:spcPts val="1436"/>
              </a:spcBef>
              <a:buClr>
                <a:srgbClr val="FF0000"/>
              </a:buClr>
              <a:buSzPct val="95000"/>
              <a:buFont typeface="Lucida Sans Unicode" pitchFamily="34" charset="0"/>
              <a:buChar char="•"/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r>
              <a:rPr lang="en-US" altLang="en-US" sz="1800" dirty="0">
                <a:latin typeface="Tahoma" pitchFamily="34" charset="0"/>
                <a:cs typeface="Tahoma" pitchFamily="34" charset="0"/>
              </a:rPr>
              <a:t>Node 6 becomes the current node</a:t>
            </a:r>
          </a:p>
          <a:p>
            <a:pPr marL="794939" indent="-186626">
              <a:spcBef>
                <a:spcPts val="797"/>
              </a:spcBef>
              <a:tabLst>
                <a:tab pos="796364" algn="l"/>
                <a:tab pos="1542867" algn="l"/>
                <a:tab pos="1799299" algn="l"/>
                <a:tab pos="2296491" algn="l"/>
                <a:tab pos="2552924" algn="l"/>
                <a:tab pos="3031597" algn="l"/>
                <a:tab pos="3404848" algn="l"/>
              </a:tabLst>
              <a:defRPr/>
            </a:pPr>
            <a:r>
              <a:rPr lang="en-US" altLang="en-US" sz="1800" dirty="0">
                <a:latin typeface="Tahoma" pitchFamily="34" charset="0"/>
                <a:cs typeface="Tahoma" pitchFamily="34" charset="0"/>
              </a:rPr>
              <a:t>We are not done (Step 3 fails), so we perform another Step 2</a:t>
            </a:r>
          </a:p>
        </p:txBody>
      </p:sp>
      <p:sp>
        <p:nvSpPr>
          <p:cNvPr id="22533" name="object 6">
            <a:extLst>
              <a:ext uri="{FF2B5EF4-FFF2-40B4-BE49-F238E27FC236}">
                <a16:creationId xmlns:a16="http://schemas.microsoft.com/office/drawing/2014/main" id="{05ECD897-6BF4-5FD6-B63C-6BBBA9C530FA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51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DBAD5D0-179C-4C03-ACD2-9FFC0920FD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4582" y="196105"/>
            <a:ext cx="8073159" cy="900673"/>
          </a:xfrm>
        </p:spPr>
        <p:txBody>
          <a:bodyPr/>
          <a:lstStyle/>
          <a:p>
            <a:pPr marL="3212239">
              <a:spcBef>
                <a:spcPts val="0"/>
              </a:spcBef>
              <a:defRPr/>
            </a:pPr>
            <a:r>
              <a:rPr sz="2200" spc="153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200" spc="135" dirty="0">
                <a:solidFill>
                  <a:srgbClr val="0000FF"/>
                </a:solidFill>
                <a:latin typeface="Arial"/>
                <a:cs typeface="Arial"/>
              </a:rPr>
              <a:t>ot</a:t>
            </a:r>
            <a:r>
              <a:rPr sz="2200" spc="18" dirty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94" dirty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spc="-126" dirty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200" spc="283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2200" spc="-102" dirty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2200" spc="22" dirty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200" spc="202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23555" name="object 4">
            <a:extLst>
              <a:ext uri="{FF2B5EF4-FFF2-40B4-BE49-F238E27FC236}">
                <a16:creationId xmlns:a16="http://schemas.microsoft.com/office/drawing/2014/main" id="{274300A9-DC16-7B98-9FF7-796FD4AB9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871" y="1325564"/>
            <a:ext cx="3741737" cy="2722562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sp>
        <p:nvSpPr>
          <p:cNvPr id="23556" name="object 5">
            <a:extLst>
              <a:ext uri="{FF2B5EF4-FFF2-40B4-BE49-F238E27FC236}">
                <a16:creationId xmlns:a16="http://schemas.microsoft.com/office/drawing/2014/main" id="{6F600233-9FB9-C7EC-C3FF-B2D467B58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1" y="1344613"/>
            <a:ext cx="7256463" cy="331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9075" indent="-206375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0663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1000"/>
              </a:lnSpc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Node 5 can be reached from the current node 6</a:t>
            </a:r>
          </a:p>
          <a:p>
            <a:pPr eaLnBrk="1" hangingPunct="1">
              <a:spcBef>
                <a:spcPts val="650"/>
              </a:spcBef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Update distance value for node 5</a:t>
            </a:r>
          </a:p>
          <a:p>
            <a:pPr eaLnBrk="1" hangingPunct="1"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25"/>
              </a:spcBef>
              <a:buClr>
                <a:srgbClr val="FF0000"/>
              </a:buClr>
              <a:buFont typeface="Lucida Sans Unicode" panose="020B0602030504020204" pitchFamily="34" charset="0"/>
              <a:buChar char="•"/>
            </a:pPr>
            <a:endParaRPr lang="en-US" altLang="en-US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1700" i="1" dirty="0">
                <a:latin typeface="Georgia" panose="02040502050405020303" pitchFamily="18" charset="0"/>
              </a:rPr>
              <a:t>d</a:t>
            </a:r>
            <a:r>
              <a:rPr lang="en-US" altLang="en-US" baseline="-10000" dirty="0">
                <a:latin typeface="Arial" panose="020B0604020202020204" pitchFamily="34" charset="0"/>
              </a:rPr>
              <a:t>5  </a:t>
            </a:r>
            <a:r>
              <a:rPr lang="en-US" altLang="en-US" sz="1700" dirty="0">
                <a:latin typeface="Arial" panose="020B0604020202020204" pitchFamily="34" charset="0"/>
              </a:rPr>
              <a:t>= min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{∞</a:t>
            </a:r>
            <a:r>
              <a:rPr lang="en-US" altLang="en-US" sz="1700" i="1" dirty="0">
                <a:latin typeface="Georgia" panose="02040502050405020303" pitchFamily="18" charset="0"/>
              </a:rPr>
              <a:t>, </a:t>
            </a:r>
            <a:r>
              <a:rPr lang="en-US" altLang="en-US" sz="1700" dirty="0">
                <a:latin typeface="Arial" panose="020B0604020202020204" pitchFamily="34" charset="0"/>
              </a:rPr>
              <a:t>11 + 9</a:t>
            </a:r>
            <a:r>
              <a:rPr lang="en-US" altLang="en-US" sz="17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} </a:t>
            </a:r>
            <a:r>
              <a:rPr lang="en-US" altLang="en-US" sz="1700" dirty="0">
                <a:latin typeface="Arial" panose="020B0604020202020204" pitchFamily="34" charset="0"/>
              </a:rPr>
              <a:t>= 20</a:t>
            </a:r>
          </a:p>
          <a:p>
            <a:pPr eaLnBrk="1" hangingPunct="1"/>
            <a:endParaRPr lang="en-US" altLang="en-US" sz="1900" dirty="0">
              <a:cs typeface="Times New Roman" panose="02020603050405020304" pitchFamily="18" charset="0"/>
            </a:endParaRPr>
          </a:p>
          <a:p>
            <a:pPr eaLnBrk="1" hangingPunct="1">
              <a:spcBef>
                <a:spcPts val="25"/>
              </a:spcBef>
            </a:pPr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>
              <a:buClr>
                <a:srgbClr val="FF0000"/>
              </a:buClr>
              <a:buSzPct val="95000"/>
              <a:buFont typeface="Lucida Sans Unicode" panose="020B0602030504020204" pitchFamily="34" charset="0"/>
              <a:buChar char="•"/>
            </a:pPr>
            <a:r>
              <a:rPr lang="en-US" altLang="en-US" dirty="0">
                <a:latin typeface="Tahoma" panose="020B0604030504040204" pitchFamily="34" charset="0"/>
                <a:cs typeface="Tahoma" panose="020B0604030504040204" pitchFamily="34" charset="0"/>
              </a:rPr>
              <a:t>Now, node 5 is the only candidate, so its status changes to permanent</a:t>
            </a:r>
          </a:p>
        </p:txBody>
      </p:sp>
      <p:sp>
        <p:nvSpPr>
          <p:cNvPr id="23557" name="object 9">
            <a:extLst>
              <a:ext uri="{FF2B5EF4-FFF2-40B4-BE49-F238E27FC236}">
                <a16:creationId xmlns:a16="http://schemas.microsoft.com/office/drawing/2014/main" id="{48EE1D56-96E1-FC36-1EE6-40F113F756A7}"/>
              </a:ext>
            </a:extLst>
          </p:cNvPr>
          <p:cNvSpPr>
            <a:spLocks/>
          </p:cNvSpPr>
          <p:nvPr/>
        </p:nvSpPr>
        <p:spPr bwMode="auto">
          <a:xfrm>
            <a:off x="2582864" y="6119813"/>
            <a:ext cx="7481887" cy="0"/>
          </a:xfrm>
          <a:custGeom>
            <a:avLst/>
            <a:gdLst>
              <a:gd name="T0" fmla="*/ 0 w 8229600"/>
              <a:gd name="T1" fmla="*/ 7481451 w 8229600"/>
              <a:gd name="T2" fmla="*/ 0 60000 65536"/>
              <a:gd name="T3" fmla="*/ 0 60000 65536"/>
              <a:gd name="T4" fmla="*/ 0 w 8229600"/>
              <a:gd name="T5" fmla="*/ 8229600 w 8229600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T4" t="0" r="T5" b="0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noFill/>
          <a:ln w="63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Rectangle 3">
            <a:extLst>
              <a:ext uri="{FF2B5EF4-FFF2-40B4-BE49-F238E27FC236}">
                <a16:creationId xmlns:a16="http://schemas.microsoft.com/office/drawing/2014/main" id="{D83ECECE-A1C5-5CFB-9CB2-52657D2C9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800600"/>
            <a:ext cx="8936038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058" tIns="41029" rIns="82058" bIns="41029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500"/>
              <a:t>From node 5 we cannot reach any other node. Hence, node 4 gets  permanently labeled and we are done.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4B46-CEE9-A557-8AAC-55764F11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Algorithm</a:t>
            </a:r>
          </a:p>
        </p:txBody>
      </p:sp>
      <p:pic>
        <p:nvPicPr>
          <p:cNvPr id="4" name="Google Shape;467;p50" descr="Image result for dijkstra">
            <a:extLst>
              <a:ext uri="{FF2B5EF4-FFF2-40B4-BE49-F238E27FC236}">
                <a16:creationId xmlns:a16="http://schemas.microsoft.com/office/drawing/2014/main" id="{46D83CA5-BA3D-9C77-B527-E9E79357D8F9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3563580" y="2504886"/>
            <a:ext cx="5125165" cy="27054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29461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4B46-CEE9-A557-8AAC-55764F11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Algorithm</a:t>
            </a:r>
          </a:p>
        </p:txBody>
      </p:sp>
      <p:pic>
        <p:nvPicPr>
          <p:cNvPr id="6" name="Google Shape;458;p49" descr="Image result for dijkstra">
            <a:extLst>
              <a:ext uri="{FF2B5EF4-FFF2-40B4-BE49-F238E27FC236}">
                <a16:creationId xmlns:a16="http://schemas.microsoft.com/office/drawing/2014/main" id="{8515E01C-E0A5-8501-4932-EB065DF251C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1110" y="2118049"/>
            <a:ext cx="6344816" cy="36296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536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ontent Placeholder 1">
            <a:extLst>
              <a:ext uri="{FF2B5EF4-FFF2-40B4-BE49-F238E27FC236}">
                <a16:creationId xmlns:a16="http://schemas.microsoft.com/office/drawing/2014/main" id="{B133F8C4-5783-557B-8201-942805BB9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Social media sites (facebook etc.)</a:t>
            </a:r>
          </a:p>
          <a:p>
            <a:r>
              <a:rPr lang="en-GB" altLang="en-US"/>
              <a:t>Google maps</a:t>
            </a:r>
          </a:p>
          <a:p>
            <a:r>
              <a:rPr lang="en-GB" altLang="en-US"/>
              <a:t>Networking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C3F129-B7FC-86A2-F53D-181C5226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Applications of graph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590</TotalTime>
  <Words>1710</Words>
  <Application>Microsoft Office PowerPoint</Application>
  <PresentationFormat>Widescreen</PresentationFormat>
  <Paragraphs>217</Paragraphs>
  <Slides>53</Slides>
  <Notes>45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Arial</vt:lpstr>
      <vt:lpstr>Calibri</vt:lpstr>
      <vt:lpstr>Calibri Light</vt:lpstr>
      <vt:lpstr>Century Gothic</vt:lpstr>
      <vt:lpstr>Georgia</vt:lpstr>
      <vt:lpstr>Lucida Sans Unicode</vt:lpstr>
      <vt:lpstr>Tahoma</vt:lpstr>
      <vt:lpstr>Times New Roman</vt:lpstr>
      <vt:lpstr>Wingdings</vt:lpstr>
      <vt:lpstr>Retrospect</vt:lpstr>
      <vt:lpstr>Data Structures</vt:lpstr>
      <vt:lpstr>Today’s Goal</vt:lpstr>
      <vt:lpstr>Minimum Spanning Tree</vt:lpstr>
      <vt:lpstr>What is MST </vt:lpstr>
      <vt:lpstr>Cycle Property</vt:lpstr>
      <vt:lpstr>Graph</vt:lpstr>
      <vt:lpstr>Steps for Prim’s Algorithm</vt:lpstr>
      <vt:lpstr>Prim’s Algorithm  Step 1 - Remove all loops and parallel edges</vt:lpstr>
      <vt:lpstr>Step 2 - Choose any arbitrary node as root node </vt:lpstr>
      <vt:lpstr>Step 3 - Check outgoing edges and select the one with less cost </vt:lpstr>
      <vt:lpstr>S-7-A-3-C tree is formed</vt:lpstr>
      <vt:lpstr>S-7-A-3-C-3-D </vt:lpstr>
      <vt:lpstr>FINAL SPANING TREE</vt:lpstr>
      <vt:lpstr>PRIMS EXERCISE</vt:lpstr>
      <vt:lpstr>PowerPoint Presentation</vt:lpstr>
      <vt:lpstr>PowerPoint Presentation</vt:lpstr>
      <vt:lpstr>PowerPoint Presentation</vt:lpstr>
      <vt:lpstr>PowerPoint Presentation</vt:lpstr>
      <vt:lpstr>Application of spanning tree  </vt:lpstr>
      <vt:lpstr>Pseudocode-Prim’s algorithm</vt:lpstr>
      <vt:lpstr>Prims (mst) algorithm example </vt:lpstr>
      <vt:lpstr>Prims (mst) algorithm example </vt:lpstr>
      <vt:lpstr>Kruskal's algorithm</vt:lpstr>
      <vt:lpstr>Kruskal's algorithm</vt:lpstr>
      <vt:lpstr>Steps for Kruskal’s Algorithm</vt:lpstr>
      <vt:lpstr>Kruskal’s algorithm</vt:lpstr>
      <vt:lpstr>Pseudocode-Kruskal’s algorithm</vt:lpstr>
      <vt:lpstr>PowerPoint Presentation</vt:lpstr>
      <vt:lpstr>  Step 1 - Remove all loops and Parallel Edges </vt:lpstr>
      <vt:lpstr>PowerPoint Presentation</vt:lpstr>
      <vt:lpstr>Step 2 - Arrange all edges in their increasing order of weight </vt:lpstr>
      <vt:lpstr>Step 3 - Add the edge which has the least weight  </vt:lpstr>
      <vt:lpstr>PowerPoint Presentation</vt:lpstr>
      <vt:lpstr>PowerPoint Presentation</vt:lpstr>
      <vt:lpstr>PowerPoint Presentation</vt:lpstr>
      <vt:lpstr>PowerPoint Presentation</vt:lpstr>
      <vt:lpstr>Dijkstra Algorithm</vt:lpstr>
      <vt:lpstr>General Description</vt:lpstr>
      <vt:lpstr>Formal Description</vt:lpstr>
      <vt:lpstr>Notation</vt:lpstr>
      <vt:lpstr>Algorithm Steps</vt:lpstr>
      <vt:lpstr>Step 2. Distance Value Update and Current Node Designation Update Let i be the index of the current node.</vt:lpstr>
      <vt:lpstr>Step 3. Termination Criterion If all nodes that can be reached from node s  have been permanently labeled, then stop - we are done.</vt:lpstr>
      <vt:lpstr>Dijkstra’s Algorithm: Example</vt:lpstr>
      <vt:lpstr>Initialization - Step 1</vt:lpstr>
      <vt:lpstr>Step 2</vt:lpstr>
      <vt:lpstr>Step 3</vt:lpstr>
      <vt:lpstr>Another Implementation of Step 2</vt:lpstr>
      <vt:lpstr>Another Step 2</vt:lpstr>
      <vt:lpstr>Another Step 2</vt:lpstr>
      <vt:lpstr>Dijkstra Algorithm</vt:lpstr>
      <vt:lpstr>Dijkstra Algorithm</vt:lpstr>
      <vt:lpstr>Applications of 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and Algorithm</dc:title>
  <dc:creator>Habiba Arshad</dc:creator>
  <cp:lastModifiedBy>Habiba Arshad</cp:lastModifiedBy>
  <cp:revision>54</cp:revision>
  <dcterms:created xsi:type="dcterms:W3CDTF">2022-12-21T05:23:19Z</dcterms:created>
  <dcterms:modified xsi:type="dcterms:W3CDTF">2025-01-15T10:02:52Z</dcterms:modified>
</cp:coreProperties>
</file>