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7" r:id="rId2"/>
    <p:sldId id="360" r:id="rId3"/>
    <p:sldId id="295" r:id="rId4"/>
    <p:sldId id="533" r:id="rId5"/>
    <p:sldId id="296" r:id="rId6"/>
    <p:sldId id="529" r:id="rId7"/>
    <p:sldId id="297" r:id="rId8"/>
    <p:sldId id="534" r:id="rId9"/>
    <p:sldId id="535" r:id="rId10"/>
    <p:sldId id="536" r:id="rId11"/>
    <p:sldId id="537" r:id="rId12"/>
    <p:sldId id="538" r:id="rId13"/>
    <p:sldId id="539" r:id="rId14"/>
    <p:sldId id="540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980" autoAdjust="0"/>
  </p:normalViewPr>
  <p:slideViewPr>
    <p:cSldViewPr snapToGrid="0">
      <p:cViewPr varScale="1">
        <p:scale>
          <a:sx n="75" d="100"/>
          <a:sy n="75" d="100"/>
        </p:scale>
        <p:origin x="9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9DD95-B072-47B1-9365-D8D2A417E8D0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21F61-C48F-40DA-8F31-49E36B7CB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2524973-A2F1-4903-A52E-29D749418B73}" type="slidenum">
              <a:rPr lang="en-US"/>
              <a:t>5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9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2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52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8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1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1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1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7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3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77D9-232E-57A6-651D-F401E149D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885BB-5F97-FC6A-EC08-9141FF4B6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Course code: cs-201</a:t>
            </a:r>
          </a:p>
          <a:p>
            <a:r>
              <a:rPr lang="en-US" dirty="0"/>
              <a:t>Topic: Graphs data structure</a:t>
            </a:r>
          </a:p>
          <a:p>
            <a:r>
              <a:rPr lang="en-US" dirty="0"/>
              <a:t>Instructor: </a:t>
            </a:r>
            <a:r>
              <a:rPr lang="en-US" dirty="0" err="1"/>
              <a:t>habiba</a:t>
            </a:r>
            <a:r>
              <a:rPr lang="en-US" dirty="0"/>
              <a:t> </a:t>
            </a:r>
            <a:r>
              <a:rPr lang="en-US" dirty="0" err="1"/>
              <a:t>arshad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4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A54E-E611-74A6-2AEE-8565ED0F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79E1-CBDC-E5B4-D44F-912EE01B3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Depth First Search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101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Depth First Search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1151069" y="1850315"/>
            <a:ext cx="9635996" cy="4275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Depth-first search: Strategy</a:t>
            </a:r>
          </a:p>
          <a:p>
            <a:pPr marL="0" indent="0">
              <a:buNone/>
            </a:pPr>
            <a:r>
              <a:rPr lang="en-US" sz="2400" dirty="0"/>
              <a:t>Step1: Go as deep as can visiting un-visited nodes</a:t>
            </a:r>
          </a:p>
          <a:p>
            <a:pPr marL="0" indent="0">
              <a:buNone/>
            </a:pPr>
            <a:r>
              <a:rPr lang="en-US" sz="2400" dirty="0"/>
              <a:t>Step 2: Choose any un-visited vertex when you have a choice put it in to the stack</a:t>
            </a:r>
          </a:p>
          <a:p>
            <a:pPr marL="0" indent="0">
              <a:buNone/>
            </a:pPr>
            <a:r>
              <a:rPr lang="en-US" sz="2400" dirty="0"/>
              <a:t>Step 3: If stuck at a dead-end, backtrack as little as possible (pop top) </a:t>
            </a:r>
            <a:r>
              <a:rPr lang="en-US" sz="2400" i="1" dirty="0"/>
              <a:t>Repeat the step 2</a:t>
            </a:r>
          </a:p>
          <a:p>
            <a:pPr marL="0" indent="0">
              <a:buNone/>
            </a:pPr>
            <a:r>
              <a:rPr lang="en-US" sz="2400" dirty="0"/>
              <a:t>Back up to where you could go to another unvisited vertex</a:t>
            </a:r>
          </a:p>
          <a:p>
            <a:pPr marL="0" indent="0">
              <a:buNone/>
            </a:pPr>
            <a:r>
              <a:rPr lang="en-US" sz="2400" dirty="0"/>
              <a:t>Then continue to go on from that point</a:t>
            </a:r>
          </a:p>
          <a:p>
            <a:pPr marL="0" indent="0">
              <a:buNone/>
            </a:pPr>
            <a:r>
              <a:rPr lang="en-US" sz="2400" dirty="0"/>
              <a:t>Step 4: Eventually you</a:t>
            </a:r>
            <a:r>
              <a:rPr lang="ja-JP" altLang="en-US" sz="2400" dirty="0"/>
              <a:t>’</a:t>
            </a:r>
            <a:r>
              <a:rPr lang="en-US" altLang="ja-JP" sz="2400" dirty="0" err="1"/>
              <a:t>ll</a:t>
            </a:r>
            <a:r>
              <a:rPr lang="en-US" altLang="ja-JP" sz="2400" dirty="0"/>
              <a:t> return to where you started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Content Placeholder 1">
            <a:extLst>
              <a:ext uri="{FF2B5EF4-FFF2-40B4-BE49-F238E27FC236}">
                <a16:creationId xmlns:a16="http://schemas.microsoft.com/office/drawing/2014/main" id="{D389E833-97A9-5E67-0BF9-F8DE3CA7B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800" b="1" dirty="0"/>
              <a:t>Depth</a:t>
            </a:r>
            <a:r>
              <a:rPr lang="en-US" altLang="en-US" sz="2800" dirty="0"/>
              <a:t>-</a:t>
            </a:r>
            <a:r>
              <a:rPr lang="en-US" altLang="en-US" sz="2800" b="1" dirty="0"/>
              <a:t>first search</a:t>
            </a:r>
            <a:r>
              <a:rPr lang="en-US" altLang="en-US" sz="2800" dirty="0"/>
              <a:t> is used in topological sorting, scheduling problems, cycle detection in graphs, and solving puzzles with only one solution, such as a maze or a sudoku puzzle. Other </a:t>
            </a:r>
            <a:r>
              <a:rPr lang="en-US" altLang="en-US" sz="2800" b="1" dirty="0"/>
              <a:t>applications</a:t>
            </a:r>
            <a:r>
              <a:rPr lang="en-US" altLang="en-US" sz="2800" dirty="0"/>
              <a:t> involve analyzing networks, for example, testing if a graph is bipartite.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853C44-3B49-828D-CEAB-23D67542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Applications of DFS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228600"/>
            <a:ext cx="7640638" cy="838200"/>
          </a:xfrm>
        </p:spPr>
        <p:txBody>
          <a:bodyPr/>
          <a:lstStyle/>
          <a:p>
            <a:pPr>
              <a:defRPr/>
            </a:pPr>
            <a:r>
              <a:rPr lang="en-US"/>
              <a:t>Depth-first searching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943600" y="1447800"/>
            <a:ext cx="4343400" cy="5029200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r>
              <a:rPr lang="en-US" sz="2400" dirty="0"/>
              <a:t>A </a:t>
            </a:r>
            <a:r>
              <a:rPr lang="en-US" sz="2400" dirty="0">
                <a:solidFill>
                  <a:schemeClr val="tx2"/>
                </a:solidFill>
              </a:rPr>
              <a:t>depth-first</a:t>
            </a:r>
            <a:r>
              <a:rPr lang="en-US" sz="2400" dirty="0"/>
              <a:t> search (</a:t>
            </a:r>
            <a:r>
              <a:rPr lang="en-US" sz="2400" dirty="0">
                <a:solidFill>
                  <a:schemeClr val="tx2"/>
                </a:solidFill>
              </a:rPr>
              <a:t>DFS</a:t>
            </a:r>
            <a:r>
              <a:rPr lang="en-US" sz="2400" dirty="0"/>
              <a:t>) explores a path all the way to a leaf before </a:t>
            </a:r>
            <a:r>
              <a:rPr lang="en-US" sz="2400" dirty="0">
                <a:solidFill>
                  <a:schemeClr val="tx2"/>
                </a:solidFill>
              </a:rPr>
              <a:t>backtracking</a:t>
            </a:r>
            <a:r>
              <a:rPr lang="en-US" sz="2400" dirty="0"/>
              <a:t> and exploring another path</a:t>
            </a:r>
          </a:p>
          <a:p>
            <a:pPr>
              <a:buFont typeface="Monotype Sorts" charset="0"/>
              <a:buNone/>
              <a:defRPr/>
            </a:pPr>
            <a:r>
              <a:rPr lang="en-US" sz="2400" dirty="0"/>
              <a:t>For example, after searching </a:t>
            </a: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A</a:t>
            </a:r>
            <a:r>
              <a:rPr lang="en-US" sz="2400" dirty="0"/>
              <a:t>, then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B</a:t>
            </a:r>
            <a:r>
              <a:rPr lang="en-US" sz="2400" dirty="0"/>
              <a:t>, then </a:t>
            </a: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D</a:t>
            </a:r>
            <a:r>
              <a:rPr lang="en-US" sz="2400" dirty="0"/>
              <a:t>, the search backtracks and tries another path from </a:t>
            </a: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B</a:t>
            </a:r>
          </a:p>
          <a:p>
            <a:pPr>
              <a:buFont typeface="Monotype Sorts" charset="0"/>
              <a:buNone/>
              <a:defRPr/>
            </a:pPr>
            <a:r>
              <a:rPr lang="en-US" sz="2400" dirty="0"/>
              <a:t>Node are explored in the order </a:t>
            </a: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A B D E H L M N I O P C F G J K Q</a:t>
            </a:r>
          </a:p>
          <a:p>
            <a:pPr>
              <a:buFont typeface="Monotype Sorts" charset="0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N</a:t>
            </a:r>
            <a:r>
              <a:rPr lang="en-US" sz="2400" dirty="0"/>
              <a:t> will be found before </a:t>
            </a:r>
            <a:r>
              <a:rPr lang="en-US" sz="2400" dirty="0">
                <a:solidFill>
                  <a:srgbClr val="000000"/>
                </a:solidFill>
                <a:latin typeface="Verdana" panose="020B0604030504040204" charset="0"/>
              </a:rPr>
              <a:t>J</a:t>
            </a: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2133600" y="1828800"/>
            <a:ext cx="3581400" cy="3886200"/>
            <a:chOff x="384" y="1152"/>
            <a:chExt cx="2256" cy="2448"/>
          </a:xfrm>
        </p:grpSpPr>
        <p:sp>
          <p:nvSpPr>
            <p:cNvPr id="7173" name="Oval 5"/>
            <p:cNvSpPr>
              <a:spLocks noChangeArrowheads="1"/>
            </p:cNvSpPr>
            <p:nvPr/>
          </p:nvSpPr>
          <p:spPr bwMode="auto">
            <a:xfrm>
              <a:off x="384" y="336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L</a:t>
              </a:r>
            </a:p>
          </p:txBody>
        </p:sp>
        <p:sp>
          <p:nvSpPr>
            <p:cNvPr id="7174" name="Oval 6"/>
            <p:cNvSpPr>
              <a:spLocks noChangeArrowheads="1"/>
            </p:cNvSpPr>
            <p:nvPr/>
          </p:nvSpPr>
          <p:spPr bwMode="auto">
            <a:xfrm>
              <a:off x="720" y="336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M</a:t>
              </a:r>
            </a:p>
          </p:txBody>
        </p:sp>
        <p:sp>
          <p:nvSpPr>
            <p:cNvPr id="7175" name="Oval 7"/>
            <p:cNvSpPr>
              <a:spLocks noChangeArrowheads="1"/>
            </p:cNvSpPr>
            <p:nvPr/>
          </p:nvSpPr>
          <p:spPr bwMode="auto">
            <a:xfrm>
              <a:off x="1056" y="3360"/>
              <a:ext cx="240" cy="240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N</a:t>
              </a:r>
            </a:p>
          </p:txBody>
        </p:sp>
        <p:sp>
          <p:nvSpPr>
            <p:cNvPr id="7176" name="Oval 8"/>
            <p:cNvSpPr>
              <a:spLocks noChangeArrowheads="1"/>
            </p:cNvSpPr>
            <p:nvPr/>
          </p:nvSpPr>
          <p:spPr bwMode="auto">
            <a:xfrm>
              <a:off x="1392" y="336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O</a:t>
              </a:r>
            </a:p>
          </p:txBody>
        </p:sp>
        <p:sp>
          <p:nvSpPr>
            <p:cNvPr id="7177" name="Oval 9"/>
            <p:cNvSpPr>
              <a:spLocks noChangeArrowheads="1"/>
            </p:cNvSpPr>
            <p:nvPr/>
          </p:nvSpPr>
          <p:spPr bwMode="auto">
            <a:xfrm>
              <a:off x="1728" y="336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P</a:t>
              </a:r>
            </a:p>
          </p:txBody>
        </p:sp>
        <p:sp>
          <p:nvSpPr>
            <p:cNvPr id="7178" name="Oval 10"/>
            <p:cNvSpPr>
              <a:spLocks noChangeArrowheads="1"/>
            </p:cNvSpPr>
            <p:nvPr/>
          </p:nvSpPr>
          <p:spPr bwMode="auto">
            <a:xfrm>
              <a:off x="2208" y="2256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G</a:t>
              </a:r>
            </a:p>
          </p:txBody>
        </p:sp>
        <p:sp>
          <p:nvSpPr>
            <p:cNvPr id="7179" name="Oval 11"/>
            <p:cNvSpPr>
              <a:spLocks noChangeArrowheads="1"/>
            </p:cNvSpPr>
            <p:nvPr/>
          </p:nvSpPr>
          <p:spPr bwMode="auto">
            <a:xfrm>
              <a:off x="2400" y="336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Q</a:t>
              </a:r>
            </a:p>
          </p:txBody>
        </p:sp>
        <p:sp>
          <p:nvSpPr>
            <p:cNvPr id="7180" name="Oval 12"/>
            <p:cNvSpPr>
              <a:spLocks noChangeArrowheads="1"/>
            </p:cNvSpPr>
            <p:nvPr/>
          </p:nvSpPr>
          <p:spPr bwMode="auto">
            <a:xfrm>
              <a:off x="720" y="283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H</a:t>
              </a:r>
            </a:p>
          </p:txBody>
        </p:sp>
        <p:sp>
          <p:nvSpPr>
            <p:cNvPr id="7181" name="Oval 13"/>
            <p:cNvSpPr>
              <a:spLocks noChangeArrowheads="1"/>
            </p:cNvSpPr>
            <p:nvPr/>
          </p:nvSpPr>
          <p:spPr bwMode="auto">
            <a:xfrm>
              <a:off x="2016" y="2832"/>
              <a:ext cx="240" cy="240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J</a:t>
              </a:r>
            </a:p>
          </p:txBody>
        </p:sp>
        <p:sp>
          <p:nvSpPr>
            <p:cNvPr id="7182" name="Oval 14"/>
            <p:cNvSpPr>
              <a:spLocks noChangeArrowheads="1"/>
            </p:cNvSpPr>
            <p:nvPr/>
          </p:nvSpPr>
          <p:spPr bwMode="auto">
            <a:xfrm>
              <a:off x="1536" y="283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I</a:t>
              </a:r>
            </a:p>
          </p:txBody>
        </p:sp>
        <p:sp>
          <p:nvSpPr>
            <p:cNvPr id="7183" name="Oval 15"/>
            <p:cNvSpPr>
              <a:spLocks noChangeArrowheads="1"/>
            </p:cNvSpPr>
            <p:nvPr/>
          </p:nvSpPr>
          <p:spPr bwMode="auto">
            <a:xfrm>
              <a:off x="2400" y="283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K</a:t>
              </a:r>
            </a:p>
          </p:txBody>
        </p:sp>
        <p:sp>
          <p:nvSpPr>
            <p:cNvPr id="7184" name="Oval 16"/>
            <p:cNvSpPr>
              <a:spLocks noChangeArrowheads="1"/>
            </p:cNvSpPr>
            <p:nvPr/>
          </p:nvSpPr>
          <p:spPr bwMode="auto">
            <a:xfrm>
              <a:off x="1776" y="2256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F</a:t>
              </a:r>
            </a:p>
          </p:txBody>
        </p:sp>
        <p:sp>
          <p:nvSpPr>
            <p:cNvPr id="7185" name="Oval 17"/>
            <p:cNvSpPr>
              <a:spLocks noChangeArrowheads="1"/>
            </p:cNvSpPr>
            <p:nvPr/>
          </p:nvSpPr>
          <p:spPr bwMode="auto">
            <a:xfrm>
              <a:off x="1152" y="2256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E</a:t>
              </a:r>
            </a:p>
          </p:txBody>
        </p:sp>
        <p:sp>
          <p:nvSpPr>
            <p:cNvPr id="7186" name="Oval 18"/>
            <p:cNvSpPr>
              <a:spLocks noChangeArrowheads="1"/>
            </p:cNvSpPr>
            <p:nvPr/>
          </p:nvSpPr>
          <p:spPr bwMode="auto">
            <a:xfrm>
              <a:off x="576" y="2256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D</a:t>
              </a:r>
            </a:p>
          </p:txBody>
        </p:sp>
        <p:sp>
          <p:nvSpPr>
            <p:cNvPr id="7187" name="Oval 19"/>
            <p:cNvSpPr>
              <a:spLocks noChangeArrowheads="1"/>
            </p:cNvSpPr>
            <p:nvPr/>
          </p:nvSpPr>
          <p:spPr bwMode="auto">
            <a:xfrm>
              <a:off x="864" y="1728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B</a:t>
              </a:r>
            </a:p>
          </p:txBody>
        </p:sp>
        <p:sp>
          <p:nvSpPr>
            <p:cNvPr id="7188" name="Oval 20"/>
            <p:cNvSpPr>
              <a:spLocks noChangeArrowheads="1"/>
            </p:cNvSpPr>
            <p:nvPr/>
          </p:nvSpPr>
          <p:spPr bwMode="auto">
            <a:xfrm>
              <a:off x="1968" y="1728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C</a:t>
              </a:r>
            </a:p>
          </p:txBody>
        </p:sp>
        <p:sp>
          <p:nvSpPr>
            <p:cNvPr id="7189" name="Oval 21"/>
            <p:cNvSpPr>
              <a:spLocks noChangeArrowheads="1"/>
            </p:cNvSpPr>
            <p:nvPr/>
          </p:nvSpPr>
          <p:spPr bwMode="auto">
            <a:xfrm>
              <a:off x="1392" y="115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2000">
                  <a:latin typeface="Verdana" panose="020B0604030504040204" charset="0"/>
                  <a:ea typeface="MS PGothic" panose="020B0600070205080204" charset="-128"/>
                  <a:cs typeface="MS PGothic" panose="020B0600070205080204" charset="-128"/>
                </a:rPr>
                <a:t>A</a:t>
              </a:r>
            </a:p>
          </p:txBody>
        </p:sp>
        <p:sp>
          <p:nvSpPr>
            <p:cNvPr id="7190" name="Line 22"/>
            <p:cNvSpPr>
              <a:spLocks noChangeShapeType="1"/>
            </p:cNvSpPr>
            <p:nvPr/>
          </p:nvSpPr>
          <p:spPr bwMode="auto">
            <a:xfrm flipV="1">
              <a:off x="1056" y="1344"/>
              <a:ext cx="384" cy="3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1" name="Line 23"/>
            <p:cNvSpPr>
              <a:spLocks noChangeShapeType="1"/>
            </p:cNvSpPr>
            <p:nvPr/>
          </p:nvSpPr>
          <p:spPr bwMode="auto">
            <a:xfrm>
              <a:off x="1584" y="1344"/>
              <a:ext cx="432" cy="43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2" name="Line 24"/>
            <p:cNvSpPr>
              <a:spLocks noChangeShapeType="1"/>
            </p:cNvSpPr>
            <p:nvPr/>
          </p:nvSpPr>
          <p:spPr bwMode="auto">
            <a:xfrm flipH="1">
              <a:off x="720" y="1968"/>
              <a:ext cx="192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3" name="Line 25"/>
            <p:cNvSpPr>
              <a:spLocks noChangeShapeType="1"/>
            </p:cNvSpPr>
            <p:nvPr/>
          </p:nvSpPr>
          <p:spPr bwMode="auto">
            <a:xfrm>
              <a:off x="1056" y="1968"/>
              <a:ext cx="192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4" name="Line 26"/>
            <p:cNvSpPr>
              <a:spLocks noChangeShapeType="1"/>
            </p:cNvSpPr>
            <p:nvPr/>
          </p:nvSpPr>
          <p:spPr bwMode="auto">
            <a:xfrm flipH="1">
              <a:off x="1920" y="1968"/>
              <a:ext cx="96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5" name="Line 27"/>
            <p:cNvSpPr>
              <a:spLocks noChangeShapeType="1"/>
            </p:cNvSpPr>
            <p:nvPr/>
          </p:nvSpPr>
          <p:spPr bwMode="auto">
            <a:xfrm>
              <a:off x="2160" y="1968"/>
              <a:ext cx="144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 flipV="1">
              <a:off x="816" y="2448"/>
              <a:ext cx="384" cy="3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7" name="Line 29"/>
            <p:cNvSpPr>
              <a:spLocks noChangeShapeType="1"/>
            </p:cNvSpPr>
            <p:nvPr/>
          </p:nvSpPr>
          <p:spPr bwMode="auto">
            <a:xfrm flipH="1" flipV="1">
              <a:off x="1344" y="2448"/>
              <a:ext cx="240" cy="3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8" name="Line 30"/>
            <p:cNvSpPr>
              <a:spLocks noChangeShapeType="1"/>
            </p:cNvSpPr>
            <p:nvPr/>
          </p:nvSpPr>
          <p:spPr bwMode="auto">
            <a:xfrm flipV="1">
              <a:off x="2160" y="2496"/>
              <a:ext cx="144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199" name="Line 31"/>
            <p:cNvSpPr>
              <a:spLocks noChangeShapeType="1"/>
            </p:cNvSpPr>
            <p:nvPr/>
          </p:nvSpPr>
          <p:spPr bwMode="auto">
            <a:xfrm flipH="1" flipV="1">
              <a:off x="2352" y="2496"/>
              <a:ext cx="144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200" name="Line 32"/>
            <p:cNvSpPr>
              <a:spLocks noChangeShapeType="1"/>
            </p:cNvSpPr>
            <p:nvPr/>
          </p:nvSpPr>
          <p:spPr bwMode="auto">
            <a:xfrm flipV="1">
              <a:off x="528" y="3024"/>
              <a:ext cx="240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201" name="Line 33"/>
            <p:cNvSpPr>
              <a:spLocks noChangeShapeType="1"/>
            </p:cNvSpPr>
            <p:nvPr/>
          </p:nvSpPr>
          <p:spPr bwMode="auto">
            <a:xfrm flipV="1">
              <a:off x="816" y="3072"/>
              <a:ext cx="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202" name="Line 34"/>
            <p:cNvSpPr>
              <a:spLocks noChangeShapeType="1"/>
            </p:cNvSpPr>
            <p:nvPr/>
          </p:nvSpPr>
          <p:spPr bwMode="auto">
            <a:xfrm flipH="1" flipV="1">
              <a:off x="912" y="3072"/>
              <a:ext cx="24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203" name="Line 35"/>
            <p:cNvSpPr>
              <a:spLocks noChangeShapeType="1"/>
            </p:cNvSpPr>
            <p:nvPr/>
          </p:nvSpPr>
          <p:spPr bwMode="auto">
            <a:xfrm flipV="1">
              <a:off x="1536" y="3072"/>
              <a:ext cx="96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204" name="Line 36"/>
            <p:cNvSpPr>
              <a:spLocks noChangeShapeType="1"/>
            </p:cNvSpPr>
            <p:nvPr/>
          </p:nvSpPr>
          <p:spPr bwMode="auto">
            <a:xfrm flipH="1" flipV="1">
              <a:off x="1680" y="3072"/>
              <a:ext cx="144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7205" name="Line 37"/>
            <p:cNvSpPr>
              <a:spLocks noChangeShapeType="1"/>
            </p:cNvSpPr>
            <p:nvPr/>
          </p:nvSpPr>
          <p:spPr bwMode="auto">
            <a:xfrm flipV="1">
              <a:off x="2496" y="3072"/>
              <a:ext cx="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</p:grpSp>
      <p:sp>
        <p:nvSpPr>
          <p:cNvPr id="7208" name="Freeform 40"/>
          <p:cNvSpPr/>
          <p:nvPr/>
        </p:nvSpPr>
        <p:spPr bwMode="auto">
          <a:xfrm>
            <a:off x="2198688" y="1754189"/>
            <a:ext cx="1993900" cy="3836987"/>
          </a:xfrm>
          <a:custGeom>
            <a:avLst/>
            <a:gdLst>
              <a:gd name="T0" fmla="*/ 1993900 w 1256"/>
              <a:gd name="T1" fmla="*/ 0 h 2417"/>
              <a:gd name="T2" fmla="*/ 1284288 w 1256"/>
              <a:gd name="T3" fmla="*/ 593725 h 2417"/>
              <a:gd name="T4" fmla="*/ 849313 w 1256"/>
              <a:gd name="T5" fmla="*/ 1144587 h 2417"/>
              <a:gd name="T6" fmla="*/ 390525 w 1256"/>
              <a:gd name="T7" fmla="*/ 2058987 h 2417"/>
              <a:gd name="T8" fmla="*/ 390525 w 1256"/>
              <a:gd name="T9" fmla="*/ 2363787 h 2417"/>
              <a:gd name="T10" fmla="*/ 585788 w 1256"/>
              <a:gd name="T11" fmla="*/ 2365375 h 2417"/>
              <a:gd name="T12" fmla="*/ 841375 w 1256"/>
              <a:gd name="T13" fmla="*/ 1492250 h 2417"/>
              <a:gd name="T14" fmla="*/ 962025 w 1256"/>
              <a:gd name="T15" fmla="*/ 1465262 h 2417"/>
              <a:gd name="T16" fmla="*/ 1306513 w 1256"/>
              <a:gd name="T17" fmla="*/ 1906587 h 2417"/>
              <a:gd name="T18" fmla="*/ 1295400 w 1256"/>
              <a:gd name="T19" fmla="*/ 2155825 h 2417"/>
              <a:gd name="T20" fmla="*/ 620713 w 1256"/>
              <a:gd name="T21" fmla="*/ 2974975 h 2417"/>
              <a:gd name="T22" fmla="*/ 63500 w 1256"/>
              <a:gd name="T23" fmla="*/ 3706812 h 2417"/>
              <a:gd name="T24" fmla="*/ 238125 w 1256"/>
              <a:gd name="T25" fmla="*/ 3736975 h 2417"/>
              <a:gd name="T26" fmla="*/ 585788 w 1256"/>
              <a:gd name="T27" fmla="*/ 3197225 h 2417"/>
              <a:gd name="T28" fmla="*/ 585788 w 1256"/>
              <a:gd name="T29" fmla="*/ 3746500 h 2417"/>
              <a:gd name="T30" fmla="*/ 773113 w 1256"/>
              <a:gd name="T31" fmla="*/ 3736975 h 2417"/>
              <a:gd name="T32" fmla="*/ 720725 w 1256"/>
              <a:gd name="T33" fmla="*/ 3222625 h 2417"/>
              <a:gd name="T34" fmla="*/ 1016000 w 1256"/>
              <a:gd name="T35" fmla="*/ 3571875 h 241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256" h="2417">
                <a:moveTo>
                  <a:pt x="1256" y="0"/>
                </a:moveTo>
                <a:cubicBezTo>
                  <a:pt x="1181" y="62"/>
                  <a:pt x="929" y="254"/>
                  <a:pt x="809" y="374"/>
                </a:cubicBezTo>
                <a:cubicBezTo>
                  <a:pt x="689" y="494"/>
                  <a:pt x="629" y="567"/>
                  <a:pt x="535" y="721"/>
                </a:cubicBezTo>
                <a:cubicBezTo>
                  <a:pt x="441" y="875"/>
                  <a:pt x="295" y="1169"/>
                  <a:pt x="246" y="1297"/>
                </a:cubicBezTo>
                <a:cubicBezTo>
                  <a:pt x="198" y="1425"/>
                  <a:pt x="226" y="1457"/>
                  <a:pt x="246" y="1489"/>
                </a:cubicBezTo>
                <a:cubicBezTo>
                  <a:pt x="266" y="1521"/>
                  <a:pt x="322" y="1581"/>
                  <a:pt x="369" y="1490"/>
                </a:cubicBezTo>
                <a:cubicBezTo>
                  <a:pt x="416" y="1399"/>
                  <a:pt x="491" y="1034"/>
                  <a:pt x="530" y="940"/>
                </a:cubicBezTo>
                <a:cubicBezTo>
                  <a:pt x="569" y="846"/>
                  <a:pt x="557" y="880"/>
                  <a:pt x="606" y="923"/>
                </a:cubicBezTo>
                <a:cubicBezTo>
                  <a:pt x="655" y="966"/>
                  <a:pt x="788" y="1129"/>
                  <a:pt x="823" y="1201"/>
                </a:cubicBezTo>
                <a:cubicBezTo>
                  <a:pt x="858" y="1273"/>
                  <a:pt x="888" y="1246"/>
                  <a:pt x="816" y="1358"/>
                </a:cubicBezTo>
                <a:cubicBezTo>
                  <a:pt x="744" y="1470"/>
                  <a:pt x="520" y="1711"/>
                  <a:pt x="391" y="1874"/>
                </a:cubicBezTo>
                <a:cubicBezTo>
                  <a:pt x="262" y="2037"/>
                  <a:pt x="80" y="2255"/>
                  <a:pt x="40" y="2335"/>
                </a:cubicBezTo>
                <a:cubicBezTo>
                  <a:pt x="0" y="2415"/>
                  <a:pt x="95" y="2407"/>
                  <a:pt x="150" y="2354"/>
                </a:cubicBezTo>
                <a:cubicBezTo>
                  <a:pt x="205" y="2301"/>
                  <a:pt x="333" y="2013"/>
                  <a:pt x="369" y="2014"/>
                </a:cubicBezTo>
                <a:cubicBezTo>
                  <a:pt x="405" y="2015"/>
                  <a:pt x="349" y="2303"/>
                  <a:pt x="369" y="2360"/>
                </a:cubicBezTo>
                <a:cubicBezTo>
                  <a:pt x="389" y="2417"/>
                  <a:pt x="473" y="2409"/>
                  <a:pt x="487" y="2354"/>
                </a:cubicBezTo>
                <a:cubicBezTo>
                  <a:pt x="501" y="2299"/>
                  <a:pt x="429" y="2047"/>
                  <a:pt x="454" y="2030"/>
                </a:cubicBezTo>
                <a:cubicBezTo>
                  <a:pt x="479" y="2013"/>
                  <a:pt x="601" y="2204"/>
                  <a:pt x="640" y="225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4" autoUpdateAnimBg="0"/>
      <p:bldP spid="720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Depth First Search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EBD18C-9251-47CE-8D3C-AE78F5800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1" y="1268236"/>
            <a:ext cx="7514814" cy="528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8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DFS Algorithm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82588"/>
            <a:ext cx="8229600" cy="4243576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create a stack S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mark v as visited and push v onto S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while S is non-empty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	peek at the top u of S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	if u has an (unvisited)</a:t>
            </a:r>
            <a:r>
              <a:rPr lang="en-US" sz="2800" i="1" dirty="0" err="1"/>
              <a:t>neighbour</a:t>
            </a:r>
            <a:r>
              <a:rPr lang="en-US" sz="2800" i="1" dirty="0"/>
              <a:t> w,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		mark w and push it onto S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	else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sz="2800" i="1" dirty="0"/>
              <a:t>		pop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3EE2AD-2A49-8583-EE8E-32D011B9515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62768" y="1715209"/>
            <a:ext cx="11066463" cy="3938588"/>
          </a:xfrm>
        </p:spPr>
      </p:pic>
    </p:spTree>
    <p:extLst>
      <p:ext uri="{BB962C8B-B14F-4D97-AF65-F5344CB8AC3E}">
        <p14:creationId xmlns:p14="http://schemas.microsoft.com/office/powerpoint/2010/main" val="328715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BA6A1-00E1-1672-D3A8-48053C140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4" y="1577296"/>
            <a:ext cx="11474952" cy="37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4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48D2F4-3484-9245-ACA7-ED5F782BC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7" y="1376979"/>
            <a:ext cx="11433556" cy="367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1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62273-E608-2B1E-5454-BD3ABB42E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90" y="1538343"/>
            <a:ext cx="10977597" cy="350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41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5FC54-A902-CD1B-6862-798C89578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9" y="1624405"/>
            <a:ext cx="10987625" cy="347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5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860C9-F9F3-9764-934A-67D27BD64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62" y="1376979"/>
            <a:ext cx="11221238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70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A2B92-66E6-9CC8-CC01-B8D79082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7" y="860612"/>
            <a:ext cx="10884946" cy="352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562FAD-0F87-4286-5D9D-6EF9D2724F55}"/>
              </a:ext>
            </a:extLst>
          </p:cNvPr>
          <p:cNvSpPr txBox="1"/>
          <p:nvPr/>
        </p:nvSpPr>
        <p:spPr>
          <a:xfrm>
            <a:off x="1333949" y="4690334"/>
            <a:ext cx="98109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As C does not have any unvisited adjacent node so we keep popping the stack until we find a node that has an unvisited adjacent node. In this case, there's none and we keep popping until the stack is empty.</a:t>
            </a:r>
          </a:p>
        </p:txBody>
      </p:sp>
    </p:spTree>
    <p:extLst>
      <p:ext uri="{BB962C8B-B14F-4D97-AF65-F5344CB8AC3E}">
        <p14:creationId xmlns:p14="http://schemas.microsoft.com/office/powerpoint/2010/main" val="3333500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ym typeface="Symbol" panose="05050102010706020507" charset="0"/>
              </a:rPr>
              <a:t>Undirected</a:t>
            </a:r>
            <a:r>
              <a:rPr lang="en-US" dirty="0">
                <a:cs typeface="+mj-cs"/>
              </a:rPr>
              <a:t> Depth First Search</a:t>
            </a:r>
          </a:p>
        </p:txBody>
      </p:sp>
      <p:sp>
        <p:nvSpPr>
          <p:cNvPr id="397356" name="Text Box 44"/>
          <p:cNvSpPr txBox="1">
            <a:spLocks noChangeArrowheads="1"/>
          </p:cNvSpPr>
          <p:nvPr/>
        </p:nvSpPr>
        <p:spPr bwMode="auto">
          <a:xfrm>
            <a:off x="7734301" y="2979987"/>
            <a:ext cx="1788951" cy="300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u="sng">
                <a:latin typeface="Arial" panose="020B0604020202020204" pitchFamily="34" charset="0"/>
                <a:ea typeface="MS PGothic" panose="020B0600070205080204" charset="-128"/>
              </a:rPr>
              <a:t>Adjacency Lists</a:t>
            </a:r>
          </a:p>
          <a:p>
            <a:pPr algn="l">
              <a:spcBef>
                <a:spcPct val="50000"/>
              </a:spcBef>
              <a:defRPr/>
            </a:pP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A:  F C B G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B:  A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C:  A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D:  F E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E:  G F D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F:  A E D: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G:  E A: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H:  I:</a:t>
            </a:r>
            <a:br>
              <a:rPr lang="en-US">
                <a:latin typeface="Courier New" panose="02070309020205020404" charset="0"/>
                <a:ea typeface="MS PGothic" panose="020B0600070205080204" charset="-128"/>
              </a:rPr>
            </a:br>
            <a:r>
              <a:rPr lang="en-US">
                <a:latin typeface="Courier New" panose="02070309020205020404" charset="0"/>
                <a:ea typeface="MS PGothic" panose="020B0600070205080204" charset="-128"/>
              </a:rPr>
              <a:t>I:  H:</a:t>
            </a:r>
          </a:p>
        </p:txBody>
      </p:sp>
      <p:sp>
        <p:nvSpPr>
          <p:cNvPr id="397373" name="Oval 61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397374" name="Oval 62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397375" name="Oval 63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397376" name="AutoShape 64"/>
          <p:cNvCxnSpPr>
            <a:cxnSpLocks noChangeShapeType="1"/>
            <a:stCxn id="397373" idx="0"/>
            <a:endCxn id="397374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397377" name="Oval 65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397378" name="AutoShape 66"/>
          <p:cNvCxnSpPr>
            <a:cxnSpLocks noChangeShapeType="1"/>
            <a:stCxn id="397374" idx="5"/>
            <a:endCxn id="397377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397379" name="Oval 67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397380" name="AutoShape 68"/>
          <p:cNvCxnSpPr>
            <a:cxnSpLocks noChangeShapeType="1"/>
            <a:stCxn id="397374" idx="6"/>
            <a:endCxn id="397379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397381" name="Oval 69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397382" name="Oval 70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397383" name="AutoShape 71"/>
          <p:cNvCxnSpPr>
            <a:cxnSpLocks noChangeShapeType="1"/>
            <a:stCxn id="397374" idx="4"/>
            <a:endCxn id="397375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397384" name="AutoShape 72"/>
          <p:cNvCxnSpPr>
            <a:cxnSpLocks noChangeShapeType="1"/>
            <a:stCxn id="397382" idx="2"/>
            <a:endCxn id="397381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397385" name="AutoShape 73"/>
          <p:cNvCxnSpPr>
            <a:cxnSpLocks noChangeShapeType="1"/>
            <a:stCxn id="397382" idx="3"/>
            <a:endCxn id="397373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397386" name="AutoShape 74"/>
          <p:cNvCxnSpPr>
            <a:cxnSpLocks noChangeShapeType="1"/>
            <a:stCxn id="397373" idx="7"/>
            <a:endCxn id="397381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397387" name="AutoShape 75"/>
          <p:cNvCxnSpPr>
            <a:cxnSpLocks noChangeShapeType="1"/>
            <a:stCxn id="397382" idx="7"/>
            <a:endCxn id="397379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397388" name="Oval 76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397389" name="Oval 77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397390" name="AutoShape 78"/>
          <p:cNvCxnSpPr>
            <a:cxnSpLocks noChangeShapeType="1"/>
            <a:stCxn id="397388" idx="6"/>
            <a:endCxn id="397389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7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Undirected Depth First Search</a:t>
            </a:r>
          </a:p>
        </p:txBody>
      </p:sp>
      <p:sp>
        <p:nvSpPr>
          <p:cNvPr id="431106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1108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1109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1110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1111" name="AutoShape 7"/>
          <p:cNvCxnSpPr>
            <a:cxnSpLocks noChangeShapeType="1"/>
            <a:stCxn id="431108" idx="0"/>
            <a:endCxn id="431109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1112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1113" name="AutoShape 9"/>
          <p:cNvCxnSpPr>
            <a:cxnSpLocks noChangeShapeType="1"/>
            <a:stCxn id="431109" idx="5"/>
            <a:endCxn id="431112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1114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1115" name="AutoShape 11"/>
          <p:cNvCxnSpPr>
            <a:cxnSpLocks noChangeShapeType="1"/>
            <a:stCxn id="431109" idx="6"/>
            <a:endCxn id="431114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1116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1117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1118" name="AutoShape 14"/>
          <p:cNvCxnSpPr>
            <a:cxnSpLocks noChangeShapeType="1"/>
            <a:stCxn id="431109" idx="4"/>
            <a:endCxn id="431110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1119" name="AutoShape 15"/>
          <p:cNvCxnSpPr>
            <a:cxnSpLocks noChangeShapeType="1"/>
            <a:stCxn id="431117" idx="2"/>
            <a:endCxn id="431116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1120" name="AutoShape 16"/>
          <p:cNvCxnSpPr>
            <a:cxnSpLocks noChangeShapeType="1"/>
            <a:stCxn id="431117" idx="3"/>
            <a:endCxn id="431108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1121" name="AutoShape 17"/>
          <p:cNvCxnSpPr>
            <a:cxnSpLocks noChangeShapeType="1"/>
            <a:stCxn id="431108" idx="7"/>
            <a:endCxn id="431116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1122" name="AutoShape 18"/>
          <p:cNvCxnSpPr>
            <a:cxnSpLocks noChangeShapeType="1"/>
            <a:stCxn id="431117" idx="7"/>
            <a:endCxn id="431114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1123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1125" name="Text Box 21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1126" name="Text Box 22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1127" name="Text Box 23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1128" name="Text Box 24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1129" name="Oval 25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1130" name="AutoShape 26"/>
          <p:cNvCxnSpPr>
            <a:cxnSpLocks noChangeShapeType="1"/>
            <a:stCxn id="431123" idx="6"/>
            <a:endCxn id="431129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1131" name="Text Box 27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1132" name="AutoShape 28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1133" name="AutoShape 29"/>
          <p:cNvCxnSpPr>
            <a:cxnSpLocks noChangeShapeType="1"/>
            <a:stCxn id="431108" idx="0"/>
            <a:endCxn id="431109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1136" name="Rectangle 32"/>
          <p:cNvSpPr>
            <a:spLocks noChangeArrowheads="1"/>
          </p:cNvSpPr>
          <p:nvPr/>
        </p:nvSpPr>
        <p:spPr bwMode="auto">
          <a:xfrm>
            <a:off x="1828800" y="3962400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 newly discovered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36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2132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2133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2134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2135" name="AutoShape 7"/>
          <p:cNvCxnSpPr>
            <a:cxnSpLocks noChangeShapeType="1"/>
            <a:stCxn id="432132" idx="0"/>
            <a:endCxn id="432133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2136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2137" name="AutoShape 9"/>
          <p:cNvCxnSpPr>
            <a:cxnSpLocks noChangeShapeType="1"/>
            <a:stCxn id="432133" idx="5"/>
            <a:endCxn id="432136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2138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2139" name="AutoShape 11"/>
          <p:cNvCxnSpPr>
            <a:cxnSpLocks noChangeShapeType="1"/>
            <a:stCxn id="432133" idx="6"/>
            <a:endCxn id="432138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2140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2141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2142" name="AutoShape 14"/>
          <p:cNvCxnSpPr>
            <a:cxnSpLocks noChangeShapeType="1"/>
            <a:stCxn id="432133" idx="4"/>
            <a:endCxn id="432134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2143" name="AutoShape 15"/>
          <p:cNvCxnSpPr>
            <a:cxnSpLocks noChangeShapeType="1"/>
            <a:stCxn id="432141" idx="2"/>
            <a:endCxn id="432140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2144" name="AutoShape 16"/>
          <p:cNvCxnSpPr>
            <a:cxnSpLocks noChangeShapeType="1"/>
            <a:stCxn id="432141" idx="3"/>
            <a:endCxn id="432132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2145" name="AutoShape 17"/>
          <p:cNvCxnSpPr>
            <a:cxnSpLocks noChangeShapeType="1"/>
            <a:stCxn id="432132" idx="7"/>
            <a:endCxn id="432140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2146" name="AutoShape 18"/>
          <p:cNvCxnSpPr>
            <a:cxnSpLocks noChangeShapeType="1"/>
            <a:stCxn id="432141" idx="7"/>
            <a:endCxn id="432138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2147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2148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2149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2150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2151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2152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2153" name="AutoShape 25"/>
          <p:cNvCxnSpPr>
            <a:cxnSpLocks noChangeShapeType="1"/>
            <a:stCxn id="432147" idx="6"/>
            <a:endCxn id="432152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2154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2155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2156" name="AutoShape 28"/>
          <p:cNvCxnSpPr>
            <a:cxnSpLocks noChangeShapeType="1"/>
            <a:stCxn id="432132" idx="0"/>
            <a:endCxn id="432133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2157" name="Text Box 29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32158" name="AutoShape 30"/>
          <p:cNvSpPr>
            <a:spLocks noChangeArrowheads="1"/>
          </p:cNvSpPr>
          <p:nvPr/>
        </p:nvSpPr>
        <p:spPr bwMode="auto">
          <a:xfrm>
            <a:off x="7239001" y="53340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2161" name="Rectangle 33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61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3156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3157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3158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3159" name="AutoShape 7"/>
          <p:cNvCxnSpPr>
            <a:cxnSpLocks noChangeShapeType="1"/>
            <a:stCxn id="433156" idx="0"/>
            <a:endCxn id="433157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3160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3161" name="AutoShape 9"/>
          <p:cNvCxnSpPr>
            <a:cxnSpLocks noChangeShapeType="1"/>
            <a:stCxn id="433157" idx="5"/>
            <a:endCxn id="433160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3162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3163" name="AutoShape 11"/>
          <p:cNvCxnSpPr>
            <a:cxnSpLocks noChangeShapeType="1"/>
            <a:stCxn id="433157" idx="6"/>
            <a:endCxn id="433162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3164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3165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3166" name="AutoShape 14"/>
          <p:cNvCxnSpPr>
            <a:cxnSpLocks noChangeShapeType="1"/>
            <a:stCxn id="433157" idx="4"/>
            <a:endCxn id="433158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3167" name="AutoShape 15"/>
          <p:cNvCxnSpPr>
            <a:cxnSpLocks noChangeShapeType="1"/>
            <a:stCxn id="433165" idx="2"/>
            <a:endCxn id="433164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3168" name="AutoShape 16"/>
          <p:cNvCxnSpPr>
            <a:cxnSpLocks noChangeShapeType="1"/>
            <a:stCxn id="433165" idx="3"/>
            <a:endCxn id="433156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3169" name="AutoShape 17"/>
          <p:cNvCxnSpPr>
            <a:cxnSpLocks noChangeShapeType="1"/>
            <a:stCxn id="433156" idx="7"/>
            <a:endCxn id="433164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3170" name="AutoShape 18"/>
          <p:cNvCxnSpPr>
            <a:cxnSpLocks noChangeShapeType="1"/>
            <a:stCxn id="433165" idx="7"/>
            <a:endCxn id="433162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3171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3172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3173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3174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3175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3176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3177" name="AutoShape 25"/>
          <p:cNvCxnSpPr>
            <a:cxnSpLocks noChangeShapeType="1"/>
            <a:stCxn id="433171" idx="6"/>
            <a:endCxn id="433176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3178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3179" name="AutoShape 27"/>
          <p:cNvSpPr>
            <a:spLocks noChangeArrowheads="1"/>
          </p:cNvSpPr>
          <p:nvPr/>
        </p:nvSpPr>
        <p:spPr bwMode="auto">
          <a:xfrm>
            <a:off x="7418388" y="6237288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3180" name="AutoShape 28"/>
          <p:cNvCxnSpPr>
            <a:cxnSpLocks noChangeShapeType="1"/>
            <a:stCxn id="433156" idx="6"/>
            <a:endCxn id="433165" idx="3"/>
          </p:cNvCxnSpPr>
          <p:nvPr/>
        </p:nvCxnSpPr>
        <p:spPr bwMode="auto">
          <a:xfrm flipV="1">
            <a:off x="4122738" y="3544888"/>
            <a:ext cx="1712912" cy="798512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3181" name="Text Box 29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3182" name="AutoShape 30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grpSp>
        <p:nvGrpSpPr>
          <p:cNvPr id="2" name="Group 34"/>
          <p:cNvGrpSpPr/>
          <p:nvPr/>
        </p:nvGrpSpPr>
        <p:grpSpPr bwMode="auto">
          <a:xfrm>
            <a:off x="5791200" y="3276600"/>
            <a:ext cx="2209800" cy="609600"/>
            <a:chOff x="2688" y="2064"/>
            <a:chExt cx="1392" cy="384"/>
          </a:xfrm>
        </p:grpSpPr>
        <p:sp>
          <p:nvSpPr>
            <p:cNvPr id="433184" name="Rectangle 32"/>
            <p:cNvSpPr>
              <a:spLocks noChangeArrowheads="1"/>
            </p:cNvSpPr>
            <p:nvPr/>
          </p:nvSpPr>
          <p:spPr bwMode="auto">
            <a:xfrm>
              <a:off x="3024" y="2064"/>
              <a:ext cx="1056" cy="384"/>
            </a:xfrm>
            <a:prstGeom prst="rect">
              <a:avLst/>
            </a:prstGeom>
            <a:solidFill>
              <a:schemeClr val="accent2"/>
            </a:solidFill>
            <a:ln w="158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E newly discovered</a:t>
              </a:r>
            </a:p>
          </p:txBody>
        </p:sp>
        <p:sp>
          <p:nvSpPr>
            <p:cNvPr id="433185" name="Oval 33"/>
            <p:cNvSpPr>
              <a:spLocks noChangeAspect="1" noChangeArrowheads="1"/>
            </p:cNvSpPr>
            <p:nvPr/>
          </p:nvSpPr>
          <p:spPr bwMode="auto">
            <a:xfrm>
              <a:off x="2688" y="2064"/>
              <a:ext cx="192" cy="192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E</a:t>
              </a:r>
            </a:p>
          </p:txBody>
        </p:sp>
      </p:grp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4180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4181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4182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4183" name="AutoShape 7"/>
          <p:cNvCxnSpPr>
            <a:cxnSpLocks noChangeShapeType="1"/>
            <a:stCxn id="434180" idx="0"/>
            <a:endCxn id="434181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4184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4185" name="AutoShape 9"/>
          <p:cNvCxnSpPr>
            <a:cxnSpLocks noChangeShapeType="1"/>
            <a:stCxn id="434181" idx="5"/>
            <a:endCxn id="434184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4186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4187" name="AutoShape 11"/>
          <p:cNvCxnSpPr>
            <a:cxnSpLocks noChangeShapeType="1"/>
            <a:stCxn id="434181" idx="6"/>
            <a:endCxn id="434186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4188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4189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4190" name="AutoShape 14"/>
          <p:cNvCxnSpPr>
            <a:cxnSpLocks noChangeShapeType="1"/>
            <a:stCxn id="434181" idx="4"/>
            <a:endCxn id="434182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4191" name="AutoShape 15"/>
          <p:cNvCxnSpPr>
            <a:cxnSpLocks noChangeShapeType="1"/>
            <a:stCxn id="434189" idx="2"/>
            <a:endCxn id="434188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4192" name="AutoShape 16"/>
          <p:cNvCxnSpPr>
            <a:cxnSpLocks noChangeShapeType="1"/>
            <a:stCxn id="434189" idx="3"/>
            <a:endCxn id="434180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4193" name="AutoShape 17"/>
          <p:cNvCxnSpPr>
            <a:cxnSpLocks noChangeShapeType="1"/>
            <a:stCxn id="434180" idx="7"/>
            <a:endCxn id="434188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4194" name="AutoShape 18"/>
          <p:cNvCxnSpPr>
            <a:cxnSpLocks noChangeShapeType="1"/>
            <a:stCxn id="434189" idx="7"/>
            <a:endCxn id="434186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4195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4196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4197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4198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4199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4200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4201" name="AutoShape 25"/>
          <p:cNvCxnSpPr>
            <a:cxnSpLocks noChangeShapeType="1"/>
            <a:stCxn id="434195" idx="6"/>
            <a:endCxn id="434200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4202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4203" name="AutoShape 27"/>
          <p:cNvSpPr>
            <a:spLocks noChangeArrowheads="1"/>
          </p:cNvSpPr>
          <p:nvPr/>
        </p:nvSpPr>
        <p:spPr bwMode="auto">
          <a:xfrm>
            <a:off x="7418388" y="6237288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4205" name="Text Box 29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4206" name="AutoShape 30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4208" name="Text Box 32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34209" name="AutoShape 33"/>
          <p:cNvSpPr>
            <a:spLocks noChangeArrowheads="1"/>
          </p:cNvSpPr>
          <p:nvPr/>
        </p:nvSpPr>
        <p:spPr bwMode="auto">
          <a:xfrm>
            <a:off x="7239000" y="4471988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4210" name="AutoShape 34"/>
          <p:cNvCxnSpPr>
            <a:cxnSpLocks noChangeShapeType="1"/>
            <a:stCxn id="434186" idx="3"/>
            <a:endCxn id="434189" idx="7"/>
          </p:cNvCxnSpPr>
          <p:nvPr/>
        </p:nvCxnSpPr>
        <p:spPr bwMode="auto">
          <a:xfrm flipH="1">
            <a:off x="6051550" y="2684463"/>
            <a:ext cx="850900" cy="62865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grpSp>
        <p:nvGrpSpPr>
          <p:cNvPr id="2" name="Group 35"/>
          <p:cNvGrpSpPr/>
          <p:nvPr/>
        </p:nvGrpSpPr>
        <p:grpSpPr bwMode="auto">
          <a:xfrm>
            <a:off x="6858000" y="2413000"/>
            <a:ext cx="2209800" cy="609600"/>
            <a:chOff x="2688" y="2064"/>
            <a:chExt cx="1392" cy="384"/>
          </a:xfrm>
        </p:grpSpPr>
        <p:sp>
          <p:nvSpPr>
            <p:cNvPr id="434212" name="Rectangle 36"/>
            <p:cNvSpPr>
              <a:spLocks noChangeArrowheads="1"/>
            </p:cNvSpPr>
            <p:nvPr/>
          </p:nvSpPr>
          <p:spPr bwMode="auto">
            <a:xfrm>
              <a:off x="3024" y="2064"/>
              <a:ext cx="1056" cy="384"/>
            </a:xfrm>
            <a:prstGeom prst="rect">
              <a:avLst/>
            </a:prstGeom>
            <a:solidFill>
              <a:schemeClr val="accent2"/>
            </a:solidFill>
            <a:ln w="158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G newly discovered</a:t>
              </a:r>
            </a:p>
          </p:txBody>
        </p:sp>
        <p:sp>
          <p:nvSpPr>
            <p:cNvPr id="434213" name="Oval 37"/>
            <p:cNvSpPr>
              <a:spLocks noChangeAspect="1" noChangeArrowheads="1"/>
            </p:cNvSpPr>
            <p:nvPr/>
          </p:nvSpPr>
          <p:spPr bwMode="auto">
            <a:xfrm>
              <a:off x="2688" y="2064"/>
              <a:ext cx="192" cy="192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G</a:t>
              </a:r>
            </a:p>
          </p:txBody>
        </p:sp>
      </p:grp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5204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5205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5206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5207" name="AutoShape 7"/>
          <p:cNvCxnSpPr>
            <a:cxnSpLocks noChangeShapeType="1"/>
            <a:stCxn id="435204" idx="0"/>
            <a:endCxn id="435205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5208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5209" name="AutoShape 9"/>
          <p:cNvCxnSpPr>
            <a:cxnSpLocks noChangeShapeType="1"/>
            <a:stCxn id="435205" idx="5"/>
            <a:endCxn id="435208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5210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5211" name="AutoShape 11"/>
          <p:cNvCxnSpPr>
            <a:cxnSpLocks noChangeShapeType="1"/>
            <a:stCxn id="435205" idx="6"/>
            <a:endCxn id="435210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5212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5213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5214" name="AutoShape 14"/>
          <p:cNvCxnSpPr>
            <a:cxnSpLocks noChangeShapeType="1"/>
            <a:stCxn id="435205" idx="4"/>
            <a:endCxn id="435206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5215" name="AutoShape 15"/>
          <p:cNvCxnSpPr>
            <a:cxnSpLocks noChangeShapeType="1"/>
            <a:stCxn id="435213" idx="2"/>
            <a:endCxn id="435212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5216" name="AutoShape 16"/>
          <p:cNvCxnSpPr>
            <a:cxnSpLocks noChangeShapeType="1"/>
            <a:stCxn id="435213" idx="3"/>
            <a:endCxn id="435204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5217" name="AutoShape 17"/>
          <p:cNvCxnSpPr>
            <a:cxnSpLocks noChangeShapeType="1"/>
            <a:stCxn id="435204" idx="7"/>
            <a:endCxn id="435212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5218" name="AutoShape 18"/>
          <p:cNvCxnSpPr>
            <a:cxnSpLocks noChangeShapeType="1"/>
            <a:stCxn id="435213" idx="7"/>
            <a:endCxn id="435210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5219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5220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5221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5222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5223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5224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5225" name="AutoShape 25"/>
          <p:cNvCxnSpPr>
            <a:cxnSpLocks noChangeShapeType="1"/>
            <a:stCxn id="435219" idx="6"/>
            <a:endCxn id="435224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5226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5227" name="AutoShape 27"/>
          <p:cNvSpPr>
            <a:spLocks noChangeArrowheads="1"/>
          </p:cNvSpPr>
          <p:nvPr/>
        </p:nvSpPr>
        <p:spPr bwMode="auto">
          <a:xfrm>
            <a:off x="7418388" y="6237288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5228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5229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5230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5231" name="AutoShape 31"/>
          <p:cNvSpPr>
            <a:spLocks noChangeArrowheads="1"/>
          </p:cNvSpPr>
          <p:nvPr/>
        </p:nvSpPr>
        <p:spPr bwMode="auto">
          <a:xfrm>
            <a:off x="7239000" y="44958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5232" name="AutoShape 32"/>
          <p:cNvCxnSpPr>
            <a:cxnSpLocks noChangeShapeType="1"/>
            <a:stCxn id="435210" idx="3"/>
            <a:endCxn id="435213" idx="7"/>
          </p:cNvCxnSpPr>
          <p:nvPr/>
        </p:nvCxnSpPr>
        <p:spPr bwMode="auto">
          <a:xfrm flipH="1">
            <a:off x="6051550" y="2684463"/>
            <a:ext cx="850900" cy="62865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5233" name="Text Box 33"/>
          <p:cNvSpPr txBox="1">
            <a:spLocks noChangeArrowheads="1"/>
          </p:cNvSpPr>
          <p:nvPr/>
        </p:nvSpPr>
        <p:spPr bwMode="auto">
          <a:xfrm>
            <a:off x="7086600" y="22098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visit(G)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(G, E) (G,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5234" name="AutoShape 34"/>
          <p:cNvSpPr>
            <a:spLocks noChangeArrowheads="1"/>
          </p:cNvSpPr>
          <p:nvPr/>
        </p:nvSpPr>
        <p:spPr bwMode="auto">
          <a:xfrm>
            <a:off x="7315201" y="35814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5237" name="Rectangle 37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37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6228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6229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6230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6231" name="AutoShape 7"/>
          <p:cNvCxnSpPr>
            <a:cxnSpLocks noChangeShapeType="1"/>
            <a:stCxn id="436228" idx="0"/>
            <a:endCxn id="436229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6232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6233" name="AutoShape 9"/>
          <p:cNvCxnSpPr>
            <a:cxnSpLocks noChangeShapeType="1"/>
            <a:stCxn id="436229" idx="5"/>
            <a:endCxn id="436232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6234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6235" name="AutoShape 11"/>
          <p:cNvCxnSpPr>
            <a:cxnSpLocks noChangeShapeType="1"/>
            <a:stCxn id="436229" idx="6"/>
            <a:endCxn id="436234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6236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6237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6238" name="AutoShape 14"/>
          <p:cNvCxnSpPr>
            <a:cxnSpLocks noChangeShapeType="1"/>
            <a:stCxn id="436229" idx="4"/>
            <a:endCxn id="436230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6239" name="AutoShape 15"/>
          <p:cNvCxnSpPr>
            <a:cxnSpLocks noChangeShapeType="1"/>
            <a:stCxn id="436237" idx="2"/>
            <a:endCxn id="436236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6240" name="AutoShape 16"/>
          <p:cNvCxnSpPr>
            <a:cxnSpLocks noChangeShapeType="1"/>
            <a:stCxn id="436237" idx="3"/>
            <a:endCxn id="436228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6241" name="AutoShape 17"/>
          <p:cNvCxnSpPr>
            <a:cxnSpLocks noChangeShapeType="1"/>
            <a:stCxn id="436228" idx="7"/>
            <a:endCxn id="436236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6242" name="AutoShape 18"/>
          <p:cNvCxnSpPr>
            <a:cxnSpLocks noChangeShapeType="1"/>
            <a:stCxn id="436237" idx="7"/>
            <a:endCxn id="436234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6243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6244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6245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6246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6247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6248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6249" name="AutoShape 25"/>
          <p:cNvCxnSpPr>
            <a:cxnSpLocks noChangeShapeType="1"/>
            <a:stCxn id="436243" idx="6"/>
            <a:endCxn id="436248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6250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6251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6252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6253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6254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6255" name="AutoShape 31"/>
          <p:cNvSpPr>
            <a:spLocks noChangeArrowheads="1"/>
          </p:cNvSpPr>
          <p:nvPr/>
        </p:nvSpPr>
        <p:spPr bwMode="auto">
          <a:xfrm>
            <a:off x="7239000" y="44958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6256" name="AutoShape 32"/>
          <p:cNvCxnSpPr>
            <a:cxnSpLocks noChangeShapeType="1"/>
            <a:stCxn id="436234" idx="1"/>
            <a:endCxn id="436229" idx="6"/>
          </p:cNvCxnSpPr>
          <p:nvPr/>
        </p:nvCxnSpPr>
        <p:spPr bwMode="auto">
          <a:xfrm flipH="1" flipV="1">
            <a:off x="4122738" y="1220788"/>
            <a:ext cx="2779712" cy="123190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6257" name="Text Box 33"/>
          <p:cNvSpPr txBox="1">
            <a:spLocks noChangeArrowheads="1"/>
          </p:cNvSpPr>
          <p:nvPr/>
        </p:nvSpPr>
        <p:spPr bwMode="auto">
          <a:xfrm>
            <a:off x="7086600" y="22098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visit(G)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(G, E) (G,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6258" name="AutoShape 34"/>
          <p:cNvSpPr>
            <a:spLocks noChangeArrowheads="1"/>
          </p:cNvSpPr>
          <p:nvPr/>
        </p:nvSpPr>
        <p:spPr bwMode="auto">
          <a:xfrm>
            <a:off x="7924800" y="35814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6261" name="Rectangle 37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61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7252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7253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7254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7255" name="AutoShape 7"/>
          <p:cNvCxnSpPr>
            <a:cxnSpLocks noChangeShapeType="1"/>
            <a:stCxn id="437252" idx="0"/>
            <a:endCxn id="437253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7256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7257" name="AutoShape 9"/>
          <p:cNvCxnSpPr>
            <a:cxnSpLocks noChangeShapeType="1"/>
            <a:stCxn id="437253" idx="5"/>
            <a:endCxn id="437256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7258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7259" name="AutoShape 11"/>
          <p:cNvCxnSpPr>
            <a:cxnSpLocks noChangeShapeType="1"/>
            <a:stCxn id="437253" idx="6"/>
            <a:endCxn id="437258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7260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7261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7262" name="AutoShape 14"/>
          <p:cNvCxnSpPr>
            <a:cxnSpLocks noChangeShapeType="1"/>
            <a:stCxn id="437253" idx="4"/>
            <a:endCxn id="437254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7263" name="AutoShape 15"/>
          <p:cNvCxnSpPr>
            <a:cxnSpLocks noChangeShapeType="1"/>
            <a:stCxn id="437261" idx="2"/>
            <a:endCxn id="437260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7264" name="AutoShape 16"/>
          <p:cNvCxnSpPr>
            <a:cxnSpLocks noChangeShapeType="1"/>
            <a:stCxn id="437261" idx="3"/>
            <a:endCxn id="437252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7265" name="AutoShape 17"/>
          <p:cNvCxnSpPr>
            <a:cxnSpLocks noChangeShapeType="1"/>
            <a:stCxn id="437252" idx="7"/>
            <a:endCxn id="437260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7266" name="AutoShape 18"/>
          <p:cNvCxnSpPr>
            <a:cxnSpLocks noChangeShapeType="1"/>
            <a:stCxn id="437261" idx="7"/>
            <a:endCxn id="437258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7267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7268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7269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7270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7271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7272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7273" name="AutoShape 25"/>
          <p:cNvCxnSpPr>
            <a:cxnSpLocks noChangeShapeType="1"/>
            <a:stCxn id="437267" idx="6"/>
            <a:endCxn id="437272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7274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7275" name="AutoShape 27"/>
          <p:cNvSpPr>
            <a:spLocks noChangeArrowheads="1"/>
          </p:cNvSpPr>
          <p:nvPr/>
        </p:nvSpPr>
        <p:spPr bwMode="auto">
          <a:xfrm>
            <a:off x="71628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7276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7277" name="AutoShape 29"/>
          <p:cNvSpPr>
            <a:spLocks noChangeArrowheads="1"/>
          </p:cNvSpPr>
          <p:nvPr/>
        </p:nvSpPr>
        <p:spPr bwMode="auto">
          <a:xfrm>
            <a:off x="77724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7278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7279" name="AutoShape 31"/>
          <p:cNvSpPr>
            <a:spLocks noChangeArrowheads="1"/>
          </p:cNvSpPr>
          <p:nvPr/>
        </p:nvSpPr>
        <p:spPr bwMode="auto">
          <a:xfrm>
            <a:off x="7162800" y="44958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7281" name="Text Box 33"/>
          <p:cNvSpPr txBox="1">
            <a:spLocks noChangeArrowheads="1"/>
          </p:cNvSpPr>
          <p:nvPr/>
        </p:nvSpPr>
        <p:spPr bwMode="auto">
          <a:xfrm>
            <a:off x="7086600" y="22098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visit(G)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(G, E) (G,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7282" name="AutoShape 34"/>
          <p:cNvSpPr>
            <a:spLocks noChangeArrowheads="1"/>
          </p:cNvSpPr>
          <p:nvPr/>
        </p:nvSpPr>
        <p:spPr bwMode="auto">
          <a:xfrm>
            <a:off x="8382000" y="35814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7284" name="AutoShape 36"/>
          <p:cNvSpPr>
            <a:spLocks noChangeArrowheads="1"/>
          </p:cNvSpPr>
          <p:nvPr/>
        </p:nvSpPr>
        <p:spPr bwMode="auto">
          <a:xfrm>
            <a:off x="8534400" y="19050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G</a:t>
            </a: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8276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8277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8278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8279" name="AutoShape 7"/>
          <p:cNvCxnSpPr>
            <a:cxnSpLocks noChangeShapeType="1"/>
            <a:stCxn id="438276" idx="0"/>
            <a:endCxn id="438277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8280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8281" name="AutoShape 9"/>
          <p:cNvCxnSpPr>
            <a:cxnSpLocks noChangeShapeType="1"/>
            <a:stCxn id="438277" idx="5"/>
            <a:endCxn id="438280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8282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8283" name="AutoShape 11"/>
          <p:cNvCxnSpPr>
            <a:cxnSpLocks noChangeShapeType="1"/>
            <a:stCxn id="438277" idx="6"/>
            <a:endCxn id="438282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8284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8285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8286" name="AutoShape 14"/>
          <p:cNvCxnSpPr>
            <a:cxnSpLocks noChangeShapeType="1"/>
            <a:stCxn id="438277" idx="4"/>
            <a:endCxn id="438278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8287" name="AutoShape 15"/>
          <p:cNvCxnSpPr>
            <a:cxnSpLocks noChangeShapeType="1"/>
            <a:stCxn id="438285" idx="2"/>
            <a:endCxn id="438284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8288" name="AutoShape 16"/>
          <p:cNvCxnSpPr>
            <a:cxnSpLocks noChangeShapeType="1"/>
            <a:stCxn id="438285" idx="3"/>
            <a:endCxn id="438276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8289" name="AutoShape 17"/>
          <p:cNvCxnSpPr>
            <a:cxnSpLocks noChangeShapeType="1"/>
            <a:stCxn id="438276" idx="7"/>
            <a:endCxn id="438284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8290" name="AutoShape 18"/>
          <p:cNvCxnSpPr>
            <a:cxnSpLocks noChangeShapeType="1"/>
            <a:stCxn id="438285" idx="7"/>
            <a:endCxn id="438282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8291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8292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8293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8294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8295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8296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8297" name="AutoShape 25"/>
          <p:cNvCxnSpPr>
            <a:cxnSpLocks noChangeShapeType="1"/>
            <a:stCxn id="438291" idx="6"/>
            <a:endCxn id="438296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8298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8299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8300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8301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8302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8303" name="AutoShape 31"/>
          <p:cNvSpPr>
            <a:spLocks noChangeArrowheads="1"/>
          </p:cNvSpPr>
          <p:nvPr/>
        </p:nvSpPr>
        <p:spPr bwMode="auto">
          <a:xfrm>
            <a:off x="7848601" y="44958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8307" name="AutoShape 35"/>
          <p:cNvCxnSpPr>
            <a:cxnSpLocks noChangeShapeType="1"/>
            <a:stCxn id="438285" idx="3"/>
            <a:endCxn id="438276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8309" name="Rectangle 37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1981200" y="0"/>
            <a:ext cx="8305800" cy="1143000"/>
          </a:xfrm>
          <a:prstGeom prst="rect">
            <a:avLst/>
          </a:prstGeom>
        </p:spPr>
        <p:txBody>
          <a:bodyPr vert="horz" lIns="0" tIns="45720" r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spcBef>
                <a:spcPct val="0"/>
              </a:spcBef>
              <a:defRPr/>
            </a:pPr>
            <a:r>
              <a:rPr lang="en-US" sz="5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Undirected Depth First Search</a:t>
            </a:r>
            <a:endParaRPr lang="en-US" sz="5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309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39298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9300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39301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39302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39303" name="AutoShape 7"/>
          <p:cNvCxnSpPr>
            <a:cxnSpLocks noChangeShapeType="1"/>
            <a:stCxn id="439300" idx="0"/>
            <a:endCxn id="439301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9304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39305" name="AutoShape 9"/>
          <p:cNvCxnSpPr>
            <a:cxnSpLocks noChangeShapeType="1"/>
            <a:stCxn id="439301" idx="5"/>
            <a:endCxn id="439304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9306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39307" name="AutoShape 11"/>
          <p:cNvCxnSpPr>
            <a:cxnSpLocks noChangeShapeType="1"/>
            <a:stCxn id="439301" idx="6"/>
            <a:endCxn id="439306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9308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39309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39310" name="AutoShape 14"/>
          <p:cNvCxnSpPr>
            <a:cxnSpLocks noChangeShapeType="1"/>
            <a:stCxn id="439301" idx="4"/>
            <a:endCxn id="439302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9311" name="AutoShape 15"/>
          <p:cNvCxnSpPr>
            <a:cxnSpLocks noChangeShapeType="1"/>
            <a:stCxn id="439309" idx="2"/>
            <a:endCxn id="439308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9312" name="AutoShape 16"/>
          <p:cNvCxnSpPr>
            <a:cxnSpLocks noChangeShapeType="1"/>
            <a:stCxn id="439309" idx="3"/>
            <a:endCxn id="439300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9313" name="AutoShape 17"/>
          <p:cNvCxnSpPr>
            <a:cxnSpLocks noChangeShapeType="1"/>
            <a:stCxn id="439300" idx="7"/>
            <a:endCxn id="439308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39314" name="AutoShape 18"/>
          <p:cNvCxnSpPr>
            <a:cxnSpLocks noChangeShapeType="1"/>
            <a:stCxn id="439309" idx="7"/>
            <a:endCxn id="439306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9315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39316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39317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39318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39319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39320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39321" name="AutoShape 25"/>
          <p:cNvCxnSpPr>
            <a:cxnSpLocks noChangeShapeType="1"/>
            <a:stCxn id="439315" idx="6"/>
            <a:endCxn id="439320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39322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39323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9324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9325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39326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39327" name="AutoShape 31"/>
          <p:cNvSpPr>
            <a:spLocks noChangeArrowheads="1"/>
          </p:cNvSpPr>
          <p:nvPr/>
        </p:nvSpPr>
        <p:spPr bwMode="auto">
          <a:xfrm>
            <a:off x="8458201" y="44958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39328" name="AutoShape 32"/>
          <p:cNvCxnSpPr>
            <a:cxnSpLocks noChangeShapeType="1"/>
            <a:stCxn id="439309" idx="2"/>
            <a:endCxn id="439308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grpSp>
        <p:nvGrpSpPr>
          <p:cNvPr id="2" name="Group 40"/>
          <p:cNvGrpSpPr/>
          <p:nvPr/>
        </p:nvGrpSpPr>
        <p:grpSpPr bwMode="auto">
          <a:xfrm>
            <a:off x="2438400" y="3124200"/>
            <a:ext cx="2362200" cy="609600"/>
            <a:chOff x="576" y="1968"/>
            <a:chExt cx="1488" cy="384"/>
          </a:xfrm>
        </p:grpSpPr>
        <p:sp>
          <p:nvSpPr>
            <p:cNvPr id="439331" name="Rectangle 35"/>
            <p:cNvSpPr>
              <a:spLocks noChangeArrowheads="1"/>
            </p:cNvSpPr>
            <p:nvPr/>
          </p:nvSpPr>
          <p:spPr bwMode="auto">
            <a:xfrm>
              <a:off x="576" y="1968"/>
              <a:ext cx="1056" cy="384"/>
            </a:xfrm>
            <a:prstGeom prst="rect">
              <a:avLst/>
            </a:prstGeom>
            <a:solidFill>
              <a:schemeClr val="accent2"/>
            </a:solidFill>
            <a:ln w="158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D newly discovered</a:t>
              </a:r>
            </a:p>
          </p:txBody>
        </p:sp>
        <p:sp>
          <p:nvSpPr>
            <p:cNvPr id="439334" name="Oval 38"/>
            <p:cNvSpPr>
              <a:spLocks noChangeAspect="1" noChangeArrowheads="1"/>
            </p:cNvSpPr>
            <p:nvPr/>
          </p:nvSpPr>
          <p:spPr bwMode="auto">
            <a:xfrm>
              <a:off x="1872" y="2064"/>
              <a:ext cx="192" cy="192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39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0322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0324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0325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0326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0327" name="AutoShape 7"/>
          <p:cNvCxnSpPr>
            <a:cxnSpLocks noChangeShapeType="1"/>
            <a:stCxn id="440324" idx="0"/>
            <a:endCxn id="440325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0328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0329" name="AutoShape 9"/>
          <p:cNvCxnSpPr>
            <a:cxnSpLocks noChangeShapeType="1"/>
            <a:stCxn id="440325" idx="5"/>
            <a:endCxn id="440328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0330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0331" name="AutoShape 11"/>
          <p:cNvCxnSpPr>
            <a:cxnSpLocks noChangeShapeType="1"/>
            <a:stCxn id="440325" idx="6"/>
            <a:endCxn id="440330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0332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0333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0334" name="AutoShape 14"/>
          <p:cNvCxnSpPr>
            <a:cxnSpLocks noChangeShapeType="1"/>
            <a:stCxn id="440325" idx="4"/>
            <a:endCxn id="440326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0335" name="AutoShape 15"/>
          <p:cNvCxnSpPr>
            <a:cxnSpLocks noChangeShapeType="1"/>
            <a:stCxn id="440333" idx="2"/>
            <a:endCxn id="440332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0336" name="AutoShape 16"/>
          <p:cNvCxnSpPr>
            <a:cxnSpLocks noChangeShapeType="1"/>
            <a:stCxn id="440333" idx="3"/>
            <a:endCxn id="440324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0337" name="AutoShape 17"/>
          <p:cNvCxnSpPr>
            <a:cxnSpLocks noChangeShapeType="1"/>
            <a:stCxn id="440324" idx="7"/>
            <a:endCxn id="440332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0338" name="AutoShape 18"/>
          <p:cNvCxnSpPr>
            <a:cxnSpLocks noChangeShapeType="1"/>
            <a:stCxn id="440333" idx="7"/>
            <a:endCxn id="440330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0339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0340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0341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0342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0343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0344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0345" name="AutoShape 25"/>
          <p:cNvCxnSpPr>
            <a:cxnSpLocks noChangeShapeType="1"/>
            <a:stCxn id="440339" idx="6"/>
            <a:endCxn id="440344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0346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0347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0348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0349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0350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0351" name="AutoShape 31"/>
          <p:cNvSpPr>
            <a:spLocks noChangeArrowheads="1"/>
          </p:cNvSpPr>
          <p:nvPr/>
        </p:nvSpPr>
        <p:spPr bwMode="auto">
          <a:xfrm>
            <a:off x="8458201" y="44958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40352" name="AutoShape 32"/>
          <p:cNvCxnSpPr>
            <a:cxnSpLocks noChangeShapeType="1"/>
            <a:stCxn id="440324" idx="7"/>
            <a:endCxn id="440332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0354" name="Text Box 34"/>
          <p:cNvSpPr txBox="1">
            <a:spLocks noChangeArrowheads="1"/>
          </p:cNvSpPr>
          <p:nvPr/>
        </p:nvSpPr>
        <p:spPr bwMode="auto">
          <a:xfrm>
            <a:off x="6934200" y="22590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(D, F) (D, E)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0355" name="AutoShape 35"/>
          <p:cNvSpPr>
            <a:spLocks noChangeArrowheads="1"/>
          </p:cNvSpPr>
          <p:nvPr/>
        </p:nvSpPr>
        <p:spPr bwMode="auto">
          <a:xfrm>
            <a:off x="7162801" y="3581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0357" name="Rectangle 37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7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1346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1348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1349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1350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1351" name="AutoShape 7"/>
          <p:cNvCxnSpPr>
            <a:cxnSpLocks noChangeShapeType="1"/>
            <a:stCxn id="441348" idx="0"/>
            <a:endCxn id="441349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1352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1353" name="AutoShape 9"/>
          <p:cNvCxnSpPr>
            <a:cxnSpLocks noChangeShapeType="1"/>
            <a:stCxn id="441349" idx="5"/>
            <a:endCxn id="441352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1354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1355" name="AutoShape 11"/>
          <p:cNvCxnSpPr>
            <a:cxnSpLocks noChangeShapeType="1"/>
            <a:stCxn id="441349" idx="6"/>
            <a:endCxn id="441354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1356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1357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1358" name="AutoShape 14"/>
          <p:cNvCxnSpPr>
            <a:cxnSpLocks noChangeShapeType="1"/>
            <a:stCxn id="441349" idx="4"/>
            <a:endCxn id="441350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1359" name="AutoShape 15"/>
          <p:cNvCxnSpPr>
            <a:cxnSpLocks noChangeShapeType="1"/>
            <a:stCxn id="441357" idx="2"/>
            <a:endCxn id="441356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1360" name="AutoShape 16"/>
          <p:cNvCxnSpPr>
            <a:cxnSpLocks noChangeShapeType="1"/>
            <a:stCxn id="441357" idx="3"/>
            <a:endCxn id="441348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1361" name="AutoShape 17"/>
          <p:cNvCxnSpPr>
            <a:cxnSpLocks noChangeShapeType="1"/>
            <a:stCxn id="441348" idx="7"/>
            <a:endCxn id="441356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1362" name="AutoShape 18"/>
          <p:cNvCxnSpPr>
            <a:cxnSpLocks noChangeShapeType="1"/>
            <a:stCxn id="441357" idx="7"/>
            <a:endCxn id="441354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1363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1364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1365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1366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1367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1368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1369" name="AutoShape 25"/>
          <p:cNvCxnSpPr>
            <a:cxnSpLocks noChangeShapeType="1"/>
            <a:stCxn id="441363" idx="6"/>
            <a:endCxn id="441368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1370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1371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1372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1373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1374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1375" name="AutoShape 31"/>
          <p:cNvSpPr>
            <a:spLocks noChangeArrowheads="1"/>
          </p:cNvSpPr>
          <p:nvPr/>
        </p:nvSpPr>
        <p:spPr bwMode="auto">
          <a:xfrm>
            <a:off x="8458201" y="44958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41376" name="AutoShape 32"/>
          <p:cNvCxnSpPr>
            <a:cxnSpLocks noChangeShapeType="1"/>
            <a:stCxn id="441357" idx="2"/>
            <a:endCxn id="441356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1377" name="Text Box 33"/>
          <p:cNvSpPr txBox="1">
            <a:spLocks noChangeArrowheads="1"/>
          </p:cNvSpPr>
          <p:nvPr/>
        </p:nvSpPr>
        <p:spPr bwMode="auto">
          <a:xfrm>
            <a:off x="6934200" y="22590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(D, F) (D, E)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1378" name="AutoShape 34"/>
          <p:cNvSpPr>
            <a:spLocks noChangeArrowheads="1"/>
          </p:cNvSpPr>
          <p:nvPr/>
        </p:nvSpPr>
        <p:spPr bwMode="auto">
          <a:xfrm>
            <a:off x="7772401" y="36576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1381" name="Rectangle 37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81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1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2370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2372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2373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2374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2375" name="AutoShape 7"/>
          <p:cNvCxnSpPr>
            <a:cxnSpLocks noChangeShapeType="1"/>
            <a:stCxn id="442372" idx="0"/>
            <a:endCxn id="442373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2376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2377" name="AutoShape 9"/>
          <p:cNvCxnSpPr>
            <a:cxnSpLocks noChangeShapeType="1"/>
            <a:stCxn id="442373" idx="5"/>
            <a:endCxn id="442376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2378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2379" name="AutoShape 11"/>
          <p:cNvCxnSpPr>
            <a:cxnSpLocks noChangeShapeType="1"/>
            <a:stCxn id="442373" idx="6"/>
            <a:endCxn id="442378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2380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2381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2382" name="AutoShape 14"/>
          <p:cNvCxnSpPr>
            <a:cxnSpLocks noChangeShapeType="1"/>
            <a:stCxn id="442373" idx="4"/>
            <a:endCxn id="442374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2383" name="AutoShape 15"/>
          <p:cNvCxnSpPr>
            <a:cxnSpLocks noChangeShapeType="1"/>
            <a:stCxn id="442381" idx="2"/>
            <a:endCxn id="442380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2384" name="AutoShape 16"/>
          <p:cNvCxnSpPr>
            <a:cxnSpLocks noChangeShapeType="1"/>
            <a:stCxn id="442381" idx="3"/>
            <a:endCxn id="442372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2385" name="AutoShape 17"/>
          <p:cNvCxnSpPr>
            <a:cxnSpLocks noChangeShapeType="1"/>
            <a:stCxn id="442372" idx="7"/>
            <a:endCxn id="442380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2386" name="AutoShape 18"/>
          <p:cNvCxnSpPr>
            <a:cxnSpLocks noChangeShapeType="1"/>
            <a:stCxn id="442381" idx="7"/>
            <a:endCxn id="442378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2387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2388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2389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2390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2391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2392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2393" name="AutoShape 25"/>
          <p:cNvCxnSpPr>
            <a:cxnSpLocks noChangeShapeType="1"/>
            <a:stCxn id="442387" idx="6"/>
            <a:endCxn id="442392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2394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2395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2396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2397" name="AutoShape 29"/>
          <p:cNvSpPr>
            <a:spLocks noChangeArrowheads="1"/>
          </p:cNvSpPr>
          <p:nvPr/>
        </p:nvSpPr>
        <p:spPr bwMode="auto">
          <a:xfrm>
            <a:off x="7848600" y="54102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2398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2399" name="AutoShape 31"/>
          <p:cNvSpPr>
            <a:spLocks noChangeArrowheads="1"/>
          </p:cNvSpPr>
          <p:nvPr/>
        </p:nvSpPr>
        <p:spPr bwMode="auto">
          <a:xfrm>
            <a:off x="8458201" y="44958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2401" name="Text Box 33"/>
          <p:cNvSpPr txBox="1">
            <a:spLocks noChangeArrowheads="1"/>
          </p:cNvSpPr>
          <p:nvPr/>
        </p:nvSpPr>
        <p:spPr bwMode="auto">
          <a:xfrm>
            <a:off x="6934200" y="22590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(D, F) (D, E)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2402" name="AutoShape 34"/>
          <p:cNvSpPr>
            <a:spLocks noChangeArrowheads="1"/>
          </p:cNvSpPr>
          <p:nvPr/>
        </p:nvSpPr>
        <p:spPr bwMode="auto">
          <a:xfrm>
            <a:off x="8229601" y="36576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2404" name="AutoShape 36"/>
          <p:cNvSpPr>
            <a:spLocks noChangeArrowheads="1"/>
          </p:cNvSpPr>
          <p:nvPr/>
        </p:nvSpPr>
        <p:spPr bwMode="auto">
          <a:xfrm>
            <a:off x="8534400" y="19050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5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3394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3396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3397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3398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3399" name="AutoShape 7"/>
          <p:cNvCxnSpPr>
            <a:cxnSpLocks noChangeShapeType="1"/>
            <a:stCxn id="443396" idx="0"/>
            <a:endCxn id="443397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3400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3401" name="AutoShape 9"/>
          <p:cNvCxnSpPr>
            <a:cxnSpLocks noChangeShapeType="1"/>
            <a:stCxn id="443397" idx="5"/>
            <a:endCxn id="443400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3402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3403" name="AutoShape 11"/>
          <p:cNvCxnSpPr>
            <a:cxnSpLocks noChangeShapeType="1"/>
            <a:stCxn id="443397" idx="6"/>
            <a:endCxn id="443402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3404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3405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3406" name="AutoShape 14"/>
          <p:cNvCxnSpPr>
            <a:cxnSpLocks noChangeShapeType="1"/>
            <a:stCxn id="443397" idx="4"/>
            <a:endCxn id="443398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3407" name="AutoShape 15"/>
          <p:cNvCxnSpPr>
            <a:cxnSpLocks noChangeShapeType="1"/>
            <a:stCxn id="443405" idx="2"/>
            <a:endCxn id="443404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3408" name="AutoShape 16"/>
          <p:cNvCxnSpPr>
            <a:cxnSpLocks noChangeShapeType="1"/>
            <a:stCxn id="443405" idx="3"/>
            <a:endCxn id="443396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3409" name="AutoShape 17"/>
          <p:cNvCxnSpPr>
            <a:cxnSpLocks noChangeShapeType="1"/>
            <a:stCxn id="443396" idx="7"/>
            <a:endCxn id="443404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3410" name="AutoShape 18"/>
          <p:cNvCxnSpPr>
            <a:cxnSpLocks noChangeShapeType="1"/>
            <a:stCxn id="443405" idx="7"/>
            <a:endCxn id="443402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3411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3412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3413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3414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3415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3416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3417" name="AutoShape 25"/>
          <p:cNvCxnSpPr>
            <a:cxnSpLocks noChangeShapeType="1"/>
            <a:stCxn id="443411" idx="6"/>
            <a:endCxn id="443416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3418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3419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3420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3421" name="AutoShape 29"/>
          <p:cNvSpPr>
            <a:spLocks noChangeArrowheads="1"/>
          </p:cNvSpPr>
          <p:nvPr/>
        </p:nvSpPr>
        <p:spPr bwMode="auto">
          <a:xfrm>
            <a:off x="7848600" y="5334001"/>
            <a:ext cx="347662" cy="404813"/>
          </a:xfrm>
          <a:prstGeom prst="upArrow">
            <a:avLst>
              <a:gd name="adj1" fmla="val 49769"/>
              <a:gd name="adj2" fmla="val 6119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3422" name="Text Box 30"/>
          <p:cNvSpPr txBox="1">
            <a:spLocks noChangeArrowheads="1"/>
          </p:cNvSpPr>
          <p:nvPr/>
        </p:nvSpPr>
        <p:spPr bwMode="auto">
          <a:xfrm>
            <a:off x="7023100" y="31242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(E, G) (E, F) (E,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3423" name="AutoShape 31"/>
          <p:cNvSpPr>
            <a:spLocks noChangeArrowheads="1"/>
          </p:cNvSpPr>
          <p:nvPr/>
        </p:nvSpPr>
        <p:spPr bwMode="auto">
          <a:xfrm>
            <a:off x="8915401" y="44196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3427" name="AutoShape 35"/>
          <p:cNvSpPr>
            <a:spLocks noChangeArrowheads="1"/>
          </p:cNvSpPr>
          <p:nvPr/>
        </p:nvSpPr>
        <p:spPr bwMode="auto">
          <a:xfrm>
            <a:off x="8153400" y="28956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4418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4420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4421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4422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4423" name="AutoShape 7"/>
          <p:cNvCxnSpPr>
            <a:cxnSpLocks noChangeShapeType="1"/>
            <a:stCxn id="444420" idx="0"/>
            <a:endCxn id="444421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4424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4425" name="AutoShape 9"/>
          <p:cNvCxnSpPr>
            <a:cxnSpLocks noChangeShapeType="1"/>
            <a:stCxn id="444421" idx="5"/>
            <a:endCxn id="444424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4426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4427" name="AutoShape 11"/>
          <p:cNvCxnSpPr>
            <a:cxnSpLocks noChangeShapeType="1"/>
            <a:stCxn id="444421" idx="6"/>
            <a:endCxn id="444426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4428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4429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4430" name="AutoShape 14"/>
          <p:cNvCxnSpPr>
            <a:cxnSpLocks noChangeShapeType="1"/>
            <a:stCxn id="444421" idx="4"/>
            <a:endCxn id="444422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4431" name="AutoShape 15"/>
          <p:cNvCxnSpPr>
            <a:cxnSpLocks noChangeShapeType="1"/>
            <a:stCxn id="444429" idx="2"/>
            <a:endCxn id="444428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4432" name="AutoShape 16"/>
          <p:cNvCxnSpPr>
            <a:cxnSpLocks noChangeShapeType="1"/>
            <a:stCxn id="444429" idx="3"/>
            <a:endCxn id="444420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4433" name="AutoShape 17"/>
          <p:cNvCxnSpPr>
            <a:cxnSpLocks noChangeShapeType="1"/>
            <a:stCxn id="444420" idx="7"/>
            <a:endCxn id="444428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4434" name="AutoShape 18"/>
          <p:cNvCxnSpPr>
            <a:cxnSpLocks noChangeShapeType="1"/>
            <a:stCxn id="444429" idx="7"/>
            <a:endCxn id="444426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4435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4436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4437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4438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4439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4440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4441" name="AutoShape 25"/>
          <p:cNvCxnSpPr>
            <a:cxnSpLocks noChangeShapeType="1"/>
            <a:stCxn id="444435" idx="6"/>
            <a:endCxn id="444440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4442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4443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4444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4445" name="AutoShape 29"/>
          <p:cNvSpPr>
            <a:spLocks noChangeArrowheads="1"/>
          </p:cNvSpPr>
          <p:nvPr/>
        </p:nvSpPr>
        <p:spPr bwMode="auto">
          <a:xfrm>
            <a:off x="8458201" y="54102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44449" name="AutoShape 33"/>
          <p:cNvCxnSpPr>
            <a:cxnSpLocks noChangeShapeType="1"/>
            <a:stCxn id="444428" idx="3"/>
            <a:endCxn id="444420" idx="7"/>
          </p:cNvCxnSpPr>
          <p:nvPr/>
        </p:nvCxnSpPr>
        <p:spPr bwMode="auto">
          <a:xfrm flipH="1">
            <a:off x="4070350" y="3544889"/>
            <a:ext cx="469900" cy="6826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4451" name="Rectangle 35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51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5442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5444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5445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5446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5447" name="AutoShape 7"/>
          <p:cNvCxnSpPr>
            <a:cxnSpLocks noChangeShapeType="1"/>
            <a:stCxn id="445444" idx="0"/>
            <a:endCxn id="445445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5448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5449" name="AutoShape 9"/>
          <p:cNvCxnSpPr>
            <a:cxnSpLocks noChangeShapeType="1"/>
            <a:stCxn id="445445" idx="5"/>
            <a:endCxn id="445448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5450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5451" name="AutoShape 11"/>
          <p:cNvCxnSpPr>
            <a:cxnSpLocks noChangeShapeType="1"/>
            <a:stCxn id="445445" idx="6"/>
            <a:endCxn id="445450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5452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5453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5454" name="AutoShape 14"/>
          <p:cNvCxnSpPr>
            <a:cxnSpLocks noChangeShapeType="1"/>
            <a:stCxn id="445445" idx="4"/>
            <a:endCxn id="445446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5455" name="AutoShape 15"/>
          <p:cNvCxnSpPr>
            <a:cxnSpLocks noChangeShapeType="1"/>
            <a:stCxn id="445453" idx="2"/>
            <a:endCxn id="445452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5456" name="AutoShape 16"/>
          <p:cNvCxnSpPr>
            <a:cxnSpLocks noChangeShapeType="1"/>
            <a:stCxn id="445453" idx="3"/>
            <a:endCxn id="445444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5457" name="AutoShape 17"/>
          <p:cNvCxnSpPr>
            <a:cxnSpLocks noChangeShapeType="1"/>
            <a:stCxn id="445444" idx="7"/>
            <a:endCxn id="445452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5458" name="AutoShape 18"/>
          <p:cNvCxnSpPr>
            <a:cxnSpLocks noChangeShapeType="1"/>
            <a:stCxn id="445453" idx="7"/>
            <a:endCxn id="445450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5459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5460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5461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5462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5463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5464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5465" name="AutoShape 25"/>
          <p:cNvCxnSpPr>
            <a:cxnSpLocks noChangeShapeType="1"/>
            <a:stCxn id="445459" idx="6"/>
            <a:endCxn id="445464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5466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5467" name="AutoShape 27"/>
          <p:cNvSpPr>
            <a:spLocks noChangeArrowheads="1"/>
          </p:cNvSpPr>
          <p:nvPr/>
        </p:nvSpPr>
        <p:spPr bwMode="auto">
          <a:xfrm>
            <a:off x="7239000" y="62484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5468" name="Text Box 28"/>
          <p:cNvSpPr txBox="1">
            <a:spLocks noChangeArrowheads="1"/>
          </p:cNvSpPr>
          <p:nvPr/>
        </p:nvSpPr>
        <p:spPr bwMode="auto">
          <a:xfrm>
            <a:off x="7086600" y="40386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(F, A) (F, E) (F, D)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5469" name="AutoShape 29"/>
          <p:cNvSpPr>
            <a:spLocks noChangeArrowheads="1"/>
          </p:cNvSpPr>
          <p:nvPr/>
        </p:nvSpPr>
        <p:spPr bwMode="auto">
          <a:xfrm>
            <a:off x="8915401" y="54102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5472" name="AutoShape 32"/>
          <p:cNvSpPr>
            <a:spLocks noChangeArrowheads="1"/>
          </p:cNvSpPr>
          <p:nvPr/>
        </p:nvSpPr>
        <p:spPr bwMode="auto">
          <a:xfrm>
            <a:off x="7924800" y="38100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7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6466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6468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6469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6470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6471" name="AutoShape 7"/>
          <p:cNvCxnSpPr>
            <a:cxnSpLocks noChangeShapeType="1"/>
            <a:stCxn id="446468" idx="0"/>
            <a:endCxn id="446469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6472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6473" name="AutoShape 9"/>
          <p:cNvCxnSpPr>
            <a:cxnSpLocks noChangeShapeType="1"/>
            <a:stCxn id="446469" idx="5"/>
            <a:endCxn id="446472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6474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6475" name="AutoShape 11"/>
          <p:cNvCxnSpPr>
            <a:cxnSpLocks noChangeShapeType="1"/>
            <a:stCxn id="446469" idx="6"/>
            <a:endCxn id="446474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6476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6477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6478" name="AutoShape 14"/>
          <p:cNvCxnSpPr>
            <a:cxnSpLocks noChangeShapeType="1"/>
            <a:stCxn id="446469" idx="4"/>
            <a:endCxn id="446470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6479" name="AutoShape 15"/>
          <p:cNvCxnSpPr>
            <a:cxnSpLocks noChangeShapeType="1"/>
            <a:stCxn id="446477" idx="2"/>
            <a:endCxn id="446476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6480" name="AutoShape 16"/>
          <p:cNvCxnSpPr>
            <a:cxnSpLocks noChangeShapeType="1"/>
            <a:stCxn id="446477" idx="3"/>
            <a:endCxn id="446468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6481" name="AutoShape 17"/>
          <p:cNvCxnSpPr>
            <a:cxnSpLocks noChangeShapeType="1"/>
            <a:stCxn id="446468" idx="7"/>
            <a:endCxn id="446476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6482" name="AutoShape 18"/>
          <p:cNvCxnSpPr>
            <a:cxnSpLocks noChangeShapeType="1"/>
            <a:stCxn id="446477" idx="7"/>
            <a:endCxn id="446474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6483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6484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6485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6486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6487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6488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6489" name="AutoShape 25"/>
          <p:cNvCxnSpPr>
            <a:cxnSpLocks noChangeShapeType="1"/>
            <a:stCxn id="446483" idx="6"/>
            <a:endCxn id="446488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6490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6491" name="AutoShape 27"/>
          <p:cNvSpPr>
            <a:spLocks noChangeArrowheads="1"/>
          </p:cNvSpPr>
          <p:nvPr/>
        </p:nvSpPr>
        <p:spPr bwMode="auto">
          <a:xfrm>
            <a:off x="78486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46495" name="AutoShape 31"/>
          <p:cNvCxnSpPr>
            <a:cxnSpLocks noChangeShapeType="1"/>
            <a:stCxn id="446472" idx="1"/>
            <a:endCxn id="446469" idx="5"/>
          </p:cNvCxnSpPr>
          <p:nvPr/>
        </p:nvCxnSpPr>
        <p:spPr bwMode="auto">
          <a:xfrm flipH="1" flipV="1">
            <a:off x="4070350" y="1336676"/>
            <a:ext cx="1765300" cy="1116013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grpSp>
        <p:nvGrpSpPr>
          <p:cNvPr id="2" name="Group 32"/>
          <p:cNvGrpSpPr/>
          <p:nvPr/>
        </p:nvGrpSpPr>
        <p:grpSpPr bwMode="auto">
          <a:xfrm>
            <a:off x="3725863" y="2260600"/>
            <a:ext cx="2362200" cy="609600"/>
            <a:chOff x="576" y="1968"/>
            <a:chExt cx="1488" cy="384"/>
          </a:xfrm>
        </p:grpSpPr>
        <p:sp>
          <p:nvSpPr>
            <p:cNvPr id="446497" name="Rectangle 33"/>
            <p:cNvSpPr>
              <a:spLocks noChangeArrowheads="1"/>
            </p:cNvSpPr>
            <p:nvPr/>
          </p:nvSpPr>
          <p:spPr bwMode="auto">
            <a:xfrm>
              <a:off x="576" y="1968"/>
              <a:ext cx="1056" cy="384"/>
            </a:xfrm>
            <a:prstGeom prst="rect">
              <a:avLst/>
            </a:prstGeom>
            <a:solidFill>
              <a:schemeClr val="accent2"/>
            </a:solidFill>
            <a:ln w="158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C newly discovered</a:t>
              </a:r>
            </a:p>
          </p:txBody>
        </p:sp>
        <p:sp>
          <p:nvSpPr>
            <p:cNvPr id="446498" name="Oval 34"/>
            <p:cNvSpPr>
              <a:spLocks noChangeAspect="1" noChangeArrowheads="1"/>
            </p:cNvSpPr>
            <p:nvPr/>
          </p:nvSpPr>
          <p:spPr bwMode="auto">
            <a:xfrm>
              <a:off x="1872" y="2064"/>
              <a:ext cx="192" cy="192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1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7490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7492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7493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7494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7495" name="AutoShape 7"/>
          <p:cNvCxnSpPr>
            <a:cxnSpLocks noChangeShapeType="1"/>
            <a:stCxn id="447492" idx="0"/>
            <a:endCxn id="447493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7496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7497" name="AutoShape 9"/>
          <p:cNvCxnSpPr>
            <a:cxnSpLocks noChangeShapeType="1"/>
            <a:stCxn id="447493" idx="5"/>
            <a:endCxn id="447496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7498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7499" name="AutoShape 11"/>
          <p:cNvCxnSpPr>
            <a:cxnSpLocks noChangeShapeType="1"/>
            <a:stCxn id="447493" idx="6"/>
            <a:endCxn id="447498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7500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7501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7502" name="AutoShape 14"/>
          <p:cNvCxnSpPr>
            <a:cxnSpLocks noChangeShapeType="1"/>
            <a:stCxn id="447493" idx="4"/>
            <a:endCxn id="447494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7503" name="AutoShape 15"/>
          <p:cNvCxnSpPr>
            <a:cxnSpLocks noChangeShapeType="1"/>
            <a:stCxn id="447501" idx="2"/>
            <a:endCxn id="447500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7504" name="AutoShape 16"/>
          <p:cNvCxnSpPr>
            <a:cxnSpLocks noChangeShapeType="1"/>
            <a:stCxn id="447501" idx="3"/>
            <a:endCxn id="447492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7505" name="AutoShape 17"/>
          <p:cNvCxnSpPr>
            <a:cxnSpLocks noChangeShapeType="1"/>
            <a:stCxn id="447492" idx="7"/>
            <a:endCxn id="447500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7506" name="AutoShape 18"/>
          <p:cNvCxnSpPr>
            <a:cxnSpLocks noChangeShapeType="1"/>
            <a:stCxn id="447501" idx="7"/>
            <a:endCxn id="447498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7507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7508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7509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7510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7511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7512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7513" name="AutoShape 25"/>
          <p:cNvCxnSpPr>
            <a:cxnSpLocks noChangeShapeType="1"/>
            <a:stCxn id="447507" idx="6"/>
            <a:endCxn id="447512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7514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7515" name="AutoShape 27"/>
          <p:cNvSpPr>
            <a:spLocks noChangeArrowheads="1"/>
          </p:cNvSpPr>
          <p:nvPr/>
        </p:nvSpPr>
        <p:spPr bwMode="auto">
          <a:xfrm>
            <a:off x="79248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47516" name="AutoShape 28"/>
          <p:cNvCxnSpPr>
            <a:cxnSpLocks noChangeShapeType="1"/>
            <a:stCxn id="447496" idx="1"/>
            <a:endCxn id="447493" idx="5"/>
          </p:cNvCxnSpPr>
          <p:nvPr/>
        </p:nvCxnSpPr>
        <p:spPr bwMode="auto">
          <a:xfrm flipH="1" flipV="1">
            <a:off x="4070350" y="1336676"/>
            <a:ext cx="1765300" cy="1116013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7517" name="Text Box 29"/>
          <p:cNvSpPr txBox="1">
            <a:spLocks noChangeArrowheads="1"/>
          </p:cNvSpPr>
          <p:nvPr/>
        </p:nvSpPr>
        <p:spPr bwMode="auto">
          <a:xfrm>
            <a:off x="6946900" y="40116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(C,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7518" name="AutoShape 30"/>
          <p:cNvSpPr>
            <a:spLocks noChangeArrowheads="1"/>
          </p:cNvSpPr>
          <p:nvPr/>
        </p:nvSpPr>
        <p:spPr bwMode="auto">
          <a:xfrm>
            <a:off x="7162801" y="53340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7524" name="Rectangle 36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524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5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8514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8516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8517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8518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8519" name="AutoShape 7"/>
          <p:cNvCxnSpPr>
            <a:cxnSpLocks noChangeShapeType="1"/>
            <a:stCxn id="448516" idx="0"/>
            <a:endCxn id="448517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8520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8521" name="AutoShape 9"/>
          <p:cNvCxnSpPr>
            <a:cxnSpLocks noChangeShapeType="1"/>
            <a:stCxn id="448517" idx="5"/>
            <a:endCxn id="448520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8522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8523" name="AutoShape 11"/>
          <p:cNvCxnSpPr>
            <a:cxnSpLocks noChangeShapeType="1"/>
            <a:stCxn id="448517" idx="6"/>
            <a:endCxn id="448522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8524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8525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8526" name="AutoShape 14"/>
          <p:cNvCxnSpPr>
            <a:cxnSpLocks noChangeShapeType="1"/>
            <a:stCxn id="448517" idx="4"/>
            <a:endCxn id="448518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8527" name="AutoShape 15"/>
          <p:cNvCxnSpPr>
            <a:cxnSpLocks noChangeShapeType="1"/>
            <a:stCxn id="448525" idx="2"/>
            <a:endCxn id="448524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8528" name="AutoShape 16"/>
          <p:cNvCxnSpPr>
            <a:cxnSpLocks noChangeShapeType="1"/>
            <a:stCxn id="448525" idx="3"/>
            <a:endCxn id="448516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8529" name="AutoShape 17"/>
          <p:cNvCxnSpPr>
            <a:cxnSpLocks noChangeShapeType="1"/>
            <a:stCxn id="448516" idx="7"/>
            <a:endCxn id="448524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8530" name="AutoShape 18"/>
          <p:cNvCxnSpPr>
            <a:cxnSpLocks noChangeShapeType="1"/>
            <a:stCxn id="448525" idx="7"/>
            <a:endCxn id="448522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8531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8532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8533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8534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8535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8536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8537" name="AutoShape 25"/>
          <p:cNvCxnSpPr>
            <a:cxnSpLocks noChangeShapeType="1"/>
            <a:stCxn id="448531" idx="6"/>
            <a:endCxn id="448536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8538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8539" name="AutoShape 27"/>
          <p:cNvSpPr>
            <a:spLocks noChangeArrowheads="1"/>
          </p:cNvSpPr>
          <p:nvPr/>
        </p:nvSpPr>
        <p:spPr bwMode="auto">
          <a:xfrm>
            <a:off x="78486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8541" name="Text Box 29"/>
          <p:cNvSpPr txBox="1">
            <a:spLocks noChangeArrowheads="1"/>
          </p:cNvSpPr>
          <p:nvPr/>
        </p:nvSpPr>
        <p:spPr bwMode="auto">
          <a:xfrm>
            <a:off x="6946900" y="40116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(C,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8542" name="AutoShape 30"/>
          <p:cNvSpPr>
            <a:spLocks noChangeArrowheads="1"/>
          </p:cNvSpPr>
          <p:nvPr/>
        </p:nvSpPr>
        <p:spPr bwMode="auto">
          <a:xfrm>
            <a:off x="7696201" y="53340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48544" name="AutoShape 32"/>
          <p:cNvSpPr>
            <a:spLocks noChangeArrowheads="1"/>
          </p:cNvSpPr>
          <p:nvPr/>
        </p:nvSpPr>
        <p:spPr bwMode="auto">
          <a:xfrm>
            <a:off x="7924800" y="38100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49538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49540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49541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49542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49543" name="AutoShape 7"/>
          <p:cNvCxnSpPr>
            <a:cxnSpLocks noChangeShapeType="1"/>
            <a:stCxn id="449540" idx="0"/>
            <a:endCxn id="449541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9544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49545" name="AutoShape 9"/>
          <p:cNvCxnSpPr>
            <a:cxnSpLocks noChangeShapeType="1"/>
            <a:stCxn id="449541" idx="5"/>
            <a:endCxn id="449544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9546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49547" name="AutoShape 11"/>
          <p:cNvCxnSpPr>
            <a:cxnSpLocks noChangeShapeType="1"/>
            <a:stCxn id="449541" idx="6"/>
            <a:endCxn id="449546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9548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49549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49550" name="AutoShape 14"/>
          <p:cNvCxnSpPr>
            <a:cxnSpLocks noChangeShapeType="1"/>
            <a:stCxn id="449541" idx="4"/>
            <a:endCxn id="449542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9551" name="AutoShape 15"/>
          <p:cNvCxnSpPr>
            <a:cxnSpLocks noChangeShapeType="1"/>
            <a:stCxn id="449549" idx="2"/>
            <a:endCxn id="449548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9552" name="AutoShape 16"/>
          <p:cNvCxnSpPr>
            <a:cxnSpLocks noChangeShapeType="1"/>
            <a:stCxn id="449549" idx="3"/>
            <a:endCxn id="449540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9553" name="AutoShape 17"/>
          <p:cNvCxnSpPr>
            <a:cxnSpLocks noChangeShapeType="1"/>
            <a:stCxn id="449540" idx="7"/>
            <a:endCxn id="449548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49554" name="AutoShape 18"/>
          <p:cNvCxnSpPr>
            <a:cxnSpLocks noChangeShapeType="1"/>
            <a:stCxn id="449549" idx="7"/>
            <a:endCxn id="449546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9555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49556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49557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49558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49559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49560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49561" name="AutoShape 25"/>
          <p:cNvCxnSpPr>
            <a:cxnSpLocks noChangeShapeType="1"/>
            <a:stCxn id="449555" idx="6"/>
            <a:endCxn id="449560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49562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49563" name="AutoShape 27"/>
          <p:cNvSpPr>
            <a:spLocks noChangeArrowheads="1"/>
          </p:cNvSpPr>
          <p:nvPr/>
        </p:nvSpPr>
        <p:spPr bwMode="auto">
          <a:xfrm>
            <a:off x="85344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49568" name="AutoShape 32"/>
          <p:cNvCxnSpPr>
            <a:cxnSpLocks noChangeShapeType="1"/>
            <a:stCxn id="449542" idx="1"/>
            <a:endCxn id="449541" idx="4"/>
          </p:cNvCxnSpPr>
          <p:nvPr/>
        </p:nvCxnSpPr>
        <p:spPr bwMode="auto">
          <a:xfrm flipH="1" flipV="1">
            <a:off x="3962400" y="1381126"/>
            <a:ext cx="577850" cy="1071563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grpSp>
        <p:nvGrpSpPr>
          <p:cNvPr id="2" name="Group 33"/>
          <p:cNvGrpSpPr/>
          <p:nvPr/>
        </p:nvGrpSpPr>
        <p:grpSpPr bwMode="auto">
          <a:xfrm>
            <a:off x="2438400" y="2260600"/>
            <a:ext cx="2362200" cy="609600"/>
            <a:chOff x="576" y="1968"/>
            <a:chExt cx="1488" cy="384"/>
          </a:xfrm>
        </p:grpSpPr>
        <p:sp>
          <p:nvSpPr>
            <p:cNvPr id="449570" name="Rectangle 34"/>
            <p:cNvSpPr>
              <a:spLocks noChangeArrowheads="1"/>
            </p:cNvSpPr>
            <p:nvPr/>
          </p:nvSpPr>
          <p:spPr bwMode="auto">
            <a:xfrm>
              <a:off x="576" y="1968"/>
              <a:ext cx="1056" cy="384"/>
            </a:xfrm>
            <a:prstGeom prst="rect">
              <a:avLst/>
            </a:prstGeom>
            <a:solidFill>
              <a:schemeClr val="accent2"/>
            </a:solidFill>
            <a:ln w="158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B newly discovered</a:t>
              </a:r>
            </a:p>
          </p:txBody>
        </p:sp>
        <p:sp>
          <p:nvSpPr>
            <p:cNvPr id="449571" name="Oval 35"/>
            <p:cNvSpPr>
              <a:spLocks noChangeAspect="1" noChangeArrowheads="1"/>
            </p:cNvSpPr>
            <p:nvPr/>
          </p:nvSpPr>
          <p:spPr bwMode="auto">
            <a:xfrm>
              <a:off x="1872" y="2064"/>
              <a:ext cx="192" cy="192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Undirected Depth First Search</a:t>
            </a:r>
          </a:p>
        </p:txBody>
      </p:sp>
      <p:sp>
        <p:nvSpPr>
          <p:cNvPr id="450562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0564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0565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0566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0567" name="AutoShape 7"/>
          <p:cNvCxnSpPr>
            <a:cxnSpLocks noChangeShapeType="1"/>
            <a:stCxn id="450564" idx="0"/>
            <a:endCxn id="450565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0568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0569" name="AutoShape 9"/>
          <p:cNvCxnSpPr>
            <a:cxnSpLocks noChangeShapeType="1"/>
            <a:stCxn id="450565" idx="5"/>
            <a:endCxn id="450568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0570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0571" name="AutoShape 11"/>
          <p:cNvCxnSpPr>
            <a:cxnSpLocks noChangeShapeType="1"/>
            <a:stCxn id="450565" idx="6"/>
            <a:endCxn id="450570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0572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0573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0574" name="AutoShape 14"/>
          <p:cNvCxnSpPr>
            <a:cxnSpLocks noChangeShapeType="1"/>
            <a:stCxn id="450565" idx="4"/>
            <a:endCxn id="450566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0575" name="AutoShape 15"/>
          <p:cNvCxnSpPr>
            <a:cxnSpLocks noChangeShapeType="1"/>
            <a:stCxn id="450573" idx="2"/>
            <a:endCxn id="450572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0576" name="AutoShape 16"/>
          <p:cNvCxnSpPr>
            <a:cxnSpLocks noChangeShapeType="1"/>
            <a:stCxn id="450573" idx="3"/>
            <a:endCxn id="450564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0577" name="AutoShape 17"/>
          <p:cNvCxnSpPr>
            <a:cxnSpLocks noChangeShapeType="1"/>
            <a:stCxn id="450564" idx="7"/>
            <a:endCxn id="450572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0578" name="AutoShape 18"/>
          <p:cNvCxnSpPr>
            <a:cxnSpLocks noChangeShapeType="1"/>
            <a:stCxn id="450573" idx="7"/>
            <a:endCxn id="450570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0579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0580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0581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0582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0583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0584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0585" name="AutoShape 25"/>
          <p:cNvCxnSpPr>
            <a:cxnSpLocks noChangeShapeType="1"/>
            <a:stCxn id="450579" idx="6"/>
            <a:endCxn id="450584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0586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0587" name="AutoShape 27"/>
          <p:cNvSpPr>
            <a:spLocks noChangeArrowheads="1"/>
          </p:cNvSpPr>
          <p:nvPr/>
        </p:nvSpPr>
        <p:spPr bwMode="auto">
          <a:xfrm>
            <a:off x="85344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50588" name="AutoShape 28"/>
          <p:cNvCxnSpPr>
            <a:cxnSpLocks noChangeShapeType="1"/>
            <a:stCxn id="450566" idx="1"/>
            <a:endCxn id="450565" idx="4"/>
          </p:cNvCxnSpPr>
          <p:nvPr/>
        </p:nvCxnSpPr>
        <p:spPr bwMode="auto">
          <a:xfrm flipH="1" flipV="1">
            <a:off x="3962400" y="1381126"/>
            <a:ext cx="577850" cy="1071563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0589" name="Text Box 29"/>
          <p:cNvSpPr txBox="1">
            <a:spLocks noChangeArrowheads="1"/>
          </p:cNvSpPr>
          <p:nvPr/>
        </p:nvSpPr>
        <p:spPr bwMode="auto">
          <a:xfrm>
            <a:off x="6946900" y="40116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visit(B)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(B,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0590" name="AutoShape 30"/>
          <p:cNvSpPr>
            <a:spLocks noChangeArrowheads="1"/>
          </p:cNvSpPr>
          <p:nvPr/>
        </p:nvSpPr>
        <p:spPr bwMode="auto">
          <a:xfrm>
            <a:off x="7162801" y="53340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0592" name="Rectangle 32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2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7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Undirected Depth First Search</a:t>
            </a:r>
          </a:p>
        </p:txBody>
      </p:sp>
      <p:sp>
        <p:nvSpPr>
          <p:cNvPr id="451586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1588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1589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1590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1591" name="AutoShape 7"/>
          <p:cNvCxnSpPr>
            <a:cxnSpLocks noChangeShapeType="1"/>
            <a:stCxn id="451588" idx="0"/>
            <a:endCxn id="451589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1592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1593" name="AutoShape 9"/>
          <p:cNvCxnSpPr>
            <a:cxnSpLocks noChangeShapeType="1"/>
            <a:stCxn id="451589" idx="5"/>
            <a:endCxn id="451592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1594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1595" name="AutoShape 11"/>
          <p:cNvCxnSpPr>
            <a:cxnSpLocks noChangeShapeType="1"/>
            <a:stCxn id="451589" idx="6"/>
            <a:endCxn id="451594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1596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1597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1598" name="AutoShape 14"/>
          <p:cNvCxnSpPr>
            <a:cxnSpLocks noChangeShapeType="1"/>
            <a:stCxn id="451589" idx="4"/>
            <a:endCxn id="451590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1599" name="AutoShape 15"/>
          <p:cNvCxnSpPr>
            <a:cxnSpLocks noChangeShapeType="1"/>
            <a:stCxn id="451597" idx="2"/>
            <a:endCxn id="451596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1600" name="AutoShape 16"/>
          <p:cNvCxnSpPr>
            <a:cxnSpLocks noChangeShapeType="1"/>
            <a:stCxn id="451597" idx="3"/>
            <a:endCxn id="451588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1601" name="AutoShape 17"/>
          <p:cNvCxnSpPr>
            <a:cxnSpLocks noChangeShapeType="1"/>
            <a:stCxn id="451588" idx="7"/>
            <a:endCxn id="451596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1602" name="AutoShape 18"/>
          <p:cNvCxnSpPr>
            <a:cxnSpLocks noChangeShapeType="1"/>
            <a:stCxn id="451597" idx="7"/>
            <a:endCxn id="451594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1603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1604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1605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1606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1607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1608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1609" name="AutoShape 25"/>
          <p:cNvCxnSpPr>
            <a:cxnSpLocks noChangeShapeType="1"/>
            <a:stCxn id="451603" idx="6"/>
            <a:endCxn id="451608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1610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1611" name="AutoShape 27"/>
          <p:cNvSpPr>
            <a:spLocks noChangeArrowheads="1"/>
          </p:cNvSpPr>
          <p:nvPr/>
        </p:nvSpPr>
        <p:spPr bwMode="auto">
          <a:xfrm>
            <a:off x="85344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1613" name="Text Box 29"/>
          <p:cNvSpPr txBox="1">
            <a:spLocks noChangeArrowheads="1"/>
          </p:cNvSpPr>
          <p:nvPr/>
        </p:nvSpPr>
        <p:spPr bwMode="auto">
          <a:xfrm>
            <a:off x="6946900" y="4011614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visit(B)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(B, A)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1614" name="AutoShape 30"/>
          <p:cNvSpPr>
            <a:spLocks noChangeArrowheads="1"/>
          </p:cNvSpPr>
          <p:nvPr/>
        </p:nvSpPr>
        <p:spPr bwMode="auto">
          <a:xfrm>
            <a:off x="7696201" y="5257801"/>
            <a:ext cx="347663" cy="404813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1616" name="AutoShape 32"/>
          <p:cNvSpPr>
            <a:spLocks noChangeArrowheads="1"/>
          </p:cNvSpPr>
          <p:nvPr/>
        </p:nvSpPr>
        <p:spPr bwMode="auto">
          <a:xfrm>
            <a:off x="7924800" y="38100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B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1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2610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2612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2613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2614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2615" name="AutoShape 7"/>
          <p:cNvCxnSpPr>
            <a:cxnSpLocks noChangeShapeType="1"/>
            <a:stCxn id="452612" idx="0"/>
            <a:endCxn id="452613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2616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2617" name="AutoShape 9"/>
          <p:cNvCxnSpPr>
            <a:cxnSpLocks noChangeShapeType="1"/>
            <a:stCxn id="452613" idx="5"/>
            <a:endCxn id="452616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2618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2619" name="AutoShape 11"/>
          <p:cNvCxnSpPr>
            <a:cxnSpLocks noChangeShapeType="1"/>
            <a:stCxn id="452613" idx="6"/>
            <a:endCxn id="452618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2620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2621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2622" name="AutoShape 14"/>
          <p:cNvCxnSpPr>
            <a:cxnSpLocks noChangeShapeType="1"/>
            <a:stCxn id="452613" idx="4"/>
            <a:endCxn id="452614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2623" name="AutoShape 15"/>
          <p:cNvCxnSpPr>
            <a:cxnSpLocks noChangeShapeType="1"/>
            <a:stCxn id="452621" idx="2"/>
            <a:endCxn id="452620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2624" name="AutoShape 16"/>
          <p:cNvCxnSpPr>
            <a:cxnSpLocks noChangeShapeType="1"/>
            <a:stCxn id="452621" idx="3"/>
            <a:endCxn id="452612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2625" name="AutoShape 17"/>
          <p:cNvCxnSpPr>
            <a:cxnSpLocks noChangeShapeType="1"/>
            <a:stCxn id="452612" idx="7"/>
            <a:endCxn id="452620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2626" name="AutoShape 18"/>
          <p:cNvCxnSpPr>
            <a:cxnSpLocks noChangeShapeType="1"/>
            <a:stCxn id="452621" idx="7"/>
            <a:endCxn id="452618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2627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2628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2629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2630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2631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2632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2633" name="AutoShape 25"/>
          <p:cNvCxnSpPr>
            <a:cxnSpLocks noChangeShapeType="1"/>
            <a:stCxn id="452627" idx="6"/>
            <a:endCxn id="452632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2634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2635" name="AutoShape 27"/>
          <p:cNvSpPr>
            <a:spLocks noChangeArrowheads="1"/>
          </p:cNvSpPr>
          <p:nvPr/>
        </p:nvSpPr>
        <p:spPr bwMode="auto">
          <a:xfrm>
            <a:off x="91440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52639" name="AutoShape 31"/>
          <p:cNvCxnSpPr>
            <a:cxnSpLocks noChangeShapeType="1"/>
            <a:stCxn id="452618" idx="1"/>
            <a:endCxn id="452613" idx="6"/>
          </p:cNvCxnSpPr>
          <p:nvPr/>
        </p:nvCxnSpPr>
        <p:spPr bwMode="auto">
          <a:xfrm flipH="1" flipV="1">
            <a:off x="4122738" y="1220788"/>
            <a:ext cx="2779712" cy="123190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2641" name="Rectangle 33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41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5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3634" name="Text Box 2"/>
          <p:cNvSpPr txBox="1">
            <a:spLocks noChangeArrowheads="1"/>
          </p:cNvSpPr>
          <p:nvPr/>
        </p:nvSpPr>
        <p:spPr bwMode="auto">
          <a:xfrm>
            <a:off x="7034213" y="4911726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(A, F) (A, C) (A, B) (A, G)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3636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3637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3638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3639" name="AutoShape 7"/>
          <p:cNvCxnSpPr>
            <a:cxnSpLocks noChangeShapeType="1"/>
            <a:stCxn id="453636" idx="0"/>
            <a:endCxn id="453637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3640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3641" name="AutoShape 9"/>
          <p:cNvCxnSpPr>
            <a:cxnSpLocks noChangeShapeType="1"/>
            <a:stCxn id="453637" idx="5"/>
            <a:endCxn id="453640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3642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3643" name="AutoShape 11"/>
          <p:cNvCxnSpPr>
            <a:cxnSpLocks noChangeShapeType="1"/>
            <a:stCxn id="453637" idx="6"/>
            <a:endCxn id="453642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3644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3645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3646" name="AutoShape 14"/>
          <p:cNvCxnSpPr>
            <a:cxnSpLocks noChangeShapeType="1"/>
            <a:stCxn id="453637" idx="4"/>
            <a:endCxn id="453638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3647" name="AutoShape 15"/>
          <p:cNvCxnSpPr>
            <a:cxnSpLocks noChangeShapeType="1"/>
            <a:stCxn id="453645" idx="2"/>
            <a:endCxn id="453644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3648" name="AutoShape 16"/>
          <p:cNvCxnSpPr>
            <a:cxnSpLocks noChangeShapeType="1"/>
            <a:stCxn id="453645" idx="3"/>
            <a:endCxn id="453636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3649" name="AutoShape 17"/>
          <p:cNvCxnSpPr>
            <a:cxnSpLocks noChangeShapeType="1"/>
            <a:stCxn id="453636" idx="7"/>
            <a:endCxn id="453644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3650" name="AutoShape 18"/>
          <p:cNvCxnSpPr>
            <a:cxnSpLocks noChangeShapeType="1"/>
            <a:stCxn id="453645" idx="7"/>
            <a:endCxn id="453642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3651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3652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3653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3654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3655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3656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3657" name="AutoShape 25"/>
          <p:cNvCxnSpPr>
            <a:cxnSpLocks noChangeShapeType="1"/>
            <a:stCxn id="453651" idx="6"/>
            <a:endCxn id="453656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3658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3659" name="AutoShape 27"/>
          <p:cNvSpPr>
            <a:spLocks noChangeArrowheads="1"/>
          </p:cNvSpPr>
          <p:nvPr/>
        </p:nvSpPr>
        <p:spPr bwMode="auto">
          <a:xfrm>
            <a:off x="9601201" y="62484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3662" name="AutoShape 30"/>
          <p:cNvSpPr>
            <a:spLocks noChangeArrowheads="1"/>
          </p:cNvSpPr>
          <p:nvPr/>
        </p:nvSpPr>
        <p:spPr bwMode="auto">
          <a:xfrm>
            <a:off x="7924800" y="46482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4660" name="Oval 4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4661" name="Oval 5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4662" name="Oval 6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4663" name="AutoShape 7"/>
          <p:cNvCxnSpPr>
            <a:cxnSpLocks noChangeShapeType="1"/>
            <a:stCxn id="454660" idx="0"/>
            <a:endCxn id="454661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4664" name="Oval 8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4665" name="AutoShape 9"/>
          <p:cNvCxnSpPr>
            <a:cxnSpLocks noChangeShapeType="1"/>
            <a:stCxn id="454661" idx="5"/>
            <a:endCxn id="454664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4666" name="Oval 10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4667" name="AutoShape 11"/>
          <p:cNvCxnSpPr>
            <a:cxnSpLocks noChangeShapeType="1"/>
            <a:stCxn id="454661" idx="6"/>
            <a:endCxn id="454666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4668" name="Oval 12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4669" name="Oval 13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4670" name="AutoShape 14"/>
          <p:cNvCxnSpPr>
            <a:cxnSpLocks noChangeShapeType="1"/>
            <a:stCxn id="454661" idx="4"/>
            <a:endCxn id="454662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4671" name="AutoShape 15"/>
          <p:cNvCxnSpPr>
            <a:cxnSpLocks noChangeShapeType="1"/>
            <a:stCxn id="454669" idx="2"/>
            <a:endCxn id="454668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4672" name="AutoShape 16"/>
          <p:cNvCxnSpPr>
            <a:cxnSpLocks noChangeShapeType="1"/>
            <a:stCxn id="454669" idx="3"/>
            <a:endCxn id="454660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4673" name="AutoShape 17"/>
          <p:cNvCxnSpPr>
            <a:cxnSpLocks noChangeShapeType="1"/>
            <a:stCxn id="454660" idx="7"/>
            <a:endCxn id="454668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4674" name="AutoShape 18"/>
          <p:cNvCxnSpPr>
            <a:cxnSpLocks noChangeShapeType="1"/>
            <a:stCxn id="454669" idx="7"/>
            <a:endCxn id="454666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4675" name="Oval 19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4676" name="Text Box 20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4677" name="Text Box 21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4678" name="Text Box 22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4679" name="Text Box 23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4680" name="Oval 24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4681" name="AutoShape 25"/>
          <p:cNvCxnSpPr>
            <a:cxnSpLocks noChangeShapeType="1"/>
            <a:stCxn id="454675" idx="6"/>
            <a:endCxn id="454680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4682" name="Text Box 26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5683" name="Oval 3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5684" name="Oval 4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5685" name="Oval 5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5686" name="AutoShape 6"/>
          <p:cNvCxnSpPr>
            <a:cxnSpLocks noChangeShapeType="1"/>
            <a:stCxn id="455683" idx="0"/>
            <a:endCxn id="455684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5687" name="Oval 7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5688" name="AutoShape 8"/>
          <p:cNvCxnSpPr>
            <a:cxnSpLocks noChangeShapeType="1"/>
            <a:stCxn id="455684" idx="5"/>
            <a:endCxn id="455687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5689" name="Oval 9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5690" name="AutoShape 10"/>
          <p:cNvCxnSpPr>
            <a:cxnSpLocks noChangeShapeType="1"/>
            <a:stCxn id="455684" idx="6"/>
            <a:endCxn id="455689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5691" name="Oval 11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5692" name="Oval 12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5693" name="AutoShape 13"/>
          <p:cNvCxnSpPr>
            <a:cxnSpLocks noChangeShapeType="1"/>
            <a:stCxn id="455684" idx="4"/>
            <a:endCxn id="455685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5694" name="AutoShape 14"/>
          <p:cNvCxnSpPr>
            <a:cxnSpLocks noChangeShapeType="1"/>
            <a:stCxn id="455692" idx="2"/>
            <a:endCxn id="455691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5695" name="AutoShape 15"/>
          <p:cNvCxnSpPr>
            <a:cxnSpLocks noChangeShapeType="1"/>
            <a:stCxn id="455692" idx="3"/>
            <a:endCxn id="455683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5696" name="AutoShape 16"/>
          <p:cNvCxnSpPr>
            <a:cxnSpLocks noChangeShapeType="1"/>
            <a:stCxn id="455683" idx="7"/>
            <a:endCxn id="455691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5697" name="AutoShape 17"/>
          <p:cNvCxnSpPr>
            <a:cxnSpLocks noChangeShapeType="1"/>
            <a:stCxn id="455692" idx="7"/>
            <a:endCxn id="455689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5698" name="Oval 18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5699" name="Text Box 19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5700" name="Text Box 20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5701" name="Text Box 21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5702" name="Text Box 22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5703" name="Oval 23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5704" name="AutoShape 24"/>
          <p:cNvCxnSpPr>
            <a:cxnSpLocks noChangeShapeType="1"/>
            <a:stCxn id="455698" idx="6"/>
            <a:endCxn id="455703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5705" name="Text Box 25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5706" name="Text Box 26"/>
          <p:cNvSpPr txBox="1">
            <a:spLocks noChangeArrowheads="1"/>
          </p:cNvSpPr>
          <p:nvPr/>
        </p:nvSpPr>
        <p:spPr bwMode="auto">
          <a:xfrm>
            <a:off x="7034213" y="48514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visit(H)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(H, I)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5707" name="AutoShape 27"/>
          <p:cNvSpPr>
            <a:spLocks noChangeArrowheads="1"/>
          </p:cNvSpPr>
          <p:nvPr/>
        </p:nvSpPr>
        <p:spPr bwMode="auto">
          <a:xfrm>
            <a:off x="7239001" y="61722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55709" name="AutoShape 29"/>
          <p:cNvCxnSpPr>
            <a:cxnSpLocks noChangeShapeType="1"/>
            <a:stCxn id="455703" idx="2"/>
            <a:endCxn id="455698" idx="6"/>
          </p:cNvCxnSpPr>
          <p:nvPr/>
        </p:nvCxnSpPr>
        <p:spPr bwMode="auto">
          <a:xfrm flipH="1">
            <a:off x="7143751" y="1352550"/>
            <a:ext cx="512763" cy="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grpSp>
        <p:nvGrpSpPr>
          <p:cNvPr id="2" name="Group 30"/>
          <p:cNvGrpSpPr/>
          <p:nvPr/>
        </p:nvGrpSpPr>
        <p:grpSpPr bwMode="auto">
          <a:xfrm>
            <a:off x="7669213" y="1203325"/>
            <a:ext cx="2209800" cy="609600"/>
            <a:chOff x="2688" y="2064"/>
            <a:chExt cx="1392" cy="384"/>
          </a:xfrm>
        </p:grpSpPr>
        <p:sp>
          <p:nvSpPr>
            <p:cNvPr id="455711" name="Rectangle 31"/>
            <p:cNvSpPr>
              <a:spLocks noChangeArrowheads="1"/>
            </p:cNvSpPr>
            <p:nvPr/>
          </p:nvSpPr>
          <p:spPr bwMode="auto">
            <a:xfrm>
              <a:off x="3024" y="2064"/>
              <a:ext cx="1056" cy="384"/>
            </a:xfrm>
            <a:prstGeom prst="rect">
              <a:avLst/>
            </a:prstGeom>
            <a:solidFill>
              <a:schemeClr val="accent2"/>
            </a:solidFill>
            <a:ln w="158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I newly discovered</a:t>
              </a:r>
            </a:p>
          </p:txBody>
        </p:sp>
        <p:sp>
          <p:nvSpPr>
            <p:cNvPr id="455712" name="Oval 32"/>
            <p:cNvSpPr>
              <a:spLocks noChangeAspect="1" noChangeArrowheads="1"/>
            </p:cNvSpPr>
            <p:nvPr/>
          </p:nvSpPr>
          <p:spPr bwMode="auto">
            <a:xfrm>
              <a:off x="2688" y="2064"/>
              <a:ext cx="192" cy="192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r>
                <a:rPr lang="en-US">
                  <a:latin typeface="Arial" panose="020B0604020202020204" pitchFamily="34" charset="0"/>
                  <a:ea typeface="MS PGothic" panose="020B0600070205080204" charset="-128"/>
                </a:rPr>
                <a:t>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6707" name="Oval 3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6708" name="Oval 4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6709" name="Oval 5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6710" name="AutoShape 6"/>
          <p:cNvCxnSpPr>
            <a:cxnSpLocks noChangeShapeType="1"/>
            <a:stCxn id="456707" idx="0"/>
            <a:endCxn id="456708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6711" name="Oval 7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6712" name="AutoShape 8"/>
          <p:cNvCxnSpPr>
            <a:cxnSpLocks noChangeShapeType="1"/>
            <a:stCxn id="456708" idx="5"/>
            <a:endCxn id="456711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6713" name="Oval 9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6714" name="AutoShape 10"/>
          <p:cNvCxnSpPr>
            <a:cxnSpLocks noChangeShapeType="1"/>
            <a:stCxn id="456708" idx="6"/>
            <a:endCxn id="456713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6715" name="Oval 11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6716" name="Oval 12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6717" name="AutoShape 13"/>
          <p:cNvCxnSpPr>
            <a:cxnSpLocks noChangeShapeType="1"/>
            <a:stCxn id="456708" idx="4"/>
            <a:endCxn id="456709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6718" name="AutoShape 14"/>
          <p:cNvCxnSpPr>
            <a:cxnSpLocks noChangeShapeType="1"/>
            <a:stCxn id="456716" idx="2"/>
            <a:endCxn id="456715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6719" name="AutoShape 15"/>
          <p:cNvCxnSpPr>
            <a:cxnSpLocks noChangeShapeType="1"/>
            <a:stCxn id="456716" idx="3"/>
            <a:endCxn id="456707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6720" name="AutoShape 16"/>
          <p:cNvCxnSpPr>
            <a:cxnSpLocks noChangeShapeType="1"/>
            <a:stCxn id="456707" idx="7"/>
            <a:endCxn id="456715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6721" name="AutoShape 17"/>
          <p:cNvCxnSpPr>
            <a:cxnSpLocks noChangeShapeType="1"/>
            <a:stCxn id="456716" idx="7"/>
            <a:endCxn id="456713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6722" name="Oval 18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6723" name="Text Box 19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6724" name="Text Box 20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6725" name="Text Box 21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6726" name="Text Box 22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6727" name="Oval 23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6728" name="AutoShape 24"/>
          <p:cNvCxnSpPr>
            <a:cxnSpLocks noChangeShapeType="1"/>
            <a:stCxn id="456722" idx="6"/>
            <a:endCxn id="456727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6729" name="Text Box 25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6730" name="Text Box 26"/>
          <p:cNvSpPr txBox="1">
            <a:spLocks noChangeArrowheads="1"/>
          </p:cNvSpPr>
          <p:nvPr/>
        </p:nvSpPr>
        <p:spPr bwMode="auto">
          <a:xfrm>
            <a:off x="7034213" y="48514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visit(H)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(H, I)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6731" name="AutoShape 27"/>
          <p:cNvSpPr>
            <a:spLocks noChangeArrowheads="1"/>
          </p:cNvSpPr>
          <p:nvPr/>
        </p:nvSpPr>
        <p:spPr bwMode="auto">
          <a:xfrm>
            <a:off x="7239001" y="61722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cxnSp>
        <p:nvCxnSpPr>
          <p:cNvPr id="456732" name="AutoShape 28"/>
          <p:cNvCxnSpPr>
            <a:cxnSpLocks noChangeShapeType="1"/>
            <a:stCxn id="456727" idx="2"/>
            <a:endCxn id="456722" idx="6"/>
          </p:cNvCxnSpPr>
          <p:nvPr/>
        </p:nvCxnSpPr>
        <p:spPr bwMode="auto">
          <a:xfrm flipH="1">
            <a:off x="7143751" y="1352550"/>
            <a:ext cx="512763" cy="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6734" name="Text Box 30"/>
          <p:cNvSpPr txBox="1">
            <a:spLocks noChangeArrowheads="1"/>
          </p:cNvSpPr>
          <p:nvPr/>
        </p:nvSpPr>
        <p:spPr bwMode="auto">
          <a:xfrm>
            <a:off x="6870700" y="39624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visit(I)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(I, H)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6735" name="AutoShape 31"/>
          <p:cNvSpPr>
            <a:spLocks noChangeArrowheads="1"/>
          </p:cNvSpPr>
          <p:nvPr/>
        </p:nvSpPr>
        <p:spPr bwMode="auto">
          <a:xfrm>
            <a:off x="7086600" y="5334000"/>
            <a:ext cx="347662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6737" name="Rectangle 33"/>
          <p:cNvSpPr>
            <a:spLocks noChangeArrowheads="1"/>
          </p:cNvSpPr>
          <p:nvPr/>
        </p:nvSpPr>
        <p:spPr bwMode="auto">
          <a:xfrm>
            <a:off x="1739900" y="2300288"/>
            <a:ext cx="1676400" cy="6096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 already</a:t>
            </a:r>
            <a:br>
              <a:rPr lang="en-US">
                <a:latin typeface="Arial" panose="020B0604020202020204" pitchFamily="34" charset="0"/>
                <a:ea typeface="MS PGothic" panose="020B0600070205080204" charset="-128"/>
              </a:rPr>
            </a:b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5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37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762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7731" name="Oval 3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7732" name="Oval 4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7733" name="Oval 5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7734" name="AutoShape 6"/>
          <p:cNvCxnSpPr>
            <a:cxnSpLocks noChangeShapeType="1"/>
            <a:stCxn id="457731" idx="0"/>
            <a:endCxn id="457732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7735" name="Oval 7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7736" name="AutoShape 8"/>
          <p:cNvCxnSpPr>
            <a:cxnSpLocks noChangeShapeType="1"/>
            <a:stCxn id="457732" idx="5"/>
            <a:endCxn id="457735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7737" name="Oval 9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7738" name="AutoShape 10"/>
          <p:cNvCxnSpPr>
            <a:cxnSpLocks noChangeShapeType="1"/>
            <a:stCxn id="457732" idx="6"/>
            <a:endCxn id="457737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7739" name="Oval 11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7740" name="Oval 12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7741" name="AutoShape 13"/>
          <p:cNvCxnSpPr>
            <a:cxnSpLocks noChangeShapeType="1"/>
            <a:stCxn id="457732" idx="4"/>
            <a:endCxn id="457733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7742" name="AutoShape 14"/>
          <p:cNvCxnSpPr>
            <a:cxnSpLocks noChangeShapeType="1"/>
            <a:stCxn id="457740" idx="2"/>
            <a:endCxn id="457739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7743" name="AutoShape 15"/>
          <p:cNvCxnSpPr>
            <a:cxnSpLocks noChangeShapeType="1"/>
            <a:stCxn id="457740" idx="3"/>
            <a:endCxn id="457731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7744" name="AutoShape 16"/>
          <p:cNvCxnSpPr>
            <a:cxnSpLocks noChangeShapeType="1"/>
            <a:stCxn id="457731" idx="7"/>
            <a:endCxn id="457739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7745" name="AutoShape 17"/>
          <p:cNvCxnSpPr>
            <a:cxnSpLocks noChangeShapeType="1"/>
            <a:stCxn id="457740" idx="7"/>
            <a:endCxn id="457737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7746" name="Oval 18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7747" name="Text Box 19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7748" name="Text Box 20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7749" name="Text Box 21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7750" name="Text Box 22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7751" name="Oval 23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7752" name="AutoShape 24"/>
          <p:cNvCxnSpPr>
            <a:cxnSpLocks noChangeShapeType="1"/>
            <a:stCxn id="457746" idx="6"/>
            <a:endCxn id="457751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7753" name="Text Box 25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7754" name="Text Box 26"/>
          <p:cNvSpPr txBox="1">
            <a:spLocks noChangeArrowheads="1"/>
          </p:cNvSpPr>
          <p:nvPr/>
        </p:nvSpPr>
        <p:spPr bwMode="auto">
          <a:xfrm>
            <a:off x="7034213" y="48514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visit(H)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(H, I)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7755" name="AutoShape 27"/>
          <p:cNvSpPr>
            <a:spLocks noChangeArrowheads="1"/>
          </p:cNvSpPr>
          <p:nvPr/>
        </p:nvSpPr>
        <p:spPr bwMode="auto">
          <a:xfrm>
            <a:off x="7239001" y="61722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7757" name="Text Box 29"/>
          <p:cNvSpPr txBox="1">
            <a:spLocks noChangeArrowheads="1"/>
          </p:cNvSpPr>
          <p:nvPr/>
        </p:nvSpPr>
        <p:spPr bwMode="auto">
          <a:xfrm>
            <a:off x="6870700" y="39624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visit(I)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(I, H)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7758" name="AutoShape 30"/>
          <p:cNvSpPr>
            <a:spLocks noChangeArrowheads="1"/>
          </p:cNvSpPr>
          <p:nvPr/>
        </p:nvSpPr>
        <p:spPr bwMode="auto">
          <a:xfrm>
            <a:off x="7543801" y="52578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7760" name="AutoShape 32"/>
          <p:cNvSpPr>
            <a:spLocks noChangeArrowheads="1"/>
          </p:cNvSpPr>
          <p:nvPr/>
        </p:nvSpPr>
        <p:spPr bwMode="auto">
          <a:xfrm>
            <a:off x="7772400" y="36576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 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8755" name="Oval 3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8756" name="Oval 4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8757" name="Oval 5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8758" name="AutoShape 6"/>
          <p:cNvCxnSpPr>
            <a:cxnSpLocks noChangeShapeType="1"/>
            <a:stCxn id="458755" idx="0"/>
            <a:endCxn id="458756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8759" name="Oval 7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8760" name="AutoShape 8"/>
          <p:cNvCxnSpPr>
            <a:cxnSpLocks noChangeShapeType="1"/>
            <a:stCxn id="458756" idx="5"/>
            <a:endCxn id="458759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8761" name="Oval 9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8762" name="AutoShape 10"/>
          <p:cNvCxnSpPr>
            <a:cxnSpLocks noChangeShapeType="1"/>
            <a:stCxn id="458756" idx="6"/>
            <a:endCxn id="458761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8763" name="Oval 11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8764" name="Oval 12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8765" name="AutoShape 13"/>
          <p:cNvCxnSpPr>
            <a:cxnSpLocks noChangeShapeType="1"/>
            <a:stCxn id="458756" idx="4"/>
            <a:endCxn id="458757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8766" name="AutoShape 14"/>
          <p:cNvCxnSpPr>
            <a:cxnSpLocks noChangeShapeType="1"/>
            <a:stCxn id="458764" idx="2"/>
            <a:endCxn id="458763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8767" name="AutoShape 15"/>
          <p:cNvCxnSpPr>
            <a:cxnSpLocks noChangeShapeType="1"/>
            <a:stCxn id="458764" idx="3"/>
            <a:endCxn id="458755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8768" name="AutoShape 16"/>
          <p:cNvCxnSpPr>
            <a:cxnSpLocks noChangeShapeType="1"/>
            <a:stCxn id="458755" idx="7"/>
            <a:endCxn id="458763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8769" name="AutoShape 17"/>
          <p:cNvCxnSpPr>
            <a:cxnSpLocks noChangeShapeType="1"/>
            <a:stCxn id="458764" idx="7"/>
            <a:endCxn id="458761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8770" name="Oval 18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8771" name="Text Box 19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8772" name="Text Box 20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8773" name="Text Box 21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8774" name="Text Box 22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8775" name="Oval 23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8776" name="AutoShape 24"/>
          <p:cNvCxnSpPr>
            <a:cxnSpLocks noChangeShapeType="1"/>
            <a:stCxn id="458770" idx="6"/>
            <a:endCxn id="458775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8777" name="Text Box 25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  <p:sp>
        <p:nvSpPr>
          <p:cNvPr id="458778" name="Text Box 26"/>
          <p:cNvSpPr txBox="1">
            <a:spLocks noChangeArrowheads="1"/>
          </p:cNvSpPr>
          <p:nvPr/>
        </p:nvSpPr>
        <p:spPr bwMode="auto">
          <a:xfrm>
            <a:off x="7034213" y="4851401"/>
            <a:ext cx="3187700" cy="21199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scene3d>
            <a:camera prst="legacyObliqueTopRight">
              <a:rot lat="16499998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13500000" algn="ctr" rotWithShape="0">
                    <a:schemeClr val="bg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accent1"/>
                </a:solidFill>
              </a:rPr>
              <a:t>visit(H)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>
                <a:solidFill>
                  <a:schemeClr val="bg2"/>
                </a:solidFill>
              </a:rPr>
              <a:t>(H, I)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458779" name="AutoShape 27"/>
          <p:cNvSpPr>
            <a:spLocks noChangeArrowheads="1"/>
          </p:cNvSpPr>
          <p:nvPr/>
        </p:nvSpPr>
        <p:spPr bwMode="auto">
          <a:xfrm>
            <a:off x="7696201" y="6096000"/>
            <a:ext cx="347663" cy="404812"/>
          </a:xfrm>
          <a:prstGeom prst="upArrow">
            <a:avLst>
              <a:gd name="adj1" fmla="val 49769"/>
              <a:gd name="adj2" fmla="val 61189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endParaRPr lang="fr-FR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458783" name="AutoShape 31"/>
          <p:cNvSpPr>
            <a:spLocks noChangeArrowheads="1"/>
          </p:cNvSpPr>
          <p:nvPr/>
        </p:nvSpPr>
        <p:spPr bwMode="auto">
          <a:xfrm>
            <a:off x="7772400" y="4572000"/>
            <a:ext cx="1447800" cy="685800"/>
          </a:xfrm>
          <a:prstGeom prst="downArrowCallout">
            <a:avLst>
              <a:gd name="adj1" fmla="val 24317"/>
              <a:gd name="adj2" fmla="val 28979"/>
              <a:gd name="adj3" fmla="val 20370"/>
              <a:gd name="adj4" fmla="val 55556"/>
            </a:avLst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91440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Undirected Depth First Search</a:t>
            </a:r>
          </a:p>
        </p:txBody>
      </p:sp>
      <p:sp>
        <p:nvSpPr>
          <p:cNvPr id="459779" name="Oval 3"/>
          <p:cNvSpPr>
            <a:spLocks noChangeAspect="1" noChangeArrowheads="1"/>
          </p:cNvSpPr>
          <p:nvPr/>
        </p:nvSpPr>
        <p:spPr bwMode="auto">
          <a:xfrm>
            <a:off x="3810000" y="41910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</a:t>
            </a:r>
          </a:p>
        </p:txBody>
      </p:sp>
      <p:sp>
        <p:nvSpPr>
          <p:cNvPr id="459780" name="Oval 4"/>
          <p:cNvSpPr>
            <a:spLocks noChangeAspect="1" noChangeArrowheads="1"/>
          </p:cNvSpPr>
          <p:nvPr/>
        </p:nvSpPr>
        <p:spPr bwMode="auto">
          <a:xfrm>
            <a:off x="3810000" y="1066800"/>
            <a:ext cx="304800" cy="306388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</a:t>
            </a:r>
          </a:p>
        </p:txBody>
      </p:sp>
      <p:sp>
        <p:nvSpPr>
          <p:cNvPr id="459781" name="Oval 5"/>
          <p:cNvSpPr>
            <a:spLocks noChangeAspect="1" noChangeArrowheads="1"/>
          </p:cNvSpPr>
          <p:nvPr/>
        </p:nvSpPr>
        <p:spPr bwMode="auto">
          <a:xfrm>
            <a:off x="44958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B</a:t>
            </a:r>
          </a:p>
        </p:txBody>
      </p:sp>
      <p:cxnSp>
        <p:nvCxnSpPr>
          <p:cNvPr id="459782" name="AutoShape 6"/>
          <p:cNvCxnSpPr>
            <a:cxnSpLocks noChangeShapeType="1"/>
            <a:stCxn id="459779" idx="0"/>
            <a:endCxn id="459780" idx="4"/>
          </p:cNvCxnSpPr>
          <p:nvPr/>
        </p:nvCxnSpPr>
        <p:spPr bwMode="auto">
          <a:xfrm flipV="1">
            <a:off x="3962400" y="1381125"/>
            <a:ext cx="0" cy="2801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9783" name="Oval 7"/>
          <p:cNvSpPr>
            <a:spLocks noChangeAspect="1" noChangeArrowheads="1"/>
          </p:cNvSpPr>
          <p:nvPr/>
        </p:nvSpPr>
        <p:spPr bwMode="auto">
          <a:xfrm>
            <a:off x="57912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C</a:t>
            </a:r>
          </a:p>
        </p:txBody>
      </p:sp>
      <p:cxnSp>
        <p:nvCxnSpPr>
          <p:cNvPr id="459784" name="AutoShape 8"/>
          <p:cNvCxnSpPr>
            <a:cxnSpLocks noChangeShapeType="1"/>
            <a:stCxn id="459780" idx="5"/>
            <a:endCxn id="459783" idx="1"/>
          </p:cNvCxnSpPr>
          <p:nvPr/>
        </p:nvCxnSpPr>
        <p:spPr bwMode="auto">
          <a:xfrm>
            <a:off x="4070350" y="1336676"/>
            <a:ext cx="1765300" cy="1116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9785" name="Oval 9"/>
          <p:cNvSpPr>
            <a:spLocks noChangeAspect="1" noChangeArrowheads="1"/>
          </p:cNvSpPr>
          <p:nvPr/>
        </p:nvSpPr>
        <p:spPr bwMode="auto">
          <a:xfrm>
            <a:off x="6858000" y="2416175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G</a:t>
            </a:r>
          </a:p>
        </p:txBody>
      </p:sp>
      <p:cxnSp>
        <p:nvCxnSpPr>
          <p:cNvPr id="459786" name="AutoShape 10"/>
          <p:cNvCxnSpPr>
            <a:cxnSpLocks noChangeShapeType="1"/>
            <a:stCxn id="459780" idx="6"/>
            <a:endCxn id="459785" idx="1"/>
          </p:cNvCxnSpPr>
          <p:nvPr/>
        </p:nvCxnSpPr>
        <p:spPr bwMode="auto">
          <a:xfrm>
            <a:off x="4122738" y="1220788"/>
            <a:ext cx="2779712" cy="1231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9787" name="Oval 11"/>
          <p:cNvSpPr>
            <a:spLocks noChangeAspect="1" noChangeArrowheads="1"/>
          </p:cNvSpPr>
          <p:nvPr/>
        </p:nvSpPr>
        <p:spPr bwMode="auto">
          <a:xfrm>
            <a:off x="44958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D</a:t>
            </a:r>
          </a:p>
        </p:txBody>
      </p:sp>
      <p:sp>
        <p:nvSpPr>
          <p:cNvPr id="459788" name="Oval 12"/>
          <p:cNvSpPr>
            <a:spLocks noChangeAspect="1" noChangeArrowheads="1"/>
          </p:cNvSpPr>
          <p:nvPr/>
        </p:nvSpPr>
        <p:spPr bwMode="auto">
          <a:xfrm>
            <a:off x="5791200" y="327660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E</a:t>
            </a:r>
          </a:p>
        </p:txBody>
      </p:sp>
      <p:cxnSp>
        <p:nvCxnSpPr>
          <p:cNvPr id="459789" name="AutoShape 13"/>
          <p:cNvCxnSpPr>
            <a:cxnSpLocks noChangeShapeType="1"/>
            <a:stCxn id="459780" idx="4"/>
            <a:endCxn id="459781" idx="1"/>
          </p:cNvCxnSpPr>
          <p:nvPr/>
        </p:nvCxnSpPr>
        <p:spPr bwMode="auto">
          <a:xfrm>
            <a:off x="3962400" y="1381126"/>
            <a:ext cx="577850" cy="10715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9790" name="AutoShape 14"/>
          <p:cNvCxnSpPr>
            <a:cxnSpLocks noChangeShapeType="1"/>
            <a:stCxn id="459788" idx="2"/>
            <a:endCxn id="459787" idx="6"/>
          </p:cNvCxnSpPr>
          <p:nvPr/>
        </p:nvCxnSpPr>
        <p:spPr bwMode="auto">
          <a:xfrm flipH="1">
            <a:off x="4808539" y="3429000"/>
            <a:ext cx="9747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9791" name="AutoShape 15"/>
          <p:cNvCxnSpPr>
            <a:cxnSpLocks noChangeShapeType="1"/>
            <a:stCxn id="459788" idx="3"/>
            <a:endCxn id="459779" idx="6"/>
          </p:cNvCxnSpPr>
          <p:nvPr/>
        </p:nvCxnSpPr>
        <p:spPr bwMode="auto">
          <a:xfrm flipH="1">
            <a:off x="4122738" y="3544888"/>
            <a:ext cx="1712912" cy="798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9792" name="AutoShape 16"/>
          <p:cNvCxnSpPr>
            <a:cxnSpLocks noChangeShapeType="1"/>
            <a:stCxn id="459779" idx="7"/>
            <a:endCxn id="459787" idx="3"/>
          </p:cNvCxnSpPr>
          <p:nvPr/>
        </p:nvCxnSpPr>
        <p:spPr bwMode="auto">
          <a:xfrm flipV="1">
            <a:off x="4070350" y="3544889"/>
            <a:ext cx="469900" cy="6826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459793" name="AutoShape 17"/>
          <p:cNvCxnSpPr>
            <a:cxnSpLocks noChangeShapeType="1"/>
            <a:stCxn id="459788" idx="7"/>
            <a:endCxn id="459785" idx="3"/>
          </p:cNvCxnSpPr>
          <p:nvPr/>
        </p:nvCxnSpPr>
        <p:spPr bwMode="auto">
          <a:xfrm flipV="1">
            <a:off x="6051550" y="2684463"/>
            <a:ext cx="850900" cy="628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9794" name="Oval 18"/>
          <p:cNvSpPr>
            <a:spLocks noChangeAspect="1" noChangeArrowheads="1"/>
          </p:cNvSpPr>
          <p:nvPr/>
        </p:nvSpPr>
        <p:spPr bwMode="auto">
          <a:xfrm>
            <a:off x="6831013" y="120015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H</a:t>
            </a:r>
          </a:p>
        </p:txBody>
      </p:sp>
      <p:sp>
        <p:nvSpPr>
          <p:cNvPr id="459795" name="Text Box 19"/>
          <p:cNvSpPr txBox="1">
            <a:spLocks noChangeArrowheads="1"/>
          </p:cNvSpPr>
          <p:nvPr/>
        </p:nvSpPr>
        <p:spPr bwMode="auto">
          <a:xfrm>
            <a:off x="2971800" y="5105400"/>
            <a:ext cx="1905000" cy="381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Undiscovered</a:t>
            </a:r>
          </a:p>
        </p:txBody>
      </p:sp>
      <p:sp>
        <p:nvSpPr>
          <p:cNvPr id="459796" name="Text Box 20"/>
          <p:cNvSpPr txBox="1">
            <a:spLocks noChangeArrowheads="1"/>
          </p:cNvSpPr>
          <p:nvPr/>
        </p:nvSpPr>
        <p:spPr bwMode="auto">
          <a:xfrm>
            <a:off x="2971800" y="5486400"/>
            <a:ext cx="1905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Marked</a:t>
            </a:r>
          </a:p>
        </p:txBody>
      </p:sp>
      <p:sp>
        <p:nvSpPr>
          <p:cNvPr id="459797" name="Text Box 21"/>
          <p:cNvSpPr txBox="1">
            <a:spLocks noChangeArrowheads="1"/>
          </p:cNvSpPr>
          <p:nvPr/>
        </p:nvSpPr>
        <p:spPr bwMode="auto">
          <a:xfrm>
            <a:off x="2971800" y="6248400"/>
            <a:ext cx="1905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Finished</a:t>
            </a:r>
          </a:p>
        </p:txBody>
      </p:sp>
      <p:sp>
        <p:nvSpPr>
          <p:cNvPr id="459798" name="Text Box 22"/>
          <p:cNvSpPr txBox="1">
            <a:spLocks noChangeArrowheads="1"/>
          </p:cNvSpPr>
          <p:nvPr/>
        </p:nvSpPr>
        <p:spPr bwMode="auto">
          <a:xfrm>
            <a:off x="2971800" y="5867400"/>
            <a:ext cx="1905000" cy="3810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27432" rIns="0" bIns="0"/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Active</a:t>
            </a:r>
          </a:p>
        </p:txBody>
      </p:sp>
      <p:sp>
        <p:nvSpPr>
          <p:cNvPr id="459799" name="Oval 23"/>
          <p:cNvSpPr>
            <a:spLocks noChangeAspect="1" noChangeArrowheads="1"/>
          </p:cNvSpPr>
          <p:nvPr/>
        </p:nvSpPr>
        <p:spPr bwMode="auto">
          <a:xfrm>
            <a:off x="7664450" y="1200150"/>
            <a:ext cx="304800" cy="304800"/>
          </a:xfrm>
          <a:prstGeom prst="ellipse">
            <a:avLst/>
          </a:prstGeom>
          <a:solidFill>
            <a:srgbClr val="006600"/>
          </a:solidFill>
          <a:ln w="158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  <a:ea typeface="MS PGothic" panose="020B0600070205080204" charset="-128"/>
              </a:rPr>
              <a:t>I</a:t>
            </a:r>
          </a:p>
        </p:txBody>
      </p:sp>
      <p:cxnSp>
        <p:nvCxnSpPr>
          <p:cNvPr id="459800" name="AutoShape 24"/>
          <p:cNvCxnSpPr>
            <a:cxnSpLocks noChangeShapeType="1"/>
            <a:stCxn id="459794" idx="6"/>
            <a:endCxn id="459799" idx="2"/>
          </p:cNvCxnSpPr>
          <p:nvPr/>
        </p:nvCxnSpPr>
        <p:spPr bwMode="auto">
          <a:xfrm>
            <a:off x="7143751" y="1352550"/>
            <a:ext cx="5127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459801" name="Text Box 25"/>
          <p:cNvSpPr txBox="1">
            <a:spLocks noChangeArrowheads="1"/>
          </p:cNvSpPr>
          <p:nvPr/>
        </p:nvSpPr>
        <p:spPr bwMode="auto">
          <a:xfrm>
            <a:off x="5326064" y="6461125"/>
            <a:ext cx="12398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panose="020B0604020202020204" pitchFamily="34" charset="0"/>
                <a:ea typeface="MS PGothic" panose="020B0600070205080204" charset="-128"/>
              </a:rPr>
              <a:t>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503</TotalTime>
  <Words>2269</Words>
  <Application>Microsoft Office PowerPoint</Application>
  <PresentationFormat>Widescreen</PresentationFormat>
  <Paragraphs>721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Calibri</vt:lpstr>
      <vt:lpstr>Calibri Light</vt:lpstr>
      <vt:lpstr>Courier New</vt:lpstr>
      <vt:lpstr>Monotype Sorts</vt:lpstr>
      <vt:lpstr>Symbol</vt:lpstr>
      <vt:lpstr>Verdana</vt:lpstr>
      <vt:lpstr>Wingdings</vt:lpstr>
      <vt:lpstr>Retrospect</vt:lpstr>
      <vt:lpstr>Data Structure</vt:lpstr>
      <vt:lpstr>Goals</vt:lpstr>
      <vt:lpstr>Depth First Search</vt:lpstr>
      <vt:lpstr>Applications of DFS</vt:lpstr>
      <vt:lpstr>Depth-first searching</vt:lpstr>
      <vt:lpstr>Depth First Search</vt:lpstr>
      <vt:lpstr>DFS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Undirected Depth First Search</vt:lpstr>
      <vt:lpstr>Undirected Depth 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  <vt:lpstr>Undirected Depth 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Habiba Arshad</dc:creator>
  <cp:lastModifiedBy>Habiba Arshad</cp:lastModifiedBy>
  <cp:revision>49</cp:revision>
  <dcterms:created xsi:type="dcterms:W3CDTF">2022-12-21T05:23:19Z</dcterms:created>
  <dcterms:modified xsi:type="dcterms:W3CDTF">2025-01-16T03:27:05Z</dcterms:modified>
</cp:coreProperties>
</file>